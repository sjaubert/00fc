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modSld">
      <pc:chgData name="Stéphane JAUBERT" userId="926aeaf5-0d8d-4569-9635-338e3b4850fc" providerId="ADAL" clId="{C777CAD2-2948-4130-A6C6-8CB11CD7CD00}" dt="2026-05-20T04:32:35.478" v="20" actId="1076"/>
      <pc:docMkLst>
        <pc:docMk/>
      </pc:docMkLst>
      <pc:sldChg chg="addSp modSp mod">
        <pc:chgData name="Stéphane JAUBERT" userId="926aeaf5-0d8d-4569-9635-338e3b4850fc" providerId="ADAL" clId="{C777CAD2-2948-4130-A6C6-8CB11CD7CD00}" dt="2026-05-20T04:32:35.478" v="20" actId="1076"/>
        <pc:sldMkLst>
          <pc:docMk/>
          <pc:sldMk cId="0" sldId="256"/>
        </pc:sldMkLst>
        <pc:spChg chg="mod">
          <ac:chgData name="Stéphane JAUBERT" userId="926aeaf5-0d8d-4569-9635-338e3b4850fc" providerId="ADAL" clId="{C777CAD2-2948-4130-A6C6-8CB11CD7CD00}" dt="2026-05-20T04:32:24.596" v="17" actId="20577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Stéphane JAUBERT" userId="926aeaf5-0d8d-4569-9635-338e3b4850fc" providerId="ADAL" clId="{C777CAD2-2948-4130-A6C6-8CB11CD7CD00}" dt="2026-05-20T04:32:35.478" v="20" actId="1076"/>
          <ac:picMkLst>
            <pc:docMk/>
            <pc:sldMk cId="0" sldId="256"/>
            <ac:picMk id="13" creationId="{E789307D-1D51-813F-38F8-8068E8328DC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3C"/>
                </a:solidFill>
                <a:latin typeface="Arial"/>
              </a:rPr>
              <a:t>Accumulation des encours EC1 (unités)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Encours EC1 (flux poussé)</c:v>
                </c:pt>
              </c:strCache>
            </c:strRef>
          </c:tx>
          <c:spPr>
            <a:ln w="38100" cap="flat">
              <a:solidFill>
                <a:srgbClr val="B832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3232"/>
              </a:solidFill>
              <a:ln w="9525" cap="flat">
                <a:solidFill>
                  <a:srgbClr val="B83232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16</c:v>
                </c:pt>
                <c:pt idx="12">
                  <c:v>17</c:v>
                </c:pt>
                <c:pt idx="13">
                  <c:v>18</c:v>
                </c:pt>
                <c:pt idx="14">
                  <c:v>19</c:v>
                </c:pt>
                <c:pt idx="15">
                  <c:v>20</c:v>
                </c:pt>
                <c:pt idx="16">
                  <c:v>21</c:v>
                </c:pt>
                <c:pt idx="17">
                  <c:v>22</c:v>
                </c:pt>
                <c:pt idx="18">
                  <c:v>23</c:v>
                </c:pt>
                <c:pt idx="19">
                  <c:v>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E7-49B3-B2B2-A690208BE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3C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3C"/>
                </a:solidFill>
                <a:latin typeface="Arial"/>
              </a:rPr>
              <a:t>Taux de service client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 Poussé</c:v>
                </c:pt>
              </c:strCache>
            </c:strRef>
          </c:tx>
          <c:spPr>
            <a:ln w="38100" cap="flat">
              <a:solidFill>
                <a:srgbClr val="B832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3232"/>
              </a:solidFill>
              <a:ln w="9525" cap="flat">
                <a:solidFill>
                  <a:srgbClr val="B83232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92</c:v>
                </c:pt>
                <c:pt idx="1">
                  <c:v>85</c:v>
                </c:pt>
                <c:pt idx="2">
                  <c:v>78</c:v>
                </c:pt>
                <c:pt idx="3">
                  <c:v>88</c:v>
                </c:pt>
                <c:pt idx="4">
                  <c:v>72</c:v>
                </c:pt>
                <c:pt idx="5">
                  <c:v>65</c:v>
                </c:pt>
                <c:pt idx="6">
                  <c:v>80</c:v>
                </c:pt>
                <c:pt idx="7">
                  <c:v>68</c:v>
                </c:pt>
                <c:pt idx="8">
                  <c:v>75</c:v>
                </c:pt>
                <c:pt idx="9">
                  <c:v>60</c:v>
                </c:pt>
                <c:pt idx="10">
                  <c:v>70</c:v>
                </c:pt>
                <c:pt idx="11">
                  <c:v>65</c:v>
                </c:pt>
                <c:pt idx="12">
                  <c:v>58</c:v>
                </c:pt>
                <c:pt idx="13">
                  <c:v>72</c:v>
                </c:pt>
                <c:pt idx="14">
                  <c:v>60</c:v>
                </c:pt>
                <c:pt idx="15">
                  <c:v>55</c:v>
                </c:pt>
                <c:pt idx="16">
                  <c:v>58</c:v>
                </c:pt>
                <c:pt idx="17">
                  <c:v>52</c:v>
                </c:pt>
                <c:pt idx="18">
                  <c:v>48</c:v>
                </c:pt>
                <c:pt idx="19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1F-43A0-9B99-F407F91F10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Flux Tiré (Kanban)</c:v>
                </c:pt>
              </c:strCache>
            </c:strRef>
          </c:tx>
          <c:spPr>
            <a:ln w="38100" cap="flat">
              <a:solidFill>
                <a:srgbClr val="1A734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340"/>
              </a:solidFill>
              <a:ln w="9525" cap="flat">
                <a:solidFill>
                  <a:srgbClr val="1A7340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  <c:pt idx="9">
                  <c:v>P10</c:v>
                </c:pt>
                <c:pt idx="10">
                  <c:v>P11</c:v>
                </c:pt>
                <c:pt idx="11">
                  <c:v>P12</c:v>
                </c:pt>
                <c:pt idx="12">
                  <c:v>P13</c:v>
                </c:pt>
                <c:pt idx="13">
                  <c:v>P14</c:v>
                </c:pt>
                <c:pt idx="14">
                  <c:v>P15</c:v>
                </c:pt>
                <c:pt idx="15">
                  <c:v>P16</c:v>
                </c:pt>
                <c:pt idx="16">
                  <c:v>P17</c:v>
                </c:pt>
                <c:pt idx="17">
                  <c:v>P18</c:v>
                </c:pt>
                <c:pt idx="18">
                  <c:v>P19</c:v>
                </c:pt>
                <c:pt idx="19">
                  <c:v>P20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90</c:v>
                </c:pt>
                <c:pt idx="1">
                  <c:v>89</c:v>
                </c:pt>
                <c:pt idx="2">
                  <c:v>91</c:v>
                </c:pt>
                <c:pt idx="3">
                  <c:v>90</c:v>
                </c:pt>
                <c:pt idx="4">
                  <c:v>92</c:v>
                </c:pt>
                <c:pt idx="5">
                  <c:v>91</c:v>
                </c:pt>
                <c:pt idx="6">
                  <c:v>90</c:v>
                </c:pt>
                <c:pt idx="7">
                  <c:v>88</c:v>
                </c:pt>
                <c:pt idx="8">
                  <c:v>91</c:v>
                </c:pt>
                <c:pt idx="9">
                  <c:v>92</c:v>
                </c:pt>
                <c:pt idx="10">
                  <c:v>90</c:v>
                </c:pt>
                <c:pt idx="11">
                  <c:v>91</c:v>
                </c:pt>
                <c:pt idx="12">
                  <c:v>89</c:v>
                </c:pt>
                <c:pt idx="13">
                  <c:v>92</c:v>
                </c:pt>
                <c:pt idx="14">
                  <c:v>90</c:v>
                </c:pt>
                <c:pt idx="15">
                  <c:v>91</c:v>
                </c:pt>
                <c:pt idx="16">
                  <c:v>89</c:v>
                </c:pt>
                <c:pt idx="17">
                  <c:v>92</c:v>
                </c:pt>
                <c:pt idx="18">
                  <c:v>91</c:v>
                </c:pt>
                <c:pt idx="19">
                  <c:v>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1F-43A0-9B99-F407F91F10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Flux Poussé</c:v>
                </c:pt>
              </c:strCache>
            </c:strRef>
          </c:tx>
          <c:spPr>
            <a:solidFill>
              <a:srgbClr val="B832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B3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Taux de service (%)</c:v>
                </c:pt>
                <c:pt idx="1">
                  <c:v>Efficience (%)</c:v>
                </c:pt>
                <c:pt idx="2">
                  <c:v>Stock relatif (% base)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91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E5-4E93-BE0A-1F49175E5B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Flux Tiré (Kanban)</c:v>
                </c:pt>
              </c:strCache>
            </c:strRef>
          </c:tx>
          <c:spPr>
            <a:solidFill>
              <a:srgbClr val="1A73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B3C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Taux de service (%)</c:v>
                </c:pt>
                <c:pt idx="1">
                  <c:v>Efficience (%)</c:v>
                </c:pt>
                <c:pt idx="2">
                  <c:v>Stock relatif (% base)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67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E5-4E93-BE0A-1F49175E5B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461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jaubert.github.io/00FC/OI/jeu_du_kanban/simulation_kanban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3200400"/>
          </a:xfrm>
          <a:prstGeom prst="rect">
            <a:avLst/>
          </a:prstGeom>
          <a:solidFill>
            <a:srgbClr val="1E3660"/>
          </a:solidFill>
          <a:ln w="12700">
            <a:solidFill>
              <a:srgbClr val="2E4F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01168" cy="320040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n-US" sz="1200" i="1" dirty="0" err="1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sz="12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Industrielle — Bachelor CAI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Poussé / Flux Tiré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005840" y="221284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Méthode Kanban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29077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8AA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par le Jeu du Kanban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3383280"/>
            <a:ext cx="5029200" cy="2286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Formateur : S. JAUBERT</a:t>
            </a:r>
            <a:endParaRPr lang="en-US" sz="11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789307D-1D51-813F-38F8-8068E8328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39"/>
            <a:ext cx="556787" cy="5943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industriel : la société REDIX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support pédagogique du jeu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REDIX est une entreprise fictive fabriquant des réducteurs pour escalators. Elle illustre un défi courant dans l'industrie : concilier productivité, réactivité client et maîtrise des stocks.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1920240" cy="164592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M€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17373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468880" y="1737360"/>
            <a:ext cx="1920240" cy="16459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468880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K€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68880" y="25420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net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0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1 % du CA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7373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17720" y="1737360"/>
            <a:ext cx="1920240" cy="16459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617720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8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17720" y="25420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moyen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 25 % du 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766560" y="1737360"/>
            <a:ext cx="1920240" cy="164592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766560" y="19019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766560" y="254203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66560" y="2852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273552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273552"/>
            <a:ext cx="164592" cy="14173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9436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production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3675888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postes de travail : Usinage engrenages — Usinage carters — Usinage couronnes A — Usinage couronnes B — Assemblage / Expédition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références produits finis (R1 à R6) + pièces détachées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de vente : 150 €/pièce finie — Coût de revient : 100 €/pièce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Flux Poussé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au maximum, indépendamment de la demande aval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164592" cy="68580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0789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flux poussé (logique MRP), chaque poste produit à sa cadence nominale maximale, sans attendre le signal de consommation aval. La production est planifiée à partir de prévisions.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82880" y="202996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2880" y="20299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719072" y="2103120"/>
            <a:ext cx="658368" cy="50292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719072" y="210312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202996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0" y="20299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4414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u/p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279392" y="2103120"/>
            <a:ext cx="658368" cy="502920"/>
          </a:xfrm>
          <a:prstGeom prst="rect">
            <a:avLst/>
          </a:prstGeom>
          <a:solidFill>
            <a:srgbClr val="F5C4C4"/>
          </a:solidFill>
          <a:ln w="12700">
            <a:solidFill>
              <a:srgbClr val="F5C4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79392" y="210312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303520" y="202996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03520" y="20299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4414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u/p ⚠ GOULOT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9712" y="2103120"/>
            <a:ext cx="658368" cy="502920"/>
          </a:xfrm>
          <a:prstGeom prst="rect">
            <a:avLst/>
          </a:prstGeom>
          <a:solidFill>
            <a:srgbClr val="F5C4C4"/>
          </a:solidFill>
          <a:ln w="12700">
            <a:solidFill>
              <a:srgbClr val="F5C4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39712" y="210312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43800" y="210312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863840" y="202996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863840" y="20299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2898648"/>
            <a:ext cx="8823960" cy="22860"/>
          </a:xfrm>
          <a:prstGeom prst="rect">
            <a:avLst/>
          </a:prstGeom>
          <a:solidFill>
            <a:srgbClr val="C5D5EC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82880" y="2944368"/>
            <a:ext cx="8823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matière  →  Chaque poste produit sans attendre la consommation aval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3401568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320040" y="3401568"/>
            <a:ext cx="2697480" cy="16459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2976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intermédiaires élevés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29768" y="3950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poste produit à pleine cadence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indépendamment du besoin aval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0" y="3401568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0" y="3401568"/>
            <a:ext cx="2697480" cy="16459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31012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goulot se révèle tardivement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3310128" y="3950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Assemblage (9 u/p) ne peut absorber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production d'Usinage (10 u/p)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80760" y="3401568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6080760" y="3401568"/>
            <a:ext cx="2697480" cy="16459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19048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 dégradé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190488" y="39502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produits au mauvais endroit,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mauvais moment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dysfonctionnements du flux poussé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sur 20 périodes — goulot Assemblage (9 u/p &lt; Usinage 10 u/p)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051560"/>
          <a:ext cx="40690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754880" y="1051560"/>
          <a:ext cx="40690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Kanban — Principe du flux tiré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Produire uniquement ce qui est consommé en aval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164592" cy="64008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0789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ticket Kanban est une autorisation de produire. Un poste ne produit que lorsqu'un ticket lui parvient depuis l'aval, signalant une consommation réelle. Le stock maximal autorisé = nombre de tickets × taille du lot.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82880" y="193852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82880" y="19385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719072" y="2011680"/>
            <a:ext cx="658368" cy="502920"/>
          </a:xfrm>
          <a:prstGeom prst="rect">
            <a:avLst/>
          </a:prstGeom>
          <a:solidFill>
            <a:srgbClr val="DCEAF8"/>
          </a:solidFill>
          <a:ln w="12700">
            <a:solidFill>
              <a:srgbClr val="DCEA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719072" y="20116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M.P.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0" y="193852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0" y="19385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3500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u/p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93192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279392" y="2011680"/>
            <a:ext cx="658368" cy="50292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279392" y="20116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303520" y="193852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303520" y="19385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3500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u/p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839712" y="2011680"/>
            <a:ext cx="658368" cy="502920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839712" y="201168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543800" y="201168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863840" y="1938528"/>
            <a:ext cx="1143000" cy="6583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863840" y="193852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52928" y="2944368"/>
            <a:ext cx="5257800" cy="0"/>
          </a:xfrm>
          <a:prstGeom prst="line">
            <a:avLst/>
          </a:prstGeom>
          <a:noFill/>
          <a:ln w="25400">
            <a:solidFill>
              <a:srgbClr val="1A7340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852928" y="29900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tickets Kanban (signal de consommation)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0" y="2816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64608" y="28163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0040" y="33101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règles du Kanban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3703320"/>
            <a:ext cx="320040" cy="320040"/>
          </a:xfrm>
          <a:prstGeom prst="ellipse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32004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" y="371246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poste ne produit que lorsqu'il reçoit un ticket Kanban de l'aval — jamais par anticipation.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087368"/>
            <a:ext cx="320040" cy="320040"/>
          </a:xfrm>
          <a:prstGeom prst="ellipse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20040" y="40873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40965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tickets fixe le stock maximum autorisé : tickets × lot = WIP plafonné.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4471416"/>
            <a:ext cx="320040" cy="320040"/>
          </a:xfrm>
          <a:prstGeom prst="ellipse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320040" y="4471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44805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ajuste le nombre de tickets par approximations successives pour tendre le flux progressivement.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Poussé vs Flux Tiré — Comparaison des performances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typiques après 20 périodes simulées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1051560"/>
          <a:ext cx="530352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1051560"/>
            <a:ext cx="29260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897880" y="1051560"/>
            <a:ext cx="2926080" cy="2011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989320" y="10698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1298448"/>
            <a:ext cx="274320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6035040" y="13167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client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Poussé : 71 %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1572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: 90 %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89320" y="1984248"/>
            <a:ext cx="274320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6035040" y="20025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Poussé : 91 %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31520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: 67 %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89320" y="2670048"/>
            <a:ext cx="2743200" cy="59436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035040" y="268833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stock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035040" y="2944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Poussé : 100 %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15200" y="2944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 : 42 %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897880" y="3383280"/>
            <a:ext cx="2926080" cy="1280160"/>
          </a:xfrm>
          <a:prstGeom prst="rect">
            <a:avLst/>
          </a:prstGeom>
          <a:solidFill>
            <a:srgbClr val="FFF3D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989320" y="34290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Paradoxe Kanban :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efficience plus faible signifie que les postes attendent — c'est le principe du Juste-à-Temps. Chaque station ne produit que ce dont le client a besoin.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du Kanban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de simulation physique sur 5 heures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164592" cy="361188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143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du jeu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5087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participants prennent en charge la production de REDIX. Chaque équipe gère une ligne de production en temps réel, sur 4 semaines simulées.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240280"/>
            <a:ext cx="658368" cy="3474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594360" y="224028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2240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 en compétition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679192"/>
            <a:ext cx="658368" cy="3474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67919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6791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simulées : flux poussé → flux tiré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118104"/>
            <a:ext cx="658368" cy="3474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94360" y="311810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31181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périodes par semaine (dés + décisions)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557016"/>
            <a:ext cx="658368" cy="3474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355701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5570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 d'incident par tour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995928"/>
            <a:ext cx="658368" cy="3474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94360" y="399592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9959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d'amélioration (SMED + fiabilité)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078992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4632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semaines simulées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572768"/>
            <a:ext cx="379476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846320" y="1572768"/>
            <a:ext cx="164592" cy="68580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5102352" y="15910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 — Flux Poussé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1883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planifiée (MRP). Découverte des dysfonctionnements.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77440"/>
            <a:ext cx="379476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846320" y="2377440"/>
            <a:ext cx="164592" cy="68580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02352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D48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 — Introduction Kanban (flux lâche)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26883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des tickets Kanban. Ajustement du nombre de tickets.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182112"/>
            <a:ext cx="379476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4846320" y="3182112"/>
            <a:ext cx="164592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102352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 — Flux tiré + SMED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02352" y="34930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temps de changement de série. Flux plus tendu.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986784"/>
            <a:ext cx="3794760" cy="685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846320" y="3986784"/>
            <a:ext cx="164592" cy="68580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102352" y="40050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 — Flux tendu + Fiabilité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02352" y="4297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des incidents. Approche du Juste-à-Temps.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de la session — 5 heures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indicatif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1005840" cy="59436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30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89888" y="1316736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1481328" y="1517904"/>
            <a:ext cx="0" cy="530352"/>
          </a:xfrm>
          <a:prstGeom prst="line">
            <a:avLst/>
          </a:prstGeom>
          <a:noFill/>
          <a:ln w="254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719072" y="1115568"/>
            <a:ext cx="71048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874520" y="1133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&amp; planification flux poussé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REDIX — comprendre la chaîne de production — établir le programme de production (semaine 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1005840" cy="59436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18470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389888" y="2048256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1481328" y="2249424"/>
            <a:ext cx="0" cy="530352"/>
          </a:xfrm>
          <a:prstGeom prst="line">
            <a:avLst/>
          </a:prstGeom>
          <a:noFill/>
          <a:ln w="254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719072" y="1847088"/>
            <a:ext cx="71048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874520" y="186537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Semaine 1 (Flux Poussé)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7452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physique : 32 périodes — incidents aléatoires — recueil des 3 indicateurs de performance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578608"/>
            <a:ext cx="1005840" cy="59436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20040" y="257860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89888" y="2779776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481328" y="2980944"/>
            <a:ext cx="0" cy="530352"/>
          </a:xfrm>
          <a:prstGeom prst="line">
            <a:avLst/>
          </a:prstGeom>
          <a:noFill/>
          <a:ln w="254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719072" y="2578608"/>
            <a:ext cx="71048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874520" y="25968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Débrief &amp; introduction au Kanban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74520" y="2880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résultats — passage en mode flux tiré — choix stratégiques d'amélioration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1005840" cy="59436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20040" y="331012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45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1389888" y="3511296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481328" y="3712464"/>
            <a:ext cx="0" cy="530352"/>
          </a:xfrm>
          <a:prstGeom prst="line">
            <a:avLst/>
          </a:prstGeom>
          <a:noFill/>
          <a:ln w="254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719072" y="3310128"/>
            <a:ext cx="71048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874520" y="33284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Semaines 2 à 4 (Flux Tiré)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87452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du nombre de tickets — SMED — fiabilité — mesure des progrès à chaque itération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041648"/>
            <a:ext cx="1005840" cy="59436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0040" y="404164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389888" y="4242816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719072" y="4041648"/>
            <a:ext cx="710488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1874520" y="40599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résultats &amp; conclusion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874520" y="43434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des 4 semaines — bilan des améliorations — transposition au contexte professionnel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96012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indicateurs de performance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Mesurés à chaque fin de semaine simulée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   |   Flux Poussé / Flux Tiré &amp; Kanban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suit 3 indicateurs clés sur les 4 semaines du jeu. Ils mesurent l'efficacité globale du système de production — pas seulement la productivité d'un poste.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2724912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724912" cy="530352"/>
          </a:xfrm>
          <a:prstGeom prst="rect">
            <a:avLst/>
          </a:prstGeom>
          <a:solidFill>
            <a:srgbClr val="192B4F"/>
          </a:solidFill>
          <a:ln w="12700">
            <a:solidFill>
              <a:srgbClr val="192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6824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1682496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service client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" y="2304288"/>
            <a:ext cx="2505456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" y="23042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(ruptures / demande totale)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26883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92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≥ 85 %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2980944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la capacité à livrer le bon produit au bon moment. En flux poussé, il se dégrade en fin de semaine malgré une efficience apparemment bonne.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1664208"/>
            <a:ext cx="2724912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0" y="1664208"/>
            <a:ext cx="2724912" cy="530352"/>
          </a:xfrm>
          <a:prstGeom prst="rect">
            <a:avLst/>
          </a:prstGeom>
          <a:solidFill>
            <a:srgbClr val="2454A4"/>
          </a:solidFill>
          <a:ln w="12700">
            <a:solidFill>
              <a:srgbClr val="2454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91840" y="16824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682496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Efficience de production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10128" y="2304288"/>
            <a:ext cx="2505456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364992" y="23042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1 − (heures perdues / heures ouvertes)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26883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5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≥ 65 % en flux tiré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80944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flux poussé : proche de 100 % — mais les postes sur-produisent. En flux tiré : baisse volontaire — chaque poste attend la demande réelle.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1664208"/>
            <a:ext cx="2724912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080760" y="1664208"/>
            <a:ext cx="2724912" cy="53035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172200" y="1682496"/>
            <a:ext cx="502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F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29400" y="1682496"/>
            <a:ext cx="20848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des stocks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0488" y="2304288"/>
            <a:ext cx="2505456" cy="34747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5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45352" y="230428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somme des 4 zones (M.P. + EC1 + EC2 + P.F.)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90488" y="2688336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8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≤ 60 unités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90488" y="2980944"/>
            <a:ext cx="25054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Kanban plafonne le stock : tickets × taille de lot. Réduire les stocks libère du capital et révèle les problèmes cachés.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numérique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029200" cy="22860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846320" cy="3090672"/>
          </a:xfrm>
          <a:prstGeom prst="rect">
            <a:avLst/>
          </a:prstGeom>
          <a:solidFill>
            <a:srgbClr val="1E3660"/>
          </a:solidFill>
          <a:ln w="12700">
            <a:solidFill>
              <a:srgbClr val="2E4F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64592" cy="3090672"/>
          </a:xfrm>
          <a:prstGeom prst="rect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 ligne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numérique complémentaire permet de simuler les 3 scénarios (flux poussé, flux tiré lâche, flux tiré tendu) avec paramètres ajustables : cadence des postes, variabilité de la demande, probabilité d'incidents, nombre de tickets Kanban.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496312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poussé : Stocks croissants, taux de service instable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14400" y="2898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tiré lâche : Stocks plafonnés, service stable, efficience en baisse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47288"/>
            <a:ext cx="201168" cy="201168"/>
          </a:xfrm>
          <a:prstGeom prst="ellipse">
            <a:avLst/>
          </a:prstGeom>
          <a:solidFill>
            <a:srgbClr val="D4811C"/>
          </a:solidFill>
          <a:ln w="12700">
            <a:solidFill>
              <a:srgbClr val="D481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91440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tendu : Fragilité aux incidents — révèle les problèmes cachés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 à la simulation :</a:t>
            </a:r>
            <a:endParaRPr lang="en-US" sz="11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594360" y="404164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7EB8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https://sjaubert.github.io/00FC/OI/jeu_du_kanban/simulation_kanban.html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1005840"/>
            <a:ext cx="3429000" cy="3090672"/>
          </a:xfrm>
          <a:prstGeom prst="rect">
            <a:avLst/>
          </a:prstGeom>
          <a:solidFill>
            <a:srgbClr val="1E3660"/>
          </a:solidFill>
          <a:ln w="12700">
            <a:solidFill>
              <a:srgbClr val="2E4F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394960" y="1005840"/>
            <a:ext cx="164592" cy="3090672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69280" y="10789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463040"/>
            <a:ext cx="3017520" cy="22860"/>
          </a:xfrm>
          <a:prstGeom prst="rect">
            <a:avLst/>
          </a:prstGeom>
          <a:solidFill>
            <a:srgbClr val="1A7340"/>
          </a:solidFill>
          <a:ln w="12700">
            <a:solidFill>
              <a:srgbClr val="1A73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669280" y="157276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Kanban n'est pas magique.</a:t>
            </a:r>
            <a:endParaRPr lang="en-US" sz="1450" dirty="0"/>
          </a:p>
          <a:p>
            <a:pPr marL="0" indent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révèle les problèmes que le stock cachait.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669280" y="2523744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016752" y="2450592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pannes, la variabilité, le goulot existaient en flux poussé — ils étaient masqués par les encours.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0" y="3054096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016752" y="2980944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Tendre le flux sans résoudre ces problèmes fragilise le système.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3584448"/>
            <a:ext cx="256032" cy="25603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016752" y="3511296"/>
            <a:ext cx="2670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SMED et fiabilité ne sont pas des options, mais des prérequis au flux tendu.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UIMM-CVDL   |   S. JAUBERT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Microsoft Office PowerPoint</Application>
  <PresentationFormat>Affichage à l'écran (16:9)</PresentationFormat>
  <Paragraphs>191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 Poussé / Flux Tiré &amp; Méthode Kanban</dc:title>
  <dc:subject>PptxGenJS Presentation</dc:subject>
  <dc:creator>S. JAUBERT</dc:creator>
  <cp:lastModifiedBy>Stéphane JAUBERT</cp:lastModifiedBy>
  <cp:revision>1</cp:revision>
  <dcterms:created xsi:type="dcterms:W3CDTF">2026-05-20T04:30:11Z</dcterms:created>
  <dcterms:modified xsi:type="dcterms:W3CDTF">2026-05-20T04:32:40Z</dcterms:modified>
</cp:coreProperties>
</file>
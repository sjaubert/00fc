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17"/>
  </p:notesMasterIdLst>
  <p:handoutMasterIdLst>
    <p:handoutMasterId r:id="rId218"/>
  </p:handoutMasterIdLst>
  <p:sldIdLst>
    <p:sldId id="566" r:id="rId2"/>
    <p:sldId id="335" r:id="rId3"/>
    <p:sldId id="336" r:id="rId4"/>
    <p:sldId id="544" r:id="rId5"/>
    <p:sldId id="361" r:id="rId6"/>
    <p:sldId id="511" r:id="rId7"/>
    <p:sldId id="342" r:id="rId8"/>
    <p:sldId id="353" r:id="rId9"/>
    <p:sldId id="354" r:id="rId10"/>
    <p:sldId id="356" r:id="rId11"/>
    <p:sldId id="358" r:id="rId12"/>
    <p:sldId id="359" r:id="rId13"/>
    <p:sldId id="536" r:id="rId14"/>
    <p:sldId id="541" r:id="rId15"/>
    <p:sldId id="564" r:id="rId16"/>
    <p:sldId id="565" r:id="rId17"/>
    <p:sldId id="360" r:id="rId18"/>
    <p:sldId id="562" r:id="rId19"/>
    <p:sldId id="318" r:id="rId20"/>
    <p:sldId id="334" r:id="rId21"/>
    <p:sldId id="567" r:id="rId22"/>
    <p:sldId id="319" r:id="rId23"/>
    <p:sldId id="514" r:id="rId24"/>
    <p:sldId id="320" r:id="rId25"/>
    <p:sldId id="501" r:id="rId26"/>
    <p:sldId id="348" r:id="rId27"/>
    <p:sldId id="321" r:id="rId28"/>
    <p:sldId id="518" r:id="rId29"/>
    <p:sldId id="322" r:id="rId30"/>
    <p:sldId id="337" r:id="rId31"/>
    <p:sldId id="515" r:id="rId32"/>
    <p:sldId id="349" r:id="rId33"/>
    <p:sldId id="350" r:id="rId34"/>
    <p:sldId id="351" r:id="rId35"/>
    <p:sldId id="499" r:id="rId36"/>
    <p:sldId id="558" r:id="rId37"/>
    <p:sldId id="516" r:id="rId38"/>
    <p:sldId id="498" r:id="rId39"/>
    <p:sldId id="339" r:id="rId40"/>
    <p:sldId id="340" r:id="rId41"/>
    <p:sldId id="355" r:id="rId42"/>
    <p:sldId id="323" r:id="rId43"/>
    <p:sldId id="324" r:id="rId44"/>
    <p:sldId id="345" r:id="rId45"/>
    <p:sldId id="341" r:id="rId46"/>
    <p:sldId id="503" r:id="rId47"/>
    <p:sldId id="517" r:id="rId48"/>
    <p:sldId id="317" r:id="rId49"/>
    <p:sldId id="363" r:id="rId50"/>
    <p:sldId id="371" r:id="rId51"/>
    <p:sldId id="372" r:id="rId52"/>
    <p:sldId id="373" r:id="rId53"/>
    <p:sldId id="374" r:id="rId54"/>
    <p:sldId id="375" r:id="rId55"/>
    <p:sldId id="376" r:id="rId56"/>
    <p:sldId id="364" r:id="rId57"/>
    <p:sldId id="417" r:id="rId58"/>
    <p:sldId id="418" r:id="rId59"/>
    <p:sldId id="419" r:id="rId60"/>
    <p:sldId id="420" r:id="rId61"/>
    <p:sldId id="421" r:id="rId62"/>
    <p:sldId id="422" r:id="rId63"/>
    <p:sldId id="528" r:id="rId64"/>
    <p:sldId id="423" r:id="rId65"/>
    <p:sldId id="365" r:id="rId66"/>
    <p:sldId id="424" r:id="rId67"/>
    <p:sldId id="425" r:id="rId68"/>
    <p:sldId id="426" r:id="rId69"/>
    <p:sldId id="427" r:id="rId70"/>
    <p:sldId id="428" r:id="rId71"/>
    <p:sldId id="429" r:id="rId72"/>
    <p:sldId id="430" r:id="rId73"/>
    <p:sldId id="366" r:id="rId74"/>
    <p:sldId id="459" r:id="rId75"/>
    <p:sldId id="460" r:id="rId76"/>
    <p:sldId id="461" r:id="rId77"/>
    <p:sldId id="462" r:id="rId78"/>
    <p:sldId id="463" r:id="rId79"/>
    <p:sldId id="529" r:id="rId80"/>
    <p:sldId id="464" r:id="rId81"/>
    <p:sldId id="465" r:id="rId82"/>
    <p:sldId id="385" r:id="rId83"/>
    <p:sldId id="545" r:id="rId84"/>
    <p:sldId id="546" r:id="rId85"/>
    <p:sldId id="512" r:id="rId86"/>
    <p:sldId id="386" r:id="rId87"/>
    <p:sldId id="519" r:id="rId88"/>
    <p:sldId id="520" r:id="rId89"/>
    <p:sldId id="521" r:id="rId90"/>
    <p:sldId id="523" r:id="rId91"/>
    <p:sldId id="362" r:id="rId92"/>
    <p:sldId id="505" r:id="rId93"/>
    <p:sldId id="506" r:id="rId94"/>
    <p:sldId id="513" r:id="rId95"/>
    <p:sldId id="507" r:id="rId96"/>
    <p:sldId id="367" r:id="rId97"/>
    <p:sldId id="431" r:id="rId98"/>
    <p:sldId id="432" r:id="rId99"/>
    <p:sldId id="433" r:id="rId100"/>
    <p:sldId id="434" r:id="rId101"/>
    <p:sldId id="435" r:id="rId102"/>
    <p:sldId id="436" r:id="rId103"/>
    <p:sldId id="437" r:id="rId104"/>
    <p:sldId id="368" r:id="rId105"/>
    <p:sldId id="438" r:id="rId106"/>
    <p:sldId id="439" r:id="rId107"/>
    <p:sldId id="440" r:id="rId108"/>
    <p:sldId id="441" r:id="rId109"/>
    <p:sldId id="442" r:id="rId110"/>
    <p:sldId id="443" r:id="rId111"/>
    <p:sldId id="530" r:id="rId112"/>
    <p:sldId id="444" r:id="rId113"/>
    <p:sldId id="508" r:id="rId114"/>
    <p:sldId id="510" r:id="rId115"/>
    <p:sldId id="369" r:id="rId116"/>
    <p:sldId id="445" r:id="rId117"/>
    <p:sldId id="446" r:id="rId118"/>
    <p:sldId id="447" r:id="rId119"/>
    <p:sldId id="448" r:id="rId120"/>
    <p:sldId id="449" r:id="rId121"/>
    <p:sldId id="450" r:id="rId122"/>
    <p:sldId id="451" r:id="rId123"/>
    <p:sldId id="370" r:id="rId124"/>
    <p:sldId id="466" r:id="rId125"/>
    <p:sldId id="467" r:id="rId126"/>
    <p:sldId id="468" r:id="rId127"/>
    <p:sldId id="469" r:id="rId128"/>
    <p:sldId id="470" r:id="rId129"/>
    <p:sldId id="539" r:id="rId130"/>
    <p:sldId id="471" r:id="rId131"/>
    <p:sldId id="472" r:id="rId132"/>
    <p:sldId id="494" r:id="rId133"/>
    <p:sldId id="557" r:id="rId134"/>
    <p:sldId id="560" r:id="rId135"/>
    <p:sldId id="377" r:id="rId136"/>
    <p:sldId id="473" r:id="rId137"/>
    <p:sldId id="474" r:id="rId138"/>
    <p:sldId id="475" r:id="rId139"/>
    <p:sldId id="476" r:id="rId140"/>
    <p:sldId id="477" r:id="rId141"/>
    <p:sldId id="478" r:id="rId142"/>
    <p:sldId id="479" r:id="rId143"/>
    <p:sldId id="378" r:id="rId144"/>
    <p:sldId id="480" r:id="rId145"/>
    <p:sldId id="481" r:id="rId146"/>
    <p:sldId id="482" r:id="rId147"/>
    <p:sldId id="483" r:id="rId148"/>
    <p:sldId id="484" r:id="rId149"/>
    <p:sldId id="485" r:id="rId150"/>
    <p:sldId id="532" r:id="rId151"/>
    <p:sldId id="486" r:id="rId152"/>
    <p:sldId id="549" r:id="rId153"/>
    <p:sldId id="559" r:id="rId154"/>
    <p:sldId id="379" r:id="rId155"/>
    <p:sldId id="452" r:id="rId156"/>
    <p:sldId id="453" r:id="rId157"/>
    <p:sldId id="454" r:id="rId158"/>
    <p:sldId id="455" r:id="rId159"/>
    <p:sldId id="456" r:id="rId160"/>
    <p:sldId id="457" r:id="rId161"/>
    <p:sldId id="458" r:id="rId162"/>
    <p:sldId id="380" r:id="rId163"/>
    <p:sldId id="487" r:id="rId164"/>
    <p:sldId id="488" r:id="rId165"/>
    <p:sldId id="489" r:id="rId166"/>
    <p:sldId id="490" r:id="rId167"/>
    <p:sldId id="540" r:id="rId168"/>
    <p:sldId id="491" r:id="rId169"/>
    <p:sldId id="492" r:id="rId170"/>
    <p:sldId id="493" r:id="rId171"/>
    <p:sldId id="495" r:id="rId172"/>
    <p:sldId id="556" r:id="rId173"/>
    <p:sldId id="381" r:id="rId174"/>
    <p:sldId id="389" r:id="rId175"/>
    <p:sldId id="390" r:id="rId176"/>
    <p:sldId id="391" r:id="rId177"/>
    <p:sldId id="392" r:id="rId178"/>
    <p:sldId id="393" r:id="rId179"/>
    <p:sldId id="394" r:id="rId180"/>
    <p:sldId id="395" r:id="rId181"/>
    <p:sldId id="382" r:id="rId182"/>
    <p:sldId id="396" r:id="rId183"/>
    <p:sldId id="397" r:id="rId184"/>
    <p:sldId id="398" r:id="rId185"/>
    <p:sldId id="399" r:id="rId186"/>
    <p:sldId id="400" r:id="rId187"/>
    <p:sldId id="401" r:id="rId188"/>
    <p:sldId id="534" r:id="rId189"/>
    <p:sldId id="402" r:id="rId190"/>
    <p:sldId id="550" r:id="rId191"/>
    <p:sldId id="561" r:id="rId192"/>
    <p:sldId id="383" r:id="rId193"/>
    <p:sldId id="403" r:id="rId194"/>
    <p:sldId id="404" r:id="rId195"/>
    <p:sldId id="405" r:id="rId196"/>
    <p:sldId id="407" r:id="rId197"/>
    <p:sldId id="408" r:id="rId198"/>
    <p:sldId id="406" r:id="rId199"/>
    <p:sldId id="409" r:id="rId200"/>
    <p:sldId id="384" r:id="rId201"/>
    <p:sldId id="410" r:id="rId202"/>
    <p:sldId id="411" r:id="rId203"/>
    <p:sldId id="412" r:id="rId204"/>
    <p:sldId id="413" r:id="rId205"/>
    <p:sldId id="414" r:id="rId206"/>
    <p:sldId id="538" r:id="rId207"/>
    <p:sldId id="415" r:id="rId208"/>
    <p:sldId id="416" r:id="rId209"/>
    <p:sldId id="551" r:id="rId210"/>
    <p:sldId id="527" r:id="rId211"/>
    <p:sldId id="547" r:id="rId212"/>
    <p:sldId id="543" r:id="rId213"/>
    <p:sldId id="525" r:id="rId214"/>
    <p:sldId id="526" r:id="rId215"/>
    <p:sldId id="542" r:id="rId216"/>
  </p:sldIdLst>
  <p:sldSz cx="9144000" cy="6858000" type="screen4x3"/>
  <p:notesSz cx="6797675" cy="9926638"/>
  <p:defaultTextStyle>
    <a:defPPr>
      <a:defRPr lang="fr-FR"/>
    </a:defPPr>
    <a:lvl1pPr algn="ctr" rtl="0" fontAlgn="base">
      <a:spcBef>
        <a:spcPct val="0"/>
      </a:spcBef>
      <a:spcAft>
        <a:spcPct val="0"/>
      </a:spcAft>
      <a:defRPr sz="1300" kern="1200">
        <a:solidFill>
          <a:schemeClr val="tx1"/>
        </a:solidFill>
        <a:latin typeface="Arial" pitchFamily="34" charset="0"/>
        <a:ea typeface="+mn-ea"/>
        <a:cs typeface="+mn-cs"/>
      </a:defRPr>
    </a:lvl1pPr>
    <a:lvl2pPr marL="457200" algn="ctr" rtl="0" fontAlgn="base">
      <a:spcBef>
        <a:spcPct val="0"/>
      </a:spcBef>
      <a:spcAft>
        <a:spcPct val="0"/>
      </a:spcAft>
      <a:defRPr sz="1300" kern="1200">
        <a:solidFill>
          <a:schemeClr val="tx1"/>
        </a:solidFill>
        <a:latin typeface="Arial" pitchFamily="34" charset="0"/>
        <a:ea typeface="+mn-ea"/>
        <a:cs typeface="+mn-cs"/>
      </a:defRPr>
    </a:lvl2pPr>
    <a:lvl3pPr marL="914400" algn="ctr" rtl="0" fontAlgn="base">
      <a:spcBef>
        <a:spcPct val="0"/>
      </a:spcBef>
      <a:spcAft>
        <a:spcPct val="0"/>
      </a:spcAft>
      <a:defRPr sz="1300" kern="1200">
        <a:solidFill>
          <a:schemeClr val="tx1"/>
        </a:solidFill>
        <a:latin typeface="Arial" pitchFamily="34" charset="0"/>
        <a:ea typeface="+mn-ea"/>
        <a:cs typeface="+mn-cs"/>
      </a:defRPr>
    </a:lvl3pPr>
    <a:lvl4pPr marL="1371600" algn="ctr" rtl="0" fontAlgn="base">
      <a:spcBef>
        <a:spcPct val="0"/>
      </a:spcBef>
      <a:spcAft>
        <a:spcPct val="0"/>
      </a:spcAft>
      <a:defRPr sz="1300" kern="1200">
        <a:solidFill>
          <a:schemeClr val="tx1"/>
        </a:solidFill>
        <a:latin typeface="Arial" pitchFamily="34" charset="0"/>
        <a:ea typeface="+mn-ea"/>
        <a:cs typeface="+mn-cs"/>
      </a:defRPr>
    </a:lvl4pPr>
    <a:lvl5pPr marL="1828800" algn="ctr" rtl="0" fontAlgn="base">
      <a:spcBef>
        <a:spcPct val="0"/>
      </a:spcBef>
      <a:spcAft>
        <a:spcPct val="0"/>
      </a:spcAft>
      <a:defRPr sz="1300" kern="1200">
        <a:solidFill>
          <a:schemeClr val="tx1"/>
        </a:solidFill>
        <a:latin typeface="Arial" pitchFamily="34" charset="0"/>
        <a:ea typeface="+mn-ea"/>
        <a:cs typeface="+mn-cs"/>
      </a:defRPr>
    </a:lvl5pPr>
    <a:lvl6pPr marL="2286000" algn="l" defTabSz="914400" rtl="0" eaLnBrk="1" latinLnBrk="0" hangingPunct="1">
      <a:defRPr sz="1300" kern="1200">
        <a:solidFill>
          <a:schemeClr val="tx1"/>
        </a:solidFill>
        <a:latin typeface="Arial" pitchFamily="34" charset="0"/>
        <a:ea typeface="+mn-ea"/>
        <a:cs typeface="+mn-cs"/>
      </a:defRPr>
    </a:lvl6pPr>
    <a:lvl7pPr marL="2743200" algn="l" defTabSz="914400" rtl="0" eaLnBrk="1" latinLnBrk="0" hangingPunct="1">
      <a:defRPr sz="1300" kern="1200">
        <a:solidFill>
          <a:schemeClr val="tx1"/>
        </a:solidFill>
        <a:latin typeface="Arial" pitchFamily="34" charset="0"/>
        <a:ea typeface="+mn-ea"/>
        <a:cs typeface="+mn-cs"/>
      </a:defRPr>
    </a:lvl7pPr>
    <a:lvl8pPr marL="3200400" algn="l" defTabSz="914400" rtl="0" eaLnBrk="1" latinLnBrk="0" hangingPunct="1">
      <a:defRPr sz="1300" kern="1200">
        <a:solidFill>
          <a:schemeClr val="tx1"/>
        </a:solidFill>
        <a:latin typeface="Arial" pitchFamily="34" charset="0"/>
        <a:ea typeface="+mn-ea"/>
        <a:cs typeface="+mn-cs"/>
      </a:defRPr>
    </a:lvl8pPr>
    <a:lvl9pPr marL="3657600" algn="l" defTabSz="914400" rtl="0" eaLnBrk="1" latinLnBrk="0" hangingPunct="1">
      <a:defRPr sz="1300" kern="1200">
        <a:solidFill>
          <a:schemeClr val="tx1"/>
        </a:solidFill>
        <a:latin typeface="Arial" pitchFamily="34" charset="0"/>
        <a:ea typeface="+mn-ea"/>
        <a:cs typeface="+mn-cs"/>
      </a:defRPr>
    </a:lvl9pPr>
  </p:defaultTextStyle>
  <p:extLst>
    <p:ext uri="{EFAFB233-063F-42B5-8137-9DF3F51BA10A}">
      <p15:sldGuideLst xmlns:p15="http://schemas.microsoft.com/office/powerpoint/2012/main">
        <p15:guide id="1" orient="horz" pos="2096">
          <p15:clr>
            <a:srgbClr val="A4A3A4"/>
          </p15:clr>
        </p15:guide>
        <p15:guide id="2" orient="horz" pos="491">
          <p15:clr>
            <a:srgbClr val="A4A3A4"/>
          </p15:clr>
        </p15:guide>
        <p15:guide id="3" orient="horz" pos="813">
          <p15:clr>
            <a:srgbClr val="A4A3A4"/>
          </p15:clr>
        </p15:guide>
        <p15:guide id="4" pos="2371">
          <p15:clr>
            <a:srgbClr val="A4A3A4"/>
          </p15:clr>
        </p15:guide>
        <p15:guide id="5" pos="4512">
          <p15:clr>
            <a:srgbClr val="A4A3A4"/>
          </p15:clr>
        </p15:guide>
        <p15:guide id="6" pos="238">
          <p15:clr>
            <a:srgbClr val="A4A3A4"/>
          </p15:clr>
        </p15:guide>
      </p15:sldGuideLst>
    </p:ext>
    <p:ext uri="{2D200454-40CA-4A62-9FC3-DE9A4176ACB9}">
      <p15:notesGuideLst xmlns:p15="http://schemas.microsoft.com/office/powerpoint/2012/main">
        <p15:guide id="1" orient="horz" pos="2960">
          <p15:clr>
            <a:srgbClr val="A4A3A4"/>
          </p15:clr>
        </p15:guide>
        <p15:guide id="2" pos="2141">
          <p15:clr>
            <a:srgbClr val="A4A3A4"/>
          </p15:clr>
        </p15:guide>
        <p15:guide id="3" pos="341">
          <p15:clr>
            <a:srgbClr val="A4A3A4"/>
          </p15:clr>
        </p15:guide>
        <p15:guide id="4" pos="3942">
          <p15:clr>
            <a:srgbClr val="A4A3A4"/>
          </p15:clr>
        </p15:guide>
        <p15:guide id="5" pos="113">
          <p15:clr>
            <a:srgbClr val="A4A3A4"/>
          </p15:clr>
        </p15:guide>
        <p15:guide id="6" pos="4186">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27A8E0"/>
    <a:srgbClr val="E22B00"/>
    <a:srgbClr val="FF6D4B"/>
    <a:srgbClr val="FF6600"/>
    <a:srgbClr val="FC2C1C"/>
    <a:srgbClr val="FFFF00"/>
    <a:srgbClr val="00CC66"/>
    <a:srgbClr val="FFFF99"/>
    <a:srgbClr val="CC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vertBarState="minimized" horzBarState="maximized">
    <p:restoredLeft sz="15620"/>
    <p:restoredTop sz="80440" autoAdjust="0"/>
  </p:normalViewPr>
  <p:slideViewPr>
    <p:cSldViewPr snapToGrid="0">
      <p:cViewPr>
        <p:scale>
          <a:sx n="50" d="100"/>
          <a:sy n="50" d="100"/>
        </p:scale>
        <p:origin x="3972" y="1698"/>
      </p:cViewPr>
      <p:guideLst>
        <p:guide orient="horz" pos="2096"/>
        <p:guide orient="horz" pos="491"/>
        <p:guide orient="horz" pos="813"/>
        <p:guide pos="2371"/>
        <p:guide pos="4512"/>
        <p:guide pos="238"/>
      </p:guideLst>
    </p:cSldViewPr>
  </p:slideViewPr>
  <p:outlineViewPr>
    <p:cViewPr>
      <p:scale>
        <a:sx n="25" d="100"/>
        <a:sy n="25" d="100"/>
      </p:scale>
      <p:origin x="0" y="0"/>
    </p:cViewPr>
    <p:sldLst>
      <p:sld r:id="rId1" collapse="1"/>
      <p:sld r:id="rId2" collapse="1"/>
    </p:sldLst>
  </p:outlineViewPr>
  <p:notesTextViewPr>
    <p:cViewPr>
      <p:scale>
        <a:sx n="100" d="100"/>
        <a:sy n="100" d="100"/>
      </p:scale>
      <p:origin x="0" y="0"/>
    </p:cViewPr>
  </p:notesTextViewPr>
  <p:sorterViewPr>
    <p:cViewPr>
      <p:scale>
        <a:sx n="125" d="100"/>
        <a:sy n="125" d="100"/>
      </p:scale>
      <p:origin x="0" y="0"/>
    </p:cViewPr>
  </p:sorterViewPr>
  <p:notesViewPr>
    <p:cSldViewPr snapToGrid="0">
      <p:cViewPr varScale="1">
        <p:scale>
          <a:sx n="87" d="100"/>
          <a:sy n="87" d="100"/>
        </p:scale>
        <p:origin x="3858" y="96"/>
      </p:cViewPr>
      <p:guideLst>
        <p:guide orient="horz" pos="2960"/>
        <p:guide pos="2141"/>
        <p:guide pos="341"/>
        <p:guide pos="3942"/>
        <p:guide pos="113"/>
        <p:guide pos="4186"/>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notesMaster" Target="notesMasters/notesMaster1.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13" Type="http://schemas.openxmlformats.org/officeDocument/2006/relationships/slide" Target="slides/slide12.xml"/><Relationship Id="rId109" Type="http://schemas.openxmlformats.org/officeDocument/2006/relationships/slide" Target="slides/slide108.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handoutMaster" Target="handoutMasters/handoutMaster1.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219" Type="http://schemas.openxmlformats.org/officeDocument/2006/relationships/presProps" Target="presProps.xml"/><Relationship Id="rId3" Type="http://schemas.openxmlformats.org/officeDocument/2006/relationships/slide" Target="slides/slide2.xml"/><Relationship Id="rId214" Type="http://schemas.openxmlformats.org/officeDocument/2006/relationships/slide" Target="slides/slide213.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viewProps" Target="view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theme" Target="theme/theme1.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tableStyles" Target="tableStyles.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microsoft.com/office/2016/11/relationships/changesInfo" Target="changesInfos/changesInfo1.xml"/><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 Type="http://schemas.openxmlformats.org/officeDocument/2006/relationships/slide" Target="slides/slide1.xml"/><Relationship Id="rId29" Type="http://schemas.openxmlformats.org/officeDocument/2006/relationships/slide" Target="slides/slide28.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s>
</file>

<file path=ppt/_rels/viewProps.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slide" Target="slides/slide19.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téphane JAUBERT" userId="926aeaf5-0d8d-4569-9635-338e3b4850fc" providerId="ADAL" clId="{C777CAD2-2948-4130-A6C6-8CB11CD7CD00}"/>
    <pc:docChg chg="modSld">
      <pc:chgData name="Stéphane JAUBERT" userId="926aeaf5-0d8d-4569-9635-338e3b4850fc" providerId="ADAL" clId="{C777CAD2-2948-4130-A6C6-8CB11CD7CD00}" dt="2026-02-06T07:03:50.362" v="0" actId="729"/>
      <pc:docMkLst>
        <pc:docMk/>
      </pc:docMkLst>
      <pc:sldChg chg="mod modShow">
        <pc:chgData name="Stéphane JAUBERT" userId="926aeaf5-0d8d-4569-9635-338e3b4850fc" providerId="ADAL" clId="{C777CAD2-2948-4130-A6C6-8CB11CD7CD00}" dt="2026-02-06T07:03:50.362" v="0" actId="729"/>
        <pc:sldMkLst>
          <pc:docMk/>
          <pc:sldMk cId="0" sldId="385"/>
        </pc:sldMkLst>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3970" name="Rectangle 2"/>
          <p:cNvSpPr>
            <a:spLocks noGrp="1" noChangeArrowheads="1"/>
          </p:cNvSpPr>
          <p:nvPr>
            <p:ph type="hdr" sz="quarter"/>
          </p:nvPr>
        </p:nvSpPr>
        <p:spPr bwMode="auto">
          <a:xfrm>
            <a:off x="0" y="1"/>
            <a:ext cx="2946861" cy="496930"/>
          </a:xfrm>
          <a:prstGeom prst="rect">
            <a:avLst/>
          </a:prstGeom>
          <a:noFill/>
          <a:ln w="6350">
            <a:noFill/>
            <a:miter lim="800000"/>
            <a:headEnd/>
            <a:tailEnd/>
          </a:ln>
          <a:effectLst/>
        </p:spPr>
        <p:txBody>
          <a:bodyPr vert="horz" wrap="none" lIns="91422" tIns="45711" rIns="91422" bIns="45711" numCol="1" anchor="ctr" anchorCtr="0" compatLnSpc="1">
            <a:prstTxWarp prst="textNoShape">
              <a:avLst/>
            </a:prstTxWarp>
          </a:bodyPr>
          <a:lstStyle>
            <a:lvl1pPr algn="l">
              <a:defRPr sz="1200">
                <a:latin typeface="Times New Roman" pitchFamily="18" charset="0"/>
              </a:defRPr>
            </a:lvl1pPr>
          </a:lstStyle>
          <a:p>
            <a:pPr>
              <a:defRPr/>
            </a:pPr>
            <a:endParaRPr lang="fr-FR"/>
          </a:p>
        </p:txBody>
      </p:sp>
      <p:sp>
        <p:nvSpPr>
          <p:cNvPr id="83971" name="Rectangle 3"/>
          <p:cNvSpPr>
            <a:spLocks noGrp="1" noChangeArrowheads="1"/>
          </p:cNvSpPr>
          <p:nvPr>
            <p:ph type="dt" sz="quarter" idx="1"/>
          </p:nvPr>
        </p:nvSpPr>
        <p:spPr bwMode="auto">
          <a:xfrm>
            <a:off x="3850814" y="1"/>
            <a:ext cx="2946861" cy="496930"/>
          </a:xfrm>
          <a:prstGeom prst="rect">
            <a:avLst/>
          </a:prstGeom>
          <a:noFill/>
          <a:ln w="6350">
            <a:noFill/>
            <a:miter lim="800000"/>
            <a:headEnd/>
            <a:tailEnd/>
          </a:ln>
          <a:effectLst/>
        </p:spPr>
        <p:txBody>
          <a:bodyPr vert="horz" wrap="none" lIns="91422" tIns="45711" rIns="91422" bIns="45711" numCol="1" anchor="ctr" anchorCtr="0" compatLnSpc="1">
            <a:prstTxWarp prst="textNoShape">
              <a:avLst/>
            </a:prstTxWarp>
          </a:bodyPr>
          <a:lstStyle>
            <a:lvl1pPr algn="r">
              <a:defRPr sz="1200">
                <a:latin typeface="Times New Roman" pitchFamily="18" charset="0"/>
              </a:defRPr>
            </a:lvl1pPr>
          </a:lstStyle>
          <a:p>
            <a:pPr>
              <a:defRPr/>
            </a:pPr>
            <a:endParaRPr lang="fr-FR"/>
          </a:p>
        </p:txBody>
      </p:sp>
      <p:sp>
        <p:nvSpPr>
          <p:cNvPr id="83972" name="Rectangle 4"/>
          <p:cNvSpPr>
            <a:spLocks noGrp="1" noChangeArrowheads="1"/>
          </p:cNvSpPr>
          <p:nvPr>
            <p:ph type="ftr" sz="quarter" idx="2"/>
          </p:nvPr>
        </p:nvSpPr>
        <p:spPr bwMode="auto">
          <a:xfrm>
            <a:off x="0" y="9429708"/>
            <a:ext cx="2946861" cy="496930"/>
          </a:xfrm>
          <a:prstGeom prst="rect">
            <a:avLst/>
          </a:prstGeom>
          <a:noFill/>
          <a:ln w="6350">
            <a:noFill/>
            <a:miter lim="800000"/>
            <a:headEnd/>
            <a:tailEnd/>
          </a:ln>
          <a:effectLst/>
        </p:spPr>
        <p:txBody>
          <a:bodyPr vert="horz" wrap="none" lIns="91422" tIns="45711" rIns="91422" bIns="45711" numCol="1" anchor="b" anchorCtr="0" compatLnSpc="1">
            <a:prstTxWarp prst="textNoShape">
              <a:avLst/>
            </a:prstTxWarp>
          </a:bodyPr>
          <a:lstStyle>
            <a:lvl1pPr algn="l">
              <a:defRPr sz="1200">
                <a:latin typeface="Times New Roman" pitchFamily="18" charset="0"/>
              </a:defRPr>
            </a:lvl1pPr>
          </a:lstStyle>
          <a:p>
            <a:pPr>
              <a:defRPr/>
            </a:pPr>
            <a:endParaRPr lang="fr-FR"/>
          </a:p>
        </p:txBody>
      </p:sp>
      <p:sp>
        <p:nvSpPr>
          <p:cNvPr id="83973" name="Rectangle 5"/>
          <p:cNvSpPr>
            <a:spLocks noGrp="1" noChangeArrowheads="1"/>
          </p:cNvSpPr>
          <p:nvPr>
            <p:ph type="sldNum" sz="quarter" idx="3"/>
          </p:nvPr>
        </p:nvSpPr>
        <p:spPr bwMode="auto">
          <a:xfrm>
            <a:off x="3850814" y="9429708"/>
            <a:ext cx="2946861" cy="496930"/>
          </a:xfrm>
          <a:prstGeom prst="rect">
            <a:avLst/>
          </a:prstGeom>
          <a:noFill/>
          <a:ln w="6350">
            <a:noFill/>
            <a:miter lim="800000"/>
            <a:headEnd/>
            <a:tailEnd/>
          </a:ln>
          <a:effectLst/>
        </p:spPr>
        <p:txBody>
          <a:bodyPr vert="horz" wrap="none" lIns="91422" tIns="45711" rIns="91422" bIns="45711" numCol="1" anchor="b" anchorCtr="0" compatLnSpc="1">
            <a:prstTxWarp prst="textNoShape">
              <a:avLst/>
            </a:prstTxWarp>
          </a:bodyPr>
          <a:lstStyle>
            <a:lvl1pPr algn="r">
              <a:defRPr sz="1200">
                <a:latin typeface="Times New Roman" pitchFamily="18" charset="0"/>
              </a:defRPr>
            </a:lvl1pPr>
          </a:lstStyle>
          <a:p>
            <a:pPr>
              <a:defRPr/>
            </a:pPr>
            <a:fld id="{34C14E7A-280D-4049-B4D1-BE37DE6283A2}" type="slidenum">
              <a:rPr lang="fr-FR"/>
              <a:pPr>
                <a:defRPr/>
              </a:pPr>
              <a:t>‹N°›</a:t>
            </a:fld>
            <a:endParaRPr lang="fr-FR"/>
          </a:p>
        </p:txBody>
      </p:sp>
    </p:spTree>
    <p:extLst>
      <p:ext uri="{BB962C8B-B14F-4D97-AF65-F5344CB8AC3E}">
        <p14:creationId xmlns:p14="http://schemas.microsoft.com/office/powerpoint/2010/main" val="99007175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22210" name="Text Box 11"/>
          <p:cNvSpPr txBox="1">
            <a:spLocks noChangeArrowheads="1"/>
          </p:cNvSpPr>
          <p:nvPr/>
        </p:nvSpPr>
        <p:spPr bwMode="auto">
          <a:xfrm>
            <a:off x="5470726" y="9665365"/>
            <a:ext cx="1326949" cy="236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82232" tIns="41116" rIns="82232" bIns="41116">
            <a:spAutoFit/>
          </a:bodyPr>
          <a:lstStyle>
            <a:lvl1pPr defTabSz="822325" eaLnBrk="0" hangingPunct="0">
              <a:defRPr sz="1300">
                <a:solidFill>
                  <a:schemeClr val="tx1"/>
                </a:solidFill>
                <a:latin typeface="Arial" pitchFamily="34" charset="0"/>
              </a:defRPr>
            </a:lvl1pPr>
            <a:lvl2pPr marL="742950" indent="-285750" defTabSz="822325" eaLnBrk="0" hangingPunct="0">
              <a:defRPr sz="1300">
                <a:solidFill>
                  <a:schemeClr val="tx1"/>
                </a:solidFill>
                <a:latin typeface="Arial" pitchFamily="34" charset="0"/>
              </a:defRPr>
            </a:lvl2pPr>
            <a:lvl3pPr marL="1143000" indent="-228600" defTabSz="822325" eaLnBrk="0" hangingPunct="0">
              <a:defRPr sz="1300">
                <a:solidFill>
                  <a:schemeClr val="tx1"/>
                </a:solidFill>
                <a:latin typeface="Arial" pitchFamily="34" charset="0"/>
              </a:defRPr>
            </a:lvl3pPr>
            <a:lvl4pPr marL="1600200" indent="-228600" defTabSz="822325" eaLnBrk="0" hangingPunct="0">
              <a:defRPr sz="1300">
                <a:solidFill>
                  <a:schemeClr val="tx1"/>
                </a:solidFill>
                <a:latin typeface="Arial" pitchFamily="34" charset="0"/>
              </a:defRPr>
            </a:lvl4pPr>
            <a:lvl5pPr marL="2057400" indent="-228600" defTabSz="822325" eaLnBrk="0" hangingPunct="0">
              <a:defRPr sz="1300">
                <a:solidFill>
                  <a:schemeClr val="tx1"/>
                </a:solidFill>
                <a:latin typeface="Arial" pitchFamily="34" charset="0"/>
              </a:defRPr>
            </a:lvl5pPr>
            <a:lvl6pPr marL="2514600" indent="-228600" algn="ctr" defTabSz="822325" eaLnBrk="0" fontAlgn="base" hangingPunct="0">
              <a:spcBef>
                <a:spcPct val="0"/>
              </a:spcBef>
              <a:spcAft>
                <a:spcPct val="0"/>
              </a:spcAft>
              <a:defRPr sz="1300">
                <a:solidFill>
                  <a:schemeClr val="tx1"/>
                </a:solidFill>
                <a:latin typeface="Arial" pitchFamily="34" charset="0"/>
              </a:defRPr>
            </a:lvl6pPr>
            <a:lvl7pPr marL="2971800" indent="-228600" algn="ctr" defTabSz="822325" eaLnBrk="0" fontAlgn="base" hangingPunct="0">
              <a:spcBef>
                <a:spcPct val="0"/>
              </a:spcBef>
              <a:spcAft>
                <a:spcPct val="0"/>
              </a:spcAft>
              <a:defRPr sz="1300">
                <a:solidFill>
                  <a:schemeClr val="tx1"/>
                </a:solidFill>
                <a:latin typeface="Arial" pitchFamily="34" charset="0"/>
              </a:defRPr>
            </a:lvl7pPr>
            <a:lvl8pPr marL="3429000" indent="-228600" algn="ctr" defTabSz="822325" eaLnBrk="0" fontAlgn="base" hangingPunct="0">
              <a:spcBef>
                <a:spcPct val="0"/>
              </a:spcBef>
              <a:spcAft>
                <a:spcPct val="0"/>
              </a:spcAft>
              <a:defRPr sz="1300">
                <a:solidFill>
                  <a:schemeClr val="tx1"/>
                </a:solidFill>
                <a:latin typeface="Arial" pitchFamily="34" charset="0"/>
              </a:defRPr>
            </a:lvl8pPr>
            <a:lvl9pPr marL="3886200" indent="-228600" algn="ctr" defTabSz="822325" eaLnBrk="0" fontAlgn="base" hangingPunct="0">
              <a:spcBef>
                <a:spcPct val="0"/>
              </a:spcBef>
              <a:spcAft>
                <a:spcPct val="0"/>
              </a:spcAft>
              <a:defRPr sz="1300">
                <a:solidFill>
                  <a:schemeClr val="tx1"/>
                </a:solidFill>
                <a:latin typeface="Arial" pitchFamily="34" charset="0"/>
              </a:defRPr>
            </a:lvl9pPr>
          </a:lstStyle>
          <a:p>
            <a:pPr algn="r">
              <a:defRPr/>
            </a:pPr>
            <a:r>
              <a:rPr lang="fr-FR" sz="1000" b="1">
                <a:solidFill>
                  <a:srgbClr val="474747"/>
                </a:solidFill>
              </a:rPr>
              <a:t>diapo </a:t>
            </a:r>
            <a:fld id="{D8A8FCF6-190F-467E-BD5E-7CA2B3EC2C83}" type="slidenum">
              <a:rPr lang="fr-FR" sz="1000" b="1" smtClean="0">
                <a:solidFill>
                  <a:srgbClr val="474747"/>
                </a:solidFill>
              </a:rPr>
              <a:pPr algn="r">
                <a:defRPr/>
              </a:pPr>
              <a:t>‹N°›</a:t>
            </a:fld>
            <a:endParaRPr lang="fr-FR" sz="1000" b="1">
              <a:solidFill>
                <a:srgbClr val="474747"/>
              </a:solidFill>
            </a:endParaRPr>
          </a:p>
        </p:txBody>
      </p:sp>
      <p:sp>
        <p:nvSpPr>
          <p:cNvPr id="124930" name="Rectangle 2"/>
          <p:cNvSpPr>
            <a:spLocks noGrp="1" noChangeArrowheads="1"/>
          </p:cNvSpPr>
          <p:nvPr>
            <p:ph type="hdr" sz="quarter"/>
          </p:nvPr>
        </p:nvSpPr>
        <p:spPr bwMode="auto">
          <a:xfrm>
            <a:off x="0" y="0"/>
            <a:ext cx="2946861" cy="464484"/>
          </a:xfrm>
          <a:prstGeom prst="rect">
            <a:avLst/>
          </a:prstGeom>
          <a:noFill/>
          <a:ln w="6350">
            <a:noFill/>
            <a:miter lim="800000"/>
            <a:headEnd/>
            <a:tailEnd/>
          </a:ln>
          <a:effectLst/>
        </p:spPr>
        <p:txBody>
          <a:bodyPr vert="horz" wrap="none" lIns="91422" tIns="45711" rIns="91422" bIns="45711" numCol="1" anchor="ctr" anchorCtr="0" compatLnSpc="1">
            <a:prstTxWarp prst="textNoShape">
              <a:avLst/>
            </a:prstTxWarp>
          </a:bodyPr>
          <a:lstStyle>
            <a:lvl1pPr algn="l">
              <a:defRPr sz="1200">
                <a:latin typeface="Times New Roman" pitchFamily="18" charset="0"/>
              </a:defRPr>
            </a:lvl1pPr>
          </a:lstStyle>
          <a:p>
            <a:pPr>
              <a:defRPr/>
            </a:pPr>
            <a:endParaRPr lang="fr-FR"/>
          </a:p>
        </p:txBody>
      </p:sp>
      <p:sp>
        <p:nvSpPr>
          <p:cNvPr id="124931" name="Rectangle 3"/>
          <p:cNvSpPr>
            <a:spLocks noGrp="1" noChangeArrowheads="1"/>
          </p:cNvSpPr>
          <p:nvPr>
            <p:ph type="dt" idx="1"/>
          </p:nvPr>
        </p:nvSpPr>
        <p:spPr bwMode="auto">
          <a:xfrm>
            <a:off x="3850814" y="0"/>
            <a:ext cx="2946861" cy="464484"/>
          </a:xfrm>
          <a:prstGeom prst="rect">
            <a:avLst/>
          </a:prstGeom>
          <a:noFill/>
          <a:ln w="6350">
            <a:noFill/>
            <a:miter lim="800000"/>
            <a:headEnd/>
            <a:tailEnd/>
          </a:ln>
          <a:effectLst/>
        </p:spPr>
        <p:txBody>
          <a:bodyPr vert="horz" wrap="none" lIns="91422" tIns="45711" rIns="91422" bIns="45711" numCol="1" anchor="ctr" anchorCtr="0" compatLnSpc="1">
            <a:prstTxWarp prst="textNoShape">
              <a:avLst/>
            </a:prstTxWarp>
          </a:bodyPr>
          <a:lstStyle>
            <a:lvl1pPr algn="r">
              <a:defRPr sz="1200">
                <a:latin typeface="Times New Roman" pitchFamily="18" charset="0"/>
              </a:defRPr>
            </a:lvl1pPr>
          </a:lstStyle>
          <a:p>
            <a:pPr>
              <a:defRPr/>
            </a:pPr>
            <a:endParaRPr lang="fr-FR"/>
          </a:p>
        </p:txBody>
      </p:sp>
      <p:sp>
        <p:nvSpPr>
          <p:cNvPr id="222213" name="Rectangle 4"/>
          <p:cNvSpPr>
            <a:spLocks noGrp="1" noRot="1" noChangeAspect="1" noChangeArrowheads="1" noTextEdit="1"/>
          </p:cNvSpPr>
          <p:nvPr>
            <p:ph type="sldImg" idx="2"/>
          </p:nvPr>
        </p:nvSpPr>
        <p:spPr bwMode="auto">
          <a:xfrm>
            <a:off x="290513" y="23813"/>
            <a:ext cx="6229350" cy="467201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3" name="Rectangle 5"/>
          <p:cNvSpPr>
            <a:spLocks noGrp="1" noChangeArrowheads="1"/>
          </p:cNvSpPr>
          <p:nvPr>
            <p:ph type="body" sz="quarter" idx="3"/>
          </p:nvPr>
        </p:nvSpPr>
        <p:spPr bwMode="auto">
          <a:xfrm>
            <a:off x="496628" y="4904404"/>
            <a:ext cx="5805988" cy="1237244"/>
          </a:xfrm>
          <a:prstGeom prst="rect">
            <a:avLst/>
          </a:prstGeom>
          <a:noFill/>
          <a:ln w="6350">
            <a:noFill/>
            <a:miter lim="800000"/>
            <a:headEnd/>
            <a:tailEnd/>
          </a:ln>
          <a:effectLst/>
        </p:spPr>
        <p:txBody>
          <a:bodyPr vert="horz" wrap="square" lIns="53989" tIns="45711" rIns="53989" bIns="45711" numCol="1" anchor="t" anchorCtr="0" compatLnSpc="1">
            <a:prstTxWarp prst="textNoShape">
              <a:avLst/>
            </a:prstTxWarp>
            <a:spAutoFit/>
          </a:bodyPr>
          <a:lstStyle/>
          <a:p>
            <a:pPr lvl="0"/>
            <a:r>
              <a:rPr lang="fr-FR" noProof="0"/>
              <a:t>Cliquez pour modifier les styles du texte du masque</a:t>
            </a:r>
          </a:p>
          <a:p>
            <a:pPr lvl="1"/>
            <a:r>
              <a:rPr lang="fr-FR" noProof="0"/>
              <a:t>Deuxième niveau</a:t>
            </a:r>
          </a:p>
          <a:p>
            <a:pPr lvl="2"/>
            <a:r>
              <a:rPr lang="fr-FR" noProof="0"/>
              <a:t>Troisième niveau</a:t>
            </a:r>
          </a:p>
          <a:p>
            <a:pPr lvl="3"/>
            <a:r>
              <a:rPr lang="fr-FR" noProof="0"/>
              <a:t>Quatrième niveau</a:t>
            </a:r>
          </a:p>
          <a:p>
            <a:pPr lvl="4"/>
            <a:r>
              <a:rPr lang="fr-FR" noProof="0"/>
              <a:t>Cinquième niveau</a:t>
            </a:r>
          </a:p>
        </p:txBody>
      </p:sp>
      <p:sp>
        <p:nvSpPr>
          <p:cNvPr id="124934" name="Rectangle 6"/>
          <p:cNvSpPr>
            <a:spLocks noGrp="1" noChangeArrowheads="1"/>
          </p:cNvSpPr>
          <p:nvPr>
            <p:ph type="ftr" sz="quarter" idx="4"/>
          </p:nvPr>
        </p:nvSpPr>
        <p:spPr bwMode="auto">
          <a:xfrm>
            <a:off x="0" y="9438247"/>
            <a:ext cx="2946861" cy="464484"/>
          </a:xfrm>
          <a:prstGeom prst="rect">
            <a:avLst/>
          </a:prstGeom>
          <a:noFill/>
          <a:ln w="6350">
            <a:noFill/>
            <a:miter lim="800000"/>
            <a:headEnd/>
            <a:tailEnd/>
          </a:ln>
          <a:effectLst/>
        </p:spPr>
        <p:txBody>
          <a:bodyPr vert="horz" wrap="none" lIns="91422" tIns="45711" rIns="91422" bIns="45711" numCol="1" anchor="b" anchorCtr="0" compatLnSpc="1">
            <a:prstTxWarp prst="textNoShape">
              <a:avLst/>
            </a:prstTxWarp>
          </a:bodyPr>
          <a:lstStyle>
            <a:lvl1pPr algn="l">
              <a:defRPr sz="1200">
                <a:latin typeface="Times New Roman" pitchFamily="18" charset="0"/>
              </a:defRPr>
            </a:lvl1pPr>
          </a:lstStyle>
          <a:p>
            <a:pPr>
              <a:defRPr/>
            </a:pPr>
            <a:endParaRPr lang="fr-FR"/>
          </a:p>
        </p:txBody>
      </p:sp>
      <p:sp>
        <p:nvSpPr>
          <p:cNvPr id="222216" name="Text Box 10"/>
          <p:cNvSpPr txBox="1">
            <a:spLocks noChangeArrowheads="1"/>
          </p:cNvSpPr>
          <p:nvPr/>
        </p:nvSpPr>
        <p:spPr bwMode="auto">
          <a:xfrm>
            <a:off x="0" y="9665366"/>
            <a:ext cx="2166610" cy="190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82228" tIns="41114" rIns="82228" bIns="41114">
            <a:spAutoFit/>
          </a:bodyPr>
          <a:lstStyle>
            <a:lvl1pPr defTabSz="820738" eaLnBrk="0" hangingPunct="0">
              <a:defRPr sz="1300">
                <a:solidFill>
                  <a:schemeClr val="tx1"/>
                </a:solidFill>
                <a:latin typeface="Arial" pitchFamily="34" charset="0"/>
              </a:defRPr>
            </a:lvl1pPr>
            <a:lvl2pPr marL="742950" indent="-285750" defTabSz="820738" eaLnBrk="0" hangingPunct="0">
              <a:defRPr sz="1300">
                <a:solidFill>
                  <a:schemeClr val="tx1"/>
                </a:solidFill>
                <a:latin typeface="Arial" pitchFamily="34" charset="0"/>
              </a:defRPr>
            </a:lvl2pPr>
            <a:lvl3pPr marL="1143000" indent="-228600" defTabSz="820738" eaLnBrk="0" hangingPunct="0">
              <a:defRPr sz="1300">
                <a:solidFill>
                  <a:schemeClr val="tx1"/>
                </a:solidFill>
                <a:latin typeface="Arial" pitchFamily="34" charset="0"/>
              </a:defRPr>
            </a:lvl3pPr>
            <a:lvl4pPr marL="1600200" indent="-228600" defTabSz="820738" eaLnBrk="0" hangingPunct="0">
              <a:defRPr sz="1300">
                <a:solidFill>
                  <a:schemeClr val="tx1"/>
                </a:solidFill>
                <a:latin typeface="Arial" pitchFamily="34" charset="0"/>
              </a:defRPr>
            </a:lvl4pPr>
            <a:lvl5pPr marL="2057400" indent="-228600" defTabSz="820738" eaLnBrk="0" hangingPunct="0">
              <a:defRPr sz="1300">
                <a:solidFill>
                  <a:schemeClr val="tx1"/>
                </a:solidFill>
                <a:latin typeface="Arial" pitchFamily="34" charset="0"/>
              </a:defRPr>
            </a:lvl5pPr>
            <a:lvl6pPr marL="2514600" indent="-228600" algn="ctr" defTabSz="820738" eaLnBrk="0" fontAlgn="base" hangingPunct="0">
              <a:spcBef>
                <a:spcPct val="0"/>
              </a:spcBef>
              <a:spcAft>
                <a:spcPct val="0"/>
              </a:spcAft>
              <a:defRPr sz="1300">
                <a:solidFill>
                  <a:schemeClr val="tx1"/>
                </a:solidFill>
                <a:latin typeface="Arial" pitchFamily="34" charset="0"/>
              </a:defRPr>
            </a:lvl6pPr>
            <a:lvl7pPr marL="2971800" indent="-228600" algn="ctr" defTabSz="820738" eaLnBrk="0" fontAlgn="base" hangingPunct="0">
              <a:spcBef>
                <a:spcPct val="0"/>
              </a:spcBef>
              <a:spcAft>
                <a:spcPct val="0"/>
              </a:spcAft>
              <a:defRPr sz="1300">
                <a:solidFill>
                  <a:schemeClr val="tx1"/>
                </a:solidFill>
                <a:latin typeface="Arial" pitchFamily="34" charset="0"/>
              </a:defRPr>
            </a:lvl7pPr>
            <a:lvl8pPr marL="3429000" indent="-228600" algn="ctr" defTabSz="820738" eaLnBrk="0" fontAlgn="base" hangingPunct="0">
              <a:spcBef>
                <a:spcPct val="0"/>
              </a:spcBef>
              <a:spcAft>
                <a:spcPct val="0"/>
              </a:spcAft>
              <a:defRPr sz="1300">
                <a:solidFill>
                  <a:schemeClr val="tx1"/>
                </a:solidFill>
                <a:latin typeface="Arial" pitchFamily="34" charset="0"/>
              </a:defRPr>
            </a:lvl8pPr>
            <a:lvl9pPr marL="3886200" indent="-228600" algn="ctr" defTabSz="820738" eaLnBrk="0" fontAlgn="base" hangingPunct="0">
              <a:spcBef>
                <a:spcPct val="0"/>
              </a:spcBef>
              <a:spcAft>
                <a:spcPct val="0"/>
              </a:spcAft>
              <a:defRPr sz="1300">
                <a:solidFill>
                  <a:schemeClr val="tx1"/>
                </a:solidFill>
                <a:latin typeface="Arial" pitchFamily="34" charset="0"/>
              </a:defRPr>
            </a:lvl9pPr>
          </a:lstStyle>
          <a:p>
            <a:pPr algn="l">
              <a:defRPr/>
            </a:pPr>
            <a:r>
              <a:rPr lang="fr-FR" sz="700">
                <a:solidFill>
                  <a:srgbClr val="474747"/>
                </a:solidFill>
              </a:rPr>
              <a:t>Le Jeu du Kanban</a:t>
            </a:r>
            <a:r>
              <a:rPr lang="fr-FR" sz="700" baseline="30000">
                <a:solidFill>
                  <a:srgbClr val="474747"/>
                </a:solidFill>
                <a:cs typeface="Arial" pitchFamily="34" charset="0"/>
              </a:rPr>
              <a:t>©</a:t>
            </a:r>
            <a:r>
              <a:rPr lang="fr-FR" sz="700">
                <a:solidFill>
                  <a:srgbClr val="474747"/>
                </a:solidFill>
              </a:rPr>
              <a:t> - CIPE / Tous Droits Réservés</a:t>
            </a:r>
          </a:p>
        </p:txBody>
      </p:sp>
    </p:spTree>
    <p:extLst>
      <p:ext uri="{BB962C8B-B14F-4D97-AF65-F5344CB8AC3E}">
        <p14:creationId xmlns:p14="http://schemas.microsoft.com/office/powerpoint/2010/main" val="4134554942"/>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b="1" kern="1200">
        <a:solidFill>
          <a:schemeClr val="accent2"/>
        </a:solidFill>
        <a:latin typeface="Arial" pitchFamily="34" charset="0"/>
        <a:ea typeface="+mn-ea"/>
        <a:cs typeface="+mn-cs"/>
      </a:defRPr>
    </a:lvl1pPr>
    <a:lvl2pPr marL="190500" algn="l" rtl="0" eaLnBrk="0" fontAlgn="base" hangingPunct="0">
      <a:spcBef>
        <a:spcPct val="30000"/>
      </a:spcBef>
      <a:spcAft>
        <a:spcPct val="0"/>
      </a:spcAft>
      <a:defRPr sz="1200" kern="1200">
        <a:solidFill>
          <a:schemeClr val="tx1"/>
        </a:solidFill>
        <a:latin typeface="Arial" pitchFamily="34" charset="0"/>
        <a:ea typeface="+mn-ea"/>
        <a:cs typeface="+mn-cs"/>
      </a:defRPr>
    </a:lvl2pPr>
    <a:lvl3pPr marL="914400" algn="l" rtl="0" eaLnBrk="0" fontAlgn="base" hangingPunct="0">
      <a:spcBef>
        <a:spcPct val="30000"/>
      </a:spcBef>
      <a:spcAft>
        <a:spcPct val="0"/>
      </a:spcAft>
      <a:defRPr sz="1200" kern="1200">
        <a:solidFill>
          <a:schemeClr val="tx1"/>
        </a:solidFill>
        <a:latin typeface="Arial" pitchFamily="34" charset="0"/>
        <a:ea typeface="+mn-ea"/>
        <a:cs typeface="+mn-cs"/>
      </a:defRPr>
    </a:lvl3pPr>
    <a:lvl4pPr marL="1371600" algn="l" rtl="0" eaLnBrk="0" fontAlgn="base" hangingPunct="0">
      <a:spcBef>
        <a:spcPct val="30000"/>
      </a:spcBef>
      <a:spcAft>
        <a:spcPct val="0"/>
      </a:spcAft>
      <a:defRPr sz="1200" kern="1200">
        <a:solidFill>
          <a:schemeClr val="tx1"/>
        </a:solidFill>
        <a:latin typeface="Arial" pitchFamily="34" charset="0"/>
        <a:ea typeface="+mn-ea"/>
        <a:cs typeface="+mn-cs"/>
      </a:defRPr>
    </a:lvl4pPr>
    <a:lvl5pPr marL="1828800" algn="l" rtl="0" eaLnBrk="0" fontAlgn="base" hangingPunct="0">
      <a:spcBef>
        <a:spcPct val="30000"/>
      </a:spcBef>
      <a:spcAft>
        <a:spcPct val="0"/>
      </a:spcAft>
      <a:defRPr sz="1200" kern="1200">
        <a:solidFill>
          <a:schemeClr val="tx1"/>
        </a:solidFill>
        <a:latin typeface="Arial"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slide" Target="../slides/slide1.xml"/><Relationship Id="rId1" Type="http://schemas.openxmlformats.org/officeDocument/2006/relationships/notesMaster" Target="../notesMasters/notesMaster1.xml"/><Relationship Id="rId4" Type="http://schemas.openxmlformats.org/officeDocument/2006/relationships/image" Target="../media/image2.jpeg"/></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e l'image des diapositives 4"/>
          <p:cNvSpPr>
            <a:spLocks noGrp="1" noRot="1" noChangeAspect="1"/>
          </p:cNvSpPr>
          <p:nvPr>
            <p:ph type="sldImg"/>
          </p:nvPr>
        </p:nvSpPr>
        <p:spPr>
          <a:xfrm>
            <a:off x="714375" y="195263"/>
            <a:ext cx="5657850" cy="4243387"/>
          </a:xfrm>
        </p:spPr>
      </p:sp>
      <p:sp>
        <p:nvSpPr>
          <p:cNvPr id="2" name="Rectangle 1"/>
          <p:cNvSpPr/>
          <p:nvPr/>
        </p:nvSpPr>
        <p:spPr>
          <a:xfrm>
            <a:off x="2" y="3"/>
            <a:ext cx="6797675" cy="99266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0404" tIns="45201" rIns="90404" bIns="45201" rtlCol="0" anchor="ctr"/>
          <a:lstStyle/>
          <a:p>
            <a:pPr algn="ctr"/>
            <a:endParaRPr lang="fr-FR" dirty="0">
              <a:latin typeface="Calibri" pitchFamily="34" charset="0"/>
            </a:endParaRPr>
          </a:p>
        </p:txBody>
      </p:sp>
      <p:sp>
        <p:nvSpPr>
          <p:cNvPr id="15" name="Rectangle 14"/>
          <p:cNvSpPr/>
          <p:nvPr/>
        </p:nvSpPr>
        <p:spPr>
          <a:xfrm>
            <a:off x="559489" y="255218"/>
            <a:ext cx="5969212" cy="8988200"/>
          </a:xfrm>
          <a:prstGeom prst="rect">
            <a:avLst/>
          </a:prstGeom>
          <a:solidFill>
            <a:schemeClr val="bg1"/>
          </a:solidFill>
          <a:ln>
            <a:solidFill>
              <a:srgbClr val="27A8E0"/>
            </a:solidFill>
          </a:ln>
          <a:effectLst>
            <a:outerShdw blurRad="139700" dist="889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0404" tIns="45201" rIns="90404" bIns="45201" rtlCol="0" anchor="ctr"/>
          <a:lstStyle/>
          <a:p>
            <a:pPr algn="ctr"/>
            <a:endParaRPr lang="fr-FR" dirty="0">
              <a:latin typeface="Calibri" pitchFamily="34" charset="0"/>
            </a:endParaRPr>
          </a:p>
        </p:txBody>
      </p:sp>
      <p:sp>
        <p:nvSpPr>
          <p:cNvPr id="18" name="Rectangle 629"/>
          <p:cNvSpPr>
            <a:spLocks noChangeArrowheads="1"/>
          </p:cNvSpPr>
          <p:nvPr/>
        </p:nvSpPr>
        <p:spPr bwMode="auto">
          <a:xfrm>
            <a:off x="949731" y="9492269"/>
            <a:ext cx="5188731" cy="491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14" tIns="45208" rIns="90414" bIns="45208">
            <a:spAutoFit/>
          </a:bodyPr>
          <a:lstStyle/>
          <a:p>
            <a:pPr algn="ctr"/>
            <a:r>
              <a:rPr lang="fr-FR" dirty="0">
                <a:solidFill>
                  <a:schemeClr val="tx1">
                    <a:lumMod val="65000"/>
                    <a:lumOff val="35000"/>
                  </a:schemeClr>
                </a:solidFill>
                <a:latin typeface="Calibri" pitchFamily="34" charset="0"/>
                <a:cs typeface="Times New Roman" pitchFamily="18" charset="0"/>
              </a:rPr>
              <a:t>CIPE  –  Centre International de la Pédagogie d'Entreprise</a:t>
            </a:r>
          </a:p>
          <a:p>
            <a:pPr algn="ctr" eaLnBrk="0" hangingPunct="0"/>
            <a:r>
              <a:rPr lang="fr-FR" dirty="0">
                <a:solidFill>
                  <a:schemeClr val="tx1">
                    <a:lumMod val="65000"/>
                    <a:lumOff val="35000"/>
                  </a:schemeClr>
                </a:solidFill>
                <a:latin typeface="Calibri" pitchFamily="34" charset="0"/>
                <a:cs typeface="Times New Roman" pitchFamily="18" charset="0"/>
              </a:rPr>
              <a:t>40 bd Edgar Quinet 75014 PARIS   –   info@cipe.fr   –   www.cipe.fr</a:t>
            </a:r>
            <a:endParaRPr lang="fr-FR" dirty="0">
              <a:solidFill>
                <a:schemeClr val="tx1">
                  <a:lumMod val="65000"/>
                  <a:lumOff val="35000"/>
                </a:schemeClr>
              </a:solidFill>
              <a:latin typeface="Calibri" pitchFamily="34" charset="0"/>
            </a:endParaRPr>
          </a:p>
        </p:txBody>
      </p:sp>
      <p:pic>
        <p:nvPicPr>
          <p:cNvPr id="19" name="Picture 10" descr="C:\Users\bertrands\Dropbox\Marketing\Logo Cipe\Logo CIPE Baseline image Couleurs bureautiqu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82486" y="8254596"/>
            <a:ext cx="2123221" cy="781799"/>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3081"/>
          <p:cNvSpPr>
            <a:spLocks noChangeArrowheads="1"/>
          </p:cNvSpPr>
          <p:nvPr/>
        </p:nvSpPr>
        <p:spPr bwMode="auto">
          <a:xfrm>
            <a:off x="993147" y="5395164"/>
            <a:ext cx="5101896" cy="1081192"/>
          </a:xfrm>
          <a:prstGeom prst="rect">
            <a:avLst/>
          </a:prstGeom>
          <a:noFill/>
          <a:ln>
            <a:noFill/>
          </a:ln>
          <a:effectLst/>
          <a:extLst>
            <a:ext uri="{909E8E84-426E-40DD-AFC4-6F175D3DCCD1}">
              <a14:hiddenFill xmlns:a14="http://schemas.microsoft.com/office/drawing/2010/main">
                <a:solidFill>
                  <a:schemeClr val="folHlink"/>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87" tIns="47688" rIns="92087" bIns="47688">
            <a:spAutoFit/>
          </a:bodyPr>
          <a:lstStyle/>
          <a:p>
            <a:pPr defTabSz="927453"/>
            <a:r>
              <a:rPr lang="fr-FR" sz="3200" b="1" dirty="0">
                <a:solidFill>
                  <a:srgbClr val="27A8E0"/>
                </a:solidFill>
                <a:latin typeface="Calibri" pitchFamily="34" charset="0"/>
              </a:rPr>
              <a:t>Guide</a:t>
            </a:r>
          </a:p>
          <a:p>
            <a:pPr defTabSz="927453"/>
            <a:r>
              <a:rPr lang="fr-FR" sz="3200" b="1" dirty="0">
                <a:solidFill>
                  <a:srgbClr val="27A8E0"/>
                </a:solidFill>
                <a:latin typeface="Calibri" pitchFamily="34" charset="0"/>
              </a:rPr>
              <a:t>de l'Animateur</a:t>
            </a:r>
          </a:p>
        </p:txBody>
      </p:sp>
      <p:pic>
        <p:nvPicPr>
          <p:cNvPr id="416770" name="Picture 2" descr="C:\Users\BertrandS\Dropbox\Marketing\logos Jeux\a logos 300 dpi\kanban_300dpi.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80477" y="1676613"/>
            <a:ext cx="3327239" cy="272760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6026558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
        <p:nvSpPr>
          <p:cNvPr id="4" name="ZoneTexte 3"/>
          <p:cNvSpPr txBox="1"/>
          <p:nvPr/>
        </p:nvSpPr>
        <p:spPr>
          <a:xfrm>
            <a:off x="892987" y="2328941"/>
            <a:ext cx="1494581" cy="292388"/>
          </a:xfrm>
          <a:prstGeom prst="rect">
            <a:avLst/>
          </a:prstGeom>
          <a:noFill/>
        </p:spPr>
        <p:txBody>
          <a:bodyPr wrap="square" rtlCol="0">
            <a:spAutoFit/>
          </a:bodyPr>
          <a:lstStyle/>
          <a:p>
            <a:r>
              <a:rPr lang="fr-FR" dirty="0"/>
              <a:t>Licence n</a:t>
            </a:r>
            <a:r>
              <a:rPr lang="fr-FR"/>
              <a:t>° 160</a:t>
            </a:r>
            <a:endParaRPr lang="fr-FR" dirty="0"/>
          </a:p>
        </p:txBody>
      </p:sp>
    </p:spTree>
    <p:extLst>
      <p:ext uri="{BB962C8B-B14F-4D97-AF65-F5344CB8AC3E}">
        <p14:creationId xmlns:p14="http://schemas.microsoft.com/office/powerpoint/2010/main" val="293691993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Espace réservé de l'image des diapositives 1"/>
          <p:cNvSpPr>
            <a:spLocks noGrp="1" noRot="1" noChangeAspect="1" noTextEdit="1"/>
          </p:cNvSpPr>
          <p:nvPr>
            <p:ph type="sldImg"/>
          </p:nvPr>
        </p:nvSpPr>
        <p:spPr>
          <a:ln/>
        </p:spPr>
      </p:sp>
      <p:sp>
        <p:nvSpPr>
          <p:cNvPr id="224259" name="Espace réservé des commentaires 2"/>
          <p:cNvSpPr>
            <a:spLocks noGrp="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endParaRPr lang="fr-FR" altLang="fr-F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73078325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417941887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40444913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1344272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44693047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85959836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90774758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98871183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7255239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13502135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59515553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66858901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98301431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06680504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57701934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54845182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2"/>
          <p:cNvSpPr>
            <a:spLocks noGrp="1" noRot="1" noChangeAspect="1" noChangeArrowheads="1" noTextEdit="1"/>
          </p:cNvSpPr>
          <p:nvPr>
            <p:ph type="sldImg"/>
          </p:nvPr>
        </p:nvSpPr>
        <p:spPr>
          <a:ln/>
        </p:spPr>
      </p:sp>
      <p:sp>
        <p:nvSpPr>
          <p:cNvPr id="2" name="Espace réservé des commentaires 1"/>
          <p:cNvSpPr>
            <a:spLocks noGrp="1"/>
          </p:cNvSpPr>
          <p:nvPr>
            <p:ph type="body" sz="quarter" idx="10"/>
          </p:nvPr>
        </p:nvSpPr>
        <p:spPr>
          <a:xfrm>
            <a:off x="496628" y="4904404"/>
            <a:ext cx="5805988" cy="276981"/>
          </a:xfrm>
        </p:spPr>
        <p:txBody>
          <a:bodyPr/>
          <a:lstStyle/>
          <a:p>
            <a:endParaRPr lang="fr-F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2"/>
          <p:cNvSpPr>
            <a:spLocks noGrp="1" noRot="1" noChangeAspect="1" noChangeArrowheads="1" noTextEdit="1"/>
          </p:cNvSpPr>
          <p:nvPr>
            <p:ph type="sldImg"/>
          </p:nvPr>
        </p:nvSpPr>
        <p:spPr>
          <a:ln/>
        </p:spPr>
      </p:sp>
      <p:sp>
        <p:nvSpPr>
          <p:cNvPr id="2" name="Espace réservé des commentaires 1"/>
          <p:cNvSpPr>
            <a:spLocks noGrp="1"/>
          </p:cNvSpPr>
          <p:nvPr>
            <p:ph type="body" sz="quarter" idx="10"/>
          </p:nvPr>
        </p:nvSpPr>
        <p:spPr>
          <a:xfrm>
            <a:off x="496628" y="4904404"/>
            <a:ext cx="5805988" cy="276981"/>
          </a:xfrm>
        </p:spPr>
        <p:txBody>
          <a:bodyPr/>
          <a:lstStyle/>
          <a:p>
            <a:endParaRPr lang="fr-F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10916278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14991414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2"/>
          <p:cNvSpPr>
            <a:spLocks noGrp="1" noRot="1" noChangeAspect="1" noChangeArrowheads="1" noTextEdit="1"/>
          </p:cNvSpPr>
          <p:nvPr>
            <p:ph type="sldImg"/>
          </p:nvPr>
        </p:nvSpPr>
        <p:spPr>
          <a:ln/>
        </p:spPr>
      </p:sp>
      <p:sp>
        <p:nvSpPr>
          <p:cNvPr id="226307" name="Rectangle 3"/>
          <p:cNvSpPr>
            <a:spLocks noGrp="1" noChangeArrowheads="1"/>
          </p:cNvSpPr>
          <p:nvPr>
            <p:ph type="body" idx="1"/>
          </p:nvPr>
        </p:nvSpPr>
        <p:spPr>
          <a:xfrm>
            <a:off x="496628" y="4904405"/>
            <a:ext cx="5805988" cy="13111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Ces valeurs servent à donner une image plus précise de l’entreprise. Elles n’ont pas d’utilité pratique dans le jeu, sauf dans la variante financière.</a:t>
            </a:r>
          </a:p>
          <a:p>
            <a:pPr eaLnBrk="1" hangingPunct="1"/>
            <a:endParaRPr lang="fr-FR" altLang="fr-FR" b="0"/>
          </a:p>
          <a:p>
            <a:pPr eaLnBrk="1" hangingPunct="1"/>
            <a:r>
              <a:rPr lang="fr-FR" altLang="fr-FR" b="0"/>
              <a:t>L’animateur indiquera dès à présent que pour simplifier la simulation on simulera une version « réduite » de l’entreprise, qu’il s’agisse du nombre de postes de travail ou du nombre de produits finis et de la quantité de produits fabriqués.</a:t>
            </a: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Rectangle 2"/>
          <p:cNvSpPr>
            <a:spLocks noGrp="1" noRot="1" noChangeAspect="1" noChangeArrowheads="1" noTextEdit="1"/>
          </p:cNvSpPr>
          <p:nvPr>
            <p:ph type="sldImg"/>
          </p:nvPr>
        </p:nvSpPr>
        <p:spPr>
          <a:ln/>
        </p:spPr>
      </p:sp>
      <p:sp>
        <p:nvSpPr>
          <p:cNvPr id="227331" name="Rectangle 3"/>
          <p:cNvSpPr>
            <a:spLocks noGrp="1" noChangeArrowheads="1"/>
          </p:cNvSpPr>
          <p:nvPr>
            <p:ph type="body" idx="1"/>
          </p:nvPr>
        </p:nvSpPr>
        <p:spPr>
          <a:xfrm>
            <a:off x="496628" y="4904405"/>
            <a:ext cx="5805988" cy="701712"/>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attribue à chaque équipe sa lettre. Cette désignation servira pour repérer les équipes, en particulier sur le tableau de bord Excel.</a:t>
            </a:r>
          </a:p>
          <a:p>
            <a:pPr eaLnBrk="1" hangingPunct="1"/>
            <a:endParaRPr lang="fr-FR" altLang="fr-FR" b="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Rectangle 2"/>
          <p:cNvSpPr>
            <a:spLocks noGrp="1" noRot="1" noChangeAspect="1" noChangeArrowheads="1" noTextEdit="1"/>
          </p:cNvSpPr>
          <p:nvPr>
            <p:ph type="sldImg"/>
          </p:nvPr>
        </p:nvSpPr>
        <p:spPr>
          <a:ln/>
        </p:spPr>
      </p:sp>
      <p:sp>
        <p:nvSpPr>
          <p:cNvPr id="228355" name="Rectangle 3"/>
          <p:cNvSpPr>
            <a:spLocks noGrp="1" noChangeArrowheads="1"/>
          </p:cNvSpPr>
          <p:nvPr>
            <p:ph type="body" idx="1"/>
          </p:nvPr>
        </p:nvSpPr>
        <p:spPr>
          <a:xfrm>
            <a:off x="496628" y="4904405"/>
            <a:ext cx="5805988" cy="646313"/>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Les expéditions ont lieu chaque jour en début de journée. Cette information ne doit pas être donnée à ce moment. Les participants la découvriront à la lecture des cartes Prévisions des ventes.</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2"/>
          <p:cNvSpPr>
            <a:spLocks noGrp="1" noRot="1" noChangeAspect="1" noChangeArrowheads="1" noTextEdit="1"/>
          </p:cNvSpPr>
          <p:nvPr>
            <p:ph type="sldImg"/>
          </p:nvPr>
        </p:nvSpPr>
        <p:spPr>
          <a:ln/>
        </p:spPr>
      </p:sp>
      <p:sp>
        <p:nvSpPr>
          <p:cNvPr id="229379" name="Rectangle 3"/>
          <p:cNvSpPr>
            <a:spLocks noGrp="1" noChangeArrowheads="1"/>
          </p:cNvSpPr>
          <p:nvPr>
            <p:ph type="body" idx="1"/>
          </p:nvPr>
        </p:nvSpPr>
        <p:spPr>
          <a:xfrm>
            <a:off x="496628" y="4904405"/>
            <a:ext cx="5805988" cy="13111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Expliquer que le produit fini comporte toujours 3 composants usinés (un engrenage, un carte et une couronne en phase B). Les couronnes en phase B sont elles-mêmes le résultat de la transformation d’une couronne en phase A</a:t>
            </a:r>
          </a:p>
          <a:p>
            <a:pPr eaLnBrk="1" hangingPunct="1"/>
            <a:endParaRPr lang="fr-FR" altLang="fr-FR" b="0"/>
          </a:p>
          <a:p>
            <a:pPr eaLnBrk="1" hangingPunct="1"/>
            <a:r>
              <a:rPr lang="fr-FR" altLang="fr-FR" b="0"/>
              <a:t>L’animateur distribue les fiches plastifiées Règles du jeu de façon à ce que chacun ait une copie des informations projetées.</a:t>
            </a: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2"/>
          <p:cNvSpPr>
            <a:spLocks noGrp="1" noRot="1" noChangeAspect="1" noChangeArrowheads="1" noTextEdit="1"/>
          </p:cNvSpPr>
          <p:nvPr>
            <p:ph type="sldImg"/>
          </p:nvPr>
        </p:nvSpPr>
        <p:spPr>
          <a:ln/>
        </p:spPr>
      </p:sp>
      <p:sp>
        <p:nvSpPr>
          <p:cNvPr id="230403"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utilise cette diapo pour présenter la fabrication dans son ensemble.</a:t>
            </a: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2"/>
          <p:cNvSpPr>
            <a:spLocks noGrp="1" noRot="1" noChangeAspect="1" noChangeArrowheads="1" noTextEdit="1"/>
          </p:cNvSpPr>
          <p:nvPr>
            <p:ph type="sldImg"/>
          </p:nvPr>
        </p:nvSpPr>
        <p:spPr>
          <a:ln/>
        </p:spPr>
      </p:sp>
      <p:sp>
        <p:nvSpPr>
          <p:cNvPr id="231427" name="Rectangle 3"/>
          <p:cNvSpPr>
            <a:spLocks noGrp="1" noChangeArrowheads="1"/>
          </p:cNvSpPr>
          <p:nvPr>
            <p:ph type="body" idx="1"/>
          </p:nvPr>
        </p:nvSpPr>
        <p:spPr>
          <a:xfrm>
            <a:off x="166065" y="4822437"/>
            <a:ext cx="6467112" cy="3290113"/>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sz="1100"/>
              <a:t>L’animateur se sert de cette diapo pour expliquer le flux des pièces</a:t>
            </a:r>
          </a:p>
          <a:p>
            <a:pPr lvl="1" eaLnBrk="1" hangingPunct="1"/>
            <a:r>
              <a:rPr lang="fr-FR" altLang="fr-FR"/>
              <a:t>Les postes Engrenages et Carters usinent des pièces qu’ils transfèrent ensuite dans la zone de stockage des Pièces. </a:t>
            </a:r>
          </a:p>
          <a:p>
            <a:pPr lvl="1" eaLnBrk="1" hangingPunct="1"/>
            <a:r>
              <a:rPr lang="fr-FR" altLang="fr-FR"/>
              <a:t>Le poste Couronnes (phase A) usine des pièces qu’il transfère dans la zone de stock Couronnes phase A.</a:t>
            </a:r>
          </a:p>
          <a:p>
            <a:pPr lvl="1" eaLnBrk="1" hangingPunct="1"/>
            <a:r>
              <a:rPr lang="fr-FR" altLang="fr-FR"/>
              <a:t>Le poste Couronnes (phase B) prend ces pièces pour les usiner et les transférer ensuite dans le Stock de Pièces. </a:t>
            </a:r>
          </a:p>
          <a:p>
            <a:pPr lvl="1" eaLnBrk="1" hangingPunct="1"/>
            <a:r>
              <a:rPr lang="fr-FR" altLang="fr-FR"/>
              <a:t>Le montage se sert dans le stock des Pièces pour assembler les pièces et les ranger dans le stock de Produit finis.</a:t>
            </a:r>
          </a:p>
          <a:p>
            <a:pPr lvl="1" eaLnBrk="1" hangingPunct="1"/>
            <a:endParaRPr lang="fr-FR" altLang="fr-FR"/>
          </a:p>
          <a:p>
            <a:pPr eaLnBrk="1" hangingPunct="1"/>
            <a:r>
              <a:rPr lang="fr-FR" altLang="fr-FR"/>
              <a:t>Important</a:t>
            </a:r>
          </a:p>
          <a:p>
            <a:pPr lvl="1" eaLnBrk="1" hangingPunct="1"/>
            <a:r>
              <a:rPr lang="fr-FR" altLang="fr-FR"/>
              <a:t>La société vend également des couronnes usinées en phase A, qui sont utilisées par les clients comme pièces de rechange. Seules les couronnes blanches sont vendues en pièces détachées.</a:t>
            </a:r>
          </a:p>
          <a:p>
            <a:pPr eaLnBrk="1" hangingPunct="1"/>
            <a:endParaRPr lang="fr-FR" altLang="fr-F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Rectangle 2"/>
          <p:cNvSpPr>
            <a:spLocks noGrp="1" noRot="1" noChangeAspect="1" noChangeArrowheads="1" noTextEdit="1"/>
          </p:cNvSpPr>
          <p:nvPr>
            <p:ph type="sldImg"/>
          </p:nvPr>
        </p:nvSpPr>
        <p:spPr>
          <a:ln/>
        </p:spPr>
      </p:sp>
      <p:sp>
        <p:nvSpPr>
          <p:cNvPr id="232451" name="Rectangle 3"/>
          <p:cNvSpPr>
            <a:spLocks noGrp="1" noChangeArrowheads="1"/>
          </p:cNvSpPr>
          <p:nvPr>
            <p:ph type="body" idx="1"/>
          </p:nvPr>
        </p:nvSpPr>
        <p:spPr>
          <a:xfrm>
            <a:off x="553027" y="4740469"/>
            <a:ext cx="5805988" cy="488661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dirty="0"/>
              <a:t>Les cadences</a:t>
            </a:r>
          </a:p>
          <a:p>
            <a:pPr algn="just">
              <a:spcBef>
                <a:spcPct val="0"/>
              </a:spcBef>
            </a:pPr>
            <a:r>
              <a:rPr lang="fr-FR" altLang="fr-FR" b="0" dirty="0">
                <a:solidFill>
                  <a:schemeClr val="tx1"/>
                </a:solidFill>
              </a:rPr>
              <a:t>Les cadences sont définies de telle façon qu’il y ait un équilibre entre la capacité de production de l’usine et les ventes.</a:t>
            </a:r>
          </a:p>
          <a:p>
            <a:pPr algn="just">
              <a:spcBef>
                <a:spcPct val="0"/>
              </a:spcBef>
            </a:pPr>
            <a:r>
              <a:rPr lang="fr-FR" altLang="fr-FR" b="0" dirty="0">
                <a:solidFill>
                  <a:schemeClr val="tx1"/>
                </a:solidFill>
              </a:rPr>
              <a:t>Toutefois, la cadence moyenne sur une période peut différer de la cadence instantanée. Il faut en effet tenir compte des changements de série, des pannes machines et des autres incidents susceptibles de ralentir la production. </a:t>
            </a:r>
          </a:p>
          <a:p>
            <a:pPr algn="just">
              <a:spcBef>
                <a:spcPct val="0"/>
              </a:spcBef>
            </a:pPr>
            <a:r>
              <a:rPr lang="fr-FR" altLang="fr-FR" b="0" dirty="0">
                <a:solidFill>
                  <a:schemeClr val="tx1"/>
                </a:solidFill>
              </a:rPr>
              <a:t>Une machine peut être dans trois états :</a:t>
            </a:r>
          </a:p>
          <a:p>
            <a:pPr lvl="1" eaLnBrk="1" hangingPunct="1"/>
            <a:r>
              <a:rPr lang="fr-FR" altLang="fr-FR" dirty="0"/>
              <a:t>- soit elle produit au rythme indiqué plus haut,</a:t>
            </a:r>
          </a:p>
          <a:p>
            <a:pPr lvl="1" eaLnBrk="1" hangingPunct="1"/>
            <a:r>
              <a:rPr lang="fr-FR" altLang="fr-FR" dirty="0"/>
              <a:t>- soit elle est arrêtée pour un incident (panne, etc...),</a:t>
            </a:r>
          </a:p>
          <a:p>
            <a:pPr lvl="1" eaLnBrk="1" hangingPunct="1"/>
            <a:r>
              <a:rPr lang="fr-FR" altLang="fr-FR" dirty="0"/>
              <a:t>- soit elle est arrêtée sur décision du joueur parce qu’il n’y a plus de travail planifié.</a:t>
            </a:r>
          </a:p>
          <a:p>
            <a:pPr algn="just">
              <a:spcBef>
                <a:spcPct val="0"/>
              </a:spcBef>
            </a:pPr>
            <a:endParaRPr lang="fr-FR" altLang="fr-FR" b="0" dirty="0">
              <a:solidFill>
                <a:schemeClr val="tx1"/>
              </a:solidFill>
            </a:endParaRPr>
          </a:p>
          <a:p>
            <a:pPr algn="just">
              <a:spcBef>
                <a:spcPct val="0"/>
              </a:spcBef>
            </a:pPr>
            <a:r>
              <a:rPr lang="fr-FR" altLang="fr-FR" b="0" dirty="0">
                <a:solidFill>
                  <a:schemeClr val="tx1"/>
                </a:solidFill>
              </a:rPr>
              <a:t>Il n’est pas nécessaire que l’animateur parle ici de cet aspect. La question des aléas sera abordée plus loin.</a:t>
            </a:r>
          </a:p>
          <a:p>
            <a:pPr eaLnBrk="1" hangingPunct="1"/>
            <a:r>
              <a:rPr lang="fr-FR" altLang="fr-FR" dirty="0"/>
              <a:t>La main d’œuvre de fabrication</a:t>
            </a:r>
          </a:p>
          <a:p>
            <a:pPr eaLnBrk="1" hangingPunct="1"/>
            <a:r>
              <a:rPr lang="fr-FR" altLang="fr-FR" b="0" dirty="0">
                <a:solidFill>
                  <a:schemeClr val="tx1"/>
                </a:solidFill>
              </a:rPr>
              <a:t>Il faut noter qu’au cours de la simulation le volume des effectifs n’est pas explicitement géré par les participants. C’est le planning des machines qui est pris en considération pour déterminer la cadence de production.</a:t>
            </a:r>
          </a:p>
          <a:p>
            <a:pPr eaLnBrk="1" hangingPunct="1"/>
            <a:r>
              <a:rPr lang="fr-FR" altLang="fr-FR" b="0" dirty="0">
                <a:solidFill>
                  <a:schemeClr val="tx1"/>
                </a:solidFill>
              </a:rPr>
              <a:t>Sauf incident signalé, on admet qu’il y a équilibre satisfaisant entre les effectifs présents et la production prévue de sorte que l’utilisation de la capacité main d’œuvre n’entre pas en ligne de compte dans les décisions des participants.</a:t>
            </a:r>
          </a:p>
          <a:p>
            <a:pPr eaLnBrk="1" hangingPunct="1"/>
            <a:r>
              <a:rPr lang="fr-FR" altLang="fr-FR" b="0" dirty="0">
                <a:solidFill>
                  <a:schemeClr val="tx1"/>
                </a:solidFill>
              </a:rPr>
              <a:t>Quand un joueur décide d’arrêter une machine pour des raisons de planning, il peut considérer que la main d’œuvre est ré- employée ailleurs.</a:t>
            </a: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2"/>
          <p:cNvSpPr>
            <a:spLocks noGrp="1" noRot="1" noChangeAspect="1" noChangeArrowheads="1" noTextEdit="1"/>
          </p:cNvSpPr>
          <p:nvPr>
            <p:ph type="sldImg"/>
          </p:nvPr>
        </p:nvSpPr>
        <p:spPr>
          <a:ln/>
        </p:spPr>
      </p:sp>
      <p:sp>
        <p:nvSpPr>
          <p:cNvPr id="233475" name="Rectangle 3"/>
          <p:cNvSpPr>
            <a:spLocks noGrp="1" noChangeArrowheads="1"/>
          </p:cNvSpPr>
          <p:nvPr>
            <p:ph type="body" idx="1"/>
          </p:nvPr>
        </p:nvSpPr>
        <p:spPr>
          <a:xfrm>
            <a:off x="496628" y="4904405"/>
            <a:ext cx="5805988" cy="646313"/>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Les coûts servent pour le chiffrage des stocks. Les prix de vente servent à donner une idée de la rentabilité, mais en pratique ils sont uniquement utilisés dans la  « variante Finances ».</a:t>
            </a: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8207541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Rectangle 2"/>
          <p:cNvSpPr>
            <a:spLocks noGrp="1" noRot="1" noChangeAspect="1" noChangeArrowheads="1" noTextEdit="1"/>
          </p:cNvSpPr>
          <p:nvPr>
            <p:ph type="sldImg"/>
          </p:nvPr>
        </p:nvSpPr>
        <p:spPr>
          <a:ln/>
        </p:spPr>
      </p:sp>
      <p:sp>
        <p:nvSpPr>
          <p:cNvPr id="234499"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dirty="0"/>
              <a:t>L’animateur peut projeter une diapo Incident pour illustrer son propos.</a:t>
            </a: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66882661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Rectangle 2"/>
          <p:cNvSpPr>
            <a:spLocks noGrp="1" noRot="1" noChangeAspect="1" noChangeArrowheads="1" noTextEdit="1"/>
          </p:cNvSpPr>
          <p:nvPr>
            <p:ph type="sldImg"/>
          </p:nvPr>
        </p:nvSpPr>
        <p:spPr>
          <a:ln/>
        </p:spPr>
      </p:sp>
      <p:sp>
        <p:nvSpPr>
          <p:cNvPr id="235523"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Rot="1" noChangeAspect="1" noChangeArrowheads="1" noTextEdit="1"/>
          </p:cNvSpPr>
          <p:nvPr>
            <p:ph type="sldImg"/>
          </p:nvPr>
        </p:nvSpPr>
        <p:spPr>
          <a:ln/>
        </p:spPr>
      </p:sp>
      <p:sp>
        <p:nvSpPr>
          <p:cNvPr id="236547" name="Rectangle 3"/>
          <p:cNvSpPr>
            <a:spLocks noGrp="1" noChangeArrowheads="1"/>
          </p:cNvSpPr>
          <p:nvPr>
            <p:ph type="body" idx="1"/>
          </p:nvPr>
        </p:nvSpPr>
        <p:spPr>
          <a:xfrm>
            <a:off x="534227" y="4729095"/>
            <a:ext cx="5805988" cy="42903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sz="1100" b="0" dirty="0"/>
              <a:t>L’animateur distribue à chaque participant cette feuille. Il précise qu’il faut la remplir chaque semaine, et que les explications sont au verso. Il indique qu’elle servira à suivre la production et les livraisons, et à calculer en fin de semaine les indicateurs d’efficience et le taux de service. Il utilise la diapo animée pour faire comprendre le mode d’emploi.</a:t>
            </a:r>
          </a:p>
          <a:p>
            <a:pPr eaLnBrk="1" hangingPunct="1"/>
            <a:r>
              <a:rPr lang="fr-FR" altLang="fr-FR" sz="1100" b="0" dirty="0"/>
              <a:t>NB : les calculs de synthèse (en bas du document) étant faits en fin de semaine, ils seront expliqués aux participants en détail à ce moment-là.</a:t>
            </a:r>
          </a:p>
          <a:p>
            <a:pPr eaLnBrk="1" hangingPunct="1"/>
            <a:r>
              <a:rPr lang="fr-FR" altLang="fr-FR" sz="1100" b="0" u="sng" dirty="0"/>
              <a:t>Arrêts :</a:t>
            </a:r>
            <a:r>
              <a:rPr lang="fr-FR" altLang="fr-FR" sz="1100" b="0" dirty="0"/>
              <a:t> </a:t>
            </a:r>
          </a:p>
          <a:p>
            <a:pPr eaLnBrk="1" hangingPunct="1"/>
            <a:r>
              <a:rPr lang="fr-FR" altLang="fr-FR" sz="1100" b="0" dirty="0"/>
              <a:t>- La colonne incident est concernée soit quand une carte incident provoque un arrêt, soit quand il y a un arrêt du à un manque d’approvisionnement (cette dernière cause ne concerne le montage par rupture de stock de pièces usinées ou le poste couronnes phase B par rupture du stock de couronnes phase A).</a:t>
            </a:r>
          </a:p>
          <a:p>
            <a:pPr marL="171450" indent="-171450" eaLnBrk="1" hangingPunct="1">
              <a:buFontTx/>
              <a:buChar char="-"/>
            </a:pPr>
            <a:r>
              <a:rPr lang="fr-FR" altLang="fr-FR" sz="1100" b="0" dirty="0"/>
              <a:t>La colonne Planning correspond aux arrêts décidés par un poste quand il a fini le programme de la semaine (ou quand il n’est plus sollicité par le poste aval dans un fonctionnement en Kanban).</a:t>
            </a:r>
          </a:p>
          <a:p>
            <a:pPr marL="171450" indent="-171450" eaLnBrk="1" hangingPunct="1">
              <a:buFontTx/>
              <a:buChar char="-"/>
            </a:pPr>
            <a:r>
              <a:rPr lang="fr-FR" altLang="fr-FR" sz="1100" b="0" u="sng" dirty="0"/>
              <a:t>Rôles</a:t>
            </a:r>
            <a:endParaRPr lang="fr-FR" altLang="fr-FR" sz="1100" b="0" dirty="0"/>
          </a:p>
          <a:p>
            <a:pPr eaLnBrk="1" hangingPunct="1"/>
            <a:r>
              <a:rPr lang="fr-FR" altLang="fr-FR" sz="1100" b="0" dirty="0"/>
              <a:t>La même feuille sert à suivre la production de chaque poste et les livraisons. En réalité, seul un poste suivra les livraisons. Si c’est par exemple les Engrenages qui suivent les livraisons, la personne chargée de ce poste remplira à la fois la partie gauche et la partie droite. Les autres postes ne rempliront que la partie gauche. D’une façon générale, il est souhaitable de donner le rôle de suivi des livraisons au poste qui est occupé par 2 participants, s’il y en a au moins un poste dans ce cas. On donnera ce rôle au montage, si le poste est doublé (c’est lui qu’on double en priorité). Si aucun poste n’est doublé, il vaut mieux confier ce rôle aux couronnes (A ou B) car elles ont moins de travail que le montage.</a:t>
            </a: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55813928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2"/>
          <p:cNvSpPr>
            <a:spLocks noGrp="1" noRot="1" noChangeAspect="1" noChangeArrowheads="1" noTextEdit="1"/>
          </p:cNvSpPr>
          <p:nvPr>
            <p:ph type="sldImg"/>
          </p:nvPr>
        </p:nvSpPr>
        <p:spPr>
          <a:ln/>
        </p:spPr>
      </p:sp>
      <p:sp>
        <p:nvSpPr>
          <p:cNvPr id="237571" name="Rectangle 3"/>
          <p:cNvSpPr>
            <a:spLocks noGrp="1" noChangeArrowheads="1"/>
          </p:cNvSpPr>
          <p:nvPr>
            <p:ph type="body" idx="1"/>
          </p:nvPr>
        </p:nvSpPr>
        <p:spPr>
          <a:xfrm>
            <a:off x="496628" y="4904405"/>
            <a:ext cx="5805988" cy="289923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demande aux participants de s’installer suivant ce schéma. S’il y a plus de 5 participants par table, l’animateur double les postes en commençant par le montage, puis les engrenages, les carters, les couronnes phase B. A partir de 10 personnes il est nettement préférable de constituer 2 tables (en réalité, il vaut mieux avoir 2 tables dès 8 personnes, quitte à confier à une même personne les 2 postes de couronnes (A, B).</a:t>
            </a:r>
          </a:p>
          <a:p>
            <a:pPr eaLnBrk="1" hangingPunct="1"/>
            <a:endParaRPr lang="fr-FR" altLang="fr-FR" b="0"/>
          </a:p>
          <a:p>
            <a:pPr eaLnBrk="1" hangingPunct="1"/>
            <a:r>
              <a:rPr lang="fr-FR" altLang="fr-FR" b="0"/>
              <a:t>On note que c’est le poste montage qui expédie les marchandises, puisque c’est lui qui contrôle le stock de produits finis (les couronnes phase A sont transmises en cas de commande vers l’expédition par le poste couronnes B). </a:t>
            </a:r>
          </a:p>
          <a:p>
            <a:pPr eaLnBrk="1" hangingPunct="1"/>
            <a:endParaRPr lang="fr-FR" altLang="fr-FR" b="0"/>
          </a:p>
          <a:p>
            <a:pPr eaLnBrk="1" hangingPunct="1"/>
            <a:r>
              <a:rPr lang="fr-FR" altLang="fr-FR" b="0"/>
              <a:t>En pratique, quand des conteneurs sont expédiés, ils sont posés à gauche du stock. Au bout d’un certain temps il faut recycler les boîtes et les jetons, c’est en général le montage qui s’en charge.</a:t>
            </a: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Rectangle 2"/>
          <p:cNvSpPr>
            <a:spLocks noGrp="1" noRot="1" noChangeAspect="1" noChangeArrowheads="1" noTextEdit="1"/>
          </p:cNvSpPr>
          <p:nvPr>
            <p:ph type="sldImg"/>
          </p:nvPr>
        </p:nvSpPr>
        <p:spPr>
          <a:ln/>
        </p:spPr>
      </p:sp>
      <p:sp>
        <p:nvSpPr>
          <p:cNvPr id="238595" name="Rectangle 3"/>
          <p:cNvSpPr>
            <a:spLocks noGrp="1" noChangeArrowheads="1"/>
          </p:cNvSpPr>
          <p:nvPr>
            <p:ph type="body" idx="1"/>
          </p:nvPr>
        </p:nvSpPr>
        <p:spPr>
          <a:xfrm>
            <a:off x="496628" y="4904405"/>
            <a:ext cx="5805988" cy="1015644"/>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spcBef>
                <a:spcPct val="0"/>
              </a:spcBef>
            </a:pPr>
            <a:r>
              <a:rPr lang="fr-FR" altLang="fr-FR" b="0">
                <a:solidFill>
                  <a:schemeClr val="tx1"/>
                </a:solidFill>
              </a:rPr>
              <a:t>L’animateur explique brièvement la raison de cette règle : le montage, les engrenages et les carters travaillent un produit à l’heure, alors que les couronnes font 2 produits à l’heure. Donc avec ce rangement on a toujours un conteneur à transférer à l’heure, c’est-à-dire à chaque pas du jeu. En outre cette règle facilite les inventaires, ainsi que le fonctionnement en mode Kanban. </a:t>
            </a:r>
            <a:endParaRPr lang="fr-FR" altLang="fr-F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2"/>
          <p:cNvSpPr>
            <a:spLocks noGrp="1" noRot="1" noChangeAspect="1" noChangeArrowheads="1" noTextEdit="1"/>
          </p:cNvSpPr>
          <p:nvPr>
            <p:ph type="sldImg"/>
          </p:nvPr>
        </p:nvSpPr>
        <p:spPr>
          <a:ln/>
        </p:spPr>
      </p:sp>
      <p:sp>
        <p:nvSpPr>
          <p:cNvPr id="239619" name="Rectangle 3"/>
          <p:cNvSpPr>
            <a:spLocks noGrp="1" noChangeArrowheads="1"/>
          </p:cNvSpPr>
          <p:nvPr>
            <p:ph type="body" idx="1"/>
          </p:nvPr>
        </p:nvSpPr>
        <p:spPr>
          <a:xfrm>
            <a:off x="496628" y="4904405"/>
            <a:ext cx="5805988" cy="1126444"/>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Dire aux participants qu’ils ont ces chiffres sur les Fiches règles du jeu distribuées précédemment. </a:t>
            </a:r>
          </a:p>
          <a:p>
            <a:pPr eaLnBrk="1" hangingPunct="1"/>
            <a:endParaRPr lang="fr-FR" altLang="fr-FR" b="0"/>
          </a:p>
          <a:p>
            <a:pPr eaLnBrk="1" hangingPunct="1"/>
            <a:r>
              <a:rPr lang="fr-FR" altLang="fr-FR" b="0"/>
              <a:t>A noter : les boîtes « vendues » sont recyclées, c’est-à-dire qu’une fois expédiées elles sont vidées de façon à alimenter à nouveau le stock de matières.</a:t>
            </a: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90235923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Rectangle 2"/>
          <p:cNvSpPr>
            <a:spLocks noGrp="1" noRot="1" noChangeAspect="1" noChangeArrowheads="1" noTextEdit="1"/>
          </p:cNvSpPr>
          <p:nvPr>
            <p:ph type="sldImg"/>
          </p:nvPr>
        </p:nvSpPr>
        <p:spPr>
          <a:ln/>
        </p:spPr>
      </p:sp>
      <p:sp>
        <p:nvSpPr>
          <p:cNvPr id="240643" name="Rectangle 3"/>
          <p:cNvSpPr>
            <a:spLocks noGrp="1" noChangeArrowheads="1"/>
          </p:cNvSpPr>
          <p:nvPr>
            <p:ph type="body" idx="1"/>
          </p:nvPr>
        </p:nvSpPr>
        <p:spPr>
          <a:xfrm>
            <a:off x="496628" y="4904405"/>
            <a:ext cx="5805988" cy="13111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Distribuer les documents à chaque table en expliquant son usage. Les diapos suivantes permettent d’expliquer plus en détail certains documents. La feuille de résultats ne servira qu’en fin de semaine 1.</a:t>
            </a:r>
          </a:p>
          <a:p>
            <a:pPr eaLnBrk="1" hangingPunct="1"/>
            <a:endParaRPr lang="fr-FR" altLang="fr-FR" b="0"/>
          </a:p>
          <a:p>
            <a:pPr eaLnBrk="1" hangingPunct="1"/>
            <a:r>
              <a:rPr lang="fr-FR" altLang="fr-FR" b="0"/>
              <a:t>La répartition des boîtes et des jetons se fait en donnant à chaque table le tiers de ce qui se trouve dans le kit (le kit permet d’animer trois tables).</a:t>
            </a: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Rectangle 2"/>
          <p:cNvSpPr>
            <a:spLocks noGrp="1" noRot="1" noChangeAspect="1" noChangeArrowheads="1" noTextEdit="1"/>
          </p:cNvSpPr>
          <p:nvPr>
            <p:ph type="sldImg"/>
          </p:nvPr>
        </p:nvSpPr>
        <p:spPr>
          <a:ln/>
        </p:spPr>
      </p:sp>
      <p:sp>
        <p:nvSpPr>
          <p:cNvPr id="241667" name="Rectangle 3"/>
          <p:cNvSpPr>
            <a:spLocks noGrp="1" noChangeArrowheads="1"/>
          </p:cNvSpPr>
          <p:nvPr>
            <p:ph type="body" idx="1"/>
          </p:nvPr>
        </p:nvSpPr>
        <p:spPr>
          <a:xfrm>
            <a:off x="496628" y="4904405"/>
            <a:ext cx="5805988" cy="3637319"/>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lnSpc>
                <a:spcPct val="120000"/>
              </a:lnSpc>
            </a:pPr>
            <a:r>
              <a:rPr lang="fr-FR" altLang="fr-FR" b="0">
                <a:solidFill>
                  <a:schemeClr val="tx1"/>
                </a:solidFill>
              </a:rPr>
              <a:t>La raison pour laquelle il ne faut pas modifier le programme est la suivante : en semaine 1 on est dans une programmation de la production en flux poussé, en suivant un ordonnancement calculé d’après un plan directeur de production. Donc il faut suivre ce programme, sauf s’il y a une « crise », c’est-à-dire une rupture de stock. Dans ce cas, on part du principe que la production est alertée et doit réagir. </a:t>
            </a:r>
          </a:p>
          <a:p>
            <a:pPr eaLnBrk="1" hangingPunct="1">
              <a:lnSpc>
                <a:spcPct val="120000"/>
              </a:lnSpc>
            </a:pPr>
            <a:r>
              <a:rPr lang="fr-FR" altLang="fr-FR" b="0">
                <a:solidFill>
                  <a:schemeClr val="tx1"/>
                </a:solidFill>
              </a:rPr>
              <a:t>En semaine 2, la méthode Kanban introduira un nouveau principe, selon lequel la production de chaque poste peut à tout moment tenir compte de l’évolution à la baisse ou à la hausse du stock aval.</a:t>
            </a:r>
          </a:p>
          <a:p>
            <a:pPr eaLnBrk="1" hangingPunct="1">
              <a:lnSpc>
                <a:spcPct val="120000"/>
              </a:lnSpc>
            </a:pPr>
            <a:r>
              <a:rPr lang="fr-FR" altLang="fr-FR" b="0" u="sng">
                <a:solidFill>
                  <a:schemeClr val="tx1"/>
                </a:solidFill>
              </a:rPr>
              <a:t>Remarque</a:t>
            </a:r>
            <a:r>
              <a:rPr lang="fr-FR" altLang="fr-FR" b="0">
                <a:solidFill>
                  <a:schemeClr val="tx1"/>
                </a:solidFill>
              </a:rPr>
              <a:t> : quand les participants ont terminé leur production en fin de semaine 1, ils posent la question : « que doit-on faire ? faut-il s’arrêter ou continuer à produire ? »</a:t>
            </a:r>
          </a:p>
          <a:p>
            <a:pPr eaLnBrk="1" hangingPunct="1">
              <a:lnSpc>
                <a:spcPct val="120000"/>
              </a:lnSpc>
            </a:pPr>
            <a:r>
              <a:rPr lang="fr-FR" altLang="fr-FR" b="0">
                <a:solidFill>
                  <a:schemeClr val="tx1"/>
                </a:solidFill>
              </a:rPr>
              <a:t>L’animateur peut répondre: faîtes comme vous voulez. S’ils produisent ils prennent de l’avance pour la deuxième semaine, mais c’est au détriment du stock qui augmente.</a:t>
            </a:r>
          </a:p>
          <a:p>
            <a:pPr eaLnBrk="1" hangingPunct="1">
              <a:lnSpc>
                <a:spcPct val="120000"/>
              </a:lnSpc>
            </a:pPr>
            <a:endParaRPr lang="fr-FR" altLang="fr-FR" b="0">
              <a:solidFill>
                <a:schemeClr val="tx1"/>
              </a:solidFill>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Rectangle 2"/>
          <p:cNvSpPr>
            <a:spLocks noGrp="1" noRot="1" noChangeAspect="1" noChangeArrowheads="1" noTextEdit="1"/>
          </p:cNvSpPr>
          <p:nvPr>
            <p:ph type="sldImg"/>
          </p:nvPr>
        </p:nvSpPr>
        <p:spPr>
          <a:ln/>
        </p:spPr>
      </p:sp>
      <p:sp>
        <p:nvSpPr>
          <p:cNvPr id="242691" name="Rectangle 3"/>
          <p:cNvSpPr>
            <a:spLocks noGrp="1" noChangeArrowheads="1"/>
          </p:cNvSpPr>
          <p:nvPr>
            <p:ph type="body" idx="1"/>
          </p:nvPr>
        </p:nvSpPr>
        <p:spPr>
          <a:xfrm>
            <a:off x="496628" y="4904405"/>
            <a:ext cx="5805988" cy="1865108"/>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distribue la feuille à chaque participant. Il la commente en expliquant qu’elle permettra de savoir combien produire de pièces sur chacun des postes.</a:t>
            </a:r>
          </a:p>
          <a:p>
            <a:pPr eaLnBrk="1" hangingPunct="1"/>
            <a:endParaRPr lang="fr-FR" altLang="fr-FR" b="0"/>
          </a:p>
          <a:p>
            <a:pPr eaLnBrk="1" hangingPunct="1"/>
            <a:r>
              <a:rPr lang="fr-FR" altLang="fr-FR" b="0"/>
              <a:t>Remarque : le calcul nécessite de connaître le programme de production de produits finis. Généralement les participants le prendront égal aux prévisions de vente (qui leurs seront distribuées à leur demande). Le calcul peut être fait par chaque participant pour son propre poste, ou bien un des participants peut se charger de faire l’ensemble des calculs. L’animateur laissera l’équipe libre de s’organiser comme elle l’entend.</a:t>
            </a: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Rectangle 2"/>
          <p:cNvSpPr>
            <a:spLocks noGrp="1" noRot="1" noChangeAspect="1" noChangeArrowheads="1" noTextEdit="1"/>
          </p:cNvSpPr>
          <p:nvPr>
            <p:ph type="sldImg"/>
          </p:nvPr>
        </p:nvSpPr>
        <p:spPr>
          <a:ln/>
        </p:spPr>
      </p:sp>
      <p:sp>
        <p:nvSpPr>
          <p:cNvPr id="243715" name="Rectangle 3"/>
          <p:cNvSpPr>
            <a:spLocks noGrp="1" noChangeArrowheads="1"/>
          </p:cNvSpPr>
          <p:nvPr>
            <p:ph type="body" idx="1"/>
          </p:nvPr>
        </p:nvSpPr>
        <p:spPr>
          <a:xfrm>
            <a:off x="567126" y="4877082"/>
            <a:ext cx="5690056" cy="2529905"/>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lnSpc>
                <a:spcPct val="120000"/>
              </a:lnSpc>
            </a:pPr>
            <a:r>
              <a:rPr lang="fr-FR" altLang="fr-FR" b="0">
                <a:solidFill>
                  <a:schemeClr val="tx1"/>
                </a:solidFill>
              </a:rPr>
              <a:t>L’animateur donne les informations uniquement si les participants précisent ce qu’ils veulent. </a:t>
            </a:r>
          </a:p>
          <a:p>
            <a:pPr eaLnBrk="1" hangingPunct="1">
              <a:lnSpc>
                <a:spcPct val="120000"/>
              </a:lnSpc>
            </a:pPr>
            <a:r>
              <a:rPr lang="fr-FR" altLang="fr-FR" b="0">
                <a:solidFill>
                  <a:schemeClr val="tx1"/>
                </a:solidFill>
              </a:rPr>
              <a:t>Bien sûr, s’il se rend compte que les informations telles que les prévisions de vente ne sont pas demandées, il doit « aider » les participants à faire leur demande. </a:t>
            </a:r>
          </a:p>
          <a:p>
            <a:pPr eaLnBrk="1" hangingPunct="1">
              <a:lnSpc>
                <a:spcPct val="120000"/>
              </a:lnSpc>
            </a:pPr>
            <a:endParaRPr lang="fr-FR" altLang="fr-FR" b="0">
              <a:solidFill>
                <a:schemeClr val="tx1"/>
              </a:solidFill>
            </a:endParaRPr>
          </a:p>
          <a:p>
            <a:pPr eaLnBrk="1" hangingPunct="1">
              <a:lnSpc>
                <a:spcPct val="120000"/>
              </a:lnSpc>
            </a:pPr>
            <a:r>
              <a:rPr lang="fr-FR" altLang="fr-FR" b="0">
                <a:solidFill>
                  <a:schemeClr val="tx1"/>
                </a:solidFill>
              </a:rPr>
              <a:t>Les informations sont données par le biais des petites fiches plastifiées : Prévision des ventes et Statistiques d’incidents.</a:t>
            </a:r>
          </a:p>
          <a:p>
            <a:pPr eaLnBrk="1" hangingPunct="1">
              <a:lnSpc>
                <a:spcPct val="120000"/>
              </a:lnSpc>
            </a:pPr>
            <a:r>
              <a:rPr lang="fr-FR" altLang="fr-FR" b="0">
                <a:solidFill>
                  <a:schemeClr val="tx1"/>
                </a:solidFill>
              </a:rPr>
              <a:t>Il n’y a qu’un seul jeu de 2 fiches par table, ce qui incite les participants à partager l’information.</a:t>
            </a: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8948483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244691510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Rectangle 2"/>
          <p:cNvSpPr>
            <a:spLocks noGrp="1" noRot="1" noChangeAspect="1" noChangeArrowheads="1" noTextEdit="1"/>
          </p:cNvSpPr>
          <p:nvPr>
            <p:ph type="sldImg"/>
          </p:nvPr>
        </p:nvSpPr>
        <p:spPr>
          <a:solidFill>
            <a:srgbClr val="FFFFFF"/>
          </a:solidFill>
          <a:ln/>
        </p:spPr>
      </p:sp>
      <p:sp>
        <p:nvSpPr>
          <p:cNvPr id="244739" name="Rectangle 3"/>
          <p:cNvSpPr>
            <a:spLocks noGrp="1" noChangeArrowheads="1"/>
          </p:cNvSpPr>
          <p:nvPr>
            <p:ph type="body" idx="1"/>
          </p:nvPr>
        </p:nvSpPr>
        <p:spPr>
          <a:xfrm>
            <a:off x="178598" y="4750715"/>
            <a:ext cx="6467112" cy="1015644"/>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lvl="1" eaLnBrk="1" hangingPunct="1"/>
            <a:r>
              <a:rPr lang="fr-FR" altLang="fr-FR"/>
              <a:t>Les expéditions ont lieu en début de journée, c’est-à-dire ici en heure 1. Le poste de montage enlève les boîtes du stock, les place à la gauche du stock puis les recycle pour obtenir des matières premières qu’il redistribuera aux postes. On note qu’il n’y aura plus d’expéditions jusqu’à l’heure 9. Les participants disposaient de cette informations sur la fiche plastifiée Prévision des ventes.</a:t>
            </a: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Rectangle 2"/>
          <p:cNvSpPr>
            <a:spLocks noGrp="1" noRot="1" noChangeAspect="1" noChangeArrowheads="1" noTextEdit="1"/>
          </p:cNvSpPr>
          <p:nvPr>
            <p:ph type="sldImg"/>
          </p:nvPr>
        </p:nvSpPr>
        <p:spPr>
          <a:solidFill>
            <a:srgbClr val="FFFFFF"/>
          </a:solidFill>
          <a:ln/>
        </p:spPr>
      </p:sp>
      <p:sp>
        <p:nvSpPr>
          <p:cNvPr id="24576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Rectangle 2"/>
          <p:cNvSpPr>
            <a:spLocks noGrp="1" noRot="1" noChangeAspect="1" noChangeArrowheads="1" noTextEdit="1"/>
          </p:cNvSpPr>
          <p:nvPr>
            <p:ph type="sldImg"/>
          </p:nvPr>
        </p:nvSpPr>
        <p:spPr>
          <a:solidFill>
            <a:srgbClr val="FFFFFF"/>
          </a:solidFill>
          <a:ln/>
        </p:spPr>
      </p:sp>
      <p:sp>
        <p:nvSpPr>
          <p:cNvPr id="24678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2"/>
          <p:cNvSpPr>
            <a:spLocks noGrp="1" noRot="1" noChangeAspect="1" noChangeArrowheads="1" noTextEdit="1"/>
          </p:cNvSpPr>
          <p:nvPr>
            <p:ph type="sldImg"/>
          </p:nvPr>
        </p:nvSpPr>
        <p:spPr>
          <a:solidFill>
            <a:srgbClr val="FFFFFF"/>
          </a:solidFill>
          <a:ln/>
        </p:spPr>
      </p:sp>
      <p:sp>
        <p:nvSpPr>
          <p:cNvPr id="24781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4" name="Rectangle 2"/>
          <p:cNvSpPr>
            <a:spLocks noGrp="1" noRot="1" noChangeAspect="1" noChangeArrowheads="1" noTextEdit="1"/>
          </p:cNvSpPr>
          <p:nvPr>
            <p:ph type="sldImg"/>
          </p:nvPr>
        </p:nvSpPr>
        <p:spPr>
          <a:solidFill>
            <a:srgbClr val="FFFFFF"/>
          </a:solidFill>
          <a:ln/>
        </p:spPr>
      </p:sp>
      <p:sp>
        <p:nvSpPr>
          <p:cNvPr id="24883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Rectangle 2"/>
          <p:cNvSpPr>
            <a:spLocks noGrp="1" noRot="1" noChangeAspect="1" noChangeArrowheads="1" noTextEdit="1"/>
          </p:cNvSpPr>
          <p:nvPr>
            <p:ph type="sldImg"/>
          </p:nvPr>
        </p:nvSpPr>
        <p:spPr>
          <a:solidFill>
            <a:srgbClr val="FFFFFF"/>
          </a:solidFill>
          <a:ln/>
        </p:spPr>
      </p:sp>
      <p:sp>
        <p:nvSpPr>
          <p:cNvPr id="2498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Rectangle 2"/>
          <p:cNvSpPr>
            <a:spLocks noGrp="1" noRot="1" noChangeAspect="1" noChangeArrowheads="1" noTextEdit="1"/>
          </p:cNvSpPr>
          <p:nvPr>
            <p:ph type="sldImg"/>
          </p:nvPr>
        </p:nvSpPr>
        <p:spPr>
          <a:solidFill>
            <a:srgbClr val="FFFFFF"/>
          </a:solidFill>
          <a:ln/>
        </p:spPr>
      </p:sp>
      <p:sp>
        <p:nvSpPr>
          <p:cNvPr id="25088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Rectangle 2"/>
          <p:cNvSpPr>
            <a:spLocks noGrp="1" noRot="1" noChangeAspect="1" noChangeArrowheads="1" noTextEdit="1"/>
          </p:cNvSpPr>
          <p:nvPr>
            <p:ph type="sldImg"/>
          </p:nvPr>
        </p:nvSpPr>
        <p:spPr>
          <a:solidFill>
            <a:srgbClr val="FFFFFF"/>
          </a:solidFill>
          <a:ln/>
        </p:spPr>
      </p:sp>
      <p:sp>
        <p:nvSpPr>
          <p:cNvPr id="25190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Rectangle 2"/>
          <p:cNvSpPr>
            <a:spLocks noGrp="1" noRot="1" noChangeAspect="1" noChangeArrowheads="1" noTextEdit="1"/>
          </p:cNvSpPr>
          <p:nvPr>
            <p:ph type="sldImg"/>
          </p:nvPr>
        </p:nvSpPr>
        <p:spPr>
          <a:solidFill>
            <a:srgbClr val="FFFFFF"/>
          </a:solidFill>
          <a:ln/>
        </p:spPr>
      </p:sp>
      <p:sp>
        <p:nvSpPr>
          <p:cNvPr id="25293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p:cNvSpPr>
            <a:spLocks noGrp="1" noRot="1" noChangeAspect="1" noChangeArrowheads="1" noTextEdit="1"/>
          </p:cNvSpPr>
          <p:nvPr>
            <p:ph type="sldImg"/>
          </p:nvPr>
        </p:nvSpPr>
        <p:spPr>
          <a:solidFill>
            <a:srgbClr val="FFFFFF"/>
          </a:solidFill>
          <a:ln/>
        </p:spPr>
      </p:sp>
      <p:sp>
        <p:nvSpPr>
          <p:cNvPr id="25395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Rectangle 2"/>
          <p:cNvSpPr>
            <a:spLocks noGrp="1" noRot="1" noChangeAspect="1" noChangeArrowheads="1" noTextEdit="1"/>
          </p:cNvSpPr>
          <p:nvPr>
            <p:ph type="sldImg"/>
          </p:nvPr>
        </p:nvSpPr>
        <p:spPr>
          <a:solidFill>
            <a:srgbClr val="FFFFFF"/>
          </a:solidFill>
          <a:ln/>
        </p:spPr>
      </p:sp>
      <p:sp>
        <p:nvSpPr>
          <p:cNvPr id="25497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Rectangle 2"/>
          <p:cNvSpPr>
            <a:spLocks noGrp="1" noRot="1" noChangeAspect="1" noChangeArrowheads="1" noTextEdit="1"/>
          </p:cNvSpPr>
          <p:nvPr>
            <p:ph type="sldImg"/>
          </p:nvPr>
        </p:nvSpPr>
        <p:spPr>
          <a:solidFill>
            <a:srgbClr val="FFFFFF"/>
          </a:solidFill>
          <a:ln/>
        </p:spPr>
      </p:sp>
      <p:sp>
        <p:nvSpPr>
          <p:cNvPr id="25600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Rectangle 2"/>
          <p:cNvSpPr>
            <a:spLocks noGrp="1" noRot="1" noChangeAspect="1" noChangeArrowheads="1" noTextEdit="1"/>
          </p:cNvSpPr>
          <p:nvPr>
            <p:ph type="sldImg"/>
          </p:nvPr>
        </p:nvSpPr>
        <p:spPr>
          <a:solidFill>
            <a:srgbClr val="FFFFFF"/>
          </a:solidFill>
          <a:ln/>
        </p:spPr>
      </p:sp>
      <p:sp>
        <p:nvSpPr>
          <p:cNvPr id="25702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Rectangle 2"/>
          <p:cNvSpPr>
            <a:spLocks noGrp="1" noRot="1" noChangeAspect="1" noChangeArrowheads="1" noTextEdit="1"/>
          </p:cNvSpPr>
          <p:nvPr>
            <p:ph type="sldImg"/>
          </p:nvPr>
        </p:nvSpPr>
        <p:spPr>
          <a:solidFill>
            <a:srgbClr val="FFFFFF"/>
          </a:solidFill>
          <a:ln/>
        </p:spPr>
      </p:sp>
      <p:sp>
        <p:nvSpPr>
          <p:cNvPr id="25805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Rectangle 2"/>
          <p:cNvSpPr>
            <a:spLocks noGrp="1" noRot="1" noChangeAspect="1" noChangeArrowheads="1" noTextEdit="1"/>
          </p:cNvSpPr>
          <p:nvPr>
            <p:ph type="sldImg"/>
          </p:nvPr>
        </p:nvSpPr>
        <p:spPr>
          <a:solidFill>
            <a:srgbClr val="FFFFFF"/>
          </a:solidFill>
          <a:ln/>
        </p:spPr>
      </p:sp>
      <p:sp>
        <p:nvSpPr>
          <p:cNvPr id="25907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2"/>
          <p:cNvSpPr>
            <a:spLocks noGrp="1" noRot="1" noChangeAspect="1" noChangeArrowheads="1" noTextEdit="1"/>
          </p:cNvSpPr>
          <p:nvPr>
            <p:ph type="sldImg"/>
          </p:nvPr>
        </p:nvSpPr>
        <p:spPr>
          <a:ln/>
        </p:spPr>
      </p:sp>
      <p:sp>
        <p:nvSpPr>
          <p:cNvPr id="260099" name="Rectangle 3"/>
          <p:cNvSpPr>
            <a:spLocks noGrp="1" noChangeArrowheads="1"/>
          </p:cNvSpPr>
          <p:nvPr>
            <p:ph type="body" idx="1"/>
          </p:nvPr>
        </p:nvSpPr>
        <p:spPr>
          <a:xfrm>
            <a:off x="496628" y="4904405"/>
            <a:ext cx="5805988" cy="212364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 délai qui sépare un changement technique à l'usinage des carters de sa mise en application commerciale est normalement égal à la durée d'écoulement du stock de carters usinés et du stock de produits finis. On mesurera ce stock, et on calculera sa durée d'écoulement en divisant par le flux moyen de production (24 carters par semaine de 32 h, soit environ 0,8 par heure). On pourra également noter l'heure sur un conteneur au moment où il est usiné (coller un post-it), et relever l'heure à laquelle il est vendu. Dans ce cas, on mesure la durée d'écoulement d'un carter particulier, qui peut différer de la moyenne évaluée par le biais du stock (notion de rotation par référence). A noter : dans cette méthode de suivi il faut que le conteneur portant le post-it soit géré en FIFO, c’est-à-dire qu’il aille sur le dessous de la pile au moment de sa mise en stock.</a:t>
            </a: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2"/>
          <p:cNvSpPr>
            <a:spLocks noGrp="1" noRot="1" noChangeAspect="1" noChangeArrowheads="1" noTextEdit="1"/>
          </p:cNvSpPr>
          <p:nvPr>
            <p:ph type="sldImg"/>
          </p:nvPr>
        </p:nvSpPr>
        <p:spPr>
          <a:solidFill>
            <a:srgbClr val="FFFFFF"/>
          </a:solidFill>
          <a:ln/>
        </p:spPr>
      </p:sp>
      <p:sp>
        <p:nvSpPr>
          <p:cNvPr id="26112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2"/>
          <p:cNvSpPr>
            <a:spLocks noGrp="1" noRot="1" noChangeAspect="1" noChangeArrowheads="1" noTextEdit="1"/>
          </p:cNvSpPr>
          <p:nvPr>
            <p:ph type="sldImg"/>
          </p:nvPr>
        </p:nvSpPr>
        <p:spPr>
          <a:solidFill>
            <a:srgbClr val="FFFFFF"/>
          </a:solidFill>
          <a:ln/>
        </p:spPr>
      </p:sp>
      <p:sp>
        <p:nvSpPr>
          <p:cNvPr id="26214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Rot="1" noChangeAspect="1" noChangeArrowheads="1" noTextEdit="1"/>
          </p:cNvSpPr>
          <p:nvPr>
            <p:ph type="sldImg"/>
          </p:nvPr>
        </p:nvSpPr>
        <p:spPr>
          <a:solidFill>
            <a:srgbClr val="FFFFFF"/>
          </a:solidFill>
          <a:ln/>
        </p:spPr>
      </p:sp>
      <p:sp>
        <p:nvSpPr>
          <p:cNvPr id="26317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2"/>
          <p:cNvSpPr>
            <a:spLocks noGrp="1" noRot="1" noChangeAspect="1" noChangeArrowheads="1" noTextEdit="1"/>
          </p:cNvSpPr>
          <p:nvPr>
            <p:ph type="sldImg"/>
          </p:nvPr>
        </p:nvSpPr>
        <p:spPr>
          <a:solidFill>
            <a:srgbClr val="FFFFFF"/>
          </a:solidFill>
          <a:ln/>
        </p:spPr>
      </p:sp>
      <p:sp>
        <p:nvSpPr>
          <p:cNvPr id="26419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2"/>
          <p:cNvSpPr>
            <a:spLocks noGrp="1" noRot="1" noChangeAspect="1" noChangeArrowheads="1" noTextEdit="1"/>
          </p:cNvSpPr>
          <p:nvPr>
            <p:ph type="sldImg"/>
          </p:nvPr>
        </p:nvSpPr>
        <p:spPr>
          <a:solidFill>
            <a:srgbClr val="FFFFFF"/>
          </a:solidFill>
          <a:ln/>
        </p:spPr>
      </p:sp>
      <p:sp>
        <p:nvSpPr>
          <p:cNvPr id="26521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Rectangle 2"/>
          <p:cNvSpPr>
            <a:spLocks noGrp="1" noRot="1" noChangeAspect="1" noChangeArrowheads="1" noTextEdit="1"/>
          </p:cNvSpPr>
          <p:nvPr>
            <p:ph type="sldImg"/>
          </p:nvPr>
        </p:nvSpPr>
        <p:spPr>
          <a:solidFill>
            <a:srgbClr val="FFFFFF"/>
          </a:solidFill>
          <a:ln/>
        </p:spPr>
      </p:sp>
      <p:sp>
        <p:nvSpPr>
          <p:cNvPr id="26624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Rectangle 2"/>
          <p:cNvSpPr>
            <a:spLocks noGrp="1" noRot="1" noChangeAspect="1" noChangeArrowheads="1" noTextEdit="1"/>
          </p:cNvSpPr>
          <p:nvPr>
            <p:ph type="sldImg"/>
          </p:nvPr>
        </p:nvSpPr>
        <p:spPr>
          <a:solidFill>
            <a:srgbClr val="FFFFFF"/>
          </a:solidFill>
          <a:ln/>
        </p:spPr>
      </p:sp>
      <p:sp>
        <p:nvSpPr>
          <p:cNvPr id="26726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Rot="1" noChangeAspect="1" noChangeArrowheads="1" noTextEdit="1"/>
          </p:cNvSpPr>
          <p:nvPr>
            <p:ph type="sldImg"/>
          </p:nvPr>
        </p:nvSpPr>
        <p:spPr>
          <a:solidFill>
            <a:srgbClr val="FFFFFF"/>
          </a:solidFill>
          <a:ln/>
        </p:spPr>
      </p:sp>
      <p:sp>
        <p:nvSpPr>
          <p:cNvPr id="26829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Rectangle 2"/>
          <p:cNvSpPr>
            <a:spLocks noGrp="1" noRot="1" noChangeAspect="1" noChangeArrowheads="1" noTextEdit="1"/>
          </p:cNvSpPr>
          <p:nvPr>
            <p:ph type="sldImg"/>
          </p:nvPr>
        </p:nvSpPr>
        <p:spPr>
          <a:solidFill>
            <a:srgbClr val="FFFFFF"/>
          </a:solidFill>
          <a:ln/>
        </p:spPr>
      </p:sp>
      <p:sp>
        <p:nvSpPr>
          <p:cNvPr id="26931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Rectangle 2"/>
          <p:cNvSpPr>
            <a:spLocks noGrp="1" noRot="1" noChangeAspect="1" noChangeArrowheads="1" noTextEdit="1"/>
          </p:cNvSpPr>
          <p:nvPr>
            <p:ph type="sldImg"/>
          </p:nvPr>
        </p:nvSpPr>
        <p:spPr>
          <a:solidFill>
            <a:srgbClr val="FFFFFF"/>
          </a:solidFill>
          <a:ln/>
        </p:spPr>
      </p:sp>
      <p:sp>
        <p:nvSpPr>
          <p:cNvPr id="27033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2"/>
          <p:cNvSpPr>
            <a:spLocks noGrp="1" noRot="1" noChangeAspect="1" noChangeArrowheads="1" noTextEdit="1"/>
          </p:cNvSpPr>
          <p:nvPr>
            <p:ph type="sldImg"/>
          </p:nvPr>
        </p:nvSpPr>
        <p:spPr>
          <a:solidFill>
            <a:srgbClr val="FFFFFF"/>
          </a:solidFill>
          <a:ln/>
        </p:spPr>
      </p:sp>
      <p:sp>
        <p:nvSpPr>
          <p:cNvPr id="27136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p:cNvSpPr>
            <a:spLocks noGrp="1" noRot="1" noChangeAspect="1" noChangeArrowheads="1" noTextEdit="1"/>
          </p:cNvSpPr>
          <p:nvPr>
            <p:ph type="sldImg"/>
          </p:nvPr>
        </p:nvSpPr>
        <p:spPr>
          <a:solidFill>
            <a:srgbClr val="FFFFFF"/>
          </a:solidFill>
          <a:ln/>
        </p:spPr>
      </p:sp>
      <p:sp>
        <p:nvSpPr>
          <p:cNvPr id="27238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2"/>
          <p:cNvSpPr>
            <a:spLocks noGrp="1" noRot="1" noChangeAspect="1" noChangeArrowheads="1" noTextEdit="1"/>
          </p:cNvSpPr>
          <p:nvPr>
            <p:ph type="sldImg"/>
          </p:nvPr>
        </p:nvSpPr>
        <p:spPr>
          <a:solidFill>
            <a:srgbClr val="FFFFFF"/>
          </a:solidFill>
          <a:ln/>
        </p:spPr>
      </p:sp>
      <p:sp>
        <p:nvSpPr>
          <p:cNvPr id="27341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Rectangle 2"/>
          <p:cNvSpPr>
            <a:spLocks noGrp="1" noRot="1" noChangeAspect="1" noChangeArrowheads="1" noTextEdit="1"/>
          </p:cNvSpPr>
          <p:nvPr>
            <p:ph type="sldImg"/>
          </p:nvPr>
        </p:nvSpPr>
        <p:spPr>
          <a:solidFill>
            <a:srgbClr val="FFFFFF"/>
          </a:solidFill>
          <a:ln/>
        </p:spPr>
      </p:sp>
      <p:sp>
        <p:nvSpPr>
          <p:cNvPr id="27443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Rectangle 2"/>
          <p:cNvSpPr>
            <a:spLocks noGrp="1" noRot="1" noChangeAspect="1" noChangeArrowheads="1" noTextEdit="1"/>
          </p:cNvSpPr>
          <p:nvPr>
            <p:ph type="sldImg"/>
          </p:nvPr>
        </p:nvSpPr>
        <p:spPr>
          <a:solidFill>
            <a:srgbClr val="FFFFFF"/>
          </a:solidFill>
          <a:ln/>
        </p:spPr>
      </p:sp>
      <p:sp>
        <p:nvSpPr>
          <p:cNvPr id="2754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2"/>
          <p:cNvSpPr>
            <a:spLocks noGrp="1" noRot="1" noChangeAspect="1" noChangeArrowheads="1" noTextEdit="1"/>
          </p:cNvSpPr>
          <p:nvPr>
            <p:ph type="sldImg"/>
          </p:nvPr>
        </p:nvSpPr>
        <p:spPr>
          <a:ln/>
        </p:spPr>
      </p:sp>
      <p:sp>
        <p:nvSpPr>
          <p:cNvPr id="276483" name="Rectangle 3"/>
          <p:cNvSpPr>
            <a:spLocks noGrp="1" noChangeArrowheads="1"/>
          </p:cNvSpPr>
          <p:nvPr>
            <p:ph type="body" idx="1"/>
          </p:nvPr>
        </p:nvSpPr>
        <p:spPr>
          <a:xfrm>
            <a:off x="496628" y="4904405"/>
            <a:ext cx="5805988" cy="1384976"/>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L'analyse de la valeur permet de mieux adapter un produit à sa fonction. Mais ici, elle amène à envisager une modification qui crée deux références de plus : une en engrenage, une en carter. Le R2 ne pourra plus être fabriqué à partir de composants appartenant aussi aux autres produits finis, On risque à la fois d'accroître le stock de ces composants spéciaux, et d'être plus souvent en rupture. On notera cependant que les inconvénients évoqués ci-dessus sont fortement atténués dans un fonctionnement à flux tendu et à cycle court</a:t>
            </a: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2"/>
          <p:cNvSpPr>
            <a:spLocks noGrp="1" noRot="1" noChangeAspect="1" noChangeArrowheads="1" noTextEdit="1"/>
          </p:cNvSpPr>
          <p:nvPr>
            <p:ph type="sldImg"/>
          </p:nvPr>
        </p:nvSpPr>
        <p:spPr>
          <a:solidFill>
            <a:srgbClr val="FFFFFF"/>
          </a:solidFill>
          <a:ln/>
        </p:spPr>
      </p:sp>
      <p:sp>
        <p:nvSpPr>
          <p:cNvPr id="27750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2"/>
          <p:cNvSpPr>
            <a:spLocks noGrp="1" noRot="1" noChangeAspect="1" noChangeArrowheads="1" noTextEdit="1"/>
          </p:cNvSpPr>
          <p:nvPr>
            <p:ph type="sldImg"/>
          </p:nvPr>
        </p:nvSpPr>
        <p:spPr>
          <a:solidFill>
            <a:srgbClr val="FFFFFF"/>
          </a:solidFill>
          <a:ln/>
        </p:spPr>
      </p:sp>
      <p:sp>
        <p:nvSpPr>
          <p:cNvPr id="27853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2"/>
          <p:cNvSpPr>
            <a:spLocks noGrp="1" noRot="1" noChangeAspect="1" noChangeArrowheads="1" noTextEdit="1"/>
          </p:cNvSpPr>
          <p:nvPr>
            <p:ph type="sldImg"/>
          </p:nvPr>
        </p:nvSpPr>
        <p:spPr>
          <a:ln/>
        </p:spPr>
      </p:sp>
      <p:sp>
        <p:nvSpPr>
          <p:cNvPr id="279555" name="Rectangle 3"/>
          <p:cNvSpPr>
            <a:spLocks noGrp="1" noChangeArrowheads="1"/>
          </p:cNvSpPr>
          <p:nvPr>
            <p:ph type="body" idx="1"/>
          </p:nvPr>
        </p:nvSpPr>
        <p:spPr>
          <a:xfrm>
            <a:off x="496628" y="4904404"/>
            <a:ext cx="5805988" cy="1754308"/>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Ce graphique a deux fonctions : la première est d’indiquer aux participants le montant des ventes de la semaine, chiffre qu’ils utiliseront comme diviseur pour calculer le taux de service (ils auraient pu le calculer eux-mêmes en totalisant les commandes reçues, mais comme ils n’enregistrent pas ce chiffre sur la feuille de suivi il est souvent plus rapide de leur donner directement). La deuxième fonction est de montrer que les ventes ont été globalement égales aux prévisions, et que les différences ne portent que sur les ventes par référence. Ce constat souligne bien la difficulté qu’il y a à gérer un grand nombre de références (même si le chiffre de 6 est faible, on peut imaginer la difficulté quand il y a des milliers de références).</a:t>
            </a: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2"/>
          <p:cNvSpPr>
            <a:spLocks noGrp="1" noRot="1" noChangeAspect="1" noChangeArrowheads="1" noTextEdit="1"/>
          </p:cNvSpPr>
          <p:nvPr>
            <p:ph type="sldImg"/>
          </p:nvPr>
        </p:nvSpPr>
        <p:spPr>
          <a:ln/>
        </p:spPr>
      </p:sp>
      <p:sp>
        <p:nvSpPr>
          <p:cNvPr id="280579" name="Rectangle 3"/>
          <p:cNvSpPr>
            <a:spLocks noGrp="1" noChangeArrowheads="1"/>
          </p:cNvSpPr>
          <p:nvPr>
            <p:ph type="body" idx="1"/>
          </p:nvPr>
        </p:nvSpPr>
        <p:spPr>
          <a:xfrm>
            <a:off x="553027" y="4719978"/>
            <a:ext cx="5805988" cy="46212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sz="900" b="0" u="sng" dirty="0"/>
              <a:t>Calcul de l’efficience</a:t>
            </a:r>
          </a:p>
          <a:p>
            <a:pPr eaLnBrk="1" hangingPunct="1"/>
            <a:r>
              <a:rPr lang="fr-FR" altLang="fr-FR" sz="900" b="0" dirty="0"/>
              <a:t>Le calcul de l’efficience tient compte de tous les arrêts, à l’exclusion des arrêts notés dans la colonne Planning. En semaine 1 (travail sur programme) de tels arrêts interviennent uniquement en fin de semaine. Quand on travaillera en Kanban (semaines 2 et suivantes), de tels arrêts pourront survenir à tout moment, s’il n’y a plus de Kanban au poste. Donc la règle générale est : les arrêts par manque de travail ne sont pas pris en compte dans les pertes d’efficience. </a:t>
            </a:r>
          </a:p>
          <a:p>
            <a:pPr eaLnBrk="1" hangingPunct="1"/>
            <a:r>
              <a:rPr lang="fr-FR" altLang="fr-FR" sz="900" b="0" dirty="0"/>
              <a:t>Les reprises et les rebuts ont été pris en compte de la façon suivante : on considère qu’un conteneur à reprendre ou à rebuter occasionnera une heure de travail à refaire sur le poste. C’est la raison pour laquelle on ajoute le nombre de conteneurs à refaire au nombre d’heures d’arrêt pour obtenir l’efficience du poste en terme de « pièces bonnes  ».</a:t>
            </a:r>
          </a:p>
          <a:p>
            <a:pPr eaLnBrk="1" hangingPunct="1"/>
            <a:r>
              <a:rPr lang="fr-FR" altLang="fr-FR" sz="900" b="0" dirty="0"/>
              <a:t>On considère qu’un produit fini rebuté ne pénalise que le poste de montage (c’est donc lui seul qui inscrit la croix dans sa feuille de suivi). Normalement, les autres postes devraient également subir une perte d’efficience (ils devront refaire le produit fabriqué). Mais cette règle simple permet de ne pas compliquer l’enregistrement des pertes.</a:t>
            </a:r>
          </a:p>
          <a:p>
            <a:pPr eaLnBrk="1" hangingPunct="1"/>
            <a:r>
              <a:rPr lang="fr-FR" altLang="fr-FR" sz="900" b="0" u="sng" dirty="0"/>
              <a:t>Calcul du taux de service</a:t>
            </a:r>
          </a:p>
          <a:p>
            <a:pPr eaLnBrk="1" hangingPunct="1"/>
            <a:r>
              <a:rPr lang="fr-FR" altLang="fr-FR" sz="900" b="0" dirty="0"/>
              <a:t>Cette façon de calculer un taux de service n’est certainement pas habituelle dans les entreprises ! Ici elle est justifiée par la volonté de simplifier les calculs. L’animateur pourra expliquer aux joueurs qu’il s’agit d’une simplification et que les entreprise procèdent autrement pour calculer un taux de service.</a:t>
            </a:r>
          </a:p>
          <a:p>
            <a:pPr eaLnBrk="1" hangingPunct="1"/>
            <a:r>
              <a:rPr lang="fr-FR" altLang="fr-FR" sz="900" b="0" dirty="0"/>
              <a:t>Pour éviter d’alourdir les calculs, on ne demande pas aux équipes de mesurer les quantités vendues. Elle sont pré- inscrites une fois pour toutes sur la feuille de suivi.</a:t>
            </a:r>
          </a:p>
          <a:p>
            <a:pPr eaLnBrk="1" hangingPunct="1"/>
            <a:r>
              <a:rPr lang="fr-FR" altLang="fr-FR" sz="900" b="0" dirty="0"/>
              <a:t>On notera que le chiffre 34 inclut les ventes de pièces détachées, ce qui est normal puisqu’elles peuvent également être en rupture.</a:t>
            </a:r>
          </a:p>
          <a:p>
            <a:pPr eaLnBrk="1" hangingPunct="1"/>
            <a:r>
              <a:rPr lang="fr-FR" altLang="fr-FR" sz="900" b="0" u="sng" dirty="0"/>
              <a:t>Rôles</a:t>
            </a:r>
            <a:endParaRPr lang="fr-FR" altLang="fr-FR" sz="900" b="0" dirty="0"/>
          </a:p>
          <a:p>
            <a:pPr eaLnBrk="1" hangingPunct="1"/>
            <a:r>
              <a:rPr lang="fr-FR" altLang="fr-FR" sz="900" b="0" dirty="0"/>
              <a:t>La même feuille sert à suivre la production de chaque poste et les livraisons. En réalité, seul un poste suivra les livraisons. Si c’est par exemple les Engrenages qui suivent les livraisons, la personne chargée de ce poste remplira à la fois la partie gauche et la partie droite. Les autres postes ne rempliront que la partie gauche. D’une façon générale, il est souhaitable de donner le rôle de suivi des livraisons au poste qui est occupé par 2 participants, s’il y en a au moins un poste dans ce cas. D’une façon générale, on donnera le rôle de suivre les livraisons au montage, si le poste est doublé (c’est lui qu’on double en priorité). Si aucun poste n’est doublé, il vaut mieux confier ce rôle aux couronnes (A ou B) car elles ont moins de travail que le montage.</a:t>
            </a: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Rectangle 2"/>
          <p:cNvSpPr>
            <a:spLocks noGrp="1" noRot="1" noChangeAspect="1" noChangeArrowheads="1" noTextEdit="1"/>
          </p:cNvSpPr>
          <p:nvPr>
            <p:ph type="sldImg"/>
          </p:nvPr>
        </p:nvSpPr>
        <p:spPr>
          <a:ln/>
        </p:spPr>
      </p:sp>
      <p:sp>
        <p:nvSpPr>
          <p:cNvPr id="281603" name="Rectangle 3"/>
          <p:cNvSpPr>
            <a:spLocks noGrp="1" noChangeArrowheads="1"/>
          </p:cNvSpPr>
          <p:nvPr>
            <p:ph type="body" idx="1"/>
          </p:nvPr>
        </p:nvSpPr>
        <p:spPr>
          <a:xfrm>
            <a:off x="496628" y="4904404"/>
            <a:ext cx="5805988" cy="2585305"/>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Distribuer la feuille de résultats aux participants. On peut en donner une à chaque participant, ou une à un membre de l’équipe désigné qui fait le calcul.</a:t>
            </a:r>
          </a:p>
          <a:p>
            <a:pPr eaLnBrk="1" hangingPunct="1"/>
            <a:r>
              <a:rPr lang="fr-FR" altLang="fr-FR" b="0"/>
              <a:t>Ne pas expliquer pour le moment la partie basse (actions de progrès) qui sera présentée un peu plus loin.</a:t>
            </a:r>
          </a:p>
          <a:p>
            <a:pPr eaLnBrk="1" hangingPunct="1"/>
            <a:endParaRPr lang="fr-FR" altLang="fr-FR" b="0"/>
          </a:p>
          <a:p>
            <a:pPr eaLnBrk="1" hangingPunct="1"/>
            <a:r>
              <a:rPr lang="fr-FR" altLang="fr-FR" b="0"/>
              <a:t>Ce document sert à récapituler les indicateurs de chaque équipe pour l’ensemble de la simulation. Il sera utilisé par l’animateur pour mettre à jour le Tableau de bord Excel.</a:t>
            </a:r>
          </a:p>
          <a:p>
            <a:pPr eaLnBrk="1" hangingPunct="1"/>
            <a:endParaRPr lang="fr-FR" altLang="fr-FR" b="0"/>
          </a:p>
          <a:p>
            <a:pPr eaLnBrk="1" hangingPunct="1"/>
            <a:r>
              <a:rPr lang="fr-FR" altLang="fr-FR" b="0"/>
              <a:t>Remarque : le stock sera calculé en milieu de semaine à partir de la semaine 2, l’inventaire étant réalisé après que les joueurs aient éventuellement diminué leurs stocks (voir plus loin la diapo Ajustement des stocks en heure 17 semaine 2)</a:t>
            </a: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2"/>
          <p:cNvSpPr>
            <a:spLocks noGrp="1" noRot="1" noChangeAspect="1" noChangeArrowheads="1" noTextEdit="1"/>
          </p:cNvSpPr>
          <p:nvPr>
            <p:ph type="sldImg"/>
          </p:nvPr>
        </p:nvSpPr>
        <p:spPr>
          <a:ln/>
        </p:spPr>
      </p:sp>
      <p:sp>
        <p:nvSpPr>
          <p:cNvPr id="282627" name="Rectangle 3"/>
          <p:cNvSpPr>
            <a:spLocks noGrp="1" noChangeArrowheads="1"/>
          </p:cNvSpPr>
          <p:nvPr>
            <p:ph type="body" idx="1"/>
          </p:nvPr>
        </p:nvSpPr>
        <p:spPr>
          <a:xfrm>
            <a:off x="496628" y="4904405"/>
            <a:ext cx="5805988" cy="3268569"/>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demande à chaque équipe de lui indiquer ses valeurs de Taux de service, Efficience et Stocks. Il les rentre dans le fichier Tableau de bord (Excel, onglet : Données). Une fois les données rentrées, il projette le tableau de bord. Il demande aux équipes de réagir à ces résultats.</a:t>
            </a:r>
          </a:p>
          <a:p>
            <a:pPr eaLnBrk="1" hangingPunct="1"/>
            <a:r>
              <a:rPr lang="fr-FR" altLang="fr-FR" b="0"/>
              <a:t>Il peut faire remarquer que le taux de service est assez dégradé, alors que les ventes ont été globalement égales aux prévisions. En outre, le stock n’a pas vraiment baissé, il a même probablement augmenté par rapport à la valeur d’origine. Mais il est mal réparti : certaines références ont probablement trop de stocks, d’autres pas assez. Cela souligne les difficultés de coordination de la production et conduit à rechercher davantage de flexibilité, pour pouvoir passer plus rapidement d’une référence à une autre.</a:t>
            </a:r>
          </a:p>
          <a:p>
            <a:pPr eaLnBrk="1" hangingPunct="1"/>
            <a:r>
              <a:rPr lang="fr-FR" altLang="fr-FR" b="0"/>
              <a:t>C’est ce qui sera maintenant proposé aux équipes (possibilité de faire des progrès, voir plus loin).</a:t>
            </a:r>
          </a:p>
          <a:p>
            <a:pPr eaLnBrk="1" hangingPunct="1"/>
            <a:endParaRPr lang="fr-FR" altLang="fr-FR" b="0"/>
          </a:p>
          <a:p>
            <a:pPr eaLnBrk="1" hangingPunct="1"/>
            <a:r>
              <a:rPr lang="fr-FR" altLang="fr-FR" b="0" u="sng"/>
              <a:t>Autre solution</a:t>
            </a:r>
            <a:r>
              <a:rPr lang="fr-FR" altLang="fr-FR" b="0"/>
              <a:t> : si une affiche a été prévue, chaque équipe vient la mettre à jour elle-même.</a:t>
            </a: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a:xfrm>
            <a:off x="496628" y="4904404"/>
            <a:ext cx="5805988" cy="276981"/>
          </a:xfrm>
        </p:spPr>
        <p:txBody>
          <a:bodyPr/>
          <a:lstStyle/>
          <a:p>
            <a:endParaRPr lang="fr-FR"/>
          </a:p>
        </p:txBody>
      </p:sp>
    </p:spTree>
    <p:extLst>
      <p:ext uri="{BB962C8B-B14F-4D97-AF65-F5344CB8AC3E}">
        <p14:creationId xmlns:p14="http://schemas.microsoft.com/office/powerpoint/2010/main" val="327494986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2"/>
          <p:cNvSpPr>
            <a:spLocks noGrp="1" noRot="1" noChangeAspect="1" noChangeArrowheads="1" noTextEdit="1"/>
          </p:cNvSpPr>
          <p:nvPr>
            <p:ph type="sldImg"/>
          </p:nvPr>
        </p:nvSpPr>
        <p:spPr>
          <a:ln/>
        </p:spPr>
      </p:sp>
      <p:sp>
        <p:nvSpPr>
          <p:cNvPr id="283651" name="Rectangle 3"/>
          <p:cNvSpPr>
            <a:spLocks noGrp="1" noChangeArrowheads="1"/>
          </p:cNvSpPr>
          <p:nvPr>
            <p:ph type="body" idx="1"/>
          </p:nvPr>
        </p:nvSpPr>
        <p:spPr>
          <a:xfrm>
            <a:off x="496628" y="4904405"/>
            <a:ext cx="5805988" cy="1754308"/>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explique que le Poste Carters pourra dorénavant travailler à condition de disposer de tickets Kanban, qui serviront ainsi d’ordres de fabrication. Comme pendant la semaine 1, il place la matière première dans le conteneur, mais désormais il doit glisser le ticket dans la boîte (rainure prévue à cet effet). Il place ensuite la boîte équipée de son ticket dans le stock de pièces usinées. Le même principe s’applique aux autre postes. Pour le montage, il faut associer un engrenage, un carter et une couronne à un ticket kanban de montage. Attention : pour les couronnes, le ticket correspond à 2 pièces, c’est-à-dire à la quantité standard d’un conteneur.</a:t>
            </a: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Rectangle 2"/>
          <p:cNvSpPr>
            <a:spLocks noGrp="1" noRot="1" noChangeAspect="1" noChangeArrowheads="1" noTextEdit="1"/>
          </p:cNvSpPr>
          <p:nvPr>
            <p:ph type="sldImg"/>
          </p:nvPr>
        </p:nvSpPr>
        <p:spPr>
          <a:ln/>
        </p:spPr>
      </p:sp>
      <p:sp>
        <p:nvSpPr>
          <p:cNvPr id="284675" name="Rectangle 3"/>
          <p:cNvSpPr>
            <a:spLocks noGrp="1" noChangeArrowheads="1"/>
          </p:cNvSpPr>
          <p:nvPr>
            <p:ph type="body" idx="1"/>
          </p:nvPr>
        </p:nvSpPr>
        <p:spPr>
          <a:xfrm>
            <a:off x="496628" y="4904405"/>
            <a:ext cx="5805988" cy="646313"/>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 montage travaille de la même façon. Il a besoin d’un ticket de la référence pour produire. Mais en outre il renvoie les tickets des conteneurs de pièces qu’il utilise. Ces tickets retournent aux postes d’usinage où ils servent d’ordre de fabrication.</a:t>
            </a: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2"/>
          <p:cNvSpPr>
            <a:spLocks noGrp="1" noRot="1" noChangeAspect="1" noChangeArrowheads="1" noTextEdit="1"/>
          </p:cNvSpPr>
          <p:nvPr>
            <p:ph type="sldImg"/>
          </p:nvPr>
        </p:nvSpPr>
        <p:spPr>
          <a:ln/>
        </p:spPr>
      </p:sp>
      <p:sp>
        <p:nvSpPr>
          <p:cNvPr id="285699"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 montage reçoit ses tickets du stocks de produits finis. Quand une expédition a lieu, le conteneur « libère » le ticket qui retourne au montage.</a:t>
            </a: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2"/>
          <p:cNvSpPr>
            <a:spLocks noGrp="1" noRot="1" noChangeAspect="1" noChangeArrowheads="1" noTextEdit="1"/>
          </p:cNvSpPr>
          <p:nvPr>
            <p:ph type="sldImg"/>
          </p:nvPr>
        </p:nvSpPr>
        <p:spPr>
          <a:ln/>
        </p:spPr>
      </p:sp>
      <p:sp>
        <p:nvSpPr>
          <p:cNvPr id="286723"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 question du nombre de tickets kanban est abordée ici de façon simplifiée. L’animateur pourra y revenir en fin de partie. </a:t>
            </a: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2"/>
          <p:cNvSpPr>
            <a:spLocks noGrp="1" noRot="1" noChangeAspect="1" noChangeArrowheads="1" noTextEdit="1"/>
          </p:cNvSpPr>
          <p:nvPr>
            <p:ph type="sldImg"/>
          </p:nvPr>
        </p:nvSpPr>
        <p:spPr>
          <a:ln/>
        </p:spPr>
      </p:sp>
      <p:sp>
        <p:nvSpPr>
          <p:cNvPr id="287747"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distribue des tickets à chaque table. Le nombre n’a pas d’importance : il donne à l’équipe ce qu’elle demande. </a:t>
            </a: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2"/>
          <p:cNvSpPr>
            <a:spLocks noGrp="1" noRot="1" noChangeAspect="1" noChangeArrowheads="1" noTextEdit="1"/>
          </p:cNvSpPr>
          <p:nvPr>
            <p:ph type="sldImg"/>
          </p:nvPr>
        </p:nvSpPr>
        <p:spPr>
          <a:ln/>
        </p:spPr>
      </p:sp>
      <p:sp>
        <p:nvSpPr>
          <p:cNvPr id="288771" name="Rectangle 3"/>
          <p:cNvSpPr>
            <a:spLocks noGrp="1" noChangeArrowheads="1"/>
          </p:cNvSpPr>
          <p:nvPr>
            <p:ph type="body" idx="1"/>
          </p:nvPr>
        </p:nvSpPr>
        <p:spPr>
          <a:xfrm>
            <a:off x="496628" y="4904405"/>
            <a:ext cx="5805988" cy="13111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explique que les progrès coûtent un certain nombre de points. Il utilise l’animation pour expliquer ce que sont les niveaux 1 et 2 de progrès.</a:t>
            </a:r>
          </a:p>
          <a:p>
            <a:pPr eaLnBrk="1" hangingPunct="1"/>
            <a:endParaRPr lang="fr-FR" altLang="fr-FR" b="0"/>
          </a:p>
          <a:p>
            <a:pPr eaLnBrk="1" hangingPunct="1"/>
            <a:r>
              <a:rPr lang="fr-FR" altLang="fr-FR" b="0"/>
              <a:t>Le montage ayant déjà un temps de changement de série réduit à une heure, il ne peut que passer à moins de 10 minutes, soit 0 à l’échelle du jeu. Mais cela coûte 2 points.</a:t>
            </a: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2"/>
          <p:cNvSpPr>
            <a:spLocks noGrp="1" noRot="1" noChangeAspect="1" noChangeArrowheads="1" noTextEdit="1"/>
          </p:cNvSpPr>
          <p:nvPr>
            <p:ph type="sldImg"/>
          </p:nvPr>
        </p:nvSpPr>
        <p:spPr>
          <a:ln/>
        </p:spPr>
      </p:sp>
      <p:sp>
        <p:nvSpPr>
          <p:cNvPr id="289795" name="Rectangle 3"/>
          <p:cNvSpPr>
            <a:spLocks noGrp="1" noChangeArrowheads="1"/>
          </p:cNvSpPr>
          <p:nvPr>
            <p:ph type="body" idx="1"/>
          </p:nvPr>
        </p:nvSpPr>
        <p:spPr>
          <a:xfrm>
            <a:off x="496628" y="4904405"/>
            <a:ext cx="5805988" cy="1606575"/>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Utiliser cette diapo pour expliquer aux participants comment reporter leurs décisions de progrès sur leur feuille Résultats. Souligner le fait que le changement de série rapide au montage coûte 2 points, il n’est pas possible de miser un seul point.</a:t>
            </a:r>
          </a:p>
          <a:p>
            <a:pPr eaLnBrk="1" hangingPunct="1"/>
            <a:endParaRPr lang="fr-FR" altLang="fr-FR" b="0"/>
          </a:p>
          <a:p>
            <a:pPr eaLnBrk="1" hangingPunct="1"/>
            <a:r>
              <a:rPr lang="fr-FR" altLang="fr-FR" b="0" u="sng"/>
              <a:t>Si une affiche a été prévue</a:t>
            </a:r>
            <a:r>
              <a:rPr lang="fr-FR" altLang="fr-FR" b="0"/>
              <a:t>, chaque équipe la met à jour elle-même.</a:t>
            </a:r>
          </a:p>
          <a:p>
            <a:pPr eaLnBrk="1" hangingPunct="1"/>
            <a:endParaRPr lang="fr-FR" altLang="fr-FR" b="0"/>
          </a:p>
          <a:p>
            <a:pPr eaLnBrk="1" hangingPunct="1"/>
            <a:endParaRPr lang="fr-FR" altLang="fr-FR" b="0"/>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2"/>
          <p:cNvSpPr>
            <a:spLocks noGrp="1" noRot="1" noChangeAspect="1" noChangeArrowheads="1" noTextEdit="1"/>
          </p:cNvSpPr>
          <p:nvPr>
            <p:ph type="sldImg"/>
          </p:nvPr>
        </p:nvSpPr>
        <p:spPr>
          <a:ln/>
        </p:spPr>
      </p:sp>
      <p:sp>
        <p:nvSpPr>
          <p:cNvPr id="290819"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Grp="1" noRot="1" noChangeAspect="1" noChangeArrowheads="1" noTextEdit="1"/>
          </p:cNvSpPr>
          <p:nvPr>
            <p:ph type="sldImg"/>
          </p:nvPr>
        </p:nvSpPr>
        <p:spPr>
          <a:ln/>
        </p:spPr>
      </p:sp>
      <p:sp>
        <p:nvSpPr>
          <p:cNvPr id="291843" name="Rectangle 3"/>
          <p:cNvSpPr>
            <a:spLocks noGrp="1" noChangeArrowheads="1"/>
          </p:cNvSpPr>
          <p:nvPr>
            <p:ph type="body" idx="1"/>
          </p:nvPr>
        </p:nvSpPr>
        <p:spPr>
          <a:xfrm>
            <a:off x="496628" y="4904404"/>
            <a:ext cx="5805988" cy="380410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a:t>Baisse du stock</a:t>
            </a:r>
          </a:p>
          <a:p>
            <a:pPr eaLnBrk="1" hangingPunct="1"/>
            <a:r>
              <a:rPr lang="fr-FR" altLang="fr-FR" b="0"/>
              <a:t>Cette baisse du stock (comme celles qui auront lieu par la suite) s’effectue de façon artificielle, en enlevant purement et simplement les conteneurs du stock. Dans une entreprise on ne procède évidemment pas comme cela, on diminue la production en amont jusqu’à ce que les stocks aient atteint le bon niveau. Mais dans le jeu, cette façon d’agir prendrait trop de temps, c’est pourquoi on effectue ce retrait en une seule fois.</a:t>
            </a:r>
          </a:p>
          <a:p>
            <a:pPr eaLnBrk="1" hangingPunct="1"/>
            <a:endParaRPr lang="fr-FR" altLang="fr-FR" b="0"/>
          </a:p>
          <a:p>
            <a:pPr eaLnBrk="1" hangingPunct="1"/>
            <a:r>
              <a:rPr lang="fr-FR" altLang="fr-FR"/>
              <a:t>Pourquoi faire l’inventaire en milieu de semaine ?</a:t>
            </a:r>
          </a:p>
          <a:p>
            <a:pPr eaLnBrk="1" hangingPunct="1"/>
            <a:r>
              <a:rPr lang="fr-FR" altLang="fr-FR" b="0"/>
              <a:t>Les équipes sont invitées à baisser leurs stocks 2 fois par semaine, après avoir pris des décisions de progrès qui permettent de « tendre le flux ». Si nous leur proposons de ne faire l’inventaire qu’une fois par semaine (en milieu de semaine) c’est pour gagner du temps et éviter trop de calculs. </a:t>
            </a:r>
          </a:p>
          <a:p>
            <a:pPr eaLnBrk="1" hangingPunct="1"/>
            <a:endParaRPr lang="fr-FR" altLang="fr-FR" b="0"/>
          </a:p>
          <a:p>
            <a:pPr eaLnBrk="1" hangingPunct="1"/>
            <a:r>
              <a:rPr lang="fr-FR" altLang="fr-FR"/>
              <a:t>Programme de production</a:t>
            </a:r>
          </a:p>
          <a:p>
            <a:pPr eaLnBrk="1" hangingPunct="1"/>
            <a:r>
              <a:rPr lang="fr-FR" altLang="fr-FR" b="0"/>
              <a:t>La méthode Kanban fonctionne sans programme de production, mais pas sans prévision des ventes. Si les joueurs demandent quelles sont les prévisions de vente, répondez qu’elles sont les mêmes que la semaine précédente.</a:t>
            </a: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2"/>
          <p:cNvSpPr>
            <a:spLocks noGrp="1" noRot="1" noChangeAspect="1" noChangeArrowheads="1" noTextEdit="1"/>
          </p:cNvSpPr>
          <p:nvPr>
            <p:ph type="sldImg"/>
          </p:nvPr>
        </p:nvSpPr>
        <p:spPr>
          <a:solidFill>
            <a:srgbClr val="FFFFFF"/>
          </a:solidFill>
          <a:ln/>
        </p:spPr>
      </p:sp>
      <p:sp>
        <p:nvSpPr>
          <p:cNvPr id="29286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s’assure que les participants ont bien compris la façon dont les tickets circulent.</a:t>
            </a: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2"/>
          <p:cNvSpPr>
            <a:spLocks noGrp="1" noRot="1" noChangeAspect="1" noChangeArrowheads="1" noTextEdit="1"/>
          </p:cNvSpPr>
          <p:nvPr>
            <p:ph type="sldImg"/>
          </p:nvPr>
        </p:nvSpPr>
        <p:spPr>
          <a:ln/>
        </p:spPr>
      </p:sp>
      <p:sp>
        <p:nvSpPr>
          <p:cNvPr id="29389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2"/>
          <p:cNvSpPr>
            <a:spLocks noGrp="1" noRot="1" noChangeAspect="1" noChangeArrowheads="1" noTextEdit="1"/>
          </p:cNvSpPr>
          <p:nvPr>
            <p:ph type="sldImg"/>
          </p:nvPr>
        </p:nvSpPr>
        <p:spPr>
          <a:ln/>
        </p:spPr>
      </p:sp>
      <p:sp>
        <p:nvSpPr>
          <p:cNvPr id="29491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2"/>
          <p:cNvSpPr>
            <a:spLocks noGrp="1" noRot="1" noChangeAspect="1" noChangeArrowheads="1" noTextEdit="1"/>
          </p:cNvSpPr>
          <p:nvPr>
            <p:ph type="sldImg"/>
          </p:nvPr>
        </p:nvSpPr>
        <p:spPr>
          <a:ln/>
        </p:spPr>
      </p:sp>
      <p:sp>
        <p:nvSpPr>
          <p:cNvPr id="29593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2"/>
          <p:cNvSpPr>
            <a:spLocks noGrp="1" noRot="1" noChangeAspect="1" noChangeArrowheads="1" noTextEdit="1"/>
          </p:cNvSpPr>
          <p:nvPr>
            <p:ph type="sldImg"/>
          </p:nvPr>
        </p:nvSpPr>
        <p:spPr>
          <a:ln/>
        </p:spPr>
      </p:sp>
      <p:sp>
        <p:nvSpPr>
          <p:cNvPr id="29696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2"/>
          <p:cNvSpPr>
            <a:spLocks noGrp="1" noRot="1" noChangeAspect="1" noChangeArrowheads="1" noTextEdit="1"/>
          </p:cNvSpPr>
          <p:nvPr>
            <p:ph type="sldImg"/>
          </p:nvPr>
        </p:nvSpPr>
        <p:spPr>
          <a:ln/>
        </p:spPr>
      </p:sp>
      <p:sp>
        <p:nvSpPr>
          <p:cNvPr id="29798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2"/>
          <p:cNvSpPr>
            <a:spLocks noGrp="1" noRot="1" noChangeAspect="1" noChangeArrowheads="1" noTextEdit="1"/>
          </p:cNvSpPr>
          <p:nvPr>
            <p:ph type="sldImg"/>
          </p:nvPr>
        </p:nvSpPr>
        <p:spPr>
          <a:ln/>
        </p:spPr>
      </p:sp>
      <p:sp>
        <p:nvSpPr>
          <p:cNvPr id="29901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2"/>
          <p:cNvSpPr>
            <a:spLocks noGrp="1" noRot="1" noChangeAspect="1" noChangeArrowheads="1" noTextEdit="1"/>
          </p:cNvSpPr>
          <p:nvPr>
            <p:ph type="sldImg"/>
          </p:nvPr>
        </p:nvSpPr>
        <p:spPr>
          <a:ln/>
        </p:spPr>
      </p:sp>
      <p:sp>
        <p:nvSpPr>
          <p:cNvPr id="30003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2"/>
          <p:cNvSpPr>
            <a:spLocks noGrp="1" noRot="1" noChangeAspect="1" noChangeArrowheads="1" noTextEdit="1"/>
          </p:cNvSpPr>
          <p:nvPr>
            <p:ph type="sldImg"/>
          </p:nvPr>
        </p:nvSpPr>
        <p:spPr>
          <a:solidFill>
            <a:srgbClr val="FFFFFF"/>
          </a:solidFill>
          <a:ln/>
        </p:spPr>
      </p:sp>
      <p:sp>
        <p:nvSpPr>
          <p:cNvPr id="3010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2"/>
          <p:cNvSpPr>
            <a:spLocks noGrp="1" noRot="1" noChangeAspect="1" noChangeArrowheads="1" noTextEdit="1"/>
          </p:cNvSpPr>
          <p:nvPr>
            <p:ph type="sldImg"/>
          </p:nvPr>
        </p:nvSpPr>
        <p:spPr>
          <a:ln/>
        </p:spPr>
      </p:sp>
      <p:sp>
        <p:nvSpPr>
          <p:cNvPr id="30208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2"/>
          <p:cNvSpPr>
            <a:spLocks noGrp="1" noRot="1" noChangeAspect="1" noChangeArrowheads="1" noTextEdit="1"/>
          </p:cNvSpPr>
          <p:nvPr>
            <p:ph type="sldImg"/>
          </p:nvPr>
        </p:nvSpPr>
        <p:spPr>
          <a:ln/>
        </p:spPr>
      </p:sp>
      <p:sp>
        <p:nvSpPr>
          <p:cNvPr id="30310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Rectangle 2"/>
          <p:cNvSpPr>
            <a:spLocks noGrp="1" noRot="1" noChangeAspect="1" noChangeArrowheads="1" noTextEdit="1"/>
          </p:cNvSpPr>
          <p:nvPr>
            <p:ph type="sldImg"/>
          </p:nvPr>
        </p:nvSpPr>
        <p:spPr>
          <a:ln/>
        </p:spPr>
      </p:sp>
      <p:sp>
        <p:nvSpPr>
          <p:cNvPr id="30413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4" name="Rectangle 2"/>
          <p:cNvSpPr>
            <a:spLocks noGrp="1" noRot="1" noChangeAspect="1" noChangeArrowheads="1" noTextEdit="1"/>
          </p:cNvSpPr>
          <p:nvPr>
            <p:ph type="sldImg"/>
          </p:nvPr>
        </p:nvSpPr>
        <p:spPr>
          <a:ln/>
        </p:spPr>
      </p:sp>
      <p:sp>
        <p:nvSpPr>
          <p:cNvPr id="30515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2"/>
          <p:cNvSpPr>
            <a:spLocks noGrp="1" noRot="1" noChangeAspect="1" noChangeArrowheads="1" noTextEdit="1"/>
          </p:cNvSpPr>
          <p:nvPr>
            <p:ph type="sldImg"/>
          </p:nvPr>
        </p:nvSpPr>
        <p:spPr>
          <a:ln/>
        </p:spPr>
      </p:sp>
      <p:sp>
        <p:nvSpPr>
          <p:cNvPr id="30617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2"/>
          <p:cNvSpPr>
            <a:spLocks noGrp="1" noRot="1" noChangeAspect="1" noChangeArrowheads="1" noTextEdit="1"/>
          </p:cNvSpPr>
          <p:nvPr>
            <p:ph type="sldImg"/>
          </p:nvPr>
        </p:nvSpPr>
        <p:spPr>
          <a:ln/>
        </p:spPr>
      </p:sp>
      <p:sp>
        <p:nvSpPr>
          <p:cNvPr id="30720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Rectangle 2"/>
          <p:cNvSpPr>
            <a:spLocks noGrp="1" noRot="1" noChangeAspect="1" noChangeArrowheads="1" noTextEdit="1"/>
          </p:cNvSpPr>
          <p:nvPr>
            <p:ph type="sldImg"/>
          </p:nvPr>
        </p:nvSpPr>
        <p:spPr>
          <a:ln/>
        </p:spPr>
      </p:sp>
      <p:sp>
        <p:nvSpPr>
          <p:cNvPr id="308227" name="Rectangle 3"/>
          <p:cNvSpPr>
            <a:spLocks noGrp="1" noChangeArrowheads="1"/>
          </p:cNvSpPr>
          <p:nvPr>
            <p:ph type="body" idx="1"/>
          </p:nvPr>
        </p:nvSpPr>
        <p:spPr>
          <a:xfrm>
            <a:off x="496628" y="4904404"/>
            <a:ext cx="5805988" cy="12003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Toute création de variété dans une gamme de produits est susceptible de rendre plus difficile la gestion des stocks et la programmation, Cependant, si le choix existe, il est préférable de prendre une formule qui laisse le produit standard le plus loin possible dans son cycle d'élaboration (concept de différenciation retardée). Ainsi, on personnalise le produit le plus tard possible, ce qui permet de gérer la majeure partie de la production en standard. Ici, la solution du joint présente cet avantage.</a:t>
            </a: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2"/>
          <p:cNvSpPr>
            <a:spLocks noGrp="1" noRot="1" noChangeAspect="1" noChangeArrowheads="1" noTextEdit="1"/>
          </p:cNvSpPr>
          <p:nvPr>
            <p:ph type="sldImg"/>
          </p:nvPr>
        </p:nvSpPr>
        <p:spPr>
          <a:ln/>
        </p:spPr>
      </p:sp>
      <p:sp>
        <p:nvSpPr>
          <p:cNvPr id="30925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Rectangle 2"/>
          <p:cNvSpPr>
            <a:spLocks noGrp="1" noRot="1" noChangeAspect="1" noChangeArrowheads="1" noTextEdit="1"/>
          </p:cNvSpPr>
          <p:nvPr>
            <p:ph type="sldImg"/>
          </p:nvPr>
        </p:nvSpPr>
        <p:spPr>
          <a:ln/>
        </p:spPr>
      </p:sp>
      <p:sp>
        <p:nvSpPr>
          <p:cNvPr id="310275"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enregistre les décisions sur la feuille Relevé des progrès et met à jour la cartographie des progrès (fichier Analyse des progrès).</a:t>
            </a: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Rectangle 2"/>
          <p:cNvSpPr>
            <a:spLocks noGrp="1" noRot="1" noChangeAspect="1" noChangeArrowheads="1" noTextEdit="1"/>
          </p:cNvSpPr>
          <p:nvPr>
            <p:ph type="sldImg"/>
          </p:nvPr>
        </p:nvSpPr>
        <p:spPr>
          <a:ln/>
        </p:spPr>
      </p:sp>
      <p:sp>
        <p:nvSpPr>
          <p:cNvPr id="311299"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2"/>
          <p:cNvSpPr>
            <a:spLocks noGrp="1" noRot="1" noChangeAspect="1" noChangeArrowheads="1" noTextEdit="1"/>
          </p:cNvSpPr>
          <p:nvPr>
            <p:ph type="sldImg"/>
          </p:nvPr>
        </p:nvSpPr>
        <p:spPr>
          <a:solidFill>
            <a:srgbClr val="FFFFFF"/>
          </a:solidFill>
          <a:ln/>
        </p:spPr>
      </p:sp>
      <p:sp>
        <p:nvSpPr>
          <p:cNvPr id="31232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2"/>
          <p:cNvSpPr>
            <a:spLocks noGrp="1" noRot="1" noChangeAspect="1" noChangeArrowheads="1" noTextEdit="1"/>
          </p:cNvSpPr>
          <p:nvPr>
            <p:ph type="sldImg"/>
          </p:nvPr>
        </p:nvSpPr>
        <p:spPr>
          <a:ln/>
        </p:spPr>
      </p:sp>
      <p:sp>
        <p:nvSpPr>
          <p:cNvPr id="31334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2"/>
          <p:cNvSpPr>
            <a:spLocks noGrp="1" noRot="1" noChangeAspect="1" noChangeArrowheads="1" noTextEdit="1"/>
          </p:cNvSpPr>
          <p:nvPr>
            <p:ph type="sldImg"/>
          </p:nvPr>
        </p:nvSpPr>
        <p:spPr>
          <a:ln/>
        </p:spPr>
      </p:sp>
      <p:sp>
        <p:nvSpPr>
          <p:cNvPr id="31437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Rectangle 2"/>
          <p:cNvSpPr>
            <a:spLocks noGrp="1" noRot="1" noChangeAspect="1" noChangeArrowheads="1" noTextEdit="1"/>
          </p:cNvSpPr>
          <p:nvPr>
            <p:ph type="sldImg"/>
          </p:nvPr>
        </p:nvSpPr>
        <p:spPr>
          <a:ln/>
        </p:spPr>
      </p:sp>
      <p:sp>
        <p:nvSpPr>
          <p:cNvPr id="31539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Rectangle 2"/>
          <p:cNvSpPr>
            <a:spLocks noGrp="1" noRot="1" noChangeAspect="1" noChangeArrowheads="1" noTextEdit="1"/>
          </p:cNvSpPr>
          <p:nvPr>
            <p:ph type="sldImg"/>
          </p:nvPr>
        </p:nvSpPr>
        <p:spPr>
          <a:ln/>
        </p:spPr>
      </p:sp>
      <p:sp>
        <p:nvSpPr>
          <p:cNvPr id="31641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Rectangle 2"/>
          <p:cNvSpPr>
            <a:spLocks noGrp="1" noRot="1" noChangeAspect="1" noChangeArrowheads="1" noTextEdit="1"/>
          </p:cNvSpPr>
          <p:nvPr>
            <p:ph type="sldImg"/>
          </p:nvPr>
        </p:nvSpPr>
        <p:spPr>
          <a:ln/>
        </p:spPr>
      </p:sp>
      <p:sp>
        <p:nvSpPr>
          <p:cNvPr id="31744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6" name="Rectangle 2"/>
          <p:cNvSpPr>
            <a:spLocks noGrp="1" noRot="1" noChangeAspect="1" noChangeArrowheads="1" noTextEdit="1"/>
          </p:cNvSpPr>
          <p:nvPr>
            <p:ph type="sldImg"/>
          </p:nvPr>
        </p:nvSpPr>
        <p:spPr>
          <a:ln/>
        </p:spPr>
      </p:sp>
      <p:sp>
        <p:nvSpPr>
          <p:cNvPr id="31846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Rectangle 2"/>
          <p:cNvSpPr>
            <a:spLocks noGrp="1" noRot="1" noChangeAspect="1" noChangeArrowheads="1" noTextEdit="1"/>
          </p:cNvSpPr>
          <p:nvPr>
            <p:ph type="sldImg"/>
          </p:nvPr>
        </p:nvSpPr>
        <p:spPr>
          <a:ln/>
        </p:spPr>
      </p:sp>
      <p:sp>
        <p:nvSpPr>
          <p:cNvPr id="31949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Rectangle 2"/>
          <p:cNvSpPr>
            <a:spLocks noGrp="1" noRot="1" noChangeAspect="1" noChangeArrowheads="1" noTextEdit="1"/>
          </p:cNvSpPr>
          <p:nvPr>
            <p:ph type="sldImg"/>
          </p:nvPr>
        </p:nvSpPr>
        <p:spPr>
          <a:solidFill>
            <a:srgbClr val="FFFFFF"/>
          </a:solidFill>
          <a:ln/>
        </p:spPr>
      </p:sp>
      <p:sp>
        <p:nvSpPr>
          <p:cNvPr id="32051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8" name="Rectangle 2"/>
          <p:cNvSpPr>
            <a:spLocks noGrp="1" noRot="1" noChangeAspect="1" noChangeArrowheads="1" noTextEdit="1"/>
          </p:cNvSpPr>
          <p:nvPr>
            <p:ph type="sldImg"/>
          </p:nvPr>
        </p:nvSpPr>
        <p:spPr>
          <a:ln/>
        </p:spPr>
      </p:sp>
      <p:sp>
        <p:nvSpPr>
          <p:cNvPr id="32153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2" name="Rectangle 2"/>
          <p:cNvSpPr>
            <a:spLocks noGrp="1" noRot="1" noChangeAspect="1" noChangeArrowheads="1" noTextEdit="1"/>
          </p:cNvSpPr>
          <p:nvPr>
            <p:ph type="sldImg"/>
          </p:nvPr>
        </p:nvSpPr>
        <p:spPr>
          <a:ln/>
        </p:spPr>
      </p:sp>
      <p:sp>
        <p:nvSpPr>
          <p:cNvPr id="32256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6" name="Rectangle 2"/>
          <p:cNvSpPr>
            <a:spLocks noGrp="1" noRot="1" noChangeAspect="1" noChangeArrowheads="1" noTextEdit="1"/>
          </p:cNvSpPr>
          <p:nvPr>
            <p:ph type="sldImg"/>
          </p:nvPr>
        </p:nvSpPr>
        <p:spPr>
          <a:ln/>
        </p:spPr>
      </p:sp>
      <p:sp>
        <p:nvSpPr>
          <p:cNvPr id="32358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Rectangle 2"/>
          <p:cNvSpPr>
            <a:spLocks noGrp="1" noRot="1" noChangeAspect="1" noChangeArrowheads="1" noTextEdit="1"/>
          </p:cNvSpPr>
          <p:nvPr>
            <p:ph type="sldImg"/>
          </p:nvPr>
        </p:nvSpPr>
        <p:spPr>
          <a:ln/>
        </p:spPr>
      </p:sp>
      <p:sp>
        <p:nvSpPr>
          <p:cNvPr id="32461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Rectangle 2"/>
          <p:cNvSpPr>
            <a:spLocks noGrp="1" noRot="1" noChangeAspect="1" noChangeArrowheads="1" noTextEdit="1"/>
          </p:cNvSpPr>
          <p:nvPr>
            <p:ph type="sldImg"/>
          </p:nvPr>
        </p:nvSpPr>
        <p:spPr>
          <a:ln/>
        </p:spPr>
      </p:sp>
      <p:sp>
        <p:nvSpPr>
          <p:cNvPr id="32563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Rectangle 2"/>
          <p:cNvSpPr>
            <a:spLocks noGrp="1" noRot="1" noChangeAspect="1" noChangeArrowheads="1" noTextEdit="1"/>
          </p:cNvSpPr>
          <p:nvPr>
            <p:ph type="sldImg"/>
          </p:nvPr>
        </p:nvSpPr>
        <p:spPr>
          <a:ln/>
        </p:spPr>
      </p:sp>
      <p:sp>
        <p:nvSpPr>
          <p:cNvPr id="326659" name="Rectangle 3"/>
          <p:cNvSpPr>
            <a:spLocks noGrp="1" noChangeArrowheads="1"/>
          </p:cNvSpPr>
          <p:nvPr>
            <p:ph type="body" idx="1"/>
          </p:nvPr>
        </p:nvSpPr>
        <p:spPr>
          <a:xfrm>
            <a:off x="496628" y="4904405"/>
            <a:ext cx="5805988" cy="1569642"/>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Une chaîne logistique forme un tout inséparable. Ce que décide le client est ressenti par le fournisseur, et inversement. II n'est pas possible d'imposer au fournisseur les conditions de livraison en KANBAN si celui-ci n'est pas préparé. Cela suppose une étude préalable approfondie, qui va jusqu'à remettre en cause l'organisation même du fournisseur. Cette étude ne doit pas être menée par le Service Achats seul, mais implique en premier lieu les Services de Production de chaque partenaire. S'il n'y a pas une coopération entre le client et son fournisseur, le risque est effectivement que le fournisseur seul supporte le coût des stocks.</a:t>
            </a: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Rectangle 2"/>
          <p:cNvSpPr>
            <a:spLocks noGrp="1" noRot="1" noChangeAspect="1" noChangeArrowheads="1" noTextEdit="1"/>
          </p:cNvSpPr>
          <p:nvPr>
            <p:ph type="sldImg"/>
          </p:nvPr>
        </p:nvSpPr>
        <p:spPr>
          <a:ln/>
        </p:spPr>
      </p:sp>
      <p:sp>
        <p:nvSpPr>
          <p:cNvPr id="32768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Rectangle 2"/>
          <p:cNvSpPr>
            <a:spLocks noGrp="1" noRot="1" noChangeAspect="1" noChangeArrowheads="1" noTextEdit="1"/>
          </p:cNvSpPr>
          <p:nvPr>
            <p:ph type="sldImg"/>
          </p:nvPr>
        </p:nvSpPr>
        <p:spPr>
          <a:ln/>
        </p:spPr>
      </p:sp>
      <p:sp>
        <p:nvSpPr>
          <p:cNvPr id="32870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2"/>
          <p:cNvSpPr>
            <a:spLocks noGrp="1" noRot="1" noChangeAspect="1" noChangeArrowheads="1" noTextEdit="1"/>
          </p:cNvSpPr>
          <p:nvPr>
            <p:ph type="sldImg"/>
          </p:nvPr>
        </p:nvSpPr>
        <p:spPr>
          <a:ln/>
        </p:spPr>
      </p:sp>
      <p:sp>
        <p:nvSpPr>
          <p:cNvPr id="329731"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met à jour le tableau de bord, enregistre les décisions de progrès sur la feuille Relevé des progrès et met à jour la cartographie des progrès.</a:t>
            </a:r>
            <a:endParaRPr lang="fr-FR" altLang="fr-F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2"/>
          <p:cNvSpPr>
            <a:spLocks noGrp="1" noRot="1" noChangeAspect="1" noChangeArrowheads="1" noTextEdit="1"/>
          </p:cNvSpPr>
          <p:nvPr>
            <p:ph type="sldImg"/>
          </p:nvPr>
        </p:nvSpPr>
        <p:spPr>
          <a:ln/>
        </p:spPr>
      </p:sp>
      <p:sp>
        <p:nvSpPr>
          <p:cNvPr id="330755"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2"/>
          <p:cNvSpPr>
            <a:spLocks noGrp="1" noRot="1" noChangeAspect="1" noChangeArrowheads="1" noTextEdit="1"/>
          </p:cNvSpPr>
          <p:nvPr>
            <p:ph type="sldImg"/>
          </p:nvPr>
        </p:nvSpPr>
        <p:spPr>
          <a:ln/>
        </p:spPr>
      </p:sp>
      <p:sp>
        <p:nvSpPr>
          <p:cNvPr id="331779"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enregistre les décisions sur la feuille Relevé des progrès et met à jour la cartographie des progrès (fichier Analyse des progrès).</a:t>
            </a: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2"/>
          <p:cNvSpPr>
            <a:spLocks noGrp="1" noRot="1" noChangeAspect="1" noChangeArrowheads="1" noTextEdit="1"/>
          </p:cNvSpPr>
          <p:nvPr>
            <p:ph type="sldImg"/>
          </p:nvPr>
        </p:nvSpPr>
        <p:spPr>
          <a:solidFill>
            <a:srgbClr val="FFFFFF"/>
          </a:solidFill>
          <a:ln/>
        </p:spPr>
      </p:sp>
      <p:sp>
        <p:nvSpPr>
          <p:cNvPr id="332803" name="Rectangle 3"/>
          <p:cNvSpPr>
            <a:spLocks noGrp="1" noChangeArrowheads="1"/>
          </p:cNvSpPr>
          <p:nvPr>
            <p:ph type="body" idx="1"/>
          </p:nvPr>
        </p:nvSpPr>
        <p:spPr>
          <a:xfrm>
            <a:off x="178598" y="4750715"/>
            <a:ext cx="6467112" cy="2345239"/>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a:t>Variante pour aller plus vite</a:t>
            </a:r>
          </a:p>
          <a:p>
            <a:pPr eaLnBrk="1" hangingPunct="1"/>
            <a:endParaRPr lang="fr-FR" altLang="fr-FR"/>
          </a:p>
          <a:p>
            <a:pPr eaLnBrk="1" hangingPunct="1"/>
            <a:r>
              <a:rPr lang="fr-FR" altLang="fr-FR" b="0"/>
              <a:t>Il est possible de ne pas simuler la semaine 3.</a:t>
            </a:r>
            <a:r>
              <a:rPr lang="fr-FR" altLang="fr-FR"/>
              <a:t> </a:t>
            </a:r>
            <a:r>
              <a:rPr lang="fr-FR" altLang="fr-FR" b="0"/>
              <a:t>Nous conseillons de sauter la semaine 3 plutôt que la semaine 4, car cette dernière comporte une particularité importante : les expéditions sont lissées, elles se font heure par heure et non jour par jour, ce qui permet de réduire sensiblement les stocks de produits finis.</a:t>
            </a:r>
          </a:p>
          <a:p>
            <a:pPr eaLnBrk="1" hangingPunct="1"/>
            <a:endParaRPr lang="fr-FR" altLang="fr-FR" b="0"/>
          </a:p>
          <a:p>
            <a:pPr eaLnBrk="1" hangingPunct="1"/>
            <a:r>
              <a:rPr lang="fr-FR" altLang="fr-FR" b="0"/>
              <a:t>Si l’animateur décide de sauter la semaine 3, il doit le signaler quand il présente le tableau des progrès. En effet, pour que les participants disposent du même nombre de progrès il faut que les points attribués pour la semaine 3 (soit 6 points) soient répartis sur la semaine 2 (2 points en plus) et sur la semaine 4 (4 points en plus).</a:t>
            </a: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Rectangle 2"/>
          <p:cNvSpPr>
            <a:spLocks noGrp="1" noRot="1" noChangeAspect="1" noChangeArrowheads="1" noTextEdit="1"/>
          </p:cNvSpPr>
          <p:nvPr>
            <p:ph type="sldImg"/>
          </p:nvPr>
        </p:nvSpPr>
        <p:spPr>
          <a:ln/>
        </p:spPr>
      </p:sp>
      <p:sp>
        <p:nvSpPr>
          <p:cNvPr id="33382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Rectangle 2"/>
          <p:cNvSpPr>
            <a:spLocks noGrp="1" noRot="1" noChangeAspect="1" noChangeArrowheads="1" noTextEdit="1"/>
          </p:cNvSpPr>
          <p:nvPr>
            <p:ph type="sldImg"/>
          </p:nvPr>
        </p:nvSpPr>
        <p:spPr>
          <a:ln/>
        </p:spPr>
      </p:sp>
      <p:sp>
        <p:nvSpPr>
          <p:cNvPr id="33485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2"/>
          <p:cNvSpPr>
            <a:spLocks noGrp="1" noRot="1" noChangeAspect="1" noChangeArrowheads="1" noTextEdit="1"/>
          </p:cNvSpPr>
          <p:nvPr>
            <p:ph type="sldImg"/>
          </p:nvPr>
        </p:nvSpPr>
        <p:spPr>
          <a:ln/>
        </p:spPr>
      </p:sp>
      <p:sp>
        <p:nvSpPr>
          <p:cNvPr id="33587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Rectangle 2"/>
          <p:cNvSpPr>
            <a:spLocks noGrp="1" noRot="1" noChangeAspect="1" noChangeArrowheads="1" noTextEdit="1"/>
          </p:cNvSpPr>
          <p:nvPr>
            <p:ph type="sldImg"/>
          </p:nvPr>
        </p:nvSpPr>
        <p:spPr>
          <a:ln/>
        </p:spPr>
      </p:sp>
      <p:sp>
        <p:nvSpPr>
          <p:cNvPr id="33689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Rectangle 2"/>
          <p:cNvSpPr>
            <a:spLocks noGrp="1" noRot="1" noChangeAspect="1" noChangeArrowheads="1" noTextEdit="1"/>
          </p:cNvSpPr>
          <p:nvPr>
            <p:ph type="sldImg"/>
          </p:nvPr>
        </p:nvSpPr>
        <p:spPr>
          <a:ln/>
        </p:spPr>
      </p:sp>
      <p:sp>
        <p:nvSpPr>
          <p:cNvPr id="33792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Rectangle 2"/>
          <p:cNvSpPr>
            <a:spLocks noGrp="1" noRot="1" noChangeAspect="1" noChangeArrowheads="1" noTextEdit="1"/>
          </p:cNvSpPr>
          <p:nvPr>
            <p:ph type="sldImg"/>
          </p:nvPr>
        </p:nvSpPr>
        <p:spPr>
          <a:ln/>
        </p:spPr>
      </p:sp>
      <p:sp>
        <p:nvSpPr>
          <p:cNvPr id="33894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Rectangle 2"/>
          <p:cNvSpPr>
            <a:spLocks noGrp="1" noRot="1" noChangeAspect="1" noChangeArrowheads="1" noTextEdit="1"/>
          </p:cNvSpPr>
          <p:nvPr>
            <p:ph type="sldImg"/>
          </p:nvPr>
        </p:nvSpPr>
        <p:spPr>
          <a:ln/>
        </p:spPr>
      </p:sp>
      <p:sp>
        <p:nvSpPr>
          <p:cNvPr id="33997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4" name="Rectangle 2"/>
          <p:cNvSpPr>
            <a:spLocks noGrp="1" noRot="1" noChangeAspect="1" noChangeArrowheads="1" noTextEdit="1"/>
          </p:cNvSpPr>
          <p:nvPr>
            <p:ph type="sldImg"/>
          </p:nvPr>
        </p:nvSpPr>
        <p:spPr>
          <a:solidFill>
            <a:srgbClr val="FFFFFF"/>
          </a:solidFill>
          <a:ln/>
        </p:spPr>
      </p:sp>
      <p:sp>
        <p:nvSpPr>
          <p:cNvPr id="34099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8" name="Rectangle 2"/>
          <p:cNvSpPr>
            <a:spLocks noGrp="1" noRot="1" noChangeAspect="1" noChangeArrowheads="1" noTextEdit="1"/>
          </p:cNvSpPr>
          <p:nvPr>
            <p:ph type="sldImg"/>
          </p:nvPr>
        </p:nvSpPr>
        <p:spPr>
          <a:ln/>
        </p:spPr>
      </p:sp>
      <p:sp>
        <p:nvSpPr>
          <p:cNvPr id="34201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Rectangle 2"/>
          <p:cNvSpPr>
            <a:spLocks noGrp="1" noRot="1" noChangeAspect="1" noChangeArrowheads="1" noTextEdit="1"/>
          </p:cNvSpPr>
          <p:nvPr>
            <p:ph type="sldImg"/>
          </p:nvPr>
        </p:nvSpPr>
        <p:spPr>
          <a:ln/>
        </p:spPr>
      </p:sp>
      <p:sp>
        <p:nvSpPr>
          <p:cNvPr id="34304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6" name="Rectangle 2"/>
          <p:cNvSpPr>
            <a:spLocks noGrp="1" noRot="1" noChangeAspect="1" noChangeArrowheads="1" noTextEdit="1"/>
          </p:cNvSpPr>
          <p:nvPr>
            <p:ph type="sldImg"/>
          </p:nvPr>
        </p:nvSpPr>
        <p:spPr>
          <a:ln/>
        </p:spPr>
      </p:sp>
      <p:sp>
        <p:nvSpPr>
          <p:cNvPr id="34406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Rectangle 2"/>
          <p:cNvSpPr>
            <a:spLocks noGrp="1" noRot="1" noChangeAspect="1" noChangeArrowheads="1" noTextEdit="1"/>
          </p:cNvSpPr>
          <p:nvPr>
            <p:ph type="sldImg"/>
          </p:nvPr>
        </p:nvSpPr>
        <p:spPr>
          <a:ln/>
        </p:spPr>
      </p:sp>
      <p:sp>
        <p:nvSpPr>
          <p:cNvPr id="34509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Rectangle 2"/>
          <p:cNvSpPr>
            <a:spLocks noGrp="1" noRot="1" noChangeAspect="1" noChangeArrowheads="1" noTextEdit="1"/>
          </p:cNvSpPr>
          <p:nvPr>
            <p:ph type="sldImg"/>
          </p:nvPr>
        </p:nvSpPr>
        <p:spPr>
          <a:ln/>
        </p:spPr>
      </p:sp>
      <p:sp>
        <p:nvSpPr>
          <p:cNvPr id="34611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Rectangle 2"/>
          <p:cNvSpPr>
            <a:spLocks noGrp="1" noRot="1" noChangeAspect="1" noChangeArrowheads="1" noTextEdit="1"/>
          </p:cNvSpPr>
          <p:nvPr>
            <p:ph type="sldImg"/>
          </p:nvPr>
        </p:nvSpPr>
        <p:spPr>
          <a:ln/>
        </p:spPr>
      </p:sp>
      <p:sp>
        <p:nvSpPr>
          <p:cNvPr id="34713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2" name="Rectangle 2"/>
          <p:cNvSpPr>
            <a:spLocks noGrp="1" noRot="1" noChangeAspect="1" noChangeArrowheads="1" noTextEdit="1"/>
          </p:cNvSpPr>
          <p:nvPr>
            <p:ph type="sldImg"/>
          </p:nvPr>
        </p:nvSpPr>
        <p:spPr>
          <a:ln/>
        </p:spPr>
      </p:sp>
      <p:sp>
        <p:nvSpPr>
          <p:cNvPr id="348163" name="Rectangle 3"/>
          <p:cNvSpPr>
            <a:spLocks noGrp="1" noChangeArrowheads="1"/>
          </p:cNvSpPr>
          <p:nvPr>
            <p:ph type="body" idx="1"/>
          </p:nvPr>
        </p:nvSpPr>
        <p:spPr>
          <a:xfrm>
            <a:off x="496628" y="4904404"/>
            <a:ext cx="5805988" cy="1200310"/>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 question de la taille des containers joue un rôle important dans la fluidité du processus de production. Cette carte permet de simuler cette influence directement dans le jeu. On constate qu'il y a un ralentissement de la rotation des pièces. Le nombre de KANBANS risque d'être insuffisant. Pour la réalisation pratique de groupage, on empilera les containers les uns sur les autres, avec les 3 tickets </a:t>
            </a:r>
            <a:r>
              <a:rPr lang="fr-FR" altLang="fr-FR" b="0" i="1"/>
              <a:t>KANBANS </a:t>
            </a:r>
            <a:r>
              <a:rPr lang="fr-FR" altLang="fr-FR" b="0"/>
              <a:t>groupés.</a:t>
            </a:r>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Rectangle 2"/>
          <p:cNvSpPr>
            <a:spLocks noGrp="1" noRot="1" noChangeAspect="1" noChangeArrowheads="1" noTextEdit="1"/>
          </p:cNvSpPr>
          <p:nvPr>
            <p:ph type="sldImg"/>
          </p:nvPr>
        </p:nvSpPr>
        <p:spPr>
          <a:ln/>
        </p:spPr>
      </p:sp>
      <p:sp>
        <p:nvSpPr>
          <p:cNvPr id="34918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Rectangle 2"/>
          <p:cNvSpPr>
            <a:spLocks noGrp="1" noRot="1" noChangeAspect="1" noChangeArrowheads="1" noTextEdit="1"/>
          </p:cNvSpPr>
          <p:nvPr>
            <p:ph type="sldImg"/>
          </p:nvPr>
        </p:nvSpPr>
        <p:spPr>
          <a:ln/>
        </p:spPr>
      </p:sp>
      <p:sp>
        <p:nvSpPr>
          <p:cNvPr id="350211"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2"/>
          <p:cNvSpPr>
            <a:spLocks noGrp="1" noRot="1" noChangeAspect="1" noChangeArrowheads="1" noTextEdit="1"/>
          </p:cNvSpPr>
          <p:nvPr>
            <p:ph type="sldImg"/>
          </p:nvPr>
        </p:nvSpPr>
        <p:spPr>
          <a:ln/>
        </p:spPr>
      </p:sp>
      <p:sp>
        <p:nvSpPr>
          <p:cNvPr id="351235"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enregistre les décisions sur la feuille Relevé des progrès et met à jour la cartographie des progrès (fichier Analyse des progrès).</a:t>
            </a:r>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Rectangle 2"/>
          <p:cNvSpPr>
            <a:spLocks noGrp="1" noRot="1" noChangeAspect="1" noChangeArrowheads="1" noTextEdit="1"/>
          </p:cNvSpPr>
          <p:nvPr>
            <p:ph type="sldImg"/>
          </p:nvPr>
        </p:nvSpPr>
        <p:spPr>
          <a:solidFill>
            <a:srgbClr val="FFFFFF"/>
          </a:solidFill>
          <a:ln/>
        </p:spPr>
      </p:sp>
      <p:sp>
        <p:nvSpPr>
          <p:cNvPr id="3522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Rectangle 2"/>
          <p:cNvSpPr>
            <a:spLocks noGrp="1" noRot="1" noChangeAspect="1" noChangeArrowheads="1" noTextEdit="1"/>
          </p:cNvSpPr>
          <p:nvPr>
            <p:ph type="sldImg"/>
          </p:nvPr>
        </p:nvSpPr>
        <p:spPr>
          <a:ln/>
        </p:spPr>
      </p:sp>
      <p:sp>
        <p:nvSpPr>
          <p:cNvPr id="35328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6" name="Rectangle 2"/>
          <p:cNvSpPr>
            <a:spLocks noGrp="1" noRot="1" noChangeAspect="1" noChangeArrowheads="1" noTextEdit="1"/>
          </p:cNvSpPr>
          <p:nvPr>
            <p:ph type="sldImg"/>
          </p:nvPr>
        </p:nvSpPr>
        <p:spPr>
          <a:ln/>
        </p:spPr>
      </p:sp>
      <p:sp>
        <p:nvSpPr>
          <p:cNvPr id="35430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30" name="Rectangle 2"/>
          <p:cNvSpPr>
            <a:spLocks noGrp="1" noRot="1" noChangeAspect="1" noChangeArrowheads="1" noTextEdit="1"/>
          </p:cNvSpPr>
          <p:nvPr>
            <p:ph type="sldImg"/>
          </p:nvPr>
        </p:nvSpPr>
        <p:spPr>
          <a:ln/>
        </p:spPr>
      </p:sp>
      <p:sp>
        <p:nvSpPr>
          <p:cNvPr id="355331"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Rectangle 2"/>
          <p:cNvSpPr>
            <a:spLocks noGrp="1" noRot="1" noChangeAspect="1" noChangeArrowheads="1" noTextEdit="1"/>
          </p:cNvSpPr>
          <p:nvPr>
            <p:ph type="sldImg"/>
          </p:nvPr>
        </p:nvSpPr>
        <p:spPr>
          <a:ln/>
        </p:spPr>
      </p:sp>
      <p:sp>
        <p:nvSpPr>
          <p:cNvPr id="35635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Rectangle 2"/>
          <p:cNvSpPr>
            <a:spLocks noGrp="1" noRot="1" noChangeAspect="1" noChangeArrowheads="1" noTextEdit="1"/>
          </p:cNvSpPr>
          <p:nvPr>
            <p:ph type="sldImg"/>
          </p:nvPr>
        </p:nvSpPr>
        <p:spPr>
          <a:ln/>
        </p:spPr>
      </p:sp>
      <p:sp>
        <p:nvSpPr>
          <p:cNvPr id="35737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2" name="Rectangle 2"/>
          <p:cNvSpPr>
            <a:spLocks noGrp="1" noRot="1" noChangeAspect="1" noChangeArrowheads="1" noTextEdit="1"/>
          </p:cNvSpPr>
          <p:nvPr>
            <p:ph type="sldImg"/>
          </p:nvPr>
        </p:nvSpPr>
        <p:spPr>
          <a:ln/>
        </p:spPr>
      </p:sp>
      <p:sp>
        <p:nvSpPr>
          <p:cNvPr id="35840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Rectangle 2"/>
          <p:cNvSpPr>
            <a:spLocks noGrp="1" noRot="1" noChangeAspect="1" noChangeArrowheads="1" noTextEdit="1"/>
          </p:cNvSpPr>
          <p:nvPr>
            <p:ph type="sldImg"/>
          </p:nvPr>
        </p:nvSpPr>
        <p:spPr>
          <a:ln/>
        </p:spPr>
      </p:sp>
      <p:sp>
        <p:nvSpPr>
          <p:cNvPr id="35942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0450" name="Rectangle 2"/>
          <p:cNvSpPr>
            <a:spLocks noGrp="1" noRot="1" noChangeAspect="1" noChangeArrowheads="1" noTextEdit="1"/>
          </p:cNvSpPr>
          <p:nvPr>
            <p:ph type="sldImg"/>
          </p:nvPr>
        </p:nvSpPr>
        <p:spPr>
          <a:solidFill>
            <a:srgbClr val="FFFFFF"/>
          </a:solidFill>
          <a:ln/>
        </p:spPr>
      </p:sp>
      <p:sp>
        <p:nvSpPr>
          <p:cNvPr id="36045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1474" name="Rectangle 2"/>
          <p:cNvSpPr>
            <a:spLocks noGrp="1" noRot="1" noChangeAspect="1" noChangeArrowheads="1" noTextEdit="1"/>
          </p:cNvSpPr>
          <p:nvPr>
            <p:ph type="sldImg"/>
          </p:nvPr>
        </p:nvSpPr>
        <p:spPr>
          <a:ln/>
        </p:spPr>
      </p:sp>
      <p:sp>
        <p:nvSpPr>
          <p:cNvPr id="36147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2498" name="Rectangle 2"/>
          <p:cNvSpPr>
            <a:spLocks noGrp="1" noRot="1" noChangeAspect="1" noChangeArrowheads="1" noTextEdit="1"/>
          </p:cNvSpPr>
          <p:nvPr>
            <p:ph type="sldImg"/>
          </p:nvPr>
        </p:nvSpPr>
        <p:spPr>
          <a:ln/>
        </p:spPr>
      </p:sp>
      <p:sp>
        <p:nvSpPr>
          <p:cNvPr id="36249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Rectangle 2"/>
          <p:cNvSpPr>
            <a:spLocks noGrp="1" noRot="1" noChangeAspect="1" noChangeArrowheads="1" noTextEdit="1"/>
          </p:cNvSpPr>
          <p:nvPr>
            <p:ph type="sldImg"/>
          </p:nvPr>
        </p:nvSpPr>
        <p:spPr>
          <a:ln/>
        </p:spPr>
      </p:sp>
      <p:sp>
        <p:nvSpPr>
          <p:cNvPr id="36352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Rectangle 2"/>
          <p:cNvSpPr>
            <a:spLocks noGrp="1" noRot="1" noChangeAspect="1" noChangeArrowheads="1" noTextEdit="1"/>
          </p:cNvSpPr>
          <p:nvPr>
            <p:ph type="sldImg"/>
          </p:nvPr>
        </p:nvSpPr>
        <p:spPr>
          <a:ln/>
        </p:spPr>
      </p:sp>
      <p:sp>
        <p:nvSpPr>
          <p:cNvPr id="364547"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Rectangle 2"/>
          <p:cNvSpPr>
            <a:spLocks noGrp="1" noRot="1" noChangeAspect="1" noChangeArrowheads="1" noTextEdit="1"/>
          </p:cNvSpPr>
          <p:nvPr>
            <p:ph type="sldImg"/>
          </p:nvPr>
        </p:nvSpPr>
        <p:spPr>
          <a:ln/>
        </p:spPr>
      </p:sp>
      <p:sp>
        <p:nvSpPr>
          <p:cNvPr id="365571" name="Rectangle 3"/>
          <p:cNvSpPr>
            <a:spLocks noGrp="1" noChangeArrowheads="1"/>
          </p:cNvSpPr>
          <p:nvPr>
            <p:ph type="body" idx="1"/>
          </p:nvPr>
        </p:nvSpPr>
        <p:spPr>
          <a:xfrm>
            <a:off x="496628" y="4904405"/>
            <a:ext cx="5805988" cy="830979"/>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 question est identique à celle déjà évoquée par la Question Q1. La différence, c'est qu'ici le flux s'écoule beaucoup plus rapidement que précédemment. L'usine dont le cycle est court est plus souple pour répondre à des changements d'ordre technique ou à des modifications de programme.</a:t>
            </a:r>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594" name="Rectangle 2"/>
          <p:cNvSpPr>
            <a:spLocks noGrp="1" noRot="1" noChangeAspect="1" noChangeArrowheads="1" noTextEdit="1"/>
          </p:cNvSpPr>
          <p:nvPr>
            <p:ph type="sldImg"/>
          </p:nvPr>
        </p:nvSpPr>
        <p:spPr>
          <a:ln/>
        </p:spPr>
      </p:sp>
      <p:sp>
        <p:nvSpPr>
          <p:cNvPr id="366595"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18" name="Rectangle 2"/>
          <p:cNvSpPr>
            <a:spLocks noGrp="1" noRot="1" noChangeAspect="1" noChangeArrowheads="1" noTextEdit="1"/>
          </p:cNvSpPr>
          <p:nvPr>
            <p:ph type="sldImg"/>
          </p:nvPr>
        </p:nvSpPr>
        <p:spPr>
          <a:ln/>
        </p:spPr>
      </p:sp>
      <p:sp>
        <p:nvSpPr>
          <p:cNvPr id="367619"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42" name="Rectangle 2"/>
          <p:cNvSpPr>
            <a:spLocks noGrp="1" noRot="1" noChangeAspect="1" noChangeArrowheads="1" noTextEdit="1"/>
          </p:cNvSpPr>
          <p:nvPr>
            <p:ph type="sldImg"/>
          </p:nvPr>
        </p:nvSpPr>
        <p:spPr>
          <a:ln/>
        </p:spPr>
      </p:sp>
      <p:sp>
        <p:nvSpPr>
          <p:cNvPr id="368643" name="Rectangle 3"/>
          <p:cNvSpPr>
            <a:spLocks noGrp="1" noChangeArrowheads="1"/>
          </p:cNvSpPr>
          <p:nvPr>
            <p:ph type="body" idx="1"/>
          </p:nvPr>
        </p:nvSpPr>
        <p:spPr>
          <a:xfrm>
            <a:off x="178598" y="4750715"/>
            <a:ext cx="6467112"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Rectangle 2"/>
          <p:cNvSpPr>
            <a:spLocks noGrp="1" noRot="1" noChangeAspect="1" noChangeArrowheads="1" noTextEdit="1"/>
          </p:cNvSpPr>
          <p:nvPr>
            <p:ph type="sldImg"/>
          </p:nvPr>
        </p:nvSpPr>
        <p:spPr>
          <a:ln/>
        </p:spPr>
      </p:sp>
      <p:sp>
        <p:nvSpPr>
          <p:cNvPr id="369667"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met à jour le tableau de bord Excel.</a:t>
            </a:r>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690" name="Rectangle 2"/>
          <p:cNvSpPr>
            <a:spLocks noGrp="1" noRot="1" noChangeAspect="1" noChangeArrowheads="1" noTextEdit="1"/>
          </p:cNvSpPr>
          <p:nvPr>
            <p:ph type="sldImg"/>
          </p:nvPr>
        </p:nvSpPr>
        <p:spPr>
          <a:ln/>
        </p:spPr>
      </p:sp>
      <p:sp>
        <p:nvSpPr>
          <p:cNvPr id="370691"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met à jour le Tableau de bord Excel.</a:t>
            </a:r>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Rectangle 2"/>
          <p:cNvSpPr>
            <a:spLocks noGrp="1" noRot="1" noChangeAspect="1" noChangeArrowheads="1" noTextEdit="1"/>
          </p:cNvSpPr>
          <p:nvPr>
            <p:ph type="sldImg"/>
          </p:nvPr>
        </p:nvSpPr>
        <p:spPr>
          <a:solidFill>
            <a:srgbClr val="FFFFFF"/>
          </a:solidFill>
          <a:ln/>
        </p:spPr>
      </p:sp>
      <p:sp>
        <p:nvSpPr>
          <p:cNvPr id="371715" name="Rectangle 3"/>
          <p:cNvSpPr>
            <a:spLocks noGrp="1" noChangeArrowheads="1"/>
          </p:cNvSpPr>
          <p:nvPr>
            <p:ph type="body" idx="1"/>
          </p:nvPr>
        </p:nvSpPr>
        <p:spPr>
          <a:xfrm>
            <a:off x="178598" y="4750715"/>
            <a:ext cx="6467112" cy="646313"/>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A partir de la semaine 4 les expéditions sont réparties tout au long de la semaine. Cette situation va</a:t>
            </a:r>
            <a:r>
              <a:rPr lang="fr-FR" altLang="fr-FR"/>
              <a:t> permettre aux joueurs de réduire leurs stocks de produits finis (en milieu de semaine), puisqu’il n’y aura plus de sortie importante concentrée dans le temps. </a:t>
            </a:r>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Rectangle 2"/>
          <p:cNvSpPr>
            <a:spLocks noGrp="1" noRot="1" noChangeAspect="1" noChangeArrowheads="1" noTextEdit="1"/>
          </p:cNvSpPr>
          <p:nvPr>
            <p:ph type="sldImg"/>
          </p:nvPr>
        </p:nvSpPr>
        <p:spPr>
          <a:solidFill>
            <a:srgbClr val="FFFFFF"/>
          </a:solidFill>
          <a:ln/>
        </p:spPr>
      </p:sp>
      <p:sp>
        <p:nvSpPr>
          <p:cNvPr id="37273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Rectangle 2"/>
          <p:cNvSpPr>
            <a:spLocks noGrp="1" noRot="1" noChangeAspect="1" noChangeArrowheads="1" noTextEdit="1"/>
          </p:cNvSpPr>
          <p:nvPr>
            <p:ph type="sldImg"/>
          </p:nvPr>
        </p:nvSpPr>
        <p:spPr>
          <a:solidFill>
            <a:srgbClr val="FFFFFF"/>
          </a:solidFill>
          <a:ln/>
        </p:spPr>
      </p:sp>
      <p:sp>
        <p:nvSpPr>
          <p:cNvPr id="37376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Rectangle 2"/>
          <p:cNvSpPr>
            <a:spLocks noGrp="1" noRot="1" noChangeAspect="1" noChangeArrowheads="1" noTextEdit="1"/>
          </p:cNvSpPr>
          <p:nvPr>
            <p:ph type="sldImg"/>
          </p:nvPr>
        </p:nvSpPr>
        <p:spPr>
          <a:solidFill>
            <a:srgbClr val="FFFFFF"/>
          </a:solidFill>
          <a:ln/>
        </p:spPr>
      </p:sp>
      <p:sp>
        <p:nvSpPr>
          <p:cNvPr id="37478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Rectangle 2"/>
          <p:cNvSpPr>
            <a:spLocks noGrp="1" noRot="1" noChangeAspect="1" noChangeArrowheads="1" noTextEdit="1"/>
          </p:cNvSpPr>
          <p:nvPr>
            <p:ph type="sldImg"/>
          </p:nvPr>
        </p:nvSpPr>
        <p:spPr>
          <a:solidFill>
            <a:srgbClr val="FFFFFF"/>
          </a:solidFill>
          <a:ln/>
        </p:spPr>
      </p:sp>
      <p:sp>
        <p:nvSpPr>
          <p:cNvPr id="37581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4" name="Rectangle 2"/>
          <p:cNvSpPr>
            <a:spLocks noGrp="1" noRot="1" noChangeAspect="1" noChangeArrowheads="1" noTextEdit="1"/>
          </p:cNvSpPr>
          <p:nvPr>
            <p:ph type="sldImg"/>
          </p:nvPr>
        </p:nvSpPr>
        <p:spPr>
          <a:solidFill>
            <a:srgbClr val="FFFFFF"/>
          </a:solidFill>
          <a:ln/>
        </p:spPr>
      </p:sp>
      <p:sp>
        <p:nvSpPr>
          <p:cNvPr id="37683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Rectangle 2"/>
          <p:cNvSpPr>
            <a:spLocks noGrp="1" noRot="1" noChangeAspect="1" noChangeArrowheads="1" noTextEdit="1"/>
          </p:cNvSpPr>
          <p:nvPr>
            <p:ph type="sldImg"/>
          </p:nvPr>
        </p:nvSpPr>
        <p:spPr>
          <a:solidFill>
            <a:srgbClr val="FFFFFF"/>
          </a:solidFill>
          <a:ln/>
        </p:spPr>
      </p:sp>
      <p:sp>
        <p:nvSpPr>
          <p:cNvPr id="3778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2"/>
          <p:cNvSpPr>
            <a:spLocks noGrp="1" noRot="1" noChangeAspect="1" noChangeArrowheads="1" noTextEdit="1"/>
          </p:cNvSpPr>
          <p:nvPr>
            <p:ph type="sldImg"/>
          </p:nvPr>
        </p:nvSpPr>
        <p:spPr>
          <a:solidFill>
            <a:srgbClr val="FFFFFF"/>
          </a:solidFill>
          <a:ln/>
        </p:spPr>
      </p:sp>
      <p:sp>
        <p:nvSpPr>
          <p:cNvPr id="37888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6" name="Rectangle 2"/>
          <p:cNvSpPr>
            <a:spLocks noGrp="1" noRot="1" noChangeAspect="1" noChangeArrowheads="1" noTextEdit="1"/>
          </p:cNvSpPr>
          <p:nvPr>
            <p:ph type="sldImg"/>
          </p:nvPr>
        </p:nvSpPr>
        <p:spPr>
          <a:solidFill>
            <a:srgbClr val="FFFFFF"/>
          </a:solidFill>
          <a:ln/>
        </p:spPr>
      </p:sp>
      <p:sp>
        <p:nvSpPr>
          <p:cNvPr id="37990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2"/>
          <p:cNvSpPr>
            <a:spLocks noGrp="1" noRot="1" noChangeAspect="1" noChangeArrowheads="1" noTextEdit="1"/>
          </p:cNvSpPr>
          <p:nvPr>
            <p:ph type="sldImg"/>
          </p:nvPr>
        </p:nvSpPr>
        <p:spPr>
          <a:solidFill>
            <a:srgbClr val="FFFFFF"/>
          </a:solidFill>
          <a:ln/>
        </p:spPr>
      </p:sp>
      <p:sp>
        <p:nvSpPr>
          <p:cNvPr id="38093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4" name="Rectangle 2"/>
          <p:cNvSpPr>
            <a:spLocks noGrp="1" noRot="1" noChangeAspect="1" noChangeArrowheads="1" noTextEdit="1"/>
          </p:cNvSpPr>
          <p:nvPr>
            <p:ph type="sldImg"/>
          </p:nvPr>
        </p:nvSpPr>
        <p:spPr>
          <a:solidFill>
            <a:srgbClr val="FFFFFF"/>
          </a:solidFill>
          <a:ln/>
        </p:spPr>
      </p:sp>
      <p:sp>
        <p:nvSpPr>
          <p:cNvPr id="38195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8" name="Rectangle 2"/>
          <p:cNvSpPr>
            <a:spLocks noGrp="1" noRot="1" noChangeAspect="1" noChangeArrowheads="1" noTextEdit="1"/>
          </p:cNvSpPr>
          <p:nvPr>
            <p:ph type="sldImg"/>
          </p:nvPr>
        </p:nvSpPr>
        <p:spPr>
          <a:solidFill>
            <a:srgbClr val="FFFFFF"/>
          </a:solidFill>
          <a:ln/>
        </p:spPr>
      </p:sp>
      <p:sp>
        <p:nvSpPr>
          <p:cNvPr id="38297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Rectangle 2"/>
          <p:cNvSpPr>
            <a:spLocks noGrp="1" noRot="1" noChangeAspect="1" noChangeArrowheads="1" noTextEdit="1"/>
          </p:cNvSpPr>
          <p:nvPr>
            <p:ph type="sldImg"/>
          </p:nvPr>
        </p:nvSpPr>
        <p:spPr>
          <a:solidFill>
            <a:srgbClr val="FFFFFF"/>
          </a:solidFill>
          <a:ln/>
        </p:spPr>
      </p:sp>
      <p:sp>
        <p:nvSpPr>
          <p:cNvPr id="38400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6" name="Rectangle 2"/>
          <p:cNvSpPr>
            <a:spLocks noGrp="1" noRot="1" noChangeAspect="1" noChangeArrowheads="1" noTextEdit="1"/>
          </p:cNvSpPr>
          <p:nvPr>
            <p:ph type="sldImg"/>
          </p:nvPr>
        </p:nvSpPr>
        <p:spPr>
          <a:solidFill>
            <a:srgbClr val="FFFFFF"/>
          </a:solidFill>
          <a:ln/>
        </p:spPr>
      </p:sp>
      <p:sp>
        <p:nvSpPr>
          <p:cNvPr id="38502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50" name="Rectangle 2"/>
          <p:cNvSpPr>
            <a:spLocks noGrp="1" noRot="1" noChangeAspect="1" noChangeArrowheads="1" noTextEdit="1"/>
          </p:cNvSpPr>
          <p:nvPr>
            <p:ph type="sldImg"/>
          </p:nvPr>
        </p:nvSpPr>
        <p:spPr>
          <a:solidFill>
            <a:srgbClr val="FFFFFF"/>
          </a:solidFill>
          <a:ln/>
        </p:spPr>
      </p:sp>
      <p:sp>
        <p:nvSpPr>
          <p:cNvPr id="38605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074" name="Rectangle 2"/>
          <p:cNvSpPr>
            <a:spLocks noGrp="1" noRot="1" noChangeAspect="1" noChangeArrowheads="1" noTextEdit="1"/>
          </p:cNvSpPr>
          <p:nvPr>
            <p:ph type="sldImg"/>
          </p:nvPr>
        </p:nvSpPr>
        <p:spPr>
          <a:ln/>
        </p:spPr>
      </p:sp>
      <p:sp>
        <p:nvSpPr>
          <p:cNvPr id="387075"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Les retombées de la méthode KANBAN sont en général spectaculaires sur les besoins en palettes et containers, ainsi que sur les m² occupés au sol . </a:t>
            </a:r>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Rectangle 2"/>
          <p:cNvSpPr>
            <a:spLocks noGrp="1" noRot="1" noChangeAspect="1" noChangeArrowheads="1" noTextEdit="1"/>
          </p:cNvSpPr>
          <p:nvPr>
            <p:ph type="sldImg"/>
          </p:nvPr>
        </p:nvSpPr>
        <p:spPr>
          <a:solidFill>
            <a:srgbClr val="FFFFFF"/>
          </a:solidFill>
          <a:ln/>
        </p:spPr>
      </p:sp>
      <p:sp>
        <p:nvSpPr>
          <p:cNvPr id="38809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22" name="Rectangle 2"/>
          <p:cNvSpPr>
            <a:spLocks noGrp="1" noRot="1" noChangeAspect="1" noChangeArrowheads="1" noTextEdit="1"/>
          </p:cNvSpPr>
          <p:nvPr>
            <p:ph type="sldImg"/>
          </p:nvPr>
        </p:nvSpPr>
        <p:spPr>
          <a:ln/>
        </p:spPr>
      </p:sp>
      <p:sp>
        <p:nvSpPr>
          <p:cNvPr id="389123"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b="0"/>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Rectangle 2"/>
          <p:cNvSpPr>
            <a:spLocks noGrp="1" noRot="1" noChangeAspect="1" noChangeArrowheads="1" noTextEdit="1"/>
          </p:cNvSpPr>
          <p:nvPr>
            <p:ph type="sldImg"/>
          </p:nvPr>
        </p:nvSpPr>
        <p:spPr>
          <a:ln/>
        </p:spPr>
      </p:sp>
      <p:sp>
        <p:nvSpPr>
          <p:cNvPr id="390147" name="Rectangle 3"/>
          <p:cNvSpPr>
            <a:spLocks noGrp="1" noChangeArrowheads="1"/>
          </p:cNvSpPr>
          <p:nvPr>
            <p:ph type="body" idx="1"/>
          </p:nvPr>
        </p:nvSpPr>
        <p:spPr>
          <a:xfrm>
            <a:off x="496628" y="4904404"/>
            <a:ext cx="5805988" cy="46164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enregistre les décisions sur la feuille Relevé des progrès et met à jour la cartographie des progrès (fichier Analyse des progrès).</a:t>
            </a:r>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170" name="Rectangle 2"/>
          <p:cNvSpPr>
            <a:spLocks noGrp="1" noRot="1" noChangeAspect="1" noChangeArrowheads="1" noTextEdit="1"/>
          </p:cNvSpPr>
          <p:nvPr>
            <p:ph type="sldImg"/>
          </p:nvPr>
        </p:nvSpPr>
        <p:spPr>
          <a:solidFill>
            <a:srgbClr val="FFFFFF"/>
          </a:solidFill>
          <a:ln/>
        </p:spPr>
      </p:sp>
      <p:sp>
        <p:nvSpPr>
          <p:cNvPr id="39117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194" name="Rectangle 2"/>
          <p:cNvSpPr>
            <a:spLocks noGrp="1" noRot="1" noChangeAspect="1" noChangeArrowheads="1" noTextEdit="1"/>
          </p:cNvSpPr>
          <p:nvPr>
            <p:ph type="sldImg"/>
          </p:nvPr>
        </p:nvSpPr>
        <p:spPr>
          <a:solidFill>
            <a:srgbClr val="FFFFFF"/>
          </a:solidFill>
          <a:ln/>
        </p:spPr>
      </p:sp>
      <p:sp>
        <p:nvSpPr>
          <p:cNvPr id="39219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218" name="Rectangle 2"/>
          <p:cNvSpPr>
            <a:spLocks noGrp="1" noRot="1" noChangeAspect="1" noChangeArrowheads="1" noTextEdit="1"/>
          </p:cNvSpPr>
          <p:nvPr>
            <p:ph type="sldImg"/>
          </p:nvPr>
        </p:nvSpPr>
        <p:spPr>
          <a:solidFill>
            <a:srgbClr val="FFFFFF"/>
          </a:solidFill>
          <a:ln/>
        </p:spPr>
      </p:sp>
      <p:sp>
        <p:nvSpPr>
          <p:cNvPr id="39321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2" name="Rectangle 2"/>
          <p:cNvSpPr>
            <a:spLocks noGrp="1" noRot="1" noChangeAspect="1" noChangeArrowheads="1" noTextEdit="1"/>
          </p:cNvSpPr>
          <p:nvPr>
            <p:ph type="sldImg"/>
          </p:nvPr>
        </p:nvSpPr>
        <p:spPr>
          <a:solidFill>
            <a:srgbClr val="FFFFFF"/>
          </a:solidFill>
          <a:ln/>
        </p:spPr>
      </p:sp>
      <p:sp>
        <p:nvSpPr>
          <p:cNvPr id="39424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6" name="Rectangle 2"/>
          <p:cNvSpPr>
            <a:spLocks noGrp="1" noRot="1" noChangeAspect="1" noChangeArrowheads="1" noTextEdit="1"/>
          </p:cNvSpPr>
          <p:nvPr>
            <p:ph type="sldImg"/>
          </p:nvPr>
        </p:nvSpPr>
        <p:spPr>
          <a:solidFill>
            <a:srgbClr val="FFFFFF"/>
          </a:solidFill>
          <a:ln/>
        </p:spPr>
      </p:sp>
      <p:sp>
        <p:nvSpPr>
          <p:cNvPr id="39526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90" name="Rectangle 2"/>
          <p:cNvSpPr>
            <a:spLocks noGrp="1" noRot="1" noChangeAspect="1" noChangeArrowheads="1" noTextEdit="1"/>
          </p:cNvSpPr>
          <p:nvPr>
            <p:ph type="sldImg"/>
          </p:nvPr>
        </p:nvSpPr>
        <p:spPr>
          <a:solidFill>
            <a:srgbClr val="FFFFFF"/>
          </a:solidFill>
          <a:ln/>
        </p:spPr>
      </p:sp>
      <p:sp>
        <p:nvSpPr>
          <p:cNvPr id="39629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4" name="Rectangle 2"/>
          <p:cNvSpPr>
            <a:spLocks noGrp="1" noRot="1" noChangeAspect="1" noChangeArrowheads="1" noTextEdit="1"/>
          </p:cNvSpPr>
          <p:nvPr>
            <p:ph type="sldImg"/>
          </p:nvPr>
        </p:nvSpPr>
        <p:spPr>
          <a:solidFill>
            <a:srgbClr val="FFFFFF"/>
          </a:solidFill>
          <a:ln/>
        </p:spPr>
      </p:sp>
      <p:sp>
        <p:nvSpPr>
          <p:cNvPr id="39731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8338" name="Rectangle 2"/>
          <p:cNvSpPr>
            <a:spLocks noGrp="1" noRot="1" noChangeAspect="1" noChangeArrowheads="1" noTextEdit="1"/>
          </p:cNvSpPr>
          <p:nvPr>
            <p:ph type="sldImg"/>
          </p:nvPr>
        </p:nvSpPr>
        <p:spPr>
          <a:solidFill>
            <a:srgbClr val="FFFFFF"/>
          </a:solidFill>
          <a:ln/>
        </p:spPr>
      </p:sp>
      <p:sp>
        <p:nvSpPr>
          <p:cNvPr id="39833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2" name="Rectangle 2"/>
          <p:cNvSpPr>
            <a:spLocks noGrp="1" noRot="1" noChangeAspect="1" noChangeArrowheads="1" noTextEdit="1"/>
          </p:cNvSpPr>
          <p:nvPr>
            <p:ph type="sldImg"/>
          </p:nvPr>
        </p:nvSpPr>
        <p:spPr>
          <a:solidFill>
            <a:srgbClr val="FFFFFF"/>
          </a:solidFill>
          <a:ln/>
        </p:spPr>
      </p:sp>
      <p:sp>
        <p:nvSpPr>
          <p:cNvPr id="39936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Rot="1" noChangeAspect="1" noChangeArrowheads="1" noTextEdit="1"/>
          </p:cNvSpPr>
          <p:nvPr>
            <p:ph type="sldImg"/>
          </p:nvPr>
        </p:nvSpPr>
        <p:spPr>
          <a:solidFill>
            <a:srgbClr val="FFFFFF"/>
          </a:solidFill>
          <a:ln/>
        </p:spPr>
      </p:sp>
      <p:sp>
        <p:nvSpPr>
          <p:cNvPr id="400387"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Rectangle 2"/>
          <p:cNvSpPr>
            <a:spLocks noGrp="1" noRot="1" noChangeAspect="1" noChangeArrowheads="1" noTextEdit="1"/>
          </p:cNvSpPr>
          <p:nvPr>
            <p:ph type="sldImg"/>
          </p:nvPr>
        </p:nvSpPr>
        <p:spPr>
          <a:solidFill>
            <a:srgbClr val="FFFFFF"/>
          </a:solidFill>
          <a:ln/>
        </p:spPr>
      </p:sp>
      <p:sp>
        <p:nvSpPr>
          <p:cNvPr id="40141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Rectangle 2"/>
          <p:cNvSpPr>
            <a:spLocks noGrp="1" noRot="1" noChangeAspect="1" noChangeArrowheads="1" noTextEdit="1"/>
          </p:cNvSpPr>
          <p:nvPr>
            <p:ph type="sldImg"/>
          </p:nvPr>
        </p:nvSpPr>
        <p:spPr>
          <a:solidFill>
            <a:srgbClr val="FFFFFF"/>
          </a:solidFill>
          <a:ln/>
        </p:spPr>
      </p:sp>
      <p:sp>
        <p:nvSpPr>
          <p:cNvPr id="40243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Rectangle 2"/>
          <p:cNvSpPr>
            <a:spLocks noGrp="1" noRot="1" noChangeAspect="1" noChangeArrowheads="1" noTextEdit="1"/>
          </p:cNvSpPr>
          <p:nvPr>
            <p:ph type="sldImg"/>
          </p:nvPr>
        </p:nvSpPr>
        <p:spPr>
          <a:solidFill>
            <a:srgbClr val="FFFFFF"/>
          </a:solidFill>
          <a:ln/>
        </p:spPr>
      </p:sp>
      <p:sp>
        <p:nvSpPr>
          <p:cNvPr id="403459"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2" name="Rectangle 2"/>
          <p:cNvSpPr>
            <a:spLocks noGrp="1" noRot="1" noChangeAspect="1" noChangeArrowheads="1" noTextEdit="1"/>
          </p:cNvSpPr>
          <p:nvPr>
            <p:ph type="sldImg"/>
          </p:nvPr>
        </p:nvSpPr>
        <p:spPr>
          <a:solidFill>
            <a:srgbClr val="FFFFFF"/>
          </a:solidFill>
          <a:ln/>
        </p:spPr>
      </p:sp>
      <p:sp>
        <p:nvSpPr>
          <p:cNvPr id="404483"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6" name="Rectangle 2"/>
          <p:cNvSpPr>
            <a:spLocks noGrp="1" noRot="1" noChangeAspect="1" noChangeArrowheads="1" noTextEdit="1"/>
          </p:cNvSpPr>
          <p:nvPr>
            <p:ph type="sldImg"/>
          </p:nvPr>
        </p:nvSpPr>
        <p:spPr>
          <a:ln/>
        </p:spPr>
      </p:sp>
      <p:sp>
        <p:nvSpPr>
          <p:cNvPr id="405507" name="Rectangle 3"/>
          <p:cNvSpPr>
            <a:spLocks noGrp="1" noChangeArrowheads="1"/>
          </p:cNvSpPr>
          <p:nvPr>
            <p:ph type="body" idx="1"/>
          </p:nvPr>
        </p:nvSpPr>
        <p:spPr>
          <a:xfrm>
            <a:off x="496628" y="4904405"/>
            <a:ext cx="5805988" cy="2308306"/>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Grâce à la réduction de la taille des séries, il est désormais possible de programmer le montage en fabriquant chaque jour "de tout un peu". En connaissant le jour J les besoins des clients, il est possible de fabriquer le jour J + 1 et de livrer le jour J+2. Dès lors, on peut envisager la suppression pure et simple des stocks de produits finis, et faire du stock de composants un stock commercial. Encore faut-il que le traitement des commandes clients soit accéléré. Mais, puisque la production a accéléré ses flux, pourquoi les Services Administratifs n'en feraient-ils pas autant ? Ajoutons que pour être efficace, une organisation de montage à partir de modules doit disposer non seulement d'une flexibilité en terme de références (c'est le cas ici, grâce aux changements rapides d'outils), mais aussi d'une flexibilité en termes de capacité (pour éviter l'encombrement des postes de montage en cas de brusque accroissement de la demande)..</a:t>
            </a:r>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530" name="Rectangle 2"/>
          <p:cNvSpPr>
            <a:spLocks noGrp="1" noRot="1" noChangeAspect="1" noChangeArrowheads="1" noTextEdit="1"/>
          </p:cNvSpPr>
          <p:nvPr>
            <p:ph type="sldImg"/>
          </p:nvPr>
        </p:nvSpPr>
        <p:spPr>
          <a:solidFill>
            <a:srgbClr val="FFFFFF"/>
          </a:solidFill>
          <a:ln/>
        </p:spPr>
      </p:sp>
      <p:sp>
        <p:nvSpPr>
          <p:cNvPr id="406531"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Rectangle 2"/>
          <p:cNvSpPr>
            <a:spLocks noGrp="1" noRot="1" noChangeAspect="1" noChangeArrowheads="1" noTextEdit="1"/>
          </p:cNvSpPr>
          <p:nvPr>
            <p:ph type="sldImg"/>
          </p:nvPr>
        </p:nvSpPr>
        <p:spPr>
          <a:solidFill>
            <a:srgbClr val="FFFFFF"/>
          </a:solidFill>
          <a:ln/>
        </p:spPr>
      </p:sp>
      <p:sp>
        <p:nvSpPr>
          <p:cNvPr id="407555" name="Rectangle 3"/>
          <p:cNvSpPr>
            <a:spLocks noGrp="1" noChangeArrowheads="1"/>
          </p:cNvSpPr>
          <p:nvPr>
            <p:ph type="body" idx="1"/>
          </p:nvPr>
        </p:nvSpPr>
        <p:spPr>
          <a:xfrm>
            <a:off x="178598" y="4750715"/>
            <a:ext cx="6467112" cy="276981"/>
          </a:xfrm>
          <a:solidFill>
            <a:srgbClr val="FFFFFF"/>
          </a:solidFill>
          <a:ln w="9525"/>
          <a:extLs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endParaRPr lang="fr-FR" altLang="fr-FR"/>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78" name="Rectangle 2"/>
          <p:cNvSpPr>
            <a:spLocks noGrp="1" noRot="1" noChangeAspect="1" noChangeArrowheads="1" noTextEdit="1"/>
          </p:cNvSpPr>
          <p:nvPr>
            <p:ph type="sldImg"/>
          </p:nvPr>
        </p:nvSpPr>
        <p:spPr>
          <a:ln/>
        </p:spPr>
      </p:sp>
      <p:sp>
        <p:nvSpPr>
          <p:cNvPr id="408579" name="Rectangle 3"/>
          <p:cNvSpPr>
            <a:spLocks noGrp="1" noChangeArrowheads="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met à jour le tableau de bord Excel.</a:t>
            </a:r>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2" name="Espace réservé de l'image des diapositives 1"/>
          <p:cNvSpPr>
            <a:spLocks noGrp="1" noRot="1" noChangeAspect="1" noTextEdit="1"/>
          </p:cNvSpPr>
          <p:nvPr>
            <p:ph type="sldImg"/>
          </p:nvPr>
        </p:nvSpPr>
        <p:spPr>
          <a:ln/>
        </p:spPr>
      </p:sp>
      <p:sp>
        <p:nvSpPr>
          <p:cNvPr id="409603" name="Espace réservé des commentaires 2"/>
          <p:cNvSpPr>
            <a:spLocks noGrp="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endParaRPr lang="fr-FR" altLang="fr-FR"/>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6" name="Rectangle 2"/>
          <p:cNvSpPr>
            <a:spLocks noGrp="1" noRot="1" noChangeAspect="1" noChangeArrowheads="1" noTextEdit="1"/>
          </p:cNvSpPr>
          <p:nvPr>
            <p:ph type="sldImg"/>
          </p:nvPr>
        </p:nvSpPr>
        <p:spPr>
          <a:ln/>
        </p:spPr>
      </p:sp>
      <p:sp>
        <p:nvSpPr>
          <p:cNvPr id="410627" name="Rectangle 3"/>
          <p:cNvSpPr>
            <a:spLocks noGrp="1" noChangeArrowheads="1"/>
          </p:cNvSpPr>
          <p:nvPr>
            <p:ph type="body" idx="1"/>
          </p:nvPr>
        </p:nvSpPr>
        <p:spPr>
          <a:xfrm>
            <a:off x="496628" y="4904405"/>
            <a:ext cx="5805988" cy="2696105"/>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L’animateur peut utiliser cette diapo en synthèse. Il souligne les différences de charge entre les postes de travail, les différences dans le coût de stocks, et le fait que le stock de produits finis joue un rôle particulier parce qu’une rupture se traduit immédiatement en une dégradation du taux de service.</a:t>
            </a:r>
          </a:p>
          <a:p>
            <a:pPr eaLnBrk="1" hangingPunct="1"/>
            <a:endParaRPr lang="fr-FR" altLang="fr-FR" b="0"/>
          </a:p>
          <a:p>
            <a:pPr eaLnBrk="1" hangingPunct="1"/>
            <a:r>
              <a:rPr lang="fr-FR" altLang="fr-FR" b="0"/>
              <a:t>Par conséquent, il semblait logique d’engager les actions dans l’ordre suivant :</a:t>
            </a:r>
          </a:p>
          <a:p>
            <a:pPr eaLnBrk="1" hangingPunct="1"/>
            <a:endParaRPr lang="fr-FR" altLang="fr-FR" b="0"/>
          </a:p>
          <a:p>
            <a:pPr eaLnBrk="1" hangingPunct="1"/>
            <a:r>
              <a:rPr lang="fr-FR" altLang="fr-FR" b="0"/>
              <a:t>1) Accroître la capacité et la flexibilité du montage (= réduire le temps de changement de série).</a:t>
            </a:r>
          </a:p>
          <a:p>
            <a:pPr eaLnBrk="1" hangingPunct="1"/>
            <a:r>
              <a:rPr lang="fr-FR" altLang="fr-FR" b="0"/>
              <a:t>2) Accroître la capacité et la flexibilité des carters, puis des engrenages.</a:t>
            </a:r>
          </a:p>
          <a:p>
            <a:pPr eaLnBrk="1" hangingPunct="1"/>
            <a:r>
              <a:rPr lang="fr-FR" altLang="fr-FR" b="0"/>
              <a:t>3) Améliorer la fiabilité du montage, puis des carters et des engrenages</a:t>
            </a:r>
          </a:p>
          <a:p>
            <a:pPr eaLnBrk="1" hangingPunct="1"/>
            <a:r>
              <a:rPr lang="fr-FR" altLang="fr-FR" b="0"/>
              <a:t>4) En dernier lieu, améliorer les postes Couronnes.</a:t>
            </a:r>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Espace réservé de l'image des diapositives 1"/>
          <p:cNvSpPr>
            <a:spLocks noGrp="1" noRot="1" noChangeAspect="1" noTextEdit="1"/>
          </p:cNvSpPr>
          <p:nvPr>
            <p:ph type="sldImg"/>
          </p:nvPr>
        </p:nvSpPr>
        <p:spPr>
          <a:ln/>
        </p:spPr>
      </p:sp>
      <p:sp>
        <p:nvSpPr>
          <p:cNvPr id="411651" name="Espace réservé des commentaires 2"/>
          <p:cNvSpPr>
            <a:spLocks noGrp="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endParaRPr lang="fr-FR" altLang="fr-FR"/>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4" name="Espace réservé de l'image des diapositives 1"/>
          <p:cNvSpPr>
            <a:spLocks noGrp="1" noRot="1" noChangeAspect="1" noTextEdit="1"/>
          </p:cNvSpPr>
          <p:nvPr>
            <p:ph type="sldImg"/>
          </p:nvPr>
        </p:nvSpPr>
        <p:spPr>
          <a:ln/>
        </p:spPr>
      </p:sp>
      <p:sp>
        <p:nvSpPr>
          <p:cNvPr id="412675" name="Espace réservé des commentaires 2"/>
          <p:cNvSpPr>
            <a:spLocks noGrp="1"/>
          </p:cNvSpPr>
          <p:nvPr>
            <p:ph type="body" idx="1"/>
          </p:nvPr>
        </p:nvSpPr>
        <p:spPr>
          <a:xfrm>
            <a:off x="496628" y="4904404"/>
            <a:ext cx="5805988" cy="276981"/>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endParaRPr lang="fr-FR" altLang="fr-FR"/>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Rectangle 2"/>
          <p:cNvSpPr>
            <a:spLocks noGrp="1" noRot="1" noChangeAspect="1" noChangeArrowheads="1" noTextEdit="1"/>
          </p:cNvSpPr>
          <p:nvPr>
            <p:ph type="sldImg"/>
          </p:nvPr>
        </p:nvSpPr>
        <p:spPr>
          <a:ln/>
        </p:spPr>
      </p:sp>
      <p:sp>
        <p:nvSpPr>
          <p:cNvPr id="413699" name="Rectangle 3"/>
          <p:cNvSpPr>
            <a:spLocks noGrp="1" noChangeArrowheads="1"/>
          </p:cNvSpPr>
          <p:nvPr>
            <p:ph type="body" idx="1"/>
          </p:nvPr>
        </p:nvSpPr>
        <p:spPr>
          <a:xfrm>
            <a:off x="496628" y="4904404"/>
            <a:ext cx="5805988" cy="4476592"/>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sz="1100" b="0"/>
              <a:t>Expliquer à l’aide de cette diapo le mécanisme de calcul du bénéfice de l’entreprise à partir des performances obtenues durant la simulation.</a:t>
            </a:r>
            <a:r>
              <a:rPr lang="fr-FR" altLang="fr-FR" sz="1100"/>
              <a:t>  </a:t>
            </a:r>
            <a:r>
              <a:rPr lang="fr-FR" altLang="fr-FR" sz="1100" b="0"/>
              <a:t>La diapo suivante montre un exemple sur la feuille de calcul (code VF) que l’animateur distribue aux participants.</a:t>
            </a:r>
          </a:p>
          <a:p>
            <a:pPr eaLnBrk="1" hangingPunct="1"/>
            <a:r>
              <a:rPr lang="fr-FR" altLang="fr-FR" sz="1100" b="0"/>
              <a:t>Remarque 1 : le lien entre les performances logistiques et les gains financiers est très simplifié par rapport à la réalité comptable. On peut toutefois le justifier de la façon suivante : si l’on perd 1% de taux de service, on peut imaginer que l’on perd la moitié des commandes livrées en retard (dans le jeu, on les livre quand même, mais on peut penser que certains clients changeront ensuite de fournisseur). Quant aux pertes de production, on peut considérer que le coût de production est composé pour moitié de matières et pour moitié de valeur ajoutée. Et sur les 50% de valeur ajoutée, on peut admettre qu’environ 40% sont effectivement perdus quand les machines sont arrêtées (par exemple une partie seulement du personnel est réutilisable ailleurs). En ce qui concerne le coût des stocks, la convention d’un coût de détention égal à 20% est plus arbitraire : elle tient en particulier à la nécessité de corriger l’échelle de temps. Nous avons volontairement pris un taux élevé pour inciter les joueurs à réduire les stocks. </a:t>
            </a:r>
          </a:p>
          <a:p>
            <a:pPr eaLnBrk="1" hangingPunct="1"/>
            <a:r>
              <a:rPr lang="fr-FR" altLang="fr-FR" sz="1100" b="0"/>
              <a:t>On peut traduire les équivalences de façon plus concrète dans les coordonnées du jeu : 1 produit fini non livré pendant 1 jour équivaut à 3% de taux de service en moins, ce qui entraîne d’après la grille de calcul : 0,45 M€ de bénéfice en moins. De même, 1 heure d’arrêt intempestif sur une machine équivaut à 3% d’efficience en moins, ce qui entraîne 0,36 M€ de bénéfice en moins. Enfin, 1 produit fini de plus en stock (100 € pièce) entraîne un stock de 1 M€ soit 0,2 M€ de coût de stockage en plus. </a:t>
            </a:r>
          </a:p>
          <a:p>
            <a:pPr eaLnBrk="1" hangingPunct="1"/>
            <a:r>
              <a:rPr lang="fr-FR" altLang="fr-FR" sz="1100" b="0"/>
              <a:t>Remarque 2 : la notion de bénéfice est également très simplifiée : on admet que le bénéfice augmente d’une valeur égale aux économies réalisées. On néglige au passage les amortissements, les impôts, etc. Mais cela n’a pas une grande importance pour le but recherché dans le jeu.</a:t>
            </a:r>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Rectangle 2"/>
          <p:cNvSpPr>
            <a:spLocks noGrp="1" noRot="1" noChangeAspect="1" noChangeArrowheads="1" noTextEdit="1"/>
          </p:cNvSpPr>
          <p:nvPr>
            <p:ph type="sldImg"/>
          </p:nvPr>
        </p:nvSpPr>
        <p:spPr>
          <a:ln/>
        </p:spPr>
      </p:sp>
      <p:sp>
        <p:nvSpPr>
          <p:cNvPr id="414723" name="Rectangle 3"/>
          <p:cNvSpPr>
            <a:spLocks noGrp="1" noChangeArrowheads="1"/>
          </p:cNvSpPr>
          <p:nvPr>
            <p:ph type="body" idx="1"/>
          </p:nvPr>
        </p:nvSpPr>
        <p:spPr>
          <a:xfrm>
            <a:off x="496628" y="4904405"/>
            <a:ext cx="5805988" cy="1735842"/>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a:lstStyle/>
          <a:p>
            <a:pPr eaLnBrk="1" hangingPunct="1"/>
            <a:r>
              <a:rPr lang="fr-FR" altLang="fr-FR" b="0"/>
              <a:t>Les valeurs indiquées dans la ligne « Avant » servent de référence pour mesurer les gains. On considère que ce sont les valeurs atteintes par l’entreprise avant que ne démarre la simulation.</a:t>
            </a:r>
          </a:p>
          <a:p>
            <a:pPr eaLnBrk="1" hangingPunct="1"/>
            <a:endParaRPr lang="fr-FR" altLang="fr-FR" b="0"/>
          </a:p>
          <a:p>
            <a:pPr eaLnBrk="1" hangingPunct="1"/>
            <a:r>
              <a:rPr lang="fr-FR" altLang="fr-FR" b="0"/>
              <a:t>La semaine 1 n’est pas prise en compte dans le calcul des moyennes. En effet, les joueurs ne disposent de possibilités d’action qu’à partir de la semaine 2. On fera donc la moyenne des semaines 2, 3 et 4.</a:t>
            </a:r>
          </a:p>
          <a:p>
            <a:pPr eaLnBrk="1" hangingPunct="1"/>
            <a:endParaRPr lang="fr-FR" altLang="fr-FR" b="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Diapositive de titre">
    <p:spTree>
      <p:nvGrpSpPr>
        <p:cNvPr id="1" name=""/>
        <p:cNvGrpSpPr/>
        <p:nvPr/>
      </p:nvGrpSpPr>
      <p:grpSpPr>
        <a:xfrm>
          <a:off x="0" y="0"/>
          <a:ext cx="0" cy="0"/>
          <a:chOff x="0" y="0"/>
          <a:chExt cx="0" cy="0"/>
        </a:xfrm>
      </p:grpSpPr>
    </p:spTree>
    <p:extLst>
      <p:ext uri="{BB962C8B-B14F-4D97-AF65-F5344CB8AC3E}">
        <p14:creationId xmlns:p14="http://schemas.microsoft.com/office/powerpoint/2010/main" val="257418222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a:xfrm>
            <a:off x="457200" y="0"/>
            <a:ext cx="8229600" cy="647700"/>
          </a:xfrm>
        </p:spPr>
        <p:txBody>
          <a:bodyPr/>
          <a:lstStyle>
            <a:lvl1pPr>
              <a:defRPr sz="2800" b="1">
                <a:solidFill>
                  <a:srgbClr val="27A8E0"/>
                </a:solidFill>
              </a:defRPr>
            </a:lvl1pPr>
          </a:lstStyle>
          <a:p>
            <a:r>
              <a:rPr lang="fr-FR" dirty="0"/>
              <a:t>Cliquez pour modifier le style du titre</a:t>
            </a:r>
          </a:p>
        </p:txBody>
      </p:sp>
      <p:sp>
        <p:nvSpPr>
          <p:cNvPr id="3" name="Espace réservé du contenu 2"/>
          <p:cNvSpPr>
            <a:spLocks noGrp="1"/>
          </p:cNvSpPr>
          <p:nvPr>
            <p:ph idx="1" hasCustomPrompt="1"/>
          </p:nvPr>
        </p:nvSpPr>
        <p:spPr/>
        <p:txBody>
          <a:bodyPr/>
          <a:lstStyle>
            <a:lvl1pPr marL="177800" indent="-177800">
              <a:buClr>
                <a:srgbClr val="FF3300"/>
              </a:buClr>
              <a:buFont typeface="Wingdings" panose="05000000000000000000" pitchFamily="2" charset="2"/>
              <a:buChar char="§"/>
              <a:defRPr>
                <a:solidFill>
                  <a:schemeClr val="tx1">
                    <a:lumMod val="65000"/>
                    <a:lumOff val="35000"/>
                  </a:schemeClr>
                </a:solidFill>
              </a:defRPr>
            </a:lvl1pPr>
            <a:lvl2pPr marL="354013" indent="-176213">
              <a:buClr>
                <a:srgbClr val="FF3300"/>
              </a:buClr>
              <a:defRPr>
                <a:solidFill>
                  <a:schemeClr val="tx1">
                    <a:lumMod val="65000"/>
                    <a:lumOff val="35000"/>
                  </a:schemeClr>
                </a:solidFill>
              </a:defRPr>
            </a:lvl2pPr>
            <a:lvl3pPr marL="541338" indent="-187325">
              <a:buClr>
                <a:srgbClr val="FF3300"/>
              </a:buClr>
              <a:defRPr>
                <a:solidFill>
                  <a:schemeClr val="tx1">
                    <a:lumMod val="65000"/>
                    <a:lumOff val="35000"/>
                  </a:schemeClr>
                </a:solidFill>
              </a:defRPr>
            </a:lvl3pPr>
            <a:lvl4pPr>
              <a:defRPr>
                <a:solidFill>
                  <a:schemeClr val="tx1">
                    <a:lumMod val="65000"/>
                    <a:lumOff val="35000"/>
                  </a:schemeClr>
                </a:solidFill>
              </a:defRPr>
            </a:lvl4pPr>
            <a:lvl5pPr>
              <a:defRPr>
                <a:solidFill>
                  <a:schemeClr val="tx1">
                    <a:lumMod val="65000"/>
                    <a:lumOff val="35000"/>
                  </a:schemeClr>
                </a:solidFill>
              </a:defRPr>
            </a:lvl5pPr>
          </a:lstStyle>
          <a:p>
            <a:pPr lvl="0"/>
            <a:r>
              <a:rPr lang="fr-FR" dirty="0"/>
              <a:t>Cliquez pour modifier les styles du texte du masque</a:t>
            </a:r>
          </a:p>
          <a:p>
            <a:pPr lvl="1"/>
            <a:r>
              <a:rPr lang="fr-FR" dirty="0"/>
              <a:t>Deuxième niveau</a:t>
            </a:r>
          </a:p>
          <a:p>
            <a:pPr lvl="2"/>
            <a:r>
              <a:rPr lang="fr-FR" dirty="0"/>
              <a:t>Troisième niveau</a:t>
            </a:r>
          </a:p>
        </p:txBody>
      </p:sp>
    </p:spTree>
    <p:extLst>
      <p:ext uri="{BB962C8B-B14F-4D97-AF65-F5344CB8AC3E}">
        <p14:creationId xmlns:p14="http://schemas.microsoft.com/office/powerpoint/2010/main" val="315570802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p:spPr>
        <p:txBody>
          <a:bodyPr anchor="t"/>
          <a:lstStyle>
            <a:lvl1pPr algn="l">
              <a:defRPr sz="4000" b="1" cap="all"/>
            </a:lvl1pPr>
          </a:lstStyle>
          <a:p>
            <a:r>
              <a:rPr lang="fr-FR"/>
              <a:t>Cliquez pour modifier le style du titre</a:t>
            </a:r>
          </a:p>
        </p:txBody>
      </p:sp>
      <p:sp>
        <p:nvSpPr>
          <p:cNvPr id="3" name="Espace réservé du texte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fr-FR"/>
              <a:t>Cliquez pour modifier les styles du texte du masque</a:t>
            </a:r>
          </a:p>
        </p:txBody>
      </p:sp>
    </p:spTree>
    <p:extLst>
      <p:ext uri="{BB962C8B-B14F-4D97-AF65-F5344CB8AC3E}">
        <p14:creationId xmlns:p14="http://schemas.microsoft.com/office/powerpoint/2010/main" val="397759650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u contenu 2"/>
          <p:cNvSpPr>
            <a:spLocks noGrp="1"/>
          </p:cNvSpPr>
          <p:nvPr>
            <p:ph sz="half" idx="1"/>
          </p:nvPr>
        </p:nvSpPr>
        <p:spPr>
          <a:xfrm>
            <a:off x="457200" y="1077913"/>
            <a:ext cx="4038600" cy="50482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077913"/>
            <a:ext cx="4038600" cy="50482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144505028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a:xfrm>
            <a:off x="457200" y="274638"/>
            <a:ext cx="8229600" cy="1143000"/>
          </a:xfrm>
        </p:spPr>
        <p:txBody>
          <a:bodyPr/>
          <a:lstStyle>
            <a:lvl1pPr>
              <a:defRPr/>
            </a:lvl1pPr>
          </a:lstStyle>
          <a:p>
            <a:r>
              <a:rPr lang="fr-FR"/>
              <a:t>Cliquez pour modifier le style du titre</a:t>
            </a: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74289197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Tree>
    <p:extLst>
      <p:ext uri="{BB962C8B-B14F-4D97-AF65-F5344CB8AC3E}">
        <p14:creationId xmlns:p14="http://schemas.microsoft.com/office/powerpoint/2010/main" val="95260852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35611660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a:t>Cliquez pour modifier le style du titre</a:t>
            </a: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Tree>
    <p:extLst>
      <p:ext uri="{BB962C8B-B14F-4D97-AF65-F5344CB8AC3E}">
        <p14:creationId xmlns:p14="http://schemas.microsoft.com/office/powerpoint/2010/main" val="266219971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a:t>Cliquez pour modifier le style du titre</a:t>
            </a: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fr-FR" noProof="0"/>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Tree>
    <p:extLst>
      <p:ext uri="{BB962C8B-B14F-4D97-AF65-F5344CB8AC3E}">
        <p14:creationId xmlns:p14="http://schemas.microsoft.com/office/powerpoint/2010/main" val="67563195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u texte vertical 2"/>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253448989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3050" y="152400"/>
            <a:ext cx="2063750" cy="5973763"/>
          </a:xfrm>
        </p:spPr>
        <p:txBody>
          <a:bodyPr vert="eaVert"/>
          <a:lstStyle/>
          <a:p>
            <a:r>
              <a:rPr lang="fr-FR"/>
              <a:t>Cliquez pour modifier le style du titre</a:t>
            </a:r>
          </a:p>
        </p:txBody>
      </p:sp>
      <p:sp>
        <p:nvSpPr>
          <p:cNvPr id="3" name="Espace réservé du texte vertical 2"/>
          <p:cNvSpPr>
            <a:spLocks noGrp="1"/>
          </p:cNvSpPr>
          <p:nvPr>
            <p:ph type="body" orient="vert" idx="1"/>
          </p:nvPr>
        </p:nvSpPr>
        <p:spPr>
          <a:xfrm>
            <a:off x="430213" y="152400"/>
            <a:ext cx="6040437" cy="5973763"/>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11252158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ext Box 258"/>
          <p:cNvSpPr txBox="1">
            <a:spLocks noChangeArrowheads="1"/>
          </p:cNvSpPr>
          <p:nvPr userDrawn="1"/>
        </p:nvSpPr>
        <p:spPr bwMode="auto">
          <a:xfrm>
            <a:off x="0" y="6669088"/>
            <a:ext cx="2135188"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82232" tIns="41116" rIns="82232" bIns="41116">
            <a:spAutoFit/>
          </a:bodyPr>
          <a:lstStyle>
            <a:lvl1pPr defTabSz="822325" eaLnBrk="0" hangingPunct="0">
              <a:defRPr sz="1300">
                <a:solidFill>
                  <a:schemeClr val="tx1"/>
                </a:solidFill>
                <a:latin typeface="Arial" pitchFamily="34" charset="0"/>
              </a:defRPr>
            </a:lvl1pPr>
            <a:lvl2pPr marL="742950" indent="-285750" defTabSz="822325" eaLnBrk="0" hangingPunct="0">
              <a:defRPr sz="1300">
                <a:solidFill>
                  <a:schemeClr val="tx1"/>
                </a:solidFill>
                <a:latin typeface="Arial" pitchFamily="34" charset="0"/>
              </a:defRPr>
            </a:lvl2pPr>
            <a:lvl3pPr marL="1143000" indent="-228600" defTabSz="822325" eaLnBrk="0" hangingPunct="0">
              <a:defRPr sz="1300">
                <a:solidFill>
                  <a:schemeClr val="tx1"/>
                </a:solidFill>
                <a:latin typeface="Arial" pitchFamily="34" charset="0"/>
              </a:defRPr>
            </a:lvl3pPr>
            <a:lvl4pPr marL="1600200" indent="-228600" defTabSz="822325" eaLnBrk="0" hangingPunct="0">
              <a:defRPr sz="1300">
                <a:solidFill>
                  <a:schemeClr val="tx1"/>
                </a:solidFill>
                <a:latin typeface="Arial" pitchFamily="34" charset="0"/>
              </a:defRPr>
            </a:lvl4pPr>
            <a:lvl5pPr marL="2057400" indent="-228600" defTabSz="822325" eaLnBrk="0" hangingPunct="0">
              <a:defRPr sz="1300">
                <a:solidFill>
                  <a:schemeClr val="tx1"/>
                </a:solidFill>
                <a:latin typeface="Arial" pitchFamily="34" charset="0"/>
              </a:defRPr>
            </a:lvl5pPr>
            <a:lvl6pPr marL="2514600" indent="-228600" algn="ctr" defTabSz="822325" eaLnBrk="0" fontAlgn="base" hangingPunct="0">
              <a:spcBef>
                <a:spcPct val="0"/>
              </a:spcBef>
              <a:spcAft>
                <a:spcPct val="0"/>
              </a:spcAft>
              <a:defRPr sz="1300">
                <a:solidFill>
                  <a:schemeClr val="tx1"/>
                </a:solidFill>
                <a:latin typeface="Arial" pitchFamily="34" charset="0"/>
              </a:defRPr>
            </a:lvl6pPr>
            <a:lvl7pPr marL="2971800" indent="-228600" algn="ctr" defTabSz="822325" eaLnBrk="0" fontAlgn="base" hangingPunct="0">
              <a:spcBef>
                <a:spcPct val="0"/>
              </a:spcBef>
              <a:spcAft>
                <a:spcPct val="0"/>
              </a:spcAft>
              <a:defRPr sz="1300">
                <a:solidFill>
                  <a:schemeClr val="tx1"/>
                </a:solidFill>
                <a:latin typeface="Arial" pitchFamily="34" charset="0"/>
              </a:defRPr>
            </a:lvl7pPr>
            <a:lvl8pPr marL="3429000" indent="-228600" algn="ctr" defTabSz="822325" eaLnBrk="0" fontAlgn="base" hangingPunct="0">
              <a:spcBef>
                <a:spcPct val="0"/>
              </a:spcBef>
              <a:spcAft>
                <a:spcPct val="0"/>
              </a:spcAft>
              <a:defRPr sz="1300">
                <a:solidFill>
                  <a:schemeClr val="tx1"/>
                </a:solidFill>
                <a:latin typeface="Arial" pitchFamily="34" charset="0"/>
              </a:defRPr>
            </a:lvl8pPr>
            <a:lvl9pPr marL="3886200" indent="-228600" algn="ctr" defTabSz="822325" eaLnBrk="0" fontAlgn="base" hangingPunct="0">
              <a:spcBef>
                <a:spcPct val="0"/>
              </a:spcBef>
              <a:spcAft>
                <a:spcPct val="0"/>
              </a:spcAft>
              <a:defRPr sz="1300">
                <a:solidFill>
                  <a:schemeClr val="tx1"/>
                </a:solidFill>
                <a:latin typeface="Arial" pitchFamily="34" charset="0"/>
              </a:defRPr>
            </a:lvl9pPr>
          </a:lstStyle>
          <a:p>
            <a:pPr algn="l">
              <a:defRPr/>
            </a:pPr>
            <a:r>
              <a:rPr lang="fr-FR" sz="700">
                <a:solidFill>
                  <a:srgbClr val="474747"/>
                </a:solidFill>
              </a:rPr>
              <a:t>JEU DU KANBAN</a:t>
            </a:r>
            <a:r>
              <a:rPr lang="fr-FR" sz="700" baseline="30000">
                <a:solidFill>
                  <a:srgbClr val="474747"/>
                </a:solidFill>
                <a:cs typeface="Arial" pitchFamily="34" charset="0"/>
              </a:rPr>
              <a:t>®</a:t>
            </a:r>
            <a:r>
              <a:rPr lang="fr-FR" sz="700">
                <a:solidFill>
                  <a:srgbClr val="474747"/>
                </a:solidFill>
              </a:rPr>
              <a:t> - CIPE / Tous Droits Réservés</a:t>
            </a:r>
          </a:p>
        </p:txBody>
      </p:sp>
      <p:sp>
        <p:nvSpPr>
          <p:cNvPr id="1027" name="Text Box 259"/>
          <p:cNvSpPr txBox="1">
            <a:spLocks noChangeArrowheads="1"/>
          </p:cNvSpPr>
          <p:nvPr userDrawn="1"/>
        </p:nvSpPr>
        <p:spPr bwMode="auto">
          <a:xfrm>
            <a:off x="7791450" y="6602413"/>
            <a:ext cx="1344613" cy="21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82232" tIns="41116" rIns="82232" bIns="41116">
            <a:spAutoFit/>
          </a:bodyPr>
          <a:lstStyle>
            <a:lvl1pPr defTabSz="822325" eaLnBrk="0" hangingPunct="0">
              <a:defRPr sz="1300">
                <a:solidFill>
                  <a:schemeClr val="tx1"/>
                </a:solidFill>
                <a:latin typeface="Arial" pitchFamily="34" charset="0"/>
              </a:defRPr>
            </a:lvl1pPr>
            <a:lvl2pPr marL="742950" indent="-285750" defTabSz="822325" eaLnBrk="0" hangingPunct="0">
              <a:defRPr sz="1300">
                <a:solidFill>
                  <a:schemeClr val="tx1"/>
                </a:solidFill>
                <a:latin typeface="Arial" pitchFamily="34" charset="0"/>
              </a:defRPr>
            </a:lvl2pPr>
            <a:lvl3pPr marL="1143000" indent="-228600" defTabSz="822325" eaLnBrk="0" hangingPunct="0">
              <a:defRPr sz="1300">
                <a:solidFill>
                  <a:schemeClr val="tx1"/>
                </a:solidFill>
                <a:latin typeface="Arial" pitchFamily="34" charset="0"/>
              </a:defRPr>
            </a:lvl3pPr>
            <a:lvl4pPr marL="1600200" indent="-228600" defTabSz="822325" eaLnBrk="0" hangingPunct="0">
              <a:defRPr sz="1300">
                <a:solidFill>
                  <a:schemeClr val="tx1"/>
                </a:solidFill>
                <a:latin typeface="Arial" pitchFamily="34" charset="0"/>
              </a:defRPr>
            </a:lvl4pPr>
            <a:lvl5pPr marL="2057400" indent="-228600" defTabSz="822325" eaLnBrk="0" hangingPunct="0">
              <a:defRPr sz="1300">
                <a:solidFill>
                  <a:schemeClr val="tx1"/>
                </a:solidFill>
                <a:latin typeface="Arial" pitchFamily="34" charset="0"/>
              </a:defRPr>
            </a:lvl5pPr>
            <a:lvl6pPr marL="2514600" indent="-228600" algn="ctr" defTabSz="822325" eaLnBrk="0" fontAlgn="base" hangingPunct="0">
              <a:spcBef>
                <a:spcPct val="0"/>
              </a:spcBef>
              <a:spcAft>
                <a:spcPct val="0"/>
              </a:spcAft>
              <a:defRPr sz="1300">
                <a:solidFill>
                  <a:schemeClr val="tx1"/>
                </a:solidFill>
                <a:latin typeface="Arial" pitchFamily="34" charset="0"/>
              </a:defRPr>
            </a:lvl6pPr>
            <a:lvl7pPr marL="2971800" indent="-228600" algn="ctr" defTabSz="822325" eaLnBrk="0" fontAlgn="base" hangingPunct="0">
              <a:spcBef>
                <a:spcPct val="0"/>
              </a:spcBef>
              <a:spcAft>
                <a:spcPct val="0"/>
              </a:spcAft>
              <a:defRPr sz="1300">
                <a:solidFill>
                  <a:schemeClr val="tx1"/>
                </a:solidFill>
                <a:latin typeface="Arial" pitchFamily="34" charset="0"/>
              </a:defRPr>
            </a:lvl7pPr>
            <a:lvl8pPr marL="3429000" indent="-228600" algn="ctr" defTabSz="822325" eaLnBrk="0" fontAlgn="base" hangingPunct="0">
              <a:spcBef>
                <a:spcPct val="0"/>
              </a:spcBef>
              <a:spcAft>
                <a:spcPct val="0"/>
              </a:spcAft>
              <a:defRPr sz="1300">
                <a:solidFill>
                  <a:schemeClr val="tx1"/>
                </a:solidFill>
                <a:latin typeface="Arial" pitchFamily="34" charset="0"/>
              </a:defRPr>
            </a:lvl8pPr>
            <a:lvl9pPr marL="3886200" indent="-228600" algn="ctr" defTabSz="822325" eaLnBrk="0" fontAlgn="base" hangingPunct="0">
              <a:spcBef>
                <a:spcPct val="0"/>
              </a:spcBef>
              <a:spcAft>
                <a:spcPct val="0"/>
              </a:spcAft>
              <a:defRPr sz="1300">
                <a:solidFill>
                  <a:schemeClr val="tx1"/>
                </a:solidFill>
                <a:latin typeface="Arial" pitchFamily="34" charset="0"/>
              </a:defRPr>
            </a:lvl9pPr>
          </a:lstStyle>
          <a:p>
            <a:pPr algn="r">
              <a:defRPr/>
            </a:pPr>
            <a:r>
              <a:rPr lang="fr-FR" sz="900" b="1">
                <a:solidFill>
                  <a:srgbClr val="474747"/>
                </a:solidFill>
              </a:rPr>
              <a:t>diapo </a:t>
            </a:r>
            <a:fld id="{D4E7355C-3250-45B2-B534-245309BFA70F}" type="slidenum">
              <a:rPr lang="fr-FR" sz="900" b="1" smtClean="0">
                <a:solidFill>
                  <a:srgbClr val="474747"/>
                </a:solidFill>
              </a:rPr>
              <a:pPr algn="r">
                <a:defRPr/>
              </a:pPr>
              <a:t>‹N°›</a:t>
            </a:fld>
            <a:endParaRPr lang="fr-FR" sz="900" b="1">
              <a:solidFill>
                <a:srgbClr val="474747"/>
              </a:solidFill>
            </a:endParaRPr>
          </a:p>
        </p:txBody>
      </p:sp>
      <p:sp>
        <p:nvSpPr>
          <p:cNvPr id="1028" name="Rectangle 262"/>
          <p:cNvSpPr>
            <a:spLocks noGrp="1" noChangeArrowheads="1"/>
          </p:cNvSpPr>
          <p:nvPr>
            <p:ph type="title"/>
          </p:nvPr>
        </p:nvSpPr>
        <p:spPr bwMode="auto">
          <a:xfrm>
            <a:off x="430213" y="152400"/>
            <a:ext cx="82296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fr-FR" altLang="fr-FR"/>
              <a:t>Cliquez pour modifier le style du titre</a:t>
            </a:r>
          </a:p>
        </p:txBody>
      </p:sp>
      <p:sp>
        <p:nvSpPr>
          <p:cNvPr id="1029" name="Rectangle 263"/>
          <p:cNvSpPr>
            <a:spLocks noGrp="1" noChangeArrowheads="1"/>
          </p:cNvSpPr>
          <p:nvPr>
            <p:ph type="body" idx="1"/>
          </p:nvPr>
        </p:nvSpPr>
        <p:spPr bwMode="auto">
          <a:xfrm>
            <a:off x="457200" y="1077913"/>
            <a:ext cx="8229600" cy="5048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fr-FR" altLang="fr-FR"/>
              <a:t>Cliquez pour modifier les styles du texte du masque</a:t>
            </a:r>
          </a:p>
          <a:p>
            <a:pPr lvl="1"/>
            <a:r>
              <a:rPr lang="fr-FR" altLang="fr-FR"/>
              <a:t>Deuxième niveau</a:t>
            </a:r>
          </a:p>
          <a:p>
            <a:pPr lvl="2"/>
            <a:r>
              <a:rPr lang="fr-FR" altLang="fr-FR"/>
              <a:t>Troisième niveau</a:t>
            </a:r>
          </a:p>
          <a:p>
            <a:pPr lvl="3"/>
            <a:r>
              <a:rPr lang="fr-FR" altLang="fr-FR"/>
              <a:t>Quatrième niveau</a:t>
            </a:r>
          </a:p>
          <a:p>
            <a:pPr lvl="4"/>
            <a:r>
              <a:rPr lang="fr-FR" altLang="fr-FR"/>
              <a:t>Cinquième niveau</a:t>
            </a:r>
          </a:p>
        </p:txBody>
      </p:sp>
    </p:spTree>
  </p:cSld>
  <p:clrMap bg1="lt1" tx1="dk1" bg2="lt2" tx2="dk2" accent1="accent1" accent2="accent2" accent3="accent3" accent4="accent4" accent5="accent5" accent6="accent6" hlink="hlink" folHlink="folHlink"/>
  <p:sldLayoutIdLst>
    <p:sldLayoutId id="2147483707" r:id="rId1"/>
    <p:sldLayoutId id="2147483697" r:id="rId2"/>
    <p:sldLayoutId id="2147483698" r:id="rId3"/>
    <p:sldLayoutId id="2147483699" r:id="rId4"/>
    <p:sldLayoutId id="2147483700" r:id="rId5"/>
    <p:sldLayoutId id="2147483701" r:id="rId6"/>
    <p:sldLayoutId id="2147483702" r:id="rId7"/>
    <p:sldLayoutId id="2147483703" r:id="rId8"/>
    <p:sldLayoutId id="2147483704" r:id="rId9"/>
    <p:sldLayoutId id="2147483705" r:id="rId10"/>
    <p:sldLayoutId id="2147483706" r:id="rId11"/>
  </p:sldLayoutIdLst>
  <p:txStyles>
    <p:titleStyle>
      <a:lvl1pPr algn="ctr" rtl="0" eaLnBrk="0" fontAlgn="base" hangingPunct="0">
        <a:spcBef>
          <a:spcPct val="0"/>
        </a:spcBef>
        <a:spcAft>
          <a:spcPct val="0"/>
        </a:spcAft>
        <a:defRPr sz="3000">
          <a:solidFill>
            <a:schemeClr val="accent2"/>
          </a:solidFill>
          <a:latin typeface="+mj-lt"/>
          <a:ea typeface="+mj-ea"/>
          <a:cs typeface="+mj-cs"/>
        </a:defRPr>
      </a:lvl1pPr>
      <a:lvl2pPr algn="ctr" rtl="0" eaLnBrk="0" fontAlgn="base" hangingPunct="0">
        <a:spcBef>
          <a:spcPct val="0"/>
        </a:spcBef>
        <a:spcAft>
          <a:spcPct val="0"/>
        </a:spcAft>
        <a:defRPr sz="3000">
          <a:solidFill>
            <a:schemeClr val="accent2"/>
          </a:solidFill>
          <a:latin typeface="Arial" pitchFamily="34" charset="0"/>
        </a:defRPr>
      </a:lvl2pPr>
      <a:lvl3pPr algn="ctr" rtl="0" eaLnBrk="0" fontAlgn="base" hangingPunct="0">
        <a:spcBef>
          <a:spcPct val="0"/>
        </a:spcBef>
        <a:spcAft>
          <a:spcPct val="0"/>
        </a:spcAft>
        <a:defRPr sz="3000">
          <a:solidFill>
            <a:schemeClr val="accent2"/>
          </a:solidFill>
          <a:latin typeface="Arial" pitchFamily="34" charset="0"/>
        </a:defRPr>
      </a:lvl3pPr>
      <a:lvl4pPr algn="ctr" rtl="0" eaLnBrk="0" fontAlgn="base" hangingPunct="0">
        <a:spcBef>
          <a:spcPct val="0"/>
        </a:spcBef>
        <a:spcAft>
          <a:spcPct val="0"/>
        </a:spcAft>
        <a:defRPr sz="3000">
          <a:solidFill>
            <a:schemeClr val="accent2"/>
          </a:solidFill>
          <a:latin typeface="Arial" pitchFamily="34" charset="0"/>
        </a:defRPr>
      </a:lvl4pPr>
      <a:lvl5pPr algn="ctr" rtl="0" eaLnBrk="0" fontAlgn="base" hangingPunct="0">
        <a:spcBef>
          <a:spcPct val="0"/>
        </a:spcBef>
        <a:spcAft>
          <a:spcPct val="0"/>
        </a:spcAft>
        <a:defRPr sz="3000">
          <a:solidFill>
            <a:schemeClr val="accent2"/>
          </a:solidFill>
          <a:latin typeface="Arial" pitchFamily="34" charset="0"/>
        </a:defRPr>
      </a:lvl5pPr>
      <a:lvl6pPr marL="457200" algn="ctr" rtl="0" fontAlgn="base">
        <a:spcBef>
          <a:spcPct val="0"/>
        </a:spcBef>
        <a:spcAft>
          <a:spcPct val="0"/>
        </a:spcAft>
        <a:defRPr sz="3000">
          <a:solidFill>
            <a:schemeClr val="accent2"/>
          </a:solidFill>
          <a:latin typeface="Arial" pitchFamily="34" charset="0"/>
        </a:defRPr>
      </a:lvl6pPr>
      <a:lvl7pPr marL="914400" algn="ctr" rtl="0" fontAlgn="base">
        <a:spcBef>
          <a:spcPct val="0"/>
        </a:spcBef>
        <a:spcAft>
          <a:spcPct val="0"/>
        </a:spcAft>
        <a:defRPr sz="3000">
          <a:solidFill>
            <a:schemeClr val="accent2"/>
          </a:solidFill>
          <a:latin typeface="Arial" pitchFamily="34" charset="0"/>
        </a:defRPr>
      </a:lvl7pPr>
      <a:lvl8pPr marL="1371600" algn="ctr" rtl="0" fontAlgn="base">
        <a:spcBef>
          <a:spcPct val="0"/>
        </a:spcBef>
        <a:spcAft>
          <a:spcPct val="0"/>
        </a:spcAft>
        <a:defRPr sz="3000">
          <a:solidFill>
            <a:schemeClr val="accent2"/>
          </a:solidFill>
          <a:latin typeface="Arial" pitchFamily="34" charset="0"/>
        </a:defRPr>
      </a:lvl8pPr>
      <a:lvl9pPr marL="1828800" algn="ctr" rtl="0" fontAlgn="base">
        <a:spcBef>
          <a:spcPct val="0"/>
        </a:spcBef>
        <a:spcAft>
          <a:spcPct val="0"/>
        </a:spcAft>
        <a:defRPr sz="3000">
          <a:solidFill>
            <a:schemeClr val="accent2"/>
          </a:solidFill>
          <a:latin typeface="Arial" pitchFamily="34" charset="0"/>
        </a:defRPr>
      </a:lvl9pPr>
    </p:titleStyle>
    <p:bodyStyle>
      <a:lvl1pPr marL="342900" indent="-342900" algn="l" rtl="0" eaLnBrk="0" fontAlgn="base" hangingPunct="0">
        <a:spcBef>
          <a:spcPct val="20000"/>
        </a:spcBef>
        <a:spcAft>
          <a:spcPct val="0"/>
        </a:spcAft>
        <a:buChar char="•"/>
        <a:defRPr sz="2000">
          <a:solidFill>
            <a:schemeClr val="accent2"/>
          </a:solidFill>
          <a:latin typeface="+mn-lt"/>
          <a:ea typeface="+mn-ea"/>
          <a:cs typeface="+mn-cs"/>
        </a:defRPr>
      </a:lvl1pPr>
      <a:lvl2pPr marL="742950" indent="-285750" algn="l" rtl="0" eaLnBrk="0" fontAlgn="base" hangingPunct="0">
        <a:spcBef>
          <a:spcPct val="20000"/>
        </a:spcBef>
        <a:spcAft>
          <a:spcPct val="0"/>
        </a:spcAft>
        <a:buChar char="–"/>
        <a:defRPr>
          <a:solidFill>
            <a:schemeClr val="accent2"/>
          </a:solidFill>
          <a:latin typeface="+mn-lt"/>
        </a:defRPr>
      </a:lvl2pPr>
      <a:lvl3pPr marL="1143000" indent="-228600" algn="l" rtl="0" eaLnBrk="0" fontAlgn="base" hangingPunct="0">
        <a:spcBef>
          <a:spcPct val="20000"/>
        </a:spcBef>
        <a:spcAft>
          <a:spcPct val="0"/>
        </a:spcAft>
        <a:buChar char="•"/>
        <a:defRPr sz="1600">
          <a:solidFill>
            <a:schemeClr val="accent2"/>
          </a:solidFill>
          <a:latin typeface="+mn-lt"/>
        </a:defRPr>
      </a:lvl3pPr>
      <a:lvl4pPr marL="1600200" indent="-228600" algn="l" rtl="0" eaLnBrk="0" fontAlgn="base" hangingPunct="0">
        <a:spcBef>
          <a:spcPct val="20000"/>
        </a:spcBef>
        <a:spcAft>
          <a:spcPct val="0"/>
        </a:spcAft>
        <a:buChar char="–"/>
        <a:defRPr sz="1600">
          <a:solidFill>
            <a:schemeClr val="accent2"/>
          </a:solidFill>
          <a:latin typeface="+mn-lt"/>
        </a:defRPr>
      </a:lvl4pPr>
      <a:lvl5pPr marL="2057400" indent="-228600" algn="l" rtl="0" eaLnBrk="0" fontAlgn="base" hangingPunct="0">
        <a:spcBef>
          <a:spcPct val="20000"/>
        </a:spcBef>
        <a:spcAft>
          <a:spcPct val="0"/>
        </a:spcAft>
        <a:buChar char="»"/>
        <a:defRPr sz="1600">
          <a:solidFill>
            <a:schemeClr val="accent2"/>
          </a:solidFill>
          <a:latin typeface="+mn-lt"/>
        </a:defRPr>
      </a:lvl5pPr>
      <a:lvl6pPr marL="2514600" indent="-228600" algn="l" rtl="0" fontAlgn="base">
        <a:spcBef>
          <a:spcPct val="20000"/>
        </a:spcBef>
        <a:spcAft>
          <a:spcPct val="0"/>
        </a:spcAft>
        <a:buChar char="»"/>
        <a:defRPr sz="1600">
          <a:solidFill>
            <a:schemeClr val="accent2"/>
          </a:solidFill>
          <a:latin typeface="+mn-lt"/>
        </a:defRPr>
      </a:lvl6pPr>
      <a:lvl7pPr marL="2971800" indent="-228600" algn="l" rtl="0" fontAlgn="base">
        <a:spcBef>
          <a:spcPct val="20000"/>
        </a:spcBef>
        <a:spcAft>
          <a:spcPct val="0"/>
        </a:spcAft>
        <a:buChar char="»"/>
        <a:defRPr sz="1600">
          <a:solidFill>
            <a:schemeClr val="accent2"/>
          </a:solidFill>
          <a:latin typeface="+mn-lt"/>
        </a:defRPr>
      </a:lvl7pPr>
      <a:lvl8pPr marL="3429000" indent="-228600" algn="l" rtl="0" fontAlgn="base">
        <a:spcBef>
          <a:spcPct val="20000"/>
        </a:spcBef>
        <a:spcAft>
          <a:spcPct val="0"/>
        </a:spcAft>
        <a:buChar char="»"/>
        <a:defRPr sz="1600">
          <a:solidFill>
            <a:schemeClr val="accent2"/>
          </a:solidFill>
          <a:latin typeface="+mn-lt"/>
        </a:defRPr>
      </a:lvl8pPr>
      <a:lvl9pPr marL="3886200" indent="-228600" algn="l" rtl="0" fontAlgn="base">
        <a:spcBef>
          <a:spcPct val="20000"/>
        </a:spcBef>
        <a:spcAft>
          <a:spcPct val="0"/>
        </a:spcAft>
        <a:buChar char="»"/>
        <a:defRPr sz="1600">
          <a:solidFill>
            <a:schemeClr val="accent2"/>
          </a:solidFill>
          <a:latin typeface="+mn-lt"/>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7.xml"/><Relationship Id="rId4" Type="http://schemas.openxmlformats.org/officeDocument/2006/relationships/image" Target="../media/image2.jpeg"/></Relationships>
</file>

<file path=ppt/slides/_rels/slide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image" Target="../media/image4.jpeg"/></Relationships>
</file>

<file path=ppt/slides/_rels/slide2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7.wmf"/><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5.xml"/><Relationship Id="rId1" Type="http://schemas.openxmlformats.org/officeDocument/2006/relationships/slideLayout" Target="../slideLayouts/slideLayout2.xml"/><Relationship Id="rId5" Type="http://schemas.openxmlformats.org/officeDocument/2006/relationships/image" Target="../media/image11.jpeg"/><Relationship Id="rId4" Type="http://schemas.openxmlformats.org/officeDocument/2006/relationships/image" Target="../media/image10.jpeg"/></Relationships>
</file>

<file path=ppt/slides/_rels/slide26.xml.rels><?xml version="1.0" encoding="UTF-8" standalone="yes"?>
<Relationships xmlns="http://schemas.openxmlformats.org/package/2006/relationships"><Relationship Id="rId3" Type="http://schemas.openxmlformats.org/officeDocument/2006/relationships/image" Target="../media/image7.wmf"/><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7.wmf"/><Relationship Id="rId2" Type="http://schemas.openxmlformats.org/officeDocument/2006/relationships/notesSlide" Target="../notesSlides/notesSlide27.xml"/><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12.emf"/><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48.xml"/><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6.xml"/><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5.xml"/><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9.xml"/><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3.xml"/><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78.xml"/><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81.xml"/><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3" Type="http://schemas.openxmlformats.org/officeDocument/2006/relationships/image" Target="../media/image16.emf"/><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notesSlide" Target="../notesSlides/notesSlide84.xml"/><Relationship Id="rId1" Type="http://schemas.openxmlformats.org/officeDocument/2006/relationships/slideLayout" Target="../slideLayouts/slideLayout2.xml"/><Relationship Id="rId4" Type="http://schemas.openxmlformats.org/officeDocument/2006/relationships/image" Target="../media/image18.emf"/></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notesSlide" Target="../notesSlides/notesSlide92.xml"/><Relationship Id="rId1" Type="http://schemas.openxmlformats.org/officeDocument/2006/relationships/slideLayout" Target="../slideLayouts/slideLayout2.xml"/><Relationship Id="rId4" Type="http://schemas.openxmlformats.org/officeDocument/2006/relationships/image" Target="../media/image20.emf"/></Relationships>
</file>

<file path=ppt/slides/_rels/slide93.x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94.xml"/><Relationship Id="rId1" Type="http://schemas.openxmlformats.org/officeDocument/2006/relationships/slideLayout" Target="../slideLayouts/slideLayout2.xml"/><Relationship Id="rId4" Type="http://schemas.openxmlformats.org/officeDocument/2006/relationships/image" Target="../media/image4.jpeg"/></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96.xml"/><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97.xml"/><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98.xml"/><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99.xml"/><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0.xm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1.xml"/><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2.xml"/><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3.xml"/><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4.xml"/><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5.xml"/><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6.xml"/><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7.xml"/><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8.xml"/><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9.xml"/><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0.xml"/><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2.xml"/><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5.xml"/><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6.xml"/><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7.xml"/><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8.xml"/><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19.xml"/><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0.xml"/><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1.xml"/><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2.xml"/><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3.xml"/><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4.xml"/><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5.xml"/><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6.xml"/><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7.xml"/><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28.xml"/><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0.xml"/><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1.xml"/><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5.xml"/><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6.xml"/><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7.xml"/><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8.xml"/><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39.xml"/><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0.xml"/><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1.xml"/><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2.xml"/><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3.xml"/><Relationship Id="rId1" Type="http://schemas.openxmlformats.org/officeDocument/2006/relationships/slideLayout" Target="../slideLayouts/slideLayout6.xml"/></Relationships>
</file>

<file path=ppt/slides/_rels/slide14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4.xml"/><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5.xml"/><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6.xml"/><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7.xml"/><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8.xml"/><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49.xml"/><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1.xml"/><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4.xml"/><Relationship Id="rId1" Type="http://schemas.openxmlformats.org/officeDocument/2006/relationships/slideLayout" Target="../slideLayouts/slideLayout6.xml"/></Relationships>
</file>

<file path=ppt/slides/_rels/slide15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5.xml"/><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6.xml"/><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7.xml"/><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8.xml"/><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59.xml"/><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0.xml"/><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1.xml"/><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2.xml"/><Relationship Id="rId1" Type="http://schemas.openxmlformats.org/officeDocument/2006/relationships/slideLayout" Target="../slideLayouts/slideLayout6.xml"/></Relationships>
</file>

<file path=ppt/slides/_rels/slide16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3.xml"/><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4.xml"/><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5.xml"/><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6.xml"/><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8.xml"/><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69.xml"/><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0.xml"/><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3.xml"/><Relationship Id="rId1" Type="http://schemas.openxmlformats.org/officeDocument/2006/relationships/slideLayout" Target="../slideLayouts/slideLayout6.xml"/></Relationships>
</file>

<file path=ppt/slides/_rels/slide17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4.xml"/><Relationship Id="rId1" Type="http://schemas.openxmlformats.org/officeDocument/2006/relationships/slideLayout" Target="../slideLayouts/slideLayout6.xml"/></Relationships>
</file>

<file path=ppt/slides/_rels/slide17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5.xml"/><Relationship Id="rId1" Type="http://schemas.openxmlformats.org/officeDocument/2006/relationships/slideLayout" Target="../slideLayouts/slideLayout6.xml"/></Relationships>
</file>

<file path=ppt/slides/_rels/slide17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6.xml"/><Relationship Id="rId1" Type="http://schemas.openxmlformats.org/officeDocument/2006/relationships/slideLayout" Target="../slideLayouts/slideLayout6.xml"/></Relationships>
</file>

<file path=ppt/slides/_rels/slide17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7.xml"/><Relationship Id="rId1" Type="http://schemas.openxmlformats.org/officeDocument/2006/relationships/slideLayout" Target="../slideLayouts/slideLayout6.xml"/></Relationships>
</file>

<file path=ppt/slides/_rels/slide17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8.xml"/><Relationship Id="rId1" Type="http://schemas.openxmlformats.org/officeDocument/2006/relationships/slideLayout" Target="../slideLayouts/slideLayout6.xml"/></Relationships>
</file>

<file path=ppt/slides/_rels/slide17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79.xml"/><Relationship Id="rId1" Type="http://schemas.openxmlformats.org/officeDocument/2006/relationships/slideLayout" Target="../slideLayouts/slideLayout6.xml"/></Relationships>
</file>

<file path=ppt/slides/_rels/slide18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0.xml"/><Relationship Id="rId1" Type="http://schemas.openxmlformats.org/officeDocument/2006/relationships/slideLayout" Target="../slideLayouts/slideLayout6.xml"/></Relationships>
</file>

<file path=ppt/slides/_rels/slide18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1.xml"/><Relationship Id="rId1" Type="http://schemas.openxmlformats.org/officeDocument/2006/relationships/slideLayout" Target="../slideLayouts/slideLayout6.xml"/></Relationships>
</file>

<file path=ppt/slides/_rels/slide18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2.xml"/><Relationship Id="rId1" Type="http://schemas.openxmlformats.org/officeDocument/2006/relationships/slideLayout" Target="../slideLayouts/slideLayout6.xml"/></Relationships>
</file>

<file path=ppt/slides/_rels/slide18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3.xml"/><Relationship Id="rId1" Type="http://schemas.openxmlformats.org/officeDocument/2006/relationships/slideLayout" Target="../slideLayouts/slideLayout6.xml"/></Relationships>
</file>

<file path=ppt/slides/_rels/slide18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4.xml"/><Relationship Id="rId1" Type="http://schemas.openxmlformats.org/officeDocument/2006/relationships/slideLayout" Target="../slideLayouts/slideLayout6.xml"/></Relationships>
</file>

<file path=ppt/slides/_rels/slide18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5.xml"/><Relationship Id="rId1" Type="http://schemas.openxmlformats.org/officeDocument/2006/relationships/slideLayout" Target="../slideLayouts/slideLayout6.xml"/></Relationships>
</file>

<file path=ppt/slides/_rels/slide18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6.xml"/><Relationship Id="rId1" Type="http://schemas.openxmlformats.org/officeDocument/2006/relationships/slideLayout" Target="../slideLayouts/slideLayout6.xml"/></Relationships>
</file>

<file path=ppt/slides/_rels/slide18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7.xml"/><Relationship Id="rId1" Type="http://schemas.openxmlformats.org/officeDocument/2006/relationships/slideLayout" Target="../slideLayouts/slideLayout6.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89.xml"/><Relationship Id="rId1" Type="http://schemas.openxmlformats.org/officeDocument/2006/relationships/slideLayout" Target="../slideLayouts/slideLayout6.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191.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2.xml"/><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3.xml"/><Relationship Id="rId1" Type="http://schemas.openxmlformats.org/officeDocument/2006/relationships/slideLayout" Target="../slideLayouts/slideLayout6.xml"/></Relationships>
</file>

<file path=ppt/slides/_rels/slide19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4.xml"/><Relationship Id="rId1" Type="http://schemas.openxmlformats.org/officeDocument/2006/relationships/slideLayout" Target="../slideLayouts/slideLayout6.xml"/></Relationships>
</file>

<file path=ppt/slides/_rels/slide19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5.xml"/><Relationship Id="rId1" Type="http://schemas.openxmlformats.org/officeDocument/2006/relationships/slideLayout" Target="../slideLayouts/slideLayout6.xml"/></Relationships>
</file>

<file path=ppt/slides/_rels/slide19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6.xml"/><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7.xml"/><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8.xml"/><Relationship Id="rId1" Type="http://schemas.openxmlformats.org/officeDocument/2006/relationships/slideLayout" Target="../slideLayouts/slideLayout6.xml"/></Relationships>
</file>

<file path=ppt/slides/_rels/slide199.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9.xml"/><Relationship Id="rId1" Type="http://schemas.openxmlformats.org/officeDocument/2006/relationships/slideLayout" Target="../slideLayouts/slideLayout6.xml"/></Relationships>
</file>

<file path=ppt/slides/_rels/slide200.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0.xml"/><Relationship Id="rId1" Type="http://schemas.openxmlformats.org/officeDocument/2006/relationships/slideLayout" Target="../slideLayouts/slideLayout6.xml"/></Relationships>
</file>

<file path=ppt/slides/_rels/slide20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1.xml"/><Relationship Id="rId1" Type="http://schemas.openxmlformats.org/officeDocument/2006/relationships/slideLayout" Target="../slideLayouts/slideLayout6.xml"/></Relationships>
</file>

<file path=ppt/slides/_rels/slide20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2.xml"/><Relationship Id="rId1" Type="http://schemas.openxmlformats.org/officeDocument/2006/relationships/slideLayout" Target="../slideLayouts/slideLayout6.xml"/></Relationships>
</file>

<file path=ppt/slides/_rels/slide20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3.xml"/><Relationship Id="rId1" Type="http://schemas.openxmlformats.org/officeDocument/2006/relationships/slideLayout" Target="../slideLayouts/slideLayout6.xml"/></Relationships>
</file>

<file path=ppt/slides/_rels/slide20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4.xml"/><Relationship Id="rId1" Type="http://schemas.openxmlformats.org/officeDocument/2006/relationships/slideLayout" Target="../slideLayouts/slideLayout6.xml"/></Relationships>
</file>

<file path=ppt/slides/_rels/slide205.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5.xml"/><Relationship Id="rId1" Type="http://schemas.openxmlformats.org/officeDocument/2006/relationships/slideLayout" Target="../slideLayouts/slideLayout6.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7.xml"/><Relationship Id="rId1" Type="http://schemas.openxmlformats.org/officeDocument/2006/relationships/slideLayout" Target="../slideLayouts/slideLayout6.xml"/></Relationships>
</file>

<file path=ppt/slides/_rels/slide208.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208.xml"/><Relationship Id="rId1" Type="http://schemas.openxmlformats.org/officeDocument/2006/relationships/slideLayout" Target="../slideLayouts/slideLayout6.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10.xml"/><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1.xml"/></Relationships>
</file>

<file path=ppt/slides/_rels/slide21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13.xml"/><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3" Type="http://schemas.openxmlformats.org/officeDocument/2006/relationships/image" Target="../media/image23.emf"/><Relationship Id="rId2" Type="http://schemas.openxmlformats.org/officeDocument/2006/relationships/notesSlide" Target="../notesSlides/notesSlide215.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 descr="C:\Users\bertrands\Dropbox\PRODUCTION\2013 Illustrations Logo jeux\06-Logos jeux Validés\JPG rvb 240dpi A5\2012-LogoBL CIPE-72dpi-RVB.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06820" y="5805265"/>
            <a:ext cx="2130359" cy="844507"/>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2" descr="C:\Users\BertrandS\Dropbox\Marketing\logos Jeux\a logos 300 dpi\kanban_300dpi.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43587" y="884852"/>
            <a:ext cx="4656826" cy="350232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9413482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Grp="1" noChangeArrowheads="1"/>
          </p:cNvSpPr>
          <p:nvPr>
            <p:ph type="title"/>
          </p:nvPr>
        </p:nvSpPr>
        <p:spPr/>
        <p:txBody>
          <a:bodyPr/>
          <a:lstStyle/>
          <a:p>
            <a:pPr eaLnBrk="1" hangingPunct="1"/>
            <a:r>
              <a:rPr lang="fr-FR" altLang="fr-FR" dirty="0"/>
              <a:t>Préambule</a:t>
            </a:r>
          </a:p>
        </p:txBody>
      </p:sp>
      <p:sp>
        <p:nvSpPr>
          <p:cNvPr id="4099" name="Rectangle 3"/>
          <p:cNvSpPr>
            <a:spLocks noGrp="1" noChangeArrowheads="1"/>
          </p:cNvSpPr>
          <p:nvPr>
            <p:ph type="body" idx="1"/>
          </p:nvPr>
        </p:nvSpPr>
        <p:spPr>
          <a:xfrm>
            <a:off x="598488" y="1349375"/>
            <a:ext cx="6837362" cy="3897313"/>
          </a:xfrm>
        </p:spPr>
        <p:txBody>
          <a:bodyPr/>
          <a:lstStyle/>
          <a:p>
            <a:pPr eaLnBrk="1" hangingPunct="1">
              <a:buFont typeface="Wingdings" pitchFamily="2" charset="2"/>
              <a:buChar char="Ø"/>
            </a:pPr>
            <a:r>
              <a:rPr lang="fr-FR" altLang="fr-FR" dirty="0"/>
              <a:t>Certaines des diapos du Guide sont destinées à l’animateur, d’autres aux participants. </a:t>
            </a:r>
          </a:p>
          <a:p>
            <a:pPr eaLnBrk="1" hangingPunct="1">
              <a:buFont typeface="Wingdings" pitchFamily="2" charset="2"/>
              <a:buChar char="Ø"/>
            </a:pPr>
            <a:endParaRPr lang="fr-FR" altLang="fr-FR" dirty="0"/>
          </a:p>
          <a:p>
            <a:pPr eaLnBrk="1" hangingPunct="1">
              <a:buFont typeface="Wingdings" pitchFamily="2" charset="2"/>
              <a:buChar char="Ø"/>
            </a:pPr>
            <a:r>
              <a:rPr lang="fr-FR" altLang="fr-FR" dirty="0"/>
              <a:t>Les diapos de l’animateur sont signalées par le logo ci-contre. Elles devront être masquées au moment de la projection.</a:t>
            </a:r>
          </a:p>
          <a:p>
            <a:pPr eaLnBrk="1" hangingPunct="1">
              <a:buFont typeface="Wingdings" pitchFamily="2" charset="2"/>
              <a:buChar char="Ø"/>
            </a:pPr>
            <a:endParaRPr lang="fr-FR" altLang="fr-FR" dirty="0"/>
          </a:p>
        </p:txBody>
      </p:sp>
      <p:pic>
        <p:nvPicPr>
          <p:cNvPr id="8"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7603032" y="231659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p:txBody>
          <a:bodyPr/>
          <a:lstStyle/>
          <a:p>
            <a:pPr eaLnBrk="1" hangingPunct="1"/>
            <a:r>
              <a:rPr lang="fr-FR" altLang="fr-FR" dirty="0"/>
              <a:t>Sommaire du diaporama</a:t>
            </a:r>
          </a:p>
        </p:txBody>
      </p:sp>
      <p:sp>
        <p:nvSpPr>
          <p:cNvPr id="5123" name="Rectangle 3"/>
          <p:cNvSpPr>
            <a:spLocks noGrp="1" noChangeArrowheads="1"/>
          </p:cNvSpPr>
          <p:nvPr>
            <p:ph type="body" idx="1"/>
          </p:nvPr>
        </p:nvSpPr>
        <p:spPr>
          <a:xfrm>
            <a:off x="1487487" y="981075"/>
            <a:ext cx="5856287" cy="4953000"/>
          </a:xfrm>
        </p:spPr>
        <p:txBody>
          <a:bodyPr/>
          <a:lstStyle/>
          <a:p>
            <a:pPr eaLnBrk="1" hangingPunct="1">
              <a:lnSpc>
                <a:spcPct val="110000"/>
              </a:lnSpc>
              <a:tabLst>
                <a:tab pos="5381625" algn="r"/>
              </a:tabLst>
            </a:pPr>
            <a:r>
              <a:rPr lang="fr-FR" altLang="fr-FR" sz="1800" b="1" dirty="0"/>
              <a:t>Règles du jeu pour l’animateur	4</a:t>
            </a:r>
          </a:p>
          <a:p>
            <a:pPr lvl="1" eaLnBrk="1" hangingPunct="1">
              <a:lnSpc>
                <a:spcPct val="110000"/>
              </a:lnSpc>
              <a:tabLst>
                <a:tab pos="5381625" algn="r"/>
              </a:tabLst>
            </a:pPr>
            <a:r>
              <a:rPr lang="fr-FR" altLang="fr-FR" sz="1600" dirty="0"/>
              <a:t>Objectif du Jeu	5</a:t>
            </a:r>
          </a:p>
          <a:p>
            <a:pPr lvl="1" eaLnBrk="1" hangingPunct="1">
              <a:lnSpc>
                <a:spcPct val="110000"/>
              </a:lnSpc>
              <a:tabLst>
                <a:tab pos="5381625" algn="r"/>
              </a:tabLst>
            </a:pPr>
            <a:r>
              <a:rPr lang="fr-FR" altLang="fr-FR" sz="1600" dirty="0"/>
              <a:t>Vue d’ensemble de la simulation	7</a:t>
            </a:r>
          </a:p>
          <a:p>
            <a:pPr lvl="1" eaLnBrk="1" hangingPunct="1">
              <a:lnSpc>
                <a:spcPct val="110000"/>
              </a:lnSpc>
              <a:tabLst>
                <a:tab pos="5381625" algn="r"/>
              </a:tabLst>
            </a:pPr>
            <a:r>
              <a:rPr lang="fr-FR" altLang="fr-FR" sz="1600" dirty="0"/>
              <a:t>Horaire	17</a:t>
            </a:r>
          </a:p>
          <a:p>
            <a:pPr lvl="1" eaLnBrk="1" hangingPunct="1">
              <a:lnSpc>
                <a:spcPct val="110000"/>
              </a:lnSpc>
              <a:tabLst>
                <a:tab pos="5381625" algn="r"/>
              </a:tabLst>
            </a:pPr>
            <a:r>
              <a:rPr lang="fr-FR" altLang="fr-FR" sz="1600" dirty="0"/>
              <a:t>Participants	19</a:t>
            </a:r>
          </a:p>
          <a:p>
            <a:pPr lvl="1" eaLnBrk="1" hangingPunct="1">
              <a:lnSpc>
                <a:spcPct val="110000"/>
              </a:lnSpc>
              <a:tabLst>
                <a:tab pos="5381625" algn="r"/>
              </a:tabLst>
            </a:pPr>
            <a:r>
              <a:rPr lang="fr-FR" altLang="fr-FR" sz="1600" dirty="0"/>
              <a:t>Check List du matériel	20</a:t>
            </a:r>
          </a:p>
          <a:p>
            <a:pPr lvl="1" eaLnBrk="1" hangingPunct="1">
              <a:lnSpc>
                <a:spcPct val="110000"/>
              </a:lnSpc>
              <a:tabLst>
                <a:tab pos="5381625" algn="r"/>
              </a:tabLst>
            </a:pPr>
            <a:r>
              <a:rPr lang="fr-FR" altLang="fr-FR" sz="1600" dirty="0"/>
              <a:t>Préparation de la salle	22</a:t>
            </a:r>
          </a:p>
          <a:p>
            <a:pPr eaLnBrk="1" hangingPunct="1">
              <a:lnSpc>
                <a:spcPct val="110000"/>
              </a:lnSpc>
              <a:tabLst>
                <a:tab pos="5381625" algn="r"/>
              </a:tabLst>
            </a:pPr>
            <a:r>
              <a:rPr lang="fr-FR" altLang="fr-FR" sz="1800" b="1" dirty="0"/>
              <a:t>Présentation du jeu aux participants	23</a:t>
            </a:r>
          </a:p>
          <a:p>
            <a:pPr eaLnBrk="1" hangingPunct="1">
              <a:lnSpc>
                <a:spcPct val="110000"/>
              </a:lnSpc>
              <a:tabLst>
                <a:tab pos="5381625" algn="r"/>
              </a:tabLst>
            </a:pPr>
            <a:r>
              <a:rPr lang="fr-FR" altLang="fr-FR" sz="1800" b="1" dirty="0"/>
              <a:t>Début de la simulation	47</a:t>
            </a:r>
          </a:p>
          <a:p>
            <a:pPr lvl="1" eaLnBrk="1" hangingPunct="1">
              <a:lnSpc>
                <a:spcPct val="110000"/>
              </a:lnSpc>
              <a:tabLst>
                <a:tab pos="5381625" algn="r"/>
              </a:tabLst>
            </a:pPr>
            <a:r>
              <a:rPr lang="fr-FR" altLang="fr-FR" sz="1600" dirty="0"/>
              <a:t>Semaine 1	48</a:t>
            </a:r>
          </a:p>
          <a:p>
            <a:pPr lvl="1" eaLnBrk="1" hangingPunct="1">
              <a:lnSpc>
                <a:spcPct val="110000"/>
              </a:lnSpc>
              <a:tabLst>
                <a:tab pos="5381625" algn="r"/>
              </a:tabLst>
            </a:pPr>
            <a:r>
              <a:rPr lang="fr-FR" altLang="fr-FR" sz="1600" dirty="0"/>
              <a:t>Semaine 2	86</a:t>
            </a:r>
          </a:p>
          <a:p>
            <a:pPr lvl="1" eaLnBrk="1" hangingPunct="1">
              <a:lnSpc>
                <a:spcPct val="110000"/>
              </a:lnSpc>
              <a:tabLst>
                <a:tab pos="5381625" algn="r"/>
              </a:tabLst>
            </a:pPr>
            <a:r>
              <a:rPr lang="fr-FR" altLang="fr-FR" sz="1600" dirty="0"/>
              <a:t>Semaine 3	134</a:t>
            </a:r>
          </a:p>
          <a:p>
            <a:pPr lvl="1" eaLnBrk="1" hangingPunct="1">
              <a:lnSpc>
                <a:spcPct val="110000"/>
              </a:lnSpc>
              <a:tabLst>
                <a:tab pos="5381625" algn="r"/>
              </a:tabLst>
            </a:pPr>
            <a:r>
              <a:rPr lang="fr-FR" altLang="fr-FR" sz="1600" dirty="0"/>
              <a:t>Semaine 4	173</a:t>
            </a:r>
          </a:p>
          <a:p>
            <a:pPr eaLnBrk="1" hangingPunct="1">
              <a:lnSpc>
                <a:spcPct val="110000"/>
              </a:lnSpc>
              <a:tabLst>
                <a:tab pos="5381625" algn="r"/>
              </a:tabLst>
            </a:pPr>
            <a:r>
              <a:rPr lang="fr-FR" altLang="fr-FR" sz="1800" b="1" dirty="0" err="1"/>
              <a:t>Debriefing</a:t>
            </a:r>
            <a:r>
              <a:rPr lang="fr-FR" altLang="fr-FR" sz="1800" b="1" dirty="0"/>
              <a:t>	210</a:t>
            </a:r>
          </a:p>
          <a:p>
            <a:pPr eaLnBrk="1" hangingPunct="1">
              <a:lnSpc>
                <a:spcPct val="110000"/>
              </a:lnSpc>
              <a:tabLst>
                <a:tab pos="5381625" algn="r"/>
              </a:tabLst>
            </a:pPr>
            <a:r>
              <a:rPr lang="fr-FR" altLang="fr-FR" sz="1800" b="1" dirty="0"/>
              <a:t>Variante financière	212</a:t>
            </a:r>
          </a:p>
        </p:txBody>
      </p:sp>
      <p:pic>
        <p:nvPicPr>
          <p:cNvPr id="30"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27A8E0"/>
        </a:solidFill>
        <a:effectLst/>
      </p:bgPr>
    </p:bg>
    <p:spTree>
      <p:nvGrpSpPr>
        <p:cNvPr id="1" name=""/>
        <p:cNvGrpSpPr/>
        <p:nvPr/>
      </p:nvGrpSpPr>
      <p:grpSpPr>
        <a:xfrm>
          <a:off x="0" y="0"/>
          <a:ext cx="0" cy="0"/>
          <a:chOff x="0" y="0"/>
          <a:chExt cx="0" cy="0"/>
        </a:xfrm>
      </p:grpSpPr>
      <p:sp>
        <p:nvSpPr>
          <p:cNvPr id="6146" name="Rectangle 2"/>
          <p:cNvSpPr>
            <a:spLocks noGrp="1" noChangeArrowheads="1"/>
          </p:cNvSpPr>
          <p:nvPr>
            <p:ph type="ctrTitle" idx="4294967295"/>
          </p:nvPr>
        </p:nvSpPr>
        <p:spPr>
          <a:xfrm>
            <a:off x="704850" y="1905000"/>
            <a:ext cx="7772400" cy="636588"/>
          </a:xfrm>
          <a:noFill/>
        </p:spPr>
        <p:txBody>
          <a:bodyPr/>
          <a:lstStyle/>
          <a:p>
            <a:pPr eaLnBrk="1" hangingPunct="1"/>
            <a:r>
              <a:rPr lang="fr-FR" altLang="fr-FR" b="1">
                <a:solidFill>
                  <a:schemeClr val="bg1"/>
                </a:solidFill>
              </a:rPr>
              <a:t>Règles du jeu pour l’animateur</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2"/>
          <p:cNvSpPr>
            <a:spLocks noGrp="1" noChangeArrowheads="1"/>
          </p:cNvSpPr>
          <p:nvPr>
            <p:ph type="title"/>
          </p:nvPr>
        </p:nvSpPr>
        <p:spPr/>
        <p:txBody>
          <a:bodyPr/>
          <a:lstStyle/>
          <a:p>
            <a:pPr eaLnBrk="1" hangingPunct="1"/>
            <a:r>
              <a:rPr lang="fr-FR" altLang="fr-FR" dirty="0"/>
              <a:t>Objectif du jeu</a:t>
            </a:r>
          </a:p>
        </p:txBody>
      </p:sp>
      <p:sp>
        <p:nvSpPr>
          <p:cNvPr id="7171" name="Rectangle 3"/>
          <p:cNvSpPr>
            <a:spLocks noGrp="1" noChangeArrowheads="1"/>
          </p:cNvSpPr>
          <p:nvPr>
            <p:ph type="body" idx="1"/>
          </p:nvPr>
        </p:nvSpPr>
        <p:spPr>
          <a:xfrm>
            <a:off x="317500" y="1344613"/>
            <a:ext cx="8531225" cy="4819650"/>
          </a:xfrm>
        </p:spPr>
        <p:txBody>
          <a:bodyPr/>
          <a:lstStyle/>
          <a:p>
            <a:pPr eaLnBrk="1" hangingPunct="1">
              <a:lnSpc>
                <a:spcPct val="130000"/>
              </a:lnSpc>
            </a:pPr>
            <a:r>
              <a:rPr lang="fr-FR" altLang="fr-FR"/>
              <a:t>Confier aux participants la responsabilité d’une unité de production.</a:t>
            </a:r>
          </a:p>
          <a:p>
            <a:pPr eaLnBrk="1" hangingPunct="1">
              <a:lnSpc>
                <a:spcPct val="130000"/>
              </a:lnSpc>
            </a:pPr>
            <a:r>
              <a:rPr lang="fr-FR" altLang="fr-FR"/>
              <a:t>Leur faire sentir qu’il est difficile de livrer les clients à temps.</a:t>
            </a:r>
          </a:p>
          <a:p>
            <a:pPr eaLnBrk="1" hangingPunct="1">
              <a:lnSpc>
                <a:spcPct val="130000"/>
              </a:lnSpc>
            </a:pPr>
            <a:r>
              <a:rPr lang="fr-FR" altLang="fr-FR"/>
              <a:t>Leur faire analyser les raisons de ces difficultés : manque de flexibilité de la production, impact des incidents.</a:t>
            </a:r>
          </a:p>
          <a:p>
            <a:pPr eaLnBrk="1" hangingPunct="1">
              <a:lnSpc>
                <a:spcPct val="130000"/>
              </a:lnSpc>
            </a:pPr>
            <a:r>
              <a:rPr lang="fr-FR" altLang="fr-FR"/>
              <a:t>Les conduire à :</a:t>
            </a:r>
          </a:p>
          <a:p>
            <a:pPr lvl="1" eaLnBrk="1" hangingPunct="1">
              <a:lnSpc>
                <a:spcPct val="130000"/>
              </a:lnSpc>
            </a:pPr>
            <a:r>
              <a:rPr lang="fr-FR" altLang="fr-FR" sz="1700"/>
              <a:t>changer de mode de programmation (du flux poussé au flux tiré) </a:t>
            </a:r>
          </a:p>
          <a:p>
            <a:pPr lvl="1" eaLnBrk="1" hangingPunct="1">
              <a:lnSpc>
                <a:spcPct val="130000"/>
              </a:lnSpc>
            </a:pPr>
            <a:r>
              <a:rPr lang="fr-FR" altLang="fr-FR" sz="1700"/>
              <a:t>mettre en œuvre une stratégie de progrès (SMED, qualité, maintenance …).</a:t>
            </a:r>
          </a:p>
          <a:p>
            <a:pPr eaLnBrk="1" hangingPunct="1">
              <a:lnSpc>
                <a:spcPct val="130000"/>
              </a:lnSpc>
            </a:pPr>
            <a:endParaRPr lang="fr-FR" altLang="fr-FR" sz="1700"/>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2"/>
          <p:cNvSpPr>
            <a:spLocks noGrp="1" noChangeArrowheads="1"/>
          </p:cNvSpPr>
          <p:nvPr>
            <p:ph type="title"/>
          </p:nvPr>
        </p:nvSpPr>
        <p:spPr/>
        <p:txBody>
          <a:bodyPr/>
          <a:lstStyle/>
          <a:p>
            <a:pPr eaLnBrk="1" hangingPunct="1"/>
            <a:r>
              <a:rPr lang="fr-FR" altLang="fr-FR"/>
              <a:t>Variante financière</a:t>
            </a:r>
          </a:p>
        </p:txBody>
      </p:sp>
      <p:sp>
        <p:nvSpPr>
          <p:cNvPr id="8195" name="Rectangle 3"/>
          <p:cNvSpPr>
            <a:spLocks noGrp="1" noChangeArrowheads="1"/>
          </p:cNvSpPr>
          <p:nvPr>
            <p:ph type="body" idx="1"/>
          </p:nvPr>
        </p:nvSpPr>
        <p:spPr>
          <a:xfrm>
            <a:off x="376238" y="1084263"/>
            <a:ext cx="8531225" cy="5311775"/>
          </a:xfrm>
        </p:spPr>
        <p:txBody>
          <a:bodyPr/>
          <a:lstStyle/>
          <a:p>
            <a:pPr eaLnBrk="1" hangingPunct="1"/>
            <a:r>
              <a:rPr lang="fr-FR" altLang="fr-FR"/>
              <a:t>Dans la version standard du jeu, nous donnons aux équipes trois objectifs indépendants : service client, efficience de la production, niveau des stocks. </a:t>
            </a:r>
          </a:p>
          <a:p>
            <a:pPr lvl="1" eaLnBrk="1" hangingPunct="1"/>
            <a:r>
              <a:rPr lang="fr-FR" altLang="fr-FR"/>
              <a:t>Une équipe aura par exemple des stocks faibles et un mauvais service client, une autre équipe aura l’inverse. Il n’est pas toujours possible de désigner une équipe gagnante.</a:t>
            </a:r>
          </a:p>
          <a:p>
            <a:pPr eaLnBrk="1" hangingPunct="1"/>
            <a:r>
              <a:rPr lang="fr-FR" altLang="fr-FR"/>
              <a:t>Si l’animateur le désire, il peut introduire une variante financière, dans laquelle tous les indicateurs sont transformés en €. Cette variante est introduite en début de semaine 2.</a:t>
            </a:r>
          </a:p>
          <a:p>
            <a:pPr lvl="1" eaLnBrk="1" hangingPunct="1"/>
            <a:r>
              <a:rPr lang="fr-FR" altLang="fr-FR"/>
              <a:t>Cela rend la partie plus stimulante, mais il faut prévoir environ ½ h de plus.</a:t>
            </a:r>
          </a:p>
          <a:p>
            <a:pPr lvl="1" eaLnBrk="1" hangingPunct="1"/>
            <a:r>
              <a:rPr lang="fr-FR" altLang="fr-FR"/>
              <a:t>Les diapos introduisant cette variante sont placées à la fin du diaporama. </a:t>
            </a:r>
          </a:p>
          <a:p>
            <a:pPr lvl="1" eaLnBrk="1" hangingPunct="1"/>
            <a:r>
              <a:rPr lang="fr-FR" altLang="fr-FR"/>
              <a:t>Un document est nécessaire : il s’appelle « variante financière » (voir CD Rom). </a:t>
            </a:r>
          </a:p>
          <a:p>
            <a:pPr lvl="2" eaLnBrk="1" hangingPunct="1"/>
            <a:r>
              <a:rPr lang="fr-FR" altLang="fr-FR"/>
              <a:t>Il doit être distribué à chaque table en trois exemplaires au moins (un ou deux pour la préparation de la stratégie, un pour les calculs en fin de partie).</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AutoShape 29"/>
          <p:cNvSpPr>
            <a:spLocks noChangeArrowheads="1"/>
          </p:cNvSpPr>
          <p:nvPr/>
        </p:nvSpPr>
        <p:spPr bwMode="auto">
          <a:xfrm>
            <a:off x="186690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 name="Rectangle 2"/>
          <p:cNvSpPr>
            <a:spLocks noGrp="1" noChangeArrowheads="1"/>
          </p:cNvSpPr>
          <p:nvPr>
            <p:ph type="title"/>
          </p:nvPr>
        </p:nvSpPr>
        <p:spPr/>
        <p:txBody>
          <a:bodyPr/>
          <a:lstStyle/>
          <a:p>
            <a:pPr eaLnBrk="1" hangingPunct="1"/>
            <a:r>
              <a:rPr lang="fr-FR" altLang="fr-FR"/>
              <a:t>Vue d’ensemble de la simulation</a:t>
            </a:r>
          </a:p>
        </p:txBody>
      </p:sp>
      <p:sp>
        <p:nvSpPr>
          <p:cNvPr id="9220" name="Rectangle 4"/>
          <p:cNvSpPr>
            <a:spLocks noChangeArrowheads="1"/>
          </p:cNvSpPr>
          <p:nvPr/>
        </p:nvSpPr>
        <p:spPr bwMode="auto">
          <a:xfrm>
            <a:off x="915988"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 Présentation du jeu + préparation du planning de production</a:t>
            </a:r>
          </a:p>
        </p:txBody>
      </p:sp>
      <p:sp>
        <p:nvSpPr>
          <p:cNvPr id="9221" name="Rectangle 5"/>
          <p:cNvSpPr>
            <a:spLocks noChangeArrowheads="1"/>
          </p:cNvSpPr>
          <p:nvPr/>
        </p:nvSpPr>
        <p:spPr bwMode="auto">
          <a:xfrm>
            <a:off x="91122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 Simulation semaine 1</a:t>
            </a:r>
          </a:p>
        </p:txBody>
      </p:sp>
      <p:sp>
        <p:nvSpPr>
          <p:cNvPr id="9222" name="Rectangle 8"/>
          <p:cNvSpPr>
            <a:spLocks noChangeArrowheads="1"/>
          </p:cNvSpPr>
          <p:nvPr/>
        </p:nvSpPr>
        <p:spPr bwMode="auto">
          <a:xfrm>
            <a:off x="91598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4. Simulation semaine 2</a:t>
            </a:r>
          </a:p>
        </p:txBody>
      </p:sp>
      <p:sp>
        <p:nvSpPr>
          <p:cNvPr id="9223" name="Rectangle 9"/>
          <p:cNvSpPr>
            <a:spLocks noChangeArrowheads="1"/>
          </p:cNvSpPr>
          <p:nvPr/>
        </p:nvSpPr>
        <p:spPr bwMode="auto">
          <a:xfrm>
            <a:off x="91598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5. Simulation semaine 3</a:t>
            </a:r>
          </a:p>
        </p:txBody>
      </p:sp>
      <p:sp>
        <p:nvSpPr>
          <p:cNvPr id="9224" name="Rectangle 10"/>
          <p:cNvSpPr>
            <a:spLocks noChangeArrowheads="1"/>
          </p:cNvSpPr>
          <p:nvPr/>
        </p:nvSpPr>
        <p:spPr bwMode="auto">
          <a:xfrm>
            <a:off x="91598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 Mise en place des tickets Kanban</a:t>
            </a:r>
          </a:p>
        </p:txBody>
      </p:sp>
      <p:sp>
        <p:nvSpPr>
          <p:cNvPr id="9225" name="Rectangle 12"/>
          <p:cNvSpPr>
            <a:spLocks noChangeArrowheads="1"/>
          </p:cNvSpPr>
          <p:nvPr/>
        </p:nvSpPr>
        <p:spPr bwMode="auto">
          <a:xfrm>
            <a:off x="3233738" y="1946275"/>
            <a:ext cx="2338387" cy="417513"/>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Production en flux poussé</a:t>
            </a:r>
          </a:p>
        </p:txBody>
      </p:sp>
      <p:sp>
        <p:nvSpPr>
          <p:cNvPr id="9226" name="Rectangle 13"/>
          <p:cNvSpPr>
            <a:spLocks noChangeArrowheads="1"/>
          </p:cNvSpPr>
          <p:nvPr/>
        </p:nvSpPr>
        <p:spPr bwMode="auto">
          <a:xfrm>
            <a:off x="3225800" y="3238500"/>
            <a:ext cx="2336800" cy="495300"/>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1</a:t>
            </a:r>
            <a:r>
              <a:rPr lang="fr-FR" altLang="fr-FR" sz="1300" baseline="30000">
                <a:solidFill>
                  <a:schemeClr val="tx1"/>
                </a:solidFill>
              </a:rPr>
              <a:t>ère</a:t>
            </a:r>
            <a:r>
              <a:rPr lang="fr-FR" altLang="fr-FR" sz="1300">
                <a:solidFill>
                  <a:schemeClr val="tx1"/>
                </a:solidFill>
              </a:rPr>
              <a:t> simulation Kanban avec un flux peu tendu</a:t>
            </a:r>
          </a:p>
        </p:txBody>
      </p:sp>
      <p:sp>
        <p:nvSpPr>
          <p:cNvPr id="9227" name="Rectangle 14"/>
          <p:cNvSpPr>
            <a:spLocks noChangeArrowheads="1"/>
          </p:cNvSpPr>
          <p:nvPr/>
        </p:nvSpPr>
        <p:spPr bwMode="auto">
          <a:xfrm>
            <a:off x="91598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6. Simulation semaine 4</a:t>
            </a:r>
          </a:p>
        </p:txBody>
      </p:sp>
      <p:sp>
        <p:nvSpPr>
          <p:cNvPr id="9228" name="Rectangle 16"/>
          <p:cNvSpPr>
            <a:spLocks noChangeArrowheads="1"/>
          </p:cNvSpPr>
          <p:nvPr/>
        </p:nvSpPr>
        <p:spPr bwMode="auto">
          <a:xfrm>
            <a:off x="3216275" y="3903663"/>
            <a:ext cx="2347913" cy="495300"/>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2</a:t>
            </a:r>
            <a:r>
              <a:rPr lang="fr-FR" altLang="fr-FR" sz="1300" baseline="30000">
                <a:solidFill>
                  <a:schemeClr val="tx1"/>
                </a:solidFill>
              </a:rPr>
              <a:t>ème</a:t>
            </a:r>
            <a:r>
              <a:rPr lang="fr-FR" altLang="fr-FR" sz="1300">
                <a:solidFill>
                  <a:schemeClr val="tx1"/>
                </a:solidFill>
              </a:rPr>
              <a:t> simulation Kanban avec un flux tendu</a:t>
            </a:r>
          </a:p>
        </p:txBody>
      </p:sp>
      <p:sp>
        <p:nvSpPr>
          <p:cNvPr id="9229" name="Rectangle 17"/>
          <p:cNvSpPr>
            <a:spLocks noChangeArrowheads="1"/>
          </p:cNvSpPr>
          <p:nvPr/>
        </p:nvSpPr>
        <p:spPr bwMode="auto">
          <a:xfrm>
            <a:off x="3216275" y="4538663"/>
            <a:ext cx="2339975" cy="522287"/>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3</a:t>
            </a:r>
            <a:r>
              <a:rPr lang="fr-FR" altLang="fr-FR" sz="1300" baseline="30000">
                <a:solidFill>
                  <a:schemeClr val="tx1"/>
                </a:solidFill>
              </a:rPr>
              <a:t>ème</a:t>
            </a:r>
            <a:r>
              <a:rPr lang="fr-FR" altLang="fr-FR" sz="1300">
                <a:solidFill>
                  <a:schemeClr val="tx1"/>
                </a:solidFill>
              </a:rPr>
              <a:t> simulation Kanban avec un stock très faible</a:t>
            </a:r>
          </a:p>
        </p:txBody>
      </p:sp>
      <p:sp>
        <p:nvSpPr>
          <p:cNvPr id="9230" name="AutoShape 20"/>
          <p:cNvSpPr>
            <a:spLocks noChangeArrowheads="1"/>
          </p:cNvSpPr>
          <p:nvPr/>
        </p:nvSpPr>
        <p:spPr bwMode="auto">
          <a:xfrm>
            <a:off x="5727700" y="2987675"/>
            <a:ext cx="2576513" cy="1079500"/>
          </a:xfrm>
          <a:prstGeom prst="leftArrowCallout">
            <a:avLst>
              <a:gd name="adj1" fmla="val 25000"/>
              <a:gd name="adj2" fmla="val 25000"/>
              <a:gd name="adj3" fmla="val 39779"/>
              <a:gd name="adj4" fmla="val 74185"/>
            </a:avLst>
          </a:prstGeom>
          <a:solidFill>
            <a:srgbClr val="FFFF99"/>
          </a:solidFill>
          <a:ln w="6350" algn="ctr">
            <a:solidFill>
              <a:schemeClr val="tx2"/>
            </a:solidFill>
            <a:miter lim="800000"/>
            <a:headEnd/>
            <a:tailEnd/>
          </a:ln>
        </p:spPr>
        <p:txBody>
          <a:bodyPr lIns="54000" rIns="54000"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lnSpc>
                <a:spcPct val="120000"/>
              </a:lnSpc>
              <a:spcBef>
                <a:spcPct val="0"/>
              </a:spcBef>
              <a:buFontTx/>
              <a:buNone/>
            </a:pPr>
            <a:r>
              <a:rPr lang="fr-FR" altLang="fr-FR" sz="1300">
                <a:solidFill>
                  <a:schemeClr val="tx1"/>
                </a:solidFill>
              </a:rPr>
              <a:t>A partir de la semaine 2 des progrès sont décidés par les équipes (SMED, qualité, etc.)</a:t>
            </a:r>
          </a:p>
        </p:txBody>
      </p:sp>
      <p:sp>
        <p:nvSpPr>
          <p:cNvPr id="9231" name="Text Box 23"/>
          <p:cNvSpPr txBox="1">
            <a:spLocks noChangeArrowheads="1"/>
          </p:cNvSpPr>
          <p:nvPr/>
        </p:nvSpPr>
        <p:spPr bwMode="auto">
          <a:xfrm>
            <a:off x="361950" y="1243013"/>
            <a:ext cx="552450"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1h30</a:t>
            </a:r>
          </a:p>
        </p:txBody>
      </p:sp>
      <p:sp>
        <p:nvSpPr>
          <p:cNvPr id="9232" name="Text Box 24"/>
          <p:cNvSpPr txBox="1">
            <a:spLocks noChangeArrowheads="1"/>
          </p:cNvSpPr>
          <p:nvPr/>
        </p:nvSpPr>
        <p:spPr bwMode="auto">
          <a:xfrm>
            <a:off x="225425" y="1992313"/>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9233" name="Text Box 25"/>
          <p:cNvSpPr txBox="1">
            <a:spLocks noChangeArrowheads="1"/>
          </p:cNvSpPr>
          <p:nvPr/>
        </p:nvSpPr>
        <p:spPr bwMode="auto">
          <a:xfrm>
            <a:off x="225425" y="26352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9234" name="Text Box 26"/>
          <p:cNvSpPr txBox="1">
            <a:spLocks noChangeArrowheads="1"/>
          </p:cNvSpPr>
          <p:nvPr/>
        </p:nvSpPr>
        <p:spPr bwMode="auto">
          <a:xfrm>
            <a:off x="225425" y="3309938"/>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9235" name="Text Box 27"/>
          <p:cNvSpPr txBox="1">
            <a:spLocks noChangeArrowheads="1"/>
          </p:cNvSpPr>
          <p:nvPr/>
        </p:nvSpPr>
        <p:spPr bwMode="auto">
          <a:xfrm>
            <a:off x="225425" y="3952875"/>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9236" name="Text Box 28"/>
          <p:cNvSpPr txBox="1">
            <a:spLocks noChangeArrowheads="1"/>
          </p:cNvSpPr>
          <p:nvPr/>
        </p:nvSpPr>
        <p:spPr bwMode="auto">
          <a:xfrm>
            <a:off x="225425" y="464820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9237" name="Text Box 30"/>
          <p:cNvSpPr txBox="1">
            <a:spLocks noChangeArrowheads="1"/>
          </p:cNvSpPr>
          <p:nvPr/>
        </p:nvSpPr>
        <p:spPr bwMode="auto">
          <a:xfrm>
            <a:off x="142716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fin de la partie</a:t>
            </a:r>
          </a:p>
        </p:txBody>
      </p:sp>
      <p:sp>
        <p:nvSpPr>
          <p:cNvPr id="9238" name="Rectangle 31"/>
          <p:cNvSpPr>
            <a:spLocks noChangeArrowheads="1"/>
          </p:cNvSpPr>
          <p:nvPr/>
        </p:nvSpPr>
        <p:spPr bwMode="auto">
          <a:xfrm>
            <a:off x="91598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7. Résultats - Synthèse</a:t>
            </a:r>
          </a:p>
        </p:txBody>
      </p:sp>
      <p:sp>
        <p:nvSpPr>
          <p:cNvPr id="9239" name="Text Box 32"/>
          <p:cNvSpPr txBox="1">
            <a:spLocks noChangeArrowheads="1"/>
          </p:cNvSpPr>
          <p:nvPr/>
        </p:nvSpPr>
        <p:spPr bwMode="auto">
          <a:xfrm>
            <a:off x="207963" y="52895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9240" name="Text Box 33"/>
          <p:cNvSpPr txBox="1">
            <a:spLocks noChangeArrowheads="1"/>
          </p:cNvSpPr>
          <p:nvPr/>
        </p:nvSpPr>
        <p:spPr bwMode="auto">
          <a:xfrm>
            <a:off x="295275" y="6176963"/>
            <a:ext cx="9715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400">
                <a:solidFill>
                  <a:schemeClr val="tx1"/>
                </a:solidFill>
              </a:rPr>
              <a:t>Total :  5h</a:t>
            </a:r>
          </a:p>
        </p:txBody>
      </p:sp>
      <p:pic>
        <p:nvPicPr>
          <p:cNvPr id="27"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AutoShape 2"/>
          <p:cNvSpPr>
            <a:spLocks noChangeArrowheads="1"/>
          </p:cNvSpPr>
          <p:nvPr/>
        </p:nvSpPr>
        <p:spPr bwMode="auto">
          <a:xfrm>
            <a:off x="1609725"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0243" name="Rectangle 3"/>
          <p:cNvSpPr>
            <a:spLocks noGrp="1" noChangeArrowheads="1"/>
          </p:cNvSpPr>
          <p:nvPr>
            <p:ph type="title"/>
          </p:nvPr>
        </p:nvSpPr>
        <p:spPr/>
        <p:txBody>
          <a:bodyPr/>
          <a:lstStyle/>
          <a:p>
            <a:pPr eaLnBrk="1" hangingPunct="1"/>
            <a:r>
              <a:rPr lang="fr-FR" altLang="fr-FR"/>
              <a:t>Déroulement de la simulation</a:t>
            </a:r>
          </a:p>
        </p:txBody>
      </p:sp>
      <p:sp>
        <p:nvSpPr>
          <p:cNvPr id="10244" name="Rectangle 4"/>
          <p:cNvSpPr>
            <a:spLocks noChangeArrowheads="1"/>
          </p:cNvSpPr>
          <p:nvPr/>
        </p:nvSpPr>
        <p:spPr bwMode="auto">
          <a:xfrm>
            <a:off x="658813"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 Présentation du jeu + préparation du planning de production</a:t>
            </a:r>
          </a:p>
        </p:txBody>
      </p:sp>
      <p:sp>
        <p:nvSpPr>
          <p:cNvPr id="10245" name="Rectangle 5"/>
          <p:cNvSpPr>
            <a:spLocks noChangeArrowheads="1"/>
          </p:cNvSpPr>
          <p:nvPr/>
        </p:nvSpPr>
        <p:spPr bwMode="auto">
          <a:xfrm>
            <a:off x="654050"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2. Simulation semaine 1</a:t>
            </a:r>
          </a:p>
        </p:txBody>
      </p:sp>
      <p:sp>
        <p:nvSpPr>
          <p:cNvPr id="10246" name="Rectangle 6"/>
          <p:cNvSpPr>
            <a:spLocks noChangeArrowheads="1"/>
          </p:cNvSpPr>
          <p:nvPr/>
        </p:nvSpPr>
        <p:spPr bwMode="auto">
          <a:xfrm>
            <a:off x="658813"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4. Simulation semaine 2</a:t>
            </a:r>
          </a:p>
        </p:txBody>
      </p:sp>
      <p:sp>
        <p:nvSpPr>
          <p:cNvPr id="10247" name="Rectangle 7"/>
          <p:cNvSpPr>
            <a:spLocks noChangeArrowheads="1"/>
          </p:cNvSpPr>
          <p:nvPr/>
        </p:nvSpPr>
        <p:spPr bwMode="auto">
          <a:xfrm>
            <a:off x="658813"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5. Simulation semaine 3</a:t>
            </a:r>
          </a:p>
        </p:txBody>
      </p:sp>
      <p:sp>
        <p:nvSpPr>
          <p:cNvPr id="10248" name="Rectangle 8"/>
          <p:cNvSpPr>
            <a:spLocks noChangeArrowheads="1"/>
          </p:cNvSpPr>
          <p:nvPr/>
        </p:nvSpPr>
        <p:spPr bwMode="auto">
          <a:xfrm>
            <a:off x="658813" y="26146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3. Mise en place des tickets Kanban</a:t>
            </a:r>
          </a:p>
        </p:txBody>
      </p:sp>
      <p:sp>
        <p:nvSpPr>
          <p:cNvPr id="10249" name="Rectangle 11"/>
          <p:cNvSpPr>
            <a:spLocks noChangeArrowheads="1"/>
          </p:cNvSpPr>
          <p:nvPr/>
        </p:nvSpPr>
        <p:spPr bwMode="auto">
          <a:xfrm>
            <a:off x="658813"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6. Simulation semaine 4</a:t>
            </a:r>
          </a:p>
        </p:txBody>
      </p:sp>
      <p:sp>
        <p:nvSpPr>
          <p:cNvPr id="10250" name="Text Box 15"/>
          <p:cNvSpPr txBox="1">
            <a:spLocks noChangeArrowheads="1"/>
          </p:cNvSpPr>
          <p:nvPr/>
        </p:nvSpPr>
        <p:spPr bwMode="auto">
          <a:xfrm>
            <a:off x="114300" y="1243013"/>
            <a:ext cx="552450"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1h15</a:t>
            </a:r>
          </a:p>
        </p:txBody>
      </p:sp>
      <p:sp>
        <p:nvSpPr>
          <p:cNvPr id="10251" name="Text Box 21"/>
          <p:cNvSpPr txBox="1">
            <a:spLocks noChangeArrowheads="1"/>
          </p:cNvSpPr>
          <p:nvPr/>
        </p:nvSpPr>
        <p:spPr bwMode="auto">
          <a:xfrm>
            <a:off x="1169988"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fin de la partie</a:t>
            </a:r>
          </a:p>
        </p:txBody>
      </p:sp>
      <p:sp>
        <p:nvSpPr>
          <p:cNvPr id="10252" name="Rectangle 22"/>
          <p:cNvSpPr>
            <a:spLocks noChangeArrowheads="1"/>
          </p:cNvSpPr>
          <p:nvPr/>
        </p:nvSpPr>
        <p:spPr bwMode="auto">
          <a:xfrm>
            <a:off x="658813"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7. Résultats - Synthèse</a:t>
            </a:r>
          </a:p>
        </p:txBody>
      </p:sp>
      <p:sp>
        <p:nvSpPr>
          <p:cNvPr id="10253" name="Text Box 23"/>
          <p:cNvSpPr txBox="1">
            <a:spLocks noChangeArrowheads="1"/>
          </p:cNvSpPr>
          <p:nvPr/>
        </p:nvSpPr>
        <p:spPr bwMode="auto">
          <a:xfrm>
            <a:off x="3182938" y="841375"/>
            <a:ext cx="5454650"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b="1">
                <a:solidFill>
                  <a:schemeClr val="tx1"/>
                </a:solidFill>
              </a:rPr>
              <a:t>1a.</a:t>
            </a:r>
            <a:r>
              <a:rPr lang="fr-FR" altLang="fr-FR" sz="1300">
                <a:solidFill>
                  <a:schemeClr val="tx1"/>
                </a:solidFill>
              </a:rPr>
              <a:t> L’animateur prépare la salle puis présente les règles du jeu aux participants à l’aide du diaporama. Il distribue du matériel à chaque équipe.</a:t>
            </a:r>
          </a:p>
          <a:p>
            <a:pPr eaLnBrk="1" hangingPunct="1">
              <a:spcBef>
                <a:spcPct val="0"/>
              </a:spcBef>
              <a:buFontTx/>
              <a:buNone/>
            </a:pPr>
            <a:endParaRPr lang="fr-FR" altLang="fr-FR" sz="1300">
              <a:solidFill>
                <a:schemeClr val="tx1"/>
              </a:solidFill>
            </a:endParaRPr>
          </a:p>
          <a:p>
            <a:pPr eaLnBrk="1" hangingPunct="1">
              <a:spcBef>
                <a:spcPct val="0"/>
              </a:spcBef>
              <a:buFontTx/>
              <a:buNone/>
            </a:pPr>
            <a:r>
              <a:rPr lang="fr-FR" altLang="fr-FR" sz="1300" b="1">
                <a:solidFill>
                  <a:schemeClr val="tx1"/>
                </a:solidFill>
              </a:rPr>
              <a:t>1b.</a:t>
            </a:r>
            <a:r>
              <a:rPr lang="fr-FR" altLang="fr-FR" sz="1300">
                <a:solidFill>
                  <a:schemeClr val="tx1"/>
                </a:solidFill>
              </a:rPr>
              <a:t> Chaque équipe doit « planifier sa production », c’est-à-dire décider combien elle veut produire pour la semaine sur chacun des postes de travail. </a:t>
            </a:r>
          </a:p>
          <a:p>
            <a:pPr eaLnBrk="1" hangingPunct="1">
              <a:spcBef>
                <a:spcPct val="0"/>
              </a:spcBef>
              <a:buFontTx/>
              <a:buNone/>
            </a:pPr>
            <a:endParaRPr lang="fr-FR" altLang="fr-FR" sz="1300">
              <a:solidFill>
                <a:schemeClr val="tx1"/>
              </a:solidFill>
            </a:endParaRPr>
          </a:p>
        </p:txBody>
      </p:sp>
      <p:pic>
        <p:nvPicPr>
          <p:cNvPr id="1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AutoShape 2"/>
          <p:cNvSpPr>
            <a:spLocks noChangeArrowheads="1"/>
          </p:cNvSpPr>
          <p:nvPr/>
        </p:nvSpPr>
        <p:spPr bwMode="auto">
          <a:xfrm>
            <a:off x="177165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267" name="Rectangle 3"/>
          <p:cNvSpPr>
            <a:spLocks noGrp="1" noChangeArrowheads="1"/>
          </p:cNvSpPr>
          <p:nvPr>
            <p:ph type="title"/>
          </p:nvPr>
        </p:nvSpPr>
        <p:spPr/>
        <p:txBody>
          <a:bodyPr/>
          <a:lstStyle/>
          <a:p>
            <a:pPr eaLnBrk="1" hangingPunct="1"/>
            <a:r>
              <a:rPr lang="fr-FR" altLang="fr-FR"/>
              <a:t>Vue d’ensemble de la simulation</a:t>
            </a:r>
          </a:p>
        </p:txBody>
      </p:sp>
      <p:sp>
        <p:nvSpPr>
          <p:cNvPr id="11268" name="Rectangle 4"/>
          <p:cNvSpPr>
            <a:spLocks noChangeArrowheads="1"/>
          </p:cNvSpPr>
          <p:nvPr/>
        </p:nvSpPr>
        <p:spPr bwMode="auto">
          <a:xfrm>
            <a:off x="820738" y="1036638"/>
            <a:ext cx="2157412" cy="731837"/>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1. Présentation du jeu + préparation du planning de production</a:t>
            </a:r>
          </a:p>
        </p:txBody>
      </p:sp>
      <p:sp>
        <p:nvSpPr>
          <p:cNvPr id="11269" name="Rectangle 5"/>
          <p:cNvSpPr>
            <a:spLocks noChangeArrowheads="1"/>
          </p:cNvSpPr>
          <p:nvPr/>
        </p:nvSpPr>
        <p:spPr bwMode="auto">
          <a:xfrm>
            <a:off x="81597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 Simulation semaine 1</a:t>
            </a:r>
          </a:p>
        </p:txBody>
      </p:sp>
      <p:sp>
        <p:nvSpPr>
          <p:cNvPr id="11270" name="Rectangle 6"/>
          <p:cNvSpPr>
            <a:spLocks noChangeArrowheads="1"/>
          </p:cNvSpPr>
          <p:nvPr/>
        </p:nvSpPr>
        <p:spPr bwMode="auto">
          <a:xfrm>
            <a:off x="82073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4. Simulation semaine 2</a:t>
            </a:r>
          </a:p>
        </p:txBody>
      </p:sp>
      <p:sp>
        <p:nvSpPr>
          <p:cNvPr id="11271" name="Rectangle 7"/>
          <p:cNvSpPr>
            <a:spLocks noChangeArrowheads="1"/>
          </p:cNvSpPr>
          <p:nvPr/>
        </p:nvSpPr>
        <p:spPr bwMode="auto">
          <a:xfrm>
            <a:off x="82073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5. Simulation semaine 3</a:t>
            </a:r>
          </a:p>
        </p:txBody>
      </p:sp>
      <p:sp>
        <p:nvSpPr>
          <p:cNvPr id="11272" name="Rectangle 8"/>
          <p:cNvSpPr>
            <a:spLocks noChangeArrowheads="1"/>
          </p:cNvSpPr>
          <p:nvPr/>
        </p:nvSpPr>
        <p:spPr bwMode="auto">
          <a:xfrm>
            <a:off x="82073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3. Mise en place des tickets Kanban</a:t>
            </a:r>
          </a:p>
        </p:txBody>
      </p:sp>
      <p:sp>
        <p:nvSpPr>
          <p:cNvPr id="11273" name="Rectangle 11"/>
          <p:cNvSpPr>
            <a:spLocks noChangeArrowheads="1"/>
          </p:cNvSpPr>
          <p:nvPr/>
        </p:nvSpPr>
        <p:spPr bwMode="auto">
          <a:xfrm>
            <a:off x="82073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6. Simulation semaine 4</a:t>
            </a:r>
          </a:p>
        </p:txBody>
      </p:sp>
      <p:sp>
        <p:nvSpPr>
          <p:cNvPr id="11274" name="Text Box 16"/>
          <p:cNvSpPr txBox="1">
            <a:spLocks noChangeArrowheads="1"/>
          </p:cNvSpPr>
          <p:nvPr/>
        </p:nvSpPr>
        <p:spPr bwMode="auto">
          <a:xfrm>
            <a:off x="130175" y="1992313"/>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11275" name="Text Box 21"/>
          <p:cNvSpPr txBox="1">
            <a:spLocks noChangeArrowheads="1"/>
          </p:cNvSpPr>
          <p:nvPr/>
        </p:nvSpPr>
        <p:spPr bwMode="auto">
          <a:xfrm>
            <a:off x="133191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fin de la partie</a:t>
            </a:r>
          </a:p>
        </p:txBody>
      </p:sp>
      <p:sp>
        <p:nvSpPr>
          <p:cNvPr id="11276" name="Rectangle 22"/>
          <p:cNvSpPr>
            <a:spLocks noChangeArrowheads="1"/>
          </p:cNvSpPr>
          <p:nvPr/>
        </p:nvSpPr>
        <p:spPr bwMode="auto">
          <a:xfrm>
            <a:off x="82073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7. Résultats - Synthèse</a:t>
            </a:r>
          </a:p>
        </p:txBody>
      </p:sp>
      <p:sp>
        <p:nvSpPr>
          <p:cNvPr id="11277" name="Text Box 25"/>
          <p:cNvSpPr txBox="1">
            <a:spLocks noChangeArrowheads="1"/>
          </p:cNvSpPr>
          <p:nvPr/>
        </p:nvSpPr>
        <p:spPr bwMode="auto">
          <a:xfrm>
            <a:off x="3273425" y="1435100"/>
            <a:ext cx="5454650" cy="315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marL="9525" indent="-9525" algn="l" eaLnBrk="0" hangingPunct="0">
              <a:spcBef>
                <a:spcPct val="20000"/>
              </a:spcBef>
              <a:buChar char="•"/>
              <a:tabLst>
                <a:tab pos="176213" algn="l"/>
              </a:tabLst>
              <a:defRPr sz="2000">
                <a:solidFill>
                  <a:schemeClr val="accent2"/>
                </a:solidFill>
                <a:latin typeface="Arial" pitchFamily="34" charset="0"/>
              </a:defRPr>
            </a:lvl1pPr>
            <a:lvl2pPr marL="742950" indent="-285750" algn="l" eaLnBrk="0" hangingPunct="0">
              <a:spcBef>
                <a:spcPct val="20000"/>
              </a:spcBef>
              <a:buChar char="–"/>
              <a:tabLst>
                <a:tab pos="176213" algn="l"/>
              </a:tabLst>
              <a:defRPr>
                <a:solidFill>
                  <a:schemeClr val="accent2"/>
                </a:solidFill>
                <a:latin typeface="Arial" pitchFamily="34" charset="0"/>
              </a:defRPr>
            </a:lvl2pPr>
            <a:lvl3pPr marL="1143000" indent="-228600" algn="l" eaLnBrk="0" hangingPunct="0">
              <a:spcBef>
                <a:spcPct val="20000"/>
              </a:spcBef>
              <a:buChar char="•"/>
              <a:tabLst>
                <a:tab pos="176213" algn="l"/>
              </a:tabLst>
              <a:defRPr sz="1600">
                <a:solidFill>
                  <a:schemeClr val="accent2"/>
                </a:solidFill>
                <a:latin typeface="Arial" pitchFamily="34" charset="0"/>
              </a:defRPr>
            </a:lvl3pPr>
            <a:lvl4pPr marL="1600200" indent="-228600" algn="l" eaLnBrk="0" hangingPunct="0">
              <a:spcBef>
                <a:spcPct val="20000"/>
              </a:spcBef>
              <a:buChar char="–"/>
              <a:tabLst>
                <a:tab pos="176213" algn="l"/>
              </a:tabLst>
              <a:defRPr sz="1600">
                <a:solidFill>
                  <a:schemeClr val="accent2"/>
                </a:solidFill>
                <a:latin typeface="Arial" pitchFamily="34" charset="0"/>
              </a:defRPr>
            </a:lvl4pPr>
            <a:lvl5pPr marL="2057400" indent="-228600" algn="l" eaLnBrk="0" hangingPunct="0">
              <a:spcBef>
                <a:spcPct val="20000"/>
              </a:spcBef>
              <a:buChar char="»"/>
              <a:tabLst>
                <a:tab pos="176213"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176213"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176213"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176213"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176213" algn="l"/>
              </a:tabLst>
              <a:defRPr sz="1600">
                <a:solidFill>
                  <a:schemeClr val="accent2"/>
                </a:solidFill>
                <a:latin typeface="Arial" pitchFamily="34" charset="0"/>
              </a:defRPr>
            </a:lvl9pPr>
          </a:lstStyle>
          <a:p>
            <a:pPr eaLnBrk="1" hangingPunct="1">
              <a:lnSpc>
                <a:spcPct val="110000"/>
              </a:lnSpc>
              <a:spcBef>
                <a:spcPct val="0"/>
              </a:spcBef>
              <a:buFontTx/>
              <a:buNone/>
            </a:pPr>
            <a:r>
              <a:rPr lang="fr-FR" altLang="fr-FR" sz="1300" b="1">
                <a:solidFill>
                  <a:schemeClr val="tx1"/>
                </a:solidFill>
              </a:rPr>
              <a:t>2.</a:t>
            </a:r>
            <a:r>
              <a:rPr lang="fr-FR" altLang="fr-FR" sz="1300">
                <a:solidFill>
                  <a:schemeClr val="tx1"/>
                </a:solidFill>
              </a:rPr>
              <a:t> Les joueurs simulent une semaine de 32 heures. La simulation est pilotée par l’animateur qui utilise les diapos comme calendrier (horaire).</a:t>
            </a:r>
          </a:p>
          <a:p>
            <a:pPr eaLnBrk="1" hangingPunct="1">
              <a:lnSpc>
                <a:spcPct val="110000"/>
              </a:lnSpc>
              <a:spcBef>
                <a:spcPct val="0"/>
              </a:spcBef>
              <a:buFontTx/>
              <a:buNone/>
            </a:pPr>
            <a:r>
              <a:rPr lang="fr-FR" altLang="fr-FR" sz="1300">
                <a:solidFill>
                  <a:schemeClr val="tx1"/>
                </a:solidFill>
              </a:rPr>
              <a:t>A chaque heure les événements suivants se succèdent :</a:t>
            </a:r>
          </a:p>
          <a:p>
            <a:pPr eaLnBrk="1" hangingPunct="1">
              <a:lnSpc>
                <a:spcPct val="110000"/>
              </a:lnSpc>
              <a:spcBef>
                <a:spcPct val="0"/>
              </a:spcBef>
              <a:buFontTx/>
              <a:buNone/>
            </a:pPr>
            <a:r>
              <a:rPr lang="fr-FR" altLang="fr-FR" sz="1300">
                <a:solidFill>
                  <a:schemeClr val="tx1"/>
                </a:solidFill>
              </a:rPr>
              <a:t>		1. L’animateur appelle à l’écran une nouvelle diapo</a:t>
            </a:r>
          </a:p>
          <a:p>
            <a:pPr eaLnBrk="1" hangingPunct="1">
              <a:lnSpc>
                <a:spcPct val="110000"/>
              </a:lnSpc>
              <a:spcBef>
                <a:spcPct val="0"/>
              </a:spcBef>
              <a:buFontTx/>
              <a:buNone/>
            </a:pPr>
            <a:r>
              <a:rPr lang="fr-FR" altLang="fr-FR" sz="1300">
                <a:solidFill>
                  <a:schemeClr val="tx1"/>
                </a:solidFill>
              </a:rPr>
              <a:t>		2. L’équipe tire au dé un incident et applique ses conséquences.</a:t>
            </a:r>
          </a:p>
          <a:p>
            <a:pPr eaLnBrk="1" hangingPunct="1">
              <a:lnSpc>
                <a:spcPct val="110000"/>
              </a:lnSpc>
              <a:spcBef>
                <a:spcPct val="0"/>
              </a:spcBef>
              <a:buFontTx/>
              <a:buNone/>
            </a:pPr>
            <a:r>
              <a:rPr lang="fr-FR" altLang="fr-FR" sz="1300">
                <a:solidFill>
                  <a:schemeClr val="tx1"/>
                </a:solidFill>
              </a:rPr>
              <a:t>		3. L’équipe livre les commandes.</a:t>
            </a:r>
          </a:p>
          <a:p>
            <a:pPr eaLnBrk="1" hangingPunct="1">
              <a:lnSpc>
                <a:spcPct val="110000"/>
              </a:lnSpc>
              <a:spcBef>
                <a:spcPct val="0"/>
              </a:spcBef>
              <a:buFontTx/>
              <a:buNone/>
            </a:pPr>
            <a:r>
              <a:rPr lang="fr-FR" altLang="fr-FR" sz="1300">
                <a:solidFill>
                  <a:schemeClr val="tx1"/>
                </a:solidFill>
              </a:rPr>
              <a:t>		4. Elle produit.</a:t>
            </a:r>
          </a:p>
          <a:p>
            <a:pPr eaLnBrk="1" hangingPunct="1">
              <a:lnSpc>
                <a:spcPct val="110000"/>
              </a:lnSpc>
              <a:spcBef>
                <a:spcPct val="0"/>
              </a:spcBef>
              <a:buFontTx/>
              <a:buNone/>
            </a:pPr>
            <a:r>
              <a:rPr lang="fr-FR" altLang="fr-FR" sz="1300">
                <a:solidFill>
                  <a:schemeClr val="tx1"/>
                </a:solidFill>
              </a:rPr>
              <a:t>En fin de semaine, les équipes font la synthèse de leurs performances (taux de service, efficience, stocks) et l’animateur met à jour le tableau de bord.</a:t>
            </a:r>
          </a:p>
          <a:p>
            <a:pPr eaLnBrk="1" hangingPunct="1">
              <a:lnSpc>
                <a:spcPct val="110000"/>
              </a:lnSpc>
              <a:spcBef>
                <a:spcPct val="0"/>
              </a:spcBef>
              <a:buFontTx/>
              <a:buNone/>
            </a:pPr>
            <a:r>
              <a:rPr lang="fr-FR" altLang="fr-FR" sz="1300">
                <a:solidFill>
                  <a:schemeClr val="tx1"/>
                </a:solidFill>
              </a:rPr>
              <a:t>Il commente les résultats.</a:t>
            </a:r>
          </a:p>
          <a:p>
            <a:pPr eaLnBrk="1" hangingPunct="1">
              <a:lnSpc>
                <a:spcPct val="110000"/>
              </a:lnSpc>
              <a:spcBef>
                <a:spcPct val="0"/>
              </a:spcBef>
              <a:buFontTx/>
              <a:buNone/>
            </a:pPr>
            <a:endParaRPr lang="fr-FR" altLang="fr-FR" sz="1300">
              <a:solidFill>
                <a:schemeClr val="tx1"/>
              </a:solidFill>
            </a:endParaRPr>
          </a:p>
          <a:p>
            <a:pPr eaLnBrk="1" hangingPunct="1">
              <a:lnSpc>
                <a:spcPct val="110000"/>
              </a:lnSpc>
              <a:spcBef>
                <a:spcPct val="0"/>
              </a:spcBef>
              <a:buFontTx/>
              <a:buNone/>
            </a:pPr>
            <a:endParaRPr lang="fr-FR" altLang="fr-FR" sz="1300">
              <a:solidFill>
                <a:schemeClr val="tx1"/>
              </a:solidFill>
            </a:endParaRPr>
          </a:p>
          <a:p>
            <a:pPr eaLnBrk="1" hangingPunct="1">
              <a:lnSpc>
                <a:spcPct val="110000"/>
              </a:lnSpc>
              <a:spcBef>
                <a:spcPct val="0"/>
              </a:spcBef>
              <a:buFontTx/>
              <a:buNone/>
            </a:pPr>
            <a:endParaRPr lang="fr-FR" altLang="fr-FR" sz="1300">
              <a:solidFill>
                <a:schemeClr val="tx1"/>
              </a:solidFill>
            </a:endParaRPr>
          </a:p>
        </p:txBody>
      </p:sp>
      <p:pic>
        <p:nvPicPr>
          <p:cNvPr id="1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AutoShape 2"/>
          <p:cNvSpPr>
            <a:spLocks noChangeArrowheads="1"/>
          </p:cNvSpPr>
          <p:nvPr/>
        </p:nvSpPr>
        <p:spPr bwMode="auto">
          <a:xfrm>
            <a:off x="180975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2291" name="Rectangle 3"/>
          <p:cNvSpPr>
            <a:spLocks noGrp="1" noChangeArrowheads="1"/>
          </p:cNvSpPr>
          <p:nvPr>
            <p:ph type="title"/>
          </p:nvPr>
        </p:nvSpPr>
        <p:spPr/>
        <p:txBody>
          <a:bodyPr/>
          <a:lstStyle/>
          <a:p>
            <a:pPr eaLnBrk="1" hangingPunct="1"/>
            <a:r>
              <a:rPr lang="fr-FR" altLang="fr-FR"/>
              <a:t>Vue d’ensemble de la simulation</a:t>
            </a:r>
          </a:p>
        </p:txBody>
      </p:sp>
      <p:sp>
        <p:nvSpPr>
          <p:cNvPr id="12292" name="Rectangle 4"/>
          <p:cNvSpPr>
            <a:spLocks noChangeArrowheads="1"/>
          </p:cNvSpPr>
          <p:nvPr/>
        </p:nvSpPr>
        <p:spPr bwMode="auto">
          <a:xfrm>
            <a:off x="858838"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1. Présentation du jeu + préparation du planning de production</a:t>
            </a:r>
          </a:p>
        </p:txBody>
      </p:sp>
      <p:sp>
        <p:nvSpPr>
          <p:cNvPr id="12293" name="Rectangle 5"/>
          <p:cNvSpPr>
            <a:spLocks noChangeArrowheads="1"/>
          </p:cNvSpPr>
          <p:nvPr/>
        </p:nvSpPr>
        <p:spPr bwMode="auto">
          <a:xfrm>
            <a:off x="85407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2. Simulation semaine 1</a:t>
            </a:r>
          </a:p>
        </p:txBody>
      </p:sp>
      <p:sp>
        <p:nvSpPr>
          <p:cNvPr id="12294" name="Rectangle 6"/>
          <p:cNvSpPr>
            <a:spLocks noChangeArrowheads="1"/>
          </p:cNvSpPr>
          <p:nvPr/>
        </p:nvSpPr>
        <p:spPr bwMode="auto">
          <a:xfrm>
            <a:off x="85883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4. Simulation semaine 2</a:t>
            </a:r>
          </a:p>
        </p:txBody>
      </p:sp>
      <p:sp>
        <p:nvSpPr>
          <p:cNvPr id="12295" name="Rectangle 7"/>
          <p:cNvSpPr>
            <a:spLocks noChangeArrowheads="1"/>
          </p:cNvSpPr>
          <p:nvPr/>
        </p:nvSpPr>
        <p:spPr bwMode="auto">
          <a:xfrm>
            <a:off x="85883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5. Simulation semaine 3</a:t>
            </a:r>
          </a:p>
        </p:txBody>
      </p:sp>
      <p:sp>
        <p:nvSpPr>
          <p:cNvPr id="12296" name="Rectangle 8"/>
          <p:cNvSpPr>
            <a:spLocks noChangeArrowheads="1"/>
          </p:cNvSpPr>
          <p:nvPr/>
        </p:nvSpPr>
        <p:spPr bwMode="auto">
          <a:xfrm>
            <a:off x="85883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 Mise en place des tickets Kanban</a:t>
            </a:r>
          </a:p>
        </p:txBody>
      </p:sp>
      <p:sp>
        <p:nvSpPr>
          <p:cNvPr id="12297" name="Rectangle 11"/>
          <p:cNvSpPr>
            <a:spLocks noChangeArrowheads="1"/>
          </p:cNvSpPr>
          <p:nvPr/>
        </p:nvSpPr>
        <p:spPr bwMode="auto">
          <a:xfrm>
            <a:off x="85883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6. Simulation semaine 4</a:t>
            </a:r>
          </a:p>
        </p:txBody>
      </p:sp>
      <p:sp>
        <p:nvSpPr>
          <p:cNvPr id="12298" name="Text Box 17"/>
          <p:cNvSpPr txBox="1">
            <a:spLocks noChangeArrowheads="1"/>
          </p:cNvSpPr>
          <p:nvPr/>
        </p:nvSpPr>
        <p:spPr bwMode="auto">
          <a:xfrm>
            <a:off x="168275" y="26352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2299" name="Text Box 21"/>
          <p:cNvSpPr txBox="1">
            <a:spLocks noChangeArrowheads="1"/>
          </p:cNvSpPr>
          <p:nvPr/>
        </p:nvSpPr>
        <p:spPr bwMode="auto">
          <a:xfrm>
            <a:off x="137001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fin de la partie</a:t>
            </a:r>
          </a:p>
        </p:txBody>
      </p:sp>
      <p:sp>
        <p:nvSpPr>
          <p:cNvPr id="12300" name="Rectangle 22"/>
          <p:cNvSpPr>
            <a:spLocks noChangeArrowheads="1"/>
          </p:cNvSpPr>
          <p:nvPr/>
        </p:nvSpPr>
        <p:spPr bwMode="auto">
          <a:xfrm>
            <a:off x="85883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7. Résultats - Synthèse</a:t>
            </a:r>
          </a:p>
        </p:txBody>
      </p:sp>
      <p:sp>
        <p:nvSpPr>
          <p:cNvPr id="12301" name="Text Box 25"/>
          <p:cNvSpPr txBox="1">
            <a:spLocks noChangeArrowheads="1"/>
          </p:cNvSpPr>
          <p:nvPr/>
        </p:nvSpPr>
        <p:spPr bwMode="auto">
          <a:xfrm>
            <a:off x="3294063" y="1630363"/>
            <a:ext cx="5454650" cy="309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marL="9525" indent="-9525" algn="l" eaLnBrk="0" hangingPunct="0">
              <a:spcBef>
                <a:spcPct val="20000"/>
              </a:spcBef>
              <a:buChar char="•"/>
              <a:tabLst>
                <a:tab pos="176213" algn="l"/>
              </a:tabLst>
              <a:defRPr sz="2000">
                <a:solidFill>
                  <a:schemeClr val="accent2"/>
                </a:solidFill>
                <a:latin typeface="Arial" pitchFamily="34" charset="0"/>
              </a:defRPr>
            </a:lvl1pPr>
            <a:lvl2pPr marL="742950" indent="-285750" algn="l" eaLnBrk="0" hangingPunct="0">
              <a:spcBef>
                <a:spcPct val="20000"/>
              </a:spcBef>
              <a:buChar char="–"/>
              <a:tabLst>
                <a:tab pos="176213" algn="l"/>
              </a:tabLst>
              <a:defRPr>
                <a:solidFill>
                  <a:schemeClr val="accent2"/>
                </a:solidFill>
                <a:latin typeface="Arial" pitchFamily="34" charset="0"/>
              </a:defRPr>
            </a:lvl2pPr>
            <a:lvl3pPr marL="1143000" indent="-228600" algn="l" eaLnBrk="0" hangingPunct="0">
              <a:spcBef>
                <a:spcPct val="20000"/>
              </a:spcBef>
              <a:buChar char="•"/>
              <a:tabLst>
                <a:tab pos="176213" algn="l"/>
              </a:tabLst>
              <a:defRPr sz="1600">
                <a:solidFill>
                  <a:schemeClr val="accent2"/>
                </a:solidFill>
                <a:latin typeface="Arial" pitchFamily="34" charset="0"/>
              </a:defRPr>
            </a:lvl3pPr>
            <a:lvl4pPr marL="1600200" indent="-228600" algn="l" eaLnBrk="0" hangingPunct="0">
              <a:spcBef>
                <a:spcPct val="20000"/>
              </a:spcBef>
              <a:buChar char="–"/>
              <a:tabLst>
                <a:tab pos="176213" algn="l"/>
              </a:tabLst>
              <a:defRPr sz="1600">
                <a:solidFill>
                  <a:schemeClr val="accent2"/>
                </a:solidFill>
                <a:latin typeface="Arial" pitchFamily="34" charset="0"/>
              </a:defRPr>
            </a:lvl4pPr>
            <a:lvl5pPr marL="2057400" indent="-228600" algn="l" eaLnBrk="0" hangingPunct="0">
              <a:spcBef>
                <a:spcPct val="20000"/>
              </a:spcBef>
              <a:buChar char="»"/>
              <a:tabLst>
                <a:tab pos="176213"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176213"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176213"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176213"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176213" algn="l"/>
              </a:tabLst>
              <a:defRPr sz="1600">
                <a:solidFill>
                  <a:schemeClr val="accent2"/>
                </a:solidFill>
                <a:latin typeface="Arial" pitchFamily="34" charset="0"/>
              </a:defRPr>
            </a:lvl9pPr>
          </a:lstStyle>
          <a:p>
            <a:pPr eaLnBrk="1" hangingPunct="1">
              <a:lnSpc>
                <a:spcPct val="110000"/>
              </a:lnSpc>
              <a:spcBef>
                <a:spcPct val="0"/>
              </a:spcBef>
              <a:buFontTx/>
              <a:buNone/>
            </a:pPr>
            <a:r>
              <a:rPr lang="fr-FR" altLang="fr-FR" sz="1300" b="1">
                <a:solidFill>
                  <a:schemeClr val="tx1"/>
                </a:solidFill>
              </a:rPr>
              <a:t>3a.</a:t>
            </a:r>
            <a:r>
              <a:rPr lang="fr-FR" altLang="fr-FR" sz="1300">
                <a:solidFill>
                  <a:schemeClr val="tx1"/>
                </a:solidFill>
              </a:rPr>
              <a:t> L’animateur explique la méthode Kanban.</a:t>
            </a:r>
          </a:p>
          <a:p>
            <a:pPr eaLnBrk="1" hangingPunct="1">
              <a:lnSpc>
                <a:spcPct val="110000"/>
              </a:lnSpc>
              <a:spcBef>
                <a:spcPct val="0"/>
              </a:spcBef>
              <a:buFontTx/>
              <a:buNone/>
            </a:pPr>
            <a:r>
              <a:rPr lang="fr-FR" altLang="fr-FR" sz="1300">
                <a:solidFill>
                  <a:schemeClr val="tx1"/>
                </a:solidFill>
              </a:rPr>
              <a:t>Il distribue les tickets et les tableaux de rangement des tickets.</a:t>
            </a:r>
          </a:p>
          <a:p>
            <a:pPr eaLnBrk="1" hangingPunct="1">
              <a:lnSpc>
                <a:spcPct val="110000"/>
              </a:lnSpc>
              <a:spcBef>
                <a:spcPct val="0"/>
              </a:spcBef>
              <a:buFontTx/>
              <a:buNone/>
            </a:pPr>
            <a:r>
              <a:rPr lang="fr-FR" altLang="fr-FR" sz="1300">
                <a:solidFill>
                  <a:schemeClr val="tx1"/>
                </a:solidFill>
              </a:rPr>
              <a:t>Il n’est plus nécessaire de programmer la production à l’avance.</a:t>
            </a:r>
          </a:p>
          <a:p>
            <a:pPr eaLnBrk="1" hangingPunct="1">
              <a:lnSpc>
                <a:spcPct val="110000"/>
              </a:lnSpc>
              <a:spcBef>
                <a:spcPct val="0"/>
              </a:spcBef>
              <a:buFontTx/>
              <a:buNone/>
            </a:pPr>
            <a:r>
              <a:rPr lang="fr-FR" altLang="fr-FR" sz="1300">
                <a:solidFill>
                  <a:schemeClr val="tx1"/>
                </a:solidFill>
              </a:rPr>
              <a:t>La simulation de la semaine 2 peut commencer.</a:t>
            </a:r>
          </a:p>
          <a:p>
            <a:pPr eaLnBrk="1" hangingPunct="1">
              <a:lnSpc>
                <a:spcPct val="110000"/>
              </a:lnSpc>
              <a:spcBef>
                <a:spcPct val="0"/>
              </a:spcBef>
              <a:buFontTx/>
              <a:buNone/>
            </a:pPr>
            <a:endParaRPr lang="fr-FR" altLang="fr-FR" sz="1300">
              <a:solidFill>
                <a:schemeClr val="tx1"/>
              </a:solidFill>
            </a:endParaRPr>
          </a:p>
          <a:p>
            <a:pPr eaLnBrk="1" hangingPunct="1">
              <a:lnSpc>
                <a:spcPct val="120000"/>
              </a:lnSpc>
              <a:spcBef>
                <a:spcPct val="0"/>
              </a:spcBef>
              <a:buFontTx/>
              <a:buNone/>
            </a:pPr>
            <a:r>
              <a:rPr lang="fr-FR" altLang="fr-FR" sz="1300" b="1">
                <a:solidFill>
                  <a:schemeClr val="tx1"/>
                </a:solidFill>
              </a:rPr>
              <a:t>3b.</a:t>
            </a:r>
            <a:r>
              <a:rPr lang="fr-FR" altLang="fr-FR" sz="1300">
                <a:solidFill>
                  <a:schemeClr val="tx1"/>
                </a:solidFill>
              </a:rPr>
              <a:t> L’animateur propose aux équipes d’engager des progrès.</a:t>
            </a:r>
          </a:p>
          <a:p>
            <a:pPr eaLnBrk="1" hangingPunct="1">
              <a:lnSpc>
                <a:spcPct val="120000"/>
              </a:lnSpc>
              <a:spcBef>
                <a:spcPct val="0"/>
              </a:spcBef>
              <a:buFontTx/>
              <a:buNone/>
            </a:pPr>
            <a:r>
              <a:rPr lang="fr-FR" altLang="fr-FR" sz="1300">
                <a:solidFill>
                  <a:schemeClr val="tx1"/>
                </a:solidFill>
              </a:rPr>
              <a:t>Elles ont le choix parmi un ensemble de progrès.</a:t>
            </a:r>
          </a:p>
          <a:p>
            <a:pPr eaLnBrk="1" hangingPunct="1">
              <a:lnSpc>
                <a:spcPct val="120000"/>
              </a:lnSpc>
              <a:spcBef>
                <a:spcPct val="0"/>
              </a:spcBef>
              <a:buFontTx/>
              <a:buNone/>
            </a:pPr>
            <a:r>
              <a:rPr lang="fr-FR" altLang="fr-FR" sz="1300">
                <a:solidFill>
                  <a:schemeClr val="tx1"/>
                </a:solidFill>
              </a:rPr>
              <a:t>Les progrès permettent de « tendre les flux » c’est-à-dire de baisser les stocks.</a:t>
            </a:r>
          </a:p>
          <a:p>
            <a:pPr eaLnBrk="1" hangingPunct="1">
              <a:lnSpc>
                <a:spcPct val="120000"/>
              </a:lnSpc>
              <a:spcBef>
                <a:spcPct val="0"/>
              </a:spcBef>
              <a:buFontTx/>
              <a:buNone/>
            </a:pPr>
            <a:r>
              <a:rPr lang="fr-FR" altLang="fr-FR" sz="1300">
                <a:solidFill>
                  <a:schemeClr val="tx1"/>
                </a:solidFill>
              </a:rPr>
              <a:t>A partir de maintenant, et jusqu’à la fin de la simulation, les équipes pourront engager de nouveaux progrès, en début (heure 1) et en milieu de semaine (heure 17).</a:t>
            </a:r>
          </a:p>
          <a:p>
            <a:pPr eaLnBrk="1" hangingPunct="1">
              <a:lnSpc>
                <a:spcPct val="120000"/>
              </a:lnSpc>
              <a:spcBef>
                <a:spcPct val="0"/>
              </a:spcBef>
              <a:buFontTx/>
              <a:buNone/>
            </a:pPr>
            <a:endParaRPr lang="fr-FR" altLang="fr-FR" sz="1300">
              <a:solidFill>
                <a:schemeClr val="tx1"/>
              </a:solidFill>
            </a:endParaRPr>
          </a:p>
        </p:txBody>
      </p:sp>
      <p:pic>
        <p:nvPicPr>
          <p:cNvPr id="1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AutoShape 2"/>
          <p:cNvSpPr>
            <a:spLocks noChangeArrowheads="1"/>
          </p:cNvSpPr>
          <p:nvPr/>
        </p:nvSpPr>
        <p:spPr bwMode="auto">
          <a:xfrm>
            <a:off x="186690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3315" name="Rectangle 3"/>
          <p:cNvSpPr>
            <a:spLocks noGrp="1" noChangeArrowheads="1"/>
          </p:cNvSpPr>
          <p:nvPr>
            <p:ph type="title"/>
          </p:nvPr>
        </p:nvSpPr>
        <p:spPr/>
        <p:txBody>
          <a:bodyPr/>
          <a:lstStyle/>
          <a:p>
            <a:pPr eaLnBrk="1" hangingPunct="1"/>
            <a:r>
              <a:rPr lang="fr-FR" altLang="fr-FR"/>
              <a:t>Vue d’ensemble de la simulation</a:t>
            </a:r>
          </a:p>
        </p:txBody>
      </p:sp>
      <p:sp>
        <p:nvSpPr>
          <p:cNvPr id="13316" name="Rectangle 4"/>
          <p:cNvSpPr>
            <a:spLocks noChangeArrowheads="1"/>
          </p:cNvSpPr>
          <p:nvPr/>
        </p:nvSpPr>
        <p:spPr bwMode="auto">
          <a:xfrm>
            <a:off x="915988"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1. Présentation du jeu + préparation du planning de production</a:t>
            </a:r>
          </a:p>
        </p:txBody>
      </p:sp>
      <p:sp>
        <p:nvSpPr>
          <p:cNvPr id="13317" name="Rectangle 5"/>
          <p:cNvSpPr>
            <a:spLocks noChangeArrowheads="1"/>
          </p:cNvSpPr>
          <p:nvPr/>
        </p:nvSpPr>
        <p:spPr bwMode="auto">
          <a:xfrm>
            <a:off x="91122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2. Simulation semaine 1</a:t>
            </a:r>
          </a:p>
        </p:txBody>
      </p:sp>
      <p:sp>
        <p:nvSpPr>
          <p:cNvPr id="13318" name="Rectangle 6"/>
          <p:cNvSpPr>
            <a:spLocks noChangeArrowheads="1"/>
          </p:cNvSpPr>
          <p:nvPr/>
        </p:nvSpPr>
        <p:spPr bwMode="auto">
          <a:xfrm>
            <a:off x="91598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4. Simulation semaine 2</a:t>
            </a:r>
          </a:p>
        </p:txBody>
      </p:sp>
      <p:sp>
        <p:nvSpPr>
          <p:cNvPr id="13319" name="Rectangle 7"/>
          <p:cNvSpPr>
            <a:spLocks noChangeArrowheads="1"/>
          </p:cNvSpPr>
          <p:nvPr/>
        </p:nvSpPr>
        <p:spPr bwMode="auto">
          <a:xfrm>
            <a:off x="91598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5. Simulation semaine 3</a:t>
            </a:r>
          </a:p>
        </p:txBody>
      </p:sp>
      <p:sp>
        <p:nvSpPr>
          <p:cNvPr id="13320" name="Rectangle 8"/>
          <p:cNvSpPr>
            <a:spLocks noChangeArrowheads="1"/>
          </p:cNvSpPr>
          <p:nvPr/>
        </p:nvSpPr>
        <p:spPr bwMode="auto">
          <a:xfrm>
            <a:off x="91598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3. Mise en place des tickets Kanban</a:t>
            </a:r>
          </a:p>
        </p:txBody>
      </p:sp>
      <p:sp>
        <p:nvSpPr>
          <p:cNvPr id="13321" name="Rectangle 11"/>
          <p:cNvSpPr>
            <a:spLocks noChangeArrowheads="1"/>
          </p:cNvSpPr>
          <p:nvPr/>
        </p:nvSpPr>
        <p:spPr bwMode="auto">
          <a:xfrm>
            <a:off x="91598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6. Simulation semaine 4</a:t>
            </a:r>
          </a:p>
        </p:txBody>
      </p:sp>
      <p:sp>
        <p:nvSpPr>
          <p:cNvPr id="13322" name="Text Box 18"/>
          <p:cNvSpPr txBox="1">
            <a:spLocks noChangeArrowheads="1"/>
          </p:cNvSpPr>
          <p:nvPr/>
        </p:nvSpPr>
        <p:spPr bwMode="auto">
          <a:xfrm>
            <a:off x="225425" y="3309938"/>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13323" name="Text Box 19"/>
          <p:cNvSpPr txBox="1">
            <a:spLocks noChangeArrowheads="1"/>
          </p:cNvSpPr>
          <p:nvPr/>
        </p:nvSpPr>
        <p:spPr bwMode="auto">
          <a:xfrm>
            <a:off x="225425" y="3952875"/>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3324" name="Text Box 20"/>
          <p:cNvSpPr txBox="1">
            <a:spLocks noChangeArrowheads="1"/>
          </p:cNvSpPr>
          <p:nvPr/>
        </p:nvSpPr>
        <p:spPr bwMode="auto">
          <a:xfrm>
            <a:off x="225425" y="464820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3325" name="Text Box 21"/>
          <p:cNvSpPr txBox="1">
            <a:spLocks noChangeArrowheads="1"/>
          </p:cNvSpPr>
          <p:nvPr/>
        </p:nvSpPr>
        <p:spPr bwMode="auto">
          <a:xfrm>
            <a:off x="142716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fin de la partie</a:t>
            </a:r>
          </a:p>
        </p:txBody>
      </p:sp>
      <p:sp>
        <p:nvSpPr>
          <p:cNvPr id="13326" name="Rectangle 22"/>
          <p:cNvSpPr>
            <a:spLocks noChangeArrowheads="1"/>
          </p:cNvSpPr>
          <p:nvPr/>
        </p:nvSpPr>
        <p:spPr bwMode="auto">
          <a:xfrm>
            <a:off x="91598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7. Résultats - Synthèse</a:t>
            </a:r>
          </a:p>
        </p:txBody>
      </p:sp>
      <p:sp>
        <p:nvSpPr>
          <p:cNvPr id="13327" name="Text Box 25"/>
          <p:cNvSpPr txBox="1">
            <a:spLocks noChangeArrowheads="1"/>
          </p:cNvSpPr>
          <p:nvPr/>
        </p:nvSpPr>
        <p:spPr bwMode="auto">
          <a:xfrm>
            <a:off x="3476625" y="3541713"/>
            <a:ext cx="5454650"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marL="9525" indent="-9525" algn="l" eaLnBrk="0" hangingPunct="0">
              <a:spcBef>
                <a:spcPct val="20000"/>
              </a:spcBef>
              <a:buChar char="•"/>
              <a:tabLst>
                <a:tab pos="176213" algn="l"/>
              </a:tabLst>
              <a:defRPr sz="2000">
                <a:solidFill>
                  <a:schemeClr val="accent2"/>
                </a:solidFill>
                <a:latin typeface="Arial" pitchFamily="34" charset="0"/>
              </a:defRPr>
            </a:lvl1pPr>
            <a:lvl2pPr marL="742950" indent="-285750" algn="l" eaLnBrk="0" hangingPunct="0">
              <a:spcBef>
                <a:spcPct val="20000"/>
              </a:spcBef>
              <a:buChar char="–"/>
              <a:tabLst>
                <a:tab pos="176213" algn="l"/>
              </a:tabLst>
              <a:defRPr>
                <a:solidFill>
                  <a:schemeClr val="accent2"/>
                </a:solidFill>
                <a:latin typeface="Arial" pitchFamily="34" charset="0"/>
              </a:defRPr>
            </a:lvl2pPr>
            <a:lvl3pPr marL="1143000" indent="-228600" algn="l" eaLnBrk="0" hangingPunct="0">
              <a:spcBef>
                <a:spcPct val="20000"/>
              </a:spcBef>
              <a:buChar char="•"/>
              <a:tabLst>
                <a:tab pos="176213" algn="l"/>
              </a:tabLst>
              <a:defRPr sz="1600">
                <a:solidFill>
                  <a:schemeClr val="accent2"/>
                </a:solidFill>
                <a:latin typeface="Arial" pitchFamily="34" charset="0"/>
              </a:defRPr>
            </a:lvl3pPr>
            <a:lvl4pPr marL="1600200" indent="-228600" algn="l" eaLnBrk="0" hangingPunct="0">
              <a:spcBef>
                <a:spcPct val="20000"/>
              </a:spcBef>
              <a:buChar char="–"/>
              <a:tabLst>
                <a:tab pos="176213" algn="l"/>
              </a:tabLst>
              <a:defRPr sz="1600">
                <a:solidFill>
                  <a:schemeClr val="accent2"/>
                </a:solidFill>
                <a:latin typeface="Arial" pitchFamily="34" charset="0"/>
              </a:defRPr>
            </a:lvl4pPr>
            <a:lvl5pPr marL="2057400" indent="-228600" algn="l" eaLnBrk="0" hangingPunct="0">
              <a:spcBef>
                <a:spcPct val="20000"/>
              </a:spcBef>
              <a:buChar char="»"/>
              <a:tabLst>
                <a:tab pos="176213"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176213"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176213"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176213"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176213" algn="l"/>
              </a:tabLst>
              <a:defRPr sz="1600">
                <a:solidFill>
                  <a:schemeClr val="accent2"/>
                </a:solidFill>
                <a:latin typeface="Arial" pitchFamily="34" charset="0"/>
              </a:defRPr>
            </a:lvl9pPr>
          </a:lstStyle>
          <a:p>
            <a:pPr eaLnBrk="1" hangingPunct="1">
              <a:lnSpc>
                <a:spcPct val="120000"/>
              </a:lnSpc>
              <a:spcBef>
                <a:spcPct val="0"/>
              </a:spcBef>
              <a:buFontTx/>
              <a:buNone/>
            </a:pPr>
            <a:r>
              <a:rPr lang="fr-FR" altLang="fr-FR" sz="1300">
                <a:solidFill>
                  <a:schemeClr val="tx1"/>
                </a:solidFill>
              </a:rPr>
              <a:t>Les semaines suivantes se déroulent selon le même principe que la semaine 3. Les flux sont de plus en plus tendus, les stocks tendent vers zéro.</a:t>
            </a:r>
          </a:p>
          <a:p>
            <a:pPr eaLnBrk="1" hangingPunct="1">
              <a:lnSpc>
                <a:spcPct val="120000"/>
              </a:lnSpc>
              <a:spcBef>
                <a:spcPct val="0"/>
              </a:spcBef>
              <a:buFontTx/>
              <a:buNone/>
            </a:pPr>
            <a:r>
              <a:rPr lang="fr-FR" altLang="fr-FR" sz="1300">
                <a:solidFill>
                  <a:schemeClr val="tx1"/>
                </a:solidFill>
              </a:rPr>
              <a:t>En fin de semaine 4 la simulation est terminée.</a:t>
            </a:r>
          </a:p>
        </p:txBody>
      </p:sp>
      <p:sp>
        <p:nvSpPr>
          <p:cNvPr id="13328" name="AutoShape 26"/>
          <p:cNvSpPr>
            <a:spLocks/>
          </p:cNvSpPr>
          <p:nvPr/>
        </p:nvSpPr>
        <p:spPr bwMode="auto">
          <a:xfrm>
            <a:off x="3171825" y="3254375"/>
            <a:ext cx="220663" cy="1704975"/>
          </a:xfrm>
          <a:prstGeom prst="rightBrace">
            <a:avLst>
              <a:gd name="adj1" fmla="val 64388"/>
              <a:gd name="adj2" fmla="val 50000"/>
            </a:avLst>
          </a:prstGeom>
          <a:noFill/>
          <a:ln w="635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pic>
        <p:nvPicPr>
          <p:cNvPr id="19"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AutoShape 2"/>
          <p:cNvSpPr>
            <a:spLocks noChangeArrowheads="1"/>
          </p:cNvSpPr>
          <p:nvPr/>
        </p:nvSpPr>
        <p:spPr bwMode="auto">
          <a:xfrm>
            <a:off x="1866900" y="1766888"/>
            <a:ext cx="484188" cy="4405312"/>
          </a:xfrm>
          <a:prstGeom prst="downArrow">
            <a:avLst>
              <a:gd name="adj1" fmla="val 46889"/>
              <a:gd name="adj2" fmla="val 55138"/>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4339" name="Rectangle 3"/>
          <p:cNvSpPr>
            <a:spLocks noGrp="1" noChangeArrowheads="1"/>
          </p:cNvSpPr>
          <p:nvPr>
            <p:ph type="title"/>
          </p:nvPr>
        </p:nvSpPr>
        <p:spPr/>
        <p:txBody>
          <a:bodyPr/>
          <a:lstStyle/>
          <a:p>
            <a:pPr eaLnBrk="1" hangingPunct="1"/>
            <a:r>
              <a:rPr lang="fr-FR" altLang="fr-FR"/>
              <a:t>Vue d’ensemble de la simulation</a:t>
            </a:r>
          </a:p>
        </p:txBody>
      </p:sp>
      <p:sp>
        <p:nvSpPr>
          <p:cNvPr id="14340" name="Rectangle 4"/>
          <p:cNvSpPr>
            <a:spLocks noChangeArrowheads="1"/>
          </p:cNvSpPr>
          <p:nvPr/>
        </p:nvSpPr>
        <p:spPr bwMode="auto">
          <a:xfrm>
            <a:off x="915988" y="1036638"/>
            <a:ext cx="2157412" cy="73183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1. Présentation du jeu + préparation du planning de production</a:t>
            </a:r>
          </a:p>
        </p:txBody>
      </p:sp>
      <p:sp>
        <p:nvSpPr>
          <p:cNvPr id="14341" name="Rectangle 5"/>
          <p:cNvSpPr>
            <a:spLocks noChangeArrowheads="1"/>
          </p:cNvSpPr>
          <p:nvPr/>
        </p:nvSpPr>
        <p:spPr bwMode="auto">
          <a:xfrm>
            <a:off x="911225" y="1962150"/>
            <a:ext cx="2166938" cy="407988"/>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2. Simulation semaine 1</a:t>
            </a:r>
          </a:p>
        </p:txBody>
      </p:sp>
      <p:sp>
        <p:nvSpPr>
          <p:cNvPr id="14342" name="Rectangle 6"/>
          <p:cNvSpPr>
            <a:spLocks noChangeArrowheads="1"/>
          </p:cNvSpPr>
          <p:nvPr/>
        </p:nvSpPr>
        <p:spPr bwMode="auto">
          <a:xfrm>
            <a:off x="915988" y="32686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4. Simulation semaine 2</a:t>
            </a:r>
          </a:p>
        </p:txBody>
      </p:sp>
      <p:sp>
        <p:nvSpPr>
          <p:cNvPr id="14343" name="Rectangle 7"/>
          <p:cNvSpPr>
            <a:spLocks noChangeArrowheads="1"/>
          </p:cNvSpPr>
          <p:nvPr/>
        </p:nvSpPr>
        <p:spPr bwMode="auto">
          <a:xfrm>
            <a:off x="915988" y="39227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5. Simulation semaine 3</a:t>
            </a:r>
          </a:p>
        </p:txBody>
      </p:sp>
      <p:sp>
        <p:nvSpPr>
          <p:cNvPr id="14344" name="Rectangle 8"/>
          <p:cNvSpPr>
            <a:spLocks noChangeArrowheads="1"/>
          </p:cNvSpPr>
          <p:nvPr/>
        </p:nvSpPr>
        <p:spPr bwMode="auto">
          <a:xfrm>
            <a:off x="915988" y="2571750"/>
            <a:ext cx="2157412" cy="492125"/>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3. Mise en place des tickets Kanban</a:t>
            </a:r>
          </a:p>
        </p:txBody>
      </p:sp>
      <p:sp>
        <p:nvSpPr>
          <p:cNvPr id="14345" name="Rectangle 11"/>
          <p:cNvSpPr>
            <a:spLocks noChangeArrowheads="1"/>
          </p:cNvSpPr>
          <p:nvPr/>
        </p:nvSpPr>
        <p:spPr bwMode="auto">
          <a:xfrm>
            <a:off x="915988" y="457676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bg2"/>
                </a:solidFill>
              </a:rPr>
              <a:t>6. Simulation semaine 4</a:t>
            </a:r>
          </a:p>
        </p:txBody>
      </p:sp>
      <p:sp>
        <p:nvSpPr>
          <p:cNvPr id="14346" name="Text Box 15"/>
          <p:cNvSpPr txBox="1">
            <a:spLocks noChangeArrowheads="1"/>
          </p:cNvSpPr>
          <p:nvPr/>
        </p:nvSpPr>
        <p:spPr bwMode="auto">
          <a:xfrm>
            <a:off x="400050" y="1243013"/>
            <a:ext cx="552450"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1h30</a:t>
            </a:r>
          </a:p>
        </p:txBody>
      </p:sp>
      <p:sp>
        <p:nvSpPr>
          <p:cNvPr id="14347" name="Text Box 16"/>
          <p:cNvSpPr txBox="1">
            <a:spLocks noChangeArrowheads="1"/>
          </p:cNvSpPr>
          <p:nvPr/>
        </p:nvSpPr>
        <p:spPr bwMode="auto">
          <a:xfrm>
            <a:off x="225425" y="1992313"/>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14348" name="Text Box 17"/>
          <p:cNvSpPr txBox="1">
            <a:spLocks noChangeArrowheads="1"/>
          </p:cNvSpPr>
          <p:nvPr/>
        </p:nvSpPr>
        <p:spPr bwMode="auto">
          <a:xfrm>
            <a:off x="225425" y="26352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4349" name="Text Box 18"/>
          <p:cNvSpPr txBox="1">
            <a:spLocks noChangeArrowheads="1"/>
          </p:cNvSpPr>
          <p:nvPr/>
        </p:nvSpPr>
        <p:spPr bwMode="auto">
          <a:xfrm>
            <a:off x="225425" y="3309938"/>
            <a:ext cx="727075" cy="290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45 min.</a:t>
            </a:r>
          </a:p>
        </p:txBody>
      </p:sp>
      <p:sp>
        <p:nvSpPr>
          <p:cNvPr id="14350" name="Text Box 19"/>
          <p:cNvSpPr txBox="1">
            <a:spLocks noChangeArrowheads="1"/>
          </p:cNvSpPr>
          <p:nvPr/>
        </p:nvSpPr>
        <p:spPr bwMode="auto">
          <a:xfrm>
            <a:off x="225425" y="3952875"/>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4351" name="Text Box 20"/>
          <p:cNvSpPr txBox="1">
            <a:spLocks noChangeArrowheads="1"/>
          </p:cNvSpPr>
          <p:nvPr/>
        </p:nvSpPr>
        <p:spPr bwMode="auto">
          <a:xfrm>
            <a:off x="225425" y="464820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4352" name="Text Box 21"/>
          <p:cNvSpPr txBox="1">
            <a:spLocks noChangeArrowheads="1"/>
          </p:cNvSpPr>
          <p:nvPr/>
        </p:nvSpPr>
        <p:spPr bwMode="auto">
          <a:xfrm>
            <a:off x="1427163" y="6175375"/>
            <a:ext cx="1296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2"/>
                </a:solidFill>
              </a:rPr>
              <a:t>fin de la partie</a:t>
            </a:r>
          </a:p>
        </p:txBody>
      </p:sp>
      <p:sp>
        <p:nvSpPr>
          <p:cNvPr id="14353" name="Rectangle 22"/>
          <p:cNvSpPr>
            <a:spLocks noChangeArrowheads="1"/>
          </p:cNvSpPr>
          <p:nvPr/>
        </p:nvSpPr>
        <p:spPr bwMode="auto">
          <a:xfrm>
            <a:off x="915988" y="5230813"/>
            <a:ext cx="2157412" cy="407987"/>
          </a:xfrm>
          <a:prstGeom prst="rect">
            <a:avLst/>
          </a:prstGeom>
          <a:solidFill>
            <a:schemeClr val="bg1"/>
          </a:solidFill>
          <a:ln w="6350" algn="ctr">
            <a:solidFill>
              <a:schemeClr val="tx2"/>
            </a:solidFill>
            <a:miter lim="800000"/>
            <a:headEnd/>
            <a:tailEnd/>
          </a:ln>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7. Résultats - Synthèse</a:t>
            </a:r>
          </a:p>
        </p:txBody>
      </p:sp>
      <p:sp>
        <p:nvSpPr>
          <p:cNvPr id="14354" name="Text Box 23"/>
          <p:cNvSpPr txBox="1">
            <a:spLocks noChangeArrowheads="1"/>
          </p:cNvSpPr>
          <p:nvPr/>
        </p:nvSpPr>
        <p:spPr bwMode="auto">
          <a:xfrm>
            <a:off x="207963" y="5289550"/>
            <a:ext cx="727075"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300">
                <a:solidFill>
                  <a:schemeClr val="tx1"/>
                </a:solidFill>
              </a:rPr>
              <a:t>30 min.</a:t>
            </a:r>
          </a:p>
        </p:txBody>
      </p:sp>
      <p:sp>
        <p:nvSpPr>
          <p:cNvPr id="14355" name="Text Box 25"/>
          <p:cNvSpPr txBox="1">
            <a:spLocks noChangeArrowheads="1"/>
          </p:cNvSpPr>
          <p:nvPr/>
        </p:nvSpPr>
        <p:spPr bwMode="auto">
          <a:xfrm>
            <a:off x="3368675" y="4911725"/>
            <a:ext cx="5454650"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marL="9525" indent="-9525" algn="l" eaLnBrk="0" hangingPunct="0">
              <a:spcBef>
                <a:spcPct val="20000"/>
              </a:spcBef>
              <a:buChar char="•"/>
              <a:tabLst>
                <a:tab pos="176213" algn="l"/>
              </a:tabLst>
              <a:defRPr sz="2000">
                <a:solidFill>
                  <a:schemeClr val="accent2"/>
                </a:solidFill>
                <a:latin typeface="Arial" pitchFamily="34" charset="0"/>
              </a:defRPr>
            </a:lvl1pPr>
            <a:lvl2pPr marL="742950" indent="-285750" algn="l" eaLnBrk="0" hangingPunct="0">
              <a:spcBef>
                <a:spcPct val="20000"/>
              </a:spcBef>
              <a:buChar char="–"/>
              <a:tabLst>
                <a:tab pos="176213" algn="l"/>
              </a:tabLst>
              <a:defRPr>
                <a:solidFill>
                  <a:schemeClr val="accent2"/>
                </a:solidFill>
                <a:latin typeface="Arial" pitchFamily="34" charset="0"/>
              </a:defRPr>
            </a:lvl2pPr>
            <a:lvl3pPr marL="1143000" indent="-228600" algn="l" eaLnBrk="0" hangingPunct="0">
              <a:spcBef>
                <a:spcPct val="20000"/>
              </a:spcBef>
              <a:buChar char="•"/>
              <a:tabLst>
                <a:tab pos="176213" algn="l"/>
              </a:tabLst>
              <a:defRPr sz="1600">
                <a:solidFill>
                  <a:schemeClr val="accent2"/>
                </a:solidFill>
                <a:latin typeface="Arial" pitchFamily="34" charset="0"/>
              </a:defRPr>
            </a:lvl3pPr>
            <a:lvl4pPr marL="1600200" indent="-228600" algn="l" eaLnBrk="0" hangingPunct="0">
              <a:spcBef>
                <a:spcPct val="20000"/>
              </a:spcBef>
              <a:buChar char="–"/>
              <a:tabLst>
                <a:tab pos="176213" algn="l"/>
              </a:tabLst>
              <a:defRPr sz="1600">
                <a:solidFill>
                  <a:schemeClr val="accent2"/>
                </a:solidFill>
                <a:latin typeface="Arial" pitchFamily="34" charset="0"/>
              </a:defRPr>
            </a:lvl4pPr>
            <a:lvl5pPr marL="2057400" indent="-228600" algn="l" eaLnBrk="0" hangingPunct="0">
              <a:spcBef>
                <a:spcPct val="20000"/>
              </a:spcBef>
              <a:buChar char="»"/>
              <a:tabLst>
                <a:tab pos="176213"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176213"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176213"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176213"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176213" algn="l"/>
              </a:tabLst>
              <a:defRPr sz="1600">
                <a:solidFill>
                  <a:schemeClr val="accent2"/>
                </a:solidFill>
                <a:latin typeface="Arial" pitchFamily="34" charset="0"/>
              </a:defRPr>
            </a:lvl9pPr>
          </a:lstStyle>
          <a:p>
            <a:pPr eaLnBrk="1" hangingPunct="1">
              <a:lnSpc>
                <a:spcPct val="120000"/>
              </a:lnSpc>
              <a:spcBef>
                <a:spcPct val="0"/>
              </a:spcBef>
              <a:buFontTx/>
              <a:buNone/>
            </a:pPr>
            <a:r>
              <a:rPr lang="fr-FR" altLang="fr-FR" sz="1300" b="1">
                <a:solidFill>
                  <a:schemeClr val="tx1"/>
                </a:solidFill>
              </a:rPr>
              <a:t>7.</a:t>
            </a:r>
            <a:r>
              <a:rPr lang="fr-FR" altLang="fr-FR" sz="1300">
                <a:solidFill>
                  <a:schemeClr val="tx1"/>
                </a:solidFill>
              </a:rPr>
              <a:t> L’animateur présente le tableau de bord final.</a:t>
            </a:r>
          </a:p>
          <a:p>
            <a:pPr eaLnBrk="1" hangingPunct="1">
              <a:lnSpc>
                <a:spcPct val="120000"/>
              </a:lnSpc>
              <a:spcBef>
                <a:spcPct val="0"/>
              </a:spcBef>
              <a:buFontTx/>
              <a:buNone/>
            </a:pPr>
            <a:r>
              <a:rPr lang="fr-FR" altLang="fr-FR" sz="1300">
                <a:solidFill>
                  <a:schemeClr val="tx1"/>
                </a:solidFill>
              </a:rPr>
              <a:t>Il demande à chaque équipe de commenter les décisions qu’elle a prises au cours du jeu.</a:t>
            </a:r>
          </a:p>
          <a:p>
            <a:pPr eaLnBrk="1" hangingPunct="1">
              <a:lnSpc>
                <a:spcPct val="120000"/>
              </a:lnSpc>
              <a:spcBef>
                <a:spcPct val="0"/>
              </a:spcBef>
              <a:buFontTx/>
              <a:buNone/>
            </a:pPr>
            <a:r>
              <a:rPr lang="fr-FR" altLang="fr-FR" sz="1300">
                <a:solidFill>
                  <a:schemeClr val="tx1"/>
                </a:solidFill>
              </a:rPr>
              <a:t>Il anime un débat général sur les thèmes abordés durant la simulation.</a:t>
            </a:r>
          </a:p>
        </p:txBody>
      </p:sp>
      <p:sp>
        <p:nvSpPr>
          <p:cNvPr id="14356" name="Text Box 26"/>
          <p:cNvSpPr txBox="1">
            <a:spLocks noChangeArrowheads="1"/>
          </p:cNvSpPr>
          <p:nvPr/>
        </p:nvSpPr>
        <p:spPr bwMode="auto">
          <a:xfrm>
            <a:off x="752475" y="6173788"/>
            <a:ext cx="430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r" eaLnBrk="1" hangingPunct="1">
              <a:spcBef>
                <a:spcPct val="0"/>
              </a:spcBef>
              <a:buFontTx/>
              <a:buNone/>
            </a:pPr>
            <a:r>
              <a:rPr lang="fr-FR" altLang="fr-FR" sz="1400">
                <a:solidFill>
                  <a:schemeClr val="tx2"/>
                </a:solidFill>
              </a:rPr>
              <a:t>5 h</a:t>
            </a:r>
          </a:p>
        </p:txBody>
      </p:sp>
      <p:pic>
        <p:nvPicPr>
          <p:cNvPr id="23"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p:txBody>
          <a:bodyPr/>
          <a:lstStyle/>
          <a:p>
            <a:pPr eaLnBrk="1" hangingPunct="1"/>
            <a:r>
              <a:rPr lang="fr-FR" altLang="fr-FR"/>
              <a:t>Diapos Incidents</a:t>
            </a:r>
          </a:p>
        </p:txBody>
      </p:sp>
      <p:sp>
        <p:nvSpPr>
          <p:cNvPr id="15363" name="Rectangle 3"/>
          <p:cNvSpPr>
            <a:spLocks noGrp="1" noChangeArrowheads="1"/>
          </p:cNvSpPr>
          <p:nvPr>
            <p:ph type="body" idx="1"/>
          </p:nvPr>
        </p:nvSpPr>
        <p:spPr>
          <a:xfrm>
            <a:off x="498475" y="1862138"/>
            <a:ext cx="8229600" cy="4143375"/>
          </a:xfrm>
        </p:spPr>
        <p:txBody>
          <a:bodyPr/>
          <a:lstStyle/>
          <a:p>
            <a:pPr eaLnBrk="1" hangingPunct="1"/>
            <a:r>
              <a:rPr lang="fr-FR" altLang="fr-FR"/>
              <a:t>Des incidents surviennent pendant la simulation (tirage du dé).</a:t>
            </a:r>
          </a:p>
          <a:p>
            <a:pPr eaLnBrk="1" hangingPunct="1"/>
            <a:r>
              <a:rPr lang="fr-FR" altLang="fr-FR"/>
              <a:t>Un dé qui tombe sur 1 ou 6 appelle un incident.</a:t>
            </a:r>
          </a:p>
          <a:p>
            <a:pPr lvl="1" eaLnBrk="1" hangingPunct="1">
              <a:lnSpc>
                <a:spcPct val="110000"/>
              </a:lnSpc>
            </a:pPr>
            <a:r>
              <a:rPr lang="fr-FR" altLang="fr-FR" u="sng"/>
              <a:t>Remarque</a:t>
            </a:r>
            <a:r>
              <a:rPr lang="fr-FR" altLang="fr-FR"/>
              <a:t> : le dé est tiré alternativement par chaque table mais son résultat est applicable à toutes les tables.</a:t>
            </a:r>
          </a:p>
          <a:p>
            <a:pPr eaLnBrk="1" hangingPunct="1"/>
            <a:r>
              <a:rPr lang="fr-FR" altLang="fr-FR"/>
              <a:t>En pratique, l’animateur utilisera le fichier Incidents présent sur le CD Rom.</a:t>
            </a:r>
          </a:p>
          <a:p>
            <a:pPr eaLnBrk="1" hangingPunct="1"/>
            <a:r>
              <a:rPr lang="fr-FR" altLang="fr-FR"/>
              <a:t>Il l’ouvrira en même temps que le fichier de la simulation, et passera d’un fichier à l’autre pour lire l’incident puis revenir à la simulation. </a:t>
            </a:r>
          </a:p>
          <a:p>
            <a:pPr eaLnBrk="1" hangingPunct="1"/>
            <a:endParaRPr lang="fr-FR" altLang="fr-FR"/>
          </a:p>
        </p:txBody>
      </p:sp>
      <p:grpSp>
        <p:nvGrpSpPr>
          <p:cNvPr id="15365" name="Group 6"/>
          <p:cNvGrpSpPr>
            <a:grpSpLocks/>
          </p:cNvGrpSpPr>
          <p:nvPr/>
        </p:nvGrpSpPr>
        <p:grpSpPr bwMode="auto">
          <a:xfrm>
            <a:off x="4132263" y="989013"/>
            <a:ext cx="446087" cy="534987"/>
            <a:chOff x="868" y="1439"/>
            <a:chExt cx="811" cy="972"/>
          </a:xfrm>
        </p:grpSpPr>
        <p:sp>
          <p:nvSpPr>
            <p:cNvPr id="15367" name="Freeform 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8" name="Freeform 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9" name="Freeform 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0" name="Freeform 1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1" name="Freeform 1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2" name="Freeform 1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3" name="Freeform 1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4" name="Freeform 1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5" name="Freeform 1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6" name="Freeform 1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7" name="Freeform 1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8" name="Freeform 1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79" name="Freeform 1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0" name="Freeform 2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1" name="Freeform 2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2" name="Freeform 2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3" name="Freeform 2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4" name="Freeform 2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5" name="Freeform 2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6" name="Freeform 2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7" name="Freeform 2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8" name="Freeform 2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89" name="Freeform 2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0" name="Freeform 3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1" name="Freeform 3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2" name="Freeform 3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3" name="Freeform 3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4" name="Freeform 3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5" name="Freeform 3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6" name="Freeform 3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7" name="Freeform 3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8" name="Freeform 3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99" name="Freeform 3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0" name="Freeform 4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1" name="Freeform 4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2" name="Freeform 4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3" name="Freeform 4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4" name="Freeform 4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5" name="Freeform 4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6" name="Freeform 4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7" name="Freeform 4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8" name="Freeform 4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09" name="Freeform 4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0" name="Freeform 5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1" name="Freeform 5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2" name="Freeform 5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3" name="Freeform 5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4" name="Freeform 5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5" name="Freeform 5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6" name="Freeform 5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417" name="Freeform 5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9"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p:txBody>
          <a:bodyPr/>
          <a:lstStyle/>
          <a:p>
            <a:pPr eaLnBrk="1" hangingPunct="1"/>
            <a:r>
              <a:rPr lang="fr-FR" altLang="fr-FR"/>
              <a:t>Diapos Questions</a:t>
            </a:r>
          </a:p>
        </p:txBody>
      </p:sp>
      <p:sp>
        <p:nvSpPr>
          <p:cNvPr id="16387" name="Rectangle 3"/>
          <p:cNvSpPr>
            <a:spLocks noGrp="1" noChangeArrowheads="1"/>
          </p:cNvSpPr>
          <p:nvPr>
            <p:ph type="body" idx="1"/>
          </p:nvPr>
        </p:nvSpPr>
        <p:spPr>
          <a:xfrm>
            <a:off x="498475" y="1720850"/>
            <a:ext cx="8229600" cy="4284663"/>
          </a:xfrm>
        </p:spPr>
        <p:txBody>
          <a:bodyPr/>
          <a:lstStyle/>
          <a:p>
            <a:pPr eaLnBrk="1" hangingPunct="1"/>
            <a:r>
              <a:rPr lang="fr-FR" altLang="fr-FR"/>
              <a:t>Nous avons prévu à différents moments du jeu (chaque semaine aux heures 15 et 30) des Questions pour les participants.</a:t>
            </a:r>
          </a:p>
          <a:p>
            <a:pPr eaLnBrk="1" hangingPunct="1"/>
            <a:r>
              <a:rPr lang="fr-FR" altLang="fr-FR"/>
              <a:t>Leur but est de susciter une réflexion pédagogique.</a:t>
            </a:r>
          </a:p>
          <a:p>
            <a:pPr eaLnBrk="1" hangingPunct="1"/>
            <a:r>
              <a:rPr lang="fr-FR" altLang="fr-FR"/>
              <a:t>Mais il faut savoir que chaque question nécessite un minimum de temps (au moins 5 minutes). C’est pourquoi nous invitons l’animateur à sélectionner celles qui l’intéressent au moment de la préparation du diaporama. Il suffira de masquer celles qui ne doivent pas être traitées.</a:t>
            </a:r>
          </a:p>
          <a:p>
            <a:pPr eaLnBrk="1" hangingPunct="1"/>
            <a:r>
              <a:rPr lang="fr-FR" altLang="fr-FR"/>
              <a:t>Ces diapos peuvent également être facilement déplacées, si l’animateur préfère les traiter à un autre moment que celui prévu.</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2"/>
          <p:cNvSpPr>
            <a:spLocks noGrp="1" noChangeArrowheads="1"/>
          </p:cNvSpPr>
          <p:nvPr>
            <p:ph type="title"/>
          </p:nvPr>
        </p:nvSpPr>
        <p:spPr/>
        <p:txBody>
          <a:bodyPr/>
          <a:lstStyle/>
          <a:p>
            <a:pPr eaLnBrk="1" hangingPunct="1"/>
            <a:r>
              <a:rPr lang="fr-FR" altLang="fr-FR"/>
              <a:t>Tableau de bord</a:t>
            </a:r>
          </a:p>
        </p:txBody>
      </p:sp>
      <p:sp>
        <p:nvSpPr>
          <p:cNvPr id="17411" name="Rectangle 3"/>
          <p:cNvSpPr>
            <a:spLocks noGrp="1" noChangeArrowheads="1"/>
          </p:cNvSpPr>
          <p:nvPr>
            <p:ph type="body" idx="1"/>
          </p:nvPr>
        </p:nvSpPr>
        <p:spPr>
          <a:xfrm>
            <a:off x="509588" y="1446213"/>
            <a:ext cx="8229600" cy="4284662"/>
          </a:xfrm>
        </p:spPr>
        <p:txBody>
          <a:bodyPr/>
          <a:lstStyle/>
          <a:p>
            <a:pPr eaLnBrk="1" hangingPunct="1">
              <a:buFontTx/>
              <a:buNone/>
            </a:pPr>
            <a:r>
              <a:rPr lang="fr-FR" altLang="fr-FR"/>
              <a:t>Pour la présentation des résultats nous avons prévu :</a:t>
            </a:r>
          </a:p>
          <a:p>
            <a:pPr eaLnBrk="1" hangingPunct="1"/>
            <a:r>
              <a:rPr lang="fr-FR" altLang="fr-FR" sz="1800"/>
              <a:t>De projeter en fin de chaque semaine un tableau de bord réalisé sur Excel (fichier « Tableau de bord »), </a:t>
            </a:r>
          </a:p>
          <a:p>
            <a:pPr eaLnBrk="1" hangingPunct="1"/>
            <a:r>
              <a:rPr lang="fr-FR" altLang="fr-FR" sz="1800"/>
              <a:t>De commenter les choix de progrès des équipes par le biais d’une diapo Powerpoint animée (fichier « Analyse des progrès »).</a:t>
            </a:r>
          </a:p>
          <a:p>
            <a:pPr eaLnBrk="1" hangingPunct="1">
              <a:buFontTx/>
              <a:buNone/>
            </a:pPr>
            <a:r>
              <a:rPr lang="fr-FR" altLang="fr-FR"/>
              <a:t>Pour les animateurs qui préfèrent une « solution affichée » : </a:t>
            </a:r>
          </a:p>
          <a:p>
            <a:pPr eaLnBrk="1" hangingPunct="1"/>
            <a:r>
              <a:rPr lang="fr-FR" altLang="fr-FR" sz="1800"/>
              <a:t>Nous l’invitons à réaliser une affiche en format A1 ou A0 à partir de la diapo située ci-après.</a:t>
            </a:r>
          </a:p>
          <a:p>
            <a:pPr eaLnBrk="1" hangingPunct="1"/>
            <a:r>
              <a:rPr lang="fr-FR" altLang="fr-FR" sz="1800"/>
              <a:t>L’animateur affiche le tableau de bord, et chaque équipe met à jour le tableau de bord à l’aide d’un feutre de la couleur qui lui a été attribuée :</a:t>
            </a:r>
          </a:p>
          <a:p>
            <a:pPr lvl="1" eaLnBrk="1" hangingPunct="1"/>
            <a:r>
              <a:rPr lang="fr-FR" altLang="fr-FR"/>
              <a:t>Bleu pour l’équipe A</a:t>
            </a:r>
          </a:p>
          <a:p>
            <a:pPr lvl="1" eaLnBrk="1" hangingPunct="1"/>
            <a:r>
              <a:rPr lang="fr-FR" altLang="fr-FR"/>
              <a:t>Rouge pour l’équipe B</a:t>
            </a:r>
          </a:p>
          <a:p>
            <a:pPr lvl="1" eaLnBrk="1" hangingPunct="1"/>
            <a:r>
              <a:rPr lang="fr-FR" altLang="fr-FR"/>
              <a:t>Vert pour l’équipe C</a:t>
            </a:r>
          </a:p>
          <a:p>
            <a:pPr eaLnBrk="1" hangingPunct="1"/>
            <a:r>
              <a:rPr lang="fr-FR" altLang="fr-FR" sz="1800"/>
              <a:t>Pour enregistrer les progrès, les équipes peuvent inscrire dans le rond le N° de la semaine d’acquisition.</a:t>
            </a:r>
            <a:endParaRPr lang="fr-FR" altLang="fr-FR"/>
          </a:p>
          <a:p>
            <a:pPr eaLnBrk="1" hangingPunct="1">
              <a:buFontTx/>
              <a:buNone/>
            </a:pPr>
            <a:endParaRPr lang="fr-FR" altLang="fr-F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a:xfrm>
            <a:off x="57150" y="117475"/>
            <a:ext cx="1168400" cy="385763"/>
          </a:xfrm>
        </p:spPr>
        <p:txBody>
          <a:bodyPr/>
          <a:lstStyle/>
          <a:p>
            <a:pPr eaLnBrk="1" hangingPunct="1">
              <a:lnSpc>
                <a:spcPct val="130000"/>
              </a:lnSpc>
            </a:pPr>
            <a:r>
              <a:rPr lang="fr-FR" altLang="fr-FR" sz="1000" dirty="0">
                <a:solidFill>
                  <a:schemeClr val="tx1"/>
                </a:solidFill>
              </a:rPr>
              <a:t>Affiche</a:t>
            </a:r>
            <a:br>
              <a:rPr lang="fr-FR" altLang="fr-FR" sz="1000" dirty="0">
                <a:solidFill>
                  <a:schemeClr val="tx1"/>
                </a:solidFill>
              </a:rPr>
            </a:br>
            <a:r>
              <a:rPr lang="fr-FR" altLang="fr-FR" sz="1000" dirty="0">
                <a:solidFill>
                  <a:schemeClr val="tx1"/>
                </a:solidFill>
              </a:rPr>
              <a:t>Tableau de bord</a:t>
            </a:r>
          </a:p>
        </p:txBody>
      </p:sp>
      <p:sp>
        <p:nvSpPr>
          <p:cNvPr id="18435" name="Rectangle 24"/>
          <p:cNvSpPr>
            <a:spLocks noChangeArrowheads="1"/>
          </p:cNvSpPr>
          <p:nvPr/>
        </p:nvSpPr>
        <p:spPr bwMode="auto">
          <a:xfrm flipV="1">
            <a:off x="4794250" y="4060825"/>
            <a:ext cx="534988" cy="109538"/>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36" name="Rectangle 28"/>
          <p:cNvSpPr>
            <a:spLocks noChangeArrowheads="1"/>
          </p:cNvSpPr>
          <p:nvPr/>
        </p:nvSpPr>
        <p:spPr bwMode="auto">
          <a:xfrm flipV="1">
            <a:off x="2844800" y="4106863"/>
            <a:ext cx="533400" cy="109537"/>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pic>
        <p:nvPicPr>
          <p:cNvPr id="18437" name="Picture 20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211263" y="206375"/>
            <a:ext cx="6892925" cy="406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8438" name="Text Box 209"/>
          <p:cNvSpPr txBox="1">
            <a:spLocks noChangeArrowheads="1"/>
          </p:cNvSpPr>
          <p:nvPr/>
        </p:nvSpPr>
        <p:spPr bwMode="auto">
          <a:xfrm>
            <a:off x="-9525" y="6702425"/>
            <a:ext cx="1568450"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82232" tIns="41116" rIns="82232" bIns="41116">
            <a:spAutoFit/>
          </a:bodyPr>
          <a:lstStyle>
            <a:lvl1pPr algn="l" defTabSz="822325" eaLnBrk="0" hangingPunct="0">
              <a:spcBef>
                <a:spcPct val="20000"/>
              </a:spcBef>
              <a:buChar char="•"/>
              <a:defRPr sz="2000">
                <a:solidFill>
                  <a:schemeClr val="accent2"/>
                </a:solidFill>
                <a:latin typeface="Arial" pitchFamily="34" charset="0"/>
              </a:defRPr>
            </a:lvl1pPr>
            <a:lvl2pPr marL="742950" indent="-285750" algn="l" defTabSz="822325" eaLnBrk="0" hangingPunct="0">
              <a:spcBef>
                <a:spcPct val="20000"/>
              </a:spcBef>
              <a:buChar char="–"/>
              <a:defRPr>
                <a:solidFill>
                  <a:schemeClr val="accent2"/>
                </a:solidFill>
                <a:latin typeface="Arial" pitchFamily="34" charset="0"/>
              </a:defRPr>
            </a:lvl2pPr>
            <a:lvl3pPr marL="1143000" indent="-228600" algn="l" defTabSz="822325" eaLnBrk="0" hangingPunct="0">
              <a:spcBef>
                <a:spcPct val="20000"/>
              </a:spcBef>
              <a:buChar char="•"/>
              <a:defRPr sz="1600">
                <a:solidFill>
                  <a:schemeClr val="accent2"/>
                </a:solidFill>
                <a:latin typeface="Arial" pitchFamily="34" charset="0"/>
              </a:defRPr>
            </a:lvl3pPr>
            <a:lvl4pPr marL="1600200" indent="-228600" algn="l" defTabSz="822325" eaLnBrk="0" hangingPunct="0">
              <a:spcBef>
                <a:spcPct val="20000"/>
              </a:spcBef>
              <a:buChar char="–"/>
              <a:defRPr sz="1600">
                <a:solidFill>
                  <a:schemeClr val="accent2"/>
                </a:solidFill>
                <a:latin typeface="Arial" pitchFamily="34" charset="0"/>
              </a:defRPr>
            </a:lvl4pPr>
            <a:lvl5pPr marL="2057400" indent="-228600" algn="l" defTabSz="822325" eaLnBrk="0" hangingPunct="0">
              <a:spcBef>
                <a:spcPct val="20000"/>
              </a:spcBef>
              <a:buChar char="»"/>
              <a:defRPr sz="1600">
                <a:solidFill>
                  <a:schemeClr val="accent2"/>
                </a:solidFill>
                <a:latin typeface="Arial" pitchFamily="34" charset="0"/>
              </a:defRPr>
            </a:lvl5pPr>
            <a:lvl6pPr marL="2514600" indent="-228600" defTabSz="822325" eaLnBrk="0" fontAlgn="base" hangingPunct="0">
              <a:spcBef>
                <a:spcPct val="20000"/>
              </a:spcBef>
              <a:spcAft>
                <a:spcPct val="0"/>
              </a:spcAft>
              <a:buChar char="»"/>
              <a:defRPr sz="1600">
                <a:solidFill>
                  <a:schemeClr val="accent2"/>
                </a:solidFill>
                <a:latin typeface="Arial" pitchFamily="34" charset="0"/>
              </a:defRPr>
            </a:lvl6pPr>
            <a:lvl7pPr marL="2971800" indent="-228600" defTabSz="822325" eaLnBrk="0" fontAlgn="base" hangingPunct="0">
              <a:spcBef>
                <a:spcPct val="20000"/>
              </a:spcBef>
              <a:spcAft>
                <a:spcPct val="0"/>
              </a:spcAft>
              <a:buChar char="»"/>
              <a:defRPr sz="1600">
                <a:solidFill>
                  <a:schemeClr val="accent2"/>
                </a:solidFill>
                <a:latin typeface="Arial" pitchFamily="34" charset="0"/>
              </a:defRPr>
            </a:lvl7pPr>
            <a:lvl8pPr marL="3429000" indent="-228600" defTabSz="822325" eaLnBrk="0" fontAlgn="base" hangingPunct="0">
              <a:spcBef>
                <a:spcPct val="20000"/>
              </a:spcBef>
              <a:spcAft>
                <a:spcPct val="0"/>
              </a:spcAft>
              <a:buChar char="»"/>
              <a:defRPr sz="1600">
                <a:solidFill>
                  <a:schemeClr val="accent2"/>
                </a:solidFill>
                <a:latin typeface="Arial" pitchFamily="34" charset="0"/>
              </a:defRPr>
            </a:lvl8pPr>
            <a:lvl9pPr marL="3886200" indent="-228600" defTabSz="822325" eaLnBrk="0" fontAlgn="base" hangingPunct="0">
              <a:spcBef>
                <a:spcPct val="20000"/>
              </a:spcBef>
              <a:spcAft>
                <a:spcPct val="0"/>
              </a:spcAft>
              <a:buChar char="»"/>
              <a:defRPr sz="1600">
                <a:solidFill>
                  <a:schemeClr val="accent2"/>
                </a:solidFill>
                <a:latin typeface="Arial" pitchFamily="34" charset="0"/>
              </a:defRPr>
            </a:lvl9pPr>
          </a:lstStyle>
          <a:p>
            <a:pPr>
              <a:spcBef>
                <a:spcPct val="0"/>
              </a:spcBef>
              <a:buFontTx/>
              <a:buNone/>
            </a:pPr>
            <a:r>
              <a:rPr lang="fr-FR" altLang="fr-FR" sz="500">
                <a:solidFill>
                  <a:srgbClr val="474747"/>
                </a:solidFill>
              </a:rPr>
              <a:t>JEU DU KANBAN</a:t>
            </a:r>
            <a:r>
              <a:rPr lang="fr-FR" altLang="fr-FR" sz="500" baseline="30000">
                <a:solidFill>
                  <a:srgbClr val="474747"/>
                </a:solidFill>
                <a:cs typeface="Arial" pitchFamily="34" charset="0"/>
              </a:rPr>
              <a:t>®</a:t>
            </a:r>
            <a:r>
              <a:rPr lang="fr-FR" altLang="fr-FR" sz="500">
                <a:solidFill>
                  <a:srgbClr val="474747"/>
                </a:solidFill>
              </a:rPr>
              <a:t> - CIPE / Tous Droits Réservés</a:t>
            </a:r>
          </a:p>
        </p:txBody>
      </p:sp>
      <p:grpSp>
        <p:nvGrpSpPr>
          <p:cNvPr id="18439" name="Group 240"/>
          <p:cNvGrpSpPr>
            <a:grpSpLocks/>
          </p:cNvGrpSpPr>
          <p:nvPr/>
        </p:nvGrpSpPr>
        <p:grpSpPr bwMode="auto">
          <a:xfrm>
            <a:off x="2014538" y="4535488"/>
            <a:ext cx="5594350" cy="2108200"/>
            <a:chOff x="1191" y="2797"/>
            <a:chExt cx="3524" cy="1328"/>
          </a:xfrm>
        </p:grpSpPr>
        <p:sp>
          <p:nvSpPr>
            <p:cNvPr id="18440" name="Text Box 5"/>
            <p:cNvSpPr txBox="1">
              <a:spLocks noChangeArrowheads="1"/>
            </p:cNvSpPr>
            <p:nvPr/>
          </p:nvSpPr>
          <p:spPr bwMode="auto">
            <a:xfrm>
              <a:off x="1353" y="2821"/>
              <a:ext cx="1122" cy="13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000">
                  <a:solidFill>
                    <a:schemeClr val="tx1"/>
                  </a:solidFill>
                </a:rPr>
                <a:t>Engrenages</a:t>
              </a:r>
            </a:p>
          </p:txBody>
        </p:sp>
        <p:sp>
          <p:nvSpPr>
            <p:cNvPr id="18441" name="Text Box 6"/>
            <p:cNvSpPr txBox="1">
              <a:spLocks noChangeArrowheads="1"/>
            </p:cNvSpPr>
            <p:nvPr/>
          </p:nvSpPr>
          <p:spPr bwMode="auto">
            <a:xfrm>
              <a:off x="2724" y="2832"/>
              <a:ext cx="1132" cy="13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000">
                  <a:solidFill>
                    <a:schemeClr val="tx1"/>
                  </a:solidFill>
                </a:rPr>
                <a:t>Carters</a:t>
              </a:r>
            </a:p>
          </p:txBody>
        </p:sp>
        <p:sp>
          <p:nvSpPr>
            <p:cNvPr id="18442" name="Text Box 7"/>
            <p:cNvSpPr txBox="1">
              <a:spLocks noChangeArrowheads="1"/>
            </p:cNvSpPr>
            <p:nvPr/>
          </p:nvSpPr>
          <p:spPr bwMode="auto">
            <a:xfrm>
              <a:off x="4080" y="2950"/>
              <a:ext cx="546" cy="256"/>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000">
                  <a:solidFill>
                    <a:schemeClr val="tx1"/>
                  </a:solidFill>
                </a:rPr>
                <a:t>Couronnes</a:t>
              </a:r>
            </a:p>
            <a:p>
              <a:pPr algn="ctr">
                <a:spcBef>
                  <a:spcPct val="0"/>
                </a:spcBef>
                <a:buFontTx/>
                <a:buNone/>
              </a:pPr>
              <a:r>
                <a:rPr lang="fr-FR" altLang="fr-FR" sz="1000">
                  <a:solidFill>
                    <a:schemeClr val="tx1"/>
                  </a:solidFill>
                </a:rPr>
                <a:t>(ph. A)</a:t>
              </a:r>
            </a:p>
          </p:txBody>
        </p:sp>
        <p:sp>
          <p:nvSpPr>
            <p:cNvPr id="18443" name="Text Box 8"/>
            <p:cNvSpPr txBox="1">
              <a:spLocks noChangeArrowheads="1"/>
            </p:cNvSpPr>
            <p:nvPr/>
          </p:nvSpPr>
          <p:spPr bwMode="auto">
            <a:xfrm>
              <a:off x="2745" y="3931"/>
              <a:ext cx="1103" cy="13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000">
                  <a:solidFill>
                    <a:schemeClr val="tx1"/>
                  </a:solidFill>
                </a:rPr>
                <a:t>Couronnes (ph. B)</a:t>
              </a:r>
            </a:p>
          </p:txBody>
        </p:sp>
        <p:sp>
          <p:nvSpPr>
            <p:cNvPr id="18444" name="Text Box 9"/>
            <p:cNvSpPr txBox="1">
              <a:spLocks noChangeArrowheads="1"/>
            </p:cNvSpPr>
            <p:nvPr/>
          </p:nvSpPr>
          <p:spPr bwMode="auto">
            <a:xfrm>
              <a:off x="1375" y="3938"/>
              <a:ext cx="1115" cy="126"/>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000">
                  <a:solidFill>
                    <a:schemeClr val="tx1"/>
                  </a:solidFill>
                </a:rPr>
                <a:t>Montage</a:t>
              </a:r>
            </a:p>
          </p:txBody>
        </p:sp>
        <p:sp>
          <p:nvSpPr>
            <p:cNvPr id="18445" name="Rectangle 30"/>
            <p:cNvSpPr>
              <a:spLocks noChangeArrowheads="1"/>
            </p:cNvSpPr>
            <p:nvPr/>
          </p:nvSpPr>
          <p:spPr bwMode="auto">
            <a:xfrm>
              <a:off x="1191" y="2797"/>
              <a:ext cx="3524" cy="132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46" name="Rectangle 32"/>
            <p:cNvSpPr>
              <a:spLocks noChangeArrowheads="1"/>
            </p:cNvSpPr>
            <p:nvPr/>
          </p:nvSpPr>
          <p:spPr bwMode="auto">
            <a:xfrm>
              <a:off x="1375" y="3004"/>
              <a:ext cx="541"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47" name="Text Box 33"/>
            <p:cNvSpPr txBox="1">
              <a:spLocks noChangeArrowheads="1"/>
            </p:cNvSpPr>
            <p:nvPr/>
          </p:nvSpPr>
          <p:spPr bwMode="auto">
            <a:xfrm>
              <a:off x="1417" y="3242"/>
              <a:ext cx="449"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448" name="Text Box 34"/>
            <p:cNvSpPr txBox="1">
              <a:spLocks noChangeArrowheads="1"/>
            </p:cNvSpPr>
            <p:nvPr/>
          </p:nvSpPr>
          <p:spPr bwMode="auto">
            <a:xfrm>
              <a:off x="1339" y="3142"/>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449" name="Text Box 35"/>
            <p:cNvSpPr txBox="1">
              <a:spLocks noChangeArrowheads="1"/>
            </p:cNvSpPr>
            <p:nvPr/>
          </p:nvSpPr>
          <p:spPr bwMode="auto">
            <a:xfrm>
              <a:off x="1337" y="3007"/>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450" name="Line 36"/>
            <p:cNvSpPr>
              <a:spLocks noChangeShapeType="1"/>
            </p:cNvSpPr>
            <p:nvPr/>
          </p:nvSpPr>
          <p:spPr bwMode="auto">
            <a:xfrm>
              <a:off x="1377" y="3128"/>
              <a:ext cx="543"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51" name="Line 37"/>
            <p:cNvSpPr>
              <a:spLocks noChangeShapeType="1"/>
            </p:cNvSpPr>
            <p:nvPr/>
          </p:nvSpPr>
          <p:spPr bwMode="auto">
            <a:xfrm>
              <a:off x="1373" y="3253"/>
              <a:ext cx="547"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52" name="Line 38"/>
            <p:cNvSpPr>
              <a:spLocks noChangeShapeType="1"/>
            </p:cNvSpPr>
            <p:nvPr/>
          </p:nvSpPr>
          <p:spPr bwMode="auto">
            <a:xfrm flipV="1">
              <a:off x="1521" y="3005"/>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53" name="Oval 40"/>
            <p:cNvSpPr>
              <a:spLocks noChangeArrowheads="1"/>
            </p:cNvSpPr>
            <p:nvPr/>
          </p:nvSpPr>
          <p:spPr bwMode="auto">
            <a:xfrm>
              <a:off x="1552" y="3025"/>
              <a:ext cx="79"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454" name="Oval 41"/>
            <p:cNvSpPr>
              <a:spLocks noChangeArrowheads="1"/>
            </p:cNvSpPr>
            <p:nvPr/>
          </p:nvSpPr>
          <p:spPr bwMode="auto">
            <a:xfrm>
              <a:off x="1553" y="3155"/>
              <a:ext cx="79"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455" name="Oval 43"/>
            <p:cNvSpPr>
              <a:spLocks noChangeArrowheads="1"/>
            </p:cNvSpPr>
            <p:nvPr/>
          </p:nvSpPr>
          <p:spPr bwMode="auto">
            <a:xfrm>
              <a:off x="1673" y="3025"/>
              <a:ext cx="79"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56" name="Oval 44"/>
            <p:cNvSpPr>
              <a:spLocks noChangeArrowheads="1"/>
            </p:cNvSpPr>
            <p:nvPr/>
          </p:nvSpPr>
          <p:spPr bwMode="auto">
            <a:xfrm>
              <a:off x="1674" y="3155"/>
              <a:ext cx="79"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57" name="Oval 46"/>
            <p:cNvSpPr>
              <a:spLocks noChangeArrowheads="1"/>
            </p:cNvSpPr>
            <p:nvPr/>
          </p:nvSpPr>
          <p:spPr bwMode="auto">
            <a:xfrm>
              <a:off x="1795" y="3025"/>
              <a:ext cx="79"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58" name="Oval 47"/>
            <p:cNvSpPr>
              <a:spLocks noChangeArrowheads="1"/>
            </p:cNvSpPr>
            <p:nvPr/>
          </p:nvSpPr>
          <p:spPr bwMode="auto">
            <a:xfrm>
              <a:off x="1796" y="3155"/>
              <a:ext cx="79"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59" name="Rectangle 50"/>
            <p:cNvSpPr>
              <a:spLocks noChangeArrowheads="1"/>
            </p:cNvSpPr>
            <p:nvPr/>
          </p:nvSpPr>
          <p:spPr bwMode="auto">
            <a:xfrm>
              <a:off x="1968" y="3004"/>
              <a:ext cx="540"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60" name="Text Box 51"/>
            <p:cNvSpPr txBox="1">
              <a:spLocks noChangeArrowheads="1"/>
            </p:cNvSpPr>
            <p:nvPr/>
          </p:nvSpPr>
          <p:spPr bwMode="auto">
            <a:xfrm>
              <a:off x="2041" y="3242"/>
              <a:ext cx="39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461" name="Text Box 52"/>
            <p:cNvSpPr txBox="1">
              <a:spLocks noChangeArrowheads="1"/>
            </p:cNvSpPr>
            <p:nvPr/>
          </p:nvSpPr>
          <p:spPr bwMode="auto">
            <a:xfrm>
              <a:off x="1926" y="3134"/>
              <a:ext cx="24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1</a:t>
              </a:r>
            </a:p>
          </p:txBody>
        </p:sp>
        <p:sp>
          <p:nvSpPr>
            <p:cNvPr id="18462" name="Text Box 53"/>
            <p:cNvSpPr txBox="1">
              <a:spLocks noChangeArrowheads="1"/>
            </p:cNvSpPr>
            <p:nvPr/>
          </p:nvSpPr>
          <p:spPr bwMode="auto">
            <a:xfrm>
              <a:off x="1924" y="2999"/>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2</a:t>
              </a:r>
            </a:p>
          </p:txBody>
        </p:sp>
        <p:sp>
          <p:nvSpPr>
            <p:cNvPr id="18463" name="Line 54"/>
            <p:cNvSpPr>
              <a:spLocks noChangeShapeType="1"/>
            </p:cNvSpPr>
            <p:nvPr/>
          </p:nvSpPr>
          <p:spPr bwMode="auto">
            <a:xfrm>
              <a:off x="1970" y="3128"/>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64" name="Line 55"/>
            <p:cNvSpPr>
              <a:spLocks noChangeShapeType="1"/>
            </p:cNvSpPr>
            <p:nvPr/>
          </p:nvSpPr>
          <p:spPr bwMode="auto">
            <a:xfrm>
              <a:off x="1966" y="3253"/>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65" name="Line 56"/>
            <p:cNvSpPr>
              <a:spLocks noChangeShapeType="1"/>
            </p:cNvSpPr>
            <p:nvPr/>
          </p:nvSpPr>
          <p:spPr bwMode="auto">
            <a:xfrm flipV="1">
              <a:off x="2114" y="3005"/>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66" name="Oval 58"/>
            <p:cNvSpPr>
              <a:spLocks noChangeArrowheads="1"/>
            </p:cNvSpPr>
            <p:nvPr/>
          </p:nvSpPr>
          <p:spPr bwMode="auto">
            <a:xfrm>
              <a:off x="2145" y="302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67" name="Oval 59"/>
            <p:cNvSpPr>
              <a:spLocks noChangeArrowheads="1"/>
            </p:cNvSpPr>
            <p:nvPr/>
          </p:nvSpPr>
          <p:spPr bwMode="auto">
            <a:xfrm>
              <a:off x="2146" y="315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68" name="Oval 61"/>
            <p:cNvSpPr>
              <a:spLocks noChangeArrowheads="1"/>
            </p:cNvSpPr>
            <p:nvPr/>
          </p:nvSpPr>
          <p:spPr bwMode="auto">
            <a:xfrm>
              <a:off x="2266" y="302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69" name="Oval 62"/>
            <p:cNvSpPr>
              <a:spLocks noChangeArrowheads="1"/>
            </p:cNvSpPr>
            <p:nvPr/>
          </p:nvSpPr>
          <p:spPr bwMode="auto">
            <a:xfrm>
              <a:off x="2267" y="315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70" name="Oval 64"/>
            <p:cNvSpPr>
              <a:spLocks noChangeArrowheads="1"/>
            </p:cNvSpPr>
            <p:nvPr/>
          </p:nvSpPr>
          <p:spPr bwMode="auto">
            <a:xfrm>
              <a:off x="2388" y="302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71" name="Oval 65"/>
            <p:cNvSpPr>
              <a:spLocks noChangeArrowheads="1"/>
            </p:cNvSpPr>
            <p:nvPr/>
          </p:nvSpPr>
          <p:spPr bwMode="auto">
            <a:xfrm>
              <a:off x="2389" y="315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72" name="Rectangle 67"/>
            <p:cNvSpPr>
              <a:spLocks noChangeArrowheads="1"/>
            </p:cNvSpPr>
            <p:nvPr/>
          </p:nvSpPr>
          <p:spPr bwMode="auto">
            <a:xfrm>
              <a:off x="2736" y="3009"/>
              <a:ext cx="541"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73" name="Text Box 68"/>
            <p:cNvSpPr txBox="1">
              <a:spLocks noChangeArrowheads="1"/>
            </p:cNvSpPr>
            <p:nvPr/>
          </p:nvSpPr>
          <p:spPr bwMode="auto">
            <a:xfrm>
              <a:off x="2779" y="3248"/>
              <a:ext cx="449"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474" name="Text Box 69"/>
            <p:cNvSpPr txBox="1">
              <a:spLocks noChangeArrowheads="1"/>
            </p:cNvSpPr>
            <p:nvPr/>
          </p:nvSpPr>
          <p:spPr bwMode="auto">
            <a:xfrm>
              <a:off x="2700" y="3147"/>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475" name="Text Box 70"/>
            <p:cNvSpPr txBox="1">
              <a:spLocks noChangeArrowheads="1"/>
            </p:cNvSpPr>
            <p:nvPr/>
          </p:nvSpPr>
          <p:spPr bwMode="auto">
            <a:xfrm>
              <a:off x="2698" y="3012"/>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476" name="Line 71"/>
            <p:cNvSpPr>
              <a:spLocks noChangeShapeType="1"/>
            </p:cNvSpPr>
            <p:nvPr/>
          </p:nvSpPr>
          <p:spPr bwMode="auto">
            <a:xfrm>
              <a:off x="2738" y="3133"/>
              <a:ext cx="543"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77" name="Line 72"/>
            <p:cNvSpPr>
              <a:spLocks noChangeShapeType="1"/>
            </p:cNvSpPr>
            <p:nvPr/>
          </p:nvSpPr>
          <p:spPr bwMode="auto">
            <a:xfrm>
              <a:off x="2734" y="3257"/>
              <a:ext cx="547"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78" name="Line 73"/>
            <p:cNvSpPr>
              <a:spLocks noChangeShapeType="1"/>
            </p:cNvSpPr>
            <p:nvPr/>
          </p:nvSpPr>
          <p:spPr bwMode="auto">
            <a:xfrm flipV="1">
              <a:off x="2882" y="3010"/>
              <a:ext cx="0" cy="246"/>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79" name="Oval 75"/>
            <p:cNvSpPr>
              <a:spLocks noChangeArrowheads="1"/>
            </p:cNvSpPr>
            <p:nvPr/>
          </p:nvSpPr>
          <p:spPr bwMode="auto">
            <a:xfrm>
              <a:off x="2913" y="3030"/>
              <a:ext cx="79"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0" name="Oval 76"/>
            <p:cNvSpPr>
              <a:spLocks noChangeArrowheads="1"/>
            </p:cNvSpPr>
            <p:nvPr/>
          </p:nvSpPr>
          <p:spPr bwMode="auto">
            <a:xfrm>
              <a:off x="2914" y="3160"/>
              <a:ext cx="79"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1" name="Oval 78"/>
            <p:cNvSpPr>
              <a:spLocks noChangeArrowheads="1"/>
            </p:cNvSpPr>
            <p:nvPr/>
          </p:nvSpPr>
          <p:spPr bwMode="auto">
            <a:xfrm>
              <a:off x="3034" y="3030"/>
              <a:ext cx="79"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2" name="Oval 79"/>
            <p:cNvSpPr>
              <a:spLocks noChangeArrowheads="1"/>
            </p:cNvSpPr>
            <p:nvPr/>
          </p:nvSpPr>
          <p:spPr bwMode="auto">
            <a:xfrm>
              <a:off x="3035" y="3160"/>
              <a:ext cx="79"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3" name="Oval 81"/>
            <p:cNvSpPr>
              <a:spLocks noChangeArrowheads="1"/>
            </p:cNvSpPr>
            <p:nvPr/>
          </p:nvSpPr>
          <p:spPr bwMode="auto">
            <a:xfrm>
              <a:off x="3156" y="3030"/>
              <a:ext cx="79"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4" name="Oval 82"/>
            <p:cNvSpPr>
              <a:spLocks noChangeArrowheads="1"/>
            </p:cNvSpPr>
            <p:nvPr/>
          </p:nvSpPr>
          <p:spPr bwMode="auto">
            <a:xfrm>
              <a:off x="3157" y="3160"/>
              <a:ext cx="79"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85" name="Rectangle 85"/>
            <p:cNvSpPr>
              <a:spLocks noChangeArrowheads="1"/>
            </p:cNvSpPr>
            <p:nvPr/>
          </p:nvSpPr>
          <p:spPr bwMode="auto">
            <a:xfrm>
              <a:off x="3328" y="3009"/>
              <a:ext cx="540"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86" name="Text Box 86"/>
            <p:cNvSpPr txBox="1">
              <a:spLocks noChangeArrowheads="1"/>
            </p:cNvSpPr>
            <p:nvPr/>
          </p:nvSpPr>
          <p:spPr bwMode="auto">
            <a:xfrm>
              <a:off x="3401" y="3248"/>
              <a:ext cx="39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487" name="Text Box 87"/>
            <p:cNvSpPr txBox="1">
              <a:spLocks noChangeArrowheads="1"/>
            </p:cNvSpPr>
            <p:nvPr/>
          </p:nvSpPr>
          <p:spPr bwMode="auto">
            <a:xfrm>
              <a:off x="3286" y="3139"/>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1</a:t>
              </a:r>
            </a:p>
          </p:txBody>
        </p:sp>
        <p:sp>
          <p:nvSpPr>
            <p:cNvPr id="18488" name="Text Box 88"/>
            <p:cNvSpPr txBox="1">
              <a:spLocks noChangeArrowheads="1"/>
            </p:cNvSpPr>
            <p:nvPr/>
          </p:nvSpPr>
          <p:spPr bwMode="auto">
            <a:xfrm>
              <a:off x="3284" y="3004"/>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2</a:t>
              </a:r>
            </a:p>
          </p:txBody>
        </p:sp>
        <p:sp>
          <p:nvSpPr>
            <p:cNvPr id="18489" name="Line 89"/>
            <p:cNvSpPr>
              <a:spLocks noChangeShapeType="1"/>
            </p:cNvSpPr>
            <p:nvPr/>
          </p:nvSpPr>
          <p:spPr bwMode="auto">
            <a:xfrm>
              <a:off x="3330" y="3133"/>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90" name="Line 90"/>
            <p:cNvSpPr>
              <a:spLocks noChangeShapeType="1"/>
            </p:cNvSpPr>
            <p:nvPr/>
          </p:nvSpPr>
          <p:spPr bwMode="auto">
            <a:xfrm>
              <a:off x="3326" y="3257"/>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91" name="Line 91"/>
            <p:cNvSpPr>
              <a:spLocks noChangeShapeType="1"/>
            </p:cNvSpPr>
            <p:nvPr/>
          </p:nvSpPr>
          <p:spPr bwMode="auto">
            <a:xfrm flipV="1">
              <a:off x="3474" y="3010"/>
              <a:ext cx="0" cy="246"/>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92" name="Oval 93"/>
            <p:cNvSpPr>
              <a:spLocks noChangeArrowheads="1"/>
            </p:cNvSpPr>
            <p:nvPr/>
          </p:nvSpPr>
          <p:spPr bwMode="auto">
            <a:xfrm>
              <a:off x="3505" y="3030"/>
              <a:ext cx="78"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3" name="Oval 94"/>
            <p:cNvSpPr>
              <a:spLocks noChangeArrowheads="1"/>
            </p:cNvSpPr>
            <p:nvPr/>
          </p:nvSpPr>
          <p:spPr bwMode="auto">
            <a:xfrm>
              <a:off x="3506" y="3160"/>
              <a:ext cx="78"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4" name="Oval 96"/>
            <p:cNvSpPr>
              <a:spLocks noChangeArrowheads="1"/>
            </p:cNvSpPr>
            <p:nvPr/>
          </p:nvSpPr>
          <p:spPr bwMode="auto">
            <a:xfrm>
              <a:off x="3626" y="3030"/>
              <a:ext cx="78"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5" name="Oval 97"/>
            <p:cNvSpPr>
              <a:spLocks noChangeArrowheads="1"/>
            </p:cNvSpPr>
            <p:nvPr/>
          </p:nvSpPr>
          <p:spPr bwMode="auto">
            <a:xfrm>
              <a:off x="3627" y="3160"/>
              <a:ext cx="78"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6" name="Oval 99"/>
            <p:cNvSpPr>
              <a:spLocks noChangeArrowheads="1"/>
            </p:cNvSpPr>
            <p:nvPr/>
          </p:nvSpPr>
          <p:spPr bwMode="auto">
            <a:xfrm>
              <a:off x="3748" y="3030"/>
              <a:ext cx="78"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7" name="Oval 100"/>
            <p:cNvSpPr>
              <a:spLocks noChangeArrowheads="1"/>
            </p:cNvSpPr>
            <p:nvPr/>
          </p:nvSpPr>
          <p:spPr bwMode="auto">
            <a:xfrm>
              <a:off x="3749" y="3160"/>
              <a:ext cx="78"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498" name="Rectangle 102"/>
            <p:cNvSpPr>
              <a:spLocks noChangeArrowheads="1"/>
            </p:cNvSpPr>
            <p:nvPr/>
          </p:nvSpPr>
          <p:spPr bwMode="auto">
            <a:xfrm>
              <a:off x="2733" y="3534"/>
              <a:ext cx="540"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499" name="Text Box 103"/>
            <p:cNvSpPr txBox="1">
              <a:spLocks noChangeArrowheads="1"/>
            </p:cNvSpPr>
            <p:nvPr/>
          </p:nvSpPr>
          <p:spPr bwMode="auto">
            <a:xfrm>
              <a:off x="2775" y="3778"/>
              <a:ext cx="449"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500" name="Text Box 104"/>
            <p:cNvSpPr txBox="1">
              <a:spLocks noChangeArrowheads="1"/>
            </p:cNvSpPr>
            <p:nvPr/>
          </p:nvSpPr>
          <p:spPr bwMode="auto">
            <a:xfrm>
              <a:off x="2697" y="3672"/>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501" name="Text Box 105"/>
            <p:cNvSpPr txBox="1">
              <a:spLocks noChangeArrowheads="1"/>
            </p:cNvSpPr>
            <p:nvPr/>
          </p:nvSpPr>
          <p:spPr bwMode="auto">
            <a:xfrm>
              <a:off x="2695" y="3537"/>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502" name="Line 106"/>
            <p:cNvSpPr>
              <a:spLocks noChangeShapeType="1"/>
            </p:cNvSpPr>
            <p:nvPr/>
          </p:nvSpPr>
          <p:spPr bwMode="auto">
            <a:xfrm>
              <a:off x="2735" y="3658"/>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03" name="Line 107"/>
            <p:cNvSpPr>
              <a:spLocks noChangeShapeType="1"/>
            </p:cNvSpPr>
            <p:nvPr/>
          </p:nvSpPr>
          <p:spPr bwMode="auto">
            <a:xfrm>
              <a:off x="2731" y="3783"/>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04" name="Line 108"/>
            <p:cNvSpPr>
              <a:spLocks noChangeShapeType="1"/>
            </p:cNvSpPr>
            <p:nvPr/>
          </p:nvSpPr>
          <p:spPr bwMode="auto">
            <a:xfrm flipV="1">
              <a:off x="2879" y="3535"/>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05" name="Oval 110"/>
            <p:cNvSpPr>
              <a:spLocks noChangeArrowheads="1"/>
            </p:cNvSpPr>
            <p:nvPr/>
          </p:nvSpPr>
          <p:spPr bwMode="auto">
            <a:xfrm>
              <a:off x="2910" y="355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06" name="Oval 111"/>
            <p:cNvSpPr>
              <a:spLocks noChangeArrowheads="1"/>
            </p:cNvSpPr>
            <p:nvPr/>
          </p:nvSpPr>
          <p:spPr bwMode="auto">
            <a:xfrm>
              <a:off x="2911" y="368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07" name="Oval 113"/>
            <p:cNvSpPr>
              <a:spLocks noChangeArrowheads="1"/>
            </p:cNvSpPr>
            <p:nvPr/>
          </p:nvSpPr>
          <p:spPr bwMode="auto">
            <a:xfrm>
              <a:off x="3031" y="355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08" name="Oval 114"/>
            <p:cNvSpPr>
              <a:spLocks noChangeArrowheads="1"/>
            </p:cNvSpPr>
            <p:nvPr/>
          </p:nvSpPr>
          <p:spPr bwMode="auto">
            <a:xfrm>
              <a:off x="3032" y="368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09" name="Oval 116"/>
            <p:cNvSpPr>
              <a:spLocks noChangeArrowheads="1"/>
            </p:cNvSpPr>
            <p:nvPr/>
          </p:nvSpPr>
          <p:spPr bwMode="auto">
            <a:xfrm>
              <a:off x="3153" y="355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10" name="Oval 117"/>
            <p:cNvSpPr>
              <a:spLocks noChangeArrowheads="1"/>
            </p:cNvSpPr>
            <p:nvPr/>
          </p:nvSpPr>
          <p:spPr bwMode="auto">
            <a:xfrm>
              <a:off x="3154" y="368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11" name="Rectangle 120"/>
            <p:cNvSpPr>
              <a:spLocks noChangeArrowheads="1"/>
            </p:cNvSpPr>
            <p:nvPr/>
          </p:nvSpPr>
          <p:spPr bwMode="auto">
            <a:xfrm>
              <a:off x="3325" y="3534"/>
              <a:ext cx="540"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12" name="Text Box 121"/>
            <p:cNvSpPr txBox="1">
              <a:spLocks noChangeArrowheads="1"/>
            </p:cNvSpPr>
            <p:nvPr/>
          </p:nvSpPr>
          <p:spPr bwMode="auto">
            <a:xfrm>
              <a:off x="3398" y="3778"/>
              <a:ext cx="39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513" name="Text Box 122"/>
            <p:cNvSpPr txBox="1">
              <a:spLocks noChangeArrowheads="1"/>
            </p:cNvSpPr>
            <p:nvPr/>
          </p:nvSpPr>
          <p:spPr bwMode="auto">
            <a:xfrm>
              <a:off x="3283" y="3664"/>
              <a:ext cx="24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1</a:t>
              </a:r>
            </a:p>
          </p:txBody>
        </p:sp>
        <p:sp>
          <p:nvSpPr>
            <p:cNvPr id="18514" name="Text Box 123"/>
            <p:cNvSpPr txBox="1">
              <a:spLocks noChangeArrowheads="1"/>
            </p:cNvSpPr>
            <p:nvPr/>
          </p:nvSpPr>
          <p:spPr bwMode="auto">
            <a:xfrm>
              <a:off x="3281" y="3529"/>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2</a:t>
              </a:r>
            </a:p>
          </p:txBody>
        </p:sp>
        <p:sp>
          <p:nvSpPr>
            <p:cNvPr id="18515" name="Line 124"/>
            <p:cNvSpPr>
              <a:spLocks noChangeShapeType="1"/>
            </p:cNvSpPr>
            <p:nvPr/>
          </p:nvSpPr>
          <p:spPr bwMode="auto">
            <a:xfrm>
              <a:off x="3327" y="3658"/>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16" name="Line 125"/>
            <p:cNvSpPr>
              <a:spLocks noChangeShapeType="1"/>
            </p:cNvSpPr>
            <p:nvPr/>
          </p:nvSpPr>
          <p:spPr bwMode="auto">
            <a:xfrm>
              <a:off x="3323" y="3783"/>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17" name="Line 126"/>
            <p:cNvSpPr>
              <a:spLocks noChangeShapeType="1"/>
            </p:cNvSpPr>
            <p:nvPr/>
          </p:nvSpPr>
          <p:spPr bwMode="auto">
            <a:xfrm flipV="1">
              <a:off x="3471" y="3535"/>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18" name="Oval 128"/>
            <p:cNvSpPr>
              <a:spLocks noChangeArrowheads="1"/>
            </p:cNvSpPr>
            <p:nvPr/>
          </p:nvSpPr>
          <p:spPr bwMode="auto">
            <a:xfrm>
              <a:off x="3502" y="355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19" name="Oval 129"/>
            <p:cNvSpPr>
              <a:spLocks noChangeArrowheads="1"/>
            </p:cNvSpPr>
            <p:nvPr/>
          </p:nvSpPr>
          <p:spPr bwMode="auto">
            <a:xfrm>
              <a:off x="3503" y="3685"/>
              <a:ext cx="78"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0" name="Oval 131"/>
            <p:cNvSpPr>
              <a:spLocks noChangeArrowheads="1"/>
            </p:cNvSpPr>
            <p:nvPr/>
          </p:nvSpPr>
          <p:spPr bwMode="auto">
            <a:xfrm>
              <a:off x="3623" y="355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1" name="Oval 132"/>
            <p:cNvSpPr>
              <a:spLocks noChangeArrowheads="1"/>
            </p:cNvSpPr>
            <p:nvPr/>
          </p:nvSpPr>
          <p:spPr bwMode="auto">
            <a:xfrm>
              <a:off x="3624" y="3685"/>
              <a:ext cx="78"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2" name="Oval 134"/>
            <p:cNvSpPr>
              <a:spLocks noChangeArrowheads="1"/>
            </p:cNvSpPr>
            <p:nvPr/>
          </p:nvSpPr>
          <p:spPr bwMode="auto">
            <a:xfrm>
              <a:off x="3745" y="355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3" name="Oval 135"/>
            <p:cNvSpPr>
              <a:spLocks noChangeArrowheads="1"/>
            </p:cNvSpPr>
            <p:nvPr/>
          </p:nvSpPr>
          <p:spPr bwMode="auto">
            <a:xfrm>
              <a:off x="3746" y="3685"/>
              <a:ext cx="78"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24" name="Rectangle 138"/>
            <p:cNvSpPr>
              <a:spLocks noChangeArrowheads="1"/>
            </p:cNvSpPr>
            <p:nvPr/>
          </p:nvSpPr>
          <p:spPr bwMode="auto">
            <a:xfrm>
              <a:off x="1986" y="3541"/>
              <a:ext cx="541" cy="369"/>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25" name="Text Box 139"/>
            <p:cNvSpPr txBox="1">
              <a:spLocks noChangeArrowheads="1"/>
            </p:cNvSpPr>
            <p:nvPr/>
          </p:nvSpPr>
          <p:spPr bwMode="auto">
            <a:xfrm>
              <a:off x="2059" y="3785"/>
              <a:ext cx="39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526" name="Text Box 140"/>
            <p:cNvSpPr txBox="1">
              <a:spLocks noChangeArrowheads="1"/>
            </p:cNvSpPr>
            <p:nvPr/>
          </p:nvSpPr>
          <p:spPr bwMode="auto">
            <a:xfrm>
              <a:off x="1944" y="3671"/>
              <a:ext cx="24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1</a:t>
              </a:r>
            </a:p>
          </p:txBody>
        </p:sp>
        <p:sp>
          <p:nvSpPr>
            <p:cNvPr id="18527" name="Text Box 141"/>
            <p:cNvSpPr txBox="1">
              <a:spLocks noChangeArrowheads="1"/>
            </p:cNvSpPr>
            <p:nvPr/>
          </p:nvSpPr>
          <p:spPr bwMode="auto">
            <a:xfrm>
              <a:off x="1942" y="3536"/>
              <a:ext cx="2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N 2</a:t>
              </a:r>
            </a:p>
          </p:txBody>
        </p:sp>
        <p:sp>
          <p:nvSpPr>
            <p:cNvPr id="18528" name="Line 142"/>
            <p:cNvSpPr>
              <a:spLocks noChangeShapeType="1"/>
            </p:cNvSpPr>
            <p:nvPr/>
          </p:nvSpPr>
          <p:spPr bwMode="auto">
            <a:xfrm>
              <a:off x="1988" y="3665"/>
              <a:ext cx="543"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29" name="Line 143"/>
            <p:cNvSpPr>
              <a:spLocks noChangeShapeType="1"/>
            </p:cNvSpPr>
            <p:nvPr/>
          </p:nvSpPr>
          <p:spPr bwMode="auto">
            <a:xfrm>
              <a:off x="1984" y="3790"/>
              <a:ext cx="547"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30" name="Line 144"/>
            <p:cNvSpPr>
              <a:spLocks noChangeShapeType="1"/>
            </p:cNvSpPr>
            <p:nvPr/>
          </p:nvSpPr>
          <p:spPr bwMode="auto">
            <a:xfrm flipV="1">
              <a:off x="2132" y="3542"/>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31" name="Oval 146"/>
            <p:cNvSpPr>
              <a:spLocks noChangeArrowheads="1"/>
            </p:cNvSpPr>
            <p:nvPr/>
          </p:nvSpPr>
          <p:spPr bwMode="auto">
            <a:xfrm>
              <a:off x="2163" y="3562"/>
              <a:ext cx="79"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2" name="Oval 147"/>
            <p:cNvSpPr>
              <a:spLocks noChangeArrowheads="1"/>
            </p:cNvSpPr>
            <p:nvPr/>
          </p:nvSpPr>
          <p:spPr bwMode="auto">
            <a:xfrm>
              <a:off x="2164" y="3692"/>
              <a:ext cx="79" cy="79"/>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3" name="Oval 149"/>
            <p:cNvSpPr>
              <a:spLocks noChangeArrowheads="1"/>
            </p:cNvSpPr>
            <p:nvPr/>
          </p:nvSpPr>
          <p:spPr bwMode="auto">
            <a:xfrm>
              <a:off x="2284" y="3562"/>
              <a:ext cx="79"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4" name="Oval 150"/>
            <p:cNvSpPr>
              <a:spLocks noChangeArrowheads="1"/>
            </p:cNvSpPr>
            <p:nvPr/>
          </p:nvSpPr>
          <p:spPr bwMode="auto">
            <a:xfrm>
              <a:off x="2285" y="3692"/>
              <a:ext cx="79" cy="79"/>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5" name="Oval 152"/>
            <p:cNvSpPr>
              <a:spLocks noChangeArrowheads="1"/>
            </p:cNvSpPr>
            <p:nvPr/>
          </p:nvSpPr>
          <p:spPr bwMode="auto">
            <a:xfrm>
              <a:off x="2406" y="3562"/>
              <a:ext cx="79"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6" name="Oval 153"/>
            <p:cNvSpPr>
              <a:spLocks noChangeArrowheads="1"/>
            </p:cNvSpPr>
            <p:nvPr/>
          </p:nvSpPr>
          <p:spPr bwMode="auto">
            <a:xfrm>
              <a:off x="2407" y="3692"/>
              <a:ext cx="79" cy="79"/>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37" name="Rectangle 154"/>
            <p:cNvSpPr>
              <a:spLocks noChangeArrowheads="1"/>
            </p:cNvSpPr>
            <p:nvPr/>
          </p:nvSpPr>
          <p:spPr bwMode="auto">
            <a:xfrm>
              <a:off x="1392" y="3536"/>
              <a:ext cx="540"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38" name="Text Box 155"/>
            <p:cNvSpPr txBox="1">
              <a:spLocks noChangeArrowheads="1"/>
            </p:cNvSpPr>
            <p:nvPr/>
          </p:nvSpPr>
          <p:spPr bwMode="auto">
            <a:xfrm>
              <a:off x="1433" y="3780"/>
              <a:ext cx="449"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539" name="Text Box 156"/>
            <p:cNvSpPr txBox="1">
              <a:spLocks noChangeArrowheads="1"/>
            </p:cNvSpPr>
            <p:nvPr/>
          </p:nvSpPr>
          <p:spPr bwMode="auto">
            <a:xfrm>
              <a:off x="1349" y="3607"/>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540" name="Line 157"/>
            <p:cNvSpPr>
              <a:spLocks noChangeShapeType="1"/>
            </p:cNvSpPr>
            <p:nvPr/>
          </p:nvSpPr>
          <p:spPr bwMode="auto">
            <a:xfrm>
              <a:off x="1390" y="3788"/>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1" name="Line 158"/>
            <p:cNvSpPr>
              <a:spLocks noChangeShapeType="1"/>
            </p:cNvSpPr>
            <p:nvPr/>
          </p:nvSpPr>
          <p:spPr bwMode="auto">
            <a:xfrm flipV="1">
              <a:off x="1538" y="3537"/>
              <a:ext cx="0" cy="247"/>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2" name="Rectangle 160"/>
            <p:cNvSpPr>
              <a:spLocks noChangeArrowheads="1"/>
            </p:cNvSpPr>
            <p:nvPr/>
          </p:nvSpPr>
          <p:spPr bwMode="auto">
            <a:xfrm>
              <a:off x="4095" y="3257"/>
              <a:ext cx="541"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43" name="Text Box 161"/>
            <p:cNvSpPr txBox="1">
              <a:spLocks noChangeArrowheads="1"/>
            </p:cNvSpPr>
            <p:nvPr/>
          </p:nvSpPr>
          <p:spPr bwMode="auto">
            <a:xfrm>
              <a:off x="4138" y="3494"/>
              <a:ext cx="449"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Flexibilité</a:t>
              </a:r>
            </a:p>
          </p:txBody>
        </p:sp>
        <p:sp>
          <p:nvSpPr>
            <p:cNvPr id="18544" name="Text Box 162"/>
            <p:cNvSpPr txBox="1">
              <a:spLocks noChangeArrowheads="1"/>
            </p:cNvSpPr>
            <p:nvPr/>
          </p:nvSpPr>
          <p:spPr bwMode="auto">
            <a:xfrm>
              <a:off x="4059" y="3395"/>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545" name="Text Box 163"/>
            <p:cNvSpPr txBox="1">
              <a:spLocks noChangeArrowheads="1"/>
            </p:cNvSpPr>
            <p:nvPr/>
          </p:nvSpPr>
          <p:spPr bwMode="auto">
            <a:xfrm>
              <a:off x="4057" y="3260"/>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546" name="Line 164"/>
            <p:cNvSpPr>
              <a:spLocks noChangeShapeType="1"/>
            </p:cNvSpPr>
            <p:nvPr/>
          </p:nvSpPr>
          <p:spPr bwMode="auto">
            <a:xfrm>
              <a:off x="4097" y="3381"/>
              <a:ext cx="543"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7" name="Line 165"/>
            <p:cNvSpPr>
              <a:spLocks noChangeShapeType="1"/>
            </p:cNvSpPr>
            <p:nvPr/>
          </p:nvSpPr>
          <p:spPr bwMode="auto">
            <a:xfrm>
              <a:off x="4093" y="3505"/>
              <a:ext cx="547"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8" name="Line 166"/>
            <p:cNvSpPr>
              <a:spLocks noChangeShapeType="1"/>
            </p:cNvSpPr>
            <p:nvPr/>
          </p:nvSpPr>
          <p:spPr bwMode="auto">
            <a:xfrm flipV="1">
              <a:off x="4241" y="3258"/>
              <a:ext cx="0" cy="246"/>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49" name="Oval 168"/>
            <p:cNvSpPr>
              <a:spLocks noChangeArrowheads="1"/>
            </p:cNvSpPr>
            <p:nvPr/>
          </p:nvSpPr>
          <p:spPr bwMode="auto">
            <a:xfrm>
              <a:off x="4272" y="3278"/>
              <a:ext cx="79"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0" name="Oval 169"/>
            <p:cNvSpPr>
              <a:spLocks noChangeArrowheads="1"/>
            </p:cNvSpPr>
            <p:nvPr/>
          </p:nvSpPr>
          <p:spPr bwMode="auto">
            <a:xfrm>
              <a:off x="4273" y="3408"/>
              <a:ext cx="79"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1" name="Oval 171"/>
            <p:cNvSpPr>
              <a:spLocks noChangeArrowheads="1"/>
            </p:cNvSpPr>
            <p:nvPr/>
          </p:nvSpPr>
          <p:spPr bwMode="auto">
            <a:xfrm>
              <a:off x="4393" y="3278"/>
              <a:ext cx="79"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2" name="Oval 172"/>
            <p:cNvSpPr>
              <a:spLocks noChangeArrowheads="1"/>
            </p:cNvSpPr>
            <p:nvPr/>
          </p:nvSpPr>
          <p:spPr bwMode="auto">
            <a:xfrm>
              <a:off x="4394" y="3408"/>
              <a:ext cx="79"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3" name="Oval 174"/>
            <p:cNvSpPr>
              <a:spLocks noChangeArrowheads="1"/>
            </p:cNvSpPr>
            <p:nvPr/>
          </p:nvSpPr>
          <p:spPr bwMode="auto">
            <a:xfrm>
              <a:off x="4515" y="3278"/>
              <a:ext cx="79"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4" name="Oval 175"/>
            <p:cNvSpPr>
              <a:spLocks noChangeArrowheads="1"/>
            </p:cNvSpPr>
            <p:nvPr/>
          </p:nvSpPr>
          <p:spPr bwMode="auto">
            <a:xfrm>
              <a:off x="4516" y="3408"/>
              <a:ext cx="79"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55" name="Rectangle 178"/>
            <p:cNvSpPr>
              <a:spLocks noChangeArrowheads="1"/>
            </p:cNvSpPr>
            <p:nvPr/>
          </p:nvSpPr>
          <p:spPr bwMode="auto">
            <a:xfrm>
              <a:off x="4100" y="3657"/>
              <a:ext cx="540" cy="36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56" name="Text Box 179"/>
            <p:cNvSpPr txBox="1">
              <a:spLocks noChangeArrowheads="1"/>
            </p:cNvSpPr>
            <p:nvPr/>
          </p:nvSpPr>
          <p:spPr bwMode="auto">
            <a:xfrm>
              <a:off x="4173" y="3894"/>
              <a:ext cx="39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000">
                  <a:solidFill>
                    <a:schemeClr val="tx1"/>
                  </a:solidFill>
                </a:rPr>
                <a:t>Fiabilité</a:t>
              </a:r>
            </a:p>
          </p:txBody>
        </p:sp>
        <p:sp>
          <p:nvSpPr>
            <p:cNvPr id="18557" name="Text Box 180"/>
            <p:cNvSpPr txBox="1">
              <a:spLocks noChangeArrowheads="1"/>
            </p:cNvSpPr>
            <p:nvPr/>
          </p:nvSpPr>
          <p:spPr bwMode="auto">
            <a:xfrm>
              <a:off x="4064" y="3795"/>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1</a:t>
              </a:r>
            </a:p>
          </p:txBody>
        </p:sp>
        <p:sp>
          <p:nvSpPr>
            <p:cNvPr id="18558" name="Text Box 181"/>
            <p:cNvSpPr txBox="1">
              <a:spLocks noChangeArrowheads="1"/>
            </p:cNvSpPr>
            <p:nvPr/>
          </p:nvSpPr>
          <p:spPr bwMode="auto">
            <a:xfrm>
              <a:off x="4062" y="3660"/>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N 2</a:t>
              </a:r>
            </a:p>
          </p:txBody>
        </p:sp>
        <p:sp>
          <p:nvSpPr>
            <p:cNvPr id="18559" name="Line 182"/>
            <p:cNvSpPr>
              <a:spLocks noChangeShapeType="1"/>
            </p:cNvSpPr>
            <p:nvPr/>
          </p:nvSpPr>
          <p:spPr bwMode="auto">
            <a:xfrm>
              <a:off x="4102" y="3781"/>
              <a:ext cx="542"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60" name="Line 183"/>
            <p:cNvSpPr>
              <a:spLocks noChangeShapeType="1"/>
            </p:cNvSpPr>
            <p:nvPr/>
          </p:nvSpPr>
          <p:spPr bwMode="auto">
            <a:xfrm>
              <a:off x="4098" y="3905"/>
              <a:ext cx="546" cy="0"/>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61" name="Line 184"/>
            <p:cNvSpPr>
              <a:spLocks noChangeShapeType="1"/>
            </p:cNvSpPr>
            <p:nvPr/>
          </p:nvSpPr>
          <p:spPr bwMode="auto">
            <a:xfrm flipV="1">
              <a:off x="4246" y="3659"/>
              <a:ext cx="0" cy="245"/>
            </a:xfrm>
            <a:prstGeom prst="line">
              <a:avLst/>
            </a:prstGeom>
            <a:noFill/>
            <a:ln w="63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562" name="Oval 186"/>
            <p:cNvSpPr>
              <a:spLocks noChangeArrowheads="1"/>
            </p:cNvSpPr>
            <p:nvPr/>
          </p:nvSpPr>
          <p:spPr bwMode="auto">
            <a:xfrm>
              <a:off x="4277" y="3678"/>
              <a:ext cx="78"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563" name="Oval 187"/>
            <p:cNvSpPr>
              <a:spLocks noChangeArrowheads="1"/>
            </p:cNvSpPr>
            <p:nvPr/>
          </p:nvSpPr>
          <p:spPr bwMode="auto">
            <a:xfrm>
              <a:off x="4278" y="3808"/>
              <a:ext cx="78" cy="78"/>
            </a:xfrm>
            <a:prstGeom prst="ellipse">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564" name="Oval 189"/>
            <p:cNvSpPr>
              <a:spLocks noChangeArrowheads="1"/>
            </p:cNvSpPr>
            <p:nvPr/>
          </p:nvSpPr>
          <p:spPr bwMode="auto">
            <a:xfrm>
              <a:off x="4398" y="3678"/>
              <a:ext cx="78"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5" name="Oval 190"/>
            <p:cNvSpPr>
              <a:spLocks noChangeArrowheads="1"/>
            </p:cNvSpPr>
            <p:nvPr/>
          </p:nvSpPr>
          <p:spPr bwMode="auto">
            <a:xfrm>
              <a:off x="4399" y="3808"/>
              <a:ext cx="78" cy="78"/>
            </a:xfrm>
            <a:prstGeom prst="ellipse">
              <a:avLst/>
            </a:prstGeom>
            <a:solidFill>
              <a:schemeClr val="bg1"/>
            </a:solidFill>
            <a:ln w="12700" algn="ctr">
              <a:solidFill>
                <a:srgbClr val="FC2C1C"/>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6" name="Oval 192"/>
            <p:cNvSpPr>
              <a:spLocks noChangeArrowheads="1"/>
            </p:cNvSpPr>
            <p:nvPr/>
          </p:nvSpPr>
          <p:spPr bwMode="auto">
            <a:xfrm>
              <a:off x="4520" y="3678"/>
              <a:ext cx="78"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7" name="Oval 193"/>
            <p:cNvSpPr>
              <a:spLocks noChangeArrowheads="1"/>
            </p:cNvSpPr>
            <p:nvPr/>
          </p:nvSpPr>
          <p:spPr bwMode="auto">
            <a:xfrm>
              <a:off x="4521" y="3808"/>
              <a:ext cx="78" cy="78"/>
            </a:xfrm>
            <a:prstGeom prst="ellipse">
              <a:avLst/>
            </a:prstGeom>
            <a:solidFill>
              <a:schemeClr val="bg1"/>
            </a:solidFill>
            <a:ln w="12700" algn="ctr">
              <a:solidFill>
                <a:srgbClr val="00CC66"/>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8" name="Oval 195"/>
            <p:cNvSpPr>
              <a:spLocks noChangeArrowheads="1"/>
            </p:cNvSpPr>
            <p:nvPr/>
          </p:nvSpPr>
          <p:spPr bwMode="auto">
            <a:xfrm>
              <a:off x="1693" y="3572"/>
              <a:ext cx="78" cy="78"/>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69" name="Oval 196"/>
            <p:cNvSpPr>
              <a:spLocks noChangeArrowheads="1"/>
            </p:cNvSpPr>
            <p:nvPr/>
          </p:nvSpPr>
          <p:spPr bwMode="auto">
            <a:xfrm>
              <a:off x="1693" y="3683"/>
              <a:ext cx="78" cy="79"/>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70" name="AutoShape 197"/>
            <p:cNvSpPr>
              <a:spLocks noChangeArrowheads="1"/>
            </p:cNvSpPr>
            <p:nvPr/>
          </p:nvSpPr>
          <p:spPr bwMode="auto">
            <a:xfrm>
              <a:off x="1692" y="3571"/>
              <a:ext cx="82" cy="192"/>
            </a:xfrm>
            <a:prstGeom prst="roundRect">
              <a:avLst>
                <a:gd name="adj" fmla="val 41440"/>
              </a:avLst>
            </a:prstGeom>
            <a:noFill/>
            <a:ln w="1270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71" name="Oval 199"/>
            <p:cNvSpPr>
              <a:spLocks noChangeArrowheads="1"/>
            </p:cNvSpPr>
            <p:nvPr/>
          </p:nvSpPr>
          <p:spPr bwMode="auto">
            <a:xfrm>
              <a:off x="1563" y="3572"/>
              <a:ext cx="79" cy="78"/>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572" name="Oval 200"/>
            <p:cNvSpPr>
              <a:spLocks noChangeArrowheads="1"/>
            </p:cNvSpPr>
            <p:nvPr/>
          </p:nvSpPr>
          <p:spPr bwMode="auto">
            <a:xfrm>
              <a:off x="1563" y="3683"/>
              <a:ext cx="79" cy="79"/>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900" b="1">
                <a:solidFill>
                  <a:schemeClr val="bg1"/>
                </a:solidFill>
              </a:endParaRPr>
            </a:p>
          </p:txBody>
        </p:sp>
        <p:sp>
          <p:nvSpPr>
            <p:cNvPr id="18573" name="AutoShape 201"/>
            <p:cNvSpPr>
              <a:spLocks noChangeArrowheads="1"/>
            </p:cNvSpPr>
            <p:nvPr/>
          </p:nvSpPr>
          <p:spPr bwMode="auto">
            <a:xfrm>
              <a:off x="1562" y="3571"/>
              <a:ext cx="83" cy="192"/>
            </a:xfrm>
            <a:prstGeom prst="roundRect">
              <a:avLst>
                <a:gd name="adj" fmla="val 41440"/>
              </a:avLst>
            </a:prstGeom>
            <a:noFill/>
            <a:ln w="1270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8574" name="Oval 203"/>
            <p:cNvSpPr>
              <a:spLocks noChangeArrowheads="1"/>
            </p:cNvSpPr>
            <p:nvPr/>
          </p:nvSpPr>
          <p:spPr bwMode="auto">
            <a:xfrm>
              <a:off x="1816" y="3574"/>
              <a:ext cx="78" cy="78"/>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75" name="Oval 204"/>
            <p:cNvSpPr>
              <a:spLocks noChangeArrowheads="1"/>
            </p:cNvSpPr>
            <p:nvPr/>
          </p:nvSpPr>
          <p:spPr bwMode="auto">
            <a:xfrm>
              <a:off x="1816" y="3686"/>
              <a:ext cx="78" cy="79"/>
            </a:xfrm>
            <a:prstGeom prst="ellipse">
              <a:avLst/>
            </a:prstGeom>
            <a:noFill/>
            <a:ln w="952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000" b="1">
                <a:solidFill>
                  <a:schemeClr val="bg1"/>
                </a:solidFill>
              </a:endParaRPr>
            </a:p>
          </p:txBody>
        </p:sp>
        <p:sp>
          <p:nvSpPr>
            <p:cNvPr id="18576" name="AutoShape 205"/>
            <p:cNvSpPr>
              <a:spLocks noChangeArrowheads="1"/>
            </p:cNvSpPr>
            <p:nvPr/>
          </p:nvSpPr>
          <p:spPr bwMode="auto">
            <a:xfrm>
              <a:off x="1815" y="3573"/>
              <a:ext cx="82" cy="193"/>
            </a:xfrm>
            <a:prstGeom prst="roundRect">
              <a:avLst>
                <a:gd name="adj" fmla="val 41440"/>
              </a:avLst>
            </a:prstGeom>
            <a:noFill/>
            <a:ln w="12700" algn="ctr">
              <a:solidFill>
                <a:srgbClr val="00CC6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18577" name="Group 212"/>
            <p:cNvGrpSpPr>
              <a:grpSpLocks/>
            </p:cNvGrpSpPr>
            <p:nvPr/>
          </p:nvGrpSpPr>
          <p:grpSpPr bwMode="auto">
            <a:xfrm>
              <a:off x="1522" y="3016"/>
              <a:ext cx="389" cy="228"/>
              <a:chOff x="1522" y="3016"/>
              <a:chExt cx="389" cy="228"/>
            </a:xfrm>
          </p:grpSpPr>
          <p:sp>
            <p:nvSpPr>
              <p:cNvPr id="18605" name="Text Box 210"/>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606" name="Text Box 211"/>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78" name="Group 213"/>
            <p:cNvGrpSpPr>
              <a:grpSpLocks/>
            </p:cNvGrpSpPr>
            <p:nvPr/>
          </p:nvGrpSpPr>
          <p:grpSpPr bwMode="auto">
            <a:xfrm>
              <a:off x="2113" y="3016"/>
              <a:ext cx="389" cy="228"/>
              <a:chOff x="1522" y="3016"/>
              <a:chExt cx="389" cy="228"/>
            </a:xfrm>
          </p:grpSpPr>
          <p:sp>
            <p:nvSpPr>
              <p:cNvPr id="18603" name="Text Box 214"/>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604" name="Text Box 215"/>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79" name="Group 216"/>
            <p:cNvGrpSpPr>
              <a:grpSpLocks/>
            </p:cNvGrpSpPr>
            <p:nvPr/>
          </p:nvGrpSpPr>
          <p:grpSpPr bwMode="auto">
            <a:xfrm>
              <a:off x="1537" y="3556"/>
              <a:ext cx="389" cy="228"/>
              <a:chOff x="1522" y="3016"/>
              <a:chExt cx="389" cy="228"/>
            </a:xfrm>
          </p:grpSpPr>
          <p:sp>
            <p:nvSpPr>
              <p:cNvPr id="18601" name="Text Box 217"/>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602" name="Text Box 218"/>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0" name="Group 219"/>
            <p:cNvGrpSpPr>
              <a:grpSpLocks/>
            </p:cNvGrpSpPr>
            <p:nvPr/>
          </p:nvGrpSpPr>
          <p:grpSpPr bwMode="auto">
            <a:xfrm>
              <a:off x="2134" y="3553"/>
              <a:ext cx="389" cy="228"/>
              <a:chOff x="1522" y="3016"/>
              <a:chExt cx="389" cy="228"/>
            </a:xfrm>
          </p:grpSpPr>
          <p:sp>
            <p:nvSpPr>
              <p:cNvPr id="18599" name="Text Box 220"/>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600" name="Text Box 221"/>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1" name="Group 222"/>
            <p:cNvGrpSpPr>
              <a:grpSpLocks/>
            </p:cNvGrpSpPr>
            <p:nvPr/>
          </p:nvGrpSpPr>
          <p:grpSpPr bwMode="auto">
            <a:xfrm>
              <a:off x="2887" y="3022"/>
              <a:ext cx="389" cy="228"/>
              <a:chOff x="1522" y="3016"/>
              <a:chExt cx="389" cy="228"/>
            </a:xfrm>
          </p:grpSpPr>
          <p:sp>
            <p:nvSpPr>
              <p:cNvPr id="18597" name="Text Box 223"/>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8" name="Text Box 224"/>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2" name="Group 225"/>
            <p:cNvGrpSpPr>
              <a:grpSpLocks/>
            </p:cNvGrpSpPr>
            <p:nvPr/>
          </p:nvGrpSpPr>
          <p:grpSpPr bwMode="auto">
            <a:xfrm>
              <a:off x="3478" y="3022"/>
              <a:ext cx="389" cy="228"/>
              <a:chOff x="1522" y="3016"/>
              <a:chExt cx="389" cy="228"/>
            </a:xfrm>
          </p:grpSpPr>
          <p:sp>
            <p:nvSpPr>
              <p:cNvPr id="18595" name="Text Box 226"/>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6" name="Text Box 227"/>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3" name="Group 228"/>
            <p:cNvGrpSpPr>
              <a:grpSpLocks/>
            </p:cNvGrpSpPr>
            <p:nvPr/>
          </p:nvGrpSpPr>
          <p:grpSpPr bwMode="auto">
            <a:xfrm>
              <a:off x="2884" y="3544"/>
              <a:ext cx="389" cy="228"/>
              <a:chOff x="1522" y="3016"/>
              <a:chExt cx="389" cy="228"/>
            </a:xfrm>
          </p:grpSpPr>
          <p:sp>
            <p:nvSpPr>
              <p:cNvPr id="18593" name="Text Box 229"/>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4" name="Text Box 230"/>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4" name="Group 231"/>
            <p:cNvGrpSpPr>
              <a:grpSpLocks/>
            </p:cNvGrpSpPr>
            <p:nvPr/>
          </p:nvGrpSpPr>
          <p:grpSpPr bwMode="auto">
            <a:xfrm>
              <a:off x="3475" y="3544"/>
              <a:ext cx="389" cy="228"/>
              <a:chOff x="1522" y="3016"/>
              <a:chExt cx="389" cy="228"/>
            </a:xfrm>
          </p:grpSpPr>
          <p:sp>
            <p:nvSpPr>
              <p:cNvPr id="18591" name="Text Box 232"/>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2" name="Text Box 233"/>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5" name="Group 234"/>
            <p:cNvGrpSpPr>
              <a:grpSpLocks/>
            </p:cNvGrpSpPr>
            <p:nvPr/>
          </p:nvGrpSpPr>
          <p:grpSpPr bwMode="auto">
            <a:xfrm>
              <a:off x="4237" y="3265"/>
              <a:ext cx="389" cy="228"/>
              <a:chOff x="1522" y="3016"/>
              <a:chExt cx="389" cy="228"/>
            </a:xfrm>
          </p:grpSpPr>
          <p:sp>
            <p:nvSpPr>
              <p:cNvPr id="18589" name="Text Box 235"/>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90" name="Text Box 236"/>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nvGrpSpPr>
            <p:cNvPr id="18586" name="Group 237"/>
            <p:cNvGrpSpPr>
              <a:grpSpLocks/>
            </p:cNvGrpSpPr>
            <p:nvPr/>
          </p:nvGrpSpPr>
          <p:grpSpPr bwMode="auto">
            <a:xfrm>
              <a:off x="4243" y="3667"/>
              <a:ext cx="389" cy="228"/>
              <a:chOff x="1522" y="3016"/>
              <a:chExt cx="389" cy="228"/>
            </a:xfrm>
          </p:grpSpPr>
          <p:sp>
            <p:nvSpPr>
              <p:cNvPr id="18587" name="Text Box 238"/>
              <p:cNvSpPr txBox="1">
                <a:spLocks noChangeArrowheads="1"/>
              </p:cNvSpPr>
              <p:nvPr/>
            </p:nvSpPr>
            <p:spPr bwMode="auto">
              <a:xfrm>
                <a:off x="1522" y="3016"/>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sp>
            <p:nvSpPr>
              <p:cNvPr id="18588" name="Text Box 239"/>
              <p:cNvSpPr txBox="1">
                <a:spLocks noChangeArrowheads="1"/>
              </p:cNvSpPr>
              <p:nvPr/>
            </p:nvSpPr>
            <p:spPr bwMode="auto">
              <a:xfrm>
                <a:off x="1525" y="3148"/>
                <a:ext cx="3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00">
                    <a:solidFill>
                      <a:schemeClr val="tx1"/>
                    </a:solidFill>
                  </a:rPr>
                  <a:t>b            r            v </a:t>
                </a:r>
              </a:p>
            </p:txBody>
          </p:sp>
        </p:gr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457200" y="0"/>
            <a:ext cx="8229600" cy="647700"/>
          </a:xfrm>
        </p:spPr>
        <p:txBody>
          <a:bodyPr/>
          <a:lstStyle/>
          <a:p>
            <a:pPr eaLnBrk="1" hangingPunct="1"/>
            <a:r>
              <a:rPr lang="fr-FR" altLang="fr-FR" dirty="0"/>
              <a:t>Horaire</a:t>
            </a:r>
          </a:p>
        </p:txBody>
      </p:sp>
      <p:sp>
        <p:nvSpPr>
          <p:cNvPr id="19459" name="Rectangle 3"/>
          <p:cNvSpPr>
            <a:spLocks noGrp="1" noChangeArrowheads="1"/>
          </p:cNvSpPr>
          <p:nvPr>
            <p:ph type="body" idx="1"/>
          </p:nvPr>
        </p:nvSpPr>
        <p:spPr>
          <a:xfrm>
            <a:off x="447675" y="968375"/>
            <a:ext cx="8229600" cy="4953000"/>
          </a:xfrm>
        </p:spPr>
        <p:txBody>
          <a:bodyPr/>
          <a:lstStyle/>
          <a:p>
            <a:pPr eaLnBrk="1" hangingPunct="1">
              <a:lnSpc>
                <a:spcPct val="120000"/>
              </a:lnSpc>
            </a:pPr>
            <a:r>
              <a:rPr lang="fr-FR" altLang="fr-FR" sz="1800"/>
              <a:t>La simulation que nous venons de décrire nécessite normalement 5h.</a:t>
            </a:r>
          </a:p>
          <a:p>
            <a:pPr eaLnBrk="1" hangingPunct="1">
              <a:lnSpc>
                <a:spcPct val="120000"/>
              </a:lnSpc>
            </a:pPr>
            <a:r>
              <a:rPr lang="fr-FR" altLang="fr-FR" sz="1800"/>
              <a:t>Il est possible d’aller plus vite ou moins vite. </a:t>
            </a:r>
          </a:p>
          <a:p>
            <a:pPr eaLnBrk="1" hangingPunct="1">
              <a:lnSpc>
                <a:spcPct val="120000"/>
              </a:lnSpc>
            </a:pPr>
            <a:r>
              <a:rPr lang="fr-FR" altLang="fr-FR" sz="1800"/>
              <a:t>Aller plus vite, en 4h :</a:t>
            </a:r>
          </a:p>
          <a:p>
            <a:pPr lvl="1" eaLnBrk="1" hangingPunct="1">
              <a:lnSpc>
                <a:spcPct val="120000"/>
              </a:lnSpc>
            </a:pPr>
            <a:r>
              <a:rPr lang="fr-FR" altLang="fr-FR" sz="1600"/>
              <a:t>en ne simulant pas la semaine 3 ; pour des précisions sur cette variante, voir la diapo située en début de semaine 3 (zone de commentaires).</a:t>
            </a:r>
          </a:p>
          <a:p>
            <a:pPr lvl="1" eaLnBrk="1" hangingPunct="1">
              <a:lnSpc>
                <a:spcPct val="120000"/>
              </a:lnSpc>
            </a:pPr>
            <a:r>
              <a:rPr lang="fr-FR" altLang="fr-FR" sz="1600"/>
              <a:t>en ne mettant pas en jeu les Diapos Questions.</a:t>
            </a:r>
          </a:p>
          <a:p>
            <a:pPr lvl="1" eaLnBrk="1" hangingPunct="1">
              <a:lnSpc>
                <a:spcPct val="120000"/>
              </a:lnSpc>
            </a:pPr>
            <a:r>
              <a:rPr lang="fr-FR" altLang="fr-FR" sz="1600"/>
              <a:t>en ne commentant pas les Incidents</a:t>
            </a:r>
          </a:p>
          <a:p>
            <a:pPr eaLnBrk="1" hangingPunct="1">
              <a:lnSpc>
                <a:spcPct val="120000"/>
              </a:lnSpc>
            </a:pPr>
            <a:r>
              <a:rPr lang="fr-FR" altLang="fr-FR" sz="1800"/>
              <a:t>Aller moins vite, en 6h à 8h </a:t>
            </a:r>
          </a:p>
          <a:p>
            <a:pPr lvl="1" eaLnBrk="1" hangingPunct="1">
              <a:lnSpc>
                <a:spcPct val="120000"/>
              </a:lnSpc>
            </a:pPr>
            <a:r>
              <a:rPr lang="fr-FR" altLang="fr-FR" sz="1600"/>
              <a:t>en conservant plusieurs Diapos Questions.</a:t>
            </a:r>
          </a:p>
          <a:p>
            <a:pPr lvl="1" eaLnBrk="1" hangingPunct="1">
              <a:lnSpc>
                <a:spcPct val="120000"/>
              </a:lnSpc>
            </a:pPr>
            <a:r>
              <a:rPr lang="fr-FR" altLang="fr-FR" sz="1600"/>
              <a:t>en commentant les Incidents.</a:t>
            </a:r>
          </a:p>
          <a:p>
            <a:pPr lvl="1" eaLnBrk="1" hangingPunct="1">
              <a:lnSpc>
                <a:spcPct val="120000"/>
              </a:lnSpc>
            </a:pPr>
            <a:r>
              <a:rPr lang="fr-FR" altLang="fr-FR" sz="1600"/>
              <a:t>en passant plus de temps à commenter les indicateurs en fin de semaine.</a:t>
            </a:r>
          </a:p>
          <a:p>
            <a:pPr lvl="1" eaLnBrk="1" hangingPunct="1">
              <a:lnSpc>
                <a:spcPct val="120000"/>
              </a:lnSpc>
            </a:pPr>
            <a:r>
              <a:rPr lang="fr-FR" altLang="fr-FR" sz="1600"/>
              <a:t>en animant un débat (soit chaque fin de semaine, soit en fin de simulation) sur les situations apparues au cours de partie (avantages du kanban, nécessité des changements rapides d’outil, etc.).</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Grp="1" noChangeArrowheads="1"/>
          </p:cNvSpPr>
          <p:nvPr>
            <p:ph type="title"/>
          </p:nvPr>
        </p:nvSpPr>
        <p:spPr>
          <a:xfrm>
            <a:off x="457200" y="0"/>
            <a:ext cx="8229600" cy="647700"/>
          </a:xfrm>
        </p:spPr>
        <p:txBody>
          <a:bodyPr/>
          <a:lstStyle/>
          <a:p>
            <a:pPr eaLnBrk="1" hangingPunct="1"/>
            <a:r>
              <a:rPr lang="fr-FR" altLang="fr-FR" dirty="0"/>
              <a:t>Variante sans ticket Kanban</a:t>
            </a:r>
          </a:p>
        </p:txBody>
      </p:sp>
      <p:sp>
        <p:nvSpPr>
          <p:cNvPr id="20483" name="Rectangle 3"/>
          <p:cNvSpPr>
            <a:spLocks noGrp="1" noChangeArrowheads="1"/>
          </p:cNvSpPr>
          <p:nvPr>
            <p:ph type="body" idx="1"/>
          </p:nvPr>
        </p:nvSpPr>
        <p:spPr>
          <a:xfrm>
            <a:off x="447675" y="1257300"/>
            <a:ext cx="8374063" cy="4664075"/>
          </a:xfrm>
        </p:spPr>
        <p:txBody>
          <a:bodyPr/>
          <a:lstStyle/>
          <a:p>
            <a:pPr eaLnBrk="1" hangingPunct="1">
              <a:lnSpc>
                <a:spcPct val="120000"/>
              </a:lnSpc>
            </a:pPr>
            <a:r>
              <a:rPr lang="fr-FR" altLang="fr-FR" sz="1800"/>
              <a:t>Il est possible pour l’animateur qui le souhaite de ne pas utiliser les tickets Kanban (début de semaine 2).</a:t>
            </a:r>
          </a:p>
          <a:p>
            <a:pPr eaLnBrk="1" hangingPunct="1">
              <a:lnSpc>
                <a:spcPct val="120000"/>
              </a:lnSpc>
            </a:pPr>
            <a:r>
              <a:rPr lang="fr-FR" altLang="fr-FR" sz="1800"/>
              <a:t>Dans ce cas, il suffit de dire aux joueurs de décider leur production « à vue », c’est-à-dire en surveillant le stock aval. </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506" name="Rectangle 8"/>
          <p:cNvSpPr>
            <a:spLocks noGrp="1" noChangeArrowheads="1"/>
          </p:cNvSpPr>
          <p:nvPr>
            <p:ph type="title"/>
          </p:nvPr>
        </p:nvSpPr>
        <p:spPr>
          <a:xfrm>
            <a:off x="606425" y="0"/>
            <a:ext cx="8229600" cy="647700"/>
          </a:xfrm>
        </p:spPr>
        <p:txBody>
          <a:bodyPr/>
          <a:lstStyle/>
          <a:p>
            <a:pPr eaLnBrk="1" hangingPunct="1"/>
            <a:r>
              <a:rPr lang="fr-FR" altLang="fr-FR" dirty="0"/>
              <a:t>Participants</a:t>
            </a:r>
          </a:p>
        </p:txBody>
      </p:sp>
      <p:sp>
        <p:nvSpPr>
          <p:cNvPr id="21507" name="Rectangle 10"/>
          <p:cNvSpPr>
            <a:spLocks noGrp="1" noChangeArrowheads="1"/>
          </p:cNvSpPr>
          <p:nvPr>
            <p:ph type="body" idx="1"/>
          </p:nvPr>
        </p:nvSpPr>
        <p:spPr>
          <a:xfrm>
            <a:off x="571500" y="1300163"/>
            <a:ext cx="8229600" cy="3482975"/>
          </a:xfrm>
          <a:solidFill>
            <a:schemeClr val="bg1"/>
          </a:solidFill>
        </p:spPr>
        <p:txBody>
          <a:bodyPr/>
          <a:lstStyle/>
          <a:p>
            <a:pPr eaLnBrk="1" hangingPunct="1"/>
            <a:r>
              <a:rPr kumimoji="1" lang="fr-FR" altLang="fr-FR"/>
              <a:t>Par table : entre 5 et 10 personnes.</a:t>
            </a:r>
          </a:p>
          <a:p>
            <a:pPr lvl="2" eaLnBrk="1" hangingPunct="1"/>
            <a:r>
              <a:rPr kumimoji="1" lang="fr-FR" altLang="fr-FR"/>
              <a:t>5 personnes   :  1 personne par poste de travail</a:t>
            </a:r>
          </a:p>
          <a:p>
            <a:pPr lvl="2" eaLnBrk="1" hangingPunct="1"/>
            <a:r>
              <a:rPr kumimoji="1" lang="fr-FR" altLang="fr-FR"/>
              <a:t>6 personnes   :  2 personnes au montage</a:t>
            </a:r>
          </a:p>
          <a:p>
            <a:pPr lvl="2" eaLnBrk="1" hangingPunct="1"/>
            <a:r>
              <a:rPr kumimoji="1" lang="fr-FR" altLang="fr-FR"/>
              <a:t>7 personnes   :  idem + 2 aux engrenages.</a:t>
            </a:r>
          </a:p>
          <a:p>
            <a:pPr lvl="2" eaLnBrk="1" hangingPunct="1">
              <a:lnSpc>
                <a:spcPct val="140000"/>
              </a:lnSpc>
            </a:pPr>
            <a:r>
              <a:rPr kumimoji="1" lang="fr-FR" altLang="fr-FR" sz="1400" i="1"/>
              <a:t>8 personnes   :  idem + 2 aux carters.</a:t>
            </a:r>
          </a:p>
          <a:p>
            <a:pPr lvl="2" eaLnBrk="1" hangingPunct="1"/>
            <a:r>
              <a:rPr kumimoji="1" lang="fr-FR" altLang="fr-FR" sz="1400" i="1"/>
              <a:t>9 et 10 personnes   :  idem + 2 aux couronnes phase B puis 2 aux couronnes phase A</a:t>
            </a:r>
          </a:p>
          <a:p>
            <a:pPr lvl="1" eaLnBrk="1" hangingPunct="1"/>
            <a:r>
              <a:rPr kumimoji="1" lang="fr-FR" altLang="fr-FR"/>
              <a:t>Remarque : à partir de 8 personnes il vaut mieux constituer deux tables. </a:t>
            </a:r>
          </a:p>
          <a:p>
            <a:pPr lvl="2" eaLnBrk="1" hangingPunct="1"/>
            <a:r>
              <a:rPr kumimoji="1" lang="fr-FR" altLang="fr-FR" sz="1500"/>
              <a:t>En effet, un groupe est beaucoup plus efficace et participatif s’il reste de petite taille. S’il y a 8 personnes on forme deux équipes de 4 en demandant à une même personne de tenir les 2 postes des couronnes (phase A et phase B)</a:t>
            </a:r>
          </a:p>
          <a:p>
            <a:pPr eaLnBrk="1" hangingPunct="1">
              <a:lnSpc>
                <a:spcPct val="130000"/>
              </a:lnSpc>
            </a:pPr>
            <a:r>
              <a:rPr kumimoji="1" lang="fr-FR" altLang="fr-FR" sz="1900"/>
              <a:t>Le matériel contenu dans le kit est prévu pour animer trois tables</a:t>
            </a:r>
          </a:p>
        </p:txBody>
      </p:sp>
      <p:pic>
        <p:nvPicPr>
          <p:cNvPr id="21510" name="Picture 1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5113" y="5314950"/>
            <a:ext cx="8294687" cy="1141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pic>
        <p:nvPicPr>
          <p:cNvPr id="7" name="Picture 2" descr="C:\Users\BertrandS\Dropbox\Jeux\00. CONCEPTION DES JEUX\photos\Bureau Une Femme 29\iStock_000002139332_Medium ALLEGE.jpg"/>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Grp="1" noChangeArrowheads="1"/>
          </p:cNvSpPr>
          <p:nvPr>
            <p:ph type="title"/>
          </p:nvPr>
        </p:nvSpPr>
        <p:spPr/>
        <p:txBody>
          <a:bodyPr/>
          <a:lstStyle/>
          <a:p>
            <a:pPr eaLnBrk="1" hangingPunct="1"/>
            <a:r>
              <a:rPr lang="fr-FR" altLang="fr-FR" dirty="0"/>
              <a:t>Check List du matériel</a:t>
            </a:r>
          </a:p>
        </p:txBody>
      </p:sp>
      <p:pic>
        <p:nvPicPr>
          <p:cNvPr id="10"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graphicFrame>
        <p:nvGraphicFramePr>
          <p:cNvPr id="12" name="Tableau 11"/>
          <p:cNvGraphicFramePr>
            <a:graphicFrameLocks noGrp="1"/>
          </p:cNvGraphicFramePr>
          <p:nvPr>
            <p:extLst>
              <p:ext uri="{D42A27DB-BD31-4B8C-83A1-F6EECF244321}">
                <p14:modId xmlns:p14="http://schemas.microsoft.com/office/powerpoint/2010/main" val="1858953618"/>
              </p:ext>
            </p:extLst>
          </p:nvPr>
        </p:nvGraphicFramePr>
        <p:xfrm>
          <a:off x="155939" y="1107478"/>
          <a:ext cx="5446208" cy="4501583"/>
        </p:xfrm>
        <a:graphic>
          <a:graphicData uri="http://schemas.openxmlformats.org/drawingml/2006/table">
            <a:tbl>
              <a:tblPr>
                <a:tableStyleId>{5C22544A-7EE6-4342-B048-85BDC9FD1C3A}</a:tableStyleId>
              </a:tblPr>
              <a:tblGrid>
                <a:gridCol w="2621822">
                  <a:extLst>
                    <a:ext uri="{9D8B030D-6E8A-4147-A177-3AD203B41FA5}">
                      <a16:colId xmlns:a16="http://schemas.microsoft.com/office/drawing/2014/main" val="20000"/>
                    </a:ext>
                  </a:extLst>
                </a:gridCol>
                <a:gridCol w="421250">
                  <a:extLst>
                    <a:ext uri="{9D8B030D-6E8A-4147-A177-3AD203B41FA5}">
                      <a16:colId xmlns:a16="http://schemas.microsoft.com/office/drawing/2014/main" val="20001"/>
                    </a:ext>
                  </a:extLst>
                </a:gridCol>
                <a:gridCol w="2403136">
                  <a:extLst>
                    <a:ext uri="{9D8B030D-6E8A-4147-A177-3AD203B41FA5}">
                      <a16:colId xmlns:a16="http://schemas.microsoft.com/office/drawing/2014/main" val="20002"/>
                    </a:ext>
                  </a:extLst>
                </a:gridCol>
              </a:tblGrid>
              <a:tr h="294678">
                <a:tc>
                  <a:txBody>
                    <a:bodyPr/>
                    <a:lstStyle/>
                    <a:p>
                      <a:pPr algn="l" fontAlgn="ctr"/>
                      <a:r>
                        <a:rPr lang="fr-FR" sz="1400" b="1" i="0" u="none" strike="noStrike" dirty="0">
                          <a:solidFill>
                            <a:schemeClr val="tx1">
                              <a:lumMod val="65000"/>
                              <a:lumOff val="35000"/>
                            </a:schemeClr>
                          </a:solidFill>
                          <a:effectLst/>
                          <a:latin typeface="Calibri" panose="020F0502020204030204" pitchFamily="34" charset="0"/>
                        </a:rPr>
                        <a:t>DOCUMENTS  &amp;  MATÉRIELS</a:t>
                      </a:r>
                      <a:endParaRPr lang="fr-FR" sz="1200" b="1"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no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noFill/>
                  </a:tcPr>
                </a:tc>
                <a:tc>
                  <a:txBody>
                    <a:bodyPr/>
                    <a:lstStyle/>
                    <a:p>
                      <a:pPr algn="ctr" fontAlgn="ctr"/>
                      <a:r>
                        <a:rPr lang="fr-FR" sz="1100" u="none" strike="noStrike" dirty="0" err="1">
                          <a:solidFill>
                            <a:schemeClr val="tx1">
                              <a:lumMod val="65000"/>
                              <a:lumOff val="35000"/>
                            </a:schemeClr>
                          </a:solidFill>
                          <a:effectLst/>
                          <a:latin typeface="Calibri" panose="020F0502020204030204" pitchFamily="34" charset="0"/>
                        </a:rPr>
                        <a:t>Nbre</a:t>
                      </a:r>
                      <a:r>
                        <a:rPr lang="fr-FR" sz="1100" u="none" strike="noStrike" dirty="0">
                          <a:solidFill>
                            <a:schemeClr val="tx1">
                              <a:lumMod val="65000"/>
                              <a:lumOff val="35000"/>
                            </a:schemeClr>
                          </a:solidFill>
                          <a:effectLst/>
                          <a:latin typeface="Calibri" panose="020F0502020204030204" pitchFamily="34" charset="0"/>
                        </a:rPr>
                        <a:t>.</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u="none" strike="noStrike" dirty="0">
                          <a:solidFill>
                            <a:schemeClr val="tx1">
                              <a:lumMod val="65000"/>
                              <a:lumOff val="35000"/>
                            </a:schemeClr>
                          </a:solidFill>
                          <a:effectLst/>
                          <a:latin typeface="Calibri" panose="020F0502020204030204" pitchFamily="34" charset="0"/>
                        </a:rPr>
                        <a:t>Emplacement sur la clé USB</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47465">
                <a:tc gridSpan="3">
                  <a:txBody>
                    <a:bodyPr/>
                    <a:lstStyle/>
                    <a:p>
                      <a:pPr algn="l" fontAlgn="ctr"/>
                      <a:r>
                        <a:rPr lang="fr-FR" sz="1100" b="1" i="0" u="none" strike="noStrike" dirty="0">
                          <a:solidFill>
                            <a:schemeClr val="bg1"/>
                          </a:solidFill>
                          <a:effectLst/>
                          <a:latin typeface="Calibri" panose="020F0502020204030204" pitchFamily="34" charset="0"/>
                        </a:rPr>
                        <a:t>Pochette </a:t>
                      </a:r>
                      <a:r>
                        <a:rPr lang="fr-FR" sz="1100" b="1" i="0" u="none" strike="noStrike" baseline="0" dirty="0">
                          <a:solidFill>
                            <a:schemeClr val="bg1"/>
                          </a:solidFill>
                          <a:effectLst/>
                          <a:latin typeface="Calibri" panose="020F0502020204030204" pitchFamily="34" charset="0"/>
                        </a:rPr>
                        <a:t>N° 1</a:t>
                      </a: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tc>
                <a:tc hMerge="1">
                  <a:txBody>
                    <a:bodyPr/>
                    <a:lstStyle/>
                    <a:p>
                      <a:endParaRPr lang="fr-FR" sz="1100" dirty="0">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extLst>
                  <a:ext uri="{0D108BD9-81ED-4DB2-BD59-A6C34878D82A}">
                    <a16:rowId xmlns:a16="http://schemas.microsoft.com/office/drawing/2014/main" val="10001"/>
                  </a:ext>
                </a:extLst>
              </a:tr>
              <a:tr h="24746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Guide d'animation 1 - Préparation</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u="none" strike="noStrike" dirty="0">
                          <a:solidFill>
                            <a:schemeClr val="tx1">
                              <a:lumMod val="65000"/>
                              <a:lumOff val="35000"/>
                            </a:schemeClr>
                          </a:solidFill>
                          <a:effectLst/>
                          <a:latin typeface="Calibri" panose="020F0502020204030204" pitchFamily="34" charset="0"/>
                        </a:rPr>
                        <a:t>1</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Répertoire "Animation"</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47465">
                <a:tc gridSpan="3">
                  <a:txBody>
                    <a:bodyPr/>
                    <a:lstStyle/>
                    <a:p>
                      <a:pPr algn="l" fontAlgn="ctr"/>
                      <a:r>
                        <a:rPr lang="fr-FR" sz="1100" b="1" i="0" u="none" strike="noStrike" dirty="0">
                          <a:solidFill>
                            <a:schemeClr val="bg1"/>
                          </a:solidFill>
                          <a:effectLst/>
                          <a:latin typeface="Calibri" panose="020F0502020204030204" pitchFamily="34" charset="0"/>
                        </a:rPr>
                        <a:t>Boite</a:t>
                      </a:r>
                      <a:r>
                        <a:rPr lang="fr-FR" sz="1100" b="1" i="0" u="none" strike="noStrike" baseline="0" dirty="0">
                          <a:solidFill>
                            <a:schemeClr val="bg1"/>
                          </a:solidFill>
                          <a:effectLst/>
                          <a:latin typeface="Calibri" panose="020F0502020204030204" pitchFamily="34" charset="0"/>
                        </a:rPr>
                        <a:t> N° 2 (format A4)</a:t>
                      </a: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hMerge="1">
                  <a:txBody>
                    <a:bodyPr/>
                    <a:lstStyle/>
                    <a:p>
                      <a:endParaRPr lang="fr-FR" sz="1100" dirty="0">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Feuilles de suivi (FS)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rowSpan="5">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Tous</a:t>
                      </a:r>
                      <a:r>
                        <a:rPr lang="fr-FR" sz="1100" u="none" strike="noStrike" baseline="0" dirty="0">
                          <a:solidFill>
                            <a:schemeClr val="tx1">
                              <a:lumMod val="65000"/>
                              <a:lumOff val="35000"/>
                            </a:schemeClr>
                          </a:solidFill>
                          <a:effectLst/>
                          <a:latin typeface="Calibri" panose="020F0502020204030204" pitchFamily="34" charset="0"/>
                        </a:rPr>
                        <a:t> ces éléments se trouvent dans le </a:t>
                      </a:r>
                      <a:r>
                        <a:rPr lang="fr-FR" sz="1100" u="none" strike="noStrike" dirty="0">
                          <a:solidFill>
                            <a:schemeClr val="tx1">
                              <a:lumMod val="65000"/>
                              <a:lumOff val="35000"/>
                            </a:schemeClr>
                          </a:solidFill>
                          <a:effectLst/>
                          <a:latin typeface="Calibri" panose="020F0502020204030204" pitchFamily="34" charset="0"/>
                        </a:rPr>
                        <a:t>Répertoire "Consommables"</a:t>
                      </a:r>
                      <a:r>
                        <a:rPr lang="fr-FR" sz="1100" u="none" strike="noStrike" baseline="0" dirty="0">
                          <a:solidFill>
                            <a:schemeClr val="tx1">
                              <a:lumMod val="65000"/>
                              <a:lumOff val="35000"/>
                            </a:schemeClr>
                          </a:solidFill>
                          <a:effectLst/>
                          <a:latin typeface="Calibri" panose="020F0502020204030204" pitchFamily="34" charset="0"/>
                        </a:rPr>
                        <a:t> dans le </a:t>
                      </a:r>
                      <a:r>
                        <a:rPr lang="fr-FR" sz="1100" b="0" i="0" u="none" strike="noStrike" dirty="0">
                          <a:solidFill>
                            <a:schemeClr val="tx1">
                              <a:lumMod val="65000"/>
                              <a:lumOff val="35000"/>
                            </a:schemeClr>
                          </a:solidFill>
                          <a:effectLst/>
                          <a:latin typeface="Calibri" panose="020F0502020204030204" pitchFamily="34" charset="0"/>
                        </a:rPr>
                        <a:t>Fichier dénommé</a:t>
                      </a:r>
                      <a:r>
                        <a:rPr lang="fr-FR" sz="1100" b="0" i="0" u="none" strike="noStrike" baseline="0" dirty="0">
                          <a:solidFill>
                            <a:schemeClr val="tx1">
                              <a:lumMod val="65000"/>
                              <a:lumOff val="35000"/>
                            </a:schemeClr>
                          </a:solidFill>
                          <a:effectLst/>
                          <a:latin typeface="Calibri" panose="020F0502020204030204" pitchFamily="34" charset="0"/>
                        </a:rPr>
                        <a:t> </a:t>
                      </a:r>
                      <a:r>
                        <a:rPr lang="fr-FR" sz="1100" b="0" i="0" u="none" strike="noStrike" dirty="0">
                          <a:solidFill>
                            <a:schemeClr val="tx1">
                              <a:lumMod val="65000"/>
                              <a:lumOff val="35000"/>
                            </a:schemeClr>
                          </a:solidFill>
                          <a:effectLst/>
                          <a:latin typeface="Calibri" panose="020F0502020204030204" pitchFamily="34" charset="0"/>
                        </a:rPr>
                        <a:t>"Documents.xls" ; chaque document est un onglet</a:t>
                      </a:r>
                      <a:r>
                        <a:rPr lang="fr-FR" sz="1100" b="0" i="0" u="none" strike="noStrike" baseline="0" dirty="0">
                          <a:solidFill>
                            <a:schemeClr val="tx1">
                              <a:lumMod val="65000"/>
                              <a:lumOff val="35000"/>
                            </a:schemeClr>
                          </a:solidFill>
                          <a:effectLst/>
                          <a:latin typeface="Calibri" panose="020F0502020204030204" pitchFamily="34" charset="0"/>
                        </a:rPr>
                        <a:t> différent</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24746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u="none" strike="noStrike" kern="1200" dirty="0">
                          <a:solidFill>
                            <a:schemeClr val="tx1">
                              <a:lumMod val="65000"/>
                              <a:lumOff val="35000"/>
                            </a:schemeClr>
                          </a:solidFill>
                          <a:effectLst/>
                          <a:latin typeface="Calibri" panose="020F0502020204030204" pitchFamily="34" charset="0"/>
                          <a:ea typeface="+mn-ea"/>
                          <a:cs typeface="+mn-cs"/>
                        </a:rPr>
                        <a:t>Calcul des besoins (CB)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15</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vMerge="1">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4746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u="none" strike="noStrike" kern="1200" dirty="0">
                          <a:solidFill>
                            <a:schemeClr val="tx1">
                              <a:lumMod val="65000"/>
                              <a:lumOff val="35000"/>
                            </a:schemeClr>
                          </a:solidFill>
                          <a:effectLst/>
                          <a:latin typeface="Calibri" panose="020F0502020204030204" pitchFamily="34" charset="0"/>
                          <a:ea typeface="+mn-ea"/>
                          <a:cs typeface="+mn-cs"/>
                        </a:rPr>
                        <a:t>Résultats d'équipe (RES)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vMerge="1">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24746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u="none" strike="noStrike" kern="1200" dirty="0">
                          <a:solidFill>
                            <a:schemeClr val="tx1">
                              <a:lumMod val="65000"/>
                              <a:lumOff val="35000"/>
                            </a:schemeClr>
                          </a:solidFill>
                          <a:effectLst/>
                          <a:latin typeface="Calibri" panose="020F0502020204030204" pitchFamily="34" charset="0"/>
                          <a:ea typeface="+mn-ea"/>
                          <a:cs typeface="+mn-cs"/>
                        </a:rPr>
                        <a:t>Relevé des progrès (RP)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vMerge="1">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4746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u="none" strike="noStrike" kern="1200" dirty="0">
                          <a:solidFill>
                            <a:schemeClr val="tx1">
                              <a:lumMod val="65000"/>
                              <a:lumOff val="35000"/>
                            </a:schemeClr>
                          </a:solidFill>
                          <a:effectLst/>
                          <a:latin typeface="Calibri" panose="020F0502020204030204" pitchFamily="34" charset="0"/>
                          <a:ea typeface="+mn-ea"/>
                          <a:cs typeface="+mn-cs"/>
                        </a:rPr>
                        <a:t>Variante financière (VF) - A4 papier</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10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vMerge="1">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Règles du jeu - A6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15</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1"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Prévision des ventes - A6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0"/>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Statistiques d'incidents - A6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1"/>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Jeux de 3 Zones de stockage (ZS) - A4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2"/>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Jeux de 5 tableaux Kanban (KB) - A4 plastifié</a:t>
                      </a:r>
                    </a:p>
                  </a:txBody>
                  <a:tcPr marL="5192" marR="5192" marT="5192" marB="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a:r>
                        <a:rPr lang="fr-FR" sz="1100" b="0" i="0" u="none" strike="noStrike" dirty="0">
                          <a:solidFill>
                            <a:schemeClr val="tx1">
                              <a:lumMod val="65000"/>
                              <a:lumOff val="35000"/>
                            </a:schemeClr>
                          </a:solidFill>
                          <a:effectLst/>
                          <a:latin typeface="Calibri" panose="020F0502020204030204" pitchFamily="34" charset="0"/>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3"/>
                  </a:ext>
                </a:extLst>
              </a:tr>
              <a:tr h="247465">
                <a:tc gridSpan="3">
                  <a:txBody>
                    <a:bodyPr/>
                    <a:lstStyle/>
                    <a:p>
                      <a:pPr algn="l" fontAlgn="ctr"/>
                      <a:r>
                        <a:rPr lang="fr-FR" sz="1100" b="1" i="0" u="none" strike="noStrike" dirty="0">
                          <a:solidFill>
                            <a:schemeClr val="bg1"/>
                          </a:solidFill>
                          <a:effectLst/>
                          <a:latin typeface="Calibri" panose="020F0502020204030204" pitchFamily="34" charset="0"/>
                        </a:rPr>
                        <a:t>Boite</a:t>
                      </a:r>
                      <a:r>
                        <a:rPr lang="fr-FR" sz="1100" b="1" i="0" u="none" strike="noStrike" baseline="0" dirty="0">
                          <a:solidFill>
                            <a:schemeClr val="bg1"/>
                          </a:solidFill>
                          <a:effectLst/>
                          <a:latin typeface="Calibri" panose="020F0502020204030204" pitchFamily="34" charset="0"/>
                        </a:rPr>
                        <a:t> bleue N° 3</a:t>
                      </a: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hMerge="1">
                  <a:txBody>
                    <a:bodyPr/>
                    <a:lstStyle/>
                    <a:p>
                      <a:endParaRPr lang="fr-FR" sz="1100" dirty="0">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4"/>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Clé USB</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1</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Voir contenu page suivante</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5"/>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Jeux complets de Tickets Kanban</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6"/>
                  </a:ext>
                </a:extLst>
              </a:tr>
              <a:tr h="247465">
                <a:tc>
                  <a:txBody>
                    <a:bodyPr/>
                    <a:lstStyle/>
                    <a:p>
                      <a:pPr marL="0" algn="l" defTabSz="914400" rtl="0" eaLnBrk="1" fontAlgn="ctr" latinLnBrk="0" hangingPunct="1"/>
                      <a:r>
                        <a:rPr lang="en-US" sz="1100" u="none" strike="noStrike" kern="1200" dirty="0">
                          <a:solidFill>
                            <a:schemeClr val="tx1">
                              <a:lumMod val="65000"/>
                              <a:lumOff val="35000"/>
                            </a:schemeClr>
                          </a:solidFill>
                          <a:effectLst/>
                          <a:latin typeface="Calibri" panose="020F0502020204030204" pitchFamily="34" charset="0"/>
                          <a:ea typeface="+mn-ea"/>
                          <a:cs typeface="+mn-cs"/>
                        </a:rPr>
                        <a:t>Blocs de Post-it (format 5,1 x 3,6 cm)</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3</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7"/>
                  </a:ext>
                </a:extLst>
              </a:tr>
            </a:tbl>
          </a:graphicData>
        </a:graphic>
      </p:graphicFrame>
      <p:graphicFrame>
        <p:nvGraphicFramePr>
          <p:cNvPr id="8" name="Tableau 7"/>
          <p:cNvGraphicFramePr>
            <a:graphicFrameLocks noGrp="1"/>
          </p:cNvGraphicFramePr>
          <p:nvPr>
            <p:extLst>
              <p:ext uri="{D42A27DB-BD31-4B8C-83A1-F6EECF244321}">
                <p14:modId xmlns:p14="http://schemas.microsoft.com/office/powerpoint/2010/main" val="877352498"/>
              </p:ext>
            </p:extLst>
          </p:nvPr>
        </p:nvGraphicFramePr>
        <p:xfrm>
          <a:off x="5861679" y="2344803"/>
          <a:ext cx="3043072" cy="3511723"/>
        </p:xfrm>
        <a:graphic>
          <a:graphicData uri="http://schemas.openxmlformats.org/drawingml/2006/table">
            <a:tbl>
              <a:tblPr>
                <a:tableStyleId>{5C22544A-7EE6-4342-B048-85BDC9FD1C3A}</a:tableStyleId>
              </a:tblPr>
              <a:tblGrid>
                <a:gridCol w="2621822">
                  <a:extLst>
                    <a:ext uri="{9D8B030D-6E8A-4147-A177-3AD203B41FA5}">
                      <a16:colId xmlns:a16="http://schemas.microsoft.com/office/drawing/2014/main" val="20000"/>
                    </a:ext>
                  </a:extLst>
                </a:gridCol>
                <a:gridCol w="421250">
                  <a:extLst>
                    <a:ext uri="{9D8B030D-6E8A-4147-A177-3AD203B41FA5}">
                      <a16:colId xmlns:a16="http://schemas.microsoft.com/office/drawing/2014/main" val="20001"/>
                    </a:ext>
                  </a:extLst>
                </a:gridCol>
              </a:tblGrid>
              <a:tr h="294678">
                <a:tc>
                  <a:txBody>
                    <a:bodyPr/>
                    <a:lstStyle/>
                    <a:p>
                      <a:pPr algn="l" fontAlgn="ctr"/>
                      <a:r>
                        <a:rPr lang="fr-FR" sz="1400" b="1" i="0" u="none" strike="noStrike" dirty="0">
                          <a:solidFill>
                            <a:schemeClr val="tx1">
                              <a:lumMod val="65000"/>
                              <a:lumOff val="35000"/>
                            </a:schemeClr>
                          </a:solidFill>
                          <a:effectLst/>
                          <a:latin typeface="Calibri" panose="020F0502020204030204" pitchFamily="34" charset="0"/>
                        </a:rPr>
                        <a:t>DOCUMENTS  &amp;  MATÉRIELS</a:t>
                      </a:r>
                      <a:endParaRPr lang="fr-FR" sz="1200" b="1"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no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noFill/>
                  </a:tcPr>
                </a:tc>
                <a:tc>
                  <a:txBody>
                    <a:bodyPr/>
                    <a:lstStyle/>
                    <a:p>
                      <a:pPr algn="ctr" fontAlgn="ctr"/>
                      <a:r>
                        <a:rPr lang="fr-FR" sz="1100" u="none" strike="noStrike" dirty="0" err="1">
                          <a:solidFill>
                            <a:schemeClr val="tx1">
                              <a:lumMod val="65000"/>
                              <a:lumOff val="35000"/>
                            </a:schemeClr>
                          </a:solidFill>
                          <a:effectLst/>
                          <a:latin typeface="Calibri" panose="020F0502020204030204" pitchFamily="34" charset="0"/>
                        </a:rPr>
                        <a:t>Nbre</a:t>
                      </a:r>
                      <a:r>
                        <a:rPr lang="fr-FR" sz="1100" u="none" strike="noStrike" dirty="0">
                          <a:solidFill>
                            <a:schemeClr val="tx1">
                              <a:lumMod val="65000"/>
                              <a:lumOff val="35000"/>
                            </a:schemeClr>
                          </a:solidFill>
                          <a:effectLst/>
                          <a:latin typeface="Calibri" panose="020F0502020204030204" pitchFamily="34" charset="0"/>
                        </a:rPr>
                        <a:t>.</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47465">
                <a:tc gridSpan="2">
                  <a:txBody>
                    <a:bodyPr/>
                    <a:lstStyle/>
                    <a:p>
                      <a:pPr algn="l" fontAlgn="ctr"/>
                      <a:r>
                        <a:rPr lang="fr-FR" sz="1100" b="1" i="0" u="none" strike="noStrike" dirty="0">
                          <a:solidFill>
                            <a:schemeClr val="bg1"/>
                          </a:solidFill>
                          <a:effectLst/>
                          <a:latin typeface="Calibri" panose="020F0502020204030204" pitchFamily="34" charset="0"/>
                        </a:rPr>
                        <a:t>Sachet de jetons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Petits rectangles blancs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Petits rectangles jaunes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47465">
                <a:tc gridSpan="2">
                  <a:txBody>
                    <a:bodyPr/>
                    <a:lstStyle/>
                    <a:p>
                      <a:pPr algn="l" fontAlgn="ctr"/>
                      <a:r>
                        <a:rPr lang="fr-FR" sz="1100" b="1" i="0" u="none" strike="noStrike" dirty="0">
                          <a:solidFill>
                            <a:schemeClr val="bg1"/>
                          </a:solidFill>
                          <a:effectLst/>
                          <a:latin typeface="Calibri" panose="020F0502020204030204" pitchFamily="34" charset="0"/>
                        </a:rPr>
                        <a:t>Sachet de jetons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Grands rectangles rouges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Grands rectangles bleus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60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247465">
                <a:tc gridSpan="2">
                  <a:txBody>
                    <a:bodyPr/>
                    <a:lstStyle/>
                    <a:p>
                      <a:pPr algn="l" fontAlgn="ctr"/>
                      <a:r>
                        <a:rPr lang="fr-FR" sz="1100" b="1" i="0" u="none" strike="noStrike" dirty="0">
                          <a:solidFill>
                            <a:schemeClr val="bg1"/>
                          </a:solidFill>
                          <a:effectLst/>
                          <a:latin typeface="Calibri" panose="020F0502020204030204" pitchFamily="34" charset="0"/>
                        </a:rPr>
                        <a:t>Sachet de jetons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Ronds blancs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120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Ronds rouges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45</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Ronds verts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55</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0"/>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Dé</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a:solidFill>
                            <a:schemeClr val="tx1">
                              <a:lumMod val="65000"/>
                              <a:lumOff val="35000"/>
                            </a:schemeClr>
                          </a:solidFill>
                          <a:effectLst/>
                          <a:latin typeface="Calibri" panose="020F0502020204030204" pitchFamily="34" charset="0"/>
                          <a:ea typeface="+mn-ea"/>
                          <a:cs typeface="+mn-cs"/>
                        </a:rPr>
                        <a:t>3</a:t>
                      </a:r>
                      <a:endParaRPr lang="fr-FR" sz="1100" b="0" i="0" u="none" strike="noStrike" kern="1200" dirty="0">
                        <a:solidFill>
                          <a:schemeClr val="tx1">
                            <a:lumMod val="65000"/>
                            <a:lumOff val="35000"/>
                          </a:schemeClr>
                        </a:solidFill>
                        <a:effectLst/>
                        <a:latin typeface="Calibri" panose="020F0502020204030204" pitchFamily="34" charset="0"/>
                        <a:ea typeface="+mn-ea"/>
                        <a:cs typeface="+mn-cs"/>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1"/>
                  </a:ext>
                </a:extLst>
              </a:tr>
              <a:tr h="247465">
                <a:tc gridSpan="2">
                  <a:txBody>
                    <a:bodyPr/>
                    <a:lstStyle/>
                    <a:p>
                      <a:pPr algn="l" fontAlgn="ctr"/>
                      <a:r>
                        <a:rPr lang="fr-FR" sz="1100" b="1" i="0" u="none" strike="noStrike" dirty="0">
                          <a:solidFill>
                            <a:schemeClr val="bg1"/>
                          </a:solidFill>
                          <a:effectLst/>
                          <a:latin typeface="Calibri" panose="020F0502020204030204" pitchFamily="34" charset="0"/>
                        </a:rPr>
                        <a:t>Autre matériel</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hMerge="1">
                  <a:txBody>
                    <a:bodyPr/>
                    <a:lstStyle/>
                    <a:p>
                      <a:endParaRPr lang="fr-FR"/>
                    </a:p>
                  </a:txBody>
                  <a:tcP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2"/>
                  </a:ext>
                </a:extLst>
              </a:tr>
              <a:tr h="247465">
                <a:tc>
                  <a:txBody>
                    <a:bodyPr/>
                    <a:lstStyle/>
                    <a:p>
                      <a:pPr marL="0" algn="l" defTabSz="914400" rtl="0" eaLnBrk="1" fontAlgn="ctr" latinLnBrk="0" hangingPunct="1"/>
                      <a:r>
                        <a:rPr lang="fr-FR" sz="1100" u="none" strike="noStrike" kern="1200" dirty="0">
                          <a:solidFill>
                            <a:schemeClr val="tx1">
                              <a:lumMod val="65000"/>
                              <a:lumOff val="35000"/>
                            </a:schemeClr>
                          </a:solidFill>
                          <a:effectLst/>
                          <a:latin typeface="Calibri" panose="020F0502020204030204" pitchFamily="34" charset="0"/>
                          <a:ea typeface="+mn-ea"/>
                          <a:cs typeface="+mn-cs"/>
                        </a:rPr>
                        <a:t>Boites rouges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fr-FR" sz="1100" b="0" i="0" u="none" strike="noStrike" kern="1200" dirty="0">
                          <a:solidFill>
                            <a:schemeClr val="tx1">
                              <a:lumMod val="65000"/>
                              <a:lumOff val="35000"/>
                            </a:schemeClr>
                          </a:solidFill>
                          <a:effectLst/>
                          <a:latin typeface="Calibri" panose="020F0502020204030204" pitchFamily="34" charset="0"/>
                          <a:ea typeface="+mn-ea"/>
                          <a:cs typeface="+mn-cs"/>
                        </a:rPr>
                        <a:t>180</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3"/>
                  </a:ext>
                </a:extLst>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Grp="1" noChangeArrowheads="1"/>
          </p:cNvSpPr>
          <p:nvPr>
            <p:ph type="title"/>
          </p:nvPr>
        </p:nvSpPr>
        <p:spPr/>
        <p:txBody>
          <a:bodyPr/>
          <a:lstStyle/>
          <a:p>
            <a:pPr eaLnBrk="1" hangingPunct="1"/>
            <a:r>
              <a:rPr lang="fr-FR" altLang="fr-FR" dirty="0"/>
              <a:t>Check List du matériel</a:t>
            </a:r>
          </a:p>
        </p:txBody>
      </p:sp>
      <p:pic>
        <p:nvPicPr>
          <p:cNvPr id="10"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graphicFrame>
        <p:nvGraphicFramePr>
          <p:cNvPr id="13" name="Tableau 12"/>
          <p:cNvGraphicFramePr>
            <a:graphicFrameLocks noGrp="1"/>
          </p:cNvGraphicFramePr>
          <p:nvPr>
            <p:extLst>
              <p:ext uri="{D42A27DB-BD31-4B8C-83A1-F6EECF244321}">
                <p14:modId xmlns:p14="http://schemas.microsoft.com/office/powerpoint/2010/main" val="4125724420"/>
              </p:ext>
            </p:extLst>
          </p:nvPr>
        </p:nvGraphicFramePr>
        <p:xfrm>
          <a:off x="732452" y="1909565"/>
          <a:ext cx="6993513" cy="2202480"/>
        </p:xfrm>
        <a:graphic>
          <a:graphicData uri="http://schemas.openxmlformats.org/drawingml/2006/table">
            <a:tbl>
              <a:tblPr>
                <a:tableStyleId>{5C22544A-7EE6-4342-B048-85BDC9FD1C3A}</a:tableStyleId>
              </a:tblPr>
              <a:tblGrid>
                <a:gridCol w="2949588">
                  <a:extLst>
                    <a:ext uri="{9D8B030D-6E8A-4147-A177-3AD203B41FA5}">
                      <a16:colId xmlns:a16="http://schemas.microsoft.com/office/drawing/2014/main" val="20000"/>
                    </a:ext>
                  </a:extLst>
                </a:gridCol>
                <a:gridCol w="4043925">
                  <a:extLst>
                    <a:ext uri="{9D8B030D-6E8A-4147-A177-3AD203B41FA5}">
                      <a16:colId xmlns:a16="http://schemas.microsoft.com/office/drawing/2014/main" val="20001"/>
                    </a:ext>
                  </a:extLst>
                </a:gridCol>
              </a:tblGrid>
              <a:tr h="231305">
                <a:tc>
                  <a:txBody>
                    <a:bodyPr/>
                    <a:lstStyle/>
                    <a:p>
                      <a:pPr algn="l" fontAlgn="ctr"/>
                      <a:r>
                        <a:rPr lang="fr-FR" sz="1400" b="1" u="none" strike="noStrike" dirty="0">
                          <a:solidFill>
                            <a:schemeClr val="tx1">
                              <a:lumMod val="65000"/>
                              <a:lumOff val="35000"/>
                            </a:schemeClr>
                          </a:solidFill>
                          <a:effectLst/>
                          <a:latin typeface="Calibri" panose="020F0502020204030204" pitchFamily="34" charset="0"/>
                        </a:rPr>
                        <a:t>Contenu de la CLÉ</a:t>
                      </a:r>
                      <a:r>
                        <a:rPr lang="fr-FR" sz="1400" b="1" u="none" strike="noStrike" baseline="0" dirty="0">
                          <a:solidFill>
                            <a:schemeClr val="tx1">
                              <a:lumMod val="65000"/>
                              <a:lumOff val="35000"/>
                            </a:schemeClr>
                          </a:solidFill>
                          <a:effectLst/>
                          <a:latin typeface="Calibri" panose="020F0502020204030204" pitchFamily="34" charset="0"/>
                        </a:rPr>
                        <a:t> </a:t>
                      </a:r>
                      <a:r>
                        <a:rPr lang="fr-FR" sz="1400" b="1" u="none" strike="noStrike" dirty="0">
                          <a:solidFill>
                            <a:schemeClr val="tx1">
                              <a:lumMod val="65000"/>
                              <a:lumOff val="35000"/>
                            </a:schemeClr>
                          </a:solidFill>
                          <a:effectLst/>
                          <a:latin typeface="Calibri" panose="020F0502020204030204" pitchFamily="34" charset="0"/>
                        </a:rPr>
                        <a:t>USB</a:t>
                      </a:r>
                      <a:endParaRPr lang="fr-FR" sz="1400" b="1"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no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r>
                        <a:rPr lang="fr-FR" sz="1100" dirty="0">
                          <a:solidFill>
                            <a:schemeClr val="tx1">
                              <a:lumMod val="65000"/>
                              <a:lumOff val="35000"/>
                            </a:schemeClr>
                          </a:solidFill>
                          <a:latin typeface="Calibri" panose="020F0502020204030204" pitchFamily="34" charset="0"/>
                        </a:rPr>
                        <a:t>Commentaires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31305">
                <a:tc>
                  <a:txBody>
                    <a:bodyPr/>
                    <a:lstStyle/>
                    <a:p>
                      <a:pPr algn="l" fontAlgn="ctr"/>
                      <a:r>
                        <a:rPr lang="fr-FR" sz="1100" b="1" i="0" u="none" strike="noStrike" dirty="0">
                          <a:solidFill>
                            <a:schemeClr val="bg1"/>
                          </a:solidFill>
                          <a:effectLst/>
                          <a:latin typeface="Calibri" panose="020F0502020204030204" pitchFamily="34" charset="0"/>
                        </a:rPr>
                        <a:t>Répertoire "Animation"</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a:txBody>
                    <a:bodyPr/>
                    <a:lstStyle/>
                    <a:p>
                      <a:pPr algn="l" fontAlgn="ct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extLst>
                  <a:ext uri="{0D108BD9-81ED-4DB2-BD59-A6C34878D82A}">
                    <a16:rowId xmlns:a16="http://schemas.microsoft.com/office/drawing/2014/main" val="10001"/>
                  </a:ext>
                </a:extLst>
              </a:tr>
              <a:tr h="231305">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Cartes Incident</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Permet</a:t>
                      </a:r>
                      <a:r>
                        <a:rPr lang="fr-FR" sz="1100" b="0" i="0" u="none" strike="noStrike" baseline="0" dirty="0">
                          <a:solidFill>
                            <a:schemeClr val="tx1">
                              <a:lumMod val="65000"/>
                              <a:lumOff val="35000"/>
                            </a:schemeClr>
                          </a:solidFill>
                          <a:effectLst/>
                          <a:latin typeface="Calibri" panose="020F0502020204030204" pitchFamily="34" charset="0"/>
                        </a:rPr>
                        <a:t> d'afficher les incidents durant le déroulement du jeu</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Guide d'animation</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b="0" i="0" u="none" strike="noStrike" dirty="0">
                          <a:solidFill>
                            <a:schemeClr val="tx1">
                              <a:lumMod val="65000"/>
                              <a:lumOff val="35000"/>
                            </a:schemeClr>
                          </a:solidFill>
                          <a:effectLst/>
                          <a:latin typeface="Calibri" panose="020F0502020204030204" pitchFamily="34" charset="0"/>
                        </a:rPr>
                        <a:t>Permet d'animer le jeu</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Tableau</a:t>
                      </a:r>
                      <a:r>
                        <a:rPr lang="fr-FR" sz="1100" u="none" strike="noStrike" baseline="0" dirty="0">
                          <a:solidFill>
                            <a:schemeClr val="tx1">
                              <a:lumMod val="65000"/>
                              <a:lumOff val="35000"/>
                            </a:schemeClr>
                          </a:solidFill>
                          <a:effectLst/>
                          <a:latin typeface="Calibri" panose="020F0502020204030204" pitchFamily="34" charset="0"/>
                        </a:rPr>
                        <a:t> de Bord</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fr-FR" sz="1100" b="0" i="0" u="none" strike="noStrike" dirty="0">
                          <a:solidFill>
                            <a:schemeClr val="tx1">
                              <a:lumMod val="65000"/>
                              <a:lumOff val="35000"/>
                            </a:schemeClr>
                          </a:solidFill>
                          <a:effectLst/>
                          <a:latin typeface="Calibri" panose="020F0502020204030204" pitchFamily="34" charset="0"/>
                        </a:rPr>
                        <a:t>Permet d'afficher les</a:t>
                      </a:r>
                      <a:r>
                        <a:rPr lang="fr-FR" sz="1100" b="0" i="0" u="none" strike="noStrike" baseline="0" dirty="0">
                          <a:solidFill>
                            <a:schemeClr val="tx1">
                              <a:lumMod val="65000"/>
                              <a:lumOff val="35000"/>
                            </a:schemeClr>
                          </a:solidFill>
                          <a:effectLst/>
                          <a:latin typeface="Calibri" panose="020F0502020204030204" pitchFamily="34" charset="0"/>
                        </a:rPr>
                        <a:t> résultats des équipes</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231305">
                <a:tc>
                  <a:txBody>
                    <a:bodyPr/>
                    <a:lstStyle/>
                    <a:p>
                      <a:pPr algn="l" fontAlgn="ctr"/>
                      <a:r>
                        <a:rPr lang="fr-FR" sz="1100" b="1" i="0" u="none" strike="noStrike" dirty="0">
                          <a:solidFill>
                            <a:schemeClr val="bg1"/>
                          </a:solidFill>
                          <a:effectLst/>
                          <a:latin typeface="Calibri" panose="020F0502020204030204" pitchFamily="34" charset="0"/>
                        </a:rPr>
                        <a:t>Répertoire "Consommables"</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tc>
                  <a:txBody>
                    <a:bodyPr/>
                    <a:lstStyle/>
                    <a:p>
                      <a:pPr algn="l" fontAlgn="ctr"/>
                      <a:endParaRPr lang="fr-FR" sz="1100" b="1" i="0" u="none" strike="noStrike" dirty="0">
                        <a:solidFill>
                          <a:schemeClr val="bg1"/>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rgbClr val="27A8E0"/>
                    </a:solidFill>
                  </a:tcPr>
                </a:tc>
                <a:extLst>
                  <a:ext uri="{0D108BD9-81ED-4DB2-BD59-A6C34878D82A}">
                    <a16:rowId xmlns:a16="http://schemas.microsoft.com/office/drawing/2014/main" val="10005"/>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Analyse des progrès</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À imprimer</a:t>
                      </a:r>
                      <a:r>
                        <a:rPr lang="fr-FR" sz="1100" b="0" i="0" u="none" strike="noStrike" baseline="0" dirty="0">
                          <a:solidFill>
                            <a:schemeClr val="tx1">
                              <a:lumMod val="65000"/>
                              <a:lumOff val="35000"/>
                            </a:schemeClr>
                          </a:solidFill>
                          <a:effectLst/>
                          <a:latin typeface="Calibri" panose="020F0502020204030204" pitchFamily="34" charset="0"/>
                        </a:rPr>
                        <a:t> sur feuille A4</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Documents</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À imprimer</a:t>
                      </a:r>
                      <a:r>
                        <a:rPr lang="fr-FR" sz="1100" b="0" i="0" u="none" strike="noStrike" baseline="0" dirty="0">
                          <a:solidFill>
                            <a:schemeClr val="tx1">
                              <a:lumMod val="65000"/>
                              <a:lumOff val="35000"/>
                            </a:schemeClr>
                          </a:solidFill>
                          <a:effectLst/>
                          <a:latin typeface="Calibri" panose="020F0502020204030204" pitchFamily="34" charset="0"/>
                        </a:rPr>
                        <a:t> sur feuille A4</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31305">
                <a:tc>
                  <a:txBody>
                    <a:bodyPr/>
                    <a:lstStyle/>
                    <a:p>
                      <a:pPr algn="l" fontAlgn="ctr"/>
                      <a:r>
                        <a:rPr lang="fr-FR" sz="1100" u="none" strike="noStrike" dirty="0">
                          <a:solidFill>
                            <a:schemeClr val="tx1">
                              <a:lumMod val="65000"/>
                              <a:lumOff val="35000"/>
                            </a:schemeClr>
                          </a:solidFill>
                          <a:effectLst/>
                          <a:latin typeface="Calibri" panose="020F0502020204030204" pitchFamily="34" charset="0"/>
                        </a:rPr>
                        <a:t>Tickets kanban</a:t>
                      </a: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l" fontAlgn="ctr"/>
                      <a:r>
                        <a:rPr lang="fr-FR" sz="1100" b="0" i="0" u="none" strike="noStrike" dirty="0">
                          <a:solidFill>
                            <a:schemeClr val="tx1">
                              <a:lumMod val="65000"/>
                              <a:lumOff val="35000"/>
                            </a:schemeClr>
                          </a:solidFill>
                          <a:effectLst/>
                          <a:latin typeface="Calibri" panose="020F0502020204030204" pitchFamily="34" charset="0"/>
                        </a:rPr>
                        <a:t>À imprimer</a:t>
                      </a:r>
                      <a:r>
                        <a:rPr lang="fr-FR" sz="1100" b="0" i="0" u="none" strike="noStrike" baseline="0" dirty="0">
                          <a:solidFill>
                            <a:schemeClr val="tx1">
                              <a:lumMod val="65000"/>
                              <a:lumOff val="35000"/>
                            </a:schemeClr>
                          </a:solidFill>
                          <a:effectLst/>
                          <a:latin typeface="Calibri" panose="020F0502020204030204" pitchFamily="34" charset="0"/>
                        </a:rPr>
                        <a:t> sur feuille A4, en cas de perte de tickets fournis à l'origine</a:t>
                      </a:r>
                      <a:endParaRPr lang="fr-FR" sz="1100" b="0" i="0" u="none" strike="noStrike" dirty="0">
                        <a:solidFill>
                          <a:schemeClr val="tx1">
                            <a:lumMod val="65000"/>
                            <a:lumOff val="35000"/>
                          </a:schemeClr>
                        </a:solidFill>
                        <a:effectLst/>
                        <a:latin typeface="Calibri" panose="020F0502020204030204" pitchFamily="34" charset="0"/>
                      </a:endParaRPr>
                    </a:p>
                  </a:txBody>
                  <a:tcPr marL="36000" marR="36000" marT="36000" marB="36000" anchor="ctr">
                    <a:lnL w="12700" cap="flat" cmpd="sng" algn="ctr">
                      <a:solidFill>
                        <a:schemeClr val="tx1">
                          <a:lumMod val="65000"/>
                          <a:lumOff val="35000"/>
                        </a:schemeClr>
                      </a:solidFill>
                      <a:prstDash val="solid"/>
                      <a:round/>
                      <a:headEnd type="none" w="med" len="med"/>
                      <a:tailEnd type="none" w="med" len="med"/>
                    </a:lnL>
                    <a:lnR w="12700" cap="flat" cmpd="sng" algn="ctr">
                      <a:solidFill>
                        <a:schemeClr val="tx1">
                          <a:lumMod val="65000"/>
                          <a:lumOff val="35000"/>
                        </a:schemeClr>
                      </a:solidFill>
                      <a:prstDash val="solid"/>
                      <a:round/>
                      <a:headEnd type="none" w="med" len="med"/>
                      <a:tailEnd type="none" w="med" len="med"/>
                    </a:lnR>
                    <a:lnT w="12700" cap="flat" cmpd="sng" algn="ctr">
                      <a:solidFill>
                        <a:schemeClr val="tx1">
                          <a:lumMod val="65000"/>
                          <a:lumOff val="35000"/>
                        </a:schemeClr>
                      </a:solidFill>
                      <a:prstDash val="solid"/>
                      <a:round/>
                      <a:headEnd type="none" w="med" len="med"/>
                      <a:tailEnd type="none" w="med" len="med"/>
                    </a:lnT>
                    <a:lnB w="1270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360815684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554" name="Rectangle 2"/>
          <p:cNvSpPr>
            <a:spLocks noGrp="1" noChangeArrowheads="1"/>
          </p:cNvSpPr>
          <p:nvPr>
            <p:ph type="title"/>
          </p:nvPr>
        </p:nvSpPr>
        <p:spPr/>
        <p:txBody>
          <a:bodyPr/>
          <a:lstStyle/>
          <a:p>
            <a:pPr eaLnBrk="1" hangingPunct="1"/>
            <a:r>
              <a:rPr lang="fr-FR" altLang="fr-FR"/>
              <a:t>Préparation de la salle</a:t>
            </a:r>
          </a:p>
        </p:txBody>
      </p:sp>
      <p:sp>
        <p:nvSpPr>
          <p:cNvPr id="23555" name="Rectangle 3"/>
          <p:cNvSpPr>
            <a:spLocks noGrp="1" noChangeArrowheads="1"/>
          </p:cNvSpPr>
          <p:nvPr>
            <p:ph type="body" idx="1"/>
          </p:nvPr>
        </p:nvSpPr>
        <p:spPr>
          <a:xfrm>
            <a:off x="1112838" y="744538"/>
            <a:ext cx="7834312" cy="1803400"/>
          </a:xfrm>
        </p:spPr>
        <p:txBody>
          <a:bodyPr/>
          <a:lstStyle/>
          <a:p>
            <a:pPr eaLnBrk="1" hangingPunct="1">
              <a:lnSpc>
                <a:spcPct val="120000"/>
              </a:lnSpc>
            </a:pPr>
            <a:r>
              <a:rPr lang="fr-FR" altLang="fr-FR" sz="1800"/>
              <a:t>En début de séance l’animateur place les participants en U autour de chaque table.</a:t>
            </a:r>
          </a:p>
          <a:p>
            <a:pPr eaLnBrk="1" hangingPunct="1">
              <a:lnSpc>
                <a:spcPct val="120000"/>
              </a:lnSpc>
            </a:pPr>
            <a:r>
              <a:rPr lang="fr-FR" altLang="fr-FR" sz="1800"/>
              <a:t>Il désigne chaque table par une lettre et une couleur (A, </a:t>
            </a:r>
            <a:r>
              <a:rPr lang="fr-FR" altLang="fr-FR" sz="1800">
                <a:solidFill>
                  <a:srgbClr val="FF3300"/>
                </a:solidFill>
              </a:rPr>
              <a:t>B</a:t>
            </a:r>
            <a:r>
              <a:rPr lang="fr-FR" altLang="fr-FR" sz="1800"/>
              <a:t>, </a:t>
            </a:r>
            <a:r>
              <a:rPr lang="fr-FR" altLang="fr-FR" sz="1800">
                <a:solidFill>
                  <a:srgbClr val="00CC66"/>
                </a:solidFill>
              </a:rPr>
              <a:t>C</a:t>
            </a:r>
            <a:r>
              <a:rPr lang="fr-FR" altLang="fr-FR" sz="1800"/>
              <a:t>) en partant de la gauche et en suivant le sens des aiguilles d’une montre</a:t>
            </a:r>
            <a:br>
              <a:rPr lang="fr-FR" altLang="fr-FR" sz="1800"/>
            </a:br>
            <a:r>
              <a:rPr lang="fr-FR" altLang="fr-FR" sz="1400"/>
              <a:t>(cette désignation servira à identifier les entreprises sur le tableau de bord).</a:t>
            </a:r>
          </a:p>
          <a:p>
            <a:pPr eaLnBrk="1" hangingPunct="1">
              <a:lnSpc>
                <a:spcPct val="120000"/>
              </a:lnSpc>
            </a:pPr>
            <a:endParaRPr lang="fr-FR" altLang="fr-FR" sz="1400"/>
          </a:p>
        </p:txBody>
      </p:sp>
      <p:sp>
        <p:nvSpPr>
          <p:cNvPr id="23557" name="Rectangle 7"/>
          <p:cNvSpPr>
            <a:spLocks noChangeArrowheads="1"/>
          </p:cNvSpPr>
          <p:nvPr/>
        </p:nvSpPr>
        <p:spPr bwMode="auto">
          <a:xfrm rot="-5400000">
            <a:off x="5291137" y="4362451"/>
            <a:ext cx="1096963" cy="639762"/>
          </a:xfrm>
          <a:prstGeom prst="rect">
            <a:avLst/>
          </a:prstGeom>
          <a:solidFill>
            <a:srgbClr val="FFFFFF"/>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3558" name="Group 8"/>
          <p:cNvGrpSpPr>
            <a:grpSpLocks/>
          </p:cNvGrpSpPr>
          <p:nvPr/>
        </p:nvGrpSpPr>
        <p:grpSpPr bwMode="auto">
          <a:xfrm rot="-5400000">
            <a:off x="5284788" y="4383088"/>
            <a:ext cx="2336800" cy="1441450"/>
            <a:chOff x="6048" y="7520"/>
            <a:chExt cx="3680" cy="2272"/>
          </a:xfrm>
        </p:grpSpPr>
        <p:sp>
          <p:nvSpPr>
            <p:cNvPr id="23586" name="Rectangle 9"/>
            <p:cNvSpPr>
              <a:spLocks noChangeArrowheads="1"/>
            </p:cNvSpPr>
            <p:nvPr/>
          </p:nvSpPr>
          <p:spPr bwMode="auto">
            <a:xfrm>
              <a:off x="7796" y="7520"/>
              <a:ext cx="504" cy="504"/>
            </a:xfrm>
            <a:prstGeom prst="rect">
              <a:avLst/>
            </a:prstGeom>
            <a:solidFill>
              <a:srgbClr val="FFFFFF"/>
            </a:solidFill>
            <a:ln w="19050">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87" name="Rectangle 10"/>
            <p:cNvSpPr>
              <a:spLocks noChangeArrowheads="1"/>
            </p:cNvSpPr>
            <p:nvPr/>
          </p:nvSpPr>
          <p:spPr bwMode="auto">
            <a:xfrm>
              <a:off x="7744" y="7780"/>
              <a:ext cx="296" cy="296"/>
            </a:xfrm>
            <a:prstGeom prst="rect">
              <a:avLst/>
            </a:prstGeom>
            <a:solidFill>
              <a:srgbClr val="C0C0C0"/>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88" name="Line 11"/>
            <p:cNvSpPr>
              <a:spLocks noChangeShapeType="1"/>
            </p:cNvSpPr>
            <p:nvPr/>
          </p:nvSpPr>
          <p:spPr bwMode="auto">
            <a:xfrm flipH="1">
              <a:off x="6048" y="8064"/>
              <a:ext cx="1728" cy="17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3589" name="Line 12"/>
            <p:cNvSpPr>
              <a:spLocks noChangeShapeType="1"/>
            </p:cNvSpPr>
            <p:nvPr/>
          </p:nvSpPr>
          <p:spPr bwMode="auto">
            <a:xfrm>
              <a:off x="8000" y="8064"/>
              <a:ext cx="1728" cy="17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grpSp>
      <p:grpSp>
        <p:nvGrpSpPr>
          <p:cNvPr id="23559" name="Group 13"/>
          <p:cNvGrpSpPr>
            <a:grpSpLocks/>
          </p:cNvGrpSpPr>
          <p:nvPr/>
        </p:nvGrpSpPr>
        <p:grpSpPr bwMode="auto">
          <a:xfrm rot="5400000">
            <a:off x="5143500" y="5735638"/>
            <a:ext cx="457200" cy="457200"/>
            <a:chOff x="13968" y="5616"/>
            <a:chExt cx="720" cy="720"/>
          </a:xfrm>
        </p:grpSpPr>
        <p:sp>
          <p:nvSpPr>
            <p:cNvPr id="23584" name="AutoShape 14"/>
            <p:cNvSpPr>
              <a:spLocks noChangeArrowheads="1"/>
            </p:cNvSpPr>
            <p:nvPr/>
          </p:nvSpPr>
          <p:spPr bwMode="auto">
            <a:xfrm rot="10800000">
              <a:off x="14088" y="5736"/>
              <a:ext cx="480" cy="480"/>
            </a:xfrm>
            <a:prstGeom prst="rtTriangle">
              <a:avLst/>
            </a:prstGeom>
            <a:solidFill>
              <a:srgbClr val="FFFFFF"/>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85" name="Line 15"/>
            <p:cNvSpPr>
              <a:spLocks noChangeShapeType="1"/>
            </p:cNvSpPr>
            <p:nvPr/>
          </p:nvSpPr>
          <p:spPr bwMode="auto">
            <a:xfrm rot="10800000">
              <a:off x="13968" y="5616"/>
              <a:ext cx="720" cy="7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grpSp>
      <p:sp>
        <p:nvSpPr>
          <p:cNvPr id="23560" name="AutoShape 16"/>
          <p:cNvSpPr>
            <a:spLocks noChangeArrowheads="1"/>
          </p:cNvSpPr>
          <p:nvPr/>
        </p:nvSpPr>
        <p:spPr bwMode="auto">
          <a:xfrm rot="-5403611">
            <a:off x="3059113" y="3433763"/>
            <a:ext cx="274637" cy="274637"/>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1" name="Line 21"/>
          <p:cNvSpPr>
            <a:spLocks noChangeShapeType="1"/>
          </p:cNvSpPr>
          <p:nvPr/>
        </p:nvSpPr>
        <p:spPr bwMode="auto">
          <a:xfrm>
            <a:off x="5175250" y="3033713"/>
            <a:ext cx="1463675" cy="0"/>
          </a:xfrm>
          <a:prstGeom prst="line">
            <a:avLst/>
          </a:prstGeom>
          <a:noFill/>
          <a:ln w="38100" cmpd="dbl">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3562" name="Text Box 22"/>
          <p:cNvSpPr txBox="1">
            <a:spLocks noChangeArrowheads="1"/>
          </p:cNvSpPr>
          <p:nvPr/>
        </p:nvSpPr>
        <p:spPr bwMode="auto">
          <a:xfrm>
            <a:off x="5410200" y="3057525"/>
            <a:ext cx="100488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i="1">
                <a:solidFill>
                  <a:schemeClr val="tx1"/>
                </a:solidFill>
                <a:latin typeface="Palatino" charset="0"/>
              </a:rPr>
              <a:t>affichage</a:t>
            </a:r>
            <a:endParaRPr lang="fr-FR" altLang="fr-FR" sz="3200">
              <a:solidFill>
                <a:schemeClr val="tx1"/>
              </a:solidFill>
            </a:endParaRPr>
          </a:p>
        </p:txBody>
      </p:sp>
      <p:sp>
        <p:nvSpPr>
          <p:cNvPr id="23563" name="Rectangle 28"/>
          <p:cNvSpPr>
            <a:spLocks noChangeArrowheads="1"/>
          </p:cNvSpPr>
          <p:nvPr/>
        </p:nvSpPr>
        <p:spPr bwMode="auto">
          <a:xfrm>
            <a:off x="2030413" y="3770313"/>
            <a:ext cx="1533525" cy="541337"/>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4" name="Rectangle 29"/>
          <p:cNvSpPr>
            <a:spLocks noChangeArrowheads="1"/>
          </p:cNvSpPr>
          <p:nvPr/>
        </p:nvSpPr>
        <p:spPr bwMode="auto">
          <a:xfrm>
            <a:off x="1463675" y="3770313"/>
            <a:ext cx="563563" cy="105410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5" name="Rectangle 30"/>
          <p:cNvSpPr>
            <a:spLocks noChangeArrowheads="1"/>
          </p:cNvSpPr>
          <p:nvPr/>
        </p:nvSpPr>
        <p:spPr bwMode="auto">
          <a:xfrm>
            <a:off x="2030413" y="4321175"/>
            <a:ext cx="1533525" cy="503238"/>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6" name="AutoShape 32"/>
          <p:cNvSpPr>
            <a:spLocks noChangeArrowheads="1"/>
          </p:cNvSpPr>
          <p:nvPr/>
        </p:nvSpPr>
        <p:spPr bwMode="auto">
          <a:xfrm rot="-5403611">
            <a:off x="2073275" y="3427413"/>
            <a:ext cx="274637" cy="274638"/>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67" name="Text Box 33"/>
          <p:cNvSpPr txBox="1">
            <a:spLocks noChangeArrowheads="1"/>
          </p:cNvSpPr>
          <p:nvPr/>
        </p:nvSpPr>
        <p:spPr bwMode="auto">
          <a:xfrm>
            <a:off x="2773363" y="3143250"/>
            <a:ext cx="8731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montage</a:t>
            </a:r>
          </a:p>
        </p:txBody>
      </p:sp>
      <p:sp>
        <p:nvSpPr>
          <p:cNvPr id="23568" name="Text Box 34"/>
          <p:cNvSpPr txBox="1">
            <a:spLocks noChangeArrowheads="1"/>
          </p:cNvSpPr>
          <p:nvPr/>
        </p:nvSpPr>
        <p:spPr bwMode="auto">
          <a:xfrm>
            <a:off x="950913" y="3219450"/>
            <a:ext cx="11430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couronnes phase B</a:t>
            </a:r>
          </a:p>
        </p:txBody>
      </p:sp>
      <p:sp>
        <p:nvSpPr>
          <p:cNvPr id="23569" name="AutoShape 35"/>
          <p:cNvSpPr>
            <a:spLocks noChangeArrowheads="1"/>
          </p:cNvSpPr>
          <p:nvPr/>
        </p:nvSpPr>
        <p:spPr bwMode="auto">
          <a:xfrm rot="-5403611">
            <a:off x="1069975" y="4200525"/>
            <a:ext cx="274638" cy="274638"/>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70" name="Text Box 36"/>
          <p:cNvSpPr txBox="1">
            <a:spLocks noChangeArrowheads="1"/>
          </p:cNvSpPr>
          <p:nvPr/>
        </p:nvSpPr>
        <p:spPr bwMode="auto">
          <a:xfrm>
            <a:off x="142875" y="3833813"/>
            <a:ext cx="11430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couronnes phase A</a:t>
            </a:r>
          </a:p>
        </p:txBody>
      </p:sp>
      <p:sp>
        <p:nvSpPr>
          <p:cNvPr id="23571" name="AutoShape 37"/>
          <p:cNvSpPr>
            <a:spLocks noChangeArrowheads="1"/>
          </p:cNvSpPr>
          <p:nvPr/>
        </p:nvSpPr>
        <p:spPr bwMode="auto">
          <a:xfrm rot="-5403611">
            <a:off x="2019300" y="4903788"/>
            <a:ext cx="274637" cy="274638"/>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72" name="Text Box 38"/>
          <p:cNvSpPr txBox="1">
            <a:spLocks noChangeArrowheads="1"/>
          </p:cNvSpPr>
          <p:nvPr/>
        </p:nvSpPr>
        <p:spPr bwMode="auto">
          <a:xfrm>
            <a:off x="1528763" y="5164138"/>
            <a:ext cx="1143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carters</a:t>
            </a:r>
          </a:p>
        </p:txBody>
      </p:sp>
      <p:sp>
        <p:nvSpPr>
          <p:cNvPr id="23573" name="Text Box 39"/>
          <p:cNvSpPr txBox="1">
            <a:spLocks noChangeArrowheads="1"/>
          </p:cNvSpPr>
          <p:nvPr/>
        </p:nvSpPr>
        <p:spPr bwMode="auto">
          <a:xfrm>
            <a:off x="2498725" y="5151438"/>
            <a:ext cx="13811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engrenages</a:t>
            </a:r>
          </a:p>
        </p:txBody>
      </p:sp>
      <p:sp>
        <p:nvSpPr>
          <p:cNvPr id="23574" name="AutoShape 40"/>
          <p:cNvSpPr>
            <a:spLocks noChangeArrowheads="1"/>
          </p:cNvSpPr>
          <p:nvPr/>
        </p:nvSpPr>
        <p:spPr bwMode="auto">
          <a:xfrm rot="-5403611">
            <a:off x="2989263" y="4903788"/>
            <a:ext cx="274637" cy="274637"/>
          </a:xfrm>
          <a:prstGeom prst="hexagon">
            <a:avLst>
              <a:gd name="adj" fmla="val 25000"/>
              <a:gd name="vf" fmla="val 115470"/>
            </a:avLst>
          </a:prstGeom>
          <a:solidFill>
            <a:srgbClr val="FFFFCC"/>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75" name="AutoShape 41"/>
          <p:cNvSpPr>
            <a:spLocks noChangeArrowheads="1"/>
          </p:cNvSpPr>
          <p:nvPr/>
        </p:nvSpPr>
        <p:spPr bwMode="auto">
          <a:xfrm rot="-5403611">
            <a:off x="4787106" y="4782344"/>
            <a:ext cx="301625" cy="274638"/>
          </a:xfrm>
          <a:prstGeom prst="hexagon">
            <a:avLst>
              <a:gd name="adj" fmla="val 27457"/>
              <a:gd name="vf" fmla="val 115470"/>
            </a:avLst>
          </a:prstGeom>
          <a:solidFill>
            <a:srgbClr val="E22B00"/>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3576" name="AutoShape 42"/>
          <p:cNvSpPr>
            <a:spLocks/>
          </p:cNvSpPr>
          <p:nvPr/>
        </p:nvSpPr>
        <p:spPr bwMode="auto">
          <a:xfrm>
            <a:off x="7385050" y="2703513"/>
            <a:ext cx="1495425" cy="890587"/>
          </a:xfrm>
          <a:prstGeom prst="borderCallout2">
            <a:avLst>
              <a:gd name="adj1" fmla="val 12833"/>
              <a:gd name="adj2" fmla="val -5097"/>
              <a:gd name="adj3" fmla="val 12833"/>
              <a:gd name="adj4" fmla="val -24204"/>
              <a:gd name="adj5" fmla="val 32796"/>
              <a:gd name="adj6" fmla="val -43949"/>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L’affichage peut également être placé sur le mur côté projection</a:t>
            </a:r>
          </a:p>
        </p:txBody>
      </p:sp>
      <p:sp>
        <p:nvSpPr>
          <p:cNvPr id="23577" name="Text Box 44"/>
          <p:cNvSpPr txBox="1">
            <a:spLocks noChangeArrowheads="1"/>
          </p:cNvSpPr>
          <p:nvPr/>
        </p:nvSpPr>
        <p:spPr bwMode="auto">
          <a:xfrm>
            <a:off x="4419600" y="5103813"/>
            <a:ext cx="100488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i="1">
                <a:solidFill>
                  <a:schemeClr val="tx1"/>
                </a:solidFill>
                <a:latin typeface="Palatino" charset="0"/>
              </a:rPr>
              <a:t>animateur</a:t>
            </a:r>
            <a:endParaRPr lang="fr-FR" altLang="fr-FR" sz="3200">
              <a:solidFill>
                <a:schemeClr val="tx1"/>
              </a:solidFill>
            </a:endParaRPr>
          </a:p>
        </p:txBody>
      </p:sp>
      <p:sp>
        <p:nvSpPr>
          <p:cNvPr id="23578" name="Text Box 46"/>
          <p:cNvSpPr txBox="1">
            <a:spLocks noChangeArrowheads="1"/>
          </p:cNvSpPr>
          <p:nvPr/>
        </p:nvSpPr>
        <p:spPr bwMode="auto">
          <a:xfrm>
            <a:off x="4664075" y="6215063"/>
            <a:ext cx="149701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i="1">
                <a:solidFill>
                  <a:schemeClr val="tx1"/>
                </a:solidFill>
                <a:latin typeface="Palatino" charset="0"/>
              </a:rPr>
              <a:t>tableau de papier</a:t>
            </a:r>
            <a:endParaRPr lang="fr-FR" altLang="fr-FR" sz="3200">
              <a:solidFill>
                <a:schemeClr val="tx1"/>
              </a:solidFill>
            </a:endParaRPr>
          </a:p>
        </p:txBody>
      </p:sp>
      <p:sp>
        <p:nvSpPr>
          <p:cNvPr id="23579" name="Text Box 47"/>
          <p:cNvSpPr txBox="1">
            <a:spLocks noChangeArrowheads="1"/>
          </p:cNvSpPr>
          <p:nvPr/>
        </p:nvSpPr>
        <p:spPr bwMode="auto">
          <a:xfrm>
            <a:off x="6483350" y="4854575"/>
            <a:ext cx="1497013"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i="1">
                <a:solidFill>
                  <a:schemeClr val="tx1"/>
                </a:solidFill>
                <a:latin typeface="Palatino" charset="0"/>
              </a:rPr>
              <a:t>vidéo-projection</a:t>
            </a:r>
            <a:endParaRPr lang="fr-FR" altLang="fr-FR" sz="3200">
              <a:solidFill>
                <a:schemeClr val="tx1"/>
              </a:solidFill>
            </a:endParaRPr>
          </a:p>
        </p:txBody>
      </p:sp>
      <p:sp>
        <p:nvSpPr>
          <p:cNvPr id="23580" name="Text Box 48"/>
          <p:cNvSpPr txBox="1">
            <a:spLocks noChangeArrowheads="1"/>
          </p:cNvSpPr>
          <p:nvPr/>
        </p:nvSpPr>
        <p:spPr bwMode="auto">
          <a:xfrm>
            <a:off x="3621088" y="4119563"/>
            <a:ext cx="774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Table 1</a:t>
            </a:r>
          </a:p>
        </p:txBody>
      </p:sp>
      <p:sp>
        <p:nvSpPr>
          <p:cNvPr id="23581" name="AutoShape 50"/>
          <p:cNvSpPr>
            <a:spLocks/>
          </p:cNvSpPr>
          <p:nvPr/>
        </p:nvSpPr>
        <p:spPr bwMode="auto">
          <a:xfrm>
            <a:off x="203200" y="2662238"/>
            <a:ext cx="1536700" cy="503237"/>
          </a:xfrm>
          <a:prstGeom prst="borderCallout2">
            <a:avLst>
              <a:gd name="adj1" fmla="val 22713"/>
              <a:gd name="adj2" fmla="val 104958"/>
              <a:gd name="adj3" fmla="val 22713"/>
              <a:gd name="adj4" fmla="val 128514"/>
              <a:gd name="adj5" fmla="val 141639"/>
              <a:gd name="adj6" fmla="val 152787"/>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1 ou 2 personnes</a:t>
            </a:r>
            <a:br>
              <a:rPr lang="fr-FR" altLang="fr-FR" sz="1300">
                <a:solidFill>
                  <a:schemeClr val="tx1"/>
                </a:solidFill>
              </a:rPr>
            </a:br>
            <a:r>
              <a:rPr lang="fr-FR" altLang="fr-FR" sz="1300">
                <a:solidFill>
                  <a:schemeClr val="tx1"/>
                </a:solidFill>
              </a:rPr>
              <a:t>par poste</a:t>
            </a:r>
          </a:p>
        </p:txBody>
      </p:sp>
      <p:sp>
        <p:nvSpPr>
          <p:cNvPr id="23583" name="Rectangle 53"/>
          <p:cNvSpPr>
            <a:spLocks noChangeArrowheads="1"/>
          </p:cNvSpPr>
          <p:nvPr/>
        </p:nvSpPr>
        <p:spPr bwMode="auto">
          <a:xfrm>
            <a:off x="649288" y="5697538"/>
            <a:ext cx="3133725" cy="611187"/>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2</a:t>
            </a:r>
            <a:r>
              <a:rPr lang="fr-FR" altLang="fr-FR" sz="1800" baseline="30000">
                <a:solidFill>
                  <a:schemeClr val="tx1"/>
                </a:solidFill>
              </a:rPr>
              <a:t>ème</a:t>
            </a:r>
            <a:r>
              <a:rPr lang="fr-FR" altLang="fr-FR" sz="1800">
                <a:solidFill>
                  <a:schemeClr val="tx1"/>
                </a:solidFill>
              </a:rPr>
              <a:t> et 3</a:t>
            </a:r>
            <a:r>
              <a:rPr lang="fr-FR" altLang="fr-FR" sz="1800" baseline="30000">
                <a:solidFill>
                  <a:schemeClr val="tx1"/>
                </a:solidFill>
              </a:rPr>
              <a:t>ème </a:t>
            </a:r>
            <a:r>
              <a:rPr lang="fr-FR" altLang="fr-FR" sz="1800">
                <a:solidFill>
                  <a:schemeClr val="tx1"/>
                </a:solidFill>
              </a:rPr>
              <a:t> tables identiques</a:t>
            </a:r>
          </a:p>
        </p:txBody>
      </p:sp>
      <p:pic>
        <p:nvPicPr>
          <p:cNvPr id="38"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27A8E0"/>
        </a:solidFill>
        <a:effectLst/>
      </p:bgPr>
    </p:bg>
    <p:spTree>
      <p:nvGrpSpPr>
        <p:cNvPr id="1" name=""/>
        <p:cNvGrpSpPr/>
        <p:nvPr/>
      </p:nvGrpSpPr>
      <p:grpSpPr>
        <a:xfrm>
          <a:off x="0" y="0"/>
          <a:ext cx="0" cy="0"/>
          <a:chOff x="0" y="0"/>
          <a:chExt cx="0" cy="0"/>
        </a:xfrm>
      </p:grpSpPr>
      <p:sp>
        <p:nvSpPr>
          <p:cNvPr id="24578" name="Rectangle 4"/>
          <p:cNvSpPr>
            <a:spLocks noGrp="1" noChangeArrowheads="1"/>
          </p:cNvSpPr>
          <p:nvPr>
            <p:ph type="ctrTitle" idx="4294967295"/>
          </p:nvPr>
        </p:nvSpPr>
        <p:spPr>
          <a:xfrm>
            <a:off x="704850" y="1905000"/>
            <a:ext cx="7772400" cy="636588"/>
          </a:xfrm>
          <a:noFill/>
        </p:spPr>
        <p:txBody>
          <a:bodyPr/>
          <a:lstStyle/>
          <a:p>
            <a:pPr eaLnBrk="1" hangingPunct="1"/>
            <a:r>
              <a:rPr lang="fr-FR" altLang="fr-FR" b="1">
                <a:solidFill>
                  <a:schemeClr val="bg1"/>
                </a:solidFill>
              </a:rPr>
              <a:t>Présentation de l’entreprise</a:t>
            </a:r>
          </a:p>
        </p:txBody>
      </p:sp>
      <p:pic>
        <p:nvPicPr>
          <p:cNvPr id="24579"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79913" y="3040063"/>
            <a:ext cx="544512" cy="100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3" name="Rectangle 3"/>
          <p:cNvSpPr>
            <a:spLocks noGrp="1" noChangeArrowheads="1"/>
          </p:cNvSpPr>
          <p:nvPr>
            <p:ph type="body" idx="1"/>
          </p:nvPr>
        </p:nvSpPr>
        <p:spPr>
          <a:xfrm>
            <a:off x="304800" y="1104900"/>
            <a:ext cx="5980113" cy="3297238"/>
          </a:xfrm>
        </p:spPr>
        <p:txBody>
          <a:bodyPr/>
          <a:lstStyle/>
          <a:p>
            <a:pPr eaLnBrk="1" hangingPunct="1">
              <a:lnSpc>
                <a:spcPct val="130000"/>
              </a:lnSpc>
            </a:pPr>
            <a:r>
              <a:rPr lang="fr-FR" altLang="fr-FR"/>
              <a:t>REDIX fabrique des </a:t>
            </a:r>
            <a:r>
              <a:rPr lang="fr-FR" altLang="fr-FR">
                <a:solidFill>
                  <a:srgbClr val="FF3300"/>
                </a:solidFill>
              </a:rPr>
              <a:t>réducteurs à engrenages</a:t>
            </a:r>
            <a:br>
              <a:rPr lang="fr-FR" altLang="fr-FR">
                <a:solidFill>
                  <a:srgbClr val="FF3300"/>
                </a:solidFill>
              </a:rPr>
            </a:br>
            <a:r>
              <a:rPr lang="fr-FR" altLang="fr-FR"/>
              <a:t>pour le marché des escaliers roulants.</a:t>
            </a:r>
          </a:p>
          <a:p>
            <a:pPr eaLnBrk="1" hangingPunct="1">
              <a:lnSpc>
                <a:spcPct val="130000"/>
              </a:lnSpc>
            </a:pPr>
            <a:r>
              <a:rPr lang="fr-FR" altLang="fr-FR"/>
              <a:t>Vente annuelles : </a:t>
            </a:r>
            <a:r>
              <a:rPr lang="fr-FR" altLang="fr-FR">
                <a:solidFill>
                  <a:srgbClr val="FF3300"/>
                </a:solidFill>
              </a:rPr>
              <a:t>80 000 000 €</a:t>
            </a:r>
          </a:p>
          <a:p>
            <a:pPr eaLnBrk="1" hangingPunct="1">
              <a:lnSpc>
                <a:spcPct val="130000"/>
              </a:lnSpc>
            </a:pPr>
            <a:r>
              <a:rPr lang="fr-FR" altLang="fr-FR"/>
              <a:t>Bénéfices : </a:t>
            </a:r>
            <a:r>
              <a:rPr lang="fr-FR" altLang="fr-FR">
                <a:solidFill>
                  <a:srgbClr val="FC2C1C"/>
                </a:solidFill>
              </a:rPr>
              <a:t>800 000 €</a:t>
            </a:r>
          </a:p>
          <a:p>
            <a:pPr eaLnBrk="1" hangingPunct="1">
              <a:lnSpc>
                <a:spcPct val="130000"/>
              </a:lnSpc>
            </a:pPr>
            <a:r>
              <a:rPr lang="fr-FR" altLang="fr-FR"/>
              <a:t>Stocks moyens : </a:t>
            </a:r>
            <a:r>
              <a:rPr lang="fr-FR" altLang="fr-FR">
                <a:solidFill>
                  <a:srgbClr val="FC2C1C"/>
                </a:solidFill>
              </a:rPr>
              <a:t>20 000 000 €</a:t>
            </a:r>
          </a:p>
          <a:p>
            <a:pPr eaLnBrk="1" hangingPunct="1">
              <a:lnSpc>
                <a:spcPct val="130000"/>
              </a:lnSpc>
            </a:pPr>
            <a:r>
              <a:rPr lang="fr-FR" altLang="fr-FR"/>
              <a:t>Effectifs : </a:t>
            </a:r>
            <a:r>
              <a:rPr lang="fr-FR" altLang="fr-FR">
                <a:solidFill>
                  <a:srgbClr val="FF3300"/>
                </a:solidFill>
              </a:rPr>
              <a:t>480</a:t>
            </a:r>
            <a:r>
              <a:rPr lang="fr-FR" altLang="fr-FR"/>
              <a:t> personnes.</a:t>
            </a:r>
          </a:p>
          <a:p>
            <a:pPr eaLnBrk="1" hangingPunct="1">
              <a:lnSpc>
                <a:spcPct val="130000"/>
              </a:lnSpc>
            </a:pPr>
            <a:r>
              <a:rPr lang="fr-FR" altLang="fr-FR"/>
              <a:t>L’usine est située dans le </a:t>
            </a:r>
            <a:r>
              <a:rPr lang="fr-FR" altLang="fr-FR">
                <a:solidFill>
                  <a:srgbClr val="FF3300"/>
                </a:solidFill>
              </a:rPr>
              <a:t>Puy de Dôme</a:t>
            </a:r>
            <a:r>
              <a:rPr lang="fr-FR" altLang="fr-FR"/>
              <a:t>.</a:t>
            </a:r>
          </a:p>
        </p:txBody>
      </p:sp>
      <p:pic>
        <p:nvPicPr>
          <p:cNvPr id="2560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37350" y="1223963"/>
            <a:ext cx="1231900" cy="2320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2"/>
          <p:cNvSpPr txBox="1">
            <a:spLocks noChangeArrowheads="1"/>
          </p:cNvSpPr>
          <p:nvPr/>
        </p:nvSpPr>
        <p:spPr bwMode="auto">
          <a:xfrm>
            <a:off x="457200" y="0"/>
            <a:ext cx="82296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2800" b="1">
                <a:solidFill>
                  <a:srgbClr val="27A8E0"/>
                </a:solidFill>
                <a:latin typeface="+mj-lt"/>
                <a:ea typeface="+mj-ea"/>
                <a:cs typeface="+mj-cs"/>
              </a:defRPr>
            </a:lvl1pPr>
            <a:lvl2pPr algn="ctr" rtl="0" eaLnBrk="0" fontAlgn="base" hangingPunct="0">
              <a:spcBef>
                <a:spcPct val="0"/>
              </a:spcBef>
              <a:spcAft>
                <a:spcPct val="0"/>
              </a:spcAft>
              <a:defRPr sz="3000">
                <a:solidFill>
                  <a:schemeClr val="accent2"/>
                </a:solidFill>
                <a:latin typeface="Arial" pitchFamily="34" charset="0"/>
              </a:defRPr>
            </a:lvl2pPr>
            <a:lvl3pPr algn="ctr" rtl="0" eaLnBrk="0" fontAlgn="base" hangingPunct="0">
              <a:spcBef>
                <a:spcPct val="0"/>
              </a:spcBef>
              <a:spcAft>
                <a:spcPct val="0"/>
              </a:spcAft>
              <a:defRPr sz="3000">
                <a:solidFill>
                  <a:schemeClr val="accent2"/>
                </a:solidFill>
                <a:latin typeface="Arial" pitchFamily="34" charset="0"/>
              </a:defRPr>
            </a:lvl3pPr>
            <a:lvl4pPr algn="ctr" rtl="0" eaLnBrk="0" fontAlgn="base" hangingPunct="0">
              <a:spcBef>
                <a:spcPct val="0"/>
              </a:spcBef>
              <a:spcAft>
                <a:spcPct val="0"/>
              </a:spcAft>
              <a:defRPr sz="3000">
                <a:solidFill>
                  <a:schemeClr val="accent2"/>
                </a:solidFill>
                <a:latin typeface="Arial" pitchFamily="34" charset="0"/>
              </a:defRPr>
            </a:lvl4pPr>
            <a:lvl5pPr algn="ctr" rtl="0" eaLnBrk="0" fontAlgn="base" hangingPunct="0">
              <a:spcBef>
                <a:spcPct val="0"/>
              </a:spcBef>
              <a:spcAft>
                <a:spcPct val="0"/>
              </a:spcAft>
              <a:defRPr sz="3000">
                <a:solidFill>
                  <a:schemeClr val="accent2"/>
                </a:solidFill>
                <a:latin typeface="Arial" pitchFamily="34" charset="0"/>
              </a:defRPr>
            </a:lvl5pPr>
            <a:lvl6pPr marL="457200" algn="ctr" rtl="0" fontAlgn="base">
              <a:spcBef>
                <a:spcPct val="0"/>
              </a:spcBef>
              <a:spcAft>
                <a:spcPct val="0"/>
              </a:spcAft>
              <a:defRPr sz="3000">
                <a:solidFill>
                  <a:schemeClr val="accent2"/>
                </a:solidFill>
                <a:latin typeface="Arial" pitchFamily="34" charset="0"/>
              </a:defRPr>
            </a:lvl6pPr>
            <a:lvl7pPr marL="914400" algn="ctr" rtl="0" fontAlgn="base">
              <a:spcBef>
                <a:spcPct val="0"/>
              </a:spcBef>
              <a:spcAft>
                <a:spcPct val="0"/>
              </a:spcAft>
              <a:defRPr sz="3000">
                <a:solidFill>
                  <a:schemeClr val="accent2"/>
                </a:solidFill>
                <a:latin typeface="Arial" pitchFamily="34" charset="0"/>
              </a:defRPr>
            </a:lvl7pPr>
            <a:lvl8pPr marL="1371600" algn="ctr" rtl="0" fontAlgn="base">
              <a:spcBef>
                <a:spcPct val="0"/>
              </a:spcBef>
              <a:spcAft>
                <a:spcPct val="0"/>
              </a:spcAft>
              <a:defRPr sz="3000">
                <a:solidFill>
                  <a:schemeClr val="accent2"/>
                </a:solidFill>
                <a:latin typeface="Arial" pitchFamily="34" charset="0"/>
              </a:defRPr>
            </a:lvl8pPr>
            <a:lvl9pPr marL="1828800" algn="ctr" rtl="0" fontAlgn="base">
              <a:spcBef>
                <a:spcPct val="0"/>
              </a:spcBef>
              <a:spcAft>
                <a:spcPct val="0"/>
              </a:spcAft>
              <a:defRPr sz="3000">
                <a:solidFill>
                  <a:schemeClr val="accent2"/>
                </a:solidFill>
                <a:latin typeface="Arial" pitchFamily="34" charset="0"/>
              </a:defRPr>
            </a:lvl9pPr>
          </a:lstStyle>
          <a:p>
            <a:pPr eaLnBrk="1" hangingPunct="1"/>
            <a:r>
              <a:rPr lang="fr-FR" altLang="fr-FR" dirty="0"/>
              <a:t>L’entreprise REDIX</a:t>
            </a:r>
            <a:endParaRPr lang="fr-FR" altLang="fr-FR" kern="0" dirty="0"/>
          </a:p>
        </p:txBody>
      </p:sp>
    </p:spTree>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97" name="Picture 73" descr="C:\Users\BertrandS\Dropbox\Jeux\00. CONCEPTION DES JEUX\photos\Logistique\iStock_000008043090_Medium.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3648" y="3090862"/>
            <a:ext cx="2609775" cy="1738313"/>
          </a:xfrm>
          <a:prstGeom prst="rect">
            <a:avLst/>
          </a:prstGeom>
          <a:noFill/>
          <a:extLst>
            <a:ext uri="{909E8E84-426E-40DD-AFC4-6F175D3DCCD1}">
              <a14:hiddenFill xmlns:a14="http://schemas.microsoft.com/office/drawing/2010/main">
                <a:solidFill>
                  <a:srgbClr val="FFFFFF"/>
                </a:solidFill>
              </a14:hiddenFill>
            </a:ext>
          </a:extLst>
        </p:spPr>
      </p:pic>
      <p:sp>
        <p:nvSpPr>
          <p:cNvPr id="26626" name="Rectangle 2"/>
          <p:cNvSpPr>
            <a:spLocks noGrp="1" noChangeArrowheads="1"/>
          </p:cNvSpPr>
          <p:nvPr>
            <p:ph type="title"/>
          </p:nvPr>
        </p:nvSpPr>
        <p:spPr>
          <a:xfrm>
            <a:off x="312738" y="179388"/>
            <a:ext cx="8505825" cy="530225"/>
          </a:xfrm>
        </p:spPr>
        <p:txBody>
          <a:bodyPr/>
          <a:lstStyle/>
          <a:p>
            <a:pPr eaLnBrk="1" hangingPunct="1"/>
            <a:r>
              <a:rPr lang="fr-FR" altLang="fr-FR" sz="2600"/>
              <a:t>Votre mission : améliorer les performances de l’usine</a:t>
            </a:r>
          </a:p>
        </p:txBody>
      </p:sp>
      <p:sp>
        <p:nvSpPr>
          <p:cNvPr id="26627" name="Rectangle 3"/>
          <p:cNvSpPr>
            <a:spLocks noGrp="1" noChangeArrowheads="1"/>
          </p:cNvSpPr>
          <p:nvPr>
            <p:ph type="body" idx="1"/>
          </p:nvPr>
        </p:nvSpPr>
        <p:spPr>
          <a:xfrm>
            <a:off x="1811338" y="889000"/>
            <a:ext cx="5437187" cy="436563"/>
          </a:xfrm>
        </p:spPr>
        <p:txBody>
          <a:bodyPr/>
          <a:lstStyle/>
          <a:p>
            <a:pPr marL="381000" indent="-381000" algn="ctr" eaLnBrk="1" hangingPunct="1">
              <a:buFontTx/>
              <a:buNone/>
            </a:pPr>
            <a:r>
              <a:rPr lang="fr-FR" altLang="fr-FR" sz="2600"/>
              <a:t>Vous serez jugé sur 3 indicateurs</a:t>
            </a:r>
          </a:p>
        </p:txBody>
      </p:sp>
      <p:sp>
        <p:nvSpPr>
          <p:cNvPr id="26628" name="Text Box 5"/>
          <p:cNvSpPr txBox="1">
            <a:spLocks noChangeArrowheads="1"/>
          </p:cNvSpPr>
          <p:nvPr/>
        </p:nvSpPr>
        <p:spPr bwMode="auto">
          <a:xfrm>
            <a:off x="2900363" y="5883275"/>
            <a:ext cx="326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Votre équipe est</a:t>
            </a:r>
            <a:r>
              <a:rPr lang="fr-FR" altLang="fr-FR" sz="2400">
                <a:solidFill>
                  <a:schemeClr val="tx1"/>
                </a:solidFill>
              </a:rPr>
              <a:t> :</a:t>
            </a:r>
            <a:r>
              <a:rPr lang="fr-FR" altLang="fr-FR" sz="2400"/>
              <a:t> </a:t>
            </a:r>
            <a:r>
              <a:rPr lang="fr-FR" altLang="fr-FR" sz="2400">
                <a:solidFill>
                  <a:srgbClr val="FC2C1C"/>
                </a:solidFill>
              </a:rPr>
              <a:t>A</a:t>
            </a:r>
            <a:r>
              <a:rPr lang="fr-FR" altLang="fr-FR" sz="2400"/>
              <a:t> - B - </a:t>
            </a:r>
            <a:r>
              <a:rPr lang="fr-FR" altLang="fr-FR" sz="2400">
                <a:solidFill>
                  <a:srgbClr val="00CC66"/>
                </a:solidFill>
              </a:rPr>
              <a:t>C</a:t>
            </a:r>
          </a:p>
        </p:txBody>
      </p:sp>
      <p:sp>
        <p:nvSpPr>
          <p:cNvPr id="26630" name="AutoShape 7"/>
          <p:cNvSpPr>
            <a:spLocks noChangeArrowheads="1"/>
          </p:cNvSpPr>
          <p:nvPr/>
        </p:nvSpPr>
        <p:spPr bwMode="auto">
          <a:xfrm>
            <a:off x="3879850" y="3155950"/>
            <a:ext cx="1219200" cy="1054100"/>
          </a:xfrm>
          <a:prstGeom prst="triangle">
            <a:avLst>
              <a:gd name="adj" fmla="val 50000"/>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6631" name="Text Box 8"/>
          <p:cNvSpPr txBox="1">
            <a:spLocks noChangeArrowheads="1"/>
          </p:cNvSpPr>
          <p:nvPr/>
        </p:nvSpPr>
        <p:spPr bwMode="auto">
          <a:xfrm>
            <a:off x="5324475" y="2130425"/>
            <a:ext cx="2447925" cy="49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50000"/>
              </a:spcBef>
              <a:buFontTx/>
              <a:buNone/>
            </a:pPr>
            <a:r>
              <a:rPr lang="fr-FR" altLang="fr-FR" sz="1700" dirty="0">
                <a:solidFill>
                  <a:schemeClr val="tx2"/>
                </a:solidFill>
              </a:rPr>
              <a:t>Service aux clients</a:t>
            </a:r>
          </a:p>
        </p:txBody>
      </p:sp>
      <p:sp>
        <p:nvSpPr>
          <p:cNvPr id="26632" name="Text Box 9"/>
          <p:cNvSpPr txBox="1">
            <a:spLocks noChangeArrowheads="1"/>
          </p:cNvSpPr>
          <p:nvPr/>
        </p:nvSpPr>
        <p:spPr bwMode="auto">
          <a:xfrm>
            <a:off x="1390650" y="4894263"/>
            <a:ext cx="229552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50000"/>
              </a:spcBef>
              <a:buFontTx/>
              <a:buNone/>
            </a:pPr>
            <a:r>
              <a:rPr lang="fr-FR" altLang="fr-FR" sz="1700">
                <a:solidFill>
                  <a:schemeClr val="tx2"/>
                </a:solidFill>
              </a:rPr>
              <a:t>Niveau des stocks</a:t>
            </a:r>
          </a:p>
        </p:txBody>
      </p:sp>
      <p:sp>
        <p:nvSpPr>
          <p:cNvPr id="26633" name="Text Box 10"/>
          <p:cNvSpPr txBox="1">
            <a:spLocks noChangeArrowheads="1"/>
          </p:cNvSpPr>
          <p:nvPr/>
        </p:nvSpPr>
        <p:spPr bwMode="auto">
          <a:xfrm>
            <a:off x="5051425" y="4829175"/>
            <a:ext cx="2903538" cy="43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50000"/>
              </a:spcBef>
              <a:buFontTx/>
              <a:buNone/>
            </a:pPr>
            <a:r>
              <a:rPr lang="fr-FR" altLang="fr-FR" sz="1700">
                <a:solidFill>
                  <a:schemeClr val="tx2"/>
                </a:solidFill>
              </a:rPr>
              <a:t>Efficience de la production</a:t>
            </a:r>
          </a:p>
        </p:txBody>
      </p:sp>
      <p:pic>
        <p:nvPicPr>
          <p:cNvPr id="26696" name="Picture 72" descr="C:\Users\BertrandS\Dropbox\Jeux\00. CONCEPTION DES JEUX\photos\Industrie\iStock_000032929530_Medium.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461317" y="3289816"/>
            <a:ext cx="2311083" cy="1539360"/>
          </a:xfrm>
          <a:prstGeom prst="rect">
            <a:avLst/>
          </a:prstGeom>
          <a:noFill/>
          <a:extLst>
            <a:ext uri="{909E8E84-426E-40DD-AFC4-6F175D3DCCD1}">
              <a14:hiddenFill xmlns:a14="http://schemas.microsoft.com/office/drawing/2010/main">
                <a:solidFill>
                  <a:srgbClr val="FFFFFF"/>
                </a:solidFill>
              </a14:hiddenFill>
            </a:ext>
          </a:extLst>
        </p:spPr>
      </p:pic>
      <p:pic>
        <p:nvPicPr>
          <p:cNvPr id="26698" name="Picture 74" descr="C:\Users\BertrandS\Dropbox\Jeux\00. CONCEPTION DES JEUX\photos\Logistique\iStock_000002931277_Medium.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t="27237" r="22322" b="-1846"/>
          <a:stretch/>
        </p:blipFill>
        <p:spPr bwMode="auto">
          <a:xfrm>
            <a:off x="3255010" y="1645060"/>
            <a:ext cx="2198687" cy="1407702"/>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Line 36"/>
          <p:cNvSpPr>
            <a:spLocks noChangeShapeType="1"/>
          </p:cNvSpPr>
          <p:nvPr/>
        </p:nvSpPr>
        <p:spPr bwMode="auto">
          <a:xfrm>
            <a:off x="6594475" y="3549650"/>
            <a:ext cx="1441450" cy="0"/>
          </a:xfrm>
          <a:prstGeom prst="line">
            <a:avLst/>
          </a:prstGeom>
          <a:noFill/>
          <a:ln w="6350">
            <a:solidFill>
              <a:schemeClr val="tx2"/>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7651" name="Line 30"/>
          <p:cNvSpPr>
            <a:spLocks noChangeShapeType="1"/>
          </p:cNvSpPr>
          <p:nvPr/>
        </p:nvSpPr>
        <p:spPr bwMode="auto">
          <a:xfrm>
            <a:off x="2430463" y="3540125"/>
            <a:ext cx="3533775" cy="0"/>
          </a:xfrm>
          <a:prstGeom prst="line">
            <a:avLst/>
          </a:prstGeom>
          <a:noFill/>
          <a:ln w="6350">
            <a:solidFill>
              <a:schemeClr val="tx2"/>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7652" name="Rectangle 2"/>
          <p:cNvSpPr>
            <a:spLocks noGrp="1" noChangeArrowheads="1"/>
          </p:cNvSpPr>
          <p:nvPr>
            <p:ph type="title"/>
          </p:nvPr>
        </p:nvSpPr>
        <p:spPr/>
        <p:txBody>
          <a:bodyPr/>
          <a:lstStyle/>
          <a:p>
            <a:pPr eaLnBrk="1" hangingPunct="1"/>
            <a:r>
              <a:rPr lang="fr-FR" altLang="fr-FR" dirty="0"/>
              <a:t>Les ventes</a:t>
            </a:r>
          </a:p>
        </p:txBody>
      </p:sp>
      <p:sp>
        <p:nvSpPr>
          <p:cNvPr id="27653" name="Rectangle 3"/>
          <p:cNvSpPr>
            <a:spLocks noGrp="1" noChangeArrowheads="1"/>
          </p:cNvSpPr>
          <p:nvPr>
            <p:ph type="body" idx="1"/>
          </p:nvPr>
        </p:nvSpPr>
        <p:spPr>
          <a:xfrm>
            <a:off x="330200" y="1143000"/>
            <a:ext cx="8664575" cy="1525588"/>
          </a:xfrm>
        </p:spPr>
        <p:txBody>
          <a:bodyPr/>
          <a:lstStyle/>
          <a:p>
            <a:pPr eaLnBrk="1" hangingPunct="1">
              <a:lnSpc>
                <a:spcPct val="110000"/>
              </a:lnSpc>
            </a:pPr>
            <a:r>
              <a:rPr lang="fr-FR" altLang="fr-FR" sz="1900"/>
              <a:t>L’entreprise vend six produits finis et une référence de pièce détachée.</a:t>
            </a:r>
          </a:p>
          <a:p>
            <a:pPr eaLnBrk="1" hangingPunct="1">
              <a:lnSpc>
                <a:spcPct val="110000"/>
              </a:lnSpc>
            </a:pPr>
            <a:r>
              <a:rPr lang="fr-FR" altLang="fr-FR" sz="1900"/>
              <a:t>Elle livre « à lettre lue » c’est-à-dire que l’expédition doit se faire sans délai.</a:t>
            </a:r>
          </a:p>
          <a:p>
            <a:pPr eaLnBrk="1" hangingPunct="1">
              <a:lnSpc>
                <a:spcPct val="110000"/>
              </a:lnSpc>
            </a:pPr>
            <a:r>
              <a:rPr lang="fr-FR" altLang="fr-FR" sz="1900"/>
              <a:t>Les commandes en retard doivent être livrées le plus tôt possible.</a:t>
            </a:r>
          </a:p>
        </p:txBody>
      </p:sp>
      <p:pic>
        <p:nvPicPr>
          <p:cNvPr id="27654"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87488" y="3189288"/>
            <a:ext cx="587375" cy="1081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5" name="Text Box 5"/>
          <p:cNvSpPr txBox="1">
            <a:spLocks noChangeArrowheads="1"/>
          </p:cNvSpPr>
          <p:nvPr/>
        </p:nvSpPr>
        <p:spPr bwMode="auto">
          <a:xfrm>
            <a:off x="2366963"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R1</a:t>
            </a:r>
          </a:p>
        </p:txBody>
      </p:sp>
      <p:sp>
        <p:nvSpPr>
          <p:cNvPr id="27656" name="Text Box 6"/>
          <p:cNvSpPr txBox="1">
            <a:spLocks noChangeArrowheads="1"/>
          </p:cNvSpPr>
          <p:nvPr/>
        </p:nvSpPr>
        <p:spPr bwMode="auto">
          <a:xfrm>
            <a:off x="3114675"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R2</a:t>
            </a:r>
          </a:p>
        </p:txBody>
      </p:sp>
      <p:sp>
        <p:nvSpPr>
          <p:cNvPr id="27657" name="Text Box 7"/>
          <p:cNvSpPr txBox="1">
            <a:spLocks noChangeArrowheads="1"/>
          </p:cNvSpPr>
          <p:nvPr/>
        </p:nvSpPr>
        <p:spPr bwMode="auto">
          <a:xfrm>
            <a:off x="3846513"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R3</a:t>
            </a:r>
          </a:p>
        </p:txBody>
      </p:sp>
      <p:sp>
        <p:nvSpPr>
          <p:cNvPr id="27658" name="Text Box 8"/>
          <p:cNvSpPr txBox="1">
            <a:spLocks noChangeArrowheads="1"/>
          </p:cNvSpPr>
          <p:nvPr/>
        </p:nvSpPr>
        <p:spPr bwMode="auto">
          <a:xfrm>
            <a:off x="4468813"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R4</a:t>
            </a:r>
          </a:p>
        </p:txBody>
      </p:sp>
      <p:sp>
        <p:nvSpPr>
          <p:cNvPr id="27659" name="Text Box 9"/>
          <p:cNvSpPr txBox="1">
            <a:spLocks noChangeArrowheads="1"/>
          </p:cNvSpPr>
          <p:nvPr/>
        </p:nvSpPr>
        <p:spPr bwMode="auto">
          <a:xfrm>
            <a:off x="5133975"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R5</a:t>
            </a:r>
          </a:p>
        </p:txBody>
      </p:sp>
      <p:sp>
        <p:nvSpPr>
          <p:cNvPr id="27660" name="Text Box 10"/>
          <p:cNvSpPr txBox="1">
            <a:spLocks noChangeArrowheads="1"/>
          </p:cNvSpPr>
          <p:nvPr/>
        </p:nvSpPr>
        <p:spPr bwMode="auto">
          <a:xfrm>
            <a:off x="5815013" y="3844925"/>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R6</a:t>
            </a:r>
          </a:p>
        </p:txBody>
      </p:sp>
      <p:sp>
        <p:nvSpPr>
          <p:cNvPr id="27661" name="Text Box 29"/>
          <p:cNvSpPr txBox="1">
            <a:spLocks noChangeArrowheads="1"/>
          </p:cNvSpPr>
          <p:nvPr/>
        </p:nvSpPr>
        <p:spPr bwMode="auto">
          <a:xfrm>
            <a:off x="3076575" y="3260725"/>
            <a:ext cx="2151063" cy="457200"/>
          </a:xfrm>
          <a:prstGeom prst="rect">
            <a:avLst/>
          </a:prstGeom>
          <a:solidFill>
            <a:schemeClr val="bg1"/>
          </a:solidFill>
          <a:ln>
            <a:noFill/>
          </a:ln>
          <a:extLs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6 produits finis</a:t>
            </a:r>
          </a:p>
        </p:txBody>
      </p:sp>
      <p:sp>
        <p:nvSpPr>
          <p:cNvPr id="27663" name="Text Box 34"/>
          <p:cNvSpPr txBox="1">
            <a:spLocks noChangeArrowheads="1"/>
          </p:cNvSpPr>
          <p:nvPr/>
        </p:nvSpPr>
        <p:spPr bwMode="auto">
          <a:xfrm>
            <a:off x="6834188" y="3209925"/>
            <a:ext cx="1035050" cy="581025"/>
          </a:xfrm>
          <a:prstGeom prst="rect">
            <a:avLst/>
          </a:prstGeom>
          <a:solidFill>
            <a:schemeClr val="bg1"/>
          </a:solidFill>
          <a:ln>
            <a:noFill/>
          </a:ln>
          <a:extLs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t>Pièce détachée</a:t>
            </a:r>
          </a:p>
        </p:txBody>
      </p:sp>
      <p:sp>
        <p:nvSpPr>
          <p:cNvPr id="27664" name="Text Box 35"/>
          <p:cNvSpPr txBox="1">
            <a:spLocks noChangeArrowheads="1"/>
          </p:cNvSpPr>
          <p:nvPr/>
        </p:nvSpPr>
        <p:spPr bwMode="auto">
          <a:xfrm>
            <a:off x="6497638" y="3790950"/>
            <a:ext cx="173355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500">
                <a:solidFill>
                  <a:schemeClr val="tx1"/>
                </a:solidFill>
              </a:rPr>
              <a:t>Couronne</a:t>
            </a:r>
            <a:br>
              <a:rPr lang="fr-FR" altLang="fr-FR" sz="1500">
                <a:solidFill>
                  <a:schemeClr val="tx1"/>
                </a:solidFill>
              </a:rPr>
            </a:br>
            <a:r>
              <a:rPr lang="fr-FR" altLang="fr-FR" sz="1500">
                <a:solidFill>
                  <a:schemeClr val="tx1"/>
                </a:solidFill>
              </a:rPr>
              <a:t>(phase A blanche)</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2"/>
          <p:cNvSpPr>
            <a:spLocks noGrp="1" noChangeArrowheads="1"/>
          </p:cNvSpPr>
          <p:nvPr>
            <p:ph type="title"/>
          </p:nvPr>
        </p:nvSpPr>
        <p:spPr>
          <a:xfrm>
            <a:off x="457200" y="0"/>
            <a:ext cx="8229600" cy="647700"/>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eaLnBrk="1" hangingPunct="1"/>
            <a:r>
              <a:rPr lang="fr-FR" altLang="fr-FR" sz="2800" b="1" dirty="0">
                <a:solidFill>
                  <a:srgbClr val="27A8E0"/>
                </a:solidFill>
              </a:rPr>
              <a:t>La composition des produits</a:t>
            </a:r>
          </a:p>
        </p:txBody>
      </p:sp>
      <p:pic>
        <p:nvPicPr>
          <p:cNvPr id="2867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18400" y="193675"/>
            <a:ext cx="485775" cy="89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6" name="Text Box 4"/>
          <p:cNvSpPr txBox="1">
            <a:spLocks noChangeArrowheads="1"/>
          </p:cNvSpPr>
          <p:nvPr/>
        </p:nvSpPr>
        <p:spPr bwMode="auto">
          <a:xfrm>
            <a:off x="2370138"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R1</a:t>
            </a:r>
          </a:p>
        </p:txBody>
      </p:sp>
      <p:sp>
        <p:nvSpPr>
          <p:cNvPr id="28677" name="Text Box 5"/>
          <p:cNvSpPr txBox="1">
            <a:spLocks noChangeArrowheads="1"/>
          </p:cNvSpPr>
          <p:nvPr/>
        </p:nvSpPr>
        <p:spPr bwMode="auto">
          <a:xfrm>
            <a:off x="3117850"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R2</a:t>
            </a:r>
          </a:p>
        </p:txBody>
      </p:sp>
      <p:sp>
        <p:nvSpPr>
          <p:cNvPr id="28678" name="Text Box 6"/>
          <p:cNvSpPr txBox="1">
            <a:spLocks noChangeArrowheads="1"/>
          </p:cNvSpPr>
          <p:nvPr/>
        </p:nvSpPr>
        <p:spPr bwMode="auto">
          <a:xfrm>
            <a:off x="3849688"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R3</a:t>
            </a:r>
          </a:p>
        </p:txBody>
      </p:sp>
      <p:sp>
        <p:nvSpPr>
          <p:cNvPr id="28679" name="Text Box 7"/>
          <p:cNvSpPr txBox="1">
            <a:spLocks noChangeArrowheads="1"/>
          </p:cNvSpPr>
          <p:nvPr/>
        </p:nvSpPr>
        <p:spPr bwMode="auto">
          <a:xfrm>
            <a:off x="4471988"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R4</a:t>
            </a:r>
          </a:p>
        </p:txBody>
      </p:sp>
      <p:sp>
        <p:nvSpPr>
          <p:cNvPr id="28680" name="Text Box 8"/>
          <p:cNvSpPr txBox="1">
            <a:spLocks noChangeArrowheads="1"/>
          </p:cNvSpPr>
          <p:nvPr/>
        </p:nvSpPr>
        <p:spPr bwMode="auto">
          <a:xfrm>
            <a:off x="5137150"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R5</a:t>
            </a:r>
          </a:p>
        </p:txBody>
      </p:sp>
      <p:sp>
        <p:nvSpPr>
          <p:cNvPr id="28681" name="Text Box 9"/>
          <p:cNvSpPr txBox="1">
            <a:spLocks noChangeArrowheads="1"/>
          </p:cNvSpPr>
          <p:nvPr/>
        </p:nvSpPr>
        <p:spPr bwMode="auto">
          <a:xfrm>
            <a:off x="5818188" y="24463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R6</a:t>
            </a:r>
          </a:p>
        </p:txBody>
      </p:sp>
      <p:sp>
        <p:nvSpPr>
          <p:cNvPr id="28682" name="Oval 10"/>
          <p:cNvSpPr>
            <a:spLocks noChangeArrowheads="1"/>
          </p:cNvSpPr>
          <p:nvPr/>
        </p:nvSpPr>
        <p:spPr bwMode="auto">
          <a:xfrm rot="-5400000">
            <a:off x="2453482" y="3940969"/>
            <a:ext cx="334962" cy="311150"/>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3" name="Rectangle 11"/>
          <p:cNvSpPr>
            <a:spLocks noChangeArrowheads="1"/>
          </p:cNvSpPr>
          <p:nvPr/>
        </p:nvSpPr>
        <p:spPr bwMode="auto">
          <a:xfrm rot="-5400000">
            <a:off x="2526507" y="3329781"/>
            <a:ext cx="209550" cy="427037"/>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4" name="Rectangle 12"/>
          <p:cNvSpPr>
            <a:spLocks noChangeArrowheads="1"/>
          </p:cNvSpPr>
          <p:nvPr/>
        </p:nvSpPr>
        <p:spPr bwMode="auto">
          <a:xfrm rot="-5400000">
            <a:off x="2524919" y="2910682"/>
            <a:ext cx="209550" cy="271462"/>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5" name="Rectangle 13"/>
          <p:cNvSpPr>
            <a:spLocks noChangeArrowheads="1"/>
          </p:cNvSpPr>
          <p:nvPr/>
        </p:nvSpPr>
        <p:spPr bwMode="auto">
          <a:xfrm rot="-5400000">
            <a:off x="3259138" y="3328987"/>
            <a:ext cx="209550" cy="428625"/>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6" name="Rectangle 14"/>
          <p:cNvSpPr>
            <a:spLocks noChangeArrowheads="1"/>
          </p:cNvSpPr>
          <p:nvPr/>
        </p:nvSpPr>
        <p:spPr bwMode="auto">
          <a:xfrm rot="-5400000">
            <a:off x="3259138" y="2911475"/>
            <a:ext cx="209550" cy="269875"/>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7" name="Oval 15"/>
          <p:cNvSpPr>
            <a:spLocks noChangeArrowheads="1"/>
          </p:cNvSpPr>
          <p:nvPr/>
        </p:nvSpPr>
        <p:spPr bwMode="auto">
          <a:xfrm rot="-5400000">
            <a:off x="3186113" y="3941763"/>
            <a:ext cx="338137" cy="312737"/>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8" name="Rectangle 16"/>
          <p:cNvSpPr>
            <a:spLocks noChangeArrowheads="1"/>
          </p:cNvSpPr>
          <p:nvPr/>
        </p:nvSpPr>
        <p:spPr bwMode="auto">
          <a:xfrm rot="-5400000">
            <a:off x="3953669" y="3329781"/>
            <a:ext cx="209550" cy="427038"/>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89" name="Rectangle 17"/>
          <p:cNvSpPr>
            <a:spLocks noChangeArrowheads="1"/>
          </p:cNvSpPr>
          <p:nvPr/>
        </p:nvSpPr>
        <p:spPr bwMode="auto">
          <a:xfrm rot="-5400000">
            <a:off x="3952082" y="2910681"/>
            <a:ext cx="209550" cy="271463"/>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0" name="Oval 18"/>
          <p:cNvSpPr>
            <a:spLocks noChangeArrowheads="1"/>
          </p:cNvSpPr>
          <p:nvPr/>
        </p:nvSpPr>
        <p:spPr bwMode="auto">
          <a:xfrm rot="-5400000">
            <a:off x="3879056" y="3942557"/>
            <a:ext cx="338137" cy="311150"/>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1" name="Rectangle 19"/>
          <p:cNvSpPr>
            <a:spLocks noChangeArrowheads="1"/>
          </p:cNvSpPr>
          <p:nvPr/>
        </p:nvSpPr>
        <p:spPr bwMode="auto">
          <a:xfrm rot="-5400000">
            <a:off x="4646613" y="3328987"/>
            <a:ext cx="209550" cy="428625"/>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2" name="Rectangle 20"/>
          <p:cNvSpPr>
            <a:spLocks noChangeArrowheads="1"/>
          </p:cNvSpPr>
          <p:nvPr/>
        </p:nvSpPr>
        <p:spPr bwMode="auto">
          <a:xfrm rot="-5400000">
            <a:off x="4645025" y="2909888"/>
            <a:ext cx="209550" cy="273050"/>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3" name="Oval 21"/>
          <p:cNvSpPr>
            <a:spLocks noChangeArrowheads="1"/>
          </p:cNvSpPr>
          <p:nvPr/>
        </p:nvSpPr>
        <p:spPr bwMode="auto">
          <a:xfrm rot="-5400000">
            <a:off x="4572794" y="3942556"/>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4" name="Rectangle 22"/>
          <p:cNvSpPr>
            <a:spLocks noChangeArrowheads="1"/>
          </p:cNvSpPr>
          <p:nvPr/>
        </p:nvSpPr>
        <p:spPr bwMode="auto">
          <a:xfrm rot="-5400000">
            <a:off x="5295901" y="3328987"/>
            <a:ext cx="209550" cy="428625"/>
          </a:xfrm>
          <a:prstGeom prst="rect">
            <a:avLst/>
          </a:prstGeom>
          <a:solidFill>
            <a:srgbClr val="0033CC"/>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5" name="Rectangle 23"/>
          <p:cNvSpPr>
            <a:spLocks noChangeArrowheads="1"/>
          </p:cNvSpPr>
          <p:nvPr/>
        </p:nvSpPr>
        <p:spPr bwMode="auto">
          <a:xfrm rot="-5400000">
            <a:off x="5294313" y="2909888"/>
            <a:ext cx="209550" cy="273050"/>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6" name="Oval 24"/>
          <p:cNvSpPr>
            <a:spLocks noChangeArrowheads="1"/>
          </p:cNvSpPr>
          <p:nvPr/>
        </p:nvSpPr>
        <p:spPr bwMode="auto">
          <a:xfrm rot="-5400000">
            <a:off x="5220494" y="3942557"/>
            <a:ext cx="338137" cy="311150"/>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7" name="Rectangle 25"/>
          <p:cNvSpPr>
            <a:spLocks noChangeArrowheads="1"/>
          </p:cNvSpPr>
          <p:nvPr/>
        </p:nvSpPr>
        <p:spPr bwMode="auto">
          <a:xfrm rot="-5400000">
            <a:off x="5942013" y="3328987"/>
            <a:ext cx="209550" cy="428625"/>
          </a:xfrm>
          <a:prstGeom prst="rect">
            <a:avLst/>
          </a:prstGeom>
          <a:solidFill>
            <a:srgbClr val="0033CC"/>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8" name="Rectangle 26"/>
          <p:cNvSpPr>
            <a:spLocks noChangeArrowheads="1"/>
          </p:cNvSpPr>
          <p:nvPr/>
        </p:nvSpPr>
        <p:spPr bwMode="auto">
          <a:xfrm rot="-5400000">
            <a:off x="5940425" y="2909888"/>
            <a:ext cx="209550" cy="273050"/>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699" name="Oval 27"/>
          <p:cNvSpPr>
            <a:spLocks noChangeArrowheads="1"/>
          </p:cNvSpPr>
          <p:nvPr/>
        </p:nvSpPr>
        <p:spPr bwMode="auto">
          <a:xfrm rot="-5400000">
            <a:off x="5865813" y="3941763"/>
            <a:ext cx="338137" cy="312737"/>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700" name="Text Box 28"/>
          <p:cNvSpPr txBox="1">
            <a:spLocks noChangeArrowheads="1"/>
          </p:cNvSpPr>
          <p:nvPr/>
        </p:nvSpPr>
        <p:spPr bwMode="auto">
          <a:xfrm>
            <a:off x="3459163" y="1227138"/>
            <a:ext cx="1795462" cy="376237"/>
          </a:xfrm>
          <a:prstGeom prst="rect">
            <a:avLst/>
          </a:prstGeom>
          <a:solidFill>
            <a:srgbClr val="FFFF99"/>
          </a:solidFill>
          <a:ln w="9525">
            <a:solidFill>
              <a:schemeClr val="bg2"/>
            </a:solidFill>
            <a:miter lim="800000"/>
            <a:headEnd/>
            <a:tailEnd/>
          </a:ln>
        </p:spPr>
        <p:txBody>
          <a:bodyPr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6 produits finis</a:t>
            </a:r>
          </a:p>
        </p:txBody>
      </p:sp>
      <p:sp>
        <p:nvSpPr>
          <p:cNvPr id="28701" name="Text Box 29"/>
          <p:cNvSpPr txBox="1">
            <a:spLocks noChangeArrowheads="1"/>
          </p:cNvSpPr>
          <p:nvPr/>
        </p:nvSpPr>
        <p:spPr bwMode="auto">
          <a:xfrm>
            <a:off x="6927850" y="3376613"/>
            <a:ext cx="882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carters</a:t>
            </a:r>
          </a:p>
        </p:txBody>
      </p:sp>
      <p:sp>
        <p:nvSpPr>
          <p:cNvPr id="28702" name="Text Box 30"/>
          <p:cNvSpPr txBox="1">
            <a:spLocks noChangeArrowheads="1"/>
          </p:cNvSpPr>
          <p:nvPr/>
        </p:nvSpPr>
        <p:spPr bwMode="auto">
          <a:xfrm>
            <a:off x="6896100" y="2868613"/>
            <a:ext cx="1390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engrenages</a:t>
            </a:r>
          </a:p>
        </p:txBody>
      </p:sp>
      <p:sp>
        <p:nvSpPr>
          <p:cNvPr id="28703" name="Text Box 31"/>
          <p:cNvSpPr txBox="1">
            <a:spLocks noChangeArrowheads="1"/>
          </p:cNvSpPr>
          <p:nvPr/>
        </p:nvSpPr>
        <p:spPr bwMode="auto">
          <a:xfrm>
            <a:off x="6921500" y="3860800"/>
            <a:ext cx="1131888"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nSpc>
                <a:spcPct val="90000"/>
              </a:lnSpc>
              <a:spcBef>
                <a:spcPct val="0"/>
              </a:spcBef>
              <a:buFontTx/>
              <a:buNone/>
            </a:pPr>
            <a:r>
              <a:rPr kumimoji="1" lang="fr-FR" altLang="fr-FR" sz="1600">
                <a:solidFill>
                  <a:srgbClr val="003399"/>
                </a:solidFill>
              </a:rPr>
              <a:t>couronnes</a:t>
            </a:r>
          </a:p>
          <a:p>
            <a:pPr>
              <a:lnSpc>
                <a:spcPct val="90000"/>
              </a:lnSpc>
              <a:spcBef>
                <a:spcPct val="0"/>
              </a:spcBef>
              <a:buFontTx/>
              <a:buNone/>
            </a:pPr>
            <a:r>
              <a:rPr kumimoji="1" lang="fr-FR" altLang="fr-FR" sz="1400">
                <a:solidFill>
                  <a:schemeClr val="tx1"/>
                </a:solidFill>
              </a:rPr>
              <a:t>(phase B)</a:t>
            </a:r>
          </a:p>
        </p:txBody>
      </p:sp>
      <p:sp>
        <p:nvSpPr>
          <p:cNvPr id="28704" name="AutoShape 32"/>
          <p:cNvSpPr>
            <a:spLocks/>
          </p:cNvSpPr>
          <p:nvPr/>
        </p:nvSpPr>
        <p:spPr bwMode="auto">
          <a:xfrm rot="5400000">
            <a:off x="4051301" y="147637"/>
            <a:ext cx="609600" cy="3914775"/>
          </a:xfrm>
          <a:prstGeom prst="leftBrace">
            <a:avLst>
              <a:gd name="adj1" fmla="val 53516"/>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705" name="AutoShape 33"/>
          <p:cNvSpPr>
            <a:spLocks noChangeArrowheads="1"/>
          </p:cNvSpPr>
          <p:nvPr/>
        </p:nvSpPr>
        <p:spPr bwMode="auto">
          <a:xfrm>
            <a:off x="6621463" y="4006850"/>
            <a:ext cx="246062" cy="165100"/>
          </a:xfrm>
          <a:prstGeom prst="leftArrow">
            <a:avLst>
              <a:gd name="adj1" fmla="val 50000"/>
              <a:gd name="adj2" fmla="val 37260"/>
            </a:avLst>
          </a:prstGeom>
          <a:solidFill>
            <a:schemeClr val="bg1"/>
          </a:solidFill>
          <a:ln w="9525">
            <a:solidFill>
              <a:schemeClr val="tx1"/>
            </a:solidFill>
            <a:miter lim="800000"/>
            <a:headEnd/>
            <a:tailEnd/>
          </a:ln>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706" name="AutoShape 34"/>
          <p:cNvSpPr>
            <a:spLocks noChangeArrowheads="1"/>
          </p:cNvSpPr>
          <p:nvPr/>
        </p:nvSpPr>
        <p:spPr bwMode="auto">
          <a:xfrm>
            <a:off x="6653213" y="2984500"/>
            <a:ext cx="246062" cy="165100"/>
          </a:xfrm>
          <a:prstGeom prst="leftArrow">
            <a:avLst>
              <a:gd name="adj1" fmla="val 50000"/>
              <a:gd name="adj2" fmla="val 37260"/>
            </a:avLst>
          </a:prstGeom>
          <a:solidFill>
            <a:schemeClr val="bg1"/>
          </a:solidFill>
          <a:ln w="9525">
            <a:solidFill>
              <a:schemeClr val="tx1"/>
            </a:solidFill>
            <a:miter lim="800000"/>
            <a:headEnd/>
            <a:tailEnd/>
          </a:ln>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8707" name="AutoShape 35"/>
          <p:cNvSpPr>
            <a:spLocks noChangeArrowheads="1"/>
          </p:cNvSpPr>
          <p:nvPr/>
        </p:nvSpPr>
        <p:spPr bwMode="auto">
          <a:xfrm>
            <a:off x="6665913" y="3467100"/>
            <a:ext cx="246062" cy="165100"/>
          </a:xfrm>
          <a:prstGeom prst="leftArrow">
            <a:avLst>
              <a:gd name="adj1" fmla="val 50000"/>
              <a:gd name="adj2" fmla="val 37260"/>
            </a:avLst>
          </a:prstGeom>
          <a:solidFill>
            <a:schemeClr val="bg1"/>
          </a:solidFill>
          <a:ln w="9525">
            <a:solidFill>
              <a:schemeClr val="tx1"/>
            </a:solidFill>
            <a:miter lim="800000"/>
            <a:headEnd/>
            <a:tailEnd/>
          </a:ln>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21256" name="AutoShape 72"/>
          <p:cNvSpPr>
            <a:spLocks noChangeArrowheads="1"/>
          </p:cNvSpPr>
          <p:nvPr/>
        </p:nvSpPr>
        <p:spPr bwMode="auto">
          <a:xfrm>
            <a:off x="3613150" y="4911725"/>
            <a:ext cx="1860550" cy="1089025"/>
          </a:xfrm>
          <a:prstGeom prst="octagon">
            <a:avLst>
              <a:gd name="adj" fmla="val 29287"/>
            </a:avLst>
          </a:prstGeom>
          <a:solidFill>
            <a:srgbClr val="FFFF00"/>
          </a:solidFill>
          <a:ln w="6350" algn="ctr">
            <a:solidFill>
              <a:schemeClr val="tx2"/>
            </a:solidFill>
            <a:miter lim="800000"/>
            <a:headEnd/>
            <a:tailEnd/>
          </a:ln>
        </p:spPr>
        <p:txBody>
          <a:bodyPr lIns="54000" rIns="54000"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lnSpc>
                <a:spcPct val="110000"/>
              </a:lnSpc>
              <a:spcBef>
                <a:spcPct val="0"/>
              </a:spcBef>
              <a:buFontTx/>
              <a:buNone/>
            </a:pPr>
            <a:r>
              <a:rPr lang="fr-FR" altLang="fr-FR" sz="1800">
                <a:solidFill>
                  <a:schemeClr val="tx1"/>
                </a:solidFill>
              </a:rPr>
              <a:t>Recevez les fiches Règles du Jeu</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221256"/>
                                        </p:tgtEl>
                                        <p:attrNameLst>
                                          <p:attrName>style.visibility</p:attrName>
                                        </p:attrNameLst>
                                      </p:cBhvr>
                                      <p:to>
                                        <p:strVal val="visible"/>
                                      </p:to>
                                    </p:set>
                                    <p:animEffect transition="in" filter="box(in)">
                                      <p:cBhvr>
                                        <p:cTn id="7" dur="500"/>
                                        <p:tgtEl>
                                          <p:spTgt spid="2212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256"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2"/>
          <p:cNvSpPr>
            <a:spLocks noGrp="1" noChangeArrowheads="1"/>
          </p:cNvSpPr>
          <p:nvPr>
            <p:ph type="title"/>
          </p:nvPr>
        </p:nvSpPr>
        <p:spPr>
          <a:xfrm>
            <a:off x="441325" y="0"/>
            <a:ext cx="8229600" cy="561975"/>
          </a:xfrm>
        </p:spPr>
        <p:txBody>
          <a:bodyPr/>
          <a:lstStyle/>
          <a:p>
            <a:pPr eaLnBrk="1" hangingPunct="1"/>
            <a:r>
              <a:rPr lang="fr-FR" altLang="fr-FR" dirty="0"/>
              <a:t>La fabrication</a:t>
            </a:r>
          </a:p>
        </p:txBody>
      </p:sp>
      <p:sp>
        <p:nvSpPr>
          <p:cNvPr id="29699" name="Text Box 12"/>
          <p:cNvSpPr txBox="1">
            <a:spLocks noChangeArrowheads="1"/>
          </p:cNvSpPr>
          <p:nvPr/>
        </p:nvSpPr>
        <p:spPr bwMode="auto">
          <a:xfrm>
            <a:off x="3371850" y="1733550"/>
            <a:ext cx="13049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Usinage</a:t>
            </a:r>
          </a:p>
        </p:txBody>
      </p:sp>
      <p:sp>
        <p:nvSpPr>
          <p:cNvPr id="29700" name="Text Box 13"/>
          <p:cNvSpPr txBox="1">
            <a:spLocks noChangeArrowheads="1"/>
          </p:cNvSpPr>
          <p:nvPr/>
        </p:nvSpPr>
        <p:spPr bwMode="auto">
          <a:xfrm>
            <a:off x="5646738" y="1731963"/>
            <a:ext cx="1371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Montage</a:t>
            </a:r>
          </a:p>
        </p:txBody>
      </p:sp>
      <p:sp>
        <p:nvSpPr>
          <p:cNvPr id="29701" name="Text Box 14"/>
          <p:cNvSpPr txBox="1">
            <a:spLocks noChangeArrowheads="1"/>
          </p:cNvSpPr>
          <p:nvPr/>
        </p:nvSpPr>
        <p:spPr bwMode="auto">
          <a:xfrm>
            <a:off x="7383463" y="1731963"/>
            <a:ext cx="1609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Expédition</a:t>
            </a:r>
          </a:p>
        </p:txBody>
      </p:sp>
      <p:sp>
        <p:nvSpPr>
          <p:cNvPr id="29702" name="Text Box 15"/>
          <p:cNvSpPr txBox="1">
            <a:spLocks noChangeArrowheads="1"/>
          </p:cNvSpPr>
          <p:nvPr/>
        </p:nvSpPr>
        <p:spPr bwMode="auto">
          <a:xfrm rot="-5400000">
            <a:off x="1962150" y="3221038"/>
            <a:ext cx="1508125" cy="523875"/>
          </a:xfrm>
          <a:prstGeom prst="rect">
            <a:avLst/>
          </a:prstGeom>
          <a:solidFill>
            <a:srgbClr val="FFFF99"/>
          </a:solidFill>
          <a:ln w="6350" algn="ctr">
            <a:solidFill>
              <a:schemeClr val="bg2"/>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 matières premières</a:t>
            </a:r>
          </a:p>
        </p:txBody>
      </p:sp>
      <p:sp>
        <p:nvSpPr>
          <p:cNvPr id="29703" name="Text Box 63"/>
          <p:cNvSpPr txBox="1">
            <a:spLocks noChangeArrowheads="1"/>
          </p:cNvSpPr>
          <p:nvPr/>
        </p:nvSpPr>
        <p:spPr bwMode="auto">
          <a:xfrm rot="-5400000">
            <a:off x="4641850" y="3205163"/>
            <a:ext cx="1533525" cy="523875"/>
          </a:xfrm>
          <a:prstGeom prst="rect">
            <a:avLst/>
          </a:prstGeom>
          <a:solidFill>
            <a:srgbClr val="FFFF99"/>
          </a:solidFill>
          <a:ln w="6350" algn="ctr">
            <a:solidFill>
              <a:schemeClr val="bg2"/>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 pièces usinées</a:t>
            </a:r>
          </a:p>
        </p:txBody>
      </p:sp>
      <p:sp>
        <p:nvSpPr>
          <p:cNvPr id="29704" name="Text Box 67"/>
          <p:cNvSpPr txBox="1">
            <a:spLocks noChangeArrowheads="1"/>
          </p:cNvSpPr>
          <p:nvPr/>
        </p:nvSpPr>
        <p:spPr bwMode="auto">
          <a:xfrm rot="-5400000">
            <a:off x="6623844" y="3213894"/>
            <a:ext cx="1481137" cy="523875"/>
          </a:xfrm>
          <a:prstGeom prst="rect">
            <a:avLst/>
          </a:prstGeom>
          <a:solidFill>
            <a:srgbClr val="FFFF99"/>
          </a:solidFill>
          <a:ln w="6350" algn="ctr">
            <a:solidFill>
              <a:schemeClr val="bg2"/>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 produits finis</a:t>
            </a:r>
          </a:p>
        </p:txBody>
      </p:sp>
      <p:sp>
        <p:nvSpPr>
          <p:cNvPr id="29705" name="Text Box 96"/>
          <p:cNvSpPr txBox="1">
            <a:spLocks noChangeArrowheads="1"/>
          </p:cNvSpPr>
          <p:nvPr/>
        </p:nvSpPr>
        <p:spPr bwMode="auto">
          <a:xfrm>
            <a:off x="1217613" y="1733550"/>
            <a:ext cx="1235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Appros.</a:t>
            </a:r>
          </a:p>
        </p:txBody>
      </p:sp>
      <p:grpSp>
        <p:nvGrpSpPr>
          <p:cNvPr id="2" name="Group 133"/>
          <p:cNvGrpSpPr>
            <a:grpSpLocks/>
          </p:cNvGrpSpPr>
          <p:nvPr/>
        </p:nvGrpSpPr>
        <p:grpSpPr bwMode="auto">
          <a:xfrm>
            <a:off x="7624763" y="3271838"/>
            <a:ext cx="1366837" cy="420687"/>
            <a:chOff x="4803" y="2061"/>
            <a:chExt cx="861" cy="265"/>
          </a:xfrm>
        </p:grpSpPr>
        <p:grpSp>
          <p:nvGrpSpPr>
            <p:cNvPr id="29778" name="Group 17"/>
            <p:cNvGrpSpPr>
              <a:grpSpLocks/>
            </p:cNvGrpSpPr>
            <p:nvPr/>
          </p:nvGrpSpPr>
          <p:grpSpPr bwMode="auto">
            <a:xfrm>
              <a:off x="5028" y="2061"/>
              <a:ext cx="636" cy="265"/>
              <a:chOff x="804" y="1453"/>
              <a:chExt cx="4245" cy="1534"/>
            </a:xfrm>
          </p:grpSpPr>
          <p:sp>
            <p:nvSpPr>
              <p:cNvPr id="29780" name="Freeform 18"/>
              <p:cNvSpPr>
                <a:spLocks/>
              </p:cNvSpPr>
              <p:nvPr/>
            </p:nvSpPr>
            <p:spPr bwMode="auto">
              <a:xfrm>
                <a:off x="3940" y="1832"/>
                <a:ext cx="1031" cy="981"/>
              </a:xfrm>
              <a:custGeom>
                <a:avLst/>
                <a:gdLst>
                  <a:gd name="T0" fmla="*/ 143 w 1031"/>
                  <a:gd name="T1" fmla="*/ 15 h 981"/>
                  <a:gd name="T2" fmla="*/ 841 w 1031"/>
                  <a:gd name="T3" fmla="*/ 0 h 981"/>
                  <a:gd name="T4" fmla="*/ 856 w 1031"/>
                  <a:gd name="T5" fmla="*/ 1 h 981"/>
                  <a:gd name="T6" fmla="*/ 869 w 1031"/>
                  <a:gd name="T7" fmla="*/ 4 h 981"/>
                  <a:gd name="T8" fmla="*/ 878 w 1031"/>
                  <a:gd name="T9" fmla="*/ 8 h 981"/>
                  <a:gd name="T10" fmla="*/ 889 w 1031"/>
                  <a:gd name="T11" fmla="*/ 15 h 981"/>
                  <a:gd name="T12" fmla="*/ 897 w 1031"/>
                  <a:gd name="T13" fmla="*/ 24 h 981"/>
                  <a:gd name="T14" fmla="*/ 904 w 1031"/>
                  <a:gd name="T15" fmla="*/ 36 h 981"/>
                  <a:gd name="T16" fmla="*/ 989 w 1031"/>
                  <a:gd name="T17" fmla="*/ 419 h 981"/>
                  <a:gd name="T18" fmla="*/ 1030 w 1031"/>
                  <a:gd name="T19" fmla="*/ 430 h 981"/>
                  <a:gd name="T20" fmla="*/ 1030 w 1031"/>
                  <a:gd name="T21" fmla="*/ 553 h 981"/>
                  <a:gd name="T22" fmla="*/ 1009 w 1031"/>
                  <a:gd name="T23" fmla="*/ 565 h 981"/>
                  <a:gd name="T24" fmla="*/ 1009 w 1031"/>
                  <a:gd name="T25" fmla="*/ 666 h 981"/>
                  <a:gd name="T26" fmla="*/ 1027 w 1031"/>
                  <a:gd name="T27" fmla="*/ 684 h 981"/>
                  <a:gd name="T28" fmla="*/ 1012 w 1031"/>
                  <a:gd name="T29" fmla="*/ 723 h 981"/>
                  <a:gd name="T30" fmla="*/ 1012 w 1031"/>
                  <a:gd name="T31" fmla="*/ 980 h 981"/>
                  <a:gd name="T32" fmla="*/ 632 w 1031"/>
                  <a:gd name="T33" fmla="*/ 980 h 981"/>
                  <a:gd name="T34" fmla="*/ 632 w 1031"/>
                  <a:gd name="T35" fmla="*/ 968 h 981"/>
                  <a:gd name="T36" fmla="*/ 506 w 1031"/>
                  <a:gd name="T37" fmla="*/ 929 h 981"/>
                  <a:gd name="T38" fmla="*/ 86 w 1031"/>
                  <a:gd name="T39" fmla="*/ 929 h 981"/>
                  <a:gd name="T40" fmla="*/ 32 w 1031"/>
                  <a:gd name="T41" fmla="*/ 929 h 981"/>
                  <a:gd name="T42" fmla="*/ 32 w 1031"/>
                  <a:gd name="T43" fmla="*/ 798 h 981"/>
                  <a:gd name="T44" fmla="*/ 0 w 1031"/>
                  <a:gd name="T45" fmla="*/ 792 h 981"/>
                  <a:gd name="T46" fmla="*/ 0 w 1031"/>
                  <a:gd name="T47" fmla="*/ 374 h 981"/>
                  <a:gd name="T48" fmla="*/ 38 w 1031"/>
                  <a:gd name="T49" fmla="*/ 329 h 981"/>
                  <a:gd name="T50" fmla="*/ 104 w 1031"/>
                  <a:gd name="T51" fmla="*/ 69 h 981"/>
                  <a:gd name="T52" fmla="*/ 108 w 1031"/>
                  <a:gd name="T53" fmla="*/ 51 h 981"/>
                  <a:gd name="T54" fmla="*/ 111 w 1031"/>
                  <a:gd name="T55" fmla="*/ 40 h 981"/>
                  <a:gd name="T56" fmla="*/ 119 w 1031"/>
                  <a:gd name="T57" fmla="*/ 27 h 981"/>
                  <a:gd name="T58" fmla="*/ 130 w 1031"/>
                  <a:gd name="T59" fmla="*/ 19 h 981"/>
                  <a:gd name="T60" fmla="*/ 143 w 1031"/>
                  <a:gd name="T61" fmla="*/ 15 h 9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31"/>
                  <a:gd name="T94" fmla="*/ 0 h 981"/>
                  <a:gd name="T95" fmla="*/ 1031 w 1031"/>
                  <a:gd name="T96" fmla="*/ 981 h 9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31" h="981">
                    <a:moveTo>
                      <a:pt x="143" y="15"/>
                    </a:moveTo>
                    <a:lnTo>
                      <a:pt x="841" y="0"/>
                    </a:lnTo>
                    <a:lnTo>
                      <a:pt x="856" y="1"/>
                    </a:lnTo>
                    <a:lnTo>
                      <a:pt x="869" y="4"/>
                    </a:lnTo>
                    <a:lnTo>
                      <a:pt x="878" y="8"/>
                    </a:lnTo>
                    <a:lnTo>
                      <a:pt x="889" y="15"/>
                    </a:lnTo>
                    <a:lnTo>
                      <a:pt x="897" y="24"/>
                    </a:lnTo>
                    <a:lnTo>
                      <a:pt x="904" y="36"/>
                    </a:lnTo>
                    <a:lnTo>
                      <a:pt x="989" y="419"/>
                    </a:lnTo>
                    <a:lnTo>
                      <a:pt x="1030" y="430"/>
                    </a:lnTo>
                    <a:lnTo>
                      <a:pt x="1030" y="553"/>
                    </a:lnTo>
                    <a:lnTo>
                      <a:pt x="1009" y="565"/>
                    </a:lnTo>
                    <a:lnTo>
                      <a:pt x="1009" y="666"/>
                    </a:lnTo>
                    <a:lnTo>
                      <a:pt x="1027" y="684"/>
                    </a:lnTo>
                    <a:lnTo>
                      <a:pt x="1012" y="723"/>
                    </a:lnTo>
                    <a:lnTo>
                      <a:pt x="1012" y="980"/>
                    </a:lnTo>
                    <a:lnTo>
                      <a:pt x="632" y="980"/>
                    </a:lnTo>
                    <a:lnTo>
                      <a:pt x="632" y="968"/>
                    </a:lnTo>
                    <a:lnTo>
                      <a:pt x="506" y="929"/>
                    </a:lnTo>
                    <a:lnTo>
                      <a:pt x="86" y="929"/>
                    </a:lnTo>
                    <a:lnTo>
                      <a:pt x="32" y="929"/>
                    </a:lnTo>
                    <a:lnTo>
                      <a:pt x="32" y="798"/>
                    </a:lnTo>
                    <a:lnTo>
                      <a:pt x="0" y="792"/>
                    </a:lnTo>
                    <a:lnTo>
                      <a:pt x="0" y="374"/>
                    </a:lnTo>
                    <a:lnTo>
                      <a:pt x="38" y="329"/>
                    </a:lnTo>
                    <a:lnTo>
                      <a:pt x="104" y="69"/>
                    </a:lnTo>
                    <a:lnTo>
                      <a:pt x="108" y="51"/>
                    </a:lnTo>
                    <a:lnTo>
                      <a:pt x="111" y="40"/>
                    </a:lnTo>
                    <a:lnTo>
                      <a:pt x="119" y="27"/>
                    </a:lnTo>
                    <a:lnTo>
                      <a:pt x="130" y="19"/>
                    </a:lnTo>
                    <a:lnTo>
                      <a:pt x="143" y="15"/>
                    </a:lnTo>
                  </a:path>
                </a:pathLst>
              </a:custGeom>
              <a:solidFill>
                <a:srgbClr val="FF0000"/>
              </a:solidFill>
              <a:ln w="12700" cap="rnd" cmpd="sng">
                <a:solidFill>
                  <a:srgbClr val="000000"/>
                </a:solidFill>
                <a:prstDash val="solid"/>
                <a:round/>
                <a:headEnd type="none" w="med" len="med"/>
                <a:tailEnd type="none" w="med" len="med"/>
              </a:ln>
            </p:spPr>
            <p:txBody>
              <a:bodyPr/>
              <a:lstStyle/>
              <a:p>
                <a:endParaRPr lang="fr-FR"/>
              </a:p>
            </p:txBody>
          </p:sp>
          <p:grpSp>
            <p:nvGrpSpPr>
              <p:cNvPr id="29781" name="Group 19"/>
              <p:cNvGrpSpPr>
                <a:grpSpLocks/>
              </p:cNvGrpSpPr>
              <p:nvPr/>
            </p:nvGrpSpPr>
            <p:grpSpPr bwMode="auto">
              <a:xfrm>
                <a:off x="4919" y="2400"/>
                <a:ext cx="130" cy="414"/>
                <a:chOff x="4919" y="2400"/>
                <a:chExt cx="130" cy="414"/>
              </a:xfrm>
            </p:grpSpPr>
            <p:sp>
              <p:nvSpPr>
                <p:cNvPr id="29805" name="Arc 20"/>
                <p:cNvSpPr>
                  <a:spLocks/>
                </p:cNvSpPr>
                <p:nvPr/>
              </p:nvSpPr>
              <p:spPr bwMode="auto">
                <a:xfrm>
                  <a:off x="4919" y="2400"/>
                  <a:ext cx="72" cy="89"/>
                </a:xfrm>
                <a:custGeom>
                  <a:avLst/>
                  <a:gdLst>
                    <a:gd name="T0" fmla="*/ 0 w 27155"/>
                    <a:gd name="T1" fmla="*/ 0 h 43200"/>
                    <a:gd name="T2" fmla="*/ 0 w 27155"/>
                    <a:gd name="T3" fmla="*/ 0 h 43200"/>
                    <a:gd name="T4" fmla="*/ 0 w 27155"/>
                    <a:gd name="T5" fmla="*/ 0 h 43200"/>
                    <a:gd name="T6" fmla="*/ 0 60000 65536"/>
                    <a:gd name="T7" fmla="*/ 0 60000 65536"/>
                    <a:gd name="T8" fmla="*/ 0 60000 65536"/>
                    <a:gd name="T9" fmla="*/ 0 w 27155"/>
                    <a:gd name="T10" fmla="*/ 0 h 43200"/>
                    <a:gd name="T11" fmla="*/ 27155 w 27155"/>
                    <a:gd name="T12" fmla="*/ 43200 h 43200"/>
                  </a:gdLst>
                  <a:ahLst/>
                  <a:cxnLst>
                    <a:cxn ang="T6">
                      <a:pos x="T0" y="T1"/>
                    </a:cxn>
                    <a:cxn ang="T7">
                      <a:pos x="T2" y="T3"/>
                    </a:cxn>
                    <a:cxn ang="T8">
                      <a:pos x="T4" y="T5"/>
                    </a:cxn>
                  </a:cxnLst>
                  <a:rect l="T9" t="T10" r="T11" b="T12"/>
                  <a:pathLst>
                    <a:path w="27155" h="43200" fill="none"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path>
                    <a:path w="27155" h="43200" stroke="0"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lnTo>
                        <a:pt x="5555" y="21600"/>
                      </a:lnTo>
                      <a:lnTo>
                        <a:pt x="-1" y="726"/>
                      </a:lnTo>
                      <a:close/>
                    </a:path>
                  </a:pathLst>
                </a:custGeom>
                <a:solidFill>
                  <a:srgbClr val="FF0000"/>
                </a:solidFill>
                <a:ln w="12700" cap="rnd">
                  <a:solidFill>
                    <a:srgbClr val="000000"/>
                  </a:solidFill>
                  <a:round/>
                  <a:headEnd/>
                  <a:tailEnd/>
                </a:ln>
              </p:spPr>
              <p:txBody>
                <a:bodyPr wrap="none" anchor="ctr"/>
                <a:lstStyle/>
                <a:p>
                  <a:endParaRPr lang="fr-FR"/>
                </a:p>
              </p:txBody>
            </p:sp>
            <p:sp>
              <p:nvSpPr>
                <p:cNvPr id="29806" name="Freeform 21"/>
                <p:cNvSpPr>
                  <a:spLocks/>
                </p:cNvSpPr>
                <p:nvPr/>
              </p:nvSpPr>
              <p:spPr bwMode="auto">
                <a:xfrm>
                  <a:off x="4950" y="2706"/>
                  <a:ext cx="99" cy="108"/>
                </a:xfrm>
                <a:custGeom>
                  <a:avLst/>
                  <a:gdLst>
                    <a:gd name="T0" fmla="*/ 0 w 99"/>
                    <a:gd name="T1" fmla="*/ 0 h 108"/>
                    <a:gd name="T2" fmla="*/ 58 w 99"/>
                    <a:gd name="T3" fmla="*/ 0 h 108"/>
                    <a:gd name="T4" fmla="*/ 74 w 99"/>
                    <a:gd name="T5" fmla="*/ 3 h 108"/>
                    <a:gd name="T6" fmla="*/ 90 w 99"/>
                    <a:gd name="T7" fmla="*/ 17 h 108"/>
                    <a:gd name="T8" fmla="*/ 73 w 99"/>
                    <a:gd name="T9" fmla="*/ 28 h 108"/>
                    <a:gd name="T10" fmla="*/ 73 w 99"/>
                    <a:gd name="T11" fmla="*/ 78 h 108"/>
                    <a:gd name="T12" fmla="*/ 80 w 99"/>
                    <a:gd name="T13" fmla="*/ 99 h 108"/>
                    <a:gd name="T14" fmla="*/ 98 w 99"/>
                    <a:gd name="T15" fmla="*/ 107 h 108"/>
                    <a:gd name="T16" fmla="*/ 0 w 99"/>
                    <a:gd name="T17" fmla="*/ 107 h 108"/>
                    <a:gd name="T18" fmla="*/ 0 w 99"/>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9"/>
                    <a:gd name="T31" fmla="*/ 0 h 108"/>
                    <a:gd name="T32" fmla="*/ 99 w 99"/>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9" h="108">
                      <a:moveTo>
                        <a:pt x="0" y="0"/>
                      </a:moveTo>
                      <a:lnTo>
                        <a:pt x="58" y="0"/>
                      </a:lnTo>
                      <a:lnTo>
                        <a:pt x="74" y="3"/>
                      </a:lnTo>
                      <a:lnTo>
                        <a:pt x="90" y="17"/>
                      </a:lnTo>
                      <a:lnTo>
                        <a:pt x="73" y="28"/>
                      </a:lnTo>
                      <a:lnTo>
                        <a:pt x="73" y="78"/>
                      </a:lnTo>
                      <a:lnTo>
                        <a:pt x="80" y="99"/>
                      </a:lnTo>
                      <a:lnTo>
                        <a:pt x="98" y="107"/>
                      </a:lnTo>
                      <a:lnTo>
                        <a:pt x="0" y="107"/>
                      </a:lnTo>
                      <a:lnTo>
                        <a:pt x="0" y="0"/>
                      </a:lnTo>
                    </a:path>
                  </a:pathLst>
                </a:custGeom>
                <a:solidFill>
                  <a:srgbClr val="808080"/>
                </a:solidFill>
                <a:ln w="12700" cap="rnd" cmpd="sng">
                  <a:solidFill>
                    <a:srgbClr val="000000"/>
                  </a:solidFill>
                  <a:prstDash val="solid"/>
                  <a:round/>
                  <a:headEnd type="none" w="med" len="med"/>
                  <a:tailEnd type="none" w="med" len="med"/>
                </a:ln>
              </p:spPr>
              <p:txBody>
                <a:bodyPr/>
                <a:lstStyle/>
                <a:p>
                  <a:endParaRPr lang="fr-FR"/>
                </a:p>
              </p:txBody>
            </p:sp>
          </p:grpSp>
          <p:grpSp>
            <p:nvGrpSpPr>
              <p:cNvPr id="29782" name="Group 22"/>
              <p:cNvGrpSpPr>
                <a:grpSpLocks/>
              </p:cNvGrpSpPr>
              <p:nvPr/>
            </p:nvGrpSpPr>
            <p:grpSpPr bwMode="auto">
              <a:xfrm>
                <a:off x="4286" y="1917"/>
                <a:ext cx="537" cy="849"/>
                <a:chOff x="4286" y="1917"/>
                <a:chExt cx="537" cy="849"/>
              </a:xfrm>
            </p:grpSpPr>
            <p:sp>
              <p:nvSpPr>
                <p:cNvPr id="29803" name="Freeform 23"/>
                <p:cNvSpPr>
                  <a:spLocks/>
                </p:cNvSpPr>
                <p:nvPr/>
              </p:nvSpPr>
              <p:spPr bwMode="auto">
                <a:xfrm>
                  <a:off x="4286" y="1917"/>
                  <a:ext cx="462" cy="341"/>
                </a:xfrm>
                <a:custGeom>
                  <a:avLst/>
                  <a:gdLst>
                    <a:gd name="T0" fmla="*/ 0 w 462"/>
                    <a:gd name="T1" fmla="*/ 0 h 341"/>
                    <a:gd name="T2" fmla="*/ 461 w 462"/>
                    <a:gd name="T3" fmla="*/ 0 h 341"/>
                    <a:gd name="T4" fmla="*/ 461 w 462"/>
                    <a:gd name="T5" fmla="*/ 340 h 341"/>
                    <a:gd name="T6" fmla="*/ 1 w 462"/>
                    <a:gd name="T7" fmla="*/ 340 h 341"/>
                    <a:gd name="T8" fmla="*/ 0 w 462"/>
                    <a:gd name="T9" fmla="*/ 0 h 341"/>
                    <a:gd name="T10" fmla="*/ 0 60000 65536"/>
                    <a:gd name="T11" fmla="*/ 0 60000 65536"/>
                    <a:gd name="T12" fmla="*/ 0 60000 65536"/>
                    <a:gd name="T13" fmla="*/ 0 60000 65536"/>
                    <a:gd name="T14" fmla="*/ 0 60000 65536"/>
                    <a:gd name="T15" fmla="*/ 0 w 462"/>
                    <a:gd name="T16" fmla="*/ 0 h 341"/>
                    <a:gd name="T17" fmla="*/ 462 w 462"/>
                    <a:gd name="T18" fmla="*/ 341 h 341"/>
                  </a:gdLst>
                  <a:ahLst/>
                  <a:cxnLst>
                    <a:cxn ang="T10">
                      <a:pos x="T0" y="T1"/>
                    </a:cxn>
                    <a:cxn ang="T11">
                      <a:pos x="T2" y="T3"/>
                    </a:cxn>
                    <a:cxn ang="T12">
                      <a:pos x="T4" y="T5"/>
                    </a:cxn>
                    <a:cxn ang="T13">
                      <a:pos x="T6" y="T7"/>
                    </a:cxn>
                    <a:cxn ang="T14">
                      <a:pos x="T8" y="T9"/>
                    </a:cxn>
                  </a:cxnLst>
                  <a:rect l="T15" t="T16" r="T17" b="T18"/>
                  <a:pathLst>
                    <a:path w="462" h="341">
                      <a:moveTo>
                        <a:pt x="0" y="0"/>
                      </a:moveTo>
                      <a:lnTo>
                        <a:pt x="461" y="0"/>
                      </a:lnTo>
                      <a:lnTo>
                        <a:pt x="461" y="340"/>
                      </a:lnTo>
                      <a:lnTo>
                        <a:pt x="1" y="34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29804" name="Freeform 24"/>
                <p:cNvSpPr>
                  <a:spLocks/>
                </p:cNvSpPr>
                <p:nvPr/>
              </p:nvSpPr>
              <p:spPr bwMode="auto">
                <a:xfrm>
                  <a:off x="4287" y="2257"/>
                  <a:ext cx="536" cy="509"/>
                </a:xfrm>
                <a:custGeom>
                  <a:avLst/>
                  <a:gdLst>
                    <a:gd name="T0" fmla="*/ 0 w 536"/>
                    <a:gd name="T1" fmla="*/ 0 h 509"/>
                    <a:gd name="T2" fmla="*/ 535 w 536"/>
                    <a:gd name="T3" fmla="*/ 0 h 509"/>
                    <a:gd name="T4" fmla="*/ 535 w 536"/>
                    <a:gd name="T5" fmla="*/ 508 h 509"/>
                    <a:gd name="T6" fmla="*/ 260 w 536"/>
                    <a:gd name="T7" fmla="*/ 508 h 509"/>
                    <a:gd name="T8" fmla="*/ 257 w 536"/>
                    <a:gd name="T9" fmla="*/ 472 h 509"/>
                    <a:gd name="T10" fmla="*/ 254 w 536"/>
                    <a:gd name="T11" fmla="*/ 430 h 509"/>
                    <a:gd name="T12" fmla="*/ 252 w 536"/>
                    <a:gd name="T13" fmla="*/ 407 h 509"/>
                    <a:gd name="T14" fmla="*/ 244 w 536"/>
                    <a:gd name="T15" fmla="*/ 368 h 509"/>
                    <a:gd name="T16" fmla="*/ 236 w 536"/>
                    <a:gd name="T17" fmla="*/ 332 h 509"/>
                    <a:gd name="T18" fmla="*/ 222 w 536"/>
                    <a:gd name="T19" fmla="*/ 299 h 509"/>
                    <a:gd name="T20" fmla="*/ 206 w 536"/>
                    <a:gd name="T21" fmla="*/ 272 h 509"/>
                    <a:gd name="T22" fmla="*/ 185 w 536"/>
                    <a:gd name="T23" fmla="*/ 243 h 509"/>
                    <a:gd name="T24" fmla="*/ 162 w 536"/>
                    <a:gd name="T25" fmla="*/ 222 h 509"/>
                    <a:gd name="T26" fmla="*/ 134 w 536"/>
                    <a:gd name="T27" fmla="*/ 204 h 509"/>
                    <a:gd name="T28" fmla="*/ 110 w 536"/>
                    <a:gd name="T29" fmla="*/ 193 h 509"/>
                    <a:gd name="T30" fmla="*/ 84 w 536"/>
                    <a:gd name="T31" fmla="*/ 183 h 509"/>
                    <a:gd name="T32" fmla="*/ 51 w 536"/>
                    <a:gd name="T33" fmla="*/ 175 h 509"/>
                    <a:gd name="T34" fmla="*/ 23 w 536"/>
                    <a:gd name="T35" fmla="*/ 171 h 509"/>
                    <a:gd name="T36" fmla="*/ 0 w 536"/>
                    <a:gd name="T37" fmla="*/ 169 h 509"/>
                    <a:gd name="T38" fmla="*/ 0 w 536"/>
                    <a:gd name="T39" fmla="*/ 0 h 5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36"/>
                    <a:gd name="T61" fmla="*/ 0 h 509"/>
                    <a:gd name="T62" fmla="*/ 536 w 536"/>
                    <a:gd name="T63" fmla="*/ 509 h 5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36" h="509">
                      <a:moveTo>
                        <a:pt x="0" y="0"/>
                      </a:moveTo>
                      <a:lnTo>
                        <a:pt x="535" y="0"/>
                      </a:lnTo>
                      <a:lnTo>
                        <a:pt x="535" y="508"/>
                      </a:lnTo>
                      <a:lnTo>
                        <a:pt x="260" y="508"/>
                      </a:lnTo>
                      <a:lnTo>
                        <a:pt x="257" y="472"/>
                      </a:lnTo>
                      <a:lnTo>
                        <a:pt x="254" y="430"/>
                      </a:lnTo>
                      <a:lnTo>
                        <a:pt x="252" y="407"/>
                      </a:lnTo>
                      <a:lnTo>
                        <a:pt x="244" y="368"/>
                      </a:lnTo>
                      <a:lnTo>
                        <a:pt x="236" y="332"/>
                      </a:lnTo>
                      <a:lnTo>
                        <a:pt x="222" y="299"/>
                      </a:lnTo>
                      <a:lnTo>
                        <a:pt x="206" y="272"/>
                      </a:lnTo>
                      <a:lnTo>
                        <a:pt x="185" y="243"/>
                      </a:lnTo>
                      <a:lnTo>
                        <a:pt x="162" y="222"/>
                      </a:lnTo>
                      <a:lnTo>
                        <a:pt x="134" y="204"/>
                      </a:lnTo>
                      <a:lnTo>
                        <a:pt x="110" y="193"/>
                      </a:lnTo>
                      <a:lnTo>
                        <a:pt x="84" y="183"/>
                      </a:lnTo>
                      <a:lnTo>
                        <a:pt x="51" y="175"/>
                      </a:lnTo>
                      <a:lnTo>
                        <a:pt x="23" y="171"/>
                      </a:lnTo>
                      <a:lnTo>
                        <a:pt x="0" y="169"/>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grpSp>
          <p:sp>
            <p:nvSpPr>
              <p:cNvPr id="29783" name="Oval 25"/>
              <p:cNvSpPr>
                <a:spLocks noChangeArrowheads="1"/>
              </p:cNvSpPr>
              <p:nvPr/>
            </p:nvSpPr>
            <p:spPr bwMode="auto">
              <a:xfrm>
                <a:off x="3992" y="2453"/>
                <a:ext cx="488" cy="491"/>
              </a:xfrm>
              <a:prstGeom prst="ellipse">
                <a:avLst/>
              </a:prstGeom>
              <a:solidFill>
                <a:srgbClr val="80808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84" name="Oval 26"/>
              <p:cNvSpPr>
                <a:spLocks noChangeArrowheads="1"/>
              </p:cNvSpPr>
              <p:nvPr/>
            </p:nvSpPr>
            <p:spPr bwMode="auto">
              <a:xfrm>
                <a:off x="4007" y="2524"/>
                <a:ext cx="458" cy="456"/>
              </a:xfrm>
              <a:prstGeom prst="ellipse">
                <a:avLst/>
              </a:prstGeom>
              <a:solidFill>
                <a:srgbClr val="00000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85" name="Oval 27"/>
              <p:cNvSpPr>
                <a:spLocks noChangeArrowheads="1"/>
              </p:cNvSpPr>
              <p:nvPr/>
            </p:nvSpPr>
            <p:spPr bwMode="auto">
              <a:xfrm>
                <a:off x="4143" y="2660"/>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9786" name="Group 28"/>
              <p:cNvGrpSpPr>
                <a:grpSpLocks/>
              </p:cNvGrpSpPr>
              <p:nvPr/>
            </p:nvGrpSpPr>
            <p:grpSpPr bwMode="auto">
              <a:xfrm>
                <a:off x="4058" y="1880"/>
                <a:ext cx="854" cy="349"/>
                <a:chOff x="4058" y="1880"/>
                <a:chExt cx="854" cy="349"/>
              </a:xfrm>
            </p:grpSpPr>
            <p:sp>
              <p:nvSpPr>
                <p:cNvPr id="29799" name="Freeform 29"/>
                <p:cNvSpPr>
                  <a:spLocks/>
                </p:cNvSpPr>
                <p:nvPr/>
              </p:nvSpPr>
              <p:spPr bwMode="auto">
                <a:xfrm>
                  <a:off x="4329" y="1946"/>
                  <a:ext cx="379" cy="276"/>
                </a:xfrm>
                <a:custGeom>
                  <a:avLst/>
                  <a:gdLst>
                    <a:gd name="T0" fmla="*/ 1 w 379"/>
                    <a:gd name="T1" fmla="*/ 42 h 276"/>
                    <a:gd name="T2" fmla="*/ 89 w 379"/>
                    <a:gd name="T3" fmla="*/ 0 h 276"/>
                    <a:gd name="T4" fmla="*/ 378 w 379"/>
                    <a:gd name="T5" fmla="*/ 0 h 276"/>
                    <a:gd name="T6" fmla="*/ 378 w 379"/>
                    <a:gd name="T7" fmla="*/ 275 h 276"/>
                    <a:gd name="T8" fmla="*/ 317 w 379"/>
                    <a:gd name="T9" fmla="*/ 275 h 276"/>
                    <a:gd name="T10" fmla="*/ 286 w 379"/>
                    <a:gd name="T11" fmla="*/ 242 h 276"/>
                    <a:gd name="T12" fmla="*/ 26 w 379"/>
                    <a:gd name="T13" fmla="*/ 242 h 276"/>
                    <a:gd name="T14" fmla="*/ 0 w 379"/>
                    <a:gd name="T15" fmla="*/ 223 h 276"/>
                    <a:gd name="T16" fmla="*/ 1 w 379"/>
                    <a:gd name="T17" fmla="*/ 42 h 2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9"/>
                    <a:gd name="T28" fmla="*/ 0 h 276"/>
                    <a:gd name="T29" fmla="*/ 379 w 379"/>
                    <a:gd name="T30" fmla="*/ 276 h 2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9" h="276">
                      <a:moveTo>
                        <a:pt x="1" y="42"/>
                      </a:moveTo>
                      <a:lnTo>
                        <a:pt x="89" y="0"/>
                      </a:lnTo>
                      <a:lnTo>
                        <a:pt x="378" y="0"/>
                      </a:lnTo>
                      <a:lnTo>
                        <a:pt x="378" y="275"/>
                      </a:lnTo>
                      <a:lnTo>
                        <a:pt x="317" y="275"/>
                      </a:lnTo>
                      <a:lnTo>
                        <a:pt x="286" y="242"/>
                      </a:lnTo>
                      <a:lnTo>
                        <a:pt x="26" y="242"/>
                      </a:lnTo>
                      <a:lnTo>
                        <a:pt x="0" y="223"/>
                      </a:lnTo>
                      <a:lnTo>
                        <a:pt x="1" y="42"/>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800" name="Freeform 30"/>
                <p:cNvSpPr>
                  <a:spLocks/>
                </p:cNvSpPr>
                <p:nvPr/>
              </p:nvSpPr>
              <p:spPr bwMode="auto">
                <a:xfrm>
                  <a:off x="4785" y="1880"/>
                  <a:ext cx="127" cy="349"/>
                </a:xfrm>
                <a:custGeom>
                  <a:avLst/>
                  <a:gdLst>
                    <a:gd name="T0" fmla="*/ 49 w 127"/>
                    <a:gd name="T1" fmla="*/ 0 h 349"/>
                    <a:gd name="T2" fmla="*/ 126 w 127"/>
                    <a:gd name="T3" fmla="*/ 348 h 349"/>
                    <a:gd name="T4" fmla="*/ 33 w 127"/>
                    <a:gd name="T5" fmla="*/ 348 h 349"/>
                    <a:gd name="T6" fmla="*/ 0 w 127"/>
                    <a:gd name="T7" fmla="*/ 342 h 349"/>
                    <a:gd name="T8" fmla="*/ 0 w 127"/>
                    <a:gd name="T9" fmla="*/ 64 h 349"/>
                    <a:gd name="T10" fmla="*/ 2 w 127"/>
                    <a:gd name="T11" fmla="*/ 44 h 349"/>
                    <a:gd name="T12" fmla="*/ 7 w 127"/>
                    <a:gd name="T13" fmla="*/ 31 h 349"/>
                    <a:gd name="T14" fmla="*/ 17 w 127"/>
                    <a:gd name="T15" fmla="*/ 19 h 349"/>
                    <a:gd name="T16" fmla="*/ 30 w 127"/>
                    <a:gd name="T17" fmla="*/ 10 h 349"/>
                    <a:gd name="T18" fmla="*/ 49 w 127"/>
                    <a:gd name="T19" fmla="*/ 0 h 3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
                    <a:gd name="T31" fmla="*/ 0 h 349"/>
                    <a:gd name="T32" fmla="*/ 127 w 127"/>
                    <a:gd name="T33" fmla="*/ 349 h 3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 h="349">
                      <a:moveTo>
                        <a:pt x="49" y="0"/>
                      </a:moveTo>
                      <a:lnTo>
                        <a:pt x="126" y="348"/>
                      </a:lnTo>
                      <a:lnTo>
                        <a:pt x="33" y="348"/>
                      </a:lnTo>
                      <a:lnTo>
                        <a:pt x="0" y="342"/>
                      </a:lnTo>
                      <a:lnTo>
                        <a:pt x="0" y="64"/>
                      </a:lnTo>
                      <a:lnTo>
                        <a:pt x="2" y="44"/>
                      </a:lnTo>
                      <a:lnTo>
                        <a:pt x="7" y="31"/>
                      </a:lnTo>
                      <a:lnTo>
                        <a:pt x="17" y="19"/>
                      </a:lnTo>
                      <a:lnTo>
                        <a:pt x="30" y="10"/>
                      </a:lnTo>
                      <a:lnTo>
                        <a:pt x="49"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801" name="Freeform 31"/>
                <p:cNvSpPr>
                  <a:spLocks/>
                </p:cNvSpPr>
                <p:nvPr/>
              </p:nvSpPr>
              <p:spPr bwMode="auto">
                <a:xfrm>
                  <a:off x="4058" y="1958"/>
                  <a:ext cx="190" cy="199"/>
                </a:xfrm>
                <a:custGeom>
                  <a:avLst/>
                  <a:gdLst>
                    <a:gd name="T0" fmla="*/ 42 w 190"/>
                    <a:gd name="T1" fmla="*/ 0 h 199"/>
                    <a:gd name="T2" fmla="*/ 189 w 190"/>
                    <a:gd name="T3" fmla="*/ 0 h 199"/>
                    <a:gd name="T4" fmla="*/ 189 w 190"/>
                    <a:gd name="T5" fmla="*/ 198 h 199"/>
                    <a:gd name="T6" fmla="*/ 6 w 190"/>
                    <a:gd name="T7" fmla="*/ 198 h 199"/>
                    <a:gd name="T8" fmla="*/ 0 w 190"/>
                    <a:gd name="T9" fmla="*/ 158 h 199"/>
                    <a:gd name="T10" fmla="*/ 42 w 190"/>
                    <a:gd name="T11" fmla="*/ 0 h 199"/>
                    <a:gd name="T12" fmla="*/ 0 60000 65536"/>
                    <a:gd name="T13" fmla="*/ 0 60000 65536"/>
                    <a:gd name="T14" fmla="*/ 0 60000 65536"/>
                    <a:gd name="T15" fmla="*/ 0 60000 65536"/>
                    <a:gd name="T16" fmla="*/ 0 60000 65536"/>
                    <a:gd name="T17" fmla="*/ 0 60000 65536"/>
                    <a:gd name="T18" fmla="*/ 0 w 190"/>
                    <a:gd name="T19" fmla="*/ 0 h 199"/>
                    <a:gd name="T20" fmla="*/ 190 w 190"/>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190" h="199">
                      <a:moveTo>
                        <a:pt x="42" y="0"/>
                      </a:moveTo>
                      <a:lnTo>
                        <a:pt x="189" y="0"/>
                      </a:lnTo>
                      <a:lnTo>
                        <a:pt x="189" y="198"/>
                      </a:lnTo>
                      <a:lnTo>
                        <a:pt x="6" y="198"/>
                      </a:lnTo>
                      <a:lnTo>
                        <a:pt x="0" y="158"/>
                      </a:lnTo>
                      <a:lnTo>
                        <a:pt x="42"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802" name="Line 32"/>
                <p:cNvSpPr>
                  <a:spLocks noChangeShapeType="1"/>
                </p:cNvSpPr>
                <p:nvPr/>
              </p:nvSpPr>
              <p:spPr bwMode="auto">
                <a:xfrm flipV="1">
                  <a:off x="4614" y="1947"/>
                  <a:ext cx="0" cy="24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29787" name="Freeform 33"/>
              <p:cNvSpPr>
                <a:spLocks/>
              </p:cNvSpPr>
              <p:nvPr/>
            </p:nvSpPr>
            <p:spPr bwMode="auto">
              <a:xfrm>
                <a:off x="3939" y="2624"/>
                <a:ext cx="34" cy="136"/>
              </a:xfrm>
              <a:custGeom>
                <a:avLst/>
                <a:gdLst>
                  <a:gd name="T0" fmla="*/ 0 w 34"/>
                  <a:gd name="T1" fmla="*/ 0 h 136"/>
                  <a:gd name="T2" fmla="*/ 33 w 34"/>
                  <a:gd name="T3" fmla="*/ 6 h 136"/>
                  <a:gd name="T4" fmla="*/ 33 w 34"/>
                  <a:gd name="T5" fmla="*/ 135 h 136"/>
                  <a:gd name="T6" fmla="*/ 0 w 34"/>
                  <a:gd name="T7" fmla="*/ 135 h 136"/>
                  <a:gd name="T8" fmla="*/ 0 w 34"/>
                  <a:gd name="T9" fmla="*/ 0 h 136"/>
                  <a:gd name="T10" fmla="*/ 0 60000 65536"/>
                  <a:gd name="T11" fmla="*/ 0 60000 65536"/>
                  <a:gd name="T12" fmla="*/ 0 60000 65536"/>
                  <a:gd name="T13" fmla="*/ 0 60000 65536"/>
                  <a:gd name="T14" fmla="*/ 0 60000 65536"/>
                  <a:gd name="T15" fmla="*/ 0 w 34"/>
                  <a:gd name="T16" fmla="*/ 0 h 136"/>
                  <a:gd name="T17" fmla="*/ 34 w 34"/>
                  <a:gd name="T18" fmla="*/ 136 h 136"/>
                </a:gdLst>
                <a:ahLst/>
                <a:cxnLst>
                  <a:cxn ang="T10">
                    <a:pos x="T0" y="T1"/>
                  </a:cxn>
                  <a:cxn ang="T11">
                    <a:pos x="T2" y="T3"/>
                  </a:cxn>
                  <a:cxn ang="T12">
                    <a:pos x="T4" y="T5"/>
                  </a:cxn>
                  <a:cxn ang="T13">
                    <a:pos x="T6" y="T7"/>
                  </a:cxn>
                  <a:cxn ang="T14">
                    <a:pos x="T8" y="T9"/>
                  </a:cxn>
                </a:cxnLst>
                <a:rect l="T15" t="T16" r="T17" b="T18"/>
                <a:pathLst>
                  <a:path w="34" h="136">
                    <a:moveTo>
                      <a:pt x="0" y="0"/>
                    </a:moveTo>
                    <a:lnTo>
                      <a:pt x="33" y="6"/>
                    </a:lnTo>
                    <a:lnTo>
                      <a:pt x="33" y="135"/>
                    </a:lnTo>
                    <a:lnTo>
                      <a:pt x="0" y="135"/>
                    </a:lnTo>
                    <a:lnTo>
                      <a:pt x="0"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88" name="Freeform 34"/>
              <p:cNvSpPr>
                <a:spLocks/>
              </p:cNvSpPr>
              <p:nvPr/>
            </p:nvSpPr>
            <p:spPr bwMode="auto">
              <a:xfrm>
                <a:off x="4312" y="2202"/>
                <a:ext cx="89" cy="24"/>
              </a:xfrm>
              <a:custGeom>
                <a:avLst/>
                <a:gdLst>
                  <a:gd name="T0" fmla="*/ 0 w 89"/>
                  <a:gd name="T1" fmla="*/ 0 h 24"/>
                  <a:gd name="T2" fmla="*/ 0 w 89"/>
                  <a:gd name="T3" fmla="*/ 23 h 24"/>
                  <a:gd name="T4" fmla="*/ 23 w 89"/>
                  <a:gd name="T5" fmla="*/ 15 h 24"/>
                  <a:gd name="T6" fmla="*/ 88 w 89"/>
                  <a:gd name="T7" fmla="*/ 15 h 24"/>
                  <a:gd name="T8" fmla="*/ 88 w 89"/>
                  <a:gd name="T9" fmla="*/ 7 h 24"/>
                  <a:gd name="T10" fmla="*/ 23 w 89"/>
                  <a:gd name="T11" fmla="*/ 7 h 24"/>
                  <a:gd name="T12" fmla="*/ 16 w 89"/>
                  <a:gd name="T13" fmla="*/ 0 h 24"/>
                  <a:gd name="T14" fmla="*/ 0 w 8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24"/>
                  <a:gd name="T26" fmla="*/ 89 w 8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24">
                    <a:moveTo>
                      <a:pt x="0" y="0"/>
                    </a:moveTo>
                    <a:lnTo>
                      <a:pt x="0" y="23"/>
                    </a:lnTo>
                    <a:lnTo>
                      <a:pt x="23" y="15"/>
                    </a:lnTo>
                    <a:lnTo>
                      <a:pt x="88" y="15"/>
                    </a:lnTo>
                    <a:lnTo>
                      <a:pt x="88" y="7"/>
                    </a:lnTo>
                    <a:lnTo>
                      <a:pt x="23" y="7"/>
                    </a:lnTo>
                    <a:lnTo>
                      <a:pt x="16" y="0"/>
                    </a:lnTo>
                    <a:lnTo>
                      <a:pt x="0" y="0"/>
                    </a:lnTo>
                  </a:path>
                </a:pathLst>
              </a:custGeom>
              <a:solidFill>
                <a:srgbClr val="C0C0C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9789" name="Freeform 35"/>
              <p:cNvSpPr>
                <a:spLocks/>
              </p:cNvSpPr>
              <p:nvPr/>
            </p:nvSpPr>
            <p:spPr bwMode="auto">
              <a:xfrm>
                <a:off x="878" y="1453"/>
                <a:ext cx="3044" cy="1245"/>
              </a:xfrm>
              <a:custGeom>
                <a:avLst/>
                <a:gdLst>
                  <a:gd name="T0" fmla="*/ 0 w 3044"/>
                  <a:gd name="T1" fmla="*/ 0 h 1245"/>
                  <a:gd name="T2" fmla="*/ 0 w 3044"/>
                  <a:gd name="T3" fmla="*/ 1244 h 1245"/>
                  <a:gd name="T4" fmla="*/ 3043 w 3044"/>
                  <a:gd name="T5" fmla="*/ 1244 h 1245"/>
                  <a:gd name="T6" fmla="*/ 3043 w 3044"/>
                  <a:gd name="T7" fmla="*/ 0 h 1245"/>
                  <a:gd name="T8" fmla="*/ 0 w 3044"/>
                  <a:gd name="T9" fmla="*/ 0 h 1245"/>
                  <a:gd name="T10" fmla="*/ 0 60000 65536"/>
                  <a:gd name="T11" fmla="*/ 0 60000 65536"/>
                  <a:gd name="T12" fmla="*/ 0 60000 65536"/>
                  <a:gd name="T13" fmla="*/ 0 60000 65536"/>
                  <a:gd name="T14" fmla="*/ 0 60000 65536"/>
                  <a:gd name="T15" fmla="*/ 0 w 3044"/>
                  <a:gd name="T16" fmla="*/ 0 h 1245"/>
                  <a:gd name="T17" fmla="*/ 3044 w 3044"/>
                  <a:gd name="T18" fmla="*/ 1245 h 1245"/>
                </a:gdLst>
                <a:ahLst/>
                <a:cxnLst>
                  <a:cxn ang="T10">
                    <a:pos x="T0" y="T1"/>
                  </a:cxn>
                  <a:cxn ang="T11">
                    <a:pos x="T2" y="T3"/>
                  </a:cxn>
                  <a:cxn ang="T12">
                    <a:pos x="T4" y="T5"/>
                  </a:cxn>
                  <a:cxn ang="T13">
                    <a:pos x="T6" y="T7"/>
                  </a:cxn>
                  <a:cxn ang="T14">
                    <a:pos x="T8" y="T9"/>
                  </a:cxn>
                </a:cxnLst>
                <a:rect l="T15" t="T16" r="T17" b="T18"/>
                <a:pathLst>
                  <a:path w="3044" h="1245">
                    <a:moveTo>
                      <a:pt x="0" y="0"/>
                    </a:moveTo>
                    <a:lnTo>
                      <a:pt x="0" y="1244"/>
                    </a:lnTo>
                    <a:lnTo>
                      <a:pt x="3043" y="1244"/>
                    </a:lnTo>
                    <a:lnTo>
                      <a:pt x="3043" y="0"/>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sp>
            <p:nvSpPr>
              <p:cNvPr id="29790" name="Freeform 36"/>
              <p:cNvSpPr>
                <a:spLocks/>
              </p:cNvSpPr>
              <p:nvPr/>
            </p:nvSpPr>
            <p:spPr bwMode="auto">
              <a:xfrm>
                <a:off x="804" y="2672"/>
                <a:ext cx="3164" cy="102"/>
              </a:xfrm>
              <a:custGeom>
                <a:avLst/>
                <a:gdLst>
                  <a:gd name="T0" fmla="*/ 0 w 3164"/>
                  <a:gd name="T1" fmla="*/ 0 h 102"/>
                  <a:gd name="T2" fmla="*/ 3163 w 3164"/>
                  <a:gd name="T3" fmla="*/ 0 h 102"/>
                  <a:gd name="T4" fmla="*/ 3163 w 3164"/>
                  <a:gd name="T5" fmla="*/ 101 h 102"/>
                  <a:gd name="T6" fmla="*/ 0 w 3164"/>
                  <a:gd name="T7" fmla="*/ 101 h 102"/>
                  <a:gd name="T8" fmla="*/ 0 w 3164"/>
                  <a:gd name="T9" fmla="*/ 0 h 102"/>
                  <a:gd name="T10" fmla="*/ 0 60000 65536"/>
                  <a:gd name="T11" fmla="*/ 0 60000 65536"/>
                  <a:gd name="T12" fmla="*/ 0 60000 65536"/>
                  <a:gd name="T13" fmla="*/ 0 60000 65536"/>
                  <a:gd name="T14" fmla="*/ 0 60000 65536"/>
                  <a:gd name="T15" fmla="*/ 0 w 3164"/>
                  <a:gd name="T16" fmla="*/ 0 h 102"/>
                  <a:gd name="T17" fmla="*/ 3164 w 3164"/>
                  <a:gd name="T18" fmla="*/ 102 h 102"/>
                </a:gdLst>
                <a:ahLst/>
                <a:cxnLst>
                  <a:cxn ang="T10">
                    <a:pos x="T0" y="T1"/>
                  </a:cxn>
                  <a:cxn ang="T11">
                    <a:pos x="T2" y="T3"/>
                  </a:cxn>
                  <a:cxn ang="T12">
                    <a:pos x="T4" y="T5"/>
                  </a:cxn>
                  <a:cxn ang="T13">
                    <a:pos x="T6" y="T7"/>
                  </a:cxn>
                  <a:cxn ang="T14">
                    <a:pos x="T8" y="T9"/>
                  </a:cxn>
                </a:cxnLst>
                <a:rect l="T15" t="T16" r="T17" b="T18"/>
                <a:pathLst>
                  <a:path w="3164" h="102">
                    <a:moveTo>
                      <a:pt x="0" y="0"/>
                    </a:moveTo>
                    <a:lnTo>
                      <a:pt x="3163" y="0"/>
                    </a:lnTo>
                    <a:lnTo>
                      <a:pt x="3163" y="101"/>
                    </a:lnTo>
                    <a:lnTo>
                      <a:pt x="0" y="101"/>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grpSp>
            <p:nvGrpSpPr>
              <p:cNvPr id="29791" name="Group 37"/>
              <p:cNvGrpSpPr>
                <a:grpSpLocks/>
              </p:cNvGrpSpPr>
              <p:nvPr/>
            </p:nvGrpSpPr>
            <p:grpSpPr bwMode="auto">
              <a:xfrm>
                <a:off x="1859" y="2458"/>
                <a:ext cx="488" cy="529"/>
                <a:chOff x="1859" y="2458"/>
                <a:chExt cx="488" cy="529"/>
              </a:xfrm>
            </p:grpSpPr>
            <p:sp>
              <p:nvSpPr>
                <p:cNvPr id="29795" name="Oval 38"/>
                <p:cNvSpPr>
                  <a:spLocks noChangeArrowheads="1"/>
                </p:cNvSpPr>
                <p:nvPr/>
              </p:nvSpPr>
              <p:spPr bwMode="auto">
                <a:xfrm>
                  <a:off x="1859" y="2458"/>
                  <a:ext cx="488" cy="492"/>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9796" name="Group 39"/>
                <p:cNvGrpSpPr>
                  <a:grpSpLocks/>
                </p:cNvGrpSpPr>
                <p:nvPr/>
              </p:nvGrpSpPr>
              <p:grpSpPr bwMode="auto">
                <a:xfrm>
                  <a:off x="1874" y="2530"/>
                  <a:ext cx="458" cy="457"/>
                  <a:chOff x="1874" y="2530"/>
                  <a:chExt cx="458" cy="457"/>
                </a:xfrm>
              </p:grpSpPr>
              <p:sp>
                <p:nvSpPr>
                  <p:cNvPr id="29797" name="Oval 40"/>
                  <p:cNvSpPr>
                    <a:spLocks noChangeArrowheads="1"/>
                  </p:cNvSpPr>
                  <p:nvPr/>
                </p:nvSpPr>
                <p:spPr bwMode="auto">
                  <a:xfrm>
                    <a:off x="1874" y="2530"/>
                    <a:ext cx="458" cy="457"/>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98" name="Oval 41"/>
                  <p:cNvSpPr>
                    <a:spLocks noChangeArrowheads="1"/>
                  </p:cNvSpPr>
                  <p:nvPr/>
                </p:nvSpPr>
                <p:spPr bwMode="auto">
                  <a:xfrm>
                    <a:off x="2010" y="2666"/>
                    <a:ext cx="184" cy="183"/>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29792" name="Rectangle 42"/>
              <p:cNvSpPr>
                <a:spLocks noChangeArrowheads="1"/>
              </p:cNvSpPr>
              <p:nvPr/>
            </p:nvSpPr>
            <p:spPr bwMode="auto">
              <a:xfrm>
                <a:off x="1088" y="2011"/>
                <a:ext cx="2614" cy="101"/>
              </a:xfrm>
              <a:prstGeom prst="rect">
                <a:avLst/>
              </a:prstGeom>
              <a:solidFill>
                <a:schemeClr val="bg2"/>
              </a:solidFill>
              <a:ln w="12700">
                <a:solidFill>
                  <a:srgbClr val="000000"/>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93" name="Line 43"/>
              <p:cNvSpPr>
                <a:spLocks noChangeShapeType="1"/>
              </p:cNvSpPr>
              <p:nvPr/>
            </p:nvSpPr>
            <p:spPr bwMode="auto">
              <a:xfrm>
                <a:off x="882" y="2180"/>
                <a:ext cx="300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9794" name="Oval 44"/>
              <p:cNvSpPr>
                <a:spLocks noChangeArrowheads="1"/>
              </p:cNvSpPr>
              <p:nvPr/>
            </p:nvSpPr>
            <p:spPr bwMode="auto">
              <a:xfrm>
                <a:off x="2007" y="2648"/>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9779" name="Line 111"/>
            <p:cNvSpPr>
              <a:spLocks noChangeShapeType="1"/>
            </p:cNvSpPr>
            <p:nvPr/>
          </p:nvSpPr>
          <p:spPr bwMode="auto">
            <a:xfrm>
              <a:off x="4803" y="2183"/>
              <a:ext cx="19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9" name="Group 130"/>
          <p:cNvGrpSpPr>
            <a:grpSpLocks/>
          </p:cNvGrpSpPr>
          <p:nvPr/>
        </p:nvGrpSpPr>
        <p:grpSpPr bwMode="auto">
          <a:xfrm>
            <a:off x="82550" y="1743075"/>
            <a:ext cx="2292350" cy="2809875"/>
            <a:chOff x="52" y="1098"/>
            <a:chExt cx="1444" cy="1770"/>
          </a:xfrm>
        </p:grpSpPr>
        <p:sp>
          <p:nvSpPr>
            <p:cNvPr id="29737" name="Rectangle 113"/>
            <p:cNvSpPr>
              <a:spLocks noChangeArrowheads="1"/>
            </p:cNvSpPr>
            <p:nvPr/>
          </p:nvSpPr>
          <p:spPr bwMode="auto">
            <a:xfrm rot="-5400000">
              <a:off x="1047" y="1555"/>
              <a:ext cx="189" cy="245"/>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8" name="Rectangle 6"/>
            <p:cNvSpPr>
              <a:spLocks noChangeArrowheads="1"/>
            </p:cNvSpPr>
            <p:nvPr/>
          </p:nvSpPr>
          <p:spPr bwMode="auto">
            <a:xfrm rot="-5400000">
              <a:off x="1004" y="1598"/>
              <a:ext cx="189" cy="245"/>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9" name="Rectangle 54"/>
            <p:cNvSpPr>
              <a:spLocks noChangeArrowheads="1"/>
            </p:cNvSpPr>
            <p:nvPr/>
          </p:nvSpPr>
          <p:spPr bwMode="auto">
            <a:xfrm rot="-5400000">
              <a:off x="1058" y="1994"/>
              <a:ext cx="132" cy="342"/>
            </a:xfrm>
            <a:prstGeom prst="rect">
              <a:avLst/>
            </a:prstGeom>
            <a:solidFill>
              <a:srgbClr val="FF0000"/>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40" name="Oval 55"/>
            <p:cNvSpPr>
              <a:spLocks noChangeArrowheads="1"/>
            </p:cNvSpPr>
            <p:nvPr/>
          </p:nvSpPr>
          <p:spPr bwMode="auto">
            <a:xfrm rot="-5400000">
              <a:off x="1009" y="2572"/>
              <a:ext cx="213" cy="196"/>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41" name="Text Box 58"/>
            <p:cNvSpPr txBox="1">
              <a:spLocks noChangeArrowheads="1"/>
            </p:cNvSpPr>
            <p:nvPr/>
          </p:nvSpPr>
          <p:spPr bwMode="auto">
            <a:xfrm>
              <a:off x="428" y="2094"/>
              <a:ext cx="48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500">
                  <a:solidFill>
                    <a:schemeClr val="tx2"/>
                  </a:solidFill>
                </a:rPr>
                <a:t>carters</a:t>
              </a:r>
            </a:p>
          </p:txBody>
        </p:sp>
        <p:sp>
          <p:nvSpPr>
            <p:cNvPr id="29742" name="Text Box 59"/>
            <p:cNvSpPr txBox="1">
              <a:spLocks noChangeArrowheads="1"/>
            </p:cNvSpPr>
            <p:nvPr/>
          </p:nvSpPr>
          <p:spPr bwMode="auto">
            <a:xfrm>
              <a:off x="214" y="1607"/>
              <a:ext cx="75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500">
                  <a:solidFill>
                    <a:schemeClr val="tx2"/>
                  </a:solidFill>
                </a:rPr>
                <a:t>engrenages</a:t>
              </a:r>
            </a:p>
          </p:txBody>
        </p:sp>
        <p:sp>
          <p:nvSpPr>
            <p:cNvPr id="29743" name="Text Box 60"/>
            <p:cNvSpPr txBox="1">
              <a:spLocks noChangeArrowheads="1"/>
            </p:cNvSpPr>
            <p:nvPr/>
          </p:nvSpPr>
          <p:spPr bwMode="auto">
            <a:xfrm>
              <a:off x="312" y="2612"/>
              <a:ext cx="67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nSpc>
                  <a:spcPct val="90000"/>
                </a:lnSpc>
                <a:spcBef>
                  <a:spcPct val="0"/>
                </a:spcBef>
                <a:buFontTx/>
                <a:buNone/>
              </a:pPr>
              <a:r>
                <a:rPr kumimoji="1" lang="fr-FR" altLang="fr-FR" sz="1500">
                  <a:solidFill>
                    <a:schemeClr val="tx2"/>
                  </a:solidFill>
                </a:rPr>
                <a:t>couronnes</a:t>
              </a:r>
            </a:p>
          </p:txBody>
        </p:sp>
        <p:grpSp>
          <p:nvGrpSpPr>
            <p:cNvPr id="29744" name="Group 68"/>
            <p:cNvGrpSpPr>
              <a:grpSpLocks/>
            </p:cNvGrpSpPr>
            <p:nvPr/>
          </p:nvGrpSpPr>
          <p:grpSpPr bwMode="auto">
            <a:xfrm>
              <a:off x="52" y="1098"/>
              <a:ext cx="636" cy="265"/>
              <a:chOff x="804" y="1453"/>
              <a:chExt cx="4245" cy="1534"/>
            </a:xfrm>
          </p:grpSpPr>
          <p:sp>
            <p:nvSpPr>
              <p:cNvPr id="29751" name="Freeform 69"/>
              <p:cNvSpPr>
                <a:spLocks/>
              </p:cNvSpPr>
              <p:nvPr/>
            </p:nvSpPr>
            <p:spPr bwMode="auto">
              <a:xfrm>
                <a:off x="3940" y="1832"/>
                <a:ext cx="1031" cy="981"/>
              </a:xfrm>
              <a:custGeom>
                <a:avLst/>
                <a:gdLst>
                  <a:gd name="T0" fmla="*/ 143 w 1031"/>
                  <a:gd name="T1" fmla="*/ 15 h 981"/>
                  <a:gd name="T2" fmla="*/ 841 w 1031"/>
                  <a:gd name="T3" fmla="*/ 0 h 981"/>
                  <a:gd name="T4" fmla="*/ 856 w 1031"/>
                  <a:gd name="T5" fmla="*/ 1 h 981"/>
                  <a:gd name="T6" fmla="*/ 869 w 1031"/>
                  <a:gd name="T7" fmla="*/ 4 h 981"/>
                  <a:gd name="T8" fmla="*/ 878 w 1031"/>
                  <a:gd name="T9" fmla="*/ 8 h 981"/>
                  <a:gd name="T10" fmla="*/ 889 w 1031"/>
                  <a:gd name="T11" fmla="*/ 15 h 981"/>
                  <a:gd name="T12" fmla="*/ 897 w 1031"/>
                  <a:gd name="T13" fmla="*/ 24 h 981"/>
                  <a:gd name="T14" fmla="*/ 904 w 1031"/>
                  <a:gd name="T15" fmla="*/ 36 h 981"/>
                  <a:gd name="T16" fmla="*/ 989 w 1031"/>
                  <a:gd name="T17" fmla="*/ 419 h 981"/>
                  <a:gd name="T18" fmla="*/ 1030 w 1031"/>
                  <a:gd name="T19" fmla="*/ 430 h 981"/>
                  <a:gd name="T20" fmla="*/ 1030 w 1031"/>
                  <a:gd name="T21" fmla="*/ 553 h 981"/>
                  <a:gd name="T22" fmla="*/ 1009 w 1031"/>
                  <a:gd name="T23" fmla="*/ 565 h 981"/>
                  <a:gd name="T24" fmla="*/ 1009 w 1031"/>
                  <a:gd name="T25" fmla="*/ 666 h 981"/>
                  <a:gd name="T26" fmla="*/ 1027 w 1031"/>
                  <a:gd name="T27" fmla="*/ 684 h 981"/>
                  <a:gd name="T28" fmla="*/ 1012 w 1031"/>
                  <a:gd name="T29" fmla="*/ 723 h 981"/>
                  <a:gd name="T30" fmla="*/ 1012 w 1031"/>
                  <a:gd name="T31" fmla="*/ 980 h 981"/>
                  <a:gd name="T32" fmla="*/ 632 w 1031"/>
                  <a:gd name="T33" fmla="*/ 980 h 981"/>
                  <a:gd name="T34" fmla="*/ 632 w 1031"/>
                  <a:gd name="T35" fmla="*/ 968 h 981"/>
                  <a:gd name="T36" fmla="*/ 506 w 1031"/>
                  <a:gd name="T37" fmla="*/ 929 h 981"/>
                  <a:gd name="T38" fmla="*/ 86 w 1031"/>
                  <a:gd name="T39" fmla="*/ 929 h 981"/>
                  <a:gd name="T40" fmla="*/ 32 w 1031"/>
                  <a:gd name="T41" fmla="*/ 929 h 981"/>
                  <a:gd name="T42" fmla="*/ 32 w 1031"/>
                  <a:gd name="T43" fmla="*/ 798 h 981"/>
                  <a:gd name="T44" fmla="*/ 0 w 1031"/>
                  <a:gd name="T45" fmla="*/ 792 h 981"/>
                  <a:gd name="T46" fmla="*/ 0 w 1031"/>
                  <a:gd name="T47" fmla="*/ 374 h 981"/>
                  <a:gd name="T48" fmla="*/ 38 w 1031"/>
                  <a:gd name="T49" fmla="*/ 329 h 981"/>
                  <a:gd name="T50" fmla="*/ 104 w 1031"/>
                  <a:gd name="T51" fmla="*/ 69 h 981"/>
                  <a:gd name="T52" fmla="*/ 108 w 1031"/>
                  <a:gd name="T53" fmla="*/ 51 h 981"/>
                  <a:gd name="T54" fmla="*/ 111 w 1031"/>
                  <a:gd name="T55" fmla="*/ 40 h 981"/>
                  <a:gd name="T56" fmla="*/ 119 w 1031"/>
                  <a:gd name="T57" fmla="*/ 27 h 981"/>
                  <a:gd name="T58" fmla="*/ 130 w 1031"/>
                  <a:gd name="T59" fmla="*/ 19 h 981"/>
                  <a:gd name="T60" fmla="*/ 143 w 1031"/>
                  <a:gd name="T61" fmla="*/ 15 h 9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31"/>
                  <a:gd name="T94" fmla="*/ 0 h 981"/>
                  <a:gd name="T95" fmla="*/ 1031 w 1031"/>
                  <a:gd name="T96" fmla="*/ 981 h 9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31" h="981">
                    <a:moveTo>
                      <a:pt x="143" y="15"/>
                    </a:moveTo>
                    <a:lnTo>
                      <a:pt x="841" y="0"/>
                    </a:lnTo>
                    <a:lnTo>
                      <a:pt x="856" y="1"/>
                    </a:lnTo>
                    <a:lnTo>
                      <a:pt x="869" y="4"/>
                    </a:lnTo>
                    <a:lnTo>
                      <a:pt x="878" y="8"/>
                    </a:lnTo>
                    <a:lnTo>
                      <a:pt x="889" y="15"/>
                    </a:lnTo>
                    <a:lnTo>
                      <a:pt x="897" y="24"/>
                    </a:lnTo>
                    <a:lnTo>
                      <a:pt x="904" y="36"/>
                    </a:lnTo>
                    <a:lnTo>
                      <a:pt x="989" y="419"/>
                    </a:lnTo>
                    <a:lnTo>
                      <a:pt x="1030" y="430"/>
                    </a:lnTo>
                    <a:lnTo>
                      <a:pt x="1030" y="553"/>
                    </a:lnTo>
                    <a:lnTo>
                      <a:pt x="1009" y="565"/>
                    </a:lnTo>
                    <a:lnTo>
                      <a:pt x="1009" y="666"/>
                    </a:lnTo>
                    <a:lnTo>
                      <a:pt x="1027" y="684"/>
                    </a:lnTo>
                    <a:lnTo>
                      <a:pt x="1012" y="723"/>
                    </a:lnTo>
                    <a:lnTo>
                      <a:pt x="1012" y="980"/>
                    </a:lnTo>
                    <a:lnTo>
                      <a:pt x="632" y="980"/>
                    </a:lnTo>
                    <a:lnTo>
                      <a:pt x="632" y="968"/>
                    </a:lnTo>
                    <a:lnTo>
                      <a:pt x="506" y="929"/>
                    </a:lnTo>
                    <a:lnTo>
                      <a:pt x="86" y="929"/>
                    </a:lnTo>
                    <a:lnTo>
                      <a:pt x="32" y="929"/>
                    </a:lnTo>
                    <a:lnTo>
                      <a:pt x="32" y="798"/>
                    </a:lnTo>
                    <a:lnTo>
                      <a:pt x="0" y="792"/>
                    </a:lnTo>
                    <a:lnTo>
                      <a:pt x="0" y="374"/>
                    </a:lnTo>
                    <a:lnTo>
                      <a:pt x="38" y="329"/>
                    </a:lnTo>
                    <a:lnTo>
                      <a:pt x="104" y="69"/>
                    </a:lnTo>
                    <a:lnTo>
                      <a:pt x="108" y="51"/>
                    </a:lnTo>
                    <a:lnTo>
                      <a:pt x="111" y="40"/>
                    </a:lnTo>
                    <a:lnTo>
                      <a:pt x="119" y="27"/>
                    </a:lnTo>
                    <a:lnTo>
                      <a:pt x="130" y="19"/>
                    </a:lnTo>
                    <a:lnTo>
                      <a:pt x="143" y="15"/>
                    </a:lnTo>
                  </a:path>
                </a:pathLst>
              </a:custGeom>
              <a:solidFill>
                <a:srgbClr val="FF0000"/>
              </a:solidFill>
              <a:ln w="12700" cap="rnd" cmpd="sng">
                <a:solidFill>
                  <a:srgbClr val="000000"/>
                </a:solidFill>
                <a:prstDash val="solid"/>
                <a:round/>
                <a:headEnd type="none" w="med" len="med"/>
                <a:tailEnd type="none" w="med" len="med"/>
              </a:ln>
            </p:spPr>
            <p:txBody>
              <a:bodyPr/>
              <a:lstStyle/>
              <a:p>
                <a:endParaRPr lang="fr-FR"/>
              </a:p>
            </p:txBody>
          </p:sp>
          <p:grpSp>
            <p:nvGrpSpPr>
              <p:cNvPr id="29752" name="Group 70"/>
              <p:cNvGrpSpPr>
                <a:grpSpLocks/>
              </p:cNvGrpSpPr>
              <p:nvPr/>
            </p:nvGrpSpPr>
            <p:grpSpPr bwMode="auto">
              <a:xfrm>
                <a:off x="4919" y="2400"/>
                <a:ext cx="130" cy="414"/>
                <a:chOff x="4919" y="2400"/>
                <a:chExt cx="130" cy="414"/>
              </a:xfrm>
            </p:grpSpPr>
            <p:sp>
              <p:nvSpPr>
                <p:cNvPr id="29776" name="Arc 71"/>
                <p:cNvSpPr>
                  <a:spLocks/>
                </p:cNvSpPr>
                <p:nvPr/>
              </p:nvSpPr>
              <p:spPr bwMode="auto">
                <a:xfrm>
                  <a:off x="4919" y="2400"/>
                  <a:ext cx="72" cy="89"/>
                </a:xfrm>
                <a:custGeom>
                  <a:avLst/>
                  <a:gdLst>
                    <a:gd name="T0" fmla="*/ 0 w 27155"/>
                    <a:gd name="T1" fmla="*/ 0 h 43200"/>
                    <a:gd name="T2" fmla="*/ 0 w 27155"/>
                    <a:gd name="T3" fmla="*/ 0 h 43200"/>
                    <a:gd name="T4" fmla="*/ 0 w 27155"/>
                    <a:gd name="T5" fmla="*/ 0 h 43200"/>
                    <a:gd name="T6" fmla="*/ 0 60000 65536"/>
                    <a:gd name="T7" fmla="*/ 0 60000 65536"/>
                    <a:gd name="T8" fmla="*/ 0 60000 65536"/>
                    <a:gd name="T9" fmla="*/ 0 w 27155"/>
                    <a:gd name="T10" fmla="*/ 0 h 43200"/>
                    <a:gd name="T11" fmla="*/ 27155 w 27155"/>
                    <a:gd name="T12" fmla="*/ 43200 h 43200"/>
                  </a:gdLst>
                  <a:ahLst/>
                  <a:cxnLst>
                    <a:cxn ang="T6">
                      <a:pos x="T0" y="T1"/>
                    </a:cxn>
                    <a:cxn ang="T7">
                      <a:pos x="T2" y="T3"/>
                    </a:cxn>
                    <a:cxn ang="T8">
                      <a:pos x="T4" y="T5"/>
                    </a:cxn>
                  </a:cxnLst>
                  <a:rect l="T9" t="T10" r="T11" b="T12"/>
                  <a:pathLst>
                    <a:path w="27155" h="43200" fill="none"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path>
                    <a:path w="27155" h="43200" stroke="0"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lnTo>
                        <a:pt x="5555" y="21600"/>
                      </a:lnTo>
                      <a:lnTo>
                        <a:pt x="-1" y="726"/>
                      </a:lnTo>
                      <a:close/>
                    </a:path>
                  </a:pathLst>
                </a:custGeom>
                <a:solidFill>
                  <a:srgbClr val="FF0000"/>
                </a:solidFill>
                <a:ln w="12700" cap="rnd">
                  <a:solidFill>
                    <a:srgbClr val="000000"/>
                  </a:solidFill>
                  <a:round/>
                  <a:headEnd/>
                  <a:tailEnd/>
                </a:ln>
              </p:spPr>
              <p:txBody>
                <a:bodyPr wrap="none" anchor="ctr"/>
                <a:lstStyle/>
                <a:p>
                  <a:endParaRPr lang="fr-FR"/>
                </a:p>
              </p:txBody>
            </p:sp>
            <p:sp>
              <p:nvSpPr>
                <p:cNvPr id="29777" name="Freeform 72"/>
                <p:cNvSpPr>
                  <a:spLocks/>
                </p:cNvSpPr>
                <p:nvPr/>
              </p:nvSpPr>
              <p:spPr bwMode="auto">
                <a:xfrm>
                  <a:off x="4950" y="2706"/>
                  <a:ext cx="99" cy="108"/>
                </a:xfrm>
                <a:custGeom>
                  <a:avLst/>
                  <a:gdLst>
                    <a:gd name="T0" fmla="*/ 0 w 99"/>
                    <a:gd name="T1" fmla="*/ 0 h 108"/>
                    <a:gd name="T2" fmla="*/ 58 w 99"/>
                    <a:gd name="T3" fmla="*/ 0 h 108"/>
                    <a:gd name="T4" fmla="*/ 74 w 99"/>
                    <a:gd name="T5" fmla="*/ 3 h 108"/>
                    <a:gd name="T6" fmla="*/ 90 w 99"/>
                    <a:gd name="T7" fmla="*/ 17 h 108"/>
                    <a:gd name="T8" fmla="*/ 73 w 99"/>
                    <a:gd name="T9" fmla="*/ 28 h 108"/>
                    <a:gd name="T10" fmla="*/ 73 w 99"/>
                    <a:gd name="T11" fmla="*/ 78 h 108"/>
                    <a:gd name="T12" fmla="*/ 80 w 99"/>
                    <a:gd name="T13" fmla="*/ 99 h 108"/>
                    <a:gd name="T14" fmla="*/ 98 w 99"/>
                    <a:gd name="T15" fmla="*/ 107 h 108"/>
                    <a:gd name="T16" fmla="*/ 0 w 99"/>
                    <a:gd name="T17" fmla="*/ 107 h 108"/>
                    <a:gd name="T18" fmla="*/ 0 w 99"/>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9"/>
                    <a:gd name="T31" fmla="*/ 0 h 108"/>
                    <a:gd name="T32" fmla="*/ 99 w 99"/>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9" h="108">
                      <a:moveTo>
                        <a:pt x="0" y="0"/>
                      </a:moveTo>
                      <a:lnTo>
                        <a:pt x="58" y="0"/>
                      </a:lnTo>
                      <a:lnTo>
                        <a:pt x="74" y="3"/>
                      </a:lnTo>
                      <a:lnTo>
                        <a:pt x="90" y="17"/>
                      </a:lnTo>
                      <a:lnTo>
                        <a:pt x="73" y="28"/>
                      </a:lnTo>
                      <a:lnTo>
                        <a:pt x="73" y="78"/>
                      </a:lnTo>
                      <a:lnTo>
                        <a:pt x="80" y="99"/>
                      </a:lnTo>
                      <a:lnTo>
                        <a:pt x="98" y="107"/>
                      </a:lnTo>
                      <a:lnTo>
                        <a:pt x="0" y="107"/>
                      </a:lnTo>
                      <a:lnTo>
                        <a:pt x="0" y="0"/>
                      </a:lnTo>
                    </a:path>
                  </a:pathLst>
                </a:custGeom>
                <a:solidFill>
                  <a:srgbClr val="808080"/>
                </a:solidFill>
                <a:ln w="12700" cap="rnd" cmpd="sng">
                  <a:solidFill>
                    <a:srgbClr val="000000"/>
                  </a:solidFill>
                  <a:prstDash val="solid"/>
                  <a:round/>
                  <a:headEnd type="none" w="med" len="med"/>
                  <a:tailEnd type="none" w="med" len="med"/>
                </a:ln>
              </p:spPr>
              <p:txBody>
                <a:bodyPr/>
                <a:lstStyle/>
                <a:p>
                  <a:endParaRPr lang="fr-FR"/>
                </a:p>
              </p:txBody>
            </p:sp>
          </p:grpSp>
          <p:grpSp>
            <p:nvGrpSpPr>
              <p:cNvPr id="29753" name="Group 73"/>
              <p:cNvGrpSpPr>
                <a:grpSpLocks/>
              </p:cNvGrpSpPr>
              <p:nvPr/>
            </p:nvGrpSpPr>
            <p:grpSpPr bwMode="auto">
              <a:xfrm>
                <a:off x="4286" y="1917"/>
                <a:ext cx="537" cy="849"/>
                <a:chOff x="4286" y="1917"/>
                <a:chExt cx="537" cy="849"/>
              </a:xfrm>
            </p:grpSpPr>
            <p:sp>
              <p:nvSpPr>
                <p:cNvPr id="29774" name="Freeform 74"/>
                <p:cNvSpPr>
                  <a:spLocks/>
                </p:cNvSpPr>
                <p:nvPr/>
              </p:nvSpPr>
              <p:spPr bwMode="auto">
                <a:xfrm>
                  <a:off x="4286" y="1917"/>
                  <a:ext cx="462" cy="341"/>
                </a:xfrm>
                <a:custGeom>
                  <a:avLst/>
                  <a:gdLst>
                    <a:gd name="T0" fmla="*/ 0 w 462"/>
                    <a:gd name="T1" fmla="*/ 0 h 341"/>
                    <a:gd name="T2" fmla="*/ 461 w 462"/>
                    <a:gd name="T3" fmla="*/ 0 h 341"/>
                    <a:gd name="T4" fmla="*/ 461 w 462"/>
                    <a:gd name="T5" fmla="*/ 340 h 341"/>
                    <a:gd name="T6" fmla="*/ 1 w 462"/>
                    <a:gd name="T7" fmla="*/ 340 h 341"/>
                    <a:gd name="T8" fmla="*/ 0 w 462"/>
                    <a:gd name="T9" fmla="*/ 0 h 341"/>
                    <a:gd name="T10" fmla="*/ 0 60000 65536"/>
                    <a:gd name="T11" fmla="*/ 0 60000 65536"/>
                    <a:gd name="T12" fmla="*/ 0 60000 65536"/>
                    <a:gd name="T13" fmla="*/ 0 60000 65536"/>
                    <a:gd name="T14" fmla="*/ 0 60000 65536"/>
                    <a:gd name="T15" fmla="*/ 0 w 462"/>
                    <a:gd name="T16" fmla="*/ 0 h 341"/>
                    <a:gd name="T17" fmla="*/ 462 w 462"/>
                    <a:gd name="T18" fmla="*/ 341 h 341"/>
                  </a:gdLst>
                  <a:ahLst/>
                  <a:cxnLst>
                    <a:cxn ang="T10">
                      <a:pos x="T0" y="T1"/>
                    </a:cxn>
                    <a:cxn ang="T11">
                      <a:pos x="T2" y="T3"/>
                    </a:cxn>
                    <a:cxn ang="T12">
                      <a:pos x="T4" y="T5"/>
                    </a:cxn>
                    <a:cxn ang="T13">
                      <a:pos x="T6" y="T7"/>
                    </a:cxn>
                    <a:cxn ang="T14">
                      <a:pos x="T8" y="T9"/>
                    </a:cxn>
                  </a:cxnLst>
                  <a:rect l="T15" t="T16" r="T17" b="T18"/>
                  <a:pathLst>
                    <a:path w="462" h="341">
                      <a:moveTo>
                        <a:pt x="0" y="0"/>
                      </a:moveTo>
                      <a:lnTo>
                        <a:pt x="461" y="0"/>
                      </a:lnTo>
                      <a:lnTo>
                        <a:pt x="461" y="340"/>
                      </a:lnTo>
                      <a:lnTo>
                        <a:pt x="1" y="34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29775" name="Freeform 75"/>
                <p:cNvSpPr>
                  <a:spLocks/>
                </p:cNvSpPr>
                <p:nvPr/>
              </p:nvSpPr>
              <p:spPr bwMode="auto">
                <a:xfrm>
                  <a:off x="4287" y="2257"/>
                  <a:ext cx="536" cy="509"/>
                </a:xfrm>
                <a:custGeom>
                  <a:avLst/>
                  <a:gdLst>
                    <a:gd name="T0" fmla="*/ 0 w 536"/>
                    <a:gd name="T1" fmla="*/ 0 h 509"/>
                    <a:gd name="T2" fmla="*/ 535 w 536"/>
                    <a:gd name="T3" fmla="*/ 0 h 509"/>
                    <a:gd name="T4" fmla="*/ 535 w 536"/>
                    <a:gd name="T5" fmla="*/ 508 h 509"/>
                    <a:gd name="T6" fmla="*/ 260 w 536"/>
                    <a:gd name="T7" fmla="*/ 508 h 509"/>
                    <a:gd name="T8" fmla="*/ 257 w 536"/>
                    <a:gd name="T9" fmla="*/ 472 h 509"/>
                    <a:gd name="T10" fmla="*/ 254 w 536"/>
                    <a:gd name="T11" fmla="*/ 430 h 509"/>
                    <a:gd name="T12" fmla="*/ 252 w 536"/>
                    <a:gd name="T13" fmla="*/ 407 h 509"/>
                    <a:gd name="T14" fmla="*/ 244 w 536"/>
                    <a:gd name="T15" fmla="*/ 368 h 509"/>
                    <a:gd name="T16" fmla="*/ 236 w 536"/>
                    <a:gd name="T17" fmla="*/ 332 h 509"/>
                    <a:gd name="T18" fmla="*/ 222 w 536"/>
                    <a:gd name="T19" fmla="*/ 299 h 509"/>
                    <a:gd name="T20" fmla="*/ 206 w 536"/>
                    <a:gd name="T21" fmla="*/ 272 h 509"/>
                    <a:gd name="T22" fmla="*/ 185 w 536"/>
                    <a:gd name="T23" fmla="*/ 243 h 509"/>
                    <a:gd name="T24" fmla="*/ 162 w 536"/>
                    <a:gd name="T25" fmla="*/ 222 h 509"/>
                    <a:gd name="T26" fmla="*/ 134 w 536"/>
                    <a:gd name="T27" fmla="*/ 204 h 509"/>
                    <a:gd name="T28" fmla="*/ 110 w 536"/>
                    <a:gd name="T29" fmla="*/ 193 h 509"/>
                    <a:gd name="T30" fmla="*/ 84 w 536"/>
                    <a:gd name="T31" fmla="*/ 183 h 509"/>
                    <a:gd name="T32" fmla="*/ 51 w 536"/>
                    <a:gd name="T33" fmla="*/ 175 h 509"/>
                    <a:gd name="T34" fmla="*/ 23 w 536"/>
                    <a:gd name="T35" fmla="*/ 171 h 509"/>
                    <a:gd name="T36" fmla="*/ 0 w 536"/>
                    <a:gd name="T37" fmla="*/ 169 h 509"/>
                    <a:gd name="T38" fmla="*/ 0 w 536"/>
                    <a:gd name="T39" fmla="*/ 0 h 5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36"/>
                    <a:gd name="T61" fmla="*/ 0 h 509"/>
                    <a:gd name="T62" fmla="*/ 536 w 536"/>
                    <a:gd name="T63" fmla="*/ 509 h 5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36" h="509">
                      <a:moveTo>
                        <a:pt x="0" y="0"/>
                      </a:moveTo>
                      <a:lnTo>
                        <a:pt x="535" y="0"/>
                      </a:lnTo>
                      <a:lnTo>
                        <a:pt x="535" y="508"/>
                      </a:lnTo>
                      <a:lnTo>
                        <a:pt x="260" y="508"/>
                      </a:lnTo>
                      <a:lnTo>
                        <a:pt x="257" y="472"/>
                      </a:lnTo>
                      <a:lnTo>
                        <a:pt x="254" y="430"/>
                      </a:lnTo>
                      <a:lnTo>
                        <a:pt x="252" y="407"/>
                      </a:lnTo>
                      <a:lnTo>
                        <a:pt x="244" y="368"/>
                      </a:lnTo>
                      <a:lnTo>
                        <a:pt x="236" y="332"/>
                      </a:lnTo>
                      <a:lnTo>
                        <a:pt x="222" y="299"/>
                      </a:lnTo>
                      <a:lnTo>
                        <a:pt x="206" y="272"/>
                      </a:lnTo>
                      <a:lnTo>
                        <a:pt x="185" y="243"/>
                      </a:lnTo>
                      <a:lnTo>
                        <a:pt x="162" y="222"/>
                      </a:lnTo>
                      <a:lnTo>
                        <a:pt x="134" y="204"/>
                      </a:lnTo>
                      <a:lnTo>
                        <a:pt x="110" y="193"/>
                      </a:lnTo>
                      <a:lnTo>
                        <a:pt x="84" y="183"/>
                      </a:lnTo>
                      <a:lnTo>
                        <a:pt x="51" y="175"/>
                      </a:lnTo>
                      <a:lnTo>
                        <a:pt x="23" y="171"/>
                      </a:lnTo>
                      <a:lnTo>
                        <a:pt x="0" y="169"/>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grpSp>
          <p:sp>
            <p:nvSpPr>
              <p:cNvPr id="29754" name="Oval 76"/>
              <p:cNvSpPr>
                <a:spLocks noChangeArrowheads="1"/>
              </p:cNvSpPr>
              <p:nvPr/>
            </p:nvSpPr>
            <p:spPr bwMode="auto">
              <a:xfrm>
                <a:off x="3992" y="2453"/>
                <a:ext cx="488" cy="491"/>
              </a:xfrm>
              <a:prstGeom prst="ellipse">
                <a:avLst/>
              </a:prstGeom>
              <a:solidFill>
                <a:srgbClr val="80808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55" name="Oval 77"/>
              <p:cNvSpPr>
                <a:spLocks noChangeArrowheads="1"/>
              </p:cNvSpPr>
              <p:nvPr/>
            </p:nvSpPr>
            <p:spPr bwMode="auto">
              <a:xfrm>
                <a:off x="4007" y="2524"/>
                <a:ext cx="458" cy="456"/>
              </a:xfrm>
              <a:prstGeom prst="ellipse">
                <a:avLst/>
              </a:prstGeom>
              <a:solidFill>
                <a:srgbClr val="00000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56" name="Oval 78"/>
              <p:cNvSpPr>
                <a:spLocks noChangeArrowheads="1"/>
              </p:cNvSpPr>
              <p:nvPr/>
            </p:nvSpPr>
            <p:spPr bwMode="auto">
              <a:xfrm>
                <a:off x="4143" y="2660"/>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9757" name="Group 79"/>
              <p:cNvGrpSpPr>
                <a:grpSpLocks/>
              </p:cNvGrpSpPr>
              <p:nvPr/>
            </p:nvGrpSpPr>
            <p:grpSpPr bwMode="auto">
              <a:xfrm>
                <a:off x="4058" y="1880"/>
                <a:ext cx="854" cy="349"/>
                <a:chOff x="4058" y="1880"/>
                <a:chExt cx="854" cy="349"/>
              </a:xfrm>
            </p:grpSpPr>
            <p:sp>
              <p:nvSpPr>
                <p:cNvPr id="29770" name="Freeform 80"/>
                <p:cNvSpPr>
                  <a:spLocks/>
                </p:cNvSpPr>
                <p:nvPr/>
              </p:nvSpPr>
              <p:spPr bwMode="auto">
                <a:xfrm>
                  <a:off x="4329" y="1946"/>
                  <a:ext cx="379" cy="276"/>
                </a:xfrm>
                <a:custGeom>
                  <a:avLst/>
                  <a:gdLst>
                    <a:gd name="T0" fmla="*/ 1 w 379"/>
                    <a:gd name="T1" fmla="*/ 42 h 276"/>
                    <a:gd name="T2" fmla="*/ 89 w 379"/>
                    <a:gd name="T3" fmla="*/ 0 h 276"/>
                    <a:gd name="T4" fmla="*/ 378 w 379"/>
                    <a:gd name="T5" fmla="*/ 0 h 276"/>
                    <a:gd name="T6" fmla="*/ 378 w 379"/>
                    <a:gd name="T7" fmla="*/ 275 h 276"/>
                    <a:gd name="T8" fmla="*/ 317 w 379"/>
                    <a:gd name="T9" fmla="*/ 275 h 276"/>
                    <a:gd name="T10" fmla="*/ 286 w 379"/>
                    <a:gd name="T11" fmla="*/ 242 h 276"/>
                    <a:gd name="T12" fmla="*/ 26 w 379"/>
                    <a:gd name="T13" fmla="*/ 242 h 276"/>
                    <a:gd name="T14" fmla="*/ 0 w 379"/>
                    <a:gd name="T15" fmla="*/ 223 h 276"/>
                    <a:gd name="T16" fmla="*/ 1 w 379"/>
                    <a:gd name="T17" fmla="*/ 42 h 2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9"/>
                    <a:gd name="T28" fmla="*/ 0 h 276"/>
                    <a:gd name="T29" fmla="*/ 379 w 379"/>
                    <a:gd name="T30" fmla="*/ 276 h 2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9" h="276">
                      <a:moveTo>
                        <a:pt x="1" y="42"/>
                      </a:moveTo>
                      <a:lnTo>
                        <a:pt x="89" y="0"/>
                      </a:lnTo>
                      <a:lnTo>
                        <a:pt x="378" y="0"/>
                      </a:lnTo>
                      <a:lnTo>
                        <a:pt x="378" y="275"/>
                      </a:lnTo>
                      <a:lnTo>
                        <a:pt x="317" y="275"/>
                      </a:lnTo>
                      <a:lnTo>
                        <a:pt x="286" y="242"/>
                      </a:lnTo>
                      <a:lnTo>
                        <a:pt x="26" y="242"/>
                      </a:lnTo>
                      <a:lnTo>
                        <a:pt x="0" y="223"/>
                      </a:lnTo>
                      <a:lnTo>
                        <a:pt x="1" y="42"/>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71" name="Freeform 81"/>
                <p:cNvSpPr>
                  <a:spLocks/>
                </p:cNvSpPr>
                <p:nvPr/>
              </p:nvSpPr>
              <p:spPr bwMode="auto">
                <a:xfrm>
                  <a:off x="4785" y="1880"/>
                  <a:ext cx="127" cy="349"/>
                </a:xfrm>
                <a:custGeom>
                  <a:avLst/>
                  <a:gdLst>
                    <a:gd name="T0" fmla="*/ 49 w 127"/>
                    <a:gd name="T1" fmla="*/ 0 h 349"/>
                    <a:gd name="T2" fmla="*/ 126 w 127"/>
                    <a:gd name="T3" fmla="*/ 348 h 349"/>
                    <a:gd name="T4" fmla="*/ 33 w 127"/>
                    <a:gd name="T5" fmla="*/ 348 h 349"/>
                    <a:gd name="T6" fmla="*/ 0 w 127"/>
                    <a:gd name="T7" fmla="*/ 342 h 349"/>
                    <a:gd name="T8" fmla="*/ 0 w 127"/>
                    <a:gd name="T9" fmla="*/ 64 h 349"/>
                    <a:gd name="T10" fmla="*/ 2 w 127"/>
                    <a:gd name="T11" fmla="*/ 44 h 349"/>
                    <a:gd name="T12" fmla="*/ 7 w 127"/>
                    <a:gd name="T13" fmla="*/ 31 h 349"/>
                    <a:gd name="T14" fmla="*/ 17 w 127"/>
                    <a:gd name="T15" fmla="*/ 19 h 349"/>
                    <a:gd name="T16" fmla="*/ 30 w 127"/>
                    <a:gd name="T17" fmla="*/ 10 h 349"/>
                    <a:gd name="T18" fmla="*/ 49 w 127"/>
                    <a:gd name="T19" fmla="*/ 0 h 3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
                    <a:gd name="T31" fmla="*/ 0 h 349"/>
                    <a:gd name="T32" fmla="*/ 127 w 127"/>
                    <a:gd name="T33" fmla="*/ 349 h 3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 h="349">
                      <a:moveTo>
                        <a:pt x="49" y="0"/>
                      </a:moveTo>
                      <a:lnTo>
                        <a:pt x="126" y="348"/>
                      </a:lnTo>
                      <a:lnTo>
                        <a:pt x="33" y="348"/>
                      </a:lnTo>
                      <a:lnTo>
                        <a:pt x="0" y="342"/>
                      </a:lnTo>
                      <a:lnTo>
                        <a:pt x="0" y="64"/>
                      </a:lnTo>
                      <a:lnTo>
                        <a:pt x="2" y="44"/>
                      </a:lnTo>
                      <a:lnTo>
                        <a:pt x="7" y="31"/>
                      </a:lnTo>
                      <a:lnTo>
                        <a:pt x="17" y="19"/>
                      </a:lnTo>
                      <a:lnTo>
                        <a:pt x="30" y="10"/>
                      </a:lnTo>
                      <a:lnTo>
                        <a:pt x="49"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72" name="Freeform 82"/>
                <p:cNvSpPr>
                  <a:spLocks/>
                </p:cNvSpPr>
                <p:nvPr/>
              </p:nvSpPr>
              <p:spPr bwMode="auto">
                <a:xfrm>
                  <a:off x="4058" y="1958"/>
                  <a:ext cx="190" cy="199"/>
                </a:xfrm>
                <a:custGeom>
                  <a:avLst/>
                  <a:gdLst>
                    <a:gd name="T0" fmla="*/ 42 w 190"/>
                    <a:gd name="T1" fmla="*/ 0 h 199"/>
                    <a:gd name="T2" fmla="*/ 189 w 190"/>
                    <a:gd name="T3" fmla="*/ 0 h 199"/>
                    <a:gd name="T4" fmla="*/ 189 w 190"/>
                    <a:gd name="T5" fmla="*/ 198 h 199"/>
                    <a:gd name="T6" fmla="*/ 6 w 190"/>
                    <a:gd name="T7" fmla="*/ 198 h 199"/>
                    <a:gd name="T8" fmla="*/ 0 w 190"/>
                    <a:gd name="T9" fmla="*/ 158 h 199"/>
                    <a:gd name="T10" fmla="*/ 42 w 190"/>
                    <a:gd name="T11" fmla="*/ 0 h 199"/>
                    <a:gd name="T12" fmla="*/ 0 60000 65536"/>
                    <a:gd name="T13" fmla="*/ 0 60000 65536"/>
                    <a:gd name="T14" fmla="*/ 0 60000 65536"/>
                    <a:gd name="T15" fmla="*/ 0 60000 65536"/>
                    <a:gd name="T16" fmla="*/ 0 60000 65536"/>
                    <a:gd name="T17" fmla="*/ 0 60000 65536"/>
                    <a:gd name="T18" fmla="*/ 0 w 190"/>
                    <a:gd name="T19" fmla="*/ 0 h 199"/>
                    <a:gd name="T20" fmla="*/ 190 w 190"/>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190" h="199">
                      <a:moveTo>
                        <a:pt x="42" y="0"/>
                      </a:moveTo>
                      <a:lnTo>
                        <a:pt x="189" y="0"/>
                      </a:lnTo>
                      <a:lnTo>
                        <a:pt x="189" y="198"/>
                      </a:lnTo>
                      <a:lnTo>
                        <a:pt x="6" y="198"/>
                      </a:lnTo>
                      <a:lnTo>
                        <a:pt x="0" y="158"/>
                      </a:lnTo>
                      <a:lnTo>
                        <a:pt x="42"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73" name="Line 83"/>
                <p:cNvSpPr>
                  <a:spLocks noChangeShapeType="1"/>
                </p:cNvSpPr>
                <p:nvPr/>
              </p:nvSpPr>
              <p:spPr bwMode="auto">
                <a:xfrm flipV="1">
                  <a:off x="4614" y="1947"/>
                  <a:ext cx="0" cy="24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29758" name="Freeform 84"/>
              <p:cNvSpPr>
                <a:spLocks/>
              </p:cNvSpPr>
              <p:nvPr/>
            </p:nvSpPr>
            <p:spPr bwMode="auto">
              <a:xfrm>
                <a:off x="3939" y="2624"/>
                <a:ext cx="34" cy="136"/>
              </a:xfrm>
              <a:custGeom>
                <a:avLst/>
                <a:gdLst>
                  <a:gd name="T0" fmla="*/ 0 w 34"/>
                  <a:gd name="T1" fmla="*/ 0 h 136"/>
                  <a:gd name="T2" fmla="*/ 33 w 34"/>
                  <a:gd name="T3" fmla="*/ 6 h 136"/>
                  <a:gd name="T4" fmla="*/ 33 w 34"/>
                  <a:gd name="T5" fmla="*/ 135 h 136"/>
                  <a:gd name="T6" fmla="*/ 0 w 34"/>
                  <a:gd name="T7" fmla="*/ 135 h 136"/>
                  <a:gd name="T8" fmla="*/ 0 w 34"/>
                  <a:gd name="T9" fmla="*/ 0 h 136"/>
                  <a:gd name="T10" fmla="*/ 0 60000 65536"/>
                  <a:gd name="T11" fmla="*/ 0 60000 65536"/>
                  <a:gd name="T12" fmla="*/ 0 60000 65536"/>
                  <a:gd name="T13" fmla="*/ 0 60000 65536"/>
                  <a:gd name="T14" fmla="*/ 0 60000 65536"/>
                  <a:gd name="T15" fmla="*/ 0 w 34"/>
                  <a:gd name="T16" fmla="*/ 0 h 136"/>
                  <a:gd name="T17" fmla="*/ 34 w 34"/>
                  <a:gd name="T18" fmla="*/ 136 h 136"/>
                </a:gdLst>
                <a:ahLst/>
                <a:cxnLst>
                  <a:cxn ang="T10">
                    <a:pos x="T0" y="T1"/>
                  </a:cxn>
                  <a:cxn ang="T11">
                    <a:pos x="T2" y="T3"/>
                  </a:cxn>
                  <a:cxn ang="T12">
                    <a:pos x="T4" y="T5"/>
                  </a:cxn>
                  <a:cxn ang="T13">
                    <a:pos x="T6" y="T7"/>
                  </a:cxn>
                  <a:cxn ang="T14">
                    <a:pos x="T8" y="T9"/>
                  </a:cxn>
                </a:cxnLst>
                <a:rect l="T15" t="T16" r="T17" b="T18"/>
                <a:pathLst>
                  <a:path w="34" h="136">
                    <a:moveTo>
                      <a:pt x="0" y="0"/>
                    </a:moveTo>
                    <a:lnTo>
                      <a:pt x="33" y="6"/>
                    </a:lnTo>
                    <a:lnTo>
                      <a:pt x="33" y="135"/>
                    </a:lnTo>
                    <a:lnTo>
                      <a:pt x="0" y="135"/>
                    </a:lnTo>
                    <a:lnTo>
                      <a:pt x="0"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29759" name="Freeform 85"/>
              <p:cNvSpPr>
                <a:spLocks/>
              </p:cNvSpPr>
              <p:nvPr/>
            </p:nvSpPr>
            <p:spPr bwMode="auto">
              <a:xfrm>
                <a:off x="4312" y="2202"/>
                <a:ext cx="89" cy="24"/>
              </a:xfrm>
              <a:custGeom>
                <a:avLst/>
                <a:gdLst>
                  <a:gd name="T0" fmla="*/ 0 w 89"/>
                  <a:gd name="T1" fmla="*/ 0 h 24"/>
                  <a:gd name="T2" fmla="*/ 0 w 89"/>
                  <a:gd name="T3" fmla="*/ 23 h 24"/>
                  <a:gd name="T4" fmla="*/ 23 w 89"/>
                  <a:gd name="T5" fmla="*/ 15 h 24"/>
                  <a:gd name="T6" fmla="*/ 88 w 89"/>
                  <a:gd name="T7" fmla="*/ 15 h 24"/>
                  <a:gd name="T8" fmla="*/ 88 w 89"/>
                  <a:gd name="T9" fmla="*/ 7 h 24"/>
                  <a:gd name="T10" fmla="*/ 23 w 89"/>
                  <a:gd name="T11" fmla="*/ 7 h 24"/>
                  <a:gd name="T12" fmla="*/ 16 w 89"/>
                  <a:gd name="T13" fmla="*/ 0 h 24"/>
                  <a:gd name="T14" fmla="*/ 0 w 8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24"/>
                  <a:gd name="T26" fmla="*/ 89 w 8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24">
                    <a:moveTo>
                      <a:pt x="0" y="0"/>
                    </a:moveTo>
                    <a:lnTo>
                      <a:pt x="0" y="23"/>
                    </a:lnTo>
                    <a:lnTo>
                      <a:pt x="23" y="15"/>
                    </a:lnTo>
                    <a:lnTo>
                      <a:pt x="88" y="15"/>
                    </a:lnTo>
                    <a:lnTo>
                      <a:pt x="88" y="7"/>
                    </a:lnTo>
                    <a:lnTo>
                      <a:pt x="23" y="7"/>
                    </a:lnTo>
                    <a:lnTo>
                      <a:pt x="16" y="0"/>
                    </a:lnTo>
                    <a:lnTo>
                      <a:pt x="0" y="0"/>
                    </a:lnTo>
                  </a:path>
                </a:pathLst>
              </a:custGeom>
              <a:solidFill>
                <a:srgbClr val="C0C0C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9760" name="Freeform 86"/>
              <p:cNvSpPr>
                <a:spLocks/>
              </p:cNvSpPr>
              <p:nvPr/>
            </p:nvSpPr>
            <p:spPr bwMode="auto">
              <a:xfrm>
                <a:off x="878" y="1453"/>
                <a:ext cx="3044" cy="1245"/>
              </a:xfrm>
              <a:custGeom>
                <a:avLst/>
                <a:gdLst>
                  <a:gd name="T0" fmla="*/ 0 w 3044"/>
                  <a:gd name="T1" fmla="*/ 0 h 1245"/>
                  <a:gd name="T2" fmla="*/ 0 w 3044"/>
                  <a:gd name="T3" fmla="*/ 1244 h 1245"/>
                  <a:gd name="T4" fmla="*/ 3043 w 3044"/>
                  <a:gd name="T5" fmla="*/ 1244 h 1245"/>
                  <a:gd name="T6" fmla="*/ 3043 w 3044"/>
                  <a:gd name="T7" fmla="*/ 0 h 1245"/>
                  <a:gd name="T8" fmla="*/ 0 w 3044"/>
                  <a:gd name="T9" fmla="*/ 0 h 1245"/>
                  <a:gd name="T10" fmla="*/ 0 60000 65536"/>
                  <a:gd name="T11" fmla="*/ 0 60000 65536"/>
                  <a:gd name="T12" fmla="*/ 0 60000 65536"/>
                  <a:gd name="T13" fmla="*/ 0 60000 65536"/>
                  <a:gd name="T14" fmla="*/ 0 60000 65536"/>
                  <a:gd name="T15" fmla="*/ 0 w 3044"/>
                  <a:gd name="T16" fmla="*/ 0 h 1245"/>
                  <a:gd name="T17" fmla="*/ 3044 w 3044"/>
                  <a:gd name="T18" fmla="*/ 1245 h 1245"/>
                </a:gdLst>
                <a:ahLst/>
                <a:cxnLst>
                  <a:cxn ang="T10">
                    <a:pos x="T0" y="T1"/>
                  </a:cxn>
                  <a:cxn ang="T11">
                    <a:pos x="T2" y="T3"/>
                  </a:cxn>
                  <a:cxn ang="T12">
                    <a:pos x="T4" y="T5"/>
                  </a:cxn>
                  <a:cxn ang="T13">
                    <a:pos x="T6" y="T7"/>
                  </a:cxn>
                  <a:cxn ang="T14">
                    <a:pos x="T8" y="T9"/>
                  </a:cxn>
                </a:cxnLst>
                <a:rect l="T15" t="T16" r="T17" b="T18"/>
                <a:pathLst>
                  <a:path w="3044" h="1245">
                    <a:moveTo>
                      <a:pt x="0" y="0"/>
                    </a:moveTo>
                    <a:lnTo>
                      <a:pt x="0" y="1244"/>
                    </a:lnTo>
                    <a:lnTo>
                      <a:pt x="3043" y="1244"/>
                    </a:lnTo>
                    <a:lnTo>
                      <a:pt x="3043" y="0"/>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sp>
            <p:nvSpPr>
              <p:cNvPr id="29761" name="Freeform 87"/>
              <p:cNvSpPr>
                <a:spLocks/>
              </p:cNvSpPr>
              <p:nvPr/>
            </p:nvSpPr>
            <p:spPr bwMode="auto">
              <a:xfrm>
                <a:off x="804" y="2672"/>
                <a:ext cx="3164" cy="102"/>
              </a:xfrm>
              <a:custGeom>
                <a:avLst/>
                <a:gdLst>
                  <a:gd name="T0" fmla="*/ 0 w 3164"/>
                  <a:gd name="T1" fmla="*/ 0 h 102"/>
                  <a:gd name="T2" fmla="*/ 3163 w 3164"/>
                  <a:gd name="T3" fmla="*/ 0 h 102"/>
                  <a:gd name="T4" fmla="*/ 3163 w 3164"/>
                  <a:gd name="T5" fmla="*/ 101 h 102"/>
                  <a:gd name="T6" fmla="*/ 0 w 3164"/>
                  <a:gd name="T7" fmla="*/ 101 h 102"/>
                  <a:gd name="T8" fmla="*/ 0 w 3164"/>
                  <a:gd name="T9" fmla="*/ 0 h 102"/>
                  <a:gd name="T10" fmla="*/ 0 60000 65536"/>
                  <a:gd name="T11" fmla="*/ 0 60000 65536"/>
                  <a:gd name="T12" fmla="*/ 0 60000 65536"/>
                  <a:gd name="T13" fmla="*/ 0 60000 65536"/>
                  <a:gd name="T14" fmla="*/ 0 60000 65536"/>
                  <a:gd name="T15" fmla="*/ 0 w 3164"/>
                  <a:gd name="T16" fmla="*/ 0 h 102"/>
                  <a:gd name="T17" fmla="*/ 3164 w 3164"/>
                  <a:gd name="T18" fmla="*/ 102 h 102"/>
                </a:gdLst>
                <a:ahLst/>
                <a:cxnLst>
                  <a:cxn ang="T10">
                    <a:pos x="T0" y="T1"/>
                  </a:cxn>
                  <a:cxn ang="T11">
                    <a:pos x="T2" y="T3"/>
                  </a:cxn>
                  <a:cxn ang="T12">
                    <a:pos x="T4" y="T5"/>
                  </a:cxn>
                  <a:cxn ang="T13">
                    <a:pos x="T6" y="T7"/>
                  </a:cxn>
                  <a:cxn ang="T14">
                    <a:pos x="T8" y="T9"/>
                  </a:cxn>
                </a:cxnLst>
                <a:rect l="T15" t="T16" r="T17" b="T18"/>
                <a:pathLst>
                  <a:path w="3164" h="102">
                    <a:moveTo>
                      <a:pt x="0" y="0"/>
                    </a:moveTo>
                    <a:lnTo>
                      <a:pt x="3163" y="0"/>
                    </a:lnTo>
                    <a:lnTo>
                      <a:pt x="3163" y="101"/>
                    </a:lnTo>
                    <a:lnTo>
                      <a:pt x="0" y="101"/>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grpSp>
            <p:nvGrpSpPr>
              <p:cNvPr id="29762" name="Group 88"/>
              <p:cNvGrpSpPr>
                <a:grpSpLocks/>
              </p:cNvGrpSpPr>
              <p:nvPr/>
            </p:nvGrpSpPr>
            <p:grpSpPr bwMode="auto">
              <a:xfrm>
                <a:off x="1859" y="2458"/>
                <a:ext cx="488" cy="529"/>
                <a:chOff x="1859" y="2458"/>
                <a:chExt cx="488" cy="529"/>
              </a:xfrm>
            </p:grpSpPr>
            <p:sp>
              <p:nvSpPr>
                <p:cNvPr id="29766" name="Oval 89"/>
                <p:cNvSpPr>
                  <a:spLocks noChangeArrowheads="1"/>
                </p:cNvSpPr>
                <p:nvPr/>
              </p:nvSpPr>
              <p:spPr bwMode="auto">
                <a:xfrm>
                  <a:off x="1859" y="2458"/>
                  <a:ext cx="488" cy="492"/>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9767" name="Group 90"/>
                <p:cNvGrpSpPr>
                  <a:grpSpLocks/>
                </p:cNvGrpSpPr>
                <p:nvPr/>
              </p:nvGrpSpPr>
              <p:grpSpPr bwMode="auto">
                <a:xfrm>
                  <a:off x="1874" y="2530"/>
                  <a:ext cx="458" cy="457"/>
                  <a:chOff x="1874" y="2530"/>
                  <a:chExt cx="458" cy="457"/>
                </a:xfrm>
              </p:grpSpPr>
              <p:sp>
                <p:nvSpPr>
                  <p:cNvPr id="29768" name="Oval 91"/>
                  <p:cNvSpPr>
                    <a:spLocks noChangeArrowheads="1"/>
                  </p:cNvSpPr>
                  <p:nvPr/>
                </p:nvSpPr>
                <p:spPr bwMode="auto">
                  <a:xfrm>
                    <a:off x="1874" y="2530"/>
                    <a:ext cx="458" cy="457"/>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69" name="Oval 92"/>
                  <p:cNvSpPr>
                    <a:spLocks noChangeArrowheads="1"/>
                  </p:cNvSpPr>
                  <p:nvPr/>
                </p:nvSpPr>
                <p:spPr bwMode="auto">
                  <a:xfrm>
                    <a:off x="2010" y="2666"/>
                    <a:ext cx="184" cy="183"/>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29763" name="Rectangle 93"/>
              <p:cNvSpPr>
                <a:spLocks noChangeArrowheads="1"/>
              </p:cNvSpPr>
              <p:nvPr/>
            </p:nvSpPr>
            <p:spPr bwMode="auto">
              <a:xfrm>
                <a:off x="1088" y="2011"/>
                <a:ext cx="2614" cy="101"/>
              </a:xfrm>
              <a:prstGeom prst="rect">
                <a:avLst/>
              </a:prstGeom>
              <a:solidFill>
                <a:schemeClr val="bg2"/>
              </a:solidFill>
              <a:ln w="12700">
                <a:solidFill>
                  <a:srgbClr val="000000"/>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64" name="Line 94"/>
              <p:cNvSpPr>
                <a:spLocks noChangeShapeType="1"/>
              </p:cNvSpPr>
              <p:nvPr/>
            </p:nvSpPr>
            <p:spPr bwMode="auto">
              <a:xfrm>
                <a:off x="882" y="2180"/>
                <a:ext cx="300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9765" name="Oval 95"/>
              <p:cNvSpPr>
                <a:spLocks noChangeArrowheads="1"/>
              </p:cNvSpPr>
              <p:nvPr/>
            </p:nvSpPr>
            <p:spPr bwMode="auto">
              <a:xfrm>
                <a:off x="2007" y="2648"/>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9745" name="Line 99"/>
            <p:cNvSpPr>
              <a:spLocks noChangeShapeType="1"/>
            </p:cNvSpPr>
            <p:nvPr/>
          </p:nvSpPr>
          <p:spPr bwMode="auto">
            <a:xfrm>
              <a:off x="1245" y="1707"/>
              <a:ext cx="233" cy="319"/>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46" name="Line 100"/>
            <p:cNvSpPr>
              <a:spLocks noChangeShapeType="1"/>
            </p:cNvSpPr>
            <p:nvPr/>
          </p:nvSpPr>
          <p:spPr bwMode="auto">
            <a:xfrm>
              <a:off x="1325" y="2195"/>
              <a:ext cx="171"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47" name="Line 101"/>
            <p:cNvSpPr>
              <a:spLocks noChangeShapeType="1"/>
            </p:cNvSpPr>
            <p:nvPr/>
          </p:nvSpPr>
          <p:spPr bwMode="auto">
            <a:xfrm flipV="1">
              <a:off x="1281" y="2405"/>
              <a:ext cx="203" cy="27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48" name="Rectangle 114"/>
            <p:cNvSpPr>
              <a:spLocks noChangeArrowheads="1"/>
            </p:cNvSpPr>
            <p:nvPr/>
          </p:nvSpPr>
          <p:spPr bwMode="auto">
            <a:xfrm rot="-5400000">
              <a:off x="1022" y="2024"/>
              <a:ext cx="132" cy="342"/>
            </a:xfrm>
            <a:prstGeom prst="rect">
              <a:avLst/>
            </a:prstGeom>
            <a:solidFill>
              <a:schemeClr val="accent2"/>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49" name="Oval 115"/>
            <p:cNvSpPr>
              <a:spLocks noChangeArrowheads="1"/>
            </p:cNvSpPr>
            <p:nvPr/>
          </p:nvSpPr>
          <p:spPr bwMode="auto">
            <a:xfrm rot="-5400000">
              <a:off x="979" y="2615"/>
              <a:ext cx="213" cy="196"/>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50" name="Oval 116"/>
            <p:cNvSpPr>
              <a:spLocks noChangeArrowheads="1"/>
            </p:cNvSpPr>
            <p:nvPr/>
          </p:nvSpPr>
          <p:spPr bwMode="auto">
            <a:xfrm rot="-5400000">
              <a:off x="948" y="2664"/>
              <a:ext cx="213" cy="196"/>
            </a:xfrm>
            <a:prstGeom prst="ellipse">
              <a:avLst/>
            </a:prstGeom>
            <a:solidFill>
              <a:srgbClr val="00CC66"/>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 name="Group 131"/>
          <p:cNvGrpSpPr>
            <a:grpSpLocks/>
          </p:cNvGrpSpPr>
          <p:nvPr/>
        </p:nvGrpSpPr>
        <p:grpSpPr bwMode="auto">
          <a:xfrm>
            <a:off x="2889250" y="2592388"/>
            <a:ext cx="2463800" cy="2449512"/>
            <a:chOff x="1820" y="1633"/>
            <a:chExt cx="1552" cy="1543"/>
          </a:xfrm>
        </p:grpSpPr>
        <p:sp>
          <p:nvSpPr>
            <p:cNvPr id="29719" name="Rectangle 11"/>
            <p:cNvSpPr>
              <a:spLocks noChangeArrowheads="1"/>
            </p:cNvSpPr>
            <p:nvPr/>
          </p:nvSpPr>
          <p:spPr bwMode="auto">
            <a:xfrm rot="-5400000">
              <a:off x="2469" y="1605"/>
              <a:ext cx="189" cy="245"/>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20" name="Text Box 61"/>
            <p:cNvSpPr txBox="1">
              <a:spLocks noChangeArrowheads="1"/>
            </p:cNvSpPr>
            <p:nvPr/>
          </p:nvSpPr>
          <p:spPr bwMode="auto">
            <a:xfrm>
              <a:off x="1820" y="2858"/>
              <a:ext cx="713" cy="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90000"/>
                </a:lnSpc>
                <a:spcBef>
                  <a:spcPct val="0"/>
                </a:spcBef>
                <a:buFontTx/>
                <a:buNone/>
              </a:pPr>
              <a:r>
                <a:rPr kumimoji="1" lang="fr-FR" altLang="fr-FR" sz="1600">
                  <a:solidFill>
                    <a:srgbClr val="003399"/>
                  </a:solidFill>
                </a:rPr>
                <a:t>couronnes</a:t>
              </a:r>
            </a:p>
            <a:p>
              <a:pPr algn="ctr">
                <a:lnSpc>
                  <a:spcPct val="90000"/>
                </a:lnSpc>
                <a:spcBef>
                  <a:spcPct val="0"/>
                </a:spcBef>
                <a:buFontTx/>
                <a:buNone/>
              </a:pPr>
              <a:r>
                <a:rPr kumimoji="1" lang="fr-FR" altLang="fr-FR" sz="1400">
                  <a:solidFill>
                    <a:schemeClr val="tx1"/>
                  </a:solidFill>
                </a:rPr>
                <a:t>(phase A)</a:t>
              </a:r>
            </a:p>
          </p:txBody>
        </p:sp>
        <p:sp>
          <p:nvSpPr>
            <p:cNvPr id="29721" name="Text Box 62"/>
            <p:cNvSpPr txBox="1">
              <a:spLocks noChangeArrowheads="1"/>
            </p:cNvSpPr>
            <p:nvPr/>
          </p:nvSpPr>
          <p:spPr bwMode="auto">
            <a:xfrm>
              <a:off x="2659" y="2850"/>
              <a:ext cx="713" cy="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90000"/>
                </a:lnSpc>
                <a:spcBef>
                  <a:spcPct val="0"/>
                </a:spcBef>
                <a:buFontTx/>
                <a:buNone/>
              </a:pPr>
              <a:r>
                <a:rPr kumimoji="1" lang="fr-FR" altLang="fr-FR" sz="1600">
                  <a:solidFill>
                    <a:srgbClr val="003399"/>
                  </a:solidFill>
                </a:rPr>
                <a:t>couronnes</a:t>
              </a:r>
            </a:p>
            <a:p>
              <a:pPr algn="ctr">
                <a:lnSpc>
                  <a:spcPct val="90000"/>
                </a:lnSpc>
                <a:spcBef>
                  <a:spcPct val="0"/>
                </a:spcBef>
                <a:buFontTx/>
                <a:buNone/>
              </a:pPr>
              <a:r>
                <a:rPr kumimoji="1" lang="fr-FR" altLang="fr-FR" sz="1400">
                  <a:solidFill>
                    <a:schemeClr val="tx1"/>
                  </a:solidFill>
                </a:rPr>
                <a:t>(phase B)</a:t>
              </a:r>
            </a:p>
          </p:txBody>
        </p:sp>
        <p:sp>
          <p:nvSpPr>
            <p:cNvPr id="29722" name="Rectangle 97"/>
            <p:cNvSpPr>
              <a:spLocks noChangeArrowheads="1"/>
            </p:cNvSpPr>
            <p:nvPr/>
          </p:nvSpPr>
          <p:spPr bwMode="auto">
            <a:xfrm rot="-5400000">
              <a:off x="2502" y="1980"/>
              <a:ext cx="132" cy="368"/>
            </a:xfrm>
            <a:prstGeom prst="rect">
              <a:avLst/>
            </a:prstGeom>
            <a:solidFill>
              <a:srgbClr val="FF0000"/>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23" name="Line 102"/>
            <p:cNvSpPr>
              <a:spLocks noChangeShapeType="1"/>
            </p:cNvSpPr>
            <p:nvPr/>
          </p:nvSpPr>
          <p:spPr bwMode="auto">
            <a:xfrm flipV="1">
              <a:off x="1954" y="1779"/>
              <a:ext cx="337" cy="387"/>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4" name="Line 103"/>
            <p:cNvSpPr>
              <a:spLocks noChangeShapeType="1"/>
            </p:cNvSpPr>
            <p:nvPr/>
          </p:nvSpPr>
          <p:spPr bwMode="auto">
            <a:xfrm>
              <a:off x="1943" y="2195"/>
              <a:ext cx="300"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5" name="Line 104"/>
            <p:cNvSpPr>
              <a:spLocks noChangeShapeType="1"/>
            </p:cNvSpPr>
            <p:nvPr/>
          </p:nvSpPr>
          <p:spPr bwMode="auto">
            <a:xfrm>
              <a:off x="1961" y="2277"/>
              <a:ext cx="239" cy="27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6" name="Line 105"/>
            <p:cNvSpPr>
              <a:spLocks noChangeShapeType="1"/>
            </p:cNvSpPr>
            <p:nvPr/>
          </p:nvSpPr>
          <p:spPr bwMode="auto">
            <a:xfrm>
              <a:off x="2463" y="2644"/>
              <a:ext cx="300"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7" name="Line 106"/>
            <p:cNvSpPr>
              <a:spLocks noChangeShapeType="1"/>
            </p:cNvSpPr>
            <p:nvPr/>
          </p:nvSpPr>
          <p:spPr bwMode="auto">
            <a:xfrm>
              <a:off x="2850" y="2195"/>
              <a:ext cx="300"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8" name="Line 107"/>
            <p:cNvSpPr>
              <a:spLocks noChangeShapeType="1"/>
            </p:cNvSpPr>
            <p:nvPr/>
          </p:nvSpPr>
          <p:spPr bwMode="auto">
            <a:xfrm>
              <a:off x="2831" y="1800"/>
              <a:ext cx="239" cy="27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29" name="Line 108"/>
            <p:cNvSpPr>
              <a:spLocks noChangeShapeType="1"/>
            </p:cNvSpPr>
            <p:nvPr/>
          </p:nvSpPr>
          <p:spPr bwMode="auto">
            <a:xfrm flipV="1">
              <a:off x="2947" y="2294"/>
              <a:ext cx="190" cy="264"/>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30" name="Rectangle 117"/>
            <p:cNvSpPr>
              <a:spLocks noChangeArrowheads="1"/>
            </p:cNvSpPr>
            <p:nvPr/>
          </p:nvSpPr>
          <p:spPr bwMode="auto">
            <a:xfrm rot="-5400000">
              <a:off x="2474" y="2030"/>
              <a:ext cx="132" cy="342"/>
            </a:xfrm>
            <a:prstGeom prst="rect">
              <a:avLst/>
            </a:prstGeom>
            <a:solidFill>
              <a:schemeClr val="accent2"/>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1" name="Oval 118"/>
            <p:cNvSpPr>
              <a:spLocks noChangeArrowheads="1"/>
            </p:cNvSpPr>
            <p:nvPr/>
          </p:nvSpPr>
          <p:spPr bwMode="auto">
            <a:xfrm rot="-5400000">
              <a:off x="2216" y="2523"/>
              <a:ext cx="213" cy="196"/>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2" name="Oval 119"/>
            <p:cNvSpPr>
              <a:spLocks noChangeArrowheads="1"/>
            </p:cNvSpPr>
            <p:nvPr/>
          </p:nvSpPr>
          <p:spPr bwMode="auto">
            <a:xfrm rot="-5400000">
              <a:off x="2186" y="2566"/>
              <a:ext cx="213" cy="196"/>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3" name="Oval 120"/>
            <p:cNvSpPr>
              <a:spLocks noChangeArrowheads="1"/>
            </p:cNvSpPr>
            <p:nvPr/>
          </p:nvSpPr>
          <p:spPr bwMode="auto">
            <a:xfrm rot="-5400000">
              <a:off x="2155" y="2615"/>
              <a:ext cx="213" cy="196"/>
            </a:xfrm>
            <a:prstGeom prst="ellipse">
              <a:avLst/>
            </a:prstGeom>
            <a:solidFill>
              <a:srgbClr val="00CC66"/>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4" name="Oval 121"/>
            <p:cNvSpPr>
              <a:spLocks noChangeArrowheads="1"/>
            </p:cNvSpPr>
            <p:nvPr/>
          </p:nvSpPr>
          <p:spPr bwMode="auto">
            <a:xfrm rot="-5400000">
              <a:off x="2786" y="2516"/>
              <a:ext cx="213" cy="196"/>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5" name="Oval 122"/>
            <p:cNvSpPr>
              <a:spLocks noChangeArrowheads="1"/>
            </p:cNvSpPr>
            <p:nvPr/>
          </p:nvSpPr>
          <p:spPr bwMode="auto">
            <a:xfrm rot="-5400000">
              <a:off x="2756" y="2559"/>
              <a:ext cx="213" cy="196"/>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36" name="Oval 123"/>
            <p:cNvSpPr>
              <a:spLocks noChangeArrowheads="1"/>
            </p:cNvSpPr>
            <p:nvPr/>
          </p:nvSpPr>
          <p:spPr bwMode="auto">
            <a:xfrm rot="-5400000">
              <a:off x="2725" y="2608"/>
              <a:ext cx="213" cy="196"/>
            </a:xfrm>
            <a:prstGeom prst="ellipse">
              <a:avLst/>
            </a:prstGeom>
            <a:solidFill>
              <a:srgbClr val="00CC66"/>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7" name="Group 132"/>
          <p:cNvGrpSpPr>
            <a:grpSpLocks/>
          </p:cNvGrpSpPr>
          <p:nvPr/>
        </p:nvGrpSpPr>
        <p:grpSpPr bwMode="auto">
          <a:xfrm>
            <a:off x="5729288" y="2476500"/>
            <a:ext cx="1295400" cy="1544638"/>
            <a:chOff x="3609" y="1560"/>
            <a:chExt cx="816" cy="973"/>
          </a:xfrm>
        </p:grpSpPr>
        <p:sp>
          <p:nvSpPr>
            <p:cNvPr id="29712" name="Text Box 57"/>
            <p:cNvSpPr txBox="1">
              <a:spLocks noChangeArrowheads="1"/>
            </p:cNvSpPr>
            <p:nvPr/>
          </p:nvSpPr>
          <p:spPr bwMode="auto">
            <a:xfrm>
              <a:off x="3776" y="1560"/>
              <a:ext cx="52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R1 à R6</a:t>
              </a:r>
            </a:p>
          </p:txBody>
        </p:sp>
        <p:sp>
          <p:nvSpPr>
            <p:cNvPr id="29713" name="Line 109"/>
            <p:cNvSpPr>
              <a:spLocks noChangeShapeType="1"/>
            </p:cNvSpPr>
            <p:nvPr/>
          </p:nvSpPr>
          <p:spPr bwMode="auto">
            <a:xfrm>
              <a:off x="3609" y="2195"/>
              <a:ext cx="19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14" name="Line 110"/>
            <p:cNvSpPr>
              <a:spLocks noChangeShapeType="1"/>
            </p:cNvSpPr>
            <p:nvPr/>
          </p:nvSpPr>
          <p:spPr bwMode="auto">
            <a:xfrm>
              <a:off x="4229" y="2196"/>
              <a:ext cx="19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715" name="Rectangle 66"/>
            <p:cNvSpPr>
              <a:spLocks noChangeArrowheads="1"/>
            </p:cNvSpPr>
            <p:nvPr/>
          </p:nvSpPr>
          <p:spPr bwMode="auto">
            <a:xfrm>
              <a:off x="3826" y="1816"/>
              <a:ext cx="423" cy="717"/>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200">
                  <a:solidFill>
                    <a:schemeClr val="tx1"/>
                  </a:solidFill>
                </a:rPr>
                <a:t>=</a:t>
              </a:r>
            </a:p>
          </p:txBody>
        </p:sp>
        <p:sp>
          <p:nvSpPr>
            <p:cNvPr id="29716" name="Rectangle 10"/>
            <p:cNvSpPr>
              <a:spLocks noChangeArrowheads="1"/>
            </p:cNvSpPr>
            <p:nvPr/>
          </p:nvSpPr>
          <p:spPr bwMode="auto">
            <a:xfrm rot="-5400000">
              <a:off x="3969" y="2019"/>
              <a:ext cx="132" cy="332"/>
            </a:xfrm>
            <a:prstGeom prst="rect">
              <a:avLst/>
            </a:prstGeom>
            <a:solidFill>
              <a:srgbClr val="FF0000"/>
            </a:solidFill>
            <a:ln w="9525" algn="ctr">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17" name="Rectangle 51"/>
            <p:cNvSpPr>
              <a:spLocks noChangeArrowheads="1"/>
            </p:cNvSpPr>
            <p:nvPr/>
          </p:nvSpPr>
          <p:spPr bwMode="auto">
            <a:xfrm rot="-5400000">
              <a:off x="3945" y="1875"/>
              <a:ext cx="159" cy="208"/>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9718" name="Oval 52"/>
            <p:cNvSpPr>
              <a:spLocks noChangeArrowheads="1"/>
            </p:cNvSpPr>
            <p:nvPr/>
          </p:nvSpPr>
          <p:spPr bwMode="auto">
            <a:xfrm rot="-5400000">
              <a:off x="3942" y="2288"/>
              <a:ext cx="188" cy="173"/>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ox(in)">
                                      <p:cBhvr>
                                        <p:cTn id="7" dur="500"/>
                                        <p:tgtEl>
                                          <p:spTgt spid="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box(in)">
                                      <p:cBhvr>
                                        <p:cTn id="12" dur="500"/>
                                        <p:tgtEl>
                                          <p:spTgt spid="1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ox(in)">
                                      <p:cBhvr>
                                        <p:cTn id="17" dur="500"/>
                                        <p:tgtEl>
                                          <p:spTgt spid="1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box(in)">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2"/>
          <p:cNvSpPr>
            <a:spLocks noGrp="1" noChangeArrowheads="1"/>
          </p:cNvSpPr>
          <p:nvPr>
            <p:ph type="title"/>
          </p:nvPr>
        </p:nvSpPr>
        <p:spPr>
          <a:xfrm>
            <a:off x="2034382" y="0"/>
            <a:ext cx="5075237" cy="558800"/>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eaLnBrk="1" hangingPunct="1"/>
            <a:r>
              <a:rPr lang="fr-FR" altLang="fr-FR" sz="2800" b="1" dirty="0">
                <a:solidFill>
                  <a:srgbClr val="27A8E0"/>
                </a:solidFill>
              </a:rPr>
              <a:t>Les flux de fabrication</a:t>
            </a:r>
          </a:p>
        </p:txBody>
      </p:sp>
      <p:sp>
        <p:nvSpPr>
          <p:cNvPr id="30723" name="Rectangle 3"/>
          <p:cNvSpPr>
            <a:spLocks noChangeArrowheads="1"/>
          </p:cNvSpPr>
          <p:nvPr/>
        </p:nvSpPr>
        <p:spPr bwMode="auto">
          <a:xfrm>
            <a:off x="598488" y="779463"/>
            <a:ext cx="7856537" cy="5119687"/>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24" name="Text Box 10"/>
          <p:cNvSpPr txBox="1">
            <a:spLocks noChangeArrowheads="1"/>
          </p:cNvSpPr>
          <p:nvPr/>
        </p:nvSpPr>
        <p:spPr bwMode="auto">
          <a:xfrm>
            <a:off x="7667625" y="3829050"/>
            <a:ext cx="1335088" cy="6350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400" i="1">
                <a:solidFill>
                  <a:schemeClr val="tx1"/>
                </a:solidFill>
              </a:rPr>
              <a:t>Ventes couronnes blanches</a:t>
            </a:r>
          </a:p>
        </p:txBody>
      </p:sp>
      <p:grpSp>
        <p:nvGrpSpPr>
          <p:cNvPr id="30725" name="Group 11"/>
          <p:cNvGrpSpPr>
            <a:grpSpLocks/>
          </p:cNvGrpSpPr>
          <p:nvPr/>
        </p:nvGrpSpPr>
        <p:grpSpPr bwMode="auto">
          <a:xfrm>
            <a:off x="7862888" y="3378200"/>
            <a:ext cx="1009650" cy="420688"/>
            <a:chOff x="5096" y="2085"/>
            <a:chExt cx="720" cy="277"/>
          </a:xfrm>
        </p:grpSpPr>
        <p:grpSp>
          <p:nvGrpSpPr>
            <p:cNvPr id="30758" name="Group 12"/>
            <p:cNvGrpSpPr>
              <a:grpSpLocks/>
            </p:cNvGrpSpPr>
            <p:nvPr/>
          </p:nvGrpSpPr>
          <p:grpSpPr bwMode="auto">
            <a:xfrm>
              <a:off x="5096" y="2085"/>
              <a:ext cx="720" cy="277"/>
              <a:chOff x="804" y="1453"/>
              <a:chExt cx="4245" cy="1534"/>
            </a:xfrm>
          </p:grpSpPr>
          <p:sp>
            <p:nvSpPr>
              <p:cNvPr id="30763" name="Freeform 13"/>
              <p:cNvSpPr>
                <a:spLocks/>
              </p:cNvSpPr>
              <p:nvPr/>
            </p:nvSpPr>
            <p:spPr bwMode="auto">
              <a:xfrm>
                <a:off x="3940" y="1832"/>
                <a:ext cx="1031" cy="981"/>
              </a:xfrm>
              <a:custGeom>
                <a:avLst/>
                <a:gdLst>
                  <a:gd name="T0" fmla="*/ 143 w 1031"/>
                  <a:gd name="T1" fmla="*/ 15 h 981"/>
                  <a:gd name="T2" fmla="*/ 841 w 1031"/>
                  <a:gd name="T3" fmla="*/ 0 h 981"/>
                  <a:gd name="T4" fmla="*/ 856 w 1031"/>
                  <a:gd name="T5" fmla="*/ 1 h 981"/>
                  <a:gd name="T6" fmla="*/ 869 w 1031"/>
                  <a:gd name="T7" fmla="*/ 4 h 981"/>
                  <a:gd name="T8" fmla="*/ 878 w 1031"/>
                  <a:gd name="T9" fmla="*/ 8 h 981"/>
                  <a:gd name="T10" fmla="*/ 889 w 1031"/>
                  <a:gd name="T11" fmla="*/ 15 h 981"/>
                  <a:gd name="T12" fmla="*/ 897 w 1031"/>
                  <a:gd name="T13" fmla="*/ 24 h 981"/>
                  <a:gd name="T14" fmla="*/ 904 w 1031"/>
                  <a:gd name="T15" fmla="*/ 36 h 981"/>
                  <a:gd name="T16" fmla="*/ 989 w 1031"/>
                  <a:gd name="T17" fmla="*/ 419 h 981"/>
                  <a:gd name="T18" fmla="*/ 1030 w 1031"/>
                  <a:gd name="T19" fmla="*/ 430 h 981"/>
                  <a:gd name="T20" fmla="*/ 1030 w 1031"/>
                  <a:gd name="T21" fmla="*/ 553 h 981"/>
                  <a:gd name="T22" fmla="*/ 1009 w 1031"/>
                  <a:gd name="T23" fmla="*/ 565 h 981"/>
                  <a:gd name="T24" fmla="*/ 1009 w 1031"/>
                  <a:gd name="T25" fmla="*/ 666 h 981"/>
                  <a:gd name="T26" fmla="*/ 1027 w 1031"/>
                  <a:gd name="T27" fmla="*/ 684 h 981"/>
                  <a:gd name="T28" fmla="*/ 1012 w 1031"/>
                  <a:gd name="T29" fmla="*/ 723 h 981"/>
                  <a:gd name="T30" fmla="*/ 1012 w 1031"/>
                  <a:gd name="T31" fmla="*/ 980 h 981"/>
                  <a:gd name="T32" fmla="*/ 632 w 1031"/>
                  <a:gd name="T33" fmla="*/ 980 h 981"/>
                  <a:gd name="T34" fmla="*/ 632 w 1031"/>
                  <a:gd name="T35" fmla="*/ 968 h 981"/>
                  <a:gd name="T36" fmla="*/ 506 w 1031"/>
                  <a:gd name="T37" fmla="*/ 929 h 981"/>
                  <a:gd name="T38" fmla="*/ 86 w 1031"/>
                  <a:gd name="T39" fmla="*/ 929 h 981"/>
                  <a:gd name="T40" fmla="*/ 32 w 1031"/>
                  <a:gd name="T41" fmla="*/ 929 h 981"/>
                  <a:gd name="T42" fmla="*/ 32 w 1031"/>
                  <a:gd name="T43" fmla="*/ 798 h 981"/>
                  <a:gd name="T44" fmla="*/ 0 w 1031"/>
                  <a:gd name="T45" fmla="*/ 792 h 981"/>
                  <a:gd name="T46" fmla="*/ 0 w 1031"/>
                  <a:gd name="T47" fmla="*/ 374 h 981"/>
                  <a:gd name="T48" fmla="*/ 38 w 1031"/>
                  <a:gd name="T49" fmla="*/ 329 h 981"/>
                  <a:gd name="T50" fmla="*/ 104 w 1031"/>
                  <a:gd name="T51" fmla="*/ 69 h 981"/>
                  <a:gd name="T52" fmla="*/ 108 w 1031"/>
                  <a:gd name="T53" fmla="*/ 51 h 981"/>
                  <a:gd name="T54" fmla="*/ 111 w 1031"/>
                  <a:gd name="T55" fmla="*/ 40 h 981"/>
                  <a:gd name="T56" fmla="*/ 119 w 1031"/>
                  <a:gd name="T57" fmla="*/ 27 h 981"/>
                  <a:gd name="T58" fmla="*/ 130 w 1031"/>
                  <a:gd name="T59" fmla="*/ 19 h 981"/>
                  <a:gd name="T60" fmla="*/ 143 w 1031"/>
                  <a:gd name="T61" fmla="*/ 15 h 9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31"/>
                  <a:gd name="T94" fmla="*/ 0 h 981"/>
                  <a:gd name="T95" fmla="*/ 1031 w 1031"/>
                  <a:gd name="T96" fmla="*/ 981 h 9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31" h="981">
                    <a:moveTo>
                      <a:pt x="143" y="15"/>
                    </a:moveTo>
                    <a:lnTo>
                      <a:pt x="841" y="0"/>
                    </a:lnTo>
                    <a:lnTo>
                      <a:pt x="856" y="1"/>
                    </a:lnTo>
                    <a:lnTo>
                      <a:pt x="869" y="4"/>
                    </a:lnTo>
                    <a:lnTo>
                      <a:pt x="878" y="8"/>
                    </a:lnTo>
                    <a:lnTo>
                      <a:pt x="889" y="15"/>
                    </a:lnTo>
                    <a:lnTo>
                      <a:pt x="897" y="24"/>
                    </a:lnTo>
                    <a:lnTo>
                      <a:pt x="904" y="36"/>
                    </a:lnTo>
                    <a:lnTo>
                      <a:pt x="989" y="419"/>
                    </a:lnTo>
                    <a:lnTo>
                      <a:pt x="1030" y="430"/>
                    </a:lnTo>
                    <a:lnTo>
                      <a:pt x="1030" y="553"/>
                    </a:lnTo>
                    <a:lnTo>
                      <a:pt x="1009" y="565"/>
                    </a:lnTo>
                    <a:lnTo>
                      <a:pt x="1009" y="666"/>
                    </a:lnTo>
                    <a:lnTo>
                      <a:pt x="1027" y="684"/>
                    </a:lnTo>
                    <a:lnTo>
                      <a:pt x="1012" y="723"/>
                    </a:lnTo>
                    <a:lnTo>
                      <a:pt x="1012" y="980"/>
                    </a:lnTo>
                    <a:lnTo>
                      <a:pt x="632" y="980"/>
                    </a:lnTo>
                    <a:lnTo>
                      <a:pt x="632" y="968"/>
                    </a:lnTo>
                    <a:lnTo>
                      <a:pt x="506" y="929"/>
                    </a:lnTo>
                    <a:lnTo>
                      <a:pt x="86" y="929"/>
                    </a:lnTo>
                    <a:lnTo>
                      <a:pt x="32" y="929"/>
                    </a:lnTo>
                    <a:lnTo>
                      <a:pt x="32" y="798"/>
                    </a:lnTo>
                    <a:lnTo>
                      <a:pt x="0" y="792"/>
                    </a:lnTo>
                    <a:lnTo>
                      <a:pt x="0" y="374"/>
                    </a:lnTo>
                    <a:lnTo>
                      <a:pt x="38" y="329"/>
                    </a:lnTo>
                    <a:lnTo>
                      <a:pt x="104" y="69"/>
                    </a:lnTo>
                    <a:lnTo>
                      <a:pt x="108" y="51"/>
                    </a:lnTo>
                    <a:lnTo>
                      <a:pt x="111" y="40"/>
                    </a:lnTo>
                    <a:lnTo>
                      <a:pt x="119" y="27"/>
                    </a:lnTo>
                    <a:lnTo>
                      <a:pt x="130" y="19"/>
                    </a:lnTo>
                    <a:lnTo>
                      <a:pt x="143" y="15"/>
                    </a:lnTo>
                  </a:path>
                </a:pathLst>
              </a:custGeom>
              <a:solidFill>
                <a:srgbClr val="FF0000"/>
              </a:solidFill>
              <a:ln w="12700" cap="rnd" cmpd="sng">
                <a:solidFill>
                  <a:srgbClr val="000000"/>
                </a:solidFill>
                <a:prstDash val="solid"/>
                <a:round/>
                <a:headEnd type="none" w="med" len="med"/>
                <a:tailEnd type="none" w="med" len="med"/>
              </a:ln>
            </p:spPr>
            <p:txBody>
              <a:bodyPr/>
              <a:lstStyle/>
              <a:p>
                <a:endParaRPr lang="fr-FR"/>
              </a:p>
            </p:txBody>
          </p:sp>
          <p:grpSp>
            <p:nvGrpSpPr>
              <p:cNvPr id="30764" name="Group 14"/>
              <p:cNvGrpSpPr>
                <a:grpSpLocks/>
              </p:cNvGrpSpPr>
              <p:nvPr/>
            </p:nvGrpSpPr>
            <p:grpSpPr bwMode="auto">
              <a:xfrm>
                <a:off x="4919" y="2400"/>
                <a:ext cx="130" cy="414"/>
                <a:chOff x="4919" y="2400"/>
                <a:chExt cx="130" cy="414"/>
              </a:xfrm>
            </p:grpSpPr>
            <p:sp>
              <p:nvSpPr>
                <p:cNvPr id="30788" name="Arc 15"/>
                <p:cNvSpPr>
                  <a:spLocks/>
                </p:cNvSpPr>
                <p:nvPr/>
              </p:nvSpPr>
              <p:spPr bwMode="auto">
                <a:xfrm>
                  <a:off x="4919" y="2400"/>
                  <a:ext cx="72" cy="89"/>
                </a:xfrm>
                <a:custGeom>
                  <a:avLst/>
                  <a:gdLst>
                    <a:gd name="T0" fmla="*/ 0 w 27155"/>
                    <a:gd name="T1" fmla="*/ 0 h 43200"/>
                    <a:gd name="T2" fmla="*/ 0 w 27155"/>
                    <a:gd name="T3" fmla="*/ 0 h 43200"/>
                    <a:gd name="T4" fmla="*/ 0 w 27155"/>
                    <a:gd name="T5" fmla="*/ 0 h 43200"/>
                    <a:gd name="T6" fmla="*/ 0 60000 65536"/>
                    <a:gd name="T7" fmla="*/ 0 60000 65536"/>
                    <a:gd name="T8" fmla="*/ 0 60000 65536"/>
                    <a:gd name="T9" fmla="*/ 0 w 27155"/>
                    <a:gd name="T10" fmla="*/ 0 h 43200"/>
                    <a:gd name="T11" fmla="*/ 27155 w 27155"/>
                    <a:gd name="T12" fmla="*/ 43200 h 43200"/>
                  </a:gdLst>
                  <a:ahLst/>
                  <a:cxnLst>
                    <a:cxn ang="T6">
                      <a:pos x="T0" y="T1"/>
                    </a:cxn>
                    <a:cxn ang="T7">
                      <a:pos x="T2" y="T3"/>
                    </a:cxn>
                    <a:cxn ang="T8">
                      <a:pos x="T4" y="T5"/>
                    </a:cxn>
                  </a:cxnLst>
                  <a:rect l="T9" t="T10" r="T11" b="T12"/>
                  <a:pathLst>
                    <a:path w="27155" h="43200" fill="none"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path>
                    <a:path w="27155" h="43200" stroke="0"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lnTo>
                        <a:pt x="5555" y="21600"/>
                      </a:lnTo>
                      <a:lnTo>
                        <a:pt x="-1" y="726"/>
                      </a:lnTo>
                      <a:close/>
                    </a:path>
                  </a:pathLst>
                </a:custGeom>
                <a:solidFill>
                  <a:srgbClr val="FF0000"/>
                </a:solidFill>
                <a:ln w="12700" cap="rnd">
                  <a:solidFill>
                    <a:srgbClr val="000000"/>
                  </a:solidFill>
                  <a:round/>
                  <a:headEnd/>
                  <a:tailEnd/>
                </a:ln>
              </p:spPr>
              <p:txBody>
                <a:bodyPr wrap="none" anchor="ctr"/>
                <a:lstStyle/>
                <a:p>
                  <a:endParaRPr lang="fr-FR"/>
                </a:p>
              </p:txBody>
            </p:sp>
            <p:sp>
              <p:nvSpPr>
                <p:cNvPr id="30789" name="Freeform 16"/>
                <p:cNvSpPr>
                  <a:spLocks/>
                </p:cNvSpPr>
                <p:nvPr/>
              </p:nvSpPr>
              <p:spPr bwMode="auto">
                <a:xfrm>
                  <a:off x="4950" y="2706"/>
                  <a:ext cx="99" cy="108"/>
                </a:xfrm>
                <a:custGeom>
                  <a:avLst/>
                  <a:gdLst>
                    <a:gd name="T0" fmla="*/ 0 w 99"/>
                    <a:gd name="T1" fmla="*/ 0 h 108"/>
                    <a:gd name="T2" fmla="*/ 58 w 99"/>
                    <a:gd name="T3" fmla="*/ 0 h 108"/>
                    <a:gd name="T4" fmla="*/ 74 w 99"/>
                    <a:gd name="T5" fmla="*/ 3 h 108"/>
                    <a:gd name="T6" fmla="*/ 90 w 99"/>
                    <a:gd name="T7" fmla="*/ 17 h 108"/>
                    <a:gd name="T8" fmla="*/ 73 w 99"/>
                    <a:gd name="T9" fmla="*/ 28 h 108"/>
                    <a:gd name="T10" fmla="*/ 73 w 99"/>
                    <a:gd name="T11" fmla="*/ 78 h 108"/>
                    <a:gd name="T12" fmla="*/ 80 w 99"/>
                    <a:gd name="T13" fmla="*/ 99 h 108"/>
                    <a:gd name="T14" fmla="*/ 98 w 99"/>
                    <a:gd name="T15" fmla="*/ 107 h 108"/>
                    <a:gd name="T16" fmla="*/ 0 w 99"/>
                    <a:gd name="T17" fmla="*/ 107 h 108"/>
                    <a:gd name="T18" fmla="*/ 0 w 99"/>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9"/>
                    <a:gd name="T31" fmla="*/ 0 h 108"/>
                    <a:gd name="T32" fmla="*/ 99 w 99"/>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9" h="108">
                      <a:moveTo>
                        <a:pt x="0" y="0"/>
                      </a:moveTo>
                      <a:lnTo>
                        <a:pt x="58" y="0"/>
                      </a:lnTo>
                      <a:lnTo>
                        <a:pt x="74" y="3"/>
                      </a:lnTo>
                      <a:lnTo>
                        <a:pt x="90" y="17"/>
                      </a:lnTo>
                      <a:lnTo>
                        <a:pt x="73" y="28"/>
                      </a:lnTo>
                      <a:lnTo>
                        <a:pt x="73" y="78"/>
                      </a:lnTo>
                      <a:lnTo>
                        <a:pt x="80" y="99"/>
                      </a:lnTo>
                      <a:lnTo>
                        <a:pt x="98" y="107"/>
                      </a:lnTo>
                      <a:lnTo>
                        <a:pt x="0" y="107"/>
                      </a:lnTo>
                      <a:lnTo>
                        <a:pt x="0" y="0"/>
                      </a:lnTo>
                    </a:path>
                  </a:pathLst>
                </a:custGeom>
                <a:solidFill>
                  <a:srgbClr val="808080"/>
                </a:solidFill>
                <a:ln w="12700" cap="rnd" cmpd="sng">
                  <a:solidFill>
                    <a:srgbClr val="000000"/>
                  </a:solidFill>
                  <a:prstDash val="solid"/>
                  <a:round/>
                  <a:headEnd type="none" w="med" len="med"/>
                  <a:tailEnd type="none" w="med" len="med"/>
                </a:ln>
              </p:spPr>
              <p:txBody>
                <a:bodyPr/>
                <a:lstStyle/>
                <a:p>
                  <a:endParaRPr lang="fr-FR"/>
                </a:p>
              </p:txBody>
            </p:sp>
          </p:grpSp>
          <p:grpSp>
            <p:nvGrpSpPr>
              <p:cNvPr id="30765" name="Group 17"/>
              <p:cNvGrpSpPr>
                <a:grpSpLocks/>
              </p:cNvGrpSpPr>
              <p:nvPr/>
            </p:nvGrpSpPr>
            <p:grpSpPr bwMode="auto">
              <a:xfrm>
                <a:off x="4286" y="1917"/>
                <a:ext cx="537" cy="849"/>
                <a:chOff x="4286" y="1917"/>
                <a:chExt cx="537" cy="849"/>
              </a:xfrm>
            </p:grpSpPr>
            <p:sp>
              <p:nvSpPr>
                <p:cNvPr id="30786" name="Freeform 18"/>
                <p:cNvSpPr>
                  <a:spLocks/>
                </p:cNvSpPr>
                <p:nvPr/>
              </p:nvSpPr>
              <p:spPr bwMode="auto">
                <a:xfrm>
                  <a:off x="4286" y="1917"/>
                  <a:ext cx="462" cy="341"/>
                </a:xfrm>
                <a:custGeom>
                  <a:avLst/>
                  <a:gdLst>
                    <a:gd name="T0" fmla="*/ 0 w 462"/>
                    <a:gd name="T1" fmla="*/ 0 h 341"/>
                    <a:gd name="T2" fmla="*/ 461 w 462"/>
                    <a:gd name="T3" fmla="*/ 0 h 341"/>
                    <a:gd name="T4" fmla="*/ 461 w 462"/>
                    <a:gd name="T5" fmla="*/ 340 h 341"/>
                    <a:gd name="T6" fmla="*/ 1 w 462"/>
                    <a:gd name="T7" fmla="*/ 340 h 341"/>
                    <a:gd name="T8" fmla="*/ 0 w 462"/>
                    <a:gd name="T9" fmla="*/ 0 h 341"/>
                    <a:gd name="T10" fmla="*/ 0 60000 65536"/>
                    <a:gd name="T11" fmla="*/ 0 60000 65536"/>
                    <a:gd name="T12" fmla="*/ 0 60000 65536"/>
                    <a:gd name="T13" fmla="*/ 0 60000 65536"/>
                    <a:gd name="T14" fmla="*/ 0 60000 65536"/>
                    <a:gd name="T15" fmla="*/ 0 w 462"/>
                    <a:gd name="T16" fmla="*/ 0 h 341"/>
                    <a:gd name="T17" fmla="*/ 462 w 462"/>
                    <a:gd name="T18" fmla="*/ 341 h 341"/>
                  </a:gdLst>
                  <a:ahLst/>
                  <a:cxnLst>
                    <a:cxn ang="T10">
                      <a:pos x="T0" y="T1"/>
                    </a:cxn>
                    <a:cxn ang="T11">
                      <a:pos x="T2" y="T3"/>
                    </a:cxn>
                    <a:cxn ang="T12">
                      <a:pos x="T4" y="T5"/>
                    </a:cxn>
                    <a:cxn ang="T13">
                      <a:pos x="T6" y="T7"/>
                    </a:cxn>
                    <a:cxn ang="T14">
                      <a:pos x="T8" y="T9"/>
                    </a:cxn>
                  </a:cxnLst>
                  <a:rect l="T15" t="T16" r="T17" b="T18"/>
                  <a:pathLst>
                    <a:path w="462" h="341">
                      <a:moveTo>
                        <a:pt x="0" y="0"/>
                      </a:moveTo>
                      <a:lnTo>
                        <a:pt x="461" y="0"/>
                      </a:lnTo>
                      <a:lnTo>
                        <a:pt x="461" y="340"/>
                      </a:lnTo>
                      <a:lnTo>
                        <a:pt x="1" y="34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30787" name="Freeform 19"/>
                <p:cNvSpPr>
                  <a:spLocks/>
                </p:cNvSpPr>
                <p:nvPr/>
              </p:nvSpPr>
              <p:spPr bwMode="auto">
                <a:xfrm>
                  <a:off x="4287" y="2257"/>
                  <a:ext cx="536" cy="509"/>
                </a:xfrm>
                <a:custGeom>
                  <a:avLst/>
                  <a:gdLst>
                    <a:gd name="T0" fmla="*/ 0 w 536"/>
                    <a:gd name="T1" fmla="*/ 0 h 509"/>
                    <a:gd name="T2" fmla="*/ 535 w 536"/>
                    <a:gd name="T3" fmla="*/ 0 h 509"/>
                    <a:gd name="T4" fmla="*/ 535 w 536"/>
                    <a:gd name="T5" fmla="*/ 508 h 509"/>
                    <a:gd name="T6" fmla="*/ 260 w 536"/>
                    <a:gd name="T7" fmla="*/ 508 h 509"/>
                    <a:gd name="T8" fmla="*/ 257 w 536"/>
                    <a:gd name="T9" fmla="*/ 472 h 509"/>
                    <a:gd name="T10" fmla="*/ 254 w 536"/>
                    <a:gd name="T11" fmla="*/ 430 h 509"/>
                    <a:gd name="T12" fmla="*/ 252 w 536"/>
                    <a:gd name="T13" fmla="*/ 407 h 509"/>
                    <a:gd name="T14" fmla="*/ 244 w 536"/>
                    <a:gd name="T15" fmla="*/ 368 h 509"/>
                    <a:gd name="T16" fmla="*/ 236 w 536"/>
                    <a:gd name="T17" fmla="*/ 332 h 509"/>
                    <a:gd name="T18" fmla="*/ 222 w 536"/>
                    <a:gd name="T19" fmla="*/ 299 h 509"/>
                    <a:gd name="T20" fmla="*/ 206 w 536"/>
                    <a:gd name="T21" fmla="*/ 272 h 509"/>
                    <a:gd name="T22" fmla="*/ 185 w 536"/>
                    <a:gd name="T23" fmla="*/ 243 h 509"/>
                    <a:gd name="T24" fmla="*/ 162 w 536"/>
                    <a:gd name="T25" fmla="*/ 222 h 509"/>
                    <a:gd name="T26" fmla="*/ 134 w 536"/>
                    <a:gd name="T27" fmla="*/ 204 h 509"/>
                    <a:gd name="T28" fmla="*/ 110 w 536"/>
                    <a:gd name="T29" fmla="*/ 193 h 509"/>
                    <a:gd name="T30" fmla="*/ 84 w 536"/>
                    <a:gd name="T31" fmla="*/ 183 h 509"/>
                    <a:gd name="T32" fmla="*/ 51 w 536"/>
                    <a:gd name="T33" fmla="*/ 175 h 509"/>
                    <a:gd name="T34" fmla="*/ 23 w 536"/>
                    <a:gd name="T35" fmla="*/ 171 h 509"/>
                    <a:gd name="T36" fmla="*/ 0 w 536"/>
                    <a:gd name="T37" fmla="*/ 169 h 509"/>
                    <a:gd name="T38" fmla="*/ 0 w 536"/>
                    <a:gd name="T39" fmla="*/ 0 h 5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36"/>
                    <a:gd name="T61" fmla="*/ 0 h 509"/>
                    <a:gd name="T62" fmla="*/ 536 w 536"/>
                    <a:gd name="T63" fmla="*/ 509 h 5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36" h="509">
                      <a:moveTo>
                        <a:pt x="0" y="0"/>
                      </a:moveTo>
                      <a:lnTo>
                        <a:pt x="535" y="0"/>
                      </a:lnTo>
                      <a:lnTo>
                        <a:pt x="535" y="508"/>
                      </a:lnTo>
                      <a:lnTo>
                        <a:pt x="260" y="508"/>
                      </a:lnTo>
                      <a:lnTo>
                        <a:pt x="257" y="472"/>
                      </a:lnTo>
                      <a:lnTo>
                        <a:pt x="254" y="430"/>
                      </a:lnTo>
                      <a:lnTo>
                        <a:pt x="252" y="407"/>
                      </a:lnTo>
                      <a:lnTo>
                        <a:pt x="244" y="368"/>
                      </a:lnTo>
                      <a:lnTo>
                        <a:pt x="236" y="332"/>
                      </a:lnTo>
                      <a:lnTo>
                        <a:pt x="222" y="299"/>
                      </a:lnTo>
                      <a:lnTo>
                        <a:pt x="206" y="272"/>
                      </a:lnTo>
                      <a:lnTo>
                        <a:pt x="185" y="243"/>
                      </a:lnTo>
                      <a:lnTo>
                        <a:pt x="162" y="222"/>
                      </a:lnTo>
                      <a:lnTo>
                        <a:pt x="134" y="204"/>
                      </a:lnTo>
                      <a:lnTo>
                        <a:pt x="110" y="193"/>
                      </a:lnTo>
                      <a:lnTo>
                        <a:pt x="84" y="183"/>
                      </a:lnTo>
                      <a:lnTo>
                        <a:pt x="51" y="175"/>
                      </a:lnTo>
                      <a:lnTo>
                        <a:pt x="23" y="171"/>
                      </a:lnTo>
                      <a:lnTo>
                        <a:pt x="0" y="169"/>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grpSp>
          <p:sp>
            <p:nvSpPr>
              <p:cNvPr id="30766" name="Oval 20"/>
              <p:cNvSpPr>
                <a:spLocks noChangeArrowheads="1"/>
              </p:cNvSpPr>
              <p:nvPr/>
            </p:nvSpPr>
            <p:spPr bwMode="auto">
              <a:xfrm>
                <a:off x="3992" y="2453"/>
                <a:ext cx="488" cy="491"/>
              </a:xfrm>
              <a:prstGeom prst="ellipse">
                <a:avLst/>
              </a:prstGeom>
              <a:solidFill>
                <a:srgbClr val="80808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67" name="Oval 21"/>
              <p:cNvSpPr>
                <a:spLocks noChangeArrowheads="1"/>
              </p:cNvSpPr>
              <p:nvPr/>
            </p:nvSpPr>
            <p:spPr bwMode="auto">
              <a:xfrm>
                <a:off x="4007" y="2524"/>
                <a:ext cx="458" cy="456"/>
              </a:xfrm>
              <a:prstGeom prst="ellipse">
                <a:avLst/>
              </a:prstGeom>
              <a:solidFill>
                <a:srgbClr val="00000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68" name="Oval 22"/>
              <p:cNvSpPr>
                <a:spLocks noChangeArrowheads="1"/>
              </p:cNvSpPr>
              <p:nvPr/>
            </p:nvSpPr>
            <p:spPr bwMode="auto">
              <a:xfrm>
                <a:off x="4143" y="2660"/>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30769" name="Group 23"/>
              <p:cNvGrpSpPr>
                <a:grpSpLocks/>
              </p:cNvGrpSpPr>
              <p:nvPr/>
            </p:nvGrpSpPr>
            <p:grpSpPr bwMode="auto">
              <a:xfrm>
                <a:off x="4058" y="1880"/>
                <a:ext cx="854" cy="349"/>
                <a:chOff x="4058" y="1880"/>
                <a:chExt cx="854" cy="349"/>
              </a:xfrm>
            </p:grpSpPr>
            <p:sp>
              <p:nvSpPr>
                <p:cNvPr id="30782" name="Freeform 24"/>
                <p:cNvSpPr>
                  <a:spLocks/>
                </p:cNvSpPr>
                <p:nvPr/>
              </p:nvSpPr>
              <p:spPr bwMode="auto">
                <a:xfrm>
                  <a:off x="4329" y="1946"/>
                  <a:ext cx="379" cy="276"/>
                </a:xfrm>
                <a:custGeom>
                  <a:avLst/>
                  <a:gdLst>
                    <a:gd name="T0" fmla="*/ 1 w 379"/>
                    <a:gd name="T1" fmla="*/ 42 h 276"/>
                    <a:gd name="T2" fmla="*/ 89 w 379"/>
                    <a:gd name="T3" fmla="*/ 0 h 276"/>
                    <a:gd name="T4" fmla="*/ 378 w 379"/>
                    <a:gd name="T5" fmla="*/ 0 h 276"/>
                    <a:gd name="T6" fmla="*/ 378 w 379"/>
                    <a:gd name="T7" fmla="*/ 275 h 276"/>
                    <a:gd name="T8" fmla="*/ 317 w 379"/>
                    <a:gd name="T9" fmla="*/ 275 h 276"/>
                    <a:gd name="T10" fmla="*/ 286 w 379"/>
                    <a:gd name="T11" fmla="*/ 242 h 276"/>
                    <a:gd name="T12" fmla="*/ 26 w 379"/>
                    <a:gd name="T13" fmla="*/ 242 h 276"/>
                    <a:gd name="T14" fmla="*/ 0 w 379"/>
                    <a:gd name="T15" fmla="*/ 223 h 276"/>
                    <a:gd name="T16" fmla="*/ 1 w 379"/>
                    <a:gd name="T17" fmla="*/ 42 h 2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9"/>
                    <a:gd name="T28" fmla="*/ 0 h 276"/>
                    <a:gd name="T29" fmla="*/ 379 w 379"/>
                    <a:gd name="T30" fmla="*/ 276 h 2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9" h="276">
                      <a:moveTo>
                        <a:pt x="1" y="42"/>
                      </a:moveTo>
                      <a:lnTo>
                        <a:pt x="89" y="0"/>
                      </a:lnTo>
                      <a:lnTo>
                        <a:pt x="378" y="0"/>
                      </a:lnTo>
                      <a:lnTo>
                        <a:pt x="378" y="275"/>
                      </a:lnTo>
                      <a:lnTo>
                        <a:pt x="317" y="275"/>
                      </a:lnTo>
                      <a:lnTo>
                        <a:pt x="286" y="242"/>
                      </a:lnTo>
                      <a:lnTo>
                        <a:pt x="26" y="242"/>
                      </a:lnTo>
                      <a:lnTo>
                        <a:pt x="0" y="223"/>
                      </a:lnTo>
                      <a:lnTo>
                        <a:pt x="1" y="42"/>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30783" name="Freeform 25"/>
                <p:cNvSpPr>
                  <a:spLocks/>
                </p:cNvSpPr>
                <p:nvPr/>
              </p:nvSpPr>
              <p:spPr bwMode="auto">
                <a:xfrm>
                  <a:off x="4785" y="1880"/>
                  <a:ext cx="127" cy="349"/>
                </a:xfrm>
                <a:custGeom>
                  <a:avLst/>
                  <a:gdLst>
                    <a:gd name="T0" fmla="*/ 49 w 127"/>
                    <a:gd name="T1" fmla="*/ 0 h 349"/>
                    <a:gd name="T2" fmla="*/ 126 w 127"/>
                    <a:gd name="T3" fmla="*/ 348 h 349"/>
                    <a:gd name="T4" fmla="*/ 33 w 127"/>
                    <a:gd name="T5" fmla="*/ 348 h 349"/>
                    <a:gd name="T6" fmla="*/ 0 w 127"/>
                    <a:gd name="T7" fmla="*/ 342 h 349"/>
                    <a:gd name="T8" fmla="*/ 0 w 127"/>
                    <a:gd name="T9" fmla="*/ 64 h 349"/>
                    <a:gd name="T10" fmla="*/ 2 w 127"/>
                    <a:gd name="T11" fmla="*/ 44 h 349"/>
                    <a:gd name="T12" fmla="*/ 7 w 127"/>
                    <a:gd name="T13" fmla="*/ 31 h 349"/>
                    <a:gd name="T14" fmla="*/ 17 w 127"/>
                    <a:gd name="T15" fmla="*/ 19 h 349"/>
                    <a:gd name="T16" fmla="*/ 30 w 127"/>
                    <a:gd name="T17" fmla="*/ 10 h 349"/>
                    <a:gd name="T18" fmla="*/ 49 w 127"/>
                    <a:gd name="T19" fmla="*/ 0 h 3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
                    <a:gd name="T31" fmla="*/ 0 h 349"/>
                    <a:gd name="T32" fmla="*/ 127 w 127"/>
                    <a:gd name="T33" fmla="*/ 349 h 3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 h="349">
                      <a:moveTo>
                        <a:pt x="49" y="0"/>
                      </a:moveTo>
                      <a:lnTo>
                        <a:pt x="126" y="348"/>
                      </a:lnTo>
                      <a:lnTo>
                        <a:pt x="33" y="348"/>
                      </a:lnTo>
                      <a:lnTo>
                        <a:pt x="0" y="342"/>
                      </a:lnTo>
                      <a:lnTo>
                        <a:pt x="0" y="64"/>
                      </a:lnTo>
                      <a:lnTo>
                        <a:pt x="2" y="44"/>
                      </a:lnTo>
                      <a:lnTo>
                        <a:pt x="7" y="31"/>
                      </a:lnTo>
                      <a:lnTo>
                        <a:pt x="17" y="19"/>
                      </a:lnTo>
                      <a:lnTo>
                        <a:pt x="30" y="10"/>
                      </a:lnTo>
                      <a:lnTo>
                        <a:pt x="49"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30784" name="Freeform 26"/>
                <p:cNvSpPr>
                  <a:spLocks/>
                </p:cNvSpPr>
                <p:nvPr/>
              </p:nvSpPr>
              <p:spPr bwMode="auto">
                <a:xfrm>
                  <a:off x="4058" y="1958"/>
                  <a:ext cx="190" cy="199"/>
                </a:xfrm>
                <a:custGeom>
                  <a:avLst/>
                  <a:gdLst>
                    <a:gd name="T0" fmla="*/ 42 w 190"/>
                    <a:gd name="T1" fmla="*/ 0 h 199"/>
                    <a:gd name="T2" fmla="*/ 189 w 190"/>
                    <a:gd name="T3" fmla="*/ 0 h 199"/>
                    <a:gd name="T4" fmla="*/ 189 w 190"/>
                    <a:gd name="T5" fmla="*/ 198 h 199"/>
                    <a:gd name="T6" fmla="*/ 6 w 190"/>
                    <a:gd name="T7" fmla="*/ 198 h 199"/>
                    <a:gd name="T8" fmla="*/ 0 w 190"/>
                    <a:gd name="T9" fmla="*/ 158 h 199"/>
                    <a:gd name="T10" fmla="*/ 42 w 190"/>
                    <a:gd name="T11" fmla="*/ 0 h 199"/>
                    <a:gd name="T12" fmla="*/ 0 60000 65536"/>
                    <a:gd name="T13" fmla="*/ 0 60000 65536"/>
                    <a:gd name="T14" fmla="*/ 0 60000 65536"/>
                    <a:gd name="T15" fmla="*/ 0 60000 65536"/>
                    <a:gd name="T16" fmla="*/ 0 60000 65536"/>
                    <a:gd name="T17" fmla="*/ 0 60000 65536"/>
                    <a:gd name="T18" fmla="*/ 0 w 190"/>
                    <a:gd name="T19" fmla="*/ 0 h 199"/>
                    <a:gd name="T20" fmla="*/ 190 w 190"/>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190" h="199">
                      <a:moveTo>
                        <a:pt x="42" y="0"/>
                      </a:moveTo>
                      <a:lnTo>
                        <a:pt x="189" y="0"/>
                      </a:lnTo>
                      <a:lnTo>
                        <a:pt x="189" y="198"/>
                      </a:lnTo>
                      <a:lnTo>
                        <a:pt x="6" y="198"/>
                      </a:lnTo>
                      <a:lnTo>
                        <a:pt x="0" y="158"/>
                      </a:lnTo>
                      <a:lnTo>
                        <a:pt x="42"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30785" name="Line 27"/>
                <p:cNvSpPr>
                  <a:spLocks noChangeShapeType="1"/>
                </p:cNvSpPr>
                <p:nvPr/>
              </p:nvSpPr>
              <p:spPr bwMode="auto">
                <a:xfrm flipV="1">
                  <a:off x="4614" y="1947"/>
                  <a:ext cx="0" cy="24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30770" name="Freeform 28"/>
              <p:cNvSpPr>
                <a:spLocks/>
              </p:cNvSpPr>
              <p:nvPr/>
            </p:nvSpPr>
            <p:spPr bwMode="auto">
              <a:xfrm>
                <a:off x="3939" y="2624"/>
                <a:ext cx="34" cy="136"/>
              </a:xfrm>
              <a:custGeom>
                <a:avLst/>
                <a:gdLst>
                  <a:gd name="T0" fmla="*/ 0 w 34"/>
                  <a:gd name="T1" fmla="*/ 0 h 136"/>
                  <a:gd name="T2" fmla="*/ 33 w 34"/>
                  <a:gd name="T3" fmla="*/ 6 h 136"/>
                  <a:gd name="T4" fmla="*/ 33 w 34"/>
                  <a:gd name="T5" fmla="*/ 135 h 136"/>
                  <a:gd name="T6" fmla="*/ 0 w 34"/>
                  <a:gd name="T7" fmla="*/ 135 h 136"/>
                  <a:gd name="T8" fmla="*/ 0 w 34"/>
                  <a:gd name="T9" fmla="*/ 0 h 136"/>
                  <a:gd name="T10" fmla="*/ 0 60000 65536"/>
                  <a:gd name="T11" fmla="*/ 0 60000 65536"/>
                  <a:gd name="T12" fmla="*/ 0 60000 65536"/>
                  <a:gd name="T13" fmla="*/ 0 60000 65536"/>
                  <a:gd name="T14" fmla="*/ 0 60000 65536"/>
                  <a:gd name="T15" fmla="*/ 0 w 34"/>
                  <a:gd name="T16" fmla="*/ 0 h 136"/>
                  <a:gd name="T17" fmla="*/ 34 w 34"/>
                  <a:gd name="T18" fmla="*/ 136 h 136"/>
                </a:gdLst>
                <a:ahLst/>
                <a:cxnLst>
                  <a:cxn ang="T10">
                    <a:pos x="T0" y="T1"/>
                  </a:cxn>
                  <a:cxn ang="T11">
                    <a:pos x="T2" y="T3"/>
                  </a:cxn>
                  <a:cxn ang="T12">
                    <a:pos x="T4" y="T5"/>
                  </a:cxn>
                  <a:cxn ang="T13">
                    <a:pos x="T6" y="T7"/>
                  </a:cxn>
                  <a:cxn ang="T14">
                    <a:pos x="T8" y="T9"/>
                  </a:cxn>
                </a:cxnLst>
                <a:rect l="T15" t="T16" r="T17" b="T18"/>
                <a:pathLst>
                  <a:path w="34" h="136">
                    <a:moveTo>
                      <a:pt x="0" y="0"/>
                    </a:moveTo>
                    <a:lnTo>
                      <a:pt x="33" y="6"/>
                    </a:lnTo>
                    <a:lnTo>
                      <a:pt x="33" y="135"/>
                    </a:lnTo>
                    <a:lnTo>
                      <a:pt x="0" y="135"/>
                    </a:lnTo>
                    <a:lnTo>
                      <a:pt x="0"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30771" name="Freeform 29"/>
              <p:cNvSpPr>
                <a:spLocks/>
              </p:cNvSpPr>
              <p:nvPr/>
            </p:nvSpPr>
            <p:spPr bwMode="auto">
              <a:xfrm>
                <a:off x="4312" y="2202"/>
                <a:ext cx="89" cy="24"/>
              </a:xfrm>
              <a:custGeom>
                <a:avLst/>
                <a:gdLst>
                  <a:gd name="T0" fmla="*/ 0 w 89"/>
                  <a:gd name="T1" fmla="*/ 0 h 24"/>
                  <a:gd name="T2" fmla="*/ 0 w 89"/>
                  <a:gd name="T3" fmla="*/ 23 h 24"/>
                  <a:gd name="T4" fmla="*/ 23 w 89"/>
                  <a:gd name="T5" fmla="*/ 15 h 24"/>
                  <a:gd name="T6" fmla="*/ 88 w 89"/>
                  <a:gd name="T7" fmla="*/ 15 h 24"/>
                  <a:gd name="T8" fmla="*/ 88 w 89"/>
                  <a:gd name="T9" fmla="*/ 7 h 24"/>
                  <a:gd name="T10" fmla="*/ 23 w 89"/>
                  <a:gd name="T11" fmla="*/ 7 h 24"/>
                  <a:gd name="T12" fmla="*/ 16 w 89"/>
                  <a:gd name="T13" fmla="*/ 0 h 24"/>
                  <a:gd name="T14" fmla="*/ 0 w 8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24"/>
                  <a:gd name="T26" fmla="*/ 89 w 8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24">
                    <a:moveTo>
                      <a:pt x="0" y="0"/>
                    </a:moveTo>
                    <a:lnTo>
                      <a:pt x="0" y="23"/>
                    </a:lnTo>
                    <a:lnTo>
                      <a:pt x="23" y="15"/>
                    </a:lnTo>
                    <a:lnTo>
                      <a:pt x="88" y="15"/>
                    </a:lnTo>
                    <a:lnTo>
                      <a:pt x="88" y="7"/>
                    </a:lnTo>
                    <a:lnTo>
                      <a:pt x="23" y="7"/>
                    </a:lnTo>
                    <a:lnTo>
                      <a:pt x="16" y="0"/>
                    </a:lnTo>
                    <a:lnTo>
                      <a:pt x="0" y="0"/>
                    </a:lnTo>
                  </a:path>
                </a:pathLst>
              </a:custGeom>
              <a:solidFill>
                <a:srgbClr val="C0C0C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30772" name="Freeform 30"/>
              <p:cNvSpPr>
                <a:spLocks/>
              </p:cNvSpPr>
              <p:nvPr/>
            </p:nvSpPr>
            <p:spPr bwMode="auto">
              <a:xfrm>
                <a:off x="878" y="1453"/>
                <a:ext cx="3044" cy="1245"/>
              </a:xfrm>
              <a:custGeom>
                <a:avLst/>
                <a:gdLst>
                  <a:gd name="T0" fmla="*/ 0 w 3044"/>
                  <a:gd name="T1" fmla="*/ 0 h 1245"/>
                  <a:gd name="T2" fmla="*/ 0 w 3044"/>
                  <a:gd name="T3" fmla="*/ 1244 h 1245"/>
                  <a:gd name="T4" fmla="*/ 3043 w 3044"/>
                  <a:gd name="T5" fmla="*/ 1244 h 1245"/>
                  <a:gd name="T6" fmla="*/ 3043 w 3044"/>
                  <a:gd name="T7" fmla="*/ 0 h 1245"/>
                  <a:gd name="T8" fmla="*/ 0 w 3044"/>
                  <a:gd name="T9" fmla="*/ 0 h 1245"/>
                  <a:gd name="T10" fmla="*/ 0 60000 65536"/>
                  <a:gd name="T11" fmla="*/ 0 60000 65536"/>
                  <a:gd name="T12" fmla="*/ 0 60000 65536"/>
                  <a:gd name="T13" fmla="*/ 0 60000 65536"/>
                  <a:gd name="T14" fmla="*/ 0 60000 65536"/>
                  <a:gd name="T15" fmla="*/ 0 w 3044"/>
                  <a:gd name="T16" fmla="*/ 0 h 1245"/>
                  <a:gd name="T17" fmla="*/ 3044 w 3044"/>
                  <a:gd name="T18" fmla="*/ 1245 h 1245"/>
                </a:gdLst>
                <a:ahLst/>
                <a:cxnLst>
                  <a:cxn ang="T10">
                    <a:pos x="T0" y="T1"/>
                  </a:cxn>
                  <a:cxn ang="T11">
                    <a:pos x="T2" y="T3"/>
                  </a:cxn>
                  <a:cxn ang="T12">
                    <a:pos x="T4" y="T5"/>
                  </a:cxn>
                  <a:cxn ang="T13">
                    <a:pos x="T6" y="T7"/>
                  </a:cxn>
                  <a:cxn ang="T14">
                    <a:pos x="T8" y="T9"/>
                  </a:cxn>
                </a:cxnLst>
                <a:rect l="T15" t="T16" r="T17" b="T18"/>
                <a:pathLst>
                  <a:path w="3044" h="1245">
                    <a:moveTo>
                      <a:pt x="0" y="0"/>
                    </a:moveTo>
                    <a:lnTo>
                      <a:pt x="0" y="1244"/>
                    </a:lnTo>
                    <a:lnTo>
                      <a:pt x="3043" y="1244"/>
                    </a:lnTo>
                    <a:lnTo>
                      <a:pt x="3043" y="0"/>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sp>
            <p:nvSpPr>
              <p:cNvPr id="30773" name="Freeform 31"/>
              <p:cNvSpPr>
                <a:spLocks/>
              </p:cNvSpPr>
              <p:nvPr/>
            </p:nvSpPr>
            <p:spPr bwMode="auto">
              <a:xfrm>
                <a:off x="804" y="2672"/>
                <a:ext cx="3164" cy="102"/>
              </a:xfrm>
              <a:custGeom>
                <a:avLst/>
                <a:gdLst>
                  <a:gd name="T0" fmla="*/ 0 w 3164"/>
                  <a:gd name="T1" fmla="*/ 0 h 102"/>
                  <a:gd name="T2" fmla="*/ 3163 w 3164"/>
                  <a:gd name="T3" fmla="*/ 0 h 102"/>
                  <a:gd name="T4" fmla="*/ 3163 w 3164"/>
                  <a:gd name="T5" fmla="*/ 101 h 102"/>
                  <a:gd name="T6" fmla="*/ 0 w 3164"/>
                  <a:gd name="T7" fmla="*/ 101 h 102"/>
                  <a:gd name="T8" fmla="*/ 0 w 3164"/>
                  <a:gd name="T9" fmla="*/ 0 h 102"/>
                  <a:gd name="T10" fmla="*/ 0 60000 65536"/>
                  <a:gd name="T11" fmla="*/ 0 60000 65536"/>
                  <a:gd name="T12" fmla="*/ 0 60000 65536"/>
                  <a:gd name="T13" fmla="*/ 0 60000 65536"/>
                  <a:gd name="T14" fmla="*/ 0 60000 65536"/>
                  <a:gd name="T15" fmla="*/ 0 w 3164"/>
                  <a:gd name="T16" fmla="*/ 0 h 102"/>
                  <a:gd name="T17" fmla="*/ 3164 w 3164"/>
                  <a:gd name="T18" fmla="*/ 102 h 102"/>
                </a:gdLst>
                <a:ahLst/>
                <a:cxnLst>
                  <a:cxn ang="T10">
                    <a:pos x="T0" y="T1"/>
                  </a:cxn>
                  <a:cxn ang="T11">
                    <a:pos x="T2" y="T3"/>
                  </a:cxn>
                  <a:cxn ang="T12">
                    <a:pos x="T4" y="T5"/>
                  </a:cxn>
                  <a:cxn ang="T13">
                    <a:pos x="T6" y="T7"/>
                  </a:cxn>
                  <a:cxn ang="T14">
                    <a:pos x="T8" y="T9"/>
                  </a:cxn>
                </a:cxnLst>
                <a:rect l="T15" t="T16" r="T17" b="T18"/>
                <a:pathLst>
                  <a:path w="3164" h="102">
                    <a:moveTo>
                      <a:pt x="0" y="0"/>
                    </a:moveTo>
                    <a:lnTo>
                      <a:pt x="3163" y="0"/>
                    </a:lnTo>
                    <a:lnTo>
                      <a:pt x="3163" y="101"/>
                    </a:lnTo>
                    <a:lnTo>
                      <a:pt x="0" y="101"/>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grpSp>
            <p:nvGrpSpPr>
              <p:cNvPr id="30774" name="Group 32"/>
              <p:cNvGrpSpPr>
                <a:grpSpLocks/>
              </p:cNvGrpSpPr>
              <p:nvPr/>
            </p:nvGrpSpPr>
            <p:grpSpPr bwMode="auto">
              <a:xfrm>
                <a:off x="1859" y="2458"/>
                <a:ext cx="488" cy="529"/>
                <a:chOff x="1859" y="2458"/>
                <a:chExt cx="488" cy="529"/>
              </a:xfrm>
            </p:grpSpPr>
            <p:sp>
              <p:nvSpPr>
                <p:cNvPr id="30778" name="Oval 33"/>
                <p:cNvSpPr>
                  <a:spLocks noChangeArrowheads="1"/>
                </p:cNvSpPr>
                <p:nvPr/>
              </p:nvSpPr>
              <p:spPr bwMode="auto">
                <a:xfrm>
                  <a:off x="1859" y="2458"/>
                  <a:ext cx="488" cy="492"/>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30779" name="Group 34"/>
                <p:cNvGrpSpPr>
                  <a:grpSpLocks/>
                </p:cNvGrpSpPr>
                <p:nvPr/>
              </p:nvGrpSpPr>
              <p:grpSpPr bwMode="auto">
                <a:xfrm>
                  <a:off x="1874" y="2530"/>
                  <a:ext cx="458" cy="457"/>
                  <a:chOff x="1874" y="2530"/>
                  <a:chExt cx="458" cy="457"/>
                </a:xfrm>
              </p:grpSpPr>
              <p:sp>
                <p:nvSpPr>
                  <p:cNvPr id="30780" name="Oval 35"/>
                  <p:cNvSpPr>
                    <a:spLocks noChangeArrowheads="1"/>
                  </p:cNvSpPr>
                  <p:nvPr/>
                </p:nvSpPr>
                <p:spPr bwMode="auto">
                  <a:xfrm>
                    <a:off x="1874" y="2530"/>
                    <a:ext cx="458" cy="457"/>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81" name="Oval 36"/>
                  <p:cNvSpPr>
                    <a:spLocks noChangeArrowheads="1"/>
                  </p:cNvSpPr>
                  <p:nvPr/>
                </p:nvSpPr>
                <p:spPr bwMode="auto">
                  <a:xfrm>
                    <a:off x="2010" y="2666"/>
                    <a:ext cx="184" cy="183"/>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30775" name="Rectangle 37"/>
              <p:cNvSpPr>
                <a:spLocks noChangeArrowheads="1"/>
              </p:cNvSpPr>
              <p:nvPr/>
            </p:nvSpPr>
            <p:spPr bwMode="auto">
              <a:xfrm>
                <a:off x="1088" y="2011"/>
                <a:ext cx="2614" cy="101"/>
              </a:xfrm>
              <a:prstGeom prst="rect">
                <a:avLst/>
              </a:prstGeom>
              <a:solidFill>
                <a:schemeClr val="bg2"/>
              </a:solidFill>
              <a:ln w="12700">
                <a:solidFill>
                  <a:srgbClr val="000000"/>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76" name="Line 38"/>
              <p:cNvSpPr>
                <a:spLocks noChangeShapeType="1"/>
              </p:cNvSpPr>
              <p:nvPr/>
            </p:nvSpPr>
            <p:spPr bwMode="auto">
              <a:xfrm>
                <a:off x="882" y="2180"/>
                <a:ext cx="300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30777" name="Oval 39"/>
              <p:cNvSpPr>
                <a:spLocks noChangeArrowheads="1"/>
              </p:cNvSpPr>
              <p:nvPr/>
            </p:nvSpPr>
            <p:spPr bwMode="auto">
              <a:xfrm>
                <a:off x="2007" y="2648"/>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0759" name="Group 40"/>
            <p:cNvGrpSpPr>
              <a:grpSpLocks/>
            </p:cNvGrpSpPr>
            <p:nvPr/>
          </p:nvGrpSpPr>
          <p:grpSpPr bwMode="auto">
            <a:xfrm>
              <a:off x="5159" y="2117"/>
              <a:ext cx="367" cy="116"/>
              <a:chOff x="3631" y="4140"/>
              <a:chExt cx="461" cy="146"/>
            </a:xfrm>
          </p:grpSpPr>
          <p:sp>
            <p:nvSpPr>
              <p:cNvPr id="30760" name="Oval 41"/>
              <p:cNvSpPr>
                <a:spLocks noChangeArrowheads="1"/>
              </p:cNvSpPr>
              <p:nvPr/>
            </p:nvSpPr>
            <p:spPr bwMode="auto">
              <a:xfrm>
                <a:off x="3631" y="4140"/>
                <a:ext cx="145" cy="145"/>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61" name="Oval 42"/>
              <p:cNvSpPr>
                <a:spLocks noChangeArrowheads="1"/>
              </p:cNvSpPr>
              <p:nvPr/>
            </p:nvSpPr>
            <p:spPr bwMode="auto">
              <a:xfrm>
                <a:off x="3787" y="4140"/>
                <a:ext cx="145" cy="145"/>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62" name="Oval 43"/>
              <p:cNvSpPr>
                <a:spLocks noChangeArrowheads="1"/>
              </p:cNvSpPr>
              <p:nvPr/>
            </p:nvSpPr>
            <p:spPr bwMode="auto">
              <a:xfrm>
                <a:off x="3947" y="4141"/>
                <a:ext cx="145" cy="145"/>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30726" name="Rectangle 46"/>
          <p:cNvSpPr>
            <a:spLocks noChangeArrowheads="1"/>
          </p:cNvSpPr>
          <p:nvPr/>
        </p:nvSpPr>
        <p:spPr bwMode="auto">
          <a:xfrm>
            <a:off x="2852738" y="1481138"/>
            <a:ext cx="336550" cy="509587"/>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27" name="Rectangle 47"/>
          <p:cNvSpPr>
            <a:spLocks noChangeArrowheads="1"/>
          </p:cNvSpPr>
          <p:nvPr/>
        </p:nvSpPr>
        <p:spPr bwMode="auto">
          <a:xfrm>
            <a:off x="2728913" y="1663700"/>
            <a:ext cx="336550" cy="509588"/>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28" name="Text Box 48"/>
          <p:cNvSpPr txBox="1">
            <a:spLocks noChangeArrowheads="1"/>
          </p:cNvSpPr>
          <p:nvPr/>
        </p:nvSpPr>
        <p:spPr bwMode="auto">
          <a:xfrm>
            <a:off x="1631950" y="993775"/>
            <a:ext cx="1514475" cy="3460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1. Engrenages</a:t>
            </a:r>
          </a:p>
        </p:txBody>
      </p:sp>
      <p:sp>
        <p:nvSpPr>
          <p:cNvPr id="30729" name="AutoShape 49"/>
          <p:cNvSpPr>
            <a:spLocks noChangeArrowheads="1"/>
          </p:cNvSpPr>
          <p:nvPr/>
        </p:nvSpPr>
        <p:spPr bwMode="auto">
          <a:xfrm rot="3693423">
            <a:off x="2960688" y="3003550"/>
            <a:ext cx="1646237" cy="303213"/>
          </a:xfrm>
          <a:prstGeom prst="rightArrow">
            <a:avLst>
              <a:gd name="adj1" fmla="val 50000"/>
              <a:gd name="adj2" fmla="val 135733"/>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0" name="Rectangle 52"/>
          <p:cNvSpPr>
            <a:spLocks noChangeArrowheads="1"/>
          </p:cNvSpPr>
          <p:nvPr/>
        </p:nvSpPr>
        <p:spPr bwMode="auto">
          <a:xfrm>
            <a:off x="5561013" y="1490663"/>
            <a:ext cx="268287" cy="644525"/>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1" name="Rectangle 53"/>
          <p:cNvSpPr>
            <a:spLocks noChangeArrowheads="1"/>
          </p:cNvSpPr>
          <p:nvPr/>
        </p:nvSpPr>
        <p:spPr bwMode="auto">
          <a:xfrm>
            <a:off x="5419725" y="1647825"/>
            <a:ext cx="268288" cy="644525"/>
          </a:xfrm>
          <a:prstGeom prst="rect">
            <a:avLst/>
          </a:prstGeom>
          <a:solidFill>
            <a:srgbClr val="0066FF"/>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2" name="Text Box 54"/>
          <p:cNvSpPr txBox="1">
            <a:spLocks noChangeArrowheads="1"/>
          </p:cNvSpPr>
          <p:nvPr/>
        </p:nvSpPr>
        <p:spPr bwMode="auto">
          <a:xfrm>
            <a:off x="5146675" y="989013"/>
            <a:ext cx="1087438" cy="3460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2. Carters</a:t>
            </a:r>
          </a:p>
        </p:txBody>
      </p:sp>
      <p:sp>
        <p:nvSpPr>
          <p:cNvPr id="30733" name="AutoShape 55"/>
          <p:cNvSpPr>
            <a:spLocks noChangeArrowheads="1"/>
          </p:cNvSpPr>
          <p:nvPr/>
        </p:nvSpPr>
        <p:spPr bwMode="auto">
          <a:xfrm rot="6261432">
            <a:off x="4237038" y="3033713"/>
            <a:ext cx="1484312" cy="303212"/>
          </a:xfrm>
          <a:prstGeom prst="rightArrow">
            <a:avLst>
              <a:gd name="adj1" fmla="val 50000"/>
              <a:gd name="adj2" fmla="val 122382"/>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4" name="Text Box 57"/>
          <p:cNvSpPr txBox="1">
            <a:spLocks noChangeArrowheads="1"/>
          </p:cNvSpPr>
          <p:nvPr/>
        </p:nvSpPr>
        <p:spPr bwMode="auto">
          <a:xfrm>
            <a:off x="7197725" y="2305050"/>
            <a:ext cx="1412875" cy="5905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3. Couronnes</a:t>
            </a:r>
          </a:p>
          <a:p>
            <a:pPr algn="ctr">
              <a:spcBef>
                <a:spcPct val="0"/>
              </a:spcBef>
              <a:buFontTx/>
              <a:buNone/>
            </a:pPr>
            <a:r>
              <a:rPr lang="fr-FR" altLang="fr-FR" sz="1600">
                <a:solidFill>
                  <a:schemeClr val="tx1"/>
                </a:solidFill>
              </a:rPr>
              <a:t>(ph. A)</a:t>
            </a:r>
          </a:p>
        </p:txBody>
      </p:sp>
      <p:grpSp>
        <p:nvGrpSpPr>
          <p:cNvPr id="30735" name="Group 59"/>
          <p:cNvGrpSpPr>
            <a:grpSpLocks/>
          </p:cNvGrpSpPr>
          <p:nvPr/>
        </p:nvGrpSpPr>
        <p:grpSpPr bwMode="auto">
          <a:xfrm>
            <a:off x="6630988" y="2352675"/>
            <a:ext cx="644525" cy="584200"/>
            <a:chOff x="1008" y="3932"/>
            <a:chExt cx="576" cy="480"/>
          </a:xfrm>
        </p:grpSpPr>
        <p:sp>
          <p:nvSpPr>
            <p:cNvPr id="30755" name="Oval 60"/>
            <p:cNvSpPr>
              <a:spLocks noChangeArrowheads="1"/>
            </p:cNvSpPr>
            <p:nvPr/>
          </p:nvSpPr>
          <p:spPr bwMode="auto">
            <a:xfrm>
              <a:off x="1200" y="3932"/>
              <a:ext cx="384" cy="384"/>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6" name="Oval 61"/>
            <p:cNvSpPr>
              <a:spLocks noChangeArrowheads="1"/>
            </p:cNvSpPr>
            <p:nvPr/>
          </p:nvSpPr>
          <p:spPr bwMode="auto">
            <a:xfrm>
              <a:off x="1104" y="3980"/>
              <a:ext cx="384" cy="384"/>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7" name="Oval 62"/>
            <p:cNvSpPr>
              <a:spLocks noChangeArrowheads="1"/>
            </p:cNvSpPr>
            <p:nvPr/>
          </p:nvSpPr>
          <p:spPr bwMode="auto">
            <a:xfrm>
              <a:off x="1008" y="4028"/>
              <a:ext cx="384" cy="38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30736" name="AutoShape 63"/>
          <p:cNvSpPr>
            <a:spLocks noChangeArrowheads="1"/>
          </p:cNvSpPr>
          <p:nvPr/>
        </p:nvSpPr>
        <p:spPr bwMode="auto">
          <a:xfrm>
            <a:off x="6254750" y="3563938"/>
            <a:ext cx="1079500" cy="785812"/>
          </a:xfrm>
          <a:prstGeom prst="cube">
            <a:avLst>
              <a:gd name="adj" fmla="val 15958"/>
            </a:avLst>
          </a:prstGeom>
          <a:solidFill>
            <a:srgbClr val="FFCC99"/>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b="1">
                <a:solidFill>
                  <a:schemeClr val="tx1"/>
                </a:solidFill>
              </a:rPr>
              <a:t>Stock</a:t>
            </a:r>
          </a:p>
          <a:p>
            <a:pPr algn="ctr">
              <a:spcBef>
                <a:spcPct val="0"/>
              </a:spcBef>
              <a:buFontTx/>
              <a:buNone/>
            </a:pPr>
            <a:r>
              <a:rPr lang="fr-FR" altLang="fr-FR" sz="1300" b="1">
                <a:solidFill>
                  <a:schemeClr val="tx1"/>
                </a:solidFill>
              </a:rPr>
              <a:t>Couronnes</a:t>
            </a:r>
            <a:br>
              <a:rPr lang="fr-FR" altLang="fr-FR" sz="1300" b="1">
                <a:solidFill>
                  <a:schemeClr val="tx1"/>
                </a:solidFill>
              </a:rPr>
            </a:br>
            <a:r>
              <a:rPr lang="fr-FR" altLang="fr-FR" sz="1300" b="1">
                <a:solidFill>
                  <a:schemeClr val="tx1"/>
                </a:solidFill>
              </a:rPr>
              <a:t>phase A</a:t>
            </a:r>
            <a:endParaRPr lang="fr-FR" altLang="fr-FR" sz="1300" b="1">
              <a:solidFill>
                <a:schemeClr val="tx1"/>
              </a:solidFill>
              <a:latin typeface="Times New Roman" pitchFamily="18" charset="0"/>
            </a:endParaRPr>
          </a:p>
        </p:txBody>
      </p:sp>
      <p:sp>
        <p:nvSpPr>
          <p:cNvPr id="30737" name="AutoShape 64"/>
          <p:cNvSpPr>
            <a:spLocks noChangeArrowheads="1"/>
          </p:cNvSpPr>
          <p:nvPr/>
        </p:nvSpPr>
        <p:spPr bwMode="auto">
          <a:xfrm>
            <a:off x="6665913" y="3048000"/>
            <a:ext cx="312737" cy="377825"/>
          </a:xfrm>
          <a:prstGeom prst="downArrow">
            <a:avLst>
              <a:gd name="adj1" fmla="val 50000"/>
              <a:gd name="adj2" fmla="val 30203"/>
            </a:avLst>
          </a:prstGeom>
          <a:solidFill>
            <a:schemeClr val="hlink"/>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8" name="AutoShape 65"/>
          <p:cNvSpPr>
            <a:spLocks noChangeArrowheads="1"/>
          </p:cNvSpPr>
          <p:nvPr/>
        </p:nvSpPr>
        <p:spPr bwMode="auto">
          <a:xfrm>
            <a:off x="6665913" y="4543425"/>
            <a:ext cx="312737" cy="498475"/>
          </a:xfrm>
          <a:prstGeom prst="downArrow">
            <a:avLst>
              <a:gd name="adj1" fmla="val 50000"/>
              <a:gd name="adj2" fmla="val 39848"/>
            </a:avLst>
          </a:prstGeom>
          <a:solidFill>
            <a:schemeClr val="hlink"/>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39" name="Text Box 67"/>
          <p:cNvSpPr txBox="1">
            <a:spLocks noChangeArrowheads="1"/>
          </p:cNvSpPr>
          <p:nvPr/>
        </p:nvSpPr>
        <p:spPr bwMode="auto">
          <a:xfrm>
            <a:off x="6249988" y="5076825"/>
            <a:ext cx="1412875" cy="5905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4. Couronnes</a:t>
            </a:r>
          </a:p>
          <a:p>
            <a:pPr algn="ctr">
              <a:spcBef>
                <a:spcPct val="0"/>
              </a:spcBef>
              <a:buFontTx/>
              <a:buNone/>
            </a:pPr>
            <a:r>
              <a:rPr lang="fr-FR" altLang="fr-FR" sz="1600">
                <a:solidFill>
                  <a:schemeClr val="tx1"/>
                </a:solidFill>
              </a:rPr>
              <a:t>(ph. B)</a:t>
            </a:r>
          </a:p>
        </p:txBody>
      </p:sp>
      <p:grpSp>
        <p:nvGrpSpPr>
          <p:cNvPr id="30740" name="Group 68"/>
          <p:cNvGrpSpPr>
            <a:grpSpLocks/>
          </p:cNvGrpSpPr>
          <p:nvPr/>
        </p:nvGrpSpPr>
        <p:grpSpPr bwMode="auto">
          <a:xfrm>
            <a:off x="5340350" y="5138738"/>
            <a:ext cx="646113" cy="585787"/>
            <a:chOff x="1008" y="3932"/>
            <a:chExt cx="576" cy="480"/>
          </a:xfrm>
        </p:grpSpPr>
        <p:sp>
          <p:nvSpPr>
            <p:cNvPr id="30752" name="Oval 69"/>
            <p:cNvSpPr>
              <a:spLocks noChangeArrowheads="1"/>
            </p:cNvSpPr>
            <p:nvPr/>
          </p:nvSpPr>
          <p:spPr bwMode="auto">
            <a:xfrm>
              <a:off x="1200" y="3932"/>
              <a:ext cx="384" cy="384"/>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3" name="Oval 70"/>
            <p:cNvSpPr>
              <a:spLocks noChangeArrowheads="1"/>
            </p:cNvSpPr>
            <p:nvPr/>
          </p:nvSpPr>
          <p:spPr bwMode="auto">
            <a:xfrm>
              <a:off x="1104" y="3980"/>
              <a:ext cx="384" cy="384"/>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4" name="Oval 71"/>
            <p:cNvSpPr>
              <a:spLocks noChangeArrowheads="1"/>
            </p:cNvSpPr>
            <p:nvPr/>
          </p:nvSpPr>
          <p:spPr bwMode="auto">
            <a:xfrm>
              <a:off x="1008" y="4028"/>
              <a:ext cx="384" cy="38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30741" name="AutoShape 72"/>
          <p:cNvSpPr>
            <a:spLocks noChangeArrowheads="1"/>
          </p:cNvSpPr>
          <p:nvPr/>
        </p:nvSpPr>
        <p:spPr bwMode="auto">
          <a:xfrm rot="2042913">
            <a:off x="4872038" y="5014913"/>
            <a:ext cx="447675" cy="279400"/>
          </a:xfrm>
          <a:prstGeom prst="leftArrow">
            <a:avLst>
              <a:gd name="adj1" fmla="val 50000"/>
              <a:gd name="adj2" fmla="val 40057"/>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42" name="AutoShape 74"/>
          <p:cNvSpPr>
            <a:spLocks noChangeArrowheads="1"/>
          </p:cNvSpPr>
          <p:nvPr/>
        </p:nvSpPr>
        <p:spPr bwMode="auto">
          <a:xfrm>
            <a:off x="4002088" y="4064000"/>
            <a:ext cx="1109662" cy="709613"/>
          </a:xfrm>
          <a:prstGeom prst="cube">
            <a:avLst>
              <a:gd name="adj" fmla="val 16870"/>
            </a:avLst>
          </a:prstGeom>
          <a:solidFill>
            <a:srgbClr val="FFCC99"/>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500" b="1">
                <a:solidFill>
                  <a:schemeClr val="tx1"/>
                </a:solidFill>
              </a:rPr>
              <a:t>Stock</a:t>
            </a:r>
          </a:p>
          <a:p>
            <a:pPr algn="ctr">
              <a:spcBef>
                <a:spcPct val="0"/>
              </a:spcBef>
              <a:buFontTx/>
              <a:buNone/>
            </a:pPr>
            <a:r>
              <a:rPr lang="fr-FR" altLang="fr-FR" sz="1500" b="1">
                <a:solidFill>
                  <a:schemeClr val="tx1"/>
                </a:solidFill>
              </a:rPr>
              <a:t>Pièces</a:t>
            </a:r>
            <a:endParaRPr lang="fr-FR" altLang="fr-FR" sz="1500" b="1">
              <a:solidFill>
                <a:schemeClr val="tx1"/>
              </a:solidFill>
              <a:latin typeface="Times New Roman" pitchFamily="18" charset="0"/>
            </a:endParaRPr>
          </a:p>
        </p:txBody>
      </p:sp>
      <p:sp>
        <p:nvSpPr>
          <p:cNvPr id="30743" name="Text Box 76"/>
          <p:cNvSpPr txBox="1">
            <a:spLocks noChangeArrowheads="1"/>
          </p:cNvSpPr>
          <p:nvPr/>
        </p:nvSpPr>
        <p:spPr bwMode="auto">
          <a:xfrm>
            <a:off x="2239963" y="5114925"/>
            <a:ext cx="1320800" cy="309563"/>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600">
                <a:solidFill>
                  <a:schemeClr val="tx1"/>
                </a:solidFill>
              </a:rPr>
              <a:t>5. Montage</a:t>
            </a:r>
          </a:p>
        </p:txBody>
      </p:sp>
      <p:sp>
        <p:nvSpPr>
          <p:cNvPr id="30744" name="AutoShape 77"/>
          <p:cNvSpPr>
            <a:spLocks noChangeArrowheads="1"/>
          </p:cNvSpPr>
          <p:nvPr/>
        </p:nvSpPr>
        <p:spPr bwMode="auto">
          <a:xfrm>
            <a:off x="134938" y="4964113"/>
            <a:ext cx="830262" cy="595312"/>
          </a:xfrm>
          <a:prstGeom prst="leftArrow">
            <a:avLst>
              <a:gd name="adj1" fmla="val 44444"/>
              <a:gd name="adj2" fmla="val 24762"/>
            </a:avLst>
          </a:prstGeom>
          <a:solidFill>
            <a:srgbClr val="FFFF66"/>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b="1">
                <a:solidFill>
                  <a:schemeClr val="tx1"/>
                </a:solidFill>
              </a:rPr>
              <a:t>Ventes</a:t>
            </a:r>
          </a:p>
        </p:txBody>
      </p:sp>
      <p:sp>
        <p:nvSpPr>
          <p:cNvPr id="30745" name="AutoShape 78"/>
          <p:cNvSpPr>
            <a:spLocks noChangeArrowheads="1"/>
          </p:cNvSpPr>
          <p:nvPr/>
        </p:nvSpPr>
        <p:spPr bwMode="auto">
          <a:xfrm>
            <a:off x="1016000" y="4864100"/>
            <a:ext cx="1127125" cy="723900"/>
          </a:xfrm>
          <a:prstGeom prst="cube">
            <a:avLst>
              <a:gd name="adj" fmla="val 18421"/>
            </a:avLst>
          </a:prstGeom>
          <a:solidFill>
            <a:srgbClr val="FFCC99"/>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500" b="1">
                <a:solidFill>
                  <a:schemeClr val="tx1"/>
                </a:solidFill>
              </a:rPr>
              <a:t>Stock</a:t>
            </a:r>
          </a:p>
          <a:p>
            <a:pPr algn="ctr">
              <a:spcBef>
                <a:spcPct val="0"/>
              </a:spcBef>
              <a:buFontTx/>
              <a:buNone/>
            </a:pPr>
            <a:r>
              <a:rPr lang="fr-FR" altLang="fr-FR" sz="1500" b="1">
                <a:solidFill>
                  <a:schemeClr val="tx1"/>
                </a:solidFill>
              </a:rPr>
              <a:t>Produits</a:t>
            </a:r>
            <a:endParaRPr lang="fr-FR" altLang="fr-FR" sz="1500" b="1">
              <a:solidFill>
                <a:schemeClr val="tx1"/>
              </a:solidFill>
              <a:latin typeface="Times New Roman" pitchFamily="18" charset="0"/>
            </a:endParaRPr>
          </a:p>
        </p:txBody>
      </p:sp>
      <p:sp>
        <p:nvSpPr>
          <p:cNvPr id="30746" name="AutoShape 105"/>
          <p:cNvSpPr>
            <a:spLocks noChangeArrowheads="1"/>
          </p:cNvSpPr>
          <p:nvPr/>
        </p:nvSpPr>
        <p:spPr bwMode="auto">
          <a:xfrm rot="-2615797">
            <a:off x="3648075" y="5033963"/>
            <a:ext cx="488950" cy="296862"/>
          </a:xfrm>
          <a:prstGeom prst="leftArrow">
            <a:avLst>
              <a:gd name="adj1" fmla="val 50000"/>
              <a:gd name="adj2" fmla="val 41177"/>
            </a:avLst>
          </a:prstGeom>
          <a:solidFill>
            <a:srgbClr val="FFFF66"/>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49" name="AutoShape 113"/>
          <p:cNvSpPr>
            <a:spLocks noChangeArrowheads="1"/>
          </p:cNvSpPr>
          <p:nvPr/>
        </p:nvSpPr>
        <p:spPr bwMode="auto">
          <a:xfrm rot="-5400000">
            <a:off x="7458075" y="3768726"/>
            <a:ext cx="312737" cy="347662"/>
          </a:xfrm>
          <a:prstGeom prst="downArrow">
            <a:avLst>
              <a:gd name="adj1" fmla="val 50000"/>
              <a:gd name="adj2" fmla="val 27792"/>
            </a:avLst>
          </a:prstGeom>
          <a:solidFill>
            <a:schemeClr val="hlink"/>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0750" name="Text Box 115"/>
          <p:cNvSpPr txBox="1">
            <a:spLocks noChangeArrowheads="1"/>
          </p:cNvSpPr>
          <p:nvPr/>
        </p:nvSpPr>
        <p:spPr bwMode="auto">
          <a:xfrm>
            <a:off x="1066800" y="4476750"/>
            <a:ext cx="9286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R1 à R6</a:t>
            </a:r>
          </a:p>
        </p:txBody>
      </p:sp>
      <p:sp>
        <p:nvSpPr>
          <p:cNvPr id="222331" name="AutoShape 123"/>
          <p:cNvSpPr>
            <a:spLocks/>
          </p:cNvSpPr>
          <p:nvPr/>
        </p:nvSpPr>
        <p:spPr bwMode="auto">
          <a:xfrm>
            <a:off x="6167438" y="4768850"/>
            <a:ext cx="1808162" cy="879475"/>
          </a:xfrm>
          <a:prstGeom prst="borderCallout2">
            <a:avLst>
              <a:gd name="adj1" fmla="val 12995"/>
              <a:gd name="adj2" fmla="val 104213"/>
              <a:gd name="adj3" fmla="val 12995"/>
              <a:gd name="adj4" fmla="val 110713"/>
              <a:gd name="adj5" fmla="val -35019"/>
              <a:gd name="adj6" fmla="val 117384"/>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Attention : seules les couronnes blanches sont vendues en pièces détachées</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23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331"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p:cNvSpPr>
            <a:spLocks noGrp="1" noChangeArrowheads="1"/>
          </p:cNvSpPr>
          <p:nvPr>
            <p:ph type="title"/>
          </p:nvPr>
        </p:nvSpPr>
        <p:spPr>
          <a:xfrm>
            <a:off x="2034382" y="0"/>
            <a:ext cx="5075237" cy="558800"/>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eaLnBrk="1" hangingPunct="1"/>
            <a:r>
              <a:rPr lang="fr-FR" altLang="fr-FR" sz="2800" b="1" dirty="0">
                <a:solidFill>
                  <a:srgbClr val="27A8E0"/>
                </a:solidFill>
              </a:rPr>
              <a:t>Les cadences de fabrication</a:t>
            </a:r>
          </a:p>
        </p:txBody>
      </p:sp>
      <p:sp>
        <p:nvSpPr>
          <p:cNvPr id="31747" name="Rectangle 3"/>
          <p:cNvSpPr>
            <a:spLocks noChangeArrowheads="1"/>
          </p:cNvSpPr>
          <p:nvPr/>
        </p:nvSpPr>
        <p:spPr bwMode="auto">
          <a:xfrm>
            <a:off x="923925" y="1389063"/>
            <a:ext cx="7110413" cy="3579812"/>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1748" name="Text Box 4"/>
          <p:cNvSpPr txBox="1">
            <a:spLocks noChangeArrowheads="1"/>
          </p:cNvSpPr>
          <p:nvPr/>
        </p:nvSpPr>
        <p:spPr bwMode="auto">
          <a:xfrm>
            <a:off x="2840038" y="1466850"/>
            <a:ext cx="1563687"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1</a:t>
            </a:r>
            <a:r>
              <a:rPr lang="fr-FR" altLang="fr-FR" sz="1600">
                <a:solidFill>
                  <a:schemeClr val="tx1"/>
                </a:solidFill>
              </a:rPr>
              <a:t> jeton / h.</a:t>
            </a:r>
          </a:p>
          <a:p>
            <a:pPr algn="ctr">
              <a:lnSpc>
                <a:spcPct val="120000"/>
              </a:lnSpc>
              <a:spcBef>
                <a:spcPct val="0"/>
              </a:spcBef>
              <a:buFontTx/>
              <a:buNone/>
            </a:pPr>
            <a:r>
              <a:rPr lang="fr-FR" altLang="fr-FR" sz="1600" i="1">
                <a:solidFill>
                  <a:schemeClr val="tx1"/>
                </a:solidFill>
              </a:rPr>
              <a:t>Chgt. série </a:t>
            </a:r>
            <a:r>
              <a:rPr lang="fr-FR" altLang="fr-FR" sz="1600">
                <a:solidFill>
                  <a:srgbClr val="FC2C1C"/>
                </a:solidFill>
              </a:rPr>
              <a:t>3</a:t>
            </a:r>
            <a:r>
              <a:rPr lang="fr-FR" altLang="fr-FR" sz="1600" i="1">
                <a:solidFill>
                  <a:schemeClr val="tx1"/>
                </a:solidFill>
              </a:rPr>
              <a:t> </a:t>
            </a:r>
            <a:r>
              <a:rPr lang="fr-FR" altLang="fr-FR" sz="1600">
                <a:solidFill>
                  <a:srgbClr val="FC2C1C"/>
                </a:solidFill>
              </a:rPr>
              <a:t>h.</a:t>
            </a:r>
          </a:p>
        </p:txBody>
      </p:sp>
      <p:sp>
        <p:nvSpPr>
          <p:cNvPr id="31749" name="Text Box 5"/>
          <p:cNvSpPr txBox="1">
            <a:spLocks noChangeArrowheads="1"/>
          </p:cNvSpPr>
          <p:nvPr/>
        </p:nvSpPr>
        <p:spPr bwMode="auto">
          <a:xfrm>
            <a:off x="6148388" y="1530350"/>
            <a:ext cx="1563687"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1</a:t>
            </a:r>
            <a:r>
              <a:rPr lang="fr-FR" altLang="fr-FR" sz="1600">
                <a:solidFill>
                  <a:schemeClr val="tx1"/>
                </a:solidFill>
              </a:rPr>
              <a:t> jeton / h.</a:t>
            </a:r>
          </a:p>
          <a:p>
            <a:pPr algn="ctr">
              <a:lnSpc>
                <a:spcPct val="120000"/>
              </a:lnSpc>
              <a:spcBef>
                <a:spcPct val="0"/>
              </a:spcBef>
              <a:buFontTx/>
              <a:buNone/>
            </a:pPr>
            <a:r>
              <a:rPr lang="fr-FR" altLang="fr-FR" sz="1600" i="1">
                <a:solidFill>
                  <a:schemeClr val="tx1"/>
                </a:solidFill>
              </a:rPr>
              <a:t>Chgt. série </a:t>
            </a:r>
            <a:r>
              <a:rPr lang="fr-FR" altLang="fr-FR" sz="1600">
                <a:solidFill>
                  <a:srgbClr val="FC2C1C"/>
                </a:solidFill>
              </a:rPr>
              <a:t>2</a:t>
            </a:r>
            <a:r>
              <a:rPr lang="fr-FR" altLang="fr-FR" sz="1600" i="1">
                <a:solidFill>
                  <a:schemeClr val="tx1"/>
                </a:solidFill>
              </a:rPr>
              <a:t> </a:t>
            </a:r>
            <a:r>
              <a:rPr lang="fr-FR" altLang="fr-FR" sz="1600">
                <a:solidFill>
                  <a:srgbClr val="FC2C1C"/>
                </a:solidFill>
              </a:rPr>
              <a:t>h.</a:t>
            </a:r>
          </a:p>
        </p:txBody>
      </p:sp>
      <p:sp>
        <p:nvSpPr>
          <p:cNvPr id="31750" name="Text Box 6"/>
          <p:cNvSpPr txBox="1">
            <a:spLocks noChangeArrowheads="1"/>
          </p:cNvSpPr>
          <p:nvPr/>
        </p:nvSpPr>
        <p:spPr bwMode="auto">
          <a:xfrm>
            <a:off x="4868863" y="2697163"/>
            <a:ext cx="1563687"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2</a:t>
            </a:r>
            <a:r>
              <a:rPr lang="fr-FR" altLang="fr-FR" sz="1600">
                <a:solidFill>
                  <a:schemeClr val="tx1"/>
                </a:solidFill>
              </a:rPr>
              <a:t> jetons / h.</a:t>
            </a:r>
          </a:p>
          <a:p>
            <a:pPr algn="ctr">
              <a:lnSpc>
                <a:spcPct val="120000"/>
              </a:lnSpc>
              <a:spcBef>
                <a:spcPct val="0"/>
              </a:spcBef>
              <a:buFontTx/>
              <a:buNone/>
            </a:pPr>
            <a:r>
              <a:rPr lang="fr-FR" altLang="fr-FR" sz="1600" i="1">
                <a:solidFill>
                  <a:schemeClr val="tx1"/>
                </a:solidFill>
              </a:rPr>
              <a:t>Chgt. série </a:t>
            </a:r>
            <a:r>
              <a:rPr lang="fr-FR" altLang="fr-FR" sz="1600">
                <a:solidFill>
                  <a:srgbClr val="FC2C1C"/>
                </a:solidFill>
              </a:rPr>
              <a:t>2</a:t>
            </a:r>
            <a:r>
              <a:rPr lang="fr-FR" altLang="fr-FR" sz="1600" i="1">
                <a:solidFill>
                  <a:schemeClr val="tx1"/>
                </a:solidFill>
              </a:rPr>
              <a:t> </a:t>
            </a:r>
            <a:r>
              <a:rPr lang="fr-FR" altLang="fr-FR" sz="1600">
                <a:solidFill>
                  <a:srgbClr val="FC2C1C"/>
                </a:solidFill>
              </a:rPr>
              <a:t>h.</a:t>
            </a:r>
          </a:p>
        </p:txBody>
      </p:sp>
      <p:sp>
        <p:nvSpPr>
          <p:cNvPr id="31751" name="Text Box 7"/>
          <p:cNvSpPr txBox="1">
            <a:spLocks noChangeArrowheads="1"/>
          </p:cNvSpPr>
          <p:nvPr/>
        </p:nvSpPr>
        <p:spPr bwMode="auto">
          <a:xfrm>
            <a:off x="6376988" y="4117975"/>
            <a:ext cx="1666875"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2</a:t>
            </a:r>
            <a:r>
              <a:rPr lang="fr-FR" altLang="fr-FR" sz="1600">
                <a:solidFill>
                  <a:schemeClr val="tx1"/>
                </a:solidFill>
              </a:rPr>
              <a:t> jetons / h. </a:t>
            </a:r>
            <a:r>
              <a:rPr lang="fr-FR" altLang="fr-FR" sz="1600" i="1">
                <a:solidFill>
                  <a:schemeClr val="tx1"/>
                </a:solidFill>
              </a:rPr>
              <a:t>Chgt. série </a:t>
            </a:r>
            <a:r>
              <a:rPr lang="fr-FR" altLang="fr-FR" sz="1600">
                <a:solidFill>
                  <a:srgbClr val="FC2C1C"/>
                </a:solidFill>
              </a:rPr>
              <a:t>4</a:t>
            </a:r>
            <a:r>
              <a:rPr lang="fr-FR" altLang="fr-FR" sz="1600" i="1">
                <a:solidFill>
                  <a:schemeClr val="tx1"/>
                </a:solidFill>
              </a:rPr>
              <a:t> </a:t>
            </a:r>
            <a:r>
              <a:rPr lang="fr-FR" altLang="fr-FR" sz="1600">
                <a:solidFill>
                  <a:srgbClr val="FC2C1C"/>
                </a:solidFill>
              </a:rPr>
              <a:t>h.</a:t>
            </a:r>
          </a:p>
        </p:txBody>
      </p:sp>
      <p:sp>
        <p:nvSpPr>
          <p:cNvPr id="31752" name="Text Box 8"/>
          <p:cNvSpPr txBox="1">
            <a:spLocks noChangeArrowheads="1"/>
          </p:cNvSpPr>
          <p:nvPr/>
        </p:nvSpPr>
        <p:spPr bwMode="auto">
          <a:xfrm>
            <a:off x="2770188" y="4083050"/>
            <a:ext cx="1563687"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20000"/>
              </a:lnSpc>
              <a:spcBef>
                <a:spcPct val="0"/>
              </a:spcBef>
              <a:buFontTx/>
              <a:buNone/>
            </a:pPr>
            <a:r>
              <a:rPr lang="fr-FR" altLang="fr-FR" sz="1600">
                <a:solidFill>
                  <a:srgbClr val="FC2C1C"/>
                </a:solidFill>
              </a:rPr>
              <a:t>1</a:t>
            </a:r>
            <a:r>
              <a:rPr lang="fr-FR" altLang="fr-FR" sz="1600">
                <a:solidFill>
                  <a:schemeClr val="tx1"/>
                </a:solidFill>
              </a:rPr>
              <a:t> produit / h.</a:t>
            </a:r>
          </a:p>
          <a:p>
            <a:pPr algn="ctr">
              <a:lnSpc>
                <a:spcPct val="120000"/>
              </a:lnSpc>
              <a:spcBef>
                <a:spcPct val="0"/>
              </a:spcBef>
              <a:buFontTx/>
              <a:buNone/>
            </a:pPr>
            <a:r>
              <a:rPr lang="fr-FR" altLang="fr-FR" sz="1600" i="1">
                <a:solidFill>
                  <a:schemeClr val="tx1"/>
                </a:solidFill>
              </a:rPr>
              <a:t>Chgt. série </a:t>
            </a:r>
            <a:r>
              <a:rPr lang="fr-FR" altLang="fr-FR" sz="1600">
                <a:solidFill>
                  <a:srgbClr val="FC2C1C"/>
                </a:solidFill>
              </a:rPr>
              <a:t>1</a:t>
            </a:r>
            <a:r>
              <a:rPr lang="fr-FR" altLang="fr-FR" sz="1600" i="1">
                <a:solidFill>
                  <a:schemeClr val="tx1"/>
                </a:solidFill>
              </a:rPr>
              <a:t> </a:t>
            </a:r>
            <a:r>
              <a:rPr lang="fr-FR" altLang="fr-FR" sz="1600">
                <a:solidFill>
                  <a:srgbClr val="FC2C1C"/>
                </a:solidFill>
              </a:rPr>
              <a:t>h.</a:t>
            </a:r>
          </a:p>
        </p:txBody>
      </p:sp>
      <p:sp>
        <p:nvSpPr>
          <p:cNvPr id="31753" name="Text Box 45"/>
          <p:cNvSpPr txBox="1">
            <a:spLocks noChangeArrowheads="1"/>
          </p:cNvSpPr>
          <p:nvPr/>
        </p:nvSpPr>
        <p:spPr bwMode="auto">
          <a:xfrm>
            <a:off x="1233488" y="1614488"/>
            <a:ext cx="1514475" cy="3460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1. Engrenages</a:t>
            </a:r>
          </a:p>
        </p:txBody>
      </p:sp>
      <p:sp>
        <p:nvSpPr>
          <p:cNvPr id="31754" name="Text Box 49"/>
          <p:cNvSpPr txBox="1">
            <a:spLocks noChangeArrowheads="1"/>
          </p:cNvSpPr>
          <p:nvPr/>
        </p:nvSpPr>
        <p:spPr bwMode="auto">
          <a:xfrm>
            <a:off x="4910138" y="1654175"/>
            <a:ext cx="1087437" cy="3460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2. Carters</a:t>
            </a:r>
          </a:p>
        </p:txBody>
      </p:sp>
      <p:sp>
        <p:nvSpPr>
          <p:cNvPr id="31755" name="Text Box 51"/>
          <p:cNvSpPr txBox="1">
            <a:spLocks noChangeArrowheads="1"/>
          </p:cNvSpPr>
          <p:nvPr/>
        </p:nvSpPr>
        <p:spPr bwMode="auto">
          <a:xfrm>
            <a:off x="6453188" y="2743200"/>
            <a:ext cx="1412875" cy="5905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3. Couronnes</a:t>
            </a:r>
          </a:p>
          <a:p>
            <a:pPr algn="ctr">
              <a:spcBef>
                <a:spcPct val="0"/>
              </a:spcBef>
              <a:buFontTx/>
              <a:buNone/>
            </a:pPr>
            <a:r>
              <a:rPr lang="fr-FR" altLang="fr-FR" sz="1600">
                <a:solidFill>
                  <a:schemeClr val="tx1"/>
                </a:solidFill>
              </a:rPr>
              <a:t>(ph. A)</a:t>
            </a:r>
          </a:p>
        </p:txBody>
      </p:sp>
      <p:sp>
        <p:nvSpPr>
          <p:cNvPr id="31756" name="Text Box 60"/>
          <p:cNvSpPr txBox="1">
            <a:spLocks noChangeArrowheads="1"/>
          </p:cNvSpPr>
          <p:nvPr/>
        </p:nvSpPr>
        <p:spPr bwMode="auto">
          <a:xfrm>
            <a:off x="4945063" y="4138613"/>
            <a:ext cx="1412875" cy="5905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4. Couronnes</a:t>
            </a:r>
          </a:p>
          <a:p>
            <a:pPr algn="ctr">
              <a:spcBef>
                <a:spcPct val="0"/>
              </a:spcBef>
              <a:buFontTx/>
              <a:buNone/>
            </a:pPr>
            <a:r>
              <a:rPr lang="fr-FR" altLang="fr-FR" sz="1600">
                <a:solidFill>
                  <a:schemeClr val="tx1"/>
                </a:solidFill>
              </a:rPr>
              <a:t>(ph. B)</a:t>
            </a:r>
          </a:p>
        </p:txBody>
      </p:sp>
      <p:sp>
        <p:nvSpPr>
          <p:cNvPr id="31757" name="Text Box 67"/>
          <p:cNvSpPr txBox="1">
            <a:spLocks noChangeArrowheads="1"/>
          </p:cNvSpPr>
          <p:nvPr/>
        </p:nvSpPr>
        <p:spPr bwMode="auto">
          <a:xfrm>
            <a:off x="1319213" y="4297363"/>
            <a:ext cx="1320800" cy="309562"/>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600">
                <a:solidFill>
                  <a:schemeClr val="tx1"/>
                </a:solidFill>
              </a:rPr>
              <a:t>5. Montage</a:t>
            </a:r>
          </a:p>
        </p:txBody>
      </p:sp>
    </p:spTree>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2"/>
          <p:cNvSpPr>
            <a:spLocks noGrp="1" noChangeArrowheads="1"/>
          </p:cNvSpPr>
          <p:nvPr>
            <p:ph type="title"/>
          </p:nvPr>
        </p:nvSpPr>
        <p:spPr>
          <a:xfrm>
            <a:off x="849313" y="0"/>
            <a:ext cx="7173912" cy="53657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eaLnBrk="1" hangingPunct="1"/>
            <a:r>
              <a:rPr lang="fr-FR" altLang="fr-FR" sz="2800" b="1" dirty="0">
                <a:solidFill>
                  <a:srgbClr val="27A8E0"/>
                </a:solidFill>
              </a:rPr>
              <a:t>Les prix et les coûts</a:t>
            </a:r>
          </a:p>
        </p:txBody>
      </p:sp>
      <p:sp>
        <p:nvSpPr>
          <p:cNvPr id="32771" name="Rectangle 17"/>
          <p:cNvSpPr>
            <a:spLocks noChangeArrowheads="1"/>
          </p:cNvSpPr>
          <p:nvPr/>
        </p:nvSpPr>
        <p:spPr bwMode="auto">
          <a:xfrm rot="-5400000">
            <a:off x="3631407" y="3977481"/>
            <a:ext cx="209550" cy="271463"/>
          </a:xfrm>
          <a:prstGeom prst="rect">
            <a:avLst/>
          </a:prstGeom>
          <a:solidFill>
            <a:srgbClr val="FFFF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2" name="Oval 18"/>
          <p:cNvSpPr>
            <a:spLocks noChangeArrowheads="1"/>
          </p:cNvSpPr>
          <p:nvPr/>
        </p:nvSpPr>
        <p:spPr bwMode="auto">
          <a:xfrm rot="-5400000">
            <a:off x="3563144" y="5076032"/>
            <a:ext cx="338137" cy="311150"/>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3" name="Rectangle 19"/>
          <p:cNvSpPr>
            <a:spLocks noChangeArrowheads="1"/>
          </p:cNvSpPr>
          <p:nvPr/>
        </p:nvSpPr>
        <p:spPr bwMode="auto">
          <a:xfrm rot="-5400000">
            <a:off x="3033713" y="4462462"/>
            <a:ext cx="209550" cy="428625"/>
          </a:xfrm>
          <a:prstGeom prst="rect">
            <a:avLst/>
          </a:prstGeom>
          <a:solidFill>
            <a:srgbClr val="FF0000"/>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4" name="Rectangle 20"/>
          <p:cNvSpPr>
            <a:spLocks noChangeArrowheads="1"/>
          </p:cNvSpPr>
          <p:nvPr/>
        </p:nvSpPr>
        <p:spPr bwMode="auto">
          <a:xfrm rot="-5400000">
            <a:off x="3127375" y="3976688"/>
            <a:ext cx="209550" cy="273050"/>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5" name="Oval 21"/>
          <p:cNvSpPr>
            <a:spLocks noChangeArrowheads="1"/>
          </p:cNvSpPr>
          <p:nvPr/>
        </p:nvSpPr>
        <p:spPr bwMode="auto">
          <a:xfrm rot="-5400000">
            <a:off x="2340769" y="50760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6" name="Rectangle 22"/>
          <p:cNvSpPr>
            <a:spLocks noChangeArrowheads="1"/>
          </p:cNvSpPr>
          <p:nvPr/>
        </p:nvSpPr>
        <p:spPr bwMode="auto">
          <a:xfrm rot="-5400000">
            <a:off x="3556001" y="4452937"/>
            <a:ext cx="209550" cy="428625"/>
          </a:xfrm>
          <a:prstGeom prst="rect">
            <a:avLst/>
          </a:prstGeom>
          <a:solidFill>
            <a:srgbClr val="0033CC"/>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7" name="Oval 24"/>
          <p:cNvSpPr>
            <a:spLocks noChangeArrowheads="1"/>
          </p:cNvSpPr>
          <p:nvPr/>
        </p:nvSpPr>
        <p:spPr bwMode="auto">
          <a:xfrm rot="-5400000">
            <a:off x="2988469" y="5077619"/>
            <a:ext cx="338138" cy="311150"/>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78" name="Text Box 29"/>
          <p:cNvSpPr txBox="1">
            <a:spLocks noChangeArrowheads="1"/>
          </p:cNvSpPr>
          <p:nvPr/>
        </p:nvSpPr>
        <p:spPr bwMode="auto">
          <a:xfrm>
            <a:off x="4151313" y="4510088"/>
            <a:ext cx="933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Carters</a:t>
            </a:r>
          </a:p>
        </p:txBody>
      </p:sp>
      <p:sp>
        <p:nvSpPr>
          <p:cNvPr id="32779" name="Text Box 30"/>
          <p:cNvSpPr txBox="1">
            <a:spLocks noChangeArrowheads="1"/>
          </p:cNvSpPr>
          <p:nvPr/>
        </p:nvSpPr>
        <p:spPr bwMode="auto">
          <a:xfrm>
            <a:off x="4151313" y="3935413"/>
            <a:ext cx="1416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Engrenages</a:t>
            </a:r>
          </a:p>
        </p:txBody>
      </p:sp>
      <p:sp>
        <p:nvSpPr>
          <p:cNvPr id="32780" name="Text Box 31"/>
          <p:cNvSpPr txBox="1">
            <a:spLocks noChangeArrowheads="1"/>
          </p:cNvSpPr>
          <p:nvPr/>
        </p:nvSpPr>
        <p:spPr bwMode="auto">
          <a:xfrm>
            <a:off x="4151313" y="5003800"/>
            <a:ext cx="1176337"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nSpc>
                <a:spcPct val="90000"/>
              </a:lnSpc>
              <a:spcBef>
                <a:spcPct val="0"/>
              </a:spcBef>
              <a:buFontTx/>
              <a:buNone/>
            </a:pPr>
            <a:r>
              <a:rPr kumimoji="1" lang="fr-FR" altLang="fr-FR" sz="1600">
                <a:solidFill>
                  <a:srgbClr val="003399"/>
                </a:solidFill>
              </a:rPr>
              <a:t>Couronnes</a:t>
            </a:r>
          </a:p>
          <a:p>
            <a:pPr>
              <a:lnSpc>
                <a:spcPct val="90000"/>
              </a:lnSpc>
              <a:spcBef>
                <a:spcPct val="0"/>
              </a:spcBef>
              <a:buFontTx/>
              <a:buNone/>
            </a:pPr>
            <a:r>
              <a:rPr kumimoji="1" lang="fr-FR" altLang="fr-FR" sz="1400">
                <a:solidFill>
                  <a:schemeClr val="tx1"/>
                </a:solidFill>
              </a:rPr>
              <a:t>(phase B)</a:t>
            </a:r>
          </a:p>
        </p:txBody>
      </p:sp>
      <p:sp>
        <p:nvSpPr>
          <p:cNvPr id="32781" name="Rectangle 36"/>
          <p:cNvSpPr>
            <a:spLocks noChangeArrowheads="1"/>
          </p:cNvSpPr>
          <p:nvPr/>
        </p:nvSpPr>
        <p:spPr bwMode="auto">
          <a:xfrm>
            <a:off x="5699125" y="3963988"/>
            <a:ext cx="8318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25 €</a:t>
            </a:r>
          </a:p>
        </p:txBody>
      </p:sp>
      <p:sp>
        <p:nvSpPr>
          <p:cNvPr id="32782" name="Rectangle 37"/>
          <p:cNvSpPr>
            <a:spLocks noChangeArrowheads="1"/>
          </p:cNvSpPr>
          <p:nvPr/>
        </p:nvSpPr>
        <p:spPr bwMode="auto">
          <a:xfrm>
            <a:off x="5699125" y="4549775"/>
            <a:ext cx="8318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55 €</a:t>
            </a:r>
          </a:p>
        </p:txBody>
      </p:sp>
      <p:sp>
        <p:nvSpPr>
          <p:cNvPr id="32783" name="Rectangle 38"/>
          <p:cNvSpPr>
            <a:spLocks noChangeArrowheads="1"/>
          </p:cNvSpPr>
          <p:nvPr/>
        </p:nvSpPr>
        <p:spPr bwMode="auto">
          <a:xfrm>
            <a:off x="5699125" y="5135563"/>
            <a:ext cx="8318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10 €</a:t>
            </a:r>
          </a:p>
        </p:txBody>
      </p:sp>
      <p:sp>
        <p:nvSpPr>
          <p:cNvPr id="32784" name="Rectangle 39"/>
          <p:cNvSpPr>
            <a:spLocks noChangeArrowheads="1"/>
          </p:cNvSpPr>
          <p:nvPr/>
        </p:nvSpPr>
        <p:spPr bwMode="auto">
          <a:xfrm>
            <a:off x="5699125" y="3408363"/>
            <a:ext cx="83343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100 €</a:t>
            </a:r>
          </a:p>
        </p:txBody>
      </p:sp>
      <p:sp>
        <p:nvSpPr>
          <p:cNvPr id="32785" name="Rectangle 41"/>
          <p:cNvSpPr>
            <a:spLocks noChangeArrowheads="1"/>
          </p:cNvSpPr>
          <p:nvPr/>
        </p:nvSpPr>
        <p:spPr bwMode="auto">
          <a:xfrm>
            <a:off x="3552825" y="1624013"/>
            <a:ext cx="8318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150 €</a:t>
            </a:r>
          </a:p>
        </p:txBody>
      </p:sp>
      <p:sp>
        <p:nvSpPr>
          <p:cNvPr id="32786" name="Text Box 42"/>
          <p:cNvSpPr txBox="1">
            <a:spLocks noChangeArrowheads="1"/>
          </p:cNvSpPr>
          <p:nvPr/>
        </p:nvSpPr>
        <p:spPr bwMode="auto">
          <a:xfrm>
            <a:off x="3543300" y="852488"/>
            <a:ext cx="1674813" cy="406400"/>
          </a:xfrm>
          <a:prstGeom prst="rect">
            <a:avLst/>
          </a:prstGeom>
          <a:solidFill>
            <a:srgbClr val="CCFFFF"/>
          </a:solidFill>
          <a:ln w="9525">
            <a:solidFill>
              <a:schemeClr val="bg2"/>
            </a:solidFill>
            <a:miter lim="800000"/>
            <a:headEnd/>
            <a:tailEnd/>
          </a:ln>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a:solidFill>
                  <a:schemeClr val="tx2"/>
                </a:solidFill>
              </a:rPr>
              <a:t>Prix de vente</a:t>
            </a:r>
          </a:p>
        </p:txBody>
      </p:sp>
      <p:sp>
        <p:nvSpPr>
          <p:cNvPr id="32788" name="Rectangle 44"/>
          <p:cNvSpPr>
            <a:spLocks noChangeArrowheads="1"/>
          </p:cNvSpPr>
          <p:nvPr/>
        </p:nvSpPr>
        <p:spPr bwMode="auto">
          <a:xfrm>
            <a:off x="5699125" y="5721350"/>
            <a:ext cx="8159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9 €</a:t>
            </a:r>
          </a:p>
        </p:txBody>
      </p:sp>
      <p:sp>
        <p:nvSpPr>
          <p:cNvPr id="32790" name="Oval 48"/>
          <p:cNvSpPr>
            <a:spLocks noChangeArrowheads="1"/>
          </p:cNvSpPr>
          <p:nvPr/>
        </p:nvSpPr>
        <p:spPr bwMode="auto">
          <a:xfrm rot="-5400000">
            <a:off x="3594894" y="5752307"/>
            <a:ext cx="338137" cy="311150"/>
          </a:xfrm>
          <a:prstGeom prst="ellipse">
            <a:avLst/>
          </a:prstGeom>
          <a:solidFill>
            <a:srgbClr val="FF00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91" name="Oval 49"/>
          <p:cNvSpPr>
            <a:spLocks noChangeArrowheads="1"/>
          </p:cNvSpPr>
          <p:nvPr/>
        </p:nvSpPr>
        <p:spPr bwMode="auto">
          <a:xfrm rot="-5400000">
            <a:off x="2391569" y="575071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92" name="Oval 50"/>
          <p:cNvSpPr>
            <a:spLocks noChangeArrowheads="1"/>
          </p:cNvSpPr>
          <p:nvPr/>
        </p:nvSpPr>
        <p:spPr bwMode="auto">
          <a:xfrm rot="-5400000">
            <a:off x="3039269" y="5752307"/>
            <a:ext cx="338137" cy="311150"/>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93" name="Text Box 58"/>
          <p:cNvSpPr txBox="1">
            <a:spLocks noChangeArrowheads="1"/>
          </p:cNvSpPr>
          <p:nvPr/>
        </p:nvSpPr>
        <p:spPr bwMode="auto">
          <a:xfrm>
            <a:off x="4151313" y="5627688"/>
            <a:ext cx="1176337"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nSpc>
                <a:spcPct val="90000"/>
              </a:lnSpc>
              <a:spcBef>
                <a:spcPct val="0"/>
              </a:spcBef>
              <a:buFontTx/>
              <a:buNone/>
            </a:pPr>
            <a:r>
              <a:rPr kumimoji="1" lang="fr-FR" altLang="fr-FR" sz="1600">
                <a:solidFill>
                  <a:srgbClr val="003399"/>
                </a:solidFill>
              </a:rPr>
              <a:t>Couronnes</a:t>
            </a:r>
          </a:p>
          <a:p>
            <a:pPr>
              <a:lnSpc>
                <a:spcPct val="90000"/>
              </a:lnSpc>
              <a:spcBef>
                <a:spcPct val="0"/>
              </a:spcBef>
              <a:buFontTx/>
              <a:buNone/>
            </a:pPr>
            <a:r>
              <a:rPr kumimoji="1" lang="fr-FR" altLang="fr-FR" sz="1400">
                <a:solidFill>
                  <a:schemeClr val="tx1"/>
                </a:solidFill>
              </a:rPr>
              <a:t>(phase A)</a:t>
            </a:r>
          </a:p>
        </p:txBody>
      </p:sp>
      <p:sp>
        <p:nvSpPr>
          <p:cNvPr id="32794" name="Rectangle 60"/>
          <p:cNvSpPr>
            <a:spLocks noChangeArrowheads="1"/>
          </p:cNvSpPr>
          <p:nvPr/>
        </p:nvSpPr>
        <p:spPr bwMode="auto">
          <a:xfrm>
            <a:off x="5794375" y="1617663"/>
            <a:ext cx="635000"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chemeClr val="tx1"/>
                </a:solidFill>
              </a:rPr>
              <a:t>30 €</a:t>
            </a:r>
          </a:p>
        </p:txBody>
      </p:sp>
      <p:sp>
        <p:nvSpPr>
          <p:cNvPr id="32795" name="Oval 61"/>
          <p:cNvSpPr>
            <a:spLocks noChangeArrowheads="1"/>
          </p:cNvSpPr>
          <p:nvPr/>
        </p:nvSpPr>
        <p:spPr bwMode="auto">
          <a:xfrm rot="-5400000">
            <a:off x="5153819" y="1640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2796" name="Text Box 62"/>
          <p:cNvSpPr txBox="1">
            <a:spLocks noChangeArrowheads="1"/>
          </p:cNvSpPr>
          <p:nvPr/>
        </p:nvSpPr>
        <p:spPr bwMode="auto">
          <a:xfrm>
            <a:off x="4679950" y="2022475"/>
            <a:ext cx="163512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couronne phase A blanche</a:t>
            </a:r>
          </a:p>
        </p:txBody>
      </p:sp>
      <p:sp>
        <p:nvSpPr>
          <p:cNvPr id="32797" name="Text Box 64"/>
          <p:cNvSpPr txBox="1">
            <a:spLocks noChangeArrowheads="1"/>
          </p:cNvSpPr>
          <p:nvPr/>
        </p:nvSpPr>
        <p:spPr bwMode="auto">
          <a:xfrm>
            <a:off x="3538538" y="2924175"/>
            <a:ext cx="1662112" cy="360363"/>
          </a:xfrm>
          <a:prstGeom prst="rect">
            <a:avLst/>
          </a:prstGeom>
          <a:solidFill>
            <a:srgbClr val="FFFF99"/>
          </a:solidFill>
          <a:ln w="9525" algn="ctr">
            <a:solidFill>
              <a:schemeClr val="bg2"/>
            </a:solidFill>
            <a:miter lim="800000"/>
            <a:headEnd/>
            <a:tailEnd/>
          </a:ln>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700">
                <a:solidFill>
                  <a:schemeClr val="tx2"/>
                </a:solidFill>
              </a:rPr>
              <a:t>Coût de revient</a:t>
            </a:r>
          </a:p>
        </p:txBody>
      </p:sp>
      <p:sp>
        <p:nvSpPr>
          <p:cNvPr id="32798" name="Text Box 65"/>
          <p:cNvSpPr txBox="1">
            <a:spLocks noChangeArrowheads="1"/>
          </p:cNvSpPr>
          <p:nvPr/>
        </p:nvSpPr>
        <p:spPr bwMode="auto">
          <a:xfrm>
            <a:off x="4151313" y="3379788"/>
            <a:ext cx="1263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800">
                <a:solidFill>
                  <a:srgbClr val="003399"/>
                </a:solidFill>
              </a:rPr>
              <a:t>Produit fini</a:t>
            </a:r>
          </a:p>
        </p:txBody>
      </p:sp>
      <p:sp>
        <p:nvSpPr>
          <p:cNvPr id="32799" name="Text Box 67"/>
          <p:cNvSpPr txBox="1">
            <a:spLocks noChangeArrowheads="1"/>
          </p:cNvSpPr>
          <p:nvPr/>
        </p:nvSpPr>
        <p:spPr bwMode="auto">
          <a:xfrm>
            <a:off x="1435100" y="3398838"/>
            <a:ext cx="47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R1</a:t>
            </a:r>
          </a:p>
        </p:txBody>
      </p:sp>
      <p:sp>
        <p:nvSpPr>
          <p:cNvPr id="32800" name="Text Box 68"/>
          <p:cNvSpPr txBox="1">
            <a:spLocks noChangeArrowheads="1"/>
          </p:cNvSpPr>
          <p:nvPr/>
        </p:nvSpPr>
        <p:spPr bwMode="auto">
          <a:xfrm>
            <a:off x="1839913"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R2</a:t>
            </a:r>
          </a:p>
        </p:txBody>
      </p:sp>
      <p:sp>
        <p:nvSpPr>
          <p:cNvPr id="32801" name="Text Box 69"/>
          <p:cNvSpPr txBox="1">
            <a:spLocks noChangeArrowheads="1"/>
          </p:cNvSpPr>
          <p:nvPr/>
        </p:nvSpPr>
        <p:spPr bwMode="auto">
          <a:xfrm>
            <a:off x="2257425"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R3</a:t>
            </a:r>
          </a:p>
        </p:txBody>
      </p:sp>
      <p:sp>
        <p:nvSpPr>
          <p:cNvPr id="32802" name="Text Box 70"/>
          <p:cNvSpPr txBox="1">
            <a:spLocks noChangeArrowheads="1"/>
          </p:cNvSpPr>
          <p:nvPr/>
        </p:nvSpPr>
        <p:spPr bwMode="auto">
          <a:xfrm>
            <a:off x="2670175"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R4</a:t>
            </a:r>
          </a:p>
        </p:txBody>
      </p:sp>
      <p:sp>
        <p:nvSpPr>
          <p:cNvPr id="32803" name="Text Box 71"/>
          <p:cNvSpPr txBox="1">
            <a:spLocks noChangeArrowheads="1"/>
          </p:cNvSpPr>
          <p:nvPr/>
        </p:nvSpPr>
        <p:spPr bwMode="auto">
          <a:xfrm>
            <a:off x="3087688"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R5</a:t>
            </a:r>
          </a:p>
        </p:txBody>
      </p:sp>
      <p:sp>
        <p:nvSpPr>
          <p:cNvPr id="32804" name="Text Box 72"/>
          <p:cNvSpPr txBox="1">
            <a:spLocks noChangeArrowheads="1"/>
          </p:cNvSpPr>
          <p:nvPr/>
        </p:nvSpPr>
        <p:spPr bwMode="auto">
          <a:xfrm>
            <a:off x="3511550" y="3397250"/>
            <a:ext cx="476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R6</a:t>
            </a:r>
          </a:p>
        </p:txBody>
      </p:sp>
      <p:sp>
        <p:nvSpPr>
          <p:cNvPr id="32805" name="Text Box 73"/>
          <p:cNvSpPr txBox="1">
            <a:spLocks noChangeArrowheads="1"/>
          </p:cNvSpPr>
          <p:nvPr/>
        </p:nvSpPr>
        <p:spPr bwMode="auto">
          <a:xfrm>
            <a:off x="2073275" y="2120900"/>
            <a:ext cx="12811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Produit fini</a:t>
            </a:r>
          </a:p>
        </p:txBody>
      </p:sp>
      <p:sp>
        <p:nvSpPr>
          <p:cNvPr id="32806" name="Text Box 77"/>
          <p:cNvSpPr txBox="1">
            <a:spLocks noChangeArrowheads="1"/>
          </p:cNvSpPr>
          <p:nvPr/>
        </p:nvSpPr>
        <p:spPr bwMode="auto">
          <a:xfrm>
            <a:off x="2135188" y="1471613"/>
            <a:ext cx="442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R1</a:t>
            </a:r>
          </a:p>
        </p:txBody>
      </p:sp>
      <p:sp>
        <p:nvSpPr>
          <p:cNvPr id="32807" name="Text Box 78"/>
          <p:cNvSpPr txBox="1">
            <a:spLocks noChangeArrowheads="1"/>
          </p:cNvSpPr>
          <p:nvPr/>
        </p:nvSpPr>
        <p:spPr bwMode="auto">
          <a:xfrm>
            <a:off x="2473325" y="1479550"/>
            <a:ext cx="442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R2</a:t>
            </a:r>
          </a:p>
        </p:txBody>
      </p:sp>
      <p:sp>
        <p:nvSpPr>
          <p:cNvPr id="32808" name="Text Box 79"/>
          <p:cNvSpPr txBox="1">
            <a:spLocks noChangeArrowheads="1"/>
          </p:cNvSpPr>
          <p:nvPr/>
        </p:nvSpPr>
        <p:spPr bwMode="auto">
          <a:xfrm>
            <a:off x="2843213" y="1479550"/>
            <a:ext cx="442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R3</a:t>
            </a:r>
          </a:p>
        </p:txBody>
      </p:sp>
      <p:sp>
        <p:nvSpPr>
          <p:cNvPr id="32809" name="Text Box 80"/>
          <p:cNvSpPr txBox="1">
            <a:spLocks noChangeArrowheads="1"/>
          </p:cNvSpPr>
          <p:nvPr/>
        </p:nvSpPr>
        <p:spPr bwMode="auto">
          <a:xfrm>
            <a:off x="2122488" y="1778000"/>
            <a:ext cx="442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R4</a:t>
            </a:r>
          </a:p>
        </p:txBody>
      </p:sp>
      <p:sp>
        <p:nvSpPr>
          <p:cNvPr id="32810" name="Text Box 81"/>
          <p:cNvSpPr txBox="1">
            <a:spLocks noChangeArrowheads="1"/>
          </p:cNvSpPr>
          <p:nvPr/>
        </p:nvSpPr>
        <p:spPr bwMode="auto">
          <a:xfrm>
            <a:off x="2473325" y="1778000"/>
            <a:ext cx="442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R5</a:t>
            </a:r>
          </a:p>
        </p:txBody>
      </p:sp>
      <p:sp>
        <p:nvSpPr>
          <p:cNvPr id="32811" name="Text Box 82"/>
          <p:cNvSpPr txBox="1">
            <a:spLocks noChangeArrowheads="1"/>
          </p:cNvSpPr>
          <p:nvPr/>
        </p:nvSpPr>
        <p:spPr bwMode="auto">
          <a:xfrm>
            <a:off x="2849563" y="1787525"/>
            <a:ext cx="442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R6</a:t>
            </a:r>
          </a:p>
        </p:txBody>
      </p:sp>
      <p:sp>
        <p:nvSpPr>
          <p:cNvPr id="32812" name="Line 83"/>
          <p:cNvSpPr>
            <a:spLocks noChangeShapeType="1"/>
          </p:cNvSpPr>
          <p:nvPr/>
        </p:nvSpPr>
        <p:spPr bwMode="auto">
          <a:xfrm>
            <a:off x="3349625" y="1828800"/>
            <a:ext cx="257175"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2813" name="Line 84"/>
          <p:cNvSpPr>
            <a:spLocks noChangeShapeType="1"/>
          </p:cNvSpPr>
          <p:nvPr/>
        </p:nvSpPr>
        <p:spPr bwMode="auto">
          <a:xfrm>
            <a:off x="5568950" y="1808163"/>
            <a:ext cx="257175"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Tree>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Grp="1" noChangeArrowheads="1"/>
          </p:cNvSpPr>
          <p:nvPr>
            <p:ph type="title"/>
          </p:nvPr>
        </p:nvSpPr>
        <p:spPr/>
        <p:txBody>
          <a:bodyPr/>
          <a:lstStyle/>
          <a:p>
            <a:pPr eaLnBrk="1" hangingPunct="1"/>
            <a:r>
              <a:rPr lang="fr-FR" altLang="fr-FR"/>
              <a:t>Les approvisionnements</a:t>
            </a:r>
          </a:p>
        </p:txBody>
      </p:sp>
      <p:sp>
        <p:nvSpPr>
          <p:cNvPr id="33795" name="Rectangle 3"/>
          <p:cNvSpPr>
            <a:spLocks noGrp="1" noChangeArrowheads="1"/>
          </p:cNvSpPr>
          <p:nvPr>
            <p:ph type="body" idx="1"/>
          </p:nvPr>
        </p:nvSpPr>
        <p:spPr>
          <a:xfrm>
            <a:off x="320675" y="1133475"/>
            <a:ext cx="8485188" cy="3843338"/>
          </a:xfrm>
        </p:spPr>
        <p:txBody>
          <a:bodyPr/>
          <a:lstStyle/>
          <a:p>
            <a:pPr eaLnBrk="1" hangingPunct="1">
              <a:lnSpc>
                <a:spcPct val="110000"/>
              </a:lnSpc>
            </a:pPr>
            <a:r>
              <a:rPr lang="fr-FR" altLang="fr-FR"/>
              <a:t>Vous devez servir au mieux les clients, mais vous n’avez pas à vous préoccuper des matières approvisionnées par les Achats.</a:t>
            </a:r>
          </a:p>
          <a:p>
            <a:pPr eaLnBrk="1" hangingPunct="1">
              <a:lnSpc>
                <a:spcPct val="110000"/>
              </a:lnSpc>
            </a:pPr>
            <a:endParaRPr lang="fr-FR" altLang="fr-FR"/>
          </a:p>
          <a:p>
            <a:pPr eaLnBrk="1" hangingPunct="1">
              <a:lnSpc>
                <a:spcPct val="110000"/>
              </a:lnSpc>
            </a:pPr>
            <a:r>
              <a:rPr lang="fr-FR" altLang="fr-FR"/>
              <a:t>Sauf incident, vous disposerez de matière en quantité suffisante.</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Grp="1" noChangeArrowheads="1"/>
          </p:cNvSpPr>
          <p:nvPr>
            <p:ph type="title"/>
          </p:nvPr>
        </p:nvSpPr>
        <p:spPr/>
        <p:txBody>
          <a:bodyPr/>
          <a:lstStyle/>
          <a:p>
            <a:pPr eaLnBrk="1" hangingPunct="1"/>
            <a:r>
              <a:rPr lang="fr-FR" altLang="fr-FR"/>
              <a:t>Les problèmes</a:t>
            </a:r>
          </a:p>
        </p:txBody>
      </p:sp>
      <p:sp>
        <p:nvSpPr>
          <p:cNvPr id="34819" name="Rectangle 3"/>
          <p:cNvSpPr>
            <a:spLocks noGrp="1" noChangeArrowheads="1"/>
          </p:cNvSpPr>
          <p:nvPr>
            <p:ph type="body" idx="1"/>
          </p:nvPr>
        </p:nvSpPr>
        <p:spPr>
          <a:xfrm>
            <a:off x="250825" y="1398588"/>
            <a:ext cx="8710613" cy="2033587"/>
          </a:xfrm>
        </p:spPr>
        <p:txBody>
          <a:bodyPr/>
          <a:lstStyle/>
          <a:p>
            <a:pPr eaLnBrk="1" hangingPunct="1">
              <a:lnSpc>
                <a:spcPct val="110000"/>
              </a:lnSpc>
            </a:pPr>
            <a:r>
              <a:rPr lang="fr-FR" altLang="fr-FR"/>
              <a:t>Comme toute organisation, l’usine Redix rencontre quelques problèmes.</a:t>
            </a:r>
          </a:p>
          <a:p>
            <a:pPr eaLnBrk="1" hangingPunct="1">
              <a:lnSpc>
                <a:spcPct val="110000"/>
              </a:lnSpc>
            </a:pPr>
            <a:r>
              <a:rPr lang="fr-FR" altLang="fr-FR"/>
              <a:t>C’est le tirage du dé qui les déclenche (le 1 et le 6 sont fatidiques).</a:t>
            </a:r>
          </a:p>
          <a:p>
            <a:pPr eaLnBrk="1" hangingPunct="1">
              <a:lnSpc>
                <a:spcPct val="110000"/>
              </a:lnSpc>
            </a:pPr>
            <a:r>
              <a:rPr lang="fr-FR" altLang="fr-FR"/>
              <a:t>Le dé est tiré alternativement par chaque table mais son résultat est applicable à toutes les tables</a:t>
            </a:r>
          </a:p>
        </p:txBody>
      </p:sp>
      <p:grpSp>
        <p:nvGrpSpPr>
          <p:cNvPr id="34820" name="Group 4"/>
          <p:cNvGrpSpPr>
            <a:grpSpLocks/>
          </p:cNvGrpSpPr>
          <p:nvPr/>
        </p:nvGrpSpPr>
        <p:grpSpPr bwMode="auto">
          <a:xfrm>
            <a:off x="4211638" y="3675063"/>
            <a:ext cx="525462" cy="630237"/>
            <a:chOff x="868" y="1439"/>
            <a:chExt cx="811" cy="972"/>
          </a:xfrm>
        </p:grpSpPr>
        <p:sp>
          <p:nvSpPr>
            <p:cNvPr id="34822" name="Freeform 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3" name="Freeform 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4" name="Freeform 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5" name="Freeform 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6" name="Freeform 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7" name="Freeform 1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8" name="Freeform 1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29" name="Freeform 1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0" name="Freeform 1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1" name="Freeform 1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2" name="Freeform 1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3" name="Freeform 1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4" name="Freeform 1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5" name="Freeform 1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6" name="Freeform 1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7" name="Freeform 2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8" name="Freeform 2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39" name="Freeform 2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0" name="Freeform 2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1" name="Freeform 2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2" name="Freeform 2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3" name="Freeform 2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4" name="Freeform 2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5" name="Freeform 2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6" name="Freeform 2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7" name="Freeform 3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8" name="Freeform 3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49" name="Freeform 3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0" name="Freeform 3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1" name="Freeform 3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2" name="Freeform 3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3" name="Freeform 3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4" name="Freeform 3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5" name="Freeform 3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6" name="Freeform 3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7" name="Freeform 4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8" name="Freeform 4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59" name="Freeform 4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0" name="Freeform 4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1" name="Freeform 4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2" name="Freeform 4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3" name="Freeform 4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4" name="Freeform 4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5" name="Freeform 4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6" name="Freeform 4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7" name="Freeform 5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8" name="Freeform 5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69" name="Freeform 5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70" name="Freeform 5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71" name="Freeform 5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4872" name="Freeform 5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2"/>
          <p:cNvSpPr>
            <a:spLocks noGrp="1" noChangeArrowheads="1"/>
          </p:cNvSpPr>
          <p:nvPr>
            <p:ph type="title"/>
          </p:nvPr>
        </p:nvSpPr>
        <p:spPr/>
        <p:txBody>
          <a:bodyPr/>
          <a:lstStyle/>
          <a:p>
            <a:pPr eaLnBrk="1" hangingPunct="1"/>
            <a:r>
              <a:rPr lang="fr-FR" altLang="fr-FR"/>
              <a:t>Les réglages en début de partie</a:t>
            </a:r>
          </a:p>
        </p:txBody>
      </p:sp>
      <p:sp>
        <p:nvSpPr>
          <p:cNvPr id="35843" name="Rectangle 3"/>
          <p:cNvSpPr>
            <a:spLocks noGrp="1" noChangeArrowheads="1"/>
          </p:cNvSpPr>
          <p:nvPr>
            <p:ph type="body" idx="1"/>
          </p:nvPr>
        </p:nvSpPr>
        <p:spPr/>
        <p:txBody>
          <a:bodyPr/>
          <a:lstStyle/>
          <a:p>
            <a:pPr eaLnBrk="1" hangingPunct="1"/>
            <a:r>
              <a:rPr lang="fr-FR" altLang="fr-FR"/>
              <a:t>Vos machines sont prêtes pour la référence que vous décidez de travailler en premier.</a:t>
            </a:r>
          </a:p>
          <a:p>
            <a:pPr eaLnBrk="1" hangingPunct="1"/>
            <a:r>
              <a:rPr lang="fr-FR" altLang="fr-FR"/>
              <a:t>Il n’y a pas lieu de prévoir un temps de réglage supplémentaire.</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a:xfrm>
            <a:off x="600075" y="0"/>
            <a:ext cx="7943850" cy="560387"/>
          </a:xfrm>
        </p:spPr>
        <p:txBody>
          <a:bodyPr/>
          <a:lstStyle/>
          <a:p>
            <a:pPr eaLnBrk="1" hangingPunct="1"/>
            <a:r>
              <a:rPr lang="fr-FR" altLang="fr-FR" dirty="0"/>
              <a:t>La mesure des performances</a:t>
            </a:r>
          </a:p>
        </p:txBody>
      </p:sp>
      <p:sp>
        <p:nvSpPr>
          <p:cNvPr id="36867" name="Rectangle 81"/>
          <p:cNvSpPr>
            <a:spLocks noGrp="1" noChangeArrowheads="1"/>
          </p:cNvSpPr>
          <p:nvPr>
            <p:ph type="body" idx="1"/>
          </p:nvPr>
        </p:nvSpPr>
        <p:spPr>
          <a:xfrm>
            <a:off x="503238" y="1165225"/>
            <a:ext cx="8229600" cy="4846638"/>
          </a:xfrm>
        </p:spPr>
        <p:txBody>
          <a:bodyPr/>
          <a:lstStyle/>
          <a:p>
            <a:pPr marL="381000" indent="-381000" eaLnBrk="1" hangingPunct="1">
              <a:buFontTx/>
              <a:buNone/>
            </a:pPr>
            <a:r>
              <a:rPr lang="fr-FR" altLang="fr-FR"/>
              <a:t>Votre équipe est jugée sur trois résultats :</a:t>
            </a:r>
          </a:p>
          <a:p>
            <a:pPr marL="800100" lvl="1" indent="-342900" eaLnBrk="1" hangingPunct="1">
              <a:buFontTx/>
              <a:buAutoNum type="arabicPeriod"/>
            </a:pPr>
            <a:r>
              <a:rPr lang="fr-FR" altLang="fr-FR"/>
              <a:t>Le service aux clients.</a:t>
            </a:r>
          </a:p>
          <a:p>
            <a:pPr marL="800100" lvl="1" indent="-342900" eaLnBrk="1" hangingPunct="1">
              <a:buFontTx/>
              <a:buAutoNum type="arabicPeriod"/>
            </a:pPr>
            <a:r>
              <a:rPr lang="fr-FR" altLang="fr-FR"/>
              <a:t>L’efficience de la production.</a:t>
            </a:r>
          </a:p>
          <a:p>
            <a:pPr marL="800100" lvl="1" indent="-342900" eaLnBrk="1" hangingPunct="1">
              <a:buFontTx/>
              <a:buAutoNum type="arabicPeriod"/>
            </a:pPr>
            <a:r>
              <a:rPr lang="fr-FR" altLang="fr-FR"/>
              <a:t>Le niveau des stocks.</a:t>
            </a:r>
          </a:p>
          <a:p>
            <a:pPr marL="800100" lvl="1" indent="-342900" eaLnBrk="1" hangingPunct="1">
              <a:buFontTx/>
              <a:buAutoNum type="arabicPeriod"/>
            </a:pPr>
            <a:endParaRPr lang="fr-FR" altLang="fr-FR"/>
          </a:p>
          <a:p>
            <a:pPr marL="381000" indent="-381000" eaLnBrk="1" hangingPunct="1">
              <a:buFont typeface="Wingdings" pitchFamily="2" charset="2"/>
              <a:buChar char="Ø"/>
            </a:pPr>
            <a:r>
              <a:rPr lang="fr-FR" altLang="fr-FR"/>
              <a:t>Les diapos qui suivent vous expliquent comment suivre ces valeurs.</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3"/>
          <p:cNvSpPr>
            <a:spLocks noGrp="1" noChangeArrowheads="1"/>
          </p:cNvSpPr>
          <p:nvPr>
            <p:ph type="title"/>
          </p:nvPr>
        </p:nvSpPr>
        <p:spPr>
          <a:xfrm>
            <a:off x="144463" y="874713"/>
            <a:ext cx="1866900" cy="814387"/>
          </a:xfrm>
        </p:spPr>
        <p:txBody>
          <a:bodyPr/>
          <a:lstStyle/>
          <a:p>
            <a:pPr eaLnBrk="1" hangingPunct="1"/>
            <a:r>
              <a:rPr lang="fr-FR" altLang="fr-FR" sz="1800"/>
              <a:t>Suivi de la production</a:t>
            </a:r>
            <a:br>
              <a:rPr lang="fr-FR" altLang="fr-FR" sz="1800"/>
            </a:br>
            <a:r>
              <a:rPr lang="fr-FR" altLang="fr-FR" sz="1800"/>
              <a:t>et des livraisons</a:t>
            </a:r>
          </a:p>
        </p:txBody>
      </p:sp>
      <p:pic>
        <p:nvPicPr>
          <p:cNvPr id="3789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85925" y="261938"/>
            <a:ext cx="6732588" cy="6373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grpSp>
        <p:nvGrpSpPr>
          <p:cNvPr id="2" name="Group 3215"/>
          <p:cNvGrpSpPr>
            <a:grpSpLocks/>
          </p:cNvGrpSpPr>
          <p:nvPr/>
        </p:nvGrpSpPr>
        <p:grpSpPr bwMode="auto">
          <a:xfrm>
            <a:off x="6978650" y="549275"/>
            <a:ext cx="1633538" cy="1423988"/>
            <a:chOff x="4396" y="346"/>
            <a:chExt cx="1029" cy="897"/>
          </a:xfrm>
        </p:grpSpPr>
        <p:sp>
          <p:nvSpPr>
            <p:cNvPr id="37918" name="Rectangle 3191"/>
            <p:cNvSpPr>
              <a:spLocks noChangeArrowheads="1"/>
            </p:cNvSpPr>
            <p:nvPr/>
          </p:nvSpPr>
          <p:spPr bwMode="auto">
            <a:xfrm>
              <a:off x="4421" y="793"/>
              <a:ext cx="1004" cy="450"/>
            </a:xfrm>
            <a:prstGeom prst="rect">
              <a:avLst/>
            </a:prstGeom>
            <a:solidFill>
              <a:srgbClr val="FFFF99"/>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vos ordres de fabrication (OF)</a:t>
              </a:r>
            </a:p>
          </p:txBody>
        </p:sp>
        <p:sp>
          <p:nvSpPr>
            <p:cNvPr id="37919" name="Oval 3192"/>
            <p:cNvSpPr>
              <a:spLocks noChangeArrowheads="1"/>
            </p:cNvSpPr>
            <p:nvPr/>
          </p:nvSpPr>
          <p:spPr bwMode="auto">
            <a:xfrm>
              <a:off x="4396" y="346"/>
              <a:ext cx="168" cy="156"/>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38" name="Oval 3193"/>
          <p:cNvSpPr>
            <a:spLocks noChangeArrowheads="1"/>
          </p:cNvSpPr>
          <p:nvPr/>
        </p:nvSpPr>
        <p:spPr bwMode="auto">
          <a:xfrm>
            <a:off x="2325688" y="276225"/>
            <a:ext cx="971550" cy="257175"/>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 name="Oval 3194"/>
          <p:cNvSpPr>
            <a:spLocks noChangeArrowheads="1"/>
          </p:cNvSpPr>
          <p:nvPr/>
        </p:nvSpPr>
        <p:spPr bwMode="auto">
          <a:xfrm>
            <a:off x="4256088" y="266700"/>
            <a:ext cx="361950" cy="257175"/>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3" name="Group 3214"/>
          <p:cNvGrpSpPr>
            <a:grpSpLocks/>
          </p:cNvGrpSpPr>
          <p:nvPr/>
        </p:nvGrpSpPr>
        <p:grpSpPr bwMode="auto">
          <a:xfrm>
            <a:off x="4313238" y="269875"/>
            <a:ext cx="1900237" cy="1098550"/>
            <a:chOff x="2762" y="170"/>
            <a:chExt cx="1197" cy="692"/>
          </a:xfrm>
        </p:grpSpPr>
        <p:sp>
          <p:nvSpPr>
            <p:cNvPr id="37916" name="Oval 3195"/>
            <p:cNvSpPr>
              <a:spLocks noChangeArrowheads="1"/>
            </p:cNvSpPr>
            <p:nvPr/>
          </p:nvSpPr>
          <p:spPr bwMode="auto">
            <a:xfrm>
              <a:off x="3701" y="170"/>
              <a:ext cx="258" cy="16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7917" name="AutoShape 3197"/>
            <p:cNvSpPr>
              <a:spLocks/>
            </p:cNvSpPr>
            <p:nvPr/>
          </p:nvSpPr>
          <p:spPr bwMode="auto">
            <a:xfrm>
              <a:off x="2762" y="433"/>
              <a:ext cx="848" cy="429"/>
            </a:xfrm>
            <a:prstGeom prst="borderCallout2">
              <a:avLst>
                <a:gd name="adj1" fmla="val 16782"/>
                <a:gd name="adj2" fmla="val 105662"/>
                <a:gd name="adj3" fmla="val 16782"/>
                <a:gd name="adj4" fmla="val 105662"/>
                <a:gd name="adj5" fmla="val -16083"/>
                <a:gd name="adj6" fmla="val 11804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Temps de changement de série</a:t>
              </a:r>
            </a:p>
          </p:txBody>
        </p:sp>
      </p:grpSp>
      <p:grpSp>
        <p:nvGrpSpPr>
          <p:cNvPr id="4" name="Group 3213"/>
          <p:cNvGrpSpPr>
            <a:grpSpLocks/>
          </p:cNvGrpSpPr>
          <p:nvPr/>
        </p:nvGrpSpPr>
        <p:grpSpPr bwMode="auto">
          <a:xfrm>
            <a:off x="1885950" y="1385888"/>
            <a:ext cx="2154238" cy="1276350"/>
            <a:chOff x="1161" y="747"/>
            <a:chExt cx="1357" cy="804"/>
          </a:xfrm>
        </p:grpSpPr>
        <p:sp>
          <p:nvSpPr>
            <p:cNvPr id="37914" name="AutoShape 3200"/>
            <p:cNvSpPr>
              <a:spLocks/>
            </p:cNvSpPr>
            <p:nvPr/>
          </p:nvSpPr>
          <p:spPr bwMode="auto">
            <a:xfrm>
              <a:off x="1727" y="747"/>
              <a:ext cx="791" cy="506"/>
            </a:xfrm>
            <a:prstGeom prst="borderCallout2">
              <a:avLst>
                <a:gd name="adj1" fmla="val 14231"/>
                <a:gd name="adj2" fmla="val -6069"/>
                <a:gd name="adj3" fmla="val 14231"/>
                <a:gd name="adj4" fmla="val -6069"/>
                <a:gd name="adj5" fmla="val 119958"/>
                <a:gd name="adj6" fmla="val -4728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lnSpc>
                  <a:spcPct val="90000"/>
                </a:lnSpc>
                <a:spcBef>
                  <a:spcPct val="0"/>
                </a:spcBef>
                <a:buFontTx/>
                <a:buNone/>
              </a:pPr>
              <a:r>
                <a:rPr lang="fr-FR" altLang="fr-FR" sz="1300">
                  <a:solidFill>
                    <a:schemeClr val="tx1"/>
                  </a:solidFill>
                </a:rPr>
                <a:t>Notez les références travaillées sur votre poste</a:t>
              </a:r>
            </a:p>
          </p:txBody>
        </p:sp>
        <p:sp>
          <p:nvSpPr>
            <p:cNvPr id="37915" name="Oval 3202"/>
            <p:cNvSpPr>
              <a:spLocks noChangeArrowheads="1"/>
            </p:cNvSpPr>
            <p:nvPr/>
          </p:nvSpPr>
          <p:spPr bwMode="auto">
            <a:xfrm>
              <a:off x="1161" y="1389"/>
              <a:ext cx="505" cy="16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3216"/>
          <p:cNvGrpSpPr>
            <a:grpSpLocks/>
          </p:cNvGrpSpPr>
          <p:nvPr/>
        </p:nvGrpSpPr>
        <p:grpSpPr bwMode="auto">
          <a:xfrm>
            <a:off x="2374900" y="2735263"/>
            <a:ext cx="2185988" cy="509587"/>
            <a:chOff x="1172" y="1723"/>
            <a:chExt cx="1377" cy="321"/>
          </a:xfrm>
        </p:grpSpPr>
        <p:sp>
          <p:nvSpPr>
            <p:cNvPr id="37912" name="AutoShape 3201"/>
            <p:cNvSpPr>
              <a:spLocks/>
            </p:cNvSpPr>
            <p:nvPr/>
          </p:nvSpPr>
          <p:spPr bwMode="auto">
            <a:xfrm>
              <a:off x="1553" y="1723"/>
              <a:ext cx="996" cy="290"/>
            </a:xfrm>
            <a:prstGeom prst="borderCallout2">
              <a:avLst>
                <a:gd name="adj1" fmla="val 24829"/>
                <a:gd name="adj2" fmla="val -4819"/>
                <a:gd name="adj3" fmla="val 24829"/>
                <a:gd name="adj4" fmla="val -4819"/>
                <a:gd name="adj5" fmla="val 68968"/>
                <a:gd name="adj6" fmla="val -1686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la référence travaillée </a:t>
              </a:r>
            </a:p>
          </p:txBody>
        </p:sp>
        <p:sp>
          <p:nvSpPr>
            <p:cNvPr id="37913" name="Oval 3203"/>
            <p:cNvSpPr>
              <a:spLocks noChangeArrowheads="1"/>
            </p:cNvSpPr>
            <p:nvPr/>
          </p:nvSpPr>
          <p:spPr bwMode="auto">
            <a:xfrm>
              <a:off x="1172" y="1889"/>
              <a:ext cx="224" cy="155"/>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 name="Group 3217"/>
          <p:cNvGrpSpPr>
            <a:grpSpLocks/>
          </p:cNvGrpSpPr>
          <p:nvPr/>
        </p:nvGrpSpPr>
        <p:grpSpPr bwMode="auto">
          <a:xfrm>
            <a:off x="2311400" y="3960813"/>
            <a:ext cx="2244725" cy="788987"/>
            <a:chOff x="1465" y="2342"/>
            <a:chExt cx="1414" cy="497"/>
          </a:xfrm>
        </p:grpSpPr>
        <p:sp>
          <p:nvSpPr>
            <p:cNvPr id="37910" name="AutoShape 3198"/>
            <p:cNvSpPr>
              <a:spLocks/>
            </p:cNvSpPr>
            <p:nvPr/>
          </p:nvSpPr>
          <p:spPr bwMode="auto">
            <a:xfrm>
              <a:off x="1465" y="2371"/>
              <a:ext cx="870" cy="468"/>
            </a:xfrm>
            <a:prstGeom prst="borderCallout2">
              <a:avLst>
                <a:gd name="adj1" fmla="val 15384"/>
                <a:gd name="adj2" fmla="val 105519"/>
                <a:gd name="adj3" fmla="val 15384"/>
                <a:gd name="adj4" fmla="val 105519"/>
                <a:gd name="adj5" fmla="val 29273"/>
                <a:gd name="adj6" fmla="val 137241"/>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les arrêts suivant leur cause</a:t>
              </a:r>
            </a:p>
          </p:txBody>
        </p:sp>
        <p:sp>
          <p:nvSpPr>
            <p:cNvPr id="37911" name="Oval 3204"/>
            <p:cNvSpPr>
              <a:spLocks noChangeArrowheads="1"/>
            </p:cNvSpPr>
            <p:nvPr/>
          </p:nvSpPr>
          <p:spPr bwMode="auto">
            <a:xfrm>
              <a:off x="2711" y="2342"/>
              <a:ext cx="168" cy="40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 name="Group 3218"/>
          <p:cNvGrpSpPr>
            <a:grpSpLocks/>
          </p:cNvGrpSpPr>
          <p:nvPr/>
        </p:nvGrpSpPr>
        <p:grpSpPr bwMode="auto">
          <a:xfrm>
            <a:off x="3003550" y="4795838"/>
            <a:ext cx="2297113" cy="719137"/>
            <a:chOff x="1892" y="3021"/>
            <a:chExt cx="1447" cy="453"/>
          </a:xfrm>
        </p:grpSpPr>
        <p:sp>
          <p:nvSpPr>
            <p:cNvPr id="37908" name="AutoShape 3199"/>
            <p:cNvSpPr>
              <a:spLocks/>
            </p:cNvSpPr>
            <p:nvPr/>
          </p:nvSpPr>
          <p:spPr bwMode="auto">
            <a:xfrm>
              <a:off x="1892" y="3021"/>
              <a:ext cx="929" cy="453"/>
            </a:xfrm>
            <a:prstGeom prst="borderCallout2">
              <a:avLst>
                <a:gd name="adj1" fmla="val 15894"/>
                <a:gd name="adj2" fmla="val 105167"/>
                <a:gd name="adj3" fmla="val 15894"/>
                <a:gd name="adj4" fmla="val 105167"/>
                <a:gd name="adj5" fmla="val 64329"/>
                <a:gd name="adj6" fmla="val 137523"/>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le nombre de conteneurs repris ou rebutés</a:t>
              </a:r>
            </a:p>
          </p:txBody>
        </p:sp>
        <p:sp>
          <p:nvSpPr>
            <p:cNvPr id="37909" name="Oval 3205"/>
            <p:cNvSpPr>
              <a:spLocks noChangeArrowheads="1"/>
            </p:cNvSpPr>
            <p:nvPr/>
          </p:nvSpPr>
          <p:spPr bwMode="auto">
            <a:xfrm>
              <a:off x="3147" y="3312"/>
              <a:ext cx="192" cy="114"/>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400">
                <a:solidFill>
                  <a:schemeClr val="tx1"/>
                </a:solidFill>
              </a:endParaRPr>
            </a:p>
          </p:txBody>
        </p:sp>
      </p:grpSp>
      <p:grpSp>
        <p:nvGrpSpPr>
          <p:cNvPr id="8" name="Group 3220"/>
          <p:cNvGrpSpPr>
            <a:grpSpLocks/>
          </p:cNvGrpSpPr>
          <p:nvPr/>
        </p:nvGrpSpPr>
        <p:grpSpPr bwMode="auto">
          <a:xfrm>
            <a:off x="5511800" y="3359150"/>
            <a:ext cx="2508250" cy="1290638"/>
            <a:chOff x="3571" y="1927"/>
            <a:chExt cx="1580" cy="813"/>
          </a:xfrm>
        </p:grpSpPr>
        <p:sp>
          <p:nvSpPr>
            <p:cNvPr id="37906" name="AutoShape 3196"/>
            <p:cNvSpPr>
              <a:spLocks/>
            </p:cNvSpPr>
            <p:nvPr/>
          </p:nvSpPr>
          <p:spPr bwMode="auto">
            <a:xfrm>
              <a:off x="3571" y="1927"/>
              <a:ext cx="1152" cy="556"/>
            </a:xfrm>
            <a:prstGeom prst="borderCallout2">
              <a:avLst>
                <a:gd name="adj1" fmla="val 12949"/>
                <a:gd name="adj2" fmla="val 104167"/>
                <a:gd name="adj3" fmla="val 12949"/>
                <a:gd name="adj4" fmla="val 104167"/>
                <a:gd name="adj5" fmla="val 97481"/>
                <a:gd name="adj6" fmla="val 12048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le nombre de produits en retard :  1 R6 en retard  pendant 2 heures</a:t>
              </a:r>
            </a:p>
          </p:txBody>
        </p:sp>
        <p:sp>
          <p:nvSpPr>
            <p:cNvPr id="37907" name="Oval 3206"/>
            <p:cNvSpPr>
              <a:spLocks noChangeArrowheads="1"/>
            </p:cNvSpPr>
            <p:nvPr/>
          </p:nvSpPr>
          <p:spPr bwMode="auto">
            <a:xfrm>
              <a:off x="4989" y="2467"/>
              <a:ext cx="162" cy="273"/>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3219"/>
          <p:cNvGrpSpPr>
            <a:grpSpLocks/>
          </p:cNvGrpSpPr>
          <p:nvPr/>
        </p:nvGrpSpPr>
        <p:grpSpPr bwMode="auto">
          <a:xfrm>
            <a:off x="2844800" y="5951538"/>
            <a:ext cx="2843213" cy="692150"/>
            <a:chOff x="1792" y="3749"/>
            <a:chExt cx="1791" cy="436"/>
          </a:xfrm>
        </p:grpSpPr>
        <p:sp>
          <p:nvSpPr>
            <p:cNvPr id="37904" name="AutoShape 3207"/>
            <p:cNvSpPr>
              <a:spLocks/>
            </p:cNvSpPr>
            <p:nvPr/>
          </p:nvSpPr>
          <p:spPr bwMode="auto">
            <a:xfrm>
              <a:off x="1792" y="3749"/>
              <a:ext cx="964" cy="436"/>
            </a:xfrm>
            <a:prstGeom prst="borderCallout2">
              <a:avLst>
                <a:gd name="adj1" fmla="val 16514"/>
                <a:gd name="adj2" fmla="val 104981"/>
                <a:gd name="adj3" fmla="val 16514"/>
                <a:gd name="adj4" fmla="val 104981"/>
                <a:gd name="adj5" fmla="val 44269"/>
                <a:gd name="adj6" fmla="val 16753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quand vous n'avez plus rien à produire</a:t>
              </a:r>
            </a:p>
          </p:txBody>
        </p:sp>
        <p:sp>
          <p:nvSpPr>
            <p:cNvPr id="37905" name="Oval 3208"/>
            <p:cNvSpPr>
              <a:spLocks noChangeArrowheads="1"/>
            </p:cNvSpPr>
            <p:nvPr/>
          </p:nvSpPr>
          <p:spPr bwMode="auto">
            <a:xfrm>
              <a:off x="3391" y="3762"/>
              <a:ext cx="192" cy="413"/>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9"/>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nodeType="clickEffect">
                                  <p:stCondLst>
                                    <p:cond delay="0"/>
                                  </p:stCondLst>
                                  <p:childTnLst>
                                    <p:set>
                                      <p:cBhvr>
                                        <p:cTn id="4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4"/>
          <p:cNvSpPr>
            <a:spLocks noGrp="1" noChangeArrowheads="1"/>
          </p:cNvSpPr>
          <p:nvPr>
            <p:ph type="ctrTitle" idx="4294967295"/>
          </p:nvPr>
        </p:nvSpPr>
        <p:spPr>
          <a:xfrm>
            <a:off x="346075" y="3152775"/>
            <a:ext cx="7772400" cy="1470025"/>
          </a:xfrm>
          <a:noFill/>
        </p:spPr>
        <p:txBody>
          <a:bodyPr/>
          <a:lstStyle/>
          <a:p>
            <a:pPr eaLnBrk="1" hangingPunct="1"/>
            <a:r>
              <a:rPr lang="fr-FR" altLang="fr-FR" sz="3600"/>
              <a:t>Questions pratiques</a:t>
            </a:r>
          </a:p>
        </p:txBody>
      </p:sp>
      <p:grpSp>
        <p:nvGrpSpPr>
          <p:cNvPr id="38915" name="Group 20"/>
          <p:cNvGrpSpPr>
            <a:grpSpLocks/>
          </p:cNvGrpSpPr>
          <p:nvPr/>
        </p:nvGrpSpPr>
        <p:grpSpPr bwMode="auto">
          <a:xfrm rot="-223274">
            <a:off x="3843338" y="1701800"/>
            <a:ext cx="1058862" cy="1042988"/>
            <a:chOff x="2757" y="1666"/>
            <a:chExt cx="812" cy="800"/>
          </a:xfrm>
        </p:grpSpPr>
        <p:sp>
          <p:nvSpPr>
            <p:cNvPr id="38934" name="Freeform 2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35" name="Freeform 2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38936" name="Line 2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38937" name="Freeform 2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38" name="Freeform 2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38939" name="AutoShape 2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8916" name="Group 27"/>
          <p:cNvGrpSpPr>
            <a:grpSpLocks/>
          </p:cNvGrpSpPr>
          <p:nvPr/>
        </p:nvGrpSpPr>
        <p:grpSpPr bwMode="auto">
          <a:xfrm rot="-223274">
            <a:off x="3825875" y="1392238"/>
            <a:ext cx="1058863" cy="1042987"/>
            <a:chOff x="2757" y="1666"/>
            <a:chExt cx="812" cy="800"/>
          </a:xfrm>
        </p:grpSpPr>
        <p:sp>
          <p:nvSpPr>
            <p:cNvPr id="38928" name="Freeform 2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29" name="Freeform 2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38930" name="Line 3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38931" name="Freeform 3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32" name="Freeform 3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38933" name="AutoShape 3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8917" name="Group 34"/>
          <p:cNvGrpSpPr>
            <a:grpSpLocks/>
          </p:cNvGrpSpPr>
          <p:nvPr/>
        </p:nvGrpSpPr>
        <p:grpSpPr bwMode="auto">
          <a:xfrm rot="-223274">
            <a:off x="3792538" y="1089025"/>
            <a:ext cx="1058862" cy="1042988"/>
            <a:chOff x="2757" y="1666"/>
            <a:chExt cx="812" cy="800"/>
          </a:xfrm>
        </p:grpSpPr>
        <p:sp>
          <p:nvSpPr>
            <p:cNvPr id="38922" name="Freeform 3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23" name="Freeform 3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38924" name="Line 3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38925" name="Freeform 3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38926" name="Freeform 3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38927" name="AutoShape 4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38918" name="AutoShape 41"/>
          <p:cNvSpPr>
            <a:spLocks noChangeArrowheads="1"/>
          </p:cNvSpPr>
          <p:nvPr/>
        </p:nvSpPr>
        <p:spPr bwMode="auto">
          <a:xfrm rot="669280">
            <a:off x="4033838" y="1466850"/>
            <a:ext cx="307975" cy="228600"/>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8919" name="AutoShape 42"/>
          <p:cNvSpPr>
            <a:spLocks noChangeArrowheads="1"/>
          </p:cNvSpPr>
          <p:nvPr/>
        </p:nvSpPr>
        <p:spPr bwMode="auto">
          <a:xfrm rot="2337505">
            <a:off x="4229100" y="1368425"/>
            <a:ext cx="280988" cy="422275"/>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8920" name="Oval 43"/>
          <p:cNvSpPr>
            <a:spLocks noChangeArrowheads="1"/>
          </p:cNvSpPr>
          <p:nvPr/>
        </p:nvSpPr>
        <p:spPr bwMode="auto">
          <a:xfrm rot="575549">
            <a:off x="4267200" y="1555750"/>
            <a:ext cx="260350" cy="246063"/>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p:cNvSpPr>
            <a:spLocks noGrp="1" noChangeArrowheads="1"/>
          </p:cNvSpPr>
          <p:nvPr>
            <p:ph type="title"/>
          </p:nvPr>
        </p:nvSpPr>
        <p:spPr>
          <a:xfrm>
            <a:off x="600075" y="0"/>
            <a:ext cx="7943850" cy="588962"/>
          </a:xfrm>
        </p:spPr>
        <p:txBody>
          <a:bodyPr/>
          <a:lstStyle/>
          <a:p>
            <a:pPr eaLnBrk="1" hangingPunct="1"/>
            <a:r>
              <a:rPr lang="fr-FR" altLang="fr-FR"/>
              <a:t>Implantation de la table</a:t>
            </a:r>
          </a:p>
        </p:txBody>
      </p:sp>
      <p:grpSp>
        <p:nvGrpSpPr>
          <p:cNvPr id="39940" name="Group 156"/>
          <p:cNvGrpSpPr>
            <a:grpSpLocks/>
          </p:cNvGrpSpPr>
          <p:nvPr/>
        </p:nvGrpSpPr>
        <p:grpSpPr bwMode="auto">
          <a:xfrm>
            <a:off x="128588" y="1293813"/>
            <a:ext cx="8801100" cy="4213225"/>
            <a:chOff x="81" y="815"/>
            <a:chExt cx="5544" cy="2654"/>
          </a:xfrm>
        </p:grpSpPr>
        <p:sp>
          <p:nvSpPr>
            <p:cNvPr id="39942" name="Rectangle 46"/>
            <p:cNvSpPr>
              <a:spLocks noChangeArrowheads="1"/>
            </p:cNvSpPr>
            <p:nvPr/>
          </p:nvSpPr>
          <p:spPr bwMode="auto">
            <a:xfrm>
              <a:off x="651" y="1112"/>
              <a:ext cx="4701" cy="208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43" name="Text Box 52"/>
            <p:cNvSpPr txBox="1">
              <a:spLocks noChangeArrowheads="1"/>
            </p:cNvSpPr>
            <p:nvPr/>
          </p:nvSpPr>
          <p:spPr bwMode="auto">
            <a:xfrm>
              <a:off x="1538" y="1217"/>
              <a:ext cx="811" cy="21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Engrenages</a:t>
              </a:r>
            </a:p>
          </p:txBody>
        </p:sp>
        <p:sp>
          <p:nvSpPr>
            <p:cNvPr id="39944" name="Text Box 53"/>
            <p:cNvSpPr txBox="1">
              <a:spLocks noChangeArrowheads="1"/>
            </p:cNvSpPr>
            <p:nvPr/>
          </p:nvSpPr>
          <p:spPr bwMode="auto">
            <a:xfrm>
              <a:off x="3480" y="1198"/>
              <a:ext cx="542" cy="218"/>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Carters</a:t>
              </a:r>
            </a:p>
          </p:txBody>
        </p:sp>
        <p:sp>
          <p:nvSpPr>
            <p:cNvPr id="39945" name="Text Box 54"/>
            <p:cNvSpPr txBox="1">
              <a:spLocks noChangeArrowheads="1"/>
            </p:cNvSpPr>
            <p:nvPr/>
          </p:nvSpPr>
          <p:spPr bwMode="auto">
            <a:xfrm>
              <a:off x="4413" y="1752"/>
              <a:ext cx="747" cy="372"/>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Couronnes</a:t>
              </a:r>
            </a:p>
            <a:p>
              <a:pPr algn="ctr">
                <a:spcBef>
                  <a:spcPct val="0"/>
                </a:spcBef>
                <a:buFontTx/>
                <a:buNone/>
              </a:pPr>
              <a:r>
                <a:rPr lang="fr-FR" altLang="fr-FR" sz="1600">
                  <a:solidFill>
                    <a:schemeClr val="tx1"/>
                  </a:solidFill>
                </a:rPr>
                <a:t>(ph. A)</a:t>
              </a:r>
            </a:p>
          </p:txBody>
        </p:sp>
        <p:sp>
          <p:nvSpPr>
            <p:cNvPr id="39946" name="Text Box 55"/>
            <p:cNvSpPr txBox="1">
              <a:spLocks noChangeArrowheads="1"/>
            </p:cNvSpPr>
            <p:nvPr/>
          </p:nvSpPr>
          <p:spPr bwMode="auto">
            <a:xfrm>
              <a:off x="3437" y="2693"/>
              <a:ext cx="747" cy="372"/>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Couronnes</a:t>
              </a:r>
            </a:p>
            <a:p>
              <a:pPr algn="ctr">
                <a:spcBef>
                  <a:spcPct val="0"/>
                </a:spcBef>
                <a:buFontTx/>
                <a:buNone/>
              </a:pPr>
              <a:r>
                <a:rPr lang="fr-FR" altLang="fr-FR" sz="1600">
                  <a:solidFill>
                    <a:schemeClr val="tx1"/>
                  </a:solidFill>
                </a:rPr>
                <a:t>(ph. B)</a:t>
              </a:r>
            </a:p>
          </p:txBody>
        </p:sp>
        <p:sp>
          <p:nvSpPr>
            <p:cNvPr id="39947" name="Text Box 56"/>
            <p:cNvSpPr txBox="1">
              <a:spLocks noChangeArrowheads="1"/>
            </p:cNvSpPr>
            <p:nvPr/>
          </p:nvSpPr>
          <p:spPr bwMode="auto">
            <a:xfrm>
              <a:off x="1603" y="2778"/>
              <a:ext cx="832" cy="19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600">
                  <a:solidFill>
                    <a:schemeClr val="tx1"/>
                  </a:solidFill>
                </a:rPr>
                <a:t>Montage</a:t>
              </a:r>
            </a:p>
          </p:txBody>
        </p:sp>
        <p:grpSp>
          <p:nvGrpSpPr>
            <p:cNvPr id="39948" name="Group 57"/>
            <p:cNvGrpSpPr>
              <a:grpSpLocks/>
            </p:cNvGrpSpPr>
            <p:nvPr/>
          </p:nvGrpSpPr>
          <p:grpSpPr bwMode="auto">
            <a:xfrm>
              <a:off x="1739" y="3154"/>
              <a:ext cx="517" cy="315"/>
              <a:chOff x="2102" y="1800"/>
              <a:chExt cx="787" cy="480"/>
            </a:xfrm>
          </p:grpSpPr>
          <p:sp>
            <p:nvSpPr>
              <p:cNvPr id="40025" name="Oval 58"/>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6" name="Rectangle 59"/>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7" name="Oval 60"/>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49" name="Group 61"/>
            <p:cNvGrpSpPr>
              <a:grpSpLocks/>
            </p:cNvGrpSpPr>
            <p:nvPr/>
          </p:nvGrpSpPr>
          <p:grpSpPr bwMode="auto">
            <a:xfrm>
              <a:off x="3588" y="3142"/>
              <a:ext cx="517" cy="315"/>
              <a:chOff x="2102" y="1800"/>
              <a:chExt cx="787" cy="480"/>
            </a:xfrm>
          </p:grpSpPr>
          <p:sp>
            <p:nvSpPr>
              <p:cNvPr id="40022" name="Oval 62"/>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3" name="Rectangle 63"/>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4" name="Oval 64"/>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50" name="Group 65"/>
            <p:cNvGrpSpPr>
              <a:grpSpLocks/>
            </p:cNvGrpSpPr>
            <p:nvPr/>
          </p:nvGrpSpPr>
          <p:grpSpPr bwMode="auto">
            <a:xfrm rot="-5400000">
              <a:off x="5209" y="1767"/>
              <a:ext cx="517" cy="315"/>
              <a:chOff x="2102" y="1800"/>
              <a:chExt cx="787" cy="480"/>
            </a:xfrm>
          </p:grpSpPr>
          <p:sp>
            <p:nvSpPr>
              <p:cNvPr id="40019" name="Oval 66"/>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0" name="Rectangle 67"/>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21" name="Oval 68"/>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51" name="Group 69"/>
            <p:cNvGrpSpPr>
              <a:grpSpLocks/>
            </p:cNvGrpSpPr>
            <p:nvPr/>
          </p:nvGrpSpPr>
          <p:grpSpPr bwMode="auto">
            <a:xfrm flipV="1">
              <a:off x="3481" y="815"/>
              <a:ext cx="517" cy="315"/>
              <a:chOff x="2102" y="1800"/>
              <a:chExt cx="787" cy="480"/>
            </a:xfrm>
          </p:grpSpPr>
          <p:sp>
            <p:nvSpPr>
              <p:cNvPr id="40016" name="Oval 70"/>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7" name="Rectangle 71"/>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8" name="Oval 72"/>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52" name="Group 73"/>
            <p:cNvGrpSpPr>
              <a:grpSpLocks/>
            </p:cNvGrpSpPr>
            <p:nvPr/>
          </p:nvGrpSpPr>
          <p:grpSpPr bwMode="auto">
            <a:xfrm flipV="1">
              <a:off x="1651" y="859"/>
              <a:ext cx="517" cy="315"/>
              <a:chOff x="2102" y="1800"/>
              <a:chExt cx="787" cy="480"/>
            </a:xfrm>
          </p:grpSpPr>
          <p:sp>
            <p:nvSpPr>
              <p:cNvPr id="40013" name="Oval 74"/>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4" name="Rectangle 75"/>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5" name="Oval 76"/>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9953" name="Group 145"/>
            <p:cNvGrpSpPr>
              <a:grpSpLocks/>
            </p:cNvGrpSpPr>
            <p:nvPr/>
          </p:nvGrpSpPr>
          <p:grpSpPr bwMode="auto">
            <a:xfrm>
              <a:off x="2513" y="2105"/>
              <a:ext cx="805" cy="579"/>
              <a:chOff x="2086" y="1632"/>
              <a:chExt cx="805" cy="579"/>
            </a:xfrm>
          </p:grpSpPr>
          <p:sp>
            <p:nvSpPr>
              <p:cNvPr id="39995" name="Rectangle 80"/>
              <p:cNvSpPr>
                <a:spLocks noChangeArrowheads="1"/>
              </p:cNvSpPr>
              <p:nvPr/>
            </p:nvSpPr>
            <p:spPr bwMode="auto">
              <a:xfrm>
                <a:off x="2086" y="1632"/>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96" name="Line 82"/>
              <p:cNvSpPr>
                <a:spLocks noChangeShapeType="1"/>
              </p:cNvSpPr>
              <p:nvPr/>
            </p:nvSpPr>
            <p:spPr bwMode="auto">
              <a:xfrm rot="5400000">
                <a:off x="2027"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7" name="Line 83"/>
              <p:cNvSpPr>
                <a:spLocks noChangeShapeType="1"/>
              </p:cNvSpPr>
              <p:nvPr/>
            </p:nvSpPr>
            <p:spPr bwMode="auto">
              <a:xfrm rot="5400000">
                <a:off x="214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8" name="Line 84"/>
              <p:cNvSpPr>
                <a:spLocks noChangeShapeType="1"/>
              </p:cNvSpPr>
              <p:nvPr/>
            </p:nvSpPr>
            <p:spPr bwMode="auto">
              <a:xfrm rot="5400000">
                <a:off x="1797"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9" name="Line 85"/>
              <p:cNvSpPr>
                <a:spLocks noChangeShapeType="1"/>
              </p:cNvSpPr>
              <p:nvPr/>
            </p:nvSpPr>
            <p:spPr bwMode="auto">
              <a:xfrm rot="5400000">
                <a:off x="1912"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0" name="Line 86"/>
              <p:cNvSpPr>
                <a:spLocks noChangeShapeType="1"/>
              </p:cNvSpPr>
              <p:nvPr/>
            </p:nvSpPr>
            <p:spPr bwMode="auto">
              <a:xfrm rot="5400000">
                <a:off x="2256"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1" name="Line 87"/>
              <p:cNvSpPr>
                <a:spLocks noChangeShapeType="1"/>
              </p:cNvSpPr>
              <p:nvPr/>
            </p:nvSpPr>
            <p:spPr bwMode="auto">
              <a:xfrm rot="5400000">
                <a:off x="237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2" name="Line 88"/>
              <p:cNvSpPr>
                <a:spLocks noChangeShapeType="1"/>
              </p:cNvSpPr>
              <p:nvPr/>
            </p:nvSpPr>
            <p:spPr bwMode="auto">
              <a:xfrm rot="5400000">
                <a:off x="2486"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3" name="Line 89"/>
              <p:cNvSpPr>
                <a:spLocks noChangeShapeType="1"/>
              </p:cNvSpPr>
              <p:nvPr/>
            </p:nvSpPr>
            <p:spPr bwMode="auto">
              <a:xfrm rot="5400000">
                <a:off x="260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4" name="Line 90"/>
              <p:cNvSpPr>
                <a:spLocks noChangeShapeType="1"/>
              </p:cNvSpPr>
              <p:nvPr/>
            </p:nvSpPr>
            <p:spPr bwMode="auto">
              <a:xfrm>
                <a:off x="2086" y="1727"/>
                <a:ext cx="805"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005" name="Rectangle 91"/>
              <p:cNvSpPr>
                <a:spLocks noChangeAspect="1" noChangeArrowheads="1"/>
              </p:cNvSpPr>
              <p:nvPr/>
            </p:nvSpPr>
            <p:spPr bwMode="auto">
              <a:xfrm>
                <a:off x="2450" y="1668"/>
                <a:ext cx="76" cy="24"/>
              </a:xfrm>
              <a:prstGeom prst="rect">
                <a:avLst/>
              </a:prstGeom>
              <a:solidFill>
                <a:srgbClr val="0099FF"/>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06" name="Rectangle 92"/>
              <p:cNvSpPr>
                <a:spLocks noChangeAspect="1" noChangeArrowheads="1"/>
              </p:cNvSpPr>
              <p:nvPr/>
            </p:nvSpPr>
            <p:spPr bwMode="auto">
              <a:xfrm>
                <a:off x="2335" y="1668"/>
                <a:ext cx="76" cy="24"/>
              </a:xfrm>
              <a:prstGeom prst="rect">
                <a:avLst/>
              </a:prstGeom>
              <a:solidFill>
                <a:srgbClr val="FF00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07" name="Rectangle 93"/>
              <p:cNvSpPr>
                <a:spLocks noChangeAspect="1" noChangeArrowheads="1"/>
              </p:cNvSpPr>
              <p:nvPr/>
            </p:nvSpPr>
            <p:spPr bwMode="auto">
              <a:xfrm>
                <a:off x="2122" y="1666"/>
                <a:ext cx="42" cy="27"/>
              </a:xfrm>
              <a:prstGeom prst="rect">
                <a:avLst/>
              </a:prstGeom>
              <a:solidFill>
                <a:srgbClr val="FFFF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08" name="Rectangle 94"/>
              <p:cNvSpPr>
                <a:spLocks noChangeAspect="1" noChangeArrowheads="1"/>
              </p:cNvSpPr>
              <p:nvPr/>
            </p:nvSpPr>
            <p:spPr bwMode="auto">
              <a:xfrm>
                <a:off x="2237" y="1666"/>
                <a:ext cx="42" cy="27"/>
              </a:xfrm>
              <a:prstGeom prst="rect">
                <a:avLst/>
              </a:prstGeom>
              <a:solidFill>
                <a:schemeClr val="bg1"/>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09" name="Oval 95"/>
              <p:cNvSpPr>
                <a:spLocks noChangeAspect="1" noChangeArrowheads="1"/>
              </p:cNvSpPr>
              <p:nvPr/>
            </p:nvSpPr>
            <p:spPr bwMode="auto">
              <a:xfrm>
                <a:off x="2582" y="1659"/>
                <a:ext cx="41" cy="42"/>
              </a:xfrm>
              <a:prstGeom prst="ellipse">
                <a:avLst/>
              </a:prstGeom>
              <a:solidFill>
                <a:schemeClr val="bg1"/>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0" name="Oval 96"/>
              <p:cNvSpPr>
                <a:spLocks noChangeAspect="1" noChangeArrowheads="1"/>
              </p:cNvSpPr>
              <p:nvPr/>
            </p:nvSpPr>
            <p:spPr bwMode="auto">
              <a:xfrm>
                <a:off x="2811" y="1659"/>
                <a:ext cx="42" cy="42"/>
              </a:xfrm>
              <a:prstGeom prst="ellipse">
                <a:avLst/>
              </a:prstGeom>
              <a:solidFill>
                <a:srgbClr val="FF0000"/>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1" name="Oval 97"/>
              <p:cNvSpPr>
                <a:spLocks noChangeAspect="1" noChangeArrowheads="1"/>
              </p:cNvSpPr>
              <p:nvPr/>
            </p:nvSpPr>
            <p:spPr bwMode="auto">
              <a:xfrm>
                <a:off x="2696" y="1659"/>
                <a:ext cx="42" cy="42"/>
              </a:xfrm>
              <a:prstGeom prst="ellipse">
                <a:avLst/>
              </a:prstGeom>
              <a:solidFill>
                <a:srgbClr val="33CC33"/>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012" name="WordArt 98"/>
              <p:cNvSpPr>
                <a:spLocks noChangeArrowheads="1" noChangeShapeType="1" noTextEdit="1"/>
              </p:cNvSpPr>
              <p:nvPr/>
            </p:nvSpPr>
            <p:spPr bwMode="auto">
              <a:xfrm>
                <a:off x="2104" y="1815"/>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Pièces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usinées</a:t>
                </a:r>
              </a:p>
            </p:txBody>
          </p:sp>
        </p:grpSp>
        <p:grpSp>
          <p:nvGrpSpPr>
            <p:cNvPr id="39954" name="Group 143"/>
            <p:cNvGrpSpPr>
              <a:grpSpLocks/>
            </p:cNvGrpSpPr>
            <p:nvPr/>
          </p:nvGrpSpPr>
          <p:grpSpPr bwMode="auto">
            <a:xfrm>
              <a:off x="4418" y="2392"/>
              <a:ext cx="805" cy="579"/>
              <a:chOff x="2269" y="2347"/>
              <a:chExt cx="805" cy="579"/>
            </a:xfrm>
          </p:grpSpPr>
          <p:sp>
            <p:nvSpPr>
              <p:cNvPr id="39981" name="Rectangle 99"/>
              <p:cNvSpPr>
                <a:spLocks noChangeArrowheads="1"/>
              </p:cNvSpPr>
              <p:nvPr/>
            </p:nvSpPr>
            <p:spPr bwMode="auto">
              <a:xfrm>
                <a:off x="2269" y="2347"/>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82" name="Line 100"/>
              <p:cNvSpPr>
                <a:spLocks noChangeShapeType="1"/>
              </p:cNvSpPr>
              <p:nvPr/>
            </p:nvSpPr>
            <p:spPr bwMode="auto">
              <a:xfrm rot="5400000">
                <a:off x="2210"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3" name="Line 101"/>
              <p:cNvSpPr>
                <a:spLocks noChangeShapeType="1"/>
              </p:cNvSpPr>
              <p:nvPr/>
            </p:nvSpPr>
            <p:spPr bwMode="auto">
              <a:xfrm rot="5400000">
                <a:off x="232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4" name="Line 102"/>
              <p:cNvSpPr>
                <a:spLocks noChangeShapeType="1"/>
              </p:cNvSpPr>
              <p:nvPr/>
            </p:nvSpPr>
            <p:spPr bwMode="auto">
              <a:xfrm rot="5400000">
                <a:off x="1980"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5" name="Line 103"/>
              <p:cNvSpPr>
                <a:spLocks noChangeShapeType="1"/>
              </p:cNvSpPr>
              <p:nvPr/>
            </p:nvSpPr>
            <p:spPr bwMode="auto">
              <a:xfrm rot="5400000">
                <a:off x="2095"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6" name="Line 104"/>
              <p:cNvSpPr>
                <a:spLocks noChangeShapeType="1"/>
              </p:cNvSpPr>
              <p:nvPr/>
            </p:nvSpPr>
            <p:spPr bwMode="auto">
              <a:xfrm rot="5400000">
                <a:off x="2439"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7" name="Line 105"/>
              <p:cNvSpPr>
                <a:spLocks noChangeShapeType="1"/>
              </p:cNvSpPr>
              <p:nvPr/>
            </p:nvSpPr>
            <p:spPr bwMode="auto">
              <a:xfrm rot="5400000">
                <a:off x="255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8" name="Line 106"/>
              <p:cNvSpPr>
                <a:spLocks noChangeShapeType="1"/>
              </p:cNvSpPr>
              <p:nvPr/>
            </p:nvSpPr>
            <p:spPr bwMode="auto">
              <a:xfrm rot="5400000">
                <a:off x="2669"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89" name="Line 107"/>
              <p:cNvSpPr>
                <a:spLocks noChangeShapeType="1"/>
              </p:cNvSpPr>
              <p:nvPr/>
            </p:nvSpPr>
            <p:spPr bwMode="auto">
              <a:xfrm rot="5400000">
                <a:off x="278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0" name="Line 108"/>
              <p:cNvSpPr>
                <a:spLocks noChangeShapeType="1"/>
              </p:cNvSpPr>
              <p:nvPr/>
            </p:nvSpPr>
            <p:spPr bwMode="auto">
              <a:xfrm>
                <a:off x="2269" y="2442"/>
                <a:ext cx="805"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91" name="Oval 113"/>
              <p:cNvSpPr>
                <a:spLocks noChangeAspect="1" noChangeArrowheads="1"/>
              </p:cNvSpPr>
              <p:nvPr/>
            </p:nvSpPr>
            <p:spPr bwMode="auto">
              <a:xfrm>
                <a:off x="2303" y="2374"/>
                <a:ext cx="41" cy="42"/>
              </a:xfrm>
              <a:prstGeom prst="ellipse">
                <a:avLst/>
              </a:prstGeom>
              <a:solidFill>
                <a:schemeClr val="bg1"/>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92" name="Oval 114"/>
              <p:cNvSpPr>
                <a:spLocks noChangeAspect="1" noChangeArrowheads="1"/>
              </p:cNvSpPr>
              <p:nvPr/>
            </p:nvSpPr>
            <p:spPr bwMode="auto">
              <a:xfrm>
                <a:off x="2532" y="2374"/>
                <a:ext cx="42" cy="42"/>
              </a:xfrm>
              <a:prstGeom prst="ellipse">
                <a:avLst/>
              </a:prstGeom>
              <a:solidFill>
                <a:srgbClr val="FF0000"/>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93" name="Oval 115"/>
              <p:cNvSpPr>
                <a:spLocks noChangeAspect="1" noChangeArrowheads="1"/>
              </p:cNvSpPr>
              <p:nvPr/>
            </p:nvSpPr>
            <p:spPr bwMode="auto">
              <a:xfrm>
                <a:off x="2417" y="2374"/>
                <a:ext cx="42" cy="42"/>
              </a:xfrm>
              <a:prstGeom prst="ellipse">
                <a:avLst/>
              </a:prstGeom>
              <a:solidFill>
                <a:srgbClr val="33CC33"/>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94" name="WordArt 116"/>
              <p:cNvSpPr>
                <a:spLocks noChangeArrowheads="1" noChangeShapeType="1" noTextEdit="1"/>
              </p:cNvSpPr>
              <p:nvPr/>
            </p:nvSpPr>
            <p:spPr bwMode="auto">
              <a:xfrm>
                <a:off x="2287" y="2530"/>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Couronnes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phase A</a:t>
                </a:r>
              </a:p>
            </p:txBody>
          </p:sp>
        </p:grpSp>
        <p:grpSp>
          <p:nvGrpSpPr>
            <p:cNvPr id="39955" name="Group 144"/>
            <p:cNvGrpSpPr>
              <a:grpSpLocks/>
            </p:cNvGrpSpPr>
            <p:nvPr/>
          </p:nvGrpSpPr>
          <p:grpSpPr bwMode="auto">
            <a:xfrm>
              <a:off x="742" y="2435"/>
              <a:ext cx="813" cy="588"/>
              <a:chOff x="288" y="2319"/>
              <a:chExt cx="813" cy="588"/>
            </a:xfrm>
          </p:grpSpPr>
          <p:sp>
            <p:nvSpPr>
              <p:cNvPr id="39965" name="Rectangle 117"/>
              <p:cNvSpPr>
                <a:spLocks noChangeArrowheads="1"/>
              </p:cNvSpPr>
              <p:nvPr/>
            </p:nvSpPr>
            <p:spPr bwMode="auto">
              <a:xfrm>
                <a:off x="296" y="2328"/>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66" name="Line 118"/>
              <p:cNvSpPr>
                <a:spLocks noChangeShapeType="1"/>
              </p:cNvSpPr>
              <p:nvPr/>
            </p:nvSpPr>
            <p:spPr bwMode="auto">
              <a:xfrm rot="5400000">
                <a:off x="255"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67" name="Line 119"/>
              <p:cNvSpPr>
                <a:spLocks noChangeShapeType="1"/>
              </p:cNvSpPr>
              <p:nvPr/>
            </p:nvSpPr>
            <p:spPr bwMode="auto">
              <a:xfrm rot="5400000">
                <a:off x="38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68" name="Line 120"/>
              <p:cNvSpPr>
                <a:spLocks noChangeShapeType="1"/>
              </p:cNvSpPr>
              <p:nvPr/>
            </p:nvSpPr>
            <p:spPr bwMode="auto">
              <a:xfrm rot="5400000">
                <a:off x="7"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69" name="Line 121"/>
              <p:cNvSpPr>
                <a:spLocks noChangeShapeType="1"/>
              </p:cNvSpPr>
              <p:nvPr/>
            </p:nvSpPr>
            <p:spPr bwMode="auto">
              <a:xfrm rot="5400000">
                <a:off x="13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70" name="Line 122"/>
              <p:cNvSpPr>
                <a:spLocks noChangeShapeType="1"/>
              </p:cNvSpPr>
              <p:nvPr/>
            </p:nvSpPr>
            <p:spPr bwMode="auto">
              <a:xfrm rot="5400000">
                <a:off x="529"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71" name="Line 123"/>
              <p:cNvSpPr>
                <a:spLocks noChangeShapeType="1"/>
              </p:cNvSpPr>
              <p:nvPr/>
            </p:nvSpPr>
            <p:spPr bwMode="auto">
              <a:xfrm rot="5400000">
                <a:off x="659"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72" name="Line 125"/>
              <p:cNvSpPr>
                <a:spLocks noChangeShapeType="1"/>
              </p:cNvSpPr>
              <p:nvPr/>
            </p:nvSpPr>
            <p:spPr bwMode="auto">
              <a:xfrm rot="5400000">
                <a:off x="81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9973" name="WordArt 134"/>
              <p:cNvSpPr>
                <a:spLocks noChangeArrowheads="1" noChangeShapeType="1" noTextEdit="1"/>
              </p:cNvSpPr>
              <p:nvPr/>
            </p:nvSpPr>
            <p:spPr bwMode="auto">
              <a:xfrm>
                <a:off x="314" y="2511"/>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Produits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finis</a:t>
                </a:r>
              </a:p>
            </p:txBody>
          </p:sp>
          <p:sp>
            <p:nvSpPr>
              <p:cNvPr id="39974" name="Text Box 135"/>
              <p:cNvSpPr txBox="1">
                <a:spLocks noChangeArrowheads="1"/>
              </p:cNvSpPr>
              <p:nvPr/>
            </p:nvSpPr>
            <p:spPr bwMode="auto">
              <a:xfrm>
                <a:off x="295"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R1</a:t>
                </a:r>
              </a:p>
            </p:txBody>
          </p:sp>
          <p:sp>
            <p:nvSpPr>
              <p:cNvPr id="39975" name="Text Box 137"/>
              <p:cNvSpPr txBox="1">
                <a:spLocks noChangeArrowheads="1"/>
              </p:cNvSpPr>
              <p:nvPr/>
            </p:nvSpPr>
            <p:spPr bwMode="auto">
              <a:xfrm>
                <a:off x="412"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R2</a:t>
                </a:r>
              </a:p>
            </p:txBody>
          </p:sp>
          <p:sp>
            <p:nvSpPr>
              <p:cNvPr id="39976" name="Text Box 138"/>
              <p:cNvSpPr txBox="1">
                <a:spLocks noChangeArrowheads="1"/>
              </p:cNvSpPr>
              <p:nvPr/>
            </p:nvSpPr>
            <p:spPr bwMode="auto">
              <a:xfrm>
                <a:off x="532"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R3</a:t>
                </a:r>
              </a:p>
            </p:txBody>
          </p:sp>
          <p:sp>
            <p:nvSpPr>
              <p:cNvPr id="39977" name="Text Box 139"/>
              <p:cNvSpPr txBox="1">
                <a:spLocks noChangeArrowheads="1"/>
              </p:cNvSpPr>
              <p:nvPr/>
            </p:nvSpPr>
            <p:spPr bwMode="auto">
              <a:xfrm>
                <a:off x="661"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R4</a:t>
                </a:r>
              </a:p>
            </p:txBody>
          </p:sp>
          <p:sp>
            <p:nvSpPr>
              <p:cNvPr id="39978" name="Text Box 140"/>
              <p:cNvSpPr txBox="1">
                <a:spLocks noChangeArrowheads="1"/>
              </p:cNvSpPr>
              <p:nvPr/>
            </p:nvSpPr>
            <p:spPr bwMode="auto">
              <a:xfrm>
                <a:off x="808"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R5</a:t>
                </a:r>
              </a:p>
            </p:txBody>
          </p:sp>
          <p:sp>
            <p:nvSpPr>
              <p:cNvPr id="39979" name="Text Box 141"/>
              <p:cNvSpPr txBox="1">
                <a:spLocks noChangeArrowheads="1"/>
              </p:cNvSpPr>
              <p:nvPr/>
            </p:nvSpPr>
            <p:spPr bwMode="auto">
              <a:xfrm>
                <a:off x="934" y="2319"/>
                <a:ext cx="1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R6</a:t>
                </a:r>
              </a:p>
            </p:txBody>
          </p:sp>
          <p:sp>
            <p:nvSpPr>
              <p:cNvPr id="39980" name="Line 142"/>
              <p:cNvSpPr>
                <a:spLocks noChangeShapeType="1"/>
              </p:cNvSpPr>
              <p:nvPr/>
            </p:nvSpPr>
            <p:spPr bwMode="auto">
              <a:xfrm>
                <a:off x="288" y="2439"/>
                <a:ext cx="807" cy="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39956" name="AutoShape 146"/>
            <p:cNvSpPr>
              <a:spLocks noChangeArrowheads="1"/>
            </p:cNvSpPr>
            <p:nvPr/>
          </p:nvSpPr>
          <p:spPr bwMode="auto">
            <a:xfrm>
              <a:off x="149" y="2408"/>
              <a:ext cx="443" cy="222"/>
            </a:xfrm>
            <a:prstGeom prst="leftArrow">
              <a:avLst>
                <a:gd name="adj1" fmla="val 50000"/>
                <a:gd name="adj2" fmla="val 49887"/>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39957" name="Text Box 147"/>
            <p:cNvSpPr txBox="1">
              <a:spLocks noChangeArrowheads="1"/>
            </p:cNvSpPr>
            <p:nvPr/>
          </p:nvSpPr>
          <p:spPr bwMode="auto">
            <a:xfrm>
              <a:off x="81" y="2119"/>
              <a:ext cx="860" cy="231"/>
            </a:xfrm>
            <a:prstGeom prst="rect">
              <a:avLst/>
            </a:prstGeom>
            <a:solidFill>
              <a:schemeClr val="bg1"/>
            </a:solidFill>
            <a:ln>
              <a:noFill/>
            </a:ln>
            <a:extLs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Expéditions</a:t>
              </a:r>
            </a:p>
          </p:txBody>
        </p:sp>
        <p:sp>
          <p:nvSpPr>
            <p:cNvPr id="39958" name="Line 148"/>
            <p:cNvSpPr>
              <a:spLocks noChangeShapeType="1"/>
            </p:cNvSpPr>
            <p:nvPr/>
          </p:nvSpPr>
          <p:spPr bwMode="auto">
            <a:xfrm>
              <a:off x="2177" y="1506"/>
              <a:ext cx="630" cy="515"/>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59" name="Line 149"/>
            <p:cNvSpPr>
              <a:spLocks noChangeShapeType="1"/>
            </p:cNvSpPr>
            <p:nvPr/>
          </p:nvSpPr>
          <p:spPr bwMode="auto">
            <a:xfrm flipH="1">
              <a:off x="3046" y="1506"/>
              <a:ext cx="526" cy="516"/>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0" name="Line 150"/>
            <p:cNvSpPr>
              <a:spLocks noChangeShapeType="1"/>
            </p:cNvSpPr>
            <p:nvPr/>
          </p:nvSpPr>
          <p:spPr bwMode="auto">
            <a:xfrm>
              <a:off x="4807" y="2166"/>
              <a:ext cx="0" cy="199"/>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1" name="Line 151"/>
            <p:cNvSpPr>
              <a:spLocks noChangeShapeType="1"/>
            </p:cNvSpPr>
            <p:nvPr/>
          </p:nvSpPr>
          <p:spPr bwMode="auto">
            <a:xfrm flipH="1">
              <a:off x="4234" y="2730"/>
              <a:ext cx="221" cy="128"/>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2" name="Line 152"/>
            <p:cNvSpPr>
              <a:spLocks noChangeShapeType="1"/>
            </p:cNvSpPr>
            <p:nvPr/>
          </p:nvSpPr>
          <p:spPr bwMode="auto">
            <a:xfrm flipH="1" flipV="1">
              <a:off x="3136" y="2714"/>
              <a:ext cx="260" cy="166"/>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3" name="Line 153"/>
            <p:cNvSpPr>
              <a:spLocks noChangeShapeType="1"/>
            </p:cNvSpPr>
            <p:nvPr/>
          </p:nvSpPr>
          <p:spPr bwMode="auto">
            <a:xfrm flipH="1">
              <a:off x="2097" y="2487"/>
              <a:ext cx="355" cy="249"/>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9964" name="Line 154"/>
            <p:cNvSpPr>
              <a:spLocks noChangeShapeType="1"/>
            </p:cNvSpPr>
            <p:nvPr/>
          </p:nvSpPr>
          <p:spPr bwMode="auto">
            <a:xfrm flipH="1" flipV="1">
              <a:off x="1578" y="2642"/>
              <a:ext cx="322" cy="100"/>
            </a:xfrm>
            <a:prstGeom prst="line">
              <a:avLst/>
            </a:prstGeom>
            <a:noFill/>
            <a:ln w="6350">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ChangeArrowheads="1"/>
          </p:cNvSpPr>
          <p:nvPr>
            <p:ph type="title"/>
          </p:nvPr>
        </p:nvSpPr>
        <p:spPr>
          <a:xfrm>
            <a:off x="457200" y="0"/>
            <a:ext cx="8229600" cy="647700"/>
          </a:xfrm>
        </p:spPr>
        <p:txBody>
          <a:bodyPr/>
          <a:lstStyle/>
          <a:p>
            <a:pPr eaLnBrk="1" hangingPunct="1"/>
            <a:r>
              <a:rPr lang="fr-FR" altLang="fr-FR" dirty="0"/>
              <a:t>Rangement des pièces dans les conteneurs</a:t>
            </a:r>
          </a:p>
        </p:txBody>
      </p:sp>
      <p:grpSp>
        <p:nvGrpSpPr>
          <p:cNvPr id="40963" name="Group 180"/>
          <p:cNvGrpSpPr>
            <a:grpSpLocks/>
          </p:cNvGrpSpPr>
          <p:nvPr/>
        </p:nvGrpSpPr>
        <p:grpSpPr bwMode="auto">
          <a:xfrm>
            <a:off x="4819650" y="860425"/>
            <a:ext cx="4141788" cy="5557838"/>
            <a:chOff x="182" y="604"/>
            <a:chExt cx="2609" cy="3501"/>
          </a:xfrm>
        </p:grpSpPr>
        <p:grpSp>
          <p:nvGrpSpPr>
            <p:cNvPr id="41017" name="Group 53"/>
            <p:cNvGrpSpPr>
              <a:grpSpLocks/>
            </p:cNvGrpSpPr>
            <p:nvPr/>
          </p:nvGrpSpPr>
          <p:grpSpPr bwMode="auto">
            <a:xfrm rot="-223274">
              <a:off x="1200" y="3375"/>
              <a:ext cx="667" cy="657"/>
              <a:chOff x="2757" y="1666"/>
              <a:chExt cx="812" cy="800"/>
            </a:xfrm>
          </p:grpSpPr>
          <p:sp>
            <p:nvSpPr>
              <p:cNvPr id="41048" name="Freeform 5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49" name="Freeform 5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50" name="Line 5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51" name="Freeform 5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52" name="Freeform 5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53" name="AutoShape 5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1018" name="Group 46"/>
            <p:cNvGrpSpPr>
              <a:grpSpLocks/>
            </p:cNvGrpSpPr>
            <p:nvPr/>
          </p:nvGrpSpPr>
          <p:grpSpPr bwMode="auto">
            <a:xfrm rot="-223274">
              <a:off x="1189" y="3180"/>
              <a:ext cx="667" cy="657"/>
              <a:chOff x="2757" y="1666"/>
              <a:chExt cx="812" cy="800"/>
            </a:xfrm>
          </p:grpSpPr>
          <p:sp>
            <p:nvSpPr>
              <p:cNvPr id="41042" name="Freeform 4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43" name="Freeform 4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44" name="Line 4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45" name="Freeform 5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46" name="Freeform 5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47" name="AutoShape 5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1019" name="Group 23"/>
            <p:cNvGrpSpPr>
              <a:grpSpLocks/>
            </p:cNvGrpSpPr>
            <p:nvPr/>
          </p:nvGrpSpPr>
          <p:grpSpPr bwMode="auto">
            <a:xfrm rot="-223274">
              <a:off x="1168" y="2989"/>
              <a:ext cx="667" cy="657"/>
              <a:chOff x="2757" y="1666"/>
              <a:chExt cx="812" cy="800"/>
            </a:xfrm>
          </p:grpSpPr>
          <p:sp>
            <p:nvSpPr>
              <p:cNvPr id="41036" name="Freeform 1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37" name="Freeform 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38" name="Line 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39" name="Freeform 1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40" name="Freeform 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41" name="AutoShape 2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1020" name="Rectangle 24"/>
            <p:cNvSpPr>
              <a:spLocks noChangeArrowheads="1"/>
            </p:cNvSpPr>
            <p:nvPr/>
          </p:nvSpPr>
          <p:spPr bwMode="auto">
            <a:xfrm>
              <a:off x="852" y="2384"/>
              <a:ext cx="212" cy="321"/>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21" name="Rectangle 25"/>
            <p:cNvSpPr>
              <a:spLocks noChangeArrowheads="1"/>
            </p:cNvSpPr>
            <p:nvPr/>
          </p:nvSpPr>
          <p:spPr bwMode="auto">
            <a:xfrm>
              <a:off x="1431" y="2172"/>
              <a:ext cx="169" cy="406"/>
            </a:xfrm>
            <a:prstGeom prst="rect">
              <a:avLst/>
            </a:prstGeom>
            <a:solidFill>
              <a:srgbClr val="0066FF"/>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22" name="Oval 28"/>
            <p:cNvSpPr>
              <a:spLocks noChangeArrowheads="1"/>
            </p:cNvSpPr>
            <p:nvPr/>
          </p:nvSpPr>
          <p:spPr bwMode="auto">
            <a:xfrm>
              <a:off x="1934" y="2370"/>
              <a:ext cx="271" cy="29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23" name="Text Box 30"/>
            <p:cNvSpPr txBox="1">
              <a:spLocks noChangeArrowheads="1"/>
            </p:cNvSpPr>
            <p:nvPr/>
          </p:nvSpPr>
          <p:spPr bwMode="auto">
            <a:xfrm>
              <a:off x="1313" y="1932"/>
              <a:ext cx="49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1 carter</a:t>
              </a:r>
            </a:p>
          </p:txBody>
        </p:sp>
        <p:sp>
          <p:nvSpPr>
            <p:cNvPr id="41024" name="Text Box 31"/>
            <p:cNvSpPr txBox="1">
              <a:spLocks noChangeArrowheads="1"/>
            </p:cNvSpPr>
            <p:nvPr/>
          </p:nvSpPr>
          <p:spPr bwMode="auto">
            <a:xfrm>
              <a:off x="469" y="2110"/>
              <a:ext cx="74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1 engrenage</a:t>
              </a:r>
            </a:p>
          </p:txBody>
        </p:sp>
        <p:sp>
          <p:nvSpPr>
            <p:cNvPr id="41025" name="Text Box 32"/>
            <p:cNvSpPr txBox="1">
              <a:spLocks noChangeArrowheads="1"/>
            </p:cNvSpPr>
            <p:nvPr/>
          </p:nvSpPr>
          <p:spPr bwMode="auto">
            <a:xfrm>
              <a:off x="1948" y="2014"/>
              <a:ext cx="674"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1 couronne</a:t>
              </a:r>
              <a:br>
                <a:rPr kumimoji="1" lang="fr-FR" altLang="fr-FR" sz="1400">
                  <a:solidFill>
                    <a:schemeClr val="tx2"/>
                  </a:solidFill>
                </a:rPr>
              </a:br>
              <a:r>
                <a:rPr kumimoji="1" lang="fr-FR" altLang="fr-FR" sz="1400">
                  <a:solidFill>
                    <a:schemeClr val="tx2"/>
                  </a:solidFill>
                </a:rPr>
                <a:t>(ph. B)</a:t>
              </a:r>
            </a:p>
          </p:txBody>
        </p:sp>
        <p:sp>
          <p:nvSpPr>
            <p:cNvPr id="41026" name="Line 33"/>
            <p:cNvSpPr>
              <a:spLocks noChangeShapeType="1"/>
            </p:cNvSpPr>
            <p:nvPr/>
          </p:nvSpPr>
          <p:spPr bwMode="auto">
            <a:xfrm>
              <a:off x="1157" y="2704"/>
              <a:ext cx="221" cy="221"/>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1027" name="Line 34"/>
            <p:cNvSpPr>
              <a:spLocks noChangeShapeType="1"/>
            </p:cNvSpPr>
            <p:nvPr/>
          </p:nvSpPr>
          <p:spPr bwMode="auto">
            <a:xfrm>
              <a:off x="1517" y="2604"/>
              <a:ext cx="0" cy="322"/>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1028" name="Line 35"/>
            <p:cNvSpPr>
              <a:spLocks noChangeShapeType="1"/>
            </p:cNvSpPr>
            <p:nvPr/>
          </p:nvSpPr>
          <p:spPr bwMode="auto">
            <a:xfrm flipH="1">
              <a:off x="1639" y="2698"/>
              <a:ext cx="260" cy="238"/>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1029" name="Text Box 36"/>
            <p:cNvSpPr txBox="1">
              <a:spLocks noChangeArrowheads="1"/>
            </p:cNvSpPr>
            <p:nvPr/>
          </p:nvSpPr>
          <p:spPr bwMode="auto">
            <a:xfrm>
              <a:off x="599" y="1486"/>
              <a:ext cx="1647"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t>On ne range </a:t>
              </a:r>
              <a:r>
                <a:rPr lang="fr-FR" altLang="fr-FR" sz="1600">
                  <a:solidFill>
                    <a:srgbClr val="FC2C1C"/>
                  </a:solidFill>
                </a:rPr>
                <a:t>qu’un seul produit fini</a:t>
              </a:r>
              <a:r>
                <a:rPr lang="fr-FR" altLang="fr-FR" sz="1600"/>
                <a:t> par conteneur</a:t>
              </a:r>
            </a:p>
          </p:txBody>
        </p:sp>
        <p:sp>
          <p:nvSpPr>
            <p:cNvPr id="41030" name="AutoShape 61"/>
            <p:cNvSpPr>
              <a:spLocks noChangeArrowheads="1"/>
            </p:cNvSpPr>
            <p:nvPr/>
          </p:nvSpPr>
          <p:spPr bwMode="auto">
            <a:xfrm rot="669280">
              <a:off x="1320" y="3227"/>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31" name="AutoShape 62"/>
            <p:cNvSpPr>
              <a:spLocks noChangeArrowheads="1"/>
            </p:cNvSpPr>
            <p:nvPr/>
          </p:nvSpPr>
          <p:spPr bwMode="auto">
            <a:xfrm rot="2337505">
              <a:off x="1443" y="3165"/>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32" name="Oval 63"/>
            <p:cNvSpPr>
              <a:spLocks noChangeArrowheads="1"/>
            </p:cNvSpPr>
            <p:nvPr/>
          </p:nvSpPr>
          <p:spPr bwMode="auto">
            <a:xfrm rot="575549">
              <a:off x="1467" y="3283"/>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033" name="Text Box 64"/>
            <p:cNvSpPr txBox="1">
              <a:spLocks noChangeArrowheads="1"/>
            </p:cNvSpPr>
            <p:nvPr/>
          </p:nvSpPr>
          <p:spPr bwMode="auto">
            <a:xfrm>
              <a:off x="766" y="728"/>
              <a:ext cx="143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squar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dirty="0">
                  <a:solidFill>
                    <a:schemeClr val="tx2"/>
                  </a:solidFill>
                </a:rPr>
                <a:t>Stock de</a:t>
              </a:r>
              <a:br>
                <a:rPr lang="fr-FR" altLang="fr-FR" dirty="0">
                  <a:solidFill>
                    <a:schemeClr val="tx2"/>
                  </a:solidFill>
                </a:rPr>
              </a:br>
              <a:r>
                <a:rPr lang="fr-FR" altLang="fr-FR" dirty="0">
                  <a:solidFill>
                    <a:srgbClr val="FC2C1C"/>
                  </a:solidFill>
                </a:rPr>
                <a:t>produits finis</a:t>
              </a:r>
            </a:p>
          </p:txBody>
        </p:sp>
        <p:sp>
          <p:nvSpPr>
            <p:cNvPr id="41035" name="Rectangle 131"/>
            <p:cNvSpPr>
              <a:spLocks noChangeArrowheads="1"/>
            </p:cNvSpPr>
            <p:nvPr/>
          </p:nvSpPr>
          <p:spPr bwMode="auto">
            <a:xfrm>
              <a:off x="182" y="604"/>
              <a:ext cx="2609" cy="3501"/>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0964" name="Group 181"/>
          <p:cNvGrpSpPr>
            <a:grpSpLocks/>
          </p:cNvGrpSpPr>
          <p:nvPr/>
        </p:nvGrpSpPr>
        <p:grpSpPr bwMode="auto">
          <a:xfrm>
            <a:off x="288925" y="850900"/>
            <a:ext cx="4237038" cy="5557838"/>
            <a:chOff x="3009" y="598"/>
            <a:chExt cx="2669" cy="3501"/>
          </a:xfrm>
        </p:grpSpPr>
        <p:grpSp>
          <p:nvGrpSpPr>
            <p:cNvPr id="40967" name="Group 116"/>
            <p:cNvGrpSpPr>
              <a:grpSpLocks/>
            </p:cNvGrpSpPr>
            <p:nvPr/>
          </p:nvGrpSpPr>
          <p:grpSpPr bwMode="auto">
            <a:xfrm rot="-223274">
              <a:off x="4687" y="3288"/>
              <a:ext cx="667" cy="657"/>
              <a:chOff x="2757" y="1666"/>
              <a:chExt cx="812" cy="800"/>
            </a:xfrm>
          </p:grpSpPr>
          <p:sp>
            <p:nvSpPr>
              <p:cNvPr id="41011" name="Freeform 11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12" name="Freeform 11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13" name="Line 11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14" name="Freeform 12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15" name="Freeform 12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16" name="AutoShape 12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0968" name="Rectangle 44"/>
            <p:cNvSpPr>
              <a:spLocks noChangeArrowheads="1"/>
            </p:cNvSpPr>
            <p:nvPr/>
          </p:nvSpPr>
          <p:spPr bwMode="auto">
            <a:xfrm>
              <a:off x="3605" y="2299"/>
              <a:ext cx="212" cy="321"/>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69" name="Text Box 45"/>
            <p:cNvSpPr txBox="1">
              <a:spLocks noChangeArrowheads="1"/>
            </p:cNvSpPr>
            <p:nvPr/>
          </p:nvSpPr>
          <p:spPr bwMode="auto">
            <a:xfrm>
              <a:off x="3363" y="2048"/>
              <a:ext cx="74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1 engrenage</a:t>
              </a:r>
            </a:p>
          </p:txBody>
        </p:sp>
        <p:grpSp>
          <p:nvGrpSpPr>
            <p:cNvPr id="40970" name="Group 65"/>
            <p:cNvGrpSpPr>
              <a:grpSpLocks/>
            </p:cNvGrpSpPr>
            <p:nvPr/>
          </p:nvGrpSpPr>
          <p:grpSpPr bwMode="auto">
            <a:xfrm rot="-223274">
              <a:off x="3433" y="3367"/>
              <a:ext cx="667" cy="657"/>
              <a:chOff x="2757" y="1666"/>
              <a:chExt cx="812" cy="800"/>
            </a:xfrm>
          </p:grpSpPr>
          <p:sp>
            <p:nvSpPr>
              <p:cNvPr id="41005" name="Freeform 6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06" name="Freeform 6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07" name="Line 6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08" name="Freeform 6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09" name="Freeform 7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10" name="AutoShape 7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0971" name="Group 72"/>
            <p:cNvGrpSpPr>
              <a:grpSpLocks/>
            </p:cNvGrpSpPr>
            <p:nvPr/>
          </p:nvGrpSpPr>
          <p:grpSpPr bwMode="auto">
            <a:xfrm rot="-223274">
              <a:off x="3422" y="3178"/>
              <a:ext cx="667" cy="657"/>
              <a:chOff x="2757" y="1666"/>
              <a:chExt cx="812" cy="800"/>
            </a:xfrm>
          </p:grpSpPr>
          <p:sp>
            <p:nvSpPr>
              <p:cNvPr id="40999" name="Freeform 7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00" name="Freeform 7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1001" name="Line 7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1002" name="Freeform 7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1003" name="Freeform 7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1004" name="AutoShape 7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0972" name="Group 79"/>
            <p:cNvGrpSpPr>
              <a:grpSpLocks/>
            </p:cNvGrpSpPr>
            <p:nvPr/>
          </p:nvGrpSpPr>
          <p:grpSpPr bwMode="auto">
            <a:xfrm rot="-223274">
              <a:off x="3401" y="2993"/>
              <a:ext cx="667" cy="657"/>
              <a:chOff x="2757" y="1666"/>
              <a:chExt cx="812" cy="800"/>
            </a:xfrm>
          </p:grpSpPr>
          <p:sp>
            <p:nvSpPr>
              <p:cNvPr id="40993"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0994"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0995"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0996"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0997"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0998"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0973" name="AutoShape 86"/>
            <p:cNvSpPr>
              <a:spLocks noChangeArrowheads="1"/>
            </p:cNvSpPr>
            <p:nvPr/>
          </p:nvSpPr>
          <p:spPr bwMode="auto">
            <a:xfrm rot="1092751">
              <a:off x="3621" y="3188"/>
              <a:ext cx="194" cy="209"/>
            </a:xfrm>
            <a:prstGeom prst="parallelogram">
              <a:avLst>
                <a:gd name="adj" fmla="val 2500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74" name="Text Box 89"/>
            <p:cNvSpPr txBox="1">
              <a:spLocks noChangeArrowheads="1"/>
            </p:cNvSpPr>
            <p:nvPr/>
          </p:nvSpPr>
          <p:spPr bwMode="auto">
            <a:xfrm>
              <a:off x="3110" y="1437"/>
              <a:ext cx="1232" cy="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t>On ne range </a:t>
              </a:r>
              <a:r>
                <a:rPr lang="fr-FR" altLang="fr-FR" sz="1600">
                  <a:solidFill>
                    <a:srgbClr val="FC2C1C"/>
                  </a:solidFill>
                </a:rPr>
                <a:t>qu’une seule pièce</a:t>
              </a:r>
              <a:r>
                <a:rPr lang="fr-FR" altLang="fr-FR" sz="1600"/>
                <a:t> par conteneur</a:t>
              </a:r>
            </a:p>
          </p:txBody>
        </p:sp>
        <p:sp>
          <p:nvSpPr>
            <p:cNvPr id="40975" name="Line 90"/>
            <p:cNvSpPr>
              <a:spLocks noChangeShapeType="1"/>
            </p:cNvSpPr>
            <p:nvPr/>
          </p:nvSpPr>
          <p:spPr bwMode="auto">
            <a:xfrm>
              <a:off x="3721" y="2674"/>
              <a:ext cx="6" cy="255"/>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0976" name="Text Box 91"/>
            <p:cNvSpPr txBox="1">
              <a:spLocks noChangeArrowheads="1"/>
            </p:cNvSpPr>
            <p:nvPr/>
          </p:nvSpPr>
          <p:spPr bwMode="auto">
            <a:xfrm>
              <a:off x="4452" y="1431"/>
              <a:ext cx="1226" cy="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t>Sauf les couronnes qui vont </a:t>
              </a:r>
              <a:r>
                <a:rPr lang="fr-FR" altLang="fr-FR" sz="1600">
                  <a:solidFill>
                    <a:srgbClr val="FC2C1C"/>
                  </a:solidFill>
                </a:rPr>
                <a:t>toujours par 2 !</a:t>
              </a:r>
            </a:p>
          </p:txBody>
        </p:sp>
        <p:grpSp>
          <p:nvGrpSpPr>
            <p:cNvPr id="40977" name="Group 106"/>
            <p:cNvGrpSpPr>
              <a:grpSpLocks/>
            </p:cNvGrpSpPr>
            <p:nvPr/>
          </p:nvGrpSpPr>
          <p:grpSpPr bwMode="auto">
            <a:xfrm rot="-223274">
              <a:off x="4682" y="3102"/>
              <a:ext cx="667" cy="657"/>
              <a:chOff x="2757" y="1666"/>
              <a:chExt cx="812" cy="800"/>
            </a:xfrm>
          </p:grpSpPr>
          <p:sp>
            <p:nvSpPr>
              <p:cNvPr id="40987" name="Freeform 10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0988" name="Freeform 10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0989" name="Line 10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0990" name="Freeform 11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0991" name="Freeform 11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0992" name="AutoShape 11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0978" name="Oval 114"/>
            <p:cNvSpPr>
              <a:spLocks noChangeArrowheads="1"/>
            </p:cNvSpPr>
            <p:nvPr/>
          </p:nvSpPr>
          <p:spPr bwMode="auto">
            <a:xfrm rot="555066">
              <a:off x="4917" y="3288"/>
              <a:ext cx="176" cy="15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79" name="Oval 115"/>
            <p:cNvSpPr>
              <a:spLocks noChangeArrowheads="1"/>
            </p:cNvSpPr>
            <p:nvPr/>
          </p:nvSpPr>
          <p:spPr bwMode="auto">
            <a:xfrm rot="555066">
              <a:off x="4977" y="3392"/>
              <a:ext cx="176" cy="15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80" name="Oval 123"/>
            <p:cNvSpPr>
              <a:spLocks noChangeArrowheads="1"/>
            </p:cNvSpPr>
            <p:nvPr/>
          </p:nvSpPr>
          <p:spPr bwMode="auto">
            <a:xfrm>
              <a:off x="4771" y="2406"/>
              <a:ext cx="271" cy="29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81" name="Line 124"/>
            <p:cNvSpPr>
              <a:spLocks noChangeShapeType="1"/>
            </p:cNvSpPr>
            <p:nvPr/>
          </p:nvSpPr>
          <p:spPr bwMode="auto">
            <a:xfrm>
              <a:off x="5083" y="2784"/>
              <a:ext cx="6" cy="255"/>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0982" name="Oval 125"/>
            <p:cNvSpPr>
              <a:spLocks noChangeArrowheads="1"/>
            </p:cNvSpPr>
            <p:nvPr/>
          </p:nvSpPr>
          <p:spPr bwMode="auto">
            <a:xfrm>
              <a:off x="5103" y="2406"/>
              <a:ext cx="271" cy="295"/>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0983" name="Text Box 126"/>
            <p:cNvSpPr txBox="1">
              <a:spLocks noChangeArrowheads="1"/>
            </p:cNvSpPr>
            <p:nvPr/>
          </p:nvSpPr>
          <p:spPr bwMode="auto">
            <a:xfrm>
              <a:off x="4634" y="2051"/>
              <a:ext cx="861"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kumimoji="1" lang="fr-FR" altLang="fr-FR" sz="1400">
                  <a:solidFill>
                    <a:schemeClr val="tx2"/>
                  </a:solidFill>
                </a:rPr>
                <a:t>2 couronnes</a:t>
              </a:r>
              <a:br>
                <a:rPr kumimoji="1" lang="fr-FR" altLang="fr-FR" sz="1400">
                  <a:solidFill>
                    <a:schemeClr val="tx2"/>
                  </a:solidFill>
                </a:rPr>
              </a:br>
              <a:r>
                <a:rPr kumimoji="1" lang="fr-FR" altLang="fr-FR" sz="1400">
                  <a:solidFill>
                    <a:schemeClr val="tx2"/>
                  </a:solidFill>
                </a:rPr>
                <a:t>(phase A ou B)</a:t>
              </a:r>
            </a:p>
          </p:txBody>
        </p:sp>
        <p:sp>
          <p:nvSpPr>
            <p:cNvPr id="40984" name="Text Box 129"/>
            <p:cNvSpPr txBox="1">
              <a:spLocks noChangeArrowheads="1"/>
            </p:cNvSpPr>
            <p:nvPr/>
          </p:nvSpPr>
          <p:spPr bwMode="auto">
            <a:xfrm>
              <a:off x="3935" y="679"/>
              <a:ext cx="738"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dirty="0">
                  <a:solidFill>
                    <a:schemeClr val="tx2"/>
                  </a:solidFill>
                </a:rPr>
                <a:t>Stock de</a:t>
              </a:r>
              <a:br>
                <a:rPr lang="fr-FR" altLang="fr-FR" dirty="0">
                  <a:solidFill>
                    <a:schemeClr val="tx2"/>
                  </a:solidFill>
                </a:rPr>
              </a:br>
              <a:r>
                <a:rPr lang="fr-FR" altLang="fr-FR" dirty="0">
                  <a:solidFill>
                    <a:srgbClr val="FC2C1C"/>
                  </a:solidFill>
                </a:rPr>
                <a:t>pièces</a:t>
              </a:r>
            </a:p>
          </p:txBody>
        </p:sp>
        <p:sp>
          <p:nvSpPr>
            <p:cNvPr id="40986" name="Rectangle 132"/>
            <p:cNvSpPr>
              <a:spLocks noChangeArrowheads="1"/>
            </p:cNvSpPr>
            <p:nvPr/>
          </p:nvSpPr>
          <p:spPr bwMode="auto">
            <a:xfrm>
              <a:off x="3009" y="598"/>
              <a:ext cx="2621" cy="3501"/>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p:cNvSpPr>
            <a:spLocks noGrp="1" noChangeArrowheads="1"/>
          </p:cNvSpPr>
          <p:nvPr>
            <p:ph type="title"/>
          </p:nvPr>
        </p:nvSpPr>
        <p:spPr>
          <a:xfrm>
            <a:off x="430213" y="0"/>
            <a:ext cx="8229600" cy="647700"/>
          </a:xfrm>
        </p:spPr>
        <p:txBody>
          <a:bodyPr/>
          <a:lstStyle/>
          <a:p>
            <a:pPr eaLnBrk="1" hangingPunct="1"/>
            <a:r>
              <a:rPr lang="fr-FR" altLang="fr-FR"/>
              <a:t>Les stocks en début de partie</a:t>
            </a:r>
            <a:endParaRPr lang="fr-FR" altLang="fr-FR" sz="1200"/>
          </a:p>
        </p:txBody>
      </p:sp>
      <p:grpSp>
        <p:nvGrpSpPr>
          <p:cNvPr id="2" name="Group 188"/>
          <p:cNvGrpSpPr>
            <a:grpSpLocks/>
          </p:cNvGrpSpPr>
          <p:nvPr/>
        </p:nvGrpSpPr>
        <p:grpSpPr bwMode="auto">
          <a:xfrm>
            <a:off x="985837" y="750888"/>
            <a:ext cx="6924675" cy="1906587"/>
            <a:chOff x="621" y="473"/>
            <a:chExt cx="4362" cy="1201"/>
          </a:xfrm>
        </p:grpSpPr>
        <p:sp>
          <p:nvSpPr>
            <p:cNvPr id="42045" name="Rectangle 8"/>
            <p:cNvSpPr>
              <a:spLocks noChangeArrowheads="1"/>
            </p:cNvSpPr>
            <p:nvPr/>
          </p:nvSpPr>
          <p:spPr bwMode="auto">
            <a:xfrm>
              <a:off x="1613" y="1340"/>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46" name="Rectangle 9"/>
            <p:cNvSpPr>
              <a:spLocks noChangeArrowheads="1"/>
            </p:cNvSpPr>
            <p:nvPr/>
          </p:nvSpPr>
          <p:spPr bwMode="auto">
            <a:xfrm>
              <a:off x="1608" y="120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47" name="Rectangle 11"/>
            <p:cNvSpPr>
              <a:spLocks noChangeArrowheads="1"/>
            </p:cNvSpPr>
            <p:nvPr/>
          </p:nvSpPr>
          <p:spPr bwMode="auto">
            <a:xfrm>
              <a:off x="2203" y="1351"/>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48" name="Rectangle 14"/>
            <p:cNvSpPr>
              <a:spLocks noChangeArrowheads="1"/>
            </p:cNvSpPr>
            <p:nvPr/>
          </p:nvSpPr>
          <p:spPr bwMode="auto">
            <a:xfrm>
              <a:off x="2787" y="1340"/>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49" name="Rectangle 15"/>
            <p:cNvSpPr>
              <a:spLocks noChangeArrowheads="1"/>
            </p:cNvSpPr>
            <p:nvPr/>
          </p:nvSpPr>
          <p:spPr bwMode="auto">
            <a:xfrm>
              <a:off x="2782" y="120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0" name="Rectangle 17"/>
            <p:cNvSpPr>
              <a:spLocks noChangeArrowheads="1"/>
            </p:cNvSpPr>
            <p:nvPr/>
          </p:nvSpPr>
          <p:spPr bwMode="auto">
            <a:xfrm>
              <a:off x="3331" y="1329"/>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1" name="Rectangle 18"/>
            <p:cNvSpPr>
              <a:spLocks noChangeArrowheads="1"/>
            </p:cNvSpPr>
            <p:nvPr/>
          </p:nvSpPr>
          <p:spPr bwMode="auto">
            <a:xfrm>
              <a:off x="3331" y="1194"/>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2" name="Rectangle 19"/>
            <p:cNvSpPr>
              <a:spLocks noChangeArrowheads="1"/>
            </p:cNvSpPr>
            <p:nvPr/>
          </p:nvSpPr>
          <p:spPr bwMode="auto">
            <a:xfrm>
              <a:off x="3330" y="1058"/>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3" name="Rectangle 20"/>
            <p:cNvSpPr>
              <a:spLocks noChangeArrowheads="1"/>
            </p:cNvSpPr>
            <p:nvPr/>
          </p:nvSpPr>
          <p:spPr bwMode="auto">
            <a:xfrm>
              <a:off x="3931" y="1340"/>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4" name="Rectangle 21"/>
            <p:cNvSpPr>
              <a:spLocks noChangeArrowheads="1"/>
            </p:cNvSpPr>
            <p:nvPr/>
          </p:nvSpPr>
          <p:spPr bwMode="auto">
            <a:xfrm>
              <a:off x="3932" y="1199"/>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5" name="Rectangle 23"/>
            <p:cNvSpPr>
              <a:spLocks noChangeArrowheads="1"/>
            </p:cNvSpPr>
            <p:nvPr/>
          </p:nvSpPr>
          <p:spPr bwMode="auto">
            <a:xfrm>
              <a:off x="4539" y="1329"/>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56" name="Text Box 26"/>
            <p:cNvSpPr txBox="1">
              <a:spLocks noChangeArrowheads="1"/>
            </p:cNvSpPr>
            <p:nvPr/>
          </p:nvSpPr>
          <p:spPr bwMode="auto">
            <a:xfrm>
              <a:off x="1662" y="1457"/>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R1</a:t>
              </a:r>
            </a:p>
          </p:txBody>
        </p:sp>
        <p:sp>
          <p:nvSpPr>
            <p:cNvPr id="42057" name="Text Box 27"/>
            <p:cNvSpPr txBox="1">
              <a:spLocks noChangeArrowheads="1"/>
            </p:cNvSpPr>
            <p:nvPr/>
          </p:nvSpPr>
          <p:spPr bwMode="auto">
            <a:xfrm>
              <a:off x="2312" y="1446"/>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R2</a:t>
              </a:r>
            </a:p>
          </p:txBody>
        </p:sp>
        <p:sp>
          <p:nvSpPr>
            <p:cNvPr id="42058" name="Text Box 28"/>
            <p:cNvSpPr txBox="1">
              <a:spLocks noChangeArrowheads="1"/>
            </p:cNvSpPr>
            <p:nvPr/>
          </p:nvSpPr>
          <p:spPr bwMode="auto">
            <a:xfrm>
              <a:off x="2884" y="1451"/>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R3</a:t>
              </a:r>
            </a:p>
          </p:txBody>
        </p:sp>
        <p:sp>
          <p:nvSpPr>
            <p:cNvPr id="42059" name="Text Box 29"/>
            <p:cNvSpPr txBox="1">
              <a:spLocks noChangeArrowheads="1"/>
            </p:cNvSpPr>
            <p:nvPr/>
          </p:nvSpPr>
          <p:spPr bwMode="auto">
            <a:xfrm>
              <a:off x="3422" y="1451"/>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R4</a:t>
              </a:r>
            </a:p>
          </p:txBody>
        </p:sp>
        <p:sp>
          <p:nvSpPr>
            <p:cNvPr id="42060" name="Text Box 30"/>
            <p:cNvSpPr txBox="1">
              <a:spLocks noChangeArrowheads="1"/>
            </p:cNvSpPr>
            <p:nvPr/>
          </p:nvSpPr>
          <p:spPr bwMode="auto">
            <a:xfrm>
              <a:off x="4039" y="1462"/>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R5</a:t>
              </a:r>
            </a:p>
          </p:txBody>
        </p:sp>
        <p:sp>
          <p:nvSpPr>
            <p:cNvPr id="42061" name="Text Box 31"/>
            <p:cNvSpPr txBox="1">
              <a:spLocks noChangeArrowheads="1"/>
            </p:cNvSpPr>
            <p:nvPr/>
          </p:nvSpPr>
          <p:spPr bwMode="auto">
            <a:xfrm>
              <a:off x="4635" y="1451"/>
              <a:ext cx="27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R6</a:t>
              </a:r>
            </a:p>
          </p:txBody>
        </p:sp>
        <p:sp>
          <p:nvSpPr>
            <p:cNvPr id="42062" name="Text Box 53"/>
            <p:cNvSpPr txBox="1">
              <a:spLocks noChangeArrowheads="1"/>
            </p:cNvSpPr>
            <p:nvPr/>
          </p:nvSpPr>
          <p:spPr bwMode="auto">
            <a:xfrm>
              <a:off x="621" y="1119"/>
              <a:ext cx="898"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500" dirty="0">
                  <a:solidFill>
                    <a:schemeClr val="tx1"/>
                  </a:solidFill>
                </a:rPr>
                <a:t>PRODUITS</a:t>
              </a:r>
              <a:br>
                <a:rPr lang="fr-FR" altLang="fr-FR" sz="1500" dirty="0">
                  <a:solidFill>
                    <a:schemeClr val="tx1"/>
                  </a:solidFill>
                </a:rPr>
              </a:br>
              <a:r>
                <a:rPr lang="fr-FR" altLang="fr-FR" sz="1500" dirty="0">
                  <a:solidFill>
                    <a:schemeClr val="tx1"/>
                  </a:solidFill>
                </a:rPr>
                <a:t>FINIS</a:t>
              </a:r>
            </a:p>
          </p:txBody>
        </p:sp>
        <p:sp>
          <p:nvSpPr>
            <p:cNvPr id="42064" name="Rectangle 142"/>
            <p:cNvSpPr>
              <a:spLocks noChangeArrowheads="1"/>
            </p:cNvSpPr>
            <p:nvPr/>
          </p:nvSpPr>
          <p:spPr bwMode="auto">
            <a:xfrm>
              <a:off x="3331" y="920"/>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65" name="Rectangle 143"/>
            <p:cNvSpPr>
              <a:spLocks noChangeArrowheads="1"/>
            </p:cNvSpPr>
            <p:nvPr/>
          </p:nvSpPr>
          <p:spPr bwMode="auto">
            <a:xfrm>
              <a:off x="3330" y="78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66" name="Rectangle 144"/>
            <p:cNvSpPr>
              <a:spLocks noChangeArrowheads="1"/>
            </p:cNvSpPr>
            <p:nvPr/>
          </p:nvSpPr>
          <p:spPr bwMode="auto">
            <a:xfrm>
              <a:off x="3330" y="65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67" name="Text Box 169"/>
            <p:cNvSpPr txBox="1">
              <a:spLocks noChangeArrowheads="1"/>
            </p:cNvSpPr>
            <p:nvPr/>
          </p:nvSpPr>
          <p:spPr bwMode="auto">
            <a:xfrm>
              <a:off x="1750" y="985"/>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sp>
          <p:nvSpPr>
            <p:cNvPr id="42068" name="Text Box 170"/>
            <p:cNvSpPr txBox="1">
              <a:spLocks noChangeArrowheads="1"/>
            </p:cNvSpPr>
            <p:nvPr/>
          </p:nvSpPr>
          <p:spPr bwMode="auto">
            <a:xfrm>
              <a:off x="2304" y="1135"/>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sp>
          <p:nvSpPr>
            <p:cNvPr id="42069" name="Text Box 171"/>
            <p:cNvSpPr txBox="1">
              <a:spLocks noChangeArrowheads="1"/>
            </p:cNvSpPr>
            <p:nvPr/>
          </p:nvSpPr>
          <p:spPr bwMode="auto">
            <a:xfrm>
              <a:off x="2918" y="1002"/>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sp>
          <p:nvSpPr>
            <p:cNvPr id="42070" name="Text Box 172"/>
            <p:cNvSpPr txBox="1">
              <a:spLocks noChangeArrowheads="1"/>
            </p:cNvSpPr>
            <p:nvPr/>
          </p:nvSpPr>
          <p:spPr bwMode="auto">
            <a:xfrm>
              <a:off x="3450" y="473"/>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6</a:t>
              </a:r>
            </a:p>
          </p:txBody>
        </p:sp>
        <p:sp>
          <p:nvSpPr>
            <p:cNvPr id="42071" name="Text Box 173"/>
            <p:cNvSpPr txBox="1">
              <a:spLocks noChangeArrowheads="1"/>
            </p:cNvSpPr>
            <p:nvPr/>
          </p:nvSpPr>
          <p:spPr bwMode="auto">
            <a:xfrm>
              <a:off x="4043" y="996"/>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sp>
          <p:nvSpPr>
            <p:cNvPr id="42072" name="Text Box 174"/>
            <p:cNvSpPr txBox="1">
              <a:spLocks noChangeArrowheads="1"/>
            </p:cNvSpPr>
            <p:nvPr/>
          </p:nvSpPr>
          <p:spPr bwMode="auto">
            <a:xfrm>
              <a:off x="4647" y="1118"/>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grpSp>
      <p:grpSp>
        <p:nvGrpSpPr>
          <p:cNvPr id="3" name="Group 190"/>
          <p:cNvGrpSpPr>
            <a:grpSpLocks/>
          </p:cNvGrpSpPr>
          <p:nvPr/>
        </p:nvGrpSpPr>
        <p:grpSpPr bwMode="auto">
          <a:xfrm>
            <a:off x="1006475" y="5111753"/>
            <a:ext cx="5348288" cy="1592263"/>
            <a:chOff x="634" y="3220"/>
            <a:chExt cx="3369" cy="1003"/>
          </a:xfrm>
        </p:grpSpPr>
        <p:sp>
          <p:nvSpPr>
            <p:cNvPr id="42027" name="Text Box 55"/>
            <p:cNvSpPr txBox="1">
              <a:spLocks noChangeArrowheads="1"/>
            </p:cNvSpPr>
            <p:nvPr/>
          </p:nvSpPr>
          <p:spPr bwMode="auto">
            <a:xfrm>
              <a:off x="634" y="3465"/>
              <a:ext cx="1042"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500" dirty="0">
                  <a:solidFill>
                    <a:schemeClr val="tx1"/>
                  </a:solidFill>
                </a:rPr>
                <a:t>COURONNES PHASE A</a:t>
              </a:r>
            </a:p>
          </p:txBody>
        </p:sp>
        <p:sp>
          <p:nvSpPr>
            <p:cNvPr id="42028" name="Rectangle 56"/>
            <p:cNvSpPr>
              <a:spLocks noChangeArrowheads="1"/>
            </p:cNvSpPr>
            <p:nvPr/>
          </p:nvSpPr>
          <p:spPr bwMode="auto">
            <a:xfrm>
              <a:off x="1600" y="3692"/>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29" name="Rectangle 57"/>
            <p:cNvSpPr>
              <a:spLocks noChangeArrowheads="1"/>
            </p:cNvSpPr>
            <p:nvPr/>
          </p:nvSpPr>
          <p:spPr bwMode="auto">
            <a:xfrm>
              <a:off x="1600" y="3551"/>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0" name="Rectangle 58"/>
            <p:cNvSpPr>
              <a:spLocks noChangeArrowheads="1"/>
            </p:cNvSpPr>
            <p:nvPr/>
          </p:nvSpPr>
          <p:spPr bwMode="auto">
            <a:xfrm>
              <a:off x="1600" y="3409"/>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1" name="Rectangle 59"/>
            <p:cNvSpPr>
              <a:spLocks noChangeArrowheads="1"/>
            </p:cNvSpPr>
            <p:nvPr/>
          </p:nvSpPr>
          <p:spPr bwMode="auto">
            <a:xfrm>
              <a:off x="2090" y="3692"/>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2" name="Rectangle 60"/>
            <p:cNvSpPr>
              <a:spLocks noChangeArrowheads="1"/>
            </p:cNvSpPr>
            <p:nvPr/>
          </p:nvSpPr>
          <p:spPr bwMode="auto">
            <a:xfrm>
              <a:off x="2091" y="3551"/>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3" name="Rectangle 62"/>
            <p:cNvSpPr>
              <a:spLocks noChangeArrowheads="1"/>
            </p:cNvSpPr>
            <p:nvPr/>
          </p:nvSpPr>
          <p:spPr bwMode="auto">
            <a:xfrm>
              <a:off x="2572" y="3686"/>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4" name="Rectangle 63"/>
            <p:cNvSpPr>
              <a:spLocks noChangeArrowheads="1"/>
            </p:cNvSpPr>
            <p:nvPr/>
          </p:nvSpPr>
          <p:spPr bwMode="auto">
            <a:xfrm>
              <a:off x="2567" y="3545"/>
              <a:ext cx="444" cy="122"/>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5" name="Oval 69"/>
            <p:cNvSpPr>
              <a:spLocks noChangeArrowheads="1"/>
            </p:cNvSpPr>
            <p:nvPr/>
          </p:nvSpPr>
          <p:spPr bwMode="auto">
            <a:xfrm>
              <a:off x="1758" y="3873"/>
              <a:ext cx="177" cy="177"/>
            </a:xfrm>
            <a:prstGeom prst="ellipse">
              <a:avLst/>
            </a:prstGeom>
            <a:noFill/>
            <a:ln w="635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6" name="Oval 70"/>
            <p:cNvSpPr>
              <a:spLocks noChangeArrowheads="1"/>
            </p:cNvSpPr>
            <p:nvPr/>
          </p:nvSpPr>
          <p:spPr bwMode="auto">
            <a:xfrm>
              <a:off x="2196" y="3867"/>
              <a:ext cx="177" cy="177"/>
            </a:xfrm>
            <a:prstGeom prst="ellipse">
              <a:avLst/>
            </a:prstGeom>
            <a:solidFill>
              <a:srgbClr val="E22B00"/>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7" name="Oval 71"/>
            <p:cNvSpPr>
              <a:spLocks noChangeArrowheads="1"/>
            </p:cNvSpPr>
            <p:nvPr/>
          </p:nvSpPr>
          <p:spPr bwMode="auto">
            <a:xfrm>
              <a:off x="2683" y="3851"/>
              <a:ext cx="177" cy="177"/>
            </a:xfrm>
            <a:prstGeom prst="ellipse">
              <a:avLst/>
            </a:prstGeom>
            <a:solidFill>
              <a:srgbClr val="00CC66"/>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38" name="Text Box 79"/>
            <p:cNvSpPr txBox="1">
              <a:spLocks noChangeArrowheads="1"/>
            </p:cNvSpPr>
            <p:nvPr/>
          </p:nvSpPr>
          <p:spPr bwMode="auto">
            <a:xfrm>
              <a:off x="1623" y="4011"/>
              <a:ext cx="139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Couronnes Ph. A</a:t>
              </a:r>
            </a:p>
          </p:txBody>
        </p:sp>
        <p:sp>
          <p:nvSpPr>
            <p:cNvPr id="42040" name="Rectangle 160"/>
            <p:cNvSpPr>
              <a:spLocks noChangeArrowheads="1"/>
            </p:cNvSpPr>
            <p:nvPr/>
          </p:nvSpPr>
          <p:spPr bwMode="auto">
            <a:xfrm>
              <a:off x="3223" y="3352"/>
              <a:ext cx="780" cy="433"/>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Attention :</a:t>
              </a:r>
              <a:br>
                <a:rPr lang="fr-FR" altLang="fr-FR" sz="1300">
                  <a:solidFill>
                    <a:schemeClr val="tx1"/>
                  </a:solidFill>
                </a:rPr>
              </a:br>
              <a:r>
                <a:rPr lang="fr-FR" altLang="fr-FR" sz="1300">
                  <a:solidFill>
                    <a:schemeClr val="tx1"/>
                  </a:solidFill>
                </a:rPr>
                <a:t>1 conteneur =</a:t>
              </a:r>
              <a:br>
                <a:rPr lang="fr-FR" altLang="fr-FR" sz="1300">
                  <a:solidFill>
                    <a:schemeClr val="tx1"/>
                  </a:solidFill>
                </a:rPr>
              </a:br>
              <a:r>
                <a:rPr lang="fr-FR" altLang="fr-FR" sz="1300">
                  <a:solidFill>
                    <a:schemeClr val="tx1"/>
                  </a:solidFill>
                </a:rPr>
                <a:t>2 couronnes !</a:t>
              </a:r>
            </a:p>
          </p:txBody>
        </p:sp>
        <p:sp>
          <p:nvSpPr>
            <p:cNvPr id="42042" name="Text Box 182"/>
            <p:cNvSpPr txBox="1">
              <a:spLocks noChangeArrowheads="1"/>
            </p:cNvSpPr>
            <p:nvPr/>
          </p:nvSpPr>
          <p:spPr bwMode="auto">
            <a:xfrm>
              <a:off x="1740" y="3220"/>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a:t>
              </a:r>
            </a:p>
          </p:txBody>
        </p:sp>
        <p:sp>
          <p:nvSpPr>
            <p:cNvPr id="42043" name="Text Box 183"/>
            <p:cNvSpPr txBox="1">
              <a:spLocks noChangeArrowheads="1"/>
            </p:cNvSpPr>
            <p:nvPr/>
          </p:nvSpPr>
          <p:spPr bwMode="auto">
            <a:xfrm>
              <a:off x="2239" y="3358"/>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sp>
          <p:nvSpPr>
            <p:cNvPr id="42044" name="Text Box 184"/>
            <p:cNvSpPr txBox="1">
              <a:spLocks noChangeArrowheads="1"/>
            </p:cNvSpPr>
            <p:nvPr/>
          </p:nvSpPr>
          <p:spPr bwMode="auto">
            <a:xfrm>
              <a:off x="2710" y="3358"/>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2</a:t>
              </a:r>
            </a:p>
          </p:txBody>
        </p:sp>
      </p:grpSp>
      <p:grpSp>
        <p:nvGrpSpPr>
          <p:cNvPr id="4" name="Group 189"/>
          <p:cNvGrpSpPr>
            <a:grpSpLocks/>
          </p:cNvGrpSpPr>
          <p:nvPr/>
        </p:nvGrpSpPr>
        <p:grpSpPr bwMode="auto">
          <a:xfrm>
            <a:off x="1111250" y="2909888"/>
            <a:ext cx="7937500" cy="2000250"/>
            <a:chOff x="700" y="1833"/>
            <a:chExt cx="5000" cy="1260"/>
          </a:xfrm>
        </p:grpSpPr>
        <p:sp>
          <p:nvSpPr>
            <p:cNvPr id="41991" name="Rectangle 32"/>
            <p:cNvSpPr>
              <a:spLocks noChangeArrowheads="1"/>
            </p:cNvSpPr>
            <p:nvPr/>
          </p:nvSpPr>
          <p:spPr bwMode="auto">
            <a:xfrm>
              <a:off x="1583" y="2529"/>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2" name="Rectangle 33"/>
            <p:cNvSpPr>
              <a:spLocks noChangeArrowheads="1"/>
            </p:cNvSpPr>
            <p:nvPr/>
          </p:nvSpPr>
          <p:spPr bwMode="auto">
            <a:xfrm>
              <a:off x="1583" y="2388"/>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3" name="Rectangle 34"/>
            <p:cNvSpPr>
              <a:spLocks noChangeArrowheads="1"/>
            </p:cNvSpPr>
            <p:nvPr/>
          </p:nvSpPr>
          <p:spPr bwMode="auto">
            <a:xfrm>
              <a:off x="1582" y="2246"/>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4" name="Rectangle 35"/>
            <p:cNvSpPr>
              <a:spLocks noChangeArrowheads="1"/>
            </p:cNvSpPr>
            <p:nvPr/>
          </p:nvSpPr>
          <p:spPr bwMode="auto">
            <a:xfrm>
              <a:off x="2067" y="2529"/>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5" name="Rectangle 36"/>
            <p:cNvSpPr>
              <a:spLocks noChangeArrowheads="1"/>
            </p:cNvSpPr>
            <p:nvPr/>
          </p:nvSpPr>
          <p:spPr bwMode="auto">
            <a:xfrm>
              <a:off x="2067" y="2388"/>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6" name="Rectangle 37"/>
            <p:cNvSpPr>
              <a:spLocks noChangeArrowheads="1"/>
            </p:cNvSpPr>
            <p:nvPr/>
          </p:nvSpPr>
          <p:spPr bwMode="auto">
            <a:xfrm>
              <a:off x="2067" y="2246"/>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7" name="Rectangle 38"/>
            <p:cNvSpPr>
              <a:spLocks noChangeArrowheads="1"/>
            </p:cNvSpPr>
            <p:nvPr/>
          </p:nvSpPr>
          <p:spPr bwMode="auto">
            <a:xfrm>
              <a:off x="2982" y="2512"/>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8" name="Rectangle 41"/>
            <p:cNvSpPr>
              <a:spLocks noChangeArrowheads="1"/>
            </p:cNvSpPr>
            <p:nvPr/>
          </p:nvSpPr>
          <p:spPr bwMode="auto">
            <a:xfrm>
              <a:off x="3464" y="2512"/>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1999" name="Rectangle 42"/>
            <p:cNvSpPr>
              <a:spLocks noChangeArrowheads="1"/>
            </p:cNvSpPr>
            <p:nvPr/>
          </p:nvSpPr>
          <p:spPr bwMode="auto">
            <a:xfrm>
              <a:off x="3464" y="2365"/>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0" name="Rectangle 43"/>
            <p:cNvSpPr>
              <a:spLocks noChangeArrowheads="1"/>
            </p:cNvSpPr>
            <p:nvPr/>
          </p:nvSpPr>
          <p:spPr bwMode="auto">
            <a:xfrm>
              <a:off x="3463" y="2223"/>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1" name="Rectangle 44"/>
            <p:cNvSpPr>
              <a:spLocks noChangeArrowheads="1"/>
            </p:cNvSpPr>
            <p:nvPr/>
          </p:nvSpPr>
          <p:spPr bwMode="auto">
            <a:xfrm>
              <a:off x="4255" y="2354"/>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2" name="Rectangle 45"/>
            <p:cNvSpPr>
              <a:spLocks noChangeArrowheads="1"/>
            </p:cNvSpPr>
            <p:nvPr/>
          </p:nvSpPr>
          <p:spPr bwMode="auto">
            <a:xfrm>
              <a:off x="4254" y="2196"/>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3" name="Rectangle 47"/>
            <p:cNvSpPr>
              <a:spLocks noChangeArrowheads="1"/>
            </p:cNvSpPr>
            <p:nvPr/>
          </p:nvSpPr>
          <p:spPr bwMode="auto">
            <a:xfrm>
              <a:off x="4768" y="2495"/>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4" name="Rectangle 50"/>
            <p:cNvSpPr>
              <a:spLocks noChangeArrowheads="1"/>
            </p:cNvSpPr>
            <p:nvPr/>
          </p:nvSpPr>
          <p:spPr bwMode="auto">
            <a:xfrm>
              <a:off x="5256" y="2489"/>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05" name="Text Box 54"/>
            <p:cNvSpPr txBox="1">
              <a:spLocks noChangeArrowheads="1"/>
            </p:cNvSpPr>
            <p:nvPr/>
          </p:nvSpPr>
          <p:spPr bwMode="auto">
            <a:xfrm>
              <a:off x="700" y="2476"/>
              <a:ext cx="69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500" dirty="0">
                  <a:solidFill>
                    <a:schemeClr val="tx1"/>
                  </a:solidFill>
                </a:rPr>
                <a:t>PIÈCES</a:t>
              </a:r>
            </a:p>
          </p:txBody>
        </p:sp>
        <p:sp>
          <p:nvSpPr>
            <p:cNvPr id="42006" name="Text Box 65"/>
            <p:cNvSpPr txBox="1">
              <a:spLocks noChangeArrowheads="1"/>
            </p:cNvSpPr>
            <p:nvPr/>
          </p:nvSpPr>
          <p:spPr bwMode="auto">
            <a:xfrm>
              <a:off x="1437" y="2881"/>
              <a:ext cx="117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Engrenages</a:t>
              </a:r>
            </a:p>
          </p:txBody>
        </p:sp>
        <p:sp>
          <p:nvSpPr>
            <p:cNvPr id="42007" name="Text Box 66"/>
            <p:cNvSpPr txBox="1">
              <a:spLocks noChangeArrowheads="1"/>
            </p:cNvSpPr>
            <p:nvPr/>
          </p:nvSpPr>
          <p:spPr bwMode="auto">
            <a:xfrm>
              <a:off x="2896" y="2871"/>
              <a:ext cx="117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Carters</a:t>
              </a:r>
            </a:p>
          </p:txBody>
        </p:sp>
        <p:sp>
          <p:nvSpPr>
            <p:cNvPr id="42008" name="Text Box 67"/>
            <p:cNvSpPr txBox="1">
              <a:spLocks noChangeArrowheads="1"/>
            </p:cNvSpPr>
            <p:nvPr/>
          </p:nvSpPr>
          <p:spPr bwMode="auto">
            <a:xfrm>
              <a:off x="4272" y="2864"/>
              <a:ext cx="139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Couronnes Ph. B</a:t>
              </a:r>
            </a:p>
          </p:txBody>
        </p:sp>
        <p:sp>
          <p:nvSpPr>
            <p:cNvPr id="42009" name="Rectangle 72"/>
            <p:cNvSpPr>
              <a:spLocks noChangeArrowheads="1"/>
            </p:cNvSpPr>
            <p:nvPr/>
          </p:nvSpPr>
          <p:spPr bwMode="auto">
            <a:xfrm>
              <a:off x="1626" y="2693"/>
              <a:ext cx="261" cy="17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0" name="Rectangle 73"/>
            <p:cNvSpPr>
              <a:spLocks noChangeArrowheads="1"/>
            </p:cNvSpPr>
            <p:nvPr/>
          </p:nvSpPr>
          <p:spPr bwMode="auto">
            <a:xfrm>
              <a:off x="2114" y="2694"/>
              <a:ext cx="261" cy="17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1" name="Rectangle 74"/>
            <p:cNvSpPr>
              <a:spLocks noChangeArrowheads="1"/>
            </p:cNvSpPr>
            <p:nvPr/>
          </p:nvSpPr>
          <p:spPr bwMode="auto">
            <a:xfrm>
              <a:off x="3015" y="2707"/>
              <a:ext cx="379" cy="156"/>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2" name="Rectangle 75"/>
            <p:cNvSpPr>
              <a:spLocks noChangeArrowheads="1"/>
            </p:cNvSpPr>
            <p:nvPr/>
          </p:nvSpPr>
          <p:spPr bwMode="auto">
            <a:xfrm>
              <a:off x="3511" y="2707"/>
              <a:ext cx="367" cy="151"/>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3" name="Oval 76"/>
            <p:cNvSpPr>
              <a:spLocks noChangeArrowheads="1"/>
            </p:cNvSpPr>
            <p:nvPr/>
          </p:nvSpPr>
          <p:spPr bwMode="auto">
            <a:xfrm>
              <a:off x="4391" y="2684"/>
              <a:ext cx="177" cy="177"/>
            </a:xfrm>
            <a:prstGeom prst="ellipse">
              <a:avLst/>
            </a:prstGeom>
            <a:noFill/>
            <a:ln w="635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4" name="Oval 77"/>
            <p:cNvSpPr>
              <a:spLocks noChangeArrowheads="1"/>
            </p:cNvSpPr>
            <p:nvPr/>
          </p:nvSpPr>
          <p:spPr bwMode="auto">
            <a:xfrm>
              <a:off x="4829" y="2678"/>
              <a:ext cx="177" cy="177"/>
            </a:xfrm>
            <a:prstGeom prst="ellipse">
              <a:avLst/>
            </a:prstGeom>
            <a:solidFill>
              <a:srgbClr val="E22B00"/>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5" name="Oval 78"/>
            <p:cNvSpPr>
              <a:spLocks noChangeArrowheads="1"/>
            </p:cNvSpPr>
            <p:nvPr/>
          </p:nvSpPr>
          <p:spPr bwMode="auto">
            <a:xfrm>
              <a:off x="5316" y="2662"/>
              <a:ext cx="177" cy="177"/>
            </a:xfrm>
            <a:prstGeom prst="ellipse">
              <a:avLst/>
            </a:prstGeom>
            <a:solidFill>
              <a:srgbClr val="00CC66"/>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7" name="Rectangle 85"/>
            <p:cNvSpPr>
              <a:spLocks noChangeArrowheads="1"/>
            </p:cNvSpPr>
            <p:nvPr/>
          </p:nvSpPr>
          <p:spPr bwMode="auto">
            <a:xfrm>
              <a:off x="4866" y="1833"/>
              <a:ext cx="781" cy="433"/>
            </a:xfrm>
            <a:prstGeom prst="rect">
              <a:avLst/>
            </a:prstGeom>
            <a:solidFill>
              <a:srgbClr val="FFFF99"/>
            </a:solidFill>
            <a:ln w="6350" algn="ctr">
              <a:solidFill>
                <a:schemeClr val="tx2"/>
              </a:solidFill>
              <a:miter lim="800000"/>
              <a:headEnd/>
              <a:tailEn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Attention :</a:t>
              </a:r>
              <a:br>
                <a:rPr lang="fr-FR" altLang="fr-FR" sz="1300">
                  <a:solidFill>
                    <a:schemeClr val="tx1"/>
                  </a:solidFill>
                </a:rPr>
              </a:br>
              <a:r>
                <a:rPr lang="fr-FR" altLang="fr-FR" sz="1300">
                  <a:solidFill>
                    <a:schemeClr val="tx1"/>
                  </a:solidFill>
                </a:rPr>
                <a:t>1 conteneur =</a:t>
              </a:r>
              <a:br>
                <a:rPr lang="fr-FR" altLang="fr-FR" sz="1300">
                  <a:solidFill>
                    <a:schemeClr val="tx1"/>
                  </a:solidFill>
                </a:rPr>
              </a:br>
              <a:r>
                <a:rPr lang="fr-FR" altLang="fr-FR" sz="1300">
                  <a:solidFill>
                    <a:schemeClr val="tx1"/>
                  </a:solidFill>
                </a:rPr>
                <a:t>2 couronnes !</a:t>
              </a:r>
            </a:p>
          </p:txBody>
        </p:sp>
        <p:sp>
          <p:nvSpPr>
            <p:cNvPr id="42018" name="Rectangle 153"/>
            <p:cNvSpPr>
              <a:spLocks noChangeArrowheads="1"/>
            </p:cNvSpPr>
            <p:nvPr/>
          </p:nvSpPr>
          <p:spPr bwMode="auto">
            <a:xfrm>
              <a:off x="4255" y="2501"/>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2019" name="Text Box 175"/>
            <p:cNvSpPr txBox="1">
              <a:spLocks noChangeArrowheads="1"/>
            </p:cNvSpPr>
            <p:nvPr/>
          </p:nvSpPr>
          <p:spPr bwMode="auto">
            <a:xfrm>
              <a:off x="1734" y="2016"/>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a:t>
              </a:r>
            </a:p>
          </p:txBody>
        </p:sp>
        <p:sp>
          <p:nvSpPr>
            <p:cNvPr id="42020" name="Text Box 177"/>
            <p:cNvSpPr txBox="1">
              <a:spLocks noChangeArrowheads="1"/>
            </p:cNvSpPr>
            <p:nvPr/>
          </p:nvSpPr>
          <p:spPr bwMode="auto">
            <a:xfrm>
              <a:off x="3096" y="2283"/>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sp>
          <p:nvSpPr>
            <p:cNvPr id="42021" name="Text Box 178"/>
            <p:cNvSpPr txBox="1">
              <a:spLocks noChangeArrowheads="1"/>
            </p:cNvSpPr>
            <p:nvPr/>
          </p:nvSpPr>
          <p:spPr bwMode="auto">
            <a:xfrm>
              <a:off x="3609" y="1878"/>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4</a:t>
              </a:r>
            </a:p>
          </p:txBody>
        </p:sp>
        <p:sp>
          <p:nvSpPr>
            <p:cNvPr id="42022" name="Text Box 179"/>
            <p:cNvSpPr txBox="1">
              <a:spLocks noChangeArrowheads="1"/>
            </p:cNvSpPr>
            <p:nvPr/>
          </p:nvSpPr>
          <p:spPr bwMode="auto">
            <a:xfrm>
              <a:off x="4365" y="1990"/>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a:t>
              </a:r>
            </a:p>
          </p:txBody>
        </p:sp>
        <p:sp>
          <p:nvSpPr>
            <p:cNvPr id="42023" name="Text Box 180"/>
            <p:cNvSpPr txBox="1">
              <a:spLocks noChangeArrowheads="1"/>
            </p:cNvSpPr>
            <p:nvPr/>
          </p:nvSpPr>
          <p:spPr bwMode="auto">
            <a:xfrm>
              <a:off x="4897" y="2306"/>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sp>
          <p:nvSpPr>
            <p:cNvPr id="42024" name="Text Box 181"/>
            <p:cNvSpPr txBox="1">
              <a:spLocks noChangeArrowheads="1"/>
            </p:cNvSpPr>
            <p:nvPr/>
          </p:nvSpPr>
          <p:spPr bwMode="auto">
            <a:xfrm>
              <a:off x="5335" y="2300"/>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1</a:t>
              </a:r>
            </a:p>
          </p:txBody>
        </p:sp>
        <p:sp>
          <p:nvSpPr>
            <p:cNvPr id="42025" name="Text Box 186"/>
            <p:cNvSpPr txBox="1">
              <a:spLocks noChangeArrowheads="1"/>
            </p:cNvSpPr>
            <p:nvPr/>
          </p:nvSpPr>
          <p:spPr bwMode="auto">
            <a:xfrm>
              <a:off x="2164" y="2016"/>
              <a:ext cx="148" cy="168"/>
            </a:xfrm>
            <a:prstGeom prst="rect">
              <a:avLst/>
            </a:prstGeom>
            <a:noFill/>
            <a:ln w="6350" algn="ctr">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3</a:t>
              </a:r>
            </a:p>
          </p:txBody>
        </p:sp>
        <p:sp>
          <p:nvSpPr>
            <p:cNvPr id="42026" name="Rectangle 187"/>
            <p:cNvSpPr>
              <a:spLocks noChangeArrowheads="1"/>
            </p:cNvSpPr>
            <p:nvPr/>
          </p:nvSpPr>
          <p:spPr bwMode="auto">
            <a:xfrm>
              <a:off x="3463" y="2077"/>
              <a:ext cx="444" cy="128"/>
            </a:xfrm>
            <a:prstGeom prst="rect">
              <a:avLst/>
            </a:prstGeom>
            <a:solidFill>
              <a:srgbClr val="E22B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ox(in)">
                                      <p:cBhvr>
                                        <p:cTn id="12" dur="500"/>
                                        <p:tgtEl>
                                          <p:spTgt spid="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box(in)">
                                      <p:cBhvr>
                                        <p:cTn id="1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p:cNvSpPr>
            <a:spLocks noGrp="1" noChangeArrowheads="1"/>
          </p:cNvSpPr>
          <p:nvPr>
            <p:ph type="title"/>
          </p:nvPr>
        </p:nvSpPr>
        <p:spPr>
          <a:xfrm>
            <a:off x="365125" y="0"/>
            <a:ext cx="8229600" cy="552450"/>
          </a:xfrm>
        </p:spPr>
        <p:txBody>
          <a:bodyPr/>
          <a:lstStyle/>
          <a:p>
            <a:pPr eaLnBrk="1" hangingPunct="1"/>
            <a:r>
              <a:rPr lang="fr-FR" altLang="fr-FR" dirty="0"/>
              <a:t>Produire</a:t>
            </a:r>
          </a:p>
        </p:txBody>
      </p:sp>
      <p:sp>
        <p:nvSpPr>
          <p:cNvPr id="43011" name="Rectangle 4"/>
          <p:cNvSpPr>
            <a:spLocks noChangeArrowheads="1"/>
          </p:cNvSpPr>
          <p:nvPr/>
        </p:nvSpPr>
        <p:spPr bwMode="auto">
          <a:xfrm>
            <a:off x="2028825" y="950913"/>
            <a:ext cx="336550" cy="509587"/>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12" name="Group 19"/>
          <p:cNvGrpSpPr>
            <a:grpSpLocks/>
          </p:cNvGrpSpPr>
          <p:nvPr/>
        </p:nvGrpSpPr>
        <p:grpSpPr bwMode="auto">
          <a:xfrm>
            <a:off x="3038475" y="1190625"/>
            <a:ext cx="820738" cy="500063"/>
            <a:chOff x="2102" y="1800"/>
            <a:chExt cx="787" cy="480"/>
          </a:xfrm>
        </p:grpSpPr>
        <p:sp>
          <p:nvSpPr>
            <p:cNvPr id="43127" name="Oval 16"/>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128" name="Rectangle 17"/>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129" name="Oval 15"/>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13" name="Line 20"/>
          <p:cNvSpPr>
            <a:spLocks noChangeShapeType="1"/>
          </p:cNvSpPr>
          <p:nvPr/>
        </p:nvSpPr>
        <p:spPr bwMode="auto">
          <a:xfrm>
            <a:off x="2619375" y="1238250"/>
            <a:ext cx="1628775"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3014" name="Text Box 22"/>
          <p:cNvSpPr txBox="1">
            <a:spLocks noChangeArrowheads="1"/>
          </p:cNvSpPr>
          <p:nvPr/>
        </p:nvSpPr>
        <p:spPr bwMode="auto">
          <a:xfrm>
            <a:off x="333375" y="1041400"/>
            <a:ext cx="126365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t>Engrenages et Carters</a:t>
            </a:r>
          </a:p>
        </p:txBody>
      </p:sp>
      <p:sp>
        <p:nvSpPr>
          <p:cNvPr id="43015" name="Rectangle 127"/>
          <p:cNvSpPr>
            <a:spLocks noChangeArrowheads="1"/>
          </p:cNvSpPr>
          <p:nvPr/>
        </p:nvSpPr>
        <p:spPr bwMode="auto">
          <a:xfrm>
            <a:off x="265113" y="714375"/>
            <a:ext cx="8707437" cy="1190625"/>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3" name="Group 155"/>
          <p:cNvGrpSpPr>
            <a:grpSpLocks/>
          </p:cNvGrpSpPr>
          <p:nvPr/>
        </p:nvGrpSpPr>
        <p:grpSpPr bwMode="auto">
          <a:xfrm>
            <a:off x="4260850" y="893763"/>
            <a:ext cx="4716463" cy="1030287"/>
            <a:chOff x="2684" y="563"/>
            <a:chExt cx="2944" cy="649"/>
          </a:xfrm>
        </p:grpSpPr>
        <p:grpSp>
          <p:nvGrpSpPr>
            <p:cNvPr id="43117" name="Group 5"/>
            <p:cNvGrpSpPr>
              <a:grpSpLocks/>
            </p:cNvGrpSpPr>
            <p:nvPr/>
          </p:nvGrpSpPr>
          <p:grpSpPr bwMode="auto">
            <a:xfrm rot="-223274">
              <a:off x="2745" y="563"/>
              <a:ext cx="533" cy="525"/>
              <a:chOff x="2757" y="1666"/>
              <a:chExt cx="812" cy="800"/>
            </a:xfrm>
          </p:grpSpPr>
          <p:sp>
            <p:nvSpPr>
              <p:cNvPr id="43121" name="Freeform 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22" name="Freeform 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123" name="Line 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124" name="Freeform 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25" name="Freeform 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126" name="AutoShape 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118" name="AutoShape 12"/>
            <p:cNvSpPr>
              <a:spLocks noChangeArrowheads="1"/>
            </p:cNvSpPr>
            <p:nvPr/>
          </p:nvSpPr>
          <p:spPr bwMode="auto">
            <a:xfrm rot="1092751">
              <a:off x="2927" y="730"/>
              <a:ext cx="166" cy="179"/>
            </a:xfrm>
            <a:prstGeom prst="parallelogram">
              <a:avLst>
                <a:gd name="adj" fmla="val 2500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119" name="Text Box 21"/>
            <p:cNvSpPr txBox="1">
              <a:spLocks noChangeArrowheads="1"/>
            </p:cNvSpPr>
            <p:nvPr/>
          </p:nvSpPr>
          <p:spPr bwMode="auto">
            <a:xfrm>
              <a:off x="3442" y="601"/>
              <a:ext cx="2186" cy="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a:solidFill>
                    <a:schemeClr val="tx1"/>
                  </a:solidFill>
                </a:rPr>
                <a:t>Produire consiste à prendre 1 composant dans le stock de matières et à le mettre dans 1 boîte à placer dans le stock de pièces</a:t>
              </a:r>
            </a:p>
          </p:txBody>
        </p:sp>
        <p:sp>
          <p:nvSpPr>
            <p:cNvPr id="43120" name="Text Box 149"/>
            <p:cNvSpPr txBox="1">
              <a:spLocks noChangeArrowheads="1"/>
            </p:cNvSpPr>
            <p:nvPr/>
          </p:nvSpPr>
          <p:spPr bwMode="auto">
            <a:xfrm>
              <a:off x="2684" y="1020"/>
              <a:ext cx="37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grpSp>
      <p:sp>
        <p:nvSpPr>
          <p:cNvPr id="43017" name="Text Box 150"/>
          <p:cNvSpPr txBox="1">
            <a:spLocks noChangeArrowheads="1"/>
          </p:cNvSpPr>
          <p:nvPr/>
        </p:nvSpPr>
        <p:spPr bwMode="auto">
          <a:xfrm>
            <a:off x="1728788" y="1549400"/>
            <a:ext cx="863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matières</a:t>
            </a:r>
          </a:p>
        </p:txBody>
      </p:sp>
      <p:grpSp>
        <p:nvGrpSpPr>
          <p:cNvPr id="5" name="Group 159"/>
          <p:cNvGrpSpPr>
            <a:grpSpLocks/>
          </p:cNvGrpSpPr>
          <p:nvPr/>
        </p:nvGrpSpPr>
        <p:grpSpPr bwMode="auto">
          <a:xfrm>
            <a:off x="246063" y="4867275"/>
            <a:ext cx="8707437" cy="1447800"/>
            <a:chOff x="155" y="3066"/>
            <a:chExt cx="5485" cy="912"/>
          </a:xfrm>
        </p:grpSpPr>
        <p:sp>
          <p:nvSpPr>
            <p:cNvPr id="43072" name="Text Box 77"/>
            <p:cNvSpPr txBox="1">
              <a:spLocks noChangeArrowheads="1"/>
            </p:cNvSpPr>
            <p:nvPr/>
          </p:nvSpPr>
          <p:spPr bwMode="auto">
            <a:xfrm>
              <a:off x="235" y="3422"/>
              <a:ext cx="68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t>Montage</a:t>
              </a:r>
            </a:p>
          </p:txBody>
        </p:sp>
        <p:sp>
          <p:nvSpPr>
            <p:cNvPr id="43073" name="Text Box 78"/>
            <p:cNvSpPr txBox="1">
              <a:spLocks noChangeArrowheads="1"/>
            </p:cNvSpPr>
            <p:nvPr/>
          </p:nvSpPr>
          <p:spPr bwMode="auto">
            <a:xfrm>
              <a:off x="3460" y="3097"/>
              <a:ext cx="2174" cy="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a:solidFill>
                    <a:schemeClr val="tx1"/>
                  </a:solidFill>
                </a:rPr>
                <a:t>Produire consiste à prendre trois boîtes de composants différents dans le stock de pièces et à les regrouper dans une seule boîte rangée dans le stock de produits finis.</a:t>
              </a:r>
            </a:p>
          </p:txBody>
        </p:sp>
        <p:grpSp>
          <p:nvGrpSpPr>
            <p:cNvPr id="43074" name="Group 86"/>
            <p:cNvGrpSpPr>
              <a:grpSpLocks/>
            </p:cNvGrpSpPr>
            <p:nvPr/>
          </p:nvGrpSpPr>
          <p:grpSpPr bwMode="auto">
            <a:xfrm rot="-223274">
              <a:off x="923" y="3128"/>
              <a:ext cx="435" cy="428"/>
              <a:chOff x="2757" y="1666"/>
              <a:chExt cx="812" cy="800"/>
            </a:xfrm>
          </p:grpSpPr>
          <p:sp>
            <p:nvSpPr>
              <p:cNvPr id="43111" name="Freeform 8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12" name="Freeform 8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113" name="Line 8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114" name="Freeform 9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15" name="Freeform 9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116" name="AutoShape 9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3075" name="Group 93"/>
            <p:cNvGrpSpPr>
              <a:grpSpLocks/>
            </p:cNvGrpSpPr>
            <p:nvPr/>
          </p:nvGrpSpPr>
          <p:grpSpPr bwMode="auto">
            <a:xfrm rot="-223274">
              <a:off x="1307" y="3152"/>
              <a:ext cx="435" cy="428"/>
              <a:chOff x="2757" y="1666"/>
              <a:chExt cx="812" cy="800"/>
            </a:xfrm>
          </p:grpSpPr>
          <p:sp>
            <p:nvSpPr>
              <p:cNvPr id="43105" name="Freeform 9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06" name="Freeform 9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107" name="Line 9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108" name="Freeform 9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09" name="Freeform 9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110" name="AutoShape 9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3076" name="Group 100"/>
            <p:cNvGrpSpPr>
              <a:grpSpLocks/>
            </p:cNvGrpSpPr>
            <p:nvPr/>
          </p:nvGrpSpPr>
          <p:grpSpPr bwMode="auto">
            <a:xfrm rot="-223274">
              <a:off x="1073" y="3518"/>
              <a:ext cx="435" cy="428"/>
              <a:chOff x="2757" y="1666"/>
              <a:chExt cx="812" cy="800"/>
            </a:xfrm>
          </p:grpSpPr>
          <p:sp>
            <p:nvSpPr>
              <p:cNvPr id="43099" name="Freeform 10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00" name="Freeform 10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101" name="Line 10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102" name="Freeform 10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103" name="Freeform 10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104" name="AutoShape 10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3077" name="Group 111"/>
            <p:cNvGrpSpPr>
              <a:grpSpLocks/>
            </p:cNvGrpSpPr>
            <p:nvPr/>
          </p:nvGrpSpPr>
          <p:grpSpPr bwMode="auto">
            <a:xfrm rot="-223274">
              <a:off x="2733" y="3191"/>
              <a:ext cx="533" cy="525"/>
              <a:chOff x="2757" y="1666"/>
              <a:chExt cx="812" cy="800"/>
            </a:xfrm>
          </p:grpSpPr>
          <p:sp>
            <p:nvSpPr>
              <p:cNvPr id="43093" name="Freeform 11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94" name="Freeform 11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095" name="Line 11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096" name="Freeform 11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97" name="Freeform 11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098" name="AutoShape 11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78" name="Oval 118"/>
            <p:cNvSpPr>
              <a:spLocks noChangeArrowheads="1"/>
            </p:cNvSpPr>
            <p:nvPr/>
          </p:nvSpPr>
          <p:spPr bwMode="auto">
            <a:xfrm rot="575549">
              <a:off x="1090" y="3239"/>
              <a:ext cx="97" cy="91"/>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79" name="Oval 119"/>
            <p:cNvSpPr>
              <a:spLocks noChangeArrowheads="1"/>
            </p:cNvSpPr>
            <p:nvPr/>
          </p:nvSpPr>
          <p:spPr bwMode="auto">
            <a:xfrm rot="575549">
              <a:off x="1096" y="3329"/>
              <a:ext cx="97" cy="91"/>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0" name="AutoShape 120"/>
            <p:cNvSpPr>
              <a:spLocks noChangeArrowheads="1"/>
            </p:cNvSpPr>
            <p:nvPr/>
          </p:nvSpPr>
          <p:spPr bwMode="auto">
            <a:xfrm rot="1092751">
              <a:off x="1467" y="3294"/>
              <a:ext cx="116" cy="125"/>
            </a:xfrm>
            <a:prstGeom prst="parallelogram">
              <a:avLst>
                <a:gd name="adj" fmla="val 2500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1" name="AutoShape 121"/>
            <p:cNvSpPr>
              <a:spLocks noChangeArrowheads="1"/>
            </p:cNvSpPr>
            <p:nvPr/>
          </p:nvSpPr>
          <p:spPr bwMode="auto">
            <a:xfrm rot="1092751">
              <a:off x="1251" y="3646"/>
              <a:ext cx="86" cy="162"/>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2" name="AutoShape 122"/>
            <p:cNvSpPr>
              <a:spLocks noChangeArrowheads="1"/>
            </p:cNvSpPr>
            <p:nvPr/>
          </p:nvSpPr>
          <p:spPr bwMode="auto">
            <a:xfrm rot="1092751">
              <a:off x="2942" y="3336"/>
              <a:ext cx="113" cy="19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3" name="AutoShape 123"/>
            <p:cNvSpPr>
              <a:spLocks noChangeArrowheads="1"/>
            </p:cNvSpPr>
            <p:nvPr/>
          </p:nvSpPr>
          <p:spPr bwMode="auto">
            <a:xfrm rot="1092751">
              <a:off x="2985" y="3372"/>
              <a:ext cx="116" cy="125"/>
            </a:xfrm>
            <a:prstGeom prst="parallelogram">
              <a:avLst>
                <a:gd name="adj" fmla="val 2500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4" name="Oval 124"/>
            <p:cNvSpPr>
              <a:spLocks noChangeArrowheads="1"/>
            </p:cNvSpPr>
            <p:nvPr/>
          </p:nvSpPr>
          <p:spPr bwMode="auto">
            <a:xfrm rot="575549">
              <a:off x="2890" y="3389"/>
              <a:ext cx="97" cy="91"/>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85" name="Rectangle 131"/>
            <p:cNvSpPr>
              <a:spLocks noChangeArrowheads="1"/>
            </p:cNvSpPr>
            <p:nvPr/>
          </p:nvSpPr>
          <p:spPr bwMode="auto">
            <a:xfrm>
              <a:off x="155" y="3066"/>
              <a:ext cx="5485" cy="912"/>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86" name="Group 140"/>
            <p:cNvGrpSpPr>
              <a:grpSpLocks/>
            </p:cNvGrpSpPr>
            <p:nvPr/>
          </p:nvGrpSpPr>
          <p:grpSpPr bwMode="auto">
            <a:xfrm>
              <a:off x="1908" y="3360"/>
              <a:ext cx="517" cy="315"/>
              <a:chOff x="2102" y="1800"/>
              <a:chExt cx="787" cy="480"/>
            </a:xfrm>
          </p:grpSpPr>
          <p:sp>
            <p:nvSpPr>
              <p:cNvPr id="43090" name="Oval 141"/>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91" name="Rectangle 142"/>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92" name="Oval 143"/>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87" name="Line 126"/>
            <p:cNvSpPr>
              <a:spLocks noChangeShapeType="1"/>
            </p:cNvSpPr>
            <p:nvPr/>
          </p:nvSpPr>
          <p:spPr bwMode="auto">
            <a:xfrm>
              <a:off x="1779" y="3414"/>
              <a:ext cx="939"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3088" name="Text Box 145"/>
            <p:cNvSpPr txBox="1">
              <a:spLocks noChangeArrowheads="1"/>
            </p:cNvSpPr>
            <p:nvPr/>
          </p:nvSpPr>
          <p:spPr bwMode="auto">
            <a:xfrm>
              <a:off x="1428" y="3783"/>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sp>
          <p:nvSpPr>
            <p:cNvPr id="43089" name="Text Box 146"/>
            <p:cNvSpPr txBox="1">
              <a:spLocks noChangeArrowheads="1"/>
            </p:cNvSpPr>
            <p:nvPr/>
          </p:nvSpPr>
          <p:spPr bwMode="auto">
            <a:xfrm>
              <a:off x="2824" y="3761"/>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grpSp>
      <p:grpSp>
        <p:nvGrpSpPr>
          <p:cNvPr id="11" name="Group 157"/>
          <p:cNvGrpSpPr>
            <a:grpSpLocks/>
          </p:cNvGrpSpPr>
          <p:nvPr/>
        </p:nvGrpSpPr>
        <p:grpSpPr bwMode="auto">
          <a:xfrm>
            <a:off x="239713" y="3457575"/>
            <a:ext cx="8732837" cy="1173163"/>
            <a:chOff x="151" y="2178"/>
            <a:chExt cx="5501" cy="739"/>
          </a:xfrm>
        </p:grpSpPr>
        <p:grpSp>
          <p:nvGrpSpPr>
            <p:cNvPr id="43044" name="Group 61"/>
            <p:cNvGrpSpPr>
              <a:grpSpLocks/>
            </p:cNvGrpSpPr>
            <p:nvPr/>
          </p:nvGrpSpPr>
          <p:grpSpPr bwMode="auto">
            <a:xfrm rot="-223274">
              <a:off x="2793" y="2237"/>
              <a:ext cx="533" cy="525"/>
              <a:chOff x="2757" y="1666"/>
              <a:chExt cx="812" cy="800"/>
            </a:xfrm>
          </p:grpSpPr>
          <p:sp>
            <p:nvSpPr>
              <p:cNvPr id="43066" name="Freeform 6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67" name="Freeform 6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068" name="Line 6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069" name="Freeform 6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70" name="Freeform 6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071" name="AutoShape 6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45" name="Text Box 52"/>
            <p:cNvSpPr txBox="1">
              <a:spLocks noChangeArrowheads="1"/>
            </p:cNvSpPr>
            <p:nvPr/>
          </p:nvSpPr>
          <p:spPr bwMode="auto">
            <a:xfrm>
              <a:off x="3478" y="2251"/>
              <a:ext cx="2174" cy="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a:solidFill>
                    <a:schemeClr val="tx1"/>
                  </a:solidFill>
                </a:rPr>
                <a:t>Produire consiste à prendre une boîte de 2 composants dans le stock de couronnes phase A et à le transférer vers le stock de pièces (cour. phase B)</a:t>
              </a:r>
            </a:p>
          </p:txBody>
        </p:sp>
        <p:sp>
          <p:nvSpPr>
            <p:cNvPr id="43046" name="Text Box 53"/>
            <p:cNvSpPr txBox="1">
              <a:spLocks noChangeArrowheads="1"/>
            </p:cNvSpPr>
            <p:nvPr/>
          </p:nvSpPr>
          <p:spPr bwMode="auto">
            <a:xfrm>
              <a:off x="151" y="2323"/>
              <a:ext cx="844"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t>Couronnes phase B</a:t>
              </a:r>
            </a:p>
          </p:txBody>
        </p:sp>
        <p:sp>
          <p:nvSpPr>
            <p:cNvPr id="43047" name="Oval 59"/>
            <p:cNvSpPr>
              <a:spLocks noChangeArrowheads="1"/>
            </p:cNvSpPr>
            <p:nvPr/>
          </p:nvSpPr>
          <p:spPr bwMode="auto">
            <a:xfrm rot="575549">
              <a:off x="2983" y="2385"/>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48" name="Oval 60"/>
            <p:cNvSpPr>
              <a:spLocks noChangeArrowheads="1"/>
            </p:cNvSpPr>
            <p:nvPr/>
          </p:nvSpPr>
          <p:spPr bwMode="auto">
            <a:xfrm rot="575549">
              <a:off x="3001" y="2469"/>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49" name="Group 68"/>
            <p:cNvGrpSpPr>
              <a:grpSpLocks/>
            </p:cNvGrpSpPr>
            <p:nvPr/>
          </p:nvGrpSpPr>
          <p:grpSpPr bwMode="auto">
            <a:xfrm rot="-223274">
              <a:off x="975" y="2237"/>
              <a:ext cx="533" cy="525"/>
              <a:chOff x="2757" y="1666"/>
              <a:chExt cx="812" cy="800"/>
            </a:xfrm>
          </p:grpSpPr>
          <p:sp>
            <p:nvSpPr>
              <p:cNvPr id="43060" name="Freeform 6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61" name="Freeform 7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062" name="Line 7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063" name="Freeform 7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64" name="Freeform 7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065" name="AutoShape 7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50" name="Oval 75"/>
            <p:cNvSpPr>
              <a:spLocks noChangeArrowheads="1"/>
            </p:cNvSpPr>
            <p:nvPr/>
          </p:nvSpPr>
          <p:spPr bwMode="auto">
            <a:xfrm rot="575549">
              <a:off x="1165" y="2367"/>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51" name="Oval 76"/>
            <p:cNvSpPr>
              <a:spLocks noChangeArrowheads="1"/>
            </p:cNvSpPr>
            <p:nvPr/>
          </p:nvSpPr>
          <p:spPr bwMode="auto">
            <a:xfrm rot="575549">
              <a:off x="1183" y="2469"/>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52" name="Rectangle 130"/>
            <p:cNvSpPr>
              <a:spLocks noChangeArrowheads="1"/>
            </p:cNvSpPr>
            <p:nvPr/>
          </p:nvSpPr>
          <p:spPr bwMode="auto">
            <a:xfrm>
              <a:off x="155" y="2178"/>
              <a:ext cx="5485" cy="726"/>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53" name="Group 136"/>
            <p:cNvGrpSpPr>
              <a:grpSpLocks/>
            </p:cNvGrpSpPr>
            <p:nvPr/>
          </p:nvGrpSpPr>
          <p:grpSpPr bwMode="auto">
            <a:xfrm>
              <a:off x="1902" y="2406"/>
              <a:ext cx="517" cy="315"/>
              <a:chOff x="2102" y="1800"/>
              <a:chExt cx="787" cy="480"/>
            </a:xfrm>
          </p:grpSpPr>
          <p:sp>
            <p:nvSpPr>
              <p:cNvPr id="43057" name="Oval 137"/>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58" name="Rectangle 138"/>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59" name="Oval 139"/>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54" name="Line 58"/>
            <p:cNvSpPr>
              <a:spLocks noChangeShapeType="1"/>
            </p:cNvSpPr>
            <p:nvPr/>
          </p:nvSpPr>
          <p:spPr bwMode="auto">
            <a:xfrm>
              <a:off x="1674" y="2454"/>
              <a:ext cx="99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3055" name="Text Box 144"/>
            <p:cNvSpPr txBox="1">
              <a:spLocks noChangeArrowheads="1"/>
            </p:cNvSpPr>
            <p:nvPr/>
          </p:nvSpPr>
          <p:spPr bwMode="auto">
            <a:xfrm>
              <a:off x="1046" y="2725"/>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sp>
          <p:nvSpPr>
            <p:cNvPr id="43056" name="Text Box 147"/>
            <p:cNvSpPr txBox="1">
              <a:spLocks noChangeArrowheads="1"/>
            </p:cNvSpPr>
            <p:nvPr/>
          </p:nvSpPr>
          <p:spPr bwMode="auto">
            <a:xfrm>
              <a:off x="2729" y="2716"/>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grpSp>
      <p:grpSp>
        <p:nvGrpSpPr>
          <p:cNvPr id="15" name="Group 156"/>
          <p:cNvGrpSpPr>
            <a:grpSpLocks/>
          </p:cNvGrpSpPr>
          <p:nvPr/>
        </p:nvGrpSpPr>
        <p:grpSpPr bwMode="auto">
          <a:xfrm>
            <a:off x="236538" y="2133600"/>
            <a:ext cx="8707437" cy="1162050"/>
            <a:chOff x="149" y="1344"/>
            <a:chExt cx="5485" cy="732"/>
          </a:xfrm>
        </p:grpSpPr>
        <p:grpSp>
          <p:nvGrpSpPr>
            <p:cNvPr id="43023" name="Group 42"/>
            <p:cNvGrpSpPr>
              <a:grpSpLocks/>
            </p:cNvGrpSpPr>
            <p:nvPr/>
          </p:nvGrpSpPr>
          <p:grpSpPr bwMode="auto">
            <a:xfrm rot="-223274">
              <a:off x="2769" y="1409"/>
              <a:ext cx="533" cy="525"/>
              <a:chOff x="2757" y="1666"/>
              <a:chExt cx="812" cy="800"/>
            </a:xfrm>
          </p:grpSpPr>
          <p:sp>
            <p:nvSpPr>
              <p:cNvPr id="43038" name="Freeform 4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39" name="Freeform 4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3040" name="Line 4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3041" name="Freeform 4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3042" name="Freeform 4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3043" name="AutoShape 4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24" name="Text Box 38"/>
            <p:cNvSpPr txBox="1">
              <a:spLocks noChangeArrowheads="1"/>
            </p:cNvSpPr>
            <p:nvPr/>
          </p:nvSpPr>
          <p:spPr bwMode="auto">
            <a:xfrm>
              <a:off x="3484" y="1387"/>
              <a:ext cx="2090" cy="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300">
                  <a:solidFill>
                    <a:schemeClr val="tx1"/>
                  </a:solidFill>
                </a:rPr>
                <a:t>Produire consiste à prendre 2 composants dans le stock de matières et à les mettre dans 1 boîte rangée dans le stock de couronnes phase A</a:t>
              </a:r>
            </a:p>
          </p:txBody>
        </p:sp>
        <p:sp>
          <p:nvSpPr>
            <p:cNvPr id="43025" name="Text Box 39"/>
            <p:cNvSpPr txBox="1">
              <a:spLocks noChangeArrowheads="1"/>
            </p:cNvSpPr>
            <p:nvPr/>
          </p:nvSpPr>
          <p:spPr bwMode="auto">
            <a:xfrm>
              <a:off x="226" y="1525"/>
              <a:ext cx="718"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t>Couronnes phase A</a:t>
              </a:r>
            </a:p>
          </p:txBody>
        </p:sp>
        <p:sp>
          <p:nvSpPr>
            <p:cNvPr id="43026" name="Oval 41"/>
            <p:cNvSpPr>
              <a:spLocks noChangeArrowheads="1"/>
            </p:cNvSpPr>
            <p:nvPr/>
          </p:nvSpPr>
          <p:spPr bwMode="auto">
            <a:xfrm rot="575549">
              <a:off x="2959" y="1557"/>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27" name="Oval 49"/>
            <p:cNvSpPr>
              <a:spLocks noChangeArrowheads="1"/>
            </p:cNvSpPr>
            <p:nvPr/>
          </p:nvSpPr>
          <p:spPr bwMode="auto">
            <a:xfrm rot="575549">
              <a:off x="2983" y="1635"/>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28" name="Oval 50"/>
            <p:cNvSpPr>
              <a:spLocks noChangeArrowheads="1"/>
            </p:cNvSpPr>
            <p:nvPr/>
          </p:nvSpPr>
          <p:spPr bwMode="auto">
            <a:xfrm rot="575549">
              <a:off x="1303" y="1473"/>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29" name="Oval 51"/>
            <p:cNvSpPr>
              <a:spLocks noChangeArrowheads="1"/>
            </p:cNvSpPr>
            <p:nvPr/>
          </p:nvSpPr>
          <p:spPr bwMode="auto">
            <a:xfrm rot="575549">
              <a:off x="1303" y="1671"/>
              <a:ext cx="140" cy="13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30" name="Rectangle 129"/>
            <p:cNvSpPr>
              <a:spLocks noChangeArrowheads="1"/>
            </p:cNvSpPr>
            <p:nvPr/>
          </p:nvSpPr>
          <p:spPr bwMode="auto">
            <a:xfrm>
              <a:off x="149" y="1344"/>
              <a:ext cx="5485" cy="726"/>
            </a:xfrm>
            <a:prstGeom prst="rect">
              <a:avLst/>
            </a:prstGeom>
            <a:noFill/>
            <a:ln w="6350" algn="ctr">
              <a:solidFill>
                <a:schemeClr val="tx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3031" name="Group 132"/>
            <p:cNvGrpSpPr>
              <a:grpSpLocks/>
            </p:cNvGrpSpPr>
            <p:nvPr/>
          </p:nvGrpSpPr>
          <p:grpSpPr bwMode="auto">
            <a:xfrm>
              <a:off x="1896" y="1572"/>
              <a:ext cx="517" cy="315"/>
              <a:chOff x="2102" y="1800"/>
              <a:chExt cx="787" cy="480"/>
            </a:xfrm>
          </p:grpSpPr>
          <p:sp>
            <p:nvSpPr>
              <p:cNvPr id="43035" name="Oval 133"/>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36" name="Rectangle 134"/>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3037" name="Oval 135"/>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3032" name="Line 37"/>
            <p:cNvSpPr>
              <a:spLocks noChangeShapeType="1"/>
            </p:cNvSpPr>
            <p:nvPr/>
          </p:nvSpPr>
          <p:spPr bwMode="auto">
            <a:xfrm>
              <a:off x="1650" y="1626"/>
              <a:ext cx="1002"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43033" name="Text Box 148"/>
            <p:cNvSpPr txBox="1">
              <a:spLocks noChangeArrowheads="1"/>
            </p:cNvSpPr>
            <p:nvPr/>
          </p:nvSpPr>
          <p:spPr bwMode="auto">
            <a:xfrm>
              <a:off x="2735" y="1884"/>
              <a:ext cx="3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stock</a:t>
              </a:r>
            </a:p>
          </p:txBody>
        </p:sp>
        <p:sp>
          <p:nvSpPr>
            <p:cNvPr id="43034" name="Text Box 151"/>
            <p:cNvSpPr txBox="1">
              <a:spLocks noChangeArrowheads="1"/>
            </p:cNvSpPr>
            <p:nvPr/>
          </p:nvSpPr>
          <p:spPr bwMode="auto">
            <a:xfrm>
              <a:off x="1128" y="1823"/>
              <a:ext cx="54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matières</a:t>
              </a:r>
            </a:p>
          </p:txBody>
        </p:sp>
      </p:grpSp>
      <p:sp>
        <p:nvSpPr>
          <p:cNvPr id="271512" name="AutoShape 152"/>
          <p:cNvSpPr>
            <a:spLocks noChangeArrowheads="1"/>
          </p:cNvSpPr>
          <p:nvPr/>
        </p:nvSpPr>
        <p:spPr bwMode="auto">
          <a:xfrm>
            <a:off x="5089525" y="5848350"/>
            <a:ext cx="3363913" cy="942975"/>
          </a:xfrm>
          <a:prstGeom prst="roundRect">
            <a:avLst>
              <a:gd name="adj" fmla="val 16667"/>
            </a:avLst>
          </a:prstGeom>
          <a:solidFill>
            <a:srgbClr val="FFFF99"/>
          </a:solidFill>
          <a:ln w="6350" algn="ctr">
            <a:solidFill>
              <a:schemeClr val="tx2"/>
            </a:solidFill>
            <a:round/>
            <a:headEnd/>
            <a:tailEnd/>
          </a:ln>
        </p:spPr>
        <p:txBody>
          <a:bodyPr lIns="18000" tIns="10800" rIns="18000" bIns="10800"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b="1">
                <a:solidFill>
                  <a:srgbClr val="FC2C1C"/>
                </a:solidFill>
              </a:rPr>
              <a:t>Attention</a:t>
            </a:r>
            <a:r>
              <a:rPr lang="fr-FR" altLang="fr-FR" sz="1300">
                <a:solidFill>
                  <a:schemeClr val="tx1"/>
                </a:solidFill>
              </a:rPr>
              <a:t> : quand le stock qui vous alimente est à zéro, vous ne pouvez pas utiliser les pièces réalisées dans la même heure de travail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ox(in)">
                                      <p:cBhvr>
                                        <p:cTn id="7" dur="5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box(in)">
                                      <p:cBhvr>
                                        <p:cTn id="12" dur="500"/>
                                        <p:tgtEl>
                                          <p:spTgt spid="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box(in)">
                                      <p:cBhvr>
                                        <p:cTn id="17" dur="500"/>
                                        <p:tgtEl>
                                          <p:spTgt spid="1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5"/>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4" presetClass="entr" presetSubtype="16" fill="hold" grpId="0" nodeType="clickEffect">
                                  <p:stCondLst>
                                    <p:cond delay="0"/>
                                  </p:stCondLst>
                                  <p:childTnLst>
                                    <p:set>
                                      <p:cBhvr>
                                        <p:cTn id="25" dur="1" fill="hold">
                                          <p:stCondLst>
                                            <p:cond delay="0"/>
                                          </p:stCondLst>
                                        </p:cTn>
                                        <p:tgtEl>
                                          <p:spTgt spid="271512"/>
                                        </p:tgtEl>
                                        <p:attrNameLst>
                                          <p:attrName>style.visibility</p:attrName>
                                        </p:attrNameLst>
                                      </p:cBhvr>
                                      <p:to>
                                        <p:strVal val="visible"/>
                                      </p:to>
                                    </p:set>
                                    <p:animEffect transition="in" filter="box(in)">
                                      <p:cBhvr>
                                        <p:cTn id="26" dur="500"/>
                                        <p:tgtEl>
                                          <p:spTgt spid="2715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1512"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2"/>
          <p:cNvSpPr>
            <a:spLocks noGrp="1" noChangeArrowheads="1"/>
          </p:cNvSpPr>
          <p:nvPr>
            <p:ph type="title"/>
          </p:nvPr>
        </p:nvSpPr>
        <p:spPr>
          <a:xfrm>
            <a:off x="1033463" y="203200"/>
            <a:ext cx="7262812" cy="661988"/>
          </a:xfrm>
        </p:spPr>
        <p:txBody>
          <a:bodyPr/>
          <a:lstStyle/>
          <a:p>
            <a:pPr eaLnBrk="1" hangingPunct="1">
              <a:lnSpc>
                <a:spcPct val="110000"/>
              </a:lnSpc>
            </a:pPr>
            <a:r>
              <a:rPr lang="fr-FR" altLang="fr-FR" sz="2400" dirty="0"/>
              <a:t>C’est le moment d’installer votre usine. </a:t>
            </a:r>
            <a:br>
              <a:rPr lang="fr-FR" altLang="fr-FR" sz="2400" dirty="0"/>
            </a:br>
            <a:r>
              <a:rPr lang="fr-FR" altLang="fr-FR" sz="2400" dirty="0"/>
              <a:t>Vérifiez que vous avez reçu :</a:t>
            </a:r>
          </a:p>
        </p:txBody>
      </p:sp>
      <p:sp>
        <p:nvSpPr>
          <p:cNvPr id="44036" name="Text Box 7"/>
          <p:cNvSpPr txBox="1">
            <a:spLocks noChangeArrowheads="1"/>
          </p:cNvSpPr>
          <p:nvPr/>
        </p:nvSpPr>
        <p:spPr bwMode="auto">
          <a:xfrm>
            <a:off x="1652588" y="1406525"/>
            <a:ext cx="34417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5 Fiches règles du jeu</a:t>
            </a:r>
          </a:p>
        </p:txBody>
      </p:sp>
      <p:sp>
        <p:nvSpPr>
          <p:cNvPr id="44037" name="Text Box 10"/>
          <p:cNvSpPr txBox="1">
            <a:spLocks noChangeArrowheads="1"/>
          </p:cNvSpPr>
          <p:nvPr/>
        </p:nvSpPr>
        <p:spPr bwMode="auto">
          <a:xfrm>
            <a:off x="1617663" y="2311400"/>
            <a:ext cx="33702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3 Zones de Stockage</a:t>
            </a:r>
          </a:p>
        </p:txBody>
      </p:sp>
      <p:sp>
        <p:nvSpPr>
          <p:cNvPr id="44039" name="Text Box 16"/>
          <p:cNvSpPr txBox="1">
            <a:spLocks noChangeArrowheads="1"/>
          </p:cNvSpPr>
          <p:nvPr/>
        </p:nvSpPr>
        <p:spPr bwMode="auto">
          <a:xfrm>
            <a:off x="1617663" y="3216275"/>
            <a:ext cx="28622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5 Feuilles de Suivi</a:t>
            </a:r>
          </a:p>
        </p:txBody>
      </p:sp>
      <p:sp>
        <p:nvSpPr>
          <p:cNvPr id="44040" name="Text Box 17"/>
          <p:cNvSpPr txBox="1">
            <a:spLocks noChangeArrowheads="1"/>
          </p:cNvSpPr>
          <p:nvPr/>
        </p:nvSpPr>
        <p:spPr bwMode="auto">
          <a:xfrm>
            <a:off x="1593850" y="4186238"/>
            <a:ext cx="4075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5 feuilles de Calcul des besoins</a:t>
            </a:r>
          </a:p>
        </p:txBody>
      </p:sp>
      <p:grpSp>
        <p:nvGrpSpPr>
          <p:cNvPr id="44041" name="Group 136"/>
          <p:cNvGrpSpPr>
            <a:grpSpLocks/>
          </p:cNvGrpSpPr>
          <p:nvPr/>
        </p:nvGrpSpPr>
        <p:grpSpPr bwMode="auto">
          <a:xfrm>
            <a:off x="793750" y="2263775"/>
            <a:ext cx="657225" cy="439738"/>
            <a:chOff x="309" y="1456"/>
            <a:chExt cx="612" cy="367"/>
          </a:xfrm>
        </p:grpSpPr>
        <p:sp>
          <p:nvSpPr>
            <p:cNvPr id="44138" name="Rectangle 9"/>
            <p:cNvSpPr>
              <a:spLocks noChangeArrowheads="1"/>
            </p:cNvSpPr>
            <p:nvPr/>
          </p:nvSpPr>
          <p:spPr bwMode="auto">
            <a:xfrm>
              <a:off x="469" y="1456"/>
              <a:ext cx="452" cy="284"/>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39" name="Rectangle 27"/>
            <p:cNvSpPr>
              <a:spLocks noChangeArrowheads="1"/>
            </p:cNvSpPr>
            <p:nvPr/>
          </p:nvSpPr>
          <p:spPr bwMode="auto">
            <a:xfrm>
              <a:off x="398" y="1491"/>
              <a:ext cx="452" cy="284"/>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40" name="Rectangle 28"/>
            <p:cNvSpPr>
              <a:spLocks noChangeArrowheads="1"/>
            </p:cNvSpPr>
            <p:nvPr/>
          </p:nvSpPr>
          <p:spPr bwMode="auto">
            <a:xfrm>
              <a:off x="309" y="1539"/>
              <a:ext cx="452" cy="284"/>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4042" name="Group 41"/>
          <p:cNvGrpSpPr>
            <a:grpSpLocks/>
          </p:cNvGrpSpPr>
          <p:nvPr/>
        </p:nvGrpSpPr>
        <p:grpSpPr bwMode="auto">
          <a:xfrm rot="-223274">
            <a:off x="5749925" y="2260600"/>
            <a:ext cx="1058863" cy="1042988"/>
            <a:chOff x="2757" y="1666"/>
            <a:chExt cx="812" cy="800"/>
          </a:xfrm>
        </p:grpSpPr>
        <p:sp>
          <p:nvSpPr>
            <p:cNvPr id="44132" name="Freeform 4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33" name="Freeform 4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4134" name="Line 4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4135" name="Freeform 4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36" name="Freeform 4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4137" name="AutoShape 4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4043" name="Rectangle 48"/>
          <p:cNvSpPr>
            <a:spLocks noChangeArrowheads="1"/>
          </p:cNvSpPr>
          <p:nvPr/>
        </p:nvSpPr>
        <p:spPr bwMode="auto">
          <a:xfrm>
            <a:off x="7002463" y="2782888"/>
            <a:ext cx="255587" cy="347662"/>
          </a:xfrm>
          <a:prstGeom prst="rect">
            <a:avLst/>
          </a:prstGeom>
          <a:solidFill>
            <a:srgbClr val="FFFF00"/>
          </a:solidFill>
          <a:ln w="9525">
            <a:solidFill>
              <a:schemeClr val="bg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44" name="Rectangle 49"/>
          <p:cNvSpPr>
            <a:spLocks noChangeArrowheads="1"/>
          </p:cNvSpPr>
          <p:nvPr/>
        </p:nvSpPr>
        <p:spPr bwMode="auto">
          <a:xfrm>
            <a:off x="7473950" y="2593975"/>
            <a:ext cx="222250" cy="531813"/>
          </a:xfrm>
          <a:prstGeom prst="rect">
            <a:avLst/>
          </a:prstGeom>
          <a:solidFill>
            <a:srgbClr val="0066FF"/>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45" name="Oval 50"/>
          <p:cNvSpPr>
            <a:spLocks noChangeArrowheads="1"/>
          </p:cNvSpPr>
          <p:nvPr/>
        </p:nvSpPr>
        <p:spPr bwMode="auto">
          <a:xfrm>
            <a:off x="7048500" y="2230438"/>
            <a:ext cx="355600" cy="387350"/>
          </a:xfrm>
          <a:prstGeom prst="ellipse">
            <a:avLst/>
          </a:prstGeom>
          <a:solidFill>
            <a:srgbClr val="00FF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44046" name="Group 51"/>
          <p:cNvGrpSpPr>
            <a:grpSpLocks/>
          </p:cNvGrpSpPr>
          <p:nvPr/>
        </p:nvGrpSpPr>
        <p:grpSpPr bwMode="auto">
          <a:xfrm rot="-223274">
            <a:off x="5718175" y="1941513"/>
            <a:ext cx="1058863" cy="1042987"/>
            <a:chOff x="2757" y="1666"/>
            <a:chExt cx="812" cy="800"/>
          </a:xfrm>
        </p:grpSpPr>
        <p:sp>
          <p:nvSpPr>
            <p:cNvPr id="44126" name="Freeform 5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27" name="Freeform 5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4128" name="Line 5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4129" name="Freeform 5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30" name="Freeform 5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4131" name="AutoShape 5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4047" name="Group 58"/>
          <p:cNvGrpSpPr>
            <a:grpSpLocks/>
          </p:cNvGrpSpPr>
          <p:nvPr/>
        </p:nvGrpSpPr>
        <p:grpSpPr bwMode="auto">
          <a:xfrm rot="-223274">
            <a:off x="5680075" y="1630363"/>
            <a:ext cx="1058863" cy="1042987"/>
            <a:chOff x="2757" y="1666"/>
            <a:chExt cx="812" cy="800"/>
          </a:xfrm>
        </p:grpSpPr>
        <p:sp>
          <p:nvSpPr>
            <p:cNvPr id="44120" name="Freeform 5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21" name="Freeform 6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4122" name="Line 6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4123" name="Freeform 6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4124" name="Freeform 6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4125" name="AutoShape 6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4048" name="Text Box 65"/>
          <p:cNvSpPr txBox="1">
            <a:spLocks noChangeArrowheads="1"/>
          </p:cNvSpPr>
          <p:nvPr/>
        </p:nvSpPr>
        <p:spPr bwMode="auto">
          <a:xfrm>
            <a:off x="5497513" y="3314700"/>
            <a:ext cx="2635250" cy="896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lnSpc>
                <a:spcPct val="110000"/>
              </a:lnSpc>
              <a:spcBef>
                <a:spcPct val="0"/>
              </a:spcBef>
              <a:buFontTx/>
              <a:buNone/>
            </a:pPr>
            <a:r>
              <a:rPr lang="fr-FR" altLang="fr-FR" sz="1600"/>
              <a:t>Des boîtes et des jetons pour constituer vos stocks et un</a:t>
            </a:r>
          </a:p>
        </p:txBody>
      </p:sp>
      <p:grpSp>
        <p:nvGrpSpPr>
          <p:cNvPr id="44049" name="Group 69"/>
          <p:cNvGrpSpPr>
            <a:grpSpLocks/>
          </p:cNvGrpSpPr>
          <p:nvPr/>
        </p:nvGrpSpPr>
        <p:grpSpPr bwMode="auto">
          <a:xfrm>
            <a:off x="904875" y="3122613"/>
            <a:ext cx="519113" cy="533400"/>
            <a:chOff x="375" y="2879"/>
            <a:chExt cx="493" cy="511"/>
          </a:xfrm>
        </p:grpSpPr>
        <p:sp>
          <p:nvSpPr>
            <p:cNvPr id="44115" name="Rectangle 70"/>
            <p:cNvSpPr>
              <a:spLocks noChangeArrowheads="1"/>
            </p:cNvSpPr>
            <p:nvPr/>
          </p:nvSpPr>
          <p:spPr bwMode="auto">
            <a:xfrm>
              <a:off x="606" y="2879"/>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16" name="Rectangle 71"/>
            <p:cNvSpPr>
              <a:spLocks noChangeArrowheads="1"/>
            </p:cNvSpPr>
            <p:nvPr/>
          </p:nvSpPr>
          <p:spPr bwMode="auto">
            <a:xfrm>
              <a:off x="553" y="2921"/>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17" name="Rectangle 72"/>
            <p:cNvSpPr>
              <a:spLocks noChangeArrowheads="1"/>
            </p:cNvSpPr>
            <p:nvPr/>
          </p:nvSpPr>
          <p:spPr bwMode="auto">
            <a:xfrm>
              <a:off x="493" y="2963"/>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18" name="Rectangle 73"/>
            <p:cNvSpPr>
              <a:spLocks noChangeArrowheads="1"/>
            </p:cNvSpPr>
            <p:nvPr/>
          </p:nvSpPr>
          <p:spPr bwMode="auto">
            <a:xfrm>
              <a:off x="428" y="3010"/>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119" name="Rectangle 74"/>
            <p:cNvSpPr>
              <a:spLocks noChangeArrowheads="1"/>
            </p:cNvSpPr>
            <p:nvPr/>
          </p:nvSpPr>
          <p:spPr bwMode="auto">
            <a:xfrm>
              <a:off x="375" y="3052"/>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4050" name="Group 81"/>
          <p:cNvGrpSpPr>
            <a:grpSpLocks/>
          </p:cNvGrpSpPr>
          <p:nvPr/>
        </p:nvGrpSpPr>
        <p:grpSpPr bwMode="auto">
          <a:xfrm>
            <a:off x="7183438" y="3921125"/>
            <a:ext cx="315912" cy="379413"/>
            <a:chOff x="868" y="1439"/>
            <a:chExt cx="811" cy="972"/>
          </a:xfrm>
        </p:grpSpPr>
        <p:sp>
          <p:nvSpPr>
            <p:cNvPr id="44064" name="Freeform 82"/>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5" name="Freeform 83"/>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6" name="Freeform 84"/>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7" name="Freeform 85"/>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8" name="Freeform 86"/>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69" name="Freeform 87"/>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0" name="Freeform 88"/>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1" name="Freeform 89"/>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2" name="Freeform 90"/>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3" name="Freeform 91"/>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4" name="Freeform 92"/>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5" name="Freeform 93"/>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6" name="Freeform 94"/>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7" name="Freeform 95"/>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8" name="Freeform 96"/>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79" name="Freeform 97"/>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0" name="Freeform 98"/>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1" name="Freeform 99"/>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2" name="Freeform 100"/>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3" name="Freeform 101"/>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4" name="Freeform 102"/>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5" name="Freeform 103"/>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6" name="Freeform 104"/>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7" name="Freeform 105"/>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8" name="Freeform 106"/>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89" name="Freeform 107"/>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0" name="Freeform 108"/>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1" name="Freeform 109"/>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2" name="Freeform 110"/>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3" name="Freeform 111"/>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4" name="Freeform 112"/>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5" name="Freeform 113"/>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6" name="Freeform 114"/>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7" name="Freeform 115"/>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8" name="Freeform 116"/>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099" name="Freeform 117"/>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0" name="Freeform 118"/>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1" name="Freeform 119"/>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2" name="Freeform 120"/>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3" name="Freeform 121"/>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4" name="Freeform 122"/>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5" name="Freeform 123"/>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6" name="Freeform 124"/>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7" name="Freeform 125"/>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8" name="Freeform 126"/>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09" name="Freeform 127"/>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0" name="Freeform 128"/>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1" name="Freeform 129"/>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2" name="Freeform 130"/>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3" name="Freeform 131"/>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44114" name="Freeform 132"/>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44051" name="Group 143"/>
          <p:cNvGrpSpPr>
            <a:grpSpLocks/>
          </p:cNvGrpSpPr>
          <p:nvPr/>
        </p:nvGrpSpPr>
        <p:grpSpPr bwMode="auto">
          <a:xfrm>
            <a:off x="920750" y="1303338"/>
            <a:ext cx="519113" cy="533400"/>
            <a:chOff x="375" y="2879"/>
            <a:chExt cx="493" cy="511"/>
          </a:xfrm>
        </p:grpSpPr>
        <p:sp>
          <p:nvSpPr>
            <p:cNvPr id="44059" name="Rectangle 144"/>
            <p:cNvSpPr>
              <a:spLocks noChangeArrowheads="1"/>
            </p:cNvSpPr>
            <p:nvPr/>
          </p:nvSpPr>
          <p:spPr bwMode="auto">
            <a:xfrm>
              <a:off x="606" y="2879"/>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60" name="Rectangle 145"/>
            <p:cNvSpPr>
              <a:spLocks noChangeArrowheads="1"/>
            </p:cNvSpPr>
            <p:nvPr/>
          </p:nvSpPr>
          <p:spPr bwMode="auto">
            <a:xfrm>
              <a:off x="553" y="2921"/>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61" name="Rectangle 146"/>
            <p:cNvSpPr>
              <a:spLocks noChangeArrowheads="1"/>
            </p:cNvSpPr>
            <p:nvPr/>
          </p:nvSpPr>
          <p:spPr bwMode="auto">
            <a:xfrm>
              <a:off x="493" y="2963"/>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62" name="Rectangle 147"/>
            <p:cNvSpPr>
              <a:spLocks noChangeArrowheads="1"/>
            </p:cNvSpPr>
            <p:nvPr/>
          </p:nvSpPr>
          <p:spPr bwMode="auto">
            <a:xfrm>
              <a:off x="428" y="3010"/>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63" name="Rectangle 148"/>
            <p:cNvSpPr>
              <a:spLocks noChangeArrowheads="1"/>
            </p:cNvSpPr>
            <p:nvPr/>
          </p:nvSpPr>
          <p:spPr bwMode="auto">
            <a:xfrm>
              <a:off x="375" y="3052"/>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4052" name="Group 149"/>
          <p:cNvGrpSpPr>
            <a:grpSpLocks/>
          </p:cNvGrpSpPr>
          <p:nvPr/>
        </p:nvGrpSpPr>
        <p:grpSpPr bwMode="auto">
          <a:xfrm>
            <a:off x="889000" y="4149725"/>
            <a:ext cx="519113" cy="533400"/>
            <a:chOff x="375" y="2879"/>
            <a:chExt cx="493" cy="511"/>
          </a:xfrm>
        </p:grpSpPr>
        <p:sp>
          <p:nvSpPr>
            <p:cNvPr id="44054" name="Rectangle 150"/>
            <p:cNvSpPr>
              <a:spLocks noChangeArrowheads="1"/>
            </p:cNvSpPr>
            <p:nvPr/>
          </p:nvSpPr>
          <p:spPr bwMode="auto">
            <a:xfrm>
              <a:off x="606" y="2879"/>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55" name="Rectangle 151"/>
            <p:cNvSpPr>
              <a:spLocks noChangeArrowheads="1"/>
            </p:cNvSpPr>
            <p:nvPr/>
          </p:nvSpPr>
          <p:spPr bwMode="auto">
            <a:xfrm>
              <a:off x="553" y="2921"/>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56" name="Rectangle 152"/>
            <p:cNvSpPr>
              <a:spLocks noChangeArrowheads="1"/>
            </p:cNvSpPr>
            <p:nvPr/>
          </p:nvSpPr>
          <p:spPr bwMode="auto">
            <a:xfrm>
              <a:off x="493" y="2963"/>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57" name="Rectangle 153"/>
            <p:cNvSpPr>
              <a:spLocks noChangeArrowheads="1"/>
            </p:cNvSpPr>
            <p:nvPr/>
          </p:nvSpPr>
          <p:spPr bwMode="auto">
            <a:xfrm>
              <a:off x="428" y="3010"/>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4058" name="Rectangle 154"/>
            <p:cNvSpPr>
              <a:spLocks noChangeArrowheads="1"/>
            </p:cNvSpPr>
            <p:nvPr/>
          </p:nvSpPr>
          <p:spPr bwMode="auto">
            <a:xfrm>
              <a:off x="375" y="3052"/>
              <a:ext cx="262" cy="338"/>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4053" name="AutoShape 159"/>
          <p:cNvSpPr>
            <a:spLocks noChangeArrowheads="1"/>
          </p:cNvSpPr>
          <p:nvPr/>
        </p:nvSpPr>
        <p:spPr bwMode="auto">
          <a:xfrm>
            <a:off x="5421313" y="1385888"/>
            <a:ext cx="2705100" cy="2987675"/>
          </a:xfrm>
          <a:prstGeom prst="roundRect">
            <a:avLst>
              <a:gd name="adj" fmla="val 16667"/>
            </a:avLst>
          </a:prstGeom>
          <a:noFill/>
          <a:ln w="6350" algn="ctr">
            <a:solidFill>
              <a:schemeClr val="tx2"/>
            </a:solidFill>
            <a:prstDash val="lgDash"/>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2"/>
          <p:cNvSpPr>
            <a:spLocks noGrp="1" noChangeArrowheads="1"/>
          </p:cNvSpPr>
          <p:nvPr>
            <p:ph type="title"/>
          </p:nvPr>
        </p:nvSpPr>
        <p:spPr/>
        <p:txBody>
          <a:bodyPr/>
          <a:lstStyle/>
          <a:p>
            <a:pPr eaLnBrk="1" hangingPunct="1"/>
            <a:r>
              <a:rPr lang="fr-FR" altLang="fr-FR"/>
              <a:t>Ce qui vous est demandé :</a:t>
            </a:r>
          </a:p>
        </p:txBody>
      </p:sp>
      <p:sp>
        <p:nvSpPr>
          <p:cNvPr id="45059" name="Rectangle 13"/>
          <p:cNvSpPr>
            <a:spLocks noGrp="1" noChangeArrowheads="1"/>
          </p:cNvSpPr>
          <p:nvPr>
            <p:ph type="body" idx="1"/>
          </p:nvPr>
        </p:nvSpPr>
        <p:spPr>
          <a:xfrm>
            <a:off x="220663" y="1011238"/>
            <a:ext cx="8229600" cy="2087562"/>
          </a:xfrm>
        </p:spPr>
        <p:txBody>
          <a:bodyPr/>
          <a:lstStyle/>
          <a:p>
            <a:pPr marL="381000" indent="-381000" eaLnBrk="1" hangingPunct="1"/>
            <a:r>
              <a:rPr lang="fr-FR" altLang="fr-FR" dirty="0">
                <a:solidFill>
                  <a:srgbClr val="FC2C1C"/>
                </a:solidFill>
              </a:rPr>
              <a:t>1. Programmer la production</a:t>
            </a:r>
            <a:r>
              <a:rPr lang="fr-FR" altLang="fr-FR" dirty="0"/>
              <a:t>, c’est-à-dire décider ce que</a:t>
            </a:r>
            <a:br>
              <a:rPr lang="fr-FR" altLang="fr-FR" dirty="0"/>
            </a:br>
            <a:r>
              <a:rPr lang="fr-FR" altLang="fr-FR" dirty="0"/>
              <a:t>vous allez produire pendant la semaine sur chacun des postes.</a:t>
            </a:r>
          </a:p>
          <a:p>
            <a:pPr marL="800100" lvl="1" indent="-342900" eaLnBrk="1" hangingPunct="1">
              <a:buFontTx/>
              <a:buChar char="•"/>
            </a:pPr>
            <a:r>
              <a:rPr lang="fr-FR" altLang="fr-FR" dirty="0"/>
              <a:t>La feuille Calcul des besoins vous aidera à faire les calculs.</a:t>
            </a:r>
          </a:p>
          <a:p>
            <a:pPr marL="800100" lvl="1" indent="-342900" eaLnBrk="1" hangingPunct="1">
              <a:buFontTx/>
              <a:buChar char="•"/>
            </a:pPr>
            <a:r>
              <a:rPr lang="fr-FR" altLang="fr-FR" dirty="0"/>
              <a:t>Vous noterez votre programme sur la feuille de Suivi.</a:t>
            </a:r>
          </a:p>
        </p:txBody>
      </p:sp>
      <p:sp>
        <p:nvSpPr>
          <p:cNvPr id="45064" name="Rectangle 15"/>
          <p:cNvSpPr>
            <a:spLocks noChangeArrowheads="1"/>
          </p:cNvSpPr>
          <p:nvPr/>
        </p:nvSpPr>
        <p:spPr bwMode="auto">
          <a:xfrm>
            <a:off x="274638" y="3563938"/>
            <a:ext cx="8229600" cy="2359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81000" indent="-381000" algn="l" eaLnBrk="0" hangingPunct="0">
              <a:spcBef>
                <a:spcPct val="20000"/>
              </a:spcBef>
              <a:buChar char="•"/>
              <a:defRPr sz="2000">
                <a:solidFill>
                  <a:schemeClr val="accent2"/>
                </a:solidFill>
                <a:latin typeface="Arial" pitchFamily="34" charset="0"/>
              </a:defRPr>
            </a:lvl1pPr>
            <a:lvl2pPr marL="800100" indent="-34290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r>
              <a:rPr lang="fr-FR" altLang="fr-FR" dirty="0">
                <a:solidFill>
                  <a:srgbClr val="FC2C1C"/>
                </a:solidFill>
              </a:rPr>
              <a:t>2. Produire</a:t>
            </a:r>
            <a:r>
              <a:rPr lang="fr-FR" altLang="fr-FR" dirty="0"/>
              <a:t> </a:t>
            </a:r>
            <a:r>
              <a:rPr lang="fr-FR" altLang="fr-FR" dirty="0">
                <a:solidFill>
                  <a:schemeClr val="tx1">
                    <a:lumMod val="65000"/>
                    <a:lumOff val="35000"/>
                  </a:schemeClr>
                </a:solidFill>
              </a:rPr>
              <a:t>en suivant le programme que vous avez établi.</a:t>
            </a:r>
          </a:p>
          <a:p>
            <a:pPr lvl="1" eaLnBrk="1" hangingPunct="1">
              <a:buClr>
                <a:srgbClr val="FF3300"/>
              </a:buClr>
              <a:buFontTx/>
              <a:buChar char="•"/>
            </a:pPr>
            <a:r>
              <a:rPr lang="fr-FR" altLang="fr-FR" sz="1800" dirty="0">
                <a:solidFill>
                  <a:schemeClr val="tx1">
                    <a:lumMod val="65000"/>
                    <a:lumOff val="35000"/>
                  </a:schemeClr>
                </a:solidFill>
                <a:latin typeface="+mn-lt"/>
              </a:rPr>
              <a:t>Vous produirez en respectant les cadences et vous tiendrez</a:t>
            </a:r>
            <a:br>
              <a:rPr lang="fr-FR" altLang="fr-FR" sz="1800" dirty="0">
                <a:solidFill>
                  <a:schemeClr val="tx1">
                    <a:lumMod val="65000"/>
                    <a:lumOff val="35000"/>
                  </a:schemeClr>
                </a:solidFill>
                <a:latin typeface="+mn-lt"/>
              </a:rPr>
            </a:br>
            <a:r>
              <a:rPr lang="fr-FR" altLang="fr-FR" sz="1800" dirty="0">
                <a:solidFill>
                  <a:schemeClr val="tx1">
                    <a:lumMod val="65000"/>
                    <a:lumOff val="35000"/>
                  </a:schemeClr>
                </a:solidFill>
                <a:latin typeface="+mn-lt"/>
              </a:rPr>
              <a:t>compte des incidents affectant votre production.</a:t>
            </a:r>
          </a:p>
          <a:p>
            <a:pPr lvl="1" eaLnBrk="1" hangingPunct="1">
              <a:buClr>
                <a:srgbClr val="FF3300"/>
              </a:buClr>
              <a:buFontTx/>
              <a:buChar char="•"/>
            </a:pPr>
            <a:r>
              <a:rPr lang="fr-FR" altLang="fr-FR" sz="1800" dirty="0">
                <a:solidFill>
                  <a:schemeClr val="tx1">
                    <a:lumMod val="65000"/>
                    <a:lumOff val="35000"/>
                  </a:schemeClr>
                </a:solidFill>
                <a:latin typeface="+mn-lt"/>
              </a:rPr>
              <a:t>Il ne faut pas modifier votre programme en cours de semaine,</a:t>
            </a:r>
            <a:br>
              <a:rPr lang="fr-FR" altLang="fr-FR" sz="1800" dirty="0">
                <a:solidFill>
                  <a:schemeClr val="tx1">
                    <a:lumMod val="65000"/>
                    <a:lumOff val="35000"/>
                  </a:schemeClr>
                </a:solidFill>
                <a:latin typeface="+mn-lt"/>
              </a:rPr>
            </a:br>
            <a:r>
              <a:rPr lang="fr-FR" altLang="fr-FR" sz="1800" dirty="0">
                <a:solidFill>
                  <a:schemeClr val="tx1">
                    <a:lumMod val="65000"/>
                    <a:lumOff val="35000"/>
                  </a:schemeClr>
                </a:solidFill>
                <a:latin typeface="+mn-lt"/>
              </a:rPr>
              <a:t>sauf si le stock est tombé à 0 et qu’il est indispensable de le reconstituer de toute urgence. </a:t>
            </a:r>
          </a:p>
          <a:p>
            <a:pPr lvl="1" eaLnBrk="1" hangingPunct="1">
              <a:buClr>
                <a:srgbClr val="FF3300"/>
              </a:buClr>
              <a:buFontTx/>
              <a:buChar char="•"/>
            </a:pPr>
            <a:endParaRPr lang="fr-FR" altLang="fr-FR" sz="1800" dirty="0">
              <a:solidFill>
                <a:schemeClr val="tx1">
                  <a:lumMod val="65000"/>
                  <a:lumOff val="35000"/>
                </a:schemeClr>
              </a:solidFill>
              <a:latin typeface="+mn-lt"/>
            </a:endParaRPr>
          </a:p>
        </p:txBody>
      </p:sp>
    </p:spTree>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13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60500" y="1020763"/>
            <a:ext cx="5862638" cy="557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46083" name="Rectangle 2"/>
          <p:cNvSpPr>
            <a:spLocks noGrp="1" noChangeArrowheads="1"/>
          </p:cNvSpPr>
          <p:nvPr>
            <p:ph type="title"/>
          </p:nvPr>
        </p:nvSpPr>
        <p:spPr>
          <a:xfrm>
            <a:off x="430213" y="0"/>
            <a:ext cx="8229600" cy="523875"/>
          </a:xfrm>
        </p:spPr>
        <p:txBody>
          <a:bodyPr/>
          <a:lstStyle/>
          <a:p>
            <a:pPr eaLnBrk="1" hangingPunct="1"/>
            <a:r>
              <a:rPr lang="fr-FR" altLang="fr-FR"/>
              <a:t>Calcul des besoins</a:t>
            </a:r>
          </a:p>
        </p:txBody>
      </p:sp>
      <p:grpSp>
        <p:nvGrpSpPr>
          <p:cNvPr id="2" name="Group 124"/>
          <p:cNvGrpSpPr>
            <a:grpSpLocks/>
          </p:cNvGrpSpPr>
          <p:nvPr/>
        </p:nvGrpSpPr>
        <p:grpSpPr bwMode="auto">
          <a:xfrm>
            <a:off x="131763" y="565150"/>
            <a:ext cx="3348037" cy="938213"/>
            <a:chOff x="83" y="356"/>
            <a:chExt cx="2109" cy="591"/>
          </a:xfrm>
        </p:grpSpPr>
        <p:sp>
          <p:nvSpPr>
            <p:cNvPr id="46103" name="AutoShape 109"/>
            <p:cNvSpPr>
              <a:spLocks/>
            </p:cNvSpPr>
            <p:nvPr/>
          </p:nvSpPr>
          <p:spPr bwMode="auto">
            <a:xfrm>
              <a:off x="83" y="356"/>
              <a:ext cx="1496" cy="306"/>
            </a:xfrm>
            <a:prstGeom prst="borderCallout2">
              <a:avLst>
                <a:gd name="adj1" fmla="val 23528"/>
                <a:gd name="adj2" fmla="val 103208"/>
                <a:gd name="adj3" fmla="val 23528"/>
                <a:gd name="adj4" fmla="val 103208"/>
                <a:gd name="adj5" fmla="val 155884"/>
                <a:gd name="adj6" fmla="val 12366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votre programme de production de produits finis</a:t>
              </a:r>
            </a:p>
          </p:txBody>
        </p:sp>
        <p:sp>
          <p:nvSpPr>
            <p:cNvPr id="46104" name="Oval 111"/>
            <p:cNvSpPr>
              <a:spLocks noChangeArrowheads="1"/>
            </p:cNvSpPr>
            <p:nvPr/>
          </p:nvSpPr>
          <p:spPr bwMode="auto">
            <a:xfrm>
              <a:off x="1959" y="814"/>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 name="Group 128"/>
          <p:cNvGrpSpPr>
            <a:grpSpLocks/>
          </p:cNvGrpSpPr>
          <p:nvPr/>
        </p:nvGrpSpPr>
        <p:grpSpPr bwMode="auto">
          <a:xfrm>
            <a:off x="122238" y="1346200"/>
            <a:ext cx="3367087" cy="3409950"/>
            <a:chOff x="77" y="848"/>
            <a:chExt cx="2121" cy="2148"/>
          </a:xfrm>
        </p:grpSpPr>
        <p:grpSp>
          <p:nvGrpSpPr>
            <p:cNvPr id="46098" name="Group 125"/>
            <p:cNvGrpSpPr>
              <a:grpSpLocks/>
            </p:cNvGrpSpPr>
            <p:nvPr/>
          </p:nvGrpSpPr>
          <p:grpSpPr bwMode="auto">
            <a:xfrm>
              <a:off x="77" y="848"/>
              <a:ext cx="2104" cy="432"/>
              <a:chOff x="77" y="848"/>
              <a:chExt cx="2104" cy="432"/>
            </a:xfrm>
          </p:grpSpPr>
          <p:sp>
            <p:nvSpPr>
              <p:cNvPr id="46101" name="AutoShape 112"/>
              <p:cNvSpPr>
                <a:spLocks/>
              </p:cNvSpPr>
              <p:nvPr/>
            </p:nvSpPr>
            <p:spPr bwMode="auto">
              <a:xfrm>
                <a:off x="77" y="848"/>
                <a:ext cx="1496" cy="306"/>
              </a:xfrm>
              <a:prstGeom prst="borderCallout2">
                <a:avLst>
                  <a:gd name="adj1" fmla="val 23528"/>
                  <a:gd name="adj2" fmla="val 103208"/>
                  <a:gd name="adj3" fmla="val 23528"/>
                  <a:gd name="adj4" fmla="val 103208"/>
                  <a:gd name="adj5" fmla="val 105556"/>
                  <a:gd name="adj6" fmla="val 126671"/>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Reportez ici les besoins de pièces qui en résultent</a:t>
                </a:r>
              </a:p>
            </p:txBody>
          </p:sp>
          <p:sp>
            <p:nvSpPr>
              <p:cNvPr id="46102" name="Oval 115"/>
              <p:cNvSpPr>
                <a:spLocks noChangeArrowheads="1"/>
              </p:cNvSpPr>
              <p:nvPr/>
            </p:nvSpPr>
            <p:spPr bwMode="auto">
              <a:xfrm>
                <a:off x="1948" y="1147"/>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6099" name="Oval 116"/>
            <p:cNvSpPr>
              <a:spLocks noChangeArrowheads="1"/>
            </p:cNvSpPr>
            <p:nvPr/>
          </p:nvSpPr>
          <p:spPr bwMode="auto">
            <a:xfrm>
              <a:off x="1959" y="1839"/>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100" name="Oval 117"/>
            <p:cNvSpPr>
              <a:spLocks noChangeArrowheads="1"/>
            </p:cNvSpPr>
            <p:nvPr/>
          </p:nvSpPr>
          <p:spPr bwMode="auto">
            <a:xfrm>
              <a:off x="1965" y="2863"/>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126"/>
          <p:cNvGrpSpPr>
            <a:grpSpLocks/>
          </p:cNvGrpSpPr>
          <p:nvPr/>
        </p:nvGrpSpPr>
        <p:grpSpPr bwMode="auto">
          <a:xfrm>
            <a:off x="2397125" y="1362075"/>
            <a:ext cx="6592888" cy="917575"/>
            <a:chOff x="1510" y="858"/>
            <a:chExt cx="4153" cy="578"/>
          </a:xfrm>
        </p:grpSpPr>
        <p:sp>
          <p:nvSpPr>
            <p:cNvPr id="46094" name="AutoShape 113"/>
            <p:cNvSpPr>
              <a:spLocks/>
            </p:cNvSpPr>
            <p:nvPr/>
          </p:nvSpPr>
          <p:spPr bwMode="auto">
            <a:xfrm>
              <a:off x="4859" y="858"/>
              <a:ext cx="804" cy="578"/>
            </a:xfrm>
            <a:prstGeom prst="borderCallout2">
              <a:avLst>
                <a:gd name="adj1" fmla="val 12458"/>
                <a:gd name="adj2" fmla="val -5972"/>
                <a:gd name="adj3" fmla="val 12458"/>
                <a:gd name="adj4" fmla="val -5972"/>
                <a:gd name="adj5" fmla="val 55019"/>
                <a:gd name="adj6" fmla="val -2773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le total des besoins par type de pièce</a:t>
              </a:r>
            </a:p>
          </p:txBody>
        </p:sp>
        <p:sp>
          <p:nvSpPr>
            <p:cNvPr id="46095" name="Oval 118"/>
            <p:cNvSpPr>
              <a:spLocks noChangeArrowheads="1"/>
            </p:cNvSpPr>
            <p:nvPr/>
          </p:nvSpPr>
          <p:spPr bwMode="auto">
            <a:xfrm>
              <a:off x="1510" y="1142"/>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096" name="Oval 119"/>
            <p:cNvSpPr>
              <a:spLocks noChangeArrowheads="1"/>
            </p:cNvSpPr>
            <p:nvPr/>
          </p:nvSpPr>
          <p:spPr bwMode="auto">
            <a:xfrm>
              <a:off x="2374" y="1142"/>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097" name="Oval 120"/>
            <p:cNvSpPr>
              <a:spLocks noChangeArrowheads="1"/>
            </p:cNvSpPr>
            <p:nvPr/>
          </p:nvSpPr>
          <p:spPr bwMode="auto">
            <a:xfrm>
              <a:off x="4296" y="1147"/>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 name="Group 127"/>
          <p:cNvGrpSpPr>
            <a:grpSpLocks/>
          </p:cNvGrpSpPr>
          <p:nvPr/>
        </p:nvGrpSpPr>
        <p:grpSpPr bwMode="auto">
          <a:xfrm>
            <a:off x="2416175" y="5564188"/>
            <a:ext cx="5076825" cy="690562"/>
            <a:chOff x="1510" y="3517"/>
            <a:chExt cx="3289" cy="412"/>
          </a:xfrm>
        </p:grpSpPr>
        <p:sp>
          <p:nvSpPr>
            <p:cNvPr id="46090" name="AutoShape 114"/>
            <p:cNvSpPr>
              <a:spLocks/>
            </p:cNvSpPr>
            <p:nvPr/>
          </p:nvSpPr>
          <p:spPr bwMode="auto">
            <a:xfrm>
              <a:off x="2882" y="3517"/>
              <a:ext cx="1917" cy="412"/>
            </a:xfrm>
            <a:prstGeom prst="borderCallout2">
              <a:avLst>
                <a:gd name="adj1" fmla="val 17477"/>
                <a:gd name="adj2" fmla="val -2505"/>
                <a:gd name="adj3" fmla="val 17477"/>
                <a:gd name="adj4" fmla="val -2505"/>
                <a:gd name="adj5" fmla="val 36653"/>
                <a:gd name="adj6" fmla="val -9079"/>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Complétez le calcul des couronnes phase A </a:t>
              </a:r>
              <a:r>
                <a:rPr lang="fr-FR" altLang="fr-FR" sz="1400" b="1">
                  <a:solidFill>
                    <a:schemeClr val="tx1"/>
                  </a:solidFill>
                </a:rPr>
                <a:t>blanches</a:t>
              </a:r>
              <a:r>
                <a:rPr lang="fr-FR" altLang="fr-FR" sz="1300">
                  <a:solidFill>
                    <a:schemeClr val="tx1"/>
                  </a:solidFill>
                </a:rPr>
                <a:t> en ajoutant les besoins en pièces détachées.</a:t>
              </a:r>
            </a:p>
          </p:txBody>
        </p:sp>
        <p:sp>
          <p:nvSpPr>
            <p:cNvPr id="46091" name="Oval 121"/>
            <p:cNvSpPr>
              <a:spLocks noChangeArrowheads="1"/>
            </p:cNvSpPr>
            <p:nvPr/>
          </p:nvSpPr>
          <p:spPr bwMode="auto">
            <a:xfrm>
              <a:off x="2402" y="3634"/>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092" name="Oval 122"/>
            <p:cNvSpPr>
              <a:spLocks noChangeArrowheads="1"/>
            </p:cNvSpPr>
            <p:nvPr/>
          </p:nvSpPr>
          <p:spPr bwMode="auto">
            <a:xfrm>
              <a:off x="1953" y="3645"/>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6093" name="Oval 123"/>
            <p:cNvSpPr>
              <a:spLocks noChangeArrowheads="1"/>
            </p:cNvSpPr>
            <p:nvPr/>
          </p:nvSpPr>
          <p:spPr bwMode="auto">
            <a:xfrm>
              <a:off x="1510" y="3639"/>
              <a:ext cx="233" cy="133"/>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box(in)">
                                      <p:cBhvr>
                                        <p:cTn id="12" dur="5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box(in)">
                                      <p:cBhvr>
                                        <p:cTn id="17" dur="500"/>
                                        <p:tgtEl>
                                          <p:spTgt spid="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box(in)">
                                      <p:cBhvr>
                                        <p:cTn id="2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p:cNvSpPr>
            <a:spLocks noGrp="1" noChangeArrowheads="1"/>
          </p:cNvSpPr>
          <p:nvPr>
            <p:ph type="title"/>
          </p:nvPr>
        </p:nvSpPr>
        <p:spPr/>
        <p:txBody>
          <a:bodyPr/>
          <a:lstStyle/>
          <a:p>
            <a:pPr eaLnBrk="1" hangingPunct="1"/>
            <a:r>
              <a:rPr lang="fr-FR" altLang="fr-FR"/>
              <a:t>Les informations</a:t>
            </a:r>
          </a:p>
        </p:txBody>
      </p:sp>
      <p:sp>
        <p:nvSpPr>
          <p:cNvPr id="47107" name="Rectangle 3"/>
          <p:cNvSpPr>
            <a:spLocks noGrp="1" noChangeArrowheads="1"/>
          </p:cNvSpPr>
          <p:nvPr>
            <p:ph type="body" idx="1"/>
          </p:nvPr>
        </p:nvSpPr>
        <p:spPr/>
        <p:txBody>
          <a:bodyPr/>
          <a:lstStyle/>
          <a:p>
            <a:pPr eaLnBrk="1" hangingPunct="1">
              <a:lnSpc>
                <a:spcPct val="120000"/>
              </a:lnSpc>
            </a:pPr>
            <a:r>
              <a:rPr lang="fr-FR" altLang="fr-FR"/>
              <a:t>Vous avez besoin d’informations ? Demandez-les à l’animateur. </a:t>
            </a:r>
          </a:p>
          <a:p>
            <a:pPr eaLnBrk="1" hangingPunct="1">
              <a:lnSpc>
                <a:spcPct val="120000"/>
              </a:lnSpc>
            </a:pPr>
            <a:r>
              <a:rPr lang="fr-FR" altLang="fr-FR"/>
              <a:t>Il vous les donnera (s’il les a …) à condition toutefois d’indiquer précisément celles</a:t>
            </a:r>
            <a:r>
              <a:rPr lang="fr-FR" altLang="fr-FR">
                <a:solidFill>
                  <a:srgbClr val="FC2C1C"/>
                </a:solidFill>
              </a:rPr>
              <a:t> </a:t>
            </a:r>
            <a:r>
              <a:rPr lang="fr-FR" altLang="fr-FR"/>
              <a:t>que vous voulez.</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p:cNvSpPr>
            <a:spLocks noGrp="1" noChangeArrowheads="1"/>
          </p:cNvSpPr>
          <p:nvPr>
            <p:ph type="title"/>
          </p:nvPr>
        </p:nvSpPr>
        <p:spPr/>
        <p:txBody>
          <a:bodyPr/>
          <a:lstStyle/>
          <a:p>
            <a:pPr eaLnBrk="1" hangingPunct="1"/>
            <a:r>
              <a:rPr lang="fr-FR" altLang="fr-FR"/>
              <a:t>Conseils pour la phase de préparation</a:t>
            </a:r>
          </a:p>
        </p:txBody>
      </p:sp>
      <p:sp>
        <p:nvSpPr>
          <p:cNvPr id="48131" name="Rectangle 3"/>
          <p:cNvSpPr>
            <a:spLocks noGrp="1" noChangeArrowheads="1"/>
          </p:cNvSpPr>
          <p:nvPr>
            <p:ph type="body" idx="1"/>
          </p:nvPr>
        </p:nvSpPr>
        <p:spPr>
          <a:xfrm>
            <a:off x="320675" y="1008063"/>
            <a:ext cx="8609013" cy="5505450"/>
          </a:xfrm>
        </p:spPr>
        <p:txBody>
          <a:bodyPr/>
          <a:lstStyle/>
          <a:p>
            <a:pPr marL="381000" indent="-381000" eaLnBrk="1" hangingPunct="1"/>
            <a:r>
              <a:rPr lang="fr-FR" altLang="fr-FR" sz="1400"/>
              <a:t>L’animateur jugera s’il doit laisser les participants plus ou moins libres d’organiser leur travail. </a:t>
            </a:r>
            <a:br>
              <a:rPr lang="fr-FR" altLang="fr-FR" sz="1400"/>
            </a:br>
            <a:r>
              <a:rPr lang="fr-FR" altLang="fr-FR" sz="1400"/>
              <a:t>En cas de besoin il pourra les guider en les conseillant de :</a:t>
            </a:r>
          </a:p>
          <a:p>
            <a:pPr marL="381000" indent="-381000" eaLnBrk="1" hangingPunct="1">
              <a:buFontTx/>
              <a:buAutoNum type="arabicPeriod"/>
            </a:pPr>
            <a:r>
              <a:rPr lang="fr-FR" altLang="fr-FR" sz="1400"/>
              <a:t>Calculer les besoins en composants en fonction des prévisions de vente.</a:t>
            </a:r>
          </a:p>
          <a:p>
            <a:pPr marL="865188" lvl="1" indent="-342900" eaLnBrk="1" hangingPunct="1"/>
            <a:r>
              <a:rPr lang="fr-FR" altLang="fr-FR" sz="1400"/>
              <a:t>Utiliser la feuille CB.</a:t>
            </a:r>
          </a:p>
          <a:p>
            <a:pPr marL="381000" indent="-381000" eaLnBrk="1" hangingPunct="1">
              <a:buFontTx/>
              <a:buAutoNum type="arabicPeriod"/>
            </a:pPr>
            <a:r>
              <a:rPr lang="fr-FR" altLang="fr-FR" sz="1400"/>
              <a:t>Vérifier que les postes (montage, carters, etc.) sont capables de traiter ce programme.</a:t>
            </a:r>
          </a:p>
          <a:p>
            <a:pPr marL="865188" lvl="1" indent="-342900" eaLnBrk="1" hangingPunct="1"/>
            <a:r>
              <a:rPr lang="fr-FR" altLang="fr-FR" sz="1400"/>
              <a:t>Calculer le temps nécessaire à la réalisation du programme</a:t>
            </a:r>
          </a:p>
          <a:p>
            <a:pPr marL="865188" lvl="1" indent="-342900" eaLnBrk="1" hangingPunct="1"/>
            <a:r>
              <a:rPr lang="fr-FR" altLang="fr-FR" sz="1400"/>
              <a:t>Prévoir les pertes de temps dus aux incidents (voir fiche Statistique d’incidents)</a:t>
            </a:r>
          </a:p>
          <a:p>
            <a:pPr marL="865188" lvl="1" indent="-342900" eaLnBrk="1" hangingPunct="1"/>
            <a:r>
              <a:rPr lang="fr-FR" altLang="fr-FR" sz="1400"/>
              <a:t>Prévoir les pertes de temps pour les changements de série (mais ce point est relié au suivant).</a:t>
            </a:r>
          </a:p>
          <a:p>
            <a:pPr marL="865188" lvl="1" indent="-342900" eaLnBrk="1" hangingPunct="1"/>
            <a:r>
              <a:rPr lang="fr-FR" altLang="fr-FR" sz="1400"/>
              <a:t>La taille des séries doit tenir compte du calcul de capacité : mis à part pour les Couronnes, il n’est pas possible de faire un grand nombre de changements. En pratique, il faut noter toutefois que la machine étant déjà réglée pour la première référence, on économise un changement. C’est ce qui permet d’avoir un équilibre charge / capacité satisfaisant pour les Engrenages et les Carters avec un seul changement de série. </a:t>
            </a:r>
          </a:p>
          <a:p>
            <a:pPr marL="381000" indent="-381000" eaLnBrk="1" hangingPunct="1">
              <a:buFontTx/>
              <a:buAutoNum type="arabicPeriod"/>
            </a:pPr>
            <a:r>
              <a:rPr lang="fr-FR" altLang="fr-FR" sz="1400"/>
              <a:t>Fixer le programme de montage.</a:t>
            </a:r>
          </a:p>
          <a:p>
            <a:pPr marL="865188" lvl="1" indent="-342900" eaLnBrk="1" hangingPunct="1"/>
            <a:r>
              <a:rPr lang="fr-FR" altLang="fr-FR" sz="1400"/>
              <a:t>Il dépend du stock initial de produits finis. Il faut commencer par la référence dont le stock est le plus faible, ou plus précisément celle dont le ratio stock / besoins est le plus faible.</a:t>
            </a:r>
          </a:p>
          <a:p>
            <a:pPr marL="381000" indent="-381000" eaLnBrk="1" hangingPunct="1">
              <a:buFontTx/>
              <a:buAutoNum type="arabicPeriod"/>
            </a:pPr>
            <a:r>
              <a:rPr lang="fr-FR" altLang="fr-FR" sz="1400"/>
              <a:t>En fonction des besoins du montage fixer le programmes d’usinage.</a:t>
            </a:r>
          </a:p>
          <a:p>
            <a:pPr marL="865188" lvl="1" indent="-342900" eaLnBrk="1" hangingPunct="1"/>
            <a:r>
              <a:rPr lang="fr-FR" altLang="fr-FR" sz="1400"/>
              <a:t>Il faut tenir compte de deux facteurs : 1) commencer par la référence qui est demandée par le montage en premier, et 2) tenir compte du stock existant.</a:t>
            </a:r>
          </a:p>
          <a:p>
            <a:pPr marL="381000" indent="-381000" eaLnBrk="1" hangingPunct="1"/>
            <a:r>
              <a:rPr lang="fr-FR" altLang="fr-FR" sz="1400"/>
              <a:t>On se rend compte que l’optimisation de ce calcul n’est pas si simple (il y a des logiciels pour cela !). </a:t>
            </a:r>
            <a:br>
              <a:rPr lang="fr-FR" altLang="fr-FR" sz="1400"/>
            </a:br>
            <a:r>
              <a:rPr lang="fr-FR" altLang="fr-FR" sz="1400"/>
              <a:t>En pratique, l’animateur laissera les participants tâtonner un certain temps pour qu’ils arrivent à une solution qui n’est pas nécessairement optimale.</a:t>
            </a:r>
            <a:br>
              <a:rPr lang="fr-FR" altLang="fr-FR" sz="1400"/>
            </a:br>
            <a:r>
              <a:rPr lang="fr-FR" altLang="fr-FR" sz="1400"/>
              <a:t>Pour éviter que cette phase se prolonge, il enclenchera la minuterie sur une durée de 40 minutes.</a:t>
            </a:r>
          </a:p>
        </p:txBody>
      </p:sp>
      <p:pic>
        <p:nvPicPr>
          <p:cNvPr id="7"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27A8E0"/>
        </a:solidFill>
        <a:effectLst/>
      </p:bgPr>
    </p:bg>
    <p:spTree>
      <p:nvGrpSpPr>
        <p:cNvPr id="1" name=""/>
        <p:cNvGrpSpPr/>
        <p:nvPr/>
      </p:nvGrpSpPr>
      <p:grpSpPr>
        <a:xfrm>
          <a:off x="0" y="0"/>
          <a:ext cx="0" cy="0"/>
          <a:chOff x="0" y="0"/>
          <a:chExt cx="0" cy="0"/>
        </a:xfrm>
      </p:grpSpPr>
      <p:sp>
        <p:nvSpPr>
          <p:cNvPr id="49154" name="Rectangle 2"/>
          <p:cNvSpPr>
            <a:spLocks noGrp="1" noChangeArrowheads="1"/>
          </p:cNvSpPr>
          <p:nvPr>
            <p:ph type="ctrTitle" idx="4294967295"/>
          </p:nvPr>
        </p:nvSpPr>
        <p:spPr>
          <a:xfrm>
            <a:off x="704850" y="1905000"/>
            <a:ext cx="7772400" cy="636588"/>
          </a:xfrm>
          <a:noFill/>
        </p:spPr>
        <p:txBody>
          <a:bodyPr/>
          <a:lstStyle/>
          <a:p>
            <a:pPr eaLnBrk="1" hangingPunct="1"/>
            <a:r>
              <a:rPr lang="fr-FR" altLang="fr-FR" b="1">
                <a:solidFill>
                  <a:schemeClr val="bg1"/>
                </a:solidFill>
              </a:rPr>
              <a:t>Début de la simulation</a:t>
            </a:r>
          </a:p>
        </p:txBody>
      </p:sp>
      <p:grpSp>
        <p:nvGrpSpPr>
          <p:cNvPr id="49155" name="Group 4"/>
          <p:cNvGrpSpPr>
            <a:grpSpLocks/>
          </p:cNvGrpSpPr>
          <p:nvPr/>
        </p:nvGrpSpPr>
        <p:grpSpPr bwMode="auto">
          <a:xfrm rot="-223274">
            <a:off x="3778250" y="3570288"/>
            <a:ext cx="1058863" cy="1042987"/>
            <a:chOff x="2757" y="1666"/>
            <a:chExt cx="812" cy="800"/>
          </a:xfrm>
        </p:grpSpPr>
        <p:sp>
          <p:nvSpPr>
            <p:cNvPr id="49174" name="Freeform 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75" name="Freeform 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9176" name="Line 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9177" name="Freeform 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78" name="Freeform 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9179" name="AutoShape 1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9156" name="Group 11"/>
          <p:cNvGrpSpPr>
            <a:grpSpLocks/>
          </p:cNvGrpSpPr>
          <p:nvPr/>
        </p:nvGrpSpPr>
        <p:grpSpPr bwMode="auto">
          <a:xfrm rot="-223274">
            <a:off x="3760788" y="3260725"/>
            <a:ext cx="1058862" cy="1042988"/>
            <a:chOff x="2757" y="1666"/>
            <a:chExt cx="812" cy="800"/>
          </a:xfrm>
        </p:grpSpPr>
        <p:sp>
          <p:nvSpPr>
            <p:cNvPr id="49168" name="Freeform 1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69" name="Freeform 1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9170" name="Line 1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9171" name="Freeform 1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72" name="Freeform 1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9173" name="AutoShape 1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9157" name="Group 18"/>
          <p:cNvGrpSpPr>
            <a:grpSpLocks/>
          </p:cNvGrpSpPr>
          <p:nvPr/>
        </p:nvGrpSpPr>
        <p:grpSpPr bwMode="auto">
          <a:xfrm rot="-223274">
            <a:off x="3727450" y="2957513"/>
            <a:ext cx="1058863" cy="1042987"/>
            <a:chOff x="2757" y="1666"/>
            <a:chExt cx="812" cy="800"/>
          </a:xfrm>
        </p:grpSpPr>
        <p:sp>
          <p:nvSpPr>
            <p:cNvPr id="49162" name="Freeform 1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63" name="Freeform 2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49164" name="Line 2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9165" name="Freeform 2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49166" name="Freeform 2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49167" name="AutoShape 2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49158" name="AutoShape 25"/>
          <p:cNvSpPr>
            <a:spLocks noChangeArrowheads="1"/>
          </p:cNvSpPr>
          <p:nvPr/>
        </p:nvSpPr>
        <p:spPr bwMode="auto">
          <a:xfrm rot="669280">
            <a:off x="3968750" y="3335338"/>
            <a:ext cx="307975" cy="228600"/>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9159" name="AutoShape 26"/>
          <p:cNvSpPr>
            <a:spLocks noChangeArrowheads="1"/>
          </p:cNvSpPr>
          <p:nvPr/>
        </p:nvSpPr>
        <p:spPr bwMode="auto">
          <a:xfrm rot="2337505">
            <a:off x="4164013" y="3236913"/>
            <a:ext cx="280987" cy="422275"/>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49160" name="Oval 27"/>
          <p:cNvSpPr>
            <a:spLocks noChangeArrowheads="1"/>
          </p:cNvSpPr>
          <p:nvPr/>
        </p:nvSpPr>
        <p:spPr bwMode="auto">
          <a:xfrm rot="575549">
            <a:off x="4202113" y="3424238"/>
            <a:ext cx="260350" cy="246062"/>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179" name="Group 149"/>
          <p:cNvGrpSpPr>
            <a:grpSpLocks/>
          </p:cNvGrpSpPr>
          <p:nvPr/>
        </p:nvGrpSpPr>
        <p:grpSpPr bwMode="auto">
          <a:xfrm>
            <a:off x="7073900" y="215900"/>
            <a:ext cx="1878013" cy="1250950"/>
            <a:chOff x="4456" y="136"/>
            <a:chExt cx="1183" cy="788"/>
          </a:xfrm>
        </p:grpSpPr>
        <p:grpSp>
          <p:nvGrpSpPr>
            <p:cNvPr id="50278" name="Group 150"/>
            <p:cNvGrpSpPr>
              <a:grpSpLocks/>
            </p:cNvGrpSpPr>
            <p:nvPr/>
          </p:nvGrpSpPr>
          <p:grpSpPr bwMode="auto">
            <a:xfrm>
              <a:off x="4766" y="232"/>
              <a:ext cx="873" cy="692"/>
              <a:chOff x="2185" y="310"/>
              <a:chExt cx="873" cy="692"/>
            </a:xfrm>
          </p:grpSpPr>
          <p:sp>
            <p:nvSpPr>
              <p:cNvPr id="50289" name="Freeform 151"/>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0" name="Freeform 152"/>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1" name="Freeform 153"/>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2" name="Freeform 154"/>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3" name="Freeform 155"/>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4" name="Freeform 156"/>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95" name="Freeform 157"/>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0279" name="Group 158"/>
            <p:cNvGrpSpPr>
              <a:grpSpLocks/>
            </p:cNvGrpSpPr>
            <p:nvPr/>
          </p:nvGrpSpPr>
          <p:grpSpPr bwMode="auto">
            <a:xfrm>
              <a:off x="4949" y="336"/>
              <a:ext cx="591" cy="468"/>
              <a:chOff x="2185" y="310"/>
              <a:chExt cx="873" cy="692"/>
            </a:xfrm>
          </p:grpSpPr>
          <p:sp>
            <p:nvSpPr>
              <p:cNvPr id="50282" name="Freeform 159"/>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3" name="Freeform 160"/>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4" name="Freeform 161"/>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5" name="Freeform 162"/>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6" name="Freeform 163"/>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7" name="Freeform 164"/>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88" name="Freeform 165"/>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0280" name="Picture 166"/>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281" name="Text Box 167"/>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a:t>
              </a:r>
              <a:endParaRPr lang="fr-FR" altLang="fr-FR" sz="3200">
                <a:solidFill>
                  <a:schemeClr val="tx1"/>
                </a:solidFill>
                <a:latin typeface="Arial Black" pitchFamily="34" charset="0"/>
              </a:endParaRPr>
            </a:p>
          </p:txBody>
        </p:sp>
      </p:grpSp>
      <p:sp>
        <p:nvSpPr>
          <p:cNvPr id="50180" name="Rectangle 197"/>
          <p:cNvSpPr>
            <a:spLocks noGrp="1" noChangeArrowheads="1"/>
          </p:cNvSpPr>
          <p:nvPr>
            <p:ph type="title"/>
          </p:nvPr>
        </p:nvSpPr>
        <p:spPr>
          <a:xfrm>
            <a:off x="611188" y="0"/>
            <a:ext cx="6388100" cy="647700"/>
          </a:xfrm>
        </p:spPr>
        <p:txBody>
          <a:bodyPr/>
          <a:lstStyle/>
          <a:p>
            <a:pPr eaLnBrk="1" hangingPunct="1"/>
            <a:r>
              <a:rPr lang="fr-FR" altLang="fr-FR" dirty="0"/>
              <a:t>Sem. 1 - Lundi (St Léonard)</a:t>
            </a:r>
          </a:p>
        </p:txBody>
      </p:sp>
      <p:sp>
        <p:nvSpPr>
          <p:cNvPr id="200910" name="Text Box 20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 name="Group 298"/>
          <p:cNvGrpSpPr>
            <a:grpSpLocks/>
          </p:cNvGrpSpPr>
          <p:nvPr/>
        </p:nvGrpSpPr>
        <p:grpSpPr bwMode="auto">
          <a:xfrm>
            <a:off x="566738" y="1106488"/>
            <a:ext cx="2722562" cy="534987"/>
            <a:chOff x="357" y="697"/>
            <a:chExt cx="1715" cy="337"/>
          </a:xfrm>
        </p:grpSpPr>
        <p:sp>
          <p:nvSpPr>
            <p:cNvPr id="50225" name="Text Box 205"/>
            <p:cNvSpPr txBox="1">
              <a:spLocks noChangeArrowheads="1"/>
            </p:cNvSpPr>
            <p:nvPr/>
          </p:nvSpPr>
          <p:spPr bwMode="auto">
            <a:xfrm>
              <a:off x="357" y="727"/>
              <a:ext cx="122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grpSp>
          <p:nvGrpSpPr>
            <p:cNvPr id="50226" name="Group 208"/>
            <p:cNvGrpSpPr>
              <a:grpSpLocks/>
            </p:cNvGrpSpPr>
            <p:nvPr/>
          </p:nvGrpSpPr>
          <p:grpSpPr bwMode="auto">
            <a:xfrm>
              <a:off x="1791" y="697"/>
              <a:ext cx="281" cy="337"/>
              <a:chOff x="868" y="1439"/>
              <a:chExt cx="811" cy="972"/>
            </a:xfrm>
          </p:grpSpPr>
          <p:sp>
            <p:nvSpPr>
              <p:cNvPr id="50227" name="Freeform 209"/>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28" name="Freeform 210"/>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29" name="Freeform 211"/>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0" name="Freeform 212"/>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1" name="Freeform 213"/>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2" name="Freeform 214"/>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3" name="Freeform 215"/>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4" name="Freeform 216"/>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5" name="Freeform 217"/>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6" name="Freeform 218"/>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7" name="Freeform 219"/>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8" name="Freeform 220"/>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39" name="Freeform 221"/>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0" name="Freeform 222"/>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1" name="Freeform 223"/>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2" name="Freeform 224"/>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3" name="Freeform 225"/>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4" name="Freeform 226"/>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5" name="Freeform 227"/>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6" name="Freeform 228"/>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7" name="Freeform 229"/>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8" name="Freeform 230"/>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49" name="Freeform 231"/>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0" name="Freeform 232"/>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1" name="Freeform 233"/>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2" name="Freeform 234"/>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3" name="Freeform 235"/>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4" name="Freeform 236"/>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5" name="Freeform 237"/>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6" name="Freeform 238"/>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7" name="Freeform 239"/>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8" name="Freeform 240"/>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59" name="Freeform 241"/>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0" name="Freeform 242"/>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1" name="Freeform 243"/>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2" name="Freeform 244"/>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3" name="Freeform 245"/>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4" name="Freeform 246"/>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5" name="Freeform 247"/>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6" name="Freeform 248"/>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7" name="Freeform 249"/>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8" name="Freeform 250"/>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69" name="Freeform 251"/>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0" name="Freeform 252"/>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1" name="Freeform 253"/>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2" name="Freeform 254"/>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3" name="Freeform 255"/>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4" name="Freeform 256"/>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5" name="Freeform 257"/>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6" name="Freeform 258"/>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0277" name="Freeform 259"/>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grpSp>
        <p:nvGrpSpPr>
          <p:cNvPr id="7" name="Group 299"/>
          <p:cNvGrpSpPr>
            <a:grpSpLocks/>
          </p:cNvGrpSpPr>
          <p:nvPr/>
        </p:nvGrpSpPr>
        <p:grpSpPr bwMode="auto">
          <a:xfrm>
            <a:off x="574675" y="2030413"/>
            <a:ext cx="4471988" cy="2127250"/>
            <a:chOff x="362" y="1279"/>
            <a:chExt cx="2817" cy="1340"/>
          </a:xfrm>
        </p:grpSpPr>
        <p:sp>
          <p:nvSpPr>
            <p:cNvPr id="50186" name="Text Box 168"/>
            <p:cNvSpPr txBox="1">
              <a:spLocks noChangeArrowheads="1"/>
            </p:cNvSpPr>
            <p:nvPr/>
          </p:nvSpPr>
          <p:spPr bwMode="auto">
            <a:xfrm>
              <a:off x="889" y="2331"/>
              <a:ext cx="52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sp>
          <p:nvSpPr>
            <p:cNvPr id="50187" name="Text Box 170"/>
            <p:cNvSpPr txBox="1">
              <a:spLocks noChangeArrowheads="1"/>
            </p:cNvSpPr>
            <p:nvPr/>
          </p:nvSpPr>
          <p:spPr bwMode="auto">
            <a:xfrm>
              <a:off x="1749" y="2331"/>
              <a:ext cx="52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50188" name="Text Box 171"/>
            <p:cNvSpPr txBox="1">
              <a:spLocks noChangeArrowheads="1"/>
            </p:cNvSpPr>
            <p:nvPr/>
          </p:nvSpPr>
          <p:spPr bwMode="auto">
            <a:xfrm>
              <a:off x="2657" y="2325"/>
              <a:ext cx="52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R4</a:t>
              </a:r>
            </a:p>
          </p:txBody>
        </p:sp>
        <p:sp>
          <p:nvSpPr>
            <p:cNvPr id="50189" name="Text Box 198"/>
            <p:cNvSpPr txBox="1">
              <a:spLocks noChangeArrowheads="1"/>
            </p:cNvSpPr>
            <p:nvPr/>
          </p:nvSpPr>
          <p:spPr bwMode="auto">
            <a:xfrm>
              <a:off x="362" y="1279"/>
              <a:ext cx="224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grpSp>
          <p:nvGrpSpPr>
            <p:cNvPr id="50190" name="Group 261"/>
            <p:cNvGrpSpPr>
              <a:grpSpLocks/>
            </p:cNvGrpSpPr>
            <p:nvPr/>
          </p:nvGrpSpPr>
          <p:grpSpPr bwMode="auto">
            <a:xfrm rot="-223274">
              <a:off x="901" y="1861"/>
              <a:ext cx="469" cy="462"/>
              <a:chOff x="2757" y="1666"/>
              <a:chExt cx="812" cy="800"/>
            </a:xfrm>
          </p:grpSpPr>
          <p:sp>
            <p:nvSpPr>
              <p:cNvPr id="50219" name="Freeform 26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20" name="Freeform 26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0221" name="Line 26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222" name="Freeform 26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23" name="Freeform 26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0224" name="AutoShape 26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0191" name="Group 268"/>
            <p:cNvGrpSpPr>
              <a:grpSpLocks/>
            </p:cNvGrpSpPr>
            <p:nvPr/>
          </p:nvGrpSpPr>
          <p:grpSpPr bwMode="auto">
            <a:xfrm rot="-223274">
              <a:off x="883" y="1697"/>
              <a:ext cx="469" cy="462"/>
              <a:chOff x="2757" y="1666"/>
              <a:chExt cx="812" cy="800"/>
            </a:xfrm>
          </p:grpSpPr>
          <p:sp>
            <p:nvSpPr>
              <p:cNvPr id="50213" name="Freeform 26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14" name="Freeform 27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0215" name="Line 27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216" name="Freeform 27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17" name="Freeform 27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0218" name="AutoShape 27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0192" name="Group 275"/>
            <p:cNvGrpSpPr>
              <a:grpSpLocks/>
            </p:cNvGrpSpPr>
            <p:nvPr/>
          </p:nvGrpSpPr>
          <p:grpSpPr bwMode="auto">
            <a:xfrm rot="-223274">
              <a:off x="1774" y="1872"/>
              <a:ext cx="469" cy="462"/>
              <a:chOff x="2757" y="1666"/>
              <a:chExt cx="812" cy="800"/>
            </a:xfrm>
          </p:grpSpPr>
          <p:sp>
            <p:nvSpPr>
              <p:cNvPr id="50207" name="Freeform 27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08" name="Freeform 27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0209" name="Line 27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210" name="Freeform 27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11" name="Freeform 28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0212" name="AutoShape 28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0193" name="Group 282"/>
            <p:cNvGrpSpPr>
              <a:grpSpLocks/>
            </p:cNvGrpSpPr>
            <p:nvPr/>
          </p:nvGrpSpPr>
          <p:grpSpPr bwMode="auto">
            <a:xfrm rot="-223274">
              <a:off x="2675" y="1870"/>
              <a:ext cx="469" cy="462"/>
              <a:chOff x="2757" y="1666"/>
              <a:chExt cx="812" cy="800"/>
            </a:xfrm>
          </p:grpSpPr>
          <p:sp>
            <p:nvSpPr>
              <p:cNvPr id="50201" name="Freeform 28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02" name="Freeform 28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0203" name="Line 28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204" name="Freeform 28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205" name="Freeform 28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0206" name="AutoShape 28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0194" name="Group 289"/>
            <p:cNvGrpSpPr>
              <a:grpSpLocks/>
            </p:cNvGrpSpPr>
            <p:nvPr/>
          </p:nvGrpSpPr>
          <p:grpSpPr bwMode="auto">
            <a:xfrm rot="-223274">
              <a:off x="2657" y="1706"/>
              <a:ext cx="469" cy="462"/>
              <a:chOff x="2757" y="1666"/>
              <a:chExt cx="812" cy="800"/>
            </a:xfrm>
          </p:grpSpPr>
          <p:sp>
            <p:nvSpPr>
              <p:cNvPr id="50195" name="Freeform 29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196" name="Freeform 29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0197" name="Line 29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0198" name="Freeform 29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0199" name="Freeform 29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0200" name="AutoShape 29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201000" name="Text Box 296"/>
          <p:cNvSpPr txBox="1">
            <a:spLocks noChangeArrowheads="1"/>
          </p:cNvSpPr>
          <p:nvPr/>
        </p:nvSpPr>
        <p:spPr bwMode="auto">
          <a:xfrm>
            <a:off x="566738" y="5316538"/>
            <a:ext cx="816292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(ou l’attente) sur votre feuille de suivi</a:t>
            </a:r>
          </a:p>
        </p:txBody>
      </p:sp>
      <p:sp>
        <p:nvSpPr>
          <p:cNvPr id="50185" name="AutoShape 297"/>
          <p:cNvSpPr>
            <a:spLocks noChangeArrowheads="1"/>
          </p:cNvSpPr>
          <p:nvPr/>
        </p:nvSpPr>
        <p:spPr bwMode="auto">
          <a:xfrm>
            <a:off x="4481513" y="6583363"/>
            <a:ext cx="527050" cy="246062"/>
          </a:xfrm>
          <a:prstGeom prst="downArrowCallout">
            <a:avLst>
              <a:gd name="adj1" fmla="val 53548"/>
              <a:gd name="adj2" fmla="val 53548"/>
              <a:gd name="adj3" fmla="val 16667"/>
              <a:gd name="adj4" fmla="val 66667"/>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ox(in)">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ox(in)">
                                      <p:cBhvr>
                                        <p:cTn id="12" dur="500"/>
                                        <p:tgtEl>
                                          <p:spTgt spid="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200910"/>
                                        </p:tgtEl>
                                        <p:attrNameLst>
                                          <p:attrName>style.visibility</p:attrName>
                                        </p:attrNameLst>
                                      </p:cBhvr>
                                      <p:to>
                                        <p:strVal val="visible"/>
                                      </p:to>
                                    </p:set>
                                    <p:animEffect transition="in" filter="box(in)">
                                      <p:cBhvr>
                                        <p:cTn id="17" dur="500"/>
                                        <p:tgtEl>
                                          <p:spTgt spid="20091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201000"/>
                                        </p:tgtEl>
                                        <p:attrNameLst>
                                          <p:attrName>style.visibility</p:attrName>
                                        </p:attrNameLst>
                                      </p:cBhvr>
                                      <p:to>
                                        <p:strVal val="visible"/>
                                      </p:to>
                                    </p:set>
                                    <p:animEffect transition="in" filter="box(in)">
                                      <p:cBhvr>
                                        <p:cTn id="22" dur="500"/>
                                        <p:tgtEl>
                                          <p:spTgt spid="2010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910" grpId="0"/>
      <p:bldP spid="201000"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202" name="Group 23"/>
          <p:cNvGrpSpPr>
            <a:grpSpLocks/>
          </p:cNvGrpSpPr>
          <p:nvPr/>
        </p:nvGrpSpPr>
        <p:grpSpPr bwMode="auto">
          <a:xfrm>
            <a:off x="7073900" y="215900"/>
            <a:ext cx="1878013" cy="1250950"/>
            <a:chOff x="4456" y="136"/>
            <a:chExt cx="1183" cy="788"/>
          </a:xfrm>
        </p:grpSpPr>
        <p:grpSp>
          <p:nvGrpSpPr>
            <p:cNvPr id="51262" name="Group 4"/>
            <p:cNvGrpSpPr>
              <a:grpSpLocks/>
            </p:cNvGrpSpPr>
            <p:nvPr/>
          </p:nvGrpSpPr>
          <p:grpSpPr bwMode="auto">
            <a:xfrm>
              <a:off x="4766" y="232"/>
              <a:ext cx="873" cy="692"/>
              <a:chOff x="2185" y="310"/>
              <a:chExt cx="873" cy="692"/>
            </a:xfrm>
          </p:grpSpPr>
          <p:sp>
            <p:nvSpPr>
              <p:cNvPr id="51273"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4"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5"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6"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7"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8"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9"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1263" name="Group 12"/>
            <p:cNvGrpSpPr>
              <a:grpSpLocks/>
            </p:cNvGrpSpPr>
            <p:nvPr/>
          </p:nvGrpSpPr>
          <p:grpSpPr bwMode="auto">
            <a:xfrm>
              <a:off x="4949" y="336"/>
              <a:ext cx="591" cy="468"/>
              <a:chOff x="2185" y="310"/>
              <a:chExt cx="873" cy="692"/>
            </a:xfrm>
          </p:grpSpPr>
          <p:sp>
            <p:nvSpPr>
              <p:cNvPr id="51266"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7"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8"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9"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0"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1"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72"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1264"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65"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a:t>
              </a:r>
              <a:endParaRPr lang="fr-FR" altLang="fr-FR" sz="3200">
                <a:solidFill>
                  <a:schemeClr val="tx1"/>
                </a:solidFill>
                <a:latin typeface="Arial Black" pitchFamily="34" charset="0"/>
              </a:endParaRPr>
            </a:p>
          </p:txBody>
        </p:sp>
      </p:grpSp>
      <p:sp>
        <p:nvSpPr>
          <p:cNvPr id="51204" name="Text Box 29"/>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1205" name="Text Box 30"/>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1206" name="Text Box 31"/>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1207" name="Group 33"/>
          <p:cNvGrpSpPr>
            <a:grpSpLocks/>
          </p:cNvGrpSpPr>
          <p:nvPr/>
        </p:nvGrpSpPr>
        <p:grpSpPr bwMode="auto">
          <a:xfrm>
            <a:off x="2986088" y="1306513"/>
            <a:ext cx="446087" cy="534987"/>
            <a:chOff x="868" y="1439"/>
            <a:chExt cx="811" cy="972"/>
          </a:xfrm>
        </p:grpSpPr>
        <p:sp>
          <p:nvSpPr>
            <p:cNvPr id="51211" name="Freeform 34"/>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2" name="Freeform 35"/>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3" name="Freeform 36"/>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4" name="Freeform 37"/>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5" name="Freeform 38"/>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6" name="Freeform 39"/>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7" name="Freeform 40"/>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8" name="Freeform 41"/>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19" name="Freeform 42"/>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0" name="Freeform 43"/>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1" name="Freeform 44"/>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2" name="Freeform 45"/>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3" name="Freeform 46"/>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4" name="Freeform 47"/>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5" name="Freeform 48"/>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6" name="Freeform 49"/>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7" name="Freeform 50"/>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8" name="Freeform 51"/>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29" name="Freeform 52"/>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0" name="Freeform 53"/>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1" name="Freeform 54"/>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2" name="Freeform 55"/>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3" name="Freeform 56"/>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4" name="Freeform 57"/>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5" name="Freeform 58"/>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6" name="Freeform 59"/>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7" name="Freeform 60"/>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8" name="Freeform 61"/>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39" name="Freeform 62"/>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0" name="Freeform 63"/>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1" name="Freeform 64"/>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2" name="Freeform 65"/>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3" name="Freeform 66"/>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4" name="Freeform 67"/>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5" name="Freeform 68"/>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6" name="Freeform 69"/>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7" name="Freeform 70"/>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8" name="Freeform 71"/>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49" name="Freeform 72"/>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0" name="Freeform 73"/>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1" name="Freeform 74"/>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2" name="Freeform 75"/>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3" name="Freeform 76"/>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4" name="Freeform 77"/>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5" name="Freeform 78"/>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6" name="Freeform 79"/>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7" name="Freeform 80"/>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8" name="Freeform 81"/>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59" name="Freeform 82"/>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0" name="Freeform 83"/>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1261" name="Freeform 84"/>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1209" name="Rectangle 121"/>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1210" name="Text Box 122"/>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226" name="Group 2"/>
          <p:cNvGrpSpPr>
            <a:grpSpLocks/>
          </p:cNvGrpSpPr>
          <p:nvPr/>
        </p:nvGrpSpPr>
        <p:grpSpPr bwMode="auto">
          <a:xfrm>
            <a:off x="7073900" y="215900"/>
            <a:ext cx="1878013" cy="1250950"/>
            <a:chOff x="4456" y="136"/>
            <a:chExt cx="1183" cy="788"/>
          </a:xfrm>
        </p:grpSpPr>
        <p:grpSp>
          <p:nvGrpSpPr>
            <p:cNvPr id="52286" name="Group 3"/>
            <p:cNvGrpSpPr>
              <a:grpSpLocks/>
            </p:cNvGrpSpPr>
            <p:nvPr/>
          </p:nvGrpSpPr>
          <p:grpSpPr bwMode="auto">
            <a:xfrm>
              <a:off x="4766" y="232"/>
              <a:ext cx="873" cy="692"/>
              <a:chOff x="2185" y="310"/>
              <a:chExt cx="873" cy="692"/>
            </a:xfrm>
          </p:grpSpPr>
          <p:sp>
            <p:nvSpPr>
              <p:cNvPr id="5229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30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30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30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30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2287" name="Group 11"/>
            <p:cNvGrpSpPr>
              <a:grpSpLocks/>
            </p:cNvGrpSpPr>
            <p:nvPr/>
          </p:nvGrpSpPr>
          <p:grpSpPr bwMode="auto">
            <a:xfrm>
              <a:off x="4949" y="336"/>
              <a:ext cx="591" cy="468"/>
              <a:chOff x="2185" y="310"/>
              <a:chExt cx="873" cy="692"/>
            </a:xfrm>
          </p:grpSpPr>
          <p:sp>
            <p:nvSpPr>
              <p:cNvPr id="5229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9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228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89"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a:t>
              </a:r>
              <a:endParaRPr lang="fr-FR" altLang="fr-FR" sz="3200">
                <a:solidFill>
                  <a:schemeClr val="tx1"/>
                </a:solidFill>
                <a:latin typeface="Arial Black" pitchFamily="34" charset="0"/>
              </a:endParaRPr>
            </a:p>
          </p:txBody>
        </p:sp>
      </p:grpSp>
      <p:sp>
        <p:nvSpPr>
          <p:cNvPr id="52228"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2229"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2230" name="Group 26"/>
          <p:cNvGrpSpPr>
            <a:grpSpLocks/>
          </p:cNvGrpSpPr>
          <p:nvPr/>
        </p:nvGrpSpPr>
        <p:grpSpPr bwMode="auto">
          <a:xfrm>
            <a:off x="2986088" y="1306513"/>
            <a:ext cx="446087" cy="534987"/>
            <a:chOff x="868" y="1439"/>
            <a:chExt cx="811" cy="972"/>
          </a:xfrm>
        </p:grpSpPr>
        <p:sp>
          <p:nvSpPr>
            <p:cNvPr id="52235"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36"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37"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38"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39"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0"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1"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2"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3"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4"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5"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6"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7"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8"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49"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0"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1"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2"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3"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4"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5"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6"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7"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8"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59"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0"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1"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2"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3"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4"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5"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6"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7"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8"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69"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0"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1"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2"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3"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4"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5"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6"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7"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8"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79"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0"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1"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2"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3"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4"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2285"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2232"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2233"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2234"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250" name="Group 2"/>
          <p:cNvGrpSpPr>
            <a:grpSpLocks/>
          </p:cNvGrpSpPr>
          <p:nvPr/>
        </p:nvGrpSpPr>
        <p:grpSpPr bwMode="auto">
          <a:xfrm>
            <a:off x="7073900" y="215900"/>
            <a:ext cx="1878013" cy="1250950"/>
            <a:chOff x="4456" y="136"/>
            <a:chExt cx="1183" cy="788"/>
          </a:xfrm>
        </p:grpSpPr>
        <p:grpSp>
          <p:nvGrpSpPr>
            <p:cNvPr id="53310" name="Group 3"/>
            <p:cNvGrpSpPr>
              <a:grpSpLocks/>
            </p:cNvGrpSpPr>
            <p:nvPr/>
          </p:nvGrpSpPr>
          <p:grpSpPr bwMode="auto">
            <a:xfrm>
              <a:off x="4766" y="232"/>
              <a:ext cx="873" cy="692"/>
              <a:chOff x="2185" y="310"/>
              <a:chExt cx="873" cy="692"/>
            </a:xfrm>
          </p:grpSpPr>
          <p:sp>
            <p:nvSpPr>
              <p:cNvPr id="533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3311" name="Group 11"/>
            <p:cNvGrpSpPr>
              <a:grpSpLocks/>
            </p:cNvGrpSpPr>
            <p:nvPr/>
          </p:nvGrpSpPr>
          <p:grpSpPr bwMode="auto">
            <a:xfrm>
              <a:off x="4949" y="336"/>
              <a:ext cx="591" cy="468"/>
              <a:chOff x="2185" y="310"/>
              <a:chExt cx="873" cy="692"/>
            </a:xfrm>
          </p:grpSpPr>
          <p:sp>
            <p:nvSpPr>
              <p:cNvPr id="533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33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313"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4</a:t>
              </a:r>
              <a:endParaRPr lang="fr-FR" altLang="fr-FR" sz="3200">
                <a:solidFill>
                  <a:schemeClr val="tx1"/>
                </a:solidFill>
                <a:latin typeface="Arial Black" pitchFamily="34" charset="0"/>
              </a:endParaRPr>
            </a:p>
          </p:txBody>
        </p:sp>
      </p:grpSp>
      <p:sp>
        <p:nvSpPr>
          <p:cNvPr id="53252"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3253"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3254" name="Group 26"/>
          <p:cNvGrpSpPr>
            <a:grpSpLocks/>
          </p:cNvGrpSpPr>
          <p:nvPr/>
        </p:nvGrpSpPr>
        <p:grpSpPr bwMode="auto">
          <a:xfrm>
            <a:off x="2986088" y="1306513"/>
            <a:ext cx="446087" cy="534987"/>
            <a:chOff x="868" y="1439"/>
            <a:chExt cx="811" cy="972"/>
          </a:xfrm>
        </p:grpSpPr>
        <p:sp>
          <p:nvSpPr>
            <p:cNvPr id="53259"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0"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1"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2"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3"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4"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5"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6"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7"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8"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69"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0"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1"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2"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3"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4"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5"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6"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7"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8"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79"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0"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1"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2"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3"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4"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5"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6"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7"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8"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89"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0"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1"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2"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3"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4"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5"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6"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7"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8"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299"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0"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1"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2"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3"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4"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5"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6"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7"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8"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3309"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3256"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3257"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3258"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274" name="Group 2"/>
          <p:cNvGrpSpPr>
            <a:grpSpLocks/>
          </p:cNvGrpSpPr>
          <p:nvPr/>
        </p:nvGrpSpPr>
        <p:grpSpPr bwMode="auto">
          <a:xfrm>
            <a:off x="7073900" y="215900"/>
            <a:ext cx="1878013" cy="1250950"/>
            <a:chOff x="4456" y="136"/>
            <a:chExt cx="1183" cy="788"/>
          </a:xfrm>
        </p:grpSpPr>
        <p:grpSp>
          <p:nvGrpSpPr>
            <p:cNvPr id="54334" name="Group 3"/>
            <p:cNvGrpSpPr>
              <a:grpSpLocks/>
            </p:cNvGrpSpPr>
            <p:nvPr/>
          </p:nvGrpSpPr>
          <p:grpSpPr bwMode="auto">
            <a:xfrm>
              <a:off x="4766" y="232"/>
              <a:ext cx="873" cy="692"/>
              <a:chOff x="2185" y="310"/>
              <a:chExt cx="873" cy="692"/>
            </a:xfrm>
          </p:grpSpPr>
          <p:sp>
            <p:nvSpPr>
              <p:cNvPr id="5434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5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5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4335" name="Group 11"/>
            <p:cNvGrpSpPr>
              <a:grpSpLocks/>
            </p:cNvGrpSpPr>
            <p:nvPr/>
          </p:nvGrpSpPr>
          <p:grpSpPr bwMode="auto">
            <a:xfrm>
              <a:off x="4949" y="336"/>
              <a:ext cx="591" cy="468"/>
              <a:chOff x="2185" y="310"/>
              <a:chExt cx="873" cy="692"/>
            </a:xfrm>
          </p:grpSpPr>
          <p:sp>
            <p:nvSpPr>
              <p:cNvPr id="5433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4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433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33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5</a:t>
              </a:r>
              <a:endParaRPr lang="fr-FR" altLang="fr-FR" sz="3200">
                <a:solidFill>
                  <a:schemeClr val="tx1"/>
                </a:solidFill>
                <a:latin typeface="Arial Black" pitchFamily="34" charset="0"/>
              </a:endParaRPr>
            </a:p>
          </p:txBody>
        </p:sp>
      </p:grpSp>
      <p:sp>
        <p:nvSpPr>
          <p:cNvPr id="54276"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4277"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4278" name="Group 26"/>
          <p:cNvGrpSpPr>
            <a:grpSpLocks/>
          </p:cNvGrpSpPr>
          <p:nvPr/>
        </p:nvGrpSpPr>
        <p:grpSpPr bwMode="auto">
          <a:xfrm>
            <a:off x="2986088" y="1306513"/>
            <a:ext cx="446087" cy="534987"/>
            <a:chOff x="868" y="1439"/>
            <a:chExt cx="811" cy="972"/>
          </a:xfrm>
        </p:grpSpPr>
        <p:sp>
          <p:nvSpPr>
            <p:cNvPr id="54283"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4"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5"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6"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7"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8"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89"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0"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1"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2"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3"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4"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5"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6"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7"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8"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299"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0"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1"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2"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3"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4"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5"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6"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7"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8"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09"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0"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1"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2"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3"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4"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5"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6"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7"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8"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19"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0"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1"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2"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3"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4"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5"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6"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7"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8"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29"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0"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1"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2"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4333"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4280"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4281"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4282"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298" name="Group 2"/>
          <p:cNvGrpSpPr>
            <a:grpSpLocks/>
          </p:cNvGrpSpPr>
          <p:nvPr/>
        </p:nvGrpSpPr>
        <p:grpSpPr bwMode="auto">
          <a:xfrm>
            <a:off x="7073900" y="215900"/>
            <a:ext cx="1878013" cy="1250950"/>
            <a:chOff x="4456" y="136"/>
            <a:chExt cx="1183" cy="788"/>
          </a:xfrm>
        </p:grpSpPr>
        <p:grpSp>
          <p:nvGrpSpPr>
            <p:cNvPr id="55358" name="Group 3"/>
            <p:cNvGrpSpPr>
              <a:grpSpLocks/>
            </p:cNvGrpSpPr>
            <p:nvPr/>
          </p:nvGrpSpPr>
          <p:grpSpPr bwMode="auto">
            <a:xfrm>
              <a:off x="4766" y="232"/>
              <a:ext cx="873" cy="692"/>
              <a:chOff x="2185" y="310"/>
              <a:chExt cx="873" cy="692"/>
            </a:xfrm>
          </p:grpSpPr>
          <p:sp>
            <p:nvSpPr>
              <p:cNvPr id="5536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7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5359" name="Group 11"/>
            <p:cNvGrpSpPr>
              <a:grpSpLocks/>
            </p:cNvGrpSpPr>
            <p:nvPr/>
          </p:nvGrpSpPr>
          <p:grpSpPr bwMode="auto">
            <a:xfrm>
              <a:off x="4949" y="336"/>
              <a:ext cx="591" cy="468"/>
              <a:chOff x="2185" y="310"/>
              <a:chExt cx="873" cy="692"/>
            </a:xfrm>
          </p:grpSpPr>
          <p:sp>
            <p:nvSpPr>
              <p:cNvPr id="5536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6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536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61"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6</a:t>
              </a:r>
              <a:endParaRPr lang="fr-FR" altLang="fr-FR" sz="3200">
                <a:solidFill>
                  <a:schemeClr val="tx1"/>
                </a:solidFill>
                <a:latin typeface="Arial Black" pitchFamily="34" charset="0"/>
              </a:endParaRPr>
            </a:p>
          </p:txBody>
        </p:sp>
      </p:grpSp>
      <p:sp>
        <p:nvSpPr>
          <p:cNvPr id="55300"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5301"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5302" name="Group 26"/>
          <p:cNvGrpSpPr>
            <a:grpSpLocks/>
          </p:cNvGrpSpPr>
          <p:nvPr/>
        </p:nvGrpSpPr>
        <p:grpSpPr bwMode="auto">
          <a:xfrm>
            <a:off x="2986088" y="1306513"/>
            <a:ext cx="446087" cy="534987"/>
            <a:chOff x="868" y="1439"/>
            <a:chExt cx="811" cy="972"/>
          </a:xfrm>
        </p:grpSpPr>
        <p:sp>
          <p:nvSpPr>
            <p:cNvPr id="55307"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08"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09"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0"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1"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2"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3"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4"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5"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6"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7"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8"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19"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0"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1"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2"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3"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4"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5"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6"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7"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8"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29"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0"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1"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2"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3"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4"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5"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6"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7"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8"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39"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0"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1"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2"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3"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4"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5"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6"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7"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8"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49"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0"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1"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2"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3"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4"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5"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6"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5357"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5304"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5305"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5306"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322" name="Group 2"/>
          <p:cNvGrpSpPr>
            <a:grpSpLocks/>
          </p:cNvGrpSpPr>
          <p:nvPr/>
        </p:nvGrpSpPr>
        <p:grpSpPr bwMode="auto">
          <a:xfrm>
            <a:off x="7073900" y="215900"/>
            <a:ext cx="1878013" cy="1250950"/>
            <a:chOff x="4456" y="136"/>
            <a:chExt cx="1183" cy="788"/>
          </a:xfrm>
        </p:grpSpPr>
        <p:grpSp>
          <p:nvGrpSpPr>
            <p:cNvPr id="56382" name="Group 3"/>
            <p:cNvGrpSpPr>
              <a:grpSpLocks/>
            </p:cNvGrpSpPr>
            <p:nvPr/>
          </p:nvGrpSpPr>
          <p:grpSpPr bwMode="auto">
            <a:xfrm>
              <a:off x="4766" y="232"/>
              <a:ext cx="873" cy="692"/>
              <a:chOff x="2185" y="310"/>
              <a:chExt cx="873" cy="692"/>
            </a:xfrm>
          </p:grpSpPr>
          <p:sp>
            <p:nvSpPr>
              <p:cNvPr id="5639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6383" name="Group 11"/>
            <p:cNvGrpSpPr>
              <a:grpSpLocks/>
            </p:cNvGrpSpPr>
            <p:nvPr/>
          </p:nvGrpSpPr>
          <p:grpSpPr bwMode="auto">
            <a:xfrm>
              <a:off x="4949" y="336"/>
              <a:ext cx="591" cy="468"/>
              <a:chOff x="2185" y="310"/>
              <a:chExt cx="873" cy="692"/>
            </a:xfrm>
          </p:grpSpPr>
          <p:sp>
            <p:nvSpPr>
              <p:cNvPr id="5638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9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638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85"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7</a:t>
              </a:r>
              <a:endParaRPr lang="fr-FR" altLang="fr-FR" sz="3200">
                <a:solidFill>
                  <a:schemeClr val="tx1"/>
                </a:solidFill>
                <a:latin typeface="Arial Black" pitchFamily="34" charset="0"/>
              </a:endParaRPr>
            </a:p>
          </p:txBody>
        </p:sp>
      </p:grpSp>
      <p:sp>
        <p:nvSpPr>
          <p:cNvPr id="56324"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6325"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6326" name="Group 26"/>
          <p:cNvGrpSpPr>
            <a:grpSpLocks/>
          </p:cNvGrpSpPr>
          <p:nvPr/>
        </p:nvGrpSpPr>
        <p:grpSpPr bwMode="auto">
          <a:xfrm>
            <a:off x="2986088" y="1306513"/>
            <a:ext cx="446087" cy="534987"/>
            <a:chOff x="868" y="1439"/>
            <a:chExt cx="811" cy="972"/>
          </a:xfrm>
        </p:grpSpPr>
        <p:sp>
          <p:nvSpPr>
            <p:cNvPr id="56331"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2"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3"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4"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5"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6"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7"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8"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39"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0"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1"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2"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3"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4"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5"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6"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7"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8"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49"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0"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1"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2"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3"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4"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5"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6"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7"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8"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59"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0"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1"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2"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3"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4"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5"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6"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7"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8"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69"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0"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1"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2"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3"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4"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5"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6"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7"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8"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79"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0"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6381"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6328"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6329"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6330"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346" name="Group 2"/>
          <p:cNvGrpSpPr>
            <a:grpSpLocks/>
          </p:cNvGrpSpPr>
          <p:nvPr/>
        </p:nvGrpSpPr>
        <p:grpSpPr bwMode="auto">
          <a:xfrm>
            <a:off x="7073900" y="215900"/>
            <a:ext cx="1878013" cy="1250950"/>
            <a:chOff x="4456" y="136"/>
            <a:chExt cx="1183" cy="788"/>
          </a:xfrm>
        </p:grpSpPr>
        <p:grpSp>
          <p:nvGrpSpPr>
            <p:cNvPr id="57406" name="Group 3"/>
            <p:cNvGrpSpPr>
              <a:grpSpLocks/>
            </p:cNvGrpSpPr>
            <p:nvPr/>
          </p:nvGrpSpPr>
          <p:grpSpPr bwMode="auto">
            <a:xfrm>
              <a:off x="4766" y="232"/>
              <a:ext cx="873" cy="692"/>
              <a:chOff x="2185" y="310"/>
              <a:chExt cx="873" cy="692"/>
            </a:xfrm>
          </p:grpSpPr>
          <p:sp>
            <p:nvSpPr>
              <p:cNvPr id="574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7407" name="Group 11"/>
            <p:cNvGrpSpPr>
              <a:grpSpLocks/>
            </p:cNvGrpSpPr>
            <p:nvPr/>
          </p:nvGrpSpPr>
          <p:grpSpPr bwMode="auto">
            <a:xfrm>
              <a:off x="4949" y="336"/>
              <a:ext cx="591" cy="468"/>
              <a:chOff x="2185" y="310"/>
              <a:chExt cx="873" cy="692"/>
            </a:xfrm>
          </p:grpSpPr>
          <p:sp>
            <p:nvSpPr>
              <p:cNvPr id="574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74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409"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8</a:t>
              </a:r>
              <a:endParaRPr lang="fr-FR" altLang="fr-FR" sz="3200">
                <a:solidFill>
                  <a:schemeClr val="tx1"/>
                </a:solidFill>
                <a:latin typeface="Arial Black" pitchFamily="34" charset="0"/>
              </a:endParaRPr>
            </a:p>
          </p:txBody>
        </p:sp>
      </p:grpSp>
      <p:sp>
        <p:nvSpPr>
          <p:cNvPr id="57348"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7349"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7350" name="Group 26"/>
          <p:cNvGrpSpPr>
            <a:grpSpLocks/>
          </p:cNvGrpSpPr>
          <p:nvPr/>
        </p:nvGrpSpPr>
        <p:grpSpPr bwMode="auto">
          <a:xfrm>
            <a:off x="2986088" y="1306513"/>
            <a:ext cx="446087" cy="534987"/>
            <a:chOff x="868" y="1439"/>
            <a:chExt cx="811" cy="972"/>
          </a:xfrm>
        </p:grpSpPr>
        <p:sp>
          <p:nvSpPr>
            <p:cNvPr id="57355"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56"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57"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58"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59"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0"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1"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2"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3"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4"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5"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6"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7"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8"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69"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0"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1"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2"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3"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4"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5"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6"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7"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8"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79"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0"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1"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2"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3"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4"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5"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6"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7"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8"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89"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0"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1"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2"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3"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4"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5"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6"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7"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8"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399"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0"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1"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2"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3"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4"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7405"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7352" name="Rectangle 79"/>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Lundi</a:t>
            </a:r>
          </a:p>
        </p:txBody>
      </p:sp>
      <p:sp>
        <p:nvSpPr>
          <p:cNvPr id="57353" name="Text Box 80"/>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7354" name="Text Box 81"/>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371" name="Group 3"/>
          <p:cNvGrpSpPr>
            <a:grpSpLocks/>
          </p:cNvGrpSpPr>
          <p:nvPr/>
        </p:nvGrpSpPr>
        <p:grpSpPr bwMode="auto">
          <a:xfrm>
            <a:off x="7073900" y="215900"/>
            <a:ext cx="1878013" cy="1250950"/>
            <a:chOff x="4456" y="136"/>
            <a:chExt cx="1183" cy="788"/>
          </a:xfrm>
        </p:grpSpPr>
        <p:grpSp>
          <p:nvGrpSpPr>
            <p:cNvPr id="58488" name="Group 4"/>
            <p:cNvGrpSpPr>
              <a:grpSpLocks/>
            </p:cNvGrpSpPr>
            <p:nvPr/>
          </p:nvGrpSpPr>
          <p:grpSpPr bwMode="auto">
            <a:xfrm>
              <a:off x="4766" y="232"/>
              <a:ext cx="873" cy="692"/>
              <a:chOff x="2185" y="310"/>
              <a:chExt cx="873" cy="692"/>
            </a:xfrm>
          </p:grpSpPr>
          <p:sp>
            <p:nvSpPr>
              <p:cNvPr id="58499"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0"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1"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2"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3"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4"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505"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8489" name="Group 12"/>
            <p:cNvGrpSpPr>
              <a:grpSpLocks/>
            </p:cNvGrpSpPr>
            <p:nvPr/>
          </p:nvGrpSpPr>
          <p:grpSpPr bwMode="auto">
            <a:xfrm>
              <a:off x="4949" y="336"/>
              <a:ext cx="591" cy="468"/>
              <a:chOff x="2185" y="310"/>
              <a:chExt cx="873" cy="692"/>
            </a:xfrm>
          </p:grpSpPr>
          <p:sp>
            <p:nvSpPr>
              <p:cNvPr id="58492"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3"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4"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5"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6"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7"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98"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8490"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491"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9</a:t>
              </a:r>
              <a:endParaRPr lang="fr-FR" altLang="fr-FR" sz="3200">
                <a:solidFill>
                  <a:schemeClr val="tx1"/>
                </a:solidFill>
                <a:latin typeface="Arial Black" pitchFamily="34" charset="0"/>
              </a:endParaRPr>
            </a:p>
          </p:txBody>
        </p:sp>
      </p:grpSp>
      <p:sp>
        <p:nvSpPr>
          <p:cNvPr id="58372" name="Text Box 22"/>
          <p:cNvSpPr txBox="1">
            <a:spLocks noChangeArrowheads="1"/>
          </p:cNvSpPr>
          <p:nvPr/>
        </p:nvSpPr>
        <p:spPr bwMode="auto">
          <a:xfrm>
            <a:off x="48736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58373" name="Text Box 23"/>
          <p:cNvSpPr txBox="1">
            <a:spLocks noChangeArrowheads="1"/>
          </p:cNvSpPr>
          <p:nvPr/>
        </p:nvSpPr>
        <p:spPr bwMode="auto">
          <a:xfrm>
            <a:off x="1881188"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R3</a:t>
            </a:r>
          </a:p>
        </p:txBody>
      </p:sp>
      <p:sp>
        <p:nvSpPr>
          <p:cNvPr id="58374" name="Text Box 24"/>
          <p:cNvSpPr txBox="1">
            <a:spLocks noChangeArrowheads="1"/>
          </p:cNvSpPr>
          <p:nvPr/>
        </p:nvSpPr>
        <p:spPr bwMode="auto">
          <a:xfrm>
            <a:off x="335121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R4</a:t>
            </a:r>
          </a:p>
        </p:txBody>
      </p:sp>
      <p:sp>
        <p:nvSpPr>
          <p:cNvPr id="58375" name="Oval 25"/>
          <p:cNvSpPr>
            <a:spLocks noChangeArrowheads="1"/>
          </p:cNvSpPr>
          <p:nvPr/>
        </p:nvSpPr>
        <p:spPr bwMode="auto">
          <a:xfrm rot="-5400000">
            <a:off x="6265069" y="322024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58376" name="Text Box 26"/>
          <p:cNvSpPr txBox="1">
            <a:spLocks noChangeArrowheads="1"/>
          </p:cNvSpPr>
          <p:nvPr/>
        </p:nvSpPr>
        <p:spPr bwMode="auto">
          <a:xfrm>
            <a:off x="5940425" y="3749675"/>
            <a:ext cx="3113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5 Couronnes (ph. A)</a:t>
            </a:r>
          </a:p>
        </p:txBody>
      </p:sp>
      <p:sp>
        <p:nvSpPr>
          <p:cNvPr id="58377" name="Rectangle 27"/>
          <p:cNvSpPr>
            <a:spLocks noGrp="1" noChangeArrowheads="1"/>
          </p:cNvSpPr>
          <p:nvPr>
            <p:ph type="title"/>
          </p:nvPr>
        </p:nvSpPr>
        <p:spPr>
          <a:xfrm>
            <a:off x="1525588" y="0"/>
            <a:ext cx="5372100" cy="647700"/>
          </a:xfrm>
        </p:spPr>
        <p:txBody>
          <a:bodyPr/>
          <a:lstStyle/>
          <a:p>
            <a:pPr eaLnBrk="1" hangingPunct="1"/>
            <a:r>
              <a:rPr lang="fr-FR" altLang="fr-FR"/>
              <a:t>Sem. 1 - Mardi (Ste Carine)</a:t>
            </a:r>
          </a:p>
        </p:txBody>
      </p:sp>
      <p:sp>
        <p:nvSpPr>
          <p:cNvPr id="58378"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58379"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8380"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8381" name="Group 32"/>
          <p:cNvGrpSpPr>
            <a:grpSpLocks/>
          </p:cNvGrpSpPr>
          <p:nvPr/>
        </p:nvGrpSpPr>
        <p:grpSpPr bwMode="auto">
          <a:xfrm>
            <a:off x="2843213" y="1106488"/>
            <a:ext cx="446087" cy="534987"/>
            <a:chOff x="868" y="1439"/>
            <a:chExt cx="811" cy="972"/>
          </a:xfrm>
        </p:grpSpPr>
        <p:sp>
          <p:nvSpPr>
            <p:cNvPr id="58437"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38"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39"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0"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1"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2"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3"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4"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5"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6"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7"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8"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49"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0"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1"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2"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3"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4"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5"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6"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7"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8"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59"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0"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1"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2"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3"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4"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5"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6"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7"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8"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69"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0"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1"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2"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3"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4"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5"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6"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7"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8"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79"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0"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1"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2"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3"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4"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5"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6"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8487"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8382" name="Group 84"/>
          <p:cNvGrpSpPr>
            <a:grpSpLocks/>
          </p:cNvGrpSpPr>
          <p:nvPr/>
        </p:nvGrpSpPr>
        <p:grpSpPr bwMode="auto">
          <a:xfrm rot="-223274">
            <a:off x="506413" y="2897188"/>
            <a:ext cx="744537" cy="733425"/>
            <a:chOff x="2757" y="1666"/>
            <a:chExt cx="812" cy="800"/>
          </a:xfrm>
        </p:grpSpPr>
        <p:sp>
          <p:nvSpPr>
            <p:cNvPr id="58431"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32"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33"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34"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35"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36"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8383" name="Group 98"/>
          <p:cNvGrpSpPr>
            <a:grpSpLocks/>
          </p:cNvGrpSpPr>
          <p:nvPr/>
        </p:nvGrpSpPr>
        <p:grpSpPr bwMode="auto">
          <a:xfrm rot="-223274">
            <a:off x="1958975" y="2962275"/>
            <a:ext cx="744538" cy="733425"/>
            <a:chOff x="2757" y="1666"/>
            <a:chExt cx="812" cy="800"/>
          </a:xfrm>
        </p:grpSpPr>
        <p:sp>
          <p:nvSpPr>
            <p:cNvPr id="58425" name="Freeform 9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26" name="Freeform 10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27" name="Line 10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28" name="Freeform 10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29" name="Freeform 10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30" name="AutoShape 10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8384" name="Group 105"/>
          <p:cNvGrpSpPr>
            <a:grpSpLocks/>
          </p:cNvGrpSpPr>
          <p:nvPr/>
        </p:nvGrpSpPr>
        <p:grpSpPr bwMode="auto">
          <a:xfrm rot="-223274">
            <a:off x="3446463" y="3016250"/>
            <a:ext cx="744537" cy="733425"/>
            <a:chOff x="2757" y="1666"/>
            <a:chExt cx="812" cy="800"/>
          </a:xfrm>
        </p:grpSpPr>
        <p:sp>
          <p:nvSpPr>
            <p:cNvPr id="58419" name="Freeform 10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20" name="Freeform 10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21" name="Line 10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22" name="Freeform 10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23" name="Freeform 1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24" name="AutoShape 1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8385" name="Group 112"/>
          <p:cNvGrpSpPr>
            <a:grpSpLocks/>
          </p:cNvGrpSpPr>
          <p:nvPr/>
        </p:nvGrpSpPr>
        <p:grpSpPr bwMode="auto">
          <a:xfrm rot="-223274">
            <a:off x="3417888" y="2774950"/>
            <a:ext cx="744537" cy="733425"/>
            <a:chOff x="2757" y="1666"/>
            <a:chExt cx="812" cy="800"/>
          </a:xfrm>
        </p:grpSpPr>
        <p:sp>
          <p:nvSpPr>
            <p:cNvPr id="58413" name="Freeform 11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14" name="Freeform 11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15" name="Line 11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16" name="Freeform 11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17" name="Freeform 11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18" name="AutoShape 11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58386" name="Oval 119"/>
          <p:cNvSpPr>
            <a:spLocks noChangeArrowheads="1"/>
          </p:cNvSpPr>
          <p:nvPr/>
        </p:nvSpPr>
        <p:spPr bwMode="auto">
          <a:xfrm rot="-5400000">
            <a:off x="6646069" y="322024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58387" name="Oval 120"/>
          <p:cNvSpPr>
            <a:spLocks noChangeArrowheads="1"/>
          </p:cNvSpPr>
          <p:nvPr/>
        </p:nvSpPr>
        <p:spPr bwMode="auto">
          <a:xfrm rot="-5400000">
            <a:off x="7009607" y="3220244"/>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58388" name="Oval 121"/>
          <p:cNvSpPr>
            <a:spLocks noChangeArrowheads="1"/>
          </p:cNvSpPr>
          <p:nvPr/>
        </p:nvSpPr>
        <p:spPr bwMode="auto">
          <a:xfrm rot="-5400000">
            <a:off x="7385844" y="322024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58389" name="Oval 122"/>
          <p:cNvSpPr>
            <a:spLocks noChangeArrowheads="1"/>
          </p:cNvSpPr>
          <p:nvPr/>
        </p:nvSpPr>
        <p:spPr bwMode="auto">
          <a:xfrm rot="-5400000">
            <a:off x="7749382" y="3220244"/>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58390" name="Group 123"/>
          <p:cNvGrpSpPr>
            <a:grpSpLocks/>
          </p:cNvGrpSpPr>
          <p:nvPr/>
        </p:nvGrpSpPr>
        <p:grpSpPr bwMode="auto">
          <a:xfrm rot="-223274">
            <a:off x="1925638" y="2701925"/>
            <a:ext cx="744537" cy="733425"/>
            <a:chOff x="2757" y="1666"/>
            <a:chExt cx="812" cy="800"/>
          </a:xfrm>
        </p:grpSpPr>
        <p:sp>
          <p:nvSpPr>
            <p:cNvPr id="58407" name="Freeform 12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08" name="Freeform 12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09" name="Line 12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10" name="Freeform 12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11" name="Freeform 12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12" name="AutoShape 12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8391" name="Group 130"/>
          <p:cNvGrpSpPr>
            <a:grpSpLocks/>
          </p:cNvGrpSpPr>
          <p:nvPr/>
        </p:nvGrpSpPr>
        <p:grpSpPr bwMode="auto">
          <a:xfrm rot="-223274">
            <a:off x="3386138" y="2544763"/>
            <a:ext cx="744537" cy="733425"/>
            <a:chOff x="2757" y="1666"/>
            <a:chExt cx="812" cy="800"/>
          </a:xfrm>
        </p:grpSpPr>
        <p:sp>
          <p:nvSpPr>
            <p:cNvPr id="58401" name="Freeform 13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02" name="Freeform 13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403" name="Line 13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404" name="Freeform 13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405" name="Freeform 13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06" name="AutoShape 13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58392" name="Text Box 137"/>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58393" name="Text Box 138"/>
          <p:cNvSpPr txBox="1">
            <a:spLocks noChangeArrowheads="1"/>
          </p:cNvSpPr>
          <p:nvPr/>
        </p:nvSpPr>
        <p:spPr bwMode="auto">
          <a:xfrm>
            <a:off x="479266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grpSp>
        <p:nvGrpSpPr>
          <p:cNvPr id="58394" name="Group 139"/>
          <p:cNvGrpSpPr>
            <a:grpSpLocks/>
          </p:cNvGrpSpPr>
          <p:nvPr/>
        </p:nvGrpSpPr>
        <p:grpSpPr bwMode="auto">
          <a:xfrm rot="-223274">
            <a:off x="4811713" y="2897188"/>
            <a:ext cx="744537" cy="733425"/>
            <a:chOff x="2757" y="1666"/>
            <a:chExt cx="812" cy="800"/>
          </a:xfrm>
        </p:grpSpPr>
        <p:sp>
          <p:nvSpPr>
            <p:cNvPr id="58395" name="Freeform 14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396" name="Freeform 14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58397" name="Line 14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58398" name="Freeform 14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58399" name="Freeform 14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58400" name="AutoShape 14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394" name="Group 2"/>
          <p:cNvGrpSpPr>
            <a:grpSpLocks/>
          </p:cNvGrpSpPr>
          <p:nvPr/>
        </p:nvGrpSpPr>
        <p:grpSpPr bwMode="auto">
          <a:xfrm>
            <a:off x="7073900" y="215900"/>
            <a:ext cx="1878013" cy="1250950"/>
            <a:chOff x="4456" y="136"/>
            <a:chExt cx="1183" cy="788"/>
          </a:xfrm>
        </p:grpSpPr>
        <p:grpSp>
          <p:nvGrpSpPr>
            <p:cNvPr id="59454" name="Group 3"/>
            <p:cNvGrpSpPr>
              <a:grpSpLocks/>
            </p:cNvGrpSpPr>
            <p:nvPr/>
          </p:nvGrpSpPr>
          <p:grpSpPr bwMode="auto">
            <a:xfrm>
              <a:off x="4766" y="232"/>
              <a:ext cx="873" cy="692"/>
              <a:chOff x="2185" y="310"/>
              <a:chExt cx="873" cy="692"/>
            </a:xfrm>
          </p:grpSpPr>
          <p:sp>
            <p:nvSpPr>
              <p:cNvPr id="5946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7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7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59455" name="Group 11"/>
            <p:cNvGrpSpPr>
              <a:grpSpLocks/>
            </p:cNvGrpSpPr>
            <p:nvPr/>
          </p:nvGrpSpPr>
          <p:grpSpPr bwMode="auto">
            <a:xfrm>
              <a:off x="4949" y="336"/>
              <a:ext cx="591" cy="468"/>
              <a:chOff x="2185" y="310"/>
              <a:chExt cx="873" cy="692"/>
            </a:xfrm>
          </p:grpSpPr>
          <p:sp>
            <p:nvSpPr>
              <p:cNvPr id="5945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6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5945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45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10</a:t>
              </a:r>
              <a:endParaRPr lang="fr-FR" altLang="fr-FR" sz="3200">
                <a:solidFill>
                  <a:schemeClr val="tx1"/>
                </a:solidFill>
                <a:latin typeface="Arial Black" pitchFamily="34" charset="0"/>
              </a:endParaRPr>
            </a:p>
          </p:txBody>
        </p:sp>
      </p:grpSp>
      <p:sp>
        <p:nvSpPr>
          <p:cNvPr id="5939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5939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59398" name="Group 24"/>
          <p:cNvGrpSpPr>
            <a:grpSpLocks/>
          </p:cNvGrpSpPr>
          <p:nvPr/>
        </p:nvGrpSpPr>
        <p:grpSpPr bwMode="auto">
          <a:xfrm>
            <a:off x="2986088" y="1306513"/>
            <a:ext cx="446087" cy="534987"/>
            <a:chOff x="868" y="1439"/>
            <a:chExt cx="811" cy="972"/>
          </a:xfrm>
        </p:grpSpPr>
        <p:sp>
          <p:nvSpPr>
            <p:cNvPr id="5940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0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1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2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3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4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5945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940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5940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5940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418" name="Group 2"/>
          <p:cNvGrpSpPr>
            <a:grpSpLocks/>
          </p:cNvGrpSpPr>
          <p:nvPr/>
        </p:nvGrpSpPr>
        <p:grpSpPr bwMode="auto">
          <a:xfrm>
            <a:off x="7073900" y="215900"/>
            <a:ext cx="1878013" cy="1250950"/>
            <a:chOff x="4456" y="136"/>
            <a:chExt cx="1183" cy="788"/>
          </a:xfrm>
        </p:grpSpPr>
        <p:grpSp>
          <p:nvGrpSpPr>
            <p:cNvPr id="60478" name="Group 3"/>
            <p:cNvGrpSpPr>
              <a:grpSpLocks/>
            </p:cNvGrpSpPr>
            <p:nvPr/>
          </p:nvGrpSpPr>
          <p:grpSpPr bwMode="auto">
            <a:xfrm>
              <a:off x="4766" y="232"/>
              <a:ext cx="873" cy="692"/>
              <a:chOff x="2185" y="310"/>
              <a:chExt cx="873" cy="692"/>
            </a:xfrm>
          </p:grpSpPr>
          <p:sp>
            <p:nvSpPr>
              <p:cNvPr id="6048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9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0479" name="Group 11"/>
            <p:cNvGrpSpPr>
              <a:grpSpLocks/>
            </p:cNvGrpSpPr>
            <p:nvPr/>
          </p:nvGrpSpPr>
          <p:grpSpPr bwMode="auto">
            <a:xfrm>
              <a:off x="4949" y="336"/>
              <a:ext cx="591" cy="468"/>
              <a:chOff x="2185" y="310"/>
              <a:chExt cx="873" cy="692"/>
            </a:xfrm>
          </p:grpSpPr>
          <p:sp>
            <p:nvSpPr>
              <p:cNvPr id="6048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8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048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48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11</a:t>
              </a:r>
              <a:endParaRPr lang="fr-FR" altLang="fr-FR" sz="3200">
                <a:solidFill>
                  <a:schemeClr val="tx1"/>
                </a:solidFill>
                <a:latin typeface="Arial Black" pitchFamily="34" charset="0"/>
              </a:endParaRPr>
            </a:p>
          </p:txBody>
        </p:sp>
      </p:grpSp>
      <p:sp>
        <p:nvSpPr>
          <p:cNvPr id="6042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042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0422" name="Group 24"/>
          <p:cNvGrpSpPr>
            <a:grpSpLocks/>
          </p:cNvGrpSpPr>
          <p:nvPr/>
        </p:nvGrpSpPr>
        <p:grpSpPr bwMode="auto">
          <a:xfrm>
            <a:off x="2986088" y="1306513"/>
            <a:ext cx="446087" cy="534987"/>
            <a:chOff x="868" y="1439"/>
            <a:chExt cx="811" cy="972"/>
          </a:xfrm>
        </p:grpSpPr>
        <p:sp>
          <p:nvSpPr>
            <p:cNvPr id="6042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2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2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3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4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5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6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047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042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042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042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442" name="Group 2"/>
          <p:cNvGrpSpPr>
            <a:grpSpLocks/>
          </p:cNvGrpSpPr>
          <p:nvPr/>
        </p:nvGrpSpPr>
        <p:grpSpPr bwMode="auto">
          <a:xfrm>
            <a:off x="7073900" y="215900"/>
            <a:ext cx="1878013" cy="1250950"/>
            <a:chOff x="4456" y="136"/>
            <a:chExt cx="1183" cy="788"/>
          </a:xfrm>
        </p:grpSpPr>
        <p:grpSp>
          <p:nvGrpSpPr>
            <p:cNvPr id="61502" name="Group 3"/>
            <p:cNvGrpSpPr>
              <a:grpSpLocks/>
            </p:cNvGrpSpPr>
            <p:nvPr/>
          </p:nvGrpSpPr>
          <p:grpSpPr bwMode="auto">
            <a:xfrm>
              <a:off x="4766" y="232"/>
              <a:ext cx="873" cy="692"/>
              <a:chOff x="2185" y="310"/>
              <a:chExt cx="873" cy="692"/>
            </a:xfrm>
          </p:grpSpPr>
          <p:sp>
            <p:nvSpPr>
              <p:cNvPr id="6151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1503" name="Group 11"/>
            <p:cNvGrpSpPr>
              <a:grpSpLocks/>
            </p:cNvGrpSpPr>
            <p:nvPr/>
          </p:nvGrpSpPr>
          <p:grpSpPr bwMode="auto">
            <a:xfrm>
              <a:off x="4949" y="336"/>
              <a:ext cx="591" cy="468"/>
              <a:chOff x="2185" y="310"/>
              <a:chExt cx="873" cy="692"/>
            </a:xfrm>
          </p:grpSpPr>
          <p:sp>
            <p:nvSpPr>
              <p:cNvPr id="6150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1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150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50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12</a:t>
              </a:r>
              <a:endParaRPr lang="fr-FR" altLang="fr-FR" sz="3200">
                <a:solidFill>
                  <a:schemeClr val="tx1"/>
                </a:solidFill>
                <a:latin typeface="Arial Black" pitchFamily="34" charset="0"/>
              </a:endParaRPr>
            </a:p>
          </p:txBody>
        </p:sp>
      </p:grpSp>
      <p:sp>
        <p:nvSpPr>
          <p:cNvPr id="6144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144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1446" name="Group 24"/>
          <p:cNvGrpSpPr>
            <a:grpSpLocks/>
          </p:cNvGrpSpPr>
          <p:nvPr/>
        </p:nvGrpSpPr>
        <p:grpSpPr bwMode="auto">
          <a:xfrm>
            <a:off x="2986088" y="1306513"/>
            <a:ext cx="446087" cy="534987"/>
            <a:chOff x="868" y="1439"/>
            <a:chExt cx="811" cy="972"/>
          </a:xfrm>
        </p:grpSpPr>
        <p:sp>
          <p:nvSpPr>
            <p:cNvPr id="6145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5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6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7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8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49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150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144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144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145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466" name="Group 2"/>
          <p:cNvGrpSpPr>
            <a:grpSpLocks/>
          </p:cNvGrpSpPr>
          <p:nvPr/>
        </p:nvGrpSpPr>
        <p:grpSpPr bwMode="auto">
          <a:xfrm>
            <a:off x="7073900" y="215900"/>
            <a:ext cx="1878013" cy="1250950"/>
            <a:chOff x="4456" y="136"/>
            <a:chExt cx="1183" cy="788"/>
          </a:xfrm>
        </p:grpSpPr>
        <p:grpSp>
          <p:nvGrpSpPr>
            <p:cNvPr id="62526" name="Group 3"/>
            <p:cNvGrpSpPr>
              <a:grpSpLocks/>
            </p:cNvGrpSpPr>
            <p:nvPr/>
          </p:nvGrpSpPr>
          <p:grpSpPr bwMode="auto">
            <a:xfrm>
              <a:off x="4766" y="232"/>
              <a:ext cx="873" cy="692"/>
              <a:chOff x="2185" y="310"/>
              <a:chExt cx="873" cy="692"/>
            </a:xfrm>
          </p:grpSpPr>
          <p:sp>
            <p:nvSpPr>
              <p:cNvPr id="6253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4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4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4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4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2527" name="Group 11"/>
            <p:cNvGrpSpPr>
              <a:grpSpLocks/>
            </p:cNvGrpSpPr>
            <p:nvPr/>
          </p:nvGrpSpPr>
          <p:grpSpPr bwMode="auto">
            <a:xfrm>
              <a:off x="4949" y="336"/>
              <a:ext cx="591" cy="468"/>
              <a:chOff x="2185" y="310"/>
              <a:chExt cx="873" cy="692"/>
            </a:xfrm>
          </p:grpSpPr>
          <p:sp>
            <p:nvSpPr>
              <p:cNvPr id="6253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3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252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52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13</a:t>
              </a:r>
              <a:endParaRPr lang="fr-FR" altLang="fr-FR" sz="3200">
                <a:solidFill>
                  <a:schemeClr val="tx1"/>
                </a:solidFill>
                <a:latin typeface="Arial Black" pitchFamily="34" charset="0"/>
              </a:endParaRPr>
            </a:p>
          </p:txBody>
        </p:sp>
      </p:grpSp>
      <p:sp>
        <p:nvSpPr>
          <p:cNvPr id="6246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246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2470" name="Group 24"/>
          <p:cNvGrpSpPr>
            <a:grpSpLocks/>
          </p:cNvGrpSpPr>
          <p:nvPr/>
        </p:nvGrpSpPr>
        <p:grpSpPr bwMode="auto">
          <a:xfrm>
            <a:off x="2986088" y="1306513"/>
            <a:ext cx="446087" cy="534987"/>
            <a:chOff x="868" y="1439"/>
            <a:chExt cx="811" cy="972"/>
          </a:xfrm>
        </p:grpSpPr>
        <p:sp>
          <p:nvSpPr>
            <p:cNvPr id="6247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7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7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7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7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8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49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0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1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252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247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247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247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490" name="Group 2"/>
          <p:cNvGrpSpPr>
            <a:grpSpLocks/>
          </p:cNvGrpSpPr>
          <p:nvPr/>
        </p:nvGrpSpPr>
        <p:grpSpPr bwMode="auto">
          <a:xfrm>
            <a:off x="7073900" y="215900"/>
            <a:ext cx="1878013" cy="1250950"/>
            <a:chOff x="4456" y="136"/>
            <a:chExt cx="1183" cy="788"/>
          </a:xfrm>
        </p:grpSpPr>
        <p:grpSp>
          <p:nvGrpSpPr>
            <p:cNvPr id="63550" name="Group 3"/>
            <p:cNvGrpSpPr>
              <a:grpSpLocks/>
            </p:cNvGrpSpPr>
            <p:nvPr/>
          </p:nvGrpSpPr>
          <p:grpSpPr bwMode="auto">
            <a:xfrm>
              <a:off x="4766" y="232"/>
              <a:ext cx="873" cy="692"/>
              <a:chOff x="2185" y="310"/>
              <a:chExt cx="873" cy="692"/>
            </a:xfrm>
          </p:grpSpPr>
          <p:sp>
            <p:nvSpPr>
              <p:cNvPr id="6356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3551" name="Group 11"/>
            <p:cNvGrpSpPr>
              <a:grpSpLocks/>
            </p:cNvGrpSpPr>
            <p:nvPr/>
          </p:nvGrpSpPr>
          <p:grpSpPr bwMode="auto">
            <a:xfrm>
              <a:off x="4949" y="336"/>
              <a:ext cx="591" cy="468"/>
              <a:chOff x="2185" y="310"/>
              <a:chExt cx="873" cy="692"/>
            </a:xfrm>
          </p:grpSpPr>
          <p:sp>
            <p:nvSpPr>
              <p:cNvPr id="6355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5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6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355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55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14</a:t>
              </a:r>
              <a:endParaRPr lang="fr-FR" altLang="fr-FR" sz="3200">
                <a:solidFill>
                  <a:schemeClr val="tx1"/>
                </a:solidFill>
                <a:latin typeface="Arial Black" pitchFamily="34" charset="0"/>
              </a:endParaRPr>
            </a:p>
          </p:txBody>
        </p:sp>
      </p:grpSp>
      <p:sp>
        <p:nvSpPr>
          <p:cNvPr id="6349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349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3494" name="Group 24"/>
          <p:cNvGrpSpPr>
            <a:grpSpLocks/>
          </p:cNvGrpSpPr>
          <p:nvPr/>
        </p:nvGrpSpPr>
        <p:grpSpPr bwMode="auto">
          <a:xfrm>
            <a:off x="2986088" y="1306513"/>
            <a:ext cx="446087" cy="534987"/>
            <a:chOff x="868" y="1439"/>
            <a:chExt cx="811" cy="972"/>
          </a:xfrm>
        </p:grpSpPr>
        <p:sp>
          <p:nvSpPr>
            <p:cNvPr id="6349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0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1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2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3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354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349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349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349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514" name="Group 2"/>
          <p:cNvGrpSpPr>
            <a:grpSpLocks/>
          </p:cNvGrpSpPr>
          <p:nvPr/>
        </p:nvGrpSpPr>
        <p:grpSpPr bwMode="auto">
          <a:xfrm>
            <a:off x="7073900" y="215900"/>
            <a:ext cx="1878013" cy="1250950"/>
            <a:chOff x="4456" y="136"/>
            <a:chExt cx="1183" cy="788"/>
          </a:xfrm>
        </p:grpSpPr>
        <p:grpSp>
          <p:nvGrpSpPr>
            <p:cNvPr id="64574" name="Group 3"/>
            <p:cNvGrpSpPr>
              <a:grpSpLocks/>
            </p:cNvGrpSpPr>
            <p:nvPr/>
          </p:nvGrpSpPr>
          <p:grpSpPr bwMode="auto">
            <a:xfrm>
              <a:off x="4766" y="232"/>
              <a:ext cx="873" cy="692"/>
              <a:chOff x="2185" y="310"/>
              <a:chExt cx="873" cy="692"/>
            </a:xfrm>
          </p:grpSpPr>
          <p:sp>
            <p:nvSpPr>
              <p:cNvPr id="6458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9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9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4575" name="Group 11"/>
            <p:cNvGrpSpPr>
              <a:grpSpLocks/>
            </p:cNvGrpSpPr>
            <p:nvPr/>
          </p:nvGrpSpPr>
          <p:grpSpPr bwMode="auto">
            <a:xfrm>
              <a:off x="4949" y="336"/>
              <a:ext cx="591" cy="468"/>
              <a:chOff x="2185" y="310"/>
              <a:chExt cx="873" cy="692"/>
            </a:xfrm>
          </p:grpSpPr>
          <p:sp>
            <p:nvSpPr>
              <p:cNvPr id="6457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8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457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57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15</a:t>
              </a:r>
              <a:endParaRPr lang="fr-FR" altLang="fr-FR" sz="3200">
                <a:solidFill>
                  <a:schemeClr val="tx1"/>
                </a:solidFill>
                <a:latin typeface="Arial Black" pitchFamily="34" charset="0"/>
              </a:endParaRPr>
            </a:p>
          </p:txBody>
        </p:sp>
      </p:grpSp>
      <p:sp>
        <p:nvSpPr>
          <p:cNvPr id="6451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451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4518" name="Group 24"/>
          <p:cNvGrpSpPr>
            <a:grpSpLocks/>
          </p:cNvGrpSpPr>
          <p:nvPr/>
        </p:nvGrpSpPr>
        <p:grpSpPr bwMode="auto">
          <a:xfrm>
            <a:off x="2986088" y="1306513"/>
            <a:ext cx="446087" cy="534987"/>
            <a:chOff x="868" y="1439"/>
            <a:chExt cx="811" cy="972"/>
          </a:xfrm>
        </p:grpSpPr>
        <p:sp>
          <p:nvSpPr>
            <p:cNvPr id="6452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2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3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4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5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6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457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452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452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452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p:cNvSpPr>
            <a:spLocks noGrp="1" noChangeArrowheads="1"/>
          </p:cNvSpPr>
          <p:nvPr>
            <p:ph type="title"/>
          </p:nvPr>
        </p:nvSpPr>
        <p:spPr/>
        <p:txBody>
          <a:bodyPr/>
          <a:lstStyle/>
          <a:p>
            <a:pPr eaLnBrk="1" hangingPunct="1"/>
            <a:r>
              <a:rPr lang="fr-FR" altLang="fr-FR"/>
              <a:t>Question</a:t>
            </a:r>
          </a:p>
        </p:txBody>
      </p:sp>
      <p:sp>
        <p:nvSpPr>
          <p:cNvPr id="65539" name="Rectangle 3"/>
          <p:cNvSpPr>
            <a:spLocks noGrp="1" noChangeArrowheads="1"/>
          </p:cNvSpPr>
          <p:nvPr>
            <p:ph type="body" idx="1"/>
          </p:nvPr>
        </p:nvSpPr>
        <p:spPr>
          <a:xfrm>
            <a:off x="466725" y="1730375"/>
            <a:ext cx="8229600" cy="4314825"/>
          </a:xfrm>
        </p:spPr>
        <p:txBody>
          <a:bodyPr/>
          <a:lstStyle/>
          <a:p>
            <a:pPr eaLnBrk="1" hangingPunct="1">
              <a:lnSpc>
                <a:spcPct val="110000"/>
              </a:lnSpc>
              <a:buFontTx/>
              <a:buNone/>
            </a:pPr>
            <a:r>
              <a:rPr lang="fr-FR" altLang="fr-FR" u="sng"/>
              <a:t>Origine</a:t>
            </a:r>
            <a:r>
              <a:rPr lang="fr-FR" altLang="fr-FR"/>
              <a:t> : Bureau d’étude</a:t>
            </a:r>
          </a:p>
          <a:p>
            <a:pPr eaLnBrk="1" hangingPunct="1">
              <a:lnSpc>
                <a:spcPct val="110000"/>
              </a:lnSpc>
              <a:buFontTx/>
              <a:buNone/>
            </a:pPr>
            <a:r>
              <a:rPr lang="fr-FR" altLang="fr-FR" u="sng"/>
              <a:t>Destinataire</a:t>
            </a:r>
            <a:r>
              <a:rPr lang="fr-FR" altLang="fr-FR"/>
              <a:t> : Production</a:t>
            </a:r>
          </a:p>
          <a:p>
            <a:pPr eaLnBrk="1" hangingPunct="1">
              <a:lnSpc>
                <a:spcPct val="110000"/>
              </a:lnSpc>
              <a:buFontTx/>
              <a:buNone/>
            </a:pPr>
            <a:endParaRPr lang="fr-FR" altLang="fr-FR"/>
          </a:p>
          <a:p>
            <a:pPr eaLnBrk="1" hangingPunct="1">
              <a:lnSpc>
                <a:spcPct val="110000"/>
              </a:lnSpc>
            </a:pPr>
            <a:r>
              <a:rPr lang="fr-FR" altLang="fr-FR"/>
              <a:t>A la suite d'une analyse faite par le Service Qualité, il faut envisager un changement dans la gamme d'usinage du carter. </a:t>
            </a:r>
          </a:p>
          <a:p>
            <a:pPr eaLnBrk="1" hangingPunct="1">
              <a:lnSpc>
                <a:spcPct val="110000"/>
              </a:lnSpc>
            </a:pPr>
            <a:r>
              <a:rPr lang="fr-FR" altLang="fr-FR"/>
              <a:t>Pouvez-vous me dire le temps nécessaire pour que la modification soit appliquée aux produits livrés chez les clients ?</a:t>
            </a:r>
          </a:p>
        </p:txBody>
      </p:sp>
    </p:spTree>
  </p:cSld>
  <p:clrMapOvr>
    <a:masterClrMapping/>
  </p:clrMapOvr>
  <p:transition spd="slow"/>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562" name="Group 2"/>
          <p:cNvGrpSpPr>
            <a:grpSpLocks/>
          </p:cNvGrpSpPr>
          <p:nvPr/>
        </p:nvGrpSpPr>
        <p:grpSpPr bwMode="auto">
          <a:xfrm>
            <a:off x="7073900" y="215900"/>
            <a:ext cx="1878013" cy="1250950"/>
            <a:chOff x="4456" y="136"/>
            <a:chExt cx="1183" cy="788"/>
          </a:xfrm>
        </p:grpSpPr>
        <p:grpSp>
          <p:nvGrpSpPr>
            <p:cNvPr id="66622" name="Group 3"/>
            <p:cNvGrpSpPr>
              <a:grpSpLocks/>
            </p:cNvGrpSpPr>
            <p:nvPr/>
          </p:nvGrpSpPr>
          <p:grpSpPr bwMode="auto">
            <a:xfrm>
              <a:off x="4766" y="232"/>
              <a:ext cx="873" cy="692"/>
              <a:chOff x="2185" y="310"/>
              <a:chExt cx="873" cy="692"/>
            </a:xfrm>
          </p:grpSpPr>
          <p:sp>
            <p:nvSpPr>
              <p:cNvPr id="6663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6623" name="Group 11"/>
            <p:cNvGrpSpPr>
              <a:grpSpLocks/>
            </p:cNvGrpSpPr>
            <p:nvPr/>
          </p:nvGrpSpPr>
          <p:grpSpPr bwMode="auto">
            <a:xfrm>
              <a:off x="4949" y="336"/>
              <a:ext cx="591" cy="468"/>
              <a:chOff x="2185" y="310"/>
              <a:chExt cx="873" cy="692"/>
            </a:xfrm>
          </p:grpSpPr>
          <p:sp>
            <p:nvSpPr>
              <p:cNvPr id="6662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3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662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62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16</a:t>
              </a:r>
              <a:endParaRPr lang="fr-FR" altLang="fr-FR" sz="3200">
                <a:solidFill>
                  <a:schemeClr val="tx1"/>
                </a:solidFill>
                <a:latin typeface="Arial Black" pitchFamily="34" charset="0"/>
              </a:endParaRPr>
            </a:p>
          </p:txBody>
        </p:sp>
      </p:grpSp>
      <p:sp>
        <p:nvSpPr>
          <p:cNvPr id="6656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656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6566" name="Group 24"/>
          <p:cNvGrpSpPr>
            <a:grpSpLocks/>
          </p:cNvGrpSpPr>
          <p:nvPr/>
        </p:nvGrpSpPr>
        <p:grpSpPr bwMode="auto">
          <a:xfrm>
            <a:off x="2986088" y="1306513"/>
            <a:ext cx="446087" cy="534987"/>
            <a:chOff x="868" y="1439"/>
            <a:chExt cx="811" cy="972"/>
          </a:xfrm>
        </p:grpSpPr>
        <p:sp>
          <p:nvSpPr>
            <p:cNvPr id="6657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7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8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59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0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1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662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656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Mardi</a:t>
            </a:r>
          </a:p>
        </p:txBody>
      </p:sp>
      <p:sp>
        <p:nvSpPr>
          <p:cNvPr id="6656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657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587" name="Group 3"/>
          <p:cNvGrpSpPr>
            <a:grpSpLocks/>
          </p:cNvGrpSpPr>
          <p:nvPr/>
        </p:nvGrpSpPr>
        <p:grpSpPr bwMode="auto">
          <a:xfrm>
            <a:off x="7073900" y="215900"/>
            <a:ext cx="1878013" cy="1250950"/>
            <a:chOff x="4456" y="136"/>
            <a:chExt cx="1183" cy="788"/>
          </a:xfrm>
        </p:grpSpPr>
        <p:grpSp>
          <p:nvGrpSpPr>
            <p:cNvPr id="67704" name="Group 4"/>
            <p:cNvGrpSpPr>
              <a:grpSpLocks/>
            </p:cNvGrpSpPr>
            <p:nvPr/>
          </p:nvGrpSpPr>
          <p:grpSpPr bwMode="auto">
            <a:xfrm>
              <a:off x="4766" y="232"/>
              <a:ext cx="873" cy="692"/>
              <a:chOff x="2185" y="310"/>
              <a:chExt cx="873" cy="692"/>
            </a:xfrm>
          </p:grpSpPr>
          <p:sp>
            <p:nvSpPr>
              <p:cNvPr id="67715"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6"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7"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8"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9"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20"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21"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7705" name="Group 12"/>
            <p:cNvGrpSpPr>
              <a:grpSpLocks/>
            </p:cNvGrpSpPr>
            <p:nvPr/>
          </p:nvGrpSpPr>
          <p:grpSpPr bwMode="auto">
            <a:xfrm>
              <a:off x="4949" y="336"/>
              <a:ext cx="591" cy="468"/>
              <a:chOff x="2185" y="310"/>
              <a:chExt cx="873" cy="692"/>
            </a:xfrm>
          </p:grpSpPr>
          <p:sp>
            <p:nvSpPr>
              <p:cNvPr id="67708"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9"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0"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1"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2"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3"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14"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7706"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707"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17</a:t>
              </a:r>
              <a:endParaRPr lang="fr-FR" altLang="fr-FR" sz="3200">
                <a:solidFill>
                  <a:schemeClr val="tx1"/>
                </a:solidFill>
                <a:latin typeface="Arial Black" pitchFamily="34" charset="0"/>
              </a:endParaRPr>
            </a:p>
          </p:txBody>
        </p:sp>
      </p:grpSp>
      <p:sp>
        <p:nvSpPr>
          <p:cNvPr id="67588" name="Text Box 22"/>
          <p:cNvSpPr txBox="1">
            <a:spLocks noChangeArrowheads="1"/>
          </p:cNvSpPr>
          <p:nvPr/>
        </p:nvSpPr>
        <p:spPr bwMode="auto">
          <a:xfrm>
            <a:off x="1868488" y="367188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67589" name="Text Box 23"/>
          <p:cNvSpPr txBox="1">
            <a:spLocks noChangeArrowheads="1"/>
          </p:cNvSpPr>
          <p:nvPr/>
        </p:nvSpPr>
        <p:spPr bwMode="auto">
          <a:xfrm>
            <a:off x="3243263" y="367188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R5</a:t>
            </a:r>
          </a:p>
        </p:txBody>
      </p:sp>
      <p:sp>
        <p:nvSpPr>
          <p:cNvPr id="67590" name="Text Box 24"/>
          <p:cNvSpPr txBox="1">
            <a:spLocks noChangeArrowheads="1"/>
          </p:cNvSpPr>
          <p:nvPr/>
        </p:nvSpPr>
        <p:spPr bwMode="auto">
          <a:xfrm>
            <a:off x="4618038" y="366236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R6</a:t>
            </a:r>
          </a:p>
        </p:txBody>
      </p:sp>
      <p:sp>
        <p:nvSpPr>
          <p:cNvPr id="67591" name="Oval 25"/>
          <p:cNvSpPr>
            <a:spLocks noChangeArrowheads="1"/>
          </p:cNvSpPr>
          <p:nvPr/>
        </p:nvSpPr>
        <p:spPr bwMode="auto">
          <a:xfrm rot="-5400000">
            <a:off x="6169819" y="30773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67592" name="Text Box 26"/>
          <p:cNvSpPr txBox="1">
            <a:spLocks noChangeArrowheads="1"/>
          </p:cNvSpPr>
          <p:nvPr/>
        </p:nvSpPr>
        <p:spPr bwMode="auto">
          <a:xfrm>
            <a:off x="5749925" y="3606800"/>
            <a:ext cx="3046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5 Couronnes (ph. A)</a:t>
            </a:r>
          </a:p>
        </p:txBody>
      </p:sp>
      <p:sp>
        <p:nvSpPr>
          <p:cNvPr id="67593" name="Rectangle 27"/>
          <p:cNvSpPr>
            <a:spLocks noGrp="1" noChangeArrowheads="1"/>
          </p:cNvSpPr>
          <p:nvPr>
            <p:ph type="title"/>
          </p:nvPr>
        </p:nvSpPr>
        <p:spPr>
          <a:xfrm>
            <a:off x="858838" y="0"/>
            <a:ext cx="6038850" cy="647700"/>
          </a:xfrm>
        </p:spPr>
        <p:txBody>
          <a:bodyPr/>
          <a:lstStyle/>
          <a:p>
            <a:pPr eaLnBrk="1" hangingPunct="1"/>
            <a:r>
              <a:rPr lang="fr-FR" altLang="fr-FR"/>
              <a:t>Sem. 1 - Mercredi (St Geoffroy)</a:t>
            </a:r>
          </a:p>
        </p:txBody>
      </p:sp>
      <p:sp>
        <p:nvSpPr>
          <p:cNvPr id="67594"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67595"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7596" name="Text Box 30"/>
          <p:cNvSpPr txBox="1">
            <a:spLocks noChangeArrowheads="1"/>
          </p:cNvSpPr>
          <p:nvPr/>
        </p:nvSpPr>
        <p:spPr bwMode="auto">
          <a:xfrm>
            <a:off x="588963" y="4249738"/>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7597" name="Group 32"/>
          <p:cNvGrpSpPr>
            <a:grpSpLocks/>
          </p:cNvGrpSpPr>
          <p:nvPr/>
        </p:nvGrpSpPr>
        <p:grpSpPr bwMode="auto">
          <a:xfrm>
            <a:off x="2843213" y="1106488"/>
            <a:ext cx="446087" cy="534987"/>
            <a:chOff x="868" y="1439"/>
            <a:chExt cx="811" cy="972"/>
          </a:xfrm>
        </p:grpSpPr>
        <p:sp>
          <p:nvSpPr>
            <p:cNvPr id="67653"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4"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5"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6"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7"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8"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59"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0"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1"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2"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3"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4"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5"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6"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7"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8"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69"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0"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1"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2"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3"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4"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5"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6"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7"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8"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79"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0"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1"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2"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3"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4"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5"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6"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7"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8"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89"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0"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1"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2"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3"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4"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5"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6"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7"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8"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699"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0"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1"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2"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7703"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7598" name="Group 84"/>
          <p:cNvGrpSpPr>
            <a:grpSpLocks/>
          </p:cNvGrpSpPr>
          <p:nvPr/>
        </p:nvGrpSpPr>
        <p:grpSpPr bwMode="auto">
          <a:xfrm rot="-223274">
            <a:off x="2001838" y="2878138"/>
            <a:ext cx="744537" cy="733425"/>
            <a:chOff x="2757" y="1666"/>
            <a:chExt cx="812" cy="800"/>
          </a:xfrm>
        </p:grpSpPr>
        <p:sp>
          <p:nvSpPr>
            <p:cNvPr id="67647"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48"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49"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50"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51"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52"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7599" name="Group 91"/>
          <p:cNvGrpSpPr>
            <a:grpSpLocks/>
          </p:cNvGrpSpPr>
          <p:nvPr/>
        </p:nvGrpSpPr>
        <p:grpSpPr bwMode="auto">
          <a:xfrm rot="-223274">
            <a:off x="3321050" y="2914650"/>
            <a:ext cx="744538" cy="733425"/>
            <a:chOff x="2757" y="1666"/>
            <a:chExt cx="812" cy="800"/>
          </a:xfrm>
        </p:grpSpPr>
        <p:sp>
          <p:nvSpPr>
            <p:cNvPr id="67641"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42"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43"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44"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45"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46"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7600" name="Group 105"/>
          <p:cNvGrpSpPr>
            <a:grpSpLocks/>
          </p:cNvGrpSpPr>
          <p:nvPr/>
        </p:nvGrpSpPr>
        <p:grpSpPr bwMode="auto">
          <a:xfrm rot="-223274">
            <a:off x="4675188" y="2851150"/>
            <a:ext cx="744537" cy="733425"/>
            <a:chOff x="2757" y="1666"/>
            <a:chExt cx="812" cy="800"/>
          </a:xfrm>
        </p:grpSpPr>
        <p:sp>
          <p:nvSpPr>
            <p:cNvPr id="67635" name="Freeform 10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36" name="Freeform 10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37" name="Line 10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38" name="Freeform 10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39" name="Freeform 1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40" name="AutoShape 1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67601" name="Oval 112"/>
          <p:cNvSpPr>
            <a:spLocks noChangeArrowheads="1"/>
          </p:cNvSpPr>
          <p:nvPr/>
        </p:nvSpPr>
        <p:spPr bwMode="auto">
          <a:xfrm rot="-5400000">
            <a:off x="6531769" y="30773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67602" name="Oval 113"/>
          <p:cNvSpPr>
            <a:spLocks noChangeArrowheads="1"/>
          </p:cNvSpPr>
          <p:nvPr/>
        </p:nvSpPr>
        <p:spPr bwMode="auto">
          <a:xfrm rot="-5400000">
            <a:off x="6895307" y="307736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67603" name="Oval 114"/>
          <p:cNvSpPr>
            <a:spLocks noChangeArrowheads="1"/>
          </p:cNvSpPr>
          <p:nvPr/>
        </p:nvSpPr>
        <p:spPr bwMode="auto">
          <a:xfrm rot="-5400000">
            <a:off x="7271544" y="30773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67604" name="Oval 115"/>
          <p:cNvSpPr>
            <a:spLocks noChangeArrowheads="1"/>
          </p:cNvSpPr>
          <p:nvPr/>
        </p:nvSpPr>
        <p:spPr bwMode="auto">
          <a:xfrm rot="-5400000">
            <a:off x="7635082" y="307736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67605" name="Group 116"/>
          <p:cNvGrpSpPr>
            <a:grpSpLocks/>
          </p:cNvGrpSpPr>
          <p:nvPr/>
        </p:nvGrpSpPr>
        <p:grpSpPr bwMode="auto">
          <a:xfrm rot="-223274">
            <a:off x="3278188" y="2673350"/>
            <a:ext cx="744537" cy="733425"/>
            <a:chOff x="2757" y="1666"/>
            <a:chExt cx="812" cy="800"/>
          </a:xfrm>
        </p:grpSpPr>
        <p:sp>
          <p:nvSpPr>
            <p:cNvPr id="67629" name="Freeform 11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30" name="Freeform 11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31" name="Line 11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32" name="Freeform 12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33" name="Freeform 12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34" name="AutoShape 12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67606" name="Text Box 130"/>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67607" name="Text Box 131"/>
          <p:cNvSpPr txBox="1">
            <a:spLocks noChangeArrowheads="1"/>
          </p:cNvSpPr>
          <p:nvPr/>
        </p:nvSpPr>
        <p:spPr bwMode="auto">
          <a:xfrm>
            <a:off x="669925" y="363378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grpSp>
        <p:nvGrpSpPr>
          <p:cNvPr id="67608" name="Group 132"/>
          <p:cNvGrpSpPr>
            <a:grpSpLocks/>
          </p:cNvGrpSpPr>
          <p:nvPr/>
        </p:nvGrpSpPr>
        <p:grpSpPr bwMode="auto">
          <a:xfrm rot="-223274">
            <a:off x="709613" y="2876550"/>
            <a:ext cx="744537" cy="733425"/>
            <a:chOff x="2757" y="1666"/>
            <a:chExt cx="812" cy="800"/>
          </a:xfrm>
        </p:grpSpPr>
        <p:sp>
          <p:nvSpPr>
            <p:cNvPr id="67623" name="Freeform 13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24" name="Freeform 13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25" name="Line 13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26" name="Freeform 13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27" name="Freeform 13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28" name="AutoShape 13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7609" name="Group 139"/>
          <p:cNvGrpSpPr>
            <a:grpSpLocks/>
          </p:cNvGrpSpPr>
          <p:nvPr/>
        </p:nvGrpSpPr>
        <p:grpSpPr bwMode="auto">
          <a:xfrm rot="-223274">
            <a:off x="666750" y="2635250"/>
            <a:ext cx="744538" cy="733425"/>
            <a:chOff x="2757" y="1666"/>
            <a:chExt cx="812" cy="800"/>
          </a:xfrm>
        </p:grpSpPr>
        <p:sp>
          <p:nvSpPr>
            <p:cNvPr id="67617" name="Freeform 14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18" name="Freeform 14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19" name="Line 14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20" name="Freeform 14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21" name="Freeform 14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22" name="AutoShape 14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7610" name="Group 146"/>
          <p:cNvGrpSpPr>
            <a:grpSpLocks/>
          </p:cNvGrpSpPr>
          <p:nvPr/>
        </p:nvGrpSpPr>
        <p:grpSpPr bwMode="auto">
          <a:xfrm rot="-223274">
            <a:off x="4675188" y="2603500"/>
            <a:ext cx="744537" cy="733425"/>
            <a:chOff x="2757" y="1666"/>
            <a:chExt cx="812" cy="800"/>
          </a:xfrm>
        </p:grpSpPr>
        <p:sp>
          <p:nvSpPr>
            <p:cNvPr id="67611" name="Freeform 14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12" name="Freeform 14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67613" name="Line 14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614" name="Freeform 15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67615" name="Freeform 15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67616" name="AutoShape 15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610" name="Group 2"/>
          <p:cNvGrpSpPr>
            <a:grpSpLocks/>
          </p:cNvGrpSpPr>
          <p:nvPr/>
        </p:nvGrpSpPr>
        <p:grpSpPr bwMode="auto">
          <a:xfrm>
            <a:off x="7073900" y="215900"/>
            <a:ext cx="1878013" cy="1250950"/>
            <a:chOff x="4456" y="136"/>
            <a:chExt cx="1183" cy="788"/>
          </a:xfrm>
        </p:grpSpPr>
        <p:grpSp>
          <p:nvGrpSpPr>
            <p:cNvPr id="68670" name="Group 3"/>
            <p:cNvGrpSpPr>
              <a:grpSpLocks/>
            </p:cNvGrpSpPr>
            <p:nvPr/>
          </p:nvGrpSpPr>
          <p:grpSpPr bwMode="auto">
            <a:xfrm>
              <a:off x="4766" y="232"/>
              <a:ext cx="873" cy="692"/>
              <a:chOff x="2185" y="310"/>
              <a:chExt cx="873" cy="692"/>
            </a:xfrm>
          </p:grpSpPr>
          <p:sp>
            <p:nvSpPr>
              <p:cNvPr id="6868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8671" name="Group 11"/>
            <p:cNvGrpSpPr>
              <a:grpSpLocks/>
            </p:cNvGrpSpPr>
            <p:nvPr/>
          </p:nvGrpSpPr>
          <p:grpSpPr bwMode="auto">
            <a:xfrm>
              <a:off x="4949" y="336"/>
              <a:ext cx="591" cy="468"/>
              <a:chOff x="2185" y="310"/>
              <a:chExt cx="873" cy="692"/>
            </a:xfrm>
          </p:grpSpPr>
          <p:sp>
            <p:nvSpPr>
              <p:cNvPr id="6867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7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8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867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67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18</a:t>
              </a:r>
              <a:endParaRPr lang="fr-FR" altLang="fr-FR" sz="3200">
                <a:solidFill>
                  <a:schemeClr val="tx1"/>
                </a:solidFill>
                <a:latin typeface="Arial Black" pitchFamily="34" charset="0"/>
              </a:endParaRPr>
            </a:p>
          </p:txBody>
        </p:sp>
      </p:grpSp>
      <p:sp>
        <p:nvSpPr>
          <p:cNvPr id="6861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861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8614" name="Group 24"/>
          <p:cNvGrpSpPr>
            <a:grpSpLocks/>
          </p:cNvGrpSpPr>
          <p:nvPr/>
        </p:nvGrpSpPr>
        <p:grpSpPr bwMode="auto">
          <a:xfrm>
            <a:off x="2986088" y="1306513"/>
            <a:ext cx="446087" cy="534987"/>
            <a:chOff x="868" y="1439"/>
            <a:chExt cx="811" cy="972"/>
          </a:xfrm>
        </p:grpSpPr>
        <p:sp>
          <p:nvSpPr>
            <p:cNvPr id="6861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2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3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4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5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866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861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6861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861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634" name="Group 2"/>
          <p:cNvGrpSpPr>
            <a:grpSpLocks/>
          </p:cNvGrpSpPr>
          <p:nvPr/>
        </p:nvGrpSpPr>
        <p:grpSpPr bwMode="auto">
          <a:xfrm>
            <a:off x="7073900" y="215900"/>
            <a:ext cx="1878013" cy="1250950"/>
            <a:chOff x="4456" y="136"/>
            <a:chExt cx="1183" cy="788"/>
          </a:xfrm>
        </p:grpSpPr>
        <p:grpSp>
          <p:nvGrpSpPr>
            <p:cNvPr id="69694" name="Group 3"/>
            <p:cNvGrpSpPr>
              <a:grpSpLocks/>
            </p:cNvGrpSpPr>
            <p:nvPr/>
          </p:nvGrpSpPr>
          <p:grpSpPr bwMode="auto">
            <a:xfrm>
              <a:off x="4766" y="232"/>
              <a:ext cx="873" cy="692"/>
              <a:chOff x="2185" y="310"/>
              <a:chExt cx="873" cy="692"/>
            </a:xfrm>
          </p:grpSpPr>
          <p:sp>
            <p:nvSpPr>
              <p:cNvPr id="6970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1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1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69695" name="Group 11"/>
            <p:cNvGrpSpPr>
              <a:grpSpLocks/>
            </p:cNvGrpSpPr>
            <p:nvPr/>
          </p:nvGrpSpPr>
          <p:grpSpPr bwMode="auto">
            <a:xfrm>
              <a:off x="4949" y="336"/>
              <a:ext cx="591" cy="468"/>
              <a:chOff x="2185" y="310"/>
              <a:chExt cx="873" cy="692"/>
            </a:xfrm>
          </p:grpSpPr>
          <p:sp>
            <p:nvSpPr>
              <p:cNvPr id="6969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70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6969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9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19</a:t>
              </a:r>
              <a:endParaRPr lang="fr-FR" altLang="fr-FR" sz="3200">
                <a:solidFill>
                  <a:schemeClr val="tx1"/>
                </a:solidFill>
                <a:latin typeface="Arial Black" pitchFamily="34" charset="0"/>
              </a:endParaRPr>
            </a:p>
          </p:txBody>
        </p:sp>
      </p:grpSp>
      <p:sp>
        <p:nvSpPr>
          <p:cNvPr id="6963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6963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69638" name="Group 24"/>
          <p:cNvGrpSpPr>
            <a:grpSpLocks/>
          </p:cNvGrpSpPr>
          <p:nvPr/>
        </p:nvGrpSpPr>
        <p:grpSpPr bwMode="auto">
          <a:xfrm>
            <a:off x="2986088" y="1306513"/>
            <a:ext cx="446087" cy="534987"/>
            <a:chOff x="868" y="1439"/>
            <a:chExt cx="811" cy="972"/>
          </a:xfrm>
        </p:grpSpPr>
        <p:sp>
          <p:nvSpPr>
            <p:cNvPr id="6964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4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5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6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7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8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6969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6964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6964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6964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658" name="Group 2"/>
          <p:cNvGrpSpPr>
            <a:grpSpLocks/>
          </p:cNvGrpSpPr>
          <p:nvPr/>
        </p:nvGrpSpPr>
        <p:grpSpPr bwMode="auto">
          <a:xfrm>
            <a:off x="7073900" y="215900"/>
            <a:ext cx="1878013" cy="1250950"/>
            <a:chOff x="4456" y="136"/>
            <a:chExt cx="1183" cy="788"/>
          </a:xfrm>
        </p:grpSpPr>
        <p:grpSp>
          <p:nvGrpSpPr>
            <p:cNvPr id="70718" name="Group 3"/>
            <p:cNvGrpSpPr>
              <a:grpSpLocks/>
            </p:cNvGrpSpPr>
            <p:nvPr/>
          </p:nvGrpSpPr>
          <p:grpSpPr bwMode="auto">
            <a:xfrm>
              <a:off x="4766" y="232"/>
              <a:ext cx="873" cy="692"/>
              <a:chOff x="2185" y="310"/>
              <a:chExt cx="873" cy="692"/>
            </a:xfrm>
          </p:grpSpPr>
          <p:sp>
            <p:nvSpPr>
              <p:cNvPr id="7072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3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0719" name="Group 11"/>
            <p:cNvGrpSpPr>
              <a:grpSpLocks/>
            </p:cNvGrpSpPr>
            <p:nvPr/>
          </p:nvGrpSpPr>
          <p:grpSpPr bwMode="auto">
            <a:xfrm>
              <a:off x="4949" y="336"/>
              <a:ext cx="591" cy="468"/>
              <a:chOff x="2185" y="310"/>
              <a:chExt cx="873" cy="692"/>
            </a:xfrm>
          </p:grpSpPr>
          <p:sp>
            <p:nvSpPr>
              <p:cNvPr id="7072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2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072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2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20</a:t>
              </a:r>
              <a:endParaRPr lang="fr-FR" altLang="fr-FR" sz="3200">
                <a:solidFill>
                  <a:schemeClr val="tx1"/>
                </a:solidFill>
                <a:latin typeface="Arial Black" pitchFamily="34" charset="0"/>
              </a:endParaRPr>
            </a:p>
          </p:txBody>
        </p:sp>
      </p:grpSp>
      <p:sp>
        <p:nvSpPr>
          <p:cNvPr id="7066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066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0662" name="Group 24"/>
          <p:cNvGrpSpPr>
            <a:grpSpLocks/>
          </p:cNvGrpSpPr>
          <p:nvPr/>
        </p:nvGrpSpPr>
        <p:grpSpPr bwMode="auto">
          <a:xfrm>
            <a:off x="2986088" y="1306513"/>
            <a:ext cx="446087" cy="534987"/>
            <a:chOff x="868" y="1439"/>
            <a:chExt cx="811" cy="972"/>
          </a:xfrm>
        </p:grpSpPr>
        <p:sp>
          <p:nvSpPr>
            <p:cNvPr id="7066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6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6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7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8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69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0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071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066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066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066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682" name="Group 2"/>
          <p:cNvGrpSpPr>
            <a:grpSpLocks/>
          </p:cNvGrpSpPr>
          <p:nvPr/>
        </p:nvGrpSpPr>
        <p:grpSpPr bwMode="auto">
          <a:xfrm>
            <a:off x="7073900" y="215900"/>
            <a:ext cx="1878013" cy="1250950"/>
            <a:chOff x="4456" y="136"/>
            <a:chExt cx="1183" cy="788"/>
          </a:xfrm>
        </p:grpSpPr>
        <p:grpSp>
          <p:nvGrpSpPr>
            <p:cNvPr id="71742" name="Group 3"/>
            <p:cNvGrpSpPr>
              <a:grpSpLocks/>
            </p:cNvGrpSpPr>
            <p:nvPr/>
          </p:nvGrpSpPr>
          <p:grpSpPr bwMode="auto">
            <a:xfrm>
              <a:off x="4766" y="232"/>
              <a:ext cx="873" cy="692"/>
              <a:chOff x="2185" y="310"/>
              <a:chExt cx="873" cy="692"/>
            </a:xfrm>
          </p:grpSpPr>
          <p:sp>
            <p:nvSpPr>
              <p:cNvPr id="7175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1743" name="Group 11"/>
            <p:cNvGrpSpPr>
              <a:grpSpLocks/>
            </p:cNvGrpSpPr>
            <p:nvPr/>
          </p:nvGrpSpPr>
          <p:grpSpPr bwMode="auto">
            <a:xfrm>
              <a:off x="4949" y="336"/>
              <a:ext cx="591" cy="468"/>
              <a:chOff x="2185" y="310"/>
              <a:chExt cx="873" cy="692"/>
            </a:xfrm>
          </p:grpSpPr>
          <p:sp>
            <p:nvSpPr>
              <p:cNvPr id="7174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5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174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4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21</a:t>
              </a:r>
              <a:endParaRPr lang="fr-FR" altLang="fr-FR" sz="3200">
                <a:solidFill>
                  <a:schemeClr val="tx1"/>
                </a:solidFill>
                <a:latin typeface="Arial Black" pitchFamily="34" charset="0"/>
              </a:endParaRPr>
            </a:p>
          </p:txBody>
        </p:sp>
      </p:grpSp>
      <p:sp>
        <p:nvSpPr>
          <p:cNvPr id="7168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168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1686" name="Group 24"/>
          <p:cNvGrpSpPr>
            <a:grpSpLocks/>
          </p:cNvGrpSpPr>
          <p:nvPr/>
        </p:nvGrpSpPr>
        <p:grpSpPr bwMode="auto">
          <a:xfrm>
            <a:off x="2986088" y="1306513"/>
            <a:ext cx="446087" cy="534987"/>
            <a:chOff x="868" y="1439"/>
            <a:chExt cx="811" cy="972"/>
          </a:xfrm>
        </p:grpSpPr>
        <p:sp>
          <p:nvSpPr>
            <p:cNvPr id="7169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69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0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1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2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3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174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168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168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169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706" name="Group 2"/>
          <p:cNvGrpSpPr>
            <a:grpSpLocks/>
          </p:cNvGrpSpPr>
          <p:nvPr/>
        </p:nvGrpSpPr>
        <p:grpSpPr bwMode="auto">
          <a:xfrm>
            <a:off x="7073900" y="215900"/>
            <a:ext cx="1878013" cy="1250950"/>
            <a:chOff x="4456" y="136"/>
            <a:chExt cx="1183" cy="788"/>
          </a:xfrm>
        </p:grpSpPr>
        <p:grpSp>
          <p:nvGrpSpPr>
            <p:cNvPr id="72766" name="Group 3"/>
            <p:cNvGrpSpPr>
              <a:grpSpLocks/>
            </p:cNvGrpSpPr>
            <p:nvPr/>
          </p:nvGrpSpPr>
          <p:grpSpPr bwMode="auto">
            <a:xfrm>
              <a:off x="4766" y="232"/>
              <a:ext cx="873" cy="692"/>
              <a:chOff x="2185" y="310"/>
              <a:chExt cx="873" cy="692"/>
            </a:xfrm>
          </p:grpSpPr>
          <p:sp>
            <p:nvSpPr>
              <p:cNvPr id="7277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8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8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8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8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2767" name="Group 11"/>
            <p:cNvGrpSpPr>
              <a:grpSpLocks/>
            </p:cNvGrpSpPr>
            <p:nvPr/>
          </p:nvGrpSpPr>
          <p:grpSpPr bwMode="auto">
            <a:xfrm>
              <a:off x="4949" y="336"/>
              <a:ext cx="591" cy="468"/>
              <a:chOff x="2185" y="310"/>
              <a:chExt cx="873" cy="692"/>
            </a:xfrm>
          </p:grpSpPr>
          <p:sp>
            <p:nvSpPr>
              <p:cNvPr id="7277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7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276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76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22</a:t>
              </a:r>
              <a:endParaRPr lang="fr-FR" altLang="fr-FR" sz="3200">
                <a:solidFill>
                  <a:schemeClr val="tx1"/>
                </a:solidFill>
                <a:latin typeface="Arial Black" pitchFamily="34" charset="0"/>
              </a:endParaRPr>
            </a:p>
          </p:txBody>
        </p:sp>
      </p:grpSp>
      <p:sp>
        <p:nvSpPr>
          <p:cNvPr id="7270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270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2710" name="Group 24"/>
          <p:cNvGrpSpPr>
            <a:grpSpLocks/>
          </p:cNvGrpSpPr>
          <p:nvPr/>
        </p:nvGrpSpPr>
        <p:grpSpPr bwMode="auto">
          <a:xfrm>
            <a:off x="2986088" y="1306513"/>
            <a:ext cx="446087" cy="534987"/>
            <a:chOff x="868" y="1439"/>
            <a:chExt cx="811" cy="972"/>
          </a:xfrm>
        </p:grpSpPr>
        <p:sp>
          <p:nvSpPr>
            <p:cNvPr id="7271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1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1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1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1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2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3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4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5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276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271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271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271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3730" name="Group 2"/>
          <p:cNvGrpSpPr>
            <a:grpSpLocks/>
          </p:cNvGrpSpPr>
          <p:nvPr/>
        </p:nvGrpSpPr>
        <p:grpSpPr bwMode="auto">
          <a:xfrm>
            <a:off x="7073900" y="215900"/>
            <a:ext cx="1878013" cy="1250950"/>
            <a:chOff x="4456" y="136"/>
            <a:chExt cx="1183" cy="788"/>
          </a:xfrm>
        </p:grpSpPr>
        <p:grpSp>
          <p:nvGrpSpPr>
            <p:cNvPr id="73790" name="Group 3"/>
            <p:cNvGrpSpPr>
              <a:grpSpLocks/>
            </p:cNvGrpSpPr>
            <p:nvPr/>
          </p:nvGrpSpPr>
          <p:grpSpPr bwMode="auto">
            <a:xfrm>
              <a:off x="4766" y="232"/>
              <a:ext cx="873" cy="692"/>
              <a:chOff x="2185" y="310"/>
              <a:chExt cx="873" cy="692"/>
            </a:xfrm>
          </p:grpSpPr>
          <p:sp>
            <p:nvSpPr>
              <p:cNvPr id="7380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3791" name="Group 11"/>
            <p:cNvGrpSpPr>
              <a:grpSpLocks/>
            </p:cNvGrpSpPr>
            <p:nvPr/>
          </p:nvGrpSpPr>
          <p:grpSpPr bwMode="auto">
            <a:xfrm>
              <a:off x="4949" y="336"/>
              <a:ext cx="591" cy="468"/>
              <a:chOff x="2185" y="310"/>
              <a:chExt cx="873" cy="692"/>
            </a:xfrm>
          </p:grpSpPr>
          <p:sp>
            <p:nvSpPr>
              <p:cNvPr id="7379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9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80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379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79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23</a:t>
              </a:r>
              <a:endParaRPr lang="fr-FR" altLang="fr-FR" sz="3200">
                <a:solidFill>
                  <a:schemeClr val="tx1"/>
                </a:solidFill>
                <a:latin typeface="Arial Black" pitchFamily="34" charset="0"/>
              </a:endParaRPr>
            </a:p>
          </p:txBody>
        </p:sp>
      </p:grpSp>
      <p:sp>
        <p:nvSpPr>
          <p:cNvPr id="7373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373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3734" name="Group 24"/>
          <p:cNvGrpSpPr>
            <a:grpSpLocks/>
          </p:cNvGrpSpPr>
          <p:nvPr/>
        </p:nvGrpSpPr>
        <p:grpSpPr bwMode="auto">
          <a:xfrm>
            <a:off x="2986088" y="1306513"/>
            <a:ext cx="446087" cy="534987"/>
            <a:chOff x="868" y="1439"/>
            <a:chExt cx="811" cy="972"/>
          </a:xfrm>
        </p:grpSpPr>
        <p:sp>
          <p:nvSpPr>
            <p:cNvPr id="7373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4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5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6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7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378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373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373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373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754" name="Group 2"/>
          <p:cNvGrpSpPr>
            <a:grpSpLocks/>
          </p:cNvGrpSpPr>
          <p:nvPr/>
        </p:nvGrpSpPr>
        <p:grpSpPr bwMode="auto">
          <a:xfrm>
            <a:off x="7073900" y="215900"/>
            <a:ext cx="1878013" cy="1250950"/>
            <a:chOff x="4456" y="136"/>
            <a:chExt cx="1183" cy="788"/>
          </a:xfrm>
        </p:grpSpPr>
        <p:grpSp>
          <p:nvGrpSpPr>
            <p:cNvPr id="74814" name="Group 3"/>
            <p:cNvGrpSpPr>
              <a:grpSpLocks/>
            </p:cNvGrpSpPr>
            <p:nvPr/>
          </p:nvGrpSpPr>
          <p:grpSpPr bwMode="auto">
            <a:xfrm>
              <a:off x="4766" y="232"/>
              <a:ext cx="873" cy="692"/>
              <a:chOff x="2185" y="310"/>
              <a:chExt cx="873" cy="692"/>
            </a:xfrm>
          </p:grpSpPr>
          <p:sp>
            <p:nvSpPr>
              <p:cNvPr id="7482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3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3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4815" name="Group 11"/>
            <p:cNvGrpSpPr>
              <a:grpSpLocks/>
            </p:cNvGrpSpPr>
            <p:nvPr/>
          </p:nvGrpSpPr>
          <p:grpSpPr bwMode="auto">
            <a:xfrm>
              <a:off x="4949" y="336"/>
              <a:ext cx="591" cy="468"/>
              <a:chOff x="2185" y="310"/>
              <a:chExt cx="873" cy="692"/>
            </a:xfrm>
          </p:grpSpPr>
          <p:sp>
            <p:nvSpPr>
              <p:cNvPr id="7481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2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481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81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24</a:t>
              </a:r>
              <a:endParaRPr lang="fr-FR" altLang="fr-FR" sz="3200">
                <a:solidFill>
                  <a:schemeClr val="tx1"/>
                </a:solidFill>
                <a:latin typeface="Arial Black" pitchFamily="34" charset="0"/>
              </a:endParaRPr>
            </a:p>
          </p:txBody>
        </p:sp>
      </p:grpSp>
      <p:sp>
        <p:nvSpPr>
          <p:cNvPr id="7475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475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4758" name="Group 24"/>
          <p:cNvGrpSpPr>
            <a:grpSpLocks/>
          </p:cNvGrpSpPr>
          <p:nvPr/>
        </p:nvGrpSpPr>
        <p:grpSpPr bwMode="auto">
          <a:xfrm>
            <a:off x="2986088" y="1306513"/>
            <a:ext cx="446087" cy="534987"/>
            <a:chOff x="868" y="1439"/>
            <a:chExt cx="811" cy="972"/>
          </a:xfrm>
        </p:grpSpPr>
        <p:sp>
          <p:nvSpPr>
            <p:cNvPr id="7476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6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7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8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79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0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481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476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Mercredi</a:t>
            </a:r>
          </a:p>
        </p:txBody>
      </p:sp>
      <p:sp>
        <p:nvSpPr>
          <p:cNvPr id="7476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476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779" name="Group 3"/>
          <p:cNvGrpSpPr>
            <a:grpSpLocks/>
          </p:cNvGrpSpPr>
          <p:nvPr/>
        </p:nvGrpSpPr>
        <p:grpSpPr bwMode="auto">
          <a:xfrm>
            <a:off x="7073900" y="215900"/>
            <a:ext cx="1878013" cy="1250950"/>
            <a:chOff x="4456" y="136"/>
            <a:chExt cx="1183" cy="788"/>
          </a:xfrm>
        </p:grpSpPr>
        <p:grpSp>
          <p:nvGrpSpPr>
            <p:cNvPr id="75876" name="Group 4"/>
            <p:cNvGrpSpPr>
              <a:grpSpLocks/>
            </p:cNvGrpSpPr>
            <p:nvPr/>
          </p:nvGrpSpPr>
          <p:grpSpPr bwMode="auto">
            <a:xfrm>
              <a:off x="4766" y="232"/>
              <a:ext cx="873" cy="692"/>
              <a:chOff x="2185" y="310"/>
              <a:chExt cx="873" cy="692"/>
            </a:xfrm>
          </p:grpSpPr>
          <p:sp>
            <p:nvSpPr>
              <p:cNvPr id="75887"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8"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9"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90"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91"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92"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93"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5877" name="Group 12"/>
            <p:cNvGrpSpPr>
              <a:grpSpLocks/>
            </p:cNvGrpSpPr>
            <p:nvPr/>
          </p:nvGrpSpPr>
          <p:grpSpPr bwMode="auto">
            <a:xfrm>
              <a:off x="4949" y="336"/>
              <a:ext cx="591" cy="468"/>
              <a:chOff x="2185" y="310"/>
              <a:chExt cx="873" cy="692"/>
            </a:xfrm>
          </p:grpSpPr>
          <p:sp>
            <p:nvSpPr>
              <p:cNvPr id="75880"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1"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2"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3"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4"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5"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86"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5878"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879"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25</a:t>
              </a:r>
              <a:endParaRPr lang="fr-FR" altLang="fr-FR" sz="3200">
                <a:solidFill>
                  <a:schemeClr val="tx1"/>
                </a:solidFill>
                <a:latin typeface="Arial Black" pitchFamily="34" charset="0"/>
              </a:endParaRPr>
            </a:p>
          </p:txBody>
        </p:sp>
      </p:grpSp>
      <p:sp>
        <p:nvSpPr>
          <p:cNvPr id="75780" name="Text Box 23"/>
          <p:cNvSpPr txBox="1">
            <a:spLocks noChangeArrowheads="1"/>
          </p:cNvSpPr>
          <p:nvPr/>
        </p:nvSpPr>
        <p:spPr bwMode="auto">
          <a:xfrm>
            <a:off x="231298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75781" name="Text Box 24"/>
          <p:cNvSpPr txBox="1">
            <a:spLocks noChangeArrowheads="1"/>
          </p:cNvSpPr>
          <p:nvPr/>
        </p:nvSpPr>
        <p:spPr bwMode="auto">
          <a:xfrm>
            <a:off x="3668713" y="367982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R4</a:t>
            </a:r>
          </a:p>
        </p:txBody>
      </p:sp>
      <p:sp>
        <p:nvSpPr>
          <p:cNvPr id="75782" name="Rectangle 27"/>
          <p:cNvSpPr>
            <a:spLocks noGrp="1" noChangeArrowheads="1"/>
          </p:cNvSpPr>
          <p:nvPr>
            <p:ph type="title"/>
          </p:nvPr>
        </p:nvSpPr>
        <p:spPr>
          <a:xfrm>
            <a:off x="1525588" y="0"/>
            <a:ext cx="5372100" cy="647700"/>
          </a:xfrm>
        </p:spPr>
        <p:txBody>
          <a:bodyPr/>
          <a:lstStyle/>
          <a:p>
            <a:pPr eaLnBrk="1" hangingPunct="1"/>
            <a:r>
              <a:rPr lang="fr-FR" altLang="fr-FR"/>
              <a:t>Sem. 1 - Jeudi (St Théodore)</a:t>
            </a:r>
          </a:p>
        </p:txBody>
      </p:sp>
      <p:sp>
        <p:nvSpPr>
          <p:cNvPr id="75783"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75784"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5785" name="Text Box 30"/>
          <p:cNvSpPr txBox="1">
            <a:spLocks noChangeArrowheads="1"/>
          </p:cNvSpPr>
          <p:nvPr/>
        </p:nvSpPr>
        <p:spPr bwMode="auto">
          <a:xfrm>
            <a:off x="579438" y="4533900"/>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5786" name="Group 32"/>
          <p:cNvGrpSpPr>
            <a:grpSpLocks/>
          </p:cNvGrpSpPr>
          <p:nvPr/>
        </p:nvGrpSpPr>
        <p:grpSpPr bwMode="auto">
          <a:xfrm>
            <a:off x="2843213" y="1106488"/>
            <a:ext cx="446087" cy="534987"/>
            <a:chOff x="868" y="1439"/>
            <a:chExt cx="811" cy="972"/>
          </a:xfrm>
        </p:grpSpPr>
        <p:sp>
          <p:nvSpPr>
            <p:cNvPr id="75825"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26"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27"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28"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29"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0"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1"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2"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3"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4"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5"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6"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7"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8"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39"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0"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1"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2"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3"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4"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5"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6"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7"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8"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49"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0"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1"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2"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3"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4"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5"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6"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7"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8"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59"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0"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1"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2"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3"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4"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5"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6"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7"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8"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69"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0"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1"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2"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3"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4"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5875"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5787" name="Group 91"/>
          <p:cNvGrpSpPr>
            <a:grpSpLocks/>
          </p:cNvGrpSpPr>
          <p:nvPr/>
        </p:nvGrpSpPr>
        <p:grpSpPr bwMode="auto">
          <a:xfrm rot="-223274">
            <a:off x="2416175" y="2876550"/>
            <a:ext cx="744538" cy="733425"/>
            <a:chOff x="2757" y="1666"/>
            <a:chExt cx="812" cy="800"/>
          </a:xfrm>
        </p:grpSpPr>
        <p:sp>
          <p:nvSpPr>
            <p:cNvPr id="75819"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20"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821"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822"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23"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24"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5788" name="Group 98"/>
          <p:cNvGrpSpPr>
            <a:grpSpLocks/>
          </p:cNvGrpSpPr>
          <p:nvPr/>
        </p:nvGrpSpPr>
        <p:grpSpPr bwMode="auto">
          <a:xfrm rot="-223274">
            <a:off x="3846513" y="2978150"/>
            <a:ext cx="744537" cy="733425"/>
            <a:chOff x="2757" y="1666"/>
            <a:chExt cx="812" cy="800"/>
          </a:xfrm>
        </p:grpSpPr>
        <p:sp>
          <p:nvSpPr>
            <p:cNvPr id="75813" name="Freeform 9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14" name="Freeform 10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815" name="Line 10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816" name="Freeform 10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17" name="Freeform 10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18" name="AutoShape 10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5789" name="Group 105"/>
          <p:cNvGrpSpPr>
            <a:grpSpLocks/>
          </p:cNvGrpSpPr>
          <p:nvPr/>
        </p:nvGrpSpPr>
        <p:grpSpPr bwMode="auto">
          <a:xfrm rot="-223274">
            <a:off x="3817938" y="2717800"/>
            <a:ext cx="744537" cy="733425"/>
            <a:chOff x="2757" y="1666"/>
            <a:chExt cx="812" cy="800"/>
          </a:xfrm>
        </p:grpSpPr>
        <p:sp>
          <p:nvSpPr>
            <p:cNvPr id="75807" name="Freeform 10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08" name="Freeform 10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809" name="Line 10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810" name="Freeform 10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11" name="Freeform 1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12" name="AutoShape 1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5790" name="Group 123"/>
          <p:cNvGrpSpPr>
            <a:grpSpLocks/>
          </p:cNvGrpSpPr>
          <p:nvPr/>
        </p:nvGrpSpPr>
        <p:grpSpPr bwMode="auto">
          <a:xfrm rot="-223274">
            <a:off x="5253038" y="2887663"/>
            <a:ext cx="744537" cy="733425"/>
            <a:chOff x="2757" y="1666"/>
            <a:chExt cx="812" cy="800"/>
          </a:xfrm>
        </p:grpSpPr>
        <p:sp>
          <p:nvSpPr>
            <p:cNvPr id="75801" name="Freeform 12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02" name="Freeform 12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803" name="Line 12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804" name="Freeform 12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805" name="Freeform 12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06" name="AutoShape 12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75791" name="Text Box 130"/>
          <p:cNvSpPr txBox="1">
            <a:spLocks noChangeArrowheads="1"/>
          </p:cNvSpPr>
          <p:nvPr/>
        </p:nvSpPr>
        <p:spPr bwMode="auto">
          <a:xfrm>
            <a:off x="1004888" y="367982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R2</a:t>
            </a:r>
          </a:p>
        </p:txBody>
      </p:sp>
      <p:sp>
        <p:nvSpPr>
          <p:cNvPr id="75792" name="Text Box 131"/>
          <p:cNvSpPr txBox="1">
            <a:spLocks noChangeArrowheads="1"/>
          </p:cNvSpPr>
          <p:nvPr/>
        </p:nvSpPr>
        <p:spPr bwMode="auto">
          <a:xfrm>
            <a:off x="5243513"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75793" name="Group 139"/>
          <p:cNvGrpSpPr>
            <a:grpSpLocks/>
          </p:cNvGrpSpPr>
          <p:nvPr/>
        </p:nvGrpSpPr>
        <p:grpSpPr bwMode="auto">
          <a:xfrm rot="-223274">
            <a:off x="1049338" y="2878138"/>
            <a:ext cx="744537" cy="733425"/>
            <a:chOff x="2757" y="1666"/>
            <a:chExt cx="812" cy="800"/>
          </a:xfrm>
        </p:grpSpPr>
        <p:sp>
          <p:nvSpPr>
            <p:cNvPr id="75795" name="Freeform 14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796" name="Freeform 14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75797" name="Line 14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75798" name="Freeform 14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75799" name="Freeform 14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75800" name="AutoShape 14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75794" name="Text Box 146"/>
          <p:cNvSpPr txBox="1">
            <a:spLocks noChangeArrowheads="1"/>
          </p:cNvSpPr>
          <p:nvPr/>
        </p:nvSpPr>
        <p:spPr bwMode="auto">
          <a:xfrm>
            <a:off x="595313" y="54784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6802" name="Group 2"/>
          <p:cNvGrpSpPr>
            <a:grpSpLocks/>
          </p:cNvGrpSpPr>
          <p:nvPr/>
        </p:nvGrpSpPr>
        <p:grpSpPr bwMode="auto">
          <a:xfrm>
            <a:off x="7073900" y="215900"/>
            <a:ext cx="1878013" cy="1250950"/>
            <a:chOff x="4456" y="136"/>
            <a:chExt cx="1183" cy="788"/>
          </a:xfrm>
        </p:grpSpPr>
        <p:grpSp>
          <p:nvGrpSpPr>
            <p:cNvPr id="76862" name="Group 3"/>
            <p:cNvGrpSpPr>
              <a:grpSpLocks/>
            </p:cNvGrpSpPr>
            <p:nvPr/>
          </p:nvGrpSpPr>
          <p:grpSpPr bwMode="auto">
            <a:xfrm>
              <a:off x="4766" y="232"/>
              <a:ext cx="873" cy="692"/>
              <a:chOff x="2185" y="310"/>
              <a:chExt cx="873" cy="692"/>
            </a:xfrm>
          </p:grpSpPr>
          <p:sp>
            <p:nvSpPr>
              <p:cNvPr id="7687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6863" name="Group 11"/>
            <p:cNvGrpSpPr>
              <a:grpSpLocks/>
            </p:cNvGrpSpPr>
            <p:nvPr/>
          </p:nvGrpSpPr>
          <p:grpSpPr bwMode="auto">
            <a:xfrm>
              <a:off x="4949" y="336"/>
              <a:ext cx="591" cy="468"/>
              <a:chOff x="2185" y="310"/>
              <a:chExt cx="873" cy="692"/>
            </a:xfrm>
          </p:grpSpPr>
          <p:sp>
            <p:nvSpPr>
              <p:cNvPr id="7686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7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686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6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26</a:t>
              </a:r>
              <a:endParaRPr lang="fr-FR" altLang="fr-FR" sz="3200">
                <a:solidFill>
                  <a:schemeClr val="tx1"/>
                </a:solidFill>
                <a:latin typeface="Arial Black" pitchFamily="34" charset="0"/>
              </a:endParaRPr>
            </a:p>
          </p:txBody>
        </p:sp>
      </p:grpSp>
      <p:sp>
        <p:nvSpPr>
          <p:cNvPr id="7680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680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6806" name="Group 24"/>
          <p:cNvGrpSpPr>
            <a:grpSpLocks/>
          </p:cNvGrpSpPr>
          <p:nvPr/>
        </p:nvGrpSpPr>
        <p:grpSpPr bwMode="auto">
          <a:xfrm>
            <a:off x="2986088" y="1306513"/>
            <a:ext cx="446087" cy="534987"/>
            <a:chOff x="868" y="1439"/>
            <a:chExt cx="811" cy="972"/>
          </a:xfrm>
        </p:grpSpPr>
        <p:sp>
          <p:nvSpPr>
            <p:cNvPr id="7681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1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2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3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4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5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686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680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7680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681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826" name="Group 2"/>
          <p:cNvGrpSpPr>
            <a:grpSpLocks/>
          </p:cNvGrpSpPr>
          <p:nvPr/>
        </p:nvGrpSpPr>
        <p:grpSpPr bwMode="auto">
          <a:xfrm>
            <a:off x="7073900" y="215900"/>
            <a:ext cx="1878013" cy="1250950"/>
            <a:chOff x="4456" y="136"/>
            <a:chExt cx="1183" cy="788"/>
          </a:xfrm>
        </p:grpSpPr>
        <p:grpSp>
          <p:nvGrpSpPr>
            <p:cNvPr id="77886" name="Group 3"/>
            <p:cNvGrpSpPr>
              <a:grpSpLocks/>
            </p:cNvGrpSpPr>
            <p:nvPr/>
          </p:nvGrpSpPr>
          <p:grpSpPr bwMode="auto">
            <a:xfrm>
              <a:off x="4766" y="232"/>
              <a:ext cx="873" cy="692"/>
              <a:chOff x="2185" y="310"/>
              <a:chExt cx="873" cy="692"/>
            </a:xfrm>
          </p:grpSpPr>
          <p:sp>
            <p:nvSpPr>
              <p:cNvPr id="7789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90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90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90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90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7887" name="Group 11"/>
            <p:cNvGrpSpPr>
              <a:grpSpLocks/>
            </p:cNvGrpSpPr>
            <p:nvPr/>
          </p:nvGrpSpPr>
          <p:grpSpPr bwMode="auto">
            <a:xfrm>
              <a:off x="4949" y="336"/>
              <a:ext cx="591" cy="468"/>
              <a:chOff x="2185" y="310"/>
              <a:chExt cx="873" cy="692"/>
            </a:xfrm>
          </p:grpSpPr>
          <p:sp>
            <p:nvSpPr>
              <p:cNvPr id="7789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9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788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8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27</a:t>
              </a:r>
              <a:endParaRPr lang="fr-FR" altLang="fr-FR" sz="3200">
                <a:solidFill>
                  <a:schemeClr val="tx1"/>
                </a:solidFill>
                <a:latin typeface="Arial Black" pitchFamily="34" charset="0"/>
              </a:endParaRPr>
            </a:p>
          </p:txBody>
        </p:sp>
      </p:grpSp>
      <p:sp>
        <p:nvSpPr>
          <p:cNvPr id="7782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782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7830" name="Group 24"/>
          <p:cNvGrpSpPr>
            <a:grpSpLocks/>
          </p:cNvGrpSpPr>
          <p:nvPr/>
        </p:nvGrpSpPr>
        <p:grpSpPr bwMode="auto">
          <a:xfrm>
            <a:off x="2986088" y="1306513"/>
            <a:ext cx="446087" cy="534987"/>
            <a:chOff x="868" y="1439"/>
            <a:chExt cx="811" cy="972"/>
          </a:xfrm>
        </p:grpSpPr>
        <p:sp>
          <p:nvSpPr>
            <p:cNvPr id="7783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3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3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3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3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4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5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6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7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788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783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7783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783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8850" name="Group 2"/>
          <p:cNvGrpSpPr>
            <a:grpSpLocks/>
          </p:cNvGrpSpPr>
          <p:nvPr/>
        </p:nvGrpSpPr>
        <p:grpSpPr bwMode="auto">
          <a:xfrm>
            <a:off x="7073900" y="215900"/>
            <a:ext cx="1878013" cy="1250950"/>
            <a:chOff x="4456" y="136"/>
            <a:chExt cx="1183" cy="788"/>
          </a:xfrm>
        </p:grpSpPr>
        <p:grpSp>
          <p:nvGrpSpPr>
            <p:cNvPr id="78910" name="Group 3"/>
            <p:cNvGrpSpPr>
              <a:grpSpLocks/>
            </p:cNvGrpSpPr>
            <p:nvPr/>
          </p:nvGrpSpPr>
          <p:grpSpPr bwMode="auto">
            <a:xfrm>
              <a:off x="4766" y="232"/>
              <a:ext cx="873" cy="692"/>
              <a:chOff x="2185" y="310"/>
              <a:chExt cx="873" cy="692"/>
            </a:xfrm>
          </p:grpSpPr>
          <p:sp>
            <p:nvSpPr>
              <p:cNvPr id="789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8911" name="Group 11"/>
            <p:cNvGrpSpPr>
              <a:grpSpLocks/>
            </p:cNvGrpSpPr>
            <p:nvPr/>
          </p:nvGrpSpPr>
          <p:grpSpPr bwMode="auto">
            <a:xfrm>
              <a:off x="4949" y="336"/>
              <a:ext cx="591" cy="468"/>
              <a:chOff x="2185" y="310"/>
              <a:chExt cx="873" cy="692"/>
            </a:xfrm>
          </p:grpSpPr>
          <p:sp>
            <p:nvSpPr>
              <p:cNvPr id="789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89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91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28</a:t>
              </a:r>
              <a:endParaRPr lang="fr-FR" altLang="fr-FR" sz="3200">
                <a:solidFill>
                  <a:schemeClr val="tx1"/>
                </a:solidFill>
                <a:latin typeface="Arial Black" pitchFamily="34" charset="0"/>
              </a:endParaRPr>
            </a:p>
          </p:txBody>
        </p:sp>
      </p:grpSp>
      <p:sp>
        <p:nvSpPr>
          <p:cNvPr id="7885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885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8854" name="Group 24"/>
          <p:cNvGrpSpPr>
            <a:grpSpLocks/>
          </p:cNvGrpSpPr>
          <p:nvPr/>
        </p:nvGrpSpPr>
        <p:grpSpPr bwMode="auto">
          <a:xfrm>
            <a:off x="2986088" y="1306513"/>
            <a:ext cx="446087" cy="534987"/>
            <a:chOff x="868" y="1439"/>
            <a:chExt cx="811" cy="972"/>
          </a:xfrm>
        </p:grpSpPr>
        <p:sp>
          <p:nvSpPr>
            <p:cNvPr id="7885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6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7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8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89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890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885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7885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885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9874" name="Group 2"/>
          <p:cNvGrpSpPr>
            <a:grpSpLocks/>
          </p:cNvGrpSpPr>
          <p:nvPr/>
        </p:nvGrpSpPr>
        <p:grpSpPr bwMode="auto">
          <a:xfrm>
            <a:off x="7073900" y="215900"/>
            <a:ext cx="1878013" cy="1250950"/>
            <a:chOff x="4456" y="136"/>
            <a:chExt cx="1183" cy="788"/>
          </a:xfrm>
        </p:grpSpPr>
        <p:grpSp>
          <p:nvGrpSpPr>
            <p:cNvPr id="79934" name="Group 3"/>
            <p:cNvGrpSpPr>
              <a:grpSpLocks/>
            </p:cNvGrpSpPr>
            <p:nvPr/>
          </p:nvGrpSpPr>
          <p:grpSpPr bwMode="auto">
            <a:xfrm>
              <a:off x="4766" y="232"/>
              <a:ext cx="873" cy="692"/>
              <a:chOff x="2185" y="310"/>
              <a:chExt cx="873" cy="692"/>
            </a:xfrm>
          </p:grpSpPr>
          <p:sp>
            <p:nvSpPr>
              <p:cNvPr id="7994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5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5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79935" name="Group 11"/>
            <p:cNvGrpSpPr>
              <a:grpSpLocks/>
            </p:cNvGrpSpPr>
            <p:nvPr/>
          </p:nvGrpSpPr>
          <p:grpSpPr bwMode="auto">
            <a:xfrm>
              <a:off x="4949" y="336"/>
              <a:ext cx="591" cy="468"/>
              <a:chOff x="2185" y="310"/>
              <a:chExt cx="873" cy="692"/>
            </a:xfrm>
          </p:grpSpPr>
          <p:sp>
            <p:nvSpPr>
              <p:cNvPr id="7993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4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7993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3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29</a:t>
              </a:r>
              <a:endParaRPr lang="fr-FR" altLang="fr-FR" sz="3200">
                <a:solidFill>
                  <a:schemeClr val="tx1"/>
                </a:solidFill>
                <a:latin typeface="Arial Black" pitchFamily="34" charset="0"/>
              </a:endParaRPr>
            </a:p>
          </p:txBody>
        </p:sp>
      </p:grpSp>
      <p:sp>
        <p:nvSpPr>
          <p:cNvPr id="7987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7987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79878" name="Group 24"/>
          <p:cNvGrpSpPr>
            <a:grpSpLocks/>
          </p:cNvGrpSpPr>
          <p:nvPr/>
        </p:nvGrpSpPr>
        <p:grpSpPr bwMode="auto">
          <a:xfrm>
            <a:off x="2986088" y="1306513"/>
            <a:ext cx="446087" cy="534987"/>
            <a:chOff x="868" y="1439"/>
            <a:chExt cx="811" cy="972"/>
          </a:xfrm>
        </p:grpSpPr>
        <p:sp>
          <p:nvSpPr>
            <p:cNvPr id="7988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8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89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0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1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2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7993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7988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7988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7988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0898" name="Group 2"/>
          <p:cNvGrpSpPr>
            <a:grpSpLocks/>
          </p:cNvGrpSpPr>
          <p:nvPr/>
        </p:nvGrpSpPr>
        <p:grpSpPr bwMode="auto">
          <a:xfrm>
            <a:off x="7073900" y="215900"/>
            <a:ext cx="1878013" cy="1250950"/>
            <a:chOff x="4456" y="136"/>
            <a:chExt cx="1183" cy="788"/>
          </a:xfrm>
        </p:grpSpPr>
        <p:grpSp>
          <p:nvGrpSpPr>
            <p:cNvPr id="80958" name="Group 3"/>
            <p:cNvGrpSpPr>
              <a:grpSpLocks/>
            </p:cNvGrpSpPr>
            <p:nvPr/>
          </p:nvGrpSpPr>
          <p:grpSpPr bwMode="auto">
            <a:xfrm>
              <a:off x="4766" y="232"/>
              <a:ext cx="873" cy="692"/>
              <a:chOff x="2185" y="310"/>
              <a:chExt cx="873" cy="692"/>
            </a:xfrm>
          </p:grpSpPr>
          <p:sp>
            <p:nvSpPr>
              <p:cNvPr id="8096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7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80959" name="Group 11"/>
            <p:cNvGrpSpPr>
              <a:grpSpLocks/>
            </p:cNvGrpSpPr>
            <p:nvPr/>
          </p:nvGrpSpPr>
          <p:grpSpPr bwMode="auto">
            <a:xfrm>
              <a:off x="4949" y="336"/>
              <a:ext cx="591" cy="468"/>
              <a:chOff x="2185" y="310"/>
              <a:chExt cx="873" cy="692"/>
            </a:xfrm>
          </p:grpSpPr>
          <p:sp>
            <p:nvSpPr>
              <p:cNvPr id="8096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6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8096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6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30</a:t>
              </a:r>
              <a:endParaRPr lang="fr-FR" altLang="fr-FR" sz="3200">
                <a:solidFill>
                  <a:schemeClr val="tx1"/>
                </a:solidFill>
                <a:latin typeface="Arial Black" pitchFamily="34" charset="0"/>
              </a:endParaRPr>
            </a:p>
          </p:txBody>
        </p:sp>
      </p:grpSp>
      <p:sp>
        <p:nvSpPr>
          <p:cNvPr id="8090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8090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80902" name="Group 24"/>
          <p:cNvGrpSpPr>
            <a:grpSpLocks/>
          </p:cNvGrpSpPr>
          <p:nvPr/>
        </p:nvGrpSpPr>
        <p:grpSpPr bwMode="auto">
          <a:xfrm>
            <a:off x="2986088" y="1306513"/>
            <a:ext cx="446087" cy="534987"/>
            <a:chOff x="868" y="1439"/>
            <a:chExt cx="811" cy="972"/>
          </a:xfrm>
        </p:grpSpPr>
        <p:sp>
          <p:nvSpPr>
            <p:cNvPr id="8090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0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0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1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2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3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4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095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8090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8090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8090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p:cNvSpPr>
            <a:spLocks noGrp="1" noChangeArrowheads="1"/>
          </p:cNvSpPr>
          <p:nvPr>
            <p:ph type="title"/>
          </p:nvPr>
        </p:nvSpPr>
        <p:spPr/>
        <p:txBody>
          <a:bodyPr/>
          <a:lstStyle/>
          <a:p>
            <a:pPr eaLnBrk="1" hangingPunct="1"/>
            <a:r>
              <a:rPr lang="fr-FR" altLang="fr-FR"/>
              <a:t>Question</a:t>
            </a:r>
          </a:p>
        </p:txBody>
      </p:sp>
      <p:sp>
        <p:nvSpPr>
          <p:cNvPr id="81923" name="Rectangle 3"/>
          <p:cNvSpPr>
            <a:spLocks noGrp="1" noChangeArrowheads="1"/>
          </p:cNvSpPr>
          <p:nvPr>
            <p:ph type="body" idx="1"/>
          </p:nvPr>
        </p:nvSpPr>
        <p:spPr>
          <a:xfrm>
            <a:off x="449263" y="1608138"/>
            <a:ext cx="8380412" cy="4386262"/>
          </a:xfrm>
        </p:spPr>
        <p:txBody>
          <a:bodyPr/>
          <a:lstStyle/>
          <a:p>
            <a:pPr eaLnBrk="1" hangingPunct="1">
              <a:lnSpc>
                <a:spcPct val="110000"/>
              </a:lnSpc>
              <a:buFontTx/>
              <a:buNone/>
            </a:pPr>
            <a:r>
              <a:rPr lang="fr-FR" altLang="fr-FR" u="sng" dirty="0"/>
              <a:t>Origine</a:t>
            </a:r>
            <a:r>
              <a:rPr lang="fr-FR" altLang="fr-FR" dirty="0"/>
              <a:t> : Bureau d’étude</a:t>
            </a:r>
          </a:p>
          <a:p>
            <a:pPr eaLnBrk="1" hangingPunct="1">
              <a:lnSpc>
                <a:spcPct val="110000"/>
              </a:lnSpc>
              <a:buFontTx/>
              <a:buNone/>
            </a:pPr>
            <a:r>
              <a:rPr lang="fr-FR" altLang="fr-FR" u="sng" dirty="0"/>
              <a:t>Destinataire</a:t>
            </a:r>
            <a:r>
              <a:rPr lang="fr-FR" altLang="fr-FR" dirty="0"/>
              <a:t> : Production</a:t>
            </a:r>
          </a:p>
          <a:p>
            <a:pPr eaLnBrk="1" hangingPunct="1">
              <a:lnSpc>
                <a:spcPct val="110000"/>
              </a:lnSpc>
              <a:buFontTx/>
              <a:buNone/>
            </a:pPr>
            <a:endParaRPr lang="fr-FR" altLang="fr-FR" dirty="0"/>
          </a:p>
          <a:p>
            <a:pPr eaLnBrk="1" hangingPunct="1">
              <a:lnSpc>
                <a:spcPct val="110000"/>
              </a:lnSpc>
            </a:pPr>
            <a:r>
              <a:rPr lang="fr-FR" altLang="fr-FR" dirty="0"/>
              <a:t>Les travaux menés depuis 6 mois par le groupe Analyse de Valeur conduisent à envisager une modification mineure de l'engrenage qui compose le réducteur R2 (gain 1,20 €). </a:t>
            </a:r>
          </a:p>
          <a:p>
            <a:pPr eaLnBrk="1" hangingPunct="1">
              <a:lnSpc>
                <a:spcPct val="110000"/>
              </a:lnSpc>
            </a:pPr>
            <a:r>
              <a:rPr lang="fr-FR" altLang="fr-FR" dirty="0"/>
              <a:t>Le carter subira également une modification au niveau de la gamme d'usinage. </a:t>
            </a:r>
          </a:p>
          <a:p>
            <a:pPr eaLnBrk="1" hangingPunct="1">
              <a:lnSpc>
                <a:spcPct val="110000"/>
              </a:lnSpc>
            </a:pPr>
            <a:r>
              <a:rPr lang="fr-FR" altLang="fr-FR" dirty="0"/>
              <a:t>Merci de bien vouloir analyser les répercussions de ces changements sur la production, et de m'indiquer votre position à ce sujet.</a:t>
            </a: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2946" name="Group 2"/>
          <p:cNvGrpSpPr>
            <a:grpSpLocks/>
          </p:cNvGrpSpPr>
          <p:nvPr/>
        </p:nvGrpSpPr>
        <p:grpSpPr bwMode="auto">
          <a:xfrm>
            <a:off x="7073900" y="215900"/>
            <a:ext cx="1878013" cy="1250950"/>
            <a:chOff x="4456" y="136"/>
            <a:chExt cx="1183" cy="788"/>
          </a:xfrm>
        </p:grpSpPr>
        <p:grpSp>
          <p:nvGrpSpPr>
            <p:cNvPr id="83006" name="Group 3"/>
            <p:cNvGrpSpPr>
              <a:grpSpLocks/>
            </p:cNvGrpSpPr>
            <p:nvPr/>
          </p:nvGrpSpPr>
          <p:grpSpPr bwMode="auto">
            <a:xfrm>
              <a:off x="4766" y="232"/>
              <a:ext cx="873" cy="692"/>
              <a:chOff x="2185" y="310"/>
              <a:chExt cx="873" cy="692"/>
            </a:xfrm>
          </p:grpSpPr>
          <p:sp>
            <p:nvSpPr>
              <p:cNvPr id="830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83007" name="Group 11"/>
            <p:cNvGrpSpPr>
              <a:grpSpLocks/>
            </p:cNvGrpSpPr>
            <p:nvPr/>
          </p:nvGrpSpPr>
          <p:grpSpPr bwMode="auto">
            <a:xfrm>
              <a:off x="4949" y="336"/>
              <a:ext cx="591" cy="468"/>
              <a:chOff x="2185" y="310"/>
              <a:chExt cx="873" cy="692"/>
            </a:xfrm>
          </p:grpSpPr>
          <p:sp>
            <p:nvSpPr>
              <p:cNvPr id="830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830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00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31</a:t>
              </a:r>
              <a:endParaRPr lang="fr-FR" altLang="fr-FR" sz="3200">
                <a:solidFill>
                  <a:schemeClr val="tx1"/>
                </a:solidFill>
                <a:latin typeface="Arial Black" pitchFamily="34" charset="0"/>
              </a:endParaRPr>
            </a:p>
          </p:txBody>
        </p:sp>
      </p:grpSp>
      <p:sp>
        <p:nvSpPr>
          <p:cNvPr id="8294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8294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82950" name="Group 24"/>
          <p:cNvGrpSpPr>
            <a:grpSpLocks/>
          </p:cNvGrpSpPr>
          <p:nvPr/>
        </p:nvGrpSpPr>
        <p:grpSpPr bwMode="auto">
          <a:xfrm>
            <a:off x="2986088" y="1306513"/>
            <a:ext cx="446087" cy="534987"/>
            <a:chOff x="868" y="1439"/>
            <a:chExt cx="811" cy="972"/>
          </a:xfrm>
        </p:grpSpPr>
        <p:sp>
          <p:nvSpPr>
            <p:cNvPr id="8295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5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5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5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5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6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7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8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299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00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8295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8295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8295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3970" name="Group 2"/>
          <p:cNvGrpSpPr>
            <a:grpSpLocks/>
          </p:cNvGrpSpPr>
          <p:nvPr/>
        </p:nvGrpSpPr>
        <p:grpSpPr bwMode="auto">
          <a:xfrm>
            <a:off x="7073900" y="215900"/>
            <a:ext cx="1878013" cy="1250950"/>
            <a:chOff x="4456" y="136"/>
            <a:chExt cx="1183" cy="788"/>
          </a:xfrm>
        </p:grpSpPr>
        <p:grpSp>
          <p:nvGrpSpPr>
            <p:cNvPr id="84030" name="Group 3"/>
            <p:cNvGrpSpPr>
              <a:grpSpLocks/>
            </p:cNvGrpSpPr>
            <p:nvPr/>
          </p:nvGrpSpPr>
          <p:grpSpPr bwMode="auto">
            <a:xfrm>
              <a:off x="4766" y="232"/>
              <a:ext cx="873" cy="692"/>
              <a:chOff x="2185" y="310"/>
              <a:chExt cx="873" cy="692"/>
            </a:xfrm>
          </p:grpSpPr>
          <p:sp>
            <p:nvSpPr>
              <p:cNvPr id="8404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84031" name="Group 11"/>
            <p:cNvGrpSpPr>
              <a:grpSpLocks/>
            </p:cNvGrpSpPr>
            <p:nvPr/>
          </p:nvGrpSpPr>
          <p:grpSpPr bwMode="auto">
            <a:xfrm>
              <a:off x="4949" y="336"/>
              <a:ext cx="591" cy="468"/>
              <a:chOff x="2185" y="310"/>
              <a:chExt cx="873" cy="692"/>
            </a:xfrm>
          </p:grpSpPr>
          <p:sp>
            <p:nvSpPr>
              <p:cNvPr id="8403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3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4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8403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03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32</a:t>
              </a:r>
              <a:endParaRPr lang="fr-FR" altLang="fr-FR" sz="3200">
                <a:solidFill>
                  <a:schemeClr val="tx1"/>
                </a:solidFill>
                <a:latin typeface="Arial Black" pitchFamily="34" charset="0"/>
              </a:endParaRPr>
            </a:p>
          </p:txBody>
        </p:sp>
      </p:grpSp>
      <p:sp>
        <p:nvSpPr>
          <p:cNvPr id="8397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8397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83974" name="Group 24"/>
          <p:cNvGrpSpPr>
            <a:grpSpLocks/>
          </p:cNvGrpSpPr>
          <p:nvPr/>
        </p:nvGrpSpPr>
        <p:grpSpPr bwMode="auto">
          <a:xfrm>
            <a:off x="2986088" y="1306513"/>
            <a:ext cx="446087" cy="534987"/>
            <a:chOff x="868" y="1439"/>
            <a:chExt cx="811" cy="972"/>
          </a:xfrm>
        </p:grpSpPr>
        <p:sp>
          <p:nvSpPr>
            <p:cNvPr id="8397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8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399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0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1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8402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8397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1 - Jeudi</a:t>
            </a:r>
          </a:p>
        </p:txBody>
      </p:sp>
      <p:sp>
        <p:nvSpPr>
          <p:cNvPr id="8397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8397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4994" name="Rectangle 2"/>
          <p:cNvSpPr>
            <a:spLocks noGrp="1" noChangeArrowheads="1"/>
          </p:cNvSpPr>
          <p:nvPr>
            <p:ph type="title"/>
          </p:nvPr>
        </p:nvSpPr>
        <p:spPr/>
        <p:txBody>
          <a:bodyPr/>
          <a:lstStyle/>
          <a:p>
            <a:pPr eaLnBrk="1" hangingPunct="1"/>
            <a:r>
              <a:rPr lang="fr-FR" altLang="fr-FR"/>
              <a:t>Bilan de la semaine 1</a:t>
            </a:r>
          </a:p>
        </p:txBody>
      </p:sp>
      <p:sp>
        <p:nvSpPr>
          <p:cNvPr id="84995" name="Rectangle 3"/>
          <p:cNvSpPr>
            <a:spLocks noGrp="1" noChangeArrowheads="1"/>
          </p:cNvSpPr>
          <p:nvPr>
            <p:ph type="body" idx="1"/>
          </p:nvPr>
        </p:nvSpPr>
        <p:spPr>
          <a:xfrm>
            <a:off x="641350" y="1077913"/>
            <a:ext cx="7747000" cy="1049337"/>
          </a:xfrm>
        </p:spPr>
        <p:txBody>
          <a:bodyPr/>
          <a:lstStyle/>
          <a:p>
            <a:pPr eaLnBrk="1" hangingPunct="1">
              <a:lnSpc>
                <a:spcPct val="110000"/>
              </a:lnSpc>
            </a:pPr>
            <a:r>
              <a:rPr lang="fr-FR" altLang="fr-FR" sz="1800"/>
              <a:t>Remplissez le bas de votre Feuille de suivi et reportez vos indicateurs sur votre Feuille de résultats (voir diapos suivantes) :</a:t>
            </a:r>
          </a:p>
          <a:p>
            <a:pPr eaLnBrk="1" hangingPunct="1">
              <a:lnSpc>
                <a:spcPct val="110000"/>
              </a:lnSpc>
            </a:pPr>
            <a:r>
              <a:rPr lang="fr-FR" altLang="fr-FR" sz="1800"/>
              <a:t>Recevez une nouvelle Feuille de suivi</a:t>
            </a:r>
          </a:p>
        </p:txBody>
      </p:sp>
      <p:pic>
        <p:nvPicPr>
          <p:cNvPr id="8499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6488" y="3409950"/>
            <a:ext cx="5824537" cy="317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84997" name="Rectangle 7"/>
          <p:cNvSpPr>
            <a:spLocks noChangeArrowheads="1"/>
          </p:cNvSpPr>
          <p:nvPr/>
        </p:nvSpPr>
        <p:spPr bwMode="auto">
          <a:xfrm>
            <a:off x="231775" y="3584575"/>
            <a:ext cx="2100263" cy="635000"/>
          </a:xfrm>
          <a:prstGeom prst="rect">
            <a:avLst/>
          </a:prstGeom>
          <a:solidFill>
            <a:schemeClr val="bg1"/>
          </a:solidFill>
          <a:ln w="9525">
            <a:solidFill>
              <a:srgbClr val="000000"/>
            </a:solidFill>
            <a:miter lim="800000"/>
            <a:headEnd/>
            <a:tailEn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lnSpc>
                <a:spcPct val="120000"/>
              </a:lnSpc>
              <a:spcBef>
                <a:spcPct val="0"/>
              </a:spcBef>
              <a:buFontTx/>
              <a:buNone/>
            </a:pPr>
            <a:r>
              <a:rPr lang="fr-FR" altLang="fr-FR" sz="1300"/>
              <a:t>- Prévision prod. finis : 24</a:t>
            </a:r>
          </a:p>
          <a:p>
            <a:pPr eaLnBrk="1" hangingPunct="1">
              <a:lnSpc>
                <a:spcPct val="120000"/>
              </a:lnSpc>
              <a:spcBef>
                <a:spcPct val="0"/>
              </a:spcBef>
              <a:buFontTx/>
              <a:buNone/>
            </a:pPr>
            <a:r>
              <a:rPr lang="fr-FR" altLang="fr-FR" sz="1300">
                <a:solidFill>
                  <a:srgbClr val="FC2C1C"/>
                </a:solidFill>
              </a:rPr>
              <a:t>- Commandes reçues : 24</a:t>
            </a:r>
          </a:p>
        </p:txBody>
      </p:sp>
      <p:sp>
        <p:nvSpPr>
          <p:cNvPr id="84998" name="Text Box 4"/>
          <p:cNvSpPr txBox="1">
            <a:spLocks noChangeArrowheads="1"/>
          </p:cNvSpPr>
          <p:nvPr/>
        </p:nvSpPr>
        <p:spPr bwMode="auto">
          <a:xfrm>
            <a:off x="2420938" y="3087688"/>
            <a:ext cx="5737225" cy="311150"/>
          </a:xfrm>
          <a:prstGeom prst="rect">
            <a:avLst/>
          </a:prstGeom>
          <a:solidFill>
            <a:schemeClr val="bg1"/>
          </a:solidFill>
          <a:ln w="6350" algn="ctr">
            <a:solidFill>
              <a:schemeClr val="tx1"/>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t>Prévision des ventes / </a:t>
            </a:r>
            <a:r>
              <a:rPr lang="fr-FR" altLang="fr-FR" sz="1400">
                <a:solidFill>
                  <a:srgbClr val="FC2C1C"/>
                </a:solidFill>
              </a:rPr>
              <a:t>commandes reçues</a:t>
            </a: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8" name="Picture 49"/>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58850" y="176213"/>
            <a:ext cx="7397750" cy="545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19" name="Rectangle 3"/>
          <p:cNvSpPr>
            <a:spLocks noGrp="1" noChangeArrowheads="1"/>
          </p:cNvSpPr>
          <p:nvPr>
            <p:ph type="title"/>
          </p:nvPr>
        </p:nvSpPr>
        <p:spPr>
          <a:xfrm>
            <a:off x="293688" y="749300"/>
            <a:ext cx="1866900" cy="814388"/>
          </a:xfrm>
        </p:spPr>
        <p:txBody>
          <a:bodyPr/>
          <a:lstStyle/>
          <a:p>
            <a:pPr eaLnBrk="1" hangingPunct="1"/>
            <a:r>
              <a:rPr lang="fr-FR" altLang="fr-FR" sz="1800"/>
              <a:t>Calcul des indicateurs</a:t>
            </a:r>
          </a:p>
        </p:txBody>
      </p:sp>
      <p:grpSp>
        <p:nvGrpSpPr>
          <p:cNvPr id="2" name="Group 61"/>
          <p:cNvGrpSpPr>
            <a:grpSpLocks/>
          </p:cNvGrpSpPr>
          <p:nvPr/>
        </p:nvGrpSpPr>
        <p:grpSpPr bwMode="auto">
          <a:xfrm>
            <a:off x="1581150" y="3206750"/>
            <a:ext cx="2595563" cy="1023938"/>
            <a:chOff x="996" y="2020"/>
            <a:chExt cx="1635" cy="645"/>
          </a:xfrm>
        </p:grpSpPr>
        <p:sp>
          <p:nvSpPr>
            <p:cNvPr id="86039" name="AutoShape 36"/>
            <p:cNvSpPr>
              <a:spLocks/>
            </p:cNvSpPr>
            <p:nvPr/>
          </p:nvSpPr>
          <p:spPr bwMode="auto">
            <a:xfrm>
              <a:off x="996" y="2020"/>
              <a:ext cx="824" cy="314"/>
            </a:xfrm>
            <a:prstGeom prst="borderCallout2">
              <a:avLst>
                <a:gd name="adj1" fmla="val 22931"/>
                <a:gd name="adj2" fmla="val 105824"/>
                <a:gd name="adj3" fmla="val 22931"/>
                <a:gd name="adj4" fmla="val 133255"/>
                <a:gd name="adj5" fmla="val 147134"/>
                <a:gd name="adj6" fmla="val 164565"/>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Comptez le nombre de x</a:t>
              </a:r>
            </a:p>
          </p:txBody>
        </p:sp>
        <p:sp>
          <p:nvSpPr>
            <p:cNvPr id="86040" name="Oval 37"/>
            <p:cNvSpPr>
              <a:spLocks noChangeArrowheads="1"/>
            </p:cNvSpPr>
            <p:nvPr/>
          </p:nvSpPr>
          <p:spPr bwMode="auto">
            <a:xfrm>
              <a:off x="2354" y="2483"/>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644146" name="AutoShape 50"/>
          <p:cNvSpPr>
            <a:spLocks/>
          </p:cNvSpPr>
          <p:nvPr/>
        </p:nvSpPr>
        <p:spPr bwMode="auto">
          <a:xfrm>
            <a:off x="6037263" y="3048000"/>
            <a:ext cx="1498600" cy="717550"/>
          </a:xfrm>
          <a:prstGeom prst="borderCallout2">
            <a:avLst>
              <a:gd name="adj1" fmla="val 15931"/>
              <a:gd name="adj2" fmla="val -5083"/>
              <a:gd name="adj3" fmla="val 15931"/>
              <a:gd name="adj4" fmla="val -27120"/>
              <a:gd name="adj5" fmla="val 146241"/>
              <a:gd name="adj6" fmla="val -52120"/>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Les arrêts planning ne sont pas comptés</a:t>
            </a:r>
          </a:p>
        </p:txBody>
      </p:sp>
      <p:grpSp>
        <p:nvGrpSpPr>
          <p:cNvPr id="3" name="Group 62"/>
          <p:cNvGrpSpPr>
            <a:grpSpLocks/>
          </p:cNvGrpSpPr>
          <p:nvPr/>
        </p:nvGrpSpPr>
        <p:grpSpPr bwMode="auto">
          <a:xfrm>
            <a:off x="1257300" y="4271963"/>
            <a:ext cx="3297238" cy="519112"/>
            <a:chOff x="792" y="2691"/>
            <a:chExt cx="2077" cy="327"/>
          </a:xfrm>
        </p:grpSpPr>
        <p:sp>
          <p:nvSpPr>
            <p:cNvPr id="86037" name="AutoShape 51"/>
            <p:cNvSpPr>
              <a:spLocks/>
            </p:cNvSpPr>
            <p:nvPr/>
          </p:nvSpPr>
          <p:spPr bwMode="auto">
            <a:xfrm>
              <a:off x="792" y="2691"/>
              <a:ext cx="1087" cy="327"/>
            </a:xfrm>
            <a:prstGeom prst="borderCallout2">
              <a:avLst>
                <a:gd name="adj1" fmla="val 22019"/>
                <a:gd name="adj2" fmla="val 104417"/>
                <a:gd name="adj3" fmla="val 22019"/>
                <a:gd name="adj4" fmla="val 132199"/>
                <a:gd name="adj5" fmla="val 47403"/>
                <a:gd name="adj6" fmla="val 163755"/>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le total toutes causes confondues</a:t>
              </a:r>
            </a:p>
          </p:txBody>
        </p:sp>
        <p:sp>
          <p:nvSpPr>
            <p:cNvPr id="86038" name="Oval 52"/>
            <p:cNvSpPr>
              <a:spLocks noChangeArrowheads="1"/>
            </p:cNvSpPr>
            <p:nvPr/>
          </p:nvSpPr>
          <p:spPr bwMode="auto">
            <a:xfrm>
              <a:off x="2592" y="2777"/>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 name="Group 63"/>
          <p:cNvGrpSpPr>
            <a:grpSpLocks/>
          </p:cNvGrpSpPr>
          <p:nvPr/>
        </p:nvGrpSpPr>
        <p:grpSpPr bwMode="auto">
          <a:xfrm>
            <a:off x="787400" y="5334000"/>
            <a:ext cx="3797300" cy="957263"/>
            <a:chOff x="496" y="3360"/>
            <a:chExt cx="2392" cy="603"/>
          </a:xfrm>
        </p:grpSpPr>
        <p:sp>
          <p:nvSpPr>
            <p:cNvPr id="86035" name="AutoShape 53"/>
            <p:cNvSpPr>
              <a:spLocks/>
            </p:cNvSpPr>
            <p:nvPr/>
          </p:nvSpPr>
          <p:spPr bwMode="auto">
            <a:xfrm>
              <a:off x="496" y="3467"/>
              <a:ext cx="1501" cy="496"/>
            </a:xfrm>
            <a:prstGeom prst="borderCallout2">
              <a:avLst>
                <a:gd name="adj1" fmla="val 14514"/>
                <a:gd name="adj2" fmla="val 103199"/>
                <a:gd name="adj3" fmla="val 14514"/>
                <a:gd name="adj4" fmla="val 120653"/>
                <a:gd name="adj5" fmla="val 3426"/>
                <a:gd name="adj6" fmla="val 140375"/>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Calculez l’efficience = </a:t>
              </a:r>
            </a:p>
            <a:p>
              <a:pPr algn="ctr" eaLnBrk="1" hangingPunct="1">
                <a:spcBef>
                  <a:spcPct val="0"/>
                </a:spcBef>
                <a:buFontTx/>
                <a:buNone/>
              </a:pPr>
              <a:r>
                <a:rPr lang="fr-FR" altLang="fr-FR" sz="1300">
                  <a:solidFill>
                    <a:schemeClr val="tx1"/>
                  </a:solidFill>
                </a:rPr>
                <a:t>100 % - Heures perdues / Heures d’ouverture</a:t>
              </a:r>
            </a:p>
          </p:txBody>
        </p:sp>
        <p:sp>
          <p:nvSpPr>
            <p:cNvPr id="86036" name="Oval 54"/>
            <p:cNvSpPr>
              <a:spLocks noChangeArrowheads="1"/>
            </p:cNvSpPr>
            <p:nvPr/>
          </p:nvSpPr>
          <p:spPr bwMode="auto">
            <a:xfrm>
              <a:off x="2611" y="3360"/>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64"/>
          <p:cNvGrpSpPr>
            <a:grpSpLocks/>
          </p:cNvGrpSpPr>
          <p:nvPr/>
        </p:nvGrpSpPr>
        <p:grpSpPr bwMode="auto">
          <a:xfrm>
            <a:off x="4979988" y="3903663"/>
            <a:ext cx="2179637" cy="1190625"/>
            <a:chOff x="3137" y="2459"/>
            <a:chExt cx="1373" cy="750"/>
          </a:xfrm>
        </p:grpSpPr>
        <p:sp>
          <p:nvSpPr>
            <p:cNvPr id="86033" name="Oval 57"/>
            <p:cNvSpPr>
              <a:spLocks noChangeArrowheads="1"/>
            </p:cNvSpPr>
            <p:nvPr/>
          </p:nvSpPr>
          <p:spPr bwMode="auto">
            <a:xfrm>
              <a:off x="4233" y="2459"/>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6034" name="AutoShape 58"/>
            <p:cNvSpPr>
              <a:spLocks/>
            </p:cNvSpPr>
            <p:nvPr/>
          </p:nvSpPr>
          <p:spPr bwMode="auto">
            <a:xfrm>
              <a:off x="3137" y="2895"/>
              <a:ext cx="824" cy="314"/>
            </a:xfrm>
            <a:prstGeom prst="borderCallout2">
              <a:avLst>
                <a:gd name="adj1" fmla="val 22931"/>
                <a:gd name="adj2" fmla="val 105824"/>
                <a:gd name="adj3" fmla="val 22931"/>
                <a:gd name="adj4" fmla="val 120755"/>
                <a:gd name="adj5" fmla="val -85986"/>
                <a:gd name="adj6" fmla="val 13798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le total de la colonne</a:t>
              </a:r>
            </a:p>
          </p:txBody>
        </p:sp>
      </p:grpSp>
      <p:grpSp>
        <p:nvGrpSpPr>
          <p:cNvPr id="6" name="Group 65"/>
          <p:cNvGrpSpPr>
            <a:grpSpLocks/>
          </p:cNvGrpSpPr>
          <p:nvPr/>
        </p:nvGrpSpPr>
        <p:grpSpPr bwMode="auto">
          <a:xfrm>
            <a:off x="4821238" y="4410075"/>
            <a:ext cx="2368550" cy="1797050"/>
            <a:chOff x="3037" y="2778"/>
            <a:chExt cx="1492" cy="1132"/>
          </a:xfrm>
        </p:grpSpPr>
        <p:sp>
          <p:nvSpPr>
            <p:cNvPr id="86031" name="Oval 56"/>
            <p:cNvSpPr>
              <a:spLocks noChangeArrowheads="1"/>
            </p:cNvSpPr>
            <p:nvPr/>
          </p:nvSpPr>
          <p:spPr bwMode="auto">
            <a:xfrm>
              <a:off x="4252" y="2778"/>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6032" name="AutoShape 59"/>
            <p:cNvSpPr>
              <a:spLocks/>
            </p:cNvSpPr>
            <p:nvPr/>
          </p:nvSpPr>
          <p:spPr bwMode="auto">
            <a:xfrm>
              <a:off x="3037" y="3471"/>
              <a:ext cx="824" cy="439"/>
            </a:xfrm>
            <a:prstGeom prst="borderCallout2">
              <a:avLst>
                <a:gd name="adj1" fmla="val 16403"/>
                <a:gd name="adj2" fmla="val 105824"/>
                <a:gd name="adj3" fmla="val 16403"/>
                <a:gd name="adj4" fmla="val 129245"/>
                <a:gd name="adj5" fmla="val -112755"/>
                <a:gd name="adj6" fmla="val 156310"/>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le total tous produits confondus</a:t>
              </a:r>
            </a:p>
          </p:txBody>
        </p:sp>
      </p:grpSp>
      <p:grpSp>
        <p:nvGrpSpPr>
          <p:cNvPr id="7" name="Group 66"/>
          <p:cNvGrpSpPr>
            <a:grpSpLocks/>
          </p:cNvGrpSpPr>
          <p:nvPr/>
        </p:nvGrpSpPr>
        <p:grpSpPr bwMode="auto">
          <a:xfrm>
            <a:off x="6729413" y="5324475"/>
            <a:ext cx="2252662" cy="1112838"/>
            <a:chOff x="4239" y="3354"/>
            <a:chExt cx="1419" cy="701"/>
          </a:xfrm>
        </p:grpSpPr>
        <p:sp>
          <p:nvSpPr>
            <p:cNvPr id="86029" name="Oval 55"/>
            <p:cNvSpPr>
              <a:spLocks noChangeArrowheads="1"/>
            </p:cNvSpPr>
            <p:nvPr/>
          </p:nvSpPr>
          <p:spPr bwMode="auto">
            <a:xfrm>
              <a:off x="4239" y="3354"/>
              <a:ext cx="277" cy="182"/>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6030" name="AutoShape 60"/>
            <p:cNvSpPr>
              <a:spLocks/>
            </p:cNvSpPr>
            <p:nvPr/>
          </p:nvSpPr>
          <p:spPr bwMode="auto">
            <a:xfrm>
              <a:off x="4621" y="3604"/>
              <a:ext cx="1037" cy="451"/>
            </a:xfrm>
            <a:prstGeom prst="borderCallout2">
              <a:avLst>
                <a:gd name="adj1" fmla="val 15963"/>
                <a:gd name="adj2" fmla="val -4630"/>
                <a:gd name="adj3" fmla="val 15963"/>
                <a:gd name="adj4" fmla="val -12245"/>
                <a:gd name="adj5" fmla="val -19736"/>
                <a:gd name="adj6" fmla="val -2092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dirty="0">
                  <a:solidFill>
                    <a:schemeClr val="tx1"/>
                  </a:solidFill>
                </a:rPr>
                <a:t>Taux service =</a:t>
              </a:r>
            </a:p>
            <a:p>
              <a:pPr algn="ctr" eaLnBrk="1" hangingPunct="1">
                <a:spcBef>
                  <a:spcPct val="0"/>
                </a:spcBef>
                <a:buFontTx/>
                <a:buNone/>
              </a:pPr>
              <a:r>
                <a:rPr lang="fr-FR" altLang="fr-FR" sz="1300" dirty="0">
                  <a:solidFill>
                    <a:schemeClr val="tx1"/>
                  </a:solidFill>
                </a:rPr>
                <a:t>100 % - Ruptures / Ventes</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44146"/>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4146"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7042" name="Picture 4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98763" y="666750"/>
            <a:ext cx="5919787" cy="544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043" name="Rectangle 3"/>
          <p:cNvSpPr>
            <a:spLocks noGrp="1" noChangeArrowheads="1"/>
          </p:cNvSpPr>
          <p:nvPr>
            <p:ph type="title"/>
          </p:nvPr>
        </p:nvSpPr>
        <p:spPr>
          <a:xfrm>
            <a:off x="2781300" y="28575"/>
            <a:ext cx="2870200" cy="487363"/>
          </a:xfrm>
        </p:spPr>
        <p:txBody>
          <a:bodyPr/>
          <a:lstStyle/>
          <a:p>
            <a:pPr eaLnBrk="1" hangingPunct="1"/>
            <a:r>
              <a:rPr lang="fr-FR" altLang="fr-FR" sz="2700"/>
              <a:t>Résultats</a:t>
            </a:r>
          </a:p>
        </p:txBody>
      </p:sp>
      <p:sp>
        <p:nvSpPr>
          <p:cNvPr id="87044" name="Rectangle 7"/>
          <p:cNvSpPr>
            <a:spLocks noChangeArrowheads="1"/>
          </p:cNvSpPr>
          <p:nvPr/>
        </p:nvSpPr>
        <p:spPr bwMode="auto">
          <a:xfrm>
            <a:off x="160338" y="1317625"/>
            <a:ext cx="2527300" cy="2170113"/>
          </a:xfrm>
          <a:prstGeom prst="rect">
            <a:avLst/>
          </a:prstGeom>
          <a:noFill/>
          <a:ln w="6350" algn="ctr">
            <a:solidFill>
              <a:schemeClr val="accent2"/>
            </a:solidFill>
            <a:prstDash val="lg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7045" name="Text Box 8"/>
          <p:cNvSpPr txBox="1">
            <a:spLocks noChangeArrowheads="1"/>
          </p:cNvSpPr>
          <p:nvPr/>
        </p:nvSpPr>
        <p:spPr bwMode="auto">
          <a:xfrm>
            <a:off x="200025" y="1165225"/>
            <a:ext cx="2432050" cy="296863"/>
          </a:xfrm>
          <a:prstGeom prst="rect">
            <a:avLst/>
          </a:prstGeom>
          <a:solidFill>
            <a:schemeClr val="bg1"/>
          </a:solidFill>
          <a:ln w="6350" algn="ctr">
            <a:solidFill>
              <a:schemeClr val="accent2"/>
            </a:solidFill>
            <a:miter lim="800000"/>
            <a:headEnd/>
            <a:tailEnd/>
          </a:ln>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t>L’inventaire en début de partie</a:t>
            </a:r>
          </a:p>
        </p:txBody>
      </p:sp>
      <p:pic>
        <p:nvPicPr>
          <p:cNvPr id="87046" name="Picture 1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5588" y="1624013"/>
            <a:ext cx="2289175" cy="173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grpSp>
        <p:nvGrpSpPr>
          <p:cNvPr id="2" name="Group 47"/>
          <p:cNvGrpSpPr>
            <a:grpSpLocks/>
          </p:cNvGrpSpPr>
          <p:nvPr/>
        </p:nvGrpSpPr>
        <p:grpSpPr bwMode="auto">
          <a:xfrm>
            <a:off x="3452813" y="450850"/>
            <a:ext cx="2924175" cy="493713"/>
            <a:chOff x="2175" y="284"/>
            <a:chExt cx="1842" cy="311"/>
          </a:xfrm>
        </p:grpSpPr>
        <p:sp>
          <p:nvSpPr>
            <p:cNvPr id="87068" name="Oval 18"/>
            <p:cNvSpPr>
              <a:spLocks noChangeArrowheads="1"/>
            </p:cNvSpPr>
            <p:nvPr/>
          </p:nvSpPr>
          <p:spPr bwMode="auto">
            <a:xfrm>
              <a:off x="2175" y="438"/>
              <a:ext cx="386" cy="117"/>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87069" name="AutoShape 32"/>
            <p:cNvSpPr>
              <a:spLocks/>
            </p:cNvSpPr>
            <p:nvPr/>
          </p:nvSpPr>
          <p:spPr bwMode="auto">
            <a:xfrm>
              <a:off x="2864" y="284"/>
              <a:ext cx="1153" cy="311"/>
            </a:xfrm>
            <a:prstGeom prst="borderCallout2">
              <a:avLst>
                <a:gd name="adj1" fmla="val 23153"/>
                <a:gd name="adj2" fmla="val -4162"/>
                <a:gd name="adj3" fmla="val 23153"/>
                <a:gd name="adj4" fmla="val -4162"/>
                <a:gd name="adj5" fmla="val 56269"/>
                <a:gd name="adj6" fmla="val -30444"/>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ici la lettre de votre équipe (A, B, C)</a:t>
              </a:r>
            </a:p>
          </p:txBody>
        </p:sp>
      </p:grpSp>
      <p:grpSp>
        <p:nvGrpSpPr>
          <p:cNvPr id="3" name="Group 48"/>
          <p:cNvGrpSpPr>
            <a:grpSpLocks/>
          </p:cNvGrpSpPr>
          <p:nvPr/>
        </p:nvGrpSpPr>
        <p:grpSpPr bwMode="auto">
          <a:xfrm>
            <a:off x="4603750" y="2181225"/>
            <a:ext cx="2195513" cy="736600"/>
            <a:chOff x="2900" y="1374"/>
            <a:chExt cx="1383" cy="464"/>
          </a:xfrm>
        </p:grpSpPr>
        <p:sp>
          <p:nvSpPr>
            <p:cNvPr id="87066" name="AutoShape 33"/>
            <p:cNvSpPr>
              <a:spLocks/>
            </p:cNvSpPr>
            <p:nvPr/>
          </p:nvSpPr>
          <p:spPr bwMode="auto">
            <a:xfrm>
              <a:off x="3617" y="1517"/>
              <a:ext cx="666" cy="321"/>
            </a:xfrm>
            <a:prstGeom prst="borderCallout2">
              <a:avLst>
                <a:gd name="adj1" fmla="val 22431"/>
                <a:gd name="adj2" fmla="val -7208"/>
                <a:gd name="adj3" fmla="val 22431"/>
                <a:gd name="adj4" fmla="val -7208"/>
                <a:gd name="adj5" fmla="val -25546"/>
                <a:gd name="adj6" fmla="val -49398"/>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Faîtes l'inventaire</a:t>
              </a:r>
            </a:p>
          </p:txBody>
        </p:sp>
        <p:sp>
          <p:nvSpPr>
            <p:cNvPr id="87067" name="Oval 41"/>
            <p:cNvSpPr>
              <a:spLocks noChangeArrowheads="1"/>
            </p:cNvSpPr>
            <p:nvPr/>
          </p:nvSpPr>
          <p:spPr bwMode="auto">
            <a:xfrm>
              <a:off x="2900" y="1374"/>
              <a:ext cx="386"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 name="Group 49"/>
          <p:cNvGrpSpPr>
            <a:grpSpLocks/>
          </p:cNvGrpSpPr>
          <p:nvPr/>
        </p:nvGrpSpPr>
        <p:grpSpPr bwMode="auto">
          <a:xfrm>
            <a:off x="4586288" y="3148013"/>
            <a:ext cx="1963737" cy="758825"/>
            <a:chOff x="2889" y="1983"/>
            <a:chExt cx="1237" cy="478"/>
          </a:xfrm>
        </p:grpSpPr>
        <p:sp>
          <p:nvSpPr>
            <p:cNvPr id="87064" name="AutoShape 34"/>
            <p:cNvSpPr>
              <a:spLocks/>
            </p:cNvSpPr>
            <p:nvPr/>
          </p:nvSpPr>
          <p:spPr bwMode="auto">
            <a:xfrm>
              <a:off x="3488" y="1983"/>
              <a:ext cx="638" cy="190"/>
            </a:xfrm>
            <a:prstGeom prst="borderCallout2">
              <a:avLst>
                <a:gd name="adj1" fmla="val 37894"/>
                <a:gd name="adj2" fmla="val -7523"/>
                <a:gd name="adj3" fmla="val 37894"/>
                <a:gd name="adj4" fmla="val -7523"/>
                <a:gd name="adj5" fmla="val 170000"/>
                <a:gd name="adj6" fmla="val -38245"/>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Stock total</a:t>
              </a:r>
            </a:p>
          </p:txBody>
        </p:sp>
        <p:sp>
          <p:nvSpPr>
            <p:cNvPr id="87065" name="Oval 42"/>
            <p:cNvSpPr>
              <a:spLocks noChangeArrowheads="1"/>
            </p:cNvSpPr>
            <p:nvPr/>
          </p:nvSpPr>
          <p:spPr bwMode="auto">
            <a:xfrm>
              <a:off x="2889" y="2310"/>
              <a:ext cx="386"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50"/>
          <p:cNvGrpSpPr>
            <a:grpSpLocks/>
          </p:cNvGrpSpPr>
          <p:nvPr/>
        </p:nvGrpSpPr>
        <p:grpSpPr bwMode="auto">
          <a:xfrm>
            <a:off x="1806575" y="4905375"/>
            <a:ext cx="2408238" cy="1184275"/>
            <a:chOff x="1138" y="3090"/>
            <a:chExt cx="1517" cy="746"/>
          </a:xfrm>
        </p:grpSpPr>
        <p:sp>
          <p:nvSpPr>
            <p:cNvPr id="87062" name="AutoShape 35"/>
            <p:cNvSpPr>
              <a:spLocks/>
            </p:cNvSpPr>
            <p:nvPr/>
          </p:nvSpPr>
          <p:spPr bwMode="auto">
            <a:xfrm>
              <a:off x="1138" y="3376"/>
              <a:ext cx="798" cy="460"/>
            </a:xfrm>
            <a:prstGeom prst="borderCallout2">
              <a:avLst>
                <a:gd name="adj1" fmla="val 15653"/>
                <a:gd name="adj2" fmla="val 106014"/>
                <a:gd name="adj3" fmla="val 15653"/>
                <a:gd name="adj4" fmla="val 106014"/>
                <a:gd name="adj5" fmla="val -30218"/>
                <a:gd name="adj6" fmla="val 154639"/>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Reportez l'efficience de chaque poste</a:t>
              </a:r>
            </a:p>
          </p:txBody>
        </p:sp>
        <p:sp>
          <p:nvSpPr>
            <p:cNvPr id="87063" name="Oval 43"/>
            <p:cNvSpPr>
              <a:spLocks noChangeArrowheads="1"/>
            </p:cNvSpPr>
            <p:nvPr/>
          </p:nvSpPr>
          <p:spPr bwMode="auto">
            <a:xfrm>
              <a:off x="2269" y="3090"/>
              <a:ext cx="386"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 name="Group 51"/>
          <p:cNvGrpSpPr>
            <a:grpSpLocks/>
          </p:cNvGrpSpPr>
          <p:nvPr/>
        </p:nvGrpSpPr>
        <p:grpSpPr bwMode="auto">
          <a:xfrm>
            <a:off x="4070350" y="4895850"/>
            <a:ext cx="3124200" cy="1249363"/>
            <a:chOff x="2564" y="3084"/>
            <a:chExt cx="1968" cy="787"/>
          </a:xfrm>
        </p:grpSpPr>
        <p:sp>
          <p:nvSpPr>
            <p:cNvPr id="87060" name="AutoShape 36"/>
            <p:cNvSpPr>
              <a:spLocks/>
            </p:cNvSpPr>
            <p:nvPr/>
          </p:nvSpPr>
          <p:spPr bwMode="auto">
            <a:xfrm>
              <a:off x="2564" y="3550"/>
              <a:ext cx="1081" cy="321"/>
            </a:xfrm>
            <a:prstGeom prst="borderCallout2">
              <a:avLst>
                <a:gd name="adj1" fmla="val 22431"/>
                <a:gd name="adj2" fmla="val 104440"/>
                <a:gd name="adj3" fmla="val 22431"/>
                <a:gd name="adj4" fmla="val 104440"/>
                <a:gd name="adj5" fmla="val -119625"/>
                <a:gd name="adj6" fmla="val 150046"/>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Calculez l'efficience moyenne de l'usine</a:t>
              </a:r>
            </a:p>
          </p:txBody>
        </p:sp>
        <p:sp>
          <p:nvSpPr>
            <p:cNvPr id="87061" name="Oval 44"/>
            <p:cNvSpPr>
              <a:spLocks noChangeArrowheads="1"/>
            </p:cNvSpPr>
            <p:nvPr/>
          </p:nvSpPr>
          <p:spPr bwMode="auto">
            <a:xfrm>
              <a:off x="4192" y="3084"/>
              <a:ext cx="340"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 name="Group 52"/>
          <p:cNvGrpSpPr>
            <a:grpSpLocks/>
          </p:cNvGrpSpPr>
          <p:nvPr/>
        </p:nvGrpSpPr>
        <p:grpSpPr bwMode="auto">
          <a:xfrm>
            <a:off x="7181850" y="3863975"/>
            <a:ext cx="1809750" cy="1262063"/>
            <a:chOff x="4524" y="2434"/>
            <a:chExt cx="1140" cy="795"/>
          </a:xfrm>
        </p:grpSpPr>
        <p:sp>
          <p:nvSpPr>
            <p:cNvPr id="87058" name="AutoShape 37"/>
            <p:cNvSpPr>
              <a:spLocks/>
            </p:cNvSpPr>
            <p:nvPr/>
          </p:nvSpPr>
          <p:spPr bwMode="auto">
            <a:xfrm>
              <a:off x="4965" y="2434"/>
              <a:ext cx="699" cy="332"/>
            </a:xfrm>
            <a:prstGeom prst="borderCallout2">
              <a:avLst>
                <a:gd name="adj1" fmla="val 21685"/>
                <a:gd name="adj2" fmla="val -6866"/>
                <a:gd name="adj3" fmla="val 21685"/>
                <a:gd name="adj4" fmla="val -6866"/>
                <a:gd name="adj5" fmla="val 194880"/>
                <a:gd name="adj6" fmla="val -40343"/>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Reportez le stock total </a:t>
              </a:r>
            </a:p>
          </p:txBody>
        </p:sp>
        <p:sp>
          <p:nvSpPr>
            <p:cNvPr id="87059" name="Oval 45"/>
            <p:cNvSpPr>
              <a:spLocks noChangeArrowheads="1"/>
            </p:cNvSpPr>
            <p:nvPr/>
          </p:nvSpPr>
          <p:spPr bwMode="auto">
            <a:xfrm>
              <a:off x="4524" y="3078"/>
              <a:ext cx="340"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8" name="Group 53"/>
          <p:cNvGrpSpPr>
            <a:grpSpLocks/>
          </p:cNvGrpSpPr>
          <p:nvPr/>
        </p:nvGrpSpPr>
        <p:grpSpPr bwMode="auto">
          <a:xfrm>
            <a:off x="6202363" y="4886325"/>
            <a:ext cx="2038350" cy="1301750"/>
            <a:chOff x="3907" y="3078"/>
            <a:chExt cx="1284" cy="820"/>
          </a:xfrm>
        </p:grpSpPr>
        <p:sp>
          <p:nvSpPr>
            <p:cNvPr id="87056" name="AutoShape 38"/>
            <p:cNvSpPr>
              <a:spLocks/>
            </p:cNvSpPr>
            <p:nvPr/>
          </p:nvSpPr>
          <p:spPr bwMode="auto">
            <a:xfrm>
              <a:off x="3907" y="3588"/>
              <a:ext cx="823" cy="310"/>
            </a:xfrm>
            <a:prstGeom prst="borderCallout2">
              <a:avLst>
                <a:gd name="adj1" fmla="val 23227"/>
                <a:gd name="adj2" fmla="val 105833"/>
                <a:gd name="adj3" fmla="val 23227"/>
                <a:gd name="adj4" fmla="val 105833"/>
                <a:gd name="adj5" fmla="val -113227"/>
                <a:gd name="adj6" fmla="val 126972"/>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Reportez le taux de service</a:t>
              </a:r>
            </a:p>
          </p:txBody>
        </p:sp>
        <p:sp>
          <p:nvSpPr>
            <p:cNvPr id="87057" name="Oval 46"/>
            <p:cNvSpPr>
              <a:spLocks noChangeArrowheads="1"/>
            </p:cNvSpPr>
            <p:nvPr/>
          </p:nvSpPr>
          <p:spPr bwMode="auto">
            <a:xfrm>
              <a:off x="4851" y="3078"/>
              <a:ext cx="340" cy="15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6"/>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ChangeArrowheads="1"/>
          </p:cNvSpPr>
          <p:nvPr>
            <p:ph type="title"/>
          </p:nvPr>
        </p:nvSpPr>
        <p:spPr>
          <a:xfrm>
            <a:off x="490538" y="2001838"/>
            <a:ext cx="8229600" cy="944562"/>
          </a:xfrm>
        </p:spPr>
        <p:txBody>
          <a:bodyPr/>
          <a:lstStyle/>
          <a:p>
            <a:pPr eaLnBrk="1" hangingPunct="1">
              <a:lnSpc>
                <a:spcPct val="140000"/>
              </a:lnSpc>
            </a:pPr>
            <a:r>
              <a:rPr lang="fr-FR" altLang="fr-FR"/>
              <a:t>Affichage des résultats</a:t>
            </a:r>
            <a:br>
              <a:rPr lang="fr-FR" altLang="fr-FR"/>
            </a:br>
            <a:r>
              <a:rPr lang="fr-FR" altLang="fr-FR" sz="1400"/>
              <a:t>(voir fichier Excel)</a:t>
            </a: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2"/>
          <p:cNvSpPr>
            <a:spLocks noGrp="1" noChangeArrowheads="1"/>
          </p:cNvSpPr>
          <p:nvPr>
            <p:ph type="title"/>
          </p:nvPr>
        </p:nvSpPr>
        <p:spPr/>
        <p:txBody>
          <a:bodyPr/>
          <a:lstStyle/>
          <a:p>
            <a:pPr eaLnBrk="1" hangingPunct="1"/>
            <a:r>
              <a:rPr lang="fr-FR" altLang="fr-FR"/>
              <a:t>Préparation de la semaine 2</a:t>
            </a:r>
          </a:p>
        </p:txBody>
      </p:sp>
      <p:sp>
        <p:nvSpPr>
          <p:cNvPr id="89091" name="Rectangle 3"/>
          <p:cNvSpPr>
            <a:spLocks noGrp="1" noChangeArrowheads="1"/>
          </p:cNvSpPr>
          <p:nvPr>
            <p:ph type="body" idx="1"/>
          </p:nvPr>
        </p:nvSpPr>
        <p:spPr>
          <a:xfrm>
            <a:off x="311150" y="1319213"/>
            <a:ext cx="8715375" cy="2927350"/>
          </a:xfrm>
        </p:spPr>
        <p:txBody>
          <a:bodyPr/>
          <a:lstStyle/>
          <a:p>
            <a:pPr eaLnBrk="1" hangingPunct="1"/>
            <a:r>
              <a:rPr lang="fr-FR" altLang="fr-FR"/>
              <a:t>Après avoir fait constaté aux participants les difficultés de la méthode utilisée en semaine 1, l’animateur explique les deux changements majeurs qui vont intervenir en semaine 2</a:t>
            </a:r>
          </a:p>
          <a:p>
            <a:pPr lvl="1" eaLnBrk="1" hangingPunct="1"/>
            <a:r>
              <a:rPr lang="fr-FR" altLang="fr-FR"/>
              <a:t>La méthode Kanban va se substituer à la méthode de programmation basée sur les prévisions de vente.</a:t>
            </a:r>
          </a:p>
          <a:p>
            <a:pPr lvl="1" eaLnBrk="1" hangingPunct="1"/>
            <a:r>
              <a:rPr lang="fr-FR" altLang="fr-FR"/>
              <a:t>Des progrès seront engagés dans le système de production.</a:t>
            </a:r>
          </a:p>
          <a:p>
            <a:pPr eaLnBrk="1" hangingPunct="1"/>
            <a:r>
              <a:rPr lang="fr-FR" altLang="fr-FR"/>
              <a:t>L’animateur se sert des diapos suivantes pour donner des explications.</a:t>
            </a:r>
          </a:p>
        </p:txBody>
      </p:sp>
      <p:pic>
        <p:nvPicPr>
          <p:cNvPr id="6"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Grp="1" noChangeArrowheads="1"/>
          </p:cNvSpPr>
          <p:nvPr>
            <p:ph type="title"/>
          </p:nvPr>
        </p:nvSpPr>
        <p:spPr>
          <a:xfrm>
            <a:off x="430213" y="0"/>
            <a:ext cx="8229600" cy="647700"/>
          </a:xfrm>
        </p:spPr>
        <p:txBody>
          <a:bodyPr/>
          <a:lstStyle/>
          <a:p>
            <a:pPr eaLnBrk="1" hangingPunct="1"/>
            <a:r>
              <a:rPr lang="fr-FR" altLang="fr-FR"/>
              <a:t>La méthode Kanban pour l’usinage</a:t>
            </a:r>
          </a:p>
        </p:txBody>
      </p:sp>
      <p:sp>
        <p:nvSpPr>
          <p:cNvPr id="90115" name="Text Box 54"/>
          <p:cNvSpPr txBox="1">
            <a:spLocks noChangeArrowheads="1"/>
          </p:cNvSpPr>
          <p:nvPr/>
        </p:nvSpPr>
        <p:spPr bwMode="auto">
          <a:xfrm>
            <a:off x="4027488" y="3330575"/>
            <a:ext cx="1766887" cy="590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Poste Carters</a:t>
            </a:r>
          </a:p>
        </p:txBody>
      </p:sp>
      <p:grpSp>
        <p:nvGrpSpPr>
          <p:cNvPr id="90116" name="Group 55"/>
          <p:cNvGrpSpPr>
            <a:grpSpLocks/>
          </p:cNvGrpSpPr>
          <p:nvPr/>
        </p:nvGrpSpPr>
        <p:grpSpPr bwMode="auto">
          <a:xfrm>
            <a:off x="4481513" y="2781300"/>
            <a:ext cx="820737" cy="500063"/>
            <a:chOff x="2102" y="1800"/>
            <a:chExt cx="787" cy="480"/>
          </a:xfrm>
        </p:grpSpPr>
        <p:sp>
          <p:nvSpPr>
            <p:cNvPr id="90158" name="Oval 56"/>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59" name="Rectangle 57"/>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60" name="Oval 58"/>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 name="Group 95"/>
          <p:cNvGrpSpPr>
            <a:grpSpLocks/>
          </p:cNvGrpSpPr>
          <p:nvPr/>
        </p:nvGrpSpPr>
        <p:grpSpPr bwMode="auto">
          <a:xfrm>
            <a:off x="1266825" y="919163"/>
            <a:ext cx="2295525" cy="2065337"/>
            <a:chOff x="798" y="579"/>
            <a:chExt cx="1446" cy="1301"/>
          </a:xfrm>
        </p:grpSpPr>
        <p:grpSp>
          <p:nvGrpSpPr>
            <p:cNvPr id="90151" name="Group 86"/>
            <p:cNvGrpSpPr>
              <a:grpSpLocks/>
            </p:cNvGrpSpPr>
            <p:nvPr/>
          </p:nvGrpSpPr>
          <p:grpSpPr bwMode="auto">
            <a:xfrm>
              <a:off x="798" y="579"/>
              <a:ext cx="1446" cy="894"/>
              <a:chOff x="695" y="737"/>
              <a:chExt cx="1446" cy="894"/>
            </a:xfrm>
          </p:grpSpPr>
          <p:grpSp>
            <p:nvGrpSpPr>
              <p:cNvPr id="90153" name="Group 59"/>
              <p:cNvGrpSpPr>
                <a:grpSpLocks/>
              </p:cNvGrpSpPr>
              <p:nvPr/>
            </p:nvGrpSpPr>
            <p:grpSpPr bwMode="auto">
              <a:xfrm>
                <a:off x="695" y="737"/>
                <a:ext cx="707" cy="894"/>
                <a:chOff x="1235" y="2917"/>
                <a:chExt cx="707" cy="894"/>
              </a:xfrm>
            </p:grpSpPr>
            <p:sp>
              <p:nvSpPr>
                <p:cNvPr id="90155" name="Rectangle 15"/>
                <p:cNvSpPr>
                  <a:spLocks noChangeArrowheads="1"/>
                </p:cNvSpPr>
                <p:nvPr/>
              </p:nvSpPr>
              <p:spPr bwMode="auto">
                <a:xfrm>
                  <a:off x="1252" y="2958"/>
                  <a:ext cx="659" cy="843"/>
                </a:xfrm>
                <a:prstGeom prst="rect">
                  <a:avLst/>
                </a:prstGeom>
                <a:solidFill>
                  <a:schemeClr val="bg1"/>
                </a:solidFill>
                <a:ln w="952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56" name="Rectangle 13"/>
                <p:cNvSpPr>
                  <a:spLocks noChangeArrowheads="1"/>
                </p:cNvSpPr>
                <p:nvPr/>
              </p:nvSpPr>
              <p:spPr bwMode="auto">
                <a:xfrm>
                  <a:off x="1235" y="2917"/>
                  <a:ext cx="707" cy="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130000"/>
                    </a:lnSpc>
                    <a:spcBef>
                      <a:spcPct val="0"/>
                    </a:spcBef>
                    <a:buFontTx/>
                    <a:buNone/>
                  </a:pPr>
                  <a:r>
                    <a:rPr lang="fr-FR" altLang="fr-FR" sz="1200" b="1">
                      <a:solidFill>
                        <a:schemeClr val="tx1"/>
                      </a:solidFill>
                    </a:rPr>
                    <a:t>Carters</a:t>
                  </a:r>
                </a:p>
                <a:p>
                  <a:pPr algn="ctr">
                    <a:lnSpc>
                      <a:spcPct val="130000"/>
                    </a:lnSpc>
                    <a:spcBef>
                      <a:spcPct val="0"/>
                    </a:spcBef>
                    <a:buFontTx/>
                    <a:buNone/>
                  </a:pPr>
                  <a:endParaRPr lang="fr-FR" altLang="fr-FR" sz="1200" b="1">
                    <a:solidFill>
                      <a:schemeClr val="tx1"/>
                    </a:solidFill>
                  </a:endParaRPr>
                </a:p>
                <a:p>
                  <a:pPr algn="ctr">
                    <a:lnSpc>
                      <a:spcPct val="130000"/>
                    </a:lnSpc>
                    <a:spcBef>
                      <a:spcPct val="0"/>
                    </a:spcBef>
                    <a:buFontTx/>
                    <a:buNone/>
                  </a:pPr>
                  <a:endParaRPr lang="fr-FR" altLang="fr-FR" sz="1200" b="1">
                    <a:solidFill>
                      <a:schemeClr val="tx1"/>
                    </a:solidFill>
                  </a:endParaRPr>
                </a:p>
                <a:p>
                  <a:pPr algn="ctr">
                    <a:lnSpc>
                      <a:spcPct val="130000"/>
                    </a:lnSpc>
                    <a:spcBef>
                      <a:spcPct val="0"/>
                    </a:spcBef>
                    <a:buFontTx/>
                    <a:buNone/>
                  </a:pPr>
                  <a:r>
                    <a:rPr lang="fr-FR" altLang="fr-FR" sz="1200" b="1">
                      <a:solidFill>
                        <a:schemeClr val="tx1"/>
                      </a:solidFill>
                    </a:rPr>
                    <a:t>destination</a:t>
                  </a:r>
                </a:p>
                <a:p>
                  <a:pPr algn="ctr">
                    <a:lnSpc>
                      <a:spcPct val="130000"/>
                    </a:lnSpc>
                    <a:spcBef>
                      <a:spcPct val="0"/>
                    </a:spcBef>
                    <a:buFontTx/>
                    <a:buNone/>
                  </a:pPr>
                  <a:r>
                    <a:rPr lang="fr-FR" altLang="fr-FR" sz="1200" b="1">
                      <a:solidFill>
                        <a:schemeClr val="tx1"/>
                      </a:solidFill>
                    </a:rPr>
                    <a:t>Montage</a:t>
                  </a:r>
                </a:p>
              </p:txBody>
            </p:sp>
            <p:sp>
              <p:nvSpPr>
                <p:cNvPr id="90157" name="Rectangle 14"/>
                <p:cNvSpPr>
                  <a:spLocks noChangeArrowheads="1"/>
                </p:cNvSpPr>
                <p:nvPr/>
              </p:nvSpPr>
              <p:spPr bwMode="auto">
                <a:xfrm>
                  <a:off x="1367" y="3266"/>
                  <a:ext cx="446" cy="134"/>
                </a:xfrm>
                <a:prstGeom prst="rect">
                  <a:avLst/>
                </a:prstGeom>
                <a:solidFill>
                  <a:schemeClr val="accent2"/>
                </a:solidFill>
                <a:ln w="3175">
                  <a:solidFill>
                    <a:schemeClr val="tx1"/>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0154" name="Text Box 79"/>
              <p:cNvSpPr txBox="1">
                <a:spLocks noChangeArrowheads="1"/>
              </p:cNvSpPr>
              <p:nvPr/>
            </p:nvSpPr>
            <p:spPr bwMode="auto">
              <a:xfrm>
                <a:off x="1419" y="789"/>
                <a:ext cx="72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solidFill>
                      <a:schemeClr val="tx1"/>
                    </a:solidFill>
                  </a:rPr>
                  <a:t>Ticket Kanban</a:t>
                </a:r>
              </a:p>
            </p:txBody>
          </p:sp>
        </p:grpSp>
        <p:sp>
          <p:nvSpPr>
            <p:cNvPr id="90152" name="Line 81"/>
            <p:cNvSpPr>
              <a:spLocks noChangeShapeType="1"/>
            </p:cNvSpPr>
            <p:nvPr/>
          </p:nvSpPr>
          <p:spPr bwMode="auto">
            <a:xfrm flipH="1">
              <a:off x="1113" y="1484"/>
              <a:ext cx="79" cy="396"/>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6" name="Group 93"/>
          <p:cNvGrpSpPr>
            <a:grpSpLocks/>
          </p:cNvGrpSpPr>
          <p:nvPr/>
        </p:nvGrpSpPr>
        <p:grpSpPr bwMode="auto">
          <a:xfrm>
            <a:off x="609600" y="3022600"/>
            <a:ext cx="3335338" cy="1379538"/>
            <a:chOff x="384" y="1904"/>
            <a:chExt cx="2101" cy="869"/>
          </a:xfrm>
        </p:grpSpPr>
        <p:grpSp>
          <p:nvGrpSpPr>
            <p:cNvPr id="90141" name="Group 87"/>
            <p:cNvGrpSpPr>
              <a:grpSpLocks/>
            </p:cNvGrpSpPr>
            <p:nvPr/>
          </p:nvGrpSpPr>
          <p:grpSpPr bwMode="auto">
            <a:xfrm>
              <a:off x="384" y="1904"/>
              <a:ext cx="906" cy="869"/>
              <a:chOff x="384" y="1904"/>
              <a:chExt cx="906" cy="869"/>
            </a:xfrm>
          </p:grpSpPr>
          <p:grpSp>
            <p:nvGrpSpPr>
              <p:cNvPr id="90143" name="Group 70"/>
              <p:cNvGrpSpPr>
                <a:grpSpLocks/>
              </p:cNvGrpSpPr>
              <p:nvPr/>
            </p:nvGrpSpPr>
            <p:grpSpPr bwMode="auto">
              <a:xfrm rot="-223274">
                <a:off x="623" y="1904"/>
                <a:ext cx="667" cy="657"/>
                <a:chOff x="2757" y="1666"/>
                <a:chExt cx="812" cy="800"/>
              </a:xfrm>
            </p:grpSpPr>
            <p:sp>
              <p:nvSpPr>
                <p:cNvPr id="90145" name="Freeform 7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0146" name="Freeform 7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0147" name="Line 7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0148" name="Freeform 7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0149" name="Freeform 7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0150" name="AutoShape 7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0144" name="Text Box 80"/>
              <p:cNvSpPr txBox="1">
                <a:spLocks noChangeArrowheads="1"/>
              </p:cNvSpPr>
              <p:nvPr/>
            </p:nvSpPr>
            <p:spPr bwMode="auto">
              <a:xfrm>
                <a:off x="384" y="2561"/>
                <a:ext cx="81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Conteneur</a:t>
                </a:r>
              </a:p>
            </p:txBody>
          </p:sp>
        </p:grpSp>
        <p:sp>
          <p:nvSpPr>
            <p:cNvPr id="90142" name="Line 82"/>
            <p:cNvSpPr>
              <a:spLocks noChangeShapeType="1"/>
            </p:cNvSpPr>
            <p:nvPr/>
          </p:nvSpPr>
          <p:spPr bwMode="auto">
            <a:xfrm flipV="1">
              <a:off x="1406" y="2034"/>
              <a:ext cx="1079" cy="209"/>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9" name="Group 94"/>
          <p:cNvGrpSpPr>
            <a:grpSpLocks/>
          </p:cNvGrpSpPr>
          <p:nvPr/>
        </p:nvGrpSpPr>
        <p:grpSpPr bwMode="auto">
          <a:xfrm>
            <a:off x="1884363" y="3424238"/>
            <a:ext cx="2051050" cy="1439862"/>
            <a:chOff x="1187" y="2157"/>
            <a:chExt cx="1292" cy="907"/>
          </a:xfrm>
        </p:grpSpPr>
        <p:grpSp>
          <p:nvGrpSpPr>
            <p:cNvPr id="90137" name="Group 88"/>
            <p:cNvGrpSpPr>
              <a:grpSpLocks/>
            </p:cNvGrpSpPr>
            <p:nvPr/>
          </p:nvGrpSpPr>
          <p:grpSpPr bwMode="auto">
            <a:xfrm>
              <a:off x="1187" y="2327"/>
              <a:ext cx="881" cy="737"/>
              <a:chOff x="1346" y="2500"/>
              <a:chExt cx="881" cy="737"/>
            </a:xfrm>
          </p:grpSpPr>
          <p:sp>
            <p:nvSpPr>
              <p:cNvPr id="90139" name="AutoShape 40"/>
              <p:cNvSpPr>
                <a:spLocks noChangeArrowheads="1"/>
              </p:cNvSpPr>
              <p:nvPr/>
            </p:nvSpPr>
            <p:spPr bwMode="auto">
              <a:xfrm rot="2337505">
                <a:off x="1722" y="2500"/>
                <a:ext cx="219" cy="329"/>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40" name="Text Box 78"/>
              <p:cNvSpPr txBox="1">
                <a:spLocks noChangeArrowheads="1"/>
              </p:cNvSpPr>
              <p:nvPr/>
            </p:nvSpPr>
            <p:spPr bwMode="auto">
              <a:xfrm>
                <a:off x="1346" y="2871"/>
                <a:ext cx="88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Matière première</a:t>
                </a:r>
              </a:p>
            </p:txBody>
          </p:sp>
        </p:grpSp>
        <p:sp>
          <p:nvSpPr>
            <p:cNvPr id="90138" name="Line 83"/>
            <p:cNvSpPr>
              <a:spLocks noChangeShapeType="1"/>
            </p:cNvSpPr>
            <p:nvPr/>
          </p:nvSpPr>
          <p:spPr bwMode="auto">
            <a:xfrm flipV="1">
              <a:off x="1907" y="2157"/>
              <a:ext cx="572" cy="229"/>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11" name="Group 91"/>
          <p:cNvGrpSpPr>
            <a:grpSpLocks/>
          </p:cNvGrpSpPr>
          <p:nvPr/>
        </p:nvGrpSpPr>
        <p:grpSpPr bwMode="auto">
          <a:xfrm>
            <a:off x="5511800" y="2333625"/>
            <a:ext cx="3333750" cy="1838325"/>
            <a:chOff x="3472" y="1470"/>
            <a:chExt cx="2100" cy="1158"/>
          </a:xfrm>
        </p:grpSpPr>
        <p:grpSp>
          <p:nvGrpSpPr>
            <p:cNvPr id="90122" name="Group 89"/>
            <p:cNvGrpSpPr>
              <a:grpSpLocks/>
            </p:cNvGrpSpPr>
            <p:nvPr/>
          </p:nvGrpSpPr>
          <p:grpSpPr bwMode="auto">
            <a:xfrm>
              <a:off x="4115" y="1470"/>
              <a:ext cx="1457" cy="1158"/>
              <a:chOff x="4115" y="1470"/>
              <a:chExt cx="1457" cy="1158"/>
            </a:xfrm>
          </p:grpSpPr>
          <p:grpSp>
            <p:nvGrpSpPr>
              <p:cNvPr id="90124" name="Group 68"/>
              <p:cNvGrpSpPr>
                <a:grpSpLocks/>
              </p:cNvGrpSpPr>
              <p:nvPr/>
            </p:nvGrpSpPr>
            <p:grpSpPr bwMode="auto">
              <a:xfrm>
                <a:off x="4360" y="1470"/>
                <a:ext cx="675" cy="701"/>
                <a:chOff x="3647" y="1218"/>
                <a:chExt cx="675" cy="701"/>
              </a:xfrm>
            </p:grpSpPr>
            <p:grpSp>
              <p:nvGrpSpPr>
                <p:cNvPr id="90126" name="Group 25"/>
                <p:cNvGrpSpPr>
                  <a:grpSpLocks/>
                </p:cNvGrpSpPr>
                <p:nvPr/>
              </p:nvGrpSpPr>
              <p:grpSpPr bwMode="auto">
                <a:xfrm rot="-223274">
                  <a:off x="3655" y="1262"/>
                  <a:ext cx="667" cy="657"/>
                  <a:chOff x="2757" y="1666"/>
                  <a:chExt cx="812" cy="800"/>
                </a:xfrm>
              </p:grpSpPr>
              <p:sp>
                <p:nvSpPr>
                  <p:cNvPr id="90131" name="Freeform 2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0132" name="Freeform 2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0133" name="Line 2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0134" name="Freeform 2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0135" name="Freeform 3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0136" name="AutoShape 3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0127" name="AutoShape 52"/>
                <p:cNvSpPr>
                  <a:spLocks noChangeArrowheads="1"/>
                </p:cNvSpPr>
                <p:nvPr/>
              </p:nvSpPr>
              <p:spPr bwMode="auto">
                <a:xfrm rot="2337505">
                  <a:off x="3958" y="141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28" name="AutoShape 48"/>
                <p:cNvSpPr>
                  <a:spLocks noChangeArrowheads="1"/>
                </p:cNvSpPr>
                <p:nvPr/>
              </p:nvSpPr>
              <p:spPr bwMode="auto">
                <a:xfrm rot="-5567485">
                  <a:off x="3592" y="1273"/>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29" name="AutoShape 49"/>
                <p:cNvSpPr>
                  <a:spLocks noChangeArrowheads="1"/>
                </p:cNvSpPr>
                <p:nvPr/>
              </p:nvSpPr>
              <p:spPr bwMode="auto">
                <a:xfrm rot="-5567485">
                  <a:off x="3777" y="1395"/>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0130" name="Text Box 50"/>
                <p:cNvSpPr txBox="1">
                  <a:spLocks noChangeArrowheads="1"/>
                </p:cNvSpPr>
                <p:nvPr/>
              </p:nvSpPr>
              <p:spPr bwMode="auto">
                <a:xfrm rot="628236">
                  <a:off x="3659" y="1287"/>
                  <a:ext cx="35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b="1">
                      <a:solidFill>
                        <a:schemeClr val="tx1"/>
                      </a:solidFill>
                    </a:rPr>
                    <a:t>carters</a:t>
                  </a:r>
                </a:p>
              </p:txBody>
            </p:sp>
          </p:grpSp>
          <p:sp>
            <p:nvSpPr>
              <p:cNvPr id="90125" name="Text Box 53"/>
              <p:cNvSpPr txBox="1">
                <a:spLocks noChangeArrowheads="1"/>
              </p:cNvSpPr>
              <p:nvPr/>
            </p:nvSpPr>
            <p:spPr bwMode="auto">
              <a:xfrm>
                <a:off x="4115" y="2224"/>
                <a:ext cx="1457"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Zone de stockage pièces usinés</a:t>
                </a:r>
              </a:p>
            </p:txBody>
          </p:sp>
        </p:grpSp>
        <p:sp>
          <p:nvSpPr>
            <p:cNvPr id="90123" name="Line 84"/>
            <p:cNvSpPr>
              <a:spLocks noChangeShapeType="1"/>
            </p:cNvSpPr>
            <p:nvPr/>
          </p:nvSpPr>
          <p:spPr bwMode="auto">
            <a:xfrm>
              <a:off x="3472" y="1924"/>
              <a:ext cx="717"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ox(in)">
                                      <p:cBhvr>
                                        <p:cTn id="7" dur="500"/>
                                        <p:tgtEl>
                                          <p:spTgt spid="6"/>
                                        </p:tgtEl>
                                      </p:cBhvr>
                                    </p:animEffect>
                                  </p:childTnLst>
                                </p:cTn>
                              </p:par>
                            </p:childTnLst>
                          </p:cTn>
                        </p:par>
                        <p:par>
                          <p:cTn id="8" fill="hold" nodeType="afterGroup">
                            <p:stCondLst>
                              <p:cond delay="500"/>
                            </p:stCondLst>
                            <p:childTnLst>
                              <p:par>
                                <p:cTn id="9" presetID="4" presetClass="entr" presetSubtype="16"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box(in)">
                                      <p:cBhvr>
                                        <p:cTn id="11" dur="500"/>
                                        <p:tgtEl>
                                          <p:spTgt spid="9"/>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 presetClass="entr" presetSubtype="16"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box(in)">
                                      <p:cBhvr>
                                        <p:cTn id="16" dur="500"/>
                                        <p:tgtEl>
                                          <p:spTgt spid="3"/>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 presetClass="entr" presetSubtype="16" fill="hold"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box(in)">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p:cNvSpPr>
            <a:spLocks noGrp="1" noChangeArrowheads="1"/>
          </p:cNvSpPr>
          <p:nvPr>
            <p:ph type="title"/>
          </p:nvPr>
        </p:nvSpPr>
        <p:spPr>
          <a:xfrm>
            <a:off x="712008" y="136525"/>
            <a:ext cx="7646960" cy="639763"/>
          </a:xfrm>
        </p:spPr>
        <p:txBody>
          <a:bodyPr/>
          <a:lstStyle/>
          <a:p>
            <a:pPr eaLnBrk="1" hangingPunct="1"/>
            <a:r>
              <a:rPr lang="fr-FR" altLang="fr-FR" dirty="0"/>
              <a:t>La méthode Kanban :</a:t>
            </a:r>
            <a:br>
              <a:rPr lang="fr-FR" altLang="fr-FR" dirty="0"/>
            </a:br>
            <a:r>
              <a:rPr lang="fr-FR" altLang="fr-FR" dirty="0"/>
              <a:t>exemple pour le montage d’un R5</a:t>
            </a:r>
          </a:p>
        </p:txBody>
      </p:sp>
      <p:sp>
        <p:nvSpPr>
          <p:cNvPr id="91139" name="Text Box 38"/>
          <p:cNvSpPr txBox="1">
            <a:spLocks noChangeArrowheads="1"/>
          </p:cNvSpPr>
          <p:nvPr/>
        </p:nvSpPr>
        <p:spPr bwMode="auto">
          <a:xfrm>
            <a:off x="4891088" y="2741613"/>
            <a:ext cx="1081087" cy="590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Montage</a:t>
            </a:r>
          </a:p>
        </p:txBody>
      </p:sp>
      <p:grpSp>
        <p:nvGrpSpPr>
          <p:cNvPr id="91140" name="Group 39"/>
          <p:cNvGrpSpPr>
            <a:grpSpLocks/>
          </p:cNvGrpSpPr>
          <p:nvPr/>
        </p:nvGrpSpPr>
        <p:grpSpPr bwMode="auto">
          <a:xfrm>
            <a:off x="5245100" y="2236788"/>
            <a:ext cx="820738" cy="500062"/>
            <a:chOff x="2102" y="1800"/>
            <a:chExt cx="787" cy="480"/>
          </a:xfrm>
        </p:grpSpPr>
        <p:sp>
          <p:nvSpPr>
            <p:cNvPr id="91232" name="Oval 40"/>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33" name="Rectangle 41"/>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34" name="Oval 42"/>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1141" name="Group 153"/>
          <p:cNvGrpSpPr>
            <a:grpSpLocks/>
          </p:cNvGrpSpPr>
          <p:nvPr/>
        </p:nvGrpSpPr>
        <p:grpSpPr bwMode="auto">
          <a:xfrm>
            <a:off x="2160588" y="2684463"/>
            <a:ext cx="1792287" cy="3616325"/>
            <a:chOff x="1361" y="1691"/>
            <a:chExt cx="1129" cy="2278"/>
          </a:xfrm>
        </p:grpSpPr>
        <p:grpSp>
          <p:nvGrpSpPr>
            <p:cNvPr id="91199" name="Group 26"/>
            <p:cNvGrpSpPr>
              <a:grpSpLocks/>
            </p:cNvGrpSpPr>
            <p:nvPr/>
          </p:nvGrpSpPr>
          <p:grpSpPr bwMode="auto">
            <a:xfrm rot="-223274">
              <a:off x="1439" y="1739"/>
              <a:ext cx="667" cy="657"/>
              <a:chOff x="2757" y="1666"/>
              <a:chExt cx="812" cy="800"/>
            </a:xfrm>
          </p:grpSpPr>
          <p:sp>
            <p:nvSpPr>
              <p:cNvPr id="91226" name="Freeform 2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27" name="Freeform 2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228" name="Line 2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229" name="Freeform 3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30" name="Freeform 3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231" name="AutoShape 3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200" name="AutoShape 33"/>
            <p:cNvSpPr>
              <a:spLocks noChangeArrowheads="1"/>
            </p:cNvSpPr>
            <p:nvPr/>
          </p:nvSpPr>
          <p:spPr bwMode="auto">
            <a:xfrm rot="2337505">
              <a:off x="1742" y="1895"/>
              <a:ext cx="177" cy="266"/>
            </a:xfrm>
            <a:prstGeom prst="parallelogram">
              <a:avLst>
                <a:gd name="adj" fmla="val 2500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1" name="AutoShape 34"/>
            <p:cNvSpPr>
              <a:spLocks noChangeArrowheads="1"/>
            </p:cNvSpPr>
            <p:nvPr/>
          </p:nvSpPr>
          <p:spPr bwMode="auto">
            <a:xfrm rot="-5567485">
              <a:off x="1380" y="1746"/>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2" name="AutoShape 35"/>
            <p:cNvSpPr>
              <a:spLocks noChangeArrowheads="1"/>
            </p:cNvSpPr>
            <p:nvPr/>
          </p:nvSpPr>
          <p:spPr bwMode="auto">
            <a:xfrm rot="-5400000">
              <a:off x="1572" y="1926"/>
              <a:ext cx="130" cy="137"/>
            </a:xfrm>
            <a:prstGeom prst="parallelogram">
              <a:avLst>
                <a:gd name="adj" fmla="val 182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3" name="Text Box 36"/>
            <p:cNvSpPr txBox="1">
              <a:spLocks noChangeArrowheads="1"/>
            </p:cNvSpPr>
            <p:nvPr/>
          </p:nvSpPr>
          <p:spPr bwMode="auto">
            <a:xfrm rot="628236">
              <a:off x="1361" y="1764"/>
              <a:ext cx="52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b="1">
                  <a:solidFill>
                    <a:schemeClr val="tx1"/>
                  </a:solidFill>
                </a:rPr>
                <a:t>engrenages</a:t>
              </a:r>
            </a:p>
          </p:txBody>
        </p:sp>
        <p:grpSp>
          <p:nvGrpSpPr>
            <p:cNvPr id="91204" name="Group 61"/>
            <p:cNvGrpSpPr>
              <a:grpSpLocks/>
            </p:cNvGrpSpPr>
            <p:nvPr/>
          </p:nvGrpSpPr>
          <p:grpSpPr bwMode="auto">
            <a:xfrm rot="-223274">
              <a:off x="1583" y="2517"/>
              <a:ext cx="667" cy="657"/>
              <a:chOff x="2757" y="1666"/>
              <a:chExt cx="812" cy="800"/>
            </a:xfrm>
          </p:grpSpPr>
          <p:sp>
            <p:nvSpPr>
              <p:cNvPr id="91220" name="Freeform 6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21" name="Freeform 6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222" name="Line 6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223" name="Freeform 6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24" name="Freeform 6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225" name="AutoShape 6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205" name="AutoShape 68"/>
            <p:cNvSpPr>
              <a:spLocks noChangeArrowheads="1"/>
            </p:cNvSpPr>
            <p:nvPr/>
          </p:nvSpPr>
          <p:spPr bwMode="auto">
            <a:xfrm rot="2337505">
              <a:off x="1886" y="2673"/>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6" name="AutoShape 69"/>
            <p:cNvSpPr>
              <a:spLocks noChangeArrowheads="1"/>
            </p:cNvSpPr>
            <p:nvPr/>
          </p:nvSpPr>
          <p:spPr bwMode="auto">
            <a:xfrm rot="-5567485">
              <a:off x="1520" y="2528"/>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7" name="AutoShape 70"/>
            <p:cNvSpPr>
              <a:spLocks noChangeArrowheads="1"/>
            </p:cNvSpPr>
            <p:nvPr/>
          </p:nvSpPr>
          <p:spPr bwMode="auto">
            <a:xfrm rot="-5567485">
              <a:off x="1705" y="2650"/>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08" name="Text Box 71"/>
            <p:cNvSpPr txBox="1">
              <a:spLocks noChangeArrowheads="1"/>
            </p:cNvSpPr>
            <p:nvPr/>
          </p:nvSpPr>
          <p:spPr bwMode="auto">
            <a:xfrm rot="628236">
              <a:off x="1587" y="2542"/>
              <a:ext cx="35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b="1">
                  <a:solidFill>
                    <a:schemeClr val="tx1"/>
                  </a:solidFill>
                </a:rPr>
                <a:t>carters</a:t>
              </a:r>
            </a:p>
          </p:txBody>
        </p:sp>
        <p:grpSp>
          <p:nvGrpSpPr>
            <p:cNvPr id="91209" name="Group 73"/>
            <p:cNvGrpSpPr>
              <a:grpSpLocks/>
            </p:cNvGrpSpPr>
            <p:nvPr/>
          </p:nvGrpSpPr>
          <p:grpSpPr bwMode="auto">
            <a:xfrm rot="-223274">
              <a:off x="1823" y="3312"/>
              <a:ext cx="667" cy="657"/>
              <a:chOff x="2757" y="1666"/>
              <a:chExt cx="812" cy="800"/>
            </a:xfrm>
          </p:grpSpPr>
          <p:sp>
            <p:nvSpPr>
              <p:cNvPr id="91214" name="Freeform 7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15" name="Freeform 7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216" name="Line 7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217" name="Freeform 7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218" name="Freeform 7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219" name="AutoShape 7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210" name="Oval 85"/>
            <p:cNvSpPr>
              <a:spLocks noChangeArrowheads="1"/>
            </p:cNvSpPr>
            <p:nvPr/>
          </p:nvSpPr>
          <p:spPr bwMode="auto">
            <a:xfrm>
              <a:off x="2182" y="3505"/>
              <a:ext cx="170" cy="170"/>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11" name="AutoShape 81"/>
            <p:cNvSpPr>
              <a:spLocks noChangeArrowheads="1"/>
            </p:cNvSpPr>
            <p:nvPr/>
          </p:nvSpPr>
          <p:spPr bwMode="auto">
            <a:xfrm rot="-5567485">
              <a:off x="1760" y="3323"/>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212" name="Text Box 83"/>
            <p:cNvSpPr txBox="1">
              <a:spLocks noChangeArrowheads="1"/>
            </p:cNvSpPr>
            <p:nvPr/>
          </p:nvSpPr>
          <p:spPr bwMode="auto">
            <a:xfrm rot="628236">
              <a:off x="1755" y="3336"/>
              <a:ext cx="48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b="1">
                  <a:solidFill>
                    <a:schemeClr val="tx1"/>
                  </a:solidFill>
                </a:rPr>
                <a:t>2 </a:t>
              </a:r>
            </a:p>
            <a:p>
              <a:pPr algn="ctr" eaLnBrk="1" hangingPunct="1">
                <a:spcBef>
                  <a:spcPct val="0"/>
                </a:spcBef>
                <a:buFontTx/>
                <a:buNone/>
              </a:pPr>
              <a:r>
                <a:rPr lang="fr-FR" altLang="fr-FR" sz="900" b="1">
                  <a:solidFill>
                    <a:schemeClr val="tx1"/>
                  </a:solidFill>
                </a:rPr>
                <a:t>couronnes</a:t>
              </a:r>
            </a:p>
          </p:txBody>
        </p:sp>
        <p:sp>
          <p:nvSpPr>
            <p:cNvPr id="91213" name="Oval 84"/>
            <p:cNvSpPr>
              <a:spLocks noChangeArrowheads="1"/>
            </p:cNvSpPr>
            <p:nvPr/>
          </p:nvSpPr>
          <p:spPr bwMode="auto">
            <a:xfrm>
              <a:off x="1942" y="3545"/>
              <a:ext cx="142" cy="142"/>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 name="Group 143"/>
          <p:cNvGrpSpPr>
            <a:grpSpLocks/>
          </p:cNvGrpSpPr>
          <p:nvPr/>
        </p:nvGrpSpPr>
        <p:grpSpPr bwMode="auto">
          <a:xfrm>
            <a:off x="6361113" y="1649413"/>
            <a:ext cx="2782887" cy="1906587"/>
            <a:chOff x="3765" y="1114"/>
            <a:chExt cx="1753" cy="1201"/>
          </a:xfrm>
        </p:grpSpPr>
        <p:grpSp>
          <p:nvGrpSpPr>
            <p:cNvPr id="91181" name="Group 9"/>
            <p:cNvGrpSpPr>
              <a:grpSpLocks/>
            </p:cNvGrpSpPr>
            <p:nvPr/>
          </p:nvGrpSpPr>
          <p:grpSpPr bwMode="auto">
            <a:xfrm rot="-223274">
              <a:off x="4437" y="1153"/>
              <a:ext cx="667" cy="657"/>
              <a:chOff x="2757" y="1666"/>
              <a:chExt cx="812" cy="800"/>
            </a:xfrm>
          </p:grpSpPr>
          <p:sp>
            <p:nvSpPr>
              <p:cNvPr id="91193" name="Freeform 1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194" name="Freeform 1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195" name="Line 1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196" name="Freeform 1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197" name="Freeform 1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198" name="AutoShape 1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182" name="Text Box 37"/>
            <p:cNvSpPr txBox="1">
              <a:spLocks noChangeArrowheads="1"/>
            </p:cNvSpPr>
            <p:nvPr/>
          </p:nvSpPr>
          <p:spPr bwMode="auto">
            <a:xfrm>
              <a:off x="4061" y="1911"/>
              <a:ext cx="1457"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Zone de stockage produits finis</a:t>
              </a:r>
            </a:p>
          </p:txBody>
        </p:sp>
        <p:sp>
          <p:nvSpPr>
            <p:cNvPr id="91183" name="AutoShape 50"/>
            <p:cNvSpPr>
              <a:spLocks noChangeArrowheads="1"/>
            </p:cNvSpPr>
            <p:nvPr/>
          </p:nvSpPr>
          <p:spPr bwMode="auto">
            <a:xfrm rot="2337505">
              <a:off x="4682" y="132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4" name="Oval 51"/>
            <p:cNvSpPr>
              <a:spLocks noChangeArrowheads="1"/>
            </p:cNvSpPr>
            <p:nvPr/>
          </p:nvSpPr>
          <p:spPr bwMode="auto">
            <a:xfrm rot="575549">
              <a:off x="4736" y="144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5" name="AutoShape 52"/>
            <p:cNvSpPr>
              <a:spLocks noChangeArrowheads="1"/>
            </p:cNvSpPr>
            <p:nvPr/>
          </p:nvSpPr>
          <p:spPr bwMode="auto">
            <a:xfrm rot="669280">
              <a:off x="4589" y="139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6" name="Line 59"/>
            <p:cNvSpPr>
              <a:spLocks noChangeShapeType="1"/>
            </p:cNvSpPr>
            <p:nvPr/>
          </p:nvSpPr>
          <p:spPr bwMode="auto">
            <a:xfrm>
              <a:off x="3765" y="1642"/>
              <a:ext cx="531"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nvGrpSpPr>
            <p:cNvPr id="91187" name="Group 91"/>
            <p:cNvGrpSpPr>
              <a:grpSpLocks/>
            </p:cNvGrpSpPr>
            <p:nvPr/>
          </p:nvGrpSpPr>
          <p:grpSpPr bwMode="auto">
            <a:xfrm>
              <a:off x="4443" y="1114"/>
              <a:ext cx="415" cy="525"/>
              <a:chOff x="2685" y="2530"/>
              <a:chExt cx="415" cy="525"/>
            </a:xfrm>
          </p:grpSpPr>
          <p:sp>
            <p:nvSpPr>
              <p:cNvPr id="91188" name="AutoShape 86"/>
              <p:cNvSpPr>
                <a:spLocks noChangeArrowheads="1"/>
              </p:cNvSpPr>
              <p:nvPr/>
            </p:nvSpPr>
            <p:spPr bwMode="auto">
              <a:xfrm rot="-5567485">
                <a:off x="2630" y="2585"/>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9" name="Text Box 87"/>
              <p:cNvSpPr txBox="1">
                <a:spLocks noChangeArrowheads="1"/>
              </p:cNvSpPr>
              <p:nvPr/>
            </p:nvSpPr>
            <p:spPr bwMode="auto">
              <a:xfrm rot="628236">
                <a:off x="2761" y="2565"/>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R5</a:t>
                </a:r>
              </a:p>
            </p:txBody>
          </p:sp>
          <p:sp>
            <p:nvSpPr>
              <p:cNvPr id="91190" name="Oval 88"/>
              <p:cNvSpPr>
                <a:spLocks noChangeArrowheads="1"/>
              </p:cNvSpPr>
              <p:nvPr/>
            </p:nvSpPr>
            <p:spPr bwMode="auto">
              <a:xfrm>
                <a:off x="2944" y="2873"/>
                <a:ext cx="124" cy="124"/>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91" name="AutoShape 89"/>
              <p:cNvSpPr>
                <a:spLocks noChangeArrowheads="1"/>
              </p:cNvSpPr>
              <p:nvPr/>
            </p:nvSpPr>
            <p:spPr bwMode="auto">
              <a:xfrm rot="-5400000">
                <a:off x="2730" y="2826"/>
                <a:ext cx="130" cy="137"/>
              </a:xfrm>
              <a:prstGeom prst="parallelogram">
                <a:avLst>
                  <a:gd name="adj" fmla="val 182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92" name="AutoShape 90"/>
              <p:cNvSpPr>
                <a:spLocks noChangeArrowheads="1"/>
              </p:cNvSpPr>
              <p:nvPr/>
            </p:nvSpPr>
            <p:spPr bwMode="auto">
              <a:xfrm rot="-5567485">
                <a:off x="2815" y="2656"/>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grpSp>
        <p:nvGrpSpPr>
          <p:cNvPr id="10" name="Group 141"/>
          <p:cNvGrpSpPr>
            <a:grpSpLocks/>
          </p:cNvGrpSpPr>
          <p:nvPr/>
        </p:nvGrpSpPr>
        <p:grpSpPr bwMode="auto">
          <a:xfrm>
            <a:off x="3427413" y="1117600"/>
            <a:ext cx="760412" cy="915988"/>
            <a:chOff x="1940" y="455"/>
            <a:chExt cx="479" cy="577"/>
          </a:xfrm>
        </p:grpSpPr>
        <p:sp>
          <p:nvSpPr>
            <p:cNvPr id="91176" name="Rectangle 92"/>
            <p:cNvSpPr>
              <a:spLocks noChangeArrowheads="1"/>
            </p:cNvSpPr>
            <p:nvPr/>
          </p:nvSpPr>
          <p:spPr bwMode="auto">
            <a:xfrm>
              <a:off x="1940" y="471"/>
              <a:ext cx="479" cy="561"/>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77" name="Text Box 93"/>
            <p:cNvSpPr txBox="1">
              <a:spLocks noChangeArrowheads="1"/>
            </p:cNvSpPr>
            <p:nvPr/>
          </p:nvSpPr>
          <p:spPr bwMode="auto">
            <a:xfrm>
              <a:off x="2039" y="455"/>
              <a:ext cx="27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500">
                  <a:solidFill>
                    <a:schemeClr val="tx1"/>
                  </a:solidFill>
                </a:rPr>
                <a:t>R5</a:t>
              </a:r>
            </a:p>
          </p:txBody>
        </p:sp>
        <p:sp>
          <p:nvSpPr>
            <p:cNvPr id="91178" name="Rectangle 94"/>
            <p:cNvSpPr>
              <a:spLocks noChangeArrowheads="1"/>
            </p:cNvSpPr>
            <p:nvPr/>
          </p:nvSpPr>
          <p:spPr bwMode="auto">
            <a:xfrm>
              <a:off x="2032" y="666"/>
              <a:ext cx="288" cy="93"/>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79" name="Rectangle 95"/>
            <p:cNvSpPr>
              <a:spLocks noChangeArrowheads="1"/>
            </p:cNvSpPr>
            <p:nvPr/>
          </p:nvSpPr>
          <p:spPr bwMode="auto">
            <a:xfrm>
              <a:off x="1978" y="840"/>
              <a:ext cx="174" cy="93"/>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80" name="Oval 96"/>
            <p:cNvSpPr>
              <a:spLocks noChangeArrowheads="1"/>
            </p:cNvSpPr>
            <p:nvPr/>
          </p:nvSpPr>
          <p:spPr bwMode="auto">
            <a:xfrm>
              <a:off x="2230" y="836"/>
              <a:ext cx="122" cy="127"/>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1145" name="Group 132"/>
          <p:cNvGrpSpPr>
            <a:grpSpLocks/>
          </p:cNvGrpSpPr>
          <p:nvPr/>
        </p:nvGrpSpPr>
        <p:grpSpPr bwMode="auto">
          <a:xfrm rot="-223274">
            <a:off x="4071938" y="1817688"/>
            <a:ext cx="958850" cy="944562"/>
            <a:chOff x="2757" y="1666"/>
            <a:chExt cx="812" cy="800"/>
          </a:xfrm>
        </p:grpSpPr>
        <p:sp>
          <p:nvSpPr>
            <p:cNvPr id="91170" name="Freeform 13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171" name="Freeform 13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1172" name="Line 13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1173" name="Freeform 13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1174" name="Freeform 13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1175" name="AutoShape 13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2" name="Group 146"/>
          <p:cNvGrpSpPr>
            <a:grpSpLocks/>
          </p:cNvGrpSpPr>
          <p:nvPr/>
        </p:nvGrpSpPr>
        <p:grpSpPr bwMode="auto">
          <a:xfrm>
            <a:off x="220663" y="1336675"/>
            <a:ext cx="2255837" cy="4956175"/>
            <a:chOff x="139" y="842"/>
            <a:chExt cx="1421" cy="3122"/>
          </a:xfrm>
        </p:grpSpPr>
        <p:grpSp>
          <p:nvGrpSpPr>
            <p:cNvPr id="91154" name="Group 144"/>
            <p:cNvGrpSpPr>
              <a:grpSpLocks/>
            </p:cNvGrpSpPr>
            <p:nvPr/>
          </p:nvGrpSpPr>
          <p:grpSpPr bwMode="auto">
            <a:xfrm>
              <a:off x="193" y="1662"/>
              <a:ext cx="1367" cy="2302"/>
              <a:chOff x="193" y="1662"/>
              <a:chExt cx="1367" cy="2302"/>
            </a:xfrm>
          </p:grpSpPr>
          <p:grpSp>
            <p:nvGrpSpPr>
              <p:cNvPr id="91156" name="Group 124"/>
              <p:cNvGrpSpPr>
                <a:grpSpLocks/>
              </p:cNvGrpSpPr>
              <p:nvPr/>
            </p:nvGrpSpPr>
            <p:grpSpPr bwMode="auto">
              <a:xfrm>
                <a:off x="193" y="1662"/>
                <a:ext cx="678" cy="670"/>
                <a:chOff x="357" y="1554"/>
                <a:chExt cx="754" cy="745"/>
              </a:xfrm>
            </p:grpSpPr>
            <p:sp>
              <p:nvSpPr>
                <p:cNvPr id="91167" name="Rectangle 107"/>
                <p:cNvSpPr>
                  <a:spLocks noChangeArrowheads="1"/>
                </p:cNvSpPr>
                <p:nvPr/>
              </p:nvSpPr>
              <p:spPr bwMode="auto">
                <a:xfrm>
                  <a:off x="402" y="1554"/>
                  <a:ext cx="660" cy="745"/>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68" name="Text Box 108"/>
                <p:cNvSpPr txBox="1">
                  <a:spLocks noChangeArrowheads="1"/>
                </p:cNvSpPr>
                <p:nvPr/>
              </p:nvSpPr>
              <p:spPr bwMode="auto">
                <a:xfrm>
                  <a:off x="357" y="1618"/>
                  <a:ext cx="754" cy="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Engrenages</a:t>
                  </a:r>
                </a:p>
              </p:txBody>
            </p:sp>
            <p:sp>
              <p:nvSpPr>
                <p:cNvPr id="91169" name="Rectangle 110"/>
                <p:cNvSpPr>
                  <a:spLocks noChangeArrowheads="1"/>
                </p:cNvSpPr>
                <p:nvPr/>
              </p:nvSpPr>
              <p:spPr bwMode="auto">
                <a:xfrm>
                  <a:off x="574" y="1954"/>
                  <a:ext cx="300" cy="154"/>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157" name="Rectangle 117"/>
              <p:cNvSpPr>
                <a:spLocks noChangeArrowheads="1"/>
              </p:cNvSpPr>
              <p:nvPr/>
            </p:nvSpPr>
            <p:spPr bwMode="auto">
              <a:xfrm>
                <a:off x="588" y="3293"/>
                <a:ext cx="594" cy="671"/>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58" name="Text Box 118"/>
              <p:cNvSpPr txBox="1">
                <a:spLocks noChangeArrowheads="1"/>
              </p:cNvSpPr>
              <p:nvPr/>
            </p:nvSpPr>
            <p:spPr bwMode="auto">
              <a:xfrm>
                <a:off x="580" y="3315"/>
                <a:ext cx="626"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2</a:t>
                </a:r>
                <a:br>
                  <a:rPr lang="fr-FR" altLang="fr-FR" sz="1300">
                    <a:solidFill>
                      <a:schemeClr val="tx1"/>
                    </a:solidFill>
                  </a:rPr>
                </a:br>
                <a:r>
                  <a:rPr lang="fr-FR" altLang="fr-FR" sz="1300">
                    <a:solidFill>
                      <a:schemeClr val="tx1"/>
                    </a:solidFill>
                  </a:rPr>
                  <a:t>Couronnes</a:t>
                </a:r>
              </a:p>
            </p:txBody>
          </p:sp>
          <p:sp>
            <p:nvSpPr>
              <p:cNvPr id="91159" name="Oval 121"/>
              <p:cNvSpPr>
                <a:spLocks noChangeArrowheads="1"/>
              </p:cNvSpPr>
              <p:nvPr/>
            </p:nvSpPr>
            <p:spPr bwMode="auto">
              <a:xfrm>
                <a:off x="780" y="3617"/>
                <a:ext cx="243" cy="243"/>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1160" name="Group 123"/>
              <p:cNvGrpSpPr>
                <a:grpSpLocks/>
              </p:cNvGrpSpPr>
              <p:nvPr/>
            </p:nvGrpSpPr>
            <p:grpSpPr bwMode="auto">
              <a:xfrm>
                <a:off x="456" y="2460"/>
                <a:ext cx="594" cy="671"/>
                <a:chOff x="402" y="2460"/>
                <a:chExt cx="660" cy="745"/>
              </a:xfrm>
            </p:grpSpPr>
            <p:sp>
              <p:nvSpPr>
                <p:cNvPr id="91164" name="Rectangle 112"/>
                <p:cNvSpPr>
                  <a:spLocks noChangeArrowheads="1"/>
                </p:cNvSpPr>
                <p:nvPr/>
              </p:nvSpPr>
              <p:spPr bwMode="auto">
                <a:xfrm>
                  <a:off x="402" y="2460"/>
                  <a:ext cx="660" cy="745"/>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65" name="Text Box 113"/>
                <p:cNvSpPr txBox="1">
                  <a:spLocks noChangeArrowheads="1"/>
                </p:cNvSpPr>
                <p:nvPr/>
              </p:nvSpPr>
              <p:spPr bwMode="auto">
                <a:xfrm>
                  <a:off x="481" y="2526"/>
                  <a:ext cx="509"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Carters</a:t>
                  </a:r>
                </a:p>
              </p:txBody>
            </p:sp>
            <p:sp>
              <p:nvSpPr>
                <p:cNvPr id="91166" name="Rectangle 122"/>
                <p:cNvSpPr>
                  <a:spLocks noChangeArrowheads="1"/>
                </p:cNvSpPr>
                <p:nvPr/>
              </p:nvSpPr>
              <p:spPr bwMode="auto">
                <a:xfrm>
                  <a:off x="487" y="2761"/>
                  <a:ext cx="480" cy="149"/>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161" name="AutoShape 126"/>
              <p:cNvSpPr>
                <a:spLocks noChangeArrowheads="1"/>
              </p:cNvSpPr>
              <p:nvPr/>
            </p:nvSpPr>
            <p:spPr bwMode="auto">
              <a:xfrm>
                <a:off x="888" y="2046"/>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62" name="AutoShape 127"/>
              <p:cNvSpPr>
                <a:spLocks noChangeArrowheads="1"/>
              </p:cNvSpPr>
              <p:nvPr/>
            </p:nvSpPr>
            <p:spPr bwMode="auto">
              <a:xfrm>
                <a:off x="1140" y="2670"/>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63" name="AutoShape 128"/>
              <p:cNvSpPr>
                <a:spLocks noChangeArrowheads="1"/>
              </p:cNvSpPr>
              <p:nvPr/>
            </p:nvSpPr>
            <p:spPr bwMode="auto">
              <a:xfrm>
                <a:off x="1314" y="3450"/>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1155" name="Text Box 145"/>
            <p:cNvSpPr txBox="1">
              <a:spLocks noChangeArrowheads="1"/>
            </p:cNvSpPr>
            <p:nvPr/>
          </p:nvSpPr>
          <p:spPr bwMode="auto">
            <a:xfrm>
              <a:off x="139" y="842"/>
              <a:ext cx="805" cy="71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600">
                  <a:solidFill>
                    <a:schemeClr val="tx1"/>
                  </a:solidFill>
                </a:rPr>
                <a:t>retour des tickets vers les postes d’usinage</a:t>
              </a:r>
            </a:p>
          </p:txBody>
        </p:sp>
      </p:grpSp>
      <p:grpSp>
        <p:nvGrpSpPr>
          <p:cNvPr id="16" name="Group 154"/>
          <p:cNvGrpSpPr>
            <a:grpSpLocks/>
          </p:cNvGrpSpPr>
          <p:nvPr/>
        </p:nvGrpSpPr>
        <p:grpSpPr bwMode="auto">
          <a:xfrm>
            <a:off x="3557588" y="2057400"/>
            <a:ext cx="1209675" cy="2844800"/>
            <a:chOff x="2241" y="1296"/>
            <a:chExt cx="762" cy="1792"/>
          </a:xfrm>
        </p:grpSpPr>
        <p:sp>
          <p:nvSpPr>
            <p:cNvPr id="91148" name="Line 103"/>
            <p:cNvSpPr>
              <a:spLocks noChangeShapeType="1"/>
            </p:cNvSpPr>
            <p:nvPr/>
          </p:nvSpPr>
          <p:spPr bwMode="auto">
            <a:xfrm flipV="1">
              <a:off x="2241" y="1714"/>
              <a:ext cx="345" cy="252"/>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1149" name="Line 104"/>
            <p:cNvSpPr>
              <a:spLocks noChangeShapeType="1"/>
            </p:cNvSpPr>
            <p:nvPr/>
          </p:nvSpPr>
          <p:spPr bwMode="auto">
            <a:xfrm flipV="1">
              <a:off x="2259" y="1764"/>
              <a:ext cx="424" cy="76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1150" name="Line 105"/>
            <p:cNvSpPr>
              <a:spLocks noChangeShapeType="1"/>
            </p:cNvSpPr>
            <p:nvPr/>
          </p:nvSpPr>
          <p:spPr bwMode="auto">
            <a:xfrm flipV="1">
              <a:off x="2487" y="1883"/>
              <a:ext cx="247" cy="1205"/>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1151" name="AutoShape 150"/>
            <p:cNvSpPr>
              <a:spLocks noChangeArrowheads="1"/>
            </p:cNvSpPr>
            <p:nvPr/>
          </p:nvSpPr>
          <p:spPr bwMode="auto">
            <a:xfrm rot="2337505">
              <a:off x="2764" y="1296"/>
              <a:ext cx="177" cy="154"/>
            </a:xfrm>
            <a:prstGeom prst="parallelogram">
              <a:avLst>
                <a:gd name="adj" fmla="val 28734"/>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52" name="AutoShape 151"/>
            <p:cNvSpPr>
              <a:spLocks noChangeArrowheads="1"/>
            </p:cNvSpPr>
            <p:nvPr/>
          </p:nvSpPr>
          <p:spPr bwMode="auto">
            <a:xfrm rot="2337505">
              <a:off x="2840" y="1296"/>
              <a:ext cx="163" cy="245"/>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1153" name="Oval 152"/>
            <p:cNvSpPr>
              <a:spLocks noChangeArrowheads="1"/>
            </p:cNvSpPr>
            <p:nvPr/>
          </p:nvSpPr>
          <p:spPr bwMode="auto">
            <a:xfrm>
              <a:off x="2717" y="1365"/>
              <a:ext cx="170" cy="170"/>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ox(in)">
                                      <p:cBhvr>
                                        <p:cTn id="7" dur="500"/>
                                        <p:tgtEl>
                                          <p:spTgt spid="10"/>
                                        </p:tgtEl>
                                      </p:cBhvr>
                                    </p:animEffect>
                                  </p:childTnLst>
                                </p:cTn>
                              </p:par>
                            </p:childTnLst>
                          </p:cTn>
                        </p:par>
                        <p:par>
                          <p:cTn id="8" fill="hold" nodeType="afterGroup">
                            <p:stCondLst>
                              <p:cond delay="500"/>
                            </p:stCondLst>
                            <p:childTnLst>
                              <p:par>
                                <p:cTn id="9" presetID="4" presetClass="entr" presetSubtype="16"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box(in)">
                                      <p:cBhvr>
                                        <p:cTn id="11" dur="500"/>
                                        <p:tgtEl>
                                          <p:spTgt spid="16"/>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 presetClass="entr" presetSubtype="16"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box(in)">
                                      <p:cBhvr>
                                        <p:cTn id="16" dur="500"/>
                                        <p:tgtEl>
                                          <p:spTgt spid="7"/>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 presetClass="entr" presetSubtype="16" fill="hold"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box(in)">
                                      <p:cBhvr>
                                        <p:cTn id="2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2"/>
          <p:cNvSpPr>
            <a:spLocks noGrp="1" noChangeArrowheads="1"/>
          </p:cNvSpPr>
          <p:nvPr>
            <p:ph type="title"/>
          </p:nvPr>
        </p:nvSpPr>
        <p:spPr>
          <a:xfrm>
            <a:off x="392113" y="0"/>
            <a:ext cx="8229600" cy="657225"/>
          </a:xfrm>
        </p:spPr>
        <p:txBody>
          <a:bodyPr/>
          <a:lstStyle/>
          <a:p>
            <a:pPr eaLnBrk="1" hangingPunct="1"/>
            <a:r>
              <a:rPr lang="fr-FR" altLang="fr-FR" dirty="0"/>
              <a:t>La méthode Kanban</a:t>
            </a:r>
          </a:p>
        </p:txBody>
      </p:sp>
      <p:sp>
        <p:nvSpPr>
          <p:cNvPr id="92163" name="Text Box 22"/>
          <p:cNvSpPr txBox="1">
            <a:spLocks noChangeArrowheads="1"/>
          </p:cNvSpPr>
          <p:nvPr/>
        </p:nvSpPr>
        <p:spPr bwMode="auto">
          <a:xfrm>
            <a:off x="2828925" y="5300663"/>
            <a:ext cx="2312988"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800">
                <a:solidFill>
                  <a:schemeClr val="tx1"/>
                </a:solidFill>
              </a:rPr>
              <a:t>Zone de stockage produits finis</a:t>
            </a:r>
          </a:p>
        </p:txBody>
      </p:sp>
      <p:grpSp>
        <p:nvGrpSpPr>
          <p:cNvPr id="92164" name="Group 224"/>
          <p:cNvGrpSpPr>
            <a:grpSpLocks/>
          </p:cNvGrpSpPr>
          <p:nvPr/>
        </p:nvGrpSpPr>
        <p:grpSpPr bwMode="auto">
          <a:xfrm>
            <a:off x="3668713" y="1185863"/>
            <a:ext cx="1058862" cy="1104900"/>
            <a:chOff x="2258" y="784"/>
            <a:chExt cx="667" cy="696"/>
          </a:xfrm>
        </p:grpSpPr>
        <p:grpSp>
          <p:nvGrpSpPr>
            <p:cNvPr id="92288" name="Group 3"/>
            <p:cNvGrpSpPr>
              <a:grpSpLocks/>
            </p:cNvGrpSpPr>
            <p:nvPr/>
          </p:nvGrpSpPr>
          <p:grpSpPr bwMode="auto">
            <a:xfrm rot="-223274">
              <a:off x="2258" y="823"/>
              <a:ext cx="667" cy="657"/>
              <a:chOff x="2757" y="1666"/>
              <a:chExt cx="812" cy="800"/>
            </a:xfrm>
          </p:grpSpPr>
          <p:sp>
            <p:nvSpPr>
              <p:cNvPr id="92297" name="Freeform 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98" name="Freeform 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99" name="Line 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300" name="Freeform 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301" name="Freeform 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302" name="AutoShape 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289" name="AutoShape 28"/>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0" name="Oval 29"/>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1" name="AutoShape 30"/>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2" name="AutoShape 57"/>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3" name="Text Box 58"/>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2294" name="Oval 59"/>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5" name="AutoShape 60"/>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96" name="AutoShape 61"/>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65" name="Group 89"/>
          <p:cNvGrpSpPr>
            <a:grpSpLocks/>
          </p:cNvGrpSpPr>
          <p:nvPr/>
        </p:nvGrpSpPr>
        <p:grpSpPr bwMode="auto">
          <a:xfrm>
            <a:off x="3717925" y="2520950"/>
            <a:ext cx="1058863" cy="1104900"/>
            <a:chOff x="861" y="790"/>
            <a:chExt cx="667" cy="696"/>
          </a:xfrm>
        </p:grpSpPr>
        <p:grpSp>
          <p:nvGrpSpPr>
            <p:cNvPr id="92272" name="Group 90"/>
            <p:cNvGrpSpPr>
              <a:grpSpLocks/>
            </p:cNvGrpSpPr>
            <p:nvPr/>
          </p:nvGrpSpPr>
          <p:grpSpPr bwMode="auto">
            <a:xfrm rot="-223274">
              <a:off x="861" y="829"/>
              <a:ext cx="667" cy="657"/>
              <a:chOff x="2757" y="1666"/>
              <a:chExt cx="812" cy="800"/>
            </a:xfrm>
          </p:grpSpPr>
          <p:sp>
            <p:nvSpPr>
              <p:cNvPr id="92282" name="Freeform 9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83" name="Freeform 9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84" name="Line 9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85" name="Freeform 9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86" name="Freeform 9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87" name="AutoShape 9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273" name="AutoShape 97"/>
            <p:cNvSpPr>
              <a:spLocks noChangeArrowheads="1"/>
            </p:cNvSpPr>
            <p:nvPr/>
          </p:nvSpPr>
          <p:spPr bwMode="auto">
            <a:xfrm rot="2337505">
              <a:off x="1106" y="1004"/>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74" name="Oval 98"/>
            <p:cNvSpPr>
              <a:spLocks noChangeArrowheads="1"/>
            </p:cNvSpPr>
            <p:nvPr/>
          </p:nvSpPr>
          <p:spPr bwMode="auto">
            <a:xfrm rot="575549">
              <a:off x="1160" y="1123"/>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75" name="AutoShape 99"/>
            <p:cNvSpPr>
              <a:spLocks noChangeArrowheads="1"/>
            </p:cNvSpPr>
            <p:nvPr/>
          </p:nvSpPr>
          <p:spPr bwMode="auto">
            <a:xfrm rot="669280">
              <a:off x="1013" y="1067"/>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76" name="Group 100"/>
            <p:cNvGrpSpPr>
              <a:grpSpLocks/>
            </p:cNvGrpSpPr>
            <p:nvPr/>
          </p:nvGrpSpPr>
          <p:grpSpPr bwMode="auto">
            <a:xfrm>
              <a:off x="867" y="790"/>
              <a:ext cx="415" cy="525"/>
              <a:chOff x="2685" y="2530"/>
              <a:chExt cx="415" cy="525"/>
            </a:xfrm>
          </p:grpSpPr>
          <p:sp>
            <p:nvSpPr>
              <p:cNvPr id="92277" name="AutoShape 101"/>
              <p:cNvSpPr>
                <a:spLocks noChangeArrowheads="1"/>
              </p:cNvSpPr>
              <p:nvPr/>
            </p:nvSpPr>
            <p:spPr bwMode="auto">
              <a:xfrm rot="-5567485">
                <a:off x="2630" y="2585"/>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78" name="Text Box 102"/>
              <p:cNvSpPr txBox="1">
                <a:spLocks noChangeArrowheads="1"/>
              </p:cNvSpPr>
              <p:nvPr/>
            </p:nvSpPr>
            <p:spPr bwMode="auto">
              <a:xfrm rot="628236">
                <a:off x="2761" y="2565"/>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R5</a:t>
                </a:r>
              </a:p>
            </p:txBody>
          </p:sp>
          <p:sp>
            <p:nvSpPr>
              <p:cNvPr id="92279" name="Oval 103"/>
              <p:cNvSpPr>
                <a:spLocks noChangeArrowheads="1"/>
              </p:cNvSpPr>
              <p:nvPr/>
            </p:nvSpPr>
            <p:spPr bwMode="auto">
              <a:xfrm>
                <a:off x="2944" y="2873"/>
                <a:ext cx="124" cy="124"/>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80" name="AutoShape 104"/>
              <p:cNvSpPr>
                <a:spLocks noChangeArrowheads="1"/>
              </p:cNvSpPr>
              <p:nvPr/>
            </p:nvSpPr>
            <p:spPr bwMode="auto">
              <a:xfrm rot="-5400000">
                <a:off x="2730" y="2826"/>
                <a:ext cx="130" cy="137"/>
              </a:xfrm>
              <a:prstGeom prst="parallelogram">
                <a:avLst>
                  <a:gd name="adj" fmla="val 182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81" name="AutoShape 105"/>
              <p:cNvSpPr>
                <a:spLocks noChangeArrowheads="1"/>
              </p:cNvSpPr>
              <p:nvPr/>
            </p:nvSpPr>
            <p:spPr bwMode="auto">
              <a:xfrm rot="-5567485">
                <a:off x="2815" y="2656"/>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grpSp>
        <p:nvGrpSpPr>
          <p:cNvPr id="92166" name="Group 107"/>
          <p:cNvGrpSpPr>
            <a:grpSpLocks/>
          </p:cNvGrpSpPr>
          <p:nvPr/>
        </p:nvGrpSpPr>
        <p:grpSpPr bwMode="auto">
          <a:xfrm rot="-223274">
            <a:off x="3692525" y="4087813"/>
            <a:ext cx="1058863" cy="1042987"/>
            <a:chOff x="2757" y="1666"/>
            <a:chExt cx="812" cy="800"/>
          </a:xfrm>
        </p:grpSpPr>
        <p:sp>
          <p:nvSpPr>
            <p:cNvPr id="92266" name="Freeform 10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67" name="Freeform 10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68" name="Line 11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69" name="Freeform 11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70" name="Freeform 11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71" name="AutoShape 11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67" name="Group 232"/>
          <p:cNvGrpSpPr>
            <a:grpSpLocks/>
          </p:cNvGrpSpPr>
          <p:nvPr/>
        </p:nvGrpSpPr>
        <p:grpSpPr bwMode="auto">
          <a:xfrm>
            <a:off x="3681413" y="3976688"/>
            <a:ext cx="725487" cy="833437"/>
            <a:chOff x="2319" y="2505"/>
            <a:chExt cx="457" cy="525"/>
          </a:xfrm>
        </p:grpSpPr>
        <p:sp>
          <p:nvSpPr>
            <p:cNvPr id="92258" name="AutoShape 114"/>
            <p:cNvSpPr>
              <a:spLocks noChangeArrowheads="1"/>
            </p:cNvSpPr>
            <p:nvPr/>
          </p:nvSpPr>
          <p:spPr bwMode="auto">
            <a:xfrm rot="2337505">
              <a:off x="2558" y="2719"/>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59" name="Oval 115"/>
            <p:cNvSpPr>
              <a:spLocks noChangeArrowheads="1"/>
            </p:cNvSpPr>
            <p:nvPr/>
          </p:nvSpPr>
          <p:spPr bwMode="auto">
            <a:xfrm rot="575549">
              <a:off x="2612" y="2838"/>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0" name="AutoShape 116"/>
            <p:cNvSpPr>
              <a:spLocks noChangeArrowheads="1"/>
            </p:cNvSpPr>
            <p:nvPr/>
          </p:nvSpPr>
          <p:spPr bwMode="auto">
            <a:xfrm rot="669280">
              <a:off x="2465" y="2782"/>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1" name="AutoShape 118"/>
            <p:cNvSpPr>
              <a:spLocks noChangeArrowheads="1"/>
            </p:cNvSpPr>
            <p:nvPr/>
          </p:nvSpPr>
          <p:spPr bwMode="auto">
            <a:xfrm rot="-5567485">
              <a:off x="2264" y="2560"/>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2" name="Text Box 119"/>
            <p:cNvSpPr txBox="1">
              <a:spLocks noChangeArrowheads="1"/>
            </p:cNvSpPr>
            <p:nvPr/>
          </p:nvSpPr>
          <p:spPr bwMode="auto">
            <a:xfrm rot="628236">
              <a:off x="2395" y="2540"/>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R6</a:t>
              </a:r>
            </a:p>
          </p:txBody>
        </p:sp>
        <p:sp>
          <p:nvSpPr>
            <p:cNvPr id="92263" name="Oval 120"/>
            <p:cNvSpPr>
              <a:spLocks noChangeArrowheads="1"/>
            </p:cNvSpPr>
            <p:nvPr/>
          </p:nvSpPr>
          <p:spPr bwMode="auto">
            <a:xfrm>
              <a:off x="2578" y="2848"/>
              <a:ext cx="124" cy="124"/>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4" name="AutoShape 121"/>
            <p:cNvSpPr>
              <a:spLocks noChangeArrowheads="1"/>
            </p:cNvSpPr>
            <p:nvPr/>
          </p:nvSpPr>
          <p:spPr bwMode="auto">
            <a:xfrm rot="-5400000">
              <a:off x="2385" y="2801"/>
              <a:ext cx="130" cy="137"/>
            </a:xfrm>
            <a:prstGeom prst="parallelogram">
              <a:avLst>
                <a:gd name="adj" fmla="val 182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65" name="AutoShape 122"/>
            <p:cNvSpPr>
              <a:spLocks noChangeArrowheads="1"/>
            </p:cNvSpPr>
            <p:nvPr/>
          </p:nvSpPr>
          <p:spPr bwMode="auto">
            <a:xfrm rot="-5567485">
              <a:off x="2449" y="2631"/>
              <a:ext cx="158" cy="248"/>
            </a:xfrm>
            <a:prstGeom prst="parallelogram">
              <a:avLst>
                <a:gd name="adj" fmla="val 41009"/>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235"/>
          <p:cNvGrpSpPr>
            <a:grpSpLocks/>
          </p:cNvGrpSpPr>
          <p:nvPr/>
        </p:nvGrpSpPr>
        <p:grpSpPr bwMode="auto">
          <a:xfrm>
            <a:off x="4802188" y="1963738"/>
            <a:ext cx="4000500" cy="2489200"/>
            <a:chOff x="3025" y="1237"/>
            <a:chExt cx="2520" cy="1568"/>
          </a:xfrm>
        </p:grpSpPr>
        <p:sp>
          <p:nvSpPr>
            <p:cNvPr id="92196" name="Text Box 23"/>
            <p:cNvSpPr txBox="1">
              <a:spLocks noChangeArrowheads="1"/>
            </p:cNvSpPr>
            <p:nvPr/>
          </p:nvSpPr>
          <p:spPr bwMode="auto">
            <a:xfrm>
              <a:off x="4019" y="2433"/>
              <a:ext cx="1047" cy="37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800">
                  <a:solidFill>
                    <a:schemeClr val="tx1"/>
                  </a:solidFill>
                </a:rPr>
                <a:t>Expéditions</a:t>
              </a:r>
            </a:p>
          </p:txBody>
        </p:sp>
        <p:grpSp>
          <p:nvGrpSpPr>
            <p:cNvPr id="92197" name="Group 123"/>
            <p:cNvGrpSpPr>
              <a:grpSpLocks/>
            </p:cNvGrpSpPr>
            <p:nvPr/>
          </p:nvGrpSpPr>
          <p:grpSpPr bwMode="auto">
            <a:xfrm>
              <a:off x="4145" y="2111"/>
              <a:ext cx="636" cy="265"/>
              <a:chOff x="804" y="1453"/>
              <a:chExt cx="4245" cy="1534"/>
            </a:xfrm>
          </p:grpSpPr>
          <p:sp>
            <p:nvSpPr>
              <p:cNvPr id="92231" name="Freeform 124"/>
              <p:cNvSpPr>
                <a:spLocks/>
              </p:cNvSpPr>
              <p:nvPr/>
            </p:nvSpPr>
            <p:spPr bwMode="auto">
              <a:xfrm>
                <a:off x="3940" y="1832"/>
                <a:ext cx="1031" cy="981"/>
              </a:xfrm>
              <a:custGeom>
                <a:avLst/>
                <a:gdLst>
                  <a:gd name="T0" fmla="*/ 143 w 1031"/>
                  <a:gd name="T1" fmla="*/ 15 h 981"/>
                  <a:gd name="T2" fmla="*/ 841 w 1031"/>
                  <a:gd name="T3" fmla="*/ 0 h 981"/>
                  <a:gd name="T4" fmla="*/ 856 w 1031"/>
                  <a:gd name="T5" fmla="*/ 1 h 981"/>
                  <a:gd name="T6" fmla="*/ 869 w 1031"/>
                  <a:gd name="T7" fmla="*/ 4 h 981"/>
                  <a:gd name="T8" fmla="*/ 878 w 1031"/>
                  <a:gd name="T9" fmla="*/ 8 h 981"/>
                  <a:gd name="T10" fmla="*/ 889 w 1031"/>
                  <a:gd name="T11" fmla="*/ 15 h 981"/>
                  <a:gd name="T12" fmla="*/ 897 w 1031"/>
                  <a:gd name="T13" fmla="*/ 24 h 981"/>
                  <a:gd name="T14" fmla="*/ 904 w 1031"/>
                  <a:gd name="T15" fmla="*/ 36 h 981"/>
                  <a:gd name="T16" fmla="*/ 989 w 1031"/>
                  <a:gd name="T17" fmla="*/ 419 h 981"/>
                  <a:gd name="T18" fmla="*/ 1030 w 1031"/>
                  <a:gd name="T19" fmla="*/ 430 h 981"/>
                  <a:gd name="T20" fmla="*/ 1030 w 1031"/>
                  <a:gd name="T21" fmla="*/ 553 h 981"/>
                  <a:gd name="T22" fmla="*/ 1009 w 1031"/>
                  <a:gd name="T23" fmla="*/ 565 h 981"/>
                  <a:gd name="T24" fmla="*/ 1009 w 1031"/>
                  <a:gd name="T25" fmla="*/ 666 h 981"/>
                  <a:gd name="T26" fmla="*/ 1027 w 1031"/>
                  <a:gd name="T27" fmla="*/ 684 h 981"/>
                  <a:gd name="T28" fmla="*/ 1012 w 1031"/>
                  <a:gd name="T29" fmla="*/ 723 h 981"/>
                  <a:gd name="T30" fmla="*/ 1012 w 1031"/>
                  <a:gd name="T31" fmla="*/ 980 h 981"/>
                  <a:gd name="T32" fmla="*/ 632 w 1031"/>
                  <a:gd name="T33" fmla="*/ 980 h 981"/>
                  <a:gd name="T34" fmla="*/ 632 w 1031"/>
                  <a:gd name="T35" fmla="*/ 968 h 981"/>
                  <a:gd name="T36" fmla="*/ 506 w 1031"/>
                  <a:gd name="T37" fmla="*/ 929 h 981"/>
                  <a:gd name="T38" fmla="*/ 86 w 1031"/>
                  <a:gd name="T39" fmla="*/ 929 h 981"/>
                  <a:gd name="T40" fmla="*/ 32 w 1031"/>
                  <a:gd name="T41" fmla="*/ 929 h 981"/>
                  <a:gd name="T42" fmla="*/ 32 w 1031"/>
                  <a:gd name="T43" fmla="*/ 798 h 981"/>
                  <a:gd name="T44" fmla="*/ 0 w 1031"/>
                  <a:gd name="T45" fmla="*/ 792 h 981"/>
                  <a:gd name="T46" fmla="*/ 0 w 1031"/>
                  <a:gd name="T47" fmla="*/ 374 h 981"/>
                  <a:gd name="T48" fmla="*/ 38 w 1031"/>
                  <a:gd name="T49" fmla="*/ 329 h 981"/>
                  <a:gd name="T50" fmla="*/ 104 w 1031"/>
                  <a:gd name="T51" fmla="*/ 69 h 981"/>
                  <a:gd name="T52" fmla="*/ 108 w 1031"/>
                  <a:gd name="T53" fmla="*/ 51 h 981"/>
                  <a:gd name="T54" fmla="*/ 111 w 1031"/>
                  <a:gd name="T55" fmla="*/ 40 h 981"/>
                  <a:gd name="T56" fmla="*/ 119 w 1031"/>
                  <a:gd name="T57" fmla="*/ 27 h 981"/>
                  <a:gd name="T58" fmla="*/ 130 w 1031"/>
                  <a:gd name="T59" fmla="*/ 19 h 981"/>
                  <a:gd name="T60" fmla="*/ 143 w 1031"/>
                  <a:gd name="T61" fmla="*/ 15 h 9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31"/>
                  <a:gd name="T94" fmla="*/ 0 h 981"/>
                  <a:gd name="T95" fmla="*/ 1031 w 1031"/>
                  <a:gd name="T96" fmla="*/ 981 h 9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31" h="981">
                    <a:moveTo>
                      <a:pt x="143" y="15"/>
                    </a:moveTo>
                    <a:lnTo>
                      <a:pt x="841" y="0"/>
                    </a:lnTo>
                    <a:lnTo>
                      <a:pt x="856" y="1"/>
                    </a:lnTo>
                    <a:lnTo>
                      <a:pt x="869" y="4"/>
                    </a:lnTo>
                    <a:lnTo>
                      <a:pt x="878" y="8"/>
                    </a:lnTo>
                    <a:lnTo>
                      <a:pt x="889" y="15"/>
                    </a:lnTo>
                    <a:lnTo>
                      <a:pt x="897" y="24"/>
                    </a:lnTo>
                    <a:lnTo>
                      <a:pt x="904" y="36"/>
                    </a:lnTo>
                    <a:lnTo>
                      <a:pt x="989" y="419"/>
                    </a:lnTo>
                    <a:lnTo>
                      <a:pt x="1030" y="430"/>
                    </a:lnTo>
                    <a:lnTo>
                      <a:pt x="1030" y="553"/>
                    </a:lnTo>
                    <a:lnTo>
                      <a:pt x="1009" y="565"/>
                    </a:lnTo>
                    <a:lnTo>
                      <a:pt x="1009" y="666"/>
                    </a:lnTo>
                    <a:lnTo>
                      <a:pt x="1027" y="684"/>
                    </a:lnTo>
                    <a:lnTo>
                      <a:pt x="1012" y="723"/>
                    </a:lnTo>
                    <a:lnTo>
                      <a:pt x="1012" y="980"/>
                    </a:lnTo>
                    <a:lnTo>
                      <a:pt x="632" y="980"/>
                    </a:lnTo>
                    <a:lnTo>
                      <a:pt x="632" y="968"/>
                    </a:lnTo>
                    <a:lnTo>
                      <a:pt x="506" y="929"/>
                    </a:lnTo>
                    <a:lnTo>
                      <a:pt x="86" y="929"/>
                    </a:lnTo>
                    <a:lnTo>
                      <a:pt x="32" y="929"/>
                    </a:lnTo>
                    <a:lnTo>
                      <a:pt x="32" y="798"/>
                    </a:lnTo>
                    <a:lnTo>
                      <a:pt x="0" y="792"/>
                    </a:lnTo>
                    <a:lnTo>
                      <a:pt x="0" y="374"/>
                    </a:lnTo>
                    <a:lnTo>
                      <a:pt x="38" y="329"/>
                    </a:lnTo>
                    <a:lnTo>
                      <a:pt x="104" y="69"/>
                    </a:lnTo>
                    <a:lnTo>
                      <a:pt x="108" y="51"/>
                    </a:lnTo>
                    <a:lnTo>
                      <a:pt x="111" y="40"/>
                    </a:lnTo>
                    <a:lnTo>
                      <a:pt x="119" y="27"/>
                    </a:lnTo>
                    <a:lnTo>
                      <a:pt x="130" y="19"/>
                    </a:lnTo>
                    <a:lnTo>
                      <a:pt x="143" y="15"/>
                    </a:lnTo>
                  </a:path>
                </a:pathLst>
              </a:custGeom>
              <a:solidFill>
                <a:srgbClr val="FF0000"/>
              </a:solidFill>
              <a:ln w="12700" cap="rnd" cmpd="sng">
                <a:solidFill>
                  <a:srgbClr val="000000"/>
                </a:solidFill>
                <a:prstDash val="solid"/>
                <a:round/>
                <a:headEnd type="none" w="med" len="med"/>
                <a:tailEnd type="none" w="med" len="med"/>
              </a:ln>
            </p:spPr>
            <p:txBody>
              <a:bodyPr/>
              <a:lstStyle/>
              <a:p>
                <a:endParaRPr lang="fr-FR"/>
              </a:p>
            </p:txBody>
          </p:sp>
          <p:grpSp>
            <p:nvGrpSpPr>
              <p:cNvPr id="92232" name="Group 125"/>
              <p:cNvGrpSpPr>
                <a:grpSpLocks/>
              </p:cNvGrpSpPr>
              <p:nvPr/>
            </p:nvGrpSpPr>
            <p:grpSpPr bwMode="auto">
              <a:xfrm>
                <a:off x="4919" y="2400"/>
                <a:ext cx="130" cy="414"/>
                <a:chOff x="4919" y="2400"/>
                <a:chExt cx="130" cy="414"/>
              </a:xfrm>
            </p:grpSpPr>
            <p:sp>
              <p:nvSpPr>
                <p:cNvPr id="92256" name="Arc 126"/>
                <p:cNvSpPr>
                  <a:spLocks/>
                </p:cNvSpPr>
                <p:nvPr/>
              </p:nvSpPr>
              <p:spPr bwMode="auto">
                <a:xfrm>
                  <a:off x="4919" y="2400"/>
                  <a:ext cx="72" cy="89"/>
                </a:xfrm>
                <a:custGeom>
                  <a:avLst/>
                  <a:gdLst>
                    <a:gd name="T0" fmla="*/ 0 w 27155"/>
                    <a:gd name="T1" fmla="*/ 0 h 43200"/>
                    <a:gd name="T2" fmla="*/ 0 w 27155"/>
                    <a:gd name="T3" fmla="*/ 0 h 43200"/>
                    <a:gd name="T4" fmla="*/ 0 w 27155"/>
                    <a:gd name="T5" fmla="*/ 0 h 43200"/>
                    <a:gd name="T6" fmla="*/ 0 60000 65536"/>
                    <a:gd name="T7" fmla="*/ 0 60000 65536"/>
                    <a:gd name="T8" fmla="*/ 0 60000 65536"/>
                    <a:gd name="T9" fmla="*/ 0 w 27155"/>
                    <a:gd name="T10" fmla="*/ 0 h 43200"/>
                    <a:gd name="T11" fmla="*/ 27155 w 27155"/>
                    <a:gd name="T12" fmla="*/ 43200 h 43200"/>
                  </a:gdLst>
                  <a:ahLst/>
                  <a:cxnLst>
                    <a:cxn ang="T6">
                      <a:pos x="T0" y="T1"/>
                    </a:cxn>
                    <a:cxn ang="T7">
                      <a:pos x="T2" y="T3"/>
                    </a:cxn>
                    <a:cxn ang="T8">
                      <a:pos x="T4" y="T5"/>
                    </a:cxn>
                  </a:cxnLst>
                  <a:rect l="T9" t="T10" r="T11" b="T12"/>
                  <a:pathLst>
                    <a:path w="27155" h="43200" fill="none"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path>
                    <a:path w="27155" h="43200" stroke="0" extrusionOk="0">
                      <a:moveTo>
                        <a:pt x="-1" y="726"/>
                      </a:moveTo>
                      <a:cubicBezTo>
                        <a:pt x="1812" y="244"/>
                        <a:pt x="3679" y="-1"/>
                        <a:pt x="5555" y="0"/>
                      </a:cubicBezTo>
                      <a:cubicBezTo>
                        <a:pt x="17484" y="0"/>
                        <a:pt x="27155" y="9670"/>
                        <a:pt x="27155" y="21600"/>
                      </a:cubicBezTo>
                      <a:cubicBezTo>
                        <a:pt x="27155" y="33529"/>
                        <a:pt x="17484" y="43200"/>
                        <a:pt x="5555" y="43200"/>
                      </a:cubicBezTo>
                      <a:cubicBezTo>
                        <a:pt x="4134" y="43200"/>
                        <a:pt x="2717" y="43059"/>
                        <a:pt x="1325" y="42781"/>
                      </a:cubicBezTo>
                      <a:lnTo>
                        <a:pt x="5555" y="21600"/>
                      </a:lnTo>
                      <a:lnTo>
                        <a:pt x="-1" y="726"/>
                      </a:lnTo>
                      <a:close/>
                    </a:path>
                  </a:pathLst>
                </a:custGeom>
                <a:solidFill>
                  <a:srgbClr val="FF0000"/>
                </a:solidFill>
                <a:ln w="12700" cap="rnd">
                  <a:solidFill>
                    <a:srgbClr val="000000"/>
                  </a:solidFill>
                  <a:round/>
                  <a:headEnd/>
                  <a:tailEnd/>
                </a:ln>
              </p:spPr>
              <p:txBody>
                <a:bodyPr wrap="none" anchor="ctr"/>
                <a:lstStyle/>
                <a:p>
                  <a:endParaRPr lang="fr-FR"/>
                </a:p>
              </p:txBody>
            </p:sp>
            <p:sp>
              <p:nvSpPr>
                <p:cNvPr id="92257" name="Freeform 127"/>
                <p:cNvSpPr>
                  <a:spLocks/>
                </p:cNvSpPr>
                <p:nvPr/>
              </p:nvSpPr>
              <p:spPr bwMode="auto">
                <a:xfrm>
                  <a:off x="4950" y="2706"/>
                  <a:ext cx="99" cy="108"/>
                </a:xfrm>
                <a:custGeom>
                  <a:avLst/>
                  <a:gdLst>
                    <a:gd name="T0" fmla="*/ 0 w 99"/>
                    <a:gd name="T1" fmla="*/ 0 h 108"/>
                    <a:gd name="T2" fmla="*/ 58 w 99"/>
                    <a:gd name="T3" fmla="*/ 0 h 108"/>
                    <a:gd name="T4" fmla="*/ 74 w 99"/>
                    <a:gd name="T5" fmla="*/ 3 h 108"/>
                    <a:gd name="T6" fmla="*/ 90 w 99"/>
                    <a:gd name="T7" fmla="*/ 17 h 108"/>
                    <a:gd name="T8" fmla="*/ 73 w 99"/>
                    <a:gd name="T9" fmla="*/ 28 h 108"/>
                    <a:gd name="T10" fmla="*/ 73 w 99"/>
                    <a:gd name="T11" fmla="*/ 78 h 108"/>
                    <a:gd name="T12" fmla="*/ 80 w 99"/>
                    <a:gd name="T13" fmla="*/ 99 h 108"/>
                    <a:gd name="T14" fmla="*/ 98 w 99"/>
                    <a:gd name="T15" fmla="*/ 107 h 108"/>
                    <a:gd name="T16" fmla="*/ 0 w 99"/>
                    <a:gd name="T17" fmla="*/ 107 h 108"/>
                    <a:gd name="T18" fmla="*/ 0 w 99"/>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9"/>
                    <a:gd name="T31" fmla="*/ 0 h 108"/>
                    <a:gd name="T32" fmla="*/ 99 w 99"/>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9" h="108">
                      <a:moveTo>
                        <a:pt x="0" y="0"/>
                      </a:moveTo>
                      <a:lnTo>
                        <a:pt x="58" y="0"/>
                      </a:lnTo>
                      <a:lnTo>
                        <a:pt x="74" y="3"/>
                      </a:lnTo>
                      <a:lnTo>
                        <a:pt x="90" y="17"/>
                      </a:lnTo>
                      <a:lnTo>
                        <a:pt x="73" y="28"/>
                      </a:lnTo>
                      <a:lnTo>
                        <a:pt x="73" y="78"/>
                      </a:lnTo>
                      <a:lnTo>
                        <a:pt x="80" y="99"/>
                      </a:lnTo>
                      <a:lnTo>
                        <a:pt x="98" y="107"/>
                      </a:lnTo>
                      <a:lnTo>
                        <a:pt x="0" y="107"/>
                      </a:lnTo>
                      <a:lnTo>
                        <a:pt x="0" y="0"/>
                      </a:lnTo>
                    </a:path>
                  </a:pathLst>
                </a:custGeom>
                <a:solidFill>
                  <a:srgbClr val="808080"/>
                </a:solidFill>
                <a:ln w="12700" cap="rnd" cmpd="sng">
                  <a:solidFill>
                    <a:srgbClr val="000000"/>
                  </a:solidFill>
                  <a:prstDash val="solid"/>
                  <a:round/>
                  <a:headEnd type="none" w="med" len="med"/>
                  <a:tailEnd type="none" w="med" len="med"/>
                </a:ln>
              </p:spPr>
              <p:txBody>
                <a:bodyPr/>
                <a:lstStyle/>
                <a:p>
                  <a:endParaRPr lang="fr-FR"/>
                </a:p>
              </p:txBody>
            </p:sp>
          </p:grpSp>
          <p:grpSp>
            <p:nvGrpSpPr>
              <p:cNvPr id="92233" name="Group 128"/>
              <p:cNvGrpSpPr>
                <a:grpSpLocks/>
              </p:cNvGrpSpPr>
              <p:nvPr/>
            </p:nvGrpSpPr>
            <p:grpSpPr bwMode="auto">
              <a:xfrm>
                <a:off x="4286" y="1917"/>
                <a:ext cx="537" cy="849"/>
                <a:chOff x="4286" y="1917"/>
                <a:chExt cx="537" cy="849"/>
              </a:xfrm>
            </p:grpSpPr>
            <p:sp>
              <p:nvSpPr>
                <p:cNvPr id="92254" name="Freeform 129"/>
                <p:cNvSpPr>
                  <a:spLocks/>
                </p:cNvSpPr>
                <p:nvPr/>
              </p:nvSpPr>
              <p:spPr bwMode="auto">
                <a:xfrm>
                  <a:off x="4286" y="1917"/>
                  <a:ext cx="462" cy="341"/>
                </a:xfrm>
                <a:custGeom>
                  <a:avLst/>
                  <a:gdLst>
                    <a:gd name="T0" fmla="*/ 0 w 462"/>
                    <a:gd name="T1" fmla="*/ 0 h 341"/>
                    <a:gd name="T2" fmla="*/ 461 w 462"/>
                    <a:gd name="T3" fmla="*/ 0 h 341"/>
                    <a:gd name="T4" fmla="*/ 461 w 462"/>
                    <a:gd name="T5" fmla="*/ 340 h 341"/>
                    <a:gd name="T6" fmla="*/ 1 w 462"/>
                    <a:gd name="T7" fmla="*/ 340 h 341"/>
                    <a:gd name="T8" fmla="*/ 0 w 462"/>
                    <a:gd name="T9" fmla="*/ 0 h 341"/>
                    <a:gd name="T10" fmla="*/ 0 60000 65536"/>
                    <a:gd name="T11" fmla="*/ 0 60000 65536"/>
                    <a:gd name="T12" fmla="*/ 0 60000 65536"/>
                    <a:gd name="T13" fmla="*/ 0 60000 65536"/>
                    <a:gd name="T14" fmla="*/ 0 60000 65536"/>
                    <a:gd name="T15" fmla="*/ 0 w 462"/>
                    <a:gd name="T16" fmla="*/ 0 h 341"/>
                    <a:gd name="T17" fmla="*/ 462 w 462"/>
                    <a:gd name="T18" fmla="*/ 341 h 341"/>
                  </a:gdLst>
                  <a:ahLst/>
                  <a:cxnLst>
                    <a:cxn ang="T10">
                      <a:pos x="T0" y="T1"/>
                    </a:cxn>
                    <a:cxn ang="T11">
                      <a:pos x="T2" y="T3"/>
                    </a:cxn>
                    <a:cxn ang="T12">
                      <a:pos x="T4" y="T5"/>
                    </a:cxn>
                    <a:cxn ang="T13">
                      <a:pos x="T6" y="T7"/>
                    </a:cxn>
                    <a:cxn ang="T14">
                      <a:pos x="T8" y="T9"/>
                    </a:cxn>
                  </a:cxnLst>
                  <a:rect l="T15" t="T16" r="T17" b="T18"/>
                  <a:pathLst>
                    <a:path w="462" h="341">
                      <a:moveTo>
                        <a:pt x="0" y="0"/>
                      </a:moveTo>
                      <a:lnTo>
                        <a:pt x="461" y="0"/>
                      </a:lnTo>
                      <a:lnTo>
                        <a:pt x="461" y="340"/>
                      </a:lnTo>
                      <a:lnTo>
                        <a:pt x="1" y="34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92255" name="Freeform 130"/>
                <p:cNvSpPr>
                  <a:spLocks/>
                </p:cNvSpPr>
                <p:nvPr/>
              </p:nvSpPr>
              <p:spPr bwMode="auto">
                <a:xfrm>
                  <a:off x="4287" y="2257"/>
                  <a:ext cx="536" cy="509"/>
                </a:xfrm>
                <a:custGeom>
                  <a:avLst/>
                  <a:gdLst>
                    <a:gd name="T0" fmla="*/ 0 w 536"/>
                    <a:gd name="T1" fmla="*/ 0 h 509"/>
                    <a:gd name="T2" fmla="*/ 535 w 536"/>
                    <a:gd name="T3" fmla="*/ 0 h 509"/>
                    <a:gd name="T4" fmla="*/ 535 w 536"/>
                    <a:gd name="T5" fmla="*/ 508 h 509"/>
                    <a:gd name="T6" fmla="*/ 260 w 536"/>
                    <a:gd name="T7" fmla="*/ 508 h 509"/>
                    <a:gd name="T8" fmla="*/ 257 w 536"/>
                    <a:gd name="T9" fmla="*/ 472 h 509"/>
                    <a:gd name="T10" fmla="*/ 254 w 536"/>
                    <a:gd name="T11" fmla="*/ 430 h 509"/>
                    <a:gd name="T12" fmla="*/ 252 w 536"/>
                    <a:gd name="T13" fmla="*/ 407 h 509"/>
                    <a:gd name="T14" fmla="*/ 244 w 536"/>
                    <a:gd name="T15" fmla="*/ 368 h 509"/>
                    <a:gd name="T16" fmla="*/ 236 w 536"/>
                    <a:gd name="T17" fmla="*/ 332 h 509"/>
                    <a:gd name="T18" fmla="*/ 222 w 536"/>
                    <a:gd name="T19" fmla="*/ 299 h 509"/>
                    <a:gd name="T20" fmla="*/ 206 w 536"/>
                    <a:gd name="T21" fmla="*/ 272 h 509"/>
                    <a:gd name="T22" fmla="*/ 185 w 536"/>
                    <a:gd name="T23" fmla="*/ 243 h 509"/>
                    <a:gd name="T24" fmla="*/ 162 w 536"/>
                    <a:gd name="T25" fmla="*/ 222 h 509"/>
                    <a:gd name="T26" fmla="*/ 134 w 536"/>
                    <a:gd name="T27" fmla="*/ 204 h 509"/>
                    <a:gd name="T28" fmla="*/ 110 w 536"/>
                    <a:gd name="T29" fmla="*/ 193 h 509"/>
                    <a:gd name="T30" fmla="*/ 84 w 536"/>
                    <a:gd name="T31" fmla="*/ 183 h 509"/>
                    <a:gd name="T32" fmla="*/ 51 w 536"/>
                    <a:gd name="T33" fmla="*/ 175 h 509"/>
                    <a:gd name="T34" fmla="*/ 23 w 536"/>
                    <a:gd name="T35" fmla="*/ 171 h 509"/>
                    <a:gd name="T36" fmla="*/ 0 w 536"/>
                    <a:gd name="T37" fmla="*/ 169 h 509"/>
                    <a:gd name="T38" fmla="*/ 0 w 536"/>
                    <a:gd name="T39" fmla="*/ 0 h 5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36"/>
                    <a:gd name="T61" fmla="*/ 0 h 509"/>
                    <a:gd name="T62" fmla="*/ 536 w 536"/>
                    <a:gd name="T63" fmla="*/ 509 h 5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36" h="509">
                      <a:moveTo>
                        <a:pt x="0" y="0"/>
                      </a:moveTo>
                      <a:lnTo>
                        <a:pt x="535" y="0"/>
                      </a:lnTo>
                      <a:lnTo>
                        <a:pt x="535" y="508"/>
                      </a:lnTo>
                      <a:lnTo>
                        <a:pt x="260" y="508"/>
                      </a:lnTo>
                      <a:lnTo>
                        <a:pt x="257" y="472"/>
                      </a:lnTo>
                      <a:lnTo>
                        <a:pt x="254" y="430"/>
                      </a:lnTo>
                      <a:lnTo>
                        <a:pt x="252" y="407"/>
                      </a:lnTo>
                      <a:lnTo>
                        <a:pt x="244" y="368"/>
                      </a:lnTo>
                      <a:lnTo>
                        <a:pt x="236" y="332"/>
                      </a:lnTo>
                      <a:lnTo>
                        <a:pt x="222" y="299"/>
                      </a:lnTo>
                      <a:lnTo>
                        <a:pt x="206" y="272"/>
                      </a:lnTo>
                      <a:lnTo>
                        <a:pt x="185" y="243"/>
                      </a:lnTo>
                      <a:lnTo>
                        <a:pt x="162" y="222"/>
                      </a:lnTo>
                      <a:lnTo>
                        <a:pt x="134" y="204"/>
                      </a:lnTo>
                      <a:lnTo>
                        <a:pt x="110" y="193"/>
                      </a:lnTo>
                      <a:lnTo>
                        <a:pt x="84" y="183"/>
                      </a:lnTo>
                      <a:lnTo>
                        <a:pt x="51" y="175"/>
                      </a:lnTo>
                      <a:lnTo>
                        <a:pt x="23" y="171"/>
                      </a:lnTo>
                      <a:lnTo>
                        <a:pt x="0" y="169"/>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fr-FR"/>
                </a:p>
              </p:txBody>
            </p:sp>
          </p:grpSp>
          <p:sp>
            <p:nvSpPr>
              <p:cNvPr id="92234" name="Oval 131"/>
              <p:cNvSpPr>
                <a:spLocks noChangeArrowheads="1"/>
              </p:cNvSpPr>
              <p:nvPr/>
            </p:nvSpPr>
            <p:spPr bwMode="auto">
              <a:xfrm>
                <a:off x="3992" y="2453"/>
                <a:ext cx="488" cy="491"/>
              </a:xfrm>
              <a:prstGeom prst="ellipse">
                <a:avLst/>
              </a:prstGeom>
              <a:solidFill>
                <a:srgbClr val="80808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35" name="Oval 132"/>
              <p:cNvSpPr>
                <a:spLocks noChangeArrowheads="1"/>
              </p:cNvSpPr>
              <p:nvPr/>
            </p:nvSpPr>
            <p:spPr bwMode="auto">
              <a:xfrm>
                <a:off x="4007" y="2524"/>
                <a:ext cx="458" cy="456"/>
              </a:xfrm>
              <a:prstGeom prst="ellipse">
                <a:avLst/>
              </a:prstGeom>
              <a:solidFill>
                <a:srgbClr val="00000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36" name="Oval 133"/>
              <p:cNvSpPr>
                <a:spLocks noChangeArrowheads="1"/>
              </p:cNvSpPr>
              <p:nvPr/>
            </p:nvSpPr>
            <p:spPr bwMode="auto">
              <a:xfrm>
                <a:off x="4143" y="2660"/>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37" name="Group 134"/>
              <p:cNvGrpSpPr>
                <a:grpSpLocks/>
              </p:cNvGrpSpPr>
              <p:nvPr/>
            </p:nvGrpSpPr>
            <p:grpSpPr bwMode="auto">
              <a:xfrm>
                <a:off x="4058" y="1880"/>
                <a:ext cx="854" cy="349"/>
                <a:chOff x="4058" y="1880"/>
                <a:chExt cx="854" cy="349"/>
              </a:xfrm>
            </p:grpSpPr>
            <p:sp>
              <p:nvSpPr>
                <p:cNvPr id="92250" name="Freeform 135"/>
                <p:cNvSpPr>
                  <a:spLocks/>
                </p:cNvSpPr>
                <p:nvPr/>
              </p:nvSpPr>
              <p:spPr bwMode="auto">
                <a:xfrm>
                  <a:off x="4329" y="1946"/>
                  <a:ext cx="379" cy="276"/>
                </a:xfrm>
                <a:custGeom>
                  <a:avLst/>
                  <a:gdLst>
                    <a:gd name="T0" fmla="*/ 1 w 379"/>
                    <a:gd name="T1" fmla="*/ 42 h 276"/>
                    <a:gd name="T2" fmla="*/ 89 w 379"/>
                    <a:gd name="T3" fmla="*/ 0 h 276"/>
                    <a:gd name="T4" fmla="*/ 378 w 379"/>
                    <a:gd name="T5" fmla="*/ 0 h 276"/>
                    <a:gd name="T6" fmla="*/ 378 w 379"/>
                    <a:gd name="T7" fmla="*/ 275 h 276"/>
                    <a:gd name="T8" fmla="*/ 317 w 379"/>
                    <a:gd name="T9" fmla="*/ 275 h 276"/>
                    <a:gd name="T10" fmla="*/ 286 w 379"/>
                    <a:gd name="T11" fmla="*/ 242 h 276"/>
                    <a:gd name="T12" fmla="*/ 26 w 379"/>
                    <a:gd name="T13" fmla="*/ 242 h 276"/>
                    <a:gd name="T14" fmla="*/ 0 w 379"/>
                    <a:gd name="T15" fmla="*/ 223 h 276"/>
                    <a:gd name="T16" fmla="*/ 1 w 379"/>
                    <a:gd name="T17" fmla="*/ 42 h 2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9"/>
                    <a:gd name="T28" fmla="*/ 0 h 276"/>
                    <a:gd name="T29" fmla="*/ 379 w 379"/>
                    <a:gd name="T30" fmla="*/ 276 h 2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9" h="276">
                      <a:moveTo>
                        <a:pt x="1" y="42"/>
                      </a:moveTo>
                      <a:lnTo>
                        <a:pt x="89" y="0"/>
                      </a:lnTo>
                      <a:lnTo>
                        <a:pt x="378" y="0"/>
                      </a:lnTo>
                      <a:lnTo>
                        <a:pt x="378" y="275"/>
                      </a:lnTo>
                      <a:lnTo>
                        <a:pt x="317" y="275"/>
                      </a:lnTo>
                      <a:lnTo>
                        <a:pt x="286" y="242"/>
                      </a:lnTo>
                      <a:lnTo>
                        <a:pt x="26" y="242"/>
                      </a:lnTo>
                      <a:lnTo>
                        <a:pt x="0" y="223"/>
                      </a:lnTo>
                      <a:lnTo>
                        <a:pt x="1" y="42"/>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92251" name="Freeform 136"/>
                <p:cNvSpPr>
                  <a:spLocks/>
                </p:cNvSpPr>
                <p:nvPr/>
              </p:nvSpPr>
              <p:spPr bwMode="auto">
                <a:xfrm>
                  <a:off x="4785" y="1880"/>
                  <a:ext cx="127" cy="349"/>
                </a:xfrm>
                <a:custGeom>
                  <a:avLst/>
                  <a:gdLst>
                    <a:gd name="T0" fmla="*/ 49 w 127"/>
                    <a:gd name="T1" fmla="*/ 0 h 349"/>
                    <a:gd name="T2" fmla="*/ 126 w 127"/>
                    <a:gd name="T3" fmla="*/ 348 h 349"/>
                    <a:gd name="T4" fmla="*/ 33 w 127"/>
                    <a:gd name="T5" fmla="*/ 348 h 349"/>
                    <a:gd name="T6" fmla="*/ 0 w 127"/>
                    <a:gd name="T7" fmla="*/ 342 h 349"/>
                    <a:gd name="T8" fmla="*/ 0 w 127"/>
                    <a:gd name="T9" fmla="*/ 64 h 349"/>
                    <a:gd name="T10" fmla="*/ 2 w 127"/>
                    <a:gd name="T11" fmla="*/ 44 h 349"/>
                    <a:gd name="T12" fmla="*/ 7 w 127"/>
                    <a:gd name="T13" fmla="*/ 31 h 349"/>
                    <a:gd name="T14" fmla="*/ 17 w 127"/>
                    <a:gd name="T15" fmla="*/ 19 h 349"/>
                    <a:gd name="T16" fmla="*/ 30 w 127"/>
                    <a:gd name="T17" fmla="*/ 10 h 349"/>
                    <a:gd name="T18" fmla="*/ 49 w 127"/>
                    <a:gd name="T19" fmla="*/ 0 h 3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
                    <a:gd name="T31" fmla="*/ 0 h 349"/>
                    <a:gd name="T32" fmla="*/ 127 w 127"/>
                    <a:gd name="T33" fmla="*/ 349 h 3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 h="349">
                      <a:moveTo>
                        <a:pt x="49" y="0"/>
                      </a:moveTo>
                      <a:lnTo>
                        <a:pt x="126" y="348"/>
                      </a:lnTo>
                      <a:lnTo>
                        <a:pt x="33" y="348"/>
                      </a:lnTo>
                      <a:lnTo>
                        <a:pt x="0" y="342"/>
                      </a:lnTo>
                      <a:lnTo>
                        <a:pt x="0" y="64"/>
                      </a:lnTo>
                      <a:lnTo>
                        <a:pt x="2" y="44"/>
                      </a:lnTo>
                      <a:lnTo>
                        <a:pt x="7" y="31"/>
                      </a:lnTo>
                      <a:lnTo>
                        <a:pt x="17" y="19"/>
                      </a:lnTo>
                      <a:lnTo>
                        <a:pt x="30" y="10"/>
                      </a:lnTo>
                      <a:lnTo>
                        <a:pt x="49"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92252" name="Freeform 137"/>
                <p:cNvSpPr>
                  <a:spLocks/>
                </p:cNvSpPr>
                <p:nvPr/>
              </p:nvSpPr>
              <p:spPr bwMode="auto">
                <a:xfrm>
                  <a:off x="4058" y="1958"/>
                  <a:ext cx="190" cy="199"/>
                </a:xfrm>
                <a:custGeom>
                  <a:avLst/>
                  <a:gdLst>
                    <a:gd name="T0" fmla="*/ 42 w 190"/>
                    <a:gd name="T1" fmla="*/ 0 h 199"/>
                    <a:gd name="T2" fmla="*/ 189 w 190"/>
                    <a:gd name="T3" fmla="*/ 0 h 199"/>
                    <a:gd name="T4" fmla="*/ 189 w 190"/>
                    <a:gd name="T5" fmla="*/ 198 h 199"/>
                    <a:gd name="T6" fmla="*/ 6 w 190"/>
                    <a:gd name="T7" fmla="*/ 198 h 199"/>
                    <a:gd name="T8" fmla="*/ 0 w 190"/>
                    <a:gd name="T9" fmla="*/ 158 h 199"/>
                    <a:gd name="T10" fmla="*/ 42 w 190"/>
                    <a:gd name="T11" fmla="*/ 0 h 199"/>
                    <a:gd name="T12" fmla="*/ 0 60000 65536"/>
                    <a:gd name="T13" fmla="*/ 0 60000 65536"/>
                    <a:gd name="T14" fmla="*/ 0 60000 65536"/>
                    <a:gd name="T15" fmla="*/ 0 60000 65536"/>
                    <a:gd name="T16" fmla="*/ 0 60000 65536"/>
                    <a:gd name="T17" fmla="*/ 0 60000 65536"/>
                    <a:gd name="T18" fmla="*/ 0 w 190"/>
                    <a:gd name="T19" fmla="*/ 0 h 199"/>
                    <a:gd name="T20" fmla="*/ 190 w 190"/>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190" h="199">
                      <a:moveTo>
                        <a:pt x="42" y="0"/>
                      </a:moveTo>
                      <a:lnTo>
                        <a:pt x="189" y="0"/>
                      </a:lnTo>
                      <a:lnTo>
                        <a:pt x="189" y="198"/>
                      </a:lnTo>
                      <a:lnTo>
                        <a:pt x="6" y="198"/>
                      </a:lnTo>
                      <a:lnTo>
                        <a:pt x="0" y="158"/>
                      </a:lnTo>
                      <a:lnTo>
                        <a:pt x="42"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92253" name="Line 138"/>
                <p:cNvSpPr>
                  <a:spLocks noChangeShapeType="1"/>
                </p:cNvSpPr>
                <p:nvPr/>
              </p:nvSpPr>
              <p:spPr bwMode="auto">
                <a:xfrm flipV="1">
                  <a:off x="4614" y="1947"/>
                  <a:ext cx="0" cy="24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92238" name="Freeform 139"/>
              <p:cNvSpPr>
                <a:spLocks/>
              </p:cNvSpPr>
              <p:nvPr/>
            </p:nvSpPr>
            <p:spPr bwMode="auto">
              <a:xfrm>
                <a:off x="3939" y="2624"/>
                <a:ext cx="34" cy="136"/>
              </a:xfrm>
              <a:custGeom>
                <a:avLst/>
                <a:gdLst>
                  <a:gd name="T0" fmla="*/ 0 w 34"/>
                  <a:gd name="T1" fmla="*/ 0 h 136"/>
                  <a:gd name="T2" fmla="*/ 33 w 34"/>
                  <a:gd name="T3" fmla="*/ 6 h 136"/>
                  <a:gd name="T4" fmla="*/ 33 w 34"/>
                  <a:gd name="T5" fmla="*/ 135 h 136"/>
                  <a:gd name="T6" fmla="*/ 0 w 34"/>
                  <a:gd name="T7" fmla="*/ 135 h 136"/>
                  <a:gd name="T8" fmla="*/ 0 w 34"/>
                  <a:gd name="T9" fmla="*/ 0 h 136"/>
                  <a:gd name="T10" fmla="*/ 0 60000 65536"/>
                  <a:gd name="T11" fmla="*/ 0 60000 65536"/>
                  <a:gd name="T12" fmla="*/ 0 60000 65536"/>
                  <a:gd name="T13" fmla="*/ 0 60000 65536"/>
                  <a:gd name="T14" fmla="*/ 0 60000 65536"/>
                  <a:gd name="T15" fmla="*/ 0 w 34"/>
                  <a:gd name="T16" fmla="*/ 0 h 136"/>
                  <a:gd name="T17" fmla="*/ 34 w 34"/>
                  <a:gd name="T18" fmla="*/ 136 h 136"/>
                </a:gdLst>
                <a:ahLst/>
                <a:cxnLst>
                  <a:cxn ang="T10">
                    <a:pos x="T0" y="T1"/>
                  </a:cxn>
                  <a:cxn ang="T11">
                    <a:pos x="T2" y="T3"/>
                  </a:cxn>
                  <a:cxn ang="T12">
                    <a:pos x="T4" y="T5"/>
                  </a:cxn>
                  <a:cxn ang="T13">
                    <a:pos x="T6" y="T7"/>
                  </a:cxn>
                  <a:cxn ang="T14">
                    <a:pos x="T8" y="T9"/>
                  </a:cxn>
                </a:cxnLst>
                <a:rect l="T15" t="T16" r="T17" b="T18"/>
                <a:pathLst>
                  <a:path w="34" h="136">
                    <a:moveTo>
                      <a:pt x="0" y="0"/>
                    </a:moveTo>
                    <a:lnTo>
                      <a:pt x="33" y="6"/>
                    </a:lnTo>
                    <a:lnTo>
                      <a:pt x="33" y="135"/>
                    </a:lnTo>
                    <a:lnTo>
                      <a:pt x="0" y="135"/>
                    </a:lnTo>
                    <a:lnTo>
                      <a:pt x="0" y="0"/>
                    </a:lnTo>
                  </a:path>
                </a:pathLst>
              </a:custGeom>
              <a:solidFill>
                <a:srgbClr val="C0C0C0"/>
              </a:solidFill>
              <a:ln w="12700" cap="rnd" cmpd="sng">
                <a:solidFill>
                  <a:srgbClr val="000000"/>
                </a:solidFill>
                <a:prstDash val="solid"/>
                <a:round/>
                <a:headEnd type="none" w="med" len="med"/>
                <a:tailEnd type="none" w="med" len="med"/>
              </a:ln>
            </p:spPr>
            <p:txBody>
              <a:bodyPr/>
              <a:lstStyle/>
              <a:p>
                <a:endParaRPr lang="fr-FR"/>
              </a:p>
            </p:txBody>
          </p:sp>
          <p:sp>
            <p:nvSpPr>
              <p:cNvPr id="92239" name="Freeform 140"/>
              <p:cNvSpPr>
                <a:spLocks/>
              </p:cNvSpPr>
              <p:nvPr/>
            </p:nvSpPr>
            <p:spPr bwMode="auto">
              <a:xfrm>
                <a:off x="4312" y="2202"/>
                <a:ext cx="89" cy="24"/>
              </a:xfrm>
              <a:custGeom>
                <a:avLst/>
                <a:gdLst>
                  <a:gd name="T0" fmla="*/ 0 w 89"/>
                  <a:gd name="T1" fmla="*/ 0 h 24"/>
                  <a:gd name="T2" fmla="*/ 0 w 89"/>
                  <a:gd name="T3" fmla="*/ 23 h 24"/>
                  <a:gd name="T4" fmla="*/ 23 w 89"/>
                  <a:gd name="T5" fmla="*/ 15 h 24"/>
                  <a:gd name="T6" fmla="*/ 88 w 89"/>
                  <a:gd name="T7" fmla="*/ 15 h 24"/>
                  <a:gd name="T8" fmla="*/ 88 w 89"/>
                  <a:gd name="T9" fmla="*/ 7 h 24"/>
                  <a:gd name="T10" fmla="*/ 23 w 89"/>
                  <a:gd name="T11" fmla="*/ 7 h 24"/>
                  <a:gd name="T12" fmla="*/ 16 w 89"/>
                  <a:gd name="T13" fmla="*/ 0 h 24"/>
                  <a:gd name="T14" fmla="*/ 0 w 8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24"/>
                  <a:gd name="T26" fmla="*/ 89 w 8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24">
                    <a:moveTo>
                      <a:pt x="0" y="0"/>
                    </a:moveTo>
                    <a:lnTo>
                      <a:pt x="0" y="23"/>
                    </a:lnTo>
                    <a:lnTo>
                      <a:pt x="23" y="15"/>
                    </a:lnTo>
                    <a:lnTo>
                      <a:pt x="88" y="15"/>
                    </a:lnTo>
                    <a:lnTo>
                      <a:pt x="88" y="7"/>
                    </a:lnTo>
                    <a:lnTo>
                      <a:pt x="23" y="7"/>
                    </a:lnTo>
                    <a:lnTo>
                      <a:pt x="16" y="0"/>
                    </a:lnTo>
                    <a:lnTo>
                      <a:pt x="0" y="0"/>
                    </a:lnTo>
                  </a:path>
                </a:pathLst>
              </a:custGeom>
              <a:solidFill>
                <a:srgbClr val="C0C0C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40" name="Freeform 141"/>
              <p:cNvSpPr>
                <a:spLocks/>
              </p:cNvSpPr>
              <p:nvPr/>
            </p:nvSpPr>
            <p:spPr bwMode="auto">
              <a:xfrm>
                <a:off x="878" y="1453"/>
                <a:ext cx="3044" cy="1245"/>
              </a:xfrm>
              <a:custGeom>
                <a:avLst/>
                <a:gdLst>
                  <a:gd name="T0" fmla="*/ 0 w 3044"/>
                  <a:gd name="T1" fmla="*/ 0 h 1245"/>
                  <a:gd name="T2" fmla="*/ 0 w 3044"/>
                  <a:gd name="T3" fmla="*/ 1244 h 1245"/>
                  <a:gd name="T4" fmla="*/ 3043 w 3044"/>
                  <a:gd name="T5" fmla="*/ 1244 h 1245"/>
                  <a:gd name="T6" fmla="*/ 3043 w 3044"/>
                  <a:gd name="T7" fmla="*/ 0 h 1245"/>
                  <a:gd name="T8" fmla="*/ 0 w 3044"/>
                  <a:gd name="T9" fmla="*/ 0 h 1245"/>
                  <a:gd name="T10" fmla="*/ 0 60000 65536"/>
                  <a:gd name="T11" fmla="*/ 0 60000 65536"/>
                  <a:gd name="T12" fmla="*/ 0 60000 65536"/>
                  <a:gd name="T13" fmla="*/ 0 60000 65536"/>
                  <a:gd name="T14" fmla="*/ 0 60000 65536"/>
                  <a:gd name="T15" fmla="*/ 0 w 3044"/>
                  <a:gd name="T16" fmla="*/ 0 h 1245"/>
                  <a:gd name="T17" fmla="*/ 3044 w 3044"/>
                  <a:gd name="T18" fmla="*/ 1245 h 1245"/>
                </a:gdLst>
                <a:ahLst/>
                <a:cxnLst>
                  <a:cxn ang="T10">
                    <a:pos x="T0" y="T1"/>
                  </a:cxn>
                  <a:cxn ang="T11">
                    <a:pos x="T2" y="T3"/>
                  </a:cxn>
                  <a:cxn ang="T12">
                    <a:pos x="T4" y="T5"/>
                  </a:cxn>
                  <a:cxn ang="T13">
                    <a:pos x="T6" y="T7"/>
                  </a:cxn>
                  <a:cxn ang="T14">
                    <a:pos x="T8" y="T9"/>
                  </a:cxn>
                </a:cxnLst>
                <a:rect l="T15" t="T16" r="T17" b="T18"/>
                <a:pathLst>
                  <a:path w="3044" h="1245">
                    <a:moveTo>
                      <a:pt x="0" y="0"/>
                    </a:moveTo>
                    <a:lnTo>
                      <a:pt x="0" y="1244"/>
                    </a:lnTo>
                    <a:lnTo>
                      <a:pt x="3043" y="1244"/>
                    </a:lnTo>
                    <a:lnTo>
                      <a:pt x="3043" y="0"/>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sp>
            <p:nvSpPr>
              <p:cNvPr id="92241" name="Freeform 142"/>
              <p:cNvSpPr>
                <a:spLocks/>
              </p:cNvSpPr>
              <p:nvPr/>
            </p:nvSpPr>
            <p:spPr bwMode="auto">
              <a:xfrm>
                <a:off x="804" y="2672"/>
                <a:ext cx="3164" cy="102"/>
              </a:xfrm>
              <a:custGeom>
                <a:avLst/>
                <a:gdLst>
                  <a:gd name="T0" fmla="*/ 0 w 3164"/>
                  <a:gd name="T1" fmla="*/ 0 h 102"/>
                  <a:gd name="T2" fmla="*/ 3163 w 3164"/>
                  <a:gd name="T3" fmla="*/ 0 h 102"/>
                  <a:gd name="T4" fmla="*/ 3163 w 3164"/>
                  <a:gd name="T5" fmla="*/ 101 h 102"/>
                  <a:gd name="T6" fmla="*/ 0 w 3164"/>
                  <a:gd name="T7" fmla="*/ 101 h 102"/>
                  <a:gd name="T8" fmla="*/ 0 w 3164"/>
                  <a:gd name="T9" fmla="*/ 0 h 102"/>
                  <a:gd name="T10" fmla="*/ 0 60000 65536"/>
                  <a:gd name="T11" fmla="*/ 0 60000 65536"/>
                  <a:gd name="T12" fmla="*/ 0 60000 65536"/>
                  <a:gd name="T13" fmla="*/ 0 60000 65536"/>
                  <a:gd name="T14" fmla="*/ 0 60000 65536"/>
                  <a:gd name="T15" fmla="*/ 0 w 3164"/>
                  <a:gd name="T16" fmla="*/ 0 h 102"/>
                  <a:gd name="T17" fmla="*/ 3164 w 3164"/>
                  <a:gd name="T18" fmla="*/ 102 h 102"/>
                </a:gdLst>
                <a:ahLst/>
                <a:cxnLst>
                  <a:cxn ang="T10">
                    <a:pos x="T0" y="T1"/>
                  </a:cxn>
                  <a:cxn ang="T11">
                    <a:pos x="T2" y="T3"/>
                  </a:cxn>
                  <a:cxn ang="T12">
                    <a:pos x="T4" y="T5"/>
                  </a:cxn>
                  <a:cxn ang="T13">
                    <a:pos x="T6" y="T7"/>
                  </a:cxn>
                  <a:cxn ang="T14">
                    <a:pos x="T8" y="T9"/>
                  </a:cxn>
                </a:cxnLst>
                <a:rect l="T15" t="T16" r="T17" b="T18"/>
                <a:pathLst>
                  <a:path w="3164" h="102">
                    <a:moveTo>
                      <a:pt x="0" y="0"/>
                    </a:moveTo>
                    <a:lnTo>
                      <a:pt x="3163" y="0"/>
                    </a:lnTo>
                    <a:lnTo>
                      <a:pt x="3163" y="101"/>
                    </a:lnTo>
                    <a:lnTo>
                      <a:pt x="0" y="101"/>
                    </a:lnTo>
                    <a:lnTo>
                      <a:pt x="0" y="0"/>
                    </a:lnTo>
                  </a:path>
                </a:pathLst>
              </a:custGeom>
              <a:solidFill>
                <a:schemeClr val="folHlink"/>
              </a:solidFill>
              <a:ln w="12700" cap="rnd" cmpd="sng">
                <a:solidFill>
                  <a:srgbClr val="000000"/>
                </a:solidFill>
                <a:prstDash val="solid"/>
                <a:round/>
                <a:headEnd type="none" w="med" len="med"/>
                <a:tailEnd type="none" w="med" len="med"/>
              </a:ln>
            </p:spPr>
            <p:txBody>
              <a:bodyPr/>
              <a:lstStyle/>
              <a:p>
                <a:endParaRPr lang="fr-FR"/>
              </a:p>
            </p:txBody>
          </p:sp>
          <p:grpSp>
            <p:nvGrpSpPr>
              <p:cNvPr id="92242" name="Group 143"/>
              <p:cNvGrpSpPr>
                <a:grpSpLocks/>
              </p:cNvGrpSpPr>
              <p:nvPr/>
            </p:nvGrpSpPr>
            <p:grpSpPr bwMode="auto">
              <a:xfrm>
                <a:off x="1859" y="2458"/>
                <a:ext cx="488" cy="529"/>
                <a:chOff x="1859" y="2458"/>
                <a:chExt cx="488" cy="529"/>
              </a:xfrm>
            </p:grpSpPr>
            <p:sp>
              <p:nvSpPr>
                <p:cNvPr id="92246" name="Oval 144"/>
                <p:cNvSpPr>
                  <a:spLocks noChangeArrowheads="1"/>
                </p:cNvSpPr>
                <p:nvPr/>
              </p:nvSpPr>
              <p:spPr bwMode="auto">
                <a:xfrm>
                  <a:off x="1859" y="2458"/>
                  <a:ext cx="488" cy="492"/>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47" name="Group 145"/>
                <p:cNvGrpSpPr>
                  <a:grpSpLocks/>
                </p:cNvGrpSpPr>
                <p:nvPr/>
              </p:nvGrpSpPr>
              <p:grpSpPr bwMode="auto">
                <a:xfrm>
                  <a:off x="1874" y="2530"/>
                  <a:ext cx="458" cy="457"/>
                  <a:chOff x="1874" y="2530"/>
                  <a:chExt cx="458" cy="457"/>
                </a:xfrm>
              </p:grpSpPr>
              <p:sp>
                <p:nvSpPr>
                  <p:cNvPr id="92248" name="Oval 146"/>
                  <p:cNvSpPr>
                    <a:spLocks noChangeArrowheads="1"/>
                  </p:cNvSpPr>
                  <p:nvPr/>
                </p:nvSpPr>
                <p:spPr bwMode="auto">
                  <a:xfrm>
                    <a:off x="1874" y="2530"/>
                    <a:ext cx="458" cy="457"/>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49" name="Oval 147"/>
                  <p:cNvSpPr>
                    <a:spLocks noChangeArrowheads="1"/>
                  </p:cNvSpPr>
                  <p:nvPr/>
                </p:nvSpPr>
                <p:spPr bwMode="auto">
                  <a:xfrm>
                    <a:off x="2010" y="2666"/>
                    <a:ext cx="184" cy="183"/>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92243" name="Rectangle 148"/>
              <p:cNvSpPr>
                <a:spLocks noChangeArrowheads="1"/>
              </p:cNvSpPr>
              <p:nvPr/>
            </p:nvSpPr>
            <p:spPr bwMode="auto">
              <a:xfrm>
                <a:off x="1088" y="2011"/>
                <a:ext cx="2614" cy="101"/>
              </a:xfrm>
              <a:prstGeom prst="rect">
                <a:avLst/>
              </a:prstGeom>
              <a:solidFill>
                <a:schemeClr val="bg2"/>
              </a:solidFill>
              <a:ln w="12700">
                <a:solidFill>
                  <a:srgbClr val="000000"/>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44" name="Line 149"/>
              <p:cNvSpPr>
                <a:spLocks noChangeShapeType="1"/>
              </p:cNvSpPr>
              <p:nvPr/>
            </p:nvSpPr>
            <p:spPr bwMode="auto">
              <a:xfrm>
                <a:off x="882" y="2180"/>
                <a:ext cx="300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45" name="Oval 150"/>
              <p:cNvSpPr>
                <a:spLocks noChangeArrowheads="1"/>
              </p:cNvSpPr>
              <p:nvPr/>
            </p:nvSpPr>
            <p:spPr bwMode="auto">
              <a:xfrm>
                <a:off x="2007" y="2648"/>
                <a:ext cx="184" cy="183"/>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98" name="Group 155"/>
            <p:cNvGrpSpPr>
              <a:grpSpLocks/>
            </p:cNvGrpSpPr>
            <p:nvPr/>
          </p:nvGrpSpPr>
          <p:grpSpPr bwMode="auto">
            <a:xfrm rot="-223274">
              <a:off x="3679" y="1319"/>
              <a:ext cx="667" cy="657"/>
              <a:chOff x="2757" y="1666"/>
              <a:chExt cx="812" cy="800"/>
            </a:xfrm>
          </p:grpSpPr>
          <p:sp>
            <p:nvSpPr>
              <p:cNvPr id="92225" name="Freeform 15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26" name="Freeform 15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27" name="Line 15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28" name="Freeform 15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29" name="Freeform 16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30" name="AutoShape 16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199" name="AutoShape 162"/>
            <p:cNvSpPr>
              <a:spLocks noChangeArrowheads="1"/>
            </p:cNvSpPr>
            <p:nvPr/>
          </p:nvSpPr>
          <p:spPr bwMode="auto">
            <a:xfrm rot="2337505">
              <a:off x="3924" y="1494"/>
              <a:ext cx="177" cy="266"/>
            </a:xfrm>
            <a:prstGeom prst="parallelogram">
              <a:avLst>
                <a:gd name="adj" fmla="val 25000"/>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0" name="Oval 163"/>
            <p:cNvSpPr>
              <a:spLocks noChangeArrowheads="1"/>
            </p:cNvSpPr>
            <p:nvPr/>
          </p:nvSpPr>
          <p:spPr bwMode="auto">
            <a:xfrm rot="575549">
              <a:off x="3978" y="1613"/>
              <a:ext cx="164" cy="155"/>
            </a:xfrm>
            <a:prstGeom prst="ellipse">
              <a:avLst/>
            </a:prstGeom>
            <a:solidFill>
              <a:schemeClr val="bg1"/>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1" name="AutoShape 164"/>
            <p:cNvSpPr>
              <a:spLocks noChangeArrowheads="1"/>
            </p:cNvSpPr>
            <p:nvPr/>
          </p:nvSpPr>
          <p:spPr bwMode="auto">
            <a:xfrm rot="669280">
              <a:off x="3831" y="1557"/>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02" name="Group 172"/>
            <p:cNvGrpSpPr>
              <a:grpSpLocks/>
            </p:cNvGrpSpPr>
            <p:nvPr/>
          </p:nvGrpSpPr>
          <p:grpSpPr bwMode="auto">
            <a:xfrm rot="-223274">
              <a:off x="4287" y="1345"/>
              <a:ext cx="667" cy="657"/>
              <a:chOff x="2757" y="1666"/>
              <a:chExt cx="812" cy="800"/>
            </a:xfrm>
          </p:grpSpPr>
          <p:sp>
            <p:nvSpPr>
              <p:cNvPr id="92219" name="Freeform 17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20" name="Freeform 17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21" name="Line 17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22" name="Freeform 17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23" name="Freeform 17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24" name="AutoShape 17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203" name="AutoShape 179"/>
            <p:cNvSpPr>
              <a:spLocks noChangeArrowheads="1"/>
            </p:cNvSpPr>
            <p:nvPr/>
          </p:nvSpPr>
          <p:spPr bwMode="auto">
            <a:xfrm rot="2337505">
              <a:off x="4532" y="1520"/>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4" name="Oval 180"/>
            <p:cNvSpPr>
              <a:spLocks noChangeArrowheads="1"/>
            </p:cNvSpPr>
            <p:nvPr/>
          </p:nvSpPr>
          <p:spPr bwMode="auto">
            <a:xfrm rot="575549">
              <a:off x="4586" y="1639"/>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5" name="AutoShape 181"/>
            <p:cNvSpPr>
              <a:spLocks noChangeArrowheads="1"/>
            </p:cNvSpPr>
            <p:nvPr/>
          </p:nvSpPr>
          <p:spPr bwMode="auto">
            <a:xfrm rot="669280">
              <a:off x="4439" y="1583"/>
              <a:ext cx="194" cy="144"/>
            </a:xfrm>
            <a:prstGeom prst="parallelogram">
              <a:avLst>
                <a:gd name="adj" fmla="val 33681"/>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206" name="Group 189"/>
            <p:cNvGrpSpPr>
              <a:grpSpLocks/>
            </p:cNvGrpSpPr>
            <p:nvPr/>
          </p:nvGrpSpPr>
          <p:grpSpPr bwMode="auto">
            <a:xfrm rot="-223274">
              <a:off x="4878" y="1362"/>
              <a:ext cx="667" cy="657"/>
              <a:chOff x="2757" y="1666"/>
              <a:chExt cx="812" cy="800"/>
            </a:xfrm>
          </p:grpSpPr>
          <p:sp>
            <p:nvSpPr>
              <p:cNvPr id="92213" name="Freeform 19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14" name="Freeform 19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2215" name="Line 19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2216" name="Freeform 19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2217" name="Freeform 19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2218" name="AutoShape 19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207" name="AutoShape 196"/>
            <p:cNvSpPr>
              <a:spLocks noChangeArrowheads="1"/>
            </p:cNvSpPr>
            <p:nvPr/>
          </p:nvSpPr>
          <p:spPr bwMode="auto">
            <a:xfrm rot="2337505">
              <a:off x="5123" y="1543"/>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8" name="Oval 197"/>
            <p:cNvSpPr>
              <a:spLocks noChangeArrowheads="1"/>
            </p:cNvSpPr>
            <p:nvPr/>
          </p:nvSpPr>
          <p:spPr bwMode="auto">
            <a:xfrm rot="575549">
              <a:off x="5177" y="1662"/>
              <a:ext cx="164" cy="155"/>
            </a:xfrm>
            <a:prstGeom prst="ellipse">
              <a:avLst/>
            </a:prstGeom>
            <a:solidFill>
              <a:srgbClr val="FC2C1C"/>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09" name="AutoShape 198"/>
            <p:cNvSpPr>
              <a:spLocks noChangeArrowheads="1"/>
            </p:cNvSpPr>
            <p:nvPr/>
          </p:nvSpPr>
          <p:spPr bwMode="auto">
            <a:xfrm rot="669280">
              <a:off x="5030" y="1606"/>
              <a:ext cx="194" cy="144"/>
            </a:xfrm>
            <a:prstGeom prst="parallelogram">
              <a:avLst>
                <a:gd name="adj" fmla="val 33681"/>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210" name="Line 225"/>
            <p:cNvSpPr>
              <a:spLocks noChangeShapeType="1"/>
            </p:cNvSpPr>
            <p:nvPr/>
          </p:nvSpPr>
          <p:spPr bwMode="auto">
            <a:xfrm>
              <a:off x="3025" y="1237"/>
              <a:ext cx="503" cy="484"/>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2211" name="Line 226"/>
            <p:cNvSpPr>
              <a:spLocks noChangeShapeType="1"/>
            </p:cNvSpPr>
            <p:nvPr/>
          </p:nvSpPr>
          <p:spPr bwMode="auto">
            <a:xfrm>
              <a:off x="3148" y="1874"/>
              <a:ext cx="38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2212" name="Line 227"/>
            <p:cNvSpPr>
              <a:spLocks noChangeShapeType="1"/>
            </p:cNvSpPr>
            <p:nvPr/>
          </p:nvSpPr>
          <p:spPr bwMode="auto">
            <a:xfrm flipV="1">
              <a:off x="3160" y="2034"/>
              <a:ext cx="368" cy="643"/>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19" name="Group 234"/>
          <p:cNvGrpSpPr>
            <a:grpSpLocks/>
          </p:cNvGrpSpPr>
          <p:nvPr/>
        </p:nvGrpSpPr>
        <p:grpSpPr bwMode="auto">
          <a:xfrm>
            <a:off x="195263" y="1200150"/>
            <a:ext cx="3267075" cy="3844925"/>
            <a:chOff x="123" y="756"/>
            <a:chExt cx="2058" cy="2422"/>
          </a:xfrm>
        </p:grpSpPr>
        <p:sp>
          <p:nvSpPr>
            <p:cNvPr id="92171" name="AutoShape 151"/>
            <p:cNvSpPr>
              <a:spLocks noChangeArrowheads="1"/>
            </p:cNvSpPr>
            <p:nvPr/>
          </p:nvSpPr>
          <p:spPr bwMode="auto">
            <a:xfrm>
              <a:off x="1919" y="943"/>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72" name="AutoShape 152"/>
            <p:cNvSpPr>
              <a:spLocks noChangeArrowheads="1"/>
            </p:cNvSpPr>
            <p:nvPr/>
          </p:nvSpPr>
          <p:spPr bwMode="auto">
            <a:xfrm>
              <a:off x="1907" y="1756"/>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73" name="AutoShape 153"/>
            <p:cNvSpPr>
              <a:spLocks noChangeArrowheads="1"/>
            </p:cNvSpPr>
            <p:nvPr/>
          </p:nvSpPr>
          <p:spPr bwMode="auto">
            <a:xfrm>
              <a:off x="1935" y="2763"/>
              <a:ext cx="246" cy="198"/>
            </a:xfrm>
            <a:prstGeom prst="leftArrow">
              <a:avLst>
                <a:gd name="adj1" fmla="val 50000"/>
                <a:gd name="adj2" fmla="val 31061"/>
              </a:avLst>
            </a:prstGeom>
            <a:solidFill>
              <a:srgbClr val="FFFF00"/>
            </a:solidFill>
            <a:ln w="9525"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2174" name="Group 222"/>
            <p:cNvGrpSpPr>
              <a:grpSpLocks/>
            </p:cNvGrpSpPr>
            <p:nvPr/>
          </p:nvGrpSpPr>
          <p:grpSpPr bwMode="auto">
            <a:xfrm>
              <a:off x="1308" y="1601"/>
              <a:ext cx="503" cy="590"/>
              <a:chOff x="910" y="1535"/>
              <a:chExt cx="503" cy="590"/>
            </a:xfrm>
          </p:grpSpPr>
          <p:sp>
            <p:nvSpPr>
              <p:cNvPr id="92191" name="Rectangle 206"/>
              <p:cNvSpPr>
                <a:spLocks noChangeArrowheads="1"/>
              </p:cNvSpPr>
              <p:nvPr/>
            </p:nvSpPr>
            <p:spPr bwMode="auto">
              <a:xfrm>
                <a:off x="910" y="1535"/>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2" name="Text Box 207"/>
              <p:cNvSpPr txBox="1">
                <a:spLocks noChangeArrowheads="1"/>
              </p:cNvSpPr>
              <p:nvPr/>
            </p:nvSpPr>
            <p:spPr bwMode="auto">
              <a:xfrm>
                <a:off x="1038" y="1556"/>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R5</a:t>
                </a:r>
              </a:p>
            </p:txBody>
          </p:sp>
          <p:sp>
            <p:nvSpPr>
              <p:cNvPr id="92193" name="Rectangle 208"/>
              <p:cNvSpPr>
                <a:spLocks noChangeArrowheads="1"/>
              </p:cNvSpPr>
              <p:nvPr/>
            </p:nvSpPr>
            <p:spPr bwMode="auto">
              <a:xfrm>
                <a:off x="1007" y="1740"/>
                <a:ext cx="302" cy="97"/>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4" name="Rectangle 209"/>
              <p:cNvSpPr>
                <a:spLocks noChangeArrowheads="1"/>
              </p:cNvSpPr>
              <p:nvPr/>
            </p:nvSpPr>
            <p:spPr bwMode="auto">
              <a:xfrm>
                <a:off x="950" y="1923"/>
                <a:ext cx="183" cy="97"/>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5" name="Oval 210"/>
              <p:cNvSpPr>
                <a:spLocks noChangeArrowheads="1"/>
              </p:cNvSpPr>
              <p:nvPr/>
            </p:nvSpPr>
            <p:spPr bwMode="auto">
              <a:xfrm>
                <a:off x="1214" y="1919"/>
                <a:ext cx="128" cy="133"/>
              </a:xfrm>
              <a:prstGeom prst="ellipse">
                <a:avLst/>
              </a:prstGeom>
              <a:solidFill>
                <a:srgbClr val="00CC00"/>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75" name="Group 223"/>
            <p:cNvGrpSpPr>
              <a:grpSpLocks/>
            </p:cNvGrpSpPr>
            <p:nvPr/>
          </p:nvGrpSpPr>
          <p:grpSpPr bwMode="auto">
            <a:xfrm>
              <a:off x="1308" y="756"/>
              <a:ext cx="503" cy="590"/>
              <a:chOff x="634" y="867"/>
              <a:chExt cx="503" cy="590"/>
            </a:xfrm>
          </p:grpSpPr>
          <p:sp>
            <p:nvSpPr>
              <p:cNvPr id="92186" name="Rectangle 211"/>
              <p:cNvSpPr>
                <a:spLocks noChangeArrowheads="1"/>
              </p:cNvSpPr>
              <p:nvPr/>
            </p:nvSpPr>
            <p:spPr bwMode="auto">
              <a:xfrm>
                <a:off x="634" y="867"/>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7" name="Text Box 212"/>
              <p:cNvSpPr txBox="1">
                <a:spLocks noChangeArrowheads="1"/>
              </p:cNvSpPr>
              <p:nvPr/>
            </p:nvSpPr>
            <p:spPr bwMode="auto">
              <a:xfrm>
                <a:off x="762" y="888"/>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R2</a:t>
                </a:r>
              </a:p>
            </p:txBody>
          </p:sp>
          <p:sp>
            <p:nvSpPr>
              <p:cNvPr id="92188" name="Rectangle 213"/>
              <p:cNvSpPr>
                <a:spLocks noChangeArrowheads="1"/>
              </p:cNvSpPr>
              <p:nvPr/>
            </p:nvSpPr>
            <p:spPr bwMode="auto">
              <a:xfrm>
                <a:off x="731" y="1072"/>
                <a:ext cx="302" cy="97"/>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9" name="Rectangle 214"/>
              <p:cNvSpPr>
                <a:spLocks noChangeArrowheads="1"/>
              </p:cNvSpPr>
              <p:nvPr/>
            </p:nvSpPr>
            <p:spPr bwMode="auto">
              <a:xfrm>
                <a:off x="674" y="1255"/>
                <a:ext cx="183" cy="97"/>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90" name="Oval 215"/>
              <p:cNvSpPr>
                <a:spLocks noChangeArrowheads="1"/>
              </p:cNvSpPr>
              <p:nvPr/>
            </p:nvSpPr>
            <p:spPr bwMode="auto">
              <a:xfrm>
                <a:off x="938" y="1251"/>
                <a:ext cx="128" cy="133"/>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2176" name="Group 221"/>
            <p:cNvGrpSpPr>
              <a:grpSpLocks/>
            </p:cNvGrpSpPr>
            <p:nvPr/>
          </p:nvGrpSpPr>
          <p:grpSpPr bwMode="auto">
            <a:xfrm>
              <a:off x="1314" y="2588"/>
              <a:ext cx="503" cy="590"/>
              <a:chOff x="1014" y="2295"/>
              <a:chExt cx="503" cy="590"/>
            </a:xfrm>
          </p:grpSpPr>
          <p:sp>
            <p:nvSpPr>
              <p:cNvPr id="92181" name="Rectangle 216"/>
              <p:cNvSpPr>
                <a:spLocks noChangeArrowheads="1"/>
              </p:cNvSpPr>
              <p:nvPr/>
            </p:nvSpPr>
            <p:spPr bwMode="auto">
              <a:xfrm>
                <a:off x="1014" y="2295"/>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2" name="Text Box 217"/>
              <p:cNvSpPr txBox="1">
                <a:spLocks noChangeArrowheads="1"/>
              </p:cNvSpPr>
              <p:nvPr/>
            </p:nvSpPr>
            <p:spPr bwMode="auto">
              <a:xfrm>
                <a:off x="1142" y="2316"/>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R6</a:t>
                </a:r>
              </a:p>
            </p:txBody>
          </p:sp>
          <p:sp>
            <p:nvSpPr>
              <p:cNvPr id="92183" name="Rectangle 218"/>
              <p:cNvSpPr>
                <a:spLocks noChangeArrowheads="1"/>
              </p:cNvSpPr>
              <p:nvPr/>
            </p:nvSpPr>
            <p:spPr bwMode="auto">
              <a:xfrm>
                <a:off x="1111" y="2500"/>
                <a:ext cx="302" cy="97"/>
              </a:xfrm>
              <a:prstGeom prst="rect">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4" name="Rectangle 219"/>
              <p:cNvSpPr>
                <a:spLocks noChangeArrowheads="1"/>
              </p:cNvSpPr>
              <p:nvPr/>
            </p:nvSpPr>
            <p:spPr bwMode="auto">
              <a:xfrm>
                <a:off x="1054" y="2683"/>
                <a:ext cx="183" cy="97"/>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2185" name="Oval 220"/>
              <p:cNvSpPr>
                <a:spLocks noChangeArrowheads="1"/>
              </p:cNvSpPr>
              <p:nvPr/>
            </p:nvSpPr>
            <p:spPr bwMode="auto">
              <a:xfrm>
                <a:off x="1318" y="2679"/>
                <a:ext cx="128" cy="133"/>
              </a:xfrm>
              <a:prstGeom prst="ellipse">
                <a:avLst/>
              </a:prstGeom>
              <a:solidFill>
                <a:srgbClr val="FC2C1C"/>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2177" name="Text Box 228"/>
            <p:cNvSpPr txBox="1">
              <a:spLocks noChangeArrowheads="1"/>
            </p:cNvSpPr>
            <p:nvPr/>
          </p:nvSpPr>
          <p:spPr bwMode="auto">
            <a:xfrm>
              <a:off x="123" y="1661"/>
              <a:ext cx="739"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600">
                  <a:solidFill>
                    <a:schemeClr val="tx1"/>
                  </a:solidFill>
                </a:rPr>
                <a:t>Retour des tickets vers le poste de montage</a:t>
              </a:r>
            </a:p>
          </p:txBody>
        </p:sp>
        <p:sp>
          <p:nvSpPr>
            <p:cNvPr id="92178" name="Line 229"/>
            <p:cNvSpPr>
              <a:spLocks noChangeShapeType="1"/>
            </p:cNvSpPr>
            <p:nvPr/>
          </p:nvSpPr>
          <p:spPr bwMode="auto">
            <a:xfrm flipH="1">
              <a:off x="878" y="1170"/>
              <a:ext cx="264" cy="503"/>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2179" name="Line 230"/>
            <p:cNvSpPr>
              <a:spLocks noChangeShapeType="1"/>
            </p:cNvSpPr>
            <p:nvPr/>
          </p:nvSpPr>
          <p:spPr bwMode="auto">
            <a:xfrm flipH="1">
              <a:off x="903" y="1882"/>
              <a:ext cx="246" cy="0"/>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92180" name="Line 231"/>
            <p:cNvSpPr>
              <a:spLocks noChangeShapeType="1"/>
            </p:cNvSpPr>
            <p:nvPr/>
          </p:nvSpPr>
          <p:spPr bwMode="auto">
            <a:xfrm flipH="1" flipV="1">
              <a:off x="940" y="2151"/>
              <a:ext cx="263" cy="527"/>
            </a:xfrm>
            <a:prstGeom prst="line">
              <a:avLst/>
            </a:prstGeom>
            <a:noFill/>
            <a:ln w="63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ox(in)">
                                      <p:cBhvr>
                                        <p:cTn id="7" dur="500"/>
                                        <p:tgtEl>
                                          <p:spTgt spid="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box(in)">
                                      <p:cBhvr>
                                        <p:cTn id="1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Rectangle 2"/>
          <p:cNvSpPr>
            <a:spLocks noGrp="1" noChangeArrowheads="1"/>
          </p:cNvSpPr>
          <p:nvPr>
            <p:ph type="title"/>
          </p:nvPr>
        </p:nvSpPr>
        <p:spPr>
          <a:xfrm>
            <a:off x="392113" y="0"/>
            <a:ext cx="8229600" cy="671840"/>
          </a:xfrm>
        </p:spPr>
        <p:txBody>
          <a:bodyPr/>
          <a:lstStyle/>
          <a:p>
            <a:pPr eaLnBrk="1" hangingPunct="1"/>
            <a:r>
              <a:rPr lang="fr-FR" altLang="fr-FR" dirty="0"/>
              <a:t>Le nombre de tickets Kanban</a:t>
            </a:r>
          </a:p>
        </p:txBody>
      </p:sp>
      <p:grpSp>
        <p:nvGrpSpPr>
          <p:cNvPr id="93187" name="Group 5"/>
          <p:cNvGrpSpPr>
            <a:grpSpLocks/>
          </p:cNvGrpSpPr>
          <p:nvPr/>
        </p:nvGrpSpPr>
        <p:grpSpPr bwMode="auto">
          <a:xfrm>
            <a:off x="7069138" y="687388"/>
            <a:ext cx="1058862" cy="1104900"/>
            <a:chOff x="2258" y="784"/>
            <a:chExt cx="667" cy="696"/>
          </a:xfrm>
        </p:grpSpPr>
        <p:grpSp>
          <p:nvGrpSpPr>
            <p:cNvPr id="93262" name="Group 6"/>
            <p:cNvGrpSpPr>
              <a:grpSpLocks/>
            </p:cNvGrpSpPr>
            <p:nvPr/>
          </p:nvGrpSpPr>
          <p:grpSpPr bwMode="auto">
            <a:xfrm rot="-223274">
              <a:off x="2258" y="823"/>
              <a:ext cx="667" cy="657"/>
              <a:chOff x="2757" y="1666"/>
              <a:chExt cx="812" cy="800"/>
            </a:xfrm>
          </p:grpSpPr>
          <p:sp>
            <p:nvSpPr>
              <p:cNvPr id="93271" name="Freeform 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72" name="Freeform 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3273" name="Line 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3274" name="Freeform 1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75" name="Freeform 1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3276" name="AutoShape 1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263" name="AutoShape 13"/>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4" name="Oval 14"/>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5" name="AutoShape 15"/>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6" name="AutoShape 16"/>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7" name="Text Box 17"/>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3268" name="Oval 18"/>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69" name="AutoShape 19"/>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70" name="AutoShape 20"/>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3188" name="Group 162"/>
          <p:cNvGrpSpPr>
            <a:grpSpLocks/>
          </p:cNvGrpSpPr>
          <p:nvPr/>
        </p:nvGrpSpPr>
        <p:grpSpPr bwMode="auto">
          <a:xfrm>
            <a:off x="6750050" y="1430338"/>
            <a:ext cx="1058863" cy="1104900"/>
            <a:chOff x="2258" y="784"/>
            <a:chExt cx="667" cy="696"/>
          </a:xfrm>
        </p:grpSpPr>
        <p:grpSp>
          <p:nvGrpSpPr>
            <p:cNvPr id="93247" name="Group 163"/>
            <p:cNvGrpSpPr>
              <a:grpSpLocks/>
            </p:cNvGrpSpPr>
            <p:nvPr/>
          </p:nvGrpSpPr>
          <p:grpSpPr bwMode="auto">
            <a:xfrm rot="-223274">
              <a:off x="2258" y="823"/>
              <a:ext cx="667" cy="657"/>
              <a:chOff x="2757" y="1666"/>
              <a:chExt cx="812" cy="800"/>
            </a:xfrm>
          </p:grpSpPr>
          <p:sp>
            <p:nvSpPr>
              <p:cNvPr id="93256" name="Freeform 16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57" name="Freeform 16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3258" name="Line 16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3259" name="Freeform 16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60" name="Freeform 16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3261" name="AutoShape 16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248" name="AutoShape 170"/>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49" name="Oval 171"/>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0" name="AutoShape 172"/>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1" name="AutoShape 173"/>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2" name="Text Box 174"/>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3253" name="Oval 175"/>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4" name="AutoShape 176"/>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55" name="AutoShape 177"/>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3189" name="Group 178"/>
          <p:cNvGrpSpPr>
            <a:grpSpLocks/>
          </p:cNvGrpSpPr>
          <p:nvPr/>
        </p:nvGrpSpPr>
        <p:grpSpPr bwMode="auto">
          <a:xfrm>
            <a:off x="6408738" y="2193925"/>
            <a:ext cx="1058862" cy="1104900"/>
            <a:chOff x="2258" y="784"/>
            <a:chExt cx="667" cy="696"/>
          </a:xfrm>
        </p:grpSpPr>
        <p:grpSp>
          <p:nvGrpSpPr>
            <p:cNvPr id="93232" name="Group 179"/>
            <p:cNvGrpSpPr>
              <a:grpSpLocks/>
            </p:cNvGrpSpPr>
            <p:nvPr/>
          </p:nvGrpSpPr>
          <p:grpSpPr bwMode="auto">
            <a:xfrm rot="-223274">
              <a:off x="2258" y="823"/>
              <a:ext cx="667" cy="657"/>
              <a:chOff x="2757" y="1666"/>
              <a:chExt cx="812" cy="800"/>
            </a:xfrm>
          </p:grpSpPr>
          <p:sp>
            <p:nvSpPr>
              <p:cNvPr id="93241" name="Freeform 1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42" name="Freeform 1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3243" name="Line 1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3244" name="Freeform 1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45" name="Freeform 1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3246" name="AutoShape 1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233" name="AutoShape 186"/>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4" name="Oval 187"/>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5" name="AutoShape 188"/>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6" name="AutoShape 189"/>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7" name="Text Box 190"/>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3238" name="Oval 191"/>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9" name="AutoShape 192"/>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40" name="AutoShape 193"/>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3190" name="Group 194"/>
          <p:cNvGrpSpPr>
            <a:grpSpLocks/>
          </p:cNvGrpSpPr>
          <p:nvPr/>
        </p:nvGrpSpPr>
        <p:grpSpPr bwMode="auto">
          <a:xfrm>
            <a:off x="1295400" y="1395413"/>
            <a:ext cx="798513" cy="936625"/>
            <a:chOff x="634" y="867"/>
            <a:chExt cx="503" cy="590"/>
          </a:xfrm>
        </p:grpSpPr>
        <p:sp>
          <p:nvSpPr>
            <p:cNvPr id="93227" name="Rectangle 195"/>
            <p:cNvSpPr>
              <a:spLocks noChangeArrowheads="1"/>
            </p:cNvSpPr>
            <p:nvPr/>
          </p:nvSpPr>
          <p:spPr bwMode="auto">
            <a:xfrm>
              <a:off x="634" y="867"/>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8" name="Text Box 196"/>
            <p:cNvSpPr txBox="1">
              <a:spLocks noChangeArrowheads="1"/>
            </p:cNvSpPr>
            <p:nvPr/>
          </p:nvSpPr>
          <p:spPr bwMode="auto">
            <a:xfrm>
              <a:off x="762" y="888"/>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R2</a:t>
              </a:r>
            </a:p>
          </p:txBody>
        </p:sp>
        <p:sp>
          <p:nvSpPr>
            <p:cNvPr id="93229" name="Rectangle 197"/>
            <p:cNvSpPr>
              <a:spLocks noChangeArrowheads="1"/>
            </p:cNvSpPr>
            <p:nvPr/>
          </p:nvSpPr>
          <p:spPr bwMode="auto">
            <a:xfrm>
              <a:off x="731" y="1072"/>
              <a:ext cx="302" cy="97"/>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0" name="Rectangle 198"/>
            <p:cNvSpPr>
              <a:spLocks noChangeArrowheads="1"/>
            </p:cNvSpPr>
            <p:nvPr/>
          </p:nvSpPr>
          <p:spPr bwMode="auto">
            <a:xfrm>
              <a:off x="674" y="1255"/>
              <a:ext cx="183" cy="97"/>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31" name="Oval 199"/>
            <p:cNvSpPr>
              <a:spLocks noChangeArrowheads="1"/>
            </p:cNvSpPr>
            <p:nvPr/>
          </p:nvSpPr>
          <p:spPr bwMode="auto">
            <a:xfrm>
              <a:off x="938" y="1251"/>
              <a:ext cx="128" cy="133"/>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3191" name="Group 200"/>
          <p:cNvGrpSpPr>
            <a:grpSpLocks/>
          </p:cNvGrpSpPr>
          <p:nvPr/>
        </p:nvGrpSpPr>
        <p:grpSpPr bwMode="auto">
          <a:xfrm>
            <a:off x="1304925" y="2417763"/>
            <a:ext cx="798513" cy="936625"/>
            <a:chOff x="634" y="867"/>
            <a:chExt cx="503" cy="590"/>
          </a:xfrm>
        </p:grpSpPr>
        <p:sp>
          <p:nvSpPr>
            <p:cNvPr id="93222" name="Rectangle 201"/>
            <p:cNvSpPr>
              <a:spLocks noChangeArrowheads="1"/>
            </p:cNvSpPr>
            <p:nvPr/>
          </p:nvSpPr>
          <p:spPr bwMode="auto">
            <a:xfrm>
              <a:off x="634" y="867"/>
              <a:ext cx="503" cy="590"/>
            </a:xfrm>
            <a:prstGeom prst="rect">
              <a:avLst/>
            </a:pr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3" name="Text Box 202"/>
            <p:cNvSpPr txBox="1">
              <a:spLocks noChangeArrowheads="1"/>
            </p:cNvSpPr>
            <p:nvPr/>
          </p:nvSpPr>
          <p:spPr bwMode="auto">
            <a:xfrm>
              <a:off x="762" y="888"/>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R2</a:t>
              </a:r>
            </a:p>
          </p:txBody>
        </p:sp>
        <p:sp>
          <p:nvSpPr>
            <p:cNvPr id="93224" name="Rectangle 203"/>
            <p:cNvSpPr>
              <a:spLocks noChangeArrowheads="1"/>
            </p:cNvSpPr>
            <p:nvPr/>
          </p:nvSpPr>
          <p:spPr bwMode="auto">
            <a:xfrm>
              <a:off x="731" y="1072"/>
              <a:ext cx="302" cy="97"/>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5" name="Rectangle 204"/>
            <p:cNvSpPr>
              <a:spLocks noChangeArrowheads="1"/>
            </p:cNvSpPr>
            <p:nvPr/>
          </p:nvSpPr>
          <p:spPr bwMode="auto">
            <a:xfrm>
              <a:off x="674" y="1255"/>
              <a:ext cx="183" cy="97"/>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6" name="Oval 205"/>
            <p:cNvSpPr>
              <a:spLocks noChangeArrowheads="1"/>
            </p:cNvSpPr>
            <p:nvPr/>
          </p:nvSpPr>
          <p:spPr bwMode="auto">
            <a:xfrm>
              <a:off x="938" y="1251"/>
              <a:ext cx="128" cy="133"/>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192" name="Rectangle 215"/>
          <p:cNvSpPr>
            <a:spLocks noGrp="1" noChangeArrowheads="1"/>
          </p:cNvSpPr>
          <p:nvPr>
            <p:ph type="body" idx="1"/>
          </p:nvPr>
        </p:nvSpPr>
        <p:spPr>
          <a:xfrm>
            <a:off x="173038" y="3676650"/>
            <a:ext cx="8696325" cy="2800350"/>
          </a:xfrm>
          <a:noFill/>
        </p:spPr>
        <p:txBody>
          <a:bodyPr/>
          <a:lstStyle/>
          <a:p>
            <a:pPr eaLnBrk="1" hangingPunct="1"/>
            <a:r>
              <a:rPr lang="fr-FR" altLang="fr-FR" sz="1400"/>
              <a:t>Le nombre de tickets dans une boucle est fixé à l’avance. Les tickets qui reviennent du stock aval sont rangés sur le tableau. Ils retournent ensuite vers le stock aval avec les conteneurs.</a:t>
            </a:r>
          </a:p>
          <a:p>
            <a:pPr eaLnBrk="1" hangingPunct="1"/>
            <a:r>
              <a:rPr lang="fr-FR" altLang="fr-FR" sz="1400"/>
              <a:t>Le nombre de tickets dans une boucle n’est pas facile à déterminer avec précision. </a:t>
            </a:r>
            <a:br>
              <a:rPr lang="fr-FR" altLang="fr-FR" sz="1400"/>
            </a:br>
            <a:r>
              <a:rPr lang="fr-FR" altLang="fr-FR" sz="1400"/>
              <a:t>Il faut au moins :</a:t>
            </a:r>
          </a:p>
          <a:p>
            <a:pPr lvl="1" eaLnBrk="1" hangingPunct="1"/>
            <a:r>
              <a:rPr lang="fr-FR" altLang="fr-FR" sz="1400"/>
              <a:t>Une quantité égale au nombre de conteneurs en stock (puisque chaque conteneur doit être équipé d’une carte).</a:t>
            </a:r>
          </a:p>
          <a:p>
            <a:pPr lvl="1" eaLnBrk="1" hangingPunct="1"/>
            <a:r>
              <a:rPr lang="fr-FR" altLang="fr-FR" sz="1400"/>
              <a:t>Plus une quantité égale à ce qui va « probablement » être produit avant que les premiers tickets ne reviennent du stock.</a:t>
            </a:r>
          </a:p>
          <a:p>
            <a:pPr eaLnBrk="1" hangingPunct="1"/>
            <a:r>
              <a:rPr lang="fr-FR" altLang="fr-FR" sz="1400"/>
              <a:t>En pratique, on procèdera par approximations successives. </a:t>
            </a:r>
          </a:p>
          <a:p>
            <a:pPr lvl="1" eaLnBrk="1" hangingPunct="1"/>
            <a:r>
              <a:rPr lang="fr-FR" altLang="fr-FR" sz="1400"/>
              <a:t>On fixe une quantité un peu élevée au départ, et à  tout moment du jeu il est possible de rajouter ou d’enlever des tickets du tableau.</a:t>
            </a:r>
          </a:p>
        </p:txBody>
      </p:sp>
      <p:sp>
        <p:nvSpPr>
          <p:cNvPr id="93193" name="Text Box 216"/>
          <p:cNvSpPr txBox="1">
            <a:spLocks noChangeArrowheads="1"/>
          </p:cNvSpPr>
          <p:nvPr/>
        </p:nvSpPr>
        <p:spPr bwMode="auto">
          <a:xfrm>
            <a:off x="962025" y="852488"/>
            <a:ext cx="145732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Tickets </a:t>
            </a:r>
            <a:br>
              <a:rPr lang="fr-FR" altLang="fr-FR" sz="1400">
                <a:solidFill>
                  <a:schemeClr val="tx1"/>
                </a:solidFill>
              </a:rPr>
            </a:br>
            <a:r>
              <a:rPr lang="fr-FR" altLang="fr-FR" sz="1400">
                <a:solidFill>
                  <a:schemeClr val="tx1"/>
                </a:solidFill>
              </a:rPr>
              <a:t>sur le tableau</a:t>
            </a:r>
          </a:p>
        </p:txBody>
      </p:sp>
      <p:sp>
        <p:nvSpPr>
          <p:cNvPr id="93194" name="Text Box 223"/>
          <p:cNvSpPr txBox="1">
            <a:spLocks noChangeArrowheads="1"/>
          </p:cNvSpPr>
          <p:nvPr/>
        </p:nvSpPr>
        <p:spPr bwMode="auto">
          <a:xfrm>
            <a:off x="5618163" y="723900"/>
            <a:ext cx="145732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Tickets sur</a:t>
            </a:r>
            <a:br>
              <a:rPr lang="fr-FR" altLang="fr-FR" sz="1400">
                <a:solidFill>
                  <a:schemeClr val="tx1"/>
                </a:solidFill>
              </a:rPr>
            </a:br>
            <a:r>
              <a:rPr lang="fr-FR" altLang="fr-FR" sz="1400">
                <a:solidFill>
                  <a:schemeClr val="tx1"/>
                </a:solidFill>
              </a:rPr>
              <a:t> les conteneurs</a:t>
            </a:r>
          </a:p>
        </p:txBody>
      </p:sp>
      <p:grpSp>
        <p:nvGrpSpPr>
          <p:cNvPr id="10" name="Group 233"/>
          <p:cNvGrpSpPr>
            <a:grpSpLocks/>
          </p:cNvGrpSpPr>
          <p:nvPr/>
        </p:nvGrpSpPr>
        <p:grpSpPr bwMode="auto">
          <a:xfrm>
            <a:off x="2684463" y="674688"/>
            <a:ext cx="3103562" cy="1073150"/>
            <a:chOff x="1691" y="425"/>
            <a:chExt cx="1955" cy="676"/>
          </a:xfrm>
        </p:grpSpPr>
        <p:sp>
          <p:nvSpPr>
            <p:cNvPr id="93215" name="AutoShape 213"/>
            <p:cNvSpPr>
              <a:spLocks noChangeArrowheads="1"/>
            </p:cNvSpPr>
            <p:nvPr/>
          </p:nvSpPr>
          <p:spPr bwMode="auto">
            <a:xfrm flipH="1">
              <a:off x="1691" y="552"/>
              <a:ext cx="1955" cy="549"/>
            </a:xfrm>
            <a:custGeom>
              <a:avLst/>
              <a:gdLst>
                <a:gd name="T0" fmla="*/ 1 w 21600"/>
                <a:gd name="T1" fmla="*/ 0 h 21600"/>
                <a:gd name="T2" fmla="*/ 0 w 21600"/>
                <a:gd name="T3" fmla="*/ 0 h 21600"/>
                <a:gd name="T4" fmla="*/ 1 w 21600"/>
                <a:gd name="T5" fmla="*/ 0 h 21600"/>
                <a:gd name="T6" fmla="*/ 2 w 21600"/>
                <a:gd name="T7" fmla="*/ 0 h 21600"/>
                <a:gd name="T8" fmla="*/ 1 w 21600"/>
                <a:gd name="T9" fmla="*/ 0 h 21600"/>
                <a:gd name="T10" fmla="*/ 1 w 21600"/>
                <a:gd name="T11" fmla="*/ 0 h 21600"/>
                <a:gd name="T12" fmla="*/ 0 60000 65536"/>
                <a:gd name="T13" fmla="*/ 0 60000 65536"/>
                <a:gd name="T14" fmla="*/ 0 60000 65536"/>
                <a:gd name="T15" fmla="*/ 0 60000 65536"/>
                <a:gd name="T16" fmla="*/ 0 60000 65536"/>
                <a:gd name="T17" fmla="*/ 0 60000 65536"/>
                <a:gd name="T18" fmla="*/ 3160 w 21600"/>
                <a:gd name="T19" fmla="*/ 3148 h 21600"/>
                <a:gd name="T20" fmla="*/ 18440 w 21600"/>
                <a:gd name="T21" fmla="*/ 18452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9339" y="8878"/>
                  </a:moveTo>
                  <a:cubicBezTo>
                    <a:pt x="18440" y="4884"/>
                    <a:pt x="14893" y="2047"/>
                    <a:pt x="10800" y="2047"/>
                  </a:cubicBezTo>
                  <a:cubicBezTo>
                    <a:pt x="5965" y="2047"/>
                    <a:pt x="2047" y="5965"/>
                    <a:pt x="2047" y="10800"/>
                  </a:cubicBezTo>
                  <a:lnTo>
                    <a:pt x="0" y="10800"/>
                  </a:lnTo>
                  <a:cubicBezTo>
                    <a:pt x="0" y="4835"/>
                    <a:pt x="4835" y="0"/>
                    <a:pt x="10800" y="0"/>
                  </a:cubicBezTo>
                  <a:cubicBezTo>
                    <a:pt x="15851" y="0"/>
                    <a:pt x="20227" y="3500"/>
                    <a:pt x="21336" y="8428"/>
                  </a:cubicBezTo>
                  <a:lnTo>
                    <a:pt x="23970" y="7835"/>
                  </a:lnTo>
                  <a:lnTo>
                    <a:pt x="21155" y="12286"/>
                  </a:lnTo>
                  <a:lnTo>
                    <a:pt x="16705" y="9470"/>
                  </a:lnTo>
                  <a:lnTo>
                    <a:pt x="19339" y="8878"/>
                  </a:lnTo>
                  <a:close/>
                </a:path>
              </a:pathLst>
            </a:cu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fr-FR"/>
            </a:p>
          </p:txBody>
        </p:sp>
        <p:grpSp>
          <p:nvGrpSpPr>
            <p:cNvPr id="93216" name="Group 232"/>
            <p:cNvGrpSpPr>
              <a:grpSpLocks/>
            </p:cNvGrpSpPr>
            <p:nvPr/>
          </p:nvGrpSpPr>
          <p:grpSpPr bwMode="auto">
            <a:xfrm>
              <a:off x="2441" y="425"/>
              <a:ext cx="393" cy="461"/>
              <a:chOff x="2441" y="631"/>
              <a:chExt cx="393" cy="461"/>
            </a:xfrm>
          </p:grpSpPr>
          <p:sp>
            <p:nvSpPr>
              <p:cNvPr id="93217" name="Rectangle 227"/>
              <p:cNvSpPr>
                <a:spLocks noChangeArrowheads="1"/>
              </p:cNvSpPr>
              <p:nvPr/>
            </p:nvSpPr>
            <p:spPr bwMode="auto">
              <a:xfrm>
                <a:off x="2441" y="631"/>
                <a:ext cx="393" cy="461"/>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18" name="Text Box 228"/>
              <p:cNvSpPr txBox="1">
                <a:spLocks noChangeArrowheads="1"/>
              </p:cNvSpPr>
              <p:nvPr/>
            </p:nvSpPr>
            <p:spPr bwMode="auto">
              <a:xfrm>
                <a:off x="2514" y="647"/>
                <a:ext cx="24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R2</a:t>
                </a:r>
              </a:p>
            </p:txBody>
          </p:sp>
          <p:sp>
            <p:nvSpPr>
              <p:cNvPr id="93219" name="Rectangle 229"/>
              <p:cNvSpPr>
                <a:spLocks noChangeArrowheads="1"/>
              </p:cNvSpPr>
              <p:nvPr/>
            </p:nvSpPr>
            <p:spPr bwMode="auto">
              <a:xfrm>
                <a:off x="2517" y="791"/>
                <a:ext cx="236" cy="76"/>
              </a:xfrm>
              <a:prstGeom prst="rect">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0" name="Rectangle 230"/>
              <p:cNvSpPr>
                <a:spLocks noChangeArrowheads="1"/>
              </p:cNvSpPr>
              <p:nvPr/>
            </p:nvSpPr>
            <p:spPr bwMode="auto">
              <a:xfrm>
                <a:off x="2472" y="934"/>
                <a:ext cx="143" cy="76"/>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21" name="Oval 231"/>
              <p:cNvSpPr>
                <a:spLocks noChangeArrowheads="1"/>
              </p:cNvSpPr>
              <p:nvPr/>
            </p:nvSpPr>
            <p:spPr bwMode="auto">
              <a:xfrm>
                <a:off x="2679" y="931"/>
                <a:ext cx="100" cy="10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grpSp>
        <p:nvGrpSpPr>
          <p:cNvPr id="12" name="Group 250"/>
          <p:cNvGrpSpPr>
            <a:grpSpLocks/>
          </p:cNvGrpSpPr>
          <p:nvPr/>
        </p:nvGrpSpPr>
        <p:grpSpPr bwMode="auto">
          <a:xfrm>
            <a:off x="2319338" y="2411413"/>
            <a:ext cx="3617912" cy="1104900"/>
            <a:chOff x="1461" y="1519"/>
            <a:chExt cx="2279" cy="696"/>
          </a:xfrm>
        </p:grpSpPr>
        <p:sp>
          <p:nvSpPr>
            <p:cNvPr id="93198" name="AutoShape 214"/>
            <p:cNvSpPr>
              <a:spLocks noChangeArrowheads="1"/>
            </p:cNvSpPr>
            <p:nvPr/>
          </p:nvSpPr>
          <p:spPr bwMode="auto">
            <a:xfrm flipV="1">
              <a:off x="1461" y="1528"/>
              <a:ext cx="2279" cy="592"/>
            </a:xfrm>
            <a:custGeom>
              <a:avLst/>
              <a:gdLst>
                <a:gd name="T0" fmla="*/ 1 w 21600"/>
                <a:gd name="T1" fmla="*/ 0 h 21600"/>
                <a:gd name="T2" fmla="*/ 0 w 21600"/>
                <a:gd name="T3" fmla="*/ 0 h 21600"/>
                <a:gd name="T4" fmla="*/ 1 w 21600"/>
                <a:gd name="T5" fmla="*/ 0 h 21600"/>
                <a:gd name="T6" fmla="*/ 3 w 21600"/>
                <a:gd name="T7" fmla="*/ 0 h 21600"/>
                <a:gd name="T8" fmla="*/ 3 w 21600"/>
                <a:gd name="T9" fmla="*/ 0 h 21600"/>
                <a:gd name="T10" fmla="*/ 2 w 21600"/>
                <a:gd name="T11" fmla="*/ 0 h 21600"/>
                <a:gd name="T12" fmla="*/ 0 60000 65536"/>
                <a:gd name="T13" fmla="*/ 0 60000 65536"/>
                <a:gd name="T14" fmla="*/ 0 60000 65536"/>
                <a:gd name="T15" fmla="*/ 0 60000 65536"/>
                <a:gd name="T16" fmla="*/ 0 60000 65536"/>
                <a:gd name="T17" fmla="*/ 0 60000 65536"/>
                <a:gd name="T18" fmla="*/ 3166 w 21600"/>
                <a:gd name="T19" fmla="*/ 3174 h 21600"/>
                <a:gd name="T20" fmla="*/ 18434 w 21600"/>
                <a:gd name="T21" fmla="*/ 18426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9339" y="8878"/>
                  </a:moveTo>
                  <a:cubicBezTo>
                    <a:pt x="18440" y="4884"/>
                    <a:pt x="14893" y="2047"/>
                    <a:pt x="10800" y="2047"/>
                  </a:cubicBezTo>
                  <a:cubicBezTo>
                    <a:pt x="5965" y="2047"/>
                    <a:pt x="2047" y="5965"/>
                    <a:pt x="2047" y="10800"/>
                  </a:cubicBezTo>
                  <a:lnTo>
                    <a:pt x="0" y="10800"/>
                  </a:lnTo>
                  <a:cubicBezTo>
                    <a:pt x="0" y="4835"/>
                    <a:pt x="4835" y="0"/>
                    <a:pt x="10800" y="0"/>
                  </a:cubicBezTo>
                  <a:cubicBezTo>
                    <a:pt x="15851" y="0"/>
                    <a:pt x="20227" y="3500"/>
                    <a:pt x="21336" y="8428"/>
                  </a:cubicBezTo>
                  <a:lnTo>
                    <a:pt x="23970" y="7835"/>
                  </a:lnTo>
                  <a:lnTo>
                    <a:pt x="21155" y="12286"/>
                  </a:lnTo>
                  <a:lnTo>
                    <a:pt x="16705" y="9470"/>
                  </a:lnTo>
                  <a:lnTo>
                    <a:pt x="19339" y="8878"/>
                  </a:lnTo>
                  <a:close/>
                </a:path>
              </a:pathLst>
            </a:custGeom>
            <a:noFill/>
            <a:ln w="6350" algn="ctr">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fr-FR"/>
            </a:p>
          </p:txBody>
        </p:sp>
        <p:grpSp>
          <p:nvGrpSpPr>
            <p:cNvPr id="93199" name="Group 234"/>
            <p:cNvGrpSpPr>
              <a:grpSpLocks/>
            </p:cNvGrpSpPr>
            <p:nvPr/>
          </p:nvGrpSpPr>
          <p:grpSpPr bwMode="auto">
            <a:xfrm>
              <a:off x="2316" y="1519"/>
              <a:ext cx="667" cy="696"/>
              <a:chOff x="2258" y="784"/>
              <a:chExt cx="667" cy="696"/>
            </a:xfrm>
          </p:grpSpPr>
          <p:grpSp>
            <p:nvGrpSpPr>
              <p:cNvPr id="93200" name="Group 235"/>
              <p:cNvGrpSpPr>
                <a:grpSpLocks/>
              </p:cNvGrpSpPr>
              <p:nvPr/>
            </p:nvGrpSpPr>
            <p:grpSpPr bwMode="auto">
              <a:xfrm rot="-223274">
                <a:off x="2258" y="823"/>
                <a:ext cx="667" cy="657"/>
                <a:chOff x="2757" y="1666"/>
                <a:chExt cx="812" cy="800"/>
              </a:xfrm>
            </p:grpSpPr>
            <p:sp>
              <p:nvSpPr>
                <p:cNvPr id="93209" name="Freeform 23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10" name="Freeform 23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3211" name="Line 23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3212" name="Freeform 23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3213" name="Freeform 24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3214" name="AutoShape 24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3201" name="AutoShape 242"/>
              <p:cNvSpPr>
                <a:spLocks noChangeArrowheads="1"/>
              </p:cNvSpPr>
              <p:nvPr/>
            </p:nvSpPr>
            <p:spPr bwMode="auto">
              <a:xfrm rot="2337505">
                <a:off x="2503" y="998"/>
                <a:ext cx="177" cy="266"/>
              </a:xfrm>
              <a:prstGeom prst="parallelogram">
                <a:avLst>
                  <a:gd name="adj" fmla="val 25000"/>
                </a:avLst>
              </a:prstGeom>
              <a:solidFill>
                <a:schemeClr val="accent2"/>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2" name="Oval 243"/>
              <p:cNvSpPr>
                <a:spLocks noChangeArrowheads="1"/>
              </p:cNvSpPr>
              <p:nvPr/>
            </p:nvSpPr>
            <p:spPr bwMode="auto">
              <a:xfrm rot="575549">
                <a:off x="2557" y="1117"/>
                <a:ext cx="164" cy="155"/>
              </a:xfrm>
              <a:prstGeom prst="ellipse">
                <a:avLst/>
              </a:prstGeom>
              <a:solidFill>
                <a:srgbClr val="00FF00"/>
              </a:solidFill>
              <a:ln w="9525" algn="ctr">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3" name="AutoShape 244"/>
              <p:cNvSpPr>
                <a:spLocks noChangeArrowheads="1"/>
              </p:cNvSpPr>
              <p:nvPr/>
            </p:nvSpPr>
            <p:spPr bwMode="auto">
              <a:xfrm rot="669280">
                <a:off x="2410" y="1061"/>
                <a:ext cx="194" cy="144"/>
              </a:xfrm>
              <a:prstGeom prst="parallelogram">
                <a:avLst>
                  <a:gd name="adj" fmla="val 33681"/>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4" name="AutoShape 245"/>
              <p:cNvSpPr>
                <a:spLocks noChangeArrowheads="1"/>
              </p:cNvSpPr>
              <p:nvPr/>
            </p:nvSpPr>
            <p:spPr bwMode="auto">
              <a:xfrm rot="-5567485">
                <a:off x="2209" y="839"/>
                <a:ext cx="525" cy="415"/>
              </a:xfrm>
              <a:prstGeom prst="parallelogram">
                <a:avLst>
                  <a:gd name="adj" fmla="val 23550"/>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5" name="Text Box 246"/>
              <p:cNvSpPr txBox="1">
                <a:spLocks noChangeArrowheads="1"/>
              </p:cNvSpPr>
              <p:nvPr/>
            </p:nvSpPr>
            <p:spPr bwMode="auto">
              <a:xfrm rot="628236">
                <a:off x="2340" y="819"/>
                <a:ext cx="22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100" b="1">
                    <a:solidFill>
                      <a:schemeClr val="tx1"/>
                    </a:solidFill>
                  </a:rPr>
                  <a:t>R2</a:t>
                </a:r>
              </a:p>
            </p:txBody>
          </p:sp>
          <p:sp>
            <p:nvSpPr>
              <p:cNvPr id="93206" name="Oval 247"/>
              <p:cNvSpPr>
                <a:spLocks noChangeArrowheads="1"/>
              </p:cNvSpPr>
              <p:nvPr/>
            </p:nvSpPr>
            <p:spPr bwMode="auto">
              <a:xfrm>
                <a:off x="2523" y="1127"/>
                <a:ext cx="124" cy="124"/>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7" name="AutoShape 248"/>
              <p:cNvSpPr>
                <a:spLocks noChangeArrowheads="1"/>
              </p:cNvSpPr>
              <p:nvPr/>
            </p:nvSpPr>
            <p:spPr bwMode="auto">
              <a:xfrm rot="-5400000">
                <a:off x="2309" y="1080"/>
                <a:ext cx="130" cy="137"/>
              </a:xfrm>
              <a:prstGeom prst="parallelogram">
                <a:avLst>
                  <a:gd name="adj" fmla="val 18250"/>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3208" name="AutoShape 249"/>
              <p:cNvSpPr>
                <a:spLocks noChangeArrowheads="1"/>
              </p:cNvSpPr>
              <p:nvPr/>
            </p:nvSpPr>
            <p:spPr bwMode="auto">
              <a:xfrm rot="-5567485">
                <a:off x="2394" y="910"/>
                <a:ext cx="158" cy="248"/>
              </a:xfrm>
              <a:prstGeom prst="parallelogram">
                <a:avLst>
                  <a:gd name="adj" fmla="val 41009"/>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ox(in)">
                                      <p:cBhvr>
                                        <p:cTn id="7" dur="500"/>
                                        <p:tgtEl>
                                          <p:spTgt spid="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box(in)">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4210" name="Rectangle 2"/>
          <p:cNvSpPr>
            <a:spLocks noGrp="1" noChangeArrowheads="1"/>
          </p:cNvSpPr>
          <p:nvPr>
            <p:ph type="title"/>
          </p:nvPr>
        </p:nvSpPr>
        <p:spPr>
          <a:xfrm>
            <a:off x="430213" y="179388"/>
            <a:ext cx="8229600" cy="849312"/>
          </a:xfrm>
        </p:spPr>
        <p:txBody>
          <a:bodyPr/>
          <a:lstStyle/>
          <a:p>
            <a:pPr eaLnBrk="1" hangingPunct="1">
              <a:lnSpc>
                <a:spcPct val="110000"/>
              </a:lnSpc>
            </a:pPr>
            <a:r>
              <a:rPr lang="fr-FR" altLang="fr-FR" sz="2600"/>
              <a:t>C’est le moment d’installer votre système Kanban.</a:t>
            </a:r>
            <a:br>
              <a:rPr lang="fr-FR" altLang="fr-FR" sz="2600"/>
            </a:br>
            <a:r>
              <a:rPr lang="fr-FR" altLang="fr-FR" sz="2600"/>
              <a:t>Recevez pour chaque table :</a:t>
            </a:r>
          </a:p>
        </p:txBody>
      </p:sp>
      <p:sp>
        <p:nvSpPr>
          <p:cNvPr id="94212" name="Text Box 4"/>
          <p:cNvSpPr txBox="1">
            <a:spLocks noChangeArrowheads="1"/>
          </p:cNvSpPr>
          <p:nvPr/>
        </p:nvSpPr>
        <p:spPr bwMode="auto">
          <a:xfrm>
            <a:off x="1255713" y="2182813"/>
            <a:ext cx="264001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5 tableaux Kanban pour ranger les tickets.</a:t>
            </a:r>
          </a:p>
        </p:txBody>
      </p:sp>
      <p:grpSp>
        <p:nvGrpSpPr>
          <p:cNvPr id="94214" name="Group 53"/>
          <p:cNvGrpSpPr>
            <a:grpSpLocks/>
          </p:cNvGrpSpPr>
          <p:nvPr/>
        </p:nvGrpSpPr>
        <p:grpSpPr bwMode="auto">
          <a:xfrm>
            <a:off x="460375" y="2203450"/>
            <a:ext cx="639763" cy="657225"/>
            <a:chOff x="375" y="2879"/>
            <a:chExt cx="493" cy="511"/>
          </a:xfrm>
        </p:grpSpPr>
        <p:sp>
          <p:nvSpPr>
            <p:cNvPr id="94255" name="Rectangle 54"/>
            <p:cNvSpPr>
              <a:spLocks noChangeArrowheads="1"/>
            </p:cNvSpPr>
            <p:nvPr/>
          </p:nvSpPr>
          <p:spPr bwMode="auto">
            <a:xfrm>
              <a:off x="606" y="2879"/>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56" name="Rectangle 55"/>
            <p:cNvSpPr>
              <a:spLocks noChangeArrowheads="1"/>
            </p:cNvSpPr>
            <p:nvPr/>
          </p:nvSpPr>
          <p:spPr bwMode="auto">
            <a:xfrm>
              <a:off x="553" y="2921"/>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57" name="Rectangle 56"/>
            <p:cNvSpPr>
              <a:spLocks noChangeArrowheads="1"/>
            </p:cNvSpPr>
            <p:nvPr/>
          </p:nvSpPr>
          <p:spPr bwMode="auto">
            <a:xfrm>
              <a:off x="493" y="2963"/>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58" name="Rectangle 57"/>
            <p:cNvSpPr>
              <a:spLocks noChangeArrowheads="1"/>
            </p:cNvSpPr>
            <p:nvPr/>
          </p:nvSpPr>
          <p:spPr bwMode="auto">
            <a:xfrm>
              <a:off x="428" y="3010"/>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59" name="Rectangle 58"/>
            <p:cNvSpPr>
              <a:spLocks noChangeArrowheads="1"/>
            </p:cNvSpPr>
            <p:nvPr/>
          </p:nvSpPr>
          <p:spPr bwMode="auto">
            <a:xfrm>
              <a:off x="375" y="3052"/>
              <a:ext cx="262" cy="338"/>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4215" name="Text Box 111"/>
          <p:cNvSpPr txBox="1">
            <a:spLocks noChangeArrowheads="1"/>
          </p:cNvSpPr>
          <p:nvPr/>
        </p:nvSpPr>
        <p:spPr bwMode="auto">
          <a:xfrm>
            <a:off x="1201738" y="3649663"/>
            <a:ext cx="2801937" cy="131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1600"/>
              <a:t>Des tickets Kanban que vous placez en premier lieu sur les conteneurs du stock aval, le reste sera placé sur le tableau Kanban.</a:t>
            </a:r>
          </a:p>
        </p:txBody>
      </p:sp>
      <p:sp>
        <p:nvSpPr>
          <p:cNvPr id="94216" name="Rectangle 113"/>
          <p:cNvSpPr>
            <a:spLocks noChangeArrowheads="1"/>
          </p:cNvSpPr>
          <p:nvPr/>
        </p:nvSpPr>
        <p:spPr bwMode="auto">
          <a:xfrm>
            <a:off x="582613" y="3690938"/>
            <a:ext cx="358775" cy="463550"/>
          </a:xfrm>
          <a:prstGeom prst="rect">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4217" name="Group 171"/>
          <p:cNvGrpSpPr>
            <a:grpSpLocks/>
          </p:cNvGrpSpPr>
          <p:nvPr/>
        </p:nvGrpSpPr>
        <p:grpSpPr bwMode="auto">
          <a:xfrm>
            <a:off x="4616450" y="1735138"/>
            <a:ext cx="4160838" cy="3309937"/>
            <a:chOff x="2852" y="1264"/>
            <a:chExt cx="2621" cy="2085"/>
          </a:xfrm>
        </p:grpSpPr>
        <p:sp>
          <p:nvSpPr>
            <p:cNvPr id="94219" name="Line 126"/>
            <p:cNvSpPr>
              <a:spLocks noChangeShapeType="1"/>
            </p:cNvSpPr>
            <p:nvPr/>
          </p:nvSpPr>
          <p:spPr bwMode="auto">
            <a:xfrm rot="5400000">
              <a:off x="3275" y="2443"/>
              <a:ext cx="181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grpSp>
          <p:nvGrpSpPr>
            <p:cNvPr id="94220" name="Group 127"/>
            <p:cNvGrpSpPr>
              <a:grpSpLocks/>
            </p:cNvGrpSpPr>
            <p:nvPr/>
          </p:nvGrpSpPr>
          <p:grpSpPr bwMode="auto">
            <a:xfrm>
              <a:off x="3349" y="1621"/>
              <a:ext cx="1699" cy="1715"/>
              <a:chOff x="1014" y="478"/>
              <a:chExt cx="3972" cy="3818"/>
            </a:xfrm>
          </p:grpSpPr>
          <p:sp>
            <p:nvSpPr>
              <p:cNvPr id="94251" name="Line 128"/>
              <p:cNvSpPr>
                <a:spLocks noChangeShapeType="1"/>
              </p:cNvSpPr>
              <p:nvPr/>
            </p:nvSpPr>
            <p:spPr bwMode="auto">
              <a:xfrm rot="5400000">
                <a:off x="2084" y="2387"/>
                <a:ext cx="381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52" name="Line 129"/>
              <p:cNvSpPr>
                <a:spLocks noChangeShapeType="1"/>
              </p:cNvSpPr>
              <p:nvPr/>
            </p:nvSpPr>
            <p:spPr bwMode="auto">
              <a:xfrm rot="5400000">
                <a:off x="-895" y="2387"/>
                <a:ext cx="381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53" name="Line 130"/>
              <p:cNvSpPr>
                <a:spLocks noChangeShapeType="1"/>
              </p:cNvSpPr>
              <p:nvPr/>
            </p:nvSpPr>
            <p:spPr bwMode="auto">
              <a:xfrm rot="5400000">
                <a:off x="99" y="2387"/>
                <a:ext cx="381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54" name="Line 131"/>
              <p:cNvSpPr>
                <a:spLocks noChangeShapeType="1"/>
              </p:cNvSpPr>
              <p:nvPr/>
            </p:nvSpPr>
            <p:spPr bwMode="auto">
              <a:xfrm rot="5400000">
                <a:off x="3077" y="2387"/>
                <a:ext cx="381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grpSp>
        <p:sp>
          <p:nvSpPr>
            <p:cNvPr id="94221" name="WordArt 118"/>
            <p:cNvSpPr>
              <a:spLocks noChangeArrowheads="1" noChangeShapeType="1" noTextEdit="1"/>
            </p:cNvSpPr>
            <p:nvPr/>
          </p:nvSpPr>
          <p:spPr bwMode="auto">
            <a:xfrm>
              <a:off x="4668" y="1342"/>
              <a:ext cx="547" cy="121"/>
            </a:xfrm>
            <a:prstGeom prst="rect">
              <a:avLst/>
            </a:prstGeom>
          </p:spPr>
          <p:txBody>
            <a:bodyPr wrap="none" fromWordArt="1">
              <a:prstTxWarp prst="textPlain">
                <a:avLst>
                  <a:gd name="adj" fmla="val 50000"/>
                </a:avLst>
              </a:prstTxWarp>
            </a:bodyPr>
            <a:lstStyle/>
            <a:p>
              <a:r>
                <a:rPr lang="fr-FR" sz="3600" kern="10">
                  <a:ln w="9525">
                    <a:solidFill>
                      <a:srgbClr val="000000"/>
                    </a:solidFill>
                    <a:round/>
                    <a:headEnd/>
                    <a:tailEnd/>
                  </a:ln>
                  <a:solidFill>
                    <a:srgbClr val="FFFFFF"/>
                  </a:solidFill>
                  <a:latin typeface="Arial Black"/>
                </a:rPr>
                <a:t>engrenages</a:t>
              </a:r>
            </a:p>
          </p:txBody>
        </p:sp>
        <p:sp>
          <p:nvSpPr>
            <p:cNvPr id="94222" name="Rectangle 119"/>
            <p:cNvSpPr>
              <a:spLocks noChangeArrowheads="1"/>
            </p:cNvSpPr>
            <p:nvPr/>
          </p:nvSpPr>
          <p:spPr bwMode="auto">
            <a:xfrm>
              <a:off x="2881" y="1264"/>
              <a:ext cx="2592" cy="208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23" name="WordArt 120" descr="30 %"/>
            <p:cNvSpPr>
              <a:spLocks noChangeArrowheads="1" noChangeShapeType="1" noTextEdit="1"/>
            </p:cNvSpPr>
            <p:nvPr/>
          </p:nvSpPr>
          <p:spPr bwMode="auto">
            <a:xfrm>
              <a:off x="3038" y="1329"/>
              <a:ext cx="1416" cy="121"/>
            </a:xfrm>
            <a:prstGeom prst="rect">
              <a:avLst/>
            </a:prstGeom>
          </p:spPr>
          <p:txBody>
            <a:bodyPr wrap="none" fromWordArt="1">
              <a:prstTxWarp prst="textPlain">
                <a:avLst>
                  <a:gd name="adj" fmla="val 50000"/>
                </a:avLst>
              </a:prstTxWarp>
            </a:bodyPr>
            <a:lstStyle/>
            <a:p>
              <a:r>
                <a:rPr lang="fr-FR" sz="3600" kern="10">
                  <a:ln w="9525">
                    <a:solidFill>
                      <a:schemeClr val="tx1"/>
                    </a:solidFill>
                    <a:round/>
                    <a:headEnd/>
                    <a:tailEnd/>
                  </a:ln>
                  <a:pattFill prst="pct30">
                    <a:fgClr>
                      <a:schemeClr val="tx1"/>
                    </a:fgClr>
                    <a:bgClr>
                      <a:srgbClr val="FFFFFF"/>
                    </a:bgClr>
                  </a:pattFill>
                  <a:latin typeface="Arial Black"/>
                </a:rPr>
                <a:t>PLANNING KANBAN</a:t>
              </a:r>
            </a:p>
          </p:txBody>
        </p:sp>
        <p:sp>
          <p:nvSpPr>
            <p:cNvPr id="94224" name="Line 122"/>
            <p:cNvSpPr>
              <a:spLocks noChangeShapeType="1"/>
            </p:cNvSpPr>
            <p:nvPr/>
          </p:nvSpPr>
          <p:spPr bwMode="auto">
            <a:xfrm>
              <a:off x="2875" y="1749"/>
              <a:ext cx="2598"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25" name="Rectangle 123"/>
            <p:cNvSpPr>
              <a:spLocks noChangeAspect="1" noChangeArrowheads="1"/>
            </p:cNvSpPr>
            <p:nvPr/>
          </p:nvSpPr>
          <p:spPr bwMode="auto">
            <a:xfrm>
              <a:off x="3493" y="1542"/>
              <a:ext cx="132" cy="85"/>
            </a:xfrm>
            <a:prstGeom prst="rect">
              <a:avLst/>
            </a:prstGeom>
            <a:solidFill>
              <a:srgbClr val="FFFF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26" name="Rectangle 124"/>
            <p:cNvSpPr>
              <a:spLocks noChangeAspect="1" noChangeArrowheads="1"/>
            </p:cNvSpPr>
            <p:nvPr/>
          </p:nvSpPr>
          <p:spPr bwMode="auto">
            <a:xfrm>
              <a:off x="4769" y="1542"/>
              <a:ext cx="132" cy="85"/>
            </a:xfrm>
            <a:prstGeom prst="rect">
              <a:avLst/>
            </a:prstGeom>
            <a:solidFill>
              <a:schemeClr val="bg1"/>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94227" name="Group 135"/>
            <p:cNvGrpSpPr>
              <a:grpSpLocks/>
            </p:cNvGrpSpPr>
            <p:nvPr/>
          </p:nvGrpSpPr>
          <p:grpSpPr bwMode="auto">
            <a:xfrm>
              <a:off x="4152" y="1788"/>
              <a:ext cx="504" cy="426"/>
              <a:chOff x="292" y="1554"/>
              <a:chExt cx="881" cy="745"/>
            </a:xfrm>
          </p:grpSpPr>
          <p:sp>
            <p:nvSpPr>
              <p:cNvPr id="94248" name="Rectangle 136"/>
              <p:cNvSpPr>
                <a:spLocks noChangeArrowheads="1"/>
              </p:cNvSpPr>
              <p:nvPr/>
            </p:nvSpPr>
            <p:spPr bwMode="auto">
              <a:xfrm>
                <a:off x="402" y="1554"/>
                <a:ext cx="660" cy="745"/>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49" name="Text Box 137"/>
              <p:cNvSpPr txBox="1">
                <a:spLocks noChangeArrowheads="1"/>
              </p:cNvSpPr>
              <p:nvPr/>
            </p:nvSpPr>
            <p:spPr bwMode="auto">
              <a:xfrm>
                <a:off x="292" y="1668"/>
                <a:ext cx="88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50" name="Rectangle 138"/>
              <p:cNvSpPr>
                <a:spLocks noChangeArrowheads="1"/>
              </p:cNvSpPr>
              <p:nvPr/>
            </p:nvSpPr>
            <p:spPr bwMode="auto">
              <a:xfrm>
                <a:off x="574" y="1954"/>
                <a:ext cx="300" cy="154"/>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28" name="Group 154"/>
            <p:cNvGrpSpPr>
              <a:grpSpLocks/>
            </p:cNvGrpSpPr>
            <p:nvPr/>
          </p:nvGrpSpPr>
          <p:grpSpPr bwMode="auto">
            <a:xfrm>
              <a:off x="2869" y="1785"/>
              <a:ext cx="532" cy="467"/>
              <a:chOff x="4014" y="1756"/>
              <a:chExt cx="799" cy="670"/>
            </a:xfrm>
          </p:grpSpPr>
          <p:sp>
            <p:nvSpPr>
              <p:cNvPr id="94245" name="Rectangle 151"/>
              <p:cNvSpPr>
                <a:spLocks noChangeArrowheads="1"/>
              </p:cNvSpPr>
              <p:nvPr/>
            </p:nvSpPr>
            <p:spPr bwMode="auto">
              <a:xfrm>
                <a:off x="4115" y="1756"/>
                <a:ext cx="594" cy="670"/>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46" name="Text Box 152"/>
              <p:cNvSpPr txBox="1">
                <a:spLocks noChangeArrowheads="1"/>
              </p:cNvSpPr>
              <p:nvPr/>
            </p:nvSpPr>
            <p:spPr bwMode="auto">
              <a:xfrm>
                <a:off x="4014" y="1859"/>
                <a:ext cx="799"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47" name="Rectangle 153"/>
              <p:cNvSpPr>
                <a:spLocks noChangeArrowheads="1"/>
              </p:cNvSpPr>
              <p:nvPr/>
            </p:nvSpPr>
            <p:spPr bwMode="auto">
              <a:xfrm>
                <a:off x="4270" y="2116"/>
                <a:ext cx="270" cy="13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29" name="Group 155"/>
            <p:cNvGrpSpPr>
              <a:grpSpLocks/>
            </p:cNvGrpSpPr>
            <p:nvPr/>
          </p:nvGrpSpPr>
          <p:grpSpPr bwMode="auto">
            <a:xfrm>
              <a:off x="2857" y="2272"/>
              <a:ext cx="532" cy="467"/>
              <a:chOff x="4014" y="1756"/>
              <a:chExt cx="799" cy="670"/>
            </a:xfrm>
          </p:grpSpPr>
          <p:sp>
            <p:nvSpPr>
              <p:cNvPr id="94242" name="Rectangle 156"/>
              <p:cNvSpPr>
                <a:spLocks noChangeArrowheads="1"/>
              </p:cNvSpPr>
              <p:nvPr/>
            </p:nvSpPr>
            <p:spPr bwMode="auto">
              <a:xfrm>
                <a:off x="4115" y="1756"/>
                <a:ext cx="594" cy="670"/>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43" name="Text Box 157"/>
              <p:cNvSpPr txBox="1">
                <a:spLocks noChangeArrowheads="1"/>
              </p:cNvSpPr>
              <p:nvPr/>
            </p:nvSpPr>
            <p:spPr bwMode="auto">
              <a:xfrm>
                <a:off x="4014" y="1859"/>
                <a:ext cx="799"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44" name="Rectangle 158"/>
              <p:cNvSpPr>
                <a:spLocks noChangeArrowheads="1"/>
              </p:cNvSpPr>
              <p:nvPr/>
            </p:nvSpPr>
            <p:spPr bwMode="auto">
              <a:xfrm>
                <a:off x="4270" y="2116"/>
                <a:ext cx="270" cy="13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30" name="Group 159"/>
            <p:cNvGrpSpPr>
              <a:grpSpLocks/>
            </p:cNvGrpSpPr>
            <p:nvPr/>
          </p:nvGrpSpPr>
          <p:grpSpPr bwMode="auto">
            <a:xfrm>
              <a:off x="3301" y="1773"/>
              <a:ext cx="532" cy="467"/>
              <a:chOff x="4014" y="1756"/>
              <a:chExt cx="799" cy="670"/>
            </a:xfrm>
          </p:grpSpPr>
          <p:sp>
            <p:nvSpPr>
              <p:cNvPr id="94239" name="Rectangle 160"/>
              <p:cNvSpPr>
                <a:spLocks noChangeArrowheads="1"/>
              </p:cNvSpPr>
              <p:nvPr/>
            </p:nvSpPr>
            <p:spPr bwMode="auto">
              <a:xfrm>
                <a:off x="4115" y="1756"/>
                <a:ext cx="594" cy="670"/>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40" name="Text Box 161"/>
              <p:cNvSpPr txBox="1">
                <a:spLocks noChangeArrowheads="1"/>
              </p:cNvSpPr>
              <p:nvPr/>
            </p:nvSpPr>
            <p:spPr bwMode="auto">
              <a:xfrm>
                <a:off x="4014" y="1859"/>
                <a:ext cx="799"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41" name="Rectangle 162"/>
              <p:cNvSpPr>
                <a:spLocks noChangeArrowheads="1"/>
              </p:cNvSpPr>
              <p:nvPr/>
            </p:nvSpPr>
            <p:spPr bwMode="auto">
              <a:xfrm>
                <a:off x="4270" y="2116"/>
                <a:ext cx="270" cy="13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31" name="Group 163"/>
            <p:cNvGrpSpPr>
              <a:grpSpLocks/>
            </p:cNvGrpSpPr>
            <p:nvPr/>
          </p:nvGrpSpPr>
          <p:grpSpPr bwMode="auto">
            <a:xfrm>
              <a:off x="2852" y="2776"/>
              <a:ext cx="532" cy="467"/>
              <a:chOff x="4014" y="1756"/>
              <a:chExt cx="799" cy="670"/>
            </a:xfrm>
          </p:grpSpPr>
          <p:sp>
            <p:nvSpPr>
              <p:cNvPr id="94236" name="Rectangle 164"/>
              <p:cNvSpPr>
                <a:spLocks noChangeArrowheads="1"/>
              </p:cNvSpPr>
              <p:nvPr/>
            </p:nvSpPr>
            <p:spPr bwMode="auto">
              <a:xfrm>
                <a:off x="4115" y="1756"/>
                <a:ext cx="594" cy="670"/>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37" name="Text Box 165"/>
              <p:cNvSpPr txBox="1">
                <a:spLocks noChangeArrowheads="1"/>
              </p:cNvSpPr>
              <p:nvPr/>
            </p:nvSpPr>
            <p:spPr bwMode="auto">
              <a:xfrm>
                <a:off x="4014" y="1859"/>
                <a:ext cx="799"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38" name="Rectangle 166"/>
              <p:cNvSpPr>
                <a:spLocks noChangeArrowheads="1"/>
              </p:cNvSpPr>
              <p:nvPr/>
            </p:nvSpPr>
            <p:spPr bwMode="auto">
              <a:xfrm>
                <a:off x="4270" y="2116"/>
                <a:ext cx="270" cy="138"/>
              </a:xfrm>
              <a:prstGeom prst="rect">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4232" name="Group 167"/>
            <p:cNvGrpSpPr>
              <a:grpSpLocks/>
            </p:cNvGrpSpPr>
            <p:nvPr/>
          </p:nvGrpSpPr>
          <p:grpSpPr bwMode="auto">
            <a:xfrm>
              <a:off x="4158" y="2236"/>
              <a:ext cx="504" cy="426"/>
              <a:chOff x="292" y="1554"/>
              <a:chExt cx="881" cy="745"/>
            </a:xfrm>
          </p:grpSpPr>
          <p:sp>
            <p:nvSpPr>
              <p:cNvPr id="94233" name="Rectangle 168"/>
              <p:cNvSpPr>
                <a:spLocks noChangeArrowheads="1"/>
              </p:cNvSpPr>
              <p:nvPr/>
            </p:nvSpPr>
            <p:spPr bwMode="auto">
              <a:xfrm>
                <a:off x="402" y="1554"/>
                <a:ext cx="660" cy="745"/>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4234" name="Text Box 169"/>
              <p:cNvSpPr txBox="1">
                <a:spLocks noChangeArrowheads="1"/>
              </p:cNvSpPr>
              <p:nvPr/>
            </p:nvSpPr>
            <p:spPr bwMode="auto">
              <a:xfrm>
                <a:off x="292" y="1668"/>
                <a:ext cx="88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Engrenages</a:t>
                </a:r>
              </a:p>
            </p:txBody>
          </p:sp>
          <p:sp>
            <p:nvSpPr>
              <p:cNvPr id="94235" name="Rectangle 170"/>
              <p:cNvSpPr>
                <a:spLocks noChangeArrowheads="1"/>
              </p:cNvSpPr>
              <p:nvPr/>
            </p:nvSpPr>
            <p:spPr bwMode="auto">
              <a:xfrm>
                <a:off x="574" y="1954"/>
                <a:ext cx="300" cy="154"/>
              </a:xfrm>
              <a:prstGeom prst="rect">
                <a:avLst/>
              </a:prstGeom>
              <a:solidFill>
                <a:schemeClr val="bg1"/>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sp>
        <p:nvSpPr>
          <p:cNvPr id="94218" name="AutoShape 172"/>
          <p:cNvSpPr>
            <a:spLocks noChangeArrowheads="1"/>
          </p:cNvSpPr>
          <p:nvPr/>
        </p:nvSpPr>
        <p:spPr bwMode="auto">
          <a:xfrm>
            <a:off x="3841750" y="2549525"/>
            <a:ext cx="509588" cy="361950"/>
          </a:xfrm>
          <a:prstGeom prst="rightArrow">
            <a:avLst>
              <a:gd name="adj1" fmla="val 50000"/>
              <a:gd name="adj2" fmla="val 35197"/>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2"/>
          <p:cNvSpPr>
            <a:spLocks noGrp="1" noChangeArrowheads="1"/>
          </p:cNvSpPr>
          <p:nvPr>
            <p:ph type="title"/>
          </p:nvPr>
        </p:nvSpPr>
        <p:spPr>
          <a:xfrm>
            <a:off x="430213" y="0"/>
            <a:ext cx="8229600" cy="647700"/>
          </a:xfrm>
        </p:spPr>
        <p:txBody>
          <a:bodyPr/>
          <a:lstStyle/>
          <a:p>
            <a:pPr eaLnBrk="1" hangingPunct="1"/>
            <a:r>
              <a:rPr lang="fr-FR" altLang="fr-FR"/>
              <a:t>2. Les progrès</a:t>
            </a:r>
          </a:p>
        </p:txBody>
      </p:sp>
      <p:sp>
        <p:nvSpPr>
          <p:cNvPr id="95235" name="Rectangle 3"/>
          <p:cNvSpPr>
            <a:spLocks noGrp="1" noChangeArrowheads="1"/>
          </p:cNvSpPr>
          <p:nvPr>
            <p:ph type="body" idx="1"/>
          </p:nvPr>
        </p:nvSpPr>
        <p:spPr>
          <a:xfrm>
            <a:off x="146050" y="3735388"/>
            <a:ext cx="2116138" cy="777875"/>
          </a:xfrm>
        </p:spPr>
        <p:txBody>
          <a:bodyPr/>
          <a:lstStyle/>
          <a:p>
            <a:pPr marL="6350" indent="-6350" eaLnBrk="1" hangingPunct="1">
              <a:buFontTx/>
              <a:buNone/>
              <a:tabLst>
                <a:tab pos="4848225" algn="l"/>
              </a:tabLst>
            </a:pPr>
            <a:r>
              <a:rPr lang="fr-FR" altLang="fr-FR" sz="1600">
                <a:solidFill>
                  <a:srgbClr val="FC2C1C"/>
                </a:solidFill>
              </a:rPr>
              <a:t>2.</a:t>
            </a:r>
            <a:r>
              <a:rPr lang="fr-FR" altLang="fr-FR" sz="1600"/>
              <a:t> Moins d’incidents :</a:t>
            </a:r>
          </a:p>
          <a:p>
            <a:pPr marL="6350" indent="-6350" eaLnBrk="1" hangingPunct="1">
              <a:buFontTx/>
              <a:buNone/>
              <a:tabLst>
                <a:tab pos="4848225" algn="l"/>
              </a:tabLst>
            </a:pPr>
            <a:r>
              <a:rPr lang="fr-FR" altLang="fr-FR" sz="1600"/>
              <a:t>action sur un poste</a:t>
            </a:r>
          </a:p>
        </p:txBody>
      </p:sp>
      <p:sp>
        <p:nvSpPr>
          <p:cNvPr id="570372" name="AutoShape 4"/>
          <p:cNvSpPr>
            <a:spLocks/>
          </p:cNvSpPr>
          <p:nvPr/>
        </p:nvSpPr>
        <p:spPr bwMode="auto">
          <a:xfrm>
            <a:off x="6694488" y="4219575"/>
            <a:ext cx="1493837" cy="687388"/>
          </a:xfrm>
          <a:prstGeom prst="borderCallout2">
            <a:avLst>
              <a:gd name="adj1" fmla="val 16630"/>
              <a:gd name="adj2" fmla="val -5102"/>
              <a:gd name="adj3" fmla="val 16630"/>
              <a:gd name="adj4" fmla="val -18065"/>
              <a:gd name="adj5" fmla="val -58199"/>
              <a:gd name="adj6" fmla="val -65037"/>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Niveau 2 : vous êtes protégé contre l’incident</a:t>
            </a:r>
          </a:p>
        </p:txBody>
      </p:sp>
      <p:sp>
        <p:nvSpPr>
          <p:cNvPr id="95237" name="Rectangle 5"/>
          <p:cNvSpPr>
            <a:spLocks noChangeArrowheads="1"/>
          </p:cNvSpPr>
          <p:nvPr/>
        </p:nvSpPr>
        <p:spPr bwMode="auto">
          <a:xfrm>
            <a:off x="146050" y="1590675"/>
            <a:ext cx="2346325" cy="835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6350" algn="l" eaLnBrk="0" hangingPunct="0">
              <a:spcBef>
                <a:spcPct val="20000"/>
              </a:spcBef>
              <a:buChar char="•"/>
              <a:tabLst>
                <a:tab pos="4848225" algn="l"/>
              </a:tabLst>
              <a:defRPr sz="2000">
                <a:solidFill>
                  <a:schemeClr val="accent2"/>
                </a:solidFill>
                <a:latin typeface="Arial" pitchFamily="34" charset="0"/>
              </a:defRPr>
            </a:lvl1pPr>
            <a:lvl2pPr marL="742950" indent="-285750" algn="l" eaLnBrk="0" hangingPunct="0">
              <a:spcBef>
                <a:spcPct val="20000"/>
              </a:spcBef>
              <a:buChar char="–"/>
              <a:tabLst>
                <a:tab pos="4848225" algn="l"/>
              </a:tabLst>
              <a:defRPr>
                <a:solidFill>
                  <a:schemeClr val="accent2"/>
                </a:solidFill>
                <a:latin typeface="Arial" pitchFamily="34" charset="0"/>
              </a:defRPr>
            </a:lvl2pPr>
            <a:lvl3pPr marL="1143000" indent="-228600" algn="l" eaLnBrk="0" hangingPunct="0">
              <a:spcBef>
                <a:spcPct val="20000"/>
              </a:spcBef>
              <a:buChar char="•"/>
              <a:tabLst>
                <a:tab pos="4848225" algn="l"/>
              </a:tabLst>
              <a:defRPr sz="1600">
                <a:solidFill>
                  <a:schemeClr val="accent2"/>
                </a:solidFill>
                <a:latin typeface="Arial" pitchFamily="34" charset="0"/>
              </a:defRPr>
            </a:lvl3pPr>
            <a:lvl4pPr marL="1600200" indent="-228600" algn="l" eaLnBrk="0" hangingPunct="0">
              <a:spcBef>
                <a:spcPct val="20000"/>
              </a:spcBef>
              <a:buChar char="–"/>
              <a:tabLst>
                <a:tab pos="4848225" algn="l"/>
              </a:tabLst>
              <a:defRPr sz="1600">
                <a:solidFill>
                  <a:schemeClr val="accent2"/>
                </a:solidFill>
                <a:latin typeface="Arial" pitchFamily="34" charset="0"/>
              </a:defRPr>
            </a:lvl4pPr>
            <a:lvl5pPr marL="2057400" indent="-228600" algn="l" eaLnBrk="0" hangingPunct="0">
              <a:spcBef>
                <a:spcPct val="20000"/>
              </a:spcBef>
              <a:buChar char="»"/>
              <a:tabLst>
                <a:tab pos="4848225" algn="l"/>
              </a:tabLst>
              <a:defRPr sz="1600">
                <a:solidFill>
                  <a:schemeClr val="accent2"/>
                </a:solidFill>
                <a:latin typeface="Arial" pitchFamily="34" charset="0"/>
              </a:defRPr>
            </a:lvl5pPr>
            <a:lvl6pPr marL="2514600" indent="-228600" eaLnBrk="0" fontAlgn="base" hangingPunct="0">
              <a:spcBef>
                <a:spcPct val="20000"/>
              </a:spcBef>
              <a:spcAft>
                <a:spcPct val="0"/>
              </a:spcAft>
              <a:buChar char="»"/>
              <a:tabLst>
                <a:tab pos="4848225" algn="l"/>
              </a:tabLst>
              <a:defRPr sz="1600">
                <a:solidFill>
                  <a:schemeClr val="accent2"/>
                </a:solidFill>
                <a:latin typeface="Arial" pitchFamily="34" charset="0"/>
              </a:defRPr>
            </a:lvl6pPr>
            <a:lvl7pPr marL="2971800" indent="-228600" eaLnBrk="0" fontAlgn="base" hangingPunct="0">
              <a:spcBef>
                <a:spcPct val="20000"/>
              </a:spcBef>
              <a:spcAft>
                <a:spcPct val="0"/>
              </a:spcAft>
              <a:buChar char="»"/>
              <a:tabLst>
                <a:tab pos="4848225" algn="l"/>
              </a:tabLst>
              <a:defRPr sz="1600">
                <a:solidFill>
                  <a:schemeClr val="accent2"/>
                </a:solidFill>
                <a:latin typeface="Arial" pitchFamily="34" charset="0"/>
              </a:defRPr>
            </a:lvl7pPr>
            <a:lvl8pPr marL="3429000" indent="-228600" eaLnBrk="0" fontAlgn="base" hangingPunct="0">
              <a:spcBef>
                <a:spcPct val="20000"/>
              </a:spcBef>
              <a:spcAft>
                <a:spcPct val="0"/>
              </a:spcAft>
              <a:buChar char="»"/>
              <a:tabLst>
                <a:tab pos="4848225" algn="l"/>
              </a:tabLst>
              <a:defRPr sz="1600">
                <a:solidFill>
                  <a:schemeClr val="accent2"/>
                </a:solidFill>
                <a:latin typeface="Arial" pitchFamily="34" charset="0"/>
              </a:defRPr>
            </a:lvl8pPr>
            <a:lvl9pPr marL="3886200" indent="-228600" eaLnBrk="0" fontAlgn="base" hangingPunct="0">
              <a:spcBef>
                <a:spcPct val="20000"/>
              </a:spcBef>
              <a:spcAft>
                <a:spcPct val="0"/>
              </a:spcAft>
              <a:buChar char="»"/>
              <a:tabLst>
                <a:tab pos="4848225" algn="l"/>
              </a:tabLst>
              <a:defRPr sz="1600">
                <a:solidFill>
                  <a:schemeClr val="accent2"/>
                </a:solidFill>
                <a:latin typeface="Arial" pitchFamily="34" charset="0"/>
              </a:defRPr>
            </a:lvl9pPr>
          </a:lstStyle>
          <a:p>
            <a:pPr eaLnBrk="1" hangingPunct="1">
              <a:buFontTx/>
              <a:buNone/>
            </a:pPr>
            <a:r>
              <a:rPr lang="fr-FR" altLang="fr-FR" sz="1600">
                <a:solidFill>
                  <a:srgbClr val="FC2C1C"/>
                </a:solidFill>
              </a:rPr>
              <a:t>1.</a:t>
            </a:r>
            <a:r>
              <a:rPr lang="fr-FR" altLang="fr-FR" sz="1600"/>
              <a:t> Réduire les temps de changement de série</a:t>
            </a:r>
          </a:p>
        </p:txBody>
      </p:sp>
      <p:pic>
        <p:nvPicPr>
          <p:cNvPr id="95238"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00325" y="1312863"/>
            <a:ext cx="3136900" cy="1355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570376" name="AutoShape 8"/>
          <p:cNvSpPr>
            <a:spLocks/>
          </p:cNvSpPr>
          <p:nvPr/>
        </p:nvSpPr>
        <p:spPr bwMode="auto">
          <a:xfrm>
            <a:off x="6191250" y="769938"/>
            <a:ext cx="2030413" cy="687387"/>
          </a:xfrm>
          <a:prstGeom prst="borderCallout2">
            <a:avLst>
              <a:gd name="adj1" fmla="val 16630"/>
              <a:gd name="adj2" fmla="val -3755"/>
              <a:gd name="adj3" fmla="val 16630"/>
              <a:gd name="adj4" fmla="val -19079"/>
              <a:gd name="adj5" fmla="val 71361"/>
              <a:gd name="adj6" fmla="val -74981"/>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Niveau 1 : le temps de changement de série est réduit à 1 h</a:t>
            </a:r>
          </a:p>
        </p:txBody>
      </p:sp>
      <p:sp>
        <p:nvSpPr>
          <p:cNvPr id="570377" name="AutoShape 9"/>
          <p:cNvSpPr>
            <a:spLocks/>
          </p:cNvSpPr>
          <p:nvPr/>
        </p:nvSpPr>
        <p:spPr bwMode="auto">
          <a:xfrm>
            <a:off x="6773863" y="1646238"/>
            <a:ext cx="2030412" cy="915987"/>
          </a:xfrm>
          <a:prstGeom prst="borderCallout2">
            <a:avLst>
              <a:gd name="adj1" fmla="val 12477"/>
              <a:gd name="adj2" fmla="val -3755"/>
              <a:gd name="adj3" fmla="val 12477"/>
              <a:gd name="adj4" fmla="val -13995"/>
              <a:gd name="adj5" fmla="val -18889"/>
              <a:gd name="adj6" fmla="val -5152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Niveau 2 : le temps de changement de série est réduit à 10 min. (soit 0 à l’échelle du jeu)</a:t>
            </a:r>
          </a:p>
        </p:txBody>
      </p:sp>
      <p:pic>
        <p:nvPicPr>
          <p:cNvPr id="95241" name="Picture 1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00325" y="3657600"/>
            <a:ext cx="3136900" cy="1474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570379" name="AutoShape 11"/>
          <p:cNvSpPr>
            <a:spLocks/>
          </p:cNvSpPr>
          <p:nvPr/>
        </p:nvSpPr>
        <p:spPr bwMode="auto">
          <a:xfrm>
            <a:off x="6267450" y="3284538"/>
            <a:ext cx="2030413" cy="687387"/>
          </a:xfrm>
          <a:prstGeom prst="borderCallout2">
            <a:avLst>
              <a:gd name="adj1" fmla="val 16630"/>
              <a:gd name="adj2" fmla="val -3755"/>
              <a:gd name="adj3" fmla="val 16630"/>
              <a:gd name="adj4" fmla="val -70134"/>
              <a:gd name="adj5" fmla="val 44806"/>
              <a:gd name="adj6" fmla="val -87097"/>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Niveau 1 : vous avez l’incident au niveau de gravité le plus faible</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70376"/>
                                        </p:tgtEl>
                                        <p:attrNameLst>
                                          <p:attrName>style.visibility</p:attrName>
                                        </p:attrNameLst>
                                      </p:cBhvr>
                                      <p:to>
                                        <p:strVal val="visible"/>
                                      </p:to>
                                    </p:set>
                                    <p:animEffect transition="in" filter="box(in)">
                                      <p:cBhvr>
                                        <p:cTn id="7" dur="500"/>
                                        <p:tgtEl>
                                          <p:spTgt spid="57037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570377"/>
                                        </p:tgtEl>
                                        <p:attrNameLst>
                                          <p:attrName>style.visibility</p:attrName>
                                        </p:attrNameLst>
                                      </p:cBhvr>
                                      <p:to>
                                        <p:strVal val="visible"/>
                                      </p:to>
                                    </p:set>
                                    <p:animEffect transition="in" filter="box(in)">
                                      <p:cBhvr>
                                        <p:cTn id="12" dur="500"/>
                                        <p:tgtEl>
                                          <p:spTgt spid="57037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570379"/>
                                        </p:tgtEl>
                                        <p:attrNameLst>
                                          <p:attrName>style.visibility</p:attrName>
                                        </p:attrNameLst>
                                      </p:cBhvr>
                                      <p:to>
                                        <p:strVal val="visible"/>
                                      </p:to>
                                    </p:set>
                                    <p:animEffect transition="in" filter="box(in)">
                                      <p:cBhvr>
                                        <p:cTn id="17" dur="500"/>
                                        <p:tgtEl>
                                          <p:spTgt spid="57037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570372"/>
                                        </p:tgtEl>
                                        <p:attrNameLst>
                                          <p:attrName>style.visibility</p:attrName>
                                        </p:attrNameLst>
                                      </p:cBhvr>
                                      <p:to>
                                        <p:strVal val="visible"/>
                                      </p:to>
                                    </p:set>
                                    <p:animEffect transition="in" filter="box(in)">
                                      <p:cBhvr>
                                        <p:cTn id="22" dur="500"/>
                                        <p:tgtEl>
                                          <p:spTgt spid="570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0372" grpId="0" animBg="1"/>
      <p:bldP spid="570376" grpId="0" animBg="1"/>
      <p:bldP spid="570377" grpId="0" animBg="1"/>
      <p:bldP spid="570379"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258" name="Picture 29"/>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9088" y="1362075"/>
            <a:ext cx="8509000" cy="372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59" name="Rectangle 2"/>
          <p:cNvSpPr>
            <a:spLocks noGrp="1" noChangeArrowheads="1"/>
          </p:cNvSpPr>
          <p:nvPr>
            <p:ph type="title"/>
          </p:nvPr>
        </p:nvSpPr>
        <p:spPr/>
        <p:txBody>
          <a:bodyPr/>
          <a:lstStyle/>
          <a:p>
            <a:pPr eaLnBrk="1" hangingPunct="1"/>
            <a:r>
              <a:rPr lang="fr-FR" altLang="fr-FR"/>
              <a:t>Enregistrement des progrès</a:t>
            </a:r>
          </a:p>
        </p:txBody>
      </p:sp>
      <p:grpSp>
        <p:nvGrpSpPr>
          <p:cNvPr id="2" name="Group 40"/>
          <p:cNvGrpSpPr>
            <a:grpSpLocks/>
          </p:cNvGrpSpPr>
          <p:nvPr/>
        </p:nvGrpSpPr>
        <p:grpSpPr bwMode="auto">
          <a:xfrm>
            <a:off x="6032500" y="1895475"/>
            <a:ext cx="2424113" cy="2797175"/>
            <a:chOff x="3800" y="1194"/>
            <a:chExt cx="1527" cy="1762"/>
          </a:xfrm>
        </p:grpSpPr>
        <p:sp>
          <p:nvSpPr>
            <p:cNvPr id="96267" name="AutoShape 21"/>
            <p:cNvSpPr>
              <a:spLocks/>
            </p:cNvSpPr>
            <p:nvPr/>
          </p:nvSpPr>
          <p:spPr bwMode="auto">
            <a:xfrm>
              <a:off x="3800" y="1194"/>
              <a:ext cx="936" cy="361"/>
            </a:xfrm>
            <a:prstGeom prst="borderCallout2">
              <a:avLst>
                <a:gd name="adj1" fmla="val 19944"/>
                <a:gd name="adj2" fmla="val 105130"/>
                <a:gd name="adj3" fmla="val 19944"/>
                <a:gd name="adj4" fmla="val 109616"/>
                <a:gd name="adj5" fmla="val 149032"/>
                <a:gd name="adj6" fmla="val 1259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Les points dont vous disposez</a:t>
              </a:r>
            </a:p>
          </p:txBody>
        </p:sp>
        <p:sp>
          <p:nvSpPr>
            <p:cNvPr id="96268" name="Oval 30"/>
            <p:cNvSpPr>
              <a:spLocks noChangeArrowheads="1"/>
            </p:cNvSpPr>
            <p:nvPr/>
          </p:nvSpPr>
          <p:spPr bwMode="auto">
            <a:xfrm>
              <a:off x="4996" y="2406"/>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69" name="Oval 31"/>
            <p:cNvSpPr>
              <a:spLocks noChangeArrowheads="1"/>
            </p:cNvSpPr>
            <p:nvPr/>
          </p:nvSpPr>
          <p:spPr bwMode="auto">
            <a:xfrm>
              <a:off x="4976" y="2205"/>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70" name="Oval 32"/>
            <p:cNvSpPr>
              <a:spLocks noChangeArrowheads="1"/>
            </p:cNvSpPr>
            <p:nvPr/>
          </p:nvSpPr>
          <p:spPr bwMode="auto">
            <a:xfrm>
              <a:off x="4976" y="2017"/>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71" name="Oval 33"/>
            <p:cNvSpPr>
              <a:spLocks noChangeArrowheads="1"/>
            </p:cNvSpPr>
            <p:nvPr/>
          </p:nvSpPr>
          <p:spPr bwMode="auto">
            <a:xfrm>
              <a:off x="4976" y="1823"/>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72" name="Oval 34"/>
            <p:cNvSpPr>
              <a:spLocks noChangeArrowheads="1"/>
            </p:cNvSpPr>
            <p:nvPr/>
          </p:nvSpPr>
          <p:spPr bwMode="auto">
            <a:xfrm>
              <a:off x="4996" y="2594"/>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73" name="Oval 35"/>
            <p:cNvSpPr>
              <a:spLocks noChangeArrowheads="1"/>
            </p:cNvSpPr>
            <p:nvPr/>
          </p:nvSpPr>
          <p:spPr bwMode="auto">
            <a:xfrm>
              <a:off x="4989" y="2795"/>
              <a:ext cx="331" cy="161"/>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 name="Group 39"/>
          <p:cNvGrpSpPr>
            <a:grpSpLocks/>
          </p:cNvGrpSpPr>
          <p:nvPr/>
        </p:nvGrpSpPr>
        <p:grpSpPr bwMode="auto">
          <a:xfrm>
            <a:off x="1458913" y="2914650"/>
            <a:ext cx="6411912" cy="1771650"/>
            <a:chOff x="919" y="1836"/>
            <a:chExt cx="4039" cy="1116"/>
          </a:xfrm>
        </p:grpSpPr>
        <p:sp>
          <p:nvSpPr>
            <p:cNvPr id="96264" name="Oval 36"/>
            <p:cNvSpPr>
              <a:spLocks noChangeArrowheads="1"/>
            </p:cNvSpPr>
            <p:nvPr/>
          </p:nvSpPr>
          <p:spPr bwMode="auto">
            <a:xfrm>
              <a:off x="919" y="1836"/>
              <a:ext cx="363" cy="161"/>
            </a:xfrm>
            <a:prstGeom prst="ellipse">
              <a:avLst/>
            </a:prstGeom>
            <a:noFill/>
            <a:ln w="635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65" name="Oval 37"/>
            <p:cNvSpPr>
              <a:spLocks noChangeArrowheads="1"/>
            </p:cNvSpPr>
            <p:nvPr/>
          </p:nvSpPr>
          <p:spPr bwMode="auto">
            <a:xfrm>
              <a:off x="4576" y="1836"/>
              <a:ext cx="382" cy="161"/>
            </a:xfrm>
            <a:prstGeom prst="ellipse">
              <a:avLst/>
            </a:prstGeom>
            <a:noFill/>
            <a:ln w="6350" algn="ctr">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6266" name="AutoShape 38"/>
            <p:cNvSpPr>
              <a:spLocks/>
            </p:cNvSpPr>
            <p:nvPr/>
          </p:nvSpPr>
          <p:spPr bwMode="auto">
            <a:xfrm>
              <a:off x="1337" y="2487"/>
              <a:ext cx="1229" cy="465"/>
            </a:xfrm>
            <a:prstGeom prst="borderCallout2">
              <a:avLst>
                <a:gd name="adj1" fmla="val 15486"/>
                <a:gd name="adj2" fmla="val -3907"/>
                <a:gd name="adj3" fmla="val 15486"/>
                <a:gd name="adj4" fmla="val -3907"/>
                <a:gd name="adj5" fmla="val -95269"/>
                <a:gd name="adj6" fmla="val -14319"/>
              </a:avLst>
            </a:prstGeom>
            <a:solidFill>
              <a:srgbClr val="FFFF99"/>
            </a:solidFill>
            <a:ln w="9525">
              <a:solidFill>
                <a:srgbClr val="000000"/>
              </a:solidFill>
              <a:miter lim="800000"/>
              <a:headEnd/>
              <a:tailEnd type="triangle" w="med" len="med"/>
            </a:ln>
          </p:spPr>
          <p:txBody>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les points que vous affectez au progrès sur ce poste</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2"/>
          <p:cNvSpPr>
            <a:spLocks noGrp="1" noChangeArrowheads="1"/>
          </p:cNvSpPr>
          <p:nvPr>
            <p:ph type="title"/>
          </p:nvPr>
        </p:nvSpPr>
        <p:spPr/>
        <p:txBody>
          <a:bodyPr/>
          <a:lstStyle/>
          <a:p>
            <a:pPr eaLnBrk="1" hangingPunct="1"/>
            <a:r>
              <a:rPr lang="fr-FR" altLang="fr-FR"/>
              <a:t>Enregistrement des progrès</a:t>
            </a:r>
            <a:br>
              <a:rPr lang="fr-FR" altLang="fr-FR"/>
            </a:br>
            <a:r>
              <a:rPr lang="fr-FR" altLang="fr-FR" sz="1800">
                <a:solidFill>
                  <a:srgbClr val="FC2C1C"/>
                </a:solidFill>
              </a:rPr>
              <a:t>(diapo destinée à l’animateur)</a:t>
            </a:r>
          </a:p>
        </p:txBody>
      </p:sp>
      <p:sp>
        <p:nvSpPr>
          <p:cNvPr id="97284" name="Rectangle 42"/>
          <p:cNvSpPr>
            <a:spLocks noGrp="1" noChangeArrowheads="1"/>
          </p:cNvSpPr>
          <p:nvPr>
            <p:ph type="body" idx="1"/>
          </p:nvPr>
        </p:nvSpPr>
        <p:spPr>
          <a:xfrm>
            <a:off x="606425" y="1068388"/>
            <a:ext cx="8208963" cy="2805112"/>
          </a:xfrm>
        </p:spPr>
        <p:txBody>
          <a:bodyPr/>
          <a:lstStyle/>
          <a:p>
            <a:pPr eaLnBrk="1" hangingPunct="1">
              <a:lnSpc>
                <a:spcPct val="120000"/>
              </a:lnSpc>
              <a:spcBef>
                <a:spcPct val="0"/>
              </a:spcBef>
            </a:pPr>
            <a:r>
              <a:rPr lang="fr-FR" altLang="fr-FR" sz="1800"/>
              <a:t>L’animateur va voir chaque équipe après qu’elle ait fait son choix et note de façon confidentielle son choix sur la feuille Relevé des Progrès (RP).</a:t>
            </a:r>
          </a:p>
          <a:p>
            <a:pPr lvl="1" eaLnBrk="1" hangingPunct="1">
              <a:lnSpc>
                <a:spcPct val="120000"/>
              </a:lnSpc>
              <a:spcBef>
                <a:spcPct val="0"/>
              </a:spcBef>
            </a:pPr>
            <a:r>
              <a:rPr lang="fr-FR" altLang="fr-FR" sz="1500"/>
              <a:t>La confidentialité est justifiée par le fait qu’une équipe ne doit pas connaître la stratégie de l’autre.</a:t>
            </a:r>
          </a:p>
          <a:p>
            <a:pPr eaLnBrk="1" hangingPunct="1">
              <a:lnSpc>
                <a:spcPct val="120000"/>
              </a:lnSpc>
              <a:spcBef>
                <a:spcPct val="0"/>
              </a:spcBef>
            </a:pPr>
            <a:r>
              <a:rPr lang="fr-FR" altLang="fr-FR" sz="1800"/>
              <a:t>Il utilise ces valeurs pour mettre à jour la cartographie des progrès qui sera utilisé au moment du debriefing (voir fichier Analyse des progrès). </a:t>
            </a:r>
          </a:p>
          <a:p>
            <a:pPr lvl="1" eaLnBrk="1" hangingPunct="1">
              <a:lnSpc>
                <a:spcPct val="120000"/>
              </a:lnSpc>
              <a:spcBef>
                <a:spcPct val="0"/>
              </a:spcBef>
            </a:pPr>
            <a:r>
              <a:rPr lang="fr-FR" altLang="fr-FR" sz="1500"/>
              <a:t>Remarque : pour ne pas ralentir le jeu l’animateur peut ne pas faire cette mise à jour immédiatement et profiter d’un temps pendant lequel les participants préparent des décisions, par exemple lors du prochain choix de progrès.</a:t>
            </a:r>
          </a:p>
          <a:p>
            <a:pPr eaLnBrk="1" hangingPunct="1">
              <a:lnSpc>
                <a:spcPct val="120000"/>
              </a:lnSpc>
            </a:pPr>
            <a:endParaRPr lang="fr-FR" altLang="fr-FR" sz="1500"/>
          </a:p>
        </p:txBody>
      </p:sp>
      <p:pic>
        <p:nvPicPr>
          <p:cNvPr id="97286" name="Picture 4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85988" y="4017963"/>
            <a:ext cx="6286500" cy="2524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97287" name="AutoShape 43"/>
          <p:cNvSpPr>
            <a:spLocks/>
          </p:cNvSpPr>
          <p:nvPr/>
        </p:nvSpPr>
        <p:spPr bwMode="auto">
          <a:xfrm>
            <a:off x="163513" y="4521200"/>
            <a:ext cx="2082800" cy="830263"/>
          </a:xfrm>
          <a:prstGeom prst="borderCallout2">
            <a:avLst>
              <a:gd name="adj1" fmla="val 13769"/>
              <a:gd name="adj2" fmla="val 103657"/>
              <a:gd name="adj3" fmla="val 13769"/>
              <a:gd name="adj4" fmla="val 112653"/>
              <a:gd name="adj5" fmla="val 52963"/>
              <a:gd name="adj6" fmla="val 145579"/>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Notez sur cette ligne les points de l’équipe A en semaine 1, heure 1</a:t>
            </a:r>
          </a:p>
        </p:txBody>
      </p:sp>
      <p:pic>
        <p:nvPicPr>
          <p:cNvPr id="8" name="Picture 2" descr="C:\Users\BertrandS\Dropbox\Jeux\00. CONCEPTION DES JEUX\photos\Bureau Une Femme 29\iStock_000002139332_Medium ALLEGE.jpg"/>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2"/>
          <p:cNvSpPr>
            <a:spLocks noGrp="1" noChangeArrowheads="1"/>
          </p:cNvSpPr>
          <p:nvPr>
            <p:ph type="title"/>
          </p:nvPr>
        </p:nvSpPr>
        <p:spPr/>
        <p:txBody>
          <a:bodyPr/>
          <a:lstStyle/>
          <a:p>
            <a:pPr eaLnBrk="1" hangingPunct="1"/>
            <a:r>
              <a:rPr lang="fr-FR" altLang="fr-FR"/>
              <a:t>Reprise de la simulation</a:t>
            </a:r>
          </a:p>
        </p:txBody>
      </p:sp>
      <p:sp>
        <p:nvSpPr>
          <p:cNvPr id="98307" name="Rectangle 3"/>
          <p:cNvSpPr>
            <a:spLocks noGrp="1" noChangeArrowheads="1"/>
          </p:cNvSpPr>
          <p:nvPr>
            <p:ph type="body" idx="1"/>
          </p:nvPr>
        </p:nvSpPr>
        <p:spPr/>
        <p:txBody>
          <a:bodyPr/>
          <a:lstStyle/>
          <a:p>
            <a:pPr eaLnBrk="1" hangingPunct="1"/>
            <a:r>
              <a:rPr lang="fr-FR" altLang="fr-FR"/>
              <a:t>Vous pouvez baisser vos stocks pour tenir compte de la nouvelle situation (mais vous ne devez pas les augmenter !).</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31" name="Group 3"/>
          <p:cNvGrpSpPr>
            <a:grpSpLocks/>
          </p:cNvGrpSpPr>
          <p:nvPr/>
        </p:nvGrpSpPr>
        <p:grpSpPr bwMode="auto">
          <a:xfrm>
            <a:off x="7073900" y="215900"/>
            <a:ext cx="1878013" cy="1250950"/>
            <a:chOff x="4456" y="136"/>
            <a:chExt cx="1183" cy="788"/>
          </a:xfrm>
        </p:grpSpPr>
        <p:grpSp>
          <p:nvGrpSpPr>
            <p:cNvPr id="99447" name="Group 4"/>
            <p:cNvGrpSpPr>
              <a:grpSpLocks/>
            </p:cNvGrpSpPr>
            <p:nvPr/>
          </p:nvGrpSpPr>
          <p:grpSpPr bwMode="auto">
            <a:xfrm>
              <a:off x="4766" y="232"/>
              <a:ext cx="873" cy="692"/>
              <a:chOff x="2185" y="310"/>
              <a:chExt cx="873" cy="692"/>
            </a:xfrm>
          </p:grpSpPr>
          <p:sp>
            <p:nvSpPr>
              <p:cNvPr id="9945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6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99448" name="Group 12"/>
            <p:cNvGrpSpPr>
              <a:grpSpLocks/>
            </p:cNvGrpSpPr>
            <p:nvPr/>
          </p:nvGrpSpPr>
          <p:grpSpPr bwMode="auto">
            <a:xfrm>
              <a:off x="4949" y="336"/>
              <a:ext cx="591" cy="468"/>
              <a:chOff x="2185" y="310"/>
              <a:chExt cx="873" cy="692"/>
            </a:xfrm>
          </p:grpSpPr>
          <p:sp>
            <p:nvSpPr>
              <p:cNvPr id="9945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5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9944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450"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a:t>
              </a:r>
              <a:endParaRPr lang="fr-FR" altLang="fr-FR" sz="3200">
                <a:solidFill>
                  <a:schemeClr val="tx1"/>
                </a:solidFill>
                <a:latin typeface="Arial Black" pitchFamily="34" charset="0"/>
              </a:endParaRPr>
            </a:p>
          </p:txBody>
        </p:sp>
      </p:grpSp>
      <p:sp>
        <p:nvSpPr>
          <p:cNvPr id="99332" name="Text Box 22"/>
          <p:cNvSpPr txBox="1">
            <a:spLocks noChangeArrowheads="1"/>
          </p:cNvSpPr>
          <p:nvPr/>
        </p:nvSpPr>
        <p:spPr bwMode="auto">
          <a:xfrm>
            <a:off x="44926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99333" name="Text Box 23"/>
          <p:cNvSpPr txBox="1">
            <a:spLocks noChangeArrowheads="1"/>
          </p:cNvSpPr>
          <p:nvPr/>
        </p:nvSpPr>
        <p:spPr bwMode="auto">
          <a:xfrm>
            <a:off x="1690688"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99334" name="Text Box 24"/>
          <p:cNvSpPr txBox="1">
            <a:spLocks noChangeArrowheads="1"/>
          </p:cNvSpPr>
          <p:nvPr/>
        </p:nvSpPr>
        <p:spPr bwMode="auto">
          <a:xfrm>
            <a:off x="3113088"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R4</a:t>
            </a:r>
          </a:p>
        </p:txBody>
      </p:sp>
      <p:sp>
        <p:nvSpPr>
          <p:cNvPr id="99335" name="Rectangle 27"/>
          <p:cNvSpPr>
            <a:spLocks noGrp="1" noChangeArrowheads="1"/>
          </p:cNvSpPr>
          <p:nvPr>
            <p:ph type="title"/>
          </p:nvPr>
        </p:nvSpPr>
        <p:spPr>
          <a:xfrm>
            <a:off x="611188" y="0"/>
            <a:ext cx="6388100" cy="647700"/>
          </a:xfrm>
        </p:spPr>
        <p:txBody>
          <a:bodyPr/>
          <a:lstStyle/>
          <a:p>
            <a:pPr eaLnBrk="1" hangingPunct="1"/>
            <a:r>
              <a:rPr lang="fr-FR" altLang="fr-FR"/>
              <a:t>Sem. 2 - Lundi (St Brice)</a:t>
            </a:r>
          </a:p>
        </p:txBody>
      </p:sp>
      <p:sp>
        <p:nvSpPr>
          <p:cNvPr id="99336"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99337"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99338"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99339" name="Group 32"/>
          <p:cNvGrpSpPr>
            <a:grpSpLocks/>
          </p:cNvGrpSpPr>
          <p:nvPr/>
        </p:nvGrpSpPr>
        <p:grpSpPr bwMode="auto">
          <a:xfrm>
            <a:off x="2843213" y="1106488"/>
            <a:ext cx="446087" cy="534987"/>
            <a:chOff x="868" y="1439"/>
            <a:chExt cx="811" cy="972"/>
          </a:xfrm>
        </p:grpSpPr>
        <p:sp>
          <p:nvSpPr>
            <p:cNvPr id="99396"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397"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398"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399"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0"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1"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2"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3"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4"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5"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6"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7"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8"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09"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0"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1"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2"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3"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4"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5"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6"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7"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8"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19"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0"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1"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2"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3"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4"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5"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6"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7"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8"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29"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0"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1"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2"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3"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4"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5"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6"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7"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8"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39"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0"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1"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2"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3"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4"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5"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9446"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99340" name="Group 84"/>
          <p:cNvGrpSpPr>
            <a:grpSpLocks/>
          </p:cNvGrpSpPr>
          <p:nvPr/>
        </p:nvGrpSpPr>
        <p:grpSpPr bwMode="auto">
          <a:xfrm rot="-223274">
            <a:off x="506413" y="2925763"/>
            <a:ext cx="744537" cy="733425"/>
            <a:chOff x="2757" y="1666"/>
            <a:chExt cx="812" cy="800"/>
          </a:xfrm>
        </p:grpSpPr>
        <p:sp>
          <p:nvSpPr>
            <p:cNvPr id="99390"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91"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92"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93"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94"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95"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9341" name="Group 98"/>
          <p:cNvGrpSpPr>
            <a:grpSpLocks/>
          </p:cNvGrpSpPr>
          <p:nvPr/>
        </p:nvGrpSpPr>
        <p:grpSpPr bwMode="auto">
          <a:xfrm rot="-223274">
            <a:off x="1844675" y="2943225"/>
            <a:ext cx="744538" cy="733425"/>
            <a:chOff x="2757" y="1666"/>
            <a:chExt cx="812" cy="800"/>
          </a:xfrm>
        </p:grpSpPr>
        <p:sp>
          <p:nvSpPr>
            <p:cNvPr id="99384" name="Freeform 9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85" name="Freeform 10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86" name="Line 10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87" name="Freeform 10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88" name="Freeform 10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89" name="AutoShape 10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9342" name="Group 105"/>
          <p:cNvGrpSpPr>
            <a:grpSpLocks/>
          </p:cNvGrpSpPr>
          <p:nvPr/>
        </p:nvGrpSpPr>
        <p:grpSpPr bwMode="auto">
          <a:xfrm rot="-223274">
            <a:off x="3208338" y="2940050"/>
            <a:ext cx="744537" cy="733425"/>
            <a:chOff x="2757" y="1666"/>
            <a:chExt cx="812" cy="800"/>
          </a:xfrm>
        </p:grpSpPr>
        <p:sp>
          <p:nvSpPr>
            <p:cNvPr id="99378" name="Freeform 10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79" name="Freeform 10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80" name="Line 10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81" name="Freeform 10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82" name="Freeform 11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83" name="AutoShape 11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9343" name="Group 112"/>
          <p:cNvGrpSpPr>
            <a:grpSpLocks/>
          </p:cNvGrpSpPr>
          <p:nvPr/>
        </p:nvGrpSpPr>
        <p:grpSpPr bwMode="auto">
          <a:xfrm rot="-223274">
            <a:off x="3179763" y="2717800"/>
            <a:ext cx="744537" cy="733425"/>
            <a:chOff x="2757" y="1666"/>
            <a:chExt cx="812" cy="800"/>
          </a:xfrm>
        </p:grpSpPr>
        <p:sp>
          <p:nvSpPr>
            <p:cNvPr id="99372" name="Freeform 11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73" name="Freeform 11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74" name="Line 11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75" name="Freeform 11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76" name="Freeform 11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77" name="AutoShape 11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9344" name="Text Box 133"/>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99345" name="Text Box 134"/>
          <p:cNvSpPr txBox="1">
            <a:spLocks noChangeArrowheads="1"/>
          </p:cNvSpPr>
          <p:nvPr/>
        </p:nvSpPr>
        <p:spPr bwMode="auto">
          <a:xfrm>
            <a:off x="4357688"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99346" name="Group 135"/>
          <p:cNvGrpSpPr>
            <a:grpSpLocks/>
          </p:cNvGrpSpPr>
          <p:nvPr/>
        </p:nvGrpSpPr>
        <p:grpSpPr bwMode="auto">
          <a:xfrm rot="-223274">
            <a:off x="4511675" y="2943225"/>
            <a:ext cx="744538" cy="733425"/>
            <a:chOff x="2757" y="1666"/>
            <a:chExt cx="812" cy="800"/>
          </a:xfrm>
        </p:grpSpPr>
        <p:sp>
          <p:nvSpPr>
            <p:cNvPr id="99366" name="Freeform 13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67" name="Freeform 13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68" name="Line 13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69" name="Freeform 13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70" name="Freeform 14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71" name="AutoShape 14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9347" name="Text Box 142"/>
          <p:cNvSpPr txBox="1">
            <a:spLocks noChangeArrowheads="1"/>
          </p:cNvSpPr>
          <p:nvPr/>
        </p:nvSpPr>
        <p:spPr bwMode="auto">
          <a:xfrm>
            <a:off x="5827713" y="37290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R6</a:t>
            </a:r>
          </a:p>
        </p:txBody>
      </p:sp>
      <p:grpSp>
        <p:nvGrpSpPr>
          <p:cNvPr id="99348" name="Group 143"/>
          <p:cNvGrpSpPr>
            <a:grpSpLocks/>
          </p:cNvGrpSpPr>
          <p:nvPr/>
        </p:nvGrpSpPr>
        <p:grpSpPr bwMode="auto">
          <a:xfrm rot="-223274">
            <a:off x="5846763" y="2921000"/>
            <a:ext cx="744537" cy="733425"/>
            <a:chOff x="2757" y="1666"/>
            <a:chExt cx="812" cy="800"/>
          </a:xfrm>
        </p:grpSpPr>
        <p:sp>
          <p:nvSpPr>
            <p:cNvPr id="99360" name="Freeform 14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61" name="Freeform 14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62" name="Line 14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63" name="Freeform 14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64" name="Freeform 14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65" name="AutoShape 14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9349" name="Group 150"/>
          <p:cNvGrpSpPr>
            <a:grpSpLocks/>
          </p:cNvGrpSpPr>
          <p:nvPr/>
        </p:nvGrpSpPr>
        <p:grpSpPr bwMode="auto">
          <a:xfrm rot="-223274">
            <a:off x="5818188" y="2698750"/>
            <a:ext cx="744537" cy="733425"/>
            <a:chOff x="2757" y="1666"/>
            <a:chExt cx="812" cy="800"/>
          </a:xfrm>
        </p:grpSpPr>
        <p:sp>
          <p:nvSpPr>
            <p:cNvPr id="99354" name="Freeform 15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55" name="Freeform 15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99356" name="Line 15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99357" name="Freeform 15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99358" name="Freeform 15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99359" name="AutoShape 15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99350" name="Text Box 157"/>
          <p:cNvSpPr txBox="1">
            <a:spLocks noChangeArrowheads="1"/>
          </p:cNvSpPr>
          <p:nvPr/>
        </p:nvSpPr>
        <p:spPr bwMode="auto">
          <a:xfrm>
            <a:off x="6931025" y="3703638"/>
            <a:ext cx="21129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Couronnes</a:t>
            </a:r>
          </a:p>
        </p:txBody>
      </p:sp>
      <p:sp>
        <p:nvSpPr>
          <p:cNvPr id="99351" name="Oval 158"/>
          <p:cNvSpPr>
            <a:spLocks noChangeArrowheads="1"/>
          </p:cNvSpPr>
          <p:nvPr/>
        </p:nvSpPr>
        <p:spPr bwMode="auto">
          <a:xfrm rot="-5400000">
            <a:off x="7652544" y="31154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99352" name="Oval 159"/>
          <p:cNvSpPr>
            <a:spLocks noChangeArrowheads="1"/>
          </p:cNvSpPr>
          <p:nvPr/>
        </p:nvSpPr>
        <p:spPr bwMode="auto">
          <a:xfrm rot="-5400000">
            <a:off x="8016082" y="311546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0354" name="Group 2"/>
          <p:cNvGrpSpPr>
            <a:grpSpLocks/>
          </p:cNvGrpSpPr>
          <p:nvPr/>
        </p:nvGrpSpPr>
        <p:grpSpPr bwMode="auto">
          <a:xfrm>
            <a:off x="7073900" y="215900"/>
            <a:ext cx="1878013" cy="1250950"/>
            <a:chOff x="4456" y="136"/>
            <a:chExt cx="1183" cy="788"/>
          </a:xfrm>
        </p:grpSpPr>
        <p:grpSp>
          <p:nvGrpSpPr>
            <p:cNvPr id="100414" name="Group 3"/>
            <p:cNvGrpSpPr>
              <a:grpSpLocks/>
            </p:cNvGrpSpPr>
            <p:nvPr/>
          </p:nvGrpSpPr>
          <p:grpSpPr bwMode="auto">
            <a:xfrm>
              <a:off x="4766" y="232"/>
              <a:ext cx="873" cy="692"/>
              <a:chOff x="2185" y="310"/>
              <a:chExt cx="873" cy="692"/>
            </a:xfrm>
          </p:grpSpPr>
          <p:sp>
            <p:nvSpPr>
              <p:cNvPr id="10042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3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3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0415" name="Group 11"/>
            <p:cNvGrpSpPr>
              <a:grpSpLocks/>
            </p:cNvGrpSpPr>
            <p:nvPr/>
          </p:nvGrpSpPr>
          <p:grpSpPr bwMode="auto">
            <a:xfrm>
              <a:off x="4949" y="336"/>
              <a:ext cx="591" cy="468"/>
              <a:chOff x="2185" y="310"/>
              <a:chExt cx="873" cy="692"/>
            </a:xfrm>
          </p:grpSpPr>
          <p:sp>
            <p:nvSpPr>
              <p:cNvPr id="10041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2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041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41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a:t>
              </a:r>
              <a:endParaRPr lang="fr-FR" altLang="fr-FR" sz="3200">
                <a:solidFill>
                  <a:schemeClr val="tx1"/>
                </a:solidFill>
                <a:latin typeface="Arial Black" pitchFamily="34" charset="0"/>
              </a:endParaRPr>
            </a:p>
          </p:txBody>
        </p:sp>
      </p:grpSp>
      <p:sp>
        <p:nvSpPr>
          <p:cNvPr id="100356" name="Text Box 22"/>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0357"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0358"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0359" name="Group 25"/>
          <p:cNvGrpSpPr>
            <a:grpSpLocks/>
          </p:cNvGrpSpPr>
          <p:nvPr/>
        </p:nvGrpSpPr>
        <p:grpSpPr bwMode="auto">
          <a:xfrm>
            <a:off x="2986088" y="1306513"/>
            <a:ext cx="446087" cy="534987"/>
            <a:chOff x="868" y="1439"/>
            <a:chExt cx="811" cy="972"/>
          </a:xfrm>
        </p:grpSpPr>
        <p:sp>
          <p:nvSpPr>
            <p:cNvPr id="100363" name="Freeform 26"/>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4" name="Freeform 27"/>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5" name="Freeform 28"/>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6" name="Freeform 29"/>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7" name="Freeform 30"/>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8" name="Freeform 31"/>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69" name="Freeform 32"/>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0" name="Freeform 33"/>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1" name="Freeform 34"/>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2" name="Freeform 35"/>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3" name="Freeform 36"/>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4" name="Freeform 37"/>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5" name="Freeform 38"/>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6" name="Freeform 39"/>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7" name="Freeform 40"/>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8" name="Freeform 41"/>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79" name="Freeform 42"/>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0" name="Freeform 43"/>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1" name="Freeform 44"/>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2" name="Freeform 45"/>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3" name="Freeform 46"/>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4" name="Freeform 47"/>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5" name="Freeform 48"/>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6" name="Freeform 49"/>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7" name="Freeform 50"/>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8" name="Freeform 51"/>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89" name="Freeform 52"/>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0" name="Freeform 53"/>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1" name="Freeform 54"/>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2" name="Freeform 55"/>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3" name="Freeform 56"/>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4" name="Freeform 57"/>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5" name="Freeform 58"/>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6" name="Freeform 59"/>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7" name="Freeform 60"/>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8" name="Freeform 61"/>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399" name="Freeform 62"/>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0" name="Freeform 63"/>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1" name="Freeform 64"/>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2" name="Freeform 65"/>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3" name="Freeform 66"/>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4" name="Freeform 67"/>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5" name="Freeform 68"/>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6" name="Freeform 69"/>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7" name="Freeform 70"/>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8" name="Freeform 71"/>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09" name="Freeform 72"/>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0" name="Freeform 73"/>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1" name="Freeform 74"/>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2" name="Freeform 75"/>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0413" name="Freeform 76"/>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0361" name="Rectangle 78"/>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036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378" name="Group 2"/>
          <p:cNvGrpSpPr>
            <a:grpSpLocks/>
          </p:cNvGrpSpPr>
          <p:nvPr/>
        </p:nvGrpSpPr>
        <p:grpSpPr bwMode="auto">
          <a:xfrm>
            <a:off x="7073900" y="215900"/>
            <a:ext cx="1878013" cy="1250950"/>
            <a:chOff x="4456" y="136"/>
            <a:chExt cx="1183" cy="788"/>
          </a:xfrm>
        </p:grpSpPr>
        <p:grpSp>
          <p:nvGrpSpPr>
            <p:cNvPr id="101438" name="Group 3"/>
            <p:cNvGrpSpPr>
              <a:grpSpLocks/>
            </p:cNvGrpSpPr>
            <p:nvPr/>
          </p:nvGrpSpPr>
          <p:grpSpPr bwMode="auto">
            <a:xfrm>
              <a:off x="4766" y="232"/>
              <a:ext cx="873" cy="692"/>
              <a:chOff x="2185" y="310"/>
              <a:chExt cx="873" cy="692"/>
            </a:xfrm>
          </p:grpSpPr>
          <p:sp>
            <p:nvSpPr>
              <p:cNvPr id="10144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5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1439" name="Group 11"/>
            <p:cNvGrpSpPr>
              <a:grpSpLocks/>
            </p:cNvGrpSpPr>
            <p:nvPr/>
          </p:nvGrpSpPr>
          <p:grpSpPr bwMode="auto">
            <a:xfrm>
              <a:off x="4949" y="336"/>
              <a:ext cx="591" cy="468"/>
              <a:chOff x="2185" y="310"/>
              <a:chExt cx="873" cy="692"/>
            </a:xfrm>
          </p:grpSpPr>
          <p:sp>
            <p:nvSpPr>
              <p:cNvPr id="10144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4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144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41"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a:t>
              </a:r>
              <a:endParaRPr lang="fr-FR" altLang="fr-FR" sz="3200">
                <a:solidFill>
                  <a:schemeClr val="tx1"/>
                </a:solidFill>
                <a:latin typeface="Arial Black" pitchFamily="34" charset="0"/>
              </a:endParaRPr>
            </a:p>
          </p:txBody>
        </p:sp>
      </p:grpSp>
      <p:sp>
        <p:nvSpPr>
          <p:cNvPr id="10138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138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1382" name="Group 24"/>
          <p:cNvGrpSpPr>
            <a:grpSpLocks/>
          </p:cNvGrpSpPr>
          <p:nvPr/>
        </p:nvGrpSpPr>
        <p:grpSpPr bwMode="auto">
          <a:xfrm>
            <a:off x="2986088" y="1306513"/>
            <a:ext cx="446087" cy="534987"/>
            <a:chOff x="868" y="1439"/>
            <a:chExt cx="811" cy="972"/>
          </a:xfrm>
        </p:grpSpPr>
        <p:sp>
          <p:nvSpPr>
            <p:cNvPr id="10138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8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8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39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0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1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2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143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138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138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138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402" name="Group 2"/>
          <p:cNvGrpSpPr>
            <a:grpSpLocks/>
          </p:cNvGrpSpPr>
          <p:nvPr/>
        </p:nvGrpSpPr>
        <p:grpSpPr bwMode="auto">
          <a:xfrm>
            <a:off x="7073900" y="215900"/>
            <a:ext cx="1878013" cy="1250950"/>
            <a:chOff x="4456" y="136"/>
            <a:chExt cx="1183" cy="788"/>
          </a:xfrm>
        </p:grpSpPr>
        <p:grpSp>
          <p:nvGrpSpPr>
            <p:cNvPr id="102462" name="Group 3"/>
            <p:cNvGrpSpPr>
              <a:grpSpLocks/>
            </p:cNvGrpSpPr>
            <p:nvPr/>
          </p:nvGrpSpPr>
          <p:grpSpPr bwMode="auto">
            <a:xfrm>
              <a:off x="4766" y="232"/>
              <a:ext cx="873" cy="692"/>
              <a:chOff x="2185" y="310"/>
              <a:chExt cx="873" cy="692"/>
            </a:xfrm>
          </p:grpSpPr>
          <p:sp>
            <p:nvSpPr>
              <p:cNvPr id="10247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2463" name="Group 11"/>
            <p:cNvGrpSpPr>
              <a:grpSpLocks/>
            </p:cNvGrpSpPr>
            <p:nvPr/>
          </p:nvGrpSpPr>
          <p:grpSpPr bwMode="auto">
            <a:xfrm>
              <a:off x="4949" y="336"/>
              <a:ext cx="591" cy="468"/>
              <a:chOff x="2185" y="310"/>
              <a:chExt cx="873" cy="692"/>
            </a:xfrm>
          </p:grpSpPr>
          <p:sp>
            <p:nvSpPr>
              <p:cNvPr id="10246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7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246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65"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4</a:t>
              </a:r>
              <a:endParaRPr lang="fr-FR" altLang="fr-FR" sz="3200">
                <a:solidFill>
                  <a:schemeClr val="tx1"/>
                </a:solidFill>
                <a:latin typeface="Arial Black" pitchFamily="34" charset="0"/>
              </a:endParaRPr>
            </a:p>
          </p:txBody>
        </p:sp>
      </p:grpSp>
      <p:sp>
        <p:nvSpPr>
          <p:cNvPr id="10240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240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2406" name="Group 24"/>
          <p:cNvGrpSpPr>
            <a:grpSpLocks/>
          </p:cNvGrpSpPr>
          <p:nvPr/>
        </p:nvGrpSpPr>
        <p:grpSpPr bwMode="auto">
          <a:xfrm>
            <a:off x="2986088" y="1306513"/>
            <a:ext cx="446087" cy="534987"/>
            <a:chOff x="868" y="1439"/>
            <a:chExt cx="811" cy="972"/>
          </a:xfrm>
        </p:grpSpPr>
        <p:sp>
          <p:nvSpPr>
            <p:cNvPr id="10241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1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2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3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4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5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246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240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240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241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426" name="Group 2"/>
          <p:cNvGrpSpPr>
            <a:grpSpLocks/>
          </p:cNvGrpSpPr>
          <p:nvPr/>
        </p:nvGrpSpPr>
        <p:grpSpPr bwMode="auto">
          <a:xfrm>
            <a:off x="7073900" y="215900"/>
            <a:ext cx="1878013" cy="1250950"/>
            <a:chOff x="4456" y="136"/>
            <a:chExt cx="1183" cy="788"/>
          </a:xfrm>
        </p:grpSpPr>
        <p:grpSp>
          <p:nvGrpSpPr>
            <p:cNvPr id="103486" name="Group 3"/>
            <p:cNvGrpSpPr>
              <a:grpSpLocks/>
            </p:cNvGrpSpPr>
            <p:nvPr/>
          </p:nvGrpSpPr>
          <p:grpSpPr bwMode="auto">
            <a:xfrm>
              <a:off x="4766" y="232"/>
              <a:ext cx="873" cy="692"/>
              <a:chOff x="2185" y="310"/>
              <a:chExt cx="873" cy="692"/>
            </a:xfrm>
          </p:grpSpPr>
          <p:sp>
            <p:nvSpPr>
              <p:cNvPr id="10349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50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50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50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50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3487" name="Group 11"/>
            <p:cNvGrpSpPr>
              <a:grpSpLocks/>
            </p:cNvGrpSpPr>
            <p:nvPr/>
          </p:nvGrpSpPr>
          <p:grpSpPr bwMode="auto">
            <a:xfrm>
              <a:off x="4949" y="336"/>
              <a:ext cx="591" cy="468"/>
              <a:chOff x="2185" y="310"/>
              <a:chExt cx="873" cy="692"/>
            </a:xfrm>
          </p:grpSpPr>
          <p:sp>
            <p:nvSpPr>
              <p:cNvPr id="10349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9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348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489"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5</a:t>
              </a:r>
              <a:endParaRPr lang="fr-FR" altLang="fr-FR" sz="3200">
                <a:solidFill>
                  <a:schemeClr val="tx1"/>
                </a:solidFill>
                <a:latin typeface="Arial Black" pitchFamily="34" charset="0"/>
              </a:endParaRPr>
            </a:p>
          </p:txBody>
        </p:sp>
      </p:grpSp>
      <p:sp>
        <p:nvSpPr>
          <p:cNvPr id="10342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342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3430" name="Group 24"/>
          <p:cNvGrpSpPr>
            <a:grpSpLocks/>
          </p:cNvGrpSpPr>
          <p:nvPr/>
        </p:nvGrpSpPr>
        <p:grpSpPr bwMode="auto">
          <a:xfrm>
            <a:off x="2986088" y="1306513"/>
            <a:ext cx="446087" cy="534987"/>
            <a:chOff x="868" y="1439"/>
            <a:chExt cx="811" cy="972"/>
          </a:xfrm>
        </p:grpSpPr>
        <p:sp>
          <p:nvSpPr>
            <p:cNvPr id="10343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3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3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3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3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4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5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6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7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348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343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343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343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4450" name="Group 2"/>
          <p:cNvGrpSpPr>
            <a:grpSpLocks/>
          </p:cNvGrpSpPr>
          <p:nvPr/>
        </p:nvGrpSpPr>
        <p:grpSpPr bwMode="auto">
          <a:xfrm>
            <a:off x="7073900" y="215900"/>
            <a:ext cx="1878013" cy="1250950"/>
            <a:chOff x="4456" y="136"/>
            <a:chExt cx="1183" cy="788"/>
          </a:xfrm>
        </p:grpSpPr>
        <p:grpSp>
          <p:nvGrpSpPr>
            <p:cNvPr id="104510" name="Group 3"/>
            <p:cNvGrpSpPr>
              <a:grpSpLocks/>
            </p:cNvGrpSpPr>
            <p:nvPr/>
          </p:nvGrpSpPr>
          <p:grpSpPr bwMode="auto">
            <a:xfrm>
              <a:off x="4766" y="232"/>
              <a:ext cx="873" cy="692"/>
              <a:chOff x="2185" y="310"/>
              <a:chExt cx="873" cy="692"/>
            </a:xfrm>
          </p:grpSpPr>
          <p:sp>
            <p:nvSpPr>
              <p:cNvPr id="1045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4511" name="Group 11"/>
            <p:cNvGrpSpPr>
              <a:grpSpLocks/>
            </p:cNvGrpSpPr>
            <p:nvPr/>
          </p:nvGrpSpPr>
          <p:grpSpPr bwMode="auto">
            <a:xfrm>
              <a:off x="4949" y="336"/>
              <a:ext cx="591" cy="468"/>
              <a:chOff x="2185" y="310"/>
              <a:chExt cx="873" cy="692"/>
            </a:xfrm>
          </p:grpSpPr>
          <p:sp>
            <p:nvSpPr>
              <p:cNvPr id="1045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45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513"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6</a:t>
              </a:r>
              <a:endParaRPr lang="fr-FR" altLang="fr-FR" sz="3200">
                <a:solidFill>
                  <a:schemeClr val="tx1"/>
                </a:solidFill>
                <a:latin typeface="Arial Black" pitchFamily="34" charset="0"/>
              </a:endParaRPr>
            </a:p>
          </p:txBody>
        </p:sp>
      </p:grpSp>
      <p:sp>
        <p:nvSpPr>
          <p:cNvPr id="10445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445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4454" name="Group 24"/>
          <p:cNvGrpSpPr>
            <a:grpSpLocks/>
          </p:cNvGrpSpPr>
          <p:nvPr/>
        </p:nvGrpSpPr>
        <p:grpSpPr bwMode="auto">
          <a:xfrm>
            <a:off x="2986088" y="1306513"/>
            <a:ext cx="446087" cy="534987"/>
            <a:chOff x="868" y="1439"/>
            <a:chExt cx="811" cy="972"/>
          </a:xfrm>
        </p:grpSpPr>
        <p:sp>
          <p:nvSpPr>
            <p:cNvPr id="10445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6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7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8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49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450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445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445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445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474" name="Group 2"/>
          <p:cNvGrpSpPr>
            <a:grpSpLocks/>
          </p:cNvGrpSpPr>
          <p:nvPr/>
        </p:nvGrpSpPr>
        <p:grpSpPr bwMode="auto">
          <a:xfrm>
            <a:off x="7073900" y="215900"/>
            <a:ext cx="1878013" cy="1250950"/>
            <a:chOff x="4456" y="136"/>
            <a:chExt cx="1183" cy="788"/>
          </a:xfrm>
        </p:grpSpPr>
        <p:grpSp>
          <p:nvGrpSpPr>
            <p:cNvPr id="105534" name="Group 3"/>
            <p:cNvGrpSpPr>
              <a:grpSpLocks/>
            </p:cNvGrpSpPr>
            <p:nvPr/>
          </p:nvGrpSpPr>
          <p:grpSpPr bwMode="auto">
            <a:xfrm>
              <a:off x="4766" y="232"/>
              <a:ext cx="873" cy="692"/>
              <a:chOff x="2185" y="310"/>
              <a:chExt cx="873" cy="692"/>
            </a:xfrm>
          </p:grpSpPr>
          <p:sp>
            <p:nvSpPr>
              <p:cNvPr id="10554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5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5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5535" name="Group 11"/>
            <p:cNvGrpSpPr>
              <a:grpSpLocks/>
            </p:cNvGrpSpPr>
            <p:nvPr/>
          </p:nvGrpSpPr>
          <p:grpSpPr bwMode="auto">
            <a:xfrm>
              <a:off x="4949" y="336"/>
              <a:ext cx="591" cy="468"/>
              <a:chOff x="2185" y="310"/>
              <a:chExt cx="873" cy="692"/>
            </a:xfrm>
          </p:grpSpPr>
          <p:sp>
            <p:nvSpPr>
              <p:cNvPr id="10553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4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553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53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7</a:t>
              </a:r>
              <a:endParaRPr lang="fr-FR" altLang="fr-FR" sz="3200">
                <a:solidFill>
                  <a:schemeClr val="tx1"/>
                </a:solidFill>
                <a:latin typeface="Arial Black" pitchFamily="34" charset="0"/>
              </a:endParaRPr>
            </a:p>
          </p:txBody>
        </p:sp>
      </p:grpSp>
      <p:sp>
        <p:nvSpPr>
          <p:cNvPr id="10547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547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5478" name="Group 24"/>
          <p:cNvGrpSpPr>
            <a:grpSpLocks/>
          </p:cNvGrpSpPr>
          <p:nvPr/>
        </p:nvGrpSpPr>
        <p:grpSpPr bwMode="auto">
          <a:xfrm>
            <a:off x="2986088" y="1306513"/>
            <a:ext cx="446087" cy="534987"/>
            <a:chOff x="868" y="1439"/>
            <a:chExt cx="811" cy="972"/>
          </a:xfrm>
        </p:grpSpPr>
        <p:sp>
          <p:nvSpPr>
            <p:cNvPr id="10548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8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49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0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1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2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553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548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548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548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6498" name="Group 2"/>
          <p:cNvGrpSpPr>
            <a:grpSpLocks/>
          </p:cNvGrpSpPr>
          <p:nvPr/>
        </p:nvGrpSpPr>
        <p:grpSpPr bwMode="auto">
          <a:xfrm>
            <a:off x="7073900" y="215900"/>
            <a:ext cx="1878013" cy="1250950"/>
            <a:chOff x="4456" y="136"/>
            <a:chExt cx="1183" cy="788"/>
          </a:xfrm>
        </p:grpSpPr>
        <p:grpSp>
          <p:nvGrpSpPr>
            <p:cNvPr id="106558" name="Group 3"/>
            <p:cNvGrpSpPr>
              <a:grpSpLocks/>
            </p:cNvGrpSpPr>
            <p:nvPr/>
          </p:nvGrpSpPr>
          <p:grpSpPr bwMode="auto">
            <a:xfrm>
              <a:off x="4766" y="232"/>
              <a:ext cx="873" cy="692"/>
              <a:chOff x="2185" y="310"/>
              <a:chExt cx="873" cy="692"/>
            </a:xfrm>
          </p:grpSpPr>
          <p:sp>
            <p:nvSpPr>
              <p:cNvPr id="10656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7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6559" name="Group 11"/>
            <p:cNvGrpSpPr>
              <a:grpSpLocks/>
            </p:cNvGrpSpPr>
            <p:nvPr/>
          </p:nvGrpSpPr>
          <p:grpSpPr bwMode="auto">
            <a:xfrm>
              <a:off x="4949" y="336"/>
              <a:ext cx="591" cy="468"/>
              <a:chOff x="2185" y="310"/>
              <a:chExt cx="873" cy="692"/>
            </a:xfrm>
          </p:grpSpPr>
          <p:sp>
            <p:nvSpPr>
              <p:cNvPr id="10656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6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656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561"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8</a:t>
              </a:r>
              <a:endParaRPr lang="fr-FR" altLang="fr-FR" sz="3200">
                <a:solidFill>
                  <a:schemeClr val="tx1"/>
                </a:solidFill>
                <a:latin typeface="Arial Black" pitchFamily="34" charset="0"/>
              </a:endParaRPr>
            </a:p>
          </p:txBody>
        </p:sp>
      </p:grpSp>
      <p:sp>
        <p:nvSpPr>
          <p:cNvPr id="10650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650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6502" name="Group 24"/>
          <p:cNvGrpSpPr>
            <a:grpSpLocks/>
          </p:cNvGrpSpPr>
          <p:nvPr/>
        </p:nvGrpSpPr>
        <p:grpSpPr bwMode="auto">
          <a:xfrm>
            <a:off x="2986088" y="1306513"/>
            <a:ext cx="446087" cy="534987"/>
            <a:chOff x="868" y="1439"/>
            <a:chExt cx="811" cy="972"/>
          </a:xfrm>
        </p:grpSpPr>
        <p:sp>
          <p:nvSpPr>
            <p:cNvPr id="10650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0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0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1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2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3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4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655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650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Lundi</a:t>
            </a:r>
          </a:p>
        </p:txBody>
      </p:sp>
      <p:sp>
        <p:nvSpPr>
          <p:cNvPr id="10650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650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523" name="Group 3"/>
          <p:cNvGrpSpPr>
            <a:grpSpLocks/>
          </p:cNvGrpSpPr>
          <p:nvPr/>
        </p:nvGrpSpPr>
        <p:grpSpPr bwMode="auto">
          <a:xfrm>
            <a:off x="7073900" y="215900"/>
            <a:ext cx="1878013" cy="1250950"/>
            <a:chOff x="4456" y="136"/>
            <a:chExt cx="1183" cy="788"/>
          </a:xfrm>
        </p:grpSpPr>
        <p:grpSp>
          <p:nvGrpSpPr>
            <p:cNvPr id="107643" name="Group 4"/>
            <p:cNvGrpSpPr>
              <a:grpSpLocks/>
            </p:cNvGrpSpPr>
            <p:nvPr/>
          </p:nvGrpSpPr>
          <p:grpSpPr bwMode="auto">
            <a:xfrm>
              <a:off x="4766" y="232"/>
              <a:ext cx="873" cy="692"/>
              <a:chOff x="2185" y="310"/>
              <a:chExt cx="873" cy="692"/>
            </a:xfrm>
          </p:grpSpPr>
          <p:sp>
            <p:nvSpPr>
              <p:cNvPr id="10765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6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7644" name="Group 12"/>
            <p:cNvGrpSpPr>
              <a:grpSpLocks/>
            </p:cNvGrpSpPr>
            <p:nvPr/>
          </p:nvGrpSpPr>
          <p:grpSpPr bwMode="auto">
            <a:xfrm>
              <a:off x="4949" y="336"/>
              <a:ext cx="591" cy="468"/>
              <a:chOff x="2185" y="310"/>
              <a:chExt cx="873" cy="692"/>
            </a:xfrm>
          </p:grpSpPr>
          <p:sp>
            <p:nvSpPr>
              <p:cNvPr id="10764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5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764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646"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9</a:t>
              </a:r>
              <a:endParaRPr lang="fr-FR" altLang="fr-FR" sz="3200">
                <a:solidFill>
                  <a:schemeClr val="tx1"/>
                </a:solidFill>
                <a:latin typeface="Arial Black" pitchFamily="34" charset="0"/>
              </a:endParaRPr>
            </a:p>
          </p:txBody>
        </p:sp>
      </p:grpSp>
      <p:sp>
        <p:nvSpPr>
          <p:cNvPr id="107524" name="Text Box 22"/>
          <p:cNvSpPr txBox="1">
            <a:spLocks noChangeArrowheads="1"/>
          </p:cNvSpPr>
          <p:nvPr/>
        </p:nvSpPr>
        <p:spPr bwMode="auto">
          <a:xfrm>
            <a:off x="696913"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R1</a:t>
            </a:r>
          </a:p>
        </p:txBody>
      </p:sp>
      <p:sp>
        <p:nvSpPr>
          <p:cNvPr id="107525" name="Text Box 23"/>
          <p:cNvSpPr txBox="1">
            <a:spLocks noChangeArrowheads="1"/>
          </p:cNvSpPr>
          <p:nvPr/>
        </p:nvSpPr>
        <p:spPr bwMode="auto">
          <a:xfrm>
            <a:off x="3271838"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07526" name="Text Box 24"/>
          <p:cNvSpPr txBox="1">
            <a:spLocks noChangeArrowheads="1"/>
          </p:cNvSpPr>
          <p:nvPr/>
        </p:nvSpPr>
        <p:spPr bwMode="auto">
          <a:xfrm>
            <a:off x="4779963"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07527" name="Rectangle 27"/>
          <p:cNvSpPr>
            <a:spLocks noGrp="1" noChangeArrowheads="1"/>
          </p:cNvSpPr>
          <p:nvPr>
            <p:ph type="title"/>
          </p:nvPr>
        </p:nvSpPr>
        <p:spPr>
          <a:xfrm>
            <a:off x="1525588" y="0"/>
            <a:ext cx="5372100" cy="647700"/>
          </a:xfrm>
        </p:spPr>
        <p:txBody>
          <a:bodyPr/>
          <a:lstStyle/>
          <a:p>
            <a:pPr eaLnBrk="1" hangingPunct="1"/>
            <a:r>
              <a:rPr lang="fr-FR" altLang="fr-FR"/>
              <a:t>Sem. 2 - Mardi (Ste Sidoine)</a:t>
            </a:r>
          </a:p>
        </p:txBody>
      </p:sp>
      <p:sp>
        <p:nvSpPr>
          <p:cNvPr id="107528" name="Text Box 28"/>
          <p:cNvSpPr txBox="1">
            <a:spLocks noChangeArrowheads="1"/>
          </p:cNvSpPr>
          <p:nvPr/>
        </p:nvSpPr>
        <p:spPr bwMode="auto">
          <a:xfrm>
            <a:off x="574675" y="1868488"/>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07529"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7530" name="Text Box 30"/>
          <p:cNvSpPr txBox="1">
            <a:spLocks noChangeArrowheads="1"/>
          </p:cNvSpPr>
          <p:nvPr/>
        </p:nvSpPr>
        <p:spPr bwMode="auto">
          <a:xfrm>
            <a:off x="579438" y="444976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7531" name="Group 32"/>
          <p:cNvGrpSpPr>
            <a:grpSpLocks/>
          </p:cNvGrpSpPr>
          <p:nvPr/>
        </p:nvGrpSpPr>
        <p:grpSpPr bwMode="auto">
          <a:xfrm>
            <a:off x="2843213" y="1106488"/>
            <a:ext cx="446087" cy="534987"/>
            <a:chOff x="868" y="1439"/>
            <a:chExt cx="811" cy="972"/>
          </a:xfrm>
        </p:grpSpPr>
        <p:sp>
          <p:nvSpPr>
            <p:cNvPr id="107592"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3"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4"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5"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6"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7"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8"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599"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0"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1"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2"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3"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4"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5"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6"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7"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8"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09"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0"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1"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2"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3"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4"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5"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6"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7"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8"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19"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0"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1"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2"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3"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4"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5"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6"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7"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8"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29"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0"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1"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2"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3"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4"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5"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6"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7"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8"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39"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0"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1"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7642"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7532" name="Group 84"/>
          <p:cNvGrpSpPr>
            <a:grpSpLocks/>
          </p:cNvGrpSpPr>
          <p:nvPr/>
        </p:nvGrpSpPr>
        <p:grpSpPr bwMode="auto">
          <a:xfrm rot="-223274">
            <a:off x="735013" y="3030538"/>
            <a:ext cx="744537" cy="733425"/>
            <a:chOff x="2757" y="1666"/>
            <a:chExt cx="812" cy="800"/>
          </a:xfrm>
        </p:grpSpPr>
        <p:sp>
          <p:nvSpPr>
            <p:cNvPr id="107586"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87"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88"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89"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90"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91"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07533" name="Group 91"/>
          <p:cNvGrpSpPr>
            <a:grpSpLocks/>
          </p:cNvGrpSpPr>
          <p:nvPr/>
        </p:nvGrpSpPr>
        <p:grpSpPr bwMode="auto">
          <a:xfrm rot="-223274">
            <a:off x="3397250" y="3028950"/>
            <a:ext cx="744538" cy="733425"/>
            <a:chOff x="2757" y="1666"/>
            <a:chExt cx="812" cy="800"/>
          </a:xfrm>
        </p:grpSpPr>
        <p:sp>
          <p:nvSpPr>
            <p:cNvPr id="107580"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81"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82"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83"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84"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85"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07534" name="Group 123"/>
          <p:cNvGrpSpPr>
            <a:grpSpLocks/>
          </p:cNvGrpSpPr>
          <p:nvPr/>
        </p:nvGrpSpPr>
        <p:grpSpPr bwMode="auto">
          <a:xfrm rot="-223274">
            <a:off x="6348413" y="3027363"/>
            <a:ext cx="744537" cy="733425"/>
            <a:chOff x="2757" y="1666"/>
            <a:chExt cx="812" cy="800"/>
          </a:xfrm>
        </p:grpSpPr>
        <p:sp>
          <p:nvSpPr>
            <p:cNvPr id="107574" name="Freeform 12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75" name="Freeform 12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76" name="Line 12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77" name="Freeform 12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78" name="Freeform 12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79" name="AutoShape 12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07535" name="Text Box 130"/>
          <p:cNvSpPr txBox="1">
            <a:spLocks noChangeArrowheads="1"/>
          </p:cNvSpPr>
          <p:nvPr/>
        </p:nvSpPr>
        <p:spPr bwMode="auto">
          <a:xfrm>
            <a:off x="6192838"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107536" name="Group 131"/>
          <p:cNvGrpSpPr>
            <a:grpSpLocks/>
          </p:cNvGrpSpPr>
          <p:nvPr/>
        </p:nvGrpSpPr>
        <p:grpSpPr bwMode="auto">
          <a:xfrm rot="-223274">
            <a:off x="4837113" y="3028950"/>
            <a:ext cx="744537" cy="733425"/>
            <a:chOff x="2757" y="1666"/>
            <a:chExt cx="812" cy="800"/>
          </a:xfrm>
        </p:grpSpPr>
        <p:sp>
          <p:nvSpPr>
            <p:cNvPr id="107568" name="Freeform 13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69" name="Freeform 13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70" name="Line 13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71" name="Freeform 13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72" name="Freeform 13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73" name="AutoShape 13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07537" name="Text Box 159"/>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107538" name="Group 160"/>
          <p:cNvGrpSpPr>
            <a:grpSpLocks/>
          </p:cNvGrpSpPr>
          <p:nvPr/>
        </p:nvGrpSpPr>
        <p:grpSpPr bwMode="auto">
          <a:xfrm rot="-223274">
            <a:off x="715963" y="2801938"/>
            <a:ext cx="744537" cy="733425"/>
            <a:chOff x="2757" y="1666"/>
            <a:chExt cx="812" cy="800"/>
          </a:xfrm>
        </p:grpSpPr>
        <p:sp>
          <p:nvSpPr>
            <p:cNvPr id="107562" name="Freeform 16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63" name="Freeform 16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64" name="Line 16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65" name="Freeform 16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66" name="Freeform 16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67" name="AutoShape 16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07539" name="Group 167"/>
          <p:cNvGrpSpPr>
            <a:grpSpLocks/>
          </p:cNvGrpSpPr>
          <p:nvPr/>
        </p:nvGrpSpPr>
        <p:grpSpPr bwMode="auto">
          <a:xfrm rot="-223274">
            <a:off x="715963" y="2573338"/>
            <a:ext cx="744537" cy="733425"/>
            <a:chOff x="2757" y="1666"/>
            <a:chExt cx="812" cy="800"/>
          </a:xfrm>
        </p:grpSpPr>
        <p:sp>
          <p:nvSpPr>
            <p:cNvPr id="107556" name="Freeform 16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57" name="Freeform 16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58" name="Line 17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59" name="Freeform 17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60" name="Freeform 17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61" name="AutoShape 17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07540" name="Group 174"/>
          <p:cNvGrpSpPr>
            <a:grpSpLocks/>
          </p:cNvGrpSpPr>
          <p:nvPr/>
        </p:nvGrpSpPr>
        <p:grpSpPr bwMode="auto">
          <a:xfrm rot="-223274">
            <a:off x="2119313" y="3027363"/>
            <a:ext cx="744537" cy="733425"/>
            <a:chOff x="2757" y="1666"/>
            <a:chExt cx="812" cy="800"/>
          </a:xfrm>
        </p:grpSpPr>
        <p:sp>
          <p:nvSpPr>
            <p:cNvPr id="107550" name="Freeform 17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51" name="Freeform 17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52" name="Line 17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53" name="Freeform 17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54" name="Freeform 17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55" name="AutoShape 18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07541" name="Text Box 181"/>
          <p:cNvSpPr txBox="1">
            <a:spLocks noChangeArrowheads="1"/>
          </p:cNvSpPr>
          <p:nvPr/>
        </p:nvSpPr>
        <p:spPr bwMode="auto">
          <a:xfrm>
            <a:off x="1963738"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R2</a:t>
            </a:r>
          </a:p>
        </p:txBody>
      </p:sp>
      <p:grpSp>
        <p:nvGrpSpPr>
          <p:cNvPr id="107542" name="Group 182"/>
          <p:cNvGrpSpPr>
            <a:grpSpLocks/>
          </p:cNvGrpSpPr>
          <p:nvPr/>
        </p:nvGrpSpPr>
        <p:grpSpPr bwMode="auto">
          <a:xfrm rot="-223274">
            <a:off x="7681913" y="3027363"/>
            <a:ext cx="744537" cy="733425"/>
            <a:chOff x="2757" y="1666"/>
            <a:chExt cx="812" cy="800"/>
          </a:xfrm>
        </p:grpSpPr>
        <p:sp>
          <p:nvSpPr>
            <p:cNvPr id="107544" name="Freeform 18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45" name="Freeform 18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07546" name="Line 18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07547" name="Freeform 18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07548" name="Freeform 18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07549" name="AutoShape 18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07543" name="Text Box 189"/>
          <p:cNvSpPr txBox="1">
            <a:spLocks noChangeArrowheads="1"/>
          </p:cNvSpPr>
          <p:nvPr/>
        </p:nvSpPr>
        <p:spPr bwMode="auto">
          <a:xfrm>
            <a:off x="7526338" y="38592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8546" name="Group 2"/>
          <p:cNvGrpSpPr>
            <a:grpSpLocks/>
          </p:cNvGrpSpPr>
          <p:nvPr/>
        </p:nvGrpSpPr>
        <p:grpSpPr bwMode="auto">
          <a:xfrm>
            <a:off x="7073900" y="215900"/>
            <a:ext cx="1878013" cy="1250950"/>
            <a:chOff x="4456" y="136"/>
            <a:chExt cx="1183" cy="788"/>
          </a:xfrm>
        </p:grpSpPr>
        <p:grpSp>
          <p:nvGrpSpPr>
            <p:cNvPr id="108606" name="Group 3"/>
            <p:cNvGrpSpPr>
              <a:grpSpLocks/>
            </p:cNvGrpSpPr>
            <p:nvPr/>
          </p:nvGrpSpPr>
          <p:grpSpPr bwMode="auto">
            <a:xfrm>
              <a:off x="4766" y="232"/>
              <a:ext cx="873" cy="692"/>
              <a:chOff x="2185" y="310"/>
              <a:chExt cx="873" cy="692"/>
            </a:xfrm>
          </p:grpSpPr>
          <p:sp>
            <p:nvSpPr>
              <p:cNvPr id="1086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8607" name="Group 11"/>
            <p:cNvGrpSpPr>
              <a:grpSpLocks/>
            </p:cNvGrpSpPr>
            <p:nvPr/>
          </p:nvGrpSpPr>
          <p:grpSpPr bwMode="auto">
            <a:xfrm>
              <a:off x="4949" y="336"/>
              <a:ext cx="591" cy="468"/>
              <a:chOff x="2185" y="310"/>
              <a:chExt cx="873" cy="692"/>
            </a:xfrm>
          </p:grpSpPr>
          <p:sp>
            <p:nvSpPr>
              <p:cNvPr id="1086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86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0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10</a:t>
              </a:r>
              <a:endParaRPr lang="fr-FR" altLang="fr-FR" sz="3200">
                <a:solidFill>
                  <a:schemeClr val="tx1"/>
                </a:solidFill>
                <a:latin typeface="Arial Black" pitchFamily="34" charset="0"/>
              </a:endParaRPr>
            </a:p>
          </p:txBody>
        </p:sp>
      </p:grpSp>
      <p:sp>
        <p:nvSpPr>
          <p:cNvPr id="10854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854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8550" name="Group 24"/>
          <p:cNvGrpSpPr>
            <a:grpSpLocks/>
          </p:cNvGrpSpPr>
          <p:nvPr/>
        </p:nvGrpSpPr>
        <p:grpSpPr bwMode="auto">
          <a:xfrm>
            <a:off x="2986088" y="1306513"/>
            <a:ext cx="446087" cy="534987"/>
            <a:chOff x="868" y="1439"/>
            <a:chExt cx="811" cy="972"/>
          </a:xfrm>
        </p:grpSpPr>
        <p:sp>
          <p:nvSpPr>
            <p:cNvPr id="10855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5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5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5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5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6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7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8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59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860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855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0855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855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9570" name="Group 2"/>
          <p:cNvGrpSpPr>
            <a:grpSpLocks/>
          </p:cNvGrpSpPr>
          <p:nvPr/>
        </p:nvGrpSpPr>
        <p:grpSpPr bwMode="auto">
          <a:xfrm>
            <a:off x="7073900" y="215900"/>
            <a:ext cx="1878013" cy="1250950"/>
            <a:chOff x="4456" y="136"/>
            <a:chExt cx="1183" cy="788"/>
          </a:xfrm>
        </p:grpSpPr>
        <p:grpSp>
          <p:nvGrpSpPr>
            <p:cNvPr id="109630" name="Group 3"/>
            <p:cNvGrpSpPr>
              <a:grpSpLocks/>
            </p:cNvGrpSpPr>
            <p:nvPr/>
          </p:nvGrpSpPr>
          <p:grpSpPr bwMode="auto">
            <a:xfrm>
              <a:off x="4766" y="232"/>
              <a:ext cx="873" cy="692"/>
              <a:chOff x="2185" y="310"/>
              <a:chExt cx="873" cy="692"/>
            </a:xfrm>
          </p:grpSpPr>
          <p:sp>
            <p:nvSpPr>
              <p:cNvPr id="10964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09631" name="Group 11"/>
            <p:cNvGrpSpPr>
              <a:grpSpLocks/>
            </p:cNvGrpSpPr>
            <p:nvPr/>
          </p:nvGrpSpPr>
          <p:grpSpPr bwMode="auto">
            <a:xfrm>
              <a:off x="4949" y="336"/>
              <a:ext cx="591" cy="468"/>
              <a:chOff x="2185" y="310"/>
              <a:chExt cx="873" cy="692"/>
            </a:xfrm>
          </p:grpSpPr>
          <p:sp>
            <p:nvSpPr>
              <p:cNvPr id="10963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3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4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0963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3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11</a:t>
              </a:r>
              <a:endParaRPr lang="fr-FR" altLang="fr-FR" sz="3200">
                <a:solidFill>
                  <a:schemeClr val="tx1"/>
                </a:solidFill>
                <a:latin typeface="Arial Black" pitchFamily="34" charset="0"/>
              </a:endParaRPr>
            </a:p>
          </p:txBody>
        </p:sp>
      </p:grpSp>
      <p:sp>
        <p:nvSpPr>
          <p:cNvPr id="10957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0957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09574" name="Group 24"/>
          <p:cNvGrpSpPr>
            <a:grpSpLocks/>
          </p:cNvGrpSpPr>
          <p:nvPr/>
        </p:nvGrpSpPr>
        <p:grpSpPr bwMode="auto">
          <a:xfrm>
            <a:off x="2986088" y="1306513"/>
            <a:ext cx="446087" cy="534987"/>
            <a:chOff x="868" y="1439"/>
            <a:chExt cx="811" cy="972"/>
          </a:xfrm>
        </p:grpSpPr>
        <p:sp>
          <p:nvSpPr>
            <p:cNvPr id="10957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8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59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0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1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0962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0957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0957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0957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594" name="Group 2"/>
          <p:cNvGrpSpPr>
            <a:grpSpLocks/>
          </p:cNvGrpSpPr>
          <p:nvPr/>
        </p:nvGrpSpPr>
        <p:grpSpPr bwMode="auto">
          <a:xfrm>
            <a:off x="7073900" y="215900"/>
            <a:ext cx="1878013" cy="1250950"/>
            <a:chOff x="4456" y="136"/>
            <a:chExt cx="1183" cy="788"/>
          </a:xfrm>
        </p:grpSpPr>
        <p:grpSp>
          <p:nvGrpSpPr>
            <p:cNvPr id="110654" name="Group 3"/>
            <p:cNvGrpSpPr>
              <a:grpSpLocks/>
            </p:cNvGrpSpPr>
            <p:nvPr/>
          </p:nvGrpSpPr>
          <p:grpSpPr bwMode="auto">
            <a:xfrm>
              <a:off x="4766" y="232"/>
              <a:ext cx="873" cy="692"/>
              <a:chOff x="2185" y="310"/>
              <a:chExt cx="873" cy="692"/>
            </a:xfrm>
          </p:grpSpPr>
          <p:sp>
            <p:nvSpPr>
              <p:cNvPr id="11066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7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7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0655" name="Group 11"/>
            <p:cNvGrpSpPr>
              <a:grpSpLocks/>
            </p:cNvGrpSpPr>
            <p:nvPr/>
          </p:nvGrpSpPr>
          <p:grpSpPr bwMode="auto">
            <a:xfrm>
              <a:off x="4949" y="336"/>
              <a:ext cx="591" cy="468"/>
              <a:chOff x="2185" y="310"/>
              <a:chExt cx="873" cy="692"/>
            </a:xfrm>
          </p:grpSpPr>
          <p:sp>
            <p:nvSpPr>
              <p:cNvPr id="11065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6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065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5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12</a:t>
              </a:r>
              <a:endParaRPr lang="fr-FR" altLang="fr-FR" sz="3200">
                <a:solidFill>
                  <a:schemeClr val="tx1"/>
                </a:solidFill>
                <a:latin typeface="Arial Black" pitchFamily="34" charset="0"/>
              </a:endParaRPr>
            </a:p>
          </p:txBody>
        </p:sp>
      </p:grpSp>
      <p:sp>
        <p:nvSpPr>
          <p:cNvPr id="11059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059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0598" name="Group 24"/>
          <p:cNvGrpSpPr>
            <a:grpSpLocks/>
          </p:cNvGrpSpPr>
          <p:nvPr/>
        </p:nvGrpSpPr>
        <p:grpSpPr bwMode="auto">
          <a:xfrm>
            <a:off x="2986088" y="1306513"/>
            <a:ext cx="446087" cy="534987"/>
            <a:chOff x="868" y="1439"/>
            <a:chExt cx="811" cy="972"/>
          </a:xfrm>
        </p:grpSpPr>
        <p:sp>
          <p:nvSpPr>
            <p:cNvPr id="11060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0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1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2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3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4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065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060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060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060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1618" name="Group 2"/>
          <p:cNvGrpSpPr>
            <a:grpSpLocks/>
          </p:cNvGrpSpPr>
          <p:nvPr/>
        </p:nvGrpSpPr>
        <p:grpSpPr bwMode="auto">
          <a:xfrm>
            <a:off x="7073900" y="215900"/>
            <a:ext cx="1878013" cy="1250950"/>
            <a:chOff x="4456" y="136"/>
            <a:chExt cx="1183" cy="788"/>
          </a:xfrm>
        </p:grpSpPr>
        <p:grpSp>
          <p:nvGrpSpPr>
            <p:cNvPr id="111678" name="Group 3"/>
            <p:cNvGrpSpPr>
              <a:grpSpLocks/>
            </p:cNvGrpSpPr>
            <p:nvPr/>
          </p:nvGrpSpPr>
          <p:grpSpPr bwMode="auto">
            <a:xfrm>
              <a:off x="4766" y="232"/>
              <a:ext cx="873" cy="692"/>
              <a:chOff x="2185" y="310"/>
              <a:chExt cx="873" cy="692"/>
            </a:xfrm>
          </p:grpSpPr>
          <p:sp>
            <p:nvSpPr>
              <p:cNvPr id="11168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9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1679" name="Group 11"/>
            <p:cNvGrpSpPr>
              <a:grpSpLocks/>
            </p:cNvGrpSpPr>
            <p:nvPr/>
          </p:nvGrpSpPr>
          <p:grpSpPr bwMode="auto">
            <a:xfrm>
              <a:off x="4949" y="336"/>
              <a:ext cx="591" cy="468"/>
              <a:chOff x="2185" y="310"/>
              <a:chExt cx="873" cy="692"/>
            </a:xfrm>
          </p:grpSpPr>
          <p:sp>
            <p:nvSpPr>
              <p:cNvPr id="11168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8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168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8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13</a:t>
              </a:r>
              <a:endParaRPr lang="fr-FR" altLang="fr-FR" sz="3200">
                <a:solidFill>
                  <a:schemeClr val="tx1"/>
                </a:solidFill>
                <a:latin typeface="Arial Black" pitchFamily="34" charset="0"/>
              </a:endParaRPr>
            </a:p>
          </p:txBody>
        </p:sp>
      </p:grpSp>
      <p:sp>
        <p:nvSpPr>
          <p:cNvPr id="11162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162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1622" name="Group 24"/>
          <p:cNvGrpSpPr>
            <a:grpSpLocks/>
          </p:cNvGrpSpPr>
          <p:nvPr/>
        </p:nvGrpSpPr>
        <p:grpSpPr bwMode="auto">
          <a:xfrm>
            <a:off x="2986088" y="1306513"/>
            <a:ext cx="446087" cy="534987"/>
            <a:chOff x="868" y="1439"/>
            <a:chExt cx="811" cy="972"/>
          </a:xfrm>
        </p:grpSpPr>
        <p:sp>
          <p:nvSpPr>
            <p:cNvPr id="11162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2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2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3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4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5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6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167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162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162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162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2642" name="Group 2"/>
          <p:cNvGrpSpPr>
            <a:grpSpLocks/>
          </p:cNvGrpSpPr>
          <p:nvPr/>
        </p:nvGrpSpPr>
        <p:grpSpPr bwMode="auto">
          <a:xfrm>
            <a:off x="7073900" y="215900"/>
            <a:ext cx="1878013" cy="1250950"/>
            <a:chOff x="4456" y="136"/>
            <a:chExt cx="1183" cy="788"/>
          </a:xfrm>
        </p:grpSpPr>
        <p:grpSp>
          <p:nvGrpSpPr>
            <p:cNvPr id="112702" name="Group 3"/>
            <p:cNvGrpSpPr>
              <a:grpSpLocks/>
            </p:cNvGrpSpPr>
            <p:nvPr/>
          </p:nvGrpSpPr>
          <p:grpSpPr bwMode="auto">
            <a:xfrm>
              <a:off x="4766" y="232"/>
              <a:ext cx="873" cy="692"/>
              <a:chOff x="2185" y="310"/>
              <a:chExt cx="873" cy="692"/>
            </a:xfrm>
          </p:grpSpPr>
          <p:sp>
            <p:nvSpPr>
              <p:cNvPr id="11271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2703" name="Group 11"/>
            <p:cNvGrpSpPr>
              <a:grpSpLocks/>
            </p:cNvGrpSpPr>
            <p:nvPr/>
          </p:nvGrpSpPr>
          <p:grpSpPr bwMode="auto">
            <a:xfrm>
              <a:off x="4949" y="336"/>
              <a:ext cx="591" cy="468"/>
              <a:chOff x="2185" y="310"/>
              <a:chExt cx="873" cy="692"/>
            </a:xfrm>
          </p:grpSpPr>
          <p:sp>
            <p:nvSpPr>
              <p:cNvPr id="11270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1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270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0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14</a:t>
              </a:r>
              <a:endParaRPr lang="fr-FR" altLang="fr-FR" sz="3200">
                <a:solidFill>
                  <a:schemeClr val="tx1"/>
                </a:solidFill>
                <a:latin typeface="Arial Black" pitchFamily="34" charset="0"/>
              </a:endParaRPr>
            </a:p>
          </p:txBody>
        </p:sp>
      </p:grpSp>
      <p:sp>
        <p:nvSpPr>
          <p:cNvPr id="11264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264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2646" name="Group 24"/>
          <p:cNvGrpSpPr>
            <a:grpSpLocks/>
          </p:cNvGrpSpPr>
          <p:nvPr/>
        </p:nvGrpSpPr>
        <p:grpSpPr bwMode="auto">
          <a:xfrm>
            <a:off x="2986088" y="1306513"/>
            <a:ext cx="446087" cy="534987"/>
            <a:chOff x="868" y="1439"/>
            <a:chExt cx="811" cy="972"/>
          </a:xfrm>
        </p:grpSpPr>
        <p:sp>
          <p:nvSpPr>
            <p:cNvPr id="11265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5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6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7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8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69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270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264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264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265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3666" name="Group 2"/>
          <p:cNvGrpSpPr>
            <a:grpSpLocks/>
          </p:cNvGrpSpPr>
          <p:nvPr/>
        </p:nvGrpSpPr>
        <p:grpSpPr bwMode="auto">
          <a:xfrm>
            <a:off x="7073900" y="215900"/>
            <a:ext cx="1878013" cy="1250950"/>
            <a:chOff x="4456" y="136"/>
            <a:chExt cx="1183" cy="788"/>
          </a:xfrm>
        </p:grpSpPr>
        <p:grpSp>
          <p:nvGrpSpPr>
            <p:cNvPr id="113726" name="Group 3"/>
            <p:cNvGrpSpPr>
              <a:grpSpLocks/>
            </p:cNvGrpSpPr>
            <p:nvPr/>
          </p:nvGrpSpPr>
          <p:grpSpPr bwMode="auto">
            <a:xfrm>
              <a:off x="4766" y="232"/>
              <a:ext cx="873" cy="692"/>
              <a:chOff x="2185" y="310"/>
              <a:chExt cx="873" cy="692"/>
            </a:xfrm>
          </p:grpSpPr>
          <p:sp>
            <p:nvSpPr>
              <p:cNvPr id="11373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4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4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4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4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3727" name="Group 11"/>
            <p:cNvGrpSpPr>
              <a:grpSpLocks/>
            </p:cNvGrpSpPr>
            <p:nvPr/>
          </p:nvGrpSpPr>
          <p:grpSpPr bwMode="auto">
            <a:xfrm>
              <a:off x="4949" y="336"/>
              <a:ext cx="591" cy="468"/>
              <a:chOff x="2185" y="310"/>
              <a:chExt cx="873" cy="692"/>
            </a:xfrm>
          </p:grpSpPr>
          <p:sp>
            <p:nvSpPr>
              <p:cNvPr id="11373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3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372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2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15</a:t>
              </a:r>
              <a:endParaRPr lang="fr-FR" altLang="fr-FR" sz="3200">
                <a:solidFill>
                  <a:schemeClr val="tx1"/>
                </a:solidFill>
                <a:latin typeface="Arial Black" pitchFamily="34" charset="0"/>
              </a:endParaRPr>
            </a:p>
          </p:txBody>
        </p:sp>
      </p:grpSp>
      <p:sp>
        <p:nvSpPr>
          <p:cNvPr id="11366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366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3670" name="Group 24"/>
          <p:cNvGrpSpPr>
            <a:grpSpLocks/>
          </p:cNvGrpSpPr>
          <p:nvPr/>
        </p:nvGrpSpPr>
        <p:grpSpPr bwMode="auto">
          <a:xfrm>
            <a:off x="2986088" y="1306513"/>
            <a:ext cx="446087" cy="534987"/>
            <a:chOff x="868" y="1439"/>
            <a:chExt cx="811" cy="972"/>
          </a:xfrm>
        </p:grpSpPr>
        <p:sp>
          <p:nvSpPr>
            <p:cNvPr id="11367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7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7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7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7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8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69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0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1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372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367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367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367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2"/>
          <p:cNvSpPr>
            <a:spLocks noGrp="1" noChangeArrowheads="1"/>
          </p:cNvSpPr>
          <p:nvPr>
            <p:ph type="title"/>
          </p:nvPr>
        </p:nvSpPr>
        <p:spPr/>
        <p:txBody>
          <a:bodyPr/>
          <a:lstStyle/>
          <a:p>
            <a:pPr eaLnBrk="1" hangingPunct="1"/>
            <a:r>
              <a:rPr lang="fr-FR" altLang="fr-FR"/>
              <a:t>Question</a:t>
            </a:r>
          </a:p>
        </p:txBody>
      </p:sp>
      <p:sp>
        <p:nvSpPr>
          <p:cNvPr id="114691" name="Rectangle 3"/>
          <p:cNvSpPr>
            <a:spLocks noGrp="1" noChangeArrowheads="1"/>
          </p:cNvSpPr>
          <p:nvPr>
            <p:ph type="body" idx="1"/>
          </p:nvPr>
        </p:nvSpPr>
        <p:spPr>
          <a:xfrm>
            <a:off x="306388" y="1598613"/>
            <a:ext cx="8610600" cy="4264025"/>
          </a:xfrm>
        </p:spPr>
        <p:txBody>
          <a:bodyPr/>
          <a:lstStyle/>
          <a:p>
            <a:pPr eaLnBrk="1" hangingPunct="1">
              <a:buFontTx/>
              <a:buNone/>
            </a:pPr>
            <a:r>
              <a:rPr lang="fr-FR" altLang="fr-FR" u="sng" dirty="0"/>
              <a:t>Origine</a:t>
            </a:r>
            <a:r>
              <a:rPr lang="fr-FR" altLang="fr-FR" dirty="0"/>
              <a:t> : Service Qualité</a:t>
            </a:r>
          </a:p>
          <a:p>
            <a:pPr eaLnBrk="1" hangingPunct="1">
              <a:buFontTx/>
              <a:buNone/>
            </a:pPr>
            <a:r>
              <a:rPr lang="fr-FR" altLang="fr-FR" u="sng" dirty="0"/>
              <a:t>Destinataire</a:t>
            </a:r>
            <a:r>
              <a:rPr lang="fr-FR" altLang="fr-FR" dirty="0"/>
              <a:t> : Production</a:t>
            </a:r>
          </a:p>
          <a:p>
            <a:pPr eaLnBrk="1" hangingPunct="1">
              <a:buFontTx/>
              <a:buNone/>
            </a:pPr>
            <a:endParaRPr lang="fr-FR" altLang="fr-FR" dirty="0"/>
          </a:p>
          <a:p>
            <a:pPr eaLnBrk="1" hangingPunct="1"/>
            <a:r>
              <a:rPr lang="fr-FR" altLang="fr-FR" dirty="0"/>
              <a:t>Les Etablissements DELABRE utiliseront dorénavant leurs réducteurs R1 dans une ambiance saline. Il est nécessaire d'améliorer leur résistance à la corrosion. </a:t>
            </a:r>
          </a:p>
          <a:p>
            <a:pPr eaLnBrk="1" hangingPunct="1"/>
            <a:r>
              <a:rPr lang="fr-FR" altLang="fr-FR" dirty="0"/>
              <a:t>La modification peut être envisagée sous 2 formes : </a:t>
            </a:r>
          </a:p>
          <a:p>
            <a:pPr lvl="1" eaLnBrk="1" hangingPunct="1"/>
            <a:r>
              <a:rPr lang="fr-FR" altLang="fr-FR" dirty="0"/>
              <a:t>soit exécuter un traitement de surface sur le carter usiné, </a:t>
            </a:r>
          </a:p>
          <a:p>
            <a:pPr lvl="1" eaLnBrk="1" hangingPunct="1"/>
            <a:r>
              <a:rPr lang="fr-FR" altLang="fr-FR" dirty="0"/>
              <a:t>soit ajouter des joints toriques au moment du montage final. </a:t>
            </a:r>
          </a:p>
          <a:p>
            <a:pPr eaLnBrk="1" hangingPunct="1"/>
            <a:r>
              <a:rPr lang="fr-FR" altLang="fr-FR" dirty="0"/>
              <a:t>La première solution coûtera 4,20 € par réducteur, la seconde  6,35 €.</a:t>
            </a:r>
          </a:p>
          <a:p>
            <a:pPr eaLnBrk="1" hangingPunct="1"/>
            <a:r>
              <a:rPr lang="fr-FR" altLang="fr-FR" dirty="0"/>
              <a:t>Merci de bien vouloir étudier ce dossier et de me donner votre avis.</a:t>
            </a: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5714" name="Group 2"/>
          <p:cNvGrpSpPr>
            <a:grpSpLocks/>
          </p:cNvGrpSpPr>
          <p:nvPr/>
        </p:nvGrpSpPr>
        <p:grpSpPr bwMode="auto">
          <a:xfrm>
            <a:off x="7073900" y="215900"/>
            <a:ext cx="1878013" cy="1250950"/>
            <a:chOff x="4456" y="136"/>
            <a:chExt cx="1183" cy="788"/>
          </a:xfrm>
        </p:grpSpPr>
        <p:grpSp>
          <p:nvGrpSpPr>
            <p:cNvPr id="115774" name="Group 3"/>
            <p:cNvGrpSpPr>
              <a:grpSpLocks/>
            </p:cNvGrpSpPr>
            <p:nvPr/>
          </p:nvGrpSpPr>
          <p:grpSpPr bwMode="auto">
            <a:xfrm>
              <a:off x="4766" y="232"/>
              <a:ext cx="873" cy="692"/>
              <a:chOff x="2185" y="310"/>
              <a:chExt cx="873" cy="692"/>
            </a:xfrm>
          </p:grpSpPr>
          <p:sp>
            <p:nvSpPr>
              <p:cNvPr id="11578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9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9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5775" name="Group 11"/>
            <p:cNvGrpSpPr>
              <a:grpSpLocks/>
            </p:cNvGrpSpPr>
            <p:nvPr/>
          </p:nvGrpSpPr>
          <p:grpSpPr bwMode="auto">
            <a:xfrm>
              <a:off x="4949" y="336"/>
              <a:ext cx="591" cy="468"/>
              <a:chOff x="2185" y="310"/>
              <a:chExt cx="873" cy="692"/>
            </a:xfrm>
          </p:grpSpPr>
          <p:sp>
            <p:nvSpPr>
              <p:cNvPr id="11577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8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577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77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16</a:t>
              </a:r>
              <a:endParaRPr lang="fr-FR" altLang="fr-FR" sz="3200">
                <a:solidFill>
                  <a:schemeClr val="tx1"/>
                </a:solidFill>
                <a:latin typeface="Arial Black" pitchFamily="34" charset="0"/>
              </a:endParaRPr>
            </a:p>
          </p:txBody>
        </p:sp>
      </p:grpSp>
      <p:sp>
        <p:nvSpPr>
          <p:cNvPr id="11571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571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5718" name="Group 24"/>
          <p:cNvGrpSpPr>
            <a:grpSpLocks/>
          </p:cNvGrpSpPr>
          <p:nvPr/>
        </p:nvGrpSpPr>
        <p:grpSpPr bwMode="auto">
          <a:xfrm>
            <a:off x="2986088" y="1306513"/>
            <a:ext cx="446087" cy="534987"/>
            <a:chOff x="868" y="1439"/>
            <a:chExt cx="811" cy="972"/>
          </a:xfrm>
        </p:grpSpPr>
        <p:sp>
          <p:nvSpPr>
            <p:cNvPr id="11572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2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3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4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5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6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577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572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Mardi</a:t>
            </a:r>
          </a:p>
        </p:txBody>
      </p:sp>
      <p:sp>
        <p:nvSpPr>
          <p:cNvPr id="11572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572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6738" name="Picture 1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0538" y="1808163"/>
            <a:ext cx="8216900"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16739" name="Rectangle 2"/>
          <p:cNvSpPr>
            <a:spLocks noGrp="1" noChangeArrowheads="1"/>
          </p:cNvSpPr>
          <p:nvPr>
            <p:ph type="title"/>
          </p:nvPr>
        </p:nvSpPr>
        <p:spPr/>
        <p:txBody>
          <a:bodyPr/>
          <a:lstStyle/>
          <a:p>
            <a:pPr eaLnBrk="1" hangingPunct="1"/>
            <a:r>
              <a:rPr lang="fr-FR" altLang="fr-FR"/>
              <a:t>Enregistrement des progrès</a:t>
            </a:r>
          </a:p>
        </p:txBody>
      </p:sp>
      <p:sp>
        <p:nvSpPr>
          <p:cNvPr id="116740" name="Oval 11"/>
          <p:cNvSpPr>
            <a:spLocks noChangeArrowheads="1"/>
          </p:cNvSpPr>
          <p:nvPr/>
        </p:nvSpPr>
        <p:spPr bwMode="auto">
          <a:xfrm>
            <a:off x="8156575" y="3286125"/>
            <a:ext cx="412750" cy="276225"/>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6741" name="AutoShape 12"/>
          <p:cNvSpPr>
            <a:spLocks/>
          </p:cNvSpPr>
          <p:nvPr/>
        </p:nvSpPr>
        <p:spPr bwMode="auto">
          <a:xfrm>
            <a:off x="4852988" y="4083050"/>
            <a:ext cx="2171700" cy="573088"/>
          </a:xfrm>
          <a:prstGeom prst="borderCallout2">
            <a:avLst>
              <a:gd name="adj1" fmla="val 19944"/>
              <a:gd name="adj2" fmla="val 103509"/>
              <a:gd name="adj3" fmla="val 19944"/>
              <a:gd name="adj4" fmla="val 113157"/>
              <a:gd name="adj5" fmla="val -92796"/>
              <a:gd name="adj6" fmla="val 1484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 nombre de points auxquels vous avez droit</a:t>
            </a: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2"/>
          <p:cNvSpPr>
            <a:spLocks noGrp="1" noChangeArrowheads="1"/>
          </p:cNvSpPr>
          <p:nvPr>
            <p:ph type="title"/>
          </p:nvPr>
        </p:nvSpPr>
        <p:spPr/>
        <p:txBody>
          <a:bodyPr/>
          <a:lstStyle/>
          <a:p>
            <a:pPr eaLnBrk="1" hangingPunct="1"/>
            <a:r>
              <a:rPr lang="fr-FR" altLang="fr-FR"/>
              <a:t>Ajustement des stocks</a:t>
            </a:r>
          </a:p>
        </p:txBody>
      </p:sp>
      <p:sp>
        <p:nvSpPr>
          <p:cNvPr id="117763" name="Rectangle 3"/>
          <p:cNvSpPr>
            <a:spLocks noGrp="1" noChangeArrowheads="1"/>
          </p:cNvSpPr>
          <p:nvPr>
            <p:ph type="body" idx="1"/>
          </p:nvPr>
        </p:nvSpPr>
        <p:spPr/>
        <p:txBody>
          <a:bodyPr/>
          <a:lstStyle/>
          <a:p>
            <a:pPr eaLnBrk="1" hangingPunct="1"/>
            <a:r>
              <a:rPr lang="fr-FR" altLang="fr-FR" dirty="0"/>
              <a:t>Vous pouvez réduire vos stocks pour tenir compte de vos progrès (mais il est interdit de les augmenter).</a:t>
            </a:r>
          </a:p>
          <a:p>
            <a:pPr eaLnBrk="1" hangingPunct="1"/>
            <a:r>
              <a:rPr lang="fr-FR" altLang="fr-FR" dirty="0"/>
              <a:t>Faîtes </a:t>
            </a:r>
            <a:r>
              <a:rPr lang="fr-FR" altLang="fr-FR" dirty="0">
                <a:solidFill>
                  <a:srgbClr val="FC2C1C"/>
                </a:solidFill>
              </a:rPr>
              <a:t>l’inventaire</a:t>
            </a:r>
            <a:r>
              <a:rPr lang="fr-FR" altLang="fr-FR" dirty="0"/>
              <a:t> après la baisse éventuelle des stocks, et mettez à jour votre </a:t>
            </a:r>
            <a:r>
              <a:rPr lang="fr-FR" altLang="fr-FR" dirty="0">
                <a:solidFill>
                  <a:srgbClr val="FC2C1C"/>
                </a:solidFill>
              </a:rPr>
              <a:t>feuille Résultats</a:t>
            </a:r>
            <a:r>
              <a:rPr lang="fr-FR" altLang="fr-FR" dirty="0"/>
              <a:t>.</a:t>
            </a:r>
          </a:p>
          <a:p>
            <a:pPr eaLnBrk="1" hangingPunct="1"/>
            <a:r>
              <a:rPr lang="fr-FR" altLang="fr-FR" dirty="0"/>
              <a:t>Vous pouvez également </a:t>
            </a:r>
            <a:r>
              <a:rPr lang="fr-FR" altLang="fr-FR" dirty="0">
                <a:solidFill>
                  <a:srgbClr val="FC2C1C"/>
                </a:solidFill>
              </a:rPr>
              <a:t>diminuer le nombre de tickets</a:t>
            </a:r>
            <a:r>
              <a:rPr lang="fr-FR" altLang="fr-FR" dirty="0"/>
              <a:t> dans certaines boucles, de façon à maintenir le stock à un niveau faible (tension du flux par diminution du nombre de tickets).</a:t>
            </a: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8787" name="Group 3"/>
          <p:cNvGrpSpPr>
            <a:grpSpLocks/>
          </p:cNvGrpSpPr>
          <p:nvPr/>
        </p:nvGrpSpPr>
        <p:grpSpPr bwMode="auto">
          <a:xfrm>
            <a:off x="7073900" y="215900"/>
            <a:ext cx="1878013" cy="1250950"/>
            <a:chOff x="4456" y="136"/>
            <a:chExt cx="1183" cy="788"/>
          </a:xfrm>
        </p:grpSpPr>
        <p:grpSp>
          <p:nvGrpSpPr>
            <p:cNvPr id="118880" name="Group 4"/>
            <p:cNvGrpSpPr>
              <a:grpSpLocks/>
            </p:cNvGrpSpPr>
            <p:nvPr/>
          </p:nvGrpSpPr>
          <p:grpSpPr bwMode="auto">
            <a:xfrm>
              <a:off x="4766" y="232"/>
              <a:ext cx="873" cy="692"/>
              <a:chOff x="2185" y="310"/>
              <a:chExt cx="873" cy="692"/>
            </a:xfrm>
          </p:grpSpPr>
          <p:sp>
            <p:nvSpPr>
              <p:cNvPr id="118891"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2"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3"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4"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5"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6"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7"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8881" name="Group 12"/>
            <p:cNvGrpSpPr>
              <a:grpSpLocks/>
            </p:cNvGrpSpPr>
            <p:nvPr/>
          </p:nvGrpSpPr>
          <p:grpSpPr bwMode="auto">
            <a:xfrm>
              <a:off x="4949" y="336"/>
              <a:ext cx="591" cy="468"/>
              <a:chOff x="2185" y="310"/>
              <a:chExt cx="873" cy="692"/>
            </a:xfrm>
          </p:grpSpPr>
          <p:sp>
            <p:nvSpPr>
              <p:cNvPr id="118884"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5"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6"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7"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8"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89"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90"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8882"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83"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17</a:t>
              </a:r>
              <a:endParaRPr lang="fr-FR" altLang="fr-FR" sz="3200">
                <a:solidFill>
                  <a:schemeClr val="tx1"/>
                </a:solidFill>
                <a:latin typeface="Arial Black" pitchFamily="34" charset="0"/>
              </a:endParaRPr>
            </a:p>
          </p:txBody>
        </p:sp>
      </p:grpSp>
      <p:sp>
        <p:nvSpPr>
          <p:cNvPr id="118788" name="Text Box 22"/>
          <p:cNvSpPr txBox="1">
            <a:spLocks noChangeArrowheads="1"/>
          </p:cNvSpPr>
          <p:nvPr/>
        </p:nvSpPr>
        <p:spPr bwMode="auto">
          <a:xfrm>
            <a:off x="2230438" y="37576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R2</a:t>
            </a:r>
          </a:p>
        </p:txBody>
      </p:sp>
      <p:sp>
        <p:nvSpPr>
          <p:cNvPr id="118789" name="Text Box 23"/>
          <p:cNvSpPr txBox="1">
            <a:spLocks noChangeArrowheads="1"/>
          </p:cNvSpPr>
          <p:nvPr/>
        </p:nvSpPr>
        <p:spPr bwMode="auto">
          <a:xfrm>
            <a:off x="3652838" y="37576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18790" name="Text Box 26"/>
          <p:cNvSpPr txBox="1">
            <a:spLocks noChangeArrowheads="1"/>
          </p:cNvSpPr>
          <p:nvPr/>
        </p:nvSpPr>
        <p:spPr bwMode="auto">
          <a:xfrm>
            <a:off x="5070475" y="3727450"/>
            <a:ext cx="2108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Couronnes</a:t>
            </a:r>
          </a:p>
        </p:txBody>
      </p:sp>
      <p:sp>
        <p:nvSpPr>
          <p:cNvPr id="118791" name="Rectangle 27"/>
          <p:cNvSpPr>
            <a:spLocks noGrp="1" noChangeArrowheads="1"/>
          </p:cNvSpPr>
          <p:nvPr>
            <p:ph type="title"/>
          </p:nvPr>
        </p:nvSpPr>
        <p:spPr>
          <a:xfrm>
            <a:off x="858838" y="0"/>
            <a:ext cx="6038850" cy="647700"/>
          </a:xfrm>
        </p:spPr>
        <p:txBody>
          <a:bodyPr/>
          <a:lstStyle/>
          <a:p>
            <a:pPr eaLnBrk="1" hangingPunct="1"/>
            <a:r>
              <a:rPr lang="fr-FR" altLang="fr-FR"/>
              <a:t>Sem. 2 - Mercredi </a:t>
            </a:r>
            <a:r>
              <a:rPr lang="fr-FR" altLang="fr-FR" sz="2200"/>
              <a:t>(fêtes de la dynastie</a:t>
            </a:r>
            <a:r>
              <a:rPr lang="fr-FR" altLang="fr-FR"/>
              <a:t>)</a:t>
            </a:r>
          </a:p>
        </p:txBody>
      </p:sp>
      <p:sp>
        <p:nvSpPr>
          <p:cNvPr id="118792"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18793"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8794"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8795" name="Group 32"/>
          <p:cNvGrpSpPr>
            <a:grpSpLocks/>
          </p:cNvGrpSpPr>
          <p:nvPr/>
        </p:nvGrpSpPr>
        <p:grpSpPr bwMode="auto">
          <a:xfrm>
            <a:off x="2843213" y="1106488"/>
            <a:ext cx="446087" cy="534987"/>
            <a:chOff x="868" y="1439"/>
            <a:chExt cx="811" cy="972"/>
          </a:xfrm>
        </p:grpSpPr>
        <p:sp>
          <p:nvSpPr>
            <p:cNvPr id="118829"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0"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1"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2"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3"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4"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5"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6"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7"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8"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39"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0"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1"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2"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3"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4"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5"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6"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7"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8"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49"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0"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1"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2"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3"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4"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5"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6"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7"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8"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59"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0"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1"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2"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3"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4"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5"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6"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7"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8"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69"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0"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1"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2"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3"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4"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5"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6"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7"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8"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8879"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8796" name="Group 84"/>
          <p:cNvGrpSpPr>
            <a:grpSpLocks/>
          </p:cNvGrpSpPr>
          <p:nvPr/>
        </p:nvGrpSpPr>
        <p:grpSpPr bwMode="auto">
          <a:xfrm rot="-223274">
            <a:off x="2344738" y="2982913"/>
            <a:ext cx="744537" cy="733425"/>
            <a:chOff x="2757" y="1666"/>
            <a:chExt cx="812" cy="800"/>
          </a:xfrm>
        </p:grpSpPr>
        <p:sp>
          <p:nvSpPr>
            <p:cNvPr id="118823"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24"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18825"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18826"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27"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18828"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18797" name="Group 91"/>
          <p:cNvGrpSpPr>
            <a:grpSpLocks/>
          </p:cNvGrpSpPr>
          <p:nvPr/>
        </p:nvGrpSpPr>
        <p:grpSpPr bwMode="auto">
          <a:xfrm rot="-223274">
            <a:off x="3730625" y="2981325"/>
            <a:ext cx="744538" cy="733425"/>
            <a:chOff x="2757" y="1666"/>
            <a:chExt cx="812" cy="800"/>
          </a:xfrm>
        </p:grpSpPr>
        <p:sp>
          <p:nvSpPr>
            <p:cNvPr id="118817"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18"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18819"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18820"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21"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18822"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18798" name="Oval 112"/>
          <p:cNvSpPr>
            <a:spLocks noChangeArrowheads="1"/>
          </p:cNvSpPr>
          <p:nvPr/>
        </p:nvSpPr>
        <p:spPr bwMode="auto">
          <a:xfrm rot="-5400000">
            <a:off x="5566569" y="3193256"/>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8799" name="Oval 113"/>
          <p:cNvSpPr>
            <a:spLocks noChangeArrowheads="1"/>
          </p:cNvSpPr>
          <p:nvPr/>
        </p:nvSpPr>
        <p:spPr bwMode="auto">
          <a:xfrm rot="-5400000">
            <a:off x="5930107" y="3193256"/>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8800" name="Oval 114"/>
          <p:cNvSpPr>
            <a:spLocks noChangeArrowheads="1"/>
          </p:cNvSpPr>
          <p:nvPr/>
        </p:nvSpPr>
        <p:spPr bwMode="auto">
          <a:xfrm rot="-5400000">
            <a:off x="6306344" y="31916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18801" name="Text Box 130"/>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18802" name="Text Box 132"/>
          <p:cNvSpPr txBox="1">
            <a:spLocks noChangeArrowheads="1"/>
          </p:cNvSpPr>
          <p:nvPr/>
        </p:nvSpPr>
        <p:spPr bwMode="auto">
          <a:xfrm>
            <a:off x="819150" y="374808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grpSp>
        <p:nvGrpSpPr>
          <p:cNvPr id="118803" name="Group 133"/>
          <p:cNvGrpSpPr>
            <a:grpSpLocks/>
          </p:cNvGrpSpPr>
          <p:nvPr/>
        </p:nvGrpSpPr>
        <p:grpSpPr bwMode="auto">
          <a:xfrm rot="-223274">
            <a:off x="896938" y="2971800"/>
            <a:ext cx="744537" cy="733425"/>
            <a:chOff x="2757" y="1666"/>
            <a:chExt cx="812" cy="800"/>
          </a:xfrm>
        </p:grpSpPr>
        <p:sp>
          <p:nvSpPr>
            <p:cNvPr id="118811" name="Freeform 13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12" name="Freeform 13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18813" name="Line 13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18814" name="Freeform 13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15" name="Freeform 13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18816" name="AutoShape 13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18804" name="Group 140"/>
          <p:cNvGrpSpPr>
            <a:grpSpLocks/>
          </p:cNvGrpSpPr>
          <p:nvPr/>
        </p:nvGrpSpPr>
        <p:grpSpPr bwMode="auto">
          <a:xfrm rot="-223274">
            <a:off x="854075" y="2740025"/>
            <a:ext cx="744538" cy="733425"/>
            <a:chOff x="2757" y="1666"/>
            <a:chExt cx="812" cy="800"/>
          </a:xfrm>
        </p:grpSpPr>
        <p:sp>
          <p:nvSpPr>
            <p:cNvPr id="118805" name="Freeform 14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06" name="Freeform 14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18807" name="Line 14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18808" name="Freeform 14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18809" name="Freeform 14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18810" name="AutoShape 14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9810" name="Group 2"/>
          <p:cNvGrpSpPr>
            <a:grpSpLocks/>
          </p:cNvGrpSpPr>
          <p:nvPr/>
        </p:nvGrpSpPr>
        <p:grpSpPr bwMode="auto">
          <a:xfrm>
            <a:off x="7073900" y="215900"/>
            <a:ext cx="1878013" cy="1250950"/>
            <a:chOff x="4456" y="136"/>
            <a:chExt cx="1183" cy="788"/>
          </a:xfrm>
        </p:grpSpPr>
        <p:grpSp>
          <p:nvGrpSpPr>
            <p:cNvPr id="119870" name="Group 3"/>
            <p:cNvGrpSpPr>
              <a:grpSpLocks/>
            </p:cNvGrpSpPr>
            <p:nvPr/>
          </p:nvGrpSpPr>
          <p:grpSpPr bwMode="auto">
            <a:xfrm>
              <a:off x="4766" y="232"/>
              <a:ext cx="873" cy="692"/>
              <a:chOff x="2185" y="310"/>
              <a:chExt cx="873" cy="692"/>
            </a:xfrm>
          </p:grpSpPr>
          <p:sp>
            <p:nvSpPr>
              <p:cNvPr id="11988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19871" name="Group 11"/>
            <p:cNvGrpSpPr>
              <a:grpSpLocks/>
            </p:cNvGrpSpPr>
            <p:nvPr/>
          </p:nvGrpSpPr>
          <p:grpSpPr bwMode="auto">
            <a:xfrm>
              <a:off x="4949" y="336"/>
              <a:ext cx="591" cy="468"/>
              <a:chOff x="2185" y="310"/>
              <a:chExt cx="873" cy="692"/>
            </a:xfrm>
          </p:grpSpPr>
          <p:sp>
            <p:nvSpPr>
              <p:cNvPr id="11987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7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8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1987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7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18</a:t>
              </a:r>
              <a:endParaRPr lang="fr-FR" altLang="fr-FR" sz="3200">
                <a:solidFill>
                  <a:schemeClr val="tx1"/>
                </a:solidFill>
                <a:latin typeface="Arial Black" pitchFamily="34" charset="0"/>
              </a:endParaRPr>
            </a:p>
          </p:txBody>
        </p:sp>
      </p:grpSp>
      <p:sp>
        <p:nvSpPr>
          <p:cNvPr id="11981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1981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19814" name="Group 24"/>
          <p:cNvGrpSpPr>
            <a:grpSpLocks/>
          </p:cNvGrpSpPr>
          <p:nvPr/>
        </p:nvGrpSpPr>
        <p:grpSpPr bwMode="auto">
          <a:xfrm>
            <a:off x="2986088" y="1306513"/>
            <a:ext cx="446087" cy="534987"/>
            <a:chOff x="868" y="1439"/>
            <a:chExt cx="811" cy="972"/>
          </a:xfrm>
        </p:grpSpPr>
        <p:sp>
          <p:nvSpPr>
            <p:cNvPr id="11981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2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3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4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5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1986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1981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1981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1981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0834" name="Group 2"/>
          <p:cNvGrpSpPr>
            <a:grpSpLocks/>
          </p:cNvGrpSpPr>
          <p:nvPr/>
        </p:nvGrpSpPr>
        <p:grpSpPr bwMode="auto">
          <a:xfrm>
            <a:off x="7073900" y="215900"/>
            <a:ext cx="1878013" cy="1250950"/>
            <a:chOff x="4456" y="136"/>
            <a:chExt cx="1183" cy="788"/>
          </a:xfrm>
        </p:grpSpPr>
        <p:grpSp>
          <p:nvGrpSpPr>
            <p:cNvPr id="120894" name="Group 3"/>
            <p:cNvGrpSpPr>
              <a:grpSpLocks/>
            </p:cNvGrpSpPr>
            <p:nvPr/>
          </p:nvGrpSpPr>
          <p:grpSpPr bwMode="auto">
            <a:xfrm>
              <a:off x="4766" y="232"/>
              <a:ext cx="873" cy="692"/>
              <a:chOff x="2185" y="310"/>
              <a:chExt cx="873" cy="692"/>
            </a:xfrm>
          </p:grpSpPr>
          <p:sp>
            <p:nvSpPr>
              <p:cNvPr id="12090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1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1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0895" name="Group 11"/>
            <p:cNvGrpSpPr>
              <a:grpSpLocks/>
            </p:cNvGrpSpPr>
            <p:nvPr/>
          </p:nvGrpSpPr>
          <p:grpSpPr bwMode="auto">
            <a:xfrm>
              <a:off x="4949" y="336"/>
              <a:ext cx="591" cy="468"/>
              <a:chOff x="2185" y="310"/>
              <a:chExt cx="873" cy="692"/>
            </a:xfrm>
          </p:grpSpPr>
          <p:sp>
            <p:nvSpPr>
              <p:cNvPr id="12089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90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089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9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19</a:t>
              </a:r>
              <a:endParaRPr lang="fr-FR" altLang="fr-FR" sz="3200">
                <a:solidFill>
                  <a:schemeClr val="tx1"/>
                </a:solidFill>
                <a:latin typeface="Arial Black" pitchFamily="34" charset="0"/>
              </a:endParaRPr>
            </a:p>
          </p:txBody>
        </p:sp>
      </p:grpSp>
      <p:sp>
        <p:nvSpPr>
          <p:cNvPr id="12083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083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0838" name="Group 24"/>
          <p:cNvGrpSpPr>
            <a:grpSpLocks/>
          </p:cNvGrpSpPr>
          <p:nvPr/>
        </p:nvGrpSpPr>
        <p:grpSpPr bwMode="auto">
          <a:xfrm>
            <a:off x="2986088" y="1306513"/>
            <a:ext cx="446087" cy="534987"/>
            <a:chOff x="868" y="1439"/>
            <a:chExt cx="811" cy="972"/>
          </a:xfrm>
        </p:grpSpPr>
        <p:sp>
          <p:nvSpPr>
            <p:cNvPr id="12084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4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5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6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7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8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089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084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084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084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858" name="Group 2"/>
          <p:cNvGrpSpPr>
            <a:grpSpLocks/>
          </p:cNvGrpSpPr>
          <p:nvPr/>
        </p:nvGrpSpPr>
        <p:grpSpPr bwMode="auto">
          <a:xfrm>
            <a:off x="7073900" y="215900"/>
            <a:ext cx="1878013" cy="1250950"/>
            <a:chOff x="4456" y="136"/>
            <a:chExt cx="1183" cy="788"/>
          </a:xfrm>
        </p:grpSpPr>
        <p:grpSp>
          <p:nvGrpSpPr>
            <p:cNvPr id="121918" name="Group 3"/>
            <p:cNvGrpSpPr>
              <a:grpSpLocks/>
            </p:cNvGrpSpPr>
            <p:nvPr/>
          </p:nvGrpSpPr>
          <p:grpSpPr bwMode="auto">
            <a:xfrm>
              <a:off x="4766" y="232"/>
              <a:ext cx="873" cy="692"/>
              <a:chOff x="2185" y="310"/>
              <a:chExt cx="873" cy="692"/>
            </a:xfrm>
          </p:grpSpPr>
          <p:sp>
            <p:nvSpPr>
              <p:cNvPr id="12192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3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1919" name="Group 11"/>
            <p:cNvGrpSpPr>
              <a:grpSpLocks/>
            </p:cNvGrpSpPr>
            <p:nvPr/>
          </p:nvGrpSpPr>
          <p:grpSpPr bwMode="auto">
            <a:xfrm>
              <a:off x="4949" y="336"/>
              <a:ext cx="591" cy="468"/>
              <a:chOff x="2185" y="310"/>
              <a:chExt cx="873" cy="692"/>
            </a:xfrm>
          </p:grpSpPr>
          <p:sp>
            <p:nvSpPr>
              <p:cNvPr id="12192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2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192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92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20</a:t>
              </a:r>
              <a:endParaRPr lang="fr-FR" altLang="fr-FR" sz="3200">
                <a:solidFill>
                  <a:schemeClr val="tx1"/>
                </a:solidFill>
                <a:latin typeface="Arial Black" pitchFamily="34" charset="0"/>
              </a:endParaRPr>
            </a:p>
          </p:txBody>
        </p:sp>
      </p:grpSp>
      <p:sp>
        <p:nvSpPr>
          <p:cNvPr id="12186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186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1862" name="Group 24"/>
          <p:cNvGrpSpPr>
            <a:grpSpLocks/>
          </p:cNvGrpSpPr>
          <p:nvPr/>
        </p:nvGrpSpPr>
        <p:grpSpPr bwMode="auto">
          <a:xfrm>
            <a:off x="2986088" y="1306513"/>
            <a:ext cx="446087" cy="534987"/>
            <a:chOff x="868" y="1439"/>
            <a:chExt cx="811" cy="972"/>
          </a:xfrm>
        </p:grpSpPr>
        <p:sp>
          <p:nvSpPr>
            <p:cNvPr id="12186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6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6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7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8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89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0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191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186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186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186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2882" name="Group 2"/>
          <p:cNvGrpSpPr>
            <a:grpSpLocks/>
          </p:cNvGrpSpPr>
          <p:nvPr/>
        </p:nvGrpSpPr>
        <p:grpSpPr bwMode="auto">
          <a:xfrm>
            <a:off x="7073900" y="215900"/>
            <a:ext cx="1878013" cy="1250950"/>
            <a:chOff x="4456" y="136"/>
            <a:chExt cx="1183" cy="788"/>
          </a:xfrm>
        </p:grpSpPr>
        <p:grpSp>
          <p:nvGrpSpPr>
            <p:cNvPr id="122942" name="Group 3"/>
            <p:cNvGrpSpPr>
              <a:grpSpLocks/>
            </p:cNvGrpSpPr>
            <p:nvPr/>
          </p:nvGrpSpPr>
          <p:grpSpPr bwMode="auto">
            <a:xfrm>
              <a:off x="4766" y="232"/>
              <a:ext cx="873" cy="692"/>
              <a:chOff x="2185" y="310"/>
              <a:chExt cx="873" cy="692"/>
            </a:xfrm>
          </p:grpSpPr>
          <p:sp>
            <p:nvSpPr>
              <p:cNvPr id="12295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2943" name="Group 11"/>
            <p:cNvGrpSpPr>
              <a:grpSpLocks/>
            </p:cNvGrpSpPr>
            <p:nvPr/>
          </p:nvGrpSpPr>
          <p:grpSpPr bwMode="auto">
            <a:xfrm>
              <a:off x="4949" y="336"/>
              <a:ext cx="591" cy="468"/>
              <a:chOff x="2185" y="310"/>
              <a:chExt cx="873" cy="692"/>
            </a:xfrm>
          </p:grpSpPr>
          <p:sp>
            <p:nvSpPr>
              <p:cNvPr id="12294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5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294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4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21</a:t>
              </a:r>
              <a:endParaRPr lang="fr-FR" altLang="fr-FR" sz="3200">
                <a:solidFill>
                  <a:schemeClr val="tx1"/>
                </a:solidFill>
                <a:latin typeface="Arial Black" pitchFamily="34" charset="0"/>
              </a:endParaRPr>
            </a:p>
          </p:txBody>
        </p:sp>
      </p:grpSp>
      <p:sp>
        <p:nvSpPr>
          <p:cNvPr id="12288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288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2886" name="Group 24"/>
          <p:cNvGrpSpPr>
            <a:grpSpLocks/>
          </p:cNvGrpSpPr>
          <p:nvPr/>
        </p:nvGrpSpPr>
        <p:grpSpPr bwMode="auto">
          <a:xfrm>
            <a:off x="2986088" y="1306513"/>
            <a:ext cx="446087" cy="534987"/>
            <a:chOff x="868" y="1439"/>
            <a:chExt cx="811" cy="972"/>
          </a:xfrm>
        </p:grpSpPr>
        <p:sp>
          <p:nvSpPr>
            <p:cNvPr id="12289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89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0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1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2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3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294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288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288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289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3906" name="Group 2"/>
          <p:cNvGrpSpPr>
            <a:grpSpLocks/>
          </p:cNvGrpSpPr>
          <p:nvPr/>
        </p:nvGrpSpPr>
        <p:grpSpPr bwMode="auto">
          <a:xfrm>
            <a:off x="7073900" y="215900"/>
            <a:ext cx="1878013" cy="1250950"/>
            <a:chOff x="4456" y="136"/>
            <a:chExt cx="1183" cy="788"/>
          </a:xfrm>
        </p:grpSpPr>
        <p:grpSp>
          <p:nvGrpSpPr>
            <p:cNvPr id="123966" name="Group 3"/>
            <p:cNvGrpSpPr>
              <a:grpSpLocks/>
            </p:cNvGrpSpPr>
            <p:nvPr/>
          </p:nvGrpSpPr>
          <p:grpSpPr bwMode="auto">
            <a:xfrm>
              <a:off x="4766" y="232"/>
              <a:ext cx="873" cy="692"/>
              <a:chOff x="2185" y="310"/>
              <a:chExt cx="873" cy="692"/>
            </a:xfrm>
          </p:grpSpPr>
          <p:sp>
            <p:nvSpPr>
              <p:cNvPr id="12397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8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8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8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8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3967" name="Group 11"/>
            <p:cNvGrpSpPr>
              <a:grpSpLocks/>
            </p:cNvGrpSpPr>
            <p:nvPr/>
          </p:nvGrpSpPr>
          <p:grpSpPr bwMode="auto">
            <a:xfrm>
              <a:off x="4949" y="336"/>
              <a:ext cx="591" cy="468"/>
              <a:chOff x="2185" y="310"/>
              <a:chExt cx="873" cy="692"/>
            </a:xfrm>
          </p:grpSpPr>
          <p:sp>
            <p:nvSpPr>
              <p:cNvPr id="12397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7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396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6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22</a:t>
              </a:r>
              <a:endParaRPr lang="fr-FR" altLang="fr-FR" sz="3200">
                <a:solidFill>
                  <a:schemeClr val="tx1"/>
                </a:solidFill>
                <a:latin typeface="Arial Black" pitchFamily="34" charset="0"/>
              </a:endParaRPr>
            </a:p>
          </p:txBody>
        </p:sp>
      </p:grpSp>
      <p:sp>
        <p:nvSpPr>
          <p:cNvPr id="12390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390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3910" name="Group 24"/>
          <p:cNvGrpSpPr>
            <a:grpSpLocks/>
          </p:cNvGrpSpPr>
          <p:nvPr/>
        </p:nvGrpSpPr>
        <p:grpSpPr bwMode="auto">
          <a:xfrm>
            <a:off x="2986088" y="1306513"/>
            <a:ext cx="446087" cy="534987"/>
            <a:chOff x="868" y="1439"/>
            <a:chExt cx="811" cy="972"/>
          </a:xfrm>
        </p:grpSpPr>
        <p:sp>
          <p:nvSpPr>
            <p:cNvPr id="12391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1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1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1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1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2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3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4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5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396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391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391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391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930" name="Group 2"/>
          <p:cNvGrpSpPr>
            <a:grpSpLocks/>
          </p:cNvGrpSpPr>
          <p:nvPr/>
        </p:nvGrpSpPr>
        <p:grpSpPr bwMode="auto">
          <a:xfrm>
            <a:off x="7073900" y="215900"/>
            <a:ext cx="1878013" cy="1250950"/>
            <a:chOff x="4456" y="136"/>
            <a:chExt cx="1183" cy="788"/>
          </a:xfrm>
        </p:grpSpPr>
        <p:grpSp>
          <p:nvGrpSpPr>
            <p:cNvPr id="124990" name="Group 3"/>
            <p:cNvGrpSpPr>
              <a:grpSpLocks/>
            </p:cNvGrpSpPr>
            <p:nvPr/>
          </p:nvGrpSpPr>
          <p:grpSpPr bwMode="auto">
            <a:xfrm>
              <a:off x="4766" y="232"/>
              <a:ext cx="873" cy="692"/>
              <a:chOff x="2185" y="310"/>
              <a:chExt cx="873" cy="692"/>
            </a:xfrm>
          </p:grpSpPr>
          <p:sp>
            <p:nvSpPr>
              <p:cNvPr id="12500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4991" name="Group 11"/>
            <p:cNvGrpSpPr>
              <a:grpSpLocks/>
            </p:cNvGrpSpPr>
            <p:nvPr/>
          </p:nvGrpSpPr>
          <p:grpSpPr bwMode="auto">
            <a:xfrm>
              <a:off x="4949" y="336"/>
              <a:ext cx="591" cy="468"/>
              <a:chOff x="2185" y="310"/>
              <a:chExt cx="873" cy="692"/>
            </a:xfrm>
          </p:grpSpPr>
          <p:sp>
            <p:nvSpPr>
              <p:cNvPr id="12499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9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00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499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9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23</a:t>
              </a:r>
              <a:endParaRPr lang="fr-FR" altLang="fr-FR" sz="3200">
                <a:solidFill>
                  <a:schemeClr val="tx1"/>
                </a:solidFill>
                <a:latin typeface="Arial Black" pitchFamily="34" charset="0"/>
              </a:endParaRPr>
            </a:p>
          </p:txBody>
        </p:sp>
      </p:grpSp>
      <p:sp>
        <p:nvSpPr>
          <p:cNvPr id="12493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493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4934" name="Group 24"/>
          <p:cNvGrpSpPr>
            <a:grpSpLocks/>
          </p:cNvGrpSpPr>
          <p:nvPr/>
        </p:nvGrpSpPr>
        <p:grpSpPr bwMode="auto">
          <a:xfrm>
            <a:off x="2986088" y="1306513"/>
            <a:ext cx="446087" cy="534987"/>
            <a:chOff x="868" y="1439"/>
            <a:chExt cx="811" cy="972"/>
          </a:xfrm>
        </p:grpSpPr>
        <p:sp>
          <p:nvSpPr>
            <p:cNvPr id="12493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4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5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6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7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498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493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493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493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5954" name="Group 2"/>
          <p:cNvGrpSpPr>
            <a:grpSpLocks/>
          </p:cNvGrpSpPr>
          <p:nvPr/>
        </p:nvGrpSpPr>
        <p:grpSpPr bwMode="auto">
          <a:xfrm>
            <a:off x="7073900" y="215900"/>
            <a:ext cx="1878013" cy="1250950"/>
            <a:chOff x="4456" y="136"/>
            <a:chExt cx="1183" cy="788"/>
          </a:xfrm>
        </p:grpSpPr>
        <p:grpSp>
          <p:nvGrpSpPr>
            <p:cNvPr id="126014" name="Group 3"/>
            <p:cNvGrpSpPr>
              <a:grpSpLocks/>
            </p:cNvGrpSpPr>
            <p:nvPr/>
          </p:nvGrpSpPr>
          <p:grpSpPr bwMode="auto">
            <a:xfrm>
              <a:off x="4766" y="232"/>
              <a:ext cx="873" cy="692"/>
              <a:chOff x="2185" y="310"/>
              <a:chExt cx="873" cy="692"/>
            </a:xfrm>
          </p:grpSpPr>
          <p:sp>
            <p:nvSpPr>
              <p:cNvPr id="12602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3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3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6015" name="Group 11"/>
            <p:cNvGrpSpPr>
              <a:grpSpLocks/>
            </p:cNvGrpSpPr>
            <p:nvPr/>
          </p:nvGrpSpPr>
          <p:grpSpPr bwMode="auto">
            <a:xfrm>
              <a:off x="4949" y="336"/>
              <a:ext cx="591" cy="468"/>
              <a:chOff x="2185" y="310"/>
              <a:chExt cx="873" cy="692"/>
            </a:xfrm>
          </p:grpSpPr>
          <p:sp>
            <p:nvSpPr>
              <p:cNvPr id="12601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2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601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01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24</a:t>
              </a:r>
              <a:endParaRPr lang="fr-FR" altLang="fr-FR" sz="3200">
                <a:solidFill>
                  <a:schemeClr val="tx1"/>
                </a:solidFill>
                <a:latin typeface="Arial Black" pitchFamily="34" charset="0"/>
              </a:endParaRPr>
            </a:p>
          </p:txBody>
        </p:sp>
      </p:grpSp>
      <p:sp>
        <p:nvSpPr>
          <p:cNvPr id="12595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595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5958" name="Group 24"/>
          <p:cNvGrpSpPr>
            <a:grpSpLocks/>
          </p:cNvGrpSpPr>
          <p:nvPr/>
        </p:nvGrpSpPr>
        <p:grpSpPr bwMode="auto">
          <a:xfrm>
            <a:off x="2986088" y="1306513"/>
            <a:ext cx="446087" cy="534987"/>
            <a:chOff x="868" y="1439"/>
            <a:chExt cx="811" cy="972"/>
          </a:xfrm>
        </p:grpSpPr>
        <p:sp>
          <p:nvSpPr>
            <p:cNvPr id="12596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6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7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8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599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0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601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596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Mercredi</a:t>
            </a:r>
          </a:p>
        </p:txBody>
      </p:sp>
      <p:sp>
        <p:nvSpPr>
          <p:cNvPr id="12596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596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6979" name="Group 3"/>
          <p:cNvGrpSpPr>
            <a:grpSpLocks/>
          </p:cNvGrpSpPr>
          <p:nvPr/>
        </p:nvGrpSpPr>
        <p:grpSpPr bwMode="auto">
          <a:xfrm>
            <a:off x="7073900" y="215900"/>
            <a:ext cx="1878013" cy="1250950"/>
            <a:chOff x="4456" y="136"/>
            <a:chExt cx="1183" cy="788"/>
          </a:xfrm>
        </p:grpSpPr>
        <p:grpSp>
          <p:nvGrpSpPr>
            <p:cNvPr id="127073" name="Group 4"/>
            <p:cNvGrpSpPr>
              <a:grpSpLocks/>
            </p:cNvGrpSpPr>
            <p:nvPr/>
          </p:nvGrpSpPr>
          <p:grpSpPr bwMode="auto">
            <a:xfrm>
              <a:off x="4766" y="232"/>
              <a:ext cx="873" cy="692"/>
              <a:chOff x="2185" y="310"/>
              <a:chExt cx="873" cy="692"/>
            </a:xfrm>
          </p:grpSpPr>
          <p:sp>
            <p:nvSpPr>
              <p:cNvPr id="12708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9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7074" name="Group 12"/>
            <p:cNvGrpSpPr>
              <a:grpSpLocks/>
            </p:cNvGrpSpPr>
            <p:nvPr/>
          </p:nvGrpSpPr>
          <p:grpSpPr bwMode="auto">
            <a:xfrm>
              <a:off x="4949" y="336"/>
              <a:ext cx="591" cy="468"/>
              <a:chOff x="2185" y="310"/>
              <a:chExt cx="873" cy="692"/>
            </a:xfrm>
          </p:grpSpPr>
          <p:sp>
            <p:nvSpPr>
              <p:cNvPr id="12707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8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707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07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25</a:t>
              </a:r>
              <a:endParaRPr lang="fr-FR" altLang="fr-FR" sz="3200">
                <a:solidFill>
                  <a:schemeClr val="tx1"/>
                </a:solidFill>
                <a:latin typeface="Arial Black" pitchFamily="34" charset="0"/>
              </a:endParaRPr>
            </a:p>
          </p:txBody>
        </p:sp>
      </p:grpSp>
      <p:sp>
        <p:nvSpPr>
          <p:cNvPr id="126980" name="Text Box 22"/>
          <p:cNvSpPr txBox="1">
            <a:spLocks noChangeArrowheads="1"/>
          </p:cNvSpPr>
          <p:nvPr/>
        </p:nvSpPr>
        <p:spPr bwMode="auto">
          <a:xfrm>
            <a:off x="78263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126981" name="Text Box 23"/>
          <p:cNvSpPr txBox="1">
            <a:spLocks noChangeArrowheads="1"/>
          </p:cNvSpPr>
          <p:nvPr/>
        </p:nvSpPr>
        <p:spPr bwMode="auto">
          <a:xfrm>
            <a:off x="2263775"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26982" name="Text Box 24"/>
          <p:cNvSpPr txBox="1">
            <a:spLocks noChangeArrowheads="1"/>
          </p:cNvSpPr>
          <p:nvPr/>
        </p:nvSpPr>
        <p:spPr bwMode="auto">
          <a:xfrm>
            <a:off x="3649663"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26983" name="Rectangle 27"/>
          <p:cNvSpPr>
            <a:spLocks noGrp="1" noChangeArrowheads="1"/>
          </p:cNvSpPr>
          <p:nvPr>
            <p:ph type="title"/>
          </p:nvPr>
        </p:nvSpPr>
        <p:spPr>
          <a:xfrm>
            <a:off x="1381125" y="0"/>
            <a:ext cx="5516563" cy="647700"/>
          </a:xfrm>
        </p:spPr>
        <p:txBody>
          <a:bodyPr/>
          <a:lstStyle/>
          <a:p>
            <a:pPr eaLnBrk="1" hangingPunct="1"/>
            <a:r>
              <a:rPr lang="fr-FR" altLang="fr-FR"/>
              <a:t>Sem. 2 - Jeudi (Ste Marguerite)</a:t>
            </a:r>
          </a:p>
        </p:txBody>
      </p:sp>
      <p:sp>
        <p:nvSpPr>
          <p:cNvPr id="126984"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26985"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6986"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6987" name="Group 32"/>
          <p:cNvGrpSpPr>
            <a:grpSpLocks/>
          </p:cNvGrpSpPr>
          <p:nvPr/>
        </p:nvGrpSpPr>
        <p:grpSpPr bwMode="auto">
          <a:xfrm>
            <a:off x="2843213" y="1106488"/>
            <a:ext cx="446087" cy="534987"/>
            <a:chOff x="868" y="1439"/>
            <a:chExt cx="811" cy="972"/>
          </a:xfrm>
        </p:grpSpPr>
        <p:sp>
          <p:nvSpPr>
            <p:cNvPr id="127022" name="Freeform 33"/>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3" name="Freeform 34"/>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4" name="Freeform 35"/>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5" name="Freeform 36"/>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6" name="Freeform 37"/>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7" name="Freeform 38"/>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8" name="Freeform 39"/>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29" name="Freeform 40"/>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0" name="Freeform 41"/>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1" name="Freeform 42"/>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2" name="Freeform 43"/>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3" name="Freeform 44"/>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4" name="Freeform 45"/>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5" name="Freeform 46"/>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6" name="Freeform 47"/>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7" name="Freeform 48"/>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8" name="Freeform 49"/>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39" name="Freeform 50"/>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0" name="Freeform 51"/>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1" name="Freeform 52"/>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2" name="Freeform 53"/>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3" name="Freeform 54"/>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4" name="Freeform 55"/>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5" name="Freeform 56"/>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6" name="Freeform 57"/>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7" name="Freeform 58"/>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8" name="Freeform 59"/>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49" name="Freeform 60"/>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0" name="Freeform 61"/>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1" name="Freeform 62"/>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2" name="Freeform 63"/>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3" name="Freeform 64"/>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4" name="Freeform 65"/>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5" name="Freeform 66"/>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6" name="Freeform 67"/>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7" name="Freeform 68"/>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8" name="Freeform 69"/>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59" name="Freeform 70"/>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0" name="Freeform 71"/>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1" name="Freeform 72"/>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2" name="Freeform 73"/>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3" name="Freeform 74"/>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4" name="Freeform 75"/>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5" name="Freeform 76"/>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6" name="Freeform 77"/>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7" name="Freeform 78"/>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8" name="Freeform 79"/>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69" name="Freeform 80"/>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0" name="Freeform 81"/>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1" name="Freeform 82"/>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7072" name="Freeform 83"/>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6988" name="Group 84"/>
          <p:cNvGrpSpPr>
            <a:grpSpLocks/>
          </p:cNvGrpSpPr>
          <p:nvPr/>
        </p:nvGrpSpPr>
        <p:grpSpPr bwMode="auto">
          <a:xfrm rot="-223274">
            <a:off x="915988" y="2820988"/>
            <a:ext cx="744537" cy="733425"/>
            <a:chOff x="2757" y="1666"/>
            <a:chExt cx="812" cy="800"/>
          </a:xfrm>
        </p:grpSpPr>
        <p:sp>
          <p:nvSpPr>
            <p:cNvPr id="127016" name="Freeform 85"/>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17" name="Freeform 86"/>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7018" name="Line 87"/>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27019" name="Freeform 88"/>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20" name="Freeform 89"/>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27021" name="AutoShape 90"/>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26989" name="Group 91"/>
          <p:cNvGrpSpPr>
            <a:grpSpLocks/>
          </p:cNvGrpSpPr>
          <p:nvPr/>
        </p:nvGrpSpPr>
        <p:grpSpPr bwMode="auto">
          <a:xfrm rot="-223274">
            <a:off x="2339975" y="2838450"/>
            <a:ext cx="744538" cy="733425"/>
            <a:chOff x="2757" y="1666"/>
            <a:chExt cx="812" cy="800"/>
          </a:xfrm>
        </p:grpSpPr>
        <p:sp>
          <p:nvSpPr>
            <p:cNvPr id="127010" name="Freeform 9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11" name="Freeform 9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7012" name="Line 9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27013" name="Freeform 9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14" name="Freeform 9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27015" name="AutoShape 9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26990" name="Group 98"/>
          <p:cNvGrpSpPr>
            <a:grpSpLocks/>
          </p:cNvGrpSpPr>
          <p:nvPr/>
        </p:nvGrpSpPr>
        <p:grpSpPr bwMode="auto">
          <a:xfrm rot="-223274">
            <a:off x="3751263" y="2806700"/>
            <a:ext cx="744537" cy="733425"/>
            <a:chOff x="2757" y="1666"/>
            <a:chExt cx="812" cy="800"/>
          </a:xfrm>
        </p:grpSpPr>
        <p:sp>
          <p:nvSpPr>
            <p:cNvPr id="127004" name="Freeform 9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05" name="Freeform 10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7006" name="Line 10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27007" name="Freeform 10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08" name="Freeform 10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27009" name="AutoShape 10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26991" name="Group 123"/>
          <p:cNvGrpSpPr>
            <a:grpSpLocks/>
          </p:cNvGrpSpPr>
          <p:nvPr/>
        </p:nvGrpSpPr>
        <p:grpSpPr bwMode="auto">
          <a:xfrm rot="-223274">
            <a:off x="5195888" y="2849563"/>
            <a:ext cx="744537" cy="733425"/>
            <a:chOff x="2757" y="1666"/>
            <a:chExt cx="812" cy="800"/>
          </a:xfrm>
        </p:grpSpPr>
        <p:sp>
          <p:nvSpPr>
            <p:cNvPr id="126998" name="Freeform 12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6999" name="Freeform 12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27000" name="Line 12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27001" name="Freeform 12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27002" name="Freeform 12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27003" name="AutoShape 12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26992" name="Text Box 130"/>
          <p:cNvSpPr txBox="1">
            <a:spLocks noChangeArrowheads="1"/>
          </p:cNvSpPr>
          <p:nvPr/>
        </p:nvSpPr>
        <p:spPr bwMode="auto">
          <a:xfrm>
            <a:off x="503713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126993" name="Text Box 131"/>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26994" name="Text Box 132"/>
          <p:cNvSpPr txBox="1">
            <a:spLocks noChangeArrowheads="1"/>
          </p:cNvSpPr>
          <p:nvPr/>
        </p:nvSpPr>
        <p:spPr bwMode="auto">
          <a:xfrm>
            <a:off x="6261100" y="3640138"/>
            <a:ext cx="21971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Couronnes</a:t>
            </a:r>
          </a:p>
        </p:txBody>
      </p:sp>
      <p:sp>
        <p:nvSpPr>
          <p:cNvPr id="126995" name="Oval 133"/>
          <p:cNvSpPr>
            <a:spLocks noChangeArrowheads="1"/>
          </p:cNvSpPr>
          <p:nvPr/>
        </p:nvSpPr>
        <p:spPr bwMode="auto">
          <a:xfrm rot="-5400000">
            <a:off x="6641307" y="3123406"/>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26996" name="Oval 134"/>
          <p:cNvSpPr>
            <a:spLocks noChangeArrowheads="1"/>
          </p:cNvSpPr>
          <p:nvPr/>
        </p:nvSpPr>
        <p:spPr bwMode="auto">
          <a:xfrm rot="-5400000">
            <a:off x="7004844" y="3123406"/>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26997" name="Oval 135"/>
          <p:cNvSpPr>
            <a:spLocks noChangeArrowheads="1"/>
          </p:cNvSpPr>
          <p:nvPr/>
        </p:nvSpPr>
        <p:spPr bwMode="auto">
          <a:xfrm rot="-5400000">
            <a:off x="7381082" y="312181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002" name="Group 2"/>
          <p:cNvGrpSpPr>
            <a:grpSpLocks/>
          </p:cNvGrpSpPr>
          <p:nvPr/>
        </p:nvGrpSpPr>
        <p:grpSpPr bwMode="auto">
          <a:xfrm>
            <a:off x="7073900" y="215900"/>
            <a:ext cx="1878013" cy="1250950"/>
            <a:chOff x="4456" y="136"/>
            <a:chExt cx="1183" cy="788"/>
          </a:xfrm>
        </p:grpSpPr>
        <p:grpSp>
          <p:nvGrpSpPr>
            <p:cNvPr id="128062" name="Group 3"/>
            <p:cNvGrpSpPr>
              <a:grpSpLocks/>
            </p:cNvGrpSpPr>
            <p:nvPr/>
          </p:nvGrpSpPr>
          <p:grpSpPr bwMode="auto">
            <a:xfrm>
              <a:off x="4766" y="232"/>
              <a:ext cx="873" cy="692"/>
              <a:chOff x="2185" y="310"/>
              <a:chExt cx="873" cy="692"/>
            </a:xfrm>
          </p:grpSpPr>
          <p:sp>
            <p:nvSpPr>
              <p:cNvPr id="12807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8063" name="Group 11"/>
            <p:cNvGrpSpPr>
              <a:grpSpLocks/>
            </p:cNvGrpSpPr>
            <p:nvPr/>
          </p:nvGrpSpPr>
          <p:grpSpPr bwMode="auto">
            <a:xfrm>
              <a:off x="4949" y="336"/>
              <a:ext cx="591" cy="468"/>
              <a:chOff x="2185" y="310"/>
              <a:chExt cx="873" cy="692"/>
            </a:xfrm>
          </p:grpSpPr>
          <p:sp>
            <p:nvSpPr>
              <p:cNvPr id="12806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7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806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6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26</a:t>
              </a:r>
              <a:endParaRPr lang="fr-FR" altLang="fr-FR" sz="3200">
                <a:solidFill>
                  <a:schemeClr val="tx1"/>
                </a:solidFill>
                <a:latin typeface="Arial Black" pitchFamily="34" charset="0"/>
              </a:endParaRPr>
            </a:p>
          </p:txBody>
        </p:sp>
      </p:grpSp>
      <p:sp>
        <p:nvSpPr>
          <p:cNvPr id="12800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800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8006" name="Group 24"/>
          <p:cNvGrpSpPr>
            <a:grpSpLocks/>
          </p:cNvGrpSpPr>
          <p:nvPr/>
        </p:nvGrpSpPr>
        <p:grpSpPr bwMode="auto">
          <a:xfrm>
            <a:off x="2986088" y="1306513"/>
            <a:ext cx="446087" cy="534987"/>
            <a:chOff x="868" y="1439"/>
            <a:chExt cx="811" cy="972"/>
          </a:xfrm>
        </p:grpSpPr>
        <p:sp>
          <p:nvSpPr>
            <p:cNvPr id="12801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1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2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3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4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5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806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800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2800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801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9026" name="Group 2"/>
          <p:cNvGrpSpPr>
            <a:grpSpLocks/>
          </p:cNvGrpSpPr>
          <p:nvPr/>
        </p:nvGrpSpPr>
        <p:grpSpPr bwMode="auto">
          <a:xfrm>
            <a:off x="7073900" y="215900"/>
            <a:ext cx="1878013" cy="1250950"/>
            <a:chOff x="4456" y="136"/>
            <a:chExt cx="1183" cy="788"/>
          </a:xfrm>
        </p:grpSpPr>
        <p:grpSp>
          <p:nvGrpSpPr>
            <p:cNvPr id="129086" name="Group 3"/>
            <p:cNvGrpSpPr>
              <a:grpSpLocks/>
            </p:cNvGrpSpPr>
            <p:nvPr/>
          </p:nvGrpSpPr>
          <p:grpSpPr bwMode="auto">
            <a:xfrm>
              <a:off x="4766" y="232"/>
              <a:ext cx="873" cy="692"/>
              <a:chOff x="2185" y="310"/>
              <a:chExt cx="873" cy="692"/>
            </a:xfrm>
          </p:grpSpPr>
          <p:sp>
            <p:nvSpPr>
              <p:cNvPr id="12909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10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10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10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10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29087" name="Group 11"/>
            <p:cNvGrpSpPr>
              <a:grpSpLocks/>
            </p:cNvGrpSpPr>
            <p:nvPr/>
          </p:nvGrpSpPr>
          <p:grpSpPr bwMode="auto">
            <a:xfrm>
              <a:off x="4949" y="336"/>
              <a:ext cx="591" cy="468"/>
              <a:chOff x="2185" y="310"/>
              <a:chExt cx="873" cy="692"/>
            </a:xfrm>
          </p:grpSpPr>
          <p:sp>
            <p:nvSpPr>
              <p:cNvPr id="12909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9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2908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08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27</a:t>
              </a:r>
              <a:endParaRPr lang="fr-FR" altLang="fr-FR" sz="3200">
                <a:solidFill>
                  <a:schemeClr val="tx1"/>
                </a:solidFill>
                <a:latin typeface="Arial Black" pitchFamily="34" charset="0"/>
              </a:endParaRPr>
            </a:p>
          </p:txBody>
        </p:sp>
      </p:grpSp>
      <p:sp>
        <p:nvSpPr>
          <p:cNvPr id="12902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2902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29030" name="Group 24"/>
          <p:cNvGrpSpPr>
            <a:grpSpLocks/>
          </p:cNvGrpSpPr>
          <p:nvPr/>
        </p:nvGrpSpPr>
        <p:grpSpPr bwMode="auto">
          <a:xfrm>
            <a:off x="2986088" y="1306513"/>
            <a:ext cx="446087" cy="534987"/>
            <a:chOff x="868" y="1439"/>
            <a:chExt cx="811" cy="972"/>
          </a:xfrm>
        </p:grpSpPr>
        <p:sp>
          <p:nvSpPr>
            <p:cNvPr id="12903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3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3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3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3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4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5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6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7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2908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903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2903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2903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0050" name="Group 2"/>
          <p:cNvGrpSpPr>
            <a:grpSpLocks/>
          </p:cNvGrpSpPr>
          <p:nvPr/>
        </p:nvGrpSpPr>
        <p:grpSpPr bwMode="auto">
          <a:xfrm>
            <a:off x="7073900" y="215900"/>
            <a:ext cx="1878013" cy="1250950"/>
            <a:chOff x="4456" y="136"/>
            <a:chExt cx="1183" cy="788"/>
          </a:xfrm>
        </p:grpSpPr>
        <p:grpSp>
          <p:nvGrpSpPr>
            <p:cNvPr id="130110" name="Group 3"/>
            <p:cNvGrpSpPr>
              <a:grpSpLocks/>
            </p:cNvGrpSpPr>
            <p:nvPr/>
          </p:nvGrpSpPr>
          <p:grpSpPr bwMode="auto">
            <a:xfrm>
              <a:off x="4766" y="232"/>
              <a:ext cx="873" cy="692"/>
              <a:chOff x="2185" y="310"/>
              <a:chExt cx="873" cy="692"/>
            </a:xfrm>
          </p:grpSpPr>
          <p:sp>
            <p:nvSpPr>
              <p:cNvPr id="1301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0111" name="Group 11"/>
            <p:cNvGrpSpPr>
              <a:grpSpLocks/>
            </p:cNvGrpSpPr>
            <p:nvPr/>
          </p:nvGrpSpPr>
          <p:grpSpPr bwMode="auto">
            <a:xfrm>
              <a:off x="4949" y="336"/>
              <a:ext cx="591" cy="468"/>
              <a:chOff x="2185" y="310"/>
              <a:chExt cx="873" cy="692"/>
            </a:xfrm>
          </p:grpSpPr>
          <p:sp>
            <p:nvSpPr>
              <p:cNvPr id="1301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01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11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28</a:t>
              </a:r>
              <a:endParaRPr lang="fr-FR" altLang="fr-FR" sz="3200">
                <a:solidFill>
                  <a:schemeClr val="tx1"/>
                </a:solidFill>
                <a:latin typeface="Arial Black" pitchFamily="34" charset="0"/>
              </a:endParaRPr>
            </a:p>
          </p:txBody>
        </p:sp>
      </p:grpSp>
      <p:sp>
        <p:nvSpPr>
          <p:cNvPr id="13005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005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0054" name="Group 24"/>
          <p:cNvGrpSpPr>
            <a:grpSpLocks/>
          </p:cNvGrpSpPr>
          <p:nvPr/>
        </p:nvGrpSpPr>
        <p:grpSpPr bwMode="auto">
          <a:xfrm>
            <a:off x="2986088" y="1306513"/>
            <a:ext cx="446087" cy="534987"/>
            <a:chOff x="868" y="1439"/>
            <a:chExt cx="811" cy="972"/>
          </a:xfrm>
        </p:grpSpPr>
        <p:sp>
          <p:nvSpPr>
            <p:cNvPr id="13005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6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7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8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09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010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005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005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005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1074" name="Group 2"/>
          <p:cNvGrpSpPr>
            <a:grpSpLocks/>
          </p:cNvGrpSpPr>
          <p:nvPr/>
        </p:nvGrpSpPr>
        <p:grpSpPr bwMode="auto">
          <a:xfrm>
            <a:off x="7073900" y="215900"/>
            <a:ext cx="1878013" cy="1250950"/>
            <a:chOff x="4456" y="136"/>
            <a:chExt cx="1183" cy="788"/>
          </a:xfrm>
        </p:grpSpPr>
        <p:grpSp>
          <p:nvGrpSpPr>
            <p:cNvPr id="131134" name="Group 3"/>
            <p:cNvGrpSpPr>
              <a:grpSpLocks/>
            </p:cNvGrpSpPr>
            <p:nvPr/>
          </p:nvGrpSpPr>
          <p:grpSpPr bwMode="auto">
            <a:xfrm>
              <a:off x="4766" y="232"/>
              <a:ext cx="873" cy="692"/>
              <a:chOff x="2185" y="310"/>
              <a:chExt cx="873" cy="692"/>
            </a:xfrm>
          </p:grpSpPr>
          <p:sp>
            <p:nvSpPr>
              <p:cNvPr id="13114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5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5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1135" name="Group 11"/>
            <p:cNvGrpSpPr>
              <a:grpSpLocks/>
            </p:cNvGrpSpPr>
            <p:nvPr/>
          </p:nvGrpSpPr>
          <p:grpSpPr bwMode="auto">
            <a:xfrm>
              <a:off x="4949" y="336"/>
              <a:ext cx="591" cy="468"/>
              <a:chOff x="2185" y="310"/>
              <a:chExt cx="873" cy="692"/>
            </a:xfrm>
          </p:grpSpPr>
          <p:sp>
            <p:nvSpPr>
              <p:cNvPr id="13113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4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113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13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29</a:t>
              </a:r>
              <a:endParaRPr lang="fr-FR" altLang="fr-FR" sz="3200">
                <a:solidFill>
                  <a:schemeClr val="tx1"/>
                </a:solidFill>
                <a:latin typeface="Arial Black" pitchFamily="34" charset="0"/>
              </a:endParaRPr>
            </a:p>
          </p:txBody>
        </p:sp>
      </p:grpSp>
      <p:sp>
        <p:nvSpPr>
          <p:cNvPr id="13107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107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1078" name="Group 24"/>
          <p:cNvGrpSpPr>
            <a:grpSpLocks/>
          </p:cNvGrpSpPr>
          <p:nvPr/>
        </p:nvGrpSpPr>
        <p:grpSpPr bwMode="auto">
          <a:xfrm>
            <a:off x="2986088" y="1306513"/>
            <a:ext cx="446087" cy="534987"/>
            <a:chOff x="868" y="1439"/>
            <a:chExt cx="811" cy="972"/>
          </a:xfrm>
        </p:grpSpPr>
        <p:sp>
          <p:nvSpPr>
            <p:cNvPr id="13108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8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09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0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1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2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113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108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108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108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2098" name="Group 2"/>
          <p:cNvGrpSpPr>
            <a:grpSpLocks/>
          </p:cNvGrpSpPr>
          <p:nvPr/>
        </p:nvGrpSpPr>
        <p:grpSpPr bwMode="auto">
          <a:xfrm>
            <a:off x="7073900" y="215900"/>
            <a:ext cx="1878013" cy="1250950"/>
            <a:chOff x="4456" y="136"/>
            <a:chExt cx="1183" cy="788"/>
          </a:xfrm>
        </p:grpSpPr>
        <p:grpSp>
          <p:nvGrpSpPr>
            <p:cNvPr id="132158" name="Group 3"/>
            <p:cNvGrpSpPr>
              <a:grpSpLocks/>
            </p:cNvGrpSpPr>
            <p:nvPr/>
          </p:nvGrpSpPr>
          <p:grpSpPr bwMode="auto">
            <a:xfrm>
              <a:off x="4766" y="232"/>
              <a:ext cx="873" cy="692"/>
              <a:chOff x="2185" y="310"/>
              <a:chExt cx="873" cy="692"/>
            </a:xfrm>
          </p:grpSpPr>
          <p:sp>
            <p:nvSpPr>
              <p:cNvPr id="13216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7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2159" name="Group 11"/>
            <p:cNvGrpSpPr>
              <a:grpSpLocks/>
            </p:cNvGrpSpPr>
            <p:nvPr/>
          </p:nvGrpSpPr>
          <p:grpSpPr bwMode="auto">
            <a:xfrm>
              <a:off x="4949" y="336"/>
              <a:ext cx="591" cy="468"/>
              <a:chOff x="2185" y="310"/>
              <a:chExt cx="873" cy="692"/>
            </a:xfrm>
          </p:grpSpPr>
          <p:sp>
            <p:nvSpPr>
              <p:cNvPr id="13216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6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216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6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30</a:t>
              </a:r>
              <a:endParaRPr lang="fr-FR" altLang="fr-FR" sz="3200">
                <a:solidFill>
                  <a:schemeClr val="tx1"/>
                </a:solidFill>
                <a:latin typeface="Arial Black" pitchFamily="34" charset="0"/>
              </a:endParaRPr>
            </a:p>
          </p:txBody>
        </p:sp>
      </p:grpSp>
      <p:sp>
        <p:nvSpPr>
          <p:cNvPr id="13210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210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2102" name="Group 24"/>
          <p:cNvGrpSpPr>
            <a:grpSpLocks/>
          </p:cNvGrpSpPr>
          <p:nvPr/>
        </p:nvGrpSpPr>
        <p:grpSpPr bwMode="auto">
          <a:xfrm>
            <a:off x="2986088" y="1306513"/>
            <a:ext cx="446087" cy="534987"/>
            <a:chOff x="868" y="1439"/>
            <a:chExt cx="811" cy="972"/>
          </a:xfrm>
        </p:grpSpPr>
        <p:sp>
          <p:nvSpPr>
            <p:cNvPr id="13210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0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0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1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2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3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4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215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210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210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210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2"/>
          <p:cNvSpPr>
            <a:spLocks noGrp="1" noChangeArrowheads="1"/>
          </p:cNvSpPr>
          <p:nvPr>
            <p:ph type="title"/>
          </p:nvPr>
        </p:nvSpPr>
        <p:spPr/>
        <p:txBody>
          <a:bodyPr/>
          <a:lstStyle/>
          <a:p>
            <a:pPr eaLnBrk="1" hangingPunct="1"/>
            <a:r>
              <a:rPr lang="fr-FR" altLang="fr-FR"/>
              <a:t>Question</a:t>
            </a:r>
          </a:p>
        </p:txBody>
      </p:sp>
      <p:sp>
        <p:nvSpPr>
          <p:cNvPr id="133123" name="Rectangle 3"/>
          <p:cNvSpPr>
            <a:spLocks noGrp="1" noChangeArrowheads="1"/>
          </p:cNvSpPr>
          <p:nvPr>
            <p:ph type="body" idx="1"/>
          </p:nvPr>
        </p:nvSpPr>
        <p:spPr>
          <a:xfrm>
            <a:off x="325438" y="1560513"/>
            <a:ext cx="8569325" cy="4625975"/>
          </a:xfrm>
        </p:spPr>
        <p:txBody>
          <a:bodyPr/>
          <a:lstStyle/>
          <a:p>
            <a:pPr eaLnBrk="1" hangingPunct="1">
              <a:buFontTx/>
              <a:buNone/>
            </a:pPr>
            <a:r>
              <a:rPr lang="fr-FR" altLang="fr-FR" u="sng"/>
              <a:t>Origine</a:t>
            </a:r>
            <a:r>
              <a:rPr lang="fr-FR" altLang="fr-FR"/>
              <a:t> : Fournisseur</a:t>
            </a:r>
          </a:p>
          <a:p>
            <a:pPr eaLnBrk="1" hangingPunct="1">
              <a:buFontTx/>
              <a:buNone/>
            </a:pPr>
            <a:r>
              <a:rPr lang="fr-FR" altLang="fr-FR" u="sng"/>
              <a:t>Destinataire</a:t>
            </a:r>
            <a:r>
              <a:rPr lang="fr-FR" altLang="fr-FR"/>
              <a:t> : Service Achats</a:t>
            </a:r>
          </a:p>
          <a:p>
            <a:pPr eaLnBrk="1" hangingPunct="1">
              <a:buFontTx/>
              <a:buNone/>
            </a:pPr>
            <a:endParaRPr lang="fr-FR" altLang="fr-FR"/>
          </a:p>
          <a:p>
            <a:pPr eaLnBrk="1" hangingPunct="1"/>
            <a:r>
              <a:rPr lang="fr-FR" altLang="fr-FR"/>
              <a:t>Vous m'avez récemment informé de la mise en place à la Société REDIX de la méthode japonaise KANBAN. D'après ce que j'ai compris, cela se traduira par des livraisons à effectuer en dernière minute, sans programme connu à l'avance. </a:t>
            </a:r>
          </a:p>
          <a:p>
            <a:pPr eaLnBrk="1" hangingPunct="1"/>
            <a:r>
              <a:rPr lang="fr-FR" altLang="fr-FR"/>
              <a:t>Vous n'ignorez sans doute pas que le seul moyen pour moi d'y arriver est d'anticiper sur vos demandes, c'est-à-dire de constituer des stocks. J'aurai donc chez moi les stocks qui ne seront plus chez vous ! </a:t>
            </a:r>
          </a:p>
          <a:p>
            <a:pPr eaLnBrk="1" hangingPunct="1"/>
            <a:r>
              <a:rPr lang="fr-FR" altLang="fr-FR"/>
              <a:t>II va sans dire que les conditions de prix sur lesquelles nous nous étions mis d'accord devront être révisées, compte tenu des charges financières que j'aurai à supporter.</a:t>
            </a: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4146" name="Group 2"/>
          <p:cNvGrpSpPr>
            <a:grpSpLocks/>
          </p:cNvGrpSpPr>
          <p:nvPr/>
        </p:nvGrpSpPr>
        <p:grpSpPr bwMode="auto">
          <a:xfrm>
            <a:off x="7073900" y="215900"/>
            <a:ext cx="1878013" cy="1250950"/>
            <a:chOff x="4456" y="136"/>
            <a:chExt cx="1183" cy="788"/>
          </a:xfrm>
        </p:grpSpPr>
        <p:grpSp>
          <p:nvGrpSpPr>
            <p:cNvPr id="134206" name="Group 3"/>
            <p:cNvGrpSpPr>
              <a:grpSpLocks/>
            </p:cNvGrpSpPr>
            <p:nvPr/>
          </p:nvGrpSpPr>
          <p:grpSpPr bwMode="auto">
            <a:xfrm>
              <a:off x="4766" y="232"/>
              <a:ext cx="873" cy="692"/>
              <a:chOff x="2185" y="310"/>
              <a:chExt cx="873" cy="692"/>
            </a:xfrm>
          </p:grpSpPr>
          <p:sp>
            <p:nvSpPr>
              <p:cNvPr id="1342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4207" name="Group 11"/>
            <p:cNvGrpSpPr>
              <a:grpSpLocks/>
            </p:cNvGrpSpPr>
            <p:nvPr/>
          </p:nvGrpSpPr>
          <p:grpSpPr bwMode="auto">
            <a:xfrm>
              <a:off x="4949" y="336"/>
              <a:ext cx="591" cy="468"/>
              <a:chOff x="2185" y="310"/>
              <a:chExt cx="873" cy="692"/>
            </a:xfrm>
          </p:grpSpPr>
          <p:sp>
            <p:nvSpPr>
              <p:cNvPr id="1342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42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20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31</a:t>
              </a:r>
              <a:endParaRPr lang="fr-FR" altLang="fr-FR" sz="3200">
                <a:solidFill>
                  <a:schemeClr val="tx1"/>
                </a:solidFill>
                <a:latin typeface="Arial Black" pitchFamily="34" charset="0"/>
              </a:endParaRPr>
            </a:p>
          </p:txBody>
        </p:sp>
      </p:grpSp>
      <p:sp>
        <p:nvSpPr>
          <p:cNvPr id="13414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414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4150" name="Group 24"/>
          <p:cNvGrpSpPr>
            <a:grpSpLocks/>
          </p:cNvGrpSpPr>
          <p:nvPr/>
        </p:nvGrpSpPr>
        <p:grpSpPr bwMode="auto">
          <a:xfrm>
            <a:off x="2986088" y="1306513"/>
            <a:ext cx="446087" cy="534987"/>
            <a:chOff x="868" y="1439"/>
            <a:chExt cx="811" cy="972"/>
          </a:xfrm>
        </p:grpSpPr>
        <p:sp>
          <p:nvSpPr>
            <p:cNvPr id="13415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5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5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5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5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6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7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8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19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420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415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415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415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170" name="Group 2"/>
          <p:cNvGrpSpPr>
            <a:grpSpLocks/>
          </p:cNvGrpSpPr>
          <p:nvPr/>
        </p:nvGrpSpPr>
        <p:grpSpPr bwMode="auto">
          <a:xfrm>
            <a:off x="7073900" y="215900"/>
            <a:ext cx="1878013" cy="1250950"/>
            <a:chOff x="4456" y="136"/>
            <a:chExt cx="1183" cy="788"/>
          </a:xfrm>
        </p:grpSpPr>
        <p:grpSp>
          <p:nvGrpSpPr>
            <p:cNvPr id="135230" name="Group 3"/>
            <p:cNvGrpSpPr>
              <a:grpSpLocks/>
            </p:cNvGrpSpPr>
            <p:nvPr/>
          </p:nvGrpSpPr>
          <p:grpSpPr bwMode="auto">
            <a:xfrm>
              <a:off x="4766" y="232"/>
              <a:ext cx="873" cy="692"/>
              <a:chOff x="2185" y="310"/>
              <a:chExt cx="873" cy="692"/>
            </a:xfrm>
          </p:grpSpPr>
          <p:sp>
            <p:nvSpPr>
              <p:cNvPr id="13524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5231" name="Group 11"/>
            <p:cNvGrpSpPr>
              <a:grpSpLocks/>
            </p:cNvGrpSpPr>
            <p:nvPr/>
          </p:nvGrpSpPr>
          <p:grpSpPr bwMode="auto">
            <a:xfrm>
              <a:off x="4949" y="336"/>
              <a:ext cx="591" cy="468"/>
              <a:chOff x="2185" y="310"/>
              <a:chExt cx="873" cy="692"/>
            </a:xfrm>
          </p:grpSpPr>
          <p:sp>
            <p:nvSpPr>
              <p:cNvPr id="13523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3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4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523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3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32</a:t>
              </a:r>
              <a:endParaRPr lang="fr-FR" altLang="fr-FR" sz="3200">
                <a:solidFill>
                  <a:schemeClr val="tx1"/>
                </a:solidFill>
                <a:latin typeface="Arial Black" pitchFamily="34" charset="0"/>
              </a:endParaRPr>
            </a:p>
          </p:txBody>
        </p:sp>
      </p:grpSp>
      <p:sp>
        <p:nvSpPr>
          <p:cNvPr id="13517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517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5174" name="Group 24"/>
          <p:cNvGrpSpPr>
            <a:grpSpLocks/>
          </p:cNvGrpSpPr>
          <p:nvPr/>
        </p:nvGrpSpPr>
        <p:grpSpPr bwMode="auto">
          <a:xfrm>
            <a:off x="2986088" y="1306513"/>
            <a:ext cx="446087" cy="534987"/>
            <a:chOff x="868" y="1439"/>
            <a:chExt cx="811" cy="972"/>
          </a:xfrm>
        </p:grpSpPr>
        <p:sp>
          <p:nvSpPr>
            <p:cNvPr id="13517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8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19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0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1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522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3517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2 - Jeudi</a:t>
            </a:r>
          </a:p>
        </p:txBody>
      </p:sp>
      <p:sp>
        <p:nvSpPr>
          <p:cNvPr id="13517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3517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2"/>
          <p:cNvSpPr>
            <a:spLocks noGrp="1" noChangeArrowheads="1"/>
          </p:cNvSpPr>
          <p:nvPr>
            <p:ph type="title"/>
          </p:nvPr>
        </p:nvSpPr>
        <p:spPr/>
        <p:txBody>
          <a:bodyPr/>
          <a:lstStyle/>
          <a:p>
            <a:pPr eaLnBrk="1" hangingPunct="1"/>
            <a:r>
              <a:rPr lang="fr-FR" altLang="fr-FR"/>
              <a:t>Bilan de la semaine 2</a:t>
            </a:r>
          </a:p>
        </p:txBody>
      </p:sp>
      <p:sp>
        <p:nvSpPr>
          <p:cNvPr id="136195" name="Rectangle 3"/>
          <p:cNvSpPr>
            <a:spLocks noGrp="1" noChangeArrowheads="1"/>
          </p:cNvSpPr>
          <p:nvPr>
            <p:ph type="body" idx="1"/>
          </p:nvPr>
        </p:nvSpPr>
        <p:spPr>
          <a:xfrm>
            <a:off x="457200" y="1077913"/>
            <a:ext cx="8383588" cy="5048250"/>
          </a:xfrm>
        </p:spPr>
        <p:txBody>
          <a:bodyPr/>
          <a:lstStyle/>
          <a:p>
            <a:pPr eaLnBrk="1" hangingPunct="1">
              <a:spcBef>
                <a:spcPct val="0"/>
              </a:spcBef>
            </a:pPr>
            <a:r>
              <a:rPr lang="fr-FR" altLang="fr-FR" dirty="0"/>
              <a:t>Remplissez le bas de votre Feuille de suivi et reportez vos indicateurs sur votre Feuille de résultats</a:t>
            </a:r>
            <a:r>
              <a:rPr lang="fr-FR" altLang="fr-FR" sz="1800" dirty="0"/>
              <a:t> </a:t>
            </a:r>
          </a:p>
          <a:p>
            <a:pPr eaLnBrk="1" hangingPunct="1">
              <a:spcBef>
                <a:spcPct val="0"/>
              </a:spcBef>
            </a:pPr>
            <a:r>
              <a:rPr lang="fr-FR" altLang="fr-FR" dirty="0"/>
              <a:t>Choisissez vos progrès</a:t>
            </a:r>
          </a:p>
          <a:p>
            <a:pPr eaLnBrk="1" hangingPunct="1"/>
            <a:r>
              <a:rPr lang="fr-FR" altLang="fr-FR" dirty="0"/>
              <a:t>Réduisez vos stocks si vous le souhaitez, et diminuez le nombre de tickets Kanban.</a:t>
            </a:r>
          </a:p>
          <a:p>
            <a:pPr eaLnBrk="1" hangingPunct="1"/>
            <a:r>
              <a:rPr lang="fr-FR" altLang="fr-FR" dirty="0"/>
              <a:t>Recevez une nouvelle Feuille de suivi</a:t>
            </a:r>
          </a:p>
          <a:p>
            <a:pPr eaLnBrk="1" hangingPunct="1"/>
            <a:endParaRPr lang="fr-FR" altLang="fr-FR" dirty="0"/>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2"/>
          <p:cNvSpPr>
            <a:spLocks noGrp="1" noChangeArrowheads="1"/>
          </p:cNvSpPr>
          <p:nvPr>
            <p:ph type="title"/>
          </p:nvPr>
        </p:nvSpPr>
        <p:spPr>
          <a:xfrm>
            <a:off x="490538" y="2001838"/>
            <a:ext cx="8229600" cy="944562"/>
          </a:xfrm>
        </p:spPr>
        <p:txBody>
          <a:bodyPr/>
          <a:lstStyle/>
          <a:p>
            <a:pPr eaLnBrk="1" hangingPunct="1">
              <a:lnSpc>
                <a:spcPct val="140000"/>
              </a:lnSpc>
            </a:pPr>
            <a:r>
              <a:rPr lang="fr-FR" altLang="fr-FR" dirty="0"/>
              <a:t>Affichage des résultats</a:t>
            </a:r>
            <a:br>
              <a:rPr lang="fr-FR" altLang="fr-FR" dirty="0"/>
            </a:br>
            <a:r>
              <a:rPr lang="fr-FR" altLang="fr-FR" sz="1400" dirty="0"/>
              <a:t>(voir fichier Excel)</a:t>
            </a: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8242"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0538" y="1808163"/>
            <a:ext cx="8216900"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38243" name="Rectangle 3"/>
          <p:cNvSpPr>
            <a:spLocks noGrp="1" noChangeArrowheads="1"/>
          </p:cNvSpPr>
          <p:nvPr>
            <p:ph type="title"/>
          </p:nvPr>
        </p:nvSpPr>
        <p:spPr/>
        <p:txBody>
          <a:bodyPr/>
          <a:lstStyle/>
          <a:p>
            <a:pPr eaLnBrk="1" hangingPunct="1"/>
            <a:r>
              <a:rPr lang="fr-FR" altLang="fr-FR"/>
              <a:t>Enregistrement des progrès</a:t>
            </a:r>
          </a:p>
        </p:txBody>
      </p:sp>
      <p:sp>
        <p:nvSpPr>
          <p:cNvPr id="138244" name="Oval 4"/>
          <p:cNvSpPr>
            <a:spLocks noChangeArrowheads="1"/>
          </p:cNvSpPr>
          <p:nvPr/>
        </p:nvSpPr>
        <p:spPr bwMode="auto">
          <a:xfrm>
            <a:off x="8145463" y="3667125"/>
            <a:ext cx="412750" cy="276225"/>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38245" name="AutoShape 5"/>
          <p:cNvSpPr>
            <a:spLocks/>
          </p:cNvSpPr>
          <p:nvPr/>
        </p:nvSpPr>
        <p:spPr bwMode="auto">
          <a:xfrm>
            <a:off x="4873625" y="4392613"/>
            <a:ext cx="2171700" cy="573087"/>
          </a:xfrm>
          <a:prstGeom prst="borderCallout2">
            <a:avLst>
              <a:gd name="adj1" fmla="val 19944"/>
              <a:gd name="adj2" fmla="val 103509"/>
              <a:gd name="adj3" fmla="val 19944"/>
              <a:gd name="adj4" fmla="val 113157"/>
              <a:gd name="adj5" fmla="val -92796"/>
              <a:gd name="adj6" fmla="val 1484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 nombre de points auxquels vous avez droit</a:t>
            </a: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9267" name="Group 3"/>
          <p:cNvGrpSpPr>
            <a:grpSpLocks/>
          </p:cNvGrpSpPr>
          <p:nvPr/>
        </p:nvGrpSpPr>
        <p:grpSpPr bwMode="auto">
          <a:xfrm>
            <a:off x="7073900" y="215900"/>
            <a:ext cx="1878013" cy="1250950"/>
            <a:chOff x="4456" y="136"/>
            <a:chExt cx="1183" cy="788"/>
          </a:xfrm>
        </p:grpSpPr>
        <p:grpSp>
          <p:nvGrpSpPr>
            <p:cNvPr id="139390" name="Group 4"/>
            <p:cNvGrpSpPr>
              <a:grpSpLocks/>
            </p:cNvGrpSpPr>
            <p:nvPr/>
          </p:nvGrpSpPr>
          <p:grpSpPr bwMode="auto">
            <a:xfrm>
              <a:off x="4766" y="232"/>
              <a:ext cx="873" cy="692"/>
              <a:chOff x="2185" y="310"/>
              <a:chExt cx="873" cy="692"/>
            </a:xfrm>
          </p:grpSpPr>
          <p:sp>
            <p:nvSpPr>
              <p:cNvPr id="139401"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2"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3"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4"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5"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6"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7"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9391" name="Group 12"/>
            <p:cNvGrpSpPr>
              <a:grpSpLocks/>
            </p:cNvGrpSpPr>
            <p:nvPr/>
          </p:nvGrpSpPr>
          <p:grpSpPr bwMode="auto">
            <a:xfrm>
              <a:off x="4949" y="336"/>
              <a:ext cx="591" cy="468"/>
              <a:chOff x="2185" y="310"/>
              <a:chExt cx="873" cy="692"/>
            </a:xfrm>
          </p:grpSpPr>
          <p:sp>
            <p:nvSpPr>
              <p:cNvPr id="139394"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5"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6"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7"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8"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99"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400"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39392"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393"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a:t>
              </a:r>
              <a:endParaRPr lang="fr-FR" altLang="fr-FR" sz="3200">
                <a:solidFill>
                  <a:schemeClr val="tx1"/>
                </a:solidFill>
                <a:latin typeface="Arial Black" pitchFamily="34" charset="0"/>
              </a:endParaRPr>
            </a:p>
          </p:txBody>
        </p:sp>
      </p:grpSp>
      <p:sp>
        <p:nvSpPr>
          <p:cNvPr id="139268" name="Text Box 22"/>
          <p:cNvSpPr txBox="1">
            <a:spLocks noChangeArrowheads="1"/>
          </p:cNvSpPr>
          <p:nvPr/>
        </p:nvSpPr>
        <p:spPr bwMode="auto">
          <a:xfrm>
            <a:off x="515938"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139269" name="Text Box 23"/>
          <p:cNvSpPr txBox="1">
            <a:spLocks noChangeArrowheads="1"/>
          </p:cNvSpPr>
          <p:nvPr/>
        </p:nvSpPr>
        <p:spPr bwMode="auto">
          <a:xfrm>
            <a:off x="1738313"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39270" name="Text Box 24"/>
          <p:cNvSpPr txBox="1">
            <a:spLocks noChangeArrowheads="1"/>
          </p:cNvSpPr>
          <p:nvPr/>
        </p:nvSpPr>
        <p:spPr bwMode="auto">
          <a:xfrm>
            <a:off x="3170238"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R4</a:t>
            </a:r>
          </a:p>
        </p:txBody>
      </p:sp>
      <p:sp>
        <p:nvSpPr>
          <p:cNvPr id="139271" name="Rectangle 25"/>
          <p:cNvSpPr>
            <a:spLocks noGrp="1" noChangeArrowheads="1"/>
          </p:cNvSpPr>
          <p:nvPr>
            <p:ph type="title"/>
          </p:nvPr>
        </p:nvSpPr>
        <p:spPr>
          <a:xfrm>
            <a:off x="611188" y="0"/>
            <a:ext cx="6388100" cy="647700"/>
          </a:xfrm>
        </p:spPr>
        <p:txBody>
          <a:bodyPr/>
          <a:lstStyle/>
          <a:p>
            <a:pPr eaLnBrk="1" hangingPunct="1"/>
            <a:r>
              <a:rPr lang="fr-FR" altLang="fr-FR"/>
              <a:t>Sem. 3 - Lundi (St Edmond)</a:t>
            </a:r>
          </a:p>
        </p:txBody>
      </p:sp>
      <p:sp>
        <p:nvSpPr>
          <p:cNvPr id="139272"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39273"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39274"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39275" name="Group 29"/>
          <p:cNvGrpSpPr>
            <a:grpSpLocks/>
          </p:cNvGrpSpPr>
          <p:nvPr/>
        </p:nvGrpSpPr>
        <p:grpSpPr bwMode="auto">
          <a:xfrm>
            <a:off x="2843213" y="1106488"/>
            <a:ext cx="446087" cy="534987"/>
            <a:chOff x="868" y="1439"/>
            <a:chExt cx="811" cy="972"/>
          </a:xfrm>
        </p:grpSpPr>
        <p:sp>
          <p:nvSpPr>
            <p:cNvPr id="139339"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0"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1"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2"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3"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4"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5"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6"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7"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8"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49"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0"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1"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2"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3"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4"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5"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6"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7"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8"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59"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0"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1"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2"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3"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4"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5"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6"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7"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8"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69"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0"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1"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2"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3"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4"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5"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6"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7"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8"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79"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0"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1"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2"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3"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4"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5"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6"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7"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8"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39389"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39276" name="Group 81"/>
          <p:cNvGrpSpPr>
            <a:grpSpLocks/>
          </p:cNvGrpSpPr>
          <p:nvPr/>
        </p:nvGrpSpPr>
        <p:grpSpPr bwMode="auto">
          <a:xfrm rot="-223274">
            <a:off x="573088" y="3001963"/>
            <a:ext cx="744537" cy="733425"/>
            <a:chOff x="2757" y="1666"/>
            <a:chExt cx="812" cy="800"/>
          </a:xfrm>
        </p:grpSpPr>
        <p:sp>
          <p:nvSpPr>
            <p:cNvPr id="139333"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34"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35"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36"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37"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38"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77" name="Group 95"/>
          <p:cNvGrpSpPr>
            <a:grpSpLocks/>
          </p:cNvGrpSpPr>
          <p:nvPr/>
        </p:nvGrpSpPr>
        <p:grpSpPr bwMode="auto">
          <a:xfrm rot="-223274">
            <a:off x="1892300" y="3019425"/>
            <a:ext cx="744538" cy="733425"/>
            <a:chOff x="2757" y="1666"/>
            <a:chExt cx="812" cy="800"/>
          </a:xfrm>
        </p:grpSpPr>
        <p:sp>
          <p:nvSpPr>
            <p:cNvPr id="139327" name="Freeform 9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28" name="Freeform 9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29" name="Line 9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30" name="Freeform 9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31" name="Freeform 10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32" name="AutoShape 10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78" name="Group 102"/>
          <p:cNvGrpSpPr>
            <a:grpSpLocks/>
          </p:cNvGrpSpPr>
          <p:nvPr/>
        </p:nvGrpSpPr>
        <p:grpSpPr bwMode="auto">
          <a:xfrm rot="-223274">
            <a:off x="3236913" y="2997200"/>
            <a:ext cx="744537" cy="733425"/>
            <a:chOff x="2757" y="1666"/>
            <a:chExt cx="812" cy="800"/>
          </a:xfrm>
        </p:grpSpPr>
        <p:sp>
          <p:nvSpPr>
            <p:cNvPr id="139321" name="Freeform 10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22" name="Freeform 10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23" name="Line 10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24" name="Freeform 10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25" name="Freeform 10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26" name="AutoShape 10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79" name="Group 109"/>
          <p:cNvGrpSpPr>
            <a:grpSpLocks/>
          </p:cNvGrpSpPr>
          <p:nvPr/>
        </p:nvGrpSpPr>
        <p:grpSpPr bwMode="auto">
          <a:xfrm rot="-223274">
            <a:off x="3208338" y="2774950"/>
            <a:ext cx="744537" cy="733425"/>
            <a:chOff x="2757" y="1666"/>
            <a:chExt cx="812" cy="800"/>
          </a:xfrm>
        </p:grpSpPr>
        <p:sp>
          <p:nvSpPr>
            <p:cNvPr id="139315" name="Freeform 11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16" name="Freeform 11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17" name="Line 11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18" name="Freeform 11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19" name="Freeform 11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20" name="AutoShape 11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80" name="Group 116"/>
          <p:cNvGrpSpPr>
            <a:grpSpLocks/>
          </p:cNvGrpSpPr>
          <p:nvPr/>
        </p:nvGrpSpPr>
        <p:grpSpPr bwMode="auto">
          <a:xfrm rot="-223274">
            <a:off x="3198813" y="2578100"/>
            <a:ext cx="744537" cy="733425"/>
            <a:chOff x="2757" y="1666"/>
            <a:chExt cx="812" cy="800"/>
          </a:xfrm>
        </p:grpSpPr>
        <p:sp>
          <p:nvSpPr>
            <p:cNvPr id="139309" name="Freeform 11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10" name="Freeform 11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11" name="Line 11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12" name="Freeform 12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13" name="Freeform 12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14" name="AutoShape 12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39281" name="Text Box 130"/>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39282" name="Text Box 131"/>
          <p:cNvSpPr txBox="1">
            <a:spLocks noChangeArrowheads="1"/>
          </p:cNvSpPr>
          <p:nvPr/>
        </p:nvSpPr>
        <p:spPr bwMode="auto">
          <a:xfrm>
            <a:off x="4424363"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139283" name="Group 132"/>
          <p:cNvGrpSpPr>
            <a:grpSpLocks/>
          </p:cNvGrpSpPr>
          <p:nvPr/>
        </p:nvGrpSpPr>
        <p:grpSpPr bwMode="auto">
          <a:xfrm rot="-223274">
            <a:off x="4578350" y="2962275"/>
            <a:ext cx="744538" cy="733425"/>
            <a:chOff x="2757" y="1666"/>
            <a:chExt cx="812" cy="800"/>
          </a:xfrm>
        </p:grpSpPr>
        <p:sp>
          <p:nvSpPr>
            <p:cNvPr id="139303" name="Freeform 13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04" name="Freeform 13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305" name="Line 13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06" name="Freeform 13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07" name="Freeform 13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08" name="AutoShape 13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39284" name="Text Box 139"/>
          <p:cNvSpPr txBox="1">
            <a:spLocks noChangeArrowheads="1"/>
          </p:cNvSpPr>
          <p:nvPr/>
        </p:nvSpPr>
        <p:spPr bwMode="auto">
          <a:xfrm>
            <a:off x="5903913" y="3767138"/>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R6</a:t>
            </a:r>
          </a:p>
        </p:txBody>
      </p:sp>
      <p:grpSp>
        <p:nvGrpSpPr>
          <p:cNvPr id="139285" name="Group 140"/>
          <p:cNvGrpSpPr>
            <a:grpSpLocks/>
          </p:cNvGrpSpPr>
          <p:nvPr/>
        </p:nvGrpSpPr>
        <p:grpSpPr bwMode="auto">
          <a:xfrm rot="-223274">
            <a:off x="5922963" y="2959100"/>
            <a:ext cx="744537" cy="733425"/>
            <a:chOff x="2757" y="1666"/>
            <a:chExt cx="812" cy="800"/>
          </a:xfrm>
        </p:grpSpPr>
        <p:sp>
          <p:nvSpPr>
            <p:cNvPr id="139297" name="Freeform 14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298" name="Freeform 14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299" name="Line 14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300" name="Freeform 14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301" name="Freeform 14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302" name="AutoShape 14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39286" name="Group 147"/>
          <p:cNvGrpSpPr>
            <a:grpSpLocks/>
          </p:cNvGrpSpPr>
          <p:nvPr/>
        </p:nvGrpSpPr>
        <p:grpSpPr bwMode="auto">
          <a:xfrm rot="-223274">
            <a:off x="5894388" y="2736850"/>
            <a:ext cx="744537" cy="733425"/>
            <a:chOff x="2757" y="1666"/>
            <a:chExt cx="812" cy="800"/>
          </a:xfrm>
        </p:grpSpPr>
        <p:sp>
          <p:nvSpPr>
            <p:cNvPr id="139291" name="Freeform 14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292" name="Freeform 14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39293" name="Line 15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9294" name="Freeform 15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39295" name="Freeform 15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39296" name="AutoShape 15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39287" name="Text Box 161"/>
          <p:cNvSpPr txBox="1">
            <a:spLocks noChangeArrowheads="1"/>
          </p:cNvSpPr>
          <p:nvPr/>
        </p:nvSpPr>
        <p:spPr bwMode="auto">
          <a:xfrm>
            <a:off x="6992938" y="3719513"/>
            <a:ext cx="2151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Couronnes</a:t>
            </a:r>
          </a:p>
        </p:txBody>
      </p:sp>
      <p:sp>
        <p:nvSpPr>
          <p:cNvPr id="139288" name="Oval 162"/>
          <p:cNvSpPr>
            <a:spLocks noChangeArrowheads="1"/>
          </p:cNvSpPr>
          <p:nvPr/>
        </p:nvSpPr>
        <p:spPr bwMode="auto">
          <a:xfrm rot="-5400000">
            <a:off x="7652544" y="3199606"/>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39289" name="Oval 163"/>
          <p:cNvSpPr>
            <a:spLocks noChangeArrowheads="1"/>
          </p:cNvSpPr>
          <p:nvPr/>
        </p:nvSpPr>
        <p:spPr bwMode="auto">
          <a:xfrm rot="-5400000">
            <a:off x="8028782" y="3198019"/>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0290" name="Group 2"/>
          <p:cNvGrpSpPr>
            <a:grpSpLocks/>
          </p:cNvGrpSpPr>
          <p:nvPr/>
        </p:nvGrpSpPr>
        <p:grpSpPr bwMode="auto">
          <a:xfrm>
            <a:off x="7073900" y="215900"/>
            <a:ext cx="1878013" cy="1250950"/>
            <a:chOff x="4456" y="136"/>
            <a:chExt cx="1183" cy="788"/>
          </a:xfrm>
        </p:grpSpPr>
        <p:grpSp>
          <p:nvGrpSpPr>
            <p:cNvPr id="140350" name="Group 3"/>
            <p:cNvGrpSpPr>
              <a:grpSpLocks/>
            </p:cNvGrpSpPr>
            <p:nvPr/>
          </p:nvGrpSpPr>
          <p:grpSpPr bwMode="auto">
            <a:xfrm>
              <a:off x="4766" y="232"/>
              <a:ext cx="873" cy="692"/>
              <a:chOff x="2185" y="310"/>
              <a:chExt cx="873" cy="692"/>
            </a:xfrm>
          </p:grpSpPr>
          <p:sp>
            <p:nvSpPr>
              <p:cNvPr id="14036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0351" name="Group 11"/>
            <p:cNvGrpSpPr>
              <a:grpSpLocks/>
            </p:cNvGrpSpPr>
            <p:nvPr/>
          </p:nvGrpSpPr>
          <p:grpSpPr bwMode="auto">
            <a:xfrm>
              <a:off x="4949" y="336"/>
              <a:ext cx="591" cy="468"/>
              <a:chOff x="2185" y="310"/>
              <a:chExt cx="873" cy="692"/>
            </a:xfrm>
          </p:grpSpPr>
          <p:sp>
            <p:nvSpPr>
              <p:cNvPr id="14035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5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6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035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53"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a:t>
              </a:r>
              <a:endParaRPr lang="fr-FR" altLang="fr-FR" sz="3200">
                <a:solidFill>
                  <a:schemeClr val="tx1"/>
                </a:solidFill>
                <a:latin typeface="Arial Black" pitchFamily="34" charset="0"/>
              </a:endParaRPr>
            </a:p>
          </p:txBody>
        </p:sp>
      </p:grpSp>
      <p:sp>
        <p:nvSpPr>
          <p:cNvPr id="140292" name="Text Box 22"/>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0293" name="Text Box 23"/>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0294" name="Text Box 24"/>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0295" name="Group 25"/>
          <p:cNvGrpSpPr>
            <a:grpSpLocks/>
          </p:cNvGrpSpPr>
          <p:nvPr/>
        </p:nvGrpSpPr>
        <p:grpSpPr bwMode="auto">
          <a:xfrm>
            <a:off x="2986088" y="1306513"/>
            <a:ext cx="446087" cy="534987"/>
            <a:chOff x="868" y="1439"/>
            <a:chExt cx="811" cy="972"/>
          </a:xfrm>
        </p:grpSpPr>
        <p:sp>
          <p:nvSpPr>
            <p:cNvPr id="140299" name="Freeform 26"/>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0" name="Freeform 27"/>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1" name="Freeform 28"/>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2" name="Freeform 29"/>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3" name="Freeform 30"/>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4" name="Freeform 31"/>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5" name="Freeform 32"/>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6" name="Freeform 33"/>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7" name="Freeform 34"/>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8" name="Freeform 35"/>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09" name="Freeform 36"/>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0" name="Freeform 37"/>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1" name="Freeform 38"/>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2" name="Freeform 39"/>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3" name="Freeform 40"/>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4" name="Freeform 41"/>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5" name="Freeform 42"/>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6" name="Freeform 43"/>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7" name="Freeform 44"/>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8" name="Freeform 45"/>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19" name="Freeform 46"/>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0" name="Freeform 47"/>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1" name="Freeform 48"/>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2" name="Freeform 49"/>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3" name="Freeform 50"/>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4" name="Freeform 51"/>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5" name="Freeform 52"/>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6" name="Freeform 53"/>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7" name="Freeform 54"/>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8" name="Freeform 55"/>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29" name="Freeform 56"/>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0" name="Freeform 57"/>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1" name="Freeform 58"/>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2" name="Freeform 59"/>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3" name="Freeform 60"/>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4" name="Freeform 61"/>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5" name="Freeform 62"/>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6" name="Freeform 63"/>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7" name="Freeform 64"/>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8" name="Freeform 65"/>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39" name="Freeform 66"/>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0" name="Freeform 67"/>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1" name="Freeform 68"/>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2" name="Freeform 69"/>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3" name="Freeform 70"/>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4" name="Freeform 71"/>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5" name="Freeform 72"/>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6" name="Freeform 73"/>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7" name="Freeform 74"/>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8" name="Freeform 75"/>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0349" name="Freeform 76"/>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0297" name="Rectangle 78"/>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029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314" name="Group 2"/>
          <p:cNvGrpSpPr>
            <a:grpSpLocks/>
          </p:cNvGrpSpPr>
          <p:nvPr/>
        </p:nvGrpSpPr>
        <p:grpSpPr bwMode="auto">
          <a:xfrm>
            <a:off x="7073900" y="215900"/>
            <a:ext cx="1878013" cy="1250950"/>
            <a:chOff x="4456" y="136"/>
            <a:chExt cx="1183" cy="788"/>
          </a:xfrm>
        </p:grpSpPr>
        <p:grpSp>
          <p:nvGrpSpPr>
            <p:cNvPr id="141374" name="Group 3"/>
            <p:cNvGrpSpPr>
              <a:grpSpLocks/>
            </p:cNvGrpSpPr>
            <p:nvPr/>
          </p:nvGrpSpPr>
          <p:grpSpPr bwMode="auto">
            <a:xfrm>
              <a:off x="4766" y="232"/>
              <a:ext cx="873" cy="692"/>
              <a:chOff x="2185" y="310"/>
              <a:chExt cx="873" cy="692"/>
            </a:xfrm>
          </p:grpSpPr>
          <p:sp>
            <p:nvSpPr>
              <p:cNvPr id="14138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9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9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1375" name="Group 11"/>
            <p:cNvGrpSpPr>
              <a:grpSpLocks/>
            </p:cNvGrpSpPr>
            <p:nvPr/>
          </p:nvGrpSpPr>
          <p:grpSpPr bwMode="auto">
            <a:xfrm>
              <a:off x="4949" y="336"/>
              <a:ext cx="591" cy="468"/>
              <a:chOff x="2185" y="310"/>
              <a:chExt cx="873" cy="692"/>
            </a:xfrm>
          </p:grpSpPr>
          <p:sp>
            <p:nvSpPr>
              <p:cNvPr id="14137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8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137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7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a:t>
              </a:r>
              <a:endParaRPr lang="fr-FR" altLang="fr-FR" sz="3200">
                <a:solidFill>
                  <a:schemeClr val="tx1"/>
                </a:solidFill>
                <a:latin typeface="Arial Black" pitchFamily="34" charset="0"/>
              </a:endParaRPr>
            </a:p>
          </p:txBody>
        </p:sp>
      </p:grpSp>
      <p:sp>
        <p:nvSpPr>
          <p:cNvPr id="14131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131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1318" name="Group 24"/>
          <p:cNvGrpSpPr>
            <a:grpSpLocks/>
          </p:cNvGrpSpPr>
          <p:nvPr/>
        </p:nvGrpSpPr>
        <p:grpSpPr bwMode="auto">
          <a:xfrm>
            <a:off x="2986088" y="1306513"/>
            <a:ext cx="446087" cy="534987"/>
            <a:chOff x="868" y="1439"/>
            <a:chExt cx="811" cy="972"/>
          </a:xfrm>
        </p:grpSpPr>
        <p:sp>
          <p:nvSpPr>
            <p:cNvPr id="14132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2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3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4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5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6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137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132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132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132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2338" name="Group 2"/>
          <p:cNvGrpSpPr>
            <a:grpSpLocks/>
          </p:cNvGrpSpPr>
          <p:nvPr/>
        </p:nvGrpSpPr>
        <p:grpSpPr bwMode="auto">
          <a:xfrm>
            <a:off x="7073900" y="215900"/>
            <a:ext cx="1878013" cy="1250950"/>
            <a:chOff x="4456" y="136"/>
            <a:chExt cx="1183" cy="788"/>
          </a:xfrm>
        </p:grpSpPr>
        <p:grpSp>
          <p:nvGrpSpPr>
            <p:cNvPr id="142398" name="Group 3"/>
            <p:cNvGrpSpPr>
              <a:grpSpLocks/>
            </p:cNvGrpSpPr>
            <p:nvPr/>
          </p:nvGrpSpPr>
          <p:grpSpPr bwMode="auto">
            <a:xfrm>
              <a:off x="4766" y="232"/>
              <a:ext cx="873" cy="692"/>
              <a:chOff x="2185" y="310"/>
              <a:chExt cx="873" cy="692"/>
            </a:xfrm>
          </p:grpSpPr>
          <p:sp>
            <p:nvSpPr>
              <p:cNvPr id="14240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1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2399" name="Group 11"/>
            <p:cNvGrpSpPr>
              <a:grpSpLocks/>
            </p:cNvGrpSpPr>
            <p:nvPr/>
          </p:nvGrpSpPr>
          <p:grpSpPr bwMode="auto">
            <a:xfrm>
              <a:off x="4949" y="336"/>
              <a:ext cx="591" cy="468"/>
              <a:chOff x="2185" y="310"/>
              <a:chExt cx="873" cy="692"/>
            </a:xfrm>
          </p:grpSpPr>
          <p:sp>
            <p:nvSpPr>
              <p:cNvPr id="14240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40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240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01"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4</a:t>
              </a:r>
              <a:endParaRPr lang="fr-FR" altLang="fr-FR" sz="3200">
                <a:solidFill>
                  <a:schemeClr val="tx1"/>
                </a:solidFill>
                <a:latin typeface="Arial Black" pitchFamily="34" charset="0"/>
              </a:endParaRPr>
            </a:p>
          </p:txBody>
        </p:sp>
      </p:grpSp>
      <p:sp>
        <p:nvSpPr>
          <p:cNvPr id="14234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234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2342" name="Group 24"/>
          <p:cNvGrpSpPr>
            <a:grpSpLocks/>
          </p:cNvGrpSpPr>
          <p:nvPr/>
        </p:nvGrpSpPr>
        <p:grpSpPr bwMode="auto">
          <a:xfrm>
            <a:off x="2986088" y="1306513"/>
            <a:ext cx="446087" cy="534987"/>
            <a:chOff x="868" y="1439"/>
            <a:chExt cx="811" cy="972"/>
          </a:xfrm>
        </p:grpSpPr>
        <p:sp>
          <p:nvSpPr>
            <p:cNvPr id="14234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4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4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5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6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7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8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239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234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234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234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3362" name="Group 2"/>
          <p:cNvGrpSpPr>
            <a:grpSpLocks/>
          </p:cNvGrpSpPr>
          <p:nvPr/>
        </p:nvGrpSpPr>
        <p:grpSpPr bwMode="auto">
          <a:xfrm>
            <a:off x="7073900" y="215900"/>
            <a:ext cx="1878013" cy="1250950"/>
            <a:chOff x="4456" y="136"/>
            <a:chExt cx="1183" cy="788"/>
          </a:xfrm>
        </p:grpSpPr>
        <p:grpSp>
          <p:nvGrpSpPr>
            <p:cNvPr id="143422" name="Group 3"/>
            <p:cNvGrpSpPr>
              <a:grpSpLocks/>
            </p:cNvGrpSpPr>
            <p:nvPr/>
          </p:nvGrpSpPr>
          <p:grpSpPr bwMode="auto">
            <a:xfrm>
              <a:off x="4766" y="232"/>
              <a:ext cx="873" cy="692"/>
              <a:chOff x="2185" y="310"/>
              <a:chExt cx="873" cy="692"/>
            </a:xfrm>
          </p:grpSpPr>
          <p:sp>
            <p:nvSpPr>
              <p:cNvPr id="14343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3423" name="Group 11"/>
            <p:cNvGrpSpPr>
              <a:grpSpLocks/>
            </p:cNvGrpSpPr>
            <p:nvPr/>
          </p:nvGrpSpPr>
          <p:grpSpPr bwMode="auto">
            <a:xfrm>
              <a:off x="4949" y="336"/>
              <a:ext cx="591" cy="468"/>
              <a:chOff x="2185" y="310"/>
              <a:chExt cx="873" cy="692"/>
            </a:xfrm>
          </p:grpSpPr>
          <p:sp>
            <p:nvSpPr>
              <p:cNvPr id="14342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3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342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25"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5</a:t>
              </a:r>
              <a:endParaRPr lang="fr-FR" altLang="fr-FR" sz="3200">
                <a:solidFill>
                  <a:schemeClr val="tx1"/>
                </a:solidFill>
                <a:latin typeface="Arial Black" pitchFamily="34" charset="0"/>
              </a:endParaRPr>
            </a:p>
          </p:txBody>
        </p:sp>
      </p:grpSp>
      <p:sp>
        <p:nvSpPr>
          <p:cNvPr id="14336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336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3366" name="Group 24"/>
          <p:cNvGrpSpPr>
            <a:grpSpLocks/>
          </p:cNvGrpSpPr>
          <p:nvPr/>
        </p:nvGrpSpPr>
        <p:grpSpPr bwMode="auto">
          <a:xfrm>
            <a:off x="2986088" y="1306513"/>
            <a:ext cx="446087" cy="534987"/>
            <a:chOff x="868" y="1439"/>
            <a:chExt cx="811" cy="972"/>
          </a:xfrm>
        </p:grpSpPr>
        <p:sp>
          <p:nvSpPr>
            <p:cNvPr id="14337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7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8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39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0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1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342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336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336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337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4386" name="Group 2"/>
          <p:cNvGrpSpPr>
            <a:grpSpLocks/>
          </p:cNvGrpSpPr>
          <p:nvPr/>
        </p:nvGrpSpPr>
        <p:grpSpPr bwMode="auto">
          <a:xfrm>
            <a:off x="7073900" y="215900"/>
            <a:ext cx="1878013" cy="1250950"/>
            <a:chOff x="4456" y="136"/>
            <a:chExt cx="1183" cy="788"/>
          </a:xfrm>
        </p:grpSpPr>
        <p:grpSp>
          <p:nvGrpSpPr>
            <p:cNvPr id="144446" name="Group 3"/>
            <p:cNvGrpSpPr>
              <a:grpSpLocks/>
            </p:cNvGrpSpPr>
            <p:nvPr/>
          </p:nvGrpSpPr>
          <p:grpSpPr bwMode="auto">
            <a:xfrm>
              <a:off x="4766" y="232"/>
              <a:ext cx="873" cy="692"/>
              <a:chOff x="2185" y="310"/>
              <a:chExt cx="873" cy="692"/>
            </a:xfrm>
          </p:grpSpPr>
          <p:sp>
            <p:nvSpPr>
              <p:cNvPr id="14445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6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6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6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6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4447" name="Group 11"/>
            <p:cNvGrpSpPr>
              <a:grpSpLocks/>
            </p:cNvGrpSpPr>
            <p:nvPr/>
          </p:nvGrpSpPr>
          <p:grpSpPr bwMode="auto">
            <a:xfrm>
              <a:off x="4949" y="336"/>
              <a:ext cx="591" cy="468"/>
              <a:chOff x="2185" y="310"/>
              <a:chExt cx="873" cy="692"/>
            </a:xfrm>
          </p:grpSpPr>
          <p:sp>
            <p:nvSpPr>
              <p:cNvPr id="14445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5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444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49"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6</a:t>
              </a:r>
              <a:endParaRPr lang="fr-FR" altLang="fr-FR" sz="3200">
                <a:solidFill>
                  <a:schemeClr val="tx1"/>
                </a:solidFill>
                <a:latin typeface="Arial Black" pitchFamily="34" charset="0"/>
              </a:endParaRPr>
            </a:p>
          </p:txBody>
        </p:sp>
      </p:grpSp>
      <p:sp>
        <p:nvSpPr>
          <p:cNvPr id="14438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438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4390" name="Group 24"/>
          <p:cNvGrpSpPr>
            <a:grpSpLocks/>
          </p:cNvGrpSpPr>
          <p:nvPr/>
        </p:nvGrpSpPr>
        <p:grpSpPr bwMode="auto">
          <a:xfrm>
            <a:off x="2986088" y="1306513"/>
            <a:ext cx="446087" cy="534987"/>
            <a:chOff x="868" y="1439"/>
            <a:chExt cx="811" cy="972"/>
          </a:xfrm>
        </p:grpSpPr>
        <p:sp>
          <p:nvSpPr>
            <p:cNvPr id="14439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39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39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39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39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0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1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2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3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444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439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439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439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5410" name="Group 2"/>
          <p:cNvGrpSpPr>
            <a:grpSpLocks/>
          </p:cNvGrpSpPr>
          <p:nvPr/>
        </p:nvGrpSpPr>
        <p:grpSpPr bwMode="auto">
          <a:xfrm>
            <a:off x="7073900" y="215900"/>
            <a:ext cx="1878013" cy="1250950"/>
            <a:chOff x="4456" y="136"/>
            <a:chExt cx="1183" cy="788"/>
          </a:xfrm>
        </p:grpSpPr>
        <p:grpSp>
          <p:nvGrpSpPr>
            <p:cNvPr id="145470" name="Group 3"/>
            <p:cNvGrpSpPr>
              <a:grpSpLocks/>
            </p:cNvGrpSpPr>
            <p:nvPr/>
          </p:nvGrpSpPr>
          <p:grpSpPr bwMode="auto">
            <a:xfrm>
              <a:off x="4766" y="232"/>
              <a:ext cx="873" cy="692"/>
              <a:chOff x="2185" y="310"/>
              <a:chExt cx="873" cy="692"/>
            </a:xfrm>
          </p:grpSpPr>
          <p:sp>
            <p:nvSpPr>
              <p:cNvPr id="14548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5471" name="Group 11"/>
            <p:cNvGrpSpPr>
              <a:grpSpLocks/>
            </p:cNvGrpSpPr>
            <p:nvPr/>
          </p:nvGrpSpPr>
          <p:grpSpPr bwMode="auto">
            <a:xfrm>
              <a:off x="4949" y="336"/>
              <a:ext cx="591" cy="468"/>
              <a:chOff x="2185" y="310"/>
              <a:chExt cx="873" cy="692"/>
            </a:xfrm>
          </p:grpSpPr>
          <p:sp>
            <p:nvSpPr>
              <p:cNvPr id="14547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7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8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547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73"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7</a:t>
              </a:r>
              <a:endParaRPr lang="fr-FR" altLang="fr-FR" sz="3200">
                <a:solidFill>
                  <a:schemeClr val="tx1"/>
                </a:solidFill>
                <a:latin typeface="Arial Black" pitchFamily="34" charset="0"/>
              </a:endParaRPr>
            </a:p>
          </p:txBody>
        </p:sp>
      </p:grpSp>
      <p:sp>
        <p:nvSpPr>
          <p:cNvPr id="14541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541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5414" name="Group 24"/>
          <p:cNvGrpSpPr>
            <a:grpSpLocks/>
          </p:cNvGrpSpPr>
          <p:nvPr/>
        </p:nvGrpSpPr>
        <p:grpSpPr bwMode="auto">
          <a:xfrm>
            <a:off x="2986088" y="1306513"/>
            <a:ext cx="446087" cy="534987"/>
            <a:chOff x="868" y="1439"/>
            <a:chExt cx="811" cy="972"/>
          </a:xfrm>
        </p:grpSpPr>
        <p:sp>
          <p:nvSpPr>
            <p:cNvPr id="14541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2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3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4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5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546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541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541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541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6434" name="Group 2"/>
          <p:cNvGrpSpPr>
            <a:grpSpLocks/>
          </p:cNvGrpSpPr>
          <p:nvPr/>
        </p:nvGrpSpPr>
        <p:grpSpPr bwMode="auto">
          <a:xfrm>
            <a:off x="7073900" y="215900"/>
            <a:ext cx="1878013" cy="1250950"/>
            <a:chOff x="4456" y="136"/>
            <a:chExt cx="1183" cy="788"/>
          </a:xfrm>
        </p:grpSpPr>
        <p:grpSp>
          <p:nvGrpSpPr>
            <p:cNvPr id="146494" name="Group 3"/>
            <p:cNvGrpSpPr>
              <a:grpSpLocks/>
            </p:cNvGrpSpPr>
            <p:nvPr/>
          </p:nvGrpSpPr>
          <p:grpSpPr bwMode="auto">
            <a:xfrm>
              <a:off x="4766" y="232"/>
              <a:ext cx="873" cy="692"/>
              <a:chOff x="2185" y="310"/>
              <a:chExt cx="873" cy="692"/>
            </a:xfrm>
          </p:grpSpPr>
          <p:sp>
            <p:nvSpPr>
              <p:cNvPr id="14650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1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1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6495" name="Group 11"/>
            <p:cNvGrpSpPr>
              <a:grpSpLocks/>
            </p:cNvGrpSpPr>
            <p:nvPr/>
          </p:nvGrpSpPr>
          <p:grpSpPr bwMode="auto">
            <a:xfrm>
              <a:off x="4949" y="336"/>
              <a:ext cx="591" cy="468"/>
              <a:chOff x="2185" y="310"/>
              <a:chExt cx="873" cy="692"/>
            </a:xfrm>
          </p:grpSpPr>
          <p:sp>
            <p:nvSpPr>
              <p:cNvPr id="14649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50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649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97" name="Text Box 20"/>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8</a:t>
              </a:r>
              <a:endParaRPr lang="fr-FR" altLang="fr-FR" sz="3200">
                <a:solidFill>
                  <a:schemeClr val="tx1"/>
                </a:solidFill>
                <a:latin typeface="Arial Black" pitchFamily="34" charset="0"/>
              </a:endParaRPr>
            </a:p>
          </p:txBody>
        </p:sp>
      </p:grpSp>
      <p:sp>
        <p:nvSpPr>
          <p:cNvPr id="14643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643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6438" name="Group 24"/>
          <p:cNvGrpSpPr>
            <a:grpSpLocks/>
          </p:cNvGrpSpPr>
          <p:nvPr/>
        </p:nvGrpSpPr>
        <p:grpSpPr bwMode="auto">
          <a:xfrm>
            <a:off x="2986088" y="1306513"/>
            <a:ext cx="446087" cy="534987"/>
            <a:chOff x="868" y="1439"/>
            <a:chExt cx="811" cy="972"/>
          </a:xfrm>
        </p:grpSpPr>
        <p:sp>
          <p:nvSpPr>
            <p:cNvPr id="14644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4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5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6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7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8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649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644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Lundi</a:t>
            </a:r>
          </a:p>
        </p:txBody>
      </p:sp>
      <p:sp>
        <p:nvSpPr>
          <p:cNvPr id="14644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644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7459" name="Group 3"/>
          <p:cNvGrpSpPr>
            <a:grpSpLocks/>
          </p:cNvGrpSpPr>
          <p:nvPr/>
        </p:nvGrpSpPr>
        <p:grpSpPr bwMode="auto">
          <a:xfrm>
            <a:off x="7073900" y="215900"/>
            <a:ext cx="1878013" cy="1250950"/>
            <a:chOff x="4456" y="136"/>
            <a:chExt cx="1183" cy="788"/>
          </a:xfrm>
        </p:grpSpPr>
        <p:grpSp>
          <p:nvGrpSpPr>
            <p:cNvPr id="147551" name="Group 4"/>
            <p:cNvGrpSpPr>
              <a:grpSpLocks/>
            </p:cNvGrpSpPr>
            <p:nvPr/>
          </p:nvGrpSpPr>
          <p:grpSpPr bwMode="auto">
            <a:xfrm>
              <a:off x="4766" y="232"/>
              <a:ext cx="873" cy="692"/>
              <a:chOff x="2185" y="310"/>
              <a:chExt cx="873" cy="692"/>
            </a:xfrm>
          </p:grpSpPr>
          <p:sp>
            <p:nvSpPr>
              <p:cNvPr id="14756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7552" name="Group 12"/>
            <p:cNvGrpSpPr>
              <a:grpSpLocks/>
            </p:cNvGrpSpPr>
            <p:nvPr/>
          </p:nvGrpSpPr>
          <p:grpSpPr bwMode="auto">
            <a:xfrm>
              <a:off x="4949" y="336"/>
              <a:ext cx="591" cy="468"/>
              <a:chOff x="2185" y="310"/>
              <a:chExt cx="873" cy="692"/>
            </a:xfrm>
          </p:grpSpPr>
          <p:sp>
            <p:nvSpPr>
              <p:cNvPr id="14755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6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755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54"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9</a:t>
              </a:r>
              <a:endParaRPr lang="fr-FR" altLang="fr-FR" sz="3200">
                <a:solidFill>
                  <a:schemeClr val="tx1"/>
                </a:solidFill>
                <a:latin typeface="Arial Black" pitchFamily="34" charset="0"/>
              </a:endParaRPr>
            </a:p>
          </p:txBody>
        </p:sp>
      </p:grpSp>
      <p:sp>
        <p:nvSpPr>
          <p:cNvPr id="147460" name="Text Box 22"/>
          <p:cNvSpPr txBox="1">
            <a:spLocks noChangeArrowheads="1"/>
          </p:cNvSpPr>
          <p:nvPr/>
        </p:nvSpPr>
        <p:spPr bwMode="auto">
          <a:xfrm>
            <a:off x="1296988" y="37369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sp>
        <p:nvSpPr>
          <p:cNvPr id="147461" name="Text Box 23"/>
          <p:cNvSpPr txBox="1">
            <a:spLocks noChangeArrowheads="1"/>
          </p:cNvSpPr>
          <p:nvPr/>
        </p:nvSpPr>
        <p:spPr bwMode="auto">
          <a:xfrm>
            <a:off x="2747963" y="37274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47462" name="Rectangle 25"/>
          <p:cNvSpPr>
            <a:spLocks noGrp="1" noChangeArrowheads="1"/>
          </p:cNvSpPr>
          <p:nvPr>
            <p:ph type="title"/>
          </p:nvPr>
        </p:nvSpPr>
        <p:spPr>
          <a:xfrm>
            <a:off x="1525588" y="0"/>
            <a:ext cx="5372100" cy="647700"/>
          </a:xfrm>
        </p:spPr>
        <p:txBody>
          <a:bodyPr/>
          <a:lstStyle/>
          <a:p>
            <a:pPr eaLnBrk="1" hangingPunct="1"/>
            <a:r>
              <a:rPr lang="fr-FR" altLang="fr-FR" dirty="0"/>
              <a:t>Sem. 3 - Mardi</a:t>
            </a:r>
            <a:endParaRPr lang="fr-FR" altLang="fr-FR" sz="1800" dirty="0"/>
          </a:p>
        </p:txBody>
      </p:sp>
      <p:sp>
        <p:nvSpPr>
          <p:cNvPr id="147463" name="Text Box 26"/>
          <p:cNvSpPr txBox="1">
            <a:spLocks noChangeArrowheads="1"/>
          </p:cNvSpPr>
          <p:nvPr/>
        </p:nvSpPr>
        <p:spPr bwMode="auto">
          <a:xfrm>
            <a:off x="574675" y="1868488"/>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47464"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7465" name="Text Box 28"/>
          <p:cNvSpPr txBox="1">
            <a:spLocks noChangeArrowheads="1"/>
          </p:cNvSpPr>
          <p:nvPr/>
        </p:nvSpPr>
        <p:spPr bwMode="auto">
          <a:xfrm>
            <a:off x="579438" y="444976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7466" name="Group 29"/>
          <p:cNvGrpSpPr>
            <a:grpSpLocks/>
          </p:cNvGrpSpPr>
          <p:nvPr/>
        </p:nvGrpSpPr>
        <p:grpSpPr bwMode="auto">
          <a:xfrm>
            <a:off x="2843213" y="1106488"/>
            <a:ext cx="446087" cy="534987"/>
            <a:chOff x="868" y="1439"/>
            <a:chExt cx="811" cy="972"/>
          </a:xfrm>
        </p:grpSpPr>
        <p:sp>
          <p:nvSpPr>
            <p:cNvPr id="147500"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1"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2"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3"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4"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5"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6"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7"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8"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09"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0"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1"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2"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3"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4"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5"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6"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7"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8"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19"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0"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1"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2"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3"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4"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5"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6"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7"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8"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29"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0"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1"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2"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3"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4"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5"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6"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7"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8"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39"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0"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1"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2"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3"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4"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5"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6"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7"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8"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49"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7550"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7467" name="Group 81"/>
          <p:cNvGrpSpPr>
            <a:grpSpLocks/>
          </p:cNvGrpSpPr>
          <p:nvPr/>
        </p:nvGrpSpPr>
        <p:grpSpPr bwMode="auto">
          <a:xfrm rot="-223274">
            <a:off x="1349375" y="2835275"/>
            <a:ext cx="744538" cy="733425"/>
            <a:chOff x="2757" y="1666"/>
            <a:chExt cx="812" cy="800"/>
          </a:xfrm>
        </p:grpSpPr>
        <p:sp>
          <p:nvSpPr>
            <p:cNvPr id="147494"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95"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47496"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47497"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98"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47499"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47468" name="Group 88"/>
          <p:cNvGrpSpPr>
            <a:grpSpLocks/>
          </p:cNvGrpSpPr>
          <p:nvPr/>
        </p:nvGrpSpPr>
        <p:grpSpPr bwMode="auto">
          <a:xfrm rot="-223274">
            <a:off x="2759075" y="2951163"/>
            <a:ext cx="744538" cy="733425"/>
            <a:chOff x="2757" y="1666"/>
            <a:chExt cx="812" cy="800"/>
          </a:xfrm>
        </p:grpSpPr>
        <p:sp>
          <p:nvSpPr>
            <p:cNvPr id="147488" name="Freeform 8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89" name="Freeform 9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47490" name="Line 9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47491" name="Freeform 9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92" name="Freeform 9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47493" name="AutoShape 9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47469" name="Group 102"/>
          <p:cNvGrpSpPr>
            <a:grpSpLocks/>
          </p:cNvGrpSpPr>
          <p:nvPr/>
        </p:nvGrpSpPr>
        <p:grpSpPr bwMode="auto">
          <a:xfrm rot="-223274">
            <a:off x="4291013" y="2867025"/>
            <a:ext cx="744537" cy="733425"/>
            <a:chOff x="2757" y="1666"/>
            <a:chExt cx="812" cy="800"/>
          </a:xfrm>
        </p:grpSpPr>
        <p:sp>
          <p:nvSpPr>
            <p:cNvPr id="147482" name="Freeform 10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83" name="Freeform 10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47484" name="Line 10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47485" name="Freeform 10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86" name="Freeform 10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47487" name="AutoShape 10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47470" name="Text Box 109"/>
          <p:cNvSpPr txBox="1">
            <a:spLocks noChangeArrowheads="1"/>
          </p:cNvSpPr>
          <p:nvPr/>
        </p:nvSpPr>
        <p:spPr bwMode="auto">
          <a:xfrm>
            <a:off x="4135438" y="37147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147471" name="Text Box 138"/>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147472" name="Group 139"/>
          <p:cNvGrpSpPr>
            <a:grpSpLocks/>
          </p:cNvGrpSpPr>
          <p:nvPr/>
        </p:nvGrpSpPr>
        <p:grpSpPr bwMode="auto">
          <a:xfrm rot="-223274">
            <a:off x="1330325" y="2625725"/>
            <a:ext cx="744538" cy="733425"/>
            <a:chOff x="2757" y="1666"/>
            <a:chExt cx="812" cy="800"/>
          </a:xfrm>
        </p:grpSpPr>
        <p:sp>
          <p:nvSpPr>
            <p:cNvPr id="147476" name="Freeform 14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77" name="Freeform 14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47478" name="Line 14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47479" name="Freeform 14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47480" name="Freeform 14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47481" name="AutoShape 14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47473" name="Text Box 146"/>
          <p:cNvSpPr txBox="1">
            <a:spLocks noChangeArrowheads="1"/>
          </p:cNvSpPr>
          <p:nvPr/>
        </p:nvSpPr>
        <p:spPr bwMode="auto">
          <a:xfrm>
            <a:off x="5468938" y="3689350"/>
            <a:ext cx="23606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Couronnes</a:t>
            </a:r>
          </a:p>
        </p:txBody>
      </p:sp>
      <p:sp>
        <p:nvSpPr>
          <p:cNvPr id="147474" name="Oval 147"/>
          <p:cNvSpPr>
            <a:spLocks noChangeArrowheads="1"/>
          </p:cNvSpPr>
          <p:nvPr/>
        </p:nvSpPr>
        <p:spPr bwMode="auto">
          <a:xfrm rot="-5400000">
            <a:off x="6338094" y="3140869"/>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47475" name="Oval 148"/>
          <p:cNvSpPr>
            <a:spLocks noChangeArrowheads="1"/>
          </p:cNvSpPr>
          <p:nvPr/>
        </p:nvSpPr>
        <p:spPr bwMode="auto">
          <a:xfrm rot="-5400000">
            <a:off x="6714332" y="3139281"/>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8482" name="Group 2"/>
          <p:cNvGrpSpPr>
            <a:grpSpLocks/>
          </p:cNvGrpSpPr>
          <p:nvPr/>
        </p:nvGrpSpPr>
        <p:grpSpPr bwMode="auto">
          <a:xfrm>
            <a:off x="7073900" y="215900"/>
            <a:ext cx="1878013" cy="1250950"/>
            <a:chOff x="4456" y="136"/>
            <a:chExt cx="1183" cy="788"/>
          </a:xfrm>
        </p:grpSpPr>
        <p:grpSp>
          <p:nvGrpSpPr>
            <p:cNvPr id="148542" name="Group 3"/>
            <p:cNvGrpSpPr>
              <a:grpSpLocks/>
            </p:cNvGrpSpPr>
            <p:nvPr/>
          </p:nvGrpSpPr>
          <p:grpSpPr bwMode="auto">
            <a:xfrm>
              <a:off x="4766" y="232"/>
              <a:ext cx="873" cy="692"/>
              <a:chOff x="2185" y="310"/>
              <a:chExt cx="873" cy="692"/>
            </a:xfrm>
          </p:grpSpPr>
          <p:sp>
            <p:nvSpPr>
              <p:cNvPr id="14855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8543" name="Group 11"/>
            <p:cNvGrpSpPr>
              <a:grpSpLocks/>
            </p:cNvGrpSpPr>
            <p:nvPr/>
          </p:nvGrpSpPr>
          <p:grpSpPr bwMode="auto">
            <a:xfrm>
              <a:off x="4949" y="336"/>
              <a:ext cx="591" cy="468"/>
              <a:chOff x="2185" y="310"/>
              <a:chExt cx="873" cy="692"/>
            </a:xfrm>
          </p:grpSpPr>
          <p:sp>
            <p:nvSpPr>
              <p:cNvPr id="14854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5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854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54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10</a:t>
              </a:r>
              <a:endParaRPr lang="fr-FR" altLang="fr-FR" sz="3200">
                <a:solidFill>
                  <a:schemeClr val="tx1"/>
                </a:solidFill>
                <a:latin typeface="Arial Black" pitchFamily="34" charset="0"/>
              </a:endParaRPr>
            </a:p>
          </p:txBody>
        </p:sp>
      </p:grpSp>
      <p:sp>
        <p:nvSpPr>
          <p:cNvPr id="14848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848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8486" name="Group 24"/>
          <p:cNvGrpSpPr>
            <a:grpSpLocks/>
          </p:cNvGrpSpPr>
          <p:nvPr/>
        </p:nvGrpSpPr>
        <p:grpSpPr bwMode="auto">
          <a:xfrm>
            <a:off x="2986088" y="1306513"/>
            <a:ext cx="446087" cy="534987"/>
            <a:chOff x="868" y="1439"/>
            <a:chExt cx="811" cy="972"/>
          </a:xfrm>
        </p:grpSpPr>
        <p:sp>
          <p:nvSpPr>
            <p:cNvPr id="14849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49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0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1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2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3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854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848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4848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849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9506" name="Group 2"/>
          <p:cNvGrpSpPr>
            <a:grpSpLocks/>
          </p:cNvGrpSpPr>
          <p:nvPr/>
        </p:nvGrpSpPr>
        <p:grpSpPr bwMode="auto">
          <a:xfrm>
            <a:off x="7073900" y="215900"/>
            <a:ext cx="1878013" cy="1250950"/>
            <a:chOff x="4456" y="136"/>
            <a:chExt cx="1183" cy="788"/>
          </a:xfrm>
        </p:grpSpPr>
        <p:grpSp>
          <p:nvGrpSpPr>
            <p:cNvPr id="149566" name="Group 3"/>
            <p:cNvGrpSpPr>
              <a:grpSpLocks/>
            </p:cNvGrpSpPr>
            <p:nvPr/>
          </p:nvGrpSpPr>
          <p:grpSpPr bwMode="auto">
            <a:xfrm>
              <a:off x="4766" y="232"/>
              <a:ext cx="873" cy="692"/>
              <a:chOff x="2185" y="310"/>
              <a:chExt cx="873" cy="692"/>
            </a:xfrm>
          </p:grpSpPr>
          <p:sp>
            <p:nvSpPr>
              <p:cNvPr id="14957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8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8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8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8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49567" name="Group 11"/>
            <p:cNvGrpSpPr>
              <a:grpSpLocks/>
            </p:cNvGrpSpPr>
            <p:nvPr/>
          </p:nvGrpSpPr>
          <p:grpSpPr bwMode="auto">
            <a:xfrm>
              <a:off x="4949" y="336"/>
              <a:ext cx="591" cy="468"/>
              <a:chOff x="2185" y="310"/>
              <a:chExt cx="873" cy="692"/>
            </a:xfrm>
          </p:grpSpPr>
          <p:sp>
            <p:nvSpPr>
              <p:cNvPr id="14957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7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4956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11</a:t>
              </a:r>
              <a:endParaRPr lang="fr-FR" altLang="fr-FR" sz="3200">
                <a:solidFill>
                  <a:schemeClr val="tx1"/>
                </a:solidFill>
                <a:latin typeface="Arial Black" pitchFamily="34" charset="0"/>
              </a:endParaRPr>
            </a:p>
          </p:txBody>
        </p:sp>
      </p:grpSp>
      <p:sp>
        <p:nvSpPr>
          <p:cNvPr id="14950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4950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49510" name="Group 24"/>
          <p:cNvGrpSpPr>
            <a:grpSpLocks/>
          </p:cNvGrpSpPr>
          <p:nvPr/>
        </p:nvGrpSpPr>
        <p:grpSpPr bwMode="auto">
          <a:xfrm>
            <a:off x="2986088" y="1306513"/>
            <a:ext cx="446087" cy="534987"/>
            <a:chOff x="868" y="1439"/>
            <a:chExt cx="811" cy="972"/>
          </a:xfrm>
        </p:grpSpPr>
        <p:sp>
          <p:nvSpPr>
            <p:cNvPr id="14951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1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1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1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1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2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3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4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5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4956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951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4951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4951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0530" name="Group 2"/>
          <p:cNvGrpSpPr>
            <a:grpSpLocks/>
          </p:cNvGrpSpPr>
          <p:nvPr/>
        </p:nvGrpSpPr>
        <p:grpSpPr bwMode="auto">
          <a:xfrm>
            <a:off x="7073900" y="215900"/>
            <a:ext cx="1878013" cy="1250950"/>
            <a:chOff x="4456" y="136"/>
            <a:chExt cx="1183" cy="788"/>
          </a:xfrm>
        </p:grpSpPr>
        <p:grpSp>
          <p:nvGrpSpPr>
            <p:cNvPr id="150590" name="Group 3"/>
            <p:cNvGrpSpPr>
              <a:grpSpLocks/>
            </p:cNvGrpSpPr>
            <p:nvPr/>
          </p:nvGrpSpPr>
          <p:grpSpPr bwMode="auto">
            <a:xfrm>
              <a:off x="4766" y="232"/>
              <a:ext cx="873" cy="692"/>
              <a:chOff x="2185" y="310"/>
              <a:chExt cx="873" cy="692"/>
            </a:xfrm>
          </p:grpSpPr>
          <p:sp>
            <p:nvSpPr>
              <p:cNvPr id="15060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0591" name="Group 11"/>
            <p:cNvGrpSpPr>
              <a:grpSpLocks/>
            </p:cNvGrpSpPr>
            <p:nvPr/>
          </p:nvGrpSpPr>
          <p:grpSpPr bwMode="auto">
            <a:xfrm>
              <a:off x="4949" y="336"/>
              <a:ext cx="591" cy="468"/>
              <a:chOff x="2185" y="310"/>
              <a:chExt cx="873" cy="692"/>
            </a:xfrm>
          </p:grpSpPr>
          <p:sp>
            <p:nvSpPr>
              <p:cNvPr id="15059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9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60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059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59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12</a:t>
              </a:r>
              <a:endParaRPr lang="fr-FR" altLang="fr-FR" sz="3200">
                <a:solidFill>
                  <a:schemeClr val="tx1"/>
                </a:solidFill>
                <a:latin typeface="Arial Black" pitchFamily="34" charset="0"/>
              </a:endParaRPr>
            </a:p>
          </p:txBody>
        </p:sp>
      </p:grpSp>
      <p:sp>
        <p:nvSpPr>
          <p:cNvPr id="15053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053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0534" name="Group 24"/>
          <p:cNvGrpSpPr>
            <a:grpSpLocks/>
          </p:cNvGrpSpPr>
          <p:nvPr/>
        </p:nvGrpSpPr>
        <p:grpSpPr bwMode="auto">
          <a:xfrm>
            <a:off x="2986088" y="1306513"/>
            <a:ext cx="446087" cy="534987"/>
            <a:chOff x="868" y="1439"/>
            <a:chExt cx="811" cy="972"/>
          </a:xfrm>
        </p:grpSpPr>
        <p:sp>
          <p:nvSpPr>
            <p:cNvPr id="15053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4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5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6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7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058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053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053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053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1554" name="Group 2"/>
          <p:cNvGrpSpPr>
            <a:grpSpLocks/>
          </p:cNvGrpSpPr>
          <p:nvPr/>
        </p:nvGrpSpPr>
        <p:grpSpPr bwMode="auto">
          <a:xfrm>
            <a:off x="7073900" y="215900"/>
            <a:ext cx="1878013" cy="1250950"/>
            <a:chOff x="4456" y="136"/>
            <a:chExt cx="1183" cy="788"/>
          </a:xfrm>
        </p:grpSpPr>
        <p:grpSp>
          <p:nvGrpSpPr>
            <p:cNvPr id="151614" name="Group 3"/>
            <p:cNvGrpSpPr>
              <a:grpSpLocks/>
            </p:cNvGrpSpPr>
            <p:nvPr/>
          </p:nvGrpSpPr>
          <p:grpSpPr bwMode="auto">
            <a:xfrm>
              <a:off x="4766" y="232"/>
              <a:ext cx="873" cy="692"/>
              <a:chOff x="2185" y="310"/>
              <a:chExt cx="873" cy="692"/>
            </a:xfrm>
          </p:grpSpPr>
          <p:sp>
            <p:nvSpPr>
              <p:cNvPr id="15162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3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3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1615" name="Group 11"/>
            <p:cNvGrpSpPr>
              <a:grpSpLocks/>
            </p:cNvGrpSpPr>
            <p:nvPr/>
          </p:nvGrpSpPr>
          <p:grpSpPr bwMode="auto">
            <a:xfrm>
              <a:off x="4949" y="336"/>
              <a:ext cx="591" cy="468"/>
              <a:chOff x="2185" y="310"/>
              <a:chExt cx="873" cy="692"/>
            </a:xfrm>
          </p:grpSpPr>
          <p:sp>
            <p:nvSpPr>
              <p:cNvPr id="15161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2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161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161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13</a:t>
              </a:r>
              <a:endParaRPr lang="fr-FR" altLang="fr-FR" sz="3200">
                <a:solidFill>
                  <a:schemeClr val="tx1"/>
                </a:solidFill>
                <a:latin typeface="Arial Black" pitchFamily="34" charset="0"/>
              </a:endParaRPr>
            </a:p>
          </p:txBody>
        </p:sp>
      </p:grpSp>
      <p:sp>
        <p:nvSpPr>
          <p:cNvPr id="15155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155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1558" name="Group 24"/>
          <p:cNvGrpSpPr>
            <a:grpSpLocks/>
          </p:cNvGrpSpPr>
          <p:nvPr/>
        </p:nvGrpSpPr>
        <p:grpSpPr bwMode="auto">
          <a:xfrm>
            <a:off x="2986088" y="1306513"/>
            <a:ext cx="446087" cy="534987"/>
            <a:chOff x="868" y="1439"/>
            <a:chExt cx="811" cy="972"/>
          </a:xfrm>
        </p:grpSpPr>
        <p:sp>
          <p:nvSpPr>
            <p:cNvPr id="15156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6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7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8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59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0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161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156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156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156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2578" name="Group 2"/>
          <p:cNvGrpSpPr>
            <a:grpSpLocks/>
          </p:cNvGrpSpPr>
          <p:nvPr/>
        </p:nvGrpSpPr>
        <p:grpSpPr bwMode="auto">
          <a:xfrm>
            <a:off x="7073900" y="215900"/>
            <a:ext cx="1878013" cy="1250950"/>
            <a:chOff x="4456" y="136"/>
            <a:chExt cx="1183" cy="788"/>
          </a:xfrm>
        </p:grpSpPr>
        <p:grpSp>
          <p:nvGrpSpPr>
            <p:cNvPr id="152638" name="Group 3"/>
            <p:cNvGrpSpPr>
              <a:grpSpLocks/>
            </p:cNvGrpSpPr>
            <p:nvPr/>
          </p:nvGrpSpPr>
          <p:grpSpPr bwMode="auto">
            <a:xfrm>
              <a:off x="4766" y="232"/>
              <a:ext cx="873" cy="692"/>
              <a:chOff x="2185" y="310"/>
              <a:chExt cx="873" cy="692"/>
            </a:xfrm>
          </p:grpSpPr>
          <p:sp>
            <p:nvSpPr>
              <p:cNvPr id="15264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5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2639" name="Group 11"/>
            <p:cNvGrpSpPr>
              <a:grpSpLocks/>
            </p:cNvGrpSpPr>
            <p:nvPr/>
          </p:nvGrpSpPr>
          <p:grpSpPr bwMode="auto">
            <a:xfrm>
              <a:off x="4949" y="336"/>
              <a:ext cx="591" cy="468"/>
              <a:chOff x="2185" y="310"/>
              <a:chExt cx="873" cy="692"/>
            </a:xfrm>
          </p:grpSpPr>
          <p:sp>
            <p:nvSpPr>
              <p:cNvPr id="15264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4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264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64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14</a:t>
              </a:r>
              <a:endParaRPr lang="fr-FR" altLang="fr-FR" sz="3200">
                <a:solidFill>
                  <a:schemeClr val="tx1"/>
                </a:solidFill>
                <a:latin typeface="Arial Black" pitchFamily="34" charset="0"/>
              </a:endParaRPr>
            </a:p>
          </p:txBody>
        </p:sp>
      </p:grpSp>
      <p:sp>
        <p:nvSpPr>
          <p:cNvPr id="15258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258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2582" name="Group 24"/>
          <p:cNvGrpSpPr>
            <a:grpSpLocks/>
          </p:cNvGrpSpPr>
          <p:nvPr/>
        </p:nvGrpSpPr>
        <p:grpSpPr bwMode="auto">
          <a:xfrm>
            <a:off x="2986088" y="1306513"/>
            <a:ext cx="446087" cy="534987"/>
            <a:chOff x="868" y="1439"/>
            <a:chExt cx="811" cy="972"/>
          </a:xfrm>
        </p:grpSpPr>
        <p:sp>
          <p:nvSpPr>
            <p:cNvPr id="15258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8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8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59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0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1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2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263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258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258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258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3602" name="Group 2"/>
          <p:cNvGrpSpPr>
            <a:grpSpLocks/>
          </p:cNvGrpSpPr>
          <p:nvPr/>
        </p:nvGrpSpPr>
        <p:grpSpPr bwMode="auto">
          <a:xfrm>
            <a:off x="7073900" y="215900"/>
            <a:ext cx="1878013" cy="1250950"/>
            <a:chOff x="4456" y="136"/>
            <a:chExt cx="1183" cy="788"/>
          </a:xfrm>
        </p:grpSpPr>
        <p:grpSp>
          <p:nvGrpSpPr>
            <p:cNvPr id="153662" name="Group 3"/>
            <p:cNvGrpSpPr>
              <a:grpSpLocks/>
            </p:cNvGrpSpPr>
            <p:nvPr/>
          </p:nvGrpSpPr>
          <p:grpSpPr bwMode="auto">
            <a:xfrm>
              <a:off x="4766" y="232"/>
              <a:ext cx="873" cy="692"/>
              <a:chOff x="2185" y="310"/>
              <a:chExt cx="873" cy="692"/>
            </a:xfrm>
          </p:grpSpPr>
          <p:sp>
            <p:nvSpPr>
              <p:cNvPr id="15367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3663" name="Group 11"/>
            <p:cNvGrpSpPr>
              <a:grpSpLocks/>
            </p:cNvGrpSpPr>
            <p:nvPr/>
          </p:nvGrpSpPr>
          <p:grpSpPr bwMode="auto">
            <a:xfrm>
              <a:off x="4949" y="336"/>
              <a:ext cx="591" cy="468"/>
              <a:chOff x="2185" y="310"/>
              <a:chExt cx="873" cy="692"/>
            </a:xfrm>
          </p:grpSpPr>
          <p:sp>
            <p:nvSpPr>
              <p:cNvPr id="15366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7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366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66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15</a:t>
              </a:r>
              <a:endParaRPr lang="fr-FR" altLang="fr-FR" sz="3200">
                <a:solidFill>
                  <a:schemeClr val="tx1"/>
                </a:solidFill>
                <a:latin typeface="Arial Black" pitchFamily="34" charset="0"/>
              </a:endParaRPr>
            </a:p>
          </p:txBody>
        </p:sp>
      </p:grpSp>
      <p:sp>
        <p:nvSpPr>
          <p:cNvPr id="15360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360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3606" name="Group 24"/>
          <p:cNvGrpSpPr>
            <a:grpSpLocks/>
          </p:cNvGrpSpPr>
          <p:nvPr/>
        </p:nvGrpSpPr>
        <p:grpSpPr bwMode="auto">
          <a:xfrm>
            <a:off x="2986088" y="1306513"/>
            <a:ext cx="446087" cy="534987"/>
            <a:chOff x="868" y="1439"/>
            <a:chExt cx="811" cy="972"/>
          </a:xfrm>
        </p:grpSpPr>
        <p:sp>
          <p:nvSpPr>
            <p:cNvPr id="15361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1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2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3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4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5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366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360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360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361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2"/>
          <p:cNvSpPr>
            <a:spLocks noGrp="1" noChangeArrowheads="1"/>
          </p:cNvSpPr>
          <p:nvPr>
            <p:ph type="title"/>
          </p:nvPr>
        </p:nvSpPr>
        <p:spPr/>
        <p:txBody>
          <a:bodyPr/>
          <a:lstStyle/>
          <a:p>
            <a:pPr eaLnBrk="1" hangingPunct="1"/>
            <a:r>
              <a:rPr lang="fr-FR" altLang="fr-FR"/>
              <a:t>Question</a:t>
            </a:r>
          </a:p>
        </p:txBody>
      </p:sp>
      <p:sp>
        <p:nvSpPr>
          <p:cNvPr id="154627" name="Rectangle 3"/>
          <p:cNvSpPr>
            <a:spLocks noGrp="1" noChangeArrowheads="1"/>
          </p:cNvSpPr>
          <p:nvPr>
            <p:ph type="body" idx="1"/>
          </p:nvPr>
        </p:nvSpPr>
        <p:spPr>
          <a:xfrm>
            <a:off x="285750" y="1701800"/>
            <a:ext cx="8620125" cy="3830638"/>
          </a:xfrm>
        </p:spPr>
        <p:txBody>
          <a:bodyPr/>
          <a:lstStyle/>
          <a:p>
            <a:pPr eaLnBrk="1" hangingPunct="1">
              <a:buFontTx/>
              <a:buNone/>
            </a:pPr>
            <a:r>
              <a:rPr lang="fr-FR" altLang="fr-FR" u="sng" dirty="0"/>
              <a:t>Origine</a:t>
            </a:r>
            <a:r>
              <a:rPr lang="fr-FR" altLang="fr-FR" dirty="0"/>
              <a:t> : Responsable du service Manutention</a:t>
            </a:r>
          </a:p>
          <a:p>
            <a:pPr eaLnBrk="1" hangingPunct="1">
              <a:buFontTx/>
              <a:buNone/>
            </a:pPr>
            <a:r>
              <a:rPr lang="fr-FR" altLang="fr-FR" u="sng" dirty="0"/>
              <a:t>Destinataire</a:t>
            </a:r>
            <a:r>
              <a:rPr lang="fr-FR" altLang="fr-FR" dirty="0"/>
              <a:t> : Chef d’atelier</a:t>
            </a:r>
          </a:p>
          <a:p>
            <a:pPr eaLnBrk="1" hangingPunct="1">
              <a:buFontTx/>
              <a:buNone/>
            </a:pPr>
            <a:endParaRPr lang="fr-FR" altLang="fr-FR" dirty="0"/>
          </a:p>
          <a:p>
            <a:pPr eaLnBrk="1" hangingPunct="1"/>
            <a:r>
              <a:rPr lang="fr-FR" altLang="fr-FR" dirty="0"/>
              <a:t>Une étude récente montre que les containers actuels sont peu remplis. </a:t>
            </a:r>
          </a:p>
          <a:p>
            <a:pPr eaLnBrk="1" hangingPunct="1"/>
            <a:r>
              <a:rPr lang="fr-FR" altLang="fr-FR" dirty="0"/>
              <a:t>La puissance de nos chariots permettrait de les remplir 3 fois plus.</a:t>
            </a:r>
          </a:p>
          <a:p>
            <a:pPr eaLnBrk="1" hangingPunct="1"/>
            <a:r>
              <a:rPr lang="fr-FR" altLang="fr-FR" dirty="0"/>
              <a:t>Les essais commenceront dès maintenant et dureront un jour, sur la manutention de tous les engrenages usinés à destination du montage (containers de 3 pièces au lieu de 1).</a:t>
            </a:r>
          </a:p>
          <a:p>
            <a:pPr eaLnBrk="1" hangingPunct="1">
              <a:buFontTx/>
              <a:buNone/>
            </a:pPr>
            <a:br>
              <a:rPr lang="fr-FR" altLang="fr-FR" dirty="0"/>
            </a:br>
            <a:r>
              <a:rPr lang="fr-FR" altLang="fr-FR" sz="1600" i="1" u="sng" dirty="0"/>
              <a:t>N.B. </a:t>
            </a:r>
            <a:r>
              <a:rPr lang="fr-FR" altLang="fr-FR" sz="1600" dirty="0"/>
              <a:t>Un </a:t>
            </a:r>
            <a:r>
              <a:rPr lang="fr-FR" altLang="fr-FR" sz="1600" i="1" dirty="0"/>
              <a:t>container </a:t>
            </a:r>
            <a:r>
              <a:rPr lang="fr-FR" altLang="fr-FR" sz="1600" dirty="0"/>
              <a:t>ne </a:t>
            </a:r>
            <a:r>
              <a:rPr lang="fr-FR" altLang="fr-FR" sz="1600" i="1" dirty="0"/>
              <a:t>doit contenir qu'un même type de pièces. Quand on arrive en fin de série, il peut circuler non rempli.</a:t>
            </a:r>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5650" name="Group 2"/>
          <p:cNvGrpSpPr>
            <a:grpSpLocks/>
          </p:cNvGrpSpPr>
          <p:nvPr/>
        </p:nvGrpSpPr>
        <p:grpSpPr bwMode="auto">
          <a:xfrm>
            <a:off x="7073900" y="215900"/>
            <a:ext cx="1878013" cy="1250950"/>
            <a:chOff x="4456" y="136"/>
            <a:chExt cx="1183" cy="788"/>
          </a:xfrm>
        </p:grpSpPr>
        <p:grpSp>
          <p:nvGrpSpPr>
            <p:cNvPr id="155710" name="Group 3"/>
            <p:cNvGrpSpPr>
              <a:grpSpLocks/>
            </p:cNvGrpSpPr>
            <p:nvPr/>
          </p:nvGrpSpPr>
          <p:grpSpPr bwMode="auto">
            <a:xfrm>
              <a:off x="4766" y="232"/>
              <a:ext cx="873" cy="692"/>
              <a:chOff x="2185" y="310"/>
              <a:chExt cx="873" cy="692"/>
            </a:xfrm>
          </p:grpSpPr>
          <p:sp>
            <p:nvSpPr>
              <p:cNvPr id="15572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5711" name="Group 11"/>
            <p:cNvGrpSpPr>
              <a:grpSpLocks/>
            </p:cNvGrpSpPr>
            <p:nvPr/>
          </p:nvGrpSpPr>
          <p:grpSpPr bwMode="auto">
            <a:xfrm>
              <a:off x="4949" y="336"/>
              <a:ext cx="591" cy="468"/>
              <a:chOff x="2185" y="310"/>
              <a:chExt cx="873" cy="692"/>
            </a:xfrm>
          </p:grpSpPr>
          <p:sp>
            <p:nvSpPr>
              <p:cNvPr id="15571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1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2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571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571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16</a:t>
              </a:r>
              <a:endParaRPr lang="fr-FR" altLang="fr-FR" sz="3200">
                <a:solidFill>
                  <a:schemeClr val="tx1"/>
                </a:solidFill>
                <a:latin typeface="Arial Black" pitchFamily="34" charset="0"/>
              </a:endParaRPr>
            </a:p>
          </p:txBody>
        </p:sp>
      </p:grpSp>
      <p:sp>
        <p:nvSpPr>
          <p:cNvPr id="15565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565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5654" name="Group 24"/>
          <p:cNvGrpSpPr>
            <a:grpSpLocks/>
          </p:cNvGrpSpPr>
          <p:nvPr/>
        </p:nvGrpSpPr>
        <p:grpSpPr bwMode="auto">
          <a:xfrm>
            <a:off x="2986088" y="1306513"/>
            <a:ext cx="446087" cy="534987"/>
            <a:chOff x="868" y="1439"/>
            <a:chExt cx="811" cy="972"/>
          </a:xfrm>
        </p:grpSpPr>
        <p:sp>
          <p:nvSpPr>
            <p:cNvPr id="15565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6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7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8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69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570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565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Mardi</a:t>
            </a:r>
          </a:p>
        </p:txBody>
      </p:sp>
      <p:sp>
        <p:nvSpPr>
          <p:cNvPr id="15565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565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Rectangle 2"/>
          <p:cNvSpPr>
            <a:spLocks noGrp="1" noChangeArrowheads="1"/>
          </p:cNvSpPr>
          <p:nvPr>
            <p:ph type="title"/>
          </p:nvPr>
        </p:nvSpPr>
        <p:spPr/>
        <p:txBody>
          <a:bodyPr/>
          <a:lstStyle/>
          <a:p>
            <a:pPr eaLnBrk="1" hangingPunct="1"/>
            <a:r>
              <a:rPr lang="fr-FR" altLang="fr-FR"/>
              <a:t>Ajustement des stocks</a:t>
            </a:r>
          </a:p>
        </p:txBody>
      </p:sp>
      <p:sp>
        <p:nvSpPr>
          <p:cNvPr id="156675" name="Rectangle 3"/>
          <p:cNvSpPr>
            <a:spLocks noGrp="1" noChangeArrowheads="1"/>
          </p:cNvSpPr>
          <p:nvPr>
            <p:ph type="body" idx="1"/>
          </p:nvPr>
        </p:nvSpPr>
        <p:spPr/>
        <p:txBody>
          <a:bodyPr/>
          <a:lstStyle/>
          <a:p>
            <a:pPr eaLnBrk="1" hangingPunct="1"/>
            <a:r>
              <a:rPr lang="fr-FR" altLang="fr-FR" dirty="0"/>
              <a:t>Vous pouvez réduire vos stocks pour tenir compte de vos progrès (mais il est interdit de les augmenter).</a:t>
            </a:r>
          </a:p>
          <a:p>
            <a:pPr eaLnBrk="1" hangingPunct="1"/>
            <a:r>
              <a:rPr lang="fr-FR" altLang="fr-FR" dirty="0"/>
              <a:t>Faîtes l’inventaire après la baisse éventuelle des stocks, et mettez à jour votre feuille Résultats.</a:t>
            </a:r>
          </a:p>
          <a:p>
            <a:pPr eaLnBrk="1" hangingPunct="1"/>
            <a:r>
              <a:rPr lang="fr-FR" altLang="fr-FR" dirty="0"/>
              <a:t>Vous pouvez également diminuer le nombre de tickets dans certains boucles.</a:t>
            </a: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8"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0538" y="1808163"/>
            <a:ext cx="8216900"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57699" name="Rectangle 3"/>
          <p:cNvSpPr>
            <a:spLocks noGrp="1" noChangeArrowheads="1"/>
          </p:cNvSpPr>
          <p:nvPr>
            <p:ph type="title"/>
          </p:nvPr>
        </p:nvSpPr>
        <p:spPr/>
        <p:txBody>
          <a:bodyPr/>
          <a:lstStyle/>
          <a:p>
            <a:pPr eaLnBrk="1" hangingPunct="1"/>
            <a:r>
              <a:rPr lang="fr-FR" altLang="fr-FR"/>
              <a:t>Enregistrement des progrès</a:t>
            </a:r>
          </a:p>
        </p:txBody>
      </p:sp>
      <p:sp>
        <p:nvSpPr>
          <p:cNvPr id="157700" name="Oval 4"/>
          <p:cNvSpPr>
            <a:spLocks noChangeArrowheads="1"/>
          </p:cNvSpPr>
          <p:nvPr/>
        </p:nvSpPr>
        <p:spPr bwMode="auto">
          <a:xfrm>
            <a:off x="8145463" y="4016375"/>
            <a:ext cx="412750" cy="276225"/>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57701" name="AutoShape 5"/>
          <p:cNvSpPr>
            <a:spLocks/>
          </p:cNvSpPr>
          <p:nvPr/>
        </p:nvSpPr>
        <p:spPr bwMode="auto">
          <a:xfrm>
            <a:off x="4843463" y="4751388"/>
            <a:ext cx="2171700" cy="573087"/>
          </a:xfrm>
          <a:prstGeom prst="borderCallout2">
            <a:avLst>
              <a:gd name="adj1" fmla="val 19944"/>
              <a:gd name="adj2" fmla="val 103509"/>
              <a:gd name="adj3" fmla="val 19944"/>
              <a:gd name="adj4" fmla="val 113157"/>
              <a:gd name="adj5" fmla="val -92796"/>
              <a:gd name="adj6" fmla="val 1484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 nombre de points auxquels vous avez droit</a:t>
            </a: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8723" name="Group 3"/>
          <p:cNvGrpSpPr>
            <a:grpSpLocks/>
          </p:cNvGrpSpPr>
          <p:nvPr/>
        </p:nvGrpSpPr>
        <p:grpSpPr bwMode="auto">
          <a:xfrm>
            <a:off x="7073900" y="215900"/>
            <a:ext cx="1878013" cy="1250950"/>
            <a:chOff x="4456" y="136"/>
            <a:chExt cx="1183" cy="788"/>
          </a:xfrm>
        </p:grpSpPr>
        <p:grpSp>
          <p:nvGrpSpPr>
            <p:cNvPr id="158840" name="Group 4"/>
            <p:cNvGrpSpPr>
              <a:grpSpLocks/>
            </p:cNvGrpSpPr>
            <p:nvPr/>
          </p:nvGrpSpPr>
          <p:grpSpPr bwMode="auto">
            <a:xfrm>
              <a:off x="4766" y="232"/>
              <a:ext cx="873" cy="692"/>
              <a:chOff x="2185" y="310"/>
              <a:chExt cx="873" cy="692"/>
            </a:xfrm>
          </p:grpSpPr>
          <p:sp>
            <p:nvSpPr>
              <p:cNvPr id="158851"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2"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3"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4"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5"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6"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7"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8841" name="Group 12"/>
            <p:cNvGrpSpPr>
              <a:grpSpLocks/>
            </p:cNvGrpSpPr>
            <p:nvPr/>
          </p:nvGrpSpPr>
          <p:grpSpPr bwMode="auto">
            <a:xfrm>
              <a:off x="4949" y="336"/>
              <a:ext cx="591" cy="468"/>
              <a:chOff x="2185" y="310"/>
              <a:chExt cx="873" cy="692"/>
            </a:xfrm>
          </p:grpSpPr>
          <p:sp>
            <p:nvSpPr>
              <p:cNvPr id="158844"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5"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6"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7"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8"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49"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50"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8842"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843"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17</a:t>
              </a:r>
              <a:endParaRPr lang="fr-FR" altLang="fr-FR" sz="3200">
                <a:solidFill>
                  <a:schemeClr val="tx1"/>
                </a:solidFill>
                <a:latin typeface="Arial Black" pitchFamily="34" charset="0"/>
              </a:endParaRPr>
            </a:p>
          </p:txBody>
        </p:sp>
      </p:grpSp>
      <p:sp>
        <p:nvSpPr>
          <p:cNvPr id="158724" name="Text Box 22"/>
          <p:cNvSpPr txBox="1">
            <a:spLocks noChangeArrowheads="1"/>
          </p:cNvSpPr>
          <p:nvPr/>
        </p:nvSpPr>
        <p:spPr bwMode="auto">
          <a:xfrm>
            <a:off x="53498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sp>
        <p:nvSpPr>
          <p:cNvPr id="158725" name="Text Box 23"/>
          <p:cNvSpPr txBox="1">
            <a:spLocks noChangeArrowheads="1"/>
          </p:cNvSpPr>
          <p:nvPr/>
        </p:nvSpPr>
        <p:spPr bwMode="auto">
          <a:xfrm>
            <a:off x="382428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58726" name="Text Box 24"/>
          <p:cNvSpPr txBox="1">
            <a:spLocks noChangeArrowheads="1"/>
          </p:cNvSpPr>
          <p:nvPr/>
        </p:nvSpPr>
        <p:spPr bwMode="auto">
          <a:xfrm>
            <a:off x="595153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158727" name="Oval 25"/>
          <p:cNvSpPr>
            <a:spLocks noChangeArrowheads="1"/>
          </p:cNvSpPr>
          <p:nvPr/>
        </p:nvSpPr>
        <p:spPr bwMode="auto">
          <a:xfrm rot="-5400000">
            <a:off x="7322344" y="3037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58728" name="Text Box 26"/>
          <p:cNvSpPr txBox="1">
            <a:spLocks noChangeArrowheads="1"/>
          </p:cNvSpPr>
          <p:nvPr/>
        </p:nvSpPr>
        <p:spPr bwMode="auto">
          <a:xfrm>
            <a:off x="6935788" y="3681413"/>
            <a:ext cx="22082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Couronnes</a:t>
            </a:r>
          </a:p>
        </p:txBody>
      </p:sp>
      <p:sp>
        <p:nvSpPr>
          <p:cNvPr id="158729" name="Rectangle 27"/>
          <p:cNvSpPr>
            <a:spLocks noGrp="1" noChangeArrowheads="1"/>
          </p:cNvSpPr>
          <p:nvPr>
            <p:ph type="title"/>
          </p:nvPr>
        </p:nvSpPr>
        <p:spPr>
          <a:xfrm>
            <a:off x="858838" y="0"/>
            <a:ext cx="6038850" cy="647700"/>
          </a:xfrm>
        </p:spPr>
        <p:txBody>
          <a:bodyPr/>
          <a:lstStyle/>
          <a:p>
            <a:pPr eaLnBrk="1" hangingPunct="1"/>
            <a:r>
              <a:rPr lang="fr-FR" altLang="fr-FR"/>
              <a:t>Sem. 3 - Mercredi (Ste Cécile)</a:t>
            </a:r>
          </a:p>
        </p:txBody>
      </p:sp>
      <p:sp>
        <p:nvSpPr>
          <p:cNvPr id="158730"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58731"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8732"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8733" name="Group 31"/>
          <p:cNvGrpSpPr>
            <a:grpSpLocks/>
          </p:cNvGrpSpPr>
          <p:nvPr/>
        </p:nvGrpSpPr>
        <p:grpSpPr bwMode="auto">
          <a:xfrm>
            <a:off x="2843213" y="1106488"/>
            <a:ext cx="446087" cy="534987"/>
            <a:chOff x="868" y="1439"/>
            <a:chExt cx="811" cy="972"/>
          </a:xfrm>
        </p:grpSpPr>
        <p:sp>
          <p:nvSpPr>
            <p:cNvPr id="158789" name="Freeform 32"/>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0" name="Freeform 33"/>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1" name="Freeform 34"/>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2" name="Freeform 35"/>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3" name="Freeform 36"/>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4" name="Freeform 37"/>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5" name="Freeform 38"/>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6" name="Freeform 39"/>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7" name="Freeform 40"/>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8" name="Freeform 41"/>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799" name="Freeform 42"/>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0" name="Freeform 43"/>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1" name="Freeform 44"/>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2" name="Freeform 45"/>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3" name="Freeform 46"/>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4" name="Freeform 47"/>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5" name="Freeform 48"/>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6" name="Freeform 49"/>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7" name="Freeform 50"/>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8" name="Freeform 51"/>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09" name="Freeform 52"/>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0" name="Freeform 53"/>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1" name="Freeform 54"/>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2" name="Freeform 55"/>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3" name="Freeform 56"/>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4" name="Freeform 57"/>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5" name="Freeform 58"/>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6" name="Freeform 59"/>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7" name="Freeform 60"/>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8" name="Freeform 61"/>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19" name="Freeform 62"/>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0" name="Freeform 63"/>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1" name="Freeform 64"/>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2" name="Freeform 65"/>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3" name="Freeform 66"/>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4" name="Freeform 67"/>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5" name="Freeform 68"/>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6" name="Freeform 69"/>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7" name="Freeform 70"/>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8" name="Freeform 71"/>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29" name="Freeform 72"/>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0" name="Freeform 73"/>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1" name="Freeform 74"/>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2" name="Freeform 75"/>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3" name="Freeform 76"/>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4" name="Freeform 77"/>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5" name="Freeform 78"/>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6" name="Freeform 79"/>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7" name="Freeform 80"/>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8" name="Freeform 81"/>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8839" name="Freeform 82"/>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8734" name="Group 83"/>
          <p:cNvGrpSpPr>
            <a:grpSpLocks/>
          </p:cNvGrpSpPr>
          <p:nvPr/>
        </p:nvGrpSpPr>
        <p:grpSpPr bwMode="auto">
          <a:xfrm rot="-223274">
            <a:off x="649288" y="2906713"/>
            <a:ext cx="744537" cy="733425"/>
            <a:chOff x="2757" y="1666"/>
            <a:chExt cx="812" cy="800"/>
          </a:xfrm>
        </p:grpSpPr>
        <p:sp>
          <p:nvSpPr>
            <p:cNvPr id="158783" name="Freeform 8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84" name="Freeform 8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85" name="Line 8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86" name="Freeform 8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87" name="Freeform 8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88" name="AutoShape 8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58735" name="Group 90"/>
          <p:cNvGrpSpPr>
            <a:grpSpLocks/>
          </p:cNvGrpSpPr>
          <p:nvPr/>
        </p:nvGrpSpPr>
        <p:grpSpPr bwMode="auto">
          <a:xfrm rot="-223274">
            <a:off x="3902075" y="2867025"/>
            <a:ext cx="744538" cy="733425"/>
            <a:chOff x="2757" y="1666"/>
            <a:chExt cx="812" cy="800"/>
          </a:xfrm>
        </p:grpSpPr>
        <p:sp>
          <p:nvSpPr>
            <p:cNvPr id="158777" name="Freeform 9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78" name="Freeform 9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79" name="Line 9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80" name="Freeform 9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81" name="Freeform 9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82" name="AutoShape 9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58736" name="Group 97"/>
          <p:cNvGrpSpPr>
            <a:grpSpLocks/>
          </p:cNvGrpSpPr>
          <p:nvPr/>
        </p:nvGrpSpPr>
        <p:grpSpPr bwMode="auto">
          <a:xfrm rot="-223274">
            <a:off x="6018213" y="2867025"/>
            <a:ext cx="744537" cy="733425"/>
            <a:chOff x="2757" y="1666"/>
            <a:chExt cx="812" cy="800"/>
          </a:xfrm>
        </p:grpSpPr>
        <p:sp>
          <p:nvSpPr>
            <p:cNvPr id="158771" name="Freeform 98"/>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72" name="Freeform 99"/>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73" name="Line 100"/>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74" name="Freeform 101"/>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75" name="Freeform 102"/>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76" name="AutoShape 103"/>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58737" name="Oval 111"/>
          <p:cNvSpPr>
            <a:spLocks noChangeArrowheads="1"/>
          </p:cNvSpPr>
          <p:nvPr/>
        </p:nvSpPr>
        <p:spPr bwMode="auto">
          <a:xfrm rot="-5400000">
            <a:off x="7684294" y="3037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58738" name="Oval 112"/>
          <p:cNvSpPr>
            <a:spLocks noChangeArrowheads="1"/>
          </p:cNvSpPr>
          <p:nvPr/>
        </p:nvSpPr>
        <p:spPr bwMode="auto">
          <a:xfrm rot="-5400000">
            <a:off x="8047832" y="3037681"/>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58739" name="Text Box 121"/>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158740" name="Group 122"/>
          <p:cNvGrpSpPr>
            <a:grpSpLocks/>
          </p:cNvGrpSpPr>
          <p:nvPr/>
        </p:nvGrpSpPr>
        <p:grpSpPr bwMode="auto">
          <a:xfrm rot="-223274">
            <a:off x="649288" y="2659063"/>
            <a:ext cx="744537" cy="733425"/>
            <a:chOff x="2757" y="1666"/>
            <a:chExt cx="812" cy="800"/>
          </a:xfrm>
        </p:grpSpPr>
        <p:sp>
          <p:nvSpPr>
            <p:cNvPr id="158765" name="Freeform 123"/>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66" name="Freeform 124"/>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67" name="Line 125"/>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68" name="Freeform 126"/>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69" name="Freeform 127"/>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70" name="AutoShape 128"/>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58741" name="Text Box 129"/>
          <p:cNvSpPr txBox="1">
            <a:spLocks noChangeArrowheads="1"/>
          </p:cNvSpPr>
          <p:nvPr/>
        </p:nvSpPr>
        <p:spPr bwMode="auto">
          <a:xfrm>
            <a:off x="173513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R2</a:t>
            </a:r>
          </a:p>
        </p:txBody>
      </p:sp>
      <p:grpSp>
        <p:nvGrpSpPr>
          <p:cNvPr id="158742" name="Group 130"/>
          <p:cNvGrpSpPr>
            <a:grpSpLocks/>
          </p:cNvGrpSpPr>
          <p:nvPr/>
        </p:nvGrpSpPr>
        <p:grpSpPr bwMode="auto">
          <a:xfrm rot="-223274">
            <a:off x="1849438" y="2867025"/>
            <a:ext cx="744537" cy="733425"/>
            <a:chOff x="2757" y="1666"/>
            <a:chExt cx="812" cy="800"/>
          </a:xfrm>
        </p:grpSpPr>
        <p:sp>
          <p:nvSpPr>
            <p:cNvPr id="158759" name="Freeform 13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60" name="Freeform 13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61" name="Line 13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62" name="Freeform 13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63" name="Freeform 13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64" name="AutoShape 13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58743" name="Text Box 137"/>
          <p:cNvSpPr txBox="1">
            <a:spLocks noChangeArrowheads="1"/>
          </p:cNvSpPr>
          <p:nvPr/>
        </p:nvSpPr>
        <p:spPr bwMode="auto">
          <a:xfrm>
            <a:off x="274478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grpSp>
        <p:nvGrpSpPr>
          <p:cNvPr id="158744" name="Group 138"/>
          <p:cNvGrpSpPr>
            <a:grpSpLocks/>
          </p:cNvGrpSpPr>
          <p:nvPr/>
        </p:nvGrpSpPr>
        <p:grpSpPr bwMode="auto">
          <a:xfrm rot="-223274">
            <a:off x="2878138" y="2867025"/>
            <a:ext cx="744537" cy="733425"/>
            <a:chOff x="2757" y="1666"/>
            <a:chExt cx="812" cy="800"/>
          </a:xfrm>
        </p:grpSpPr>
        <p:sp>
          <p:nvSpPr>
            <p:cNvPr id="158753" name="Freeform 13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54" name="Freeform 14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55" name="Line 14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56" name="Freeform 14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57" name="Freeform 14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58" name="AutoShape 14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58745" name="Text Box 145"/>
          <p:cNvSpPr txBox="1">
            <a:spLocks noChangeArrowheads="1"/>
          </p:cNvSpPr>
          <p:nvPr/>
        </p:nvSpPr>
        <p:spPr bwMode="auto">
          <a:xfrm>
            <a:off x="4872038" y="36814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158746" name="Group 146"/>
          <p:cNvGrpSpPr>
            <a:grpSpLocks/>
          </p:cNvGrpSpPr>
          <p:nvPr/>
        </p:nvGrpSpPr>
        <p:grpSpPr bwMode="auto">
          <a:xfrm rot="-223274">
            <a:off x="4968875" y="2867025"/>
            <a:ext cx="744538" cy="733425"/>
            <a:chOff x="2757" y="1666"/>
            <a:chExt cx="812" cy="800"/>
          </a:xfrm>
        </p:grpSpPr>
        <p:sp>
          <p:nvSpPr>
            <p:cNvPr id="158747" name="Freeform 14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48" name="Freeform 14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58749" name="Line 14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750" name="Freeform 15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58751" name="Freeform 15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58752" name="AutoShape 15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9746" name="Group 2"/>
          <p:cNvGrpSpPr>
            <a:grpSpLocks/>
          </p:cNvGrpSpPr>
          <p:nvPr/>
        </p:nvGrpSpPr>
        <p:grpSpPr bwMode="auto">
          <a:xfrm>
            <a:off x="7073900" y="215900"/>
            <a:ext cx="1878013" cy="1250950"/>
            <a:chOff x="4456" y="136"/>
            <a:chExt cx="1183" cy="788"/>
          </a:xfrm>
        </p:grpSpPr>
        <p:grpSp>
          <p:nvGrpSpPr>
            <p:cNvPr id="159806" name="Group 3"/>
            <p:cNvGrpSpPr>
              <a:grpSpLocks/>
            </p:cNvGrpSpPr>
            <p:nvPr/>
          </p:nvGrpSpPr>
          <p:grpSpPr bwMode="auto">
            <a:xfrm>
              <a:off x="4766" y="232"/>
              <a:ext cx="873" cy="692"/>
              <a:chOff x="2185" y="310"/>
              <a:chExt cx="873" cy="692"/>
            </a:xfrm>
          </p:grpSpPr>
          <p:sp>
            <p:nvSpPr>
              <p:cNvPr id="15981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2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2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2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2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59807" name="Group 11"/>
            <p:cNvGrpSpPr>
              <a:grpSpLocks/>
            </p:cNvGrpSpPr>
            <p:nvPr/>
          </p:nvGrpSpPr>
          <p:grpSpPr bwMode="auto">
            <a:xfrm>
              <a:off x="4949" y="336"/>
              <a:ext cx="591" cy="468"/>
              <a:chOff x="2185" y="310"/>
              <a:chExt cx="873" cy="692"/>
            </a:xfrm>
          </p:grpSpPr>
          <p:sp>
            <p:nvSpPr>
              <p:cNvPr id="15981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1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5980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80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18</a:t>
              </a:r>
              <a:endParaRPr lang="fr-FR" altLang="fr-FR" sz="3200">
                <a:solidFill>
                  <a:schemeClr val="tx1"/>
                </a:solidFill>
                <a:latin typeface="Arial Black" pitchFamily="34" charset="0"/>
              </a:endParaRPr>
            </a:p>
          </p:txBody>
        </p:sp>
      </p:grpSp>
      <p:sp>
        <p:nvSpPr>
          <p:cNvPr id="15974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5974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59750" name="Group 24"/>
          <p:cNvGrpSpPr>
            <a:grpSpLocks/>
          </p:cNvGrpSpPr>
          <p:nvPr/>
        </p:nvGrpSpPr>
        <p:grpSpPr bwMode="auto">
          <a:xfrm>
            <a:off x="2986088" y="1306513"/>
            <a:ext cx="446087" cy="534987"/>
            <a:chOff x="868" y="1439"/>
            <a:chExt cx="811" cy="972"/>
          </a:xfrm>
        </p:grpSpPr>
        <p:sp>
          <p:nvSpPr>
            <p:cNvPr id="15975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5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5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5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5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6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7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8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79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5980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5975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5975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5975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0770" name="Group 2"/>
          <p:cNvGrpSpPr>
            <a:grpSpLocks/>
          </p:cNvGrpSpPr>
          <p:nvPr/>
        </p:nvGrpSpPr>
        <p:grpSpPr bwMode="auto">
          <a:xfrm>
            <a:off x="7073900" y="215900"/>
            <a:ext cx="1878013" cy="1250950"/>
            <a:chOff x="4456" y="136"/>
            <a:chExt cx="1183" cy="788"/>
          </a:xfrm>
        </p:grpSpPr>
        <p:grpSp>
          <p:nvGrpSpPr>
            <p:cNvPr id="160830" name="Group 3"/>
            <p:cNvGrpSpPr>
              <a:grpSpLocks/>
            </p:cNvGrpSpPr>
            <p:nvPr/>
          </p:nvGrpSpPr>
          <p:grpSpPr bwMode="auto">
            <a:xfrm>
              <a:off x="4766" y="232"/>
              <a:ext cx="873" cy="692"/>
              <a:chOff x="2185" y="310"/>
              <a:chExt cx="873" cy="692"/>
            </a:xfrm>
          </p:grpSpPr>
          <p:sp>
            <p:nvSpPr>
              <p:cNvPr id="16084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0831" name="Group 11"/>
            <p:cNvGrpSpPr>
              <a:grpSpLocks/>
            </p:cNvGrpSpPr>
            <p:nvPr/>
          </p:nvGrpSpPr>
          <p:grpSpPr bwMode="auto">
            <a:xfrm>
              <a:off x="4949" y="336"/>
              <a:ext cx="591" cy="468"/>
              <a:chOff x="2185" y="310"/>
              <a:chExt cx="873" cy="692"/>
            </a:xfrm>
          </p:grpSpPr>
          <p:sp>
            <p:nvSpPr>
              <p:cNvPr id="16083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3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4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083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83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19</a:t>
              </a:r>
              <a:endParaRPr lang="fr-FR" altLang="fr-FR" sz="3200">
                <a:solidFill>
                  <a:schemeClr val="tx1"/>
                </a:solidFill>
                <a:latin typeface="Arial Black" pitchFamily="34" charset="0"/>
              </a:endParaRPr>
            </a:p>
          </p:txBody>
        </p:sp>
      </p:grpSp>
      <p:sp>
        <p:nvSpPr>
          <p:cNvPr id="16077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077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0774" name="Group 24"/>
          <p:cNvGrpSpPr>
            <a:grpSpLocks/>
          </p:cNvGrpSpPr>
          <p:nvPr/>
        </p:nvGrpSpPr>
        <p:grpSpPr bwMode="auto">
          <a:xfrm>
            <a:off x="2986088" y="1306513"/>
            <a:ext cx="446087" cy="534987"/>
            <a:chOff x="868" y="1439"/>
            <a:chExt cx="811" cy="972"/>
          </a:xfrm>
        </p:grpSpPr>
        <p:sp>
          <p:nvSpPr>
            <p:cNvPr id="16077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8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79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0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1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082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077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077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077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1794" name="Group 2"/>
          <p:cNvGrpSpPr>
            <a:grpSpLocks/>
          </p:cNvGrpSpPr>
          <p:nvPr/>
        </p:nvGrpSpPr>
        <p:grpSpPr bwMode="auto">
          <a:xfrm>
            <a:off x="7073900" y="215900"/>
            <a:ext cx="1878013" cy="1250950"/>
            <a:chOff x="4456" y="136"/>
            <a:chExt cx="1183" cy="788"/>
          </a:xfrm>
        </p:grpSpPr>
        <p:grpSp>
          <p:nvGrpSpPr>
            <p:cNvPr id="161854" name="Group 3"/>
            <p:cNvGrpSpPr>
              <a:grpSpLocks/>
            </p:cNvGrpSpPr>
            <p:nvPr/>
          </p:nvGrpSpPr>
          <p:grpSpPr bwMode="auto">
            <a:xfrm>
              <a:off x="4766" y="232"/>
              <a:ext cx="873" cy="692"/>
              <a:chOff x="2185" y="310"/>
              <a:chExt cx="873" cy="692"/>
            </a:xfrm>
          </p:grpSpPr>
          <p:sp>
            <p:nvSpPr>
              <p:cNvPr id="161865"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6"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7"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8"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9"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70"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71"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1855" name="Group 11"/>
            <p:cNvGrpSpPr>
              <a:grpSpLocks/>
            </p:cNvGrpSpPr>
            <p:nvPr/>
          </p:nvGrpSpPr>
          <p:grpSpPr bwMode="auto">
            <a:xfrm>
              <a:off x="4949" y="336"/>
              <a:ext cx="591" cy="468"/>
              <a:chOff x="2185" y="310"/>
              <a:chExt cx="873" cy="692"/>
            </a:xfrm>
          </p:grpSpPr>
          <p:sp>
            <p:nvSpPr>
              <p:cNvPr id="161858"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9"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0"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1"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2"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3"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64"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1856"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57"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20</a:t>
              </a:r>
              <a:endParaRPr lang="fr-FR" altLang="fr-FR" sz="3200">
                <a:solidFill>
                  <a:schemeClr val="tx1"/>
                </a:solidFill>
                <a:latin typeface="Arial Black" pitchFamily="34" charset="0"/>
              </a:endParaRPr>
            </a:p>
          </p:txBody>
        </p:sp>
      </p:grpSp>
      <p:sp>
        <p:nvSpPr>
          <p:cNvPr id="161796"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1797"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1798" name="Group 24"/>
          <p:cNvGrpSpPr>
            <a:grpSpLocks/>
          </p:cNvGrpSpPr>
          <p:nvPr/>
        </p:nvGrpSpPr>
        <p:grpSpPr bwMode="auto">
          <a:xfrm>
            <a:off x="2986088" y="1306513"/>
            <a:ext cx="446087" cy="534987"/>
            <a:chOff x="868" y="1439"/>
            <a:chExt cx="811" cy="972"/>
          </a:xfrm>
        </p:grpSpPr>
        <p:sp>
          <p:nvSpPr>
            <p:cNvPr id="161803"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4"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5"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6"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7"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8"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09"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0"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1"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2"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3"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4"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5"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6"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7"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8"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19"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0"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1"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2"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3"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4"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5"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6"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7"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8"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29"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0"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1"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2"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3"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4"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5"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6"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7"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8"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39"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0"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1"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2"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3"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4"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5"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6"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7"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8"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49"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0"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1"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2"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1853"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1800"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1801"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1802"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2818" name="Group 2"/>
          <p:cNvGrpSpPr>
            <a:grpSpLocks/>
          </p:cNvGrpSpPr>
          <p:nvPr/>
        </p:nvGrpSpPr>
        <p:grpSpPr bwMode="auto">
          <a:xfrm>
            <a:off x="7073900" y="215900"/>
            <a:ext cx="1878013" cy="1250950"/>
            <a:chOff x="4456" y="136"/>
            <a:chExt cx="1183" cy="788"/>
          </a:xfrm>
        </p:grpSpPr>
        <p:grpSp>
          <p:nvGrpSpPr>
            <p:cNvPr id="162878" name="Group 3"/>
            <p:cNvGrpSpPr>
              <a:grpSpLocks/>
            </p:cNvGrpSpPr>
            <p:nvPr/>
          </p:nvGrpSpPr>
          <p:grpSpPr bwMode="auto">
            <a:xfrm>
              <a:off x="4766" y="232"/>
              <a:ext cx="873" cy="692"/>
              <a:chOff x="2185" y="310"/>
              <a:chExt cx="873" cy="692"/>
            </a:xfrm>
          </p:grpSpPr>
          <p:sp>
            <p:nvSpPr>
              <p:cNvPr id="16288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9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2879" name="Group 11"/>
            <p:cNvGrpSpPr>
              <a:grpSpLocks/>
            </p:cNvGrpSpPr>
            <p:nvPr/>
          </p:nvGrpSpPr>
          <p:grpSpPr bwMode="auto">
            <a:xfrm>
              <a:off x="4949" y="336"/>
              <a:ext cx="591" cy="468"/>
              <a:chOff x="2185" y="310"/>
              <a:chExt cx="873" cy="692"/>
            </a:xfrm>
          </p:grpSpPr>
          <p:sp>
            <p:nvSpPr>
              <p:cNvPr id="16288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8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288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21</a:t>
              </a:r>
              <a:endParaRPr lang="fr-FR" altLang="fr-FR" sz="3200">
                <a:solidFill>
                  <a:schemeClr val="tx1"/>
                </a:solidFill>
                <a:latin typeface="Arial Black" pitchFamily="34" charset="0"/>
              </a:endParaRPr>
            </a:p>
          </p:txBody>
        </p:sp>
      </p:grpSp>
      <p:sp>
        <p:nvSpPr>
          <p:cNvPr id="16282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282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2822" name="Group 24"/>
          <p:cNvGrpSpPr>
            <a:grpSpLocks/>
          </p:cNvGrpSpPr>
          <p:nvPr/>
        </p:nvGrpSpPr>
        <p:grpSpPr bwMode="auto">
          <a:xfrm>
            <a:off x="2986088" y="1306513"/>
            <a:ext cx="446087" cy="534987"/>
            <a:chOff x="868" y="1439"/>
            <a:chExt cx="811" cy="972"/>
          </a:xfrm>
        </p:grpSpPr>
        <p:sp>
          <p:nvSpPr>
            <p:cNvPr id="16282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2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2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3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4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5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6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287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282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282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282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3842" name="Group 2"/>
          <p:cNvGrpSpPr>
            <a:grpSpLocks/>
          </p:cNvGrpSpPr>
          <p:nvPr/>
        </p:nvGrpSpPr>
        <p:grpSpPr bwMode="auto">
          <a:xfrm>
            <a:off x="7073900" y="215900"/>
            <a:ext cx="1878013" cy="1250950"/>
            <a:chOff x="4456" y="136"/>
            <a:chExt cx="1183" cy="788"/>
          </a:xfrm>
        </p:grpSpPr>
        <p:grpSp>
          <p:nvGrpSpPr>
            <p:cNvPr id="163902" name="Group 3"/>
            <p:cNvGrpSpPr>
              <a:grpSpLocks/>
            </p:cNvGrpSpPr>
            <p:nvPr/>
          </p:nvGrpSpPr>
          <p:grpSpPr bwMode="auto">
            <a:xfrm>
              <a:off x="4766" y="232"/>
              <a:ext cx="873" cy="692"/>
              <a:chOff x="2185" y="310"/>
              <a:chExt cx="873" cy="692"/>
            </a:xfrm>
          </p:grpSpPr>
          <p:sp>
            <p:nvSpPr>
              <p:cNvPr id="16391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3903" name="Group 11"/>
            <p:cNvGrpSpPr>
              <a:grpSpLocks/>
            </p:cNvGrpSpPr>
            <p:nvPr/>
          </p:nvGrpSpPr>
          <p:grpSpPr bwMode="auto">
            <a:xfrm>
              <a:off x="4949" y="336"/>
              <a:ext cx="591" cy="468"/>
              <a:chOff x="2185" y="310"/>
              <a:chExt cx="873" cy="692"/>
            </a:xfrm>
          </p:grpSpPr>
          <p:sp>
            <p:nvSpPr>
              <p:cNvPr id="16390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1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390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90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22</a:t>
              </a:r>
              <a:endParaRPr lang="fr-FR" altLang="fr-FR" sz="3200">
                <a:solidFill>
                  <a:schemeClr val="tx1"/>
                </a:solidFill>
                <a:latin typeface="Arial Black" pitchFamily="34" charset="0"/>
              </a:endParaRPr>
            </a:p>
          </p:txBody>
        </p:sp>
      </p:grpSp>
      <p:sp>
        <p:nvSpPr>
          <p:cNvPr id="16384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384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3846" name="Group 24"/>
          <p:cNvGrpSpPr>
            <a:grpSpLocks/>
          </p:cNvGrpSpPr>
          <p:nvPr/>
        </p:nvGrpSpPr>
        <p:grpSpPr bwMode="auto">
          <a:xfrm>
            <a:off x="2986088" y="1306513"/>
            <a:ext cx="446087" cy="534987"/>
            <a:chOff x="868" y="1439"/>
            <a:chExt cx="811" cy="972"/>
          </a:xfrm>
        </p:grpSpPr>
        <p:sp>
          <p:nvSpPr>
            <p:cNvPr id="16385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5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6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7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8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89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390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384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384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385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4866" name="Group 2"/>
          <p:cNvGrpSpPr>
            <a:grpSpLocks/>
          </p:cNvGrpSpPr>
          <p:nvPr/>
        </p:nvGrpSpPr>
        <p:grpSpPr bwMode="auto">
          <a:xfrm>
            <a:off x="7073900" y="215900"/>
            <a:ext cx="1878013" cy="1250950"/>
            <a:chOff x="4456" y="136"/>
            <a:chExt cx="1183" cy="788"/>
          </a:xfrm>
        </p:grpSpPr>
        <p:grpSp>
          <p:nvGrpSpPr>
            <p:cNvPr id="164926" name="Group 3"/>
            <p:cNvGrpSpPr>
              <a:grpSpLocks/>
            </p:cNvGrpSpPr>
            <p:nvPr/>
          </p:nvGrpSpPr>
          <p:grpSpPr bwMode="auto">
            <a:xfrm>
              <a:off x="4766" y="232"/>
              <a:ext cx="873" cy="692"/>
              <a:chOff x="2185" y="310"/>
              <a:chExt cx="873" cy="692"/>
            </a:xfrm>
          </p:grpSpPr>
          <p:sp>
            <p:nvSpPr>
              <p:cNvPr id="16493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4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4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4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4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4927" name="Group 11"/>
            <p:cNvGrpSpPr>
              <a:grpSpLocks/>
            </p:cNvGrpSpPr>
            <p:nvPr/>
          </p:nvGrpSpPr>
          <p:grpSpPr bwMode="auto">
            <a:xfrm>
              <a:off x="4949" y="336"/>
              <a:ext cx="591" cy="468"/>
              <a:chOff x="2185" y="310"/>
              <a:chExt cx="873" cy="692"/>
            </a:xfrm>
          </p:grpSpPr>
          <p:sp>
            <p:nvSpPr>
              <p:cNvPr id="16493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3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492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92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23</a:t>
              </a:r>
              <a:endParaRPr lang="fr-FR" altLang="fr-FR" sz="3200">
                <a:solidFill>
                  <a:schemeClr val="tx1"/>
                </a:solidFill>
                <a:latin typeface="Arial Black" pitchFamily="34" charset="0"/>
              </a:endParaRPr>
            </a:p>
          </p:txBody>
        </p:sp>
      </p:grpSp>
      <p:sp>
        <p:nvSpPr>
          <p:cNvPr id="16486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486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4870" name="Group 24"/>
          <p:cNvGrpSpPr>
            <a:grpSpLocks/>
          </p:cNvGrpSpPr>
          <p:nvPr/>
        </p:nvGrpSpPr>
        <p:grpSpPr bwMode="auto">
          <a:xfrm>
            <a:off x="2986088" y="1306513"/>
            <a:ext cx="446087" cy="534987"/>
            <a:chOff x="868" y="1439"/>
            <a:chExt cx="811" cy="972"/>
          </a:xfrm>
        </p:grpSpPr>
        <p:sp>
          <p:nvSpPr>
            <p:cNvPr id="16487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7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7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7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7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8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89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0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1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492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487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487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487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5890" name="Group 2"/>
          <p:cNvGrpSpPr>
            <a:grpSpLocks/>
          </p:cNvGrpSpPr>
          <p:nvPr/>
        </p:nvGrpSpPr>
        <p:grpSpPr bwMode="auto">
          <a:xfrm>
            <a:off x="7073900" y="215900"/>
            <a:ext cx="1878013" cy="1250950"/>
            <a:chOff x="4456" y="136"/>
            <a:chExt cx="1183" cy="788"/>
          </a:xfrm>
        </p:grpSpPr>
        <p:grpSp>
          <p:nvGrpSpPr>
            <p:cNvPr id="165950" name="Group 3"/>
            <p:cNvGrpSpPr>
              <a:grpSpLocks/>
            </p:cNvGrpSpPr>
            <p:nvPr/>
          </p:nvGrpSpPr>
          <p:grpSpPr bwMode="auto">
            <a:xfrm>
              <a:off x="4766" y="232"/>
              <a:ext cx="873" cy="692"/>
              <a:chOff x="2185" y="310"/>
              <a:chExt cx="873" cy="692"/>
            </a:xfrm>
          </p:grpSpPr>
          <p:sp>
            <p:nvSpPr>
              <p:cNvPr id="16596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5951" name="Group 11"/>
            <p:cNvGrpSpPr>
              <a:grpSpLocks/>
            </p:cNvGrpSpPr>
            <p:nvPr/>
          </p:nvGrpSpPr>
          <p:grpSpPr bwMode="auto">
            <a:xfrm>
              <a:off x="4949" y="336"/>
              <a:ext cx="591" cy="468"/>
              <a:chOff x="2185" y="310"/>
              <a:chExt cx="873" cy="692"/>
            </a:xfrm>
          </p:grpSpPr>
          <p:sp>
            <p:nvSpPr>
              <p:cNvPr id="16595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5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6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595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95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24</a:t>
              </a:r>
              <a:endParaRPr lang="fr-FR" altLang="fr-FR" sz="3200">
                <a:solidFill>
                  <a:schemeClr val="tx1"/>
                </a:solidFill>
                <a:latin typeface="Arial Black" pitchFamily="34" charset="0"/>
              </a:endParaRPr>
            </a:p>
          </p:txBody>
        </p:sp>
      </p:grpSp>
      <p:sp>
        <p:nvSpPr>
          <p:cNvPr id="16589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589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5894" name="Group 24"/>
          <p:cNvGrpSpPr>
            <a:grpSpLocks/>
          </p:cNvGrpSpPr>
          <p:nvPr/>
        </p:nvGrpSpPr>
        <p:grpSpPr bwMode="auto">
          <a:xfrm>
            <a:off x="2986088" y="1306513"/>
            <a:ext cx="446087" cy="534987"/>
            <a:chOff x="868" y="1439"/>
            <a:chExt cx="811" cy="972"/>
          </a:xfrm>
        </p:grpSpPr>
        <p:sp>
          <p:nvSpPr>
            <p:cNvPr id="16589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0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1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2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3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594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589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Mercredi</a:t>
            </a:r>
          </a:p>
        </p:txBody>
      </p:sp>
      <p:sp>
        <p:nvSpPr>
          <p:cNvPr id="16589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589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6915" name="Group 3"/>
          <p:cNvGrpSpPr>
            <a:grpSpLocks/>
          </p:cNvGrpSpPr>
          <p:nvPr/>
        </p:nvGrpSpPr>
        <p:grpSpPr bwMode="auto">
          <a:xfrm>
            <a:off x="7073900" y="215900"/>
            <a:ext cx="1878013" cy="1250950"/>
            <a:chOff x="4456" y="136"/>
            <a:chExt cx="1183" cy="788"/>
          </a:xfrm>
        </p:grpSpPr>
        <p:grpSp>
          <p:nvGrpSpPr>
            <p:cNvPr id="167031" name="Group 4"/>
            <p:cNvGrpSpPr>
              <a:grpSpLocks/>
            </p:cNvGrpSpPr>
            <p:nvPr/>
          </p:nvGrpSpPr>
          <p:grpSpPr bwMode="auto">
            <a:xfrm>
              <a:off x="4766" y="232"/>
              <a:ext cx="873" cy="692"/>
              <a:chOff x="2185" y="310"/>
              <a:chExt cx="873" cy="692"/>
            </a:xfrm>
          </p:grpSpPr>
          <p:sp>
            <p:nvSpPr>
              <p:cNvPr id="16704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7032" name="Group 12"/>
            <p:cNvGrpSpPr>
              <a:grpSpLocks/>
            </p:cNvGrpSpPr>
            <p:nvPr/>
          </p:nvGrpSpPr>
          <p:grpSpPr bwMode="auto">
            <a:xfrm>
              <a:off x="4949" y="336"/>
              <a:ext cx="591" cy="468"/>
              <a:chOff x="2185" y="310"/>
              <a:chExt cx="873" cy="692"/>
            </a:xfrm>
          </p:grpSpPr>
          <p:sp>
            <p:nvSpPr>
              <p:cNvPr id="16703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4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703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703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25</a:t>
              </a:r>
              <a:endParaRPr lang="fr-FR" altLang="fr-FR" sz="3200">
                <a:solidFill>
                  <a:schemeClr val="tx1"/>
                </a:solidFill>
                <a:latin typeface="Arial Black" pitchFamily="34" charset="0"/>
              </a:endParaRPr>
            </a:p>
          </p:txBody>
        </p:sp>
      </p:grpSp>
      <p:sp>
        <p:nvSpPr>
          <p:cNvPr id="166916" name="Text Box 22"/>
          <p:cNvSpPr txBox="1">
            <a:spLocks noChangeArrowheads="1"/>
          </p:cNvSpPr>
          <p:nvPr/>
        </p:nvSpPr>
        <p:spPr bwMode="auto">
          <a:xfrm>
            <a:off x="61118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R1</a:t>
            </a:r>
          </a:p>
        </p:txBody>
      </p:sp>
      <p:sp>
        <p:nvSpPr>
          <p:cNvPr id="166917" name="Text Box 23"/>
          <p:cNvSpPr txBox="1">
            <a:spLocks noChangeArrowheads="1"/>
          </p:cNvSpPr>
          <p:nvPr/>
        </p:nvSpPr>
        <p:spPr bwMode="auto">
          <a:xfrm>
            <a:off x="1997075"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66918" name="Text Box 24"/>
          <p:cNvSpPr txBox="1">
            <a:spLocks noChangeArrowheads="1"/>
          </p:cNvSpPr>
          <p:nvPr/>
        </p:nvSpPr>
        <p:spPr bwMode="auto">
          <a:xfrm>
            <a:off x="4602163"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sp>
        <p:nvSpPr>
          <p:cNvPr id="166919" name="Rectangle 25"/>
          <p:cNvSpPr>
            <a:spLocks noGrp="1" noChangeArrowheads="1"/>
          </p:cNvSpPr>
          <p:nvPr>
            <p:ph type="title"/>
          </p:nvPr>
        </p:nvSpPr>
        <p:spPr>
          <a:xfrm>
            <a:off x="1381125" y="0"/>
            <a:ext cx="5516563" cy="647700"/>
          </a:xfrm>
        </p:spPr>
        <p:txBody>
          <a:bodyPr/>
          <a:lstStyle/>
          <a:p>
            <a:pPr eaLnBrk="1" hangingPunct="1"/>
            <a:r>
              <a:rPr lang="fr-FR" altLang="fr-FR"/>
              <a:t>Sem. 3 - Jeudi (St Clément)</a:t>
            </a:r>
          </a:p>
        </p:txBody>
      </p:sp>
      <p:sp>
        <p:nvSpPr>
          <p:cNvPr id="166920"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66921"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6922"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6923" name="Group 29"/>
          <p:cNvGrpSpPr>
            <a:grpSpLocks/>
          </p:cNvGrpSpPr>
          <p:nvPr/>
        </p:nvGrpSpPr>
        <p:grpSpPr bwMode="auto">
          <a:xfrm>
            <a:off x="2843213" y="1106488"/>
            <a:ext cx="446087" cy="534987"/>
            <a:chOff x="868" y="1439"/>
            <a:chExt cx="811" cy="972"/>
          </a:xfrm>
        </p:grpSpPr>
        <p:sp>
          <p:nvSpPr>
            <p:cNvPr id="166980"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1"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2"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3"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4"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5"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6"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7"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8"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89"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0"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1"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2"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3"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4"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5"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6"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7"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8"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6999"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0"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1"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2"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3"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4"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5"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6"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7"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8"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09"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0"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1"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2"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3"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4"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5"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6"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7"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8"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19"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0"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1"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2"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3"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4"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5"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6"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7"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8"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29"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030"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6924" name="Group 81"/>
          <p:cNvGrpSpPr>
            <a:grpSpLocks/>
          </p:cNvGrpSpPr>
          <p:nvPr/>
        </p:nvGrpSpPr>
        <p:grpSpPr bwMode="auto">
          <a:xfrm rot="-223274">
            <a:off x="744538" y="2820988"/>
            <a:ext cx="744537" cy="733425"/>
            <a:chOff x="2757" y="1666"/>
            <a:chExt cx="812" cy="800"/>
          </a:xfrm>
        </p:grpSpPr>
        <p:sp>
          <p:nvSpPr>
            <p:cNvPr id="166974"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75"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76"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77"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78"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79"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6925" name="Group 88"/>
          <p:cNvGrpSpPr>
            <a:grpSpLocks/>
          </p:cNvGrpSpPr>
          <p:nvPr/>
        </p:nvGrpSpPr>
        <p:grpSpPr bwMode="auto">
          <a:xfrm rot="-223274">
            <a:off x="2073275" y="2838450"/>
            <a:ext cx="744538" cy="733425"/>
            <a:chOff x="2757" y="1666"/>
            <a:chExt cx="812" cy="800"/>
          </a:xfrm>
        </p:grpSpPr>
        <p:sp>
          <p:nvSpPr>
            <p:cNvPr id="166968" name="Freeform 8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69" name="Freeform 9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70" name="Line 9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71" name="Freeform 9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72" name="Freeform 9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73" name="AutoShape 9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6926" name="Group 95"/>
          <p:cNvGrpSpPr>
            <a:grpSpLocks/>
          </p:cNvGrpSpPr>
          <p:nvPr/>
        </p:nvGrpSpPr>
        <p:grpSpPr bwMode="auto">
          <a:xfrm rot="-223274">
            <a:off x="4703763" y="2806700"/>
            <a:ext cx="744537" cy="733425"/>
            <a:chOff x="2757" y="1666"/>
            <a:chExt cx="812" cy="800"/>
          </a:xfrm>
        </p:grpSpPr>
        <p:sp>
          <p:nvSpPr>
            <p:cNvPr id="166962" name="Freeform 96"/>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63" name="Freeform 97"/>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64" name="Line 98"/>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65" name="Freeform 99"/>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66" name="Freeform 100"/>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67" name="AutoShape 101"/>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6927" name="Group 109"/>
          <p:cNvGrpSpPr>
            <a:grpSpLocks/>
          </p:cNvGrpSpPr>
          <p:nvPr/>
        </p:nvGrpSpPr>
        <p:grpSpPr bwMode="auto">
          <a:xfrm rot="-223274">
            <a:off x="5919788" y="2849563"/>
            <a:ext cx="744537" cy="733425"/>
            <a:chOff x="2757" y="1666"/>
            <a:chExt cx="812" cy="800"/>
          </a:xfrm>
        </p:grpSpPr>
        <p:sp>
          <p:nvSpPr>
            <p:cNvPr id="166956" name="Freeform 11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57" name="Freeform 11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58" name="Line 11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59" name="Freeform 11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60" name="Freeform 11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61" name="AutoShape 11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66928" name="Text Box 116"/>
          <p:cNvSpPr txBox="1">
            <a:spLocks noChangeArrowheads="1"/>
          </p:cNvSpPr>
          <p:nvPr/>
        </p:nvSpPr>
        <p:spPr bwMode="auto">
          <a:xfrm>
            <a:off x="576103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166929" name="Text Box 117"/>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grpSp>
        <p:nvGrpSpPr>
          <p:cNvPr id="166930" name="Group 118"/>
          <p:cNvGrpSpPr>
            <a:grpSpLocks/>
          </p:cNvGrpSpPr>
          <p:nvPr/>
        </p:nvGrpSpPr>
        <p:grpSpPr bwMode="auto">
          <a:xfrm rot="-223274">
            <a:off x="744538" y="2592388"/>
            <a:ext cx="744537" cy="733425"/>
            <a:chOff x="2757" y="1666"/>
            <a:chExt cx="812" cy="800"/>
          </a:xfrm>
        </p:grpSpPr>
        <p:sp>
          <p:nvSpPr>
            <p:cNvPr id="166950" name="Freeform 119"/>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51" name="Freeform 120"/>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52" name="Line 121"/>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53" name="Freeform 122"/>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54" name="Freeform 123"/>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55" name="AutoShape 124"/>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66931" name="Text Box 125"/>
          <p:cNvSpPr txBox="1">
            <a:spLocks noChangeArrowheads="1"/>
          </p:cNvSpPr>
          <p:nvPr/>
        </p:nvSpPr>
        <p:spPr bwMode="auto">
          <a:xfrm>
            <a:off x="3330575" y="365760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2 R4</a:t>
            </a:r>
          </a:p>
        </p:txBody>
      </p:sp>
      <p:grpSp>
        <p:nvGrpSpPr>
          <p:cNvPr id="166932" name="Group 126"/>
          <p:cNvGrpSpPr>
            <a:grpSpLocks/>
          </p:cNvGrpSpPr>
          <p:nvPr/>
        </p:nvGrpSpPr>
        <p:grpSpPr bwMode="auto">
          <a:xfrm rot="-223274">
            <a:off x="3406775" y="2857500"/>
            <a:ext cx="744538" cy="733425"/>
            <a:chOff x="2757" y="1666"/>
            <a:chExt cx="812" cy="800"/>
          </a:xfrm>
        </p:grpSpPr>
        <p:sp>
          <p:nvSpPr>
            <p:cNvPr id="166944" name="Freeform 127"/>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45" name="Freeform 128"/>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46" name="Line 129"/>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47" name="Freeform 130"/>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48" name="Freeform 131"/>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49" name="AutoShape 132"/>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166933" name="Group 133"/>
          <p:cNvGrpSpPr>
            <a:grpSpLocks/>
          </p:cNvGrpSpPr>
          <p:nvPr/>
        </p:nvGrpSpPr>
        <p:grpSpPr bwMode="auto">
          <a:xfrm rot="-223274">
            <a:off x="3392488" y="2606675"/>
            <a:ext cx="744537" cy="733425"/>
            <a:chOff x="2757" y="1666"/>
            <a:chExt cx="812" cy="800"/>
          </a:xfrm>
        </p:grpSpPr>
        <p:sp>
          <p:nvSpPr>
            <p:cNvPr id="166938" name="Freeform 13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39" name="Freeform 13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66940" name="Line 13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6941" name="Freeform 13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66942" name="Freeform 13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66943" name="AutoShape 13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66934" name="Oval 140"/>
          <p:cNvSpPr>
            <a:spLocks noChangeArrowheads="1"/>
          </p:cNvSpPr>
          <p:nvPr/>
        </p:nvSpPr>
        <p:spPr bwMode="auto">
          <a:xfrm rot="-5400000">
            <a:off x="7322344" y="3037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66935" name="Text Box 141"/>
          <p:cNvSpPr txBox="1">
            <a:spLocks noChangeArrowheads="1"/>
          </p:cNvSpPr>
          <p:nvPr/>
        </p:nvSpPr>
        <p:spPr bwMode="auto">
          <a:xfrm>
            <a:off x="6854825" y="3643313"/>
            <a:ext cx="22082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3 Couronnes</a:t>
            </a:r>
          </a:p>
        </p:txBody>
      </p:sp>
      <p:sp>
        <p:nvSpPr>
          <p:cNvPr id="166936" name="Oval 142"/>
          <p:cNvSpPr>
            <a:spLocks noChangeArrowheads="1"/>
          </p:cNvSpPr>
          <p:nvPr/>
        </p:nvSpPr>
        <p:spPr bwMode="auto">
          <a:xfrm rot="-5400000">
            <a:off x="7684294" y="303768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66937" name="Oval 143"/>
          <p:cNvSpPr>
            <a:spLocks noChangeArrowheads="1"/>
          </p:cNvSpPr>
          <p:nvPr/>
        </p:nvSpPr>
        <p:spPr bwMode="auto">
          <a:xfrm rot="-5400000">
            <a:off x="8047832" y="3037681"/>
            <a:ext cx="336550" cy="312737"/>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7938" name="Group 2"/>
          <p:cNvGrpSpPr>
            <a:grpSpLocks/>
          </p:cNvGrpSpPr>
          <p:nvPr/>
        </p:nvGrpSpPr>
        <p:grpSpPr bwMode="auto">
          <a:xfrm>
            <a:off x="7073900" y="215900"/>
            <a:ext cx="1878013" cy="1250950"/>
            <a:chOff x="4456" y="136"/>
            <a:chExt cx="1183" cy="788"/>
          </a:xfrm>
        </p:grpSpPr>
        <p:grpSp>
          <p:nvGrpSpPr>
            <p:cNvPr id="167998" name="Group 3"/>
            <p:cNvGrpSpPr>
              <a:grpSpLocks/>
            </p:cNvGrpSpPr>
            <p:nvPr/>
          </p:nvGrpSpPr>
          <p:grpSpPr bwMode="auto">
            <a:xfrm>
              <a:off x="4766" y="232"/>
              <a:ext cx="873" cy="692"/>
              <a:chOff x="2185" y="310"/>
              <a:chExt cx="873" cy="692"/>
            </a:xfrm>
          </p:grpSpPr>
          <p:sp>
            <p:nvSpPr>
              <p:cNvPr id="16800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1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7999" name="Group 11"/>
            <p:cNvGrpSpPr>
              <a:grpSpLocks/>
            </p:cNvGrpSpPr>
            <p:nvPr/>
          </p:nvGrpSpPr>
          <p:grpSpPr bwMode="auto">
            <a:xfrm>
              <a:off x="4949" y="336"/>
              <a:ext cx="591" cy="468"/>
              <a:chOff x="2185" y="310"/>
              <a:chExt cx="873" cy="692"/>
            </a:xfrm>
          </p:grpSpPr>
          <p:sp>
            <p:nvSpPr>
              <p:cNvPr id="16800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00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800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00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26</a:t>
              </a:r>
              <a:endParaRPr lang="fr-FR" altLang="fr-FR" sz="3200">
                <a:solidFill>
                  <a:schemeClr val="tx1"/>
                </a:solidFill>
                <a:latin typeface="Arial Black" pitchFamily="34" charset="0"/>
              </a:endParaRPr>
            </a:p>
          </p:txBody>
        </p:sp>
      </p:grpSp>
      <p:sp>
        <p:nvSpPr>
          <p:cNvPr id="16794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794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7942" name="Group 24"/>
          <p:cNvGrpSpPr>
            <a:grpSpLocks/>
          </p:cNvGrpSpPr>
          <p:nvPr/>
        </p:nvGrpSpPr>
        <p:grpSpPr bwMode="auto">
          <a:xfrm>
            <a:off x="2986088" y="1306513"/>
            <a:ext cx="446087" cy="534987"/>
            <a:chOff x="868" y="1439"/>
            <a:chExt cx="811" cy="972"/>
          </a:xfrm>
        </p:grpSpPr>
        <p:sp>
          <p:nvSpPr>
            <p:cNvPr id="16794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4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4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5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6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7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8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799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794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6794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794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8962" name="Group 2"/>
          <p:cNvGrpSpPr>
            <a:grpSpLocks/>
          </p:cNvGrpSpPr>
          <p:nvPr/>
        </p:nvGrpSpPr>
        <p:grpSpPr bwMode="auto">
          <a:xfrm>
            <a:off x="7073900" y="215900"/>
            <a:ext cx="1878013" cy="1250950"/>
            <a:chOff x="4456" y="136"/>
            <a:chExt cx="1183" cy="788"/>
          </a:xfrm>
        </p:grpSpPr>
        <p:grpSp>
          <p:nvGrpSpPr>
            <p:cNvPr id="169022" name="Group 3"/>
            <p:cNvGrpSpPr>
              <a:grpSpLocks/>
            </p:cNvGrpSpPr>
            <p:nvPr/>
          </p:nvGrpSpPr>
          <p:grpSpPr bwMode="auto">
            <a:xfrm>
              <a:off x="4766" y="232"/>
              <a:ext cx="873" cy="692"/>
              <a:chOff x="2185" y="310"/>
              <a:chExt cx="873" cy="692"/>
            </a:xfrm>
          </p:grpSpPr>
          <p:sp>
            <p:nvSpPr>
              <p:cNvPr id="16903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69023" name="Group 11"/>
            <p:cNvGrpSpPr>
              <a:grpSpLocks/>
            </p:cNvGrpSpPr>
            <p:nvPr/>
          </p:nvGrpSpPr>
          <p:grpSpPr bwMode="auto">
            <a:xfrm>
              <a:off x="4949" y="336"/>
              <a:ext cx="591" cy="468"/>
              <a:chOff x="2185" y="310"/>
              <a:chExt cx="873" cy="692"/>
            </a:xfrm>
          </p:grpSpPr>
          <p:sp>
            <p:nvSpPr>
              <p:cNvPr id="16902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3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6902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02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27</a:t>
              </a:r>
              <a:endParaRPr lang="fr-FR" altLang="fr-FR" sz="3200">
                <a:solidFill>
                  <a:schemeClr val="tx1"/>
                </a:solidFill>
                <a:latin typeface="Arial Black" pitchFamily="34" charset="0"/>
              </a:endParaRPr>
            </a:p>
          </p:txBody>
        </p:sp>
      </p:grpSp>
      <p:sp>
        <p:nvSpPr>
          <p:cNvPr id="16896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896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8966" name="Group 24"/>
          <p:cNvGrpSpPr>
            <a:grpSpLocks/>
          </p:cNvGrpSpPr>
          <p:nvPr/>
        </p:nvGrpSpPr>
        <p:grpSpPr bwMode="auto">
          <a:xfrm>
            <a:off x="2986088" y="1306513"/>
            <a:ext cx="446087" cy="534987"/>
            <a:chOff x="868" y="1439"/>
            <a:chExt cx="811" cy="972"/>
          </a:xfrm>
        </p:grpSpPr>
        <p:sp>
          <p:nvSpPr>
            <p:cNvPr id="16897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7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8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899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0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1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02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896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6896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897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9986" name="Group 2"/>
          <p:cNvGrpSpPr>
            <a:grpSpLocks/>
          </p:cNvGrpSpPr>
          <p:nvPr/>
        </p:nvGrpSpPr>
        <p:grpSpPr bwMode="auto">
          <a:xfrm>
            <a:off x="7073900" y="215900"/>
            <a:ext cx="1878013" cy="1250950"/>
            <a:chOff x="4456" y="136"/>
            <a:chExt cx="1183" cy="788"/>
          </a:xfrm>
        </p:grpSpPr>
        <p:grpSp>
          <p:nvGrpSpPr>
            <p:cNvPr id="170046" name="Group 3"/>
            <p:cNvGrpSpPr>
              <a:grpSpLocks/>
            </p:cNvGrpSpPr>
            <p:nvPr/>
          </p:nvGrpSpPr>
          <p:grpSpPr bwMode="auto">
            <a:xfrm>
              <a:off x="4766" y="232"/>
              <a:ext cx="873" cy="692"/>
              <a:chOff x="2185" y="310"/>
              <a:chExt cx="873" cy="692"/>
            </a:xfrm>
          </p:grpSpPr>
          <p:sp>
            <p:nvSpPr>
              <p:cNvPr id="17005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6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6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6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6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0047" name="Group 11"/>
            <p:cNvGrpSpPr>
              <a:grpSpLocks/>
            </p:cNvGrpSpPr>
            <p:nvPr/>
          </p:nvGrpSpPr>
          <p:grpSpPr bwMode="auto">
            <a:xfrm>
              <a:off x="4949" y="336"/>
              <a:ext cx="591" cy="468"/>
              <a:chOff x="2185" y="310"/>
              <a:chExt cx="873" cy="692"/>
            </a:xfrm>
          </p:grpSpPr>
          <p:sp>
            <p:nvSpPr>
              <p:cNvPr id="17005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5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004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004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28</a:t>
              </a:r>
              <a:endParaRPr lang="fr-FR" altLang="fr-FR" sz="3200">
                <a:solidFill>
                  <a:schemeClr val="tx1"/>
                </a:solidFill>
                <a:latin typeface="Arial Black" pitchFamily="34" charset="0"/>
              </a:endParaRPr>
            </a:p>
          </p:txBody>
        </p:sp>
      </p:grpSp>
      <p:sp>
        <p:nvSpPr>
          <p:cNvPr id="16998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6998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69990" name="Group 24"/>
          <p:cNvGrpSpPr>
            <a:grpSpLocks/>
          </p:cNvGrpSpPr>
          <p:nvPr/>
        </p:nvGrpSpPr>
        <p:grpSpPr bwMode="auto">
          <a:xfrm>
            <a:off x="2986088" y="1306513"/>
            <a:ext cx="446087" cy="534987"/>
            <a:chOff x="868" y="1439"/>
            <a:chExt cx="811" cy="972"/>
          </a:xfrm>
        </p:grpSpPr>
        <p:sp>
          <p:nvSpPr>
            <p:cNvPr id="16999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99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99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99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6999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0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1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2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3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004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6999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6999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6999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1010" name="Group 2"/>
          <p:cNvGrpSpPr>
            <a:grpSpLocks/>
          </p:cNvGrpSpPr>
          <p:nvPr/>
        </p:nvGrpSpPr>
        <p:grpSpPr bwMode="auto">
          <a:xfrm>
            <a:off x="7073900" y="215900"/>
            <a:ext cx="1878013" cy="1250950"/>
            <a:chOff x="4456" y="136"/>
            <a:chExt cx="1183" cy="788"/>
          </a:xfrm>
        </p:grpSpPr>
        <p:grpSp>
          <p:nvGrpSpPr>
            <p:cNvPr id="171070" name="Group 3"/>
            <p:cNvGrpSpPr>
              <a:grpSpLocks/>
            </p:cNvGrpSpPr>
            <p:nvPr/>
          </p:nvGrpSpPr>
          <p:grpSpPr bwMode="auto">
            <a:xfrm>
              <a:off x="4766" y="232"/>
              <a:ext cx="873" cy="692"/>
              <a:chOff x="2185" y="310"/>
              <a:chExt cx="873" cy="692"/>
            </a:xfrm>
          </p:grpSpPr>
          <p:sp>
            <p:nvSpPr>
              <p:cNvPr id="171081"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2"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3"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4"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5"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6"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7"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1071" name="Group 11"/>
            <p:cNvGrpSpPr>
              <a:grpSpLocks/>
            </p:cNvGrpSpPr>
            <p:nvPr/>
          </p:nvGrpSpPr>
          <p:grpSpPr bwMode="auto">
            <a:xfrm>
              <a:off x="4949" y="336"/>
              <a:ext cx="591" cy="468"/>
              <a:chOff x="2185" y="310"/>
              <a:chExt cx="873" cy="692"/>
            </a:xfrm>
          </p:grpSpPr>
          <p:sp>
            <p:nvSpPr>
              <p:cNvPr id="171074"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5"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6"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7"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8"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79"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80"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1072"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073"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29</a:t>
              </a:r>
              <a:endParaRPr lang="fr-FR" altLang="fr-FR" sz="3200">
                <a:solidFill>
                  <a:schemeClr val="tx1"/>
                </a:solidFill>
                <a:latin typeface="Arial Black" pitchFamily="34" charset="0"/>
              </a:endParaRPr>
            </a:p>
          </p:txBody>
        </p:sp>
      </p:grpSp>
      <p:sp>
        <p:nvSpPr>
          <p:cNvPr id="171012"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1013"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1014" name="Group 24"/>
          <p:cNvGrpSpPr>
            <a:grpSpLocks/>
          </p:cNvGrpSpPr>
          <p:nvPr/>
        </p:nvGrpSpPr>
        <p:grpSpPr bwMode="auto">
          <a:xfrm>
            <a:off x="2986088" y="1306513"/>
            <a:ext cx="446087" cy="534987"/>
            <a:chOff x="868" y="1439"/>
            <a:chExt cx="811" cy="972"/>
          </a:xfrm>
        </p:grpSpPr>
        <p:sp>
          <p:nvSpPr>
            <p:cNvPr id="171019"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0"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1"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2"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3"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4"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5"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6"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7"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8"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29"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0"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1"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2"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3"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4"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5"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6"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7"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8"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39"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0"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1"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2"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3"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4"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5"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6"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7"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8"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49"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0"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1"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2"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3"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4"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5"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6"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7"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8"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59"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0"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1"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2"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3"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4"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5"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6"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7"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8"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1069"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1016"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71017"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1018"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2"/>
          <p:cNvSpPr>
            <a:spLocks noGrp="1" noChangeArrowheads="1"/>
          </p:cNvSpPr>
          <p:nvPr>
            <p:ph type="title"/>
          </p:nvPr>
        </p:nvSpPr>
        <p:spPr/>
        <p:txBody>
          <a:bodyPr/>
          <a:lstStyle/>
          <a:p>
            <a:pPr eaLnBrk="1" hangingPunct="1"/>
            <a:r>
              <a:rPr lang="fr-FR" altLang="fr-FR"/>
              <a:t>Question</a:t>
            </a:r>
          </a:p>
        </p:txBody>
      </p:sp>
      <p:sp>
        <p:nvSpPr>
          <p:cNvPr id="172035" name="Rectangle 3"/>
          <p:cNvSpPr>
            <a:spLocks noGrp="1" noChangeArrowheads="1"/>
          </p:cNvSpPr>
          <p:nvPr>
            <p:ph type="body" idx="1"/>
          </p:nvPr>
        </p:nvSpPr>
        <p:spPr>
          <a:xfrm>
            <a:off x="457200" y="1720850"/>
            <a:ext cx="8229600" cy="4405313"/>
          </a:xfrm>
        </p:spPr>
        <p:txBody>
          <a:bodyPr/>
          <a:lstStyle/>
          <a:p>
            <a:pPr eaLnBrk="1" hangingPunct="1">
              <a:buFontTx/>
              <a:buNone/>
            </a:pPr>
            <a:r>
              <a:rPr lang="fr-FR" altLang="fr-FR" u="sng"/>
              <a:t>Origine</a:t>
            </a:r>
            <a:r>
              <a:rPr lang="fr-FR" altLang="fr-FR"/>
              <a:t> : Bureau d’études</a:t>
            </a:r>
          </a:p>
          <a:p>
            <a:pPr eaLnBrk="1" hangingPunct="1">
              <a:buFontTx/>
              <a:buNone/>
            </a:pPr>
            <a:r>
              <a:rPr lang="fr-FR" altLang="fr-FR" u="sng"/>
              <a:t>Destinataire</a:t>
            </a:r>
            <a:r>
              <a:rPr lang="fr-FR" altLang="fr-FR"/>
              <a:t> : Production</a:t>
            </a:r>
          </a:p>
          <a:p>
            <a:pPr eaLnBrk="1" hangingPunct="1">
              <a:buFontTx/>
              <a:buNone/>
            </a:pPr>
            <a:endParaRPr lang="fr-FR" altLang="fr-FR"/>
          </a:p>
          <a:p>
            <a:pPr eaLnBrk="1" hangingPunct="1"/>
            <a:r>
              <a:rPr lang="fr-FR" altLang="fr-FR"/>
              <a:t>A la suite d'une analyse faite par le Service Qualité, il apparaît qu'un changement dans la gamme d'usinage du carter doit être envisagé prochainement. </a:t>
            </a:r>
          </a:p>
          <a:p>
            <a:pPr eaLnBrk="1" hangingPunct="1"/>
            <a:r>
              <a:rPr lang="fr-FR" altLang="fr-FR"/>
              <a:t>Pouvez-vous nous faire savoir combien de temps sera nécessaire pour que la modification soit mise en application au niveau commercial ?</a:t>
            </a:r>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3058" name="Group 2"/>
          <p:cNvGrpSpPr>
            <a:grpSpLocks/>
          </p:cNvGrpSpPr>
          <p:nvPr/>
        </p:nvGrpSpPr>
        <p:grpSpPr bwMode="auto">
          <a:xfrm>
            <a:off x="7073900" y="215900"/>
            <a:ext cx="1878013" cy="1250950"/>
            <a:chOff x="4456" y="136"/>
            <a:chExt cx="1183" cy="788"/>
          </a:xfrm>
        </p:grpSpPr>
        <p:grpSp>
          <p:nvGrpSpPr>
            <p:cNvPr id="173118" name="Group 3"/>
            <p:cNvGrpSpPr>
              <a:grpSpLocks/>
            </p:cNvGrpSpPr>
            <p:nvPr/>
          </p:nvGrpSpPr>
          <p:grpSpPr bwMode="auto">
            <a:xfrm>
              <a:off x="4766" y="232"/>
              <a:ext cx="873" cy="692"/>
              <a:chOff x="2185" y="310"/>
              <a:chExt cx="873" cy="692"/>
            </a:xfrm>
          </p:grpSpPr>
          <p:sp>
            <p:nvSpPr>
              <p:cNvPr id="173129"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0"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1"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2"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3"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4"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35"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3119" name="Group 11"/>
            <p:cNvGrpSpPr>
              <a:grpSpLocks/>
            </p:cNvGrpSpPr>
            <p:nvPr/>
          </p:nvGrpSpPr>
          <p:grpSpPr bwMode="auto">
            <a:xfrm>
              <a:off x="4949" y="336"/>
              <a:ext cx="591" cy="468"/>
              <a:chOff x="2185" y="310"/>
              <a:chExt cx="873" cy="692"/>
            </a:xfrm>
          </p:grpSpPr>
          <p:sp>
            <p:nvSpPr>
              <p:cNvPr id="173122"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3"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4"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5"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6"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7"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28"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3120"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121"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30</a:t>
              </a:r>
              <a:endParaRPr lang="fr-FR" altLang="fr-FR" sz="3200">
                <a:solidFill>
                  <a:schemeClr val="tx1"/>
                </a:solidFill>
                <a:latin typeface="Arial Black" pitchFamily="34" charset="0"/>
              </a:endParaRPr>
            </a:p>
          </p:txBody>
        </p:sp>
      </p:grpSp>
      <p:sp>
        <p:nvSpPr>
          <p:cNvPr id="173060"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3061"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3062" name="Group 24"/>
          <p:cNvGrpSpPr>
            <a:grpSpLocks/>
          </p:cNvGrpSpPr>
          <p:nvPr/>
        </p:nvGrpSpPr>
        <p:grpSpPr bwMode="auto">
          <a:xfrm>
            <a:off x="2986088" y="1306513"/>
            <a:ext cx="446087" cy="534987"/>
            <a:chOff x="868" y="1439"/>
            <a:chExt cx="811" cy="972"/>
          </a:xfrm>
        </p:grpSpPr>
        <p:sp>
          <p:nvSpPr>
            <p:cNvPr id="173067"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68"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69"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0"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1"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2"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3"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4"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5"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6"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7"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8"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79"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0"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1"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2"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3"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4"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5"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6"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7"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8"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89"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0"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1"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2"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3"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4"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5"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6"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7"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8"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099"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0"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1"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2"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3"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4"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5"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6"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7"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8"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09"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0"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1"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2"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3"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4"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5"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6"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3117"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3064"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73065"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3066"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082" name="Group 2"/>
          <p:cNvGrpSpPr>
            <a:grpSpLocks/>
          </p:cNvGrpSpPr>
          <p:nvPr/>
        </p:nvGrpSpPr>
        <p:grpSpPr bwMode="auto">
          <a:xfrm>
            <a:off x="7073900" y="215900"/>
            <a:ext cx="1878013" cy="1250950"/>
            <a:chOff x="4456" y="136"/>
            <a:chExt cx="1183" cy="788"/>
          </a:xfrm>
        </p:grpSpPr>
        <p:grpSp>
          <p:nvGrpSpPr>
            <p:cNvPr id="174142" name="Group 3"/>
            <p:cNvGrpSpPr>
              <a:grpSpLocks/>
            </p:cNvGrpSpPr>
            <p:nvPr/>
          </p:nvGrpSpPr>
          <p:grpSpPr bwMode="auto">
            <a:xfrm>
              <a:off x="4766" y="232"/>
              <a:ext cx="873" cy="692"/>
              <a:chOff x="2185" y="310"/>
              <a:chExt cx="873" cy="692"/>
            </a:xfrm>
          </p:grpSpPr>
          <p:sp>
            <p:nvSpPr>
              <p:cNvPr id="174153"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4"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5"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6"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7"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8"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9"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4143" name="Group 11"/>
            <p:cNvGrpSpPr>
              <a:grpSpLocks/>
            </p:cNvGrpSpPr>
            <p:nvPr/>
          </p:nvGrpSpPr>
          <p:grpSpPr bwMode="auto">
            <a:xfrm>
              <a:off x="4949" y="336"/>
              <a:ext cx="591" cy="468"/>
              <a:chOff x="2185" y="310"/>
              <a:chExt cx="873" cy="692"/>
            </a:xfrm>
          </p:grpSpPr>
          <p:sp>
            <p:nvSpPr>
              <p:cNvPr id="174146"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7"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8"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9"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0"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1"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52"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4144"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145"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31</a:t>
              </a:r>
              <a:endParaRPr lang="fr-FR" altLang="fr-FR" sz="3200">
                <a:solidFill>
                  <a:schemeClr val="tx1"/>
                </a:solidFill>
                <a:latin typeface="Arial Black" pitchFamily="34" charset="0"/>
              </a:endParaRPr>
            </a:p>
          </p:txBody>
        </p:sp>
      </p:grpSp>
      <p:sp>
        <p:nvSpPr>
          <p:cNvPr id="174084"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4085"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4086" name="Group 24"/>
          <p:cNvGrpSpPr>
            <a:grpSpLocks/>
          </p:cNvGrpSpPr>
          <p:nvPr/>
        </p:nvGrpSpPr>
        <p:grpSpPr bwMode="auto">
          <a:xfrm>
            <a:off x="2986088" y="1306513"/>
            <a:ext cx="446087" cy="534987"/>
            <a:chOff x="868" y="1439"/>
            <a:chExt cx="811" cy="972"/>
          </a:xfrm>
        </p:grpSpPr>
        <p:sp>
          <p:nvSpPr>
            <p:cNvPr id="174091"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2"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3"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4"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5"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6"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7"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8"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099"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0"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1"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2"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3"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4"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5"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6"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7"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8"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09"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0"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1"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2"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3"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4"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5"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6"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7"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8"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19"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0"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1"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2"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3"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4"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5"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6"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7"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8"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29"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0"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1"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2"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3"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4"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5"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6"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7"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8"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39"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0"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4141"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4088"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74089"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4090"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5106" name="Group 2"/>
          <p:cNvGrpSpPr>
            <a:grpSpLocks/>
          </p:cNvGrpSpPr>
          <p:nvPr/>
        </p:nvGrpSpPr>
        <p:grpSpPr bwMode="auto">
          <a:xfrm>
            <a:off x="7073900" y="215900"/>
            <a:ext cx="1878013" cy="1250950"/>
            <a:chOff x="4456" y="136"/>
            <a:chExt cx="1183" cy="788"/>
          </a:xfrm>
        </p:grpSpPr>
        <p:grpSp>
          <p:nvGrpSpPr>
            <p:cNvPr id="175166" name="Group 3"/>
            <p:cNvGrpSpPr>
              <a:grpSpLocks/>
            </p:cNvGrpSpPr>
            <p:nvPr/>
          </p:nvGrpSpPr>
          <p:grpSpPr bwMode="auto">
            <a:xfrm>
              <a:off x="4766" y="232"/>
              <a:ext cx="873" cy="692"/>
              <a:chOff x="2185" y="310"/>
              <a:chExt cx="873" cy="692"/>
            </a:xfrm>
          </p:grpSpPr>
          <p:sp>
            <p:nvSpPr>
              <p:cNvPr id="175177" name="Freeform 4"/>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8" name="Freeform 5"/>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9" name="Freeform 6"/>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80" name="Freeform 7"/>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81" name="Freeform 8"/>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82" name="Freeform 9"/>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83" name="Freeform 10"/>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5167" name="Group 11"/>
            <p:cNvGrpSpPr>
              <a:grpSpLocks/>
            </p:cNvGrpSpPr>
            <p:nvPr/>
          </p:nvGrpSpPr>
          <p:grpSpPr bwMode="auto">
            <a:xfrm>
              <a:off x="4949" y="336"/>
              <a:ext cx="591" cy="468"/>
              <a:chOff x="2185" y="310"/>
              <a:chExt cx="873" cy="692"/>
            </a:xfrm>
          </p:grpSpPr>
          <p:sp>
            <p:nvSpPr>
              <p:cNvPr id="175170" name="Freeform 12"/>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1" name="Freeform 13"/>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2" name="Freeform 14"/>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3" name="Freeform 15"/>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4" name="Freeform 16"/>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5" name="Freeform 17"/>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76" name="Freeform 18"/>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5168" name="Picture 19"/>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169" name="Text Box 20"/>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32</a:t>
              </a:r>
              <a:endParaRPr lang="fr-FR" altLang="fr-FR" sz="3200">
                <a:solidFill>
                  <a:schemeClr val="tx1"/>
                </a:solidFill>
                <a:latin typeface="Arial Black" pitchFamily="34" charset="0"/>
              </a:endParaRPr>
            </a:p>
          </p:txBody>
        </p:sp>
      </p:grpSp>
      <p:sp>
        <p:nvSpPr>
          <p:cNvPr id="175108" name="Text Box 22"/>
          <p:cNvSpPr txBox="1">
            <a:spLocks noChangeArrowheads="1"/>
          </p:cNvSpPr>
          <p:nvPr/>
        </p:nvSpPr>
        <p:spPr bwMode="auto">
          <a:xfrm>
            <a:off x="566738" y="136366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5109" name="Text Box 23"/>
          <p:cNvSpPr txBox="1">
            <a:spLocks noChangeArrowheads="1"/>
          </p:cNvSpPr>
          <p:nvPr/>
        </p:nvSpPr>
        <p:spPr bwMode="auto">
          <a:xfrm>
            <a:off x="566738" y="3935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5110" name="Group 24"/>
          <p:cNvGrpSpPr>
            <a:grpSpLocks/>
          </p:cNvGrpSpPr>
          <p:nvPr/>
        </p:nvGrpSpPr>
        <p:grpSpPr bwMode="auto">
          <a:xfrm>
            <a:off x="2986088" y="1306513"/>
            <a:ext cx="446087" cy="534987"/>
            <a:chOff x="868" y="1439"/>
            <a:chExt cx="811" cy="972"/>
          </a:xfrm>
        </p:grpSpPr>
        <p:sp>
          <p:nvSpPr>
            <p:cNvPr id="175115" name="Freeform 25"/>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16" name="Freeform 26"/>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17" name="Freeform 27"/>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18" name="Freeform 28"/>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19" name="Freeform 29"/>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0" name="Freeform 30"/>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1" name="Freeform 31"/>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2" name="Freeform 32"/>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3" name="Freeform 33"/>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4" name="Freeform 34"/>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5" name="Freeform 35"/>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6" name="Freeform 36"/>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7" name="Freeform 37"/>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8" name="Freeform 38"/>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29" name="Freeform 39"/>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0" name="Freeform 40"/>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1" name="Freeform 41"/>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2" name="Freeform 42"/>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3" name="Freeform 43"/>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4" name="Freeform 44"/>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5" name="Freeform 45"/>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6" name="Freeform 46"/>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7" name="Freeform 47"/>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8" name="Freeform 48"/>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39" name="Freeform 49"/>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0" name="Freeform 50"/>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1" name="Freeform 51"/>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2" name="Freeform 52"/>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3" name="Freeform 53"/>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4" name="Freeform 54"/>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5" name="Freeform 55"/>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6" name="Freeform 56"/>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7" name="Freeform 57"/>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8" name="Freeform 58"/>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49" name="Freeform 59"/>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0" name="Freeform 60"/>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1" name="Freeform 61"/>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2" name="Freeform 62"/>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3" name="Freeform 63"/>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4" name="Freeform 64"/>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5" name="Freeform 65"/>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6" name="Freeform 66"/>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7" name="Freeform 67"/>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8" name="Freeform 68"/>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59" name="Freeform 69"/>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0" name="Freeform 70"/>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1" name="Freeform 71"/>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2" name="Freeform 72"/>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3" name="Freeform 73"/>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4" name="Freeform 74"/>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5165" name="Freeform 75"/>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5112" name="Rectangle 77"/>
          <p:cNvSpPr>
            <a:spLocks noChangeArrowheads="1"/>
          </p:cNvSpPr>
          <p:nvPr/>
        </p:nvSpPr>
        <p:spPr bwMode="auto">
          <a:xfrm>
            <a:off x="611188" y="0"/>
            <a:ext cx="63881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3000"/>
              <a:t>Sem. 3 - Jeudi</a:t>
            </a:r>
          </a:p>
        </p:txBody>
      </p:sp>
      <p:sp>
        <p:nvSpPr>
          <p:cNvPr id="175113" name="Text Box 78"/>
          <p:cNvSpPr txBox="1">
            <a:spLocks noChangeArrowheads="1"/>
          </p:cNvSpPr>
          <p:nvPr/>
        </p:nvSpPr>
        <p:spPr bwMode="auto">
          <a:xfrm>
            <a:off x="566738" y="2697163"/>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5114" name="Text Box 79"/>
          <p:cNvSpPr txBox="1">
            <a:spLocks noChangeArrowheads="1"/>
          </p:cNvSpPr>
          <p:nvPr/>
        </p:nvSpPr>
        <p:spPr bwMode="auto">
          <a:xfrm>
            <a:off x="566738" y="52117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2"/>
          <p:cNvSpPr>
            <a:spLocks noGrp="1" noChangeArrowheads="1"/>
          </p:cNvSpPr>
          <p:nvPr>
            <p:ph type="title"/>
          </p:nvPr>
        </p:nvSpPr>
        <p:spPr/>
        <p:txBody>
          <a:bodyPr/>
          <a:lstStyle/>
          <a:p>
            <a:pPr eaLnBrk="1" hangingPunct="1"/>
            <a:r>
              <a:rPr lang="fr-FR" altLang="fr-FR"/>
              <a:t>Bilan de la semaine 3</a:t>
            </a:r>
          </a:p>
        </p:txBody>
      </p:sp>
      <p:sp>
        <p:nvSpPr>
          <p:cNvPr id="176131" name="Rectangle 3"/>
          <p:cNvSpPr>
            <a:spLocks noGrp="1" noChangeArrowheads="1"/>
          </p:cNvSpPr>
          <p:nvPr>
            <p:ph type="body" idx="1"/>
          </p:nvPr>
        </p:nvSpPr>
        <p:spPr/>
        <p:txBody>
          <a:bodyPr/>
          <a:lstStyle/>
          <a:p>
            <a:pPr eaLnBrk="1" hangingPunct="1">
              <a:lnSpc>
                <a:spcPct val="120000"/>
              </a:lnSpc>
              <a:spcBef>
                <a:spcPct val="0"/>
              </a:spcBef>
            </a:pPr>
            <a:r>
              <a:rPr lang="fr-FR" altLang="fr-FR"/>
              <a:t>Remplissez le bas de votre Feuille de suivi et reportez vos indicateurs sur votre Feuille de résultats</a:t>
            </a:r>
            <a:r>
              <a:rPr lang="fr-FR" altLang="fr-FR" sz="1800"/>
              <a:t> </a:t>
            </a:r>
          </a:p>
          <a:p>
            <a:pPr eaLnBrk="1" hangingPunct="1">
              <a:lnSpc>
                <a:spcPct val="120000"/>
              </a:lnSpc>
              <a:spcBef>
                <a:spcPct val="0"/>
              </a:spcBef>
            </a:pPr>
            <a:r>
              <a:rPr lang="fr-FR" altLang="fr-FR"/>
              <a:t>Choisissez vos progrès et baissez vos stocks si vous le souhaitez.</a:t>
            </a:r>
          </a:p>
          <a:p>
            <a:pPr eaLnBrk="1" hangingPunct="1">
              <a:lnSpc>
                <a:spcPct val="120000"/>
              </a:lnSpc>
            </a:pPr>
            <a:r>
              <a:rPr lang="fr-FR" altLang="fr-FR"/>
              <a:t>Recevez une nouvelle Feuille de suivi</a:t>
            </a:r>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2"/>
          <p:cNvSpPr>
            <a:spLocks noGrp="1" noChangeArrowheads="1"/>
          </p:cNvSpPr>
          <p:nvPr>
            <p:ph type="title"/>
          </p:nvPr>
        </p:nvSpPr>
        <p:spPr>
          <a:xfrm>
            <a:off x="490538" y="2001838"/>
            <a:ext cx="8229600" cy="944562"/>
          </a:xfrm>
        </p:spPr>
        <p:txBody>
          <a:bodyPr/>
          <a:lstStyle/>
          <a:p>
            <a:pPr eaLnBrk="1" hangingPunct="1">
              <a:lnSpc>
                <a:spcPct val="140000"/>
              </a:lnSpc>
            </a:pPr>
            <a:r>
              <a:rPr lang="fr-FR" altLang="fr-FR"/>
              <a:t>Affichage des résultats</a:t>
            </a:r>
            <a:endParaRPr lang="fr-FR" altLang="fr-FR" sz="1400"/>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8179" name="Group 3"/>
          <p:cNvGrpSpPr>
            <a:grpSpLocks/>
          </p:cNvGrpSpPr>
          <p:nvPr/>
        </p:nvGrpSpPr>
        <p:grpSpPr bwMode="auto">
          <a:xfrm>
            <a:off x="7073900" y="215900"/>
            <a:ext cx="1878013" cy="1250950"/>
            <a:chOff x="4456" y="136"/>
            <a:chExt cx="1183" cy="788"/>
          </a:xfrm>
        </p:grpSpPr>
        <p:grpSp>
          <p:nvGrpSpPr>
            <p:cNvPr id="178238" name="Group 4"/>
            <p:cNvGrpSpPr>
              <a:grpSpLocks/>
            </p:cNvGrpSpPr>
            <p:nvPr/>
          </p:nvGrpSpPr>
          <p:grpSpPr bwMode="auto">
            <a:xfrm>
              <a:off x="4766" y="232"/>
              <a:ext cx="873" cy="692"/>
              <a:chOff x="2185" y="310"/>
              <a:chExt cx="873" cy="692"/>
            </a:xfrm>
          </p:grpSpPr>
          <p:sp>
            <p:nvSpPr>
              <p:cNvPr id="178249"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0"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1"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2"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3"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4"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55"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8239" name="Group 12"/>
            <p:cNvGrpSpPr>
              <a:grpSpLocks/>
            </p:cNvGrpSpPr>
            <p:nvPr/>
          </p:nvGrpSpPr>
          <p:grpSpPr bwMode="auto">
            <a:xfrm>
              <a:off x="4949" y="336"/>
              <a:ext cx="591" cy="468"/>
              <a:chOff x="2185" y="310"/>
              <a:chExt cx="873" cy="692"/>
            </a:xfrm>
          </p:grpSpPr>
          <p:sp>
            <p:nvSpPr>
              <p:cNvPr id="178242"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3"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4"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5"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6"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7"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48"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8240"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241"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a:t>
              </a:r>
              <a:endParaRPr lang="fr-FR" altLang="fr-FR" sz="3200">
                <a:solidFill>
                  <a:schemeClr val="tx1"/>
                </a:solidFill>
                <a:latin typeface="Arial Black" pitchFamily="34" charset="0"/>
              </a:endParaRPr>
            </a:p>
          </p:txBody>
        </p:sp>
      </p:grpSp>
      <p:sp>
        <p:nvSpPr>
          <p:cNvPr id="178180" name="Rectangle 25"/>
          <p:cNvSpPr>
            <a:spLocks noGrp="1" noChangeArrowheads="1"/>
          </p:cNvSpPr>
          <p:nvPr>
            <p:ph type="title"/>
          </p:nvPr>
        </p:nvSpPr>
        <p:spPr>
          <a:xfrm>
            <a:off x="611188" y="0"/>
            <a:ext cx="6388100" cy="647700"/>
          </a:xfrm>
        </p:spPr>
        <p:txBody>
          <a:bodyPr/>
          <a:lstStyle/>
          <a:p>
            <a:pPr eaLnBrk="1" hangingPunct="1"/>
            <a:r>
              <a:rPr lang="fr-FR" altLang="fr-FR"/>
              <a:t>Sem. 4 - Lundi (St Séverin)</a:t>
            </a:r>
          </a:p>
        </p:txBody>
      </p:sp>
      <p:sp>
        <p:nvSpPr>
          <p:cNvPr id="178181" name="Text Box 26"/>
          <p:cNvSpPr txBox="1">
            <a:spLocks noChangeArrowheads="1"/>
          </p:cNvSpPr>
          <p:nvPr/>
        </p:nvSpPr>
        <p:spPr bwMode="auto">
          <a:xfrm>
            <a:off x="566738" y="2262188"/>
            <a:ext cx="32178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78182"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8183" name="Text Box 28"/>
          <p:cNvSpPr txBox="1">
            <a:spLocks noChangeArrowheads="1"/>
          </p:cNvSpPr>
          <p:nvPr/>
        </p:nvSpPr>
        <p:spPr bwMode="auto">
          <a:xfrm>
            <a:off x="566738" y="415766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8184" name="Group 29"/>
          <p:cNvGrpSpPr>
            <a:grpSpLocks/>
          </p:cNvGrpSpPr>
          <p:nvPr/>
        </p:nvGrpSpPr>
        <p:grpSpPr bwMode="auto">
          <a:xfrm>
            <a:off x="2843213" y="1106488"/>
            <a:ext cx="446087" cy="534987"/>
            <a:chOff x="868" y="1439"/>
            <a:chExt cx="811" cy="972"/>
          </a:xfrm>
        </p:grpSpPr>
        <p:sp>
          <p:nvSpPr>
            <p:cNvPr id="178187"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88"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89"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0"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1"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2"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3"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4"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5"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6"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7"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8"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199"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0"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1"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2"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3"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4"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5"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6"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7"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8"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09"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0"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1"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2"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3"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4"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5"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6"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7"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8"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19"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0"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1"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2"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3"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4"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5"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6"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7"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8"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29"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0"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1"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2"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3"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4"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5"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6"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8237"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78185" name="Text Box 130"/>
          <p:cNvSpPr txBox="1">
            <a:spLocks noChangeArrowheads="1"/>
          </p:cNvSpPr>
          <p:nvPr/>
        </p:nvSpPr>
        <p:spPr bwMode="auto">
          <a:xfrm>
            <a:off x="5667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9203" name="Group 3"/>
          <p:cNvGrpSpPr>
            <a:grpSpLocks/>
          </p:cNvGrpSpPr>
          <p:nvPr/>
        </p:nvGrpSpPr>
        <p:grpSpPr bwMode="auto">
          <a:xfrm>
            <a:off x="7073900" y="215900"/>
            <a:ext cx="1878013" cy="1250950"/>
            <a:chOff x="4456" y="136"/>
            <a:chExt cx="1183" cy="788"/>
          </a:xfrm>
        </p:grpSpPr>
        <p:grpSp>
          <p:nvGrpSpPr>
            <p:cNvPr id="179269" name="Group 4"/>
            <p:cNvGrpSpPr>
              <a:grpSpLocks/>
            </p:cNvGrpSpPr>
            <p:nvPr/>
          </p:nvGrpSpPr>
          <p:grpSpPr bwMode="auto">
            <a:xfrm>
              <a:off x="4766" y="232"/>
              <a:ext cx="873" cy="692"/>
              <a:chOff x="2185" y="310"/>
              <a:chExt cx="873" cy="692"/>
            </a:xfrm>
          </p:grpSpPr>
          <p:sp>
            <p:nvSpPr>
              <p:cNvPr id="17928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8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9270" name="Group 12"/>
            <p:cNvGrpSpPr>
              <a:grpSpLocks/>
            </p:cNvGrpSpPr>
            <p:nvPr/>
          </p:nvGrpSpPr>
          <p:grpSpPr bwMode="auto">
            <a:xfrm>
              <a:off x="4949" y="336"/>
              <a:ext cx="591" cy="468"/>
              <a:chOff x="2185" y="310"/>
              <a:chExt cx="873" cy="692"/>
            </a:xfrm>
          </p:grpSpPr>
          <p:sp>
            <p:nvSpPr>
              <p:cNvPr id="17927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7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7927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9272"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a:t>
              </a:r>
              <a:endParaRPr lang="fr-FR" altLang="fr-FR" sz="3200">
                <a:solidFill>
                  <a:schemeClr val="tx1"/>
                </a:solidFill>
                <a:latin typeface="Arial Black" pitchFamily="34" charset="0"/>
              </a:endParaRPr>
            </a:p>
          </p:txBody>
        </p:sp>
      </p:grpSp>
      <p:sp>
        <p:nvSpPr>
          <p:cNvPr id="179204"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179205" name="Rectangle 25"/>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79206"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79207"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79208"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79209" name="Group 29"/>
          <p:cNvGrpSpPr>
            <a:grpSpLocks/>
          </p:cNvGrpSpPr>
          <p:nvPr/>
        </p:nvGrpSpPr>
        <p:grpSpPr bwMode="auto">
          <a:xfrm>
            <a:off x="2843213" y="1106488"/>
            <a:ext cx="446087" cy="534987"/>
            <a:chOff x="868" y="1439"/>
            <a:chExt cx="811" cy="972"/>
          </a:xfrm>
        </p:grpSpPr>
        <p:sp>
          <p:nvSpPr>
            <p:cNvPr id="179218"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19"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0"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1"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2"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3"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4"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5"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6"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7"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8"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29"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0"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1"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2"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3"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4"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5"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6"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7"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8"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39"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0"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1"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2"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3"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4"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5"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6"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7"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8"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49"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0"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1"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2"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3"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4"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5"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6"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7"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8"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59"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0"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1"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2"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3"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4"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5"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6"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7"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79268"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79210" name="Group 81"/>
          <p:cNvGrpSpPr>
            <a:grpSpLocks/>
          </p:cNvGrpSpPr>
          <p:nvPr/>
        </p:nvGrpSpPr>
        <p:grpSpPr bwMode="auto">
          <a:xfrm rot="-223274">
            <a:off x="1995488" y="2768600"/>
            <a:ext cx="744537" cy="733425"/>
            <a:chOff x="2757" y="1666"/>
            <a:chExt cx="812" cy="800"/>
          </a:xfrm>
        </p:grpSpPr>
        <p:sp>
          <p:nvSpPr>
            <p:cNvPr id="179212"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79213"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79214"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79215"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79216"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79217"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79211" name="Text Box 130"/>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0227" name="Group 3"/>
          <p:cNvGrpSpPr>
            <a:grpSpLocks/>
          </p:cNvGrpSpPr>
          <p:nvPr/>
        </p:nvGrpSpPr>
        <p:grpSpPr bwMode="auto">
          <a:xfrm>
            <a:off x="7073900" y="215900"/>
            <a:ext cx="1878013" cy="1250950"/>
            <a:chOff x="4456" y="136"/>
            <a:chExt cx="1183" cy="788"/>
          </a:xfrm>
        </p:grpSpPr>
        <p:grpSp>
          <p:nvGrpSpPr>
            <p:cNvPr id="180295" name="Group 4"/>
            <p:cNvGrpSpPr>
              <a:grpSpLocks/>
            </p:cNvGrpSpPr>
            <p:nvPr/>
          </p:nvGrpSpPr>
          <p:grpSpPr bwMode="auto">
            <a:xfrm>
              <a:off x="4766" y="232"/>
              <a:ext cx="873" cy="692"/>
              <a:chOff x="2185" y="310"/>
              <a:chExt cx="873" cy="692"/>
            </a:xfrm>
          </p:grpSpPr>
          <p:sp>
            <p:nvSpPr>
              <p:cNvPr id="18030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1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1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1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0296" name="Group 12"/>
            <p:cNvGrpSpPr>
              <a:grpSpLocks/>
            </p:cNvGrpSpPr>
            <p:nvPr/>
          </p:nvGrpSpPr>
          <p:grpSpPr bwMode="auto">
            <a:xfrm>
              <a:off x="4949" y="336"/>
              <a:ext cx="591" cy="468"/>
              <a:chOff x="2185" y="310"/>
              <a:chExt cx="873" cy="692"/>
            </a:xfrm>
          </p:grpSpPr>
          <p:sp>
            <p:nvSpPr>
              <p:cNvPr id="18029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30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029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298"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a:t>
              </a:r>
              <a:endParaRPr lang="fr-FR" altLang="fr-FR" sz="3200">
                <a:solidFill>
                  <a:schemeClr val="tx1"/>
                </a:solidFill>
                <a:latin typeface="Arial Black" pitchFamily="34" charset="0"/>
              </a:endParaRPr>
            </a:p>
          </p:txBody>
        </p:sp>
      </p:grpSp>
      <p:sp>
        <p:nvSpPr>
          <p:cNvPr id="180228"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80229"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0230"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0231"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0232"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0233" name="Group 27"/>
          <p:cNvGrpSpPr>
            <a:grpSpLocks/>
          </p:cNvGrpSpPr>
          <p:nvPr/>
        </p:nvGrpSpPr>
        <p:grpSpPr bwMode="auto">
          <a:xfrm>
            <a:off x="2843213" y="1106488"/>
            <a:ext cx="446087" cy="534987"/>
            <a:chOff x="868" y="1439"/>
            <a:chExt cx="811" cy="972"/>
          </a:xfrm>
        </p:grpSpPr>
        <p:sp>
          <p:nvSpPr>
            <p:cNvPr id="18024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4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5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6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7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8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029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0234" name="Group 79"/>
          <p:cNvGrpSpPr>
            <a:grpSpLocks/>
          </p:cNvGrpSpPr>
          <p:nvPr/>
        </p:nvGrpSpPr>
        <p:grpSpPr bwMode="auto">
          <a:xfrm rot="-223274">
            <a:off x="1995488" y="2768600"/>
            <a:ext cx="744537" cy="733425"/>
            <a:chOff x="2757" y="1666"/>
            <a:chExt cx="812" cy="800"/>
          </a:xfrm>
        </p:grpSpPr>
        <p:sp>
          <p:nvSpPr>
            <p:cNvPr id="18023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023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024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024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024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024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0235"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80236" name="Text Box 87"/>
          <p:cNvSpPr txBox="1">
            <a:spLocks noChangeArrowheads="1"/>
          </p:cNvSpPr>
          <p:nvPr/>
        </p:nvSpPr>
        <p:spPr bwMode="auto">
          <a:xfrm>
            <a:off x="3294063" y="3516313"/>
            <a:ext cx="31130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
        <p:nvSpPr>
          <p:cNvPr id="180237" name="Oval 88"/>
          <p:cNvSpPr>
            <a:spLocks noChangeArrowheads="1"/>
          </p:cNvSpPr>
          <p:nvPr/>
        </p:nvSpPr>
        <p:spPr bwMode="auto">
          <a:xfrm rot="-5400000">
            <a:off x="4610894" y="2947194"/>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1251" name="Group 3"/>
          <p:cNvGrpSpPr>
            <a:grpSpLocks/>
          </p:cNvGrpSpPr>
          <p:nvPr/>
        </p:nvGrpSpPr>
        <p:grpSpPr bwMode="auto">
          <a:xfrm>
            <a:off x="7073900" y="215900"/>
            <a:ext cx="1878013" cy="1250950"/>
            <a:chOff x="4456" y="136"/>
            <a:chExt cx="1183" cy="788"/>
          </a:xfrm>
        </p:grpSpPr>
        <p:grpSp>
          <p:nvGrpSpPr>
            <p:cNvPr id="181317" name="Group 4"/>
            <p:cNvGrpSpPr>
              <a:grpSpLocks/>
            </p:cNvGrpSpPr>
            <p:nvPr/>
          </p:nvGrpSpPr>
          <p:grpSpPr bwMode="auto">
            <a:xfrm>
              <a:off x="4766" y="232"/>
              <a:ext cx="873" cy="692"/>
              <a:chOff x="2185" y="310"/>
              <a:chExt cx="873" cy="692"/>
            </a:xfrm>
          </p:grpSpPr>
          <p:sp>
            <p:nvSpPr>
              <p:cNvPr id="18132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3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1318" name="Group 12"/>
            <p:cNvGrpSpPr>
              <a:grpSpLocks/>
            </p:cNvGrpSpPr>
            <p:nvPr/>
          </p:nvGrpSpPr>
          <p:grpSpPr bwMode="auto">
            <a:xfrm>
              <a:off x="4949" y="336"/>
              <a:ext cx="591" cy="468"/>
              <a:chOff x="2185" y="310"/>
              <a:chExt cx="873" cy="692"/>
            </a:xfrm>
          </p:grpSpPr>
          <p:sp>
            <p:nvSpPr>
              <p:cNvPr id="18132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2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131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320"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4</a:t>
              </a:r>
              <a:endParaRPr lang="fr-FR" altLang="fr-FR" sz="3200">
                <a:solidFill>
                  <a:schemeClr val="tx1"/>
                </a:solidFill>
                <a:latin typeface="Arial Black" pitchFamily="34" charset="0"/>
              </a:endParaRPr>
            </a:p>
          </p:txBody>
        </p:sp>
      </p:grpSp>
      <p:sp>
        <p:nvSpPr>
          <p:cNvPr id="181252"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81253"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1254"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1255"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1256"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1257" name="Group 27"/>
          <p:cNvGrpSpPr>
            <a:grpSpLocks/>
          </p:cNvGrpSpPr>
          <p:nvPr/>
        </p:nvGrpSpPr>
        <p:grpSpPr bwMode="auto">
          <a:xfrm>
            <a:off x="2843213" y="1106488"/>
            <a:ext cx="446087" cy="534987"/>
            <a:chOff x="868" y="1439"/>
            <a:chExt cx="811" cy="972"/>
          </a:xfrm>
        </p:grpSpPr>
        <p:sp>
          <p:nvSpPr>
            <p:cNvPr id="18126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6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6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6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7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8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29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0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131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1258" name="Group 79"/>
          <p:cNvGrpSpPr>
            <a:grpSpLocks/>
          </p:cNvGrpSpPr>
          <p:nvPr/>
        </p:nvGrpSpPr>
        <p:grpSpPr bwMode="auto">
          <a:xfrm rot="-223274">
            <a:off x="1995488" y="2768600"/>
            <a:ext cx="744537" cy="733425"/>
            <a:chOff x="2757" y="1666"/>
            <a:chExt cx="812" cy="800"/>
          </a:xfrm>
        </p:grpSpPr>
        <p:sp>
          <p:nvSpPr>
            <p:cNvPr id="18126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126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126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126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126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126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1259"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2275" name="Group 3"/>
          <p:cNvGrpSpPr>
            <a:grpSpLocks/>
          </p:cNvGrpSpPr>
          <p:nvPr/>
        </p:nvGrpSpPr>
        <p:grpSpPr bwMode="auto">
          <a:xfrm>
            <a:off x="7073900" y="215900"/>
            <a:ext cx="1878013" cy="1250950"/>
            <a:chOff x="4456" y="136"/>
            <a:chExt cx="1183" cy="788"/>
          </a:xfrm>
        </p:grpSpPr>
        <p:grpSp>
          <p:nvGrpSpPr>
            <p:cNvPr id="182343" name="Group 4"/>
            <p:cNvGrpSpPr>
              <a:grpSpLocks/>
            </p:cNvGrpSpPr>
            <p:nvPr/>
          </p:nvGrpSpPr>
          <p:grpSpPr bwMode="auto">
            <a:xfrm>
              <a:off x="4766" y="232"/>
              <a:ext cx="873" cy="692"/>
              <a:chOff x="2185" y="310"/>
              <a:chExt cx="873" cy="692"/>
            </a:xfrm>
          </p:grpSpPr>
          <p:sp>
            <p:nvSpPr>
              <p:cNvPr id="18235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6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2344" name="Group 12"/>
            <p:cNvGrpSpPr>
              <a:grpSpLocks/>
            </p:cNvGrpSpPr>
            <p:nvPr/>
          </p:nvGrpSpPr>
          <p:grpSpPr bwMode="auto">
            <a:xfrm>
              <a:off x="4949" y="336"/>
              <a:ext cx="591" cy="468"/>
              <a:chOff x="2185" y="310"/>
              <a:chExt cx="873" cy="692"/>
            </a:xfrm>
          </p:grpSpPr>
          <p:sp>
            <p:nvSpPr>
              <p:cNvPr id="18234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5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234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346"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5</a:t>
              </a:r>
              <a:endParaRPr lang="fr-FR" altLang="fr-FR" sz="3200">
                <a:solidFill>
                  <a:schemeClr val="tx1"/>
                </a:solidFill>
                <a:latin typeface="Arial Black" pitchFamily="34" charset="0"/>
              </a:endParaRPr>
            </a:p>
          </p:txBody>
        </p:sp>
      </p:grpSp>
      <p:sp>
        <p:nvSpPr>
          <p:cNvPr id="182276"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sp>
        <p:nvSpPr>
          <p:cNvPr id="182277"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227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227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228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2281" name="Group 27"/>
          <p:cNvGrpSpPr>
            <a:grpSpLocks/>
          </p:cNvGrpSpPr>
          <p:nvPr/>
        </p:nvGrpSpPr>
        <p:grpSpPr bwMode="auto">
          <a:xfrm>
            <a:off x="2843213" y="1106488"/>
            <a:ext cx="446087" cy="534987"/>
            <a:chOff x="868" y="1439"/>
            <a:chExt cx="811" cy="972"/>
          </a:xfrm>
        </p:grpSpPr>
        <p:sp>
          <p:nvSpPr>
            <p:cNvPr id="182292"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3"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4"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5"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6"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7"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8"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299"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0"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1"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2"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3"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4"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5"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6"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7"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8"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09"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0"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1"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2"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3"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4"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5"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6"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7"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8"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19"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0"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1"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2"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3"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4"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5"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6"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7"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8"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29"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0"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1"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2"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3"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4"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5"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6"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7"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8"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39"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0"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1"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2342"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2282" name="Group 79"/>
          <p:cNvGrpSpPr>
            <a:grpSpLocks/>
          </p:cNvGrpSpPr>
          <p:nvPr/>
        </p:nvGrpSpPr>
        <p:grpSpPr bwMode="auto">
          <a:xfrm rot="-223274">
            <a:off x="1995488" y="2768600"/>
            <a:ext cx="744537" cy="733425"/>
            <a:chOff x="2757" y="1666"/>
            <a:chExt cx="812" cy="800"/>
          </a:xfrm>
        </p:grpSpPr>
        <p:sp>
          <p:nvSpPr>
            <p:cNvPr id="182286"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2287"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2288"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2289"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2290"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2291"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2283"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82284" name="Text Box 87"/>
          <p:cNvSpPr txBox="1">
            <a:spLocks noChangeArrowheads="1"/>
          </p:cNvSpPr>
          <p:nvPr/>
        </p:nvSpPr>
        <p:spPr bwMode="auto">
          <a:xfrm>
            <a:off x="3805238" y="3492500"/>
            <a:ext cx="23129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
        <p:nvSpPr>
          <p:cNvPr id="182285" name="Oval 88"/>
          <p:cNvSpPr>
            <a:spLocks noChangeArrowheads="1"/>
          </p:cNvSpPr>
          <p:nvPr/>
        </p:nvSpPr>
        <p:spPr bwMode="auto">
          <a:xfrm rot="-5400000">
            <a:off x="4715669" y="29297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3299" name="Group 3"/>
          <p:cNvGrpSpPr>
            <a:grpSpLocks/>
          </p:cNvGrpSpPr>
          <p:nvPr/>
        </p:nvGrpSpPr>
        <p:grpSpPr bwMode="auto">
          <a:xfrm>
            <a:off x="7073900" y="215900"/>
            <a:ext cx="1878013" cy="1250950"/>
            <a:chOff x="4456" y="136"/>
            <a:chExt cx="1183" cy="788"/>
          </a:xfrm>
        </p:grpSpPr>
        <p:grpSp>
          <p:nvGrpSpPr>
            <p:cNvPr id="183365" name="Group 4"/>
            <p:cNvGrpSpPr>
              <a:grpSpLocks/>
            </p:cNvGrpSpPr>
            <p:nvPr/>
          </p:nvGrpSpPr>
          <p:grpSpPr bwMode="auto">
            <a:xfrm>
              <a:off x="4766" y="232"/>
              <a:ext cx="873" cy="692"/>
              <a:chOff x="2185" y="310"/>
              <a:chExt cx="873" cy="692"/>
            </a:xfrm>
          </p:grpSpPr>
          <p:sp>
            <p:nvSpPr>
              <p:cNvPr id="18337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8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8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8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3366" name="Group 12"/>
            <p:cNvGrpSpPr>
              <a:grpSpLocks/>
            </p:cNvGrpSpPr>
            <p:nvPr/>
          </p:nvGrpSpPr>
          <p:grpSpPr bwMode="auto">
            <a:xfrm>
              <a:off x="4949" y="336"/>
              <a:ext cx="591" cy="468"/>
              <a:chOff x="2185" y="310"/>
              <a:chExt cx="873" cy="692"/>
            </a:xfrm>
          </p:grpSpPr>
          <p:sp>
            <p:nvSpPr>
              <p:cNvPr id="18336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7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336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68"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6</a:t>
              </a:r>
              <a:endParaRPr lang="fr-FR" altLang="fr-FR" sz="3200">
                <a:solidFill>
                  <a:schemeClr val="tx1"/>
                </a:solidFill>
                <a:latin typeface="Arial Black" pitchFamily="34" charset="0"/>
              </a:endParaRPr>
            </a:p>
          </p:txBody>
        </p:sp>
      </p:grpSp>
      <p:sp>
        <p:nvSpPr>
          <p:cNvPr id="183300"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83301"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3302"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3303"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3304"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3305" name="Group 27"/>
          <p:cNvGrpSpPr>
            <a:grpSpLocks/>
          </p:cNvGrpSpPr>
          <p:nvPr/>
        </p:nvGrpSpPr>
        <p:grpSpPr bwMode="auto">
          <a:xfrm>
            <a:off x="2843213" y="1106488"/>
            <a:ext cx="446087" cy="534987"/>
            <a:chOff x="868" y="1439"/>
            <a:chExt cx="811" cy="972"/>
          </a:xfrm>
        </p:grpSpPr>
        <p:sp>
          <p:nvSpPr>
            <p:cNvPr id="18331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1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2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3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4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5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336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3306" name="Group 79"/>
          <p:cNvGrpSpPr>
            <a:grpSpLocks/>
          </p:cNvGrpSpPr>
          <p:nvPr/>
        </p:nvGrpSpPr>
        <p:grpSpPr bwMode="auto">
          <a:xfrm rot="-223274">
            <a:off x="1995488" y="2768600"/>
            <a:ext cx="744537" cy="733425"/>
            <a:chOff x="2757" y="1666"/>
            <a:chExt cx="812" cy="800"/>
          </a:xfrm>
        </p:grpSpPr>
        <p:sp>
          <p:nvSpPr>
            <p:cNvPr id="18330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330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331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331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331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331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3307"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4323" name="Group 3"/>
          <p:cNvGrpSpPr>
            <a:grpSpLocks/>
          </p:cNvGrpSpPr>
          <p:nvPr/>
        </p:nvGrpSpPr>
        <p:grpSpPr bwMode="auto">
          <a:xfrm>
            <a:off x="7073900" y="215900"/>
            <a:ext cx="1878013" cy="1250950"/>
            <a:chOff x="4456" y="136"/>
            <a:chExt cx="1183" cy="788"/>
          </a:xfrm>
        </p:grpSpPr>
        <p:grpSp>
          <p:nvGrpSpPr>
            <p:cNvPr id="184389" name="Group 4"/>
            <p:cNvGrpSpPr>
              <a:grpSpLocks/>
            </p:cNvGrpSpPr>
            <p:nvPr/>
          </p:nvGrpSpPr>
          <p:grpSpPr bwMode="auto">
            <a:xfrm>
              <a:off x="4766" y="232"/>
              <a:ext cx="873" cy="692"/>
              <a:chOff x="2185" y="310"/>
              <a:chExt cx="873" cy="692"/>
            </a:xfrm>
          </p:grpSpPr>
          <p:sp>
            <p:nvSpPr>
              <p:cNvPr id="18440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40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4390" name="Group 12"/>
            <p:cNvGrpSpPr>
              <a:grpSpLocks/>
            </p:cNvGrpSpPr>
            <p:nvPr/>
          </p:nvGrpSpPr>
          <p:grpSpPr bwMode="auto">
            <a:xfrm>
              <a:off x="4949" y="336"/>
              <a:ext cx="591" cy="468"/>
              <a:chOff x="2185" y="310"/>
              <a:chExt cx="873" cy="692"/>
            </a:xfrm>
          </p:grpSpPr>
          <p:sp>
            <p:nvSpPr>
              <p:cNvPr id="18439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9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439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392"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7</a:t>
              </a:r>
              <a:endParaRPr lang="fr-FR" altLang="fr-FR" sz="3200">
                <a:solidFill>
                  <a:schemeClr val="tx1"/>
                </a:solidFill>
                <a:latin typeface="Arial Black" pitchFamily="34" charset="0"/>
              </a:endParaRPr>
            </a:p>
          </p:txBody>
        </p:sp>
      </p:grpSp>
      <p:sp>
        <p:nvSpPr>
          <p:cNvPr id="184324"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84325"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432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432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432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4329" name="Group 27"/>
          <p:cNvGrpSpPr>
            <a:grpSpLocks/>
          </p:cNvGrpSpPr>
          <p:nvPr/>
        </p:nvGrpSpPr>
        <p:grpSpPr bwMode="auto">
          <a:xfrm>
            <a:off x="2843213" y="1106488"/>
            <a:ext cx="446087" cy="534987"/>
            <a:chOff x="868" y="1439"/>
            <a:chExt cx="811" cy="972"/>
          </a:xfrm>
        </p:grpSpPr>
        <p:sp>
          <p:nvSpPr>
            <p:cNvPr id="184338"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39"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0"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1"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2"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3"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4"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5"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6"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7"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8"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49"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0"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1"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2"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3"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4"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5"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6"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7"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8"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59"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0"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1"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2"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3"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4"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5"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6"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7"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8"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69"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0"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1"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2"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3"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4"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5"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6"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7"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8"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79"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0"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1"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2"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3"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4"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5"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6"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7"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4388"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4330" name="Group 79"/>
          <p:cNvGrpSpPr>
            <a:grpSpLocks/>
          </p:cNvGrpSpPr>
          <p:nvPr/>
        </p:nvGrpSpPr>
        <p:grpSpPr bwMode="auto">
          <a:xfrm rot="-223274">
            <a:off x="1995488" y="2768600"/>
            <a:ext cx="744537" cy="733425"/>
            <a:chOff x="2757" y="1666"/>
            <a:chExt cx="812" cy="800"/>
          </a:xfrm>
        </p:grpSpPr>
        <p:sp>
          <p:nvSpPr>
            <p:cNvPr id="184332"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4333"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4334"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4335"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4336"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4337"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4331"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5347" name="Group 3"/>
          <p:cNvGrpSpPr>
            <a:grpSpLocks/>
          </p:cNvGrpSpPr>
          <p:nvPr/>
        </p:nvGrpSpPr>
        <p:grpSpPr bwMode="auto">
          <a:xfrm>
            <a:off x="7073900" y="215900"/>
            <a:ext cx="1878013" cy="1250950"/>
            <a:chOff x="4456" y="136"/>
            <a:chExt cx="1183" cy="788"/>
          </a:xfrm>
        </p:grpSpPr>
        <p:grpSp>
          <p:nvGrpSpPr>
            <p:cNvPr id="185406" name="Group 4"/>
            <p:cNvGrpSpPr>
              <a:grpSpLocks/>
            </p:cNvGrpSpPr>
            <p:nvPr/>
          </p:nvGrpSpPr>
          <p:grpSpPr bwMode="auto">
            <a:xfrm>
              <a:off x="4766" y="232"/>
              <a:ext cx="873" cy="692"/>
              <a:chOff x="2185" y="310"/>
              <a:chExt cx="873" cy="692"/>
            </a:xfrm>
          </p:grpSpPr>
          <p:sp>
            <p:nvSpPr>
              <p:cNvPr id="185417"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8"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9"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20"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21"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22"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23"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5407" name="Group 12"/>
            <p:cNvGrpSpPr>
              <a:grpSpLocks/>
            </p:cNvGrpSpPr>
            <p:nvPr/>
          </p:nvGrpSpPr>
          <p:grpSpPr bwMode="auto">
            <a:xfrm>
              <a:off x="4949" y="336"/>
              <a:ext cx="591" cy="468"/>
              <a:chOff x="2185" y="310"/>
              <a:chExt cx="873" cy="692"/>
            </a:xfrm>
          </p:grpSpPr>
          <p:sp>
            <p:nvSpPr>
              <p:cNvPr id="185410"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1"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2"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3"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4"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5"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16"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5408"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09"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8</a:t>
              </a:r>
              <a:endParaRPr lang="fr-FR" altLang="fr-FR" sz="3200">
                <a:solidFill>
                  <a:schemeClr val="tx1"/>
                </a:solidFill>
                <a:latin typeface="Arial Black" pitchFamily="34" charset="0"/>
              </a:endParaRPr>
            </a:p>
          </p:txBody>
        </p:sp>
      </p:grpSp>
      <p:sp>
        <p:nvSpPr>
          <p:cNvPr id="185348" name="Rectangle 23"/>
          <p:cNvSpPr>
            <a:spLocks noGrp="1" noChangeArrowheads="1"/>
          </p:cNvSpPr>
          <p:nvPr>
            <p:ph type="title"/>
          </p:nvPr>
        </p:nvSpPr>
        <p:spPr>
          <a:xfrm>
            <a:off x="611188" y="0"/>
            <a:ext cx="6388100" cy="647700"/>
          </a:xfrm>
        </p:spPr>
        <p:txBody>
          <a:bodyPr/>
          <a:lstStyle/>
          <a:p>
            <a:pPr eaLnBrk="1" hangingPunct="1"/>
            <a:r>
              <a:rPr lang="fr-FR" altLang="fr-FR"/>
              <a:t>Sem. 4 - Lundi</a:t>
            </a:r>
          </a:p>
        </p:txBody>
      </p:sp>
      <p:sp>
        <p:nvSpPr>
          <p:cNvPr id="185349" name="Text Box 24"/>
          <p:cNvSpPr txBox="1">
            <a:spLocks noChangeArrowheads="1"/>
          </p:cNvSpPr>
          <p:nvPr/>
        </p:nvSpPr>
        <p:spPr bwMode="auto">
          <a:xfrm>
            <a:off x="571500" y="2030413"/>
            <a:ext cx="3217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85350"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5351" name="Text Box 26"/>
          <p:cNvSpPr txBox="1">
            <a:spLocks noChangeArrowheads="1"/>
          </p:cNvSpPr>
          <p:nvPr/>
        </p:nvSpPr>
        <p:spPr bwMode="auto">
          <a:xfrm>
            <a:off x="5667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5352" name="Group 27"/>
          <p:cNvGrpSpPr>
            <a:grpSpLocks/>
          </p:cNvGrpSpPr>
          <p:nvPr/>
        </p:nvGrpSpPr>
        <p:grpSpPr bwMode="auto">
          <a:xfrm>
            <a:off x="2843213" y="1106488"/>
            <a:ext cx="446087" cy="534987"/>
            <a:chOff x="868" y="1439"/>
            <a:chExt cx="811" cy="972"/>
          </a:xfrm>
        </p:grpSpPr>
        <p:sp>
          <p:nvSpPr>
            <p:cNvPr id="185355"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56"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57"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58"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59"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0"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1"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2"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3"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4"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5"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6"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7"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8"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69"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0"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1"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2"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3"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4"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5"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6"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7"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8"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79"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0"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1"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2"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3"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4"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5"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6"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7"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8"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89"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0"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1"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2"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3"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4"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5"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6"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7"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8"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399"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0"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1"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2"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3"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4"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5405"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85353" name="Text Box 86"/>
          <p:cNvSpPr txBox="1">
            <a:spLocks noChangeArrowheads="1"/>
          </p:cNvSpPr>
          <p:nvPr/>
        </p:nvSpPr>
        <p:spPr bwMode="auto">
          <a:xfrm>
            <a:off x="5667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6371" name="Group 3"/>
          <p:cNvGrpSpPr>
            <a:grpSpLocks/>
          </p:cNvGrpSpPr>
          <p:nvPr/>
        </p:nvGrpSpPr>
        <p:grpSpPr bwMode="auto">
          <a:xfrm>
            <a:off x="7073900" y="215900"/>
            <a:ext cx="1878013" cy="1250950"/>
            <a:chOff x="4456" y="136"/>
            <a:chExt cx="1183" cy="788"/>
          </a:xfrm>
        </p:grpSpPr>
        <p:grpSp>
          <p:nvGrpSpPr>
            <p:cNvPr id="186437" name="Group 4"/>
            <p:cNvGrpSpPr>
              <a:grpSpLocks/>
            </p:cNvGrpSpPr>
            <p:nvPr/>
          </p:nvGrpSpPr>
          <p:grpSpPr bwMode="auto">
            <a:xfrm>
              <a:off x="4766" y="232"/>
              <a:ext cx="873" cy="692"/>
              <a:chOff x="2185" y="310"/>
              <a:chExt cx="873" cy="692"/>
            </a:xfrm>
          </p:grpSpPr>
          <p:sp>
            <p:nvSpPr>
              <p:cNvPr id="18644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5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6438" name="Group 12"/>
            <p:cNvGrpSpPr>
              <a:grpSpLocks/>
            </p:cNvGrpSpPr>
            <p:nvPr/>
          </p:nvGrpSpPr>
          <p:grpSpPr bwMode="auto">
            <a:xfrm>
              <a:off x="4949" y="336"/>
              <a:ext cx="591" cy="468"/>
              <a:chOff x="2185" y="310"/>
              <a:chExt cx="873" cy="692"/>
            </a:xfrm>
          </p:grpSpPr>
          <p:sp>
            <p:nvSpPr>
              <p:cNvPr id="18644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4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643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440" name="Text Box 21"/>
            <p:cNvSpPr txBox="1">
              <a:spLocks noChangeArrowheads="1"/>
            </p:cNvSpPr>
            <p:nvPr/>
          </p:nvSpPr>
          <p:spPr bwMode="auto">
            <a:xfrm>
              <a:off x="5066" y="314"/>
              <a:ext cx="35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9</a:t>
              </a:r>
              <a:endParaRPr lang="fr-FR" altLang="fr-FR" sz="3200">
                <a:solidFill>
                  <a:schemeClr val="tx1"/>
                </a:solidFill>
                <a:latin typeface="Arial Black" pitchFamily="34" charset="0"/>
              </a:endParaRPr>
            </a:p>
          </p:txBody>
        </p:sp>
      </p:grpSp>
      <p:sp>
        <p:nvSpPr>
          <p:cNvPr id="186372" name="Text Box 22"/>
          <p:cNvSpPr txBox="1">
            <a:spLocks noChangeArrowheads="1"/>
          </p:cNvSpPr>
          <p:nvPr/>
        </p:nvSpPr>
        <p:spPr bwMode="auto">
          <a:xfrm>
            <a:off x="1798638" y="36226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186373" name="Rectangle 25"/>
          <p:cNvSpPr>
            <a:spLocks noGrp="1" noChangeArrowheads="1"/>
          </p:cNvSpPr>
          <p:nvPr>
            <p:ph type="title"/>
          </p:nvPr>
        </p:nvSpPr>
        <p:spPr>
          <a:xfrm>
            <a:off x="1525588" y="0"/>
            <a:ext cx="5553075" cy="647700"/>
          </a:xfrm>
        </p:spPr>
        <p:txBody>
          <a:bodyPr/>
          <a:lstStyle/>
          <a:p>
            <a:pPr eaLnBrk="1" hangingPunct="1"/>
            <a:r>
              <a:rPr lang="fr-FR" altLang="fr-FR"/>
              <a:t>Sem. 4 - Mardi </a:t>
            </a:r>
            <a:r>
              <a:rPr lang="fr-FR" altLang="fr-FR" sz="1800"/>
              <a:t>(St Jacques de la Manche)</a:t>
            </a:r>
          </a:p>
        </p:txBody>
      </p:sp>
      <p:sp>
        <p:nvSpPr>
          <p:cNvPr id="186374" name="Text Box 26"/>
          <p:cNvSpPr txBox="1">
            <a:spLocks noChangeArrowheads="1"/>
          </p:cNvSpPr>
          <p:nvPr/>
        </p:nvSpPr>
        <p:spPr bwMode="auto">
          <a:xfrm>
            <a:off x="574675" y="1868488"/>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6375"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6376" name="Text Box 28"/>
          <p:cNvSpPr txBox="1">
            <a:spLocks noChangeArrowheads="1"/>
          </p:cNvSpPr>
          <p:nvPr/>
        </p:nvSpPr>
        <p:spPr bwMode="auto">
          <a:xfrm>
            <a:off x="579438" y="444976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6377" name="Group 29"/>
          <p:cNvGrpSpPr>
            <a:grpSpLocks/>
          </p:cNvGrpSpPr>
          <p:nvPr/>
        </p:nvGrpSpPr>
        <p:grpSpPr bwMode="auto">
          <a:xfrm>
            <a:off x="2843213" y="1106488"/>
            <a:ext cx="446087" cy="534987"/>
            <a:chOff x="868" y="1439"/>
            <a:chExt cx="811" cy="972"/>
          </a:xfrm>
        </p:grpSpPr>
        <p:sp>
          <p:nvSpPr>
            <p:cNvPr id="186386"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87"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88"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89"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0"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1"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2"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3"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4"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5"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6"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7"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8"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399"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0"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1"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2"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3"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4"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5"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6"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7"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8"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09"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0"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1"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2"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3"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4"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5"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6"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7"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8"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19"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0"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1"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2"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3"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4"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5"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6"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7"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8"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29"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0"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1"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2"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3"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4"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5"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6436"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6378" name="Group 81"/>
          <p:cNvGrpSpPr>
            <a:grpSpLocks/>
          </p:cNvGrpSpPr>
          <p:nvPr/>
        </p:nvGrpSpPr>
        <p:grpSpPr bwMode="auto">
          <a:xfrm rot="-223274">
            <a:off x="1851025" y="2765425"/>
            <a:ext cx="744538" cy="733425"/>
            <a:chOff x="2757" y="1666"/>
            <a:chExt cx="812" cy="800"/>
          </a:xfrm>
        </p:grpSpPr>
        <p:sp>
          <p:nvSpPr>
            <p:cNvPr id="186380"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6381"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6382"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6383"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6384"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6385"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6379" name="Text Box 138"/>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7395" name="Group 3"/>
          <p:cNvGrpSpPr>
            <a:grpSpLocks/>
          </p:cNvGrpSpPr>
          <p:nvPr/>
        </p:nvGrpSpPr>
        <p:grpSpPr bwMode="auto">
          <a:xfrm>
            <a:off x="7073900" y="215900"/>
            <a:ext cx="1878013" cy="1250950"/>
            <a:chOff x="4456" y="136"/>
            <a:chExt cx="1183" cy="788"/>
          </a:xfrm>
        </p:grpSpPr>
        <p:grpSp>
          <p:nvGrpSpPr>
            <p:cNvPr id="187461" name="Group 4"/>
            <p:cNvGrpSpPr>
              <a:grpSpLocks/>
            </p:cNvGrpSpPr>
            <p:nvPr/>
          </p:nvGrpSpPr>
          <p:grpSpPr bwMode="auto">
            <a:xfrm>
              <a:off x="4766" y="232"/>
              <a:ext cx="873" cy="692"/>
              <a:chOff x="2185" y="310"/>
              <a:chExt cx="873" cy="692"/>
            </a:xfrm>
          </p:grpSpPr>
          <p:sp>
            <p:nvSpPr>
              <p:cNvPr id="18747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7462" name="Group 12"/>
            <p:cNvGrpSpPr>
              <a:grpSpLocks/>
            </p:cNvGrpSpPr>
            <p:nvPr/>
          </p:nvGrpSpPr>
          <p:grpSpPr bwMode="auto">
            <a:xfrm>
              <a:off x="4949" y="336"/>
              <a:ext cx="591" cy="468"/>
              <a:chOff x="2185" y="310"/>
              <a:chExt cx="873" cy="692"/>
            </a:xfrm>
          </p:grpSpPr>
          <p:sp>
            <p:nvSpPr>
              <p:cNvPr id="18746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7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746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46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10</a:t>
              </a:r>
              <a:endParaRPr lang="fr-FR" altLang="fr-FR" sz="3200">
                <a:solidFill>
                  <a:schemeClr val="tx1"/>
                </a:solidFill>
                <a:latin typeface="Arial Black" pitchFamily="34" charset="0"/>
              </a:endParaRPr>
            </a:p>
          </p:txBody>
        </p:sp>
      </p:grpSp>
      <p:sp>
        <p:nvSpPr>
          <p:cNvPr id="187396" name="Text Box 22"/>
          <p:cNvSpPr txBox="1">
            <a:spLocks noChangeArrowheads="1"/>
          </p:cNvSpPr>
          <p:nvPr/>
        </p:nvSpPr>
        <p:spPr bwMode="auto">
          <a:xfrm>
            <a:off x="1874838" y="356076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87397"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87398" name="Text Box 24"/>
          <p:cNvSpPr txBox="1">
            <a:spLocks noChangeArrowheads="1"/>
          </p:cNvSpPr>
          <p:nvPr/>
        </p:nvSpPr>
        <p:spPr bwMode="auto">
          <a:xfrm>
            <a:off x="549275" y="2022475"/>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739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740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7401" name="Group 27"/>
          <p:cNvGrpSpPr>
            <a:grpSpLocks/>
          </p:cNvGrpSpPr>
          <p:nvPr/>
        </p:nvGrpSpPr>
        <p:grpSpPr bwMode="auto">
          <a:xfrm>
            <a:off x="2843213" y="1106488"/>
            <a:ext cx="446087" cy="534987"/>
            <a:chOff x="868" y="1439"/>
            <a:chExt cx="811" cy="972"/>
          </a:xfrm>
        </p:grpSpPr>
        <p:sp>
          <p:nvSpPr>
            <p:cNvPr id="18741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1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2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3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4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5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746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7402" name="Group 79"/>
          <p:cNvGrpSpPr>
            <a:grpSpLocks/>
          </p:cNvGrpSpPr>
          <p:nvPr/>
        </p:nvGrpSpPr>
        <p:grpSpPr bwMode="auto">
          <a:xfrm rot="-223274">
            <a:off x="1931988" y="2795588"/>
            <a:ext cx="744537" cy="733425"/>
            <a:chOff x="2757" y="1666"/>
            <a:chExt cx="812" cy="800"/>
          </a:xfrm>
        </p:grpSpPr>
        <p:sp>
          <p:nvSpPr>
            <p:cNvPr id="18740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740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740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740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740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740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7403"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8419" name="Group 3"/>
          <p:cNvGrpSpPr>
            <a:grpSpLocks/>
          </p:cNvGrpSpPr>
          <p:nvPr/>
        </p:nvGrpSpPr>
        <p:grpSpPr bwMode="auto">
          <a:xfrm>
            <a:off x="7073900" y="215900"/>
            <a:ext cx="1878013" cy="1250950"/>
            <a:chOff x="4456" y="136"/>
            <a:chExt cx="1183" cy="788"/>
          </a:xfrm>
        </p:grpSpPr>
        <p:grpSp>
          <p:nvGrpSpPr>
            <p:cNvPr id="188485" name="Group 4"/>
            <p:cNvGrpSpPr>
              <a:grpSpLocks/>
            </p:cNvGrpSpPr>
            <p:nvPr/>
          </p:nvGrpSpPr>
          <p:grpSpPr bwMode="auto">
            <a:xfrm>
              <a:off x="4766" y="232"/>
              <a:ext cx="873" cy="692"/>
              <a:chOff x="2185" y="310"/>
              <a:chExt cx="873" cy="692"/>
            </a:xfrm>
          </p:grpSpPr>
          <p:sp>
            <p:nvSpPr>
              <p:cNvPr id="18849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50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50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50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8486" name="Group 12"/>
            <p:cNvGrpSpPr>
              <a:grpSpLocks/>
            </p:cNvGrpSpPr>
            <p:nvPr/>
          </p:nvGrpSpPr>
          <p:grpSpPr bwMode="auto">
            <a:xfrm>
              <a:off x="4949" y="336"/>
              <a:ext cx="591" cy="468"/>
              <a:chOff x="2185" y="310"/>
              <a:chExt cx="873" cy="692"/>
            </a:xfrm>
          </p:grpSpPr>
          <p:sp>
            <p:nvSpPr>
              <p:cNvPr id="18848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9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848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88"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11</a:t>
              </a:r>
              <a:endParaRPr lang="fr-FR" altLang="fr-FR" sz="3200">
                <a:solidFill>
                  <a:schemeClr val="tx1"/>
                </a:solidFill>
                <a:latin typeface="Arial Black" pitchFamily="34" charset="0"/>
              </a:endParaRPr>
            </a:p>
          </p:txBody>
        </p:sp>
      </p:grpSp>
      <p:sp>
        <p:nvSpPr>
          <p:cNvPr id="188420"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188421"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88422"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8423"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8424"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8425" name="Group 27"/>
          <p:cNvGrpSpPr>
            <a:grpSpLocks/>
          </p:cNvGrpSpPr>
          <p:nvPr/>
        </p:nvGrpSpPr>
        <p:grpSpPr bwMode="auto">
          <a:xfrm>
            <a:off x="2843213" y="1106488"/>
            <a:ext cx="446087" cy="534987"/>
            <a:chOff x="868" y="1439"/>
            <a:chExt cx="811" cy="972"/>
          </a:xfrm>
        </p:grpSpPr>
        <p:sp>
          <p:nvSpPr>
            <p:cNvPr id="18843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3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4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5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6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7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848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8426" name="Group 79"/>
          <p:cNvGrpSpPr>
            <a:grpSpLocks/>
          </p:cNvGrpSpPr>
          <p:nvPr/>
        </p:nvGrpSpPr>
        <p:grpSpPr bwMode="auto">
          <a:xfrm rot="-223274">
            <a:off x="1995488" y="2768600"/>
            <a:ext cx="744537" cy="733425"/>
            <a:chOff x="2757" y="1666"/>
            <a:chExt cx="812" cy="800"/>
          </a:xfrm>
        </p:grpSpPr>
        <p:sp>
          <p:nvSpPr>
            <p:cNvPr id="18842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842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843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843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843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843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8427"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9443" name="Group 3"/>
          <p:cNvGrpSpPr>
            <a:grpSpLocks/>
          </p:cNvGrpSpPr>
          <p:nvPr/>
        </p:nvGrpSpPr>
        <p:grpSpPr bwMode="auto">
          <a:xfrm>
            <a:off x="7073900" y="215900"/>
            <a:ext cx="1878013" cy="1250950"/>
            <a:chOff x="4456" y="136"/>
            <a:chExt cx="1183" cy="788"/>
          </a:xfrm>
        </p:grpSpPr>
        <p:grpSp>
          <p:nvGrpSpPr>
            <p:cNvPr id="189509" name="Group 4"/>
            <p:cNvGrpSpPr>
              <a:grpSpLocks/>
            </p:cNvGrpSpPr>
            <p:nvPr/>
          </p:nvGrpSpPr>
          <p:grpSpPr bwMode="auto">
            <a:xfrm>
              <a:off x="4766" y="232"/>
              <a:ext cx="873" cy="692"/>
              <a:chOff x="2185" y="310"/>
              <a:chExt cx="873" cy="692"/>
            </a:xfrm>
          </p:grpSpPr>
          <p:sp>
            <p:nvSpPr>
              <p:cNvPr id="18952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2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9510" name="Group 12"/>
            <p:cNvGrpSpPr>
              <a:grpSpLocks/>
            </p:cNvGrpSpPr>
            <p:nvPr/>
          </p:nvGrpSpPr>
          <p:grpSpPr bwMode="auto">
            <a:xfrm>
              <a:off x="4949" y="336"/>
              <a:ext cx="591" cy="468"/>
              <a:chOff x="2185" y="310"/>
              <a:chExt cx="873" cy="692"/>
            </a:xfrm>
          </p:grpSpPr>
          <p:sp>
            <p:nvSpPr>
              <p:cNvPr id="18951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1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8951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512"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12</a:t>
              </a:r>
              <a:endParaRPr lang="fr-FR" altLang="fr-FR" sz="3200">
                <a:solidFill>
                  <a:schemeClr val="tx1"/>
                </a:solidFill>
                <a:latin typeface="Arial Black" pitchFamily="34" charset="0"/>
              </a:endParaRPr>
            </a:p>
          </p:txBody>
        </p:sp>
      </p:grpSp>
      <p:sp>
        <p:nvSpPr>
          <p:cNvPr id="189444"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89445"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8944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8944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8944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89449" name="Group 27"/>
          <p:cNvGrpSpPr>
            <a:grpSpLocks/>
          </p:cNvGrpSpPr>
          <p:nvPr/>
        </p:nvGrpSpPr>
        <p:grpSpPr bwMode="auto">
          <a:xfrm>
            <a:off x="2843213" y="1106488"/>
            <a:ext cx="446087" cy="534987"/>
            <a:chOff x="868" y="1439"/>
            <a:chExt cx="811" cy="972"/>
          </a:xfrm>
        </p:grpSpPr>
        <p:sp>
          <p:nvSpPr>
            <p:cNvPr id="189458"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59"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0"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1"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2"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3"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4"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5"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6"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7"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8"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69"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0"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1"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2"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3"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4"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5"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6"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7"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8"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79"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0"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1"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2"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3"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4"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5"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6"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7"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8"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89"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0"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1"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2"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3"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4"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5"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6"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7"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8"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499"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0"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1"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2"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3"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4"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5"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6"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7"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89508"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89450" name="Group 79"/>
          <p:cNvGrpSpPr>
            <a:grpSpLocks/>
          </p:cNvGrpSpPr>
          <p:nvPr/>
        </p:nvGrpSpPr>
        <p:grpSpPr bwMode="auto">
          <a:xfrm rot="-223274">
            <a:off x="1995488" y="2768600"/>
            <a:ext cx="744537" cy="733425"/>
            <a:chOff x="2757" y="1666"/>
            <a:chExt cx="812" cy="800"/>
          </a:xfrm>
        </p:grpSpPr>
        <p:sp>
          <p:nvSpPr>
            <p:cNvPr id="189452"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9453"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89454"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89455"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89456"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89457"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89451"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0467" name="Group 3"/>
          <p:cNvGrpSpPr>
            <a:grpSpLocks/>
          </p:cNvGrpSpPr>
          <p:nvPr/>
        </p:nvGrpSpPr>
        <p:grpSpPr bwMode="auto">
          <a:xfrm>
            <a:off x="7073900" y="215900"/>
            <a:ext cx="1878013" cy="1250950"/>
            <a:chOff x="4456" y="136"/>
            <a:chExt cx="1183" cy="788"/>
          </a:xfrm>
        </p:grpSpPr>
        <p:grpSp>
          <p:nvGrpSpPr>
            <p:cNvPr id="190533" name="Group 4"/>
            <p:cNvGrpSpPr>
              <a:grpSpLocks/>
            </p:cNvGrpSpPr>
            <p:nvPr/>
          </p:nvGrpSpPr>
          <p:grpSpPr bwMode="auto">
            <a:xfrm>
              <a:off x="4766" y="232"/>
              <a:ext cx="873" cy="692"/>
              <a:chOff x="2185" y="310"/>
              <a:chExt cx="873" cy="692"/>
            </a:xfrm>
          </p:grpSpPr>
          <p:sp>
            <p:nvSpPr>
              <p:cNvPr id="19054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5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0534" name="Group 12"/>
            <p:cNvGrpSpPr>
              <a:grpSpLocks/>
            </p:cNvGrpSpPr>
            <p:nvPr/>
          </p:nvGrpSpPr>
          <p:grpSpPr bwMode="auto">
            <a:xfrm>
              <a:off x="4949" y="336"/>
              <a:ext cx="591" cy="468"/>
              <a:chOff x="2185" y="310"/>
              <a:chExt cx="873" cy="692"/>
            </a:xfrm>
          </p:grpSpPr>
          <p:sp>
            <p:nvSpPr>
              <p:cNvPr id="19053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4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053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53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13</a:t>
              </a:r>
              <a:endParaRPr lang="fr-FR" altLang="fr-FR" sz="3200">
                <a:solidFill>
                  <a:schemeClr val="tx1"/>
                </a:solidFill>
                <a:latin typeface="Arial Black" pitchFamily="34" charset="0"/>
              </a:endParaRPr>
            </a:p>
          </p:txBody>
        </p:sp>
      </p:grpSp>
      <p:sp>
        <p:nvSpPr>
          <p:cNvPr id="190468"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190469"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90470"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0471"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0472"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0473" name="Group 27"/>
          <p:cNvGrpSpPr>
            <a:grpSpLocks/>
          </p:cNvGrpSpPr>
          <p:nvPr/>
        </p:nvGrpSpPr>
        <p:grpSpPr bwMode="auto">
          <a:xfrm>
            <a:off x="2843213" y="1106488"/>
            <a:ext cx="446087" cy="534987"/>
            <a:chOff x="868" y="1439"/>
            <a:chExt cx="811" cy="972"/>
          </a:xfrm>
        </p:grpSpPr>
        <p:sp>
          <p:nvSpPr>
            <p:cNvPr id="190482"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3"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4"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5"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6"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7"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8"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89"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0"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1"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2"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3"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4"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5"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6"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7"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8"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499"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0"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1"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2"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3"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4"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5"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6"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7"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8"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09"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0"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1"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2"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3"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4"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5"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6"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7"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8"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19"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0"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1"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2"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3"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4"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5"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6"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7"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8"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29"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0"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1"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0532"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0474" name="Group 79"/>
          <p:cNvGrpSpPr>
            <a:grpSpLocks/>
          </p:cNvGrpSpPr>
          <p:nvPr/>
        </p:nvGrpSpPr>
        <p:grpSpPr bwMode="auto">
          <a:xfrm rot="-223274">
            <a:off x="1995488" y="2768600"/>
            <a:ext cx="744537" cy="733425"/>
            <a:chOff x="2757" y="1666"/>
            <a:chExt cx="812" cy="800"/>
          </a:xfrm>
        </p:grpSpPr>
        <p:sp>
          <p:nvSpPr>
            <p:cNvPr id="190476"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0477"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0478"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0479"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0480"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0481"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0475"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1491" name="Group 3"/>
          <p:cNvGrpSpPr>
            <a:grpSpLocks/>
          </p:cNvGrpSpPr>
          <p:nvPr/>
        </p:nvGrpSpPr>
        <p:grpSpPr bwMode="auto">
          <a:xfrm>
            <a:off x="7073900" y="215900"/>
            <a:ext cx="1878013" cy="1250950"/>
            <a:chOff x="4456" y="136"/>
            <a:chExt cx="1183" cy="788"/>
          </a:xfrm>
        </p:grpSpPr>
        <p:grpSp>
          <p:nvGrpSpPr>
            <p:cNvPr id="191557" name="Group 4"/>
            <p:cNvGrpSpPr>
              <a:grpSpLocks/>
            </p:cNvGrpSpPr>
            <p:nvPr/>
          </p:nvGrpSpPr>
          <p:grpSpPr bwMode="auto">
            <a:xfrm>
              <a:off x="4766" y="232"/>
              <a:ext cx="873" cy="692"/>
              <a:chOff x="2185" y="310"/>
              <a:chExt cx="873" cy="692"/>
            </a:xfrm>
          </p:grpSpPr>
          <p:sp>
            <p:nvSpPr>
              <p:cNvPr id="19156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7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1558" name="Group 12"/>
            <p:cNvGrpSpPr>
              <a:grpSpLocks/>
            </p:cNvGrpSpPr>
            <p:nvPr/>
          </p:nvGrpSpPr>
          <p:grpSpPr bwMode="auto">
            <a:xfrm>
              <a:off x="4949" y="336"/>
              <a:ext cx="591" cy="468"/>
              <a:chOff x="2185" y="310"/>
              <a:chExt cx="873" cy="692"/>
            </a:xfrm>
          </p:grpSpPr>
          <p:sp>
            <p:nvSpPr>
              <p:cNvPr id="19156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6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155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1560"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14</a:t>
              </a:r>
              <a:endParaRPr lang="fr-FR" altLang="fr-FR" sz="3200">
                <a:solidFill>
                  <a:schemeClr val="tx1"/>
                </a:solidFill>
                <a:latin typeface="Arial Black" pitchFamily="34" charset="0"/>
              </a:endParaRPr>
            </a:p>
          </p:txBody>
        </p:sp>
      </p:grpSp>
      <p:sp>
        <p:nvSpPr>
          <p:cNvPr id="191492"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91493"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91494"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1495"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1496"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1497" name="Group 27"/>
          <p:cNvGrpSpPr>
            <a:grpSpLocks/>
          </p:cNvGrpSpPr>
          <p:nvPr/>
        </p:nvGrpSpPr>
        <p:grpSpPr bwMode="auto">
          <a:xfrm>
            <a:off x="2843213" y="1106488"/>
            <a:ext cx="446087" cy="534987"/>
            <a:chOff x="868" y="1439"/>
            <a:chExt cx="811" cy="972"/>
          </a:xfrm>
        </p:grpSpPr>
        <p:sp>
          <p:nvSpPr>
            <p:cNvPr id="19150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0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0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0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1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2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3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4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155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1498" name="Group 79"/>
          <p:cNvGrpSpPr>
            <a:grpSpLocks/>
          </p:cNvGrpSpPr>
          <p:nvPr/>
        </p:nvGrpSpPr>
        <p:grpSpPr bwMode="auto">
          <a:xfrm rot="-223274">
            <a:off x="1995488" y="2768600"/>
            <a:ext cx="744537" cy="733425"/>
            <a:chOff x="2757" y="1666"/>
            <a:chExt cx="812" cy="800"/>
          </a:xfrm>
        </p:grpSpPr>
        <p:sp>
          <p:nvSpPr>
            <p:cNvPr id="19150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150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150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150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150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150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1499"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2515" name="Group 3"/>
          <p:cNvGrpSpPr>
            <a:grpSpLocks/>
          </p:cNvGrpSpPr>
          <p:nvPr/>
        </p:nvGrpSpPr>
        <p:grpSpPr bwMode="auto">
          <a:xfrm>
            <a:off x="7073900" y="215900"/>
            <a:ext cx="1878013" cy="1250950"/>
            <a:chOff x="4456" y="136"/>
            <a:chExt cx="1183" cy="788"/>
          </a:xfrm>
        </p:grpSpPr>
        <p:grpSp>
          <p:nvGrpSpPr>
            <p:cNvPr id="192581" name="Group 4"/>
            <p:cNvGrpSpPr>
              <a:grpSpLocks/>
            </p:cNvGrpSpPr>
            <p:nvPr/>
          </p:nvGrpSpPr>
          <p:grpSpPr bwMode="auto">
            <a:xfrm>
              <a:off x="4766" y="232"/>
              <a:ext cx="873" cy="692"/>
              <a:chOff x="2185" y="310"/>
              <a:chExt cx="873" cy="692"/>
            </a:xfrm>
          </p:grpSpPr>
          <p:sp>
            <p:nvSpPr>
              <p:cNvPr id="19259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2582" name="Group 12"/>
            <p:cNvGrpSpPr>
              <a:grpSpLocks/>
            </p:cNvGrpSpPr>
            <p:nvPr/>
          </p:nvGrpSpPr>
          <p:grpSpPr bwMode="auto">
            <a:xfrm>
              <a:off x="4949" y="336"/>
              <a:ext cx="591" cy="468"/>
              <a:chOff x="2185" y="310"/>
              <a:chExt cx="873" cy="692"/>
            </a:xfrm>
          </p:grpSpPr>
          <p:sp>
            <p:nvSpPr>
              <p:cNvPr id="19258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9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258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8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15</a:t>
              </a:r>
              <a:endParaRPr lang="fr-FR" altLang="fr-FR" sz="3200">
                <a:solidFill>
                  <a:schemeClr val="tx1"/>
                </a:solidFill>
                <a:latin typeface="Arial Black" pitchFamily="34" charset="0"/>
              </a:endParaRPr>
            </a:p>
          </p:txBody>
        </p:sp>
      </p:grpSp>
      <p:sp>
        <p:nvSpPr>
          <p:cNvPr id="192516" name="Text Box 22"/>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R2</a:t>
            </a:r>
          </a:p>
        </p:txBody>
      </p:sp>
      <p:sp>
        <p:nvSpPr>
          <p:cNvPr id="192517" name="Rectangle 23"/>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9251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251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252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2521" name="Group 27"/>
          <p:cNvGrpSpPr>
            <a:grpSpLocks/>
          </p:cNvGrpSpPr>
          <p:nvPr/>
        </p:nvGrpSpPr>
        <p:grpSpPr bwMode="auto">
          <a:xfrm>
            <a:off x="2843213" y="1106488"/>
            <a:ext cx="446087" cy="534987"/>
            <a:chOff x="868" y="1439"/>
            <a:chExt cx="811" cy="972"/>
          </a:xfrm>
        </p:grpSpPr>
        <p:sp>
          <p:nvSpPr>
            <p:cNvPr id="19253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3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4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5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6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7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258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2522" name="Group 79"/>
          <p:cNvGrpSpPr>
            <a:grpSpLocks/>
          </p:cNvGrpSpPr>
          <p:nvPr/>
        </p:nvGrpSpPr>
        <p:grpSpPr bwMode="auto">
          <a:xfrm rot="-223274">
            <a:off x="1995488" y="2768600"/>
            <a:ext cx="744537" cy="733425"/>
            <a:chOff x="2757" y="1666"/>
            <a:chExt cx="812" cy="800"/>
          </a:xfrm>
        </p:grpSpPr>
        <p:sp>
          <p:nvSpPr>
            <p:cNvPr id="19252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252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252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252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252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252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2523" name="Text Box 86"/>
          <p:cNvSpPr txBox="1">
            <a:spLocks noChangeArrowheads="1"/>
          </p:cNvSpPr>
          <p:nvPr/>
        </p:nvSpPr>
        <p:spPr bwMode="auto">
          <a:xfrm>
            <a:off x="6048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Rectangle 2"/>
          <p:cNvSpPr>
            <a:spLocks noGrp="1" noChangeArrowheads="1"/>
          </p:cNvSpPr>
          <p:nvPr>
            <p:ph type="title"/>
          </p:nvPr>
        </p:nvSpPr>
        <p:spPr/>
        <p:txBody>
          <a:bodyPr/>
          <a:lstStyle/>
          <a:p>
            <a:pPr eaLnBrk="1" hangingPunct="1"/>
            <a:r>
              <a:rPr lang="fr-FR" altLang="fr-FR"/>
              <a:t>Question</a:t>
            </a:r>
          </a:p>
        </p:txBody>
      </p:sp>
      <p:sp>
        <p:nvSpPr>
          <p:cNvPr id="193539" name="Rectangle 3"/>
          <p:cNvSpPr>
            <a:spLocks noGrp="1" noChangeArrowheads="1"/>
          </p:cNvSpPr>
          <p:nvPr>
            <p:ph type="body" idx="1"/>
          </p:nvPr>
        </p:nvSpPr>
        <p:spPr>
          <a:xfrm>
            <a:off x="457200" y="1831975"/>
            <a:ext cx="8229600" cy="4375150"/>
          </a:xfrm>
        </p:spPr>
        <p:txBody>
          <a:bodyPr/>
          <a:lstStyle/>
          <a:p>
            <a:pPr eaLnBrk="1" hangingPunct="1">
              <a:buFontTx/>
              <a:buNone/>
            </a:pPr>
            <a:r>
              <a:rPr lang="fr-FR" altLang="fr-FR" u="sng"/>
              <a:t>Origine</a:t>
            </a:r>
            <a:r>
              <a:rPr lang="fr-FR" altLang="fr-FR"/>
              <a:t> : Directeur Générale</a:t>
            </a:r>
          </a:p>
          <a:p>
            <a:pPr eaLnBrk="1" hangingPunct="1">
              <a:buFontTx/>
              <a:buNone/>
            </a:pPr>
            <a:r>
              <a:rPr lang="fr-FR" altLang="fr-FR" u="sng"/>
              <a:t>Destinataire</a:t>
            </a:r>
            <a:r>
              <a:rPr lang="fr-FR" altLang="fr-FR"/>
              <a:t> : Directeur Financier</a:t>
            </a:r>
          </a:p>
          <a:p>
            <a:pPr eaLnBrk="1" hangingPunct="1">
              <a:buFontTx/>
              <a:buNone/>
            </a:pPr>
            <a:endParaRPr lang="fr-FR" altLang="fr-FR"/>
          </a:p>
          <a:p>
            <a:pPr eaLnBrk="1" hangingPunct="1"/>
            <a:r>
              <a:rPr lang="fr-FR" altLang="fr-FR"/>
              <a:t>J'apprends par hasard que nous mettons en vente des containers d'occasion. </a:t>
            </a:r>
          </a:p>
          <a:p>
            <a:pPr eaLnBrk="1" hangingPunct="1"/>
            <a:r>
              <a:rPr lang="fr-FR" altLang="fr-FR"/>
              <a:t>Comment est-ce possible, alors qu'il y a peu de temps j’ai dû m'opposer personnellement à l'achat de 60 containers que la Production estimait indispensable à sa survie ? </a:t>
            </a:r>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4563" name="Group 3"/>
          <p:cNvGrpSpPr>
            <a:grpSpLocks/>
          </p:cNvGrpSpPr>
          <p:nvPr/>
        </p:nvGrpSpPr>
        <p:grpSpPr bwMode="auto">
          <a:xfrm>
            <a:off x="7073900" y="215900"/>
            <a:ext cx="1878013" cy="1250950"/>
            <a:chOff x="4456" y="136"/>
            <a:chExt cx="1183" cy="788"/>
          </a:xfrm>
        </p:grpSpPr>
        <p:grpSp>
          <p:nvGrpSpPr>
            <p:cNvPr id="194629" name="Group 4"/>
            <p:cNvGrpSpPr>
              <a:grpSpLocks/>
            </p:cNvGrpSpPr>
            <p:nvPr/>
          </p:nvGrpSpPr>
          <p:grpSpPr bwMode="auto">
            <a:xfrm>
              <a:off x="4766" y="232"/>
              <a:ext cx="873" cy="692"/>
              <a:chOff x="2185" y="310"/>
              <a:chExt cx="873" cy="692"/>
            </a:xfrm>
          </p:grpSpPr>
          <p:sp>
            <p:nvSpPr>
              <p:cNvPr id="19464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4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4630" name="Group 12"/>
            <p:cNvGrpSpPr>
              <a:grpSpLocks/>
            </p:cNvGrpSpPr>
            <p:nvPr/>
          </p:nvGrpSpPr>
          <p:grpSpPr bwMode="auto">
            <a:xfrm>
              <a:off x="4949" y="336"/>
              <a:ext cx="591" cy="468"/>
              <a:chOff x="2185" y="310"/>
              <a:chExt cx="873" cy="692"/>
            </a:xfrm>
          </p:grpSpPr>
          <p:sp>
            <p:nvSpPr>
              <p:cNvPr id="19463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3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463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632"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16</a:t>
              </a:r>
              <a:endParaRPr lang="fr-FR" altLang="fr-FR" sz="3200">
                <a:solidFill>
                  <a:schemeClr val="tx1"/>
                </a:solidFill>
                <a:latin typeface="Arial Black" pitchFamily="34" charset="0"/>
              </a:endParaRPr>
            </a:p>
          </p:txBody>
        </p:sp>
      </p:grpSp>
      <p:sp>
        <p:nvSpPr>
          <p:cNvPr id="194564" name="Rectangle 22"/>
          <p:cNvSpPr>
            <a:spLocks noGrp="1" noChangeArrowheads="1"/>
          </p:cNvSpPr>
          <p:nvPr>
            <p:ph type="title"/>
          </p:nvPr>
        </p:nvSpPr>
        <p:spPr>
          <a:xfrm>
            <a:off x="611188" y="0"/>
            <a:ext cx="6388100" cy="647700"/>
          </a:xfrm>
        </p:spPr>
        <p:txBody>
          <a:bodyPr/>
          <a:lstStyle/>
          <a:p>
            <a:pPr eaLnBrk="1" hangingPunct="1"/>
            <a:r>
              <a:rPr lang="fr-FR" altLang="fr-FR"/>
              <a:t>Sem. 4 - Mardi</a:t>
            </a:r>
          </a:p>
        </p:txBody>
      </p:sp>
      <p:sp>
        <p:nvSpPr>
          <p:cNvPr id="194565" name="Text Box 23"/>
          <p:cNvSpPr txBox="1">
            <a:spLocks noChangeArrowheads="1"/>
          </p:cNvSpPr>
          <p:nvPr/>
        </p:nvSpPr>
        <p:spPr bwMode="auto">
          <a:xfrm>
            <a:off x="571500" y="2030413"/>
            <a:ext cx="3217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194566" name="Text Box 24"/>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4567" name="Text Box 25"/>
          <p:cNvSpPr txBox="1">
            <a:spLocks noChangeArrowheads="1"/>
          </p:cNvSpPr>
          <p:nvPr/>
        </p:nvSpPr>
        <p:spPr bwMode="auto">
          <a:xfrm>
            <a:off x="5667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4568" name="Group 26"/>
          <p:cNvGrpSpPr>
            <a:grpSpLocks/>
          </p:cNvGrpSpPr>
          <p:nvPr/>
        </p:nvGrpSpPr>
        <p:grpSpPr bwMode="auto">
          <a:xfrm>
            <a:off x="2843213" y="1106488"/>
            <a:ext cx="446087" cy="534987"/>
            <a:chOff x="868" y="1439"/>
            <a:chExt cx="811" cy="972"/>
          </a:xfrm>
        </p:grpSpPr>
        <p:sp>
          <p:nvSpPr>
            <p:cNvPr id="194578" name="Freeform 27"/>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79" name="Freeform 28"/>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0" name="Freeform 29"/>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1" name="Freeform 30"/>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2" name="Freeform 31"/>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3" name="Freeform 32"/>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4" name="Freeform 33"/>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5" name="Freeform 34"/>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6" name="Freeform 35"/>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7" name="Freeform 36"/>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8" name="Freeform 37"/>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89" name="Freeform 38"/>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0" name="Freeform 39"/>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1" name="Freeform 40"/>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2" name="Freeform 41"/>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3" name="Freeform 42"/>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4" name="Freeform 43"/>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5" name="Freeform 44"/>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6" name="Freeform 45"/>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7" name="Freeform 46"/>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8" name="Freeform 47"/>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599" name="Freeform 48"/>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0" name="Freeform 49"/>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1" name="Freeform 50"/>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2" name="Freeform 51"/>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3" name="Freeform 52"/>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4" name="Freeform 53"/>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5" name="Freeform 54"/>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6" name="Freeform 55"/>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7" name="Freeform 56"/>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8" name="Freeform 57"/>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09" name="Freeform 58"/>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0" name="Freeform 59"/>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1" name="Freeform 60"/>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2" name="Freeform 61"/>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3" name="Freeform 62"/>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4" name="Freeform 63"/>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5" name="Freeform 64"/>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6" name="Freeform 65"/>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7" name="Freeform 66"/>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8" name="Freeform 67"/>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19" name="Freeform 68"/>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0" name="Freeform 69"/>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1" name="Freeform 70"/>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2" name="Freeform 71"/>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3" name="Freeform 72"/>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4" name="Freeform 73"/>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5" name="Freeform 74"/>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6" name="Freeform 75"/>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7" name="Freeform 76"/>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4628" name="Freeform 77"/>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94569" name="Text Box 78"/>
          <p:cNvSpPr txBox="1">
            <a:spLocks noChangeArrowheads="1"/>
          </p:cNvSpPr>
          <p:nvPr/>
        </p:nvSpPr>
        <p:spPr bwMode="auto">
          <a:xfrm>
            <a:off x="566738" y="5259388"/>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94570" name="Text Box 80"/>
          <p:cNvSpPr txBox="1">
            <a:spLocks noChangeArrowheads="1"/>
          </p:cNvSpPr>
          <p:nvPr/>
        </p:nvSpPr>
        <p:spPr bwMode="auto">
          <a:xfrm>
            <a:off x="1938338" y="35337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grpSp>
        <p:nvGrpSpPr>
          <p:cNvPr id="194571" name="Group 81"/>
          <p:cNvGrpSpPr>
            <a:grpSpLocks/>
          </p:cNvGrpSpPr>
          <p:nvPr/>
        </p:nvGrpSpPr>
        <p:grpSpPr bwMode="auto">
          <a:xfrm rot="-223274">
            <a:off x="1995488" y="2768600"/>
            <a:ext cx="744537" cy="733425"/>
            <a:chOff x="2757" y="1666"/>
            <a:chExt cx="812" cy="800"/>
          </a:xfrm>
        </p:grpSpPr>
        <p:sp>
          <p:nvSpPr>
            <p:cNvPr id="194572"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4573"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4574"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4575"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4576"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4577"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Rectangle 2"/>
          <p:cNvSpPr>
            <a:spLocks noGrp="1" noChangeArrowheads="1"/>
          </p:cNvSpPr>
          <p:nvPr>
            <p:ph type="title"/>
          </p:nvPr>
        </p:nvSpPr>
        <p:spPr/>
        <p:txBody>
          <a:bodyPr/>
          <a:lstStyle/>
          <a:p>
            <a:pPr eaLnBrk="1" hangingPunct="1"/>
            <a:r>
              <a:rPr lang="fr-FR" altLang="fr-FR"/>
              <a:t>Ajustement des stocks</a:t>
            </a:r>
          </a:p>
        </p:txBody>
      </p:sp>
      <p:sp>
        <p:nvSpPr>
          <p:cNvPr id="195587" name="Rectangle 3"/>
          <p:cNvSpPr>
            <a:spLocks noGrp="1" noChangeArrowheads="1"/>
          </p:cNvSpPr>
          <p:nvPr>
            <p:ph type="body" idx="1"/>
          </p:nvPr>
        </p:nvSpPr>
        <p:spPr/>
        <p:txBody>
          <a:bodyPr/>
          <a:lstStyle/>
          <a:p>
            <a:pPr eaLnBrk="1" hangingPunct="1"/>
            <a:r>
              <a:rPr lang="fr-FR" altLang="fr-FR"/>
              <a:t>Vous pouvez réduire vos stocks pour tenir compte de vos progrès (mais il est interdit de les augmenter).</a:t>
            </a:r>
          </a:p>
          <a:p>
            <a:pPr eaLnBrk="1" hangingPunct="1"/>
            <a:r>
              <a:rPr lang="fr-FR" altLang="fr-FR"/>
              <a:t>Faîtes l’inventaire après la baisse éventuelle des stocks, et mettez à jour votre feuille Résultats.</a:t>
            </a:r>
          </a:p>
          <a:p>
            <a:pPr eaLnBrk="1" hangingPunct="1"/>
            <a:r>
              <a:rPr lang="fr-FR" altLang="fr-FR"/>
              <a:t>Vous pouvez également diminuer le nombre de tickets Kanban.</a:t>
            </a:r>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661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0538" y="1808163"/>
            <a:ext cx="8216900"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pic>
      <p:sp>
        <p:nvSpPr>
          <p:cNvPr id="196611" name="Rectangle 3"/>
          <p:cNvSpPr>
            <a:spLocks noGrp="1" noChangeArrowheads="1"/>
          </p:cNvSpPr>
          <p:nvPr>
            <p:ph type="title"/>
          </p:nvPr>
        </p:nvSpPr>
        <p:spPr/>
        <p:txBody>
          <a:bodyPr/>
          <a:lstStyle/>
          <a:p>
            <a:pPr eaLnBrk="1" hangingPunct="1"/>
            <a:r>
              <a:rPr lang="fr-FR" altLang="fr-FR"/>
              <a:t>Enregistrement des progrès</a:t>
            </a:r>
          </a:p>
        </p:txBody>
      </p:sp>
      <p:sp>
        <p:nvSpPr>
          <p:cNvPr id="196612" name="Oval 4"/>
          <p:cNvSpPr>
            <a:spLocks noChangeArrowheads="1"/>
          </p:cNvSpPr>
          <p:nvPr/>
        </p:nvSpPr>
        <p:spPr bwMode="auto">
          <a:xfrm>
            <a:off x="8145463" y="4767263"/>
            <a:ext cx="412750" cy="276225"/>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96613" name="AutoShape 5"/>
          <p:cNvSpPr>
            <a:spLocks/>
          </p:cNvSpPr>
          <p:nvPr/>
        </p:nvSpPr>
        <p:spPr bwMode="auto">
          <a:xfrm>
            <a:off x="4872038" y="5522913"/>
            <a:ext cx="2171700" cy="573087"/>
          </a:xfrm>
          <a:prstGeom prst="borderCallout2">
            <a:avLst>
              <a:gd name="adj1" fmla="val 19944"/>
              <a:gd name="adj2" fmla="val 103509"/>
              <a:gd name="adj3" fmla="val 19944"/>
              <a:gd name="adj4" fmla="val 113157"/>
              <a:gd name="adj5" fmla="val -92796"/>
              <a:gd name="adj6" fmla="val 148463"/>
            </a:avLst>
          </a:prstGeom>
          <a:solidFill>
            <a:srgbClr val="FFFF99"/>
          </a:solidFill>
          <a:ln w="6350" algn="ctr">
            <a:solidFill>
              <a:schemeClr val="tx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Le nombre de points auxquels vous avez droit</a:t>
            </a:r>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7635" name="Group 3"/>
          <p:cNvGrpSpPr>
            <a:grpSpLocks/>
          </p:cNvGrpSpPr>
          <p:nvPr/>
        </p:nvGrpSpPr>
        <p:grpSpPr bwMode="auto">
          <a:xfrm>
            <a:off x="7073900" y="215900"/>
            <a:ext cx="1878013" cy="1250950"/>
            <a:chOff x="4456" y="136"/>
            <a:chExt cx="1183" cy="788"/>
          </a:xfrm>
        </p:grpSpPr>
        <p:grpSp>
          <p:nvGrpSpPr>
            <p:cNvPr id="197703" name="Group 4"/>
            <p:cNvGrpSpPr>
              <a:grpSpLocks/>
            </p:cNvGrpSpPr>
            <p:nvPr/>
          </p:nvGrpSpPr>
          <p:grpSpPr bwMode="auto">
            <a:xfrm>
              <a:off x="4766" y="232"/>
              <a:ext cx="873" cy="692"/>
              <a:chOff x="2185" y="310"/>
              <a:chExt cx="873" cy="692"/>
            </a:xfrm>
          </p:grpSpPr>
          <p:sp>
            <p:nvSpPr>
              <p:cNvPr id="19771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2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7704" name="Group 12"/>
            <p:cNvGrpSpPr>
              <a:grpSpLocks/>
            </p:cNvGrpSpPr>
            <p:nvPr/>
          </p:nvGrpSpPr>
          <p:grpSpPr bwMode="auto">
            <a:xfrm>
              <a:off x="4949" y="336"/>
              <a:ext cx="591" cy="468"/>
              <a:chOff x="2185" y="310"/>
              <a:chExt cx="873" cy="692"/>
            </a:xfrm>
          </p:grpSpPr>
          <p:sp>
            <p:nvSpPr>
              <p:cNvPr id="19770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1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770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70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17</a:t>
              </a:r>
              <a:endParaRPr lang="fr-FR" altLang="fr-FR" sz="3200">
                <a:solidFill>
                  <a:schemeClr val="tx1"/>
                </a:solidFill>
                <a:latin typeface="Arial Black" pitchFamily="34" charset="0"/>
              </a:endParaRPr>
            </a:p>
          </p:txBody>
        </p:sp>
      </p:grpSp>
      <p:sp>
        <p:nvSpPr>
          <p:cNvPr id="197636" name="Text Box 22"/>
          <p:cNvSpPr txBox="1">
            <a:spLocks noChangeArrowheads="1"/>
          </p:cNvSpPr>
          <p:nvPr/>
        </p:nvSpPr>
        <p:spPr bwMode="auto">
          <a:xfrm>
            <a:off x="1403350"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197637" name="Oval 25"/>
          <p:cNvSpPr>
            <a:spLocks noChangeArrowheads="1"/>
          </p:cNvSpPr>
          <p:nvPr/>
        </p:nvSpPr>
        <p:spPr bwMode="auto">
          <a:xfrm rot="-5400000">
            <a:off x="3845719"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97638" name="Text Box 26"/>
          <p:cNvSpPr txBox="1">
            <a:spLocks noChangeArrowheads="1"/>
          </p:cNvSpPr>
          <p:nvPr/>
        </p:nvSpPr>
        <p:spPr bwMode="auto">
          <a:xfrm>
            <a:off x="2886075" y="3549650"/>
            <a:ext cx="22113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
        <p:nvSpPr>
          <p:cNvPr id="197639" name="Rectangle 27"/>
          <p:cNvSpPr>
            <a:spLocks noGrp="1" noChangeArrowheads="1"/>
          </p:cNvSpPr>
          <p:nvPr>
            <p:ph type="title"/>
          </p:nvPr>
        </p:nvSpPr>
        <p:spPr>
          <a:xfrm>
            <a:off x="858838" y="0"/>
            <a:ext cx="6038850" cy="647700"/>
          </a:xfrm>
        </p:spPr>
        <p:txBody>
          <a:bodyPr/>
          <a:lstStyle/>
          <a:p>
            <a:pPr eaLnBrk="1" hangingPunct="1"/>
            <a:r>
              <a:rPr lang="fr-FR" altLang="fr-FR"/>
              <a:t>Sem. 4 - Mercredi (St Saturnin)</a:t>
            </a:r>
          </a:p>
        </p:txBody>
      </p:sp>
      <p:sp>
        <p:nvSpPr>
          <p:cNvPr id="197640" name="Text Box 28"/>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7641" name="Text Box 29"/>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7642" name="Text Box 30"/>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7643" name="Group 31"/>
          <p:cNvGrpSpPr>
            <a:grpSpLocks/>
          </p:cNvGrpSpPr>
          <p:nvPr/>
        </p:nvGrpSpPr>
        <p:grpSpPr bwMode="auto">
          <a:xfrm>
            <a:off x="2843213" y="1106488"/>
            <a:ext cx="446087" cy="534987"/>
            <a:chOff x="868" y="1439"/>
            <a:chExt cx="811" cy="972"/>
          </a:xfrm>
        </p:grpSpPr>
        <p:sp>
          <p:nvSpPr>
            <p:cNvPr id="197652" name="Freeform 32"/>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3" name="Freeform 33"/>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4" name="Freeform 34"/>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5" name="Freeform 35"/>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6" name="Freeform 36"/>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7" name="Freeform 37"/>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8" name="Freeform 38"/>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59" name="Freeform 39"/>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0" name="Freeform 40"/>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1" name="Freeform 41"/>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2" name="Freeform 42"/>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3" name="Freeform 43"/>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4" name="Freeform 44"/>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5" name="Freeform 45"/>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6" name="Freeform 46"/>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7" name="Freeform 47"/>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8" name="Freeform 48"/>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69" name="Freeform 49"/>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0" name="Freeform 50"/>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1" name="Freeform 51"/>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2" name="Freeform 52"/>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3" name="Freeform 53"/>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4" name="Freeform 54"/>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5" name="Freeform 55"/>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6" name="Freeform 56"/>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7" name="Freeform 57"/>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8" name="Freeform 58"/>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79" name="Freeform 59"/>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0" name="Freeform 60"/>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1" name="Freeform 61"/>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2" name="Freeform 62"/>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3" name="Freeform 63"/>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4" name="Freeform 64"/>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5" name="Freeform 65"/>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6" name="Freeform 66"/>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7" name="Freeform 67"/>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8" name="Freeform 68"/>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89" name="Freeform 69"/>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0" name="Freeform 70"/>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1" name="Freeform 71"/>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2" name="Freeform 72"/>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3" name="Freeform 73"/>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4" name="Freeform 74"/>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5" name="Freeform 75"/>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6" name="Freeform 76"/>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7" name="Freeform 77"/>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8" name="Freeform 78"/>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699" name="Freeform 79"/>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0" name="Freeform 80"/>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1" name="Freeform 81"/>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7702" name="Freeform 82"/>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7644" name="Group 83"/>
          <p:cNvGrpSpPr>
            <a:grpSpLocks/>
          </p:cNvGrpSpPr>
          <p:nvPr/>
        </p:nvGrpSpPr>
        <p:grpSpPr bwMode="auto">
          <a:xfrm rot="-223274">
            <a:off x="1517650" y="2805113"/>
            <a:ext cx="744538" cy="733425"/>
            <a:chOff x="2757" y="1666"/>
            <a:chExt cx="812" cy="800"/>
          </a:xfrm>
        </p:grpSpPr>
        <p:sp>
          <p:nvSpPr>
            <p:cNvPr id="197646" name="Freeform 84"/>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7647" name="Freeform 85"/>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7648" name="Line 86"/>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7649" name="Freeform 87"/>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7650" name="Freeform 88"/>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7651" name="AutoShape 89"/>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7645" name="Text Box 121"/>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8659" name="Group 3"/>
          <p:cNvGrpSpPr>
            <a:grpSpLocks/>
          </p:cNvGrpSpPr>
          <p:nvPr/>
        </p:nvGrpSpPr>
        <p:grpSpPr bwMode="auto">
          <a:xfrm>
            <a:off x="7073900" y="215900"/>
            <a:ext cx="1878013" cy="1250950"/>
            <a:chOff x="4456" y="136"/>
            <a:chExt cx="1183" cy="788"/>
          </a:xfrm>
        </p:grpSpPr>
        <p:grpSp>
          <p:nvGrpSpPr>
            <p:cNvPr id="198733" name="Group 4"/>
            <p:cNvGrpSpPr>
              <a:grpSpLocks/>
            </p:cNvGrpSpPr>
            <p:nvPr/>
          </p:nvGrpSpPr>
          <p:grpSpPr bwMode="auto">
            <a:xfrm>
              <a:off x="4766" y="232"/>
              <a:ext cx="873" cy="692"/>
              <a:chOff x="2185" y="310"/>
              <a:chExt cx="873" cy="692"/>
            </a:xfrm>
          </p:grpSpPr>
          <p:sp>
            <p:nvSpPr>
              <p:cNvPr id="19874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5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8734" name="Group 12"/>
            <p:cNvGrpSpPr>
              <a:grpSpLocks/>
            </p:cNvGrpSpPr>
            <p:nvPr/>
          </p:nvGrpSpPr>
          <p:grpSpPr bwMode="auto">
            <a:xfrm>
              <a:off x="4949" y="336"/>
              <a:ext cx="591" cy="468"/>
              <a:chOff x="2185" y="310"/>
              <a:chExt cx="873" cy="692"/>
            </a:xfrm>
          </p:grpSpPr>
          <p:sp>
            <p:nvSpPr>
              <p:cNvPr id="19873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4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873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73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18</a:t>
              </a:r>
              <a:endParaRPr lang="fr-FR" altLang="fr-FR" sz="3200">
                <a:solidFill>
                  <a:schemeClr val="tx1"/>
                </a:solidFill>
                <a:latin typeface="Arial Black" pitchFamily="34" charset="0"/>
              </a:endParaRPr>
            </a:p>
          </p:txBody>
        </p:sp>
      </p:grpSp>
      <p:sp>
        <p:nvSpPr>
          <p:cNvPr id="198660" name="Text Box 22"/>
          <p:cNvSpPr txBox="1">
            <a:spLocks noChangeArrowheads="1"/>
          </p:cNvSpPr>
          <p:nvPr/>
        </p:nvSpPr>
        <p:spPr bwMode="auto">
          <a:xfrm>
            <a:off x="1403350"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198661" name="Rectangle 25"/>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198662"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8663"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8664"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8665" name="Group 29"/>
          <p:cNvGrpSpPr>
            <a:grpSpLocks/>
          </p:cNvGrpSpPr>
          <p:nvPr/>
        </p:nvGrpSpPr>
        <p:grpSpPr bwMode="auto">
          <a:xfrm>
            <a:off x="2843213" y="1106488"/>
            <a:ext cx="446087" cy="534987"/>
            <a:chOff x="868" y="1439"/>
            <a:chExt cx="811" cy="972"/>
          </a:xfrm>
        </p:grpSpPr>
        <p:sp>
          <p:nvSpPr>
            <p:cNvPr id="198682"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3"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4"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5"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6"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7"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8"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89"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0"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1"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2"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3"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4"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5"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6"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7"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8"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699"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0"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1"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2"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3"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4"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5"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6"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7"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8"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09"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0"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1"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2"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3"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4"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5"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6"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7"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8"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19"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0"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1"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2"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3"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4"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5"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6"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7"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8"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29"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0"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1"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8732"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8666" name="Group 81"/>
          <p:cNvGrpSpPr>
            <a:grpSpLocks/>
          </p:cNvGrpSpPr>
          <p:nvPr/>
        </p:nvGrpSpPr>
        <p:grpSpPr bwMode="auto">
          <a:xfrm rot="-223274">
            <a:off x="1517650" y="2805113"/>
            <a:ext cx="744538" cy="733425"/>
            <a:chOff x="2757" y="1666"/>
            <a:chExt cx="812" cy="800"/>
          </a:xfrm>
        </p:grpSpPr>
        <p:sp>
          <p:nvSpPr>
            <p:cNvPr id="198676"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8677"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8678"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8679"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8680"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8681"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8667" name="Text Box 88"/>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98668" name="Text Box 89"/>
          <p:cNvSpPr txBox="1">
            <a:spLocks noChangeArrowheads="1"/>
          </p:cNvSpPr>
          <p:nvPr/>
        </p:nvSpPr>
        <p:spPr bwMode="auto">
          <a:xfrm>
            <a:off x="3392488" y="359410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grpSp>
        <p:nvGrpSpPr>
          <p:cNvPr id="198669" name="Group 90"/>
          <p:cNvGrpSpPr>
            <a:grpSpLocks/>
          </p:cNvGrpSpPr>
          <p:nvPr/>
        </p:nvGrpSpPr>
        <p:grpSpPr bwMode="auto">
          <a:xfrm rot="-223274">
            <a:off x="3506788" y="2795588"/>
            <a:ext cx="744537" cy="733425"/>
            <a:chOff x="2757" y="1666"/>
            <a:chExt cx="812" cy="800"/>
          </a:xfrm>
        </p:grpSpPr>
        <p:sp>
          <p:nvSpPr>
            <p:cNvPr id="198670" name="Freeform 91"/>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8671" name="Freeform 92"/>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8672" name="Line 93"/>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8673" name="Freeform 94"/>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8674" name="Freeform 95"/>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8675" name="AutoShape 96"/>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9683" name="Group 3"/>
          <p:cNvGrpSpPr>
            <a:grpSpLocks/>
          </p:cNvGrpSpPr>
          <p:nvPr/>
        </p:nvGrpSpPr>
        <p:grpSpPr bwMode="auto">
          <a:xfrm>
            <a:off x="7073900" y="215900"/>
            <a:ext cx="1878013" cy="1250950"/>
            <a:chOff x="4456" y="136"/>
            <a:chExt cx="1183" cy="788"/>
          </a:xfrm>
        </p:grpSpPr>
        <p:grpSp>
          <p:nvGrpSpPr>
            <p:cNvPr id="199751" name="Group 4"/>
            <p:cNvGrpSpPr>
              <a:grpSpLocks/>
            </p:cNvGrpSpPr>
            <p:nvPr/>
          </p:nvGrpSpPr>
          <p:grpSpPr bwMode="auto">
            <a:xfrm>
              <a:off x="4766" y="232"/>
              <a:ext cx="873" cy="692"/>
              <a:chOff x="2185" y="310"/>
              <a:chExt cx="873" cy="692"/>
            </a:xfrm>
          </p:grpSpPr>
          <p:sp>
            <p:nvSpPr>
              <p:cNvPr id="19976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9752" name="Group 12"/>
            <p:cNvGrpSpPr>
              <a:grpSpLocks/>
            </p:cNvGrpSpPr>
            <p:nvPr/>
          </p:nvGrpSpPr>
          <p:grpSpPr bwMode="auto">
            <a:xfrm>
              <a:off x="4949" y="336"/>
              <a:ext cx="591" cy="468"/>
              <a:chOff x="2185" y="310"/>
              <a:chExt cx="873" cy="692"/>
            </a:xfrm>
          </p:grpSpPr>
          <p:sp>
            <p:nvSpPr>
              <p:cNvPr id="19975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6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19975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75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19</a:t>
              </a:r>
              <a:endParaRPr lang="fr-FR" altLang="fr-FR" sz="3200">
                <a:solidFill>
                  <a:schemeClr val="tx1"/>
                </a:solidFill>
                <a:latin typeface="Arial Black" pitchFamily="34" charset="0"/>
              </a:endParaRPr>
            </a:p>
          </p:txBody>
        </p:sp>
      </p:grpSp>
      <p:sp>
        <p:nvSpPr>
          <p:cNvPr id="199684" name="Text Box 22"/>
          <p:cNvSpPr txBox="1">
            <a:spLocks noChangeArrowheads="1"/>
          </p:cNvSpPr>
          <p:nvPr/>
        </p:nvSpPr>
        <p:spPr bwMode="auto">
          <a:xfrm>
            <a:off x="1403350"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199685"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19968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19968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19968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199689" name="Group 27"/>
          <p:cNvGrpSpPr>
            <a:grpSpLocks/>
          </p:cNvGrpSpPr>
          <p:nvPr/>
        </p:nvGrpSpPr>
        <p:grpSpPr bwMode="auto">
          <a:xfrm>
            <a:off x="2843213" y="1106488"/>
            <a:ext cx="446087" cy="534987"/>
            <a:chOff x="868" y="1439"/>
            <a:chExt cx="811" cy="972"/>
          </a:xfrm>
        </p:grpSpPr>
        <p:sp>
          <p:nvSpPr>
            <p:cNvPr id="19970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0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1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2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3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4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19975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199690" name="Group 79"/>
          <p:cNvGrpSpPr>
            <a:grpSpLocks/>
          </p:cNvGrpSpPr>
          <p:nvPr/>
        </p:nvGrpSpPr>
        <p:grpSpPr bwMode="auto">
          <a:xfrm rot="-223274">
            <a:off x="1517650" y="2805113"/>
            <a:ext cx="744538" cy="733425"/>
            <a:chOff x="2757" y="1666"/>
            <a:chExt cx="812" cy="800"/>
          </a:xfrm>
        </p:grpSpPr>
        <p:sp>
          <p:nvSpPr>
            <p:cNvPr id="19969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969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19969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9969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19969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19969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199691"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199692" name="Oval 95"/>
          <p:cNvSpPr>
            <a:spLocks noChangeArrowheads="1"/>
          </p:cNvSpPr>
          <p:nvPr/>
        </p:nvSpPr>
        <p:spPr bwMode="auto">
          <a:xfrm rot="-5400000">
            <a:off x="3845719"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199693" name="Text Box 96"/>
          <p:cNvSpPr txBox="1">
            <a:spLocks noChangeArrowheads="1"/>
          </p:cNvSpPr>
          <p:nvPr/>
        </p:nvSpPr>
        <p:spPr bwMode="auto">
          <a:xfrm>
            <a:off x="2849563" y="3559175"/>
            <a:ext cx="24304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0707" name="Group 3"/>
          <p:cNvGrpSpPr>
            <a:grpSpLocks/>
          </p:cNvGrpSpPr>
          <p:nvPr/>
        </p:nvGrpSpPr>
        <p:grpSpPr bwMode="auto">
          <a:xfrm>
            <a:off x="7073900" y="215900"/>
            <a:ext cx="1878013" cy="1250950"/>
            <a:chOff x="4456" y="136"/>
            <a:chExt cx="1183" cy="788"/>
          </a:xfrm>
        </p:grpSpPr>
        <p:grpSp>
          <p:nvGrpSpPr>
            <p:cNvPr id="200773" name="Group 4"/>
            <p:cNvGrpSpPr>
              <a:grpSpLocks/>
            </p:cNvGrpSpPr>
            <p:nvPr/>
          </p:nvGrpSpPr>
          <p:grpSpPr bwMode="auto">
            <a:xfrm>
              <a:off x="4766" y="232"/>
              <a:ext cx="873" cy="692"/>
              <a:chOff x="2185" y="310"/>
              <a:chExt cx="873" cy="692"/>
            </a:xfrm>
          </p:grpSpPr>
          <p:sp>
            <p:nvSpPr>
              <p:cNvPr id="20078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9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0774" name="Group 12"/>
            <p:cNvGrpSpPr>
              <a:grpSpLocks/>
            </p:cNvGrpSpPr>
            <p:nvPr/>
          </p:nvGrpSpPr>
          <p:grpSpPr bwMode="auto">
            <a:xfrm>
              <a:off x="4949" y="336"/>
              <a:ext cx="591" cy="468"/>
              <a:chOff x="2185" y="310"/>
              <a:chExt cx="873" cy="692"/>
            </a:xfrm>
          </p:grpSpPr>
          <p:sp>
            <p:nvSpPr>
              <p:cNvPr id="20077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8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077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77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20</a:t>
              </a:r>
              <a:endParaRPr lang="fr-FR" altLang="fr-FR" sz="3200">
                <a:solidFill>
                  <a:schemeClr val="tx1"/>
                </a:solidFill>
                <a:latin typeface="Arial Black" pitchFamily="34" charset="0"/>
              </a:endParaRPr>
            </a:p>
          </p:txBody>
        </p:sp>
      </p:grpSp>
      <p:sp>
        <p:nvSpPr>
          <p:cNvPr id="200708" name="Text Box 22"/>
          <p:cNvSpPr txBox="1">
            <a:spLocks noChangeArrowheads="1"/>
          </p:cNvSpPr>
          <p:nvPr/>
        </p:nvSpPr>
        <p:spPr bwMode="auto">
          <a:xfrm>
            <a:off x="1774825"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200709"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0710"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0711"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0712"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0713" name="Group 27"/>
          <p:cNvGrpSpPr>
            <a:grpSpLocks/>
          </p:cNvGrpSpPr>
          <p:nvPr/>
        </p:nvGrpSpPr>
        <p:grpSpPr bwMode="auto">
          <a:xfrm>
            <a:off x="2843213" y="1106488"/>
            <a:ext cx="446087" cy="534987"/>
            <a:chOff x="868" y="1439"/>
            <a:chExt cx="811" cy="972"/>
          </a:xfrm>
        </p:grpSpPr>
        <p:sp>
          <p:nvSpPr>
            <p:cNvPr id="200722"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3"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4"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5"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6"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7"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8"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29"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0"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1"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2"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3"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4"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5"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6"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7"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8"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39"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0"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1"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2"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3"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4"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5"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6"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7"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8"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49"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0"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1"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2"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3"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4"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5"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6"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7"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8"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59"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0"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1"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2"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3"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4"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5"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6"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7"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8"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69"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0"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1"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0772"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0714" name="Group 79"/>
          <p:cNvGrpSpPr>
            <a:grpSpLocks/>
          </p:cNvGrpSpPr>
          <p:nvPr/>
        </p:nvGrpSpPr>
        <p:grpSpPr bwMode="auto">
          <a:xfrm rot="-223274">
            <a:off x="1889125" y="2805113"/>
            <a:ext cx="744538" cy="733425"/>
            <a:chOff x="2757" y="1666"/>
            <a:chExt cx="812" cy="800"/>
          </a:xfrm>
        </p:grpSpPr>
        <p:sp>
          <p:nvSpPr>
            <p:cNvPr id="200716"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0717"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0718"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0719"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0720"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0721"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0715"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1731" name="Group 3"/>
          <p:cNvGrpSpPr>
            <a:grpSpLocks/>
          </p:cNvGrpSpPr>
          <p:nvPr/>
        </p:nvGrpSpPr>
        <p:grpSpPr bwMode="auto">
          <a:xfrm>
            <a:off x="7073900" y="215900"/>
            <a:ext cx="1878013" cy="1250950"/>
            <a:chOff x="4456" y="136"/>
            <a:chExt cx="1183" cy="788"/>
          </a:xfrm>
        </p:grpSpPr>
        <p:grpSp>
          <p:nvGrpSpPr>
            <p:cNvPr id="201797" name="Group 4"/>
            <p:cNvGrpSpPr>
              <a:grpSpLocks/>
            </p:cNvGrpSpPr>
            <p:nvPr/>
          </p:nvGrpSpPr>
          <p:grpSpPr bwMode="auto">
            <a:xfrm>
              <a:off x="4766" y="232"/>
              <a:ext cx="873" cy="692"/>
              <a:chOff x="2185" y="310"/>
              <a:chExt cx="873" cy="692"/>
            </a:xfrm>
          </p:grpSpPr>
          <p:sp>
            <p:nvSpPr>
              <p:cNvPr id="20180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1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1798" name="Group 12"/>
            <p:cNvGrpSpPr>
              <a:grpSpLocks/>
            </p:cNvGrpSpPr>
            <p:nvPr/>
          </p:nvGrpSpPr>
          <p:grpSpPr bwMode="auto">
            <a:xfrm>
              <a:off x="4949" y="336"/>
              <a:ext cx="591" cy="468"/>
              <a:chOff x="2185" y="310"/>
              <a:chExt cx="873" cy="692"/>
            </a:xfrm>
          </p:grpSpPr>
          <p:sp>
            <p:nvSpPr>
              <p:cNvPr id="20180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80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179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800"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21</a:t>
              </a:r>
              <a:endParaRPr lang="fr-FR" altLang="fr-FR" sz="3200">
                <a:solidFill>
                  <a:schemeClr val="tx1"/>
                </a:solidFill>
                <a:latin typeface="Arial Black" pitchFamily="34" charset="0"/>
              </a:endParaRPr>
            </a:p>
          </p:txBody>
        </p:sp>
      </p:grpSp>
      <p:sp>
        <p:nvSpPr>
          <p:cNvPr id="201732" name="Text Box 22"/>
          <p:cNvSpPr txBox="1">
            <a:spLocks noChangeArrowheads="1"/>
          </p:cNvSpPr>
          <p:nvPr/>
        </p:nvSpPr>
        <p:spPr bwMode="auto">
          <a:xfrm>
            <a:off x="1822450"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R3</a:t>
            </a:r>
          </a:p>
        </p:txBody>
      </p:sp>
      <p:sp>
        <p:nvSpPr>
          <p:cNvPr id="201733"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1734"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1735"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1736"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1737" name="Group 27"/>
          <p:cNvGrpSpPr>
            <a:grpSpLocks/>
          </p:cNvGrpSpPr>
          <p:nvPr/>
        </p:nvGrpSpPr>
        <p:grpSpPr bwMode="auto">
          <a:xfrm>
            <a:off x="2843213" y="1106488"/>
            <a:ext cx="446087" cy="534987"/>
            <a:chOff x="868" y="1439"/>
            <a:chExt cx="811" cy="972"/>
          </a:xfrm>
        </p:grpSpPr>
        <p:sp>
          <p:nvSpPr>
            <p:cNvPr id="20174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4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4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4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5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6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7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8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179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1738" name="Group 79"/>
          <p:cNvGrpSpPr>
            <a:grpSpLocks/>
          </p:cNvGrpSpPr>
          <p:nvPr/>
        </p:nvGrpSpPr>
        <p:grpSpPr bwMode="auto">
          <a:xfrm rot="-223274">
            <a:off x="1936750" y="2805113"/>
            <a:ext cx="744538" cy="733425"/>
            <a:chOff x="2757" y="1666"/>
            <a:chExt cx="812" cy="800"/>
          </a:xfrm>
        </p:grpSpPr>
        <p:sp>
          <p:nvSpPr>
            <p:cNvPr id="20174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174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174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174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174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174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1739"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2755" name="Group 3"/>
          <p:cNvGrpSpPr>
            <a:grpSpLocks/>
          </p:cNvGrpSpPr>
          <p:nvPr/>
        </p:nvGrpSpPr>
        <p:grpSpPr bwMode="auto">
          <a:xfrm>
            <a:off x="7073900" y="215900"/>
            <a:ext cx="1878013" cy="1250950"/>
            <a:chOff x="4456" y="136"/>
            <a:chExt cx="1183" cy="788"/>
          </a:xfrm>
        </p:grpSpPr>
        <p:grpSp>
          <p:nvGrpSpPr>
            <p:cNvPr id="202821" name="Group 4"/>
            <p:cNvGrpSpPr>
              <a:grpSpLocks/>
            </p:cNvGrpSpPr>
            <p:nvPr/>
          </p:nvGrpSpPr>
          <p:grpSpPr bwMode="auto">
            <a:xfrm>
              <a:off x="4766" y="232"/>
              <a:ext cx="873" cy="692"/>
              <a:chOff x="2185" y="310"/>
              <a:chExt cx="873" cy="692"/>
            </a:xfrm>
          </p:grpSpPr>
          <p:sp>
            <p:nvSpPr>
              <p:cNvPr id="20283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2822" name="Group 12"/>
            <p:cNvGrpSpPr>
              <a:grpSpLocks/>
            </p:cNvGrpSpPr>
            <p:nvPr/>
          </p:nvGrpSpPr>
          <p:grpSpPr bwMode="auto">
            <a:xfrm>
              <a:off x="4949" y="336"/>
              <a:ext cx="591" cy="468"/>
              <a:chOff x="2185" y="310"/>
              <a:chExt cx="873" cy="692"/>
            </a:xfrm>
          </p:grpSpPr>
          <p:sp>
            <p:nvSpPr>
              <p:cNvPr id="20282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3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282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82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22</a:t>
              </a:r>
              <a:endParaRPr lang="fr-FR" altLang="fr-FR" sz="3200">
                <a:solidFill>
                  <a:schemeClr val="tx1"/>
                </a:solidFill>
                <a:latin typeface="Arial Black" pitchFamily="34" charset="0"/>
              </a:endParaRPr>
            </a:p>
          </p:txBody>
        </p:sp>
      </p:grpSp>
      <p:sp>
        <p:nvSpPr>
          <p:cNvPr id="202756" name="Text Box 22"/>
          <p:cNvSpPr txBox="1">
            <a:spLocks noChangeArrowheads="1"/>
          </p:cNvSpPr>
          <p:nvPr/>
        </p:nvSpPr>
        <p:spPr bwMode="auto">
          <a:xfrm>
            <a:off x="1793875"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202757"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275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275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276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2761" name="Group 27"/>
          <p:cNvGrpSpPr>
            <a:grpSpLocks/>
          </p:cNvGrpSpPr>
          <p:nvPr/>
        </p:nvGrpSpPr>
        <p:grpSpPr bwMode="auto">
          <a:xfrm>
            <a:off x="2843213" y="1106488"/>
            <a:ext cx="446087" cy="534987"/>
            <a:chOff x="868" y="1439"/>
            <a:chExt cx="811" cy="972"/>
          </a:xfrm>
        </p:grpSpPr>
        <p:sp>
          <p:nvSpPr>
            <p:cNvPr id="20277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7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8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79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0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1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282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2762" name="Group 79"/>
          <p:cNvGrpSpPr>
            <a:grpSpLocks/>
          </p:cNvGrpSpPr>
          <p:nvPr/>
        </p:nvGrpSpPr>
        <p:grpSpPr bwMode="auto">
          <a:xfrm rot="-223274">
            <a:off x="1908175" y="2805113"/>
            <a:ext cx="744538" cy="733425"/>
            <a:chOff x="2757" y="1666"/>
            <a:chExt cx="812" cy="800"/>
          </a:xfrm>
        </p:grpSpPr>
        <p:sp>
          <p:nvSpPr>
            <p:cNvPr id="20276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276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276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276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276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276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2763"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3779" name="Group 3"/>
          <p:cNvGrpSpPr>
            <a:grpSpLocks/>
          </p:cNvGrpSpPr>
          <p:nvPr/>
        </p:nvGrpSpPr>
        <p:grpSpPr bwMode="auto">
          <a:xfrm>
            <a:off x="7073900" y="215900"/>
            <a:ext cx="1878013" cy="1250950"/>
            <a:chOff x="4456" y="136"/>
            <a:chExt cx="1183" cy="788"/>
          </a:xfrm>
        </p:grpSpPr>
        <p:grpSp>
          <p:nvGrpSpPr>
            <p:cNvPr id="203845" name="Group 4"/>
            <p:cNvGrpSpPr>
              <a:grpSpLocks/>
            </p:cNvGrpSpPr>
            <p:nvPr/>
          </p:nvGrpSpPr>
          <p:grpSpPr bwMode="auto">
            <a:xfrm>
              <a:off x="4766" y="232"/>
              <a:ext cx="873" cy="692"/>
              <a:chOff x="2185" y="310"/>
              <a:chExt cx="873" cy="692"/>
            </a:xfrm>
          </p:grpSpPr>
          <p:sp>
            <p:nvSpPr>
              <p:cNvPr id="20385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6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6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6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3846" name="Group 12"/>
            <p:cNvGrpSpPr>
              <a:grpSpLocks/>
            </p:cNvGrpSpPr>
            <p:nvPr/>
          </p:nvGrpSpPr>
          <p:grpSpPr bwMode="auto">
            <a:xfrm>
              <a:off x="4949" y="336"/>
              <a:ext cx="591" cy="468"/>
              <a:chOff x="2185" y="310"/>
              <a:chExt cx="873" cy="692"/>
            </a:xfrm>
          </p:grpSpPr>
          <p:sp>
            <p:nvSpPr>
              <p:cNvPr id="20384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5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384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848"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23</a:t>
              </a:r>
              <a:endParaRPr lang="fr-FR" altLang="fr-FR" sz="3200">
                <a:solidFill>
                  <a:schemeClr val="tx1"/>
                </a:solidFill>
                <a:latin typeface="Arial Black" pitchFamily="34" charset="0"/>
              </a:endParaRPr>
            </a:p>
          </p:txBody>
        </p:sp>
      </p:grpSp>
      <p:sp>
        <p:nvSpPr>
          <p:cNvPr id="203780" name="Text Box 22"/>
          <p:cNvSpPr txBox="1">
            <a:spLocks noChangeArrowheads="1"/>
          </p:cNvSpPr>
          <p:nvPr/>
        </p:nvSpPr>
        <p:spPr bwMode="auto">
          <a:xfrm>
            <a:off x="1793875"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203781"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3782"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3783"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3784"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3785" name="Group 27"/>
          <p:cNvGrpSpPr>
            <a:grpSpLocks/>
          </p:cNvGrpSpPr>
          <p:nvPr/>
        </p:nvGrpSpPr>
        <p:grpSpPr bwMode="auto">
          <a:xfrm>
            <a:off x="2843213" y="1106488"/>
            <a:ext cx="446087" cy="534987"/>
            <a:chOff x="868" y="1439"/>
            <a:chExt cx="811" cy="972"/>
          </a:xfrm>
        </p:grpSpPr>
        <p:sp>
          <p:nvSpPr>
            <p:cNvPr id="20379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79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0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1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2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3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384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3786" name="Group 79"/>
          <p:cNvGrpSpPr>
            <a:grpSpLocks/>
          </p:cNvGrpSpPr>
          <p:nvPr/>
        </p:nvGrpSpPr>
        <p:grpSpPr bwMode="auto">
          <a:xfrm rot="-223274">
            <a:off x="1908175" y="2805113"/>
            <a:ext cx="744538" cy="733425"/>
            <a:chOff x="2757" y="1666"/>
            <a:chExt cx="812" cy="800"/>
          </a:xfrm>
        </p:grpSpPr>
        <p:sp>
          <p:nvSpPr>
            <p:cNvPr id="20378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378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379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379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379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379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3787"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4803" name="Group 3"/>
          <p:cNvGrpSpPr>
            <a:grpSpLocks/>
          </p:cNvGrpSpPr>
          <p:nvPr/>
        </p:nvGrpSpPr>
        <p:grpSpPr bwMode="auto">
          <a:xfrm>
            <a:off x="7073900" y="215900"/>
            <a:ext cx="1878013" cy="1250950"/>
            <a:chOff x="4456" y="136"/>
            <a:chExt cx="1183" cy="788"/>
          </a:xfrm>
        </p:grpSpPr>
        <p:grpSp>
          <p:nvGrpSpPr>
            <p:cNvPr id="204871" name="Group 4"/>
            <p:cNvGrpSpPr>
              <a:grpSpLocks/>
            </p:cNvGrpSpPr>
            <p:nvPr/>
          </p:nvGrpSpPr>
          <p:grpSpPr bwMode="auto">
            <a:xfrm>
              <a:off x="4766" y="232"/>
              <a:ext cx="873" cy="692"/>
              <a:chOff x="2185" y="310"/>
              <a:chExt cx="873" cy="692"/>
            </a:xfrm>
          </p:grpSpPr>
          <p:sp>
            <p:nvSpPr>
              <p:cNvPr id="20488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4872" name="Group 12"/>
            <p:cNvGrpSpPr>
              <a:grpSpLocks/>
            </p:cNvGrpSpPr>
            <p:nvPr/>
          </p:nvGrpSpPr>
          <p:grpSpPr bwMode="auto">
            <a:xfrm>
              <a:off x="4949" y="336"/>
              <a:ext cx="591" cy="468"/>
              <a:chOff x="2185" y="310"/>
              <a:chExt cx="873" cy="692"/>
            </a:xfrm>
          </p:grpSpPr>
          <p:sp>
            <p:nvSpPr>
              <p:cNvPr id="20487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8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487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87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24</a:t>
              </a:r>
              <a:endParaRPr lang="fr-FR" altLang="fr-FR" sz="3200">
                <a:solidFill>
                  <a:schemeClr val="tx1"/>
                </a:solidFill>
                <a:latin typeface="Arial Black" pitchFamily="34" charset="0"/>
              </a:endParaRPr>
            </a:p>
          </p:txBody>
        </p:sp>
      </p:grpSp>
      <p:sp>
        <p:nvSpPr>
          <p:cNvPr id="204804" name="Text Box 22"/>
          <p:cNvSpPr txBox="1">
            <a:spLocks noChangeArrowheads="1"/>
          </p:cNvSpPr>
          <p:nvPr/>
        </p:nvSpPr>
        <p:spPr bwMode="auto">
          <a:xfrm>
            <a:off x="1403350" y="3579813"/>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sp>
        <p:nvSpPr>
          <p:cNvPr id="204805" name="Rectangle 23"/>
          <p:cNvSpPr>
            <a:spLocks noGrp="1" noChangeArrowheads="1"/>
          </p:cNvSpPr>
          <p:nvPr>
            <p:ph type="title"/>
          </p:nvPr>
        </p:nvSpPr>
        <p:spPr>
          <a:xfrm>
            <a:off x="858838" y="0"/>
            <a:ext cx="6038850" cy="647700"/>
          </a:xfrm>
        </p:spPr>
        <p:txBody>
          <a:bodyPr/>
          <a:lstStyle/>
          <a:p>
            <a:pPr eaLnBrk="1" hangingPunct="1"/>
            <a:r>
              <a:rPr lang="fr-FR" altLang="fr-FR"/>
              <a:t>Sem. 4 - Mercredi</a:t>
            </a:r>
          </a:p>
        </p:txBody>
      </p:sp>
      <p:sp>
        <p:nvSpPr>
          <p:cNvPr id="20480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480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480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4809" name="Group 27"/>
          <p:cNvGrpSpPr>
            <a:grpSpLocks/>
          </p:cNvGrpSpPr>
          <p:nvPr/>
        </p:nvGrpSpPr>
        <p:grpSpPr bwMode="auto">
          <a:xfrm>
            <a:off x="2843213" y="1106488"/>
            <a:ext cx="446087" cy="534987"/>
            <a:chOff x="868" y="1439"/>
            <a:chExt cx="811" cy="972"/>
          </a:xfrm>
        </p:grpSpPr>
        <p:sp>
          <p:nvSpPr>
            <p:cNvPr id="20482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2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3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4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5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6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487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4810" name="Group 79"/>
          <p:cNvGrpSpPr>
            <a:grpSpLocks/>
          </p:cNvGrpSpPr>
          <p:nvPr/>
        </p:nvGrpSpPr>
        <p:grpSpPr bwMode="auto">
          <a:xfrm rot="-223274">
            <a:off x="1517650" y="2805113"/>
            <a:ext cx="744538" cy="733425"/>
            <a:chOff x="2757" y="1666"/>
            <a:chExt cx="812" cy="800"/>
          </a:xfrm>
        </p:grpSpPr>
        <p:sp>
          <p:nvSpPr>
            <p:cNvPr id="20481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481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481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481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481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481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4811"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204812" name="Oval 87"/>
          <p:cNvSpPr>
            <a:spLocks noChangeArrowheads="1"/>
          </p:cNvSpPr>
          <p:nvPr/>
        </p:nvSpPr>
        <p:spPr bwMode="auto">
          <a:xfrm rot="-5400000">
            <a:off x="3845719"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04813" name="Text Box 88"/>
          <p:cNvSpPr txBox="1">
            <a:spLocks noChangeArrowheads="1"/>
          </p:cNvSpPr>
          <p:nvPr/>
        </p:nvSpPr>
        <p:spPr bwMode="auto">
          <a:xfrm>
            <a:off x="2900363" y="3559175"/>
            <a:ext cx="2184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5827" name="Group 3"/>
          <p:cNvGrpSpPr>
            <a:grpSpLocks/>
          </p:cNvGrpSpPr>
          <p:nvPr/>
        </p:nvGrpSpPr>
        <p:grpSpPr bwMode="auto">
          <a:xfrm>
            <a:off x="7073900" y="215900"/>
            <a:ext cx="1878013" cy="1250950"/>
            <a:chOff x="4456" y="136"/>
            <a:chExt cx="1183" cy="788"/>
          </a:xfrm>
        </p:grpSpPr>
        <p:grpSp>
          <p:nvGrpSpPr>
            <p:cNvPr id="205893" name="Group 4"/>
            <p:cNvGrpSpPr>
              <a:grpSpLocks/>
            </p:cNvGrpSpPr>
            <p:nvPr/>
          </p:nvGrpSpPr>
          <p:grpSpPr bwMode="auto">
            <a:xfrm>
              <a:off x="4766" y="232"/>
              <a:ext cx="873" cy="692"/>
              <a:chOff x="2185" y="310"/>
              <a:chExt cx="873" cy="692"/>
            </a:xfrm>
          </p:grpSpPr>
          <p:sp>
            <p:nvSpPr>
              <p:cNvPr id="205904"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5"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6"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7"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8"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9"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10"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5894" name="Group 12"/>
            <p:cNvGrpSpPr>
              <a:grpSpLocks/>
            </p:cNvGrpSpPr>
            <p:nvPr/>
          </p:nvGrpSpPr>
          <p:grpSpPr bwMode="auto">
            <a:xfrm>
              <a:off x="4949" y="336"/>
              <a:ext cx="591" cy="468"/>
              <a:chOff x="2185" y="310"/>
              <a:chExt cx="873" cy="692"/>
            </a:xfrm>
          </p:grpSpPr>
          <p:sp>
            <p:nvSpPr>
              <p:cNvPr id="205897"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8"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9"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0"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1"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2"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903"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5895"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896"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25</a:t>
              </a:r>
              <a:endParaRPr lang="fr-FR" altLang="fr-FR" sz="3200">
                <a:solidFill>
                  <a:schemeClr val="tx1"/>
                </a:solidFill>
                <a:latin typeface="Arial Black" pitchFamily="34" charset="0"/>
              </a:endParaRPr>
            </a:p>
          </p:txBody>
        </p:sp>
      </p:grpSp>
      <p:sp>
        <p:nvSpPr>
          <p:cNvPr id="205828" name="Text Box 22"/>
          <p:cNvSpPr txBox="1">
            <a:spLocks noChangeArrowheads="1"/>
          </p:cNvSpPr>
          <p:nvPr/>
        </p:nvSpPr>
        <p:spPr bwMode="auto">
          <a:xfrm>
            <a:off x="1762125"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205829" name="Rectangle 25"/>
          <p:cNvSpPr>
            <a:spLocks noGrp="1" noChangeArrowheads="1"/>
          </p:cNvSpPr>
          <p:nvPr>
            <p:ph type="title"/>
          </p:nvPr>
        </p:nvSpPr>
        <p:spPr>
          <a:xfrm>
            <a:off x="1381125" y="0"/>
            <a:ext cx="5516563" cy="647700"/>
          </a:xfrm>
        </p:spPr>
        <p:txBody>
          <a:bodyPr/>
          <a:lstStyle/>
          <a:p>
            <a:pPr eaLnBrk="1" hangingPunct="1"/>
            <a:r>
              <a:rPr lang="fr-FR" altLang="fr-FR"/>
              <a:t>Sem. 4 - Jeudi (St André)</a:t>
            </a:r>
          </a:p>
        </p:txBody>
      </p:sp>
      <p:sp>
        <p:nvSpPr>
          <p:cNvPr id="205830" name="Text Box 26"/>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5831" name="Text Box 27"/>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5832" name="Text Box 28"/>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5833" name="Group 29"/>
          <p:cNvGrpSpPr>
            <a:grpSpLocks/>
          </p:cNvGrpSpPr>
          <p:nvPr/>
        </p:nvGrpSpPr>
        <p:grpSpPr bwMode="auto">
          <a:xfrm>
            <a:off x="2843213" y="1106488"/>
            <a:ext cx="446087" cy="534987"/>
            <a:chOff x="868" y="1439"/>
            <a:chExt cx="811" cy="972"/>
          </a:xfrm>
        </p:grpSpPr>
        <p:sp>
          <p:nvSpPr>
            <p:cNvPr id="205842" name="Freeform 30"/>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3" name="Freeform 31"/>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4" name="Freeform 32"/>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5" name="Freeform 33"/>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6" name="Freeform 34"/>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7" name="Freeform 35"/>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8" name="Freeform 36"/>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49" name="Freeform 37"/>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0" name="Freeform 38"/>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1" name="Freeform 39"/>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2" name="Freeform 40"/>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3" name="Freeform 41"/>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4" name="Freeform 42"/>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5" name="Freeform 43"/>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6" name="Freeform 44"/>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7" name="Freeform 45"/>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8" name="Freeform 46"/>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59" name="Freeform 47"/>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0" name="Freeform 48"/>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1" name="Freeform 49"/>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2" name="Freeform 50"/>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3" name="Freeform 51"/>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4" name="Freeform 52"/>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5" name="Freeform 53"/>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6" name="Freeform 54"/>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7" name="Freeform 55"/>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8" name="Freeform 56"/>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69" name="Freeform 57"/>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0" name="Freeform 58"/>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1" name="Freeform 59"/>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2" name="Freeform 60"/>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3" name="Freeform 61"/>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4" name="Freeform 62"/>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5" name="Freeform 63"/>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6" name="Freeform 64"/>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7" name="Freeform 65"/>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8" name="Freeform 66"/>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79" name="Freeform 67"/>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0" name="Freeform 68"/>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1" name="Freeform 69"/>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2" name="Freeform 70"/>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3" name="Freeform 71"/>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4" name="Freeform 72"/>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5" name="Freeform 73"/>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6" name="Freeform 74"/>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7" name="Freeform 75"/>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8" name="Freeform 76"/>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89" name="Freeform 77"/>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0" name="Freeform 78"/>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1" name="Freeform 79"/>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5892" name="Freeform 80"/>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5834" name="Group 81"/>
          <p:cNvGrpSpPr>
            <a:grpSpLocks/>
          </p:cNvGrpSpPr>
          <p:nvPr/>
        </p:nvGrpSpPr>
        <p:grpSpPr bwMode="auto">
          <a:xfrm rot="-223274">
            <a:off x="1895475" y="2820988"/>
            <a:ext cx="744538" cy="733425"/>
            <a:chOff x="2757" y="1666"/>
            <a:chExt cx="812" cy="800"/>
          </a:xfrm>
        </p:grpSpPr>
        <p:sp>
          <p:nvSpPr>
            <p:cNvPr id="205836" name="Freeform 82"/>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5837" name="Freeform 83"/>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5838" name="Line 84"/>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5839" name="Freeform 85"/>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5840" name="Freeform 86"/>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5841" name="AutoShape 87"/>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5835" name="Text Box 117"/>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6851" name="Group 3"/>
          <p:cNvGrpSpPr>
            <a:grpSpLocks/>
          </p:cNvGrpSpPr>
          <p:nvPr/>
        </p:nvGrpSpPr>
        <p:grpSpPr bwMode="auto">
          <a:xfrm>
            <a:off x="7073900" y="215900"/>
            <a:ext cx="1878013" cy="1250950"/>
            <a:chOff x="4456" y="136"/>
            <a:chExt cx="1183" cy="788"/>
          </a:xfrm>
        </p:grpSpPr>
        <p:grpSp>
          <p:nvGrpSpPr>
            <p:cNvPr id="206917" name="Group 4"/>
            <p:cNvGrpSpPr>
              <a:grpSpLocks/>
            </p:cNvGrpSpPr>
            <p:nvPr/>
          </p:nvGrpSpPr>
          <p:grpSpPr bwMode="auto">
            <a:xfrm>
              <a:off x="4766" y="232"/>
              <a:ext cx="873" cy="692"/>
              <a:chOff x="2185" y="310"/>
              <a:chExt cx="873" cy="692"/>
            </a:xfrm>
          </p:grpSpPr>
          <p:sp>
            <p:nvSpPr>
              <p:cNvPr id="20692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3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6918" name="Group 12"/>
            <p:cNvGrpSpPr>
              <a:grpSpLocks/>
            </p:cNvGrpSpPr>
            <p:nvPr/>
          </p:nvGrpSpPr>
          <p:grpSpPr bwMode="auto">
            <a:xfrm>
              <a:off x="4949" y="336"/>
              <a:ext cx="591" cy="468"/>
              <a:chOff x="2185" y="310"/>
              <a:chExt cx="873" cy="692"/>
            </a:xfrm>
          </p:grpSpPr>
          <p:sp>
            <p:nvSpPr>
              <p:cNvPr id="20692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2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691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920"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26</a:t>
              </a:r>
              <a:endParaRPr lang="fr-FR" altLang="fr-FR" sz="3200">
                <a:solidFill>
                  <a:schemeClr val="tx1"/>
                </a:solidFill>
                <a:latin typeface="Arial Black" pitchFamily="34" charset="0"/>
              </a:endParaRPr>
            </a:p>
          </p:txBody>
        </p:sp>
      </p:grpSp>
      <p:sp>
        <p:nvSpPr>
          <p:cNvPr id="206852" name="Text Box 22"/>
          <p:cNvSpPr txBox="1">
            <a:spLocks noChangeArrowheads="1"/>
          </p:cNvSpPr>
          <p:nvPr/>
        </p:nvSpPr>
        <p:spPr bwMode="auto">
          <a:xfrm>
            <a:off x="1770063"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sp>
        <p:nvSpPr>
          <p:cNvPr id="206853"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06854"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6855"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6856"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6857" name="Group 27"/>
          <p:cNvGrpSpPr>
            <a:grpSpLocks/>
          </p:cNvGrpSpPr>
          <p:nvPr/>
        </p:nvGrpSpPr>
        <p:grpSpPr bwMode="auto">
          <a:xfrm>
            <a:off x="2843213" y="1106488"/>
            <a:ext cx="446087" cy="534987"/>
            <a:chOff x="868" y="1439"/>
            <a:chExt cx="811" cy="972"/>
          </a:xfrm>
        </p:grpSpPr>
        <p:sp>
          <p:nvSpPr>
            <p:cNvPr id="20686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6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6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6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7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8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89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0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691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6858" name="Group 79"/>
          <p:cNvGrpSpPr>
            <a:grpSpLocks/>
          </p:cNvGrpSpPr>
          <p:nvPr/>
        </p:nvGrpSpPr>
        <p:grpSpPr bwMode="auto">
          <a:xfrm rot="-223274">
            <a:off x="1903413" y="2820988"/>
            <a:ext cx="744537" cy="733425"/>
            <a:chOff x="2757" y="1666"/>
            <a:chExt cx="812" cy="800"/>
          </a:xfrm>
        </p:grpSpPr>
        <p:sp>
          <p:nvSpPr>
            <p:cNvPr id="20686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686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686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686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686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686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6859"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7875" name="Group 3"/>
          <p:cNvGrpSpPr>
            <a:grpSpLocks/>
          </p:cNvGrpSpPr>
          <p:nvPr/>
        </p:nvGrpSpPr>
        <p:grpSpPr bwMode="auto">
          <a:xfrm>
            <a:off x="7073900" y="215900"/>
            <a:ext cx="1878013" cy="1250950"/>
            <a:chOff x="4456" y="136"/>
            <a:chExt cx="1183" cy="788"/>
          </a:xfrm>
        </p:grpSpPr>
        <p:grpSp>
          <p:nvGrpSpPr>
            <p:cNvPr id="207941" name="Group 4"/>
            <p:cNvGrpSpPr>
              <a:grpSpLocks/>
            </p:cNvGrpSpPr>
            <p:nvPr/>
          </p:nvGrpSpPr>
          <p:grpSpPr bwMode="auto">
            <a:xfrm>
              <a:off x="4766" y="232"/>
              <a:ext cx="873" cy="692"/>
              <a:chOff x="2185" y="310"/>
              <a:chExt cx="873" cy="692"/>
            </a:xfrm>
          </p:grpSpPr>
          <p:sp>
            <p:nvSpPr>
              <p:cNvPr id="20795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7942" name="Group 12"/>
            <p:cNvGrpSpPr>
              <a:grpSpLocks/>
            </p:cNvGrpSpPr>
            <p:nvPr/>
          </p:nvGrpSpPr>
          <p:grpSpPr bwMode="auto">
            <a:xfrm>
              <a:off x="4949" y="336"/>
              <a:ext cx="591" cy="468"/>
              <a:chOff x="2185" y="310"/>
              <a:chExt cx="873" cy="692"/>
            </a:xfrm>
          </p:grpSpPr>
          <p:sp>
            <p:nvSpPr>
              <p:cNvPr id="20794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5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794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94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27</a:t>
              </a:r>
              <a:endParaRPr lang="fr-FR" altLang="fr-FR" sz="3200">
                <a:solidFill>
                  <a:schemeClr val="tx1"/>
                </a:solidFill>
                <a:latin typeface="Arial Black" pitchFamily="34" charset="0"/>
              </a:endParaRPr>
            </a:p>
          </p:txBody>
        </p:sp>
      </p:grpSp>
      <p:sp>
        <p:nvSpPr>
          <p:cNvPr id="207876" name="Text Box 22"/>
          <p:cNvSpPr txBox="1">
            <a:spLocks noChangeArrowheads="1"/>
          </p:cNvSpPr>
          <p:nvPr/>
        </p:nvSpPr>
        <p:spPr bwMode="auto">
          <a:xfrm>
            <a:off x="1787525"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R4</a:t>
            </a:r>
          </a:p>
        </p:txBody>
      </p:sp>
      <p:sp>
        <p:nvSpPr>
          <p:cNvPr id="207877"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0787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787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788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7881" name="Group 27"/>
          <p:cNvGrpSpPr>
            <a:grpSpLocks/>
          </p:cNvGrpSpPr>
          <p:nvPr/>
        </p:nvGrpSpPr>
        <p:grpSpPr bwMode="auto">
          <a:xfrm>
            <a:off x="2843213" y="1106488"/>
            <a:ext cx="446087" cy="534987"/>
            <a:chOff x="868" y="1439"/>
            <a:chExt cx="811" cy="972"/>
          </a:xfrm>
        </p:grpSpPr>
        <p:sp>
          <p:nvSpPr>
            <p:cNvPr id="20789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89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0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1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2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3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794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7882" name="Group 79"/>
          <p:cNvGrpSpPr>
            <a:grpSpLocks/>
          </p:cNvGrpSpPr>
          <p:nvPr/>
        </p:nvGrpSpPr>
        <p:grpSpPr bwMode="auto">
          <a:xfrm rot="-223274">
            <a:off x="1920875" y="2820988"/>
            <a:ext cx="744538" cy="733425"/>
            <a:chOff x="2757" y="1666"/>
            <a:chExt cx="812" cy="800"/>
          </a:xfrm>
        </p:grpSpPr>
        <p:sp>
          <p:nvSpPr>
            <p:cNvPr id="20788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788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788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788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788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788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7883"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8899" name="Group 3"/>
          <p:cNvGrpSpPr>
            <a:grpSpLocks/>
          </p:cNvGrpSpPr>
          <p:nvPr/>
        </p:nvGrpSpPr>
        <p:grpSpPr bwMode="auto">
          <a:xfrm>
            <a:off x="7073900" y="215900"/>
            <a:ext cx="1878013" cy="1250950"/>
            <a:chOff x="4456" y="136"/>
            <a:chExt cx="1183" cy="788"/>
          </a:xfrm>
        </p:grpSpPr>
        <p:grpSp>
          <p:nvGrpSpPr>
            <p:cNvPr id="208967" name="Group 4"/>
            <p:cNvGrpSpPr>
              <a:grpSpLocks/>
            </p:cNvGrpSpPr>
            <p:nvPr/>
          </p:nvGrpSpPr>
          <p:grpSpPr bwMode="auto">
            <a:xfrm>
              <a:off x="4766" y="232"/>
              <a:ext cx="873" cy="692"/>
              <a:chOff x="2185" y="310"/>
              <a:chExt cx="873" cy="692"/>
            </a:xfrm>
          </p:grpSpPr>
          <p:sp>
            <p:nvSpPr>
              <p:cNvPr id="208978"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9"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0"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1"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2"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3"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84"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8968" name="Group 12"/>
            <p:cNvGrpSpPr>
              <a:grpSpLocks/>
            </p:cNvGrpSpPr>
            <p:nvPr/>
          </p:nvGrpSpPr>
          <p:grpSpPr bwMode="auto">
            <a:xfrm>
              <a:off x="4949" y="336"/>
              <a:ext cx="591" cy="468"/>
              <a:chOff x="2185" y="310"/>
              <a:chExt cx="873" cy="692"/>
            </a:xfrm>
          </p:grpSpPr>
          <p:sp>
            <p:nvSpPr>
              <p:cNvPr id="208971"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2"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3"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4"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5"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6"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77"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8969"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70"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28</a:t>
              </a:r>
              <a:endParaRPr lang="fr-FR" altLang="fr-FR" sz="3200">
                <a:solidFill>
                  <a:schemeClr val="tx1"/>
                </a:solidFill>
                <a:latin typeface="Arial Black" pitchFamily="34" charset="0"/>
              </a:endParaRPr>
            </a:p>
          </p:txBody>
        </p:sp>
      </p:grpSp>
      <p:sp>
        <p:nvSpPr>
          <p:cNvPr id="208900" name="Text Box 22"/>
          <p:cNvSpPr txBox="1">
            <a:spLocks noChangeArrowheads="1"/>
          </p:cNvSpPr>
          <p:nvPr/>
        </p:nvSpPr>
        <p:spPr bwMode="auto">
          <a:xfrm>
            <a:off x="139223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R6</a:t>
            </a:r>
          </a:p>
        </p:txBody>
      </p:sp>
      <p:sp>
        <p:nvSpPr>
          <p:cNvPr id="208901"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08902"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8903"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8904"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8905" name="Group 27"/>
          <p:cNvGrpSpPr>
            <a:grpSpLocks/>
          </p:cNvGrpSpPr>
          <p:nvPr/>
        </p:nvGrpSpPr>
        <p:grpSpPr bwMode="auto">
          <a:xfrm>
            <a:off x="2843213" y="1106488"/>
            <a:ext cx="446087" cy="534987"/>
            <a:chOff x="868" y="1439"/>
            <a:chExt cx="811" cy="972"/>
          </a:xfrm>
        </p:grpSpPr>
        <p:sp>
          <p:nvSpPr>
            <p:cNvPr id="208916"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17"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18"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19"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0"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1"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2"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3"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4"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5"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6"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7"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8"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29"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0"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1"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2"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3"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4"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5"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6"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7"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8"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39"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0"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1"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2"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3"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4"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5"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6"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7"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8"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49"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0"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1"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2"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3"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4"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5"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6"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7"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8"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59"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0"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1"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2"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3"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4"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5"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8966"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8906" name="Group 79"/>
          <p:cNvGrpSpPr>
            <a:grpSpLocks/>
          </p:cNvGrpSpPr>
          <p:nvPr/>
        </p:nvGrpSpPr>
        <p:grpSpPr bwMode="auto">
          <a:xfrm rot="-223274">
            <a:off x="1525588" y="2820988"/>
            <a:ext cx="744537" cy="733425"/>
            <a:chOff x="2757" y="1666"/>
            <a:chExt cx="812" cy="800"/>
          </a:xfrm>
        </p:grpSpPr>
        <p:sp>
          <p:nvSpPr>
            <p:cNvPr id="208910"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8911"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8912"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8913"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8914"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8915"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8907"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208908" name="Oval 87"/>
          <p:cNvSpPr>
            <a:spLocks noChangeArrowheads="1"/>
          </p:cNvSpPr>
          <p:nvPr/>
        </p:nvSpPr>
        <p:spPr bwMode="auto">
          <a:xfrm rot="-5400000">
            <a:off x="3925094" y="30059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08909" name="Text Box 88"/>
          <p:cNvSpPr txBox="1">
            <a:spLocks noChangeArrowheads="1"/>
          </p:cNvSpPr>
          <p:nvPr/>
        </p:nvSpPr>
        <p:spPr bwMode="auto">
          <a:xfrm>
            <a:off x="2700338" y="3603625"/>
            <a:ext cx="29321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9923" name="Group 3"/>
          <p:cNvGrpSpPr>
            <a:grpSpLocks/>
          </p:cNvGrpSpPr>
          <p:nvPr/>
        </p:nvGrpSpPr>
        <p:grpSpPr bwMode="auto">
          <a:xfrm>
            <a:off x="7073900" y="215900"/>
            <a:ext cx="1878013" cy="1250950"/>
            <a:chOff x="4456" y="136"/>
            <a:chExt cx="1183" cy="788"/>
          </a:xfrm>
        </p:grpSpPr>
        <p:grpSp>
          <p:nvGrpSpPr>
            <p:cNvPr id="209989" name="Group 4"/>
            <p:cNvGrpSpPr>
              <a:grpSpLocks/>
            </p:cNvGrpSpPr>
            <p:nvPr/>
          </p:nvGrpSpPr>
          <p:grpSpPr bwMode="auto">
            <a:xfrm>
              <a:off x="4766" y="232"/>
              <a:ext cx="873" cy="692"/>
              <a:chOff x="2185" y="310"/>
              <a:chExt cx="873" cy="692"/>
            </a:xfrm>
          </p:grpSpPr>
          <p:sp>
            <p:nvSpPr>
              <p:cNvPr id="210000"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1"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2"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3"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4"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5"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006"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9990" name="Group 12"/>
            <p:cNvGrpSpPr>
              <a:grpSpLocks/>
            </p:cNvGrpSpPr>
            <p:nvPr/>
          </p:nvGrpSpPr>
          <p:grpSpPr bwMode="auto">
            <a:xfrm>
              <a:off x="4949" y="336"/>
              <a:ext cx="591" cy="468"/>
              <a:chOff x="2185" y="310"/>
              <a:chExt cx="873" cy="692"/>
            </a:xfrm>
          </p:grpSpPr>
          <p:sp>
            <p:nvSpPr>
              <p:cNvPr id="209993"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4"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5"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6"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7"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8"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99"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09991"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92"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29</a:t>
              </a:r>
              <a:endParaRPr lang="fr-FR" altLang="fr-FR" sz="3200">
                <a:solidFill>
                  <a:schemeClr val="tx1"/>
                </a:solidFill>
                <a:latin typeface="Arial Black" pitchFamily="34" charset="0"/>
              </a:endParaRPr>
            </a:p>
          </p:txBody>
        </p:sp>
      </p:grpSp>
      <p:sp>
        <p:nvSpPr>
          <p:cNvPr id="209924" name="Text Box 22"/>
          <p:cNvSpPr txBox="1">
            <a:spLocks noChangeArrowheads="1"/>
          </p:cNvSpPr>
          <p:nvPr/>
        </p:nvSpPr>
        <p:spPr bwMode="auto">
          <a:xfrm>
            <a:off x="1787525" y="3584575"/>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209925"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09926"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09927"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09928"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09929" name="Group 27"/>
          <p:cNvGrpSpPr>
            <a:grpSpLocks/>
          </p:cNvGrpSpPr>
          <p:nvPr/>
        </p:nvGrpSpPr>
        <p:grpSpPr bwMode="auto">
          <a:xfrm>
            <a:off x="2843213" y="1106488"/>
            <a:ext cx="446087" cy="534987"/>
            <a:chOff x="868" y="1439"/>
            <a:chExt cx="811" cy="972"/>
          </a:xfrm>
        </p:grpSpPr>
        <p:sp>
          <p:nvSpPr>
            <p:cNvPr id="209938"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39"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0"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1"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2"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3"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4"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5"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6"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7"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8"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49"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0"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1"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2"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3"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4"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5"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6"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7"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8"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59"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0"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1"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2"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3"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4"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5"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6"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7"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8"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69"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0"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1"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2"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3"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4"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5"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6"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7"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8"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79"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0"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1"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2"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3"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4"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5"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6"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7"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9988"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09930" name="Group 79"/>
          <p:cNvGrpSpPr>
            <a:grpSpLocks/>
          </p:cNvGrpSpPr>
          <p:nvPr/>
        </p:nvGrpSpPr>
        <p:grpSpPr bwMode="auto">
          <a:xfrm rot="-223274">
            <a:off x="1920875" y="2767013"/>
            <a:ext cx="744538" cy="733425"/>
            <a:chOff x="2757" y="1666"/>
            <a:chExt cx="812" cy="800"/>
          </a:xfrm>
        </p:grpSpPr>
        <p:sp>
          <p:nvSpPr>
            <p:cNvPr id="209932"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9933"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09934"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09935"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09936"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09937"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09931"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0947" name="Group 3"/>
          <p:cNvGrpSpPr>
            <a:grpSpLocks/>
          </p:cNvGrpSpPr>
          <p:nvPr/>
        </p:nvGrpSpPr>
        <p:grpSpPr bwMode="auto">
          <a:xfrm>
            <a:off x="7073900" y="215900"/>
            <a:ext cx="1878013" cy="1250950"/>
            <a:chOff x="4456" y="136"/>
            <a:chExt cx="1183" cy="788"/>
          </a:xfrm>
        </p:grpSpPr>
        <p:grpSp>
          <p:nvGrpSpPr>
            <p:cNvPr id="211015" name="Group 4"/>
            <p:cNvGrpSpPr>
              <a:grpSpLocks/>
            </p:cNvGrpSpPr>
            <p:nvPr/>
          </p:nvGrpSpPr>
          <p:grpSpPr bwMode="auto">
            <a:xfrm>
              <a:off x="4766" y="232"/>
              <a:ext cx="873" cy="692"/>
              <a:chOff x="2185" y="310"/>
              <a:chExt cx="873" cy="692"/>
            </a:xfrm>
          </p:grpSpPr>
          <p:sp>
            <p:nvSpPr>
              <p:cNvPr id="211026"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7"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8"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9"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30"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31"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32"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1016" name="Group 12"/>
            <p:cNvGrpSpPr>
              <a:grpSpLocks/>
            </p:cNvGrpSpPr>
            <p:nvPr/>
          </p:nvGrpSpPr>
          <p:grpSpPr bwMode="auto">
            <a:xfrm>
              <a:off x="4949" y="336"/>
              <a:ext cx="591" cy="468"/>
              <a:chOff x="2185" y="310"/>
              <a:chExt cx="873" cy="692"/>
            </a:xfrm>
          </p:grpSpPr>
          <p:sp>
            <p:nvSpPr>
              <p:cNvPr id="211019"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0"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1"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2"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3"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4"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25"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11017"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18"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30</a:t>
              </a:r>
              <a:endParaRPr lang="fr-FR" altLang="fr-FR" sz="3200">
                <a:solidFill>
                  <a:schemeClr val="tx1"/>
                </a:solidFill>
                <a:latin typeface="Arial Black" pitchFamily="34" charset="0"/>
              </a:endParaRPr>
            </a:p>
          </p:txBody>
        </p:sp>
      </p:grpSp>
      <p:sp>
        <p:nvSpPr>
          <p:cNvPr id="210948" name="Text Box 22"/>
          <p:cNvSpPr txBox="1">
            <a:spLocks noChangeArrowheads="1"/>
          </p:cNvSpPr>
          <p:nvPr/>
        </p:nvSpPr>
        <p:spPr bwMode="auto">
          <a:xfrm>
            <a:off x="1392238"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R1</a:t>
            </a:r>
          </a:p>
        </p:txBody>
      </p:sp>
      <p:sp>
        <p:nvSpPr>
          <p:cNvPr id="210949"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10950"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10951"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10952"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10953" name="Group 27"/>
          <p:cNvGrpSpPr>
            <a:grpSpLocks/>
          </p:cNvGrpSpPr>
          <p:nvPr/>
        </p:nvGrpSpPr>
        <p:grpSpPr bwMode="auto">
          <a:xfrm>
            <a:off x="2843213" y="1106488"/>
            <a:ext cx="446087" cy="534987"/>
            <a:chOff x="868" y="1439"/>
            <a:chExt cx="811" cy="972"/>
          </a:xfrm>
        </p:grpSpPr>
        <p:sp>
          <p:nvSpPr>
            <p:cNvPr id="210964"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5"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6"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7"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8"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69"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0"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1"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2"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3"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4"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5"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6"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7"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8"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79"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0"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1"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2"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3"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4"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5"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6"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7"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8"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89"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0"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1"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2"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3"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4"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5"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6"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7"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8"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0999"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0"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1"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2"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3"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4"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5"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6"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7"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8"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09"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0"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1"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2"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3"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1014"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0954" name="Group 79"/>
          <p:cNvGrpSpPr>
            <a:grpSpLocks/>
          </p:cNvGrpSpPr>
          <p:nvPr/>
        </p:nvGrpSpPr>
        <p:grpSpPr bwMode="auto">
          <a:xfrm rot="-223274">
            <a:off x="1525588" y="2820988"/>
            <a:ext cx="744537" cy="733425"/>
            <a:chOff x="2757" y="1666"/>
            <a:chExt cx="812" cy="800"/>
          </a:xfrm>
        </p:grpSpPr>
        <p:sp>
          <p:nvSpPr>
            <p:cNvPr id="210958"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0959"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10960"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10961"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0962"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10963"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10955"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
        <p:nvSpPr>
          <p:cNvPr id="210956" name="Oval 87"/>
          <p:cNvSpPr>
            <a:spLocks noChangeArrowheads="1"/>
          </p:cNvSpPr>
          <p:nvPr/>
        </p:nvSpPr>
        <p:spPr bwMode="auto">
          <a:xfrm rot="-5400000">
            <a:off x="3845719" y="2980531"/>
            <a:ext cx="336550" cy="312738"/>
          </a:xfrm>
          <a:prstGeom prst="ellipse">
            <a:avLst/>
          </a:prstGeom>
          <a:solidFill>
            <a:schemeClr val="bg1"/>
          </a:solidFill>
          <a:ln w="9525">
            <a:solidFill>
              <a:schemeClr val="tx1"/>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0957" name="Text Box 88"/>
          <p:cNvSpPr txBox="1">
            <a:spLocks noChangeArrowheads="1"/>
          </p:cNvSpPr>
          <p:nvPr/>
        </p:nvSpPr>
        <p:spPr bwMode="auto">
          <a:xfrm>
            <a:off x="2938463" y="3559175"/>
            <a:ext cx="22812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Couronne</a:t>
            </a:r>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2"/>
          <p:cNvSpPr>
            <a:spLocks noGrp="1" noChangeArrowheads="1"/>
          </p:cNvSpPr>
          <p:nvPr>
            <p:ph type="title"/>
          </p:nvPr>
        </p:nvSpPr>
        <p:spPr/>
        <p:txBody>
          <a:bodyPr/>
          <a:lstStyle/>
          <a:p>
            <a:pPr eaLnBrk="1" hangingPunct="1"/>
            <a:r>
              <a:rPr lang="fr-FR" altLang="fr-FR"/>
              <a:t>Question</a:t>
            </a:r>
          </a:p>
        </p:txBody>
      </p:sp>
      <p:sp>
        <p:nvSpPr>
          <p:cNvPr id="211971" name="Rectangle 3"/>
          <p:cNvSpPr>
            <a:spLocks noGrp="1" noChangeArrowheads="1"/>
          </p:cNvSpPr>
          <p:nvPr>
            <p:ph type="body" idx="1"/>
          </p:nvPr>
        </p:nvSpPr>
        <p:spPr>
          <a:xfrm>
            <a:off x="457200" y="1601788"/>
            <a:ext cx="8229600" cy="4143375"/>
          </a:xfrm>
        </p:spPr>
        <p:txBody>
          <a:bodyPr/>
          <a:lstStyle/>
          <a:p>
            <a:pPr eaLnBrk="1" hangingPunct="1">
              <a:buFontTx/>
              <a:buNone/>
            </a:pPr>
            <a:r>
              <a:rPr lang="fr-FR" altLang="fr-FR" u="sng"/>
              <a:t>Origine</a:t>
            </a:r>
            <a:r>
              <a:rPr lang="fr-FR" altLang="fr-FR"/>
              <a:t> : Directeur commercial</a:t>
            </a:r>
          </a:p>
          <a:p>
            <a:pPr eaLnBrk="1" hangingPunct="1">
              <a:buFontTx/>
              <a:buNone/>
            </a:pPr>
            <a:r>
              <a:rPr lang="fr-FR" altLang="fr-FR" u="sng"/>
              <a:t>Destinataire</a:t>
            </a:r>
            <a:r>
              <a:rPr lang="fr-FR" altLang="fr-FR"/>
              <a:t> : Directeur de production</a:t>
            </a:r>
          </a:p>
          <a:p>
            <a:pPr eaLnBrk="1" hangingPunct="1">
              <a:buFontTx/>
              <a:buNone/>
            </a:pPr>
            <a:endParaRPr lang="fr-FR" altLang="fr-FR"/>
          </a:p>
          <a:p>
            <a:pPr eaLnBrk="1" hangingPunct="1"/>
            <a:r>
              <a:rPr lang="fr-FR" altLang="fr-FR"/>
              <a:t>II y a quelque temps nous avions envisagé de supprimer le stock de produits finis et de monter les réducteurs à la commande à partir du stock de composants. </a:t>
            </a:r>
          </a:p>
          <a:p>
            <a:pPr eaLnBrk="1" hangingPunct="1"/>
            <a:r>
              <a:rPr lang="fr-FR" altLang="fr-FR"/>
              <a:t>Nous avions conclu que le délai de livraison demandé par les clients (3 jours) rendait impossible cette forme d'organisation, car :</a:t>
            </a:r>
          </a:p>
          <a:p>
            <a:pPr marL="803275" lvl="1" indent="-280988" eaLnBrk="1" hangingPunct="1"/>
            <a:r>
              <a:rPr lang="fr-FR" altLang="fr-FR"/>
              <a:t>a) Chaque réducteur ne pouvait pas être monté tous les jours. </a:t>
            </a:r>
          </a:p>
          <a:p>
            <a:pPr marL="803275" lvl="1" indent="-280988" eaLnBrk="1" hangingPunct="1"/>
            <a:r>
              <a:rPr lang="fr-FR" altLang="fr-FR"/>
              <a:t>b) Le délai administratif de traitement des commandes clients était de 2 jours. </a:t>
            </a:r>
          </a:p>
          <a:p>
            <a:pPr eaLnBrk="1" hangingPunct="1"/>
            <a:r>
              <a:rPr lang="fr-FR" altLang="fr-FR"/>
              <a:t>Qu'en est-il aujourd'hui ?</a:t>
            </a:r>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2995" name="Group 3"/>
          <p:cNvGrpSpPr>
            <a:grpSpLocks/>
          </p:cNvGrpSpPr>
          <p:nvPr/>
        </p:nvGrpSpPr>
        <p:grpSpPr bwMode="auto">
          <a:xfrm>
            <a:off x="7073900" y="215900"/>
            <a:ext cx="1878013" cy="1250950"/>
            <a:chOff x="4456" y="136"/>
            <a:chExt cx="1183" cy="788"/>
          </a:xfrm>
        </p:grpSpPr>
        <p:grpSp>
          <p:nvGrpSpPr>
            <p:cNvPr id="213061" name="Group 4"/>
            <p:cNvGrpSpPr>
              <a:grpSpLocks/>
            </p:cNvGrpSpPr>
            <p:nvPr/>
          </p:nvGrpSpPr>
          <p:grpSpPr bwMode="auto">
            <a:xfrm>
              <a:off x="4766" y="232"/>
              <a:ext cx="873" cy="692"/>
              <a:chOff x="2185" y="310"/>
              <a:chExt cx="873" cy="692"/>
            </a:xfrm>
          </p:grpSpPr>
          <p:sp>
            <p:nvSpPr>
              <p:cNvPr id="213072"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3"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4"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5"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6"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7"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8"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3062" name="Group 12"/>
            <p:cNvGrpSpPr>
              <a:grpSpLocks/>
            </p:cNvGrpSpPr>
            <p:nvPr/>
          </p:nvGrpSpPr>
          <p:grpSpPr bwMode="auto">
            <a:xfrm>
              <a:off x="4949" y="336"/>
              <a:ext cx="591" cy="468"/>
              <a:chOff x="2185" y="310"/>
              <a:chExt cx="873" cy="692"/>
            </a:xfrm>
          </p:grpSpPr>
          <p:sp>
            <p:nvSpPr>
              <p:cNvPr id="213065"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6"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7"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8"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9"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0"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71"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13063"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064"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31</a:t>
              </a:r>
              <a:endParaRPr lang="fr-FR" altLang="fr-FR" sz="3200">
                <a:solidFill>
                  <a:schemeClr val="tx1"/>
                </a:solidFill>
                <a:latin typeface="Arial Black" pitchFamily="34" charset="0"/>
              </a:endParaRPr>
            </a:p>
          </p:txBody>
        </p:sp>
      </p:grpSp>
      <p:sp>
        <p:nvSpPr>
          <p:cNvPr id="212996" name="Text Box 22"/>
          <p:cNvSpPr txBox="1">
            <a:spLocks noChangeArrowheads="1"/>
          </p:cNvSpPr>
          <p:nvPr/>
        </p:nvSpPr>
        <p:spPr bwMode="auto">
          <a:xfrm>
            <a:off x="1752600" y="3638550"/>
            <a:ext cx="8286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2400">
                <a:solidFill>
                  <a:srgbClr val="FC2C1C"/>
                </a:solidFill>
              </a:rPr>
              <a:t>1 R5</a:t>
            </a:r>
          </a:p>
        </p:txBody>
      </p:sp>
      <p:sp>
        <p:nvSpPr>
          <p:cNvPr id="212997"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12998" name="Text Box 24"/>
          <p:cNvSpPr txBox="1">
            <a:spLocks noChangeArrowheads="1"/>
          </p:cNvSpPr>
          <p:nvPr/>
        </p:nvSpPr>
        <p:spPr bwMode="auto">
          <a:xfrm>
            <a:off x="574675" y="2030413"/>
            <a:ext cx="355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Livrez les commandes</a:t>
            </a:r>
          </a:p>
        </p:txBody>
      </p:sp>
      <p:sp>
        <p:nvSpPr>
          <p:cNvPr id="212999"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13000"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13001" name="Group 27"/>
          <p:cNvGrpSpPr>
            <a:grpSpLocks/>
          </p:cNvGrpSpPr>
          <p:nvPr/>
        </p:nvGrpSpPr>
        <p:grpSpPr bwMode="auto">
          <a:xfrm>
            <a:off x="2843213" y="1106488"/>
            <a:ext cx="446087" cy="534987"/>
            <a:chOff x="868" y="1439"/>
            <a:chExt cx="811" cy="972"/>
          </a:xfrm>
        </p:grpSpPr>
        <p:sp>
          <p:nvSpPr>
            <p:cNvPr id="213010"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1"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2"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3"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4"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5"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6"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7"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8"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19"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0"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1"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2"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3"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4"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5"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6"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7"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8"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29"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0"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1"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2"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3"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4"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5"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6"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7"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8"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39"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0"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1"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2"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3"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4"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5"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6"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7"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8"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49"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0"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1"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2"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3"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4"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5"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6"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7"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8"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59"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3060"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3002" name="Group 79"/>
          <p:cNvGrpSpPr>
            <a:grpSpLocks/>
          </p:cNvGrpSpPr>
          <p:nvPr/>
        </p:nvGrpSpPr>
        <p:grpSpPr bwMode="auto">
          <a:xfrm rot="-223274">
            <a:off x="1885950" y="2820988"/>
            <a:ext cx="744538" cy="733425"/>
            <a:chOff x="2757" y="1666"/>
            <a:chExt cx="812" cy="800"/>
          </a:xfrm>
        </p:grpSpPr>
        <p:sp>
          <p:nvSpPr>
            <p:cNvPr id="213004" name="Freeform 80"/>
            <p:cNvSpPr>
              <a:spLocks/>
            </p:cNvSpPr>
            <p:nvPr/>
          </p:nvSpPr>
          <p:spPr bwMode="auto">
            <a:xfrm>
              <a:off x="2762" y="1667"/>
              <a:ext cx="807" cy="584"/>
            </a:xfrm>
            <a:custGeom>
              <a:avLst/>
              <a:gdLst>
                <a:gd name="T0" fmla="*/ 497 w 807"/>
                <a:gd name="T1" fmla="*/ 583 h 584"/>
                <a:gd name="T2" fmla="*/ 0 w 807"/>
                <a:gd name="T3" fmla="*/ 452 h 584"/>
                <a:gd name="T4" fmla="*/ 337 w 807"/>
                <a:gd name="T5" fmla="*/ 0 h 584"/>
                <a:gd name="T6" fmla="*/ 806 w 807"/>
                <a:gd name="T7" fmla="*/ 98 h 584"/>
                <a:gd name="T8" fmla="*/ 497 w 807"/>
                <a:gd name="T9" fmla="*/ 583 h 584"/>
                <a:gd name="T10" fmla="*/ 0 60000 65536"/>
                <a:gd name="T11" fmla="*/ 0 60000 65536"/>
                <a:gd name="T12" fmla="*/ 0 60000 65536"/>
                <a:gd name="T13" fmla="*/ 0 60000 65536"/>
                <a:gd name="T14" fmla="*/ 0 60000 65536"/>
                <a:gd name="T15" fmla="*/ 0 w 807"/>
                <a:gd name="T16" fmla="*/ 0 h 584"/>
                <a:gd name="T17" fmla="*/ 807 w 807"/>
                <a:gd name="T18" fmla="*/ 584 h 584"/>
              </a:gdLst>
              <a:ahLst/>
              <a:cxnLst>
                <a:cxn ang="T10">
                  <a:pos x="T0" y="T1"/>
                </a:cxn>
                <a:cxn ang="T11">
                  <a:pos x="T2" y="T3"/>
                </a:cxn>
                <a:cxn ang="T12">
                  <a:pos x="T4" y="T5"/>
                </a:cxn>
                <a:cxn ang="T13">
                  <a:pos x="T6" y="T7"/>
                </a:cxn>
                <a:cxn ang="T14">
                  <a:pos x="T8" y="T9"/>
                </a:cxn>
              </a:cxnLst>
              <a:rect l="T15" t="T16" r="T17" b="T18"/>
              <a:pathLst>
                <a:path w="807" h="584">
                  <a:moveTo>
                    <a:pt x="497" y="583"/>
                  </a:moveTo>
                  <a:lnTo>
                    <a:pt x="0" y="452"/>
                  </a:lnTo>
                  <a:lnTo>
                    <a:pt x="337" y="0"/>
                  </a:lnTo>
                  <a:lnTo>
                    <a:pt x="806" y="98"/>
                  </a:lnTo>
                  <a:lnTo>
                    <a:pt x="497" y="583"/>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3005" name="Freeform 81"/>
            <p:cNvSpPr>
              <a:spLocks/>
            </p:cNvSpPr>
            <p:nvPr/>
          </p:nvSpPr>
          <p:spPr bwMode="auto">
            <a:xfrm>
              <a:off x="2882" y="1861"/>
              <a:ext cx="578" cy="384"/>
            </a:xfrm>
            <a:custGeom>
              <a:avLst/>
              <a:gdLst>
                <a:gd name="T0" fmla="*/ 377 w 578"/>
                <a:gd name="T1" fmla="*/ 383 h 384"/>
                <a:gd name="T2" fmla="*/ 0 w 578"/>
                <a:gd name="T3" fmla="*/ 291 h 384"/>
                <a:gd name="T4" fmla="*/ 217 w 578"/>
                <a:gd name="T5" fmla="*/ 0 h 384"/>
                <a:gd name="T6" fmla="*/ 577 w 578"/>
                <a:gd name="T7" fmla="*/ 74 h 384"/>
                <a:gd name="T8" fmla="*/ 377 w 578"/>
                <a:gd name="T9" fmla="*/ 383 h 384"/>
                <a:gd name="T10" fmla="*/ 0 60000 65536"/>
                <a:gd name="T11" fmla="*/ 0 60000 65536"/>
                <a:gd name="T12" fmla="*/ 0 60000 65536"/>
                <a:gd name="T13" fmla="*/ 0 60000 65536"/>
                <a:gd name="T14" fmla="*/ 0 60000 65536"/>
                <a:gd name="T15" fmla="*/ 0 w 578"/>
                <a:gd name="T16" fmla="*/ 0 h 384"/>
                <a:gd name="T17" fmla="*/ 578 w 578"/>
                <a:gd name="T18" fmla="*/ 384 h 384"/>
              </a:gdLst>
              <a:ahLst/>
              <a:cxnLst>
                <a:cxn ang="T10">
                  <a:pos x="T0" y="T1"/>
                </a:cxn>
                <a:cxn ang="T11">
                  <a:pos x="T2" y="T3"/>
                </a:cxn>
                <a:cxn ang="T12">
                  <a:pos x="T4" y="T5"/>
                </a:cxn>
                <a:cxn ang="T13">
                  <a:pos x="T6" y="T7"/>
                </a:cxn>
                <a:cxn ang="T14">
                  <a:pos x="T8" y="T9"/>
                </a:cxn>
              </a:cxnLst>
              <a:rect l="T15" t="T16" r="T17" b="T18"/>
              <a:pathLst>
                <a:path w="578" h="384">
                  <a:moveTo>
                    <a:pt x="377" y="383"/>
                  </a:moveTo>
                  <a:lnTo>
                    <a:pt x="0" y="291"/>
                  </a:lnTo>
                  <a:lnTo>
                    <a:pt x="217" y="0"/>
                  </a:lnTo>
                  <a:lnTo>
                    <a:pt x="577" y="74"/>
                  </a:lnTo>
                  <a:lnTo>
                    <a:pt x="377" y="383"/>
                  </a:lnTo>
                </a:path>
              </a:pathLst>
            </a:custGeom>
            <a:solidFill>
              <a:srgbClr val="E22B00"/>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fr-FR"/>
            </a:p>
          </p:txBody>
        </p:sp>
        <p:sp>
          <p:nvSpPr>
            <p:cNvPr id="213006" name="Line 82"/>
            <p:cNvSpPr>
              <a:spLocks noChangeShapeType="1"/>
            </p:cNvSpPr>
            <p:nvPr/>
          </p:nvSpPr>
          <p:spPr bwMode="auto">
            <a:xfrm>
              <a:off x="3102" y="1862"/>
              <a:ext cx="352"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13007" name="Freeform 83"/>
            <p:cNvSpPr>
              <a:spLocks/>
            </p:cNvSpPr>
            <p:nvPr/>
          </p:nvSpPr>
          <p:spPr bwMode="auto">
            <a:xfrm>
              <a:off x="2762" y="1666"/>
              <a:ext cx="337" cy="485"/>
            </a:xfrm>
            <a:custGeom>
              <a:avLst/>
              <a:gdLst>
                <a:gd name="T0" fmla="*/ 336 w 337"/>
                <a:gd name="T1" fmla="*/ 194 h 485"/>
                <a:gd name="T2" fmla="*/ 118 w 337"/>
                <a:gd name="T3" fmla="*/ 484 h 485"/>
                <a:gd name="T4" fmla="*/ 0 w 337"/>
                <a:gd name="T5" fmla="*/ 452 h 485"/>
                <a:gd name="T6" fmla="*/ 336 w 337"/>
                <a:gd name="T7" fmla="*/ 0 h 485"/>
                <a:gd name="T8" fmla="*/ 336 w 337"/>
                <a:gd name="T9" fmla="*/ 152 h 485"/>
                <a:gd name="T10" fmla="*/ 336 w 337"/>
                <a:gd name="T11" fmla="*/ 194 h 485"/>
                <a:gd name="T12" fmla="*/ 0 60000 65536"/>
                <a:gd name="T13" fmla="*/ 0 60000 65536"/>
                <a:gd name="T14" fmla="*/ 0 60000 65536"/>
                <a:gd name="T15" fmla="*/ 0 60000 65536"/>
                <a:gd name="T16" fmla="*/ 0 60000 65536"/>
                <a:gd name="T17" fmla="*/ 0 60000 65536"/>
                <a:gd name="T18" fmla="*/ 0 w 337"/>
                <a:gd name="T19" fmla="*/ 0 h 485"/>
                <a:gd name="T20" fmla="*/ 337 w 337"/>
                <a:gd name="T21" fmla="*/ 485 h 485"/>
              </a:gdLst>
              <a:ahLst/>
              <a:cxnLst>
                <a:cxn ang="T12">
                  <a:pos x="T0" y="T1"/>
                </a:cxn>
                <a:cxn ang="T13">
                  <a:pos x="T2" y="T3"/>
                </a:cxn>
                <a:cxn ang="T14">
                  <a:pos x="T4" y="T5"/>
                </a:cxn>
                <a:cxn ang="T15">
                  <a:pos x="T6" y="T7"/>
                </a:cxn>
                <a:cxn ang="T16">
                  <a:pos x="T8" y="T9"/>
                </a:cxn>
                <a:cxn ang="T17">
                  <a:pos x="T10" y="T11"/>
                </a:cxn>
              </a:cxnLst>
              <a:rect l="T18" t="T19" r="T20" b="T21"/>
              <a:pathLst>
                <a:path w="337" h="485">
                  <a:moveTo>
                    <a:pt x="336" y="194"/>
                  </a:moveTo>
                  <a:lnTo>
                    <a:pt x="118" y="484"/>
                  </a:lnTo>
                  <a:lnTo>
                    <a:pt x="0" y="452"/>
                  </a:lnTo>
                  <a:lnTo>
                    <a:pt x="336" y="0"/>
                  </a:lnTo>
                  <a:lnTo>
                    <a:pt x="336" y="152"/>
                  </a:lnTo>
                  <a:lnTo>
                    <a:pt x="336" y="194"/>
                  </a:lnTo>
                </a:path>
              </a:pathLst>
            </a:custGeom>
            <a:solidFill>
              <a:srgbClr val="FF6D4B"/>
            </a:solidFill>
            <a:ln w="12700" cap="rnd" cmpd="sng">
              <a:solidFill>
                <a:schemeClr val="tx1"/>
              </a:solidFill>
              <a:prstDash val="solid"/>
              <a:round/>
              <a:headEnd type="none" w="med" len="med"/>
              <a:tailEnd type="none" w="med" len="med"/>
            </a:ln>
          </p:spPr>
          <p:txBody>
            <a:bodyPr/>
            <a:lstStyle/>
            <a:p>
              <a:endParaRPr lang="fr-FR"/>
            </a:p>
          </p:txBody>
        </p:sp>
        <p:sp>
          <p:nvSpPr>
            <p:cNvPr id="213008" name="Freeform 84"/>
            <p:cNvSpPr>
              <a:spLocks/>
            </p:cNvSpPr>
            <p:nvPr/>
          </p:nvSpPr>
          <p:spPr bwMode="auto">
            <a:xfrm>
              <a:off x="2757" y="2124"/>
              <a:ext cx="509" cy="339"/>
            </a:xfrm>
            <a:custGeom>
              <a:avLst/>
              <a:gdLst>
                <a:gd name="T0" fmla="*/ 0 w 506"/>
                <a:gd name="T1" fmla="*/ 0 h 345"/>
                <a:gd name="T2" fmla="*/ 1 w 506"/>
                <a:gd name="T3" fmla="*/ 198 h 345"/>
                <a:gd name="T4" fmla="*/ 514 w 506"/>
                <a:gd name="T5" fmla="*/ 326 h 345"/>
                <a:gd name="T6" fmla="*/ 513 w 506"/>
                <a:gd name="T7" fmla="*/ 124 h 345"/>
                <a:gd name="T8" fmla="*/ 0 60000 65536"/>
                <a:gd name="T9" fmla="*/ 0 60000 65536"/>
                <a:gd name="T10" fmla="*/ 0 60000 65536"/>
                <a:gd name="T11" fmla="*/ 0 60000 65536"/>
                <a:gd name="T12" fmla="*/ 0 w 506"/>
                <a:gd name="T13" fmla="*/ 0 h 345"/>
                <a:gd name="T14" fmla="*/ 506 w 506"/>
                <a:gd name="T15" fmla="*/ 345 h 345"/>
              </a:gdLst>
              <a:ahLst/>
              <a:cxnLst>
                <a:cxn ang="T8">
                  <a:pos x="T0" y="T1"/>
                </a:cxn>
                <a:cxn ang="T9">
                  <a:pos x="T2" y="T3"/>
                </a:cxn>
                <a:cxn ang="T10">
                  <a:pos x="T4" y="T5"/>
                </a:cxn>
                <a:cxn ang="T11">
                  <a:pos x="T6" y="T7"/>
                </a:cxn>
              </a:cxnLst>
              <a:rect l="T12" t="T13" r="T14" b="T15"/>
              <a:pathLst>
                <a:path w="506" h="345">
                  <a:moveTo>
                    <a:pt x="0" y="0"/>
                  </a:moveTo>
                  <a:lnTo>
                    <a:pt x="1" y="209"/>
                  </a:lnTo>
                  <a:lnTo>
                    <a:pt x="505" y="344"/>
                  </a:lnTo>
                  <a:lnTo>
                    <a:pt x="504" y="130"/>
                  </a:lnTo>
                </a:path>
              </a:pathLst>
            </a:custGeom>
            <a:solidFill>
              <a:srgbClr val="FC2C1C"/>
            </a:solidFill>
            <a:ln w="12700" cap="rnd" cmpd="sng">
              <a:solidFill>
                <a:schemeClr val="bg2"/>
              </a:solidFill>
              <a:prstDash val="solid"/>
              <a:round/>
              <a:headEnd type="none" w="med" len="med"/>
              <a:tailEnd type="none" w="med" len="med"/>
            </a:ln>
          </p:spPr>
          <p:txBody>
            <a:bodyPr/>
            <a:lstStyle/>
            <a:p>
              <a:endParaRPr lang="fr-FR"/>
            </a:p>
          </p:txBody>
        </p:sp>
        <p:sp>
          <p:nvSpPr>
            <p:cNvPr id="213009" name="AutoShape 85"/>
            <p:cNvSpPr>
              <a:spLocks noChangeArrowheads="1"/>
            </p:cNvSpPr>
            <p:nvPr/>
          </p:nvSpPr>
          <p:spPr bwMode="auto">
            <a:xfrm rot="16200000" flipH="1">
              <a:off x="3067" y="1967"/>
              <a:ext cx="693" cy="306"/>
            </a:xfrm>
            <a:prstGeom prst="parallelogram">
              <a:avLst>
                <a:gd name="adj" fmla="val 156202"/>
              </a:avLst>
            </a:prstGeom>
            <a:solidFill>
              <a:srgbClr val="FC2C1C"/>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
        <p:nvSpPr>
          <p:cNvPr id="213003"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4019" name="Group 3"/>
          <p:cNvGrpSpPr>
            <a:grpSpLocks/>
          </p:cNvGrpSpPr>
          <p:nvPr/>
        </p:nvGrpSpPr>
        <p:grpSpPr bwMode="auto">
          <a:xfrm>
            <a:off x="7073900" y="215900"/>
            <a:ext cx="1878013" cy="1250950"/>
            <a:chOff x="4456" y="136"/>
            <a:chExt cx="1183" cy="788"/>
          </a:xfrm>
        </p:grpSpPr>
        <p:grpSp>
          <p:nvGrpSpPr>
            <p:cNvPr id="214078" name="Group 4"/>
            <p:cNvGrpSpPr>
              <a:grpSpLocks/>
            </p:cNvGrpSpPr>
            <p:nvPr/>
          </p:nvGrpSpPr>
          <p:grpSpPr bwMode="auto">
            <a:xfrm>
              <a:off x="4766" y="232"/>
              <a:ext cx="873" cy="692"/>
              <a:chOff x="2185" y="310"/>
              <a:chExt cx="873" cy="692"/>
            </a:xfrm>
          </p:grpSpPr>
          <p:sp>
            <p:nvSpPr>
              <p:cNvPr id="214089" name="Freeform 5"/>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0" name="Freeform 6"/>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1" name="Freeform 7"/>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2" name="Freeform 8"/>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3" name="Freeform 9"/>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4" name="Freeform 10"/>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95" name="Freeform 11"/>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grpSp>
          <p:nvGrpSpPr>
            <p:cNvPr id="214079" name="Group 12"/>
            <p:cNvGrpSpPr>
              <a:grpSpLocks/>
            </p:cNvGrpSpPr>
            <p:nvPr/>
          </p:nvGrpSpPr>
          <p:grpSpPr bwMode="auto">
            <a:xfrm>
              <a:off x="4949" y="336"/>
              <a:ext cx="591" cy="468"/>
              <a:chOff x="2185" y="310"/>
              <a:chExt cx="873" cy="692"/>
            </a:xfrm>
          </p:grpSpPr>
          <p:sp>
            <p:nvSpPr>
              <p:cNvPr id="214082" name="Freeform 13"/>
              <p:cNvSpPr>
                <a:spLocks/>
              </p:cNvSpPr>
              <p:nvPr/>
            </p:nvSpPr>
            <p:spPr bwMode="auto">
              <a:xfrm>
                <a:off x="2211" y="310"/>
                <a:ext cx="847" cy="692"/>
              </a:xfrm>
              <a:custGeom>
                <a:avLst/>
                <a:gdLst>
                  <a:gd name="T0" fmla="*/ 0 w 2542"/>
                  <a:gd name="T1" fmla="*/ 0 h 2076"/>
                  <a:gd name="T2" fmla="*/ 7 w 2542"/>
                  <a:gd name="T3" fmla="*/ 77 h 2076"/>
                  <a:gd name="T4" fmla="*/ 79 w 2542"/>
                  <a:gd name="T5" fmla="*/ 69 h 2076"/>
                  <a:gd name="T6" fmla="*/ 94 w 2542"/>
                  <a:gd name="T7" fmla="*/ 2 h 2076"/>
                  <a:gd name="T8" fmla="*/ 0 w 2542"/>
                  <a:gd name="T9" fmla="*/ 0 h 2076"/>
                  <a:gd name="T10" fmla="*/ 0 60000 65536"/>
                  <a:gd name="T11" fmla="*/ 0 60000 65536"/>
                  <a:gd name="T12" fmla="*/ 0 60000 65536"/>
                  <a:gd name="T13" fmla="*/ 0 60000 65536"/>
                  <a:gd name="T14" fmla="*/ 0 60000 65536"/>
                  <a:gd name="T15" fmla="*/ 0 w 2542"/>
                  <a:gd name="T16" fmla="*/ 0 h 2076"/>
                  <a:gd name="T17" fmla="*/ 2542 w 2542"/>
                  <a:gd name="T18" fmla="*/ 2076 h 2076"/>
                </a:gdLst>
                <a:ahLst/>
                <a:cxnLst>
                  <a:cxn ang="T10">
                    <a:pos x="T0" y="T1"/>
                  </a:cxn>
                  <a:cxn ang="T11">
                    <a:pos x="T2" y="T3"/>
                  </a:cxn>
                  <a:cxn ang="T12">
                    <a:pos x="T4" y="T5"/>
                  </a:cxn>
                  <a:cxn ang="T13">
                    <a:pos x="T6" y="T7"/>
                  </a:cxn>
                  <a:cxn ang="T14">
                    <a:pos x="T8" y="T9"/>
                  </a:cxn>
                </a:cxnLst>
                <a:rect l="T15" t="T16" r="T17" b="T18"/>
                <a:pathLst>
                  <a:path w="2542" h="2076">
                    <a:moveTo>
                      <a:pt x="0" y="0"/>
                    </a:moveTo>
                    <a:lnTo>
                      <a:pt x="188" y="2076"/>
                    </a:lnTo>
                    <a:lnTo>
                      <a:pt x="2125" y="1857"/>
                    </a:lnTo>
                    <a:lnTo>
                      <a:pt x="2542" y="61"/>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3" name="Freeform 14"/>
              <p:cNvSpPr>
                <a:spLocks/>
              </p:cNvSpPr>
              <p:nvPr/>
            </p:nvSpPr>
            <p:spPr bwMode="auto">
              <a:xfrm>
                <a:off x="2242" y="878"/>
                <a:ext cx="269" cy="112"/>
              </a:xfrm>
              <a:custGeom>
                <a:avLst/>
                <a:gdLst>
                  <a:gd name="T0" fmla="*/ 29 w 807"/>
                  <a:gd name="T1" fmla="*/ 8 h 335"/>
                  <a:gd name="T2" fmla="*/ 2 w 807"/>
                  <a:gd name="T3" fmla="*/ 12 h 335"/>
                  <a:gd name="T4" fmla="*/ 1 w 807"/>
                  <a:gd name="T5" fmla="*/ 0 h 335"/>
                  <a:gd name="T6" fmla="*/ 1 w 807"/>
                  <a:gd name="T7" fmla="*/ 0 h 335"/>
                  <a:gd name="T8" fmla="*/ 1 w 807"/>
                  <a:gd name="T9" fmla="*/ 0 h 335"/>
                  <a:gd name="T10" fmla="*/ 1 w 807"/>
                  <a:gd name="T11" fmla="*/ 0 h 335"/>
                  <a:gd name="T12" fmla="*/ 0 w 807"/>
                  <a:gd name="T13" fmla="*/ 0 h 335"/>
                  <a:gd name="T14" fmla="*/ 0 w 807"/>
                  <a:gd name="T15" fmla="*/ 0 h 335"/>
                  <a:gd name="T16" fmla="*/ 0 w 807"/>
                  <a:gd name="T17" fmla="*/ 0 h 335"/>
                  <a:gd name="T18" fmla="*/ 0 w 807"/>
                  <a:gd name="T19" fmla="*/ 0 h 335"/>
                  <a:gd name="T20" fmla="*/ 0 w 807"/>
                  <a:gd name="T21" fmla="*/ 0 h 335"/>
                  <a:gd name="T22" fmla="*/ 1 w 807"/>
                  <a:gd name="T23" fmla="*/ 12 h 335"/>
                  <a:gd name="T24" fmla="*/ 30 w 807"/>
                  <a:gd name="T25" fmla="*/ 9 h 335"/>
                  <a:gd name="T26" fmla="*/ 30 w 807"/>
                  <a:gd name="T27" fmla="*/ 9 h 335"/>
                  <a:gd name="T28" fmla="*/ 30 w 807"/>
                  <a:gd name="T29" fmla="*/ 9 h 335"/>
                  <a:gd name="T30" fmla="*/ 30 w 807"/>
                  <a:gd name="T31" fmla="*/ 9 h 335"/>
                  <a:gd name="T32" fmla="*/ 30 w 807"/>
                  <a:gd name="T33" fmla="*/ 9 h 335"/>
                  <a:gd name="T34" fmla="*/ 30 w 807"/>
                  <a:gd name="T35" fmla="*/ 9 h 335"/>
                  <a:gd name="T36" fmla="*/ 30 w 807"/>
                  <a:gd name="T37" fmla="*/ 9 h 335"/>
                  <a:gd name="T38" fmla="*/ 30 w 807"/>
                  <a:gd name="T39" fmla="*/ 9 h 335"/>
                  <a:gd name="T40" fmla="*/ 30 w 807"/>
                  <a:gd name="T41" fmla="*/ 8 h 335"/>
                  <a:gd name="T42" fmla="*/ 29 w 807"/>
                  <a:gd name="T43" fmla="*/ 8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5"/>
                  <a:gd name="T68" fmla="*/ 807 w 807"/>
                  <a:gd name="T69" fmla="*/ 335 h 3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5">
                    <a:moveTo>
                      <a:pt x="795" y="226"/>
                    </a:moveTo>
                    <a:lnTo>
                      <a:pt x="54" y="313"/>
                    </a:lnTo>
                    <a:lnTo>
                      <a:pt x="21" y="9"/>
                    </a:lnTo>
                    <a:lnTo>
                      <a:pt x="20" y="4"/>
                    </a:lnTo>
                    <a:lnTo>
                      <a:pt x="17" y="1"/>
                    </a:lnTo>
                    <a:lnTo>
                      <a:pt x="14" y="0"/>
                    </a:lnTo>
                    <a:lnTo>
                      <a:pt x="9" y="0"/>
                    </a:lnTo>
                    <a:lnTo>
                      <a:pt x="5" y="1"/>
                    </a:lnTo>
                    <a:lnTo>
                      <a:pt x="2" y="3"/>
                    </a:lnTo>
                    <a:lnTo>
                      <a:pt x="0" y="7"/>
                    </a:lnTo>
                    <a:lnTo>
                      <a:pt x="0" y="10"/>
                    </a:lnTo>
                    <a:lnTo>
                      <a:pt x="36" y="335"/>
                    </a:lnTo>
                    <a:lnTo>
                      <a:pt x="798" y="247"/>
                    </a:lnTo>
                    <a:lnTo>
                      <a:pt x="801" y="245"/>
                    </a:lnTo>
                    <a:lnTo>
                      <a:pt x="804" y="242"/>
                    </a:lnTo>
                    <a:lnTo>
                      <a:pt x="805" y="239"/>
                    </a:lnTo>
                    <a:lnTo>
                      <a:pt x="807" y="235"/>
                    </a:lnTo>
                    <a:lnTo>
                      <a:pt x="805" y="232"/>
                    </a:lnTo>
                    <a:lnTo>
                      <a:pt x="802" y="229"/>
                    </a:lnTo>
                    <a:lnTo>
                      <a:pt x="799" y="227"/>
                    </a:lnTo>
                    <a:lnTo>
                      <a:pt x="795" y="2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4" name="Freeform 15"/>
              <p:cNvSpPr>
                <a:spLocks/>
              </p:cNvSpPr>
              <p:nvPr/>
            </p:nvSpPr>
            <p:spPr bwMode="auto">
              <a:xfrm>
                <a:off x="2782" y="349"/>
                <a:ext cx="251" cy="579"/>
              </a:xfrm>
              <a:custGeom>
                <a:avLst/>
                <a:gdLst>
                  <a:gd name="T0" fmla="*/ 13 w 755"/>
                  <a:gd name="T1" fmla="*/ 0 h 1737"/>
                  <a:gd name="T2" fmla="*/ 13 w 755"/>
                  <a:gd name="T3" fmla="*/ 0 h 1737"/>
                  <a:gd name="T4" fmla="*/ 13 w 755"/>
                  <a:gd name="T5" fmla="*/ 0 h 1737"/>
                  <a:gd name="T6" fmla="*/ 13 w 755"/>
                  <a:gd name="T7" fmla="*/ 0 h 1737"/>
                  <a:gd name="T8" fmla="*/ 13 w 755"/>
                  <a:gd name="T9" fmla="*/ 0 h 1737"/>
                  <a:gd name="T10" fmla="*/ 13 w 755"/>
                  <a:gd name="T11" fmla="*/ 1 h 1737"/>
                  <a:gd name="T12" fmla="*/ 13 w 755"/>
                  <a:gd name="T13" fmla="*/ 1 h 1737"/>
                  <a:gd name="T14" fmla="*/ 13 w 755"/>
                  <a:gd name="T15" fmla="*/ 1 h 1737"/>
                  <a:gd name="T16" fmla="*/ 13 w 755"/>
                  <a:gd name="T17" fmla="*/ 1 h 1737"/>
                  <a:gd name="T18" fmla="*/ 27 w 755"/>
                  <a:gd name="T19" fmla="*/ 1 h 1737"/>
                  <a:gd name="T20" fmla="*/ 12 w 755"/>
                  <a:gd name="T21" fmla="*/ 62 h 1737"/>
                  <a:gd name="T22" fmla="*/ 0 w 755"/>
                  <a:gd name="T23" fmla="*/ 64 h 1737"/>
                  <a:gd name="T24" fmla="*/ 0 w 755"/>
                  <a:gd name="T25" fmla="*/ 64 h 1737"/>
                  <a:gd name="T26" fmla="*/ 0 w 755"/>
                  <a:gd name="T27" fmla="*/ 64 h 1737"/>
                  <a:gd name="T28" fmla="*/ 0 w 755"/>
                  <a:gd name="T29" fmla="*/ 64 h 1737"/>
                  <a:gd name="T30" fmla="*/ 0 w 755"/>
                  <a:gd name="T31" fmla="*/ 64 h 1737"/>
                  <a:gd name="T32" fmla="*/ 0 w 755"/>
                  <a:gd name="T33" fmla="*/ 64 h 1737"/>
                  <a:gd name="T34" fmla="*/ 0 w 755"/>
                  <a:gd name="T35" fmla="*/ 64 h 1737"/>
                  <a:gd name="T36" fmla="*/ 0 w 755"/>
                  <a:gd name="T37" fmla="*/ 64 h 1737"/>
                  <a:gd name="T38" fmla="*/ 0 w 755"/>
                  <a:gd name="T39" fmla="*/ 64 h 1737"/>
                  <a:gd name="T40" fmla="*/ 0 w 755"/>
                  <a:gd name="T41" fmla="*/ 64 h 1737"/>
                  <a:gd name="T42" fmla="*/ 13 w 755"/>
                  <a:gd name="T43" fmla="*/ 63 h 1737"/>
                  <a:gd name="T44" fmla="*/ 28 w 755"/>
                  <a:gd name="T45" fmla="*/ 0 h 1737"/>
                  <a:gd name="T46" fmla="*/ 13 w 755"/>
                  <a:gd name="T47" fmla="*/ 0 h 17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5"/>
                  <a:gd name="T73" fmla="*/ 0 h 1737"/>
                  <a:gd name="T74" fmla="*/ 755 w 755"/>
                  <a:gd name="T75" fmla="*/ 1737 h 17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5" h="1737">
                    <a:moveTo>
                      <a:pt x="356" y="0"/>
                    </a:moveTo>
                    <a:lnTo>
                      <a:pt x="351" y="1"/>
                    </a:lnTo>
                    <a:lnTo>
                      <a:pt x="348" y="3"/>
                    </a:lnTo>
                    <a:lnTo>
                      <a:pt x="347" y="6"/>
                    </a:lnTo>
                    <a:lnTo>
                      <a:pt x="345" y="10"/>
                    </a:lnTo>
                    <a:lnTo>
                      <a:pt x="347" y="14"/>
                    </a:lnTo>
                    <a:lnTo>
                      <a:pt x="348" y="17"/>
                    </a:lnTo>
                    <a:lnTo>
                      <a:pt x="351" y="19"/>
                    </a:lnTo>
                    <a:lnTo>
                      <a:pt x="356" y="20"/>
                    </a:lnTo>
                    <a:lnTo>
                      <a:pt x="730" y="20"/>
                    </a:lnTo>
                    <a:lnTo>
                      <a:pt x="338" y="1676"/>
                    </a:lnTo>
                    <a:lnTo>
                      <a:pt x="9" y="1716"/>
                    </a:lnTo>
                    <a:lnTo>
                      <a:pt x="5" y="1718"/>
                    </a:lnTo>
                    <a:lnTo>
                      <a:pt x="2" y="1721"/>
                    </a:lnTo>
                    <a:lnTo>
                      <a:pt x="0" y="1724"/>
                    </a:lnTo>
                    <a:lnTo>
                      <a:pt x="0" y="1728"/>
                    </a:lnTo>
                    <a:lnTo>
                      <a:pt x="2" y="1733"/>
                    </a:lnTo>
                    <a:lnTo>
                      <a:pt x="3" y="1734"/>
                    </a:lnTo>
                    <a:lnTo>
                      <a:pt x="6" y="1737"/>
                    </a:lnTo>
                    <a:lnTo>
                      <a:pt x="11" y="1737"/>
                    </a:lnTo>
                    <a:lnTo>
                      <a:pt x="354" y="1696"/>
                    </a:lnTo>
                    <a:lnTo>
                      <a:pt x="755" y="0"/>
                    </a:lnTo>
                    <a:lnTo>
                      <a:pt x="35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5" name="Freeform 16"/>
              <p:cNvSpPr>
                <a:spLocks/>
              </p:cNvSpPr>
              <p:nvPr/>
            </p:nvSpPr>
            <p:spPr bwMode="auto">
              <a:xfrm>
                <a:off x="2186" y="333"/>
                <a:ext cx="176" cy="261"/>
              </a:xfrm>
              <a:custGeom>
                <a:avLst/>
                <a:gdLst>
                  <a:gd name="T0" fmla="*/ 19 w 528"/>
                  <a:gd name="T1" fmla="*/ 1 h 783"/>
                  <a:gd name="T2" fmla="*/ 19 w 528"/>
                  <a:gd name="T3" fmla="*/ 1 h 783"/>
                  <a:gd name="T4" fmla="*/ 19 w 528"/>
                  <a:gd name="T5" fmla="*/ 1 h 783"/>
                  <a:gd name="T6" fmla="*/ 19 w 528"/>
                  <a:gd name="T7" fmla="*/ 1 h 783"/>
                  <a:gd name="T8" fmla="*/ 20 w 528"/>
                  <a:gd name="T9" fmla="*/ 0 h 783"/>
                  <a:gd name="T10" fmla="*/ 19 w 528"/>
                  <a:gd name="T11" fmla="*/ 0 h 783"/>
                  <a:gd name="T12" fmla="*/ 19 w 528"/>
                  <a:gd name="T13" fmla="*/ 0 h 783"/>
                  <a:gd name="T14" fmla="*/ 19 w 528"/>
                  <a:gd name="T15" fmla="*/ 0 h 783"/>
                  <a:gd name="T16" fmla="*/ 19 w 528"/>
                  <a:gd name="T17" fmla="*/ 0 h 783"/>
                  <a:gd name="T18" fmla="*/ 0 w 528"/>
                  <a:gd name="T19" fmla="*/ 0 h 783"/>
                  <a:gd name="T20" fmla="*/ 3 w 528"/>
                  <a:gd name="T21" fmla="*/ 29 h 783"/>
                  <a:gd name="T22" fmla="*/ 3 w 528"/>
                  <a:gd name="T23" fmla="*/ 29 h 783"/>
                  <a:gd name="T24" fmla="*/ 3 w 528"/>
                  <a:gd name="T25" fmla="*/ 29 h 783"/>
                  <a:gd name="T26" fmla="*/ 3 w 528"/>
                  <a:gd name="T27" fmla="*/ 29 h 783"/>
                  <a:gd name="T28" fmla="*/ 3 w 528"/>
                  <a:gd name="T29" fmla="*/ 29 h 783"/>
                  <a:gd name="T30" fmla="*/ 3 w 528"/>
                  <a:gd name="T31" fmla="*/ 29 h 783"/>
                  <a:gd name="T32" fmla="*/ 4 w 528"/>
                  <a:gd name="T33" fmla="*/ 29 h 783"/>
                  <a:gd name="T34" fmla="*/ 4 w 528"/>
                  <a:gd name="T35" fmla="*/ 29 h 783"/>
                  <a:gd name="T36" fmla="*/ 4 w 528"/>
                  <a:gd name="T37" fmla="*/ 29 h 783"/>
                  <a:gd name="T38" fmla="*/ 4 w 528"/>
                  <a:gd name="T39" fmla="*/ 29 h 783"/>
                  <a:gd name="T40" fmla="*/ 1 w 528"/>
                  <a:gd name="T41" fmla="*/ 1 h 783"/>
                  <a:gd name="T42" fmla="*/ 19 w 528"/>
                  <a:gd name="T43" fmla="*/ 1 h 7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3"/>
                  <a:gd name="T68" fmla="*/ 528 w 528"/>
                  <a:gd name="T69" fmla="*/ 783 h 78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3">
                    <a:moveTo>
                      <a:pt x="519" y="21"/>
                    </a:moveTo>
                    <a:lnTo>
                      <a:pt x="522" y="20"/>
                    </a:lnTo>
                    <a:lnTo>
                      <a:pt x="525" y="18"/>
                    </a:lnTo>
                    <a:lnTo>
                      <a:pt x="526" y="15"/>
                    </a:lnTo>
                    <a:lnTo>
                      <a:pt x="528" y="11"/>
                    </a:lnTo>
                    <a:lnTo>
                      <a:pt x="526" y="6"/>
                    </a:lnTo>
                    <a:lnTo>
                      <a:pt x="525" y="3"/>
                    </a:lnTo>
                    <a:lnTo>
                      <a:pt x="522" y="2"/>
                    </a:lnTo>
                    <a:lnTo>
                      <a:pt x="519" y="0"/>
                    </a:lnTo>
                    <a:lnTo>
                      <a:pt x="0" y="0"/>
                    </a:lnTo>
                    <a:lnTo>
                      <a:pt x="82" y="772"/>
                    </a:lnTo>
                    <a:lnTo>
                      <a:pt x="84" y="777"/>
                    </a:lnTo>
                    <a:lnTo>
                      <a:pt x="85" y="780"/>
                    </a:lnTo>
                    <a:lnTo>
                      <a:pt x="88" y="781"/>
                    </a:lnTo>
                    <a:lnTo>
                      <a:pt x="93" y="783"/>
                    </a:lnTo>
                    <a:lnTo>
                      <a:pt x="97" y="781"/>
                    </a:lnTo>
                    <a:lnTo>
                      <a:pt x="100" y="778"/>
                    </a:lnTo>
                    <a:lnTo>
                      <a:pt x="102" y="775"/>
                    </a:lnTo>
                    <a:lnTo>
                      <a:pt x="102" y="771"/>
                    </a:lnTo>
                    <a:lnTo>
                      <a:pt x="22" y="21"/>
                    </a:lnTo>
                    <a:lnTo>
                      <a:pt x="519" y="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6" name="Freeform 17"/>
              <p:cNvSpPr>
                <a:spLocks/>
              </p:cNvSpPr>
              <p:nvPr/>
            </p:nvSpPr>
            <p:spPr bwMode="auto">
              <a:xfrm>
                <a:off x="2231" y="871"/>
                <a:ext cx="269" cy="112"/>
              </a:xfrm>
              <a:custGeom>
                <a:avLst/>
                <a:gdLst>
                  <a:gd name="T0" fmla="*/ 29 w 807"/>
                  <a:gd name="T1" fmla="*/ 8 h 338"/>
                  <a:gd name="T2" fmla="*/ 2 w 807"/>
                  <a:gd name="T3" fmla="*/ 11 h 338"/>
                  <a:gd name="T4" fmla="*/ 1 w 807"/>
                  <a:gd name="T5" fmla="*/ 0 h 338"/>
                  <a:gd name="T6" fmla="*/ 1 w 807"/>
                  <a:gd name="T7" fmla="*/ 0 h 338"/>
                  <a:gd name="T8" fmla="*/ 1 w 807"/>
                  <a:gd name="T9" fmla="*/ 0 h 338"/>
                  <a:gd name="T10" fmla="*/ 1 w 807"/>
                  <a:gd name="T11" fmla="*/ 0 h 338"/>
                  <a:gd name="T12" fmla="*/ 0 w 807"/>
                  <a:gd name="T13" fmla="*/ 0 h 338"/>
                  <a:gd name="T14" fmla="*/ 0 w 807"/>
                  <a:gd name="T15" fmla="*/ 0 h 338"/>
                  <a:gd name="T16" fmla="*/ 0 w 807"/>
                  <a:gd name="T17" fmla="*/ 0 h 338"/>
                  <a:gd name="T18" fmla="*/ 0 w 807"/>
                  <a:gd name="T19" fmla="*/ 0 h 338"/>
                  <a:gd name="T20" fmla="*/ 0 w 807"/>
                  <a:gd name="T21" fmla="*/ 0 h 338"/>
                  <a:gd name="T22" fmla="*/ 1 w 807"/>
                  <a:gd name="T23" fmla="*/ 12 h 338"/>
                  <a:gd name="T24" fmla="*/ 30 w 807"/>
                  <a:gd name="T25" fmla="*/ 9 h 338"/>
                  <a:gd name="T26" fmla="*/ 30 w 807"/>
                  <a:gd name="T27" fmla="*/ 9 h 338"/>
                  <a:gd name="T28" fmla="*/ 30 w 807"/>
                  <a:gd name="T29" fmla="*/ 9 h 338"/>
                  <a:gd name="T30" fmla="*/ 30 w 807"/>
                  <a:gd name="T31" fmla="*/ 9 h 338"/>
                  <a:gd name="T32" fmla="*/ 30 w 807"/>
                  <a:gd name="T33" fmla="*/ 9 h 338"/>
                  <a:gd name="T34" fmla="*/ 30 w 807"/>
                  <a:gd name="T35" fmla="*/ 9 h 338"/>
                  <a:gd name="T36" fmla="*/ 30 w 807"/>
                  <a:gd name="T37" fmla="*/ 9 h 338"/>
                  <a:gd name="T38" fmla="*/ 30 w 807"/>
                  <a:gd name="T39" fmla="*/ 8 h 338"/>
                  <a:gd name="T40" fmla="*/ 30 w 807"/>
                  <a:gd name="T41" fmla="*/ 8 h 338"/>
                  <a:gd name="T42" fmla="*/ 29 w 807"/>
                  <a:gd name="T43" fmla="*/ 8 h 3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7"/>
                  <a:gd name="T67" fmla="*/ 0 h 338"/>
                  <a:gd name="T68" fmla="*/ 807 w 807"/>
                  <a:gd name="T69" fmla="*/ 338 h 3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7" h="338">
                    <a:moveTo>
                      <a:pt x="796" y="228"/>
                    </a:moveTo>
                    <a:lnTo>
                      <a:pt x="53" y="314"/>
                    </a:lnTo>
                    <a:lnTo>
                      <a:pt x="21" y="9"/>
                    </a:lnTo>
                    <a:lnTo>
                      <a:pt x="19" y="6"/>
                    </a:lnTo>
                    <a:lnTo>
                      <a:pt x="17" y="3"/>
                    </a:lnTo>
                    <a:lnTo>
                      <a:pt x="14" y="2"/>
                    </a:lnTo>
                    <a:lnTo>
                      <a:pt x="9" y="0"/>
                    </a:lnTo>
                    <a:lnTo>
                      <a:pt x="6" y="2"/>
                    </a:lnTo>
                    <a:lnTo>
                      <a:pt x="3" y="5"/>
                    </a:lnTo>
                    <a:lnTo>
                      <a:pt x="2" y="8"/>
                    </a:lnTo>
                    <a:lnTo>
                      <a:pt x="0" y="12"/>
                    </a:lnTo>
                    <a:lnTo>
                      <a:pt x="36" y="338"/>
                    </a:lnTo>
                    <a:lnTo>
                      <a:pt x="798" y="247"/>
                    </a:lnTo>
                    <a:lnTo>
                      <a:pt x="802" y="246"/>
                    </a:lnTo>
                    <a:lnTo>
                      <a:pt x="805" y="244"/>
                    </a:lnTo>
                    <a:lnTo>
                      <a:pt x="807" y="241"/>
                    </a:lnTo>
                    <a:lnTo>
                      <a:pt x="807" y="237"/>
                    </a:lnTo>
                    <a:lnTo>
                      <a:pt x="805" y="233"/>
                    </a:lnTo>
                    <a:lnTo>
                      <a:pt x="804" y="230"/>
                    </a:lnTo>
                    <a:lnTo>
                      <a:pt x="799" y="228"/>
                    </a:lnTo>
                    <a:lnTo>
                      <a:pt x="796" y="2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7" name="Freeform 18"/>
              <p:cNvSpPr>
                <a:spLocks/>
              </p:cNvSpPr>
              <p:nvPr/>
            </p:nvSpPr>
            <p:spPr bwMode="auto">
              <a:xfrm>
                <a:off x="2772" y="343"/>
                <a:ext cx="251" cy="579"/>
              </a:xfrm>
              <a:custGeom>
                <a:avLst/>
                <a:gdLst>
                  <a:gd name="T0" fmla="*/ 13 w 754"/>
                  <a:gd name="T1" fmla="*/ 0 h 1736"/>
                  <a:gd name="T2" fmla="*/ 13 w 754"/>
                  <a:gd name="T3" fmla="*/ 0 h 1736"/>
                  <a:gd name="T4" fmla="*/ 13 w 754"/>
                  <a:gd name="T5" fmla="*/ 0 h 1736"/>
                  <a:gd name="T6" fmla="*/ 13 w 754"/>
                  <a:gd name="T7" fmla="*/ 0 h 1736"/>
                  <a:gd name="T8" fmla="*/ 13 w 754"/>
                  <a:gd name="T9" fmla="*/ 0 h 1736"/>
                  <a:gd name="T10" fmla="*/ 13 w 754"/>
                  <a:gd name="T11" fmla="*/ 0 h 1736"/>
                  <a:gd name="T12" fmla="*/ 13 w 754"/>
                  <a:gd name="T13" fmla="*/ 1 h 1736"/>
                  <a:gd name="T14" fmla="*/ 13 w 754"/>
                  <a:gd name="T15" fmla="*/ 1 h 1736"/>
                  <a:gd name="T16" fmla="*/ 13 w 754"/>
                  <a:gd name="T17" fmla="*/ 1 h 1736"/>
                  <a:gd name="T18" fmla="*/ 27 w 754"/>
                  <a:gd name="T19" fmla="*/ 1 h 1736"/>
                  <a:gd name="T20" fmla="*/ 12 w 754"/>
                  <a:gd name="T21" fmla="*/ 62 h 1736"/>
                  <a:gd name="T22" fmla="*/ 0 w 754"/>
                  <a:gd name="T23" fmla="*/ 64 h 1736"/>
                  <a:gd name="T24" fmla="*/ 0 w 754"/>
                  <a:gd name="T25" fmla="*/ 64 h 1736"/>
                  <a:gd name="T26" fmla="*/ 0 w 754"/>
                  <a:gd name="T27" fmla="*/ 64 h 1736"/>
                  <a:gd name="T28" fmla="*/ 0 w 754"/>
                  <a:gd name="T29" fmla="*/ 64 h 1736"/>
                  <a:gd name="T30" fmla="*/ 0 w 754"/>
                  <a:gd name="T31" fmla="*/ 64 h 1736"/>
                  <a:gd name="T32" fmla="*/ 0 w 754"/>
                  <a:gd name="T33" fmla="*/ 64 h 1736"/>
                  <a:gd name="T34" fmla="*/ 0 w 754"/>
                  <a:gd name="T35" fmla="*/ 64 h 1736"/>
                  <a:gd name="T36" fmla="*/ 0 w 754"/>
                  <a:gd name="T37" fmla="*/ 64 h 1736"/>
                  <a:gd name="T38" fmla="*/ 0 w 754"/>
                  <a:gd name="T39" fmla="*/ 64 h 1736"/>
                  <a:gd name="T40" fmla="*/ 0 w 754"/>
                  <a:gd name="T41" fmla="*/ 64 h 1736"/>
                  <a:gd name="T42" fmla="*/ 13 w 754"/>
                  <a:gd name="T43" fmla="*/ 63 h 1736"/>
                  <a:gd name="T44" fmla="*/ 28 w 754"/>
                  <a:gd name="T45" fmla="*/ 0 h 1736"/>
                  <a:gd name="T46" fmla="*/ 13 w 754"/>
                  <a:gd name="T47" fmla="*/ 0 h 17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54"/>
                  <a:gd name="T73" fmla="*/ 0 h 1736"/>
                  <a:gd name="T74" fmla="*/ 754 w 754"/>
                  <a:gd name="T75" fmla="*/ 1736 h 17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54" h="1736">
                    <a:moveTo>
                      <a:pt x="355" y="0"/>
                    </a:moveTo>
                    <a:lnTo>
                      <a:pt x="352" y="1"/>
                    </a:lnTo>
                    <a:lnTo>
                      <a:pt x="348" y="3"/>
                    </a:lnTo>
                    <a:lnTo>
                      <a:pt x="346" y="6"/>
                    </a:lnTo>
                    <a:lnTo>
                      <a:pt x="345" y="9"/>
                    </a:lnTo>
                    <a:lnTo>
                      <a:pt x="346" y="13"/>
                    </a:lnTo>
                    <a:lnTo>
                      <a:pt x="348" y="16"/>
                    </a:lnTo>
                    <a:lnTo>
                      <a:pt x="352" y="18"/>
                    </a:lnTo>
                    <a:lnTo>
                      <a:pt x="355" y="19"/>
                    </a:lnTo>
                    <a:lnTo>
                      <a:pt x="729" y="19"/>
                    </a:lnTo>
                    <a:lnTo>
                      <a:pt x="337" y="1677"/>
                    </a:lnTo>
                    <a:lnTo>
                      <a:pt x="9" y="1715"/>
                    </a:lnTo>
                    <a:lnTo>
                      <a:pt x="4" y="1717"/>
                    </a:lnTo>
                    <a:lnTo>
                      <a:pt x="1" y="1719"/>
                    </a:lnTo>
                    <a:lnTo>
                      <a:pt x="0" y="1722"/>
                    </a:lnTo>
                    <a:lnTo>
                      <a:pt x="0" y="1727"/>
                    </a:lnTo>
                    <a:lnTo>
                      <a:pt x="1" y="1731"/>
                    </a:lnTo>
                    <a:lnTo>
                      <a:pt x="3" y="1734"/>
                    </a:lnTo>
                    <a:lnTo>
                      <a:pt x="7" y="1736"/>
                    </a:lnTo>
                    <a:lnTo>
                      <a:pt x="10" y="1736"/>
                    </a:lnTo>
                    <a:lnTo>
                      <a:pt x="353" y="1694"/>
                    </a:lnTo>
                    <a:lnTo>
                      <a:pt x="754" y="0"/>
                    </a:lnTo>
                    <a:lnTo>
                      <a:pt x="35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88" name="Freeform 19"/>
              <p:cNvSpPr>
                <a:spLocks/>
              </p:cNvSpPr>
              <p:nvPr/>
            </p:nvSpPr>
            <p:spPr bwMode="auto">
              <a:xfrm>
                <a:off x="2185" y="325"/>
                <a:ext cx="176" cy="260"/>
              </a:xfrm>
              <a:custGeom>
                <a:avLst/>
                <a:gdLst>
                  <a:gd name="T0" fmla="*/ 19 w 528"/>
                  <a:gd name="T1" fmla="*/ 1 h 780"/>
                  <a:gd name="T2" fmla="*/ 19 w 528"/>
                  <a:gd name="T3" fmla="*/ 1 h 780"/>
                  <a:gd name="T4" fmla="*/ 19 w 528"/>
                  <a:gd name="T5" fmla="*/ 1 h 780"/>
                  <a:gd name="T6" fmla="*/ 19 w 528"/>
                  <a:gd name="T7" fmla="*/ 0 h 780"/>
                  <a:gd name="T8" fmla="*/ 20 w 528"/>
                  <a:gd name="T9" fmla="*/ 0 h 780"/>
                  <a:gd name="T10" fmla="*/ 19 w 528"/>
                  <a:gd name="T11" fmla="*/ 0 h 780"/>
                  <a:gd name="T12" fmla="*/ 19 w 528"/>
                  <a:gd name="T13" fmla="*/ 0 h 780"/>
                  <a:gd name="T14" fmla="*/ 19 w 528"/>
                  <a:gd name="T15" fmla="*/ 0 h 780"/>
                  <a:gd name="T16" fmla="*/ 19 w 528"/>
                  <a:gd name="T17" fmla="*/ 0 h 780"/>
                  <a:gd name="T18" fmla="*/ 0 w 528"/>
                  <a:gd name="T19" fmla="*/ 0 h 780"/>
                  <a:gd name="T20" fmla="*/ 3 w 528"/>
                  <a:gd name="T21" fmla="*/ 29 h 780"/>
                  <a:gd name="T22" fmla="*/ 3 w 528"/>
                  <a:gd name="T23" fmla="*/ 29 h 780"/>
                  <a:gd name="T24" fmla="*/ 3 w 528"/>
                  <a:gd name="T25" fmla="*/ 29 h 780"/>
                  <a:gd name="T26" fmla="*/ 3 w 528"/>
                  <a:gd name="T27" fmla="*/ 29 h 780"/>
                  <a:gd name="T28" fmla="*/ 3 w 528"/>
                  <a:gd name="T29" fmla="*/ 29 h 780"/>
                  <a:gd name="T30" fmla="*/ 3 w 528"/>
                  <a:gd name="T31" fmla="*/ 29 h 780"/>
                  <a:gd name="T32" fmla="*/ 4 w 528"/>
                  <a:gd name="T33" fmla="*/ 29 h 780"/>
                  <a:gd name="T34" fmla="*/ 4 w 528"/>
                  <a:gd name="T35" fmla="*/ 29 h 780"/>
                  <a:gd name="T36" fmla="*/ 4 w 528"/>
                  <a:gd name="T37" fmla="*/ 29 h 780"/>
                  <a:gd name="T38" fmla="*/ 4 w 528"/>
                  <a:gd name="T39" fmla="*/ 29 h 780"/>
                  <a:gd name="T40" fmla="*/ 1 w 528"/>
                  <a:gd name="T41" fmla="*/ 1 h 780"/>
                  <a:gd name="T42" fmla="*/ 19 w 528"/>
                  <a:gd name="T43" fmla="*/ 1 h 7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8"/>
                  <a:gd name="T67" fmla="*/ 0 h 780"/>
                  <a:gd name="T68" fmla="*/ 528 w 528"/>
                  <a:gd name="T69" fmla="*/ 780 h 7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8" h="780">
                    <a:moveTo>
                      <a:pt x="518" y="19"/>
                    </a:moveTo>
                    <a:lnTo>
                      <a:pt x="522" y="17"/>
                    </a:lnTo>
                    <a:lnTo>
                      <a:pt x="525" y="16"/>
                    </a:lnTo>
                    <a:lnTo>
                      <a:pt x="526" y="13"/>
                    </a:lnTo>
                    <a:lnTo>
                      <a:pt x="528" y="10"/>
                    </a:lnTo>
                    <a:lnTo>
                      <a:pt x="526" y="6"/>
                    </a:lnTo>
                    <a:lnTo>
                      <a:pt x="525" y="3"/>
                    </a:lnTo>
                    <a:lnTo>
                      <a:pt x="522" y="1"/>
                    </a:lnTo>
                    <a:lnTo>
                      <a:pt x="518" y="0"/>
                    </a:lnTo>
                    <a:lnTo>
                      <a:pt x="0" y="0"/>
                    </a:lnTo>
                    <a:lnTo>
                      <a:pt x="81" y="772"/>
                    </a:lnTo>
                    <a:lnTo>
                      <a:pt x="83" y="776"/>
                    </a:lnTo>
                    <a:lnTo>
                      <a:pt x="85" y="779"/>
                    </a:lnTo>
                    <a:lnTo>
                      <a:pt x="88" y="780"/>
                    </a:lnTo>
                    <a:lnTo>
                      <a:pt x="93" y="780"/>
                    </a:lnTo>
                    <a:lnTo>
                      <a:pt x="96" y="779"/>
                    </a:lnTo>
                    <a:lnTo>
                      <a:pt x="99" y="777"/>
                    </a:lnTo>
                    <a:lnTo>
                      <a:pt x="100" y="773"/>
                    </a:lnTo>
                    <a:lnTo>
                      <a:pt x="102" y="770"/>
                    </a:lnTo>
                    <a:lnTo>
                      <a:pt x="22" y="19"/>
                    </a:lnTo>
                    <a:lnTo>
                      <a:pt x="518" y="1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pic>
          <p:nvPicPr>
            <p:cNvPr id="214080" name="Picture 20"/>
            <p:cNvPicPr>
              <a:picLocks noChangeAspect="1" noChangeArrowheads="1"/>
            </p:cNvPicPr>
            <p:nvPr/>
          </p:nvPicPr>
          <p:blipFill>
            <a:blip r:embed="rId3" cstate="print">
              <a:extLst>
                <a:ext uri="{28A0092B-C50C-407E-A947-70E740481C1C}">
                  <a14:useLocalDpi xmlns:a14="http://schemas.microsoft.com/office/drawing/2010/main" val="0"/>
                </a:ext>
              </a:extLst>
            </a:blip>
            <a:srcRect l="-4282" t="-4369" r="-5199" b="-12012"/>
            <a:stretch>
              <a:fillRect/>
            </a:stretch>
          </p:blipFill>
          <p:spPr bwMode="auto">
            <a:xfrm>
              <a:off x="4456" y="136"/>
              <a:ext cx="480" cy="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081" name="Text Box 21"/>
            <p:cNvSpPr txBox="1">
              <a:spLocks noChangeArrowheads="1"/>
            </p:cNvSpPr>
            <p:nvPr/>
          </p:nvSpPr>
          <p:spPr bwMode="auto">
            <a:xfrm>
              <a:off x="4946" y="314"/>
              <a:ext cx="596" cy="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4500" b="1">
                  <a:solidFill>
                    <a:srgbClr val="FF0000"/>
                  </a:solidFill>
                  <a:latin typeface="Arial Black" pitchFamily="34" charset="0"/>
                </a:rPr>
                <a:t>32</a:t>
              </a:r>
              <a:endParaRPr lang="fr-FR" altLang="fr-FR" sz="3200">
                <a:solidFill>
                  <a:schemeClr val="tx1"/>
                </a:solidFill>
                <a:latin typeface="Arial Black" pitchFamily="34" charset="0"/>
              </a:endParaRPr>
            </a:p>
          </p:txBody>
        </p:sp>
      </p:grpSp>
      <p:sp>
        <p:nvSpPr>
          <p:cNvPr id="214020" name="Rectangle 23"/>
          <p:cNvSpPr>
            <a:spLocks noGrp="1" noChangeArrowheads="1"/>
          </p:cNvSpPr>
          <p:nvPr>
            <p:ph type="title"/>
          </p:nvPr>
        </p:nvSpPr>
        <p:spPr>
          <a:xfrm>
            <a:off x="1381125" y="0"/>
            <a:ext cx="5516563" cy="647700"/>
          </a:xfrm>
        </p:spPr>
        <p:txBody>
          <a:bodyPr/>
          <a:lstStyle/>
          <a:p>
            <a:pPr eaLnBrk="1" hangingPunct="1"/>
            <a:r>
              <a:rPr lang="fr-FR" altLang="fr-FR"/>
              <a:t>Sem. 4 - Jeudi</a:t>
            </a:r>
          </a:p>
        </p:txBody>
      </p:sp>
      <p:sp>
        <p:nvSpPr>
          <p:cNvPr id="214021" name="Text Box 24"/>
          <p:cNvSpPr txBox="1">
            <a:spLocks noChangeArrowheads="1"/>
          </p:cNvSpPr>
          <p:nvPr/>
        </p:nvSpPr>
        <p:spPr bwMode="auto">
          <a:xfrm>
            <a:off x="590550" y="2116138"/>
            <a:ext cx="3217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2. Pas de commandes</a:t>
            </a:r>
          </a:p>
        </p:txBody>
      </p:sp>
      <p:sp>
        <p:nvSpPr>
          <p:cNvPr id="214022" name="Text Box 25"/>
          <p:cNvSpPr txBox="1">
            <a:spLocks noChangeArrowheads="1"/>
          </p:cNvSpPr>
          <p:nvPr/>
        </p:nvSpPr>
        <p:spPr bwMode="auto">
          <a:xfrm>
            <a:off x="566738" y="1154113"/>
            <a:ext cx="194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1. Tirez le dé</a:t>
            </a:r>
          </a:p>
        </p:txBody>
      </p:sp>
      <p:sp>
        <p:nvSpPr>
          <p:cNvPr id="214023" name="Text Box 26"/>
          <p:cNvSpPr txBox="1">
            <a:spLocks noChangeArrowheads="1"/>
          </p:cNvSpPr>
          <p:nvPr/>
        </p:nvSpPr>
        <p:spPr bwMode="auto">
          <a:xfrm>
            <a:off x="579438" y="4316413"/>
            <a:ext cx="187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2400"/>
              <a:t>3. Produisez</a:t>
            </a:r>
          </a:p>
        </p:txBody>
      </p:sp>
      <p:grpSp>
        <p:nvGrpSpPr>
          <p:cNvPr id="214024" name="Group 27"/>
          <p:cNvGrpSpPr>
            <a:grpSpLocks/>
          </p:cNvGrpSpPr>
          <p:nvPr/>
        </p:nvGrpSpPr>
        <p:grpSpPr bwMode="auto">
          <a:xfrm>
            <a:off x="2843213" y="1106488"/>
            <a:ext cx="446087" cy="534987"/>
            <a:chOff x="868" y="1439"/>
            <a:chExt cx="811" cy="972"/>
          </a:xfrm>
        </p:grpSpPr>
        <p:sp>
          <p:nvSpPr>
            <p:cNvPr id="214027" name="Freeform 28"/>
            <p:cNvSpPr>
              <a:spLocks/>
            </p:cNvSpPr>
            <p:nvPr/>
          </p:nvSpPr>
          <p:spPr bwMode="auto">
            <a:xfrm>
              <a:off x="1548" y="2014"/>
              <a:ext cx="123" cy="100"/>
            </a:xfrm>
            <a:custGeom>
              <a:avLst/>
              <a:gdLst>
                <a:gd name="T0" fmla="*/ 5 w 618"/>
                <a:gd name="T1" fmla="*/ 0 h 502"/>
                <a:gd name="T2" fmla="*/ 5 w 618"/>
                <a:gd name="T3" fmla="*/ 0 h 502"/>
                <a:gd name="T4" fmla="*/ 0 w 618"/>
                <a:gd name="T5" fmla="*/ 4 h 502"/>
                <a:gd name="T6" fmla="*/ 0 w 618"/>
                <a:gd name="T7" fmla="*/ 4 h 502"/>
                <a:gd name="T8" fmla="*/ 5 w 618"/>
                <a:gd name="T9" fmla="*/ 0 h 502"/>
                <a:gd name="T10" fmla="*/ 5 w 618"/>
                <a:gd name="T11" fmla="*/ 0 h 502"/>
                <a:gd name="T12" fmla="*/ 5 w 618"/>
                <a:gd name="T13" fmla="*/ 0 h 502"/>
                <a:gd name="T14" fmla="*/ 5 w 618"/>
                <a:gd name="T15" fmla="*/ 0 h 502"/>
                <a:gd name="T16" fmla="*/ 5 w 618"/>
                <a:gd name="T17" fmla="*/ 0 h 502"/>
                <a:gd name="T18" fmla="*/ 5 w 618"/>
                <a:gd name="T19" fmla="*/ 0 h 502"/>
                <a:gd name="T20" fmla="*/ 5 w 618"/>
                <a:gd name="T21" fmla="*/ 0 h 502"/>
                <a:gd name="T22" fmla="*/ 5 w 618"/>
                <a:gd name="T23" fmla="*/ 0 h 5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8"/>
                <a:gd name="T37" fmla="*/ 0 h 502"/>
                <a:gd name="T38" fmla="*/ 618 w 618"/>
                <a:gd name="T39" fmla="*/ 502 h 5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8" h="502">
                  <a:moveTo>
                    <a:pt x="611" y="0"/>
                  </a:moveTo>
                  <a:lnTo>
                    <a:pt x="606" y="2"/>
                  </a:lnTo>
                  <a:lnTo>
                    <a:pt x="0" y="490"/>
                  </a:lnTo>
                  <a:lnTo>
                    <a:pt x="10" y="502"/>
                  </a:lnTo>
                  <a:lnTo>
                    <a:pt x="616" y="14"/>
                  </a:lnTo>
                  <a:lnTo>
                    <a:pt x="611" y="16"/>
                  </a:lnTo>
                  <a:lnTo>
                    <a:pt x="616" y="14"/>
                  </a:lnTo>
                  <a:lnTo>
                    <a:pt x="618" y="9"/>
                  </a:lnTo>
                  <a:lnTo>
                    <a:pt x="617" y="3"/>
                  </a:lnTo>
                  <a:lnTo>
                    <a:pt x="612" y="1"/>
                  </a:lnTo>
                  <a:lnTo>
                    <a:pt x="606" y="2"/>
                  </a:lnTo>
                  <a:lnTo>
                    <a:pt x="6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28" name="Freeform 29"/>
            <p:cNvSpPr>
              <a:spLocks/>
            </p:cNvSpPr>
            <p:nvPr/>
          </p:nvSpPr>
          <p:spPr bwMode="auto">
            <a:xfrm>
              <a:off x="876" y="1852"/>
              <a:ext cx="82" cy="373"/>
            </a:xfrm>
            <a:custGeom>
              <a:avLst/>
              <a:gdLst>
                <a:gd name="T0" fmla="*/ 3 w 413"/>
                <a:gd name="T1" fmla="*/ 15 h 1865"/>
                <a:gd name="T2" fmla="*/ 3 w 413"/>
                <a:gd name="T3" fmla="*/ 15 h 1865"/>
                <a:gd name="T4" fmla="*/ 0 w 413"/>
                <a:gd name="T5" fmla="*/ 0 h 1865"/>
                <a:gd name="T6" fmla="*/ 0 w 413"/>
                <a:gd name="T7" fmla="*/ 0 h 1865"/>
                <a:gd name="T8" fmla="*/ 3 w 413"/>
                <a:gd name="T9" fmla="*/ 15 h 1865"/>
                <a:gd name="T10" fmla="*/ 3 w 413"/>
                <a:gd name="T11" fmla="*/ 15 h 1865"/>
                <a:gd name="T12" fmla="*/ 3 w 413"/>
                <a:gd name="T13" fmla="*/ 15 h 1865"/>
                <a:gd name="T14" fmla="*/ 3 w 413"/>
                <a:gd name="T15" fmla="*/ 15 h 1865"/>
                <a:gd name="T16" fmla="*/ 3 w 413"/>
                <a:gd name="T17" fmla="*/ 15 h 1865"/>
                <a:gd name="T18" fmla="*/ 3 w 413"/>
                <a:gd name="T19" fmla="*/ 15 h 1865"/>
                <a:gd name="T20" fmla="*/ 3 w 413"/>
                <a:gd name="T21" fmla="*/ 15 h 1865"/>
                <a:gd name="T22" fmla="*/ 3 w 413"/>
                <a:gd name="T23" fmla="*/ 15 h 18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3"/>
                <a:gd name="T37" fmla="*/ 0 h 1865"/>
                <a:gd name="T38" fmla="*/ 413 w 413"/>
                <a:gd name="T39" fmla="*/ 1865 h 18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3" h="1865">
                  <a:moveTo>
                    <a:pt x="400" y="1864"/>
                  </a:moveTo>
                  <a:lnTo>
                    <a:pt x="413" y="1856"/>
                  </a:lnTo>
                  <a:lnTo>
                    <a:pt x="17" y="0"/>
                  </a:lnTo>
                  <a:lnTo>
                    <a:pt x="0" y="2"/>
                  </a:lnTo>
                  <a:lnTo>
                    <a:pt x="396" y="1858"/>
                  </a:lnTo>
                  <a:lnTo>
                    <a:pt x="409" y="1850"/>
                  </a:lnTo>
                  <a:lnTo>
                    <a:pt x="396" y="1858"/>
                  </a:lnTo>
                  <a:lnTo>
                    <a:pt x="400" y="1864"/>
                  </a:lnTo>
                  <a:lnTo>
                    <a:pt x="406" y="1865"/>
                  </a:lnTo>
                  <a:lnTo>
                    <a:pt x="410" y="1862"/>
                  </a:lnTo>
                  <a:lnTo>
                    <a:pt x="413" y="1856"/>
                  </a:lnTo>
                  <a:lnTo>
                    <a:pt x="400" y="18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29" name="Freeform 30"/>
            <p:cNvSpPr>
              <a:spLocks/>
            </p:cNvSpPr>
            <p:nvPr/>
          </p:nvSpPr>
          <p:spPr bwMode="auto">
            <a:xfrm>
              <a:off x="1282" y="1533"/>
              <a:ext cx="35" cy="161"/>
            </a:xfrm>
            <a:custGeom>
              <a:avLst/>
              <a:gdLst>
                <a:gd name="T0" fmla="*/ 1 w 175"/>
                <a:gd name="T1" fmla="*/ 6 h 807"/>
                <a:gd name="T2" fmla="*/ 1 w 175"/>
                <a:gd name="T3" fmla="*/ 6 h 807"/>
                <a:gd name="T4" fmla="*/ 1 w 175"/>
                <a:gd name="T5" fmla="*/ 6 h 807"/>
                <a:gd name="T6" fmla="*/ 1 w 175"/>
                <a:gd name="T7" fmla="*/ 5 h 807"/>
                <a:gd name="T8" fmla="*/ 1 w 175"/>
                <a:gd name="T9" fmla="*/ 5 h 807"/>
                <a:gd name="T10" fmla="*/ 1 w 175"/>
                <a:gd name="T11" fmla="*/ 5 h 807"/>
                <a:gd name="T12" fmla="*/ 1 w 175"/>
                <a:gd name="T13" fmla="*/ 4 h 807"/>
                <a:gd name="T14" fmla="*/ 1 w 175"/>
                <a:gd name="T15" fmla="*/ 4 h 807"/>
                <a:gd name="T16" fmla="*/ 1 w 175"/>
                <a:gd name="T17" fmla="*/ 3 h 807"/>
                <a:gd name="T18" fmla="*/ 1 w 175"/>
                <a:gd name="T19" fmla="*/ 3 h 807"/>
                <a:gd name="T20" fmla="*/ 1 w 175"/>
                <a:gd name="T21" fmla="*/ 3 h 807"/>
                <a:gd name="T22" fmla="*/ 1 w 175"/>
                <a:gd name="T23" fmla="*/ 2 h 807"/>
                <a:gd name="T24" fmla="*/ 1 w 175"/>
                <a:gd name="T25" fmla="*/ 2 h 807"/>
                <a:gd name="T26" fmla="*/ 1 w 175"/>
                <a:gd name="T27" fmla="*/ 2 h 807"/>
                <a:gd name="T28" fmla="*/ 1 w 175"/>
                <a:gd name="T29" fmla="*/ 1 h 807"/>
                <a:gd name="T30" fmla="*/ 1 w 175"/>
                <a:gd name="T31" fmla="*/ 1 h 807"/>
                <a:gd name="T32" fmla="*/ 1 w 175"/>
                <a:gd name="T33" fmla="*/ 1 h 807"/>
                <a:gd name="T34" fmla="*/ 1 w 175"/>
                <a:gd name="T35" fmla="*/ 0 h 807"/>
                <a:gd name="T36" fmla="*/ 1 w 175"/>
                <a:gd name="T37" fmla="*/ 0 h 807"/>
                <a:gd name="T38" fmla="*/ 1 w 175"/>
                <a:gd name="T39" fmla="*/ 0 h 807"/>
                <a:gd name="T40" fmla="*/ 0 w 175"/>
                <a:gd name="T41" fmla="*/ 1 h 807"/>
                <a:gd name="T42" fmla="*/ 0 w 175"/>
                <a:gd name="T43" fmla="*/ 1 h 807"/>
                <a:gd name="T44" fmla="*/ 0 w 175"/>
                <a:gd name="T45" fmla="*/ 1 h 807"/>
                <a:gd name="T46" fmla="*/ 0 w 175"/>
                <a:gd name="T47" fmla="*/ 2 h 807"/>
                <a:gd name="T48" fmla="*/ 0 w 175"/>
                <a:gd name="T49" fmla="*/ 2 h 807"/>
                <a:gd name="T50" fmla="*/ 0 w 175"/>
                <a:gd name="T51" fmla="*/ 3 h 807"/>
                <a:gd name="T52" fmla="*/ 0 w 175"/>
                <a:gd name="T53" fmla="*/ 3 h 807"/>
                <a:gd name="T54" fmla="*/ 0 w 175"/>
                <a:gd name="T55" fmla="*/ 3 h 807"/>
                <a:gd name="T56" fmla="*/ 0 w 175"/>
                <a:gd name="T57" fmla="*/ 4 h 807"/>
                <a:gd name="T58" fmla="*/ 0 w 175"/>
                <a:gd name="T59" fmla="*/ 4 h 807"/>
                <a:gd name="T60" fmla="*/ 0 w 175"/>
                <a:gd name="T61" fmla="*/ 5 h 807"/>
                <a:gd name="T62" fmla="*/ 0 w 175"/>
                <a:gd name="T63" fmla="*/ 5 h 807"/>
                <a:gd name="T64" fmla="*/ 0 w 175"/>
                <a:gd name="T65" fmla="*/ 5 h 807"/>
                <a:gd name="T66" fmla="*/ 1 w 175"/>
                <a:gd name="T67" fmla="*/ 6 h 807"/>
                <a:gd name="T68" fmla="*/ 1 w 175"/>
                <a:gd name="T69" fmla="*/ 6 h 807"/>
                <a:gd name="T70" fmla="*/ 1 w 175"/>
                <a:gd name="T71" fmla="*/ 6 h 807"/>
                <a:gd name="T72" fmla="*/ 1 w 175"/>
                <a:gd name="T73" fmla="*/ 6 h 807"/>
                <a:gd name="T74" fmla="*/ 1 w 175"/>
                <a:gd name="T75" fmla="*/ 6 h 807"/>
                <a:gd name="T76" fmla="*/ 1 w 175"/>
                <a:gd name="T77" fmla="*/ 6 h 807"/>
                <a:gd name="T78" fmla="*/ 1 w 175"/>
                <a:gd name="T79" fmla="*/ 6 h 807"/>
                <a:gd name="T80" fmla="*/ 1 w 175"/>
                <a:gd name="T81" fmla="*/ 6 h 807"/>
                <a:gd name="T82" fmla="*/ 1 w 175"/>
                <a:gd name="T83" fmla="*/ 6 h 807"/>
                <a:gd name="T84" fmla="*/ 1 w 175"/>
                <a:gd name="T85" fmla="*/ 6 h 807"/>
                <a:gd name="T86" fmla="*/ 1 w 175"/>
                <a:gd name="T87" fmla="*/ 6 h 807"/>
                <a:gd name="T88" fmla="*/ 1 w 175"/>
                <a:gd name="T89" fmla="*/ 6 h 807"/>
                <a:gd name="T90" fmla="*/ 1 w 175"/>
                <a:gd name="T91" fmla="*/ 6 h 8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807"/>
                <a:gd name="T140" fmla="*/ 175 w 175"/>
                <a:gd name="T141" fmla="*/ 807 h 8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807">
                  <a:moveTo>
                    <a:pt x="169" y="740"/>
                  </a:moveTo>
                  <a:lnTo>
                    <a:pt x="169" y="739"/>
                  </a:lnTo>
                  <a:lnTo>
                    <a:pt x="149" y="698"/>
                  </a:lnTo>
                  <a:lnTo>
                    <a:pt x="133" y="656"/>
                  </a:lnTo>
                  <a:lnTo>
                    <a:pt x="120" y="611"/>
                  </a:lnTo>
                  <a:lnTo>
                    <a:pt x="108" y="565"/>
                  </a:lnTo>
                  <a:lnTo>
                    <a:pt x="100" y="520"/>
                  </a:lnTo>
                  <a:lnTo>
                    <a:pt x="96" y="472"/>
                  </a:lnTo>
                  <a:lnTo>
                    <a:pt x="93" y="425"/>
                  </a:lnTo>
                  <a:lnTo>
                    <a:pt x="93" y="377"/>
                  </a:lnTo>
                  <a:lnTo>
                    <a:pt x="96" y="330"/>
                  </a:lnTo>
                  <a:lnTo>
                    <a:pt x="100" y="283"/>
                  </a:lnTo>
                  <a:lnTo>
                    <a:pt x="106" y="238"/>
                  </a:lnTo>
                  <a:lnTo>
                    <a:pt x="115" y="195"/>
                  </a:lnTo>
                  <a:lnTo>
                    <a:pt x="126" y="153"/>
                  </a:lnTo>
                  <a:lnTo>
                    <a:pt x="139" y="114"/>
                  </a:lnTo>
                  <a:lnTo>
                    <a:pt x="153" y="77"/>
                  </a:lnTo>
                  <a:lnTo>
                    <a:pt x="169" y="43"/>
                  </a:lnTo>
                  <a:lnTo>
                    <a:pt x="87" y="0"/>
                  </a:lnTo>
                  <a:lnTo>
                    <a:pt x="69" y="39"/>
                  </a:lnTo>
                  <a:lnTo>
                    <a:pt x="52" y="81"/>
                  </a:lnTo>
                  <a:lnTo>
                    <a:pt x="37" y="127"/>
                  </a:lnTo>
                  <a:lnTo>
                    <a:pt x="24" y="174"/>
                  </a:lnTo>
                  <a:lnTo>
                    <a:pt x="15" y="222"/>
                  </a:lnTo>
                  <a:lnTo>
                    <a:pt x="7" y="271"/>
                  </a:lnTo>
                  <a:lnTo>
                    <a:pt x="2" y="323"/>
                  </a:lnTo>
                  <a:lnTo>
                    <a:pt x="0" y="374"/>
                  </a:lnTo>
                  <a:lnTo>
                    <a:pt x="0" y="427"/>
                  </a:lnTo>
                  <a:lnTo>
                    <a:pt x="2" y="479"/>
                  </a:lnTo>
                  <a:lnTo>
                    <a:pt x="9" y="531"/>
                  </a:lnTo>
                  <a:lnTo>
                    <a:pt x="17" y="584"/>
                  </a:lnTo>
                  <a:lnTo>
                    <a:pt x="29" y="635"/>
                  </a:lnTo>
                  <a:lnTo>
                    <a:pt x="44" y="686"/>
                  </a:lnTo>
                  <a:lnTo>
                    <a:pt x="65" y="736"/>
                  </a:lnTo>
                  <a:lnTo>
                    <a:pt x="87" y="784"/>
                  </a:lnTo>
                  <a:lnTo>
                    <a:pt x="87" y="782"/>
                  </a:lnTo>
                  <a:lnTo>
                    <a:pt x="87" y="784"/>
                  </a:lnTo>
                  <a:lnTo>
                    <a:pt x="100" y="799"/>
                  </a:lnTo>
                  <a:lnTo>
                    <a:pt x="117" y="807"/>
                  </a:lnTo>
                  <a:lnTo>
                    <a:pt x="134" y="807"/>
                  </a:lnTo>
                  <a:lnTo>
                    <a:pt x="151" y="801"/>
                  </a:lnTo>
                  <a:lnTo>
                    <a:pt x="164" y="791"/>
                  </a:lnTo>
                  <a:lnTo>
                    <a:pt x="173" y="777"/>
                  </a:lnTo>
                  <a:lnTo>
                    <a:pt x="175" y="759"/>
                  </a:lnTo>
                  <a:lnTo>
                    <a:pt x="169" y="739"/>
                  </a:lnTo>
                  <a:lnTo>
                    <a:pt x="16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0" name="Freeform 31"/>
            <p:cNvSpPr>
              <a:spLocks/>
            </p:cNvSpPr>
            <p:nvPr/>
          </p:nvSpPr>
          <p:spPr bwMode="auto">
            <a:xfrm>
              <a:off x="1299" y="1681"/>
              <a:ext cx="157" cy="281"/>
            </a:xfrm>
            <a:custGeom>
              <a:avLst/>
              <a:gdLst>
                <a:gd name="T0" fmla="*/ 6 w 787"/>
                <a:gd name="T1" fmla="*/ 11 h 1404"/>
                <a:gd name="T2" fmla="*/ 6 w 787"/>
                <a:gd name="T3" fmla="*/ 11 h 1404"/>
                <a:gd name="T4" fmla="*/ 1 w 787"/>
                <a:gd name="T5" fmla="*/ 0 h 1404"/>
                <a:gd name="T6" fmla="*/ 0 w 787"/>
                <a:gd name="T7" fmla="*/ 0 h 1404"/>
                <a:gd name="T8" fmla="*/ 6 w 787"/>
                <a:gd name="T9" fmla="*/ 11 h 1404"/>
                <a:gd name="T10" fmla="*/ 6 w 787"/>
                <a:gd name="T11" fmla="*/ 11 h 1404"/>
                <a:gd name="T12" fmla="*/ 6 w 787"/>
                <a:gd name="T13" fmla="*/ 11 h 1404"/>
                <a:gd name="T14" fmla="*/ 6 w 787"/>
                <a:gd name="T15" fmla="*/ 11 h 1404"/>
                <a:gd name="T16" fmla="*/ 6 w 787"/>
                <a:gd name="T17" fmla="*/ 11 h 1404"/>
                <a:gd name="T18" fmla="*/ 6 w 787"/>
                <a:gd name="T19" fmla="*/ 11 h 1404"/>
                <a:gd name="T20" fmla="*/ 6 w 787"/>
                <a:gd name="T21" fmla="*/ 11 h 1404"/>
                <a:gd name="T22" fmla="*/ 6 w 787"/>
                <a:gd name="T23" fmla="*/ 11 h 1404"/>
                <a:gd name="T24" fmla="*/ 6 w 787"/>
                <a:gd name="T25" fmla="*/ 11 h 1404"/>
                <a:gd name="T26" fmla="*/ 6 w 787"/>
                <a:gd name="T27" fmla="*/ 11 h 1404"/>
                <a:gd name="T28" fmla="*/ 6 w 787"/>
                <a:gd name="T29" fmla="*/ 11 h 1404"/>
                <a:gd name="T30" fmla="*/ 6 w 787"/>
                <a:gd name="T31" fmla="*/ 11 h 14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7"/>
                <a:gd name="T49" fmla="*/ 0 h 1404"/>
                <a:gd name="T50" fmla="*/ 787 w 787"/>
                <a:gd name="T51" fmla="*/ 1404 h 14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7" h="1404">
                  <a:moveTo>
                    <a:pt x="781" y="1334"/>
                  </a:moveTo>
                  <a:lnTo>
                    <a:pt x="781" y="1337"/>
                  </a:lnTo>
                  <a:lnTo>
                    <a:pt x="82" y="0"/>
                  </a:lnTo>
                  <a:lnTo>
                    <a:pt x="0" y="42"/>
                  </a:lnTo>
                  <a:lnTo>
                    <a:pt x="699" y="1379"/>
                  </a:lnTo>
                  <a:lnTo>
                    <a:pt x="699" y="1381"/>
                  </a:lnTo>
                  <a:lnTo>
                    <a:pt x="699" y="1379"/>
                  </a:lnTo>
                  <a:lnTo>
                    <a:pt x="712" y="1395"/>
                  </a:lnTo>
                  <a:lnTo>
                    <a:pt x="727" y="1402"/>
                  </a:lnTo>
                  <a:lnTo>
                    <a:pt x="744" y="1404"/>
                  </a:lnTo>
                  <a:lnTo>
                    <a:pt x="761" y="1398"/>
                  </a:lnTo>
                  <a:lnTo>
                    <a:pt x="775" y="1388"/>
                  </a:lnTo>
                  <a:lnTo>
                    <a:pt x="784" y="1373"/>
                  </a:lnTo>
                  <a:lnTo>
                    <a:pt x="787" y="1357"/>
                  </a:lnTo>
                  <a:lnTo>
                    <a:pt x="781" y="1337"/>
                  </a:lnTo>
                  <a:lnTo>
                    <a:pt x="781" y="13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1" name="Freeform 32"/>
            <p:cNvSpPr>
              <a:spLocks/>
            </p:cNvSpPr>
            <p:nvPr/>
          </p:nvSpPr>
          <p:spPr bwMode="auto">
            <a:xfrm>
              <a:off x="1439" y="1948"/>
              <a:ext cx="125" cy="76"/>
            </a:xfrm>
            <a:custGeom>
              <a:avLst/>
              <a:gdLst>
                <a:gd name="T0" fmla="*/ 5 w 628"/>
                <a:gd name="T1" fmla="*/ 2 h 383"/>
                <a:gd name="T2" fmla="*/ 5 w 628"/>
                <a:gd name="T3" fmla="*/ 2 h 383"/>
                <a:gd name="T4" fmla="*/ 4 w 628"/>
                <a:gd name="T5" fmla="*/ 2 h 383"/>
                <a:gd name="T6" fmla="*/ 4 w 628"/>
                <a:gd name="T7" fmla="*/ 2 h 383"/>
                <a:gd name="T8" fmla="*/ 4 w 628"/>
                <a:gd name="T9" fmla="*/ 2 h 383"/>
                <a:gd name="T10" fmla="*/ 3 w 628"/>
                <a:gd name="T11" fmla="*/ 2 h 383"/>
                <a:gd name="T12" fmla="*/ 3 w 628"/>
                <a:gd name="T13" fmla="*/ 2 h 383"/>
                <a:gd name="T14" fmla="*/ 3 w 628"/>
                <a:gd name="T15" fmla="*/ 2 h 383"/>
                <a:gd name="T16" fmla="*/ 3 w 628"/>
                <a:gd name="T17" fmla="*/ 2 h 383"/>
                <a:gd name="T18" fmla="*/ 2 w 628"/>
                <a:gd name="T19" fmla="*/ 2 h 383"/>
                <a:gd name="T20" fmla="*/ 2 w 628"/>
                <a:gd name="T21" fmla="*/ 2 h 383"/>
                <a:gd name="T22" fmla="*/ 2 w 628"/>
                <a:gd name="T23" fmla="*/ 1 h 383"/>
                <a:gd name="T24" fmla="*/ 2 w 628"/>
                <a:gd name="T25" fmla="*/ 1 h 383"/>
                <a:gd name="T26" fmla="*/ 1 w 628"/>
                <a:gd name="T27" fmla="*/ 1 h 383"/>
                <a:gd name="T28" fmla="*/ 1 w 628"/>
                <a:gd name="T29" fmla="*/ 1 h 383"/>
                <a:gd name="T30" fmla="*/ 1 w 628"/>
                <a:gd name="T31" fmla="*/ 1 h 383"/>
                <a:gd name="T32" fmla="*/ 1 w 628"/>
                <a:gd name="T33" fmla="*/ 0 h 383"/>
                <a:gd name="T34" fmla="*/ 1 w 628"/>
                <a:gd name="T35" fmla="*/ 0 h 383"/>
                <a:gd name="T36" fmla="*/ 0 w 628"/>
                <a:gd name="T37" fmla="*/ 0 h 383"/>
                <a:gd name="T38" fmla="*/ 0 w 628"/>
                <a:gd name="T39" fmla="*/ 1 h 383"/>
                <a:gd name="T40" fmla="*/ 0 w 628"/>
                <a:gd name="T41" fmla="*/ 1 h 383"/>
                <a:gd name="T42" fmla="*/ 1 w 628"/>
                <a:gd name="T43" fmla="*/ 1 h 383"/>
                <a:gd name="T44" fmla="*/ 1 w 628"/>
                <a:gd name="T45" fmla="*/ 1 h 383"/>
                <a:gd name="T46" fmla="*/ 1 w 628"/>
                <a:gd name="T47" fmla="*/ 2 h 383"/>
                <a:gd name="T48" fmla="*/ 1 w 628"/>
                <a:gd name="T49" fmla="*/ 2 h 383"/>
                <a:gd name="T50" fmla="*/ 2 w 628"/>
                <a:gd name="T51" fmla="*/ 2 h 383"/>
                <a:gd name="T52" fmla="*/ 2 w 628"/>
                <a:gd name="T53" fmla="*/ 2 h 383"/>
                <a:gd name="T54" fmla="*/ 2 w 628"/>
                <a:gd name="T55" fmla="*/ 2 h 383"/>
                <a:gd name="T56" fmla="*/ 3 w 628"/>
                <a:gd name="T57" fmla="*/ 3 h 383"/>
                <a:gd name="T58" fmla="*/ 3 w 628"/>
                <a:gd name="T59" fmla="*/ 3 h 383"/>
                <a:gd name="T60" fmla="*/ 3 w 628"/>
                <a:gd name="T61" fmla="*/ 3 h 383"/>
                <a:gd name="T62" fmla="*/ 4 w 628"/>
                <a:gd name="T63" fmla="*/ 3 h 383"/>
                <a:gd name="T64" fmla="*/ 4 w 628"/>
                <a:gd name="T65" fmla="*/ 3 h 383"/>
                <a:gd name="T66" fmla="*/ 4 w 628"/>
                <a:gd name="T67" fmla="*/ 3 h 383"/>
                <a:gd name="T68" fmla="*/ 5 w 628"/>
                <a:gd name="T69" fmla="*/ 3 h 383"/>
                <a:gd name="T70" fmla="*/ 5 w 628"/>
                <a:gd name="T71" fmla="*/ 3 h 383"/>
                <a:gd name="T72" fmla="*/ 5 w 628"/>
                <a:gd name="T73" fmla="*/ 3 h 383"/>
                <a:gd name="T74" fmla="*/ 5 w 628"/>
                <a:gd name="T75" fmla="*/ 3 h 383"/>
                <a:gd name="T76" fmla="*/ 5 w 628"/>
                <a:gd name="T77" fmla="*/ 3 h 383"/>
                <a:gd name="T78" fmla="*/ 5 w 628"/>
                <a:gd name="T79" fmla="*/ 3 h 383"/>
                <a:gd name="T80" fmla="*/ 5 w 628"/>
                <a:gd name="T81" fmla="*/ 3 h 383"/>
                <a:gd name="T82" fmla="*/ 5 w 628"/>
                <a:gd name="T83" fmla="*/ 3 h 383"/>
                <a:gd name="T84" fmla="*/ 5 w 628"/>
                <a:gd name="T85" fmla="*/ 2 h 383"/>
                <a:gd name="T86" fmla="*/ 5 w 628"/>
                <a:gd name="T87" fmla="*/ 2 h 383"/>
                <a:gd name="T88" fmla="*/ 5 w 628"/>
                <a:gd name="T89" fmla="*/ 2 h 383"/>
                <a:gd name="T90" fmla="*/ 5 w 628"/>
                <a:gd name="T91" fmla="*/ 2 h 3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8"/>
                <a:gd name="T139" fmla="*/ 0 h 383"/>
                <a:gd name="T140" fmla="*/ 628 w 628"/>
                <a:gd name="T141" fmla="*/ 383 h 3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8" h="383">
                  <a:moveTo>
                    <a:pt x="581" y="289"/>
                  </a:moveTo>
                  <a:lnTo>
                    <a:pt x="582" y="289"/>
                  </a:lnTo>
                  <a:lnTo>
                    <a:pt x="541" y="287"/>
                  </a:lnTo>
                  <a:lnTo>
                    <a:pt x="500" y="283"/>
                  </a:lnTo>
                  <a:lnTo>
                    <a:pt x="462" y="276"/>
                  </a:lnTo>
                  <a:lnTo>
                    <a:pt x="424" y="268"/>
                  </a:lnTo>
                  <a:lnTo>
                    <a:pt x="389" y="255"/>
                  </a:lnTo>
                  <a:lnTo>
                    <a:pt x="352" y="242"/>
                  </a:lnTo>
                  <a:lnTo>
                    <a:pt x="320" y="227"/>
                  </a:lnTo>
                  <a:lnTo>
                    <a:pt x="287" y="209"/>
                  </a:lnTo>
                  <a:lnTo>
                    <a:pt x="255" y="189"/>
                  </a:lnTo>
                  <a:lnTo>
                    <a:pt x="226" y="168"/>
                  </a:lnTo>
                  <a:lnTo>
                    <a:pt x="198" y="145"/>
                  </a:lnTo>
                  <a:lnTo>
                    <a:pt x="172" y="119"/>
                  </a:lnTo>
                  <a:lnTo>
                    <a:pt x="146" y="92"/>
                  </a:lnTo>
                  <a:lnTo>
                    <a:pt x="122" y="64"/>
                  </a:lnTo>
                  <a:lnTo>
                    <a:pt x="100" y="33"/>
                  </a:lnTo>
                  <a:lnTo>
                    <a:pt x="82" y="0"/>
                  </a:lnTo>
                  <a:lnTo>
                    <a:pt x="0" y="47"/>
                  </a:lnTo>
                  <a:lnTo>
                    <a:pt x="23" y="85"/>
                  </a:lnTo>
                  <a:lnTo>
                    <a:pt x="49" y="120"/>
                  </a:lnTo>
                  <a:lnTo>
                    <a:pt x="76" y="153"/>
                  </a:lnTo>
                  <a:lnTo>
                    <a:pt x="104" y="185"/>
                  </a:lnTo>
                  <a:lnTo>
                    <a:pt x="137" y="215"/>
                  </a:lnTo>
                  <a:lnTo>
                    <a:pt x="170" y="241"/>
                  </a:lnTo>
                  <a:lnTo>
                    <a:pt x="204" y="267"/>
                  </a:lnTo>
                  <a:lnTo>
                    <a:pt x="240" y="289"/>
                  </a:lnTo>
                  <a:lnTo>
                    <a:pt x="277" y="309"/>
                  </a:lnTo>
                  <a:lnTo>
                    <a:pt x="317" y="329"/>
                  </a:lnTo>
                  <a:lnTo>
                    <a:pt x="358" y="344"/>
                  </a:lnTo>
                  <a:lnTo>
                    <a:pt x="400" y="357"/>
                  </a:lnTo>
                  <a:lnTo>
                    <a:pt x="444" y="367"/>
                  </a:lnTo>
                  <a:lnTo>
                    <a:pt x="488" y="374"/>
                  </a:lnTo>
                  <a:lnTo>
                    <a:pt x="534" y="380"/>
                  </a:lnTo>
                  <a:lnTo>
                    <a:pt x="580" y="383"/>
                  </a:lnTo>
                  <a:lnTo>
                    <a:pt x="581" y="383"/>
                  </a:lnTo>
                  <a:lnTo>
                    <a:pt x="580" y="383"/>
                  </a:lnTo>
                  <a:lnTo>
                    <a:pt x="600" y="379"/>
                  </a:lnTo>
                  <a:lnTo>
                    <a:pt x="615" y="369"/>
                  </a:lnTo>
                  <a:lnTo>
                    <a:pt x="624" y="353"/>
                  </a:lnTo>
                  <a:lnTo>
                    <a:pt x="628" y="337"/>
                  </a:lnTo>
                  <a:lnTo>
                    <a:pt x="625" y="319"/>
                  </a:lnTo>
                  <a:lnTo>
                    <a:pt x="617" y="304"/>
                  </a:lnTo>
                  <a:lnTo>
                    <a:pt x="602" y="294"/>
                  </a:lnTo>
                  <a:lnTo>
                    <a:pt x="582" y="289"/>
                  </a:lnTo>
                  <a:lnTo>
                    <a:pt x="581"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2" name="Freeform 33"/>
            <p:cNvSpPr>
              <a:spLocks/>
            </p:cNvSpPr>
            <p:nvPr/>
          </p:nvSpPr>
          <p:spPr bwMode="auto">
            <a:xfrm>
              <a:off x="1587" y="1880"/>
              <a:ext cx="85" cy="49"/>
            </a:xfrm>
            <a:custGeom>
              <a:avLst/>
              <a:gdLst>
                <a:gd name="T0" fmla="*/ 3 w 426"/>
                <a:gd name="T1" fmla="*/ 0 h 245"/>
                <a:gd name="T2" fmla="*/ 3 w 426"/>
                <a:gd name="T3" fmla="*/ 0 h 245"/>
                <a:gd name="T4" fmla="*/ 3 w 426"/>
                <a:gd name="T5" fmla="*/ 0 h 245"/>
                <a:gd name="T6" fmla="*/ 3 w 426"/>
                <a:gd name="T7" fmla="*/ 0 h 245"/>
                <a:gd name="T8" fmla="*/ 2 w 426"/>
                <a:gd name="T9" fmla="*/ 0 h 245"/>
                <a:gd name="T10" fmla="*/ 2 w 426"/>
                <a:gd name="T11" fmla="*/ 0 h 245"/>
                <a:gd name="T12" fmla="*/ 2 w 426"/>
                <a:gd name="T13" fmla="*/ 0 h 245"/>
                <a:gd name="T14" fmla="*/ 2 w 426"/>
                <a:gd name="T15" fmla="*/ 0 h 245"/>
                <a:gd name="T16" fmla="*/ 1 w 426"/>
                <a:gd name="T17" fmla="*/ 0 h 245"/>
                <a:gd name="T18" fmla="*/ 1 w 426"/>
                <a:gd name="T19" fmla="*/ 1 h 245"/>
                <a:gd name="T20" fmla="*/ 1 w 426"/>
                <a:gd name="T21" fmla="*/ 1 h 245"/>
                <a:gd name="T22" fmla="*/ 1 w 426"/>
                <a:gd name="T23" fmla="*/ 1 h 245"/>
                <a:gd name="T24" fmla="*/ 0 w 426"/>
                <a:gd name="T25" fmla="*/ 1 h 245"/>
                <a:gd name="T26" fmla="*/ 0 w 426"/>
                <a:gd name="T27" fmla="*/ 1 h 245"/>
                <a:gd name="T28" fmla="*/ 0 w 426"/>
                <a:gd name="T29" fmla="*/ 1 h 245"/>
                <a:gd name="T30" fmla="*/ 0 w 426"/>
                <a:gd name="T31" fmla="*/ 2 h 245"/>
                <a:gd name="T32" fmla="*/ 0 w 426"/>
                <a:gd name="T33" fmla="*/ 2 h 245"/>
                <a:gd name="T34" fmla="*/ 0 w 426"/>
                <a:gd name="T35" fmla="*/ 2 h 245"/>
                <a:gd name="T36" fmla="*/ 0 w 426"/>
                <a:gd name="T37" fmla="*/ 2 h 245"/>
                <a:gd name="T38" fmla="*/ 0 w 426"/>
                <a:gd name="T39" fmla="*/ 2 h 245"/>
                <a:gd name="T40" fmla="*/ 0 w 426"/>
                <a:gd name="T41" fmla="*/ 2 h 245"/>
                <a:gd name="T42" fmla="*/ 0 w 426"/>
                <a:gd name="T43" fmla="*/ 1 h 245"/>
                <a:gd name="T44" fmla="*/ 0 w 426"/>
                <a:gd name="T45" fmla="*/ 1 h 245"/>
                <a:gd name="T46" fmla="*/ 0 w 426"/>
                <a:gd name="T47" fmla="*/ 1 h 245"/>
                <a:gd name="T48" fmla="*/ 1 w 426"/>
                <a:gd name="T49" fmla="*/ 1 h 245"/>
                <a:gd name="T50" fmla="*/ 1 w 426"/>
                <a:gd name="T51" fmla="*/ 1 h 245"/>
                <a:gd name="T52" fmla="*/ 1 w 426"/>
                <a:gd name="T53" fmla="*/ 1 h 245"/>
                <a:gd name="T54" fmla="*/ 1 w 426"/>
                <a:gd name="T55" fmla="*/ 1 h 245"/>
                <a:gd name="T56" fmla="*/ 2 w 426"/>
                <a:gd name="T57" fmla="*/ 0 h 245"/>
                <a:gd name="T58" fmla="*/ 2 w 426"/>
                <a:gd name="T59" fmla="*/ 0 h 245"/>
                <a:gd name="T60" fmla="*/ 2 w 426"/>
                <a:gd name="T61" fmla="*/ 0 h 245"/>
                <a:gd name="T62" fmla="*/ 2 w 426"/>
                <a:gd name="T63" fmla="*/ 0 h 245"/>
                <a:gd name="T64" fmla="*/ 3 w 426"/>
                <a:gd name="T65" fmla="*/ 0 h 245"/>
                <a:gd name="T66" fmla="*/ 3 w 426"/>
                <a:gd name="T67" fmla="*/ 0 h 245"/>
                <a:gd name="T68" fmla="*/ 3 w 426"/>
                <a:gd name="T69" fmla="*/ 0 h 245"/>
                <a:gd name="T70" fmla="*/ 3 w 426"/>
                <a:gd name="T71" fmla="*/ 0 h 245"/>
                <a:gd name="T72" fmla="*/ 3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426" y="0"/>
                  </a:moveTo>
                  <a:lnTo>
                    <a:pt x="426" y="0"/>
                  </a:lnTo>
                  <a:lnTo>
                    <a:pt x="384" y="1"/>
                  </a:lnTo>
                  <a:lnTo>
                    <a:pt x="340" y="4"/>
                  </a:lnTo>
                  <a:lnTo>
                    <a:pt x="300" y="10"/>
                  </a:lnTo>
                  <a:lnTo>
                    <a:pt x="262" y="18"/>
                  </a:lnTo>
                  <a:lnTo>
                    <a:pt x="224" y="29"/>
                  </a:lnTo>
                  <a:lnTo>
                    <a:pt x="189" y="41"/>
                  </a:lnTo>
                  <a:lnTo>
                    <a:pt x="157" y="55"/>
                  </a:lnTo>
                  <a:lnTo>
                    <a:pt x="126" y="70"/>
                  </a:lnTo>
                  <a:lnTo>
                    <a:pt x="99" y="89"/>
                  </a:lnTo>
                  <a:lnTo>
                    <a:pt x="74" y="106"/>
                  </a:lnTo>
                  <a:lnTo>
                    <a:pt x="52" y="126"/>
                  </a:lnTo>
                  <a:lnTo>
                    <a:pt x="34" y="148"/>
                  </a:lnTo>
                  <a:lnTo>
                    <a:pt x="19" y="171"/>
                  </a:lnTo>
                  <a:lnTo>
                    <a:pt x="9" y="194"/>
                  </a:lnTo>
                  <a:lnTo>
                    <a:pt x="3" y="219"/>
                  </a:lnTo>
                  <a:lnTo>
                    <a:pt x="0" y="245"/>
                  </a:lnTo>
                  <a:lnTo>
                    <a:pt x="12" y="245"/>
                  </a:lnTo>
                  <a:lnTo>
                    <a:pt x="15" y="221"/>
                  </a:lnTo>
                  <a:lnTo>
                    <a:pt x="20" y="199"/>
                  </a:lnTo>
                  <a:lnTo>
                    <a:pt x="31" y="178"/>
                  </a:lnTo>
                  <a:lnTo>
                    <a:pt x="44" y="156"/>
                  </a:lnTo>
                  <a:lnTo>
                    <a:pt x="61" y="136"/>
                  </a:lnTo>
                  <a:lnTo>
                    <a:pt x="81" y="116"/>
                  </a:lnTo>
                  <a:lnTo>
                    <a:pt x="106" y="98"/>
                  </a:lnTo>
                  <a:lnTo>
                    <a:pt x="133" y="82"/>
                  </a:lnTo>
                  <a:lnTo>
                    <a:pt x="162" y="66"/>
                  </a:lnTo>
                  <a:lnTo>
                    <a:pt x="194" y="52"/>
                  </a:lnTo>
                  <a:lnTo>
                    <a:pt x="229" y="41"/>
                  </a:lnTo>
                  <a:lnTo>
                    <a:pt x="264" y="30"/>
                  </a:lnTo>
                  <a:lnTo>
                    <a:pt x="303" y="22"/>
                  </a:lnTo>
                  <a:lnTo>
                    <a:pt x="343" y="16"/>
                  </a:lnTo>
                  <a:lnTo>
                    <a:pt x="384" y="12"/>
                  </a:lnTo>
                  <a:lnTo>
                    <a:pt x="426" y="11"/>
                  </a:lnTo>
                  <a:lnTo>
                    <a:pt x="4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3" name="Freeform 34"/>
            <p:cNvSpPr>
              <a:spLocks/>
            </p:cNvSpPr>
            <p:nvPr/>
          </p:nvSpPr>
          <p:spPr bwMode="auto">
            <a:xfrm>
              <a:off x="1587" y="1929"/>
              <a:ext cx="85" cy="49"/>
            </a:xfrm>
            <a:custGeom>
              <a:avLst/>
              <a:gdLst>
                <a:gd name="T0" fmla="*/ 0 w 426"/>
                <a:gd name="T1" fmla="*/ 0 h 245"/>
                <a:gd name="T2" fmla="*/ 0 w 426"/>
                <a:gd name="T3" fmla="*/ 0 h 245"/>
                <a:gd name="T4" fmla="*/ 0 w 426"/>
                <a:gd name="T5" fmla="*/ 0 h 245"/>
                <a:gd name="T6" fmla="*/ 0 w 426"/>
                <a:gd name="T7" fmla="*/ 0 h 245"/>
                <a:gd name="T8" fmla="*/ 0 w 426"/>
                <a:gd name="T9" fmla="*/ 1 h 245"/>
                <a:gd name="T10" fmla="*/ 0 w 426"/>
                <a:gd name="T11" fmla="*/ 1 h 245"/>
                <a:gd name="T12" fmla="*/ 0 w 426"/>
                <a:gd name="T13" fmla="*/ 1 h 245"/>
                <a:gd name="T14" fmla="*/ 1 w 426"/>
                <a:gd name="T15" fmla="*/ 1 h 245"/>
                <a:gd name="T16" fmla="*/ 1 w 426"/>
                <a:gd name="T17" fmla="*/ 1 h 245"/>
                <a:gd name="T18" fmla="*/ 1 w 426"/>
                <a:gd name="T19" fmla="*/ 1 h 245"/>
                <a:gd name="T20" fmla="*/ 1 w 426"/>
                <a:gd name="T21" fmla="*/ 2 h 245"/>
                <a:gd name="T22" fmla="*/ 2 w 426"/>
                <a:gd name="T23" fmla="*/ 2 h 245"/>
                <a:gd name="T24" fmla="*/ 2 w 426"/>
                <a:gd name="T25" fmla="*/ 2 h 245"/>
                <a:gd name="T26" fmla="*/ 2 w 426"/>
                <a:gd name="T27" fmla="*/ 2 h 245"/>
                <a:gd name="T28" fmla="*/ 2 w 426"/>
                <a:gd name="T29" fmla="*/ 2 h 245"/>
                <a:gd name="T30" fmla="*/ 3 w 426"/>
                <a:gd name="T31" fmla="*/ 2 h 245"/>
                <a:gd name="T32" fmla="*/ 3 w 426"/>
                <a:gd name="T33" fmla="*/ 2 h 245"/>
                <a:gd name="T34" fmla="*/ 3 w 426"/>
                <a:gd name="T35" fmla="*/ 2 h 245"/>
                <a:gd name="T36" fmla="*/ 3 w 426"/>
                <a:gd name="T37" fmla="*/ 2 h 245"/>
                <a:gd name="T38" fmla="*/ 3 w 426"/>
                <a:gd name="T39" fmla="*/ 2 h 245"/>
                <a:gd name="T40" fmla="*/ 3 w 426"/>
                <a:gd name="T41" fmla="*/ 2 h 245"/>
                <a:gd name="T42" fmla="*/ 2 w 426"/>
                <a:gd name="T43" fmla="*/ 2 h 245"/>
                <a:gd name="T44" fmla="*/ 2 w 426"/>
                <a:gd name="T45" fmla="*/ 2 h 245"/>
                <a:gd name="T46" fmla="*/ 2 w 426"/>
                <a:gd name="T47" fmla="*/ 2 h 245"/>
                <a:gd name="T48" fmla="*/ 2 w 426"/>
                <a:gd name="T49" fmla="*/ 2 h 245"/>
                <a:gd name="T50" fmla="*/ 1 w 426"/>
                <a:gd name="T51" fmla="*/ 1 h 245"/>
                <a:gd name="T52" fmla="*/ 1 w 426"/>
                <a:gd name="T53" fmla="*/ 1 h 245"/>
                <a:gd name="T54" fmla="*/ 1 w 426"/>
                <a:gd name="T55" fmla="*/ 1 h 245"/>
                <a:gd name="T56" fmla="*/ 1 w 426"/>
                <a:gd name="T57" fmla="*/ 1 h 245"/>
                <a:gd name="T58" fmla="*/ 0 w 426"/>
                <a:gd name="T59" fmla="*/ 1 h 245"/>
                <a:gd name="T60" fmla="*/ 0 w 426"/>
                <a:gd name="T61" fmla="*/ 1 h 245"/>
                <a:gd name="T62" fmla="*/ 0 w 426"/>
                <a:gd name="T63" fmla="*/ 1 h 245"/>
                <a:gd name="T64" fmla="*/ 0 w 426"/>
                <a:gd name="T65" fmla="*/ 0 h 245"/>
                <a:gd name="T66" fmla="*/ 0 w 426"/>
                <a:gd name="T67" fmla="*/ 0 h 245"/>
                <a:gd name="T68" fmla="*/ 0 w 426"/>
                <a:gd name="T69" fmla="*/ 0 h 245"/>
                <a:gd name="T70" fmla="*/ 0 w 426"/>
                <a:gd name="T71" fmla="*/ 0 h 245"/>
                <a:gd name="T72" fmla="*/ 0 w 426"/>
                <a:gd name="T73" fmla="*/ 0 h 2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6"/>
                <a:gd name="T112" fmla="*/ 0 h 245"/>
                <a:gd name="T113" fmla="*/ 426 w 426"/>
                <a:gd name="T114" fmla="*/ 245 h 2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6" h="245">
                  <a:moveTo>
                    <a:pt x="0" y="0"/>
                  </a:moveTo>
                  <a:lnTo>
                    <a:pt x="0" y="0"/>
                  </a:lnTo>
                  <a:lnTo>
                    <a:pt x="3" y="25"/>
                  </a:lnTo>
                  <a:lnTo>
                    <a:pt x="9" y="50"/>
                  </a:lnTo>
                  <a:lnTo>
                    <a:pt x="19" y="73"/>
                  </a:lnTo>
                  <a:lnTo>
                    <a:pt x="34" y="96"/>
                  </a:lnTo>
                  <a:lnTo>
                    <a:pt x="52" y="118"/>
                  </a:lnTo>
                  <a:lnTo>
                    <a:pt x="74" y="138"/>
                  </a:lnTo>
                  <a:lnTo>
                    <a:pt x="99" y="156"/>
                  </a:lnTo>
                  <a:lnTo>
                    <a:pt x="126" y="174"/>
                  </a:lnTo>
                  <a:lnTo>
                    <a:pt x="157" y="190"/>
                  </a:lnTo>
                  <a:lnTo>
                    <a:pt x="189" y="204"/>
                  </a:lnTo>
                  <a:lnTo>
                    <a:pt x="224" y="215"/>
                  </a:lnTo>
                  <a:lnTo>
                    <a:pt x="262" y="226"/>
                  </a:lnTo>
                  <a:lnTo>
                    <a:pt x="300" y="234"/>
                  </a:lnTo>
                  <a:lnTo>
                    <a:pt x="340" y="240"/>
                  </a:lnTo>
                  <a:lnTo>
                    <a:pt x="384" y="244"/>
                  </a:lnTo>
                  <a:lnTo>
                    <a:pt x="426" y="245"/>
                  </a:lnTo>
                  <a:lnTo>
                    <a:pt x="426" y="233"/>
                  </a:lnTo>
                  <a:lnTo>
                    <a:pt x="384" y="232"/>
                  </a:lnTo>
                  <a:lnTo>
                    <a:pt x="343" y="228"/>
                  </a:lnTo>
                  <a:lnTo>
                    <a:pt x="303" y="222"/>
                  </a:lnTo>
                  <a:lnTo>
                    <a:pt x="264" y="214"/>
                  </a:lnTo>
                  <a:lnTo>
                    <a:pt x="229" y="204"/>
                  </a:lnTo>
                  <a:lnTo>
                    <a:pt x="194" y="192"/>
                  </a:lnTo>
                  <a:lnTo>
                    <a:pt x="162" y="178"/>
                  </a:lnTo>
                  <a:lnTo>
                    <a:pt x="133" y="163"/>
                  </a:lnTo>
                  <a:lnTo>
                    <a:pt x="106" y="146"/>
                  </a:lnTo>
                  <a:lnTo>
                    <a:pt x="81" y="129"/>
                  </a:lnTo>
                  <a:lnTo>
                    <a:pt x="61" y="109"/>
                  </a:lnTo>
                  <a:lnTo>
                    <a:pt x="44" y="89"/>
                  </a:lnTo>
                  <a:lnTo>
                    <a:pt x="31" y="66"/>
                  </a:lnTo>
                  <a:lnTo>
                    <a:pt x="20" y="45"/>
                  </a:lnTo>
                  <a:lnTo>
                    <a:pt x="15" y="2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4" name="Freeform 35"/>
            <p:cNvSpPr>
              <a:spLocks/>
            </p:cNvSpPr>
            <p:nvPr/>
          </p:nvSpPr>
          <p:spPr bwMode="auto">
            <a:xfrm>
              <a:off x="878" y="1448"/>
              <a:ext cx="792" cy="954"/>
            </a:xfrm>
            <a:custGeom>
              <a:avLst/>
              <a:gdLst>
                <a:gd name="T0" fmla="*/ 13 w 3960"/>
                <a:gd name="T1" fmla="*/ 38 h 4768"/>
                <a:gd name="T2" fmla="*/ 14 w 3960"/>
                <a:gd name="T3" fmla="*/ 38 h 4768"/>
                <a:gd name="T4" fmla="*/ 15 w 3960"/>
                <a:gd name="T5" fmla="*/ 38 h 4768"/>
                <a:gd name="T6" fmla="*/ 15 w 3960"/>
                <a:gd name="T7" fmla="*/ 38 h 4768"/>
                <a:gd name="T8" fmla="*/ 16 w 3960"/>
                <a:gd name="T9" fmla="*/ 38 h 4768"/>
                <a:gd name="T10" fmla="*/ 17 w 3960"/>
                <a:gd name="T11" fmla="*/ 38 h 4768"/>
                <a:gd name="T12" fmla="*/ 17 w 3960"/>
                <a:gd name="T13" fmla="*/ 38 h 4768"/>
                <a:gd name="T14" fmla="*/ 18 w 3960"/>
                <a:gd name="T15" fmla="*/ 38 h 4768"/>
                <a:gd name="T16" fmla="*/ 18 w 3960"/>
                <a:gd name="T17" fmla="*/ 38 h 4768"/>
                <a:gd name="T18" fmla="*/ 29 w 3960"/>
                <a:gd name="T19" fmla="*/ 30 h 4768"/>
                <a:gd name="T20" fmla="*/ 30 w 3960"/>
                <a:gd name="T21" fmla="*/ 30 h 4768"/>
                <a:gd name="T22" fmla="*/ 30 w 3960"/>
                <a:gd name="T23" fmla="*/ 29 h 4768"/>
                <a:gd name="T24" fmla="*/ 31 w 3960"/>
                <a:gd name="T25" fmla="*/ 28 h 4768"/>
                <a:gd name="T26" fmla="*/ 31 w 3960"/>
                <a:gd name="T27" fmla="*/ 28 h 4768"/>
                <a:gd name="T28" fmla="*/ 31 w 3960"/>
                <a:gd name="T29" fmla="*/ 27 h 4768"/>
                <a:gd name="T30" fmla="*/ 32 w 3960"/>
                <a:gd name="T31" fmla="*/ 26 h 4768"/>
                <a:gd name="T32" fmla="*/ 32 w 3960"/>
                <a:gd name="T33" fmla="*/ 25 h 4768"/>
                <a:gd name="T34" fmla="*/ 32 w 3960"/>
                <a:gd name="T35" fmla="*/ 11 h 4768"/>
                <a:gd name="T36" fmla="*/ 32 w 3960"/>
                <a:gd name="T37" fmla="*/ 10 h 4768"/>
                <a:gd name="T38" fmla="*/ 31 w 3960"/>
                <a:gd name="T39" fmla="*/ 9 h 4768"/>
                <a:gd name="T40" fmla="*/ 31 w 3960"/>
                <a:gd name="T41" fmla="*/ 9 h 4768"/>
                <a:gd name="T42" fmla="*/ 31 w 3960"/>
                <a:gd name="T43" fmla="*/ 8 h 4768"/>
                <a:gd name="T44" fmla="*/ 31 w 3960"/>
                <a:gd name="T45" fmla="*/ 8 h 4768"/>
                <a:gd name="T46" fmla="*/ 30 w 3960"/>
                <a:gd name="T47" fmla="*/ 7 h 4768"/>
                <a:gd name="T48" fmla="*/ 30 w 3960"/>
                <a:gd name="T49" fmla="*/ 7 h 4768"/>
                <a:gd name="T50" fmla="*/ 29 w 3960"/>
                <a:gd name="T51" fmla="*/ 6 h 4768"/>
                <a:gd name="T52" fmla="*/ 19 w 3960"/>
                <a:gd name="T53" fmla="*/ 1 h 4768"/>
                <a:gd name="T54" fmla="*/ 18 w 3960"/>
                <a:gd name="T55" fmla="*/ 0 h 4768"/>
                <a:gd name="T56" fmla="*/ 17 w 3960"/>
                <a:gd name="T57" fmla="*/ 0 h 4768"/>
                <a:gd name="T58" fmla="*/ 17 w 3960"/>
                <a:gd name="T59" fmla="*/ 0 h 4768"/>
                <a:gd name="T60" fmla="*/ 16 w 3960"/>
                <a:gd name="T61" fmla="*/ 0 h 4768"/>
                <a:gd name="T62" fmla="*/ 15 w 3960"/>
                <a:gd name="T63" fmla="*/ 0 h 4768"/>
                <a:gd name="T64" fmla="*/ 14 w 3960"/>
                <a:gd name="T65" fmla="*/ 0 h 4768"/>
                <a:gd name="T66" fmla="*/ 14 w 3960"/>
                <a:gd name="T67" fmla="*/ 0 h 4768"/>
                <a:gd name="T68" fmla="*/ 2 w 3960"/>
                <a:gd name="T69" fmla="*/ 6 h 4768"/>
                <a:gd name="T70" fmla="*/ 2 w 3960"/>
                <a:gd name="T71" fmla="*/ 7 h 4768"/>
                <a:gd name="T72" fmla="*/ 1 w 3960"/>
                <a:gd name="T73" fmla="*/ 7 h 4768"/>
                <a:gd name="T74" fmla="*/ 1 w 3960"/>
                <a:gd name="T75" fmla="*/ 8 h 4768"/>
                <a:gd name="T76" fmla="*/ 1 w 3960"/>
                <a:gd name="T77" fmla="*/ 8 h 4768"/>
                <a:gd name="T78" fmla="*/ 0 w 3960"/>
                <a:gd name="T79" fmla="*/ 9 h 4768"/>
                <a:gd name="T80" fmla="*/ 0 w 3960"/>
                <a:gd name="T81" fmla="*/ 9 h 4768"/>
                <a:gd name="T82" fmla="*/ 0 w 3960"/>
                <a:gd name="T83" fmla="*/ 10 h 4768"/>
                <a:gd name="T84" fmla="*/ 0 w 3960"/>
                <a:gd name="T85" fmla="*/ 11 h 4768"/>
                <a:gd name="T86" fmla="*/ 0 w 3960"/>
                <a:gd name="T87" fmla="*/ 25 h 4768"/>
                <a:gd name="T88" fmla="*/ 0 w 3960"/>
                <a:gd name="T89" fmla="*/ 26 h 4768"/>
                <a:gd name="T90" fmla="*/ 0 w 3960"/>
                <a:gd name="T91" fmla="*/ 27 h 4768"/>
                <a:gd name="T92" fmla="*/ 1 w 3960"/>
                <a:gd name="T93" fmla="*/ 28 h 4768"/>
                <a:gd name="T94" fmla="*/ 1 w 3960"/>
                <a:gd name="T95" fmla="*/ 29 h 4768"/>
                <a:gd name="T96" fmla="*/ 1 w 3960"/>
                <a:gd name="T97" fmla="*/ 29 h 4768"/>
                <a:gd name="T98" fmla="*/ 2 w 3960"/>
                <a:gd name="T99" fmla="*/ 30 h 4768"/>
                <a:gd name="T100" fmla="*/ 3 w 3960"/>
                <a:gd name="T101" fmla="*/ 31 h 47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60"/>
                <a:gd name="T154" fmla="*/ 0 h 4768"/>
                <a:gd name="T155" fmla="*/ 3960 w 3960"/>
                <a:gd name="T156" fmla="*/ 4768 h 47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60" h="4768">
                  <a:moveTo>
                    <a:pt x="353" y="3849"/>
                  </a:moveTo>
                  <a:lnTo>
                    <a:pt x="1661" y="4700"/>
                  </a:lnTo>
                  <a:lnTo>
                    <a:pt x="1697" y="4717"/>
                  </a:lnTo>
                  <a:lnTo>
                    <a:pt x="1736" y="4731"/>
                  </a:lnTo>
                  <a:lnTo>
                    <a:pt x="1776" y="4742"/>
                  </a:lnTo>
                  <a:lnTo>
                    <a:pt x="1818" y="4753"/>
                  </a:lnTo>
                  <a:lnTo>
                    <a:pt x="1860" y="4760"/>
                  </a:lnTo>
                  <a:lnTo>
                    <a:pt x="1902" y="4765"/>
                  </a:lnTo>
                  <a:lnTo>
                    <a:pt x="1946" y="4768"/>
                  </a:lnTo>
                  <a:lnTo>
                    <a:pt x="1988" y="4768"/>
                  </a:lnTo>
                  <a:lnTo>
                    <a:pt x="2031" y="4767"/>
                  </a:lnTo>
                  <a:lnTo>
                    <a:pt x="2073" y="4763"/>
                  </a:lnTo>
                  <a:lnTo>
                    <a:pt x="2114" y="4758"/>
                  </a:lnTo>
                  <a:lnTo>
                    <a:pt x="2154" y="4751"/>
                  </a:lnTo>
                  <a:lnTo>
                    <a:pt x="2193" y="4740"/>
                  </a:lnTo>
                  <a:lnTo>
                    <a:pt x="2230" y="4729"/>
                  </a:lnTo>
                  <a:lnTo>
                    <a:pt x="2264" y="4715"/>
                  </a:lnTo>
                  <a:lnTo>
                    <a:pt x="2297" y="4700"/>
                  </a:lnTo>
                  <a:lnTo>
                    <a:pt x="3639" y="3825"/>
                  </a:lnTo>
                  <a:lnTo>
                    <a:pt x="3673" y="3795"/>
                  </a:lnTo>
                  <a:lnTo>
                    <a:pt x="3707" y="3761"/>
                  </a:lnTo>
                  <a:lnTo>
                    <a:pt x="3738" y="3725"/>
                  </a:lnTo>
                  <a:lnTo>
                    <a:pt x="3768" y="3685"/>
                  </a:lnTo>
                  <a:lnTo>
                    <a:pt x="3796" y="3644"/>
                  </a:lnTo>
                  <a:lnTo>
                    <a:pt x="3821" y="3599"/>
                  </a:lnTo>
                  <a:lnTo>
                    <a:pt x="3846" y="3553"/>
                  </a:lnTo>
                  <a:lnTo>
                    <a:pt x="3868" y="3505"/>
                  </a:lnTo>
                  <a:lnTo>
                    <a:pt x="3888" y="3456"/>
                  </a:lnTo>
                  <a:lnTo>
                    <a:pt x="3907" y="3406"/>
                  </a:lnTo>
                  <a:lnTo>
                    <a:pt x="3922" y="3354"/>
                  </a:lnTo>
                  <a:lnTo>
                    <a:pt x="3935" y="3303"/>
                  </a:lnTo>
                  <a:lnTo>
                    <a:pt x="3946" y="3250"/>
                  </a:lnTo>
                  <a:lnTo>
                    <a:pt x="3953" y="3197"/>
                  </a:lnTo>
                  <a:lnTo>
                    <a:pt x="3957" y="3144"/>
                  </a:lnTo>
                  <a:lnTo>
                    <a:pt x="3960" y="3092"/>
                  </a:lnTo>
                  <a:lnTo>
                    <a:pt x="3959" y="1313"/>
                  </a:lnTo>
                  <a:lnTo>
                    <a:pt x="3955" y="1271"/>
                  </a:lnTo>
                  <a:lnTo>
                    <a:pt x="3949" y="1229"/>
                  </a:lnTo>
                  <a:lnTo>
                    <a:pt x="3941" y="1189"/>
                  </a:lnTo>
                  <a:lnTo>
                    <a:pt x="3930" y="1149"/>
                  </a:lnTo>
                  <a:lnTo>
                    <a:pt x="3918" y="1111"/>
                  </a:lnTo>
                  <a:lnTo>
                    <a:pt x="3902" y="1075"/>
                  </a:lnTo>
                  <a:lnTo>
                    <a:pt x="3886" y="1040"/>
                  </a:lnTo>
                  <a:lnTo>
                    <a:pt x="3867" y="1006"/>
                  </a:lnTo>
                  <a:lnTo>
                    <a:pt x="3846" y="973"/>
                  </a:lnTo>
                  <a:lnTo>
                    <a:pt x="3823" y="942"/>
                  </a:lnTo>
                  <a:lnTo>
                    <a:pt x="3798" y="913"/>
                  </a:lnTo>
                  <a:lnTo>
                    <a:pt x="3771" y="886"/>
                  </a:lnTo>
                  <a:lnTo>
                    <a:pt x="3743" y="860"/>
                  </a:lnTo>
                  <a:lnTo>
                    <a:pt x="3714" y="837"/>
                  </a:lnTo>
                  <a:lnTo>
                    <a:pt x="3682" y="816"/>
                  </a:lnTo>
                  <a:lnTo>
                    <a:pt x="3649" y="796"/>
                  </a:lnTo>
                  <a:lnTo>
                    <a:pt x="2386" y="83"/>
                  </a:lnTo>
                  <a:lnTo>
                    <a:pt x="2350" y="65"/>
                  </a:lnTo>
                  <a:lnTo>
                    <a:pt x="2310" y="50"/>
                  </a:lnTo>
                  <a:lnTo>
                    <a:pt x="2268" y="36"/>
                  </a:lnTo>
                  <a:lnTo>
                    <a:pt x="2223" y="24"/>
                  </a:lnTo>
                  <a:lnTo>
                    <a:pt x="2178" y="15"/>
                  </a:lnTo>
                  <a:lnTo>
                    <a:pt x="2131" y="8"/>
                  </a:lnTo>
                  <a:lnTo>
                    <a:pt x="2082" y="3"/>
                  </a:lnTo>
                  <a:lnTo>
                    <a:pt x="2032" y="0"/>
                  </a:lnTo>
                  <a:lnTo>
                    <a:pt x="1982" y="1"/>
                  </a:lnTo>
                  <a:lnTo>
                    <a:pt x="1933" y="3"/>
                  </a:lnTo>
                  <a:lnTo>
                    <a:pt x="1882" y="9"/>
                  </a:lnTo>
                  <a:lnTo>
                    <a:pt x="1833" y="17"/>
                  </a:lnTo>
                  <a:lnTo>
                    <a:pt x="1785" y="29"/>
                  </a:lnTo>
                  <a:lnTo>
                    <a:pt x="1737" y="43"/>
                  </a:lnTo>
                  <a:lnTo>
                    <a:pt x="1691" y="62"/>
                  </a:lnTo>
                  <a:lnTo>
                    <a:pt x="1647" y="83"/>
                  </a:lnTo>
                  <a:lnTo>
                    <a:pt x="311" y="782"/>
                  </a:lnTo>
                  <a:lnTo>
                    <a:pt x="276" y="803"/>
                  </a:lnTo>
                  <a:lnTo>
                    <a:pt x="243" y="826"/>
                  </a:lnTo>
                  <a:lnTo>
                    <a:pt x="213" y="852"/>
                  </a:lnTo>
                  <a:lnTo>
                    <a:pt x="184" y="879"/>
                  </a:lnTo>
                  <a:lnTo>
                    <a:pt x="155" y="908"/>
                  </a:lnTo>
                  <a:lnTo>
                    <a:pt x="131" y="939"/>
                  </a:lnTo>
                  <a:lnTo>
                    <a:pt x="107" y="971"/>
                  </a:lnTo>
                  <a:lnTo>
                    <a:pt x="86" y="1005"/>
                  </a:lnTo>
                  <a:lnTo>
                    <a:pt x="68" y="1040"/>
                  </a:lnTo>
                  <a:lnTo>
                    <a:pt x="50" y="1076"/>
                  </a:lnTo>
                  <a:lnTo>
                    <a:pt x="36" y="1115"/>
                  </a:lnTo>
                  <a:lnTo>
                    <a:pt x="23" y="1153"/>
                  </a:lnTo>
                  <a:lnTo>
                    <a:pt x="14" y="1195"/>
                  </a:lnTo>
                  <a:lnTo>
                    <a:pt x="7" y="1236"/>
                  </a:lnTo>
                  <a:lnTo>
                    <a:pt x="2" y="1279"/>
                  </a:lnTo>
                  <a:lnTo>
                    <a:pt x="0" y="1322"/>
                  </a:lnTo>
                  <a:lnTo>
                    <a:pt x="0" y="3093"/>
                  </a:lnTo>
                  <a:lnTo>
                    <a:pt x="2" y="3147"/>
                  </a:lnTo>
                  <a:lnTo>
                    <a:pt x="7" y="3202"/>
                  </a:lnTo>
                  <a:lnTo>
                    <a:pt x="15" y="3257"/>
                  </a:lnTo>
                  <a:lnTo>
                    <a:pt x="27" y="3312"/>
                  </a:lnTo>
                  <a:lnTo>
                    <a:pt x="42" y="3366"/>
                  </a:lnTo>
                  <a:lnTo>
                    <a:pt x="59" y="3420"/>
                  </a:lnTo>
                  <a:lnTo>
                    <a:pt x="79" y="3474"/>
                  </a:lnTo>
                  <a:lnTo>
                    <a:pt x="102" y="3525"/>
                  </a:lnTo>
                  <a:lnTo>
                    <a:pt x="127" y="3576"/>
                  </a:lnTo>
                  <a:lnTo>
                    <a:pt x="154" y="3624"/>
                  </a:lnTo>
                  <a:lnTo>
                    <a:pt x="184" y="3670"/>
                  </a:lnTo>
                  <a:lnTo>
                    <a:pt x="214" y="3712"/>
                  </a:lnTo>
                  <a:lnTo>
                    <a:pt x="247" y="3752"/>
                  </a:lnTo>
                  <a:lnTo>
                    <a:pt x="281" y="3788"/>
                  </a:lnTo>
                  <a:lnTo>
                    <a:pt x="317" y="3821"/>
                  </a:lnTo>
                  <a:lnTo>
                    <a:pt x="353" y="38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5" name="Freeform 36"/>
            <p:cNvSpPr>
              <a:spLocks/>
            </p:cNvSpPr>
            <p:nvPr/>
          </p:nvSpPr>
          <p:spPr bwMode="auto">
            <a:xfrm>
              <a:off x="943" y="2210"/>
              <a:ext cx="276" cy="187"/>
            </a:xfrm>
            <a:custGeom>
              <a:avLst/>
              <a:gdLst>
                <a:gd name="T0" fmla="*/ 11 w 1380"/>
                <a:gd name="T1" fmla="*/ 7 h 937"/>
                <a:gd name="T2" fmla="*/ 11 w 1380"/>
                <a:gd name="T3" fmla="*/ 7 h 937"/>
                <a:gd name="T4" fmla="*/ 0 w 1380"/>
                <a:gd name="T5" fmla="*/ 0 h 937"/>
                <a:gd name="T6" fmla="*/ 0 w 1380"/>
                <a:gd name="T7" fmla="*/ 1 h 937"/>
                <a:gd name="T8" fmla="*/ 10 w 1380"/>
                <a:gd name="T9" fmla="*/ 7 h 937"/>
                <a:gd name="T10" fmla="*/ 10 w 1380"/>
                <a:gd name="T11" fmla="*/ 7 h 937"/>
                <a:gd name="T12" fmla="*/ 10 w 1380"/>
                <a:gd name="T13" fmla="*/ 7 h 937"/>
                <a:gd name="T14" fmla="*/ 11 w 1380"/>
                <a:gd name="T15" fmla="*/ 7 h 937"/>
                <a:gd name="T16" fmla="*/ 11 w 1380"/>
                <a:gd name="T17" fmla="*/ 7 h 937"/>
                <a:gd name="T18" fmla="*/ 11 w 1380"/>
                <a:gd name="T19" fmla="*/ 7 h 937"/>
                <a:gd name="T20" fmla="*/ 11 w 1380"/>
                <a:gd name="T21" fmla="*/ 7 h 937"/>
                <a:gd name="T22" fmla="*/ 11 w 1380"/>
                <a:gd name="T23" fmla="*/ 7 h 937"/>
                <a:gd name="T24" fmla="*/ 11 w 1380"/>
                <a:gd name="T25" fmla="*/ 7 h 937"/>
                <a:gd name="T26" fmla="*/ 11 w 1380"/>
                <a:gd name="T27" fmla="*/ 7 h 937"/>
                <a:gd name="T28" fmla="*/ 11 w 1380"/>
                <a:gd name="T29" fmla="*/ 7 h 937"/>
                <a:gd name="T30" fmla="*/ 11 w 1380"/>
                <a:gd name="T31" fmla="*/ 7 h 9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80"/>
                <a:gd name="T49" fmla="*/ 0 h 937"/>
                <a:gd name="T50" fmla="*/ 1380 w 1380"/>
                <a:gd name="T51" fmla="*/ 937 h 9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80" h="937">
                  <a:moveTo>
                    <a:pt x="1354" y="848"/>
                  </a:moveTo>
                  <a:lnTo>
                    <a:pt x="1359" y="851"/>
                  </a:lnTo>
                  <a:lnTo>
                    <a:pt x="51" y="0"/>
                  </a:lnTo>
                  <a:lnTo>
                    <a:pt x="0" y="78"/>
                  </a:lnTo>
                  <a:lnTo>
                    <a:pt x="1307" y="929"/>
                  </a:lnTo>
                  <a:lnTo>
                    <a:pt x="1312" y="932"/>
                  </a:lnTo>
                  <a:lnTo>
                    <a:pt x="1307" y="929"/>
                  </a:lnTo>
                  <a:lnTo>
                    <a:pt x="1326" y="937"/>
                  </a:lnTo>
                  <a:lnTo>
                    <a:pt x="1345" y="936"/>
                  </a:lnTo>
                  <a:lnTo>
                    <a:pt x="1360" y="929"/>
                  </a:lnTo>
                  <a:lnTo>
                    <a:pt x="1372" y="916"/>
                  </a:lnTo>
                  <a:lnTo>
                    <a:pt x="1379" y="899"/>
                  </a:lnTo>
                  <a:lnTo>
                    <a:pt x="1380" y="883"/>
                  </a:lnTo>
                  <a:lnTo>
                    <a:pt x="1374" y="865"/>
                  </a:lnTo>
                  <a:lnTo>
                    <a:pt x="1359" y="851"/>
                  </a:lnTo>
                  <a:lnTo>
                    <a:pt x="1354" y="8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6" name="Freeform 37"/>
            <p:cNvSpPr>
              <a:spLocks/>
            </p:cNvSpPr>
            <p:nvPr/>
          </p:nvSpPr>
          <p:spPr bwMode="auto">
            <a:xfrm>
              <a:off x="1206" y="2379"/>
              <a:ext cx="140" cy="32"/>
            </a:xfrm>
            <a:custGeom>
              <a:avLst/>
              <a:gdLst>
                <a:gd name="T0" fmla="*/ 5 w 703"/>
                <a:gd name="T1" fmla="*/ 0 h 162"/>
                <a:gd name="T2" fmla="*/ 5 w 703"/>
                <a:gd name="T3" fmla="*/ 0 h 162"/>
                <a:gd name="T4" fmla="*/ 5 w 703"/>
                <a:gd name="T5" fmla="*/ 0 h 162"/>
                <a:gd name="T6" fmla="*/ 5 w 703"/>
                <a:gd name="T7" fmla="*/ 0 h 162"/>
                <a:gd name="T8" fmla="*/ 4 w 703"/>
                <a:gd name="T9" fmla="*/ 0 h 162"/>
                <a:gd name="T10" fmla="*/ 4 w 703"/>
                <a:gd name="T11" fmla="*/ 0 h 162"/>
                <a:gd name="T12" fmla="*/ 4 w 703"/>
                <a:gd name="T13" fmla="*/ 0 h 162"/>
                <a:gd name="T14" fmla="*/ 3 w 703"/>
                <a:gd name="T15" fmla="*/ 1 h 162"/>
                <a:gd name="T16" fmla="*/ 3 w 703"/>
                <a:gd name="T17" fmla="*/ 1 h 162"/>
                <a:gd name="T18" fmla="*/ 3 w 703"/>
                <a:gd name="T19" fmla="*/ 1 h 162"/>
                <a:gd name="T20" fmla="*/ 2 w 703"/>
                <a:gd name="T21" fmla="*/ 1 h 162"/>
                <a:gd name="T22" fmla="*/ 2 w 703"/>
                <a:gd name="T23" fmla="*/ 1 h 162"/>
                <a:gd name="T24" fmla="*/ 2 w 703"/>
                <a:gd name="T25" fmla="*/ 0 h 162"/>
                <a:gd name="T26" fmla="*/ 1 w 703"/>
                <a:gd name="T27" fmla="*/ 0 h 162"/>
                <a:gd name="T28" fmla="*/ 1 w 703"/>
                <a:gd name="T29" fmla="*/ 0 h 162"/>
                <a:gd name="T30" fmla="*/ 1 w 703"/>
                <a:gd name="T31" fmla="*/ 0 h 162"/>
                <a:gd name="T32" fmla="*/ 1 w 703"/>
                <a:gd name="T33" fmla="*/ 0 h 162"/>
                <a:gd name="T34" fmla="*/ 0 w 703"/>
                <a:gd name="T35" fmla="*/ 0 h 162"/>
                <a:gd name="T36" fmla="*/ 0 w 703"/>
                <a:gd name="T37" fmla="*/ 1 h 162"/>
                <a:gd name="T38" fmla="*/ 0 w 703"/>
                <a:gd name="T39" fmla="*/ 1 h 162"/>
                <a:gd name="T40" fmla="*/ 1 w 703"/>
                <a:gd name="T41" fmla="*/ 1 h 162"/>
                <a:gd name="T42" fmla="*/ 1 w 703"/>
                <a:gd name="T43" fmla="*/ 1 h 162"/>
                <a:gd name="T44" fmla="*/ 1 w 703"/>
                <a:gd name="T45" fmla="*/ 1 h 162"/>
                <a:gd name="T46" fmla="*/ 2 w 703"/>
                <a:gd name="T47" fmla="*/ 1 h 162"/>
                <a:gd name="T48" fmla="*/ 2 w 703"/>
                <a:gd name="T49" fmla="*/ 1 h 162"/>
                <a:gd name="T50" fmla="*/ 2 w 703"/>
                <a:gd name="T51" fmla="*/ 1 h 162"/>
                <a:gd name="T52" fmla="*/ 3 w 703"/>
                <a:gd name="T53" fmla="*/ 1 h 162"/>
                <a:gd name="T54" fmla="*/ 3 w 703"/>
                <a:gd name="T55" fmla="*/ 1 h 162"/>
                <a:gd name="T56" fmla="*/ 3 w 703"/>
                <a:gd name="T57" fmla="*/ 1 h 162"/>
                <a:gd name="T58" fmla="*/ 4 w 703"/>
                <a:gd name="T59" fmla="*/ 1 h 162"/>
                <a:gd name="T60" fmla="*/ 4 w 703"/>
                <a:gd name="T61" fmla="*/ 1 h 162"/>
                <a:gd name="T62" fmla="*/ 5 w 703"/>
                <a:gd name="T63" fmla="*/ 1 h 162"/>
                <a:gd name="T64" fmla="*/ 5 w 703"/>
                <a:gd name="T65" fmla="*/ 1 h 162"/>
                <a:gd name="T66" fmla="*/ 5 w 703"/>
                <a:gd name="T67" fmla="*/ 1 h 162"/>
                <a:gd name="T68" fmla="*/ 5 w 703"/>
                <a:gd name="T69" fmla="*/ 1 h 162"/>
                <a:gd name="T70" fmla="*/ 5 w 703"/>
                <a:gd name="T71" fmla="*/ 1 h 162"/>
                <a:gd name="T72" fmla="*/ 5 w 703"/>
                <a:gd name="T73" fmla="*/ 1 h 162"/>
                <a:gd name="T74" fmla="*/ 5 w 703"/>
                <a:gd name="T75" fmla="*/ 1 h 162"/>
                <a:gd name="T76" fmla="*/ 6 w 703"/>
                <a:gd name="T77" fmla="*/ 0 h 162"/>
                <a:gd name="T78" fmla="*/ 6 w 703"/>
                <a:gd name="T79" fmla="*/ 0 h 162"/>
                <a:gd name="T80" fmla="*/ 6 w 703"/>
                <a:gd name="T81" fmla="*/ 0 h 162"/>
                <a:gd name="T82" fmla="*/ 5 w 703"/>
                <a:gd name="T83" fmla="*/ 0 h 162"/>
                <a:gd name="T84" fmla="*/ 5 w 703"/>
                <a:gd name="T85" fmla="*/ 0 h 162"/>
                <a:gd name="T86" fmla="*/ 5 w 703"/>
                <a:gd name="T87" fmla="*/ 0 h 162"/>
                <a:gd name="T88" fmla="*/ 5 w 703"/>
                <a:gd name="T89" fmla="*/ 0 h 162"/>
                <a:gd name="T90" fmla="*/ 5 w 703"/>
                <a:gd name="T91" fmla="*/ 0 h 1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3"/>
                <a:gd name="T139" fmla="*/ 0 h 162"/>
                <a:gd name="T140" fmla="*/ 703 w 703"/>
                <a:gd name="T141" fmla="*/ 162 h 1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3" h="162">
                  <a:moveTo>
                    <a:pt x="631" y="8"/>
                  </a:moveTo>
                  <a:lnTo>
                    <a:pt x="636" y="6"/>
                  </a:lnTo>
                  <a:lnTo>
                    <a:pt x="606" y="20"/>
                  </a:lnTo>
                  <a:lnTo>
                    <a:pt x="575" y="32"/>
                  </a:lnTo>
                  <a:lnTo>
                    <a:pt x="540" y="42"/>
                  </a:lnTo>
                  <a:lnTo>
                    <a:pt x="504" y="52"/>
                  </a:lnTo>
                  <a:lnTo>
                    <a:pt x="467" y="59"/>
                  </a:lnTo>
                  <a:lnTo>
                    <a:pt x="428" y="64"/>
                  </a:lnTo>
                  <a:lnTo>
                    <a:pt x="389" y="67"/>
                  </a:lnTo>
                  <a:lnTo>
                    <a:pt x="348" y="68"/>
                  </a:lnTo>
                  <a:lnTo>
                    <a:pt x="308" y="68"/>
                  </a:lnTo>
                  <a:lnTo>
                    <a:pt x="267" y="65"/>
                  </a:lnTo>
                  <a:lnTo>
                    <a:pt x="226" y="61"/>
                  </a:lnTo>
                  <a:lnTo>
                    <a:pt x="187" y="54"/>
                  </a:lnTo>
                  <a:lnTo>
                    <a:pt x="148" y="44"/>
                  </a:lnTo>
                  <a:lnTo>
                    <a:pt x="110" y="33"/>
                  </a:lnTo>
                  <a:lnTo>
                    <a:pt x="75" y="20"/>
                  </a:lnTo>
                  <a:lnTo>
                    <a:pt x="42" y="5"/>
                  </a:lnTo>
                  <a:lnTo>
                    <a:pt x="0" y="89"/>
                  </a:lnTo>
                  <a:lnTo>
                    <a:pt x="40" y="107"/>
                  </a:lnTo>
                  <a:lnTo>
                    <a:pt x="82" y="122"/>
                  </a:lnTo>
                  <a:lnTo>
                    <a:pt x="124" y="135"/>
                  </a:lnTo>
                  <a:lnTo>
                    <a:pt x="169" y="146"/>
                  </a:lnTo>
                  <a:lnTo>
                    <a:pt x="214" y="153"/>
                  </a:lnTo>
                  <a:lnTo>
                    <a:pt x="258" y="158"/>
                  </a:lnTo>
                  <a:lnTo>
                    <a:pt x="303" y="162"/>
                  </a:lnTo>
                  <a:lnTo>
                    <a:pt x="348" y="162"/>
                  </a:lnTo>
                  <a:lnTo>
                    <a:pt x="394" y="161"/>
                  </a:lnTo>
                  <a:lnTo>
                    <a:pt x="439" y="157"/>
                  </a:lnTo>
                  <a:lnTo>
                    <a:pt x="481" y="150"/>
                  </a:lnTo>
                  <a:lnTo>
                    <a:pt x="525" y="143"/>
                  </a:lnTo>
                  <a:lnTo>
                    <a:pt x="566" y="132"/>
                  </a:lnTo>
                  <a:lnTo>
                    <a:pt x="606" y="121"/>
                  </a:lnTo>
                  <a:lnTo>
                    <a:pt x="643" y="105"/>
                  </a:lnTo>
                  <a:lnTo>
                    <a:pt x="678" y="88"/>
                  </a:lnTo>
                  <a:lnTo>
                    <a:pt x="683" y="86"/>
                  </a:lnTo>
                  <a:lnTo>
                    <a:pt x="678" y="88"/>
                  </a:lnTo>
                  <a:lnTo>
                    <a:pt x="695" y="75"/>
                  </a:lnTo>
                  <a:lnTo>
                    <a:pt x="702" y="60"/>
                  </a:lnTo>
                  <a:lnTo>
                    <a:pt x="703" y="42"/>
                  </a:lnTo>
                  <a:lnTo>
                    <a:pt x="698" y="26"/>
                  </a:lnTo>
                  <a:lnTo>
                    <a:pt x="688" y="12"/>
                  </a:lnTo>
                  <a:lnTo>
                    <a:pt x="674" y="3"/>
                  </a:lnTo>
                  <a:lnTo>
                    <a:pt x="656" y="0"/>
                  </a:lnTo>
                  <a:lnTo>
                    <a:pt x="636" y="6"/>
                  </a:lnTo>
                  <a:lnTo>
                    <a:pt x="63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7" name="Freeform 38"/>
            <p:cNvSpPr>
              <a:spLocks/>
            </p:cNvSpPr>
            <p:nvPr/>
          </p:nvSpPr>
          <p:spPr bwMode="auto">
            <a:xfrm>
              <a:off x="1332" y="2204"/>
              <a:ext cx="283" cy="192"/>
            </a:xfrm>
            <a:custGeom>
              <a:avLst/>
              <a:gdLst>
                <a:gd name="T0" fmla="*/ 11 w 1415"/>
                <a:gd name="T1" fmla="*/ 0 h 960"/>
                <a:gd name="T2" fmla="*/ 11 w 1415"/>
                <a:gd name="T3" fmla="*/ 0 h 960"/>
                <a:gd name="T4" fmla="*/ 0 w 1415"/>
                <a:gd name="T5" fmla="*/ 7 h 960"/>
                <a:gd name="T6" fmla="*/ 0 w 1415"/>
                <a:gd name="T7" fmla="*/ 8 h 960"/>
                <a:gd name="T8" fmla="*/ 11 w 1415"/>
                <a:gd name="T9" fmla="*/ 1 h 960"/>
                <a:gd name="T10" fmla="*/ 11 w 1415"/>
                <a:gd name="T11" fmla="*/ 1 h 960"/>
                <a:gd name="T12" fmla="*/ 11 w 1415"/>
                <a:gd name="T13" fmla="*/ 1 h 960"/>
                <a:gd name="T14" fmla="*/ 11 w 1415"/>
                <a:gd name="T15" fmla="*/ 1 h 960"/>
                <a:gd name="T16" fmla="*/ 11 w 1415"/>
                <a:gd name="T17" fmla="*/ 0 h 960"/>
                <a:gd name="T18" fmla="*/ 11 w 1415"/>
                <a:gd name="T19" fmla="*/ 0 h 960"/>
                <a:gd name="T20" fmla="*/ 11 w 1415"/>
                <a:gd name="T21" fmla="*/ 0 h 960"/>
                <a:gd name="T22" fmla="*/ 11 w 1415"/>
                <a:gd name="T23" fmla="*/ 0 h 960"/>
                <a:gd name="T24" fmla="*/ 11 w 1415"/>
                <a:gd name="T25" fmla="*/ 0 h 960"/>
                <a:gd name="T26" fmla="*/ 11 w 1415"/>
                <a:gd name="T27" fmla="*/ 0 h 960"/>
                <a:gd name="T28" fmla="*/ 11 w 1415"/>
                <a:gd name="T29" fmla="*/ 0 h 960"/>
                <a:gd name="T30" fmla="*/ 11 w 1415"/>
                <a:gd name="T31" fmla="*/ 0 h 9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5"/>
                <a:gd name="T49" fmla="*/ 0 h 960"/>
                <a:gd name="T50" fmla="*/ 1415 w 1415"/>
                <a:gd name="T51" fmla="*/ 960 h 9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5" h="960">
                  <a:moveTo>
                    <a:pt x="1338" y="10"/>
                  </a:moveTo>
                  <a:lnTo>
                    <a:pt x="1342" y="8"/>
                  </a:lnTo>
                  <a:lnTo>
                    <a:pt x="0" y="882"/>
                  </a:lnTo>
                  <a:lnTo>
                    <a:pt x="52" y="960"/>
                  </a:lnTo>
                  <a:lnTo>
                    <a:pt x="1393" y="85"/>
                  </a:lnTo>
                  <a:lnTo>
                    <a:pt x="1397" y="83"/>
                  </a:lnTo>
                  <a:lnTo>
                    <a:pt x="1393" y="85"/>
                  </a:lnTo>
                  <a:lnTo>
                    <a:pt x="1409" y="71"/>
                  </a:lnTo>
                  <a:lnTo>
                    <a:pt x="1415" y="53"/>
                  </a:lnTo>
                  <a:lnTo>
                    <a:pt x="1413" y="37"/>
                  </a:lnTo>
                  <a:lnTo>
                    <a:pt x="1406" y="21"/>
                  </a:lnTo>
                  <a:lnTo>
                    <a:pt x="1395" y="8"/>
                  </a:lnTo>
                  <a:lnTo>
                    <a:pt x="1379" y="1"/>
                  </a:lnTo>
                  <a:lnTo>
                    <a:pt x="1361" y="0"/>
                  </a:lnTo>
                  <a:lnTo>
                    <a:pt x="1342" y="8"/>
                  </a:lnTo>
                  <a:lnTo>
                    <a:pt x="133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8" name="Freeform 39"/>
            <p:cNvSpPr>
              <a:spLocks/>
            </p:cNvSpPr>
            <p:nvPr/>
          </p:nvSpPr>
          <p:spPr bwMode="auto">
            <a:xfrm>
              <a:off x="1599" y="2057"/>
              <a:ext cx="80" cy="163"/>
            </a:xfrm>
            <a:custGeom>
              <a:avLst/>
              <a:gdLst>
                <a:gd name="T0" fmla="*/ 2 w 398"/>
                <a:gd name="T1" fmla="*/ 0 h 817"/>
                <a:gd name="T2" fmla="*/ 2 w 398"/>
                <a:gd name="T3" fmla="*/ 0 h 817"/>
                <a:gd name="T4" fmla="*/ 2 w 398"/>
                <a:gd name="T5" fmla="*/ 1 h 817"/>
                <a:gd name="T6" fmla="*/ 2 w 398"/>
                <a:gd name="T7" fmla="*/ 1 h 817"/>
                <a:gd name="T8" fmla="*/ 2 w 398"/>
                <a:gd name="T9" fmla="*/ 2 h 817"/>
                <a:gd name="T10" fmla="*/ 2 w 398"/>
                <a:gd name="T11" fmla="*/ 2 h 817"/>
                <a:gd name="T12" fmla="*/ 2 w 398"/>
                <a:gd name="T13" fmla="*/ 2 h 817"/>
                <a:gd name="T14" fmla="*/ 2 w 398"/>
                <a:gd name="T15" fmla="*/ 3 h 817"/>
                <a:gd name="T16" fmla="*/ 2 w 398"/>
                <a:gd name="T17" fmla="*/ 3 h 817"/>
                <a:gd name="T18" fmla="*/ 2 w 398"/>
                <a:gd name="T19" fmla="*/ 4 h 817"/>
                <a:gd name="T20" fmla="*/ 2 w 398"/>
                <a:gd name="T21" fmla="*/ 4 h 817"/>
                <a:gd name="T22" fmla="*/ 1 w 398"/>
                <a:gd name="T23" fmla="*/ 4 h 817"/>
                <a:gd name="T24" fmla="*/ 1 w 398"/>
                <a:gd name="T25" fmla="*/ 5 h 817"/>
                <a:gd name="T26" fmla="*/ 1 w 398"/>
                <a:gd name="T27" fmla="*/ 5 h 817"/>
                <a:gd name="T28" fmla="*/ 1 w 398"/>
                <a:gd name="T29" fmla="*/ 5 h 817"/>
                <a:gd name="T30" fmla="*/ 1 w 398"/>
                <a:gd name="T31" fmla="*/ 5 h 817"/>
                <a:gd name="T32" fmla="*/ 0 w 398"/>
                <a:gd name="T33" fmla="*/ 6 h 817"/>
                <a:gd name="T34" fmla="*/ 0 w 398"/>
                <a:gd name="T35" fmla="*/ 6 h 817"/>
                <a:gd name="T36" fmla="*/ 0 w 398"/>
                <a:gd name="T37" fmla="*/ 7 h 817"/>
                <a:gd name="T38" fmla="*/ 1 w 398"/>
                <a:gd name="T39" fmla="*/ 6 h 817"/>
                <a:gd name="T40" fmla="*/ 1 w 398"/>
                <a:gd name="T41" fmla="*/ 6 h 817"/>
                <a:gd name="T42" fmla="*/ 1 w 398"/>
                <a:gd name="T43" fmla="*/ 6 h 817"/>
                <a:gd name="T44" fmla="*/ 2 w 398"/>
                <a:gd name="T45" fmla="*/ 5 h 817"/>
                <a:gd name="T46" fmla="*/ 2 w 398"/>
                <a:gd name="T47" fmla="*/ 5 h 817"/>
                <a:gd name="T48" fmla="*/ 2 w 398"/>
                <a:gd name="T49" fmla="*/ 5 h 817"/>
                <a:gd name="T50" fmla="*/ 2 w 398"/>
                <a:gd name="T51" fmla="*/ 4 h 817"/>
                <a:gd name="T52" fmla="*/ 2 w 398"/>
                <a:gd name="T53" fmla="*/ 4 h 817"/>
                <a:gd name="T54" fmla="*/ 3 w 398"/>
                <a:gd name="T55" fmla="*/ 3 h 817"/>
                <a:gd name="T56" fmla="*/ 3 w 398"/>
                <a:gd name="T57" fmla="*/ 3 h 817"/>
                <a:gd name="T58" fmla="*/ 3 w 398"/>
                <a:gd name="T59" fmla="*/ 3 h 817"/>
                <a:gd name="T60" fmla="*/ 3 w 398"/>
                <a:gd name="T61" fmla="*/ 2 h 817"/>
                <a:gd name="T62" fmla="*/ 3 w 398"/>
                <a:gd name="T63" fmla="*/ 2 h 817"/>
                <a:gd name="T64" fmla="*/ 3 w 398"/>
                <a:gd name="T65" fmla="*/ 1 h 817"/>
                <a:gd name="T66" fmla="*/ 3 w 398"/>
                <a:gd name="T67" fmla="*/ 1 h 817"/>
                <a:gd name="T68" fmla="*/ 3 w 398"/>
                <a:gd name="T69" fmla="*/ 0 h 817"/>
                <a:gd name="T70" fmla="*/ 3 w 398"/>
                <a:gd name="T71" fmla="*/ 0 h 817"/>
                <a:gd name="T72" fmla="*/ 3 w 398"/>
                <a:gd name="T73" fmla="*/ 0 h 817"/>
                <a:gd name="T74" fmla="*/ 3 w 398"/>
                <a:gd name="T75" fmla="*/ 0 h 817"/>
                <a:gd name="T76" fmla="*/ 3 w 398"/>
                <a:gd name="T77" fmla="*/ 0 h 817"/>
                <a:gd name="T78" fmla="*/ 3 w 398"/>
                <a:gd name="T79" fmla="*/ 0 h 817"/>
                <a:gd name="T80" fmla="*/ 3 w 398"/>
                <a:gd name="T81" fmla="*/ 0 h 817"/>
                <a:gd name="T82" fmla="*/ 3 w 398"/>
                <a:gd name="T83" fmla="*/ 0 h 817"/>
                <a:gd name="T84" fmla="*/ 3 w 398"/>
                <a:gd name="T85" fmla="*/ 0 h 817"/>
                <a:gd name="T86" fmla="*/ 2 w 398"/>
                <a:gd name="T87" fmla="*/ 0 h 817"/>
                <a:gd name="T88" fmla="*/ 2 w 398"/>
                <a:gd name="T89" fmla="*/ 0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8"/>
                <a:gd name="T136" fmla="*/ 0 h 817"/>
                <a:gd name="T137" fmla="*/ 398 w 398"/>
                <a:gd name="T138" fmla="*/ 817 h 8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8" h="817">
                  <a:moveTo>
                    <a:pt x="304" y="47"/>
                  </a:moveTo>
                  <a:lnTo>
                    <a:pt x="304" y="47"/>
                  </a:lnTo>
                  <a:lnTo>
                    <a:pt x="301" y="97"/>
                  </a:lnTo>
                  <a:lnTo>
                    <a:pt x="297" y="147"/>
                  </a:lnTo>
                  <a:lnTo>
                    <a:pt x="291" y="198"/>
                  </a:lnTo>
                  <a:lnTo>
                    <a:pt x="280" y="247"/>
                  </a:lnTo>
                  <a:lnTo>
                    <a:pt x="268" y="297"/>
                  </a:lnTo>
                  <a:lnTo>
                    <a:pt x="253" y="347"/>
                  </a:lnTo>
                  <a:lnTo>
                    <a:pt x="236" y="395"/>
                  </a:lnTo>
                  <a:lnTo>
                    <a:pt x="217" y="442"/>
                  </a:lnTo>
                  <a:lnTo>
                    <a:pt x="195" y="487"/>
                  </a:lnTo>
                  <a:lnTo>
                    <a:pt x="171" y="532"/>
                  </a:lnTo>
                  <a:lnTo>
                    <a:pt x="147" y="574"/>
                  </a:lnTo>
                  <a:lnTo>
                    <a:pt x="121" y="613"/>
                  </a:lnTo>
                  <a:lnTo>
                    <a:pt x="93" y="650"/>
                  </a:lnTo>
                  <a:lnTo>
                    <a:pt x="64" y="684"/>
                  </a:lnTo>
                  <a:lnTo>
                    <a:pt x="32" y="716"/>
                  </a:lnTo>
                  <a:lnTo>
                    <a:pt x="0" y="744"/>
                  </a:lnTo>
                  <a:lnTo>
                    <a:pt x="59" y="817"/>
                  </a:lnTo>
                  <a:lnTo>
                    <a:pt x="95" y="784"/>
                  </a:lnTo>
                  <a:lnTo>
                    <a:pt x="132" y="748"/>
                  </a:lnTo>
                  <a:lnTo>
                    <a:pt x="166" y="709"/>
                  </a:lnTo>
                  <a:lnTo>
                    <a:pt x="196" y="667"/>
                  </a:lnTo>
                  <a:lnTo>
                    <a:pt x="227" y="623"/>
                  </a:lnTo>
                  <a:lnTo>
                    <a:pt x="253" y="576"/>
                  </a:lnTo>
                  <a:lnTo>
                    <a:pt x="279" y="530"/>
                  </a:lnTo>
                  <a:lnTo>
                    <a:pt x="301" y="479"/>
                  </a:lnTo>
                  <a:lnTo>
                    <a:pt x="323" y="428"/>
                  </a:lnTo>
                  <a:lnTo>
                    <a:pt x="342" y="375"/>
                  </a:lnTo>
                  <a:lnTo>
                    <a:pt x="359" y="321"/>
                  </a:lnTo>
                  <a:lnTo>
                    <a:pt x="372" y="268"/>
                  </a:lnTo>
                  <a:lnTo>
                    <a:pt x="382" y="212"/>
                  </a:lnTo>
                  <a:lnTo>
                    <a:pt x="391" y="157"/>
                  </a:lnTo>
                  <a:lnTo>
                    <a:pt x="395" y="102"/>
                  </a:lnTo>
                  <a:lnTo>
                    <a:pt x="398" y="47"/>
                  </a:lnTo>
                  <a:lnTo>
                    <a:pt x="394" y="27"/>
                  </a:lnTo>
                  <a:lnTo>
                    <a:pt x="383" y="11"/>
                  </a:lnTo>
                  <a:lnTo>
                    <a:pt x="368" y="3"/>
                  </a:lnTo>
                  <a:lnTo>
                    <a:pt x="351" y="0"/>
                  </a:lnTo>
                  <a:lnTo>
                    <a:pt x="333" y="3"/>
                  </a:lnTo>
                  <a:lnTo>
                    <a:pt x="319" y="11"/>
                  </a:lnTo>
                  <a:lnTo>
                    <a:pt x="307" y="27"/>
                  </a:lnTo>
                  <a:lnTo>
                    <a:pt x="30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39" name="Freeform 40"/>
            <p:cNvSpPr>
              <a:spLocks/>
            </p:cNvSpPr>
            <p:nvPr/>
          </p:nvSpPr>
          <p:spPr bwMode="auto">
            <a:xfrm>
              <a:off x="1660" y="1701"/>
              <a:ext cx="19" cy="365"/>
            </a:xfrm>
            <a:custGeom>
              <a:avLst/>
              <a:gdLst>
                <a:gd name="T0" fmla="*/ 0 w 95"/>
                <a:gd name="T1" fmla="*/ 0 h 1826"/>
                <a:gd name="T2" fmla="*/ 0 w 95"/>
                <a:gd name="T3" fmla="*/ 0 h 1826"/>
                <a:gd name="T4" fmla="*/ 0 w 95"/>
                <a:gd name="T5" fmla="*/ 15 h 1826"/>
                <a:gd name="T6" fmla="*/ 1 w 95"/>
                <a:gd name="T7" fmla="*/ 15 h 1826"/>
                <a:gd name="T8" fmla="*/ 1 w 95"/>
                <a:gd name="T9" fmla="*/ 0 h 1826"/>
                <a:gd name="T10" fmla="*/ 1 w 95"/>
                <a:gd name="T11" fmla="*/ 0 h 1826"/>
                <a:gd name="T12" fmla="*/ 1 w 95"/>
                <a:gd name="T13" fmla="*/ 0 h 1826"/>
                <a:gd name="T14" fmla="*/ 1 w 95"/>
                <a:gd name="T15" fmla="*/ 0 h 1826"/>
                <a:gd name="T16" fmla="*/ 1 w 95"/>
                <a:gd name="T17" fmla="*/ 0 h 1826"/>
                <a:gd name="T18" fmla="*/ 1 w 95"/>
                <a:gd name="T19" fmla="*/ 0 h 1826"/>
                <a:gd name="T20" fmla="*/ 0 w 95"/>
                <a:gd name="T21" fmla="*/ 0 h 1826"/>
                <a:gd name="T22" fmla="*/ 0 w 95"/>
                <a:gd name="T23" fmla="*/ 0 h 1826"/>
                <a:gd name="T24" fmla="*/ 0 w 95"/>
                <a:gd name="T25" fmla="*/ 0 h 1826"/>
                <a:gd name="T26" fmla="*/ 0 w 95"/>
                <a:gd name="T27" fmla="*/ 0 h 1826"/>
                <a:gd name="T28" fmla="*/ 0 w 95"/>
                <a:gd name="T29" fmla="*/ 0 h 1826"/>
                <a:gd name="T30" fmla="*/ 0 w 95"/>
                <a:gd name="T31" fmla="*/ 0 h 18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
                <a:gd name="T49" fmla="*/ 0 h 1826"/>
                <a:gd name="T50" fmla="*/ 95 w 95"/>
                <a:gd name="T51" fmla="*/ 1826 h 18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 h="1826">
                  <a:moveTo>
                    <a:pt x="0" y="49"/>
                  </a:moveTo>
                  <a:lnTo>
                    <a:pt x="0" y="47"/>
                  </a:lnTo>
                  <a:lnTo>
                    <a:pt x="1" y="1826"/>
                  </a:lnTo>
                  <a:lnTo>
                    <a:pt x="95" y="1826"/>
                  </a:lnTo>
                  <a:lnTo>
                    <a:pt x="93" y="47"/>
                  </a:lnTo>
                  <a:lnTo>
                    <a:pt x="93" y="45"/>
                  </a:lnTo>
                  <a:lnTo>
                    <a:pt x="93" y="47"/>
                  </a:lnTo>
                  <a:lnTo>
                    <a:pt x="90" y="27"/>
                  </a:lnTo>
                  <a:lnTo>
                    <a:pt x="79" y="12"/>
                  </a:lnTo>
                  <a:lnTo>
                    <a:pt x="64" y="4"/>
                  </a:lnTo>
                  <a:lnTo>
                    <a:pt x="47" y="0"/>
                  </a:lnTo>
                  <a:lnTo>
                    <a:pt x="29" y="4"/>
                  </a:lnTo>
                  <a:lnTo>
                    <a:pt x="15" y="12"/>
                  </a:lnTo>
                  <a:lnTo>
                    <a:pt x="3" y="27"/>
                  </a:lnTo>
                  <a:lnTo>
                    <a:pt x="0" y="47"/>
                  </a:lnTo>
                  <a:lnTo>
                    <a:pt x="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0" name="Freeform 41"/>
            <p:cNvSpPr>
              <a:spLocks/>
            </p:cNvSpPr>
            <p:nvPr/>
          </p:nvSpPr>
          <p:spPr bwMode="auto">
            <a:xfrm>
              <a:off x="1598" y="1598"/>
              <a:ext cx="81" cy="113"/>
            </a:xfrm>
            <a:custGeom>
              <a:avLst/>
              <a:gdLst>
                <a:gd name="T0" fmla="*/ 0 w 401"/>
                <a:gd name="T1" fmla="*/ 1 h 566"/>
                <a:gd name="T2" fmla="*/ 0 w 401"/>
                <a:gd name="T3" fmla="*/ 1 h 566"/>
                <a:gd name="T4" fmla="*/ 0 w 401"/>
                <a:gd name="T5" fmla="*/ 1 h 566"/>
                <a:gd name="T6" fmla="*/ 1 w 401"/>
                <a:gd name="T7" fmla="*/ 1 h 566"/>
                <a:gd name="T8" fmla="*/ 1 w 401"/>
                <a:gd name="T9" fmla="*/ 1 h 566"/>
                <a:gd name="T10" fmla="*/ 1 w 401"/>
                <a:gd name="T11" fmla="*/ 1 h 566"/>
                <a:gd name="T12" fmla="*/ 1 w 401"/>
                <a:gd name="T13" fmla="*/ 2 h 566"/>
                <a:gd name="T14" fmla="*/ 1 w 401"/>
                <a:gd name="T15" fmla="*/ 2 h 566"/>
                <a:gd name="T16" fmla="*/ 2 w 401"/>
                <a:gd name="T17" fmla="*/ 2 h 566"/>
                <a:gd name="T18" fmla="*/ 2 w 401"/>
                <a:gd name="T19" fmla="*/ 2 h 566"/>
                <a:gd name="T20" fmla="*/ 2 w 401"/>
                <a:gd name="T21" fmla="*/ 2 h 566"/>
                <a:gd name="T22" fmla="*/ 2 w 401"/>
                <a:gd name="T23" fmla="*/ 3 h 566"/>
                <a:gd name="T24" fmla="*/ 2 w 401"/>
                <a:gd name="T25" fmla="*/ 3 h 566"/>
                <a:gd name="T26" fmla="*/ 2 w 401"/>
                <a:gd name="T27" fmla="*/ 3 h 566"/>
                <a:gd name="T28" fmla="*/ 2 w 401"/>
                <a:gd name="T29" fmla="*/ 4 h 566"/>
                <a:gd name="T30" fmla="*/ 2 w 401"/>
                <a:gd name="T31" fmla="*/ 4 h 566"/>
                <a:gd name="T32" fmla="*/ 2 w 401"/>
                <a:gd name="T33" fmla="*/ 4 h 566"/>
                <a:gd name="T34" fmla="*/ 3 w 401"/>
                <a:gd name="T35" fmla="*/ 5 h 566"/>
                <a:gd name="T36" fmla="*/ 3 w 401"/>
                <a:gd name="T37" fmla="*/ 4 h 566"/>
                <a:gd name="T38" fmla="*/ 3 w 401"/>
                <a:gd name="T39" fmla="*/ 4 h 566"/>
                <a:gd name="T40" fmla="*/ 3 w 401"/>
                <a:gd name="T41" fmla="*/ 4 h 566"/>
                <a:gd name="T42" fmla="*/ 3 w 401"/>
                <a:gd name="T43" fmla="*/ 3 h 566"/>
                <a:gd name="T44" fmla="*/ 3 w 401"/>
                <a:gd name="T45" fmla="*/ 3 h 566"/>
                <a:gd name="T46" fmla="*/ 3 w 401"/>
                <a:gd name="T47" fmla="*/ 3 h 566"/>
                <a:gd name="T48" fmla="*/ 3 w 401"/>
                <a:gd name="T49" fmla="*/ 2 h 566"/>
                <a:gd name="T50" fmla="*/ 3 w 401"/>
                <a:gd name="T51" fmla="*/ 2 h 566"/>
                <a:gd name="T52" fmla="*/ 2 w 401"/>
                <a:gd name="T53" fmla="*/ 2 h 566"/>
                <a:gd name="T54" fmla="*/ 2 w 401"/>
                <a:gd name="T55" fmla="*/ 2 h 566"/>
                <a:gd name="T56" fmla="*/ 2 w 401"/>
                <a:gd name="T57" fmla="*/ 1 h 566"/>
                <a:gd name="T58" fmla="*/ 2 w 401"/>
                <a:gd name="T59" fmla="*/ 1 h 566"/>
                <a:gd name="T60" fmla="*/ 2 w 401"/>
                <a:gd name="T61" fmla="*/ 1 h 566"/>
                <a:gd name="T62" fmla="*/ 1 w 401"/>
                <a:gd name="T63" fmla="*/ 1 h 566"/>
                <a:gd name="T64" fmla="*/ 1 w 401"/>
                <a:gd name="T65" fmla="*/ 0 h 566"/>
                <a:gd name="T66" fmla="*/ 1 w 401"/>
                <a:gd name="T67" fmla="*/ 0 h 566"/>
                <a:gd name="T68" fmla="*/ 1 w 401"/>
                <a:gd name="T69" fmla="*/ 0 h 566"/>
                <a:gd name="T70" fmla="*/ 1 w 401"/>
                <a:gd name="T71" fmla="*/ 0 h 566"/>
                <a:gd name="T72" fmla="*/ 1 w 401"/>
                <a:gd name="T73" fmla="*/ 0 h 566"/>
                <a:gd name="T74" fmla="*/ 0 w 401"/>
                <a:gd name="T75" fmla="*/ 0 h 566"/>
                <a:gd name="T76" fmla="*/ 0 w 401"/>
                <a:gd name="T77" fmla="*/ 0 h 566"/>
                <a:gd name="T78" fmla="*/ 0 w 401"/>
                <a:gd name="T79" fmla="*/ 0 h 566"/>
                <a:gd name="T80" fmla="*/ 0 w 401"/>
                <a:gd name="T81" fmla="*/ 0 h 566"/>
                <a:gd name="T82" fmla="*/ 0 w 401"/>
                <a:gd name="T83" fmla="*/ 0 h 566"/>
                <a:gd name="T84" fmla="*/ 0 w 401"/>
                <a:gd name="T85" fmla="*/ 0 h 566"/>
                <a:gd name="T86" fmla="*/ 0 w 401"/>
                <a:gd name="T87" fmla="*/ 1 h 566"/>
                <a:gd name="T88" fmla="*/ 0 w 401"/>
                <a:gd name="T89" fmla="*/ 1 h 5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1"/>
                <a:gd name="T136" fmla="*/ 0 h 566"/>
                <a:gd name="T137" fmla="*/ 401 w 401"/>
                <a:gd name="T138" fmla="*/ 566 h 5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1" h="566">
                  <a:moveTo>
                    <a:pt x="23" y="88"/>
                  </a:moveTo>
                  <a:lnTo>
                    <a:pt x="23" y="88"/>
                  </a:lnTo>
                  <a:lnTo>
                    <a:pt x="53" y="107"/>
                  </a:lnTo>
                  <a:lnTo>
                    <a:pt x="83" y="125"/>
                  </a:lnTo>
                  <a:lnTo>
                    <a:pt x="108" y="147"/>
                  </a:lnTo>
                  <a:lnTo>
                    <a:pt x="135" y="171"/>
                  </a:lnTo>
                  <a:lnTo>
                    <a:pt x="160" y="196"/>
                  </a:lnTo>
                  <a:lnTo>
                    <a:pt x="182" y="223"/>
                  </a:lnTo>
                  <a:lnTo>
                    <a:pt x="205" y="251"/>
                  </a:lnTo>
                  <a:lnTo>
                    <a:pt x="223" y="281"/>
                  </a:lnTo>
                  <a:lnTo>
                    <a:pt x="240" y="312"/>
                  </a:lnTo>
                  <a:lnTo>
                    <a:pt x="256" y="345"/>
                  </a:lnTo>
                  <a:lnTo>
                    <a:pt x="270" y="379"/>
                  </a:lnTo>
                  <a:lnTo>
                    <a:pt x="282" y="414"/>
                  </a:lnTo>
                  <a:lnTo>
                    <a:pt x="291" y="450"/>
                  </a:lnTo>
                  <a:lnTo>
                    <a:pt x="299" y="488"/>
                  </a:lnTo>
                  <a:lnTo>
                    <a:pt x="304" y="526"/>
                  </a:lnTo>
                  <a:lnTo>
                    <a:pt x="308" y="566"/>
                  </a:lnTo>
                  <a:lnTo>
                    <a:pt x="401" y="562"/>
                  </a:lnTo>
                  <a:lnTo>
                    <a:pt x="398" y="517"/>
                  </a:lnTo>
                  <a:lnTo>
                    <a:pt x="391" y="471"/>
                  </a:lnTo>
                  <a:lnTo>
                    <a:pt x="383" y="429"/>
                  </a:lnTo>
                  <a:lnTo>
                    <a:pt x="371" y="386"/>
                  </a:lnTo>
                  <a:lnTo>
                    <a:pt x="357" y="346"/>
                  </a:lnTo>
                  <a:lnTo>
                    <a:pt x="340" y="307"/>
                  </a:lnTo>
                  <a:lnTo>
                    <a:pt x="324" y="270"/>
                  </a:lnTo>
                  <a:lnTo>
                    <a:pt x="303" y="232"/>
                  </a:lnTo>
                  <a:lnTo>
                    <a:pt x="280" y="197"/>
                  </a:lnTo>
                  <a:lnTo>
                    <a:pt x="255" y="164"/>
                  </a:lnTo>
                  <a:lnTo>
                    <a:pt x="228" y="132"/>
                  </a:lnTo>
                  <a:lnTo>
                    <a:pt x="199" y="103"/>
                  </a:lnTo>
                  <a:lnTo>
                    <a:pt x="169" y="76"/>
                  </a:lnTo>
                  <a:lnTo>
                    <a:pt x="137" y="50"/>
                  </a:lnTo>
                  <a:lnTo>
                    <a:pt x="103" y="27"/>
                  </a:lnTo>
                  <a:lnTo>
                    <a:pt x="67" y="6"/>
                  </a:lnTo>
                  <a:lnTo>
                    <a:pt x="48" y="0"/>
                  </a:lnTo>
                  <a:lnTo>
                    <a:pt x="30" y="2"/>
                  </a:lnTo>
                  <a:lnTo>
                    <a:pt x="16" y="12"/>
                  </a:lnTo>
                  <a:lnTo>
                    <a:pt x="5" y="25"/>
                  </a:lnTo>
                  <a:lnTo>
                    <a:pt x="0" y="41"/>
                  </a:lnTo>
                  <a:lnTo>
                    <a:pt x="0" y="59"/>
                  </a:lnTo>
                  <a:lnTo>
                    <a:pt x="8" y="75"/>
                  </a:lnTo>
                  <a:lnTo>
                    <a:pt x="23"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1" name="Freeform 42"/>
            <p:cNvSpPr>
              <a:spLocks/>
            </p:cNvSpPr>
            <p:nvPr/>
          </p:nvSpPr>
          <p:spPr bwMode="auto">
            <a:xfrm>
              <a:off x="1346" y="1455"/>
              <a:ext cx="266" cy="160"/>
            </a:xfrm>
            <a:custGeom>
              <a:avLst/>
              <a:gdLst>
                <a:gd name="T0" fmla="*/ 0 w 1330"/>
                <a:gd name="T1" fmla="*/ 1 h 801"/>
                <a:gd name="T2" fmla="*/ 0 w 1330"/>
                <a:gd name="T3" fmla="*/ 1 h 801"/>
                <a:gd name="T4" fmla="*/ 10 w 1330"/>
                <a:gd name="T5" fmla="*/ 6 h 801"/>
                <a:gd name="T6" fmla="*/ 11 w 1330"/>
                <a:gd name="T7" fmla="*/ 6 h 801"/>
                <a:gd name="T8" fmla="*/ 1 w 1330"/>
                <a:gd name="T9" fmla="*/ 0 h 801"/>
                <a:gd name="T10" fmla="*/ 1 w 1330"/>
                <a:gd name="T11" fmla="*/ 0 h 801"/>
                <a:gd name="T12" fmla="*/ 1 w 1330"/>
                <a:gd name="T13" fmla="*/ 0 h 801"/>
                <a:gd name="T14" fmla="*/ 0 w 1330"/>
                <a:gd name="T15" fmla="*/ 0 h 801"/>
                <a:gd name="T16" fmla="*/ 0 w 1330"/>
                <a:gd name="T17" fmla="*/ 0 h 801"/>
                <a:gd name="T18" fmla="*/ 0 w 1330"/>
                <a:gd name="T19" fmla="*/ 0 h 801"/>
                <a:gd name="T20" fmla="*/ 0 w 1330"/>
                <a:gd name="T21" fmla="*/ 0 h 801"/>
                <a:gd name="T22" fmla="*/ 0 w 1330"/>
                <a:gd name="T23" fmla="*/ 0 h 801"/>
                <a:gd name="T24" fmla="*/ 0 w 1330"/>
                <a:gd name="T25" fmla="*/ 0 h 801"/>
                <a:gd name="T26" fmla="*/ 0 w 1330"/>
                <a:gd name="T27" fmla="*/ 1 h 801"/>
                <a:gd name="T28" fmla="*/ 0 w 1330"/>
                <a:gd name="T29" fmla="*/ 1 h 801"/>
                <a:gd name="T30" fmla="*/ 0 w 1330"/>
                <a:gd name="T31" fmla="*/ 1 h 8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30"/>
                <a:gd name="T49" fmla="*/ 0 h 801"/>
                <a:gd name="T50" fmla="*/ 1330 w 1330"/>
                <a:gd name="T51" fmla="*/ 801 h 8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30" h="801">
                  <a:moveTo>
                    <a:pt x="24" y="88"/>
                  </a:moveTo>
                  <a:lnTo>
                    <a:pt x="23" y="88"/>
                  </a:lnTo>
                  <a:lnTo>
                    <a:pt x="1286" y="801"/>
                  </a:lnTo>
                  <a:lnTo>
                    <a:pt x="1330" y="719"/>
                  </a:lnTo>
                  <a:lnTo>
                    <a:pt x="67" y="6"/>
                  </a:lnTo>
                  <a:lnTo>
                    <a:pt x="66" y="6"/>
                  </a:lnTo>
                  <a:lnTo>
                    <a:pt x="67" y="6"/>
                  </a:lnTo>
                  <a:lnTo>
                    <a:pt x="48" y="0"/>
                  </a:lnTo>
                  <a:lnTo>
                    <a:pt x="30" y="2"/>
                  </a:lnTo>
                  <a:lnTo>
                    <a:pt x="16" y="12"/>
                  </a:lnTo>
                  <a:lnTo>
                    <a:pt x="5" y="25"/>
                  </a:lnTo>
                  <a:lnTo>
                    <a:pt x="0" y="41"/>
                  </a:lnTo>
                  <a:lnTo>
                    <a:pt x="0" y="59"/>
                  </a:lnTo>
                  <a:lnTo>
                    <a:pt x="8" y="75"/>
                  </a:lnTo>
                  <a:lnTo>
                    <a:pt x="23" y="88"/>
                  </a:lnTo>
                  <a:lnTo>
                    <a:pt x="24"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2" name="Freeform 43"/>
            <p:cNvSpPr>
              <a:spLocks/>
            </p:cNvSpPr>
            <p:nvPr/>
          </p:nvSpPr>
          <p:spPr bwMode="auto">
            <a:xfrm>
              <a:off x="1198" y="1439"/>
              <a:ext cx="161" cy="35"/>
            </a:xfrm>
            <a:custGeom>
              <a:avLst/>
              <a:gdLst>
                <a:gd name="T0" fmla="*/ 1 w 806"/>
                <a:gd name="T1" fmla="*/ 1 h 177"/>
                <a:gd name="T2" fmla="*/ 1 w 806"/>
                <a:gd name="T3" fmla="*/ 1 h 177"/>
                <a:gd name="T4" fmla="*/ 1 w 806"/>
                <a:gd name="T5" fmla="*/ 1 h 177"/>
                <a:gd name="T6" fmla="*/ 1 w 806"/>
                <a:gd name="T7" fmla="*/ 1 h 177"/>
                <a:gd name="T8" fmla="*/ 2 w 806"/>
                <a:gd name="T9" fmla="*/ 1 h 177"/>
                <a:gd name="T10" fmla="*/ 2 w 806"/>
                <a:gd name="T11" fmla="*/ 1 h 177"/>
                <a:gd name="T12" fmla="*/ 2 w 806"/>
                <a:gd name="T13" fmla="*/ 1 h 177"/>
                <a:gd name="T14" fmla="*/ 3 w 806"/>
                <a:gd name="T15" fmla="*/ 1 h 177"/>
                <a:gd name="T16" fmla="*/ 3 w 806"/>
                <a:gd name="T17" fmla="*/ 1 h 177"/>
                <a:gd name="T18" fmla="*/ 3 w 806"/>
                <a:gd name="T19" fmla="*/ 1 h 177"/>
                <a:gd name="T20" fmla="*/ 4 w 806"/>
                <a:gd name="T21" fmla="*/ 1 h 177"/>
                <a:gd name="T22" fmla="*/ 4 w 806"/>
                <a:gd name="T23" fmla="*/ 1 h 177"/>
                <a:gd name="T24" fmla="*/ 5 w 806"/>
                <a:gd name="T25" fmla="*/ 1 h 177"/>
                <a:gd name="T26" fmla="*/ 5 w 806"/>
                <a:gd name="T27" fmla="*/ 1 h 177"/>
                <a:gd name="T28" fmla="*/ 5 w 806"/>
                <a:gd name="T29" fmla="*/ 1 h 177"/>
                <a:gd name="T30" fmla="*/ 6 w 806"/>
                <a:gd name="T31" fmla="*/ 1 h 177"/>
                <a:gd name="T32" fmla="*/ 6 w 806"/>
                <a:gd name="T33" fmla="*/ 1 h 177"/>
                <a:gd name="T34" fmla="*/ 6 w 806"/>
                <a:gd name="T35" fmla="*/ 1 h 177"/>
                <a:gd name="T36" fmla="*/ 6 w 806"/>
                <a:gd name="T37" fmla="*/ 1 h 177"/>
                <a:gd name="T38" fmla="*/ 6 w 806"/>
                <a:gd name="T39" fmla="*/ 1 h 177"/>
                <a:gd name="T40" fmla="*/ 6 w 806"/>
                <a:gd name="T41" fmla="*/ 0 h 177"/>
                <a:gd name="T42" fmla="*/ 5 w 806"/>
                <a:gd name="T43" fmla="*/ 0 h 177"/>
                <a:gd name="T44" fmla="*/ 5 w 806"/>
                <a:gd name="T45" fmla="*/ 0 h 177"/>
                <a:gd name="T46" fmla="*/ 5 w 806"/>
                <a:gd name="T47" fmla="*/ 0 h 177"/>
                <a:gd name="T48" fmla="*/ 4 w 806"/>
                <a:gd name="T49" fmla="*/ 0 h 177"/>
                <a:gd name="T50" fmla="*/ 4 w 806"/>
                <a:gd name="T51" fmla="*/ 0 h 177"/>
                <a:gd name="T52" fmla="*/ 3 w 806"/>
                <a:gd name="T53" fmla="*/ 0 h 177"/>
                <a:gd name="T54" fmla="*/ 3 w 806"/>
                <a:gd name="T55" fmla="*/ 0 h 177"/>
                <a:gd name="T56" fmla="*/ 3 w 806"/>
                <a:gd name="T57" fmla="*/ 0 h 177"/>
                <a:gd name="T58" fmla="*/ 2 w 806"/>
                <a:gd name="T59" fmla="*/ 0 h 177"/>
                <a:gd name="T60" fmla="*/ 2 w 806"/>
                <a:gd name="T61" fmla="*/ 0 h 177"/>
                <a:gd name="T62" fmla="*/ 1 w 806"/>
                <a:gd name="T63" fmla="*/ 0 h 177"/>
                <a:gd name="T64" fmla="*/ 1 w 806"/>
                <a:gd name="T65" fmla="*/ 0 h 177"/>
                <a:gd name="T66" fmla="*/ 1 w 806"/>
                <a:gd name="T67" fmla="*/ 1 h 177"/>
                <a:gd name="T68" fmla="*/ 0 w 806"/>
                <a:gd name="T69" fmla="*/ 1 h 177"/>
                <a:gd name="T70" fmla="*/ 0 w 806"/>
                <a:gd name="T71" fmla="*/ 1 h 177"/>
                <a:gd name="T72" fmla="*/ 0 w 806"/>
                <a:gd name="T73" fmla="*/ 1 h 177"/>
                <a:gd name="T74" fmla="*/ 0 w 806"/>
                <a:gd name="T75" fmla="*/ 1 h 177"/>
                <a:gd name="T76" fmla="*/ 0 w 806"/>
                <a:gd name="T77" fmla="*/ 1 h 177"/>
                <a:gd name="T78" fmla="*/ 0 w 806"/>
                <a:gd name="T79" fmla="*/ 1 h 177"/>
                <a:gd name="T80" fmla="*/ 0 w 806"/>
                <a:gd name="T81" fmla="*/ 1 h 177"/>
                <a:gd name="T82" fmla="*/ 0 w 806"/>
                <a:gd name="T83" fmla="*/ 1 h 177"/>
                <a:gd name="T84" fmla="*/ 0 w 806"/>
                <a:gd name="T85" fmla="*/ 1 h 177"/>
                <a:gd name="T86" fmla="*/ 0 w 806"/>
                <a:gd name="T87" fmla="*/ 1 h 177"/>
                <a:gd name="T88" fmla="*/ 1 w 806"/>
                <a:gd name="T89" fmla="*/ 1 h 177"/>
                <a:gd name="T90" fmla="*/ 1 w 806"/>
                <a:gd name="T91" fmla="*/ 1 h 1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06"/>
                <a:gd name="T139" fmla="*/ 0 h 177"/>
                <a:gd name="T140" fmla="*/ 806 w 806"/>
                <a:gd name="T141" fmla="*/ 177 h 1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06" h="177">
                  <a:moveTo>
                    <a:pt x="67" y="171"/>
                  </a:moveTo>
                  <a:lnTo>
                    <a:pt x="68" y="171"/>
                  </a:lnTo>
                  <a:lnTo>
                    <a:pt x="109" y="151"/>
                  </a:lnTo>
                  <a:lnTo>
                    <a:pt x="151" y="135"/>
                  </a:lnTo>
                  <a:lnTo>
                    <a:pt x="196" y="122"/>
                  </a:lnTo>
                  <a:lnTo>
                    <a:pt x="242" y="110"/>
                  </a:lnTo>
                  <a:lnTo>
                    <a:pt x="287" y="102"/>
                  </a:lnTo>
                  <a:lnTo>
                    <a:pt x="335" y="97"/>
                  </a:lnTo>
                  <a:lnTo>
                    <a:pt x="382" y="95"/>
                  </a:lnTo>
                  <a:lnTo>
                    <a:pt x="430" y="94"/>
                  </a:lnTo>
                  <a:lnTo>
                    <a:pt x="477" y="97"/>
                  </a:lnTo>
                  <a:lnTo>
                    <a:pt x="524" y="102"/>
                  </a:lnTo>
                  <a:lnTo>
                    <a:pt x="568" y="108"/>
                  </a:lnTo>
                  <a:lnTo>
                    <a:pt x="612" y="117"/>
                  </a:lnTo>
                  <a:lnTo>
                    <a:pt x="654" y="128"/>
                  </a:lnTo>
                  <a:lnTo>
                    <a:pt x="693" y="141"/>
                  </a:lnTo>
                  <a:lnTo>
                    <a:pt x="730" y="155"/>
                  </a:lnTo>
                  <a:lnTo>
                    <a:pt x="764" y="171"/>
                  </a:lnTo>
                  <a:lnTo>
                    <a:pt x="806" y="89"/>
                  </a:lnTo>
                  <a:lnTo>
                    <a:pt x="768" y="70"/>
                  </a:lnTo>
                  <a:lnTo>
                    <a:pt x="725" y="54"/>
                  </a:lnTo>
                  <a:lnTo>
                    <a:pt x="680" y="39"/>
                  </a:lnTo>
                  <a:lnTo>
                    <a:pt x="633" y="26"/>
                  </a:lnTo>
                  <a:lnTo>
                    <a:pt x="585" y="16"/>
                  </a:lnTo>
                  <a:lnTo>
                    <a:pt x="536" y="8"/>
                  </a:lnTo>
                  <a:lnTo>
                    <a:pt x="484" y="3"/>
                  </a:lnTo>
                  <a:lnTo>
                    <a:pt x="433" y="0"/>
                  </a:lnTo>
                  <a:lnTo>
                    <a:pt x="380" y="1"/>
                  </a:lnTo>
                  <a:lnTo>
                    <a:pt x="328" y="3"/>
                  </a:lnTo>
                  <a:lnTo>
                    <a:pt x="276" y="10"/>
                  </a:lnTo>
                  <a:lnTo>
                    <a:pt x="223" y="19"/>
                  </a:lnTo>
                  <a:lnTo>
                    <a:pt x="172" y="30"/>
                  </a:lnTo>
                  <a:lnTo>
                    <a:pt x="121" y="46"/>
                  </a:lnTo>
                  <a:lnTo>
                    <a:pt x="72" y="67"/>
                  </a:lnTo>
                  <a:lnTo>
                    <a:pt x="24" y="89"/>
                  </a:lnTo>
                  <a:lnTo>
                    <a:pt x="25" y="89"/>
                  </a:lnTo>
                  <a:lnTo>
                    <a:pt x="24" y="89"/>
                  </a:lnTo>
                  <a:lnTo>
                    <a:pt x="8" y="102"/>
                  </a:lnTo>
                  <a:lnTo>
                    <a:pt x="0" y="118"/>
                  </a:lnTo>
                  <a:lnTo>
                    <a:pt x="0" y="136"/>
                  </a:lnTo>
                  <a:lnTo>
                    <a:pt x="6" y="152"/>
                  </a:lnTo>
                  <a:lnTo>
                    <a:pt x="17" y="165"/>
                  </a:lnTo>
                  <a:lnTo>
                    <a:pt x="31" y="175"/>
                  </a:lnTo>
                  <a:lnTo>
                    <a:pt x="48" y="177"/>
                  </a:lnTo>
                  <a:lnTo>
                    <a:pt x="68" y="171"/>
                  </a:lnTo>
                  <a:lnTo>
                    <a:pt x="67"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3" name="Freeform 44"/>
            <p:cNvSpPr>
              <a:spLocks/>
            </p:cNvSpPr>
            <p:nvPr/>
          </p:nvSpPr>
          <p:spPr bwMode="auto">
            <a:xfrm>
              <a:off x="931" y="1456"/>
              <a:ext cx="280" cy="158"/>
            </a:xfrm>
            <a:custGeom>
              <a:avLst/>
              <a:gdLst>
                <a:gd name="T0" fmla="*/ 1 w 1402"/>
                <a:gd name="T1" fmla="*/ 6 h 787"/>
                <a:gd name="T2" fmla="*/ 1 w 1402"/>
                <a:gd name="T3" fmla="*/ 6 h 787"/>
                <a:gd name="T4" fmla="*/ 11 w 1402"/>
                <a:gd name="T5" fmla="*/ 1 h 787"/>
                <a:gd name="T6" fmla="*/ 11 w 1402"/>
                <a:gd name="T7" fmla="*/ 0 h 787"/>
                <a:gd name="T8" fmla="*/ 0 w 1402"/>
                <a:gd name="T9" fmla="*/ 6 h 787"/>
                <a:gd name="T10" fmla="*/ 0 w 1402"/>
                <a:gd name="T11" fmla="*/ 6 h 787"/>
                <a:gd name="T12" fmla="*/ 0 w 1402"/>
                <a:gd name="T13" fmla="*/ 6 h 787"/>
                <a:gd name="T14" fmla="*/ 0 w 1402"/>
                <a:gd name="T15" fmla="*/ 6 h 787"/>
                <a:gd name="T16" fmla="*/ 0 w 1402"/>
                <a:gd name="T17" fmla="*/ 6 h 787"/>
                <a:gd name="T18" fmla="*/ 0 w 1402"/>
                <a:gd name="T19" fmla="*/ 6 h 787"/>
                <a:gd name="T20" fmla="*/ 0 w 1402"/>
                <a:gd name="T21" fmla="*/ 6 h 787"/>
                <a:gd name="T22" fmla="*/ 0 w 1402"/>
                <a:gd name="T23" fmla="*/ 6 h 787"/>
                <a:gd name="T24" fmla="*/ 0 w 1402"/>
                <a:gd name="T25" fmla="*/ 6 h 787"/>
                <a:gd name="T26" fmla="*/ 0 w 1402"/>
                <a:gd name="T27" fmla="*/ 6 h 787"/>
                <a:gd name="T28" fmla="*/ 1 w 1402"/>
                <a:gd name="T29" fmla="*/ 6 h 787"/>
                <a:gd name="T30" fmla="*/ 1 w 1402"/>
                <a:gd name="T31" fmla="*/ 6 h 7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2"/>
                <a:gd name="T49" fmla="*/ 0 h 787"/>
                <a:gd name="T50" fmla="*/ 1402 w 1402"/>
                <a:gd name="T51" fmla="*/ 787 h 7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2" h="787">
                  <a:moveTo>
                    <a:pt x="69" y="781"/>
                  </a:moveTo>
                  <a:lnTo>
                    <a:pt x="66" y="781"/>
                  </a:lnTo>
                  <a:lnTo>
                    <a:pt x="1402" y="82"/>
                  </a:lnTo>
                  <a:lnTo>
                    <a:pt x="1360" y="0"/>
                  </a:lnTo>
                  <a:lnTo>
                    <a:pt x="24" y="699"/>
                  </a:lnTo>
                  <a:lnTo>
                    <a:pt x="22" y="699"/>
                  </a:lnTo>
                  <a:lnTo>
                    <a:pt x="24" y="699"/>
                  </a:lnTo>
                  <a:lnTo>
                    <a:pt x="8" y="712"/>
                  </a:lnTo>
                  <a:lnTo>
                    <a:pt x="1" y="727"/>
                  </a:lnTo>
                  <a:lnTo>
                    <a:pt x="0" y="744"/>
                  </a:lnTo>
                  <a:lnTo>
                    <a:pt x="5" y="761"/>
                  </a:lnTo>
                  <a:lnTo>
                    <a:pt x="15" y="775"/>
                  </a:lnTo>
                  <a:lnTo>
                    <a:pt x="30" y="784"/>
                  </a:lnTo>
                  <a:lnTo>
                    <a:pt x="46" y="787"/>
                  </a:lnTo>
                  <a:lnTo>
                    <a:pt x="66" y="781"/>
                  </a:lnTo>
                  <a:lnTo>
                    <a:pt x="69" y="7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4" name="Freeform 45"/>
            <p:cNvSpPr>
              <a:spLocks/>
            </p:cNvSpPr>
            <p:nvPr/>
          </p:nvSpPr>
          <p:spPr bwMode="auto">
            <a:xfrm>
              <a:off x="868" y="1596"/>
              <a:ext cx="77" cy="126"/>
            </a:xfrm>
            <a:custGeom>
              <a:avLst/>
              <a:gdLst>
                <a:gd name="T0" fmla="*/ 1 w 382"/>
                <a:gd name="T1" fmla="*/ 5 h 628"/>
                <a:gd name="T2" fmla="*/ 1 w 382"/>
                <a:gd name="T3" fmla="*/ 5 h 628"/>
                <a:gd name="T4" fmla="*/ 1 w 382"/>
                <a:gd name="T5" fmla="*/ 4 h 628"/>
                <a:gd name="T6" fmla="*/ 1 w 382"/>
                <a:gd name="T7" fmla="*/ 4 h 628"/>
                <a:gd name="T8" fmla="*/ 1 w 382"/>
                <a:gd name="T9" fmla="*/ 4 h 628"/>
                <a:gd name="T10" fmla="*/ 1 w 382"/>
                <a:gd name="T11" fmla="*/ 3 h 628"/>
                <a:gd name="T12" fmla="*/ 1 w 382"/>
                <a:gd name="T13" fmla="*/ 3 h 628"/>
                <a:gd name="T14" fmla="*/ 1 w 382"/>
                <a:gd name="T15" fmla="*/ 3 h 628"/>
                <a:gd name="T16" fmla="*/ 1 w 382"/>
                <a:gd name="T17" fmla="*/ 3 h 628"/>
                <a:gd name="T18" fmla="*/ 1 w 382"/>
                <a:gd name="T19" fmla="*/ 2 h 628"/>
                <a:gd name="T20" fmla="*/ 2 w 382"/>
                <a:gd name="T21" fmla="*/ 2 h 628"/>
                <a:gd name="T22" fmla="*/ 2 w 382"/>
                <a:gd name="T23" fmla="*/ 2 h 628"/>
                <a:gd name="T24" fmla="*/ 2 w 382"/>
                <a:gd name="T25" fmla="*/ 2 h 628"/>
                <a:gd name="T26" fmla="*/ 2 w 382"/>
                <a:gd name="T27" fmla="*/ 1 h 628"/>
                <a:gd name="T28" fmla="*/ 2 w 382"/>
                <a:gd name="T29" fmla="*/ 1 h 628"/>
                <a:gd name="T30" fmla="*/ 3 w 382"/>
                <a:gd name="T31" fmla="*/ 1 h 628"/>
                <a:gd name="T32" fmla="*/ 3 w 382"/>
                <a:gd name="T33" fmla="*/ 1 h 628"/>
                <a:gd name="T34" fmla="*/ 3 w 382"/>
                <a:gd name="T35" fmla="*/ 1 h 628"/>
                <a:gd name="T36" fmla="*/ 3 w 382"/>
                <a:gd name="T37" fmla="*/ 0 h 628"/>
                <a:gd name="T38" fmla="*/ 2 w 382"/>
                <a:gd name="T39" fmla="*/ 0 h 628"/>
                <a:gd name="T40" fmla="*/ 2 w 382"/>
                <a:gd name="T41" fmla="*/ 0 h 628"/>
                <a:gd name="T42" fmla="*/ 2 w 382"/>
                <a:gd name="T43" fmla="*/ 1 h 628"/>
                <a:gd name="T44" fmla="*/ 2 w 382"/>
                <a:gd name="T45" fmla="*/ 1 h 628"/>
                <a:gd name="T46" fmla="*/ 1 w 382"/>
                <a:gd name="T47" fmla="*/ 1 h 628"/>
                <a:gd name="T48" fmla="*/ 1 w 382"/>
                <a:gd name="T49" fmla="*/ 1 h 628"/>
                <a:gd name="T50" fmla="*/ 1 w 382"/>
                <a:gd name="T51" fmla="*/ 2 h 628"/>
                <a:gd name="T52" fmla="*/ 1 w 382"/>
                <a:gd name="T53" fmla="*/ 2 h 628"/>
                <a:gd name="T54" fmla="*/ 1 w 382"/>
                <a:gd name="T55" fmla="*/ 2 h 628"/>
                <a:gd name="T56" fmla="*/ 0 w 382"/>
                <a:gd name="T57" fmla="*/ 3 h 628"/>
                <a:gd name="T58" fmla="*/ 0 w 382"/>
                <a:gd name="T59" fmla="*/ 3 h 628"/>
                <a:gd name="T60" fmla="*/ 0 w 382"/>
                <a:gd name="T61" fmla="*/ 3 h 628"/>
                <a:gd name="T62" fmla="*/ 0 w 382"/>
                <a:gd name="T63" fmla="*/ 4 h 628"/>
                <a:gd name="T64" fmla="*/ 0 w 382"/>
                <a:gd name="T65" fmla="*/ 4 h 628"/>
                <a:gd name="T66" fmla="*/ 0 w 382"/>
                <a:gd name="T67" fmla="*/ 4 h 628"/>
                <a:gd name="T68" fmla="*/ 0 w 382"/>
                <a:gd name="T69" fmla="*/ 5 h 628"/>
                <a:gd name="T70" fmla="*/ 0 w 382"/>
                <a:gd name="T71" fmla="*/ 5 h 628"/>
                <a:gd name="T72" fmla="*/ 0 w 382"/>
                <a:gd name="T73" fmla="*/ 5 h 628"/>
                <a:gd name="T74" fmla="*/ 0 w 382"/>
                <a:gd name="T75" fmla="*/ 5 h 628"/>
                <a:gd name="T76" fmla="*/ 0 w 382"/>
                <a:gd name="T77" fmla="*/ 5 h 628"/>
                <a:gd name="T78" fmla="*/ 0 w 382"/>
                <a:gd name="T79" fmla="*/ 5 h 628"/>
                <a:gd name="T80" fmla="*/ 0 w 382"/>
                <a:gd name="T81" fmla="*/ 5 h 628"/>
                <a:gd name="T82" fmla="*/ 1 w 382"/>
                <a:gd name="T83" fmla="*/ 5 h 628"/>
                <a:gd name="T84" fmla="*/ 1 w 382"/>
                <a:gd name="T85" fmla="*/ 5 h 628"/>
                <a:gd name="T86" fmla="*/ 1 w 382"/>
                <a:gd name="T87" fmla="*/ 5 h 628"/>
                <a:gd name="T88" fmla="*/ 1 w 382"/>
                <a:gd name="T89" fmla="*/ 5 h 628"/>
                <a:gd name="T90" fmla="*/ 1 w 382"/>
                <a:gd name="T91" fmla="*/ 5 h 6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82"/>
                <a:gd name="T139" fmla="*/ 0 h 628"/>
                <a:gd name="T140" fmla="*/ 382 w 382"/>
                <a:gd name="T141" fmla="*/ 628 h 6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82" h="628">
                  <a:moveTo>
                    <a:pt x="94" y="581"/>
                  </a:moveTo>
                  <a:lnTo>
                    <a:pt x="94" y="582"/>
                  </a:lnTo>
                  <a:lnTo>
                    <a:pt x="96" y="541"/>
                  </a:lnTo>
                  <a:lnTo>
                    <a:pt x="99" y="500"/>
                  </a:lnTo>
                  <a:lnTo>
                    <a:pt x="106" y="463"/>
                  </a:lnTo>
                  <a:lnTo>
                    <a:pt x="115" y="424"/>
                  </a:lnTo>
                  <a:lnTo>
                    <a:pt x="127" y="389"/>
                  </a:lnTo>
                  <a:lnTo>
                    <a:pt x="140" y="353"/>
                  </a:lnTo>
                  <a:lnTo>
                    <a:pt x="156" y="320"/>
                  </a:lnTo>
                  <a:lnTo>
                    <a:pt x="173" y="287"/>
                  </a:lnTo>
                  <a:lnTo>
                    <a:pt x="193" y="255"/>
                  </a:lnTo>
                  <a:lnTo>
                    <a:pt x="214" y="226"/>
                  </a:lnTo>
                  <a:lnTo>
                    <a:pt x="238" y="198"/>
                  </a:lnTo>
                  <a:lnTo>
                    <a:pt x="263" y="172"/>
                  </a:lnTo>
                  <a:lnTo>
                    <a:pt x="290" y="146"/>
                  </a:lnTo>
                  <a:lnTo>
                    <a:pt x="318" y="122"/>
                  </a:lnTo>
                  <a:lnTo>
                    <a:pt x="349" y="101"/>
                  </a:lnTo>
                  <a:lnTo>
                    <a:pt x="382" y="82"/>
                  </a:lnTo>
                  <a:lnTo>
                    <a:pt x="335" y="0"/>
                  </a:lnTo>
                  <a:lnTo>
                    <a:pt x="297" y="23"/>
                  </a:lnTo>
                  <a:lnTo>
                    <a:pt x="262" y="49"/>
                  </a:lnTo>
                  <a:lnTo>
                    <a:pt x="229" y="76"/>
                  </a:lnTo>
                  <a:lnTo>
                    <a:pt x="198" y="104"/>
                  </a:lnTo>
                  <a:lnTo>
                    <a:pt x="167" y="137"/>
                  </a:lnTo>
                  <a:lnTo>
                    <a:pt x="142" y="170"/>
                  </a:lnTo>
                  <a:lnTo>
                    <a:pt x="116" y="204"/>
                  </a:lnTo>
                  <a:lnTo>
                    <a:pt x="94" y="240"/>
                  </a:lnTo>
                  <a:lnTo>
                    <a:pt x="74" y="278"/>
                  </a:lnTo>
                  <a:lnTo>
                    <a:pt x="54" y="317"/>
                  </a:lnTo>
                  <a:lnTo>
                    <a:pt x="38" y="359"/>
                  </a:lnTo>
                  <a:lnTo>
                    <a:pt x="26" y="401"/>
                  </a:lnTo>
                  <a:lnTo>
                    <a:pt x="15" y="444"/>
                  </a:lnTo>
                  <a:lnTo>
                    <a:pt x="8" y="489"/>
                  </a:lnTo>
                  <a:lnTo>
                    <a:pt x="2" y="534"/>
                  </a:lnTo>
                  <a:lnTo>
                    <a:pt x="0" y="580"/>
                  </a:lnTo>
                  <a:lnTo>
                    <a:pt x="0" y="581"/>
                  </a:lnTo>
                  <a:lnTo>
                    <a:pt x="0" y="580"/>
                  </a:lnTo>
                  <a:lnTo>
                    <a:pt x="3" y="600"/>
                  </a:lnTo>
                  <a:lnTo>
                    <a:pt x="14" y="615"/>
                  </a:lnTo>
                  <a:lnTo>
                    <a:pt x="29" y="625"/>
                  </a:lnTo>
                  <a:lnTo>
                    <a:pt x="45" y="628"/>
                  </a:lnTo>
                  <a:lnTo>
                    <a:pt x="63" y="626"/>
                  </a:lnTo>
                  <a:lnTo>
                    <a:pt x="78" y="616"/>
                  </a:lnTo>
                  <a:lnTo>
                    <a:pt x="89" y="602"/>
                  </a:lnTo>
                  <a:lnTo>
                    <a:pt x="94" y="582"/>
                  </a:lnTo>
                  <a:lnTo>
                    <a:pt x="94" y="5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5" name="Freeform 46"/>
            <p:cNvSpPr>
              <a:spLocks/>
            </p:cNvSpPr>
            <p:nvPr/>
          </p:nvSpPr>
          <p:spPr bwMode="auto">
            <a:xfrm>
              <a:off x="868" y="1712"/>
              <a:ext cx="19" cy="364"/>
            </a:xfrm>
            <a:custGeom>
              <a:avLst/>
              <a:gdLst>
                <a:gd name="T0" fmla="*/ 1 w 94"/>
                <a:gd name="T1" fmla="*/ 14 h 1818"/>
                <a:gd name="T2" fmla="*/ 1 w 94"/>
                <a:gd name="T3" fmla="*/ 14 h 1818"/>
                <a:gd name="T4" fmla="*/ 1 w 94"/>
                <a:gd name="T5" fmla="*/ 0 h 1818"/>
                <a:gd name="T6" fmla="*/ 0 w 94"/>
                <a:gd name="T7" fmla="*/ 0 h 1818"/>
                <a:gd name="T8" fmla="*/ 0 w 94"/>
                <a:gd name="T9" fmla="*/ 14 h 1818"/>
                <a:gd name="T10" fmla="*/ 0 w 94"/>
                <a:gd name="T11" fmla="*/ 14 h 1818"/>
                <a:gd name="T12" fmla="*/ 0 w 94"/>
                <a:gd name="T13" fmla="*/ 14 h 1818"/>
                <a:gd name="T14" fmla="*/ 0 w 94"/>
                <a:gd name="T15" fmla="*/ 14 h 1818"/>
                <a:gd name="T16" fmla="*/ 0 w 94"/>
                <a:gd name="T17" fmla="*/ 14 h 1818"/>
                <a:gd name="T18" fmla="*/ 0 w 94"/>
                <a:gd name="T19" fmla="*/ 15 h 1818"/>
                <a:gd name="T20" fmla="*/ 0 w 94"/>
                <a:gd name="T21" fmla="*/ 15 h 1818"/>
                <a:gd name="T22" fmla="*/ 1 w 94"/>
                <a:gd name="T23" fmla="*/ 15 h 1818"/>
                <a:gd name="T24" fmla="*/ 1 w 94"/>
                <a:gd name="T25" fmla="*/ 14 h 1818"/>
                <a:gd name="T26" fmla="*/ 1 w 94"/>
                <a:gd name="T27" fmla="*/ 14 h 1818"/>
                <a:gd name="T28" fmla="*/ 1 w 94"/>
                <a:gd name="T29" fmla="*/ 14 h 18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818"/>
                <a:gd name="T47" fmla="*/ 94 w 94"/>
                <a:gd name="T48" fmla="*/ 1818 h 18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818">
                  <a:moveTo>
                    <a:pt x="94" y="1771"/>
                  </a:moveTo>
                  <a:lnTo>
                    <a:pt x="94" y="1771"/>
                  </a:lnTo>
                  <a:lnTo>
                    <a:pt x="94" y="0"/>
                  </a:lnTo>
                  <a:lnTo>
                    <a:pt x="0" y="0"/>
                  </a:lnTo>
                  <a:lnTo>
                    <a:pt x="0" y="1771"/>
                  </a:lnTo>
                  <a:lnTo>
                    <a:pt x="3" y="1791"/>
                  </a:lnTo>
                  <a:lnTo>
                    <a:pt x="15" y="1806"/>
                  </a:lnTo>
                  <a:lnTo>
                    <a:pt x="29" y="1814"/>
                  </a:lnTo>
                  <a:lnTo>
                    <a:pt x="47" y="1818"/>
                  </a:lnTo>
                  <a:lnTo>
                    <a:pt x="64" y="1814"/>
                  </a:lnTo>
                  <a:lnTo>
                    <a:pt x="79" y="1806"/>
                  </a:lnTo>
                  <a:lnTo>
                    <a:pt x="90" y="1791"/>
                  </a:lnTo>
                  <a:lnTo>
                    <a:pt x="94" y="1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6" name="Freeform 47"/>
            <p:cNvSpPr>
              <a:spLocks/>
            </p:cNvSpPr>
            <p:nvPr/>
          </p:nvSpPr>
          <p:spPr bwMode="auto">
            <a:xfrm>
              <a:off x="868" y="2067"/>
              <a:ext cx="90" cy="160"/>
            </a:xfrm>
            <a:custGeom>
              <a:avLst/>
              <a:gdLst>
                <a:gd name="T0" fmla="*/ 3 w 449"/>
                <a:gd name="T1" fmla="*/ 6 h 803"/>
                <a:gd name="T2" fmla="*/ 3 w 449"/>
                <a:gd name="T3" fmla="*/ 6 h 803"/>
                <a:gd name="T4" fmla="*/ 3 w 449"/>
                <a:gd name="T5" fmla="*/ 5 h 803"/>
                <a:gd name="T6" fmla="*/ 3 w 449"/>
                <a:gd name="T7" fmla="*/ 5 h 803"/>
                <a:gd name="T8" fmla="*/ 3 w 449"/>
                <a:gd name="T9" fmla="*/ 5 h 803"/>
                <a:gd name="T10" fmla="*/ 2 w 449"/>
                <a:gd name="T11" fmla="*/ 5 h 803"/>
                <a:gd name="T12" fmla="*/ 2 w 449"/>
                <a:gd name="T13" fmla="*/ 4 h 803"/>
                <a:gd name="T14" fmla="*/ 2 w 449"/>
                <a:gd name="T15" fmla="*/ 4 h 803"/>
                <a:gd name="T16" fmla="*/ 2 w 449"/>
                <a:gd name="T17" fmla="*/ 4 h 803"/>
                <a:gd name="T18" fmla="*/ 2 w 449"/>
                <a:gd name="T19" fmla="*/ 3 h 803"/>
                <a:gd name="T20" fmla="*/ 1 w 449"/>
                <a:gd name="T21" fmla="*/ 3 h 803"/>
                <a:gd name="T22" fmla="*/ 1 w 449"/>
                <a:gd name="T23" fmla="*/ 2 h 803"/>
                <a:gd name="T24" fmla="*/ 1 w 449"/>
                <a:gd name="T25" fmla="*/ 2 h 803"/>
                <a:gd name="T26" fmla="*/ 1 w 449"/>
                <a:gd name="T27" fmla="*/ 2 h 803"/>
                <a:gd name="T28" fmla="*/ 1 w 449"/>
                <a:gd name="T29" fmla="*/ 1 h 803"/>
                <a:gd name="T30" fmla="*/ 1 w 449"/>
                <a:gd name="T31" fmla="*/ 1 h 803"/>
                <a:gd name="T32" fmla="*/ 1 w 449"/>
                <a:gd name="T33" fmla="*/ 0 h 803"/>
                <a:gd name="T34" fmla="*/ 1 w 449"/>
                <a:gd name="T35" fmla="*/ 0 h 803"/>
                <a:gd name="T36" fmla="*/ 0 w 449"/>
                <a:gd name="T37" fmla="*/ 0 h 803"/>
                <a:gd name="T38" fmla="*/ 0 w 449"/>
                <a:gd name="T39" fmla="*/ 0 h 803"/>
                <a:gd name="T40" fmla="*/ 0 w 449"/>
                <a:gd name="T41" fmla="*/ 1 h 803"/>
                <a:gd name="T42" fmla="*/ 0 w 449"/>
                <a:gd name="T43" fmla="*/ 1 h 803"/>
                <a:gd name="T44" fmla="*/ 0 w 449"/>
                <a:gd name="T45" fmla="*/ 2 h 803"/>
                <a:gd name="T46" fmla="*/ 0 w 449"/>
                <a:gd name="T47" fmla="*/ 2 h 803"/>
                <a:gd name="T48" fmla="*/ 0 w 449"/>
                <a:gd name="T49" fmla="*/ 3 h 803"/>
                <a:gd name="T50" fmla="*/ 1 w 449"/>
                <a:gd name="T51" fmla="*/ 3 h 803"/>
                <a:gd name="T52" fmla="*/ 1 w 449"/>
                <a:gd name="T53" fmla="*/ 4 h 803"/>
                <a:gd name="T54" fmla="*/ 1 w 449"/>
                <a:gd name="T55" fmla="*/ 4 h 803"/>
                <a:gd name="T56" fmla="*/ 1 w 449"/>
                <a:gd name="T57" fmla="*/ 4 h 803"/>
                <a:gd name="T58" fmla="*/ 2 w 449"/>
                <a:gd name="T59" fmla="*/ 5 h 803"/>
                <a:gd name="T60" fmla="*/ 2 w 449"/>
                <a:gd name="T61" fmla="*/ 5 h 803"/>
                <a:gd name="T62" fmla="*/ 2 w 449"/>
                <a:gd name="T63" fmla="*/ 5 h 803"/>
                <a:gd name="T64" fmla="*/ 2 w 449"/>
                <a:gd name="T65" fmla="*/ 6 h 803"/>
                <a:gd name="T66" fmla="*/ 3 w 449"/>
                <a:gd name="T67" fmla="*/ 6 h 803"/>
                <a:gd name="T68" fmla="*/ 3 w 449"/>
                <a:gd name="T69" fmla="*/ 6 h 803"/>
                <a:gd name="T70" fmla="*/ 3 w 449"/>
                <a:gd name="T71" fmla="*/ 6 h 803"/>
                <a:gd name="T72" fmla="*/ 3 w 449"/>
                <a:gd name="T73" fmla="*/ 6 h 803"/>
                <a:gd name="T74" fmla="*/ 3 w 449"/>
                <a:gd name="T75" fmla="*/ 6 h 803"/>
                <a:gd name="T76" fmla="*/ 3 w 449"/>
                <a:gd name="T77" fmla="*/ 6 h 803"/>
                <a:gd name="T78" fmla="*/ 3 w 449"/>
                <a:gd name="T79" fmla="*/ 6 h 803"/>
                <a:gd name="T80" fmla="*/ 4 w 449"/>
                <a:gd name="T81" fmla="*/ 6 h 803"/>
                <a:gd name="T82" fmla="*/ 4 w 449"/>
                <a:gd name="T83" fmla="*/ 6 h 803"/>
                <a:gd name="T84" fmla="*/ 4 w 449"/>
                <a:gd name="T85" fmla="*/ 6 h 803"/>
                <a:gd name="T86" fmla="*/ 4 w 449"/>
                <a:gd name="T87" fmla="*/ 6 h 803"/>
                <a:gd name="T88" fmla="*/ 3 w 449"/>
                <a:gd name="T89" fmla="*/ 6 h 803"/>
                <a:gd name="T90" fmla="*/ 3 w 449"/>
                <a:gd name="T91" fmla="*/ 6 h 8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803"/>
                <a:gd name="T140" fmla="*/ 449 w 449"/>
                <a:gd name="T141" fmla="*/ 803 h 80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803">
                  <a:moveTo>
                    <a:pt x="426" y="717"/>
                  </a:moveTo>
                  <a:lnTo>
                    <a:pt x="427" y="717"/>
                  </a:lnTo>
                  <a:lnTo>
                    <a:pt x="395" y="693"/>
                  </a:lnTo>
                  <a:lnTo>
                    <a:pt x="361" y="662"/>
                  </a:lnTo>
                  <a:lnTo>
                    <a:pt x="329" y="628"/>
                  </a:lnTo>
                  <a:lnTo>
                    <a:pt x="299" y="591"/>
                  </a:lnTo>
                  <a:lnTo>
                    <a:pt x="269" y="551"/>
                  </a:lnTo>
                  <a:lnTo>
                    <a:pt x="241" y="507"/>
                  </a:lnTo>
                  <a:lnTo>
                    <a:pt x="215" y="460"/>
                  </a:lnTo>
                  <a:lnTo>
                    <a:pt x="191" y="412"/>
                  </a:lnTo>
                  <a:lnTo>
                    <a:pt x="170" y="363"/>
                  </a:lnTo>
                  <a:lnTo>
                    <a:pt x="151" y="312"/>
                  </a:lnTo>
                  <a:lnTo>
                    <a:pt x="133" y="259"/>
                  </a:lnTo>
                  <a:lnTo>
                    <a:pt x="119" y="207"/>
                  </a:lnTo>
                  <a:lnTo>
                    <a:pt x="108" y="156"/>
                  </a:lnTo>
                  <a:lnTo>
                    <a:pt x="101" y="103"/>
                  </a:lnTo>
                  <a:lnTo>
                    <a:pt x="96" y="51"/>
                  </a:lnTo>
                  <a:lnTo>
                    <a:pt x="94" y="0"/>
                  </a:lnTo>
                  <a:lnTo>
                    <a:pt x="0" y="0"/>
                  </a:lnTo>
                  <a:lnTo>
                    <a:pt x="2" y="56"/>
                  </a:lnTo>
                  <a:lnTo>
                    <a:pt x="7" y="115"/>
                  </a:lnTo>
                  <a:lnTo>
                    <a:pt x="16" y="172"/>
                  </a:lnTo>
                  <a:lnTo>
                    <a:pt x="28" y="231"/>
                  </a:lnTo>
                  <a:lnTo>
                    <a:pt x="44" y="287"/>
                  </a:lnTo>
                  <a:lnTo>
                    <a:pt x="62" y="342"/>
                  </a:lnTo>
                  <a:lnTo>
                    <a:pt x="83" y="398"/>
                  </a:lnTo>
                  <a:lnTo>
                    <a:pt x="106" y="452"/>
                  </a:lnTo>
                  <a:lnTo>
                    <a:pt x="133" y="505"/>
                  </a:lnTo>
                  <a:lnTo>
                    <a:pt x="161" y="554"/>
                  </a:lnTo>
                  <a:lnTo>
                    <a:pt x="192" y="602"/>
                  </a:lnTo>
                  <a:lnTo>
                    <a:pt x="224" y="647"/>
                  </a:lnTo>
                  <a:lnTo>
                    <a:pt x="259" y="689"/>
                  </a:lnTo>
                  <a:lnTo>
                    <a:pt x="295" y="728"/>
                  </a:lnTo>
                  <a:lnTo>
                    <a:pt x="334" y="763"/>
                  </a:lnTo>
                  <a:lnTo>
                    <a:pt x="374" y="795"/>
                  </a:lnTo>
                  <a:lnTo>
                    <a:pt x="375" y="795"/>
                  </a:lnTo>
                  <a:lnTo>
                    <a:pt x="374" y="795"/>
                  </a:lnTo>
                  <a:lnTo>
                    <a:pt x="392" y="803"/>
                  </a:lnTo>
                  <a:lnTo>
                    <a:pt x="411" y="803"/>
                  </a:lnTo>
                  <a:lnTo>
                    <a:pt x="426" y="795"/>
                  </a:lnTo>
                  <a:lnTo>
                    <a:pt x="439" y="782"/>
                  </a:lnTo>
                  <a:lnTo>
                    <a:pt x="446" y="766"/>
                  </a:lnTo>
                  <a:lnTo>
                    <a:pt x="449" y="749"/>
                  </a:lnTo>
                  <a:lnTo>
                    <a:pt x="441" y="732"/>
                  </a:lnTo>
                  <a:lnTo>
                    <a:pt x="427" y="717"/>
                  </a:lnTo>
                  <a:lnTo>
                    <a:pt x="426"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7" name="Freeform 48"/>
            <p:cNvSpPr>
              <a:spLocks/>
            </p:cNvSpPr>
            <p:nvPr/>
          </p:nvSpPr>
          <p:spPr bwMode="auto">
            <a:xfrm>
              <a:off x="883" y="1673"/>
              <a:ext cx="379" cy="690"/>
            </a:xfrm>
            <a:custGeom>
              <a:avLst/>
              <a:gdLst>
                <a:gd name="T0" fmla="*/ 12 w 1897"/>
                <a:gd name="T1" fmla="*/ 6 h 3450"/>
                <a:gd name="T2" fmla="*/ 13 w 1897"/>
                <a:gd name="T3" fmla="*/ 7 h 3450"/>
                <a:gd name="T4" fmla="*/ 13 w 1897"/>
                <a:gd name="T5" fmla="*/ 7 h 3450"/>
                <a:gd name="T6" fmla="*/ 14 w 1897"/>
                <a:gd name="T7" fmla="*/ 8 h 3450"/>
                <a:gd name="T8" fmla="*/ 14 w 1897"/>
                <a:gd name="T9" fmla="*/ 9 h 3450"/>
                <a:gd name="T10" fmla="*/ 15 w 1897"/>
                <a:gd name="T11" fmla="*/ 10 h 3450"/>
                <a:gd name="T12" fmla="*/ 15 w 1897"/>
                <a:gd name="T13" fmla="*/ 11 h 3450"/>
                <a:gd name="T14" fmla="*/ 15 w 1897"/>
                <a:gd name="T15" fmla="*/ 11 h 3450"/>
                <a:gd name="T16" fmla="*/ 15 w 1897"/>
                <a:gd name="T17" fmla="*/ 12 h 3450"/>
                <a:gd name="T18" fmla="*/ 15 w 1897"/>
                <a:gd name="T19" fmla="*/ 26 h 3450"/>
                <a:gd name="T20" fmla="*/ 15 w 1897"/>
                <a:gd name="T21" fmla="*/ 26 h 3450"/>
                <a:gd name="T22" fmla="*/ 15 w 1897"/>
                <a:gd name="T23" fmla="*/ 27 h 3450"/>
                <a:gd name="T24" fmla="*/ 15 w 1897"/>
                <a:gd name="T25" fmla="*/ 27 h 3450"/>
                <a:gd name="T26" fmla="*/ 14 w 1897"/>
                <a:gd name="T27" fmla="*/ 27 h 3450"/>
                <a:gd name="T28" fmla="*/ 14 w 1897"/>
                <a:gd name="T29" fmla="*/ 28 h 3450"/>
                <a:gd name="T30" fmla="*/ 13 w 1897"/>
                <a:gd name="T31" fmla="*/ 28 h 3450"/>
                <a:gd name="T32" fmla="*/ 13 w 1897"/>
                <a:gd name="T33" fmla="*/ 27 h 3450"/>
                <a:gd name="T34" fmla="*/ 3 w 1897"/>
                <a:gd name="T35" fmla="*/ 21 h 3450"/>
                <a:gd name="T36" fmla="*/ 2 w 1897"/>
                <a:gd name="T37" fmla="*/ 21 h 3450"/>
                <a:gd name="T38" fmla="*/ 2 w 1897"/>
                <a:gd name="T39" fmla="*/ 20 h 3450"/>
                <a:gd name="T40" fmla="*/ 1 w 1897"/>
                <a:gd name="T41" fmla="*/ 19 h 3450"/>
                <a:gd name="T42" fmla="*/ 1 w 1897"/>
                <a:gd name="T43" fmla="*/ 19 h 3450"/>
                <a:gd name="T44" fmla="*/ 0 w 1897"/>
                <a:gd name="T45" fmla="*/ 18 h 3450"/>
                <a:gd name="T46" fmla="*/ 0 w 1897"/>
                <a:gd name="T47" fmla="*/ 17 h 3450"/>
                <a:gd name="T48" fmla="*/ 0 w 1897"/>
                <a:gd name="T49" fmla="*/ 16 h 3450"/>
                <a:gd name="T50" fmla="*/ 0 w 1897"/>
                <a:gd name="T51" fmla="*/ 15 h 3450"/>
                <a:gd name="T52" fmla="*/ 0 w 1897"/>
                <a:gd name="T53" fmla="*/ 2 h 3450"/>
                <a:gd name="T54" fmla="*/ 0 w 1897"/>
                <a:gd name="T55" fmla="*/ 1 h 3450"/>
                <a:gd name="T56" fmla="*/ 0 w 1897"/>
                <a:gd name="T57" fmla="*/ 1 h 3450"/>
                <a:gd name="T58" fmla="*/ 1 w 1897"/>
                <a:gd name="T59" fmla="*/ 0 h 3450"/>
                <a:gd name="T60" fmla="*/ 1 w 1897"/>
                <a:gd name="T61" fmla="*/ 0 h 3450"/>
                <a:gd name="T62" fmla="*/ 1 w 1897"/>
                <a:gd name="T63" fmla="*/ 0 h 3450"/>
                <a:gd name="T64" fmla="*/ 2 w 1897"/>
                <a:gd name="T65" fmla="*/ 0 h 3450"/>
                <a:gd name="T66" fmla="*/ 3 w 1897"/>
                <a:gd name="T67" fmla="*/ 0 h 34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7"/>
                <a:gd name="T103" fmla="*/ 0 h 3450"/>
                <a:gd name="T104" fmla="*/ 1897 w 1897"/>
                <a:gd name="T105" fmla="*/ 3450 h 34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7" h="3450">
                  <a:moveTo>
                    <a:pt x="357" y="49"/>
                  </a:moveTo>
                  <a:lnTo>
                    <a:pt x="1542" y="806"/>
                  </a:lnTo>
                  <a:lnTo>
                    <a:pt x="1579" y="832"/>
                  </a:lnTo>
                  <a:lnTo>
                    <a:pt x="1614" y="861"/>
                  </a:lnTo>
                  <a:lnTo>
                    <a:pt x="1648" y="895"/>
                  </a:lnTo>
                  <a:lnTo>
                    <a:pt x="1681" y="933"/>
                  </a:lnTo>
                  <a:lnTo>
                    <a:pt x="1711" y="973"/>
                  </a:lnTo>
                  <a:lnTo>
                    <a:pt x="1740" y="1016"/>
                  </a:lnTo>
                  <a:lnTo>
                    <a:pt x="1768" y="1062"/>
                  </a:lnTo>
                  <a:lnTo>
                    <a:pt x="1793" y="1109"/>
                  </a:lnTo>
                  <a:lnTo>
                    <a:pt x="1816" y="1158"/>
                  </a:lnTo>
                  <a:lnTo>
                    <a:pt x="1836" y="1208"/>
                  </a:lnTo>
                  <a:lnTo>
                    <a:pt x="1854" y="1260"/>
                  </a:lnTo>
                  <a:lnTo>
                    <a:pt x="1869" y="1313"/>
                  </a:lnTo>
                  <a:lnTo>
                    <a:pt x="1881" y="1364"/>
                  </a:lnTo>
                  <a:lnTo>
                    <a:pt x="1890" y="1417"/>
                  </a:lnTo>
                  <a:lnTo>
                    <a:pt x="1895" y="1469"/>
                  </a:lnTo>
                  <a:lnTo>
                    <a:pt x="1897" y="1519"/>
                  </a:lnTo>
                  <a:lnTo>
                    <a:pt x="1897" y="3142"/>
                  </a:lnTo>
                  <a:lnTo>
                    <a:pt x="1895" y="3190"/>
                  </a:lnTo>
                  <a:lnTo>
                    <a:pt x="1890" y="3235"/>
                  </a:lnTo>
                  <a:lnTo>
                    <a:pt x="1881" y="3276"/>
                  </a:lnTo>
                  <a:lnTo>
                    <a:pt x="1869" y="3313"/>
                  </a:lnTo>
                  <a:lnTo>
                    <a:pt x="1854" y="3346"/>
                  </a:lnTo>
                  <a:lnTo>
                    <a:pt x="1836" y="3375"/>
                  </a:lnTo>
                  <a:lnTo>
                    <a:pt x="1816" y="3398"/>
                  </a:lnTo>
                  <a:lnTo>
                    <a:pt x="1793" y="3418"/>
                  </a:lnTo>
                  <a:lnTo>
                    <a:pt x="1768" y="3434"/>
                  </a:lnTo>
                  <a:lnTo>
                    <a:pt x="1740" y="3444"/>
                  </a:lnTo>
                  <a:lnTo>
                    <a:pt x="1711" y="3450"/>
                  </a:lnTo>
                  <a:lnTo>
                    <a:pt x="1681" y="3450"/>
                  </a:lnTo>
                  <a:lnTo>
                    <a:pt x="1648" y="3445"/>
                  </a:lnTo>
                  <a:lnTo>
                    <a:pt x="1614" y="3436"/>
                  </a:lnTo>
                  <a:lnTo>
                    <a:pt x="1579" y="3421"/>
                  </a:lnTo>
                  <a:lnTo>
                    <a:pt x="1542" y="3400"/>
                  </a:lnTo>
                  <a:lnTo>
                    <a:pt x="357" y="2643"/>
                  </a:lnTo>
                  <a:lnTo>
                    <a:pt x="320" y="2618"/>
                  </a:lnTo>
                  <a:lnTo>
                    <a:pt x="285" y="2588"/>
                  </a:lnTo>
                  <a:lnTo>
                    <a:pt x="251" y="2554"/>
                  </a:lnTo>
                  <a:lnTo>
                    <a:pt x="218" y="2517"/>
                  </a:lnTo>
                  <a:lnTo>
                    <a:pt x="187" y="2477"/>
                  </a:lnTo>
                  <a:lnTo>
                    <a:pt x="157" y="2433"/>
                  </a:lnTo>
                  <a:lnTo>
                    <a:pt x="130" y="2388"/>
                  </a:lnTo>
                  <a:lnTo>
                    <a:pt x="105" y="2341"/>
                  </a:lnTo>
                  <a:lnTo>
                    <a:pt x="81" y="2292"/>
                  </a:lnTo>
                  <a:lnTo>
                    <a:pt x="61" y="2241"/>
                  </a:lnTo>
                  <a:lnTo>
                    <a:pt x="44" y="2190"/>
                  </a:lnTo>
                  <a:lnTo>
                    <a:pt x="29" y="2138"/>
                  </a:lnTo>
                  <a:lnTo>
                    <a:pt x="17" y="2085"/>
                  </a:lnTo>
                  <a:lnTo>
                    <a:pt x="7" y="2033"/>
                  </a:lnTo>
                  <a:lnTo>
                    <a:pt x="3" y="1981"/>
                  </a:lnTo>
                  <a:lnTo>
                    <a:pt x="0" y="1931"/>
                  </a:lnTo>
                  <a:lnTo>
                    <a:pt x="0" y="308"/>
                  </a:lnTo>
                  <a:lnTo>
                    <a:pt x="3" y="260"/>
                  </a:lnTo>
                  <a:lnTo>
                    <a:pt x="7" y="215"/>
                  </a:lnTo>
                  <a:lnTo>
                    <a:pt x="17" y="174"/>
                  </a:lnTo>
                  <a:lnTo>
                    <a:pt x="29" y="137"/>
                  </a:lnTo>
                  <a:lnTo>
                    <a:pt x="44" y="104"/>
                  </a:lnTo>
                  <a:lnTo>
                    <a:pt x="61" y="76"/>
                  </a:lnTo>
                  <a:lnTo>
                    <a:pt x="81" y="51"/>
                  </a:lnTo>
                  <a:lnTo>
                    <a:pt x="105" y="31"/>
                  </a:lnTo>
                  <a:lnTo>
                    <a:pt x="130" y="16"/>
                  </a:lnTo>
                  <a:lnTo>
                    <a:pt x="157" y="5"/>
                  </a:lnTo>
                  <a:lnTo>
                    <a:pt x="187" y="0"/>
                  </a:lnTo>
                  <a:lnTo>
                    <a:pt x="218" y="0"/>
                  </a:lnTo>
                  <a:lnTo>
                    <a:pt x="251" y="3"/>
                  </a:lnTo>
                  <a:lnTo>
                    <a:pt x="285" y="14"/>
                  </a:lnTo>
                  <a:lnTo>
                    <a:pt x="320" y="29"/>
                  </a:lnTo>
                  <a:lnTo>
                    <a:pt x="357" y="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8" name="Freeform 49"/>
            <p:cNvSpPr>
              <a:spLocks/>
            </p:cNvSpPr>
            <p:nvPr/>
          </p:nvSpPr>
          <p:spPr bwMode="auto">
            <a:xfrm>
              <a:off x="1268" y="1663"/>
              <a:ext cx="393" cy="711"/>
            </a:xfrm>
            <a:custGeom>
              <a:avLst/>
              <a:gdLst>
                <a:gd name="T0" fmla="*/ 3 w 1962"/>
                <a:gd name="T1" fmla="*/ 7 h 3555"/>
                <a:gd name="T2" fmla="*/ 2 w 1962"/>
                <a:gd name="T3" fmla="*/ 7 h 3555"/>
                <a:gd name="T4" fmla="*/ 2 w 1962"/>
                <a:gd name="T5" fmla="*/ 8 h 3555"/>
                <a:gd name="T6" fmla="*/ 1 w 1962"/>
                <a:gd name="T7" fmla="*/ 8 h 3555"/>
                <a:gd name="T8" fmla="*/ 1 w 1962"/>
                <a:gd name="T9" fmla="*/ 9 h 3555"/>
                <a:gd name="T10" fmla="*/ 1 w 1962"/>
                <a:gd name="T11" fmla="*/ 10 h 3555"/>
                <a:gd name="T12" fmla="*/ 0 w 1962"/>
                <a:gd name="T13" fmla="*/ 11 h 3555"/>
                <a:gd name="T14" fmla="*/ 0 w 1962"/>
                <a:gd name="T15" fmla="*/ 12 h 3555"/>
                <a:gd name="T16" fmla="*/ 0 w 1962"/>
                <a:gd name="T17" fmla="*/ 13 h 3555"/>
                <a:gd name="T18" fmla="*/ 0 w 1962"/>
                <a:gd name="T19" fmla="*/ 26 h 3555"/>
                <a:gd name="T20" fmla="*/ 0 w 1962"/>
                <a:gd name="T21" fmla="*/ 27 h 3555"/>
                <a:gd name="T22" fmla="*/ 0 w 1962"/>
                <a:gd name="T23" fmla="*/ 28 h 3555"/>
                <a:gd name="T24" fmla="*/ 1 w 1962"/>
                <a:gd name="T25" fmla="*/ 28 h 3555"/>
                <a:gd name="T26" fmla="*/ 1 w 1962"/>
                <a:gd name="T27" fmla="*/ 28 h 3555"/>
                <a:gd name="T28" fmla="*/ 2 w 1962"/>
                <a:gd name="T29" fmla="*/ 28 h 3555"/>
                <a:gd name="T30" fmla="*/ 2 w 1962"/>
                <a:gd name="T31" fmla="*/ 28 h 3555"/>
                <a:gd name="T32" fmla="*/ 3 w 1962"/>
                <a:gd name="T33" fmla="*/ 28 h 3555"/>
                <a:gd name="T34" fmla="*/ 13 w 1962"/>
                <a:gd name="T35" fmla="*/ 22 h 3555"/>
                <a:gd name="T36" fmla="*/ 13 w 1962"/>
                <a:gd name="T37" fmla="*/ 21 h 3555"/>
                <a:gd name="T38" fmla="*/ 14 w 1962"/>
                <a:gd name="T39" fmla="*/ 21 h 3555"/>
                <a:gd name="T40" fmla="*/ 14 w 1962"/>
                <a:gd name="T41" fmla="*/ 20 h 3555"/>
                <a:gd name="T42" fmla="*/ 15 w 1962"/>
                <a:gd name="T43" fmla="*/ 19 h 3555"/>
                <a:gd name="T44" fmla="*/ 15 w 1962"/>
                <a:gd name="T45" fmla="*/ 18 h 3555"/>
                <a:gd name="T46" fmla="*/ 16 w 1962"/>
                <a:gd name="T47" fmla="*/ 18 h 3555"/>
                <a:gd name="T48" fmla="*/ 16 w 1962"/>
                <a:gd name="T49" fmla="*/ 17 h 3555"/>
                <a:gd name="T50" fmla="*/ 16 w 1962"/>
                <a:gd name="T51" fmla="*/ 16 h 3555"/>
                <a:gd name="T52" fmla="*/ 16 w 1962"/>
                <a:gd name="T53" fmla="*/ 2 h 3555"/>
                <a:gd name="T54" fmla="*/ 16 w 1962"/>
                <a:gd name="T55" fmla="*/ 1 h 3555"/>
                <a:gd name="T56" fmla="*/ 15 w 1962"/>
                <a:gd name="T57" fmla="*/ 1 h 3555"/>
                <a:gd name="T58" fmla="*/ 15 w 1962"/>
                <a:gd name="T59" fmla="*/ 0 h 3555"/>
                <a:gd name="T60" fmla="*/ 15 w 1962"/>
                <a:gd name="T61" fmla="*/ 0 h 3555"/>
                <a:gd name="T62" fmla="*/ 14 w 1962"/>
                <a:gd name="T63" fmla="*/ 0 h 3555"/>
                <a:gd name="T64" fmla="*/ 14 w 1962"/>
                <a:gd name="T65" fmla="*/ 0 h 3555"/>
                <a:gd name="T66" fmla="*/ 13 w 1962"/>
                <a:gd name="T67" fmla="*/ 0 h 35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2"/>
                <a:gd name="T103" fmla="*/ 0 h 3555"/>
                <a:gd name="T104" fmla="*/ 1962 w 1962"/>
                <a:gd name="T105" fmla="*/ 3555 h 35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2" h="3555">
                  <a:moveTo>
                    <a:pt x="1594" y="50"/>
                  </a:moveTo>
                  <a:lnTo>
                    <a:pt x="368" y="831"/>
                  </a:lnTo>
                  <a:lnTo>
                    <a:pt x="330" y="858"/>
                  </a:lnTo>
                  <a:lnTo>
                    <a:pt x="294" y="888"/>
                  </a:lnTo>
                  <a:lnTo>
                    <a:pt x="259" y="922"/>
                  </a:lnTo>
                  <a:lnTo>
                    <a:pt x="225" y="961"/>
                  </a:lnTo>
                  <a:lnTo>
                    <a:pt x="193" y="1003"/>
                  </a:lnTo>
                  <a:lnTo>
                    <a:pt x="163" y="1047"/>
                  </a:lnTo>
                  <a:lnTo>
                    <a:pt x="133" y="1094"/>
                  </a:lnTo>
                  <a:lnTo>
                    <a:pt x="108" y="1143"/>
                  </a:lnTo>
                  <a:lnTo>
                    <a:pt x="84" y="1193"/>
                  </a:lnTo>
                  <a:lnTo>
                    <a:pt x="63" y="1246"/>
                  </a:lnTo>
                  <a:lnTo>
                    <a:pt x="44" y="1299"/>
                  </a:lnTo>
                  <a:lnTo>
                    <a:pt x="29" y="1353"/>
                  </a:lnTo>
                  <a:lnTo>
                    <a:pt x="16" y="1405"/>
                  </a:lnTo>
                  <a:lnTo>
                    <a:pt x="7" y="1459"/>
                  </a:lnTo>
                  <a:lnTo>
                    <a:pt x="2" y="1512"/>
                  </a:lnTo>
                  <a:lnTo>
                    <a:pt x="0" y="1565"/>
                  </a:lnTo>
                  <a:lnTo>
                    <a:pt x="0" y="3237"/>
                  </a:lnTo>
                  <a:lnTo>
                    <a:pt x="2" y="3287"/>
                  </a:lnTo>
                  <a:lnTo>
                    <a:pt x="7" y="3333"/>
                  </a:lnTo>
                  <a:lnTo>
                    <a:pt x="16" y="3375"/>
                  </a:lnTo>
                  <a:lnTo>
                    <a:pt x="29" y="3413"/>
                  </a:lnTo>
                  <a:lnTo>
                    <a:pt x="44" y="3447"/>
                  </a:lnTo>
                  <a:lnTo>
                    <a:pt x="63" y="3477"/>
                  </a:lnTo>
                  <a:lnTo>
                    <a:pt x="84" y="3502"/>
                  </a:lnTo>
                  <a:lnTo>
                    <a:pt x="108" y="3522"/>
                  </a:lnTo>
                  <a:lnTo>
                    <a:pt x="133" y="3538"/>
                  </a:lnTo>
                  <a:lnTo>
                    <a:pt x="163" y="3549"/>
                  </a:lnTo>
                  <a:lnTo>
                    <a:pt x="193" y="3555"/>
                  </a:lnTo>
                  <a:lnTo>
                    <a:pt x="225" y="3555"/>
                  </a:lnTo>
                  <a:lnTo>
                    <a:pt x="259" y="3550"/>
                  </a:lnTo>
                  <a:lnTo>
                    <a:pt x="294" y="3541"/>
                  </a:lnTo>
                  <a:lnTo>
                    <a:pt x="330" y="3524"/>
                  </a:lnTo>
                  <a:lnTo>
                    <a:pt x="368" y="3503"/>
                  </a:lnTo>
                  <a:lnTo>
                    <a:pt x="1594" y="2722"/>
                  </a:lnTo>
                  <a:lnTo>
                    <a:pt x="1632" y="2696"/>
                  </a:lnTo>
                  <a:lnTo>
                    <a:pt x="1668" y="2665"/>
                  </a:lnTo>
                  <a:lnTo>
                    <a:pt x="1703" y="2631"/>
                  </a:lnTo>
                  <a:lnTo>
                    <a:pt x="1737" y="2592"/>
                  </a:lnTo>
                  <a:lnTo>
                    <a:pt x="1769" y="2551"/>
                  </a:lnTo>
                  <a:lnTo>
                    <a:pt x="1799" y="2506"/>
                  </a:lnTo>
                  <a:lnTo>
                    <a:pt x="1829" y="2460"/>
                  </a:lnTo>
                  <a:lnTo>
                    <a:pt x="1854" y="2411"/>
                  </a:lnTo>
                  <a:lnTo>
                    <a:pt x="1878" y="2361"/>
                  </a:lnTo>
                  <a:lnTo>
                    <a:pt x="1899" y="2308"/>
                  </a:lnTo>
                  <a:lnTo>
                    <a:pt x="1918" y="2256"/>
                  </a:lnTo>
                  <a:lnTo>
                    <a:pt x="1933" y="2202"/>
                  </a:lnTo>
                  <a:lnTo>
                    <a:pt x="1946" y="2149"/>
                  </a:lnTo>
                  <a:lnTo>
                    <a:pt x="1955" y="2095"/>
                  </a:lnTo>
                  <a:lnTo>
                    <a:pt x="1960" y="2042"/>
                  </a:lnTo>
                  <a:lnTo>
                    <a:pt x="1962" y="1989"/>
                  </a:lnTo>
                  <a:lnTo>
                    <a:pt x="1962" y="319"/>
                  </a:lnTo>
                  <a:lnTo>
                    <a:pt x="1960" y="269"/>
                  </a:lnTo>
                  <a:lnTo>
                    <a:pt x="1955" y="223"/>
                  </a:lnTo>
                  <a:lnTo>
                    <a:pt x="1946" y="180"/>
                  </a:lnTo>
                  <a:lnTo>
                    <a:pt x="1933" y="143"/>
                  </a:lnTo>
                  <a:lnTo>
                    <a:pt x="1918" y="109"/>
                  </a:lnTo>
                  <a:lnTo>
                    <a:pt x="1899" y="79"/>
                  </a:lnTo>
                  <a:lnTo>
                    <a:pt x="1878" y="54"/>
                  </a:lnTo>
                  <a:lnTo>
                    <a:pt x="1854" y="33"/>
                  </a:lnTo>
                  <a:lnTo>
                    <a:pt x="1829" y="17"/>
                  </a:lnTo>
                  <a:lnTo>
                    <a:pt x="1799" y="7"/>
                  </a:lnTo>
                  <a:lnTo>
                    <a:pt x="1769" y="0"/>
                  </a:lnTo>
                  <a:lnTo>
                    <a:pt x="1737" y="0"/>
                  </a:lnTo>
                  <a:lnTo>
                    <a:pt x="1703" y="4"/>
                  </a:lnTo>
                  <a:lnTo>
                    <a:pt x="1668" y="14"/>
                  </a:lnTo>
                  <a:lnTo>
                    <a:pt x="1632" y="29"/>
                  </a:lnTo>
                  <a:lnTo>
                    <a:pt x="1594" y="5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49" name="Freeform 50"/>
            <p:cNvSpPr>
              <a:spLocks noEditPoints="1"/>
            </p:cNvSpPr>
            <p:nvPr/>
          </p:nvSpPr>
          <p:spPr bwMode="auto">
            <a:xfrm>
              <a:off x="916" y="1589"/>
              <a:ext cx="697" cy="698"/>
            </a:xfrm>
            <a:custGeom>
              <a:avLst/>
              <a:gdLst>
                <a:gd name="T0" fmla="*/ 16 w 3485"/>
                <a:gd name="T1" fmla="*/ 0 h 3490"/>
                <a:gd name="T2" fmla="*/ 17 w 3485"/>
                <a:gd name="T3" fmla="*/ 2 h 3490"/>
                <a:gd name="T4" fmla="*/ 17 w 3485"/>
                <a:gd name="T5" fmla="*/ 3 h 3490"/>
                <a:gd name="T6" fmla="*/ 14 w 3485"/>
                <a:gd name="T7" fmla="*/ 4 h 3490"/>
                <a:gd name="T8" fmla="*/ 12 w 3485"/>
                <a:gd name="T9" fmla="*/ 4 h 3490"/>
                <a:gd name="T10" fmla="*/ 11 w 3485"/>
                <a:gd name="T11" fmla="*/ 2 h 3490"/>
                <a:gd name="T12" fmla="*/ 11 w 3485"/>
                <a:gd name="T13" fmla="*/ 1 h 3490"/>
                <a:gd name="T14" fmla="*/ 14 w 3485"/>
                <a:gd name="T15" fmla="*/ 0 h 3490"/>
                <a:gd name="T16" fmla="*/ 3 w 3485"/>
                <a:gd name="T17" fmla="*/ 7 h 3490"/>
                <a:gd name="T18" fmla="*/ 4 w 3485"/>
                <a:gd name="T19" fmla="*/ 9 h 3490"/>
                <a:gd name="T20" fmla="*/ 3 w 3485"/>
                <a:gd name="T21" fmla="*/ 12 h 3490"/>
                <a:gd name="T22" fmla="*/ 2 w 3485"/>
                <a:gd name="T23" fmla="*/ 13 h 3490"/>
                <a:gd name="T24" fmla="*/ 1 w 3485"/>
                <a:gd name="T25" fmla="*/ 12 h 3490"/>
                <a:gd name="T26" fmla="*/ 0 w 3485"/>
                <a:gd name="T27" fmla="*/ 10 h 3490"/>
                <a:gd name="T28" fmla="*/ 0 w 3485"/>
                <a:gd name="T29" fmla="*/ 8 h 3490"/>
                <a:gd name="T30" fmla="*/ 2 w 3485"/>
                <a:gd name="T31" fmla="*/ 6 h 3490"/>
                <a:gd name="T32" fmla="*/ 10 w 3485"/>
                <a:gd name="T33" fmla="*/ 20 h 3490"/>
                <a:gd name="T34" fmla="*/ 11 w 3485"/>
                <a:gd name="T35" fmla="*/ 22 h 3490"/>
                <a:gd name="T36" fmla="*/ 11 w 3485"/>
                <a:gd name="T37" fmla="*/ 25 h 3490"/>
                <a:gd name="T38" fmla="*/ 10 w 3485"/>
                <a:gd name="T39" fmla="*/ 27 h 3490"/>
                <a:gd name="T40" fmla="*/ 8 w 3485"/>
                <a:gd name="T41" fmla="*/ 26 h 3490"/>
                <a:gd name="T42" fmla="*/ 7 w 3485"/>
                <a:gd name="T43" fmla="*/ 24 h 3490"/>
                <a:gd name="T44" fmla="*/ 7 w 3485"/>
                <a:gd name="T45" fmla="*/ 22 h 3490"/>
                <a:gd name="T46" fmla="*/ 8 w 3485"/>
                <a:gd name="T47" fmla="*/ 20 h 3490"/>
                <a:gd name="T48" fmla="*/ 20 w 3485"/>
                <a:gd name="T49" fmla="*/ 21 h 3490"/>
                <a:gd name="T50" fmla="*/ 21 w 3485"/>
                <a:gd name="T51" fmla="*/ 23 h 3490"/>
                <a:gd name="T52" fmla="*/ 21 w 3485"/>
                <a:gd name="T53" fmla="*/ 26 h 3490"/>
                <a:gd name="T54" fmla="*/ 20 w 3485"/>
                <a:gd name="T55" fmla="*/ 28 h 3490"/>
                <a:gd name="T56" fmla="*/ 18 w 3485"/>
                <a:gd name="T57" fmla="*/ 28 h 3490"/>
                <a:gd name="T58" fmla="*/ 17 w 3485"/>
                <a:gd name="T59" fmla="*/ 26 h 3490"/>
                <a:gd name="T60" fmla="*/ 17 w 3485"/>
                <a:gd name="T61" fmla="*/ 23 h 3490"/>
                <a:gd name="T62" fmla="*/ 18 w 3485"/>
                <a:gd name="T63" fmla="*/ 21 h 3490"/>
                <a:gd name="T64" fmla="*/ 19 w 3485"/>
                <a:gd name="T65" fmla="*/ 11 h 3490"/>
                <a:gd name="T66" fmla="*/ 20 w 3485"/>
                <a:gd name="T67" fmla="*/ 13 h 3490"/>
                <a:gd name="T68" fmla="*/ 21 w 3485"/>
                <a:gd name="T69" fmla="*/ 15 h 3490"/>
                <a:gd name="T70" fmla="*/ 20 w 3485"/>
                <a:gd name="T71" fmla="*/ 17 h 3490"/>
                <a:gd name="T72" fmla="*/ 18 w 3485"/>
                <a:gd name="T73" fmla="*/ 17 h 3490"/>
                <a:gd name="T74" fmla="*/ 17 w 3485"/>
                <a:gd name="T75" fmla="*/ 16 h 3490"/>
                <a:gd name="T76" fmla="*/ 17 w 3485"/>
                <a:gd name="T77" fmla="*/ 13 h 3490"/>
                <a:gd name="T78" fmla="*/ 18 w 3485"/>
                <a:gd name="T79" fmla="*/ 11 h 3490"/>
                <a:gd name="T80" fmla="*/ 26 w 3485"/>
                <a:gd name="T81" fmla="*/ 7 h 3490"/>
                <a:gd name="T82" fmla="*/ 27 w 3485"/>
                <a:gd name="T83" fmla="*/ 8 h 3490"/>
                <a:gd name="T84" fmla="*/ 27 w 3485"/>
                <a:gd name="T85" fmla="*/ 11 h 3490"/>
                <a:gd name="T86" fmla="*/ 26 w 3485"/>
                <a:gd name="T87" fmla="*/ 13 h 3490"/>
                <a:gd name="T88" fmla="*/ 25 w 3485"/>
                <a:gd name="T89" fmla="*/ 13 h 3490"/>
                <a:gd name="T90" fmla="*/ 24 w 3485"/>
                <a:gd name="T91" fmla="*/ 12 h 3490"/>
                <a:gd name="T92" fmla="*/ 24 w 3485"/>
                <a:gd name="T93" fmla="*/ 9 h 3490"/>
                <a:gd name="T94" fmla="*/ 24 w 3485"/>
                <a:gd name="T95" fmla="*/ 7 h 3490"/>
                <a:gd name="T96" fmla="*/ 26 w 3485"/>
                <a:gd name="T97" fmla="*/ 17 h 3490"/>
                <a:gd name="T98" fmla="*/ 27 w 3485"/>
                <a:gd name="T99" fmla="*/ 18 h 3490"/>
                <a:gd name="T100" fmla="*/ 28 w 3485"/>
                <a:gd name="T101" fmla="*/ 21 h 3490"/>
                <a:gd name="T102" fmla="*/ 27 w 3485"/>
                <a:gd name="T103" fmla="*/ 23 h 3490"/>
                <a:gd name="T104" fmla="*/ 26 w 3485"/>
                <a:gd name="T105" fmla="*/ 24 h 3490"/>
                <a:gd name="T106" fmla="*/ 24 w 3485"/>
                <a:gd name="T107" fmla="*/ 23 h 3490"/>
                <a:gd name="T108" fmla="*/ 24 w 3485"/>
                <a:gd name="T109" fmla="*/ 20 h 3490"/>
                <a:gd name="T110" fmla="*/ 25 w 3485"/>
                <a:gd name="T111" fmla="*/ 18 h 34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85"/>
                <a:gd name="T169" fmla="*/ 0 h 3490"/>
                <a:gd name="T170" fmla="*/ 3485 w 3485"/>
                <a:gd name="T171" fmla="*/ 3490 h 349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85" h="3490">
                  <a:moveTo>
                    <a:pt x="1754" y="0"/>
                  </a:moveTo>
                  <a:lnTo>
                    <a:pt x="1797" y="2"/>
                  </a:lnTo>
                  <a:lnTo>
                    <a:pt x="1840" y="5"/>
                  </a:lnTo>
                  <a:lnTo>
                    <a:pt x="1881" y="12"/>
                  </a:lnTo>
                  <a:lnTo>
                    <a:pt x="1921" y="20"/>
                  </a:lnTo>
                  <a:lnTo>
                    <a:pt x="1959" y="31"/>
                  </a:lnTo>
                  <a:lnTo>
                    <a:pt x="1994" y="44"/>
                  </a:lnTo>
                  <a:lnTo>
                    <a:pt x="2028" y="59"/>
                  </a:lnTo>
                  <a:lnTo>
                    <a:pt x="2058" y="74"/>
                  </a:lnTo>
                  <a:lnTo>
                    <a:pt x="2086" y="93"/>
                  </a:lnTo>
                  <a:lnTo>
                    <a:pt x="2111" y="113"/>
                  </a:lnTo>
                  <a:lnTo>
                    <a:pt x="2132" y="133"/>
                  </a:lnTo>
                  <a:lnTo>
                    <a:pt x="2151" y="155"/>
                  </a:lnTo>
                  <a:lnTo>
                    <a:pt x="2165" y="179"/>
                  </a:lnTo>
                  <a:lnTo>
                    <a:pt x="2175" y="203"/>
                  </a:lnTo>
                  <a:lnTo>
                    <a:pt x="2182" y="229"/>
                  </a:lnTo>
                  <a:lnTo>
                    <a:pt x="2185" y="255"/>
                  </a:lnTo>
                  <a:lnTo>
                    <a:pt x="2182" y="281"/>
                  </a:lnTo>
                  <a:lnTo>
                    <a:pt x="2175" y="305"/>
                  </a:lnTo>
                  <a:lnTo>
                    <a:pt x="2165" y="330"/>
                  </a:lnTo>
                  <a:lnTo>
                    <a:pt x="2151" y="353"/>
                  </a:lnTo>
                  <a:lnTo>
                    <a:pt x="2132" y="376"/>
                  </a:lnTo>
                  <a:lnTo>
                    <a:pt x="2111" y="397"/>
                  </a:lnTo>
                  <a:lnTo>
                    <a:pt x="2086" y="417"/>
                  </a:lnTo>
                  <a:lnTo>
                    <a:pt x="2058" y="434"/>
                  </a:lnTo>
                  <a:lnTo>
                    <a:pt x="2028" y="451"/>
                  </a:lnTo>
                  <a:lnTo>
                    <a:pt x="1994" y="466"/>
                  </a:lnTo>
                  <a:lnTo>
                    <a:pt x="1959" y="479"/>
                  </a:lnTo>
                  <a:lnTo>
                    <a:pt x="1921" y="489"/>
                  </a:lnTo>
                  <a:lnTo>
                    <a:pt x="1881" y="498"/>
                  </a:lnTo>
                  <a:lnTo>
                    <a:pt x="1840" y="505"/>
                  </a:lnTo>
                  <a:lnTo>
                    <a:pt x="1797" y="508"/>
                  </a:lnTo>
                  <a:lnTo>
                    <a:pt x="1754" y="509"/>
                  </a:lnTo>
                  <a:lnTo>
                    <a:pt x="1710" y="508"/>
                  </a:lnTo>
                  <a:lnTo>
                    <a:pt x="1667" y="505"/>
                  </a:lnTo>
                  <a:lnTo>
                    <a:pt x="1626" y="498"/>
                  </a:lnTo>
                  <a:lnTo>
                    <a:pt x="1586" y="489"/>
                  </a:lnTo>
                  <a:lnTo>
                    <a:pt x="1548" y="479"/>
                  </a:lnTo>
                  <a:lnTo>
                    <a:pt x="1512" y="466"/>
                  </a:lnTo>
                  <a:lnTo>
                    <a:pt x="1479" y="451"/>
                  </a:lnTo>
                  <a:lnTo>
                    <a:pt x="1449" y="434"/>
                  </a:lnTo>
                  <a:lnTo>
                    <a:pt x="1421" y="417"/>
                  </a:lnTo>
                  <a:lnTo>
                    <a:pt x="1395" y="397"/>
                  </a:lnTo>
                  <a:lnTo>
                    <a:pt x="1374" y="376"/>
                  </a:lnTo>
                  <a:lnTo>
                    <a:pt x="1355" y="353"/>
                  </a:lnTo>
                  <a:lnTo>
                    <a:pt x="1341" y="330"/>
                  </a:lnTo>
                  <a:lnTo>
                    <a:pt x="1331" y="305"/>
                  </a:lnTo>
                  <a:lnTo>
                    <a:pt x="1324" y="281"/>
                  </a:lnTo>
                  <a:lnTo>
                    <a:pt x="1321" y="255"/>
                  </a:lnTo>
                  <a:lnTo>
                    <a:pt x="1324" y="229"/>
                  </a:lnTo>
                  <a:lnTo>
                    <a:pt x="1331" y="203"/>
                  </a:lnTo>
                  <a:lnTo>
                    <a:pt x="1341" y="179"/>
                  </a:lnTo>
                  <a:lnTo>
                    <a:pt x="1355" y="155"/>
                  </a:lnTo>
                  <a:lnTo>
                    <a:pt x="1374" y="133"/>
                  </a:lnTo>
                  <a:lnTo>
                    <a:pt x="1395" y="113"/>
                  </a:lnTo>
                  <a:lnTo>
                    <a:pt x="1421" y="93"/>
                  </a:lnTo>
                  <a:lnTo>
                    <a:pt x="1449" y="74"/>
                  </a:lnTo>
                  <a:lnTo>
                    <a:pt x="1479" y="59"/>
                  </a:lnTo>
                  <a:lnTo>
                    <a:pt x="1512" y="44"/>
                  </a:lnTo>
                  <a:lnTo>
                    <a:pt x="1548" y="31"/>
                  </a:lnTo>
                  <a:lnTo>
                    <a:pt x="1586" y="20"/>
                  </a:lnTo>
                  <a:lnTo>
                    <a:pt x="1626" y="12"/>
                  </a:lnTo>
                  <a:lnTo>
                    <a:pt x="1667" y="5"/>
                  </a:lnTo>
                  <a:lnTo>
                    <a:pt x="1710" y="2"/>
                  </a:lnTo>
                  <a:lnTo>
                    <a:pt x="1754" y="0"/>
                  </a:lnTo>
                  <a:close/>
                  <a:moveTo>
                    <a:pt x="239" y="786"/>
                  </a:moveTo>
                  <a:lnTo>
                    <a:pt x="263" y="788"/>
                  </a:lnTo>
                  <a:lnTo>
                    <a:pt x="287" y="794"/>
                  </a:lnTo>
                  <a:lnTo>
                    <a:pt x="309" y="805"/>
                  </a:lnTo>
                  <a:lnTo>
                    <a:pt x="331" y="819"/>
                  </a:lnTo>
                  <a:lnTo>
                    <a:pt x="352" y="836"/>
                  </a:lnTo>
                  <a:lnTo>
                    <a:pt x="372" y="857"/>
                  </a:lnTo>
                  <a:lnTo>
                    <a:pt x="390" y="882"/>
                  </a:lnTo>
                  <a:lnTo>
                    <a:pt x="407" y="909"/>
                  </a:lnTo>
                  <a:lnTo>
                    <a:pt x="423" y="940"/>
                  </a:lnTo>
                  <a:lnTo>
                    <a:pt x="437" y="971"/>
                  </a:lnTo>
                  <a:lnTo>
                    <a:pt x="448" y="1006"/>
                  </a:lnTo>
                  <a:lnTo>
                    <a:pt x="459" y="1043"/>
                  </a:lnTo>
                  <a:lnTo>
                    <a:pt x="467" y="1081"/>
                  </a:lnTo>
                  <a:lnTo>
                    <a:pt x="473" y="1121"/>
                  </a:lnTo>
                  <a:lnTo>
                    <a:pt x="476" y="1163"/>
                  </a:lnTo>
                  <a:lnTo>
                    <a:pt x="478" y="1206"/>
                  </a:lnTo>
                  <a:lnTo>
                    <a:pt x="476" y="1248"/>
                  </a:lnTo>
                  <a:lnTo>
                    <a:pt x="473" y="1290"/>
                  </a:lnTo>
                  <a:lnTo>
                    <a:pt x="467" y="1330"/>
                  </a:lnTo>
                  <a:lnTo>
                    <a:pt x="459" y="1367"/>
                  </a:lnTo>
                  <a:lnTo>
                    <a:pt x="448" y="1405"/>
                  </a:lnTo>
                  <a:lnTo>
                    <a:pt x="437" y="1439"/>
                  </a:lnTo>
                  <a:lnTo>
                    <a:pt x="423" y="1472"/>
                  </a:lnTo>
                  <a:lnTo>
                    <a:pt x="407" y="1501"/>
                  </a:lnTo>
                  <a:lnTo>
                    <a:pt x="390" y="1528"/>
                  </a:lnTo>
                  <a:lnTo>
                    <a:pt x="372" y="1553"/>
                  </a:lnTo>
                  <a:lnTo>
                    <a:pt x="352" y="1574"/>
                  </a:lnTo>
                  <a:lnTo>
                    <a:pt x="331" y="1591"/>
                  </a:lnTo>
                  <a:lnTo>
                    <a:pt x="309" y="1605"/>
                  </a:lnTo>
                  <a:lnTo>
                    <a:pt x="287" y="1616"/>
                  </a:lnTo>
                  <a:lnTo>
                    <a:pt x="263" y="1622"/>
                  </a:lnTo>
                  <a:lnTo>
                    <a:pt x="239" y="1624"/>
                  </a:lnTo>
                  <a:lnTo>
                    <a:pt x="214" y="1622"/>
                  </a:lnTo>
                  <a:lnTo>
                    <a:pt x="191" y="1616"/>
                  </a:lnTo>
                  <a:lnTo>
                    <a:pt x="168" y="1605"/>
                  </a:lnTo>
                  <a:lnTo>
                    <a:pt x="146" y="1591"/>
                  </a:lnTo>
                  <a:lnTo>
                    <a:pt x="125" y="1574"/>
                  </a:lnTo>
                  <a:lnTo>
                    <a:pt x="105" y="1553"/>
                  </a:lnTo>
                  <a:lnTo>
                    <a:pt x="87" y="1528"/>
                  </a:lnTo>
                  <a:lnTo>
                    <a:pt x="70" y="1501"/>
                  </a:lnTo>
                  <a:lnTo>
                    <a:pt x="55" y="1472"/>
                  </a:lnTo>
                  <a:lnTo>
                    <a:pt x="41" y="1439"/>
                  </a:lnTo>
                  <a:lnTo>
                    <a:pt x="29" y="1405"/>
                  </a:lnTo>
                  <a:lnTo>
                    <a:pt x="18" y="1367"/>
                  </a:lnTo>
                  <a:lnTo>
                    <a:pt x="10" y="1330"/>
                  </a:lnTo>
                  <a:lnTo>
                    <a:pt x="4" y="1290"/>
                  </a:lnTo>
                  <a:lnTo>
                    <a:pt x="1" y="1248"/>
                  </a:lnTo>
                  <a:lnTo>
                    <a:pt x="0" y="1206"/>
                  </a:lnTo>
                  <a:lnTo>
                    <a:pt x="1" y="1163"/>
                  </a:lnTo>
                  <a:lnTo>
                    <a:pt x="4" y="1121"/>
                  </a:lnTo>
                  <a:lnTo>
                    <a:pt x="10" y="1081"/>
                  </a:lnTo>
                  <a:lnTo>
                    <a:pt x="18" y="1043"/>
                  </a:lnTo>
                  <a:lnTo>
                    <a:pt x="29" y="1006"/>
                  </a:lnTo>
                  <a:lnTo>
                    <a:pt x="41" y="971"/>
                  </a:lnTo>
                  <a:lnTo>
                    <a:pt x="55" y="940"/>
                  </a:lnTo>
                  <a:lnTo>
                    <a:pt x="70" y="909"/>
                  </a:lnTo>
                  <a:lnTo>
                    <a:pt x="87" y="882"/>
                  </a:lnTo>
                  <a:lnTo>
                    <a:pt x="105" y="857"/>
                  </a:lnTo>
                  <a:lnTo>
                    <a:pt x="125" y="836"/>
                  </a:lnTo>
                  <a:lnTo>
                    <a:pt x="146" y="819"/>
                  </a:lnTo>
                  <a:lnTo>
                    <a:pt x="168" y="805"/>
                  </a:lnTo>
                  <a:lnTo>
                    <a:pt x="191" y="794"/>
                  </a:lnTo>
                  <a:lnTo>
                    <a:pt x="214" y="788"/>
                  </a:lnTo>
                  <a:lnTo>
                    <a:pt x="239" y="786"/>
                  </a:lnTo>
                  <a:close/>
                  <a:moveTo>
                    <a:pt x="1119" y="2495"/>
                  </a:moveTo>
                  <a:lnTo>
                    <a:pt x="1143" y="2498"/>
                  </a:lnTo>
                  <a:lnTo>
                    <a:pt x="1167" y="2504"/>
                  </a:lnTo>
                  <a:lnTo>
                    <a:pt x="1190" y="2514"/>
                  </a:lnTo>
                  <a:lnTo>
                    <a:pt x="1211" y="2528"/>
                  </a:lnTo>
                  <a:lnTo>
                    <a:pt x="1232" y="2546"/>
                  </a:lnTo>
                  <a:lnTo>
                    <a:pt x="1252" y="2567"/>
                  </a:lnTo>
                  <a:lnTo>
                    <a:pt x="1271" y="2592"/>
                  </a:lnTo>
                  <a:lnTo>
                    <a:pt x="1288" y="2618"/>
                  </a:lnTo>
                  <a:lnTo>
                    <a:pt x="1304" y="2648"/>
                  </a:lnTo>
                  <a:lnTo>
                    <a:pt x="1318" y="2681"/>
                  </a:lnTo>
                  <a:lnTo>
                    <a:pt x="1329" y="2715"/>
                  </a:lnTo>
                  <a:lnTo>
                    <a:pt x="1340" y="2752"/>
                  </a:lnTo>
                  <a:lnTo>
                    <a:pt x="1348" y="2790"/>
                  </a:lnTo>
                  <a:lnTo>
                    <a:pt x="1354" y="2830"/>
                  </a:lnTo>
                  <a:lnTo>
                    <a:pt x="1358" y="2872"/>
                  </a:lnTo>
                  <a:lnTo>
                    <a:pt x="1359" y="2914"/>
                  </a:lnTo>
                  <a:lnTo>
                    <a:pt x="1358" y="2956"/>
                  </a:lnTo>
                  <a:lnTo>
                    <a:pt x="1354" y="2998"/>
                  </a:lnTo>
                  <a:lnTo>
                    <a:pt x="1348" y="3038"/>
                  </a:lnTo>
                  <a:lnTo>
                    <a:pt x="1340" y="3077"/>
                  </a:lnTo>
                  <a:lnTo>
                    <a:pt x="1329" y="3113"/>
                  </a:lnTo>
                  <a:lnTo>
                    <a:pt x="1318" y="3147"/>
                  </a:lnTo>
                  <a:lnTo>
                    <a:pt x="1304" y="3180"/>
                  </a:lnTo>
                  <a:lnTo>
                    <a:pt x="1288" y="3209"/>
                  </a:lnTo>
                  <a:lnTo>
                    <a:pt x="1271" y="3238"/>
                  </a:lnTo>
                  <a:lnTo>
                    <a:pt x="1252" y="3261"/>
                  </a:lnTo>
                  <a:lnTo>
                    <a:pt x="1232" y="3282"/>
                  </a:lnTo>
                  <a:lnTo>
                    <a:pt x="1211" y="3301"/>
                  </a:lnTo>
                  <a:lnTo>
                    <a:pt x="1190" y="3315"/>
                  </a:lnTo>
                  <a:lnTo>
                    <a:pt x="1167" y="3325"/>
                  </a:lnTo>
                  <a:lnTo>
                    <a:pt x="1143" y="3331"/>
                  </a:lnTo>
                  <a:lnTo>
                    <a:pt x="1119" y="3334"/>
                  </a:lnTo>
                  <a:lnTo>
                    <a:pt x="1094" y="3331"/>
                  </a:lnTo>
                  <a:lnTo>
                    <a:pt x="1070" y="3325"/>
                  </a:lnTo>
                  <a:lnTo>
                    <a:pt x="1048" y="3315"/>
                  </a:lnTo>
                  <a:lnTo>
                    <a:pt x="1026" y="3301"/>
                  </a:lnTo>
                  <a:lnTo>
                    <a:pt x="1005" y="3282"/>
                  </a:lnTo>
                  <a:lnTo>
                    <a:pt x="985" y="3261"/>
                  </a:lnTo>
                  <a:lnTo>
                    <a:pt x="967" y="3238"/>
                  </a:lnTo>
                  <a:lnTo>
                    <a:pt x="950" y="3209"/>
                  </a:lnTo>
                  <a:lnTo>
                    <a:pt x="935" y="3180"/>
                  </a:lnTo>
                  <a:lnTo>
                    <a:pt x="921" y="3147"/>
                  </a:lnTo>
                  <a:lnTo>
                    <a:pt x="909" y="3113"/>
                  </a:lnTo>
                  <a:lnTo>
                    <a:pt x="898" y="3077"/>
                  </a:lnTo>
                  <a:lnTo>
                    <a:pt x="890" y="3038"/>
                  </a:lnTo>
                  <a:lnTo>
                    <a:pt x="884" y="2998"/>
                  </a:lnTo>
                  <a:lnTo>
                    <a:pt x="881" y="2956"/>
                  </a:lnTo>
                  <a:lnTo>
                    <a:pt x="880" y="2914"/>
                  </a:lnTo>
                  <a:lnTo>
                    <a:pt x="881" y="2872"/>
                  </a:lnTo>
                  <a:lnTo>
                    <a:pt x="884" y="2830"/>
                  </a:lnTo>
                  <a:lnTo>
                    <a:pt x="890" y="2790"/>
                  </a:lnTo>
                  <a:lnTo>
                    <a:pt x="898" y="2752"/>
                  </a:lnTo>
                  <a:lnTo>
                    <a:pt x="909" y="2715"/>
                  </a:lnTo>
                  <a:lnTo>
                    <a:pt x="921" y="2681"/>
                  </a:lnTo>
                  <a:lnTo>
                    <a:pt x="935" y="2648"/>
                  </a:lnTo>
                  <a:lnTo>
                    <a:pt x="950" y="2618"/>
                  </a:lnTo>
                  <a:lnTo>
                    <a:pt x="967" y="2592"/>
                  </a:lnTo>
                  <a:lnTo>
                    <a:pt x="985" y="2567"/>
                  </a:lnTo>
                  <a:lnTo>
                    <a:pt x="1005" y="2546"/>
                  </a:lnTo>
                  <a:lnTo>
                    <a:pt x="1026" y="2528"/>
                  </a:lnTo>
                  <a:lnTo>
                    <a:pt x="1048" y="2514"/>
                  </a:lnTo>
                  <a:lnTo>
                    <a:pt x="1070" y="2504"/>
                  </a:lnTo>
                  <a:lnTo>
                    <a:pt x="1094" y="2498"/>
                  </a:lnTo>
                  <a:lnTo>
                    <a:pt x="1119" y="2495"/>
                  </a:lnTo>
                  <a:close/>
                  <a:moveTo>
                    <a:pt x="2380" y="2651"/>
                  </a:moveTo>
                  <a:lnTo>
                    <a:pt x="2405" y="2654"/>
                  </a:lnTo>
                  <a:lnTo>
                    <a:pt x="2428" y="2660"/>
                  </a:lnTo>
                  <a:lnTo>
                    <a:pt x="2452" y="2670"/>
                  </a:lnTo>
                  <a:lnTo>
                    <a:pt x="2473" y="2684"/>
                  </a:lnTo>
                  <a:lnTo>
                    <a:pt x="2494" y="2703"/>
                  </a:lnTo>
                  <a:lnTo>
                    <a:pt x="2514" y="2724"/>
                  </a:lnTo>
                  <a:lnTo>
                    <a:pt x="2533" y="2747"/>
                  </a:lnTo>
                  <a:lnTo>
                    <a:pt x="2550" y="2774"/>
                  </a:lnTo>
                  <a:lnTo>
                    <a:pt x="2565" y="2805"/>
                  </a:lnTo>
                  <a:lnTo>
                    <a:pt x="2580" y="2838"/>
                  </a:lnTo>
                  <a:lnTo>
                    <a:pt x="2591" y="2872"/>
                  </a:lnTo>
                  <a:lnTo>
                    <a:pt x="2602" y="2908"/>
                  </a:lnTo>
                  <a:lnTo>
                    <a:pt x="2610" y="2947"/>
                  </a:lnTo>
                  <a:lnTo>
                    <a:pt x="2616" y="2987"/>
                  </a:lnTo>
                  <a:lnTo>
                    <a:pt x="2619" y="3029"/>
                  </a:lnTo>
                  <a:lnTo>
                    <a:pt x="2621" y="3071"/>
                  </a:lnTo>
                  <a:lnTo>
                    <a:pt x="2619" y="3113"/>
                  </a:lnTo>
                  <a:lnTo>
                    <a:pt x="2616" y="3155"/>
                  </a:lnTo>
                  <a:lnTo>
                    <a:pt x="2610" y="3195"/>
                  </a:lnTo>
                  <a:lnTo>
                    <a:pt x="2602" y="3233"/>
                  </a:lnTo>
                  <a:lnTo>
                    <a:pt x="2591" y="3270"/>
                  </a:lnTo>
                  <a:lnTo>
                    <a:pt x="2580" y="3304"/>
                  </a:lnTo>
                  <a:lnTo>
                    <a:pt x="2565" y="3337"/>
                  </a:lnTo>
                  <a:lnTo>
                    <a:pt x="2550" y="3367"/>
                  </a:lnTo>
                  <a:lnTo>
                    <a:pt x="2533" y="3393"/>
                  </a:lnTo>
                  <a:lnTo>
                    <a:pt x="2514" y="3418"/>
                  </a:lnTo>
                  <a:lnTo>
                    <a:pt x="2494" y="3439"/>
                  </a:lnTo>
                  <a:lnTo>
                    <a:pt x="2473" y="3457"/>
                  </a:lnTo>
                  <a:lnTo>
                    <a:pt x="2452" y="3471"/>
                  </a:lnTo>
                  <a:lnTo>
                    <a:pt x="2428" y="3481"/>
                  </a:lnTo>
                  <a:lnTo>
                    <a:pt x="2405" y="3487"/>
                  </a:lnTo>
                  <a:lnTo>
                    <a:pt x="2380" y="3490"/>
                  </a:lnTo>
                  <a:lnTo>
                    <a:pt x="2356" y="3487"/>
                  </a:lnTo>
                  <a:lnTo>
                    <a:pt x="2332" y="3481"/>
                  </a:lnTo>
                  <a:lnTo>
                    <a:pt x="2310" y="3471"/>
                  </a:lnTo>
                  <a:lnTo>
                    <a:pt x="2288" y="3457"/>
                  </a:lnTo>
                  <a:lnTo>
                    <a:pt x="2267" y="3439"/>
                  </a:lnTo>
                  <a:lnTo>
                    <a:pt x="2248" y="3418"/>
                  </a:lnTo>
                  <a:lnTo>
                    <a:pt x="2229" y="3393"/>
                  </a:lnTo>
                  <a:lnTo>
                    <a:pt x="2212" y="3367"/>
                  </a:lnTo>
                  <a:lnTo>
                    <a:pt x="2196" y="3337"/>
                  </a:lnTo>
                  <a:lnTo>
                    <a:pt x="2182" y="3304"/>
                  </a:lnTo>
                  <a:lnTo>
                    <a:pt x="2171" y="3270"/>
                  </a:lnTo>
                  <a:lnTo>
                    <a:pt x="2160" y="3233"/>
                  </a:lnTo>
                  <a:lnTo>
                    <a:pt x="2152" y="3195"/>
                  </a:lnTo>
                  <a:lnTo>
                    <a:pt x="2146" y="3155"/>
                  </a:lnTo>
                  <a:lnTo>
                    <a:pt x="2142" y="3113"/>
                  </a:lnTo>
                  <a:lnTo>
                    <a:pt x="2141" y="3071"/>
                  </a:lnTo>
                  <a:lnTo>
                    <a:pt x="2142" y="3029"/>
                  </a:lnTo>
                  <a:lnTo>
                    <a:pt x="2146" y="2987"/>
                  </a:lnTo>
                  <a:lnTo>
                    <a:pt x="2152" y="2947"/>
                  </a:lnTo>
                  <a:lnTo>
                    <a:pt x="2160" y="2908"/>
                  </a:lnTo>
                  <a:lnTo>
                    <a:pt x="2171" y="2872"/>
                  </a:lnTo>
                  <a:lnTo>
                    <a:pt x="2182" y="2838"/>
                  </a:lnTo>
                  <a:lnTo>
                    <a:pt x="2196" y="2805"/>
                  </a:lnTo>
                  <a:lnTo>
                    <a:pt x="2212" y="2774"/>
                  </a:lnTo>
                  <a:lnTo>
                    <a:pt x="2229" y="2747"/>
                  </a:lnTo>
                  <a:lnTo>
                    <a:pt x="2248" y="2724"/>
                  </a:lnTo>
                  <a:lnTo>
                    <a:pt x="2267" y="2703"/>
                  </a:lnTo>
                  <a:lnTo>
                    <a:pt x="2288" y="2684"/>
                  </a:lnTo>
                  <a:lnTo>
                    <a:pt x="2310" y="2670"/>
                  </a:lnTo>
                  <a:lnTo>
                    <a:pt x="2332" y="2660"/>
                  </a:lnTo>
                  <a:lnTo>
                    <a:pt x="2356" y="2654"/>
                  </a:lnTo>
                  <a:lnTo>
                    <a:pt x="2380" y="2651"/>
                  </a:lnTo>
                  <a:close/>
                  <a:moveTo>
                    <a:pt x="2342" y="1355"/>
                  </a:moveTo>
                  <a:lnTo>
                    <a:pt x="2366" y="1357"/>
                  </a:lnTo>
                  <a:lnTo>
                    <a:pt x="2390" y="1363"/>
                  </a:lnTo>
                  <a:lnTo>
                    <a:pt x="2412" y="1373"/>
                  </a:lnTo>
                  <a:lnTo>
                    <a:pt x="2434" y="1387"/>
                  </a:lnTo>
                  <a:lnTo>
                    <a:pt x="2455" y="1405"/>
                  </a:lnTo>
                  <a:lnTo>
                    <a:pt x="2475" y="1426"/>
                  </a:lnTo>
                  <a:lnTo>
                    <a:pt x="2493" y="1451"/>
                  </a:lnTo>
                  <a:lnTo>
                    <a:pt x="2510" y="1478"/>
                  </a:lnTo>
                  <a:lnTo>
                    <a:pt x="2526" y="1507"/>
                  </a:lnTo>
                  <a:lnTo>
                    <a:pt x="2540" y="1540"/>
                  </a:lnTo>
                  <a:lnTo>
                    <a:pt x="2551" y="1574"/>
                  </a:lnTo>
                  <a:lnTo>
                    <a:pt x="2562" y="1611"/>
                  </a:lnTo>
                  <a:lnTo>
                    <a:pt x="2570" y="1649"/>
                  </a:lnTo>
                  <a:lnTo>
                    <a:pt x="2576" y="1689"/>
                  </a:lnTo>
                  <a:lnTo>
                    <a:pt x="2580" y="1731"/>
                  </a:lnTo>
                  <a:lnTo>
                    <a:pt x="2581" y="1773"/>
                  </a:lnTo>
                  <a:lnTo>
                    <a:pt x="2580" y="1815"/>
                  </a:lnTo>
                  <a:lnTo>
                    <a:pt x="2576" y="1858"/>
                  </a:lnTo>
                  <a:lnTo>
                    <a:pt x="2570" y="1897"/>
                  </a:lnTo>
                  <a:lnTo>
                    <a:pt x="2562" y="1936"/>
                  </a:lnTo>
                  <a:lnTo>
                    <a:pt x="2551" y="1972"/>
                  </a:lnTo>
                  <a:lnTo>
                    <a:pt x="2540" y="2008"/>
                  </a:lnTo>
                  <a:lnTo>
                    <a:pt x="2526" y="2039"/>
                  </a:lnTo>
                  <a:lnTo>
                    <a:pt x="2510" y="2070"/>
                  </a:lnTo>
                  <a:lnTo>
                    <a:pt x="2493" y="2097"/>
                  </a:lnTo>
                  <a:lnTo>
                    <a:pt x="2475" y="2121"/>
                  </a:lnTo>
                  <a:lnTo>
                    <a:pt x="2455" y="2142"/>
                  </a:lnTo>
                  <a:lnTo>
                    <a:pt x="2434" y="2160"/>
                  </a:lnTo>
                  <a:lnTo>
                    <a:pt x="2412" y="2174"/>
                  </a:lnTo>
                  <a:lnTo>
                    <a:pt x="2390" y="2185"/>
                  </a:lnTo>
                  <a:lnTo>
                    <a:pt x="2366" y="2191"/>
                  </a:lnTo>
                  <a:lnTo>
                    <a:pt x="2342" y="2193"/>
                  </a:lnTo>
                  <a:lnTo>
                    <a:pt x="2317" y="2191"/>
                  </a:lnTo>
                  <a:lnTo>
                    <a:pt x="2294" y="2185"/>
                  </a:lnTo>
                  <a:lnTo>
                    <a:pt x="2270" y="2174"/>
                  </a:lnTo>
                  <a:lnTo>
                    <a:pt x="2249" y="2160"/>
                  </a:lnTo>
                  <a:lnTo>
                    <a:pt x="2228" y="2142"/>
                  </a:lnTo>
                  <a:lnTo>
                    <a:pt x="2208" y="2121"/>
                  </a:lnTo>
                  <a:lnTo>
                    <a:pt x="2189" y="2097"/>
                  </a:lnTo>
                  <a:lnTo>
                    <a:pt x="2173" y="2070"/>
                  </a:lnTo>
                  <a:lnTo>
                    <a:pt x="2157" y="2039"/>
                  </a:lnTo>
                  <a:lnTo>
                    <a:pt x="2142" y="2008"/>
                  </a:lnTo>
                  <a:lnTo>
                    <a:pt x="2131" y="1972"/>
                  </a:lnTo>
                  <a:lnTo>
                    <a:pt x="2120" y="1936"/>
                  </a:lnTo>
                  <a:lnTo>
                    <a:pt x="2112" y="1897"/>
                  </a:lnTo>
                  <a:lnTo>
                    <a:pt x="2106" y="1858"/>
                  </a:lnTo>
                  <a:lnTo>
                    <a:pt x="2103" y="1815"/>
                  </a:lnTo>
                  <a:lnTo>
                    <a:pt x="2101" y="1773"/>
                  </a:lnTo>
                  <a:lnTo>
                    <a:pt x="2103" y="1731"/>
                  </a:lnTo>
                  <a:lnTo>
                    <a:pt x="2106" y="1689"/>
                  </a:lnTo>
                  <a:lnTo>
                    <a:pt x="2112" y="1649"/>
                  </a:lnTo>
                  <a:lnTo>
                    <a:pt x="2120" y="1611"/>
                  </a:lnTo>
                  <a:lnTo>
                    <a:pt x="2131" y="1574"/>
                  </a:lnTo>
                  <a:lnTo>
                    <a:pt x="2142" y="1540"/>
                  </a:lnTo>
                  <a:lnTo>
                    <a:pt x="2157" y="1507"/>
                  </a:lnTo>
                  <a:lnTo>
                    <a:pt x="2173" y="1478"/>
                  </a:lnTo>
                  <a:lnTo>
                    <a:pt x="2189" y="1451"/>
                  </a:lnTo>
                  <a:lnTo>
                    <a:pt x="2208" y="1426"/>
                  </a:lnTo>
                  <a:lnTo>
                    <a:pt x="2228" y="1405"/>
                  </a:lnTo>
                  <a:lnTo>
                    <a:pt x="2249" y="1387"/>
                  </a:lnTo>
                  <a:lnTo>
                    <a:pt x="2270" y="1373"/>
                  </a:lnTo>
                  <a:lnTo>
                    <a:pt x="2294" y="1363"/>
                  </a:lnTo>
                  <a:lnTo>
                    <a:pt x="2317" y="1357"/>
                  </a:lnTo>
                  <a:lnTo>
                    <a:pt x="2342" y="1355"/>
                  </a:lnTo>
                  <a:close/>
                  <a:moveTo>
                    <a:pt x="3179" y="819"/>
                  </a:moveTo>
                  <a:lnTo>
                    <a:pt x="3204" y="821"/>
                  </a:lnTo>
                  <a:lnTo>
                    <a:pt x="3227" y="827"/>
                  </a:lnTo>
                  <a:lnTo>
                    <a:pt x="3250" y="838"/>
                  </a:lnTo>
                  <a:lnTo>
                    <a:pt x="3272" y="852"/>
                  </a:lnTo>
                  <a:lnTo>
                    <a:pt x="3293" y="869"/>
                  </a:lnTo>
                  <a:lnTo>
                    <a:pt x="3312" y="890"/>
                  </a:lnTo>
                  <a:lnTo>
                    <a:pt x="3331" y="915"/>
                  </a:lnTo>
                  <a:lnTo>
                    <a:pt x="3348" y="942"/>
                  </a:lnTo>
                  <a:lnTo>
                    <a:pt x="3363" y="971"/>
                  </a:lnTo>
                  <a:lnTo>
                    <a:pt x="3377" y="1004"/>
                  </a:lnTo>
                  <a:lnTo>
                    <a:pt x="3389" y="1038"/>
                  </a:lnTo>
                  <a:lnTo>
                    <a:pt x="3400" y="1076"/>
                  </a:lnTo>
                  <a:lnTo>
                    <a:pt x="3408" y="1113"/>
                  </a:lnTo>
                  <a:lnTo>
                    <a:pt x="3414" y="1153"/>
                  </a:lnTo>
                  <a:lnTo>
                    <a:pt x="3417" y="1195"/>
                  </a:lnTo>
                  <a:lnTo>
                    <a:pt x="3418" y="1237"/>
                  </a:lnTo>
                  <a:lnTo>
                    <a:pt x="3417" y="1280"/>
                  </a:lnTo>
                  <a:lnTo>
                    <a:pt x="3414" y="1322"/>
                  </a:lnTo>
                  <a:lnTo>
                    <a:pt x="3408" y="1362"/>
                  </a:lnTo>
                  <a:lnTo>
                    <a:pt x="3400" y="1399"/>
                  </a:lnTo>
                  <a:lnTo>
                    <a:pt x="3389" y="1437"/>
                  </a:lnTo>
                  <a:lnTo>
                    <a:pt x="3377" y="1471"/>
                  </a:lnTo>
                  <a:lnTo>
                    <a:pt x="3363" y="1503"/>
                  </a:lnTo>
                  <a:lnTo>
                    <a:pt x="3348" y="1533"/>
                  </a:lnTo>
                  <a:lnTo>
                    <a:pt x="3331" y="1560"/>
                  </a:lnTo>
                  <a:lnTo>
                    <a:pt x="3312" y="1584"/>
                  </a:lnTo>
                  <a:lnTo>
                    <a:pt x="3293" y="1605"/>
                  </a:lnTo>
                  <a:lnTo>
                    <a:pt x="3272" y="1623"/>
                  </a:lnTo>
                  <a:lnTo>
                    <a:pt x="3250" y="1637"/>
                  </a:lnTo>
                  <a:lnTo>
                    <a:pt x="3227" y="1648"/>
                  </a:lnTo>
                  <a:lnTo>
                    <a:pt x="3204" y="1654"/>
                  </a:lnTo>
                  <a:lnTo>
                    <a:pt x="3179" y="1656"/>
                  </a:lnTo>
                  <a:lnTo>
                    <a:pt x="3155" y="1654"/>
                  </a:lnTo>
                  <a:lnTo>
                    <a:pt x="3131" y="1648"/>
                  </a:lnTo>
                  <a:lnTo>
                    <a:pt x="3108" y="1637"/>
                  </a:lnTo>
                  <a:lnTo>
                    <a:pt x="3087" y="1623"/>
                  </a:lnTo>
                  <a:lnTo>
                    <a:pt x="3066" y="1605"/>
                  </a:lnTo>
                  <a:lnTo>
                    <a:pt x="3046" y="1584"/>
                  </a:lnTo>
                  <a:lnTo>
                    <a:pt x="3027" y="1560"/>
                  </a:lnTo>
                  <a:lnTo>
                    <a:pt x="3011" y="1533"/>
                  </a:lnTo>
                  <a:lnTo>
                    <a:pt x="2994" y="1503"/>
                  </a:lnTo>
                  <a:lnTo>
                    <a:pt x="2980" y="1471"/>
                  </a:lnTo>
                  <a:lnTo>
                    <a:pt x="2968" y="1437"/>
                  </a:lnTo>
                  <a:lnTo>
                    <a:pt x="2958" y="1399"/>
                  </a:lnTo>
                  <a:lnTo>
                    <a:pt x="2950" y="1362"/>
                  </a:lnTo>
                  <a:lnTo>
                    <a:pt x="2944" y="1322"/>
                  </a:lnTo>
                  <a:lnTo>
                    <a:pt x="2940" y="1280"/>
                  </a:lnTo>
                  <a:lnTo>
                    <a:pt x="2939" y="1237"/>
                  </a:lnTo>
                  <a:lnTo>
                    <a:pt x="2940" y="1195"/>
                  </a:lnTo>
                  <a:lnTo>
                    <a:pt x="2944" y="1153"/>
                  </a:lnTo>
                  <a:lnTo>
                    <a:pt x="2950" y="1113"/>
                  </a:lnTo>
                  <a:lnTo>
                    <a:pt x="2958" y="1076"/>
                  </a:lnTo>
                  <a:lnTo>
                    <a:pt x="2968" y="1038"/>
                  </a:lnTo>
                  <a:lnTo>
                    <a:pt x="2980" y="1004"/>
                  </a:lnTo>
                  <a:lnTo>
                    <a:pt x="2994" y="971"/>
                  </a:lnTo>
                  <a:lnTo>
                    <a:pt x="3011" y="942"/>
                  </a:lnTo>
                  <a:lnTo>
                    <a:pt x="3027" y="915"/>
                  </a:lnTo>
                  <a:lnTo>
                    <a:pt x="3046" y="890"/>
                  </a:lnTo>
                  <a:lnTo>
                    <a:pt x="3066" y="869"/>
                  </a:lnTo>
                  <a:lnTo>
                    <a:pt x="3087" y="852"/>
                  </a:lnTo>
                  <a:lnTo>
                    <a:pt x="3108" y="838"/>
                  </a:lnTo>
                  <a:lnTo>
                    <a:pt x="3131" y="827"/>
                  </a:lnTo>
                  <a:lnTo>
                    <a:pt x="3155" y="821"/>
                  </a:lnTo>
                  <a:lnTo>
                    <a:pt x="3179" y="819"/>
                  </a:lnTo>
                  <a:close/>
                  <a:moveTo>
                    <a:pt x="3246" y="2144"/>
                  </a:moveTo>
                  <a:lnTo>
                    <a:pt x="3271" y="2146"/>
                  </a:lnTo>
                  <a:lnTo>
                    <a:pt x="3294" y="2152"/>
                  </a:lnTo>
                  <a:lnTo>
                    <a:pt x="3316" y="2162"/>
                  </a:lnTo>
                  <a:lnTo>
                    <a:pt x="3339" y="2176"/>
                  </a:lnTo>
                  <a:lnTo>
                    <a:pt x="3360" y="2194"/>
                  </a:lnTo>
                  <a:lnTo>
                    <a:pt x="3380" y="2215"/>
                  </a:lnTo>
                  <a:lnTo>
                    <a:pt x="3397" y="2240"/>
                  </a:lnTo>
                  <a:lnTo>
                    <a:pt x="3415" y="2267"/>
                  </a:lnTo>
                  <a:lnTo>
                    <a:pt x="3430" y="2296"/>
                  </a:lnTo>
                  <a:lnTo>
                    <a:pt x="3444" y="2329"/>
                  </a:lnTo>
                  <a:lnTo>
                    <a:pt x="3456" y="2363"/>
                  </a:lnTo>
                  <a:lnTo>
                    <a:pt x="3466" y="2400"/>
                  </a:lnTo>
                  <a:lnTo>
                    <a:pt x="3475" y="2438"/>
                  </a:lnTo>
                  <a:lnTo>
                    <a:pt x="3480" y="2478"/>
                  </a:lnTo>
                  <a:lnTo>
                    <a:pt x="3484" y="2520"/>
                  </a:lnTo>
                  <a:lnTo>
                    <a:pt x="3485" y="2562"/>
                  </a:lnTo>
                  <a:lnTo>
                    <a:pt x="3484" y="2604"/>
                  </a:lnTo>
                  <a:lnTo>
                    <a:pt x="3480" y="2647"/>
                  </a:lnTo>
                  <a:lnTo>
                    <a:pt x="3475" y="2686"/>
                  </a:lnTo>
                  <a:lnTo>
                    <a:pt x="3466" y="2725"/>
                  </a:lnTo>
                  <a:lnTo>
                    <a:pt x="3456" y="2762"/>
                  </a:lnTo>
                  <a:lnTo>
                    <a:pt x="3444" y="2796"/>
                  </a:lnTo>
                  <a:lnTo>
                    <a:pt x="3430" y="2828"/>
                  </a:lnTo>
                  <a:lnTo>
                    <a:pt x="3415" y="2858"/>
                  </a:lnTo>
                  <a:lnTo>
                    <a:pt x="3397" y="2886"/>
                  </a:lnTo>
                  <a:lnTo>
                    <a:pt x="3380" y="2909"/>
                  </a:lnTo>
                  <a:lnTo>
                    <a:pt x="3360" y="2930"/>
                  </a:lnTo>
                  <a:lnTo>
                    <a:pt x="3339" y="2949"/>
                  </a:lnTo>
                  <a:lnTo>
                    <a:pt x="3316" y="2963"/>
                  </a:lnTo>
                  <a:lnTo>
                    <a:pt x="3294" y="2974"/>
                  </a:lnTo>
                  <a:lnTo>
                    <a:pt x="3271" y="2980"/>
                  </a:lnTo>
                  <a:lnTo>
                    <a:pt x="3246" y="2982"/>
                  </a:lnTo>
                  <a:lnTo>
                    <a:pt x="3222" y="2980"/>
                  </a:lnTo>
                  <a:lnTo>
                    <a:pt x="3198" y="2974"/>
                  </a:lnTo>
                  <a:lnTo>
                    <a:pt x="3176" y="2963"/>
                  </a:lnTo>
                  <a:lnTo>
                    <a:pt x="3154" y="2949"/>
                  </a:lnTo>
                  <a:lnTo>
                    <a:pt x="3133" y="2930"/>
                  </a:lnTo>
                  <a:lnTo>
                    <a:pt x="3113" y="2909"/>
                  </a:lnTo>
                  <a:lnTo>
                    <a:pt x="3095" y="2886"/>
                  </a:lnTo>
                  <a:lnTo>
                    <a:pt x="3077" y="2858"/>
                  </a:lnTo>
                  <a:lnTo>
                    <a:pt x="3062" y="2828"/>
                  </a:lnTo>
                  <a:lnTo>
                    <a:pt x="3048" y="2796"/>
                  </a:lnTo>
                  <a:lnTo>
                    <a:pt x="3036" y="2762"/>
                  </a:lnTo>
                  <a:lnTo>
                    <a:pt x="3026" y="2725"/>
                  </a:lnTo>
                  <a:lnTo>
                    <a:pt x="3018" y="2686"/>
                  </a:lnTo>
                  <a:lnTo>
                    <a:pt x="3012" y="2647"/>
                  </a:lnTo>
                  <a:lnTo>
                    <a:pt x="3008" y="2604"/>
                  </a:lnTo>
                  <a:lnTo>
                    <a:pt x="3007" y="2562"/>
                  </a:lnTo>
                  <a:lnTo>
                    <a:pt x="3008" y="2520"/>
                  </a:lnTo>
                  <a:lnTo>
                    <a:pt x="3012" y="2478"/>
                  </a:lnTo>
                  <a:lnTo>
                    <a:pt x="3018" y="2438"/>
                  </a:lnTo>
                  <a:lnTo>
                    <a:pt x="3026" y="2400"/>
                  </a:lnTo>
                  <a:lnTo>
                    <a:pt x="3036" y="2363"/>
                  </a:lnTo>
                  <a:lnTo>
                    <a:pt x="3048" y="2329"/>
                  </a:lnTo>
                  <a:lnTo>
                    <a:pt x="3062" y="2296"/>
                  </a:lnTo>
                  <a:lnTo>
                    <a:pt x="3077" y="2267"/>
                  </a:lnTo>
                  <a:lnTo>
                    <a:pt x="3095" y="2240"/>
                  </a:lnTo>
                  <a:lnTo>
                    <a:pt x="3113" y="2215"/>
                  </a:lnTo>
                  <a:lnTo>
                    <a:pt x="3133" y="2194"/>
                  </a:lnTo>
                  <a:lnTo>
                    <a:pt x="3154" y="2176"/>
                  </a:lnTo>
                  <a:lnTo>
                    <a:pt x="3176" y="2162"/>
                  </a:lnTo>
                  <a:lnTo>
                    <a:pt x="3198" y="2152"/>
                  </a:lnTo>
                  <a:lnTo>
                    <a:pt x="3222" y="2146"/>
                  </a:lnTo>
                  <a:lnTo>
                    <a:pt x="3246" y="2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0" name="Freeform 51"/>
            <p:cNvSpPr>
              <a:spLocks/>
            </p:cNvSpPr>
            <p:nvPr/>
          </p:nvSpPr>
          <p:spPr bwMode="auto">
            <a:xfrm>
              <a:off x="1267" y="1588"/>
              <a:ext cx="87" cy="52"/>
            </a:xfrm>
            <a:custGeom>
              <a:avLst/>
              <a:gdLst>
                <a:gd name="T0" fmla="*/ 3 w 437"/>
                <a:gd name="T1" fmla="*/ 2 h 260"/>
                <a:gd name="T2" fmla="*/ 3 w 437"/>
                <a:gd name="T3" fmla="*/ 2 h 260"/>
                <a:gd name="T4" fmla="*/ 3 w 437"/>
                <a:gd name="T5" fmla="*/ 2 h 260"/>
                <a:gd name="T6" fmla="*/ 3 w 437"/>
                <a:gd name="T7" fmla="*/ 2 h 260"/>
                <a:gd name="T8" fmla="*/ 3 w 437"/>
                <a:gd name="T9" fmla="*/ 1 h 260"/>
                <a:gd name="T10" fmla="*/ 3 w 437"/>
                <a:gd name="T11" fmla="*/ 1 h 260"/>
                <a:gd name="T12" fmla="*/ 3 w 437"/>
                <a:gd name="T13" fmla="*/ 1 h 260"/>
                <a:gd name="T14" fmla="*/ 3 w 437"/>
                <a:gd name="T15" fmla="*/ 1 h 260"/>
                <a:gd name="T16" fmla="*/ 3 w 437"/>
                <a:gd name="T17" fmla="*/ 1 h 260"/>
                <a:gd name="T18" fmla="*/ 2 w 437"/>
                <a:gd name="T19" fmla="*/ 1 h 260"/>
                <a:gd name="T20" fmla="*/ 2 w 437"/>
                <a:gd name="T21" fmla="*/ 0 h 260"/>
                <a:gd name="T22" fmla="*/ 2 w 437"/>
                <a:gd name="T23" fmla="*/ 0 h 260"/>
                <a:gd name="T24" fmla="*/ 2 w 437"/>
                <a:gd name="T25" fmla="*/ 0 h 260"/>
                <a:gd name="T26" fmla="*/ 1 w 437"/>
                <a:gd name="T27" fmla="*/ 0 h 260"/>
                <a:gd name="T28" fmla="*/ 1 w 437"/>
                <a:gd name="T29" fmla="*/ 0 h 260"/>
                <a:gd name="T30" fmla="*/ 1 w 437"/>
                <a:gd name="T31" fmla="*/ 0 h 260"/>
                <a:gd name="T32" fmla="*/ 0 w 437"/>
                <a:gd name="T33" fmla="*/ 0 h 260"/>
                <a:gd name="T34" fmla="*/ 0 w 437"/>
                <a:gd name="T35" fmla="*/ 0 h 260"/>
                <a:gd name="T36" fmla="*/ 0 w 437"/>
                <a:gd name="T37" fmla="*/ 0 h 260"/>
                <a:gd name="T38" fmla="*/ 0 w 437"/>
                <a:gd name="T39" fmla="*/ 0 h 260"/>
                <a:gd name="T40" fmla="*/ 1 w 437"/>
                <a:gd name="T41" fmla="*/ 0 h 260"/>
                <a:gd name="T42" fmla="*/ 1 w 437"/>
                <a:gd name="T43" fmla="*/ 0 h 260"/>
                <a:gd name="T44" fmla="*/ 1 w 437"/>
                <a:gd name="T45" fmla="*/ 0 h 260"/>
                <a:gd name="T46" fmla="*/ 2 w 437"/>
                <a:gd name="T47" fmla="*/ 0 h 260"/>
                <a:gd name="T48" fmla="*/ 2 w 437"/>
                <a:gd name="T49" fmla="*/ 0 h 260"/>
                <a:gd name="T50" fmla="*/ 2 w 437"/>
                <a:gd name="T51" fmla="*/ 1 h 260"/>
                <a:gd name="T52" fmla="*/ 2 w 437"/>
                <a:gd name="T53" fmla="*/ 1 h 260"/>
                <a:gd name="T54" fmla="*/ 3 w 437"/>
                <a:gd name="T55" fmla="*/ 1 h 260"/>
                <a:gd name="T56" fmla="*/ 3 w 437"/>
                <a:gd name="T57" fmla="*/ 1 h 260"/>
                <a:gd name="T58" fmla="*/ 3 w 437"/>
                <a:gd name="T59" fmla="*/ 1 h 260"/>
                <a:gd name="T60" fmla="*/ 3 w 437"/>
                <a:gd name="T61" fmla="*/ 1 h 260"/>
                <a:gd name="T62" fmla="*/ 3 w 437"/>
                <a:gd name="T63" fmla="*/ 1 h 260"/>
                <a:gd name="T64" fmla="*/ 3 w 437"/>
                <a:gd name="T65" fmla="*/ 2 h 260"/>
                <a:gd name="T66" fmla="*/ 3 w 437"/>
                <a:gd name="T67" fmla="*/ 2 h 260"/>
                <a:gd name="T68" fmla="*/ 3 w 437"/>
                <a:gd name="T69" fmla="*/ 2 h 260"/>
                <a:gd name="T70" fmla="*/ 3 w 437"/>
                <a:gd name="T71" fmla="*/ 2 h 260"/>
                <a:gd name="T72" fmla="*/ 3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437" y="260"/>
                  </a:moveTo>
                  <a:lnTo>
                    <a:pt x="437" y="260"/>
                  </a:lnTo>
                  <a:lnTo>
                    <a:pt x="434" y="233"/>
                  </a:lnTo>
                  <a:lnTo>
                    <a:pt x="427" y="206"/>
                  </a:lnTo>
                  <a:lnTo>
                    <a:pt x="417" y="181"/>
                  </a:lnTo>
                  <a:lnTo>
                    <a:pt x="401" y="157"/>
                  </a:lnTo>
                  <a:lnTo>
                    <a:pt x="383" y="133"/>
                  </a:lnTo>
                  <a:lnTo>
                    <a:pt x="360" y="113"/>
                  </a:lnTo>
                  <a:lnTo>
                    <a:pt x="336" y="93"/>
                  </a:lnTo>
                  <a:lnTo>
                    <a:pt x="308" y="73"/>
                  </a:lnTo>
                  <a:lnTo>
                    <a:pt x="276" y="58"/>
                  </a:lnTo>
                  <a:lnTo>
                    <a:pt x="242" y="43"/>
                  </a:lnTo>
                  <a:lnTo>
                    <a:pt x="207" y="30"/>
                  </a:lnTo>
                  <a:lnTo>
                    <a:pt x="168" y="19"/>
                  </a:lnTo>
                  <a:lnTo>
                    <a:pt x="128" y="11"/>
                  </a:lnTo>
                  <a:lnTo>
                    <a:pt x="87" y="4"/>
                  </a:lnTo>
                  <a:lnTo>
                    <a:pt x="43" y="1"/>
                  </a:lnTo>
                  <a:lnTo>
                    <a:pt x="0" y="0"/>
                  </a:lnTo>
                  <a:lnTo>
                    <a:pt x="0" y="11"/>
                  </a:lnTo>
                  <a:lnTo>
                    <a:pt x="43" y="12"/>
                  </a:lnTo>
                  <a:lnTo>
                    <a:pt x="85" y="16"/>
                  </a:lnTo>
                  <a:lnTo>
                    <a:pt x="126" y="23"/>
                  </a:lnTo>
                  <a:lnTo>
                    <a:pt x="166" y="31"/>
                  </a:lnTo>
                  <a:lnTo>
                    <a:pt x="202" y="42"/>
                  </a:lnTo>
                  <a:lnTo>
                    <a:pt x="237" y="55"/>
                  </a:lnTo>
                  <a:lnTo>
                    <a:pt x="271" y="70"/>
                  </a:lnTo>
                  <a:lnTo>
                    <a:pt x="301" y="85"/>
                  </a:lnTo>
                  <a:lnTo>
                    <a:pt x="329" y="103"/>
                  </a:lnTo>
                  <a:lnTo>
                    <a:pt x="353" y="123"/>
                  </a:lnTo>
                  <a:lnTo>
                    <a:pt x="373" y="143"/>
                  </a:lnTo>
                  <a:lnTo>
                    <a:pt x="392" y="164"/>
                  </a:lnTo>
                  <a:lnTo>
                    <a:pt x="405" y="186"/>
                  </a:lnTo>
                  <a:lnTo>
                    <a:pt x="415" y="211"/>
                  </a:lnTo>
                  <a:lnTo>
                    <a:pt x="422" y="235"/>
                  </a:lnTo>
                  <a:lnTo>
                    <a:pt x="425" y="260"/>
                  </a:lnTo>
                  <a:lnTo>
                    <a:pt x="437"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1" name="Freeform 52"/>
            <p:cNvSpPr>
              <a:spLocks/>
            </p:cNvSpPr>
            <p:nvPr/>
          </p:nvSpPr>
          <p:spPr bwMode="auto">
            <a:xfrm>
              <a:off x="1267" y="1640"/>
              <a:ext cx="87" cy="52"/>
            </a:xfrm>
            <a:custGeom>
              <a:avLst/>
              <a:gdLst>
                <a:gd name="T0" fmla="*/ 0 w 437"/>
                <a:gd name="T1" fmla="*/ 2 h 260"/>
                <a:gd name="T2" fmla="*/ 0 w 437"/>
                <a:gd name="T3" fmla="*/ 2 h 260"/>
                <a:gd name="T4" fmla="*/ 0 w 437"/>
                <a:gd name="T5" fmla="*/ 2 h 260"/>
                <a:gd name="T6" fmla="*/ 1 w 437"/>
                <a:gd name="T7" fmla="*/ 2 h 260"/>
                <a:gd name="T8" fmla="*/ 1 w 437"/>
                <a:gd name="T9" fmla="*/ 2 h 260"/>
                <a:gd name="T10" fmla="*/ 1 w 437"/>
                <a:gd name="T11" fmla="*/ 2 h 260"/>
                <a:gd name="T12" fmla="*/ 2 w 437"/>
                <a:gd name="T13" fmla="*/ 2 h 260"/>
                <a:gd name="T14" fmla="*/ 2 w 437"/>
                <a:gd name="T15" fmla="*/ 2 h 260"/>
                <a:gd name="T16" fmla="*/ 2 w 437"/>
                <a:gd name="T17" fmla="*/ 2 h 260"/>
                <a:gd name="T18" fmla="*/ 2 w 437"/>
                <a:gd name="T19" fmla="*/ 1 h 260"/>
                <a:gd name="T20" fmla="*/ 3 w 437"/>
                <a:gd name="T21" fmla="*/ 1 h 260"/>
                <a:gd name="T22" fmla="*/ 3 w 437"/>
                <a:gd name="T23" fmla="*/ 1 h 260"/>
                <a:gd name="T24" fmla="*/ 3 w 437"/>
                <a:gd name="T25" fmla="*/ 1 h 260"/>
                <a:gd name="T26" fmla="*/ 3 w 437"/>
                <a:gd name="T27" fmla="*/ 1 h 260"/>
                <a:gd name="T28" fmla="*/ 3 w 437"/>
                <a:gd name="T29" fmla="*/ 1 h 260"/>
                <a:gd name="T30" fmla="*/ 3 w 437"/>
                <a:gd name="T31" fmla="*/ 0 h 260"/>
                <a:gd name="T32" fmla="*/ 3 w 437"/>
                <a:gd name="T33" fmla="*/ 0 h 260"/>
                <a:gd name="T34" fmla="*/ 3 w 437"/>
                <a:gd name="T35" fmla="*/ 0 h 260"/>
                <a:gd name="T36" fmla="*/ 3 w 437"/>
                <a:gd name="T37" fmla="*/ 0 h 260"/>
                <a:gd name="T38" fmla="*/ 3 w 437"/>
                <a:gd name="T39" fmla="*/ 0 h 260"/>
                <a:gd name="T40" fmla="*/ 3 w 437"/>
                <a:gd name="T41" fmla="*/ 0 h 260"/>
                <a:gd name="T42" fmla="*/ 3 w 437"/>
                <a:gd name="T43" fmla="*/ 1 h 260"/>
                <a:gd name="T44" fmla="*/ 3 w 437"/>
                <a:gd name="T45" fmla="*/ 1 h 260"/>
                <a:gd name="T46" fmla="*/ 3 w 437"/>
                <a:gd name="T47" fmla="*/ 1 h 260"/>
                <a:gd name="T48" fmla="*/ 3 w 437"/>
                <a:gd name="T49" fmla="*/ 1 h 260"/>
                <a:gd name="T50" fmla="*/ 3 w 437"/>
                <a:gd name="T51" fmla="*/ 1 h 260"/>
                <a:gd name="T52" fmla="*/ 2 w 437"/>
                <a:gd name="T53" fmla="*/ 1 h 260"/>
                <a:gd name="T54" fmla="*/ 2 w 437"/>
                <a:gd name="T55" fmla="*/ 2 h 260"/>
                <a:gd name="T56" fmla="*/ 2 w 437"/>
                <a:gd name="T57" fmla="*/ 2 h 260"/>
                <a:gd name="T58" fmla="*/ 2 w 437"/>
                <a:gd name="T59" fmla="*/ 2 h 260"/>
                <a:gd name="T60" fmla="*/ 1 w 437"/>
                <a:gd name="T61" fmla="*/ 2 h 260"/>
                <a:gd name="T62" fmla="*/ 1 w 437"/>
                <a:gd name="T63" fmla="*/ 2 h 260"/>
                <a:gd name="T64" fmla="*/ 1 w 437"/>
                <a:gd name="T65" fmla="*/ 2 h 260"/>
                <a:gd name="T66" fmla="*/ 0 w 437"/>
                <a:gd name="T67" fmla="*/ 2 h 260"/>
                <a:gd name="T68" fmla="*/ 0 w 437"/>
                <a:gd name="T69" fmla="*/ 2 h 260"/>
                <a:gd name="T70" fmla="*/ 0 w 437"/>
                <a:gd name="T71" fmla="*/ 2 h 260"/>
                <a:gd name="T72" fmla="*/ 0 w 437"/>
                <a:gd name="T73" fmla="*/ 2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7"/>
                <a:gd name="T112" fmla="*/ 0 h 260"/>
                <a:gd name="T113" fmla="*/ 437 w 437"/>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7" h="260">
                  <a:moveTo>
                    <a:pt x="0" y="260"/>
                  </a:moveTo>
                  <a:lnTo>
                    <a:pt x="0" y="260"/>
                  </a:lnTo>
                  <a:lnTo>
                    <a:pt x="43" y="259"/>
                  </a:lnTo>
                  <a:lnTo>
                    <a:pt x="87" y="255"/>
                  </a:lnTo>
                  <a:lnTo>
                    <a:pt x="128" y="248"/>
                  </a:lnTo>
                  <a:lnTo>
                    <a:pt x="168" y="240"/>
                  </a:lnTo>
                  <a:lnTo>
                    <a:pt x="207" y="230"/>
                  </a:lnTo>
                  <a:lnTo>
                    <a:pt x="242" y="217"/>
                  </a:lnTo>
                  <a:lnTo>
                    <a:pt x="276" y="202"/>
                  </a:lnTo>
                  <a:lnTo>
                    <a:pt x="308" y="185"/>
                  </a:lnTo>
                  <a:lnTo>
                    <a:pt x="336" y="166"/>
                  </a:lnTo>
                  <a:lnTo>
                    <a:pt x="360" y="146"/>
                  </a:lnTo>
                  <a:lnTo>
                    <a:pt x="383" y="125"/>
                  </a:lnTo>
                  <a:lnTo>
                    <a:pt x="401" y="102"/>
                  </a:lnTo>
                  <a:lnTo>
                    <a:pt x="417" y="77"/>
                  </a:lnTo>
                  <a:lnTo>
                    <a:pt x="427" y="53"/>
                  </a:lnTo>
                  <a:lnTo>
                    <a:pt x="434" y="27"/>
                  </a:lnTo>
                  <a:lnTo>
                    <a:pt x="437" y="0"/>
                  </a:lnTo>
                  <a:lnTo>
                    <a:pt x="425" y="0"/>
                  </a:lnTo>
                  <a:lnTo>
                    <a:pt x="422" y="24"/>
                  </a:lnTo>
                  <a:lnTo>
                    <a:pt x="415" y="48"/>
                  </a:lnTo>
                  <a:lnTo>
                    <a:pt x="405" y="73"/>
                  </a:lnTo>
                  <a:lnTo>
                    <a:pt x="392" y="95"/>
                  </a:lnTo>
                  <a:lnTo>
                    <a:pt x="373" y="116"/>
                  </a:lnTo>
                  <a:lnTo>
                    <a:pt x="353" y="137"/>
                  </a:lnTo>
                  <a:lnTo>
                    <a:pt x="329" y="157"/>
                  </a:lnTo>
                  <a:lnTo>
                    <a:pt x="301" y="173"/>
                  </a:lnTo>
                  <a:lnTo>
                    <a:pt x="271" y="190"/>
                  </a:lnTo>
                  <a:lnTo>
                    <a:pt x="237" y="205"/>
                  </a:lnTo>
                  <a:lnTo>
                    <a:pt x="202" y="218"/>
                  </a:lnTo>
                  <a:lnTo>
                    <a:pt x="166" y="228"/>
                  </a:lnTo>
                  <a:lnTo>
                    <a:pt x="126" y="237"/>
                  </a:lnTo>
                  <a:lnTo>
                    <a:pt x="85" y="244"/>
                  </a:lnTo>
                  <a:lnTo>
                    <a:pt x="43" y="247"/>
                  </a:lnTo>
                  <a:lnTo>
                    <a:pt x="0" y="248"/>
                  </a:lnTo>
                  <a:lnTo>
                    <a:pt x="0" y="2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2" name="Freeform 53"/>
            <p:cNvSpPr>
              <a:spLocks/>
            </p:cNvSpPr>
            <p:nvPr/>
          </p:nvSpPr>
          <p:spPr bwMode="auto">
            <a:xfrm>
              <a:off x="1179" y="1640"/>
              <a:ext cx="88" cy="52"/>
            </a:xfrm>
            <a:custGeom>
              <a:avLst/>
              <a:gdLst>
                <a:gd name="T0" fmla="*/ 0 w 439"/>
                <a:gd name="T1" fmla="*/ 0 h 260"/>
                <a:gd name="T2" fmla="*/ 0 w 439"/>
                <a:gd name="T3" fmla="*/ 0 h 260"/>
                <a:gd name="T4" fmla="*/ 0 w 439"/>
                <a:gd name="T5" fmla="*/ 0 h 260"/>
                <a:gd name="T6" fmla="*/ 0 w 439"/>
                <a:gd name="T7" fmla="*/ 0 h 260"/>
                <a:gd name="T8" fmla="*/ 0 w 439"/>
                <a:gd name="T9" fmla="*/ 1 h 260"/>
                <a:gd name="T10" fmla="*/ 0 w 439"/>
                <a:gd name="T11" fmla="*/ 1 h 260"/>
                <a:gd name="T12" fmla="*/ 0 w 439"/>
                <a:gd name="T13" fmla="*/ 1 h 260"/>
                <a:gd name="T14" fmla="*/ 1 w 439"/>
                <a:gd name="T15" fmla="*/ 1 h 260"/>
                <a:gd name="T16" fmla="*/ 1 w 439"/>
                <a:gd name="T17" fmla="*/ 1 h 260"/>
                <a:gd name="T18" fmla="*/ 1 w 439"/>
                <a:gd name="T19" fmla="*/ 1 h 260"/>
                <a:gd name="T20" fmla="*/ 1 w 439"/>
                <a:gd name="T21" fmla="*/ 2 h 260"/>
                <a:gd name="T22" fmla="*/ 2 w 439"/>
                <a:gd name="T23" fmla="*/ 2 h 260"/>
                <a:gd name="T24" fmla="*/ 2 w 439"/>
                <a:gd name="T25" fmla="*/ 2 h 260"/>
                <a:gd name="T26" fmla="*/ 2 w 439"/>
                <a:gd name="T27" fmla="*/ 2 h 260"/>
                <a:gd name="T28" fmla="*/ 2 w 439"/>
                <a:gd name="T29" fmla="*/ 2 h 260"/>
                <a:gd name="T30" fmla="*/ 3 w 439"/>
                <a:gd name="T31" fmla="*/ 2 h 260"/>
                <a:gd name="T32" fmla="*/ 3 w 439"/>
                <a:gd name="T33" fmla="*/ 2 h 260"/>
                <a:gd name="T34" fmla="*/ 4 w 439"/>
                <a:gd name="T35" fmla="*/ 2 h 260"/>
                <a:gd name="T36" fmla="*/ 4 w 439"/>
                <a:gd name="T37" fmla="*/ 2 h 260"/>
                <a:gd name="T38" fmla="*/ 3 w 439"/>
                <a:gd name="T39" fmla="*/ 2 h 260"/>
                <a:gd name="T40" fmla="*/ 3 w 439"/>
                <a:gd name="T41" fmla="*/ 2 h 260"/>
                <a:gd name="T42" fmla="*/ 3 w 439"/>
                <a:gd name="T43" fmla="*/ 2 h 260"/>
                <a:gd name="T44" fmla="*/ 2 w 439"/>
                <a:gd name="T45" fmla="*/ 2 h 260"/>
                <a:gd name="T46" fmla="*/ 2 w 439"/>
                <a:gd name="T47" fmla="*/ 2 h 260"/>
                <a:gd name="T48" fmla="*/ 2 w 439"/>
                <a:gd name="T49" fmla="*/ 2 h 260"/>
                <a:gd name="T50" fmla="*/ 1 w 439"/>
                <a:gd name="T51" fmla="*/ 2 h 260"/>
                <a:gd name="T52" fmla="*/ 1 w 439"/>
                <a:gd name="T53" fmla="*/ 1 h 260"/>
                <a:gd name="T54" fmla="*/ 1 w 439"/>
                <a:gd name="T55" fmla="*/ 1 h 260"/>
                <a:gd name="T56" fmla="*/ 1 w 439"/>
                <a:gd name="T57" fmla="*/ 1 h 260"/>
                <a:gd name="T58" fmla="*/ 1 w 439"/>
                <a:gd name="T59" fmla="*/ 1 h 260"/>
                <a:gd name="T60" fmla="*/ 0 w 439"/>
                <a:gd name="T61" fmla="*/ 1 h 260"/>
                <a:gd name="T62" fmla="*/ 0 w 439"/>
                <a:gd name="T63" fmla="*/ 1 h 260"/>
                <a:gd name="T64" fmla="*/ 0 w 439"/>
                <a:gd name="T65" fmla="*/ 0 h 260"/>
                <a:gd name="T66" fmla="*/ 0 w 439"/>
                <a:gd name="T67" fmla="*/ 0 h 260"/>
                <a:gd name="T68" fmla="*/ 0 w 439"/>
                <a:gd name="T69" fmla="*/ 0 h 260"/>
                <a:gd name="T70" fmla="*/ 0 w 439"/>
                <a:gd name="T71" fmla="*/ 0 h 260"/>
                <a:gd name="T72" fmla="*/ 0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0" y="0"/>
                  </a:moveTo>
                  <a:lnTo>
                    <a:pt x="0" y="0"/>
                  </a:lnTo>
                  <a:lnTo>
                    <a:pt x="3" y="27"/>
                  </a:lnTo>
                  <a:lnTo>
                    <a:pt x="10" y="53"/>
                  </a:lnTo>
                  <a:lnTo>
                    <a:pt x="20" y="77"/>
                  </a:lnTo>
                  <a:lnTo>
                    <a:pt x="35" y="102"/>
                  </a:lnTo>
                  <a:lnTo>
                    <a:pt x="54" y="125"/>
                  </a:lnTo>
                  <a:lnTo>
                    <a:pt x="76" y="146"/>
                  </a:lnTo>
                  <a:lnTo>
                    <a:pt x="102" y="166"/>
                  </a:lnTo>
                  <a:lnTo>
                    <a:pt x="130" y="185"/>
                  </a:lnTo>
                  <a:lnTo>
                    <a:pt x="162" y="202"/>
                  </a:lnTo>
                  <a:lnTo>
                    <a:pt x="195" y="217"/>
                  </a:lnTo>
                  <a:lnTo>
                    <a:pt x="231" y="230"/>
                  </a:lnTo>
                  <a:lnTo>
                    <a:pt x="270" y="240"/>
                  </a:lnTo>
                  <a:lnTo>
                    <a:pt x="310" y="248"/>
                  </a:lnTo>
                  <a:lnTo>
                    <a:pt x="351" y="255"/>
                  </a:lnTo>
                  <a:lnTo>
                    <a:pt x="395" y="259"/>
                  </a:lnTo>
                  <a:lnTo>
                    <a:pt x="439" y="260"/>
                  </a:lnTo>
                  <a:lnTo>
                    <a:pt x="439" y="248"/>
                  </a:lnTo>
                  <a:lnTo>
                    <a:pt x="395" y="247"/>
                  </a:lnTo>
                  <a:lnTo>
                    <a:pt x="353" y="244"/>
                  </a:lnTo>
                  <a:lnTo>
                    <a:pt x="312" y="237"/>
                  </a:lnTo>
                  <a:lnTo>
                    <a:pt x="272" y="228"/>
                  </a:lnTo>
                  <a:lnTo>
                    <a:pt x="236" y="218"/>
                  </a:lnTo>
                  <a:lnTo>
                    <a:pt x="200" y="205"/>
                  </a:lnTo>
                  <a:lnTo>
                    <a:pt x="167" y="190"/>
                  </a:lnTo>
                  <a:lnTo>
                    <a:pt x="137" y="173"/>
                  </a:lnTo>
                  <a:lnTo>
                    <a:pt x="109" y="157"/>
                  </a:lnTo>
                  <a:lnTo>
                    <a:pt x="84" y="137"/>
                  </a:lnTo>
                  <a:lnTo>
                    <a:pt x="64" y="116"/>
                  </a:lnTo>
                  <a:lnTo>
                    <a:pt x="45" y="95"/>
                  </a:lnTo>
                  <a:lnTo>
                    <a:pt x="32" y="73"/>
                  </a:lnTo>
                  <a:lnTo>
                    <a:pt x="21" y="48"/>
                  </a:lnTo>
                  <a:lnTo>
                    <a:pt x="14" y="24"/>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3" name="Freeform 54"/>
            <p:cNvSpPr>
              <a:spLocks/>
            </p:cNvSpPr>
            <p:nvPr/>
          </p:nvSpPr>
          <p:spPr bwMode="auto">
            <a:xfrm>
              <a:off x="1179" y="1588"/>
              <a:ext cx="88" cy="52"/>
            </a:xfrm>
            <a:custGeom>
              <a:avLst/>
              <a:gdLst>
                <a:gd name="T0" fmla="*/ 4 w 439"/>
                <a:gd name="T1" fmla="*/ 0 h 260"/>
                <a:gd name="T2" fmla="*/ 4 w 439"/>
                <a:gd name="T3" fmla="*/ 0 h 260"/>
                <a:gd name="T4" fmla="*/ 3 w 439"/>
                <a:gd name="T5" fmla="*/ 0 h 260"/>
                <a:gd name="T6" fmla="*/ 3 w 439"/>
                <a:gd name="T7" fmla="*/ 0 h 260"/>
                <a:gd name="T8" fmla="*/ 2 w 439"/>
                <a:gd name="T9" fmla="*/ 0 h 260"/>
                <a:gd name="T10" fmla="*/ 2 w 439"/>
                <a:gd name="T11" fmla="*/ 0 h 260"/>
                <a:gd name="T12" fmla="*/ 2 w 439"/>
                <a:gd name="T13" fmla="*/ 0 h 260"/>
                <a:gd name="T14" fmla="*/ 2 w 439"/>
                <a:gd name="T15" fmla="*/ 0 h 260"/>
                <a:gd name="T16" fmla="*/ 1 w 439"/>
                <a:gd name="T17" fmla="*/ 0 h 260"/>
                <a:gd name="T18" fmla="*/ 1 w 439"/>
                <a:gd name="T19" fmla="*/ 1 h 260"/>
                <a:gd name="T20" fmla="*/ 1 w 439"/>
                <a:gd name="T21" fmla="*/ 1 h 260"/>
                <a:gd name="T22" fmla="*/ 1 w 439"/>
                <a:gd name="T23" fmla="*/ 1 h 260"/>
                <a:gd name="T24" fmla="*/ 0 w 439"/>
                <a:gd name="T25" fmla="*/ 1 h 260"/>
                <a:gd name="T26" fmla="*/ 0 w 439"/>
                <a:gd name="T27" fmla="*/ 1 h 260"/>
                <a:gd name="T28" fmla="*/ 0 w 439"/>
                <a:gd name="T29" fmla="*/ 1 h 260"/>
                <a:gd name="T30" fmla="*/ 0 w 439"/>
                <a:gd name="T31" fmla="*/ 2 h 260"/>
                <a:gd name="T32" fmla="*/ 0 w 439"/>
                <a:gd name="T33" fmla="*/ 2 h 260"/>
                <a:gd name="T34" fmla="*/ 0 w 439"/>
                <a:gd name="T35" fmla="*/ 2 h 260"/>
                <a:gd name="T36" fmla="*/ 0 w 439"/>
                <a:gd name="T37" fmla="*/ 2 h 260"/>
                <a:gd name="T38" fmla="*/ 0 w 439"/>
                <a:gd name="T39" fmla="*/ 2 h 260"/>
                <a:gd name="T40" fmla="*/ 0 w 439"/>
                <a:gd name="T41" fmla="*/ 2 h 260"/>
                <a:gd name="T42" fmla="*/ 0 w 439"/>
                <a:gd name="T43" fmla="*/ 1 h 260"/>
                <a:gd name="T44" fmla="*/ 0 w 439"/>
                <a:gd name="T45" fmla="*/ 1 h 260"/>
                <a:gd name="T46" fmla="*/ 1 w 439"/>
                <a:gd name="T47" fmla="*/ 1 h 260"/>
                <a:gd name="T48" fmla="*/ 1 w 439"/>
                <a:gd name="T49" fmla="*/ 1 h 260"/>
                <a:gd name="T50" fmla="*/ 1 w 439"/>
                <a:gd name="T51" fmla="*/ 1 h 260"/>
                <a:gd name="T52" fmla="*/ 1 w 439"/>
                <a:gd name="T53" fmla="*/ 1 h 260"/>
                <a:gd name="T54" fmla="*/ 1 w 439"/>
                <a:gd name="T55" fmla="*/ 1 h 260"/>
                <a:gd name="T56" fmla="*/ 2 w 439"/>
                <a:gd name="T57" fmla="*/ 0 h 260"/>
                <a:gd name="T58" fmla="*/ 2 w 439"/>
                <a:gd name="T59" fmla="*/ 0 h 260"/>
                <a:gd name="T60" fmla="*/ 2 w 439"/>
                <a:gd name="T61" fmla="*/ 0 h 260"/>
                <a:gd name="T62" fmla="*/ 3 w 439"/>
                <a:gd name="T63" fmla="*/ 0 h 260"/>
                <a:gd name="T64" fmla="*/ 3 w 439"/>
                <a:gd name="T65" fmla="*/ 0 h 260"/>
                <a:gd name="T66" fmla="*/ 3 w 439"/>
                <a:gd name="T67" fmla="*/ 0 h 260"/>
                <a:gd name="T68" fmla="*/ 4 w 439"/>
                <a:gd name="T69" fmla="*/ 0 h 260"/>
                <a:gd name="T70" fmla="*/ 4 w 439"/>
                <a:gd name="T71" fmla="*/ 0 h 260"/>
                <a:gd name="T72" fmla="*/ 4 w 439"/>
                <a:gd name="T73" fmla="*/ 0 h 2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39"/>
                <a:gd name="T112" fmla="*/ 0 h 260"/>
                <a:gd name="T113" fmla="*/ 439 w 439"/>
                <a:gd name="T114" fmla="*/ 260 h 2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39" h="260">
                  <a:moveTo>
                    <a:pt x="439" y="0"/>
                  </a:moveTo>
                  <a:lnTo>
                    <a:pt x="439" y="0"/>
                  </a:lnTo>
                  <a:lnTo>
                    <a:pt x="395" y="1"/>
                  </a:lnTo>
                  <a:lnTo>
                    <a:pt x="351" y="4"/>
                  </a:lnTo>
                  <a:lnTo>
                    <a:pt x="310" y="11"/>
                  </a:lnTo>
                  <a:lnTo>
                    <a:pt x="270" y="19"/>
                  </a:lnTo>
                  <a:lnTo>
                    <a:pt x="231" y="30"/>
                  </a:lnTo>
                  <a:lnTo>
                    <a:pt x="195" y="43"/>
                  </a:lnTo>
                  <a:lnTo>
                    <a:pt x="162" y="58"/>
                  </a:lnTo>
                  <a:lnTo>
                    <a:pt x="130" y="73"/>
                  </a:lnTo>
                  <a:lnTo>
                    <a:pt x="102" y="93"/>
                  </a:lnTo>
                  <a:lnTo>
                    <a:pt x="76" y="113"/>
                  </a:lnTo>
                  <a:lnTo>
                    <a:pt x="54" y="133"/>
                  </a:lnTo>
                  <a:lnTo>
                    <a:pt x="35" y="157"/>
                  </a:lnTo>
                  <a:lnTo>
                    <a:pt x="20" y="181"/>
                  </a:lnTo>
                  <a:lnTo>
                    <a:pt x="10" y="206"/>
                  </a:lnTo>
                  <a:lnTo>
                    <a:pt x="3" y="233"/>
                  </a:lnTo>
                  <a:lnTo>
                    <a:pt x="0" y="260"/>
                  </a:lnTo>
                  <a:lnTo>
                    <a:pt x="12" y="260"/>
                  </a:lnTo>
                  <a:lnTo>
                    <a:pt x="14" y="235"/>
                  </a:lnTo>
                  <a:lnTo>
                    <a:pt x="21" y="211"/>
                  </a:lnTo>
                  <a:lnTo>
                    <a:pt x="32" y="186"/>
                  </a:lnTo>
                  <a:lnTo>
                    <a:pt x="45" y="164"/>
                  </a:lnTo>
                  <a:lnTo>
                    <a:pt x="64" y="143"/>
                  </a:lnTo>
                  <a:lnTo>
                    <a:pt x="84" y="123"/>
                  </a:lnTo>
                  <a:lnTo>
                    <a:pt x="109" y="103"/>
                  </a:lnTo>
                  <a:lnTo>
                    <a:pt x="137" y="85"/>
                  </a:lnTo>
                  <a:lnTo>
                    <a:pt x="167" y="70"/>
                  </a:lnTo>
                  <a:lnTo>
                    <a:pt x="200" y="55"/>
                  </a:lnTo>
                  <a:lnTo>
                    <a:pt x="236" y="42"/>
                  </a:lnTo>
                  <a:lnTo>
                    <a:pt x="272" y="31"/>
                  </a:lnTo>
                  <a:lnTo>
                    <a:pt x="312" y="23"/>
                  </a:lnTo>
                  <a:lnTo>
                    <a:pt x="353" y="16"/>
                  </a:lnTo>
                  <a:lnTo>
                    <a:pt x="395" y="12"/>
                  </a:lnTo>
                  <a:lnTo>
                    <a:pt x="439" y="11"/>
                  </a:lnTo>
                  <a:lnTo>
                    <a:pt x="4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4" name="Freeform 55"/>
            <p:cNvSpPr>
              <a:spLocks/>
            </p:cNvSpPr>
            <p:nvPr/>
          </p:nvSpPr>
          <p:spPr bwMode="auto">
            <a:xfrm>
              <a:off x="964" y="1745"/>
              <a:ext cx="48" cy="85"/>
            </a:xfrm>
            <a:custGeom>
              <a:avLst/>
              <a:gdLst>
                <a:gd name="T0" fmla="*/ 2 w 244"/>
                <a:gd name="T1" fmla="*/ 3 h 426"/>
                <a:gd name="T2" fmla="*/ 2 w 244"/>
                <a:gd name="T3" fmla="*/ 3 h 426"/>
                <a:gd name="T4" fmla="*/ 2 w 244"/>
                <a:gd name="T5" fmla="*/ 3 h 426"/>
                <a:gd name="T6" fmla="*/ 2 w 244"/>
                <a:gd name="T7" fmla="*/ 3 h 426"/>
                <a:gd name="T8" fmla="*/ 2 w 244"/>
                <a:gd name="T9" fmla="*/ 2 h 426"/>
                <a:gd name="T10" fmla="*/ 2 w 244"/>
                <a:gd name="T11" fmla="*/ 2 h 426"/>
                <a:gd name="T12" fmla="*/ 2 w 244"/>
                <a:gd name="T13" fmla="*/ 2 h 426"/>
                <a:gd name="T14" fmla="*/ 2 w 244"/>
                <a:gd name="T15" fmla="*/ 2 h 426"/>
                <a:gd name="T16" fmla="*/ 1 w 244"/>
                <a:gd name="T17" fmla="*/ 1 h 426"/>
                <a:gd name="T18" fmla="*/ 1 w 244"/>
                <a:gd name="T19" fmla="*/ 1 h 426"/>
                <a:gd name="T20" fmla="*/ 1 w 244"/>
                <a:gd name="T21" fmla="*/ 1 h 426"/>
                <a:gd name="T22" fmla="*/ 1 w 244"/>
                <a:gd name="T23" fmla="*/ 1 h 426"/>
                <a:gd name="T24" fmla="*/ 1 w 244"/>
                <a:gd name="T25" fmla="*/ 0 h 426"/>
                <a:gd name="T26" fmla="*/ 1 w 244"/>
                <a:gd name="T27" fmla="*/ 0 h 426"/>
                <a:gd name="T28" fmla="*/ 1 w 244"/>
                <a:gd name="T29" fmla="*/ 0 h 426"/>
                <a:gd name="T30" fmla="*/ 0 w 244"/>
                <a:gd name="T31" fmla="*/ 0 h 426"/>
                <a:gd name="T32" fmla="*/ 0 w 244"/>
                <a:gd name="T33" fmla="*/ 0 h 426"/>
                <a:gd name="T34" fmla="*/ 0 w 244"/>
                <a:gd name="T35" fmla="*/ 0 h 426"/>
                <a:gd name="T36" fmla="*/ 0 w 244"/>
                <a:gd name="T37" fmla="*/ 0 h 426"/>
                <a:gd name="T38" fmla="*/ 0 w 244"/>
                <a:gd name="T39" fmla="*/ 0 h 426"/>
                <a:gd name="T40" fmla="*/ 0 w 244"/>
                <a:gd name="T41" fmla="*/ 0 h 426"/>
                <a:gd name="T42" fmla="*/ 1 w 244"/>
                <a:gd name="T43" fmla="*/ 0 h 426"/>
                <a:gd name="T44" fmla="*/ 1 w 244"/>
                <a:gd name="T45" fmla="*/ 0 h 426"/>
                <a:gd name="T46" fmla="*/ 1 w 244"/>
                <a:gd name="T47" fmla="*/ 0 h 426"/>
                <a:gd name="T48" fmla="*/ 1 w 244"/>
                <a:gd name="T49" fmla="*/ 1 h 426"/>
                <a:gd name="T50" fmla="*/ 1 w 244"/>
                <a:gd name="T51" fmla="*/ 1 h 426"/>
                <a:gd name="T52" fmla="*/ 1 w 244"/>
                <a:gd name="T53" fmla="*/ 1 h 426"/>
                <a:gd name="T54" fmla="*/ 1 w 244"/>
                <a:gd name="T55" fmla="*/ 1 h 426"/>
                <a:gd name="T56" fmla="*/ 1 w 244"/>
                <a:gd name="T57" fmla="*/ 2 h 426"/>
                <a:gd name="T58" fmla="*/ 2 w 244"/>
                <a:gd name="T59" fmla="*/ 2 h 426"/>
                <a:gd name="T60" fmla="*/ 2 w 244"/>
                <a:gd name="T61" fmla="*/ 2 h 426"/>
                <a:gd name="T62" fmla="*/ 2 w 244"/>
                <a:gd name="T63" fmla="*/ 2 h 426"/>
                <a:gd name="T64" fmla="*/ 2 w 244"/>
                <a:gd name="T65" fmla="*/ 3 h 426"/>
                <a:gd name="T66" fmla="*/ 2 w 244"/>
                <a:gd name="T67" fmla="*/ 3 h 426"/>
                <a:gd name="T68" fmla="*/ 2 w 244"/>
                <a:gd name="T69" fmla="*/ 3 h 426"/>
                <a:gd name="T70" fmla="*/ 2 w 244"/>
                <a:gd name="T71" fmla="*/ 3 h 426"/>
                <a:gd name="T72" fmla="*/ 2 w 244"/>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6"/>
                <a:gd name="T113" fmla="*/ 244 w 244"/>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6">
                  <a:moveTo>
                    <a:pt x="244" y="426"/>
                  </a:moveTo>
                  <a:lnTo>
                    <a:pt x="244" y="426"/>
                  </a:lnTo>
                  <a:lnTo>
                    <a:pt x="243" y="383"/>
                  </a:lnTo>
                  <a:lnTo>
                    <a:pt x="240" y="340"/>
                  </a:lnTo>
                  <a:lnTo>
                    <a:pt x="234" y="300"/>
                  </a:lnTo>
                  <a:lnTo>
                    <a:pt x="226" y="262"/>
                  </a:lnTo>
                  <a:lnTo>
                    <a:pt x="215" y="224"/>
                  </a:lnTo>
                  <a:lnTo>
                    <a:pt x="203" y="189"/>
                  </a:lnTo>
                  <a:lnTo>
                    <a:pt x="189" y="157"/>
                  </a:lnTo>
                  <a:lnTo>
                    <a:pt x="174" y="126"/>
                  </a:lnTo>
                  <a:lnTo>
                    <a:pt x="155" y="99"/>
                  </a:lnTo>
                  <a:lnTo>
                    <a:pt x="138" y="74"/>
                  </a:lnTo>
                  <a:lnTo>
                    <a:pt x="118" y="52"/>
                  </a:lnTo>
                  <a:lnTo>
                    <a:pt x="96" y="34"/>
                  </a:lnTo>
                  <a:lnTo>
                    <a:pt x="73" y="19"/>
                  </a:lnTo>
                  <a:lnTo>
                    <a:pt x="50" y="8"/>
                  </a:lnTo>
                  <a:lnTo>
                    <a:pt x="25" y="2"/>
                  </a:lnTo>
                  <a:lnTo>
                    <a:pt x="0" y="0"/>
                  </a:lnTo>
                  <a:lnTo>
                    <a:pt x="0" y="12"/>
                  </a:lnTo>
                  <a:lnTo>
                    <a:pt x="23" y="14"/>
                  </a:lnTo>
                  <a:lnTo>
                    <a:pt x="45" y="20"/>
                  </a:lnTo>
                  <a:lnTo>
                    <a:pt x="66" y="31"/>
                  </a:lnTo>
                  <a:lnTo>
                    <a:pt x="89" y="43"/>
                  </a:lnTo>
                  <a:lnTo>
                    <a:pt x="109" y="61"/>
                  </a:lnTo>
                  <a:lnTo>
                    <a:pt x="129" y="81"/>
                  </a:lnTo>
                  <a:lnTo>
                    <a:pt x="146" y="106"/>
                  </a:lnTo>
                  <a:lnTo>
                    <a:pt x="162" y="133"/>
                  </a:lnTo>
                  <a:lnTo>
                    <a:pt x="178" y="162"/>
                  </a:lnTo>
                  <a:lnTo>
                    <a:pt x="192" y="194"/>
                  </a:lnTo>
                  <a:lnTo>
                    <a:pt x="203" y="229"/>
                  </a:lnTo>
                  <a:lnTo>
                    <a:pt x="214" y="264"/>
                  </a:lnTo>
                  <a:lnTo>
                    <a:pt x="222" y="303"/>
                  </a:lnTo>
                  <a:lnTo>
                    <a:pt x="228" y="342"/>
                  </a:lnTo>
                  <a:lnTo>
                    <a:pt x="232" y="383"/>
                  </a:lnTo>
                  <a:lnTo>
                    <a:pt x="233" y="426"/>
                  </a:lnTo>
                  <a:lnTo>
                    <a:pt x="244"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5" name="Freeform 56"/>
            <p:cNvSpPr>
              <a:spLocks/>
            </p:cNvSpPr>
            <p:nvPr/>
          </p:nvSpPr>
          <p:spPr bwMode="auto">
            <a:xfrm>
              <a:off x="964" y="1830"/>
              <a:ext cx="48" cy="85"/>
            </a:xfrm>
            <a:custGeom>
              <a:avLst/>
              <a:gdLst>
                <a:gd name="T0" fmla="*/ 0 w 244"/>
                <a:gd name="T1" fmla="*/ 3 h 424"/>
                <a:gd name="T2" fmla="*/ 0 w 244"/>
                <a:gd name="T3" fmla="*/ 3 h 424"/>
                <a:gd name="T4" fmla="*/ 0 w 244"/>
                <a:gd name="T5" fmla="*/ 3 h 424"/>
                <a:gd name="T6" fmla="*/ 0 w 244"/>
                <a:gd name="T7" fmla="*/ 3 h 424"/>
                <a:gd name="T8" fmla="*/ 1 w 244"/>
                <a:gd name="T9" fmla="*/ 3 h 424"/>
                <a:gd name="T10" fmla="*/ 1 w 244"/>
                <a:gd name="T11" fmla="*/ 3 h 424"/>
                <a:gd name="T12" fmla="*/ 1 w 244"/>
                <a:gd name="T13" fmla="*/ 3 h 424"/>
                <a:gd name="T14" fmla="*/ 1 w 244"/>
                <a:gd name="T15" fmla="*/ 3 h 424"/>
                <a:gd name="T16" fmla="*/ 1 w 244"/>
                <a:gd name="T17" fmla="*/ 3 h 424"/>
                <a:gd name="T18" fmla="*/ 1 w 244"/>
                <a:gd name="T19" fmla="*/ 2 h 424"/>
                <a:gd name="T20" fmla="*/ 1 w 244"/>
                <a:gd name="T21" fmla="*/ 2 h 424"/>
                <a:gd name="T22" fmla="*/ 2 w 244"/>
                <a:gd name="T23" fmla="*/ 2 h 424"/>
                <a:gd name="T24" fmla="*/ 2 w 244"/>
                <a:gd name="T25" fmla="*/ 2 h 424"/>
                <a:gd name="T26" fmla="*/ 2 w 244"/>
                <a:gd name="T27" fmla="*/ 1 h 424"/>
                <a:gd name="T28" fmla="*/ 2 w 244"/>
                <a:gd name="T29" fmla="*/ 1 h 424"/>
                <a:gd name="T30" fmla="*/ 2 w 244"/>
                <a:gd name="T31" fmla="*/ 1 h 424"/>
                <a:gd name="T32" fmla="*/ 2 w 244"/>
                <a:gd name="T33" fmla="*/ 0 h 424"/>
                <a:gd name="T34" fmla="*/ 2 w 244"/>
                <a:gd name="T35" fmla="*/ 0 h 424"/>
                <a:gd name="T36" fmla="*/ 2 w 244"/>
                <a:gd name="T37" fmla="*/ 0 h 424"/>
                <a:gd name="T38" fmla="*/ 2 w 244"/>
                <a:gd name="T39" fmla="*/ 0 h 424"/>
                <a:gd name="T40" fmla="*/ 2 w 244"/>
                <a:gd name="T41" fmla="*/ 1 h 424"/>
                <a:gd name="T42" fmla="*/ 2 w 244"/>
                <a:gd name="T43" fmla="*/ 1 h 424"/>
                <a:gd name="T44" fmla="*/ 2 w 244"/>
                <a:gd name="T45" fmla="*/ 1 h 424"/>
                <a:gd name="T46" fmla="*/ 2 w 244"/>
                <a:gd name="T47" fmla="*/ 2 h 424"/>
                <a:gd name="T48" fmla="*/ 1 w 244"/>
                <a:gd name="T49" fmla="*/ 2 h 424"/>
                <a:gd name="T50" fmla="*/ 1 w 244"/>
                <a:gd name="T51" fmla="*/ 2 h 424"/>
                <a:gd name="T52" fmla="*/ 1 w 244"/>
                <a:gd name="T53" fmla="*/ 2 h 424"/>
                <a:gd name="T54" fmla="*/ 1 w 244"/>
                <a:gd name="T55" fmla="*/ 3 h 424"/>
                <a:gd name="T56" fmla="*/ 1 w 244"/>
                <a:gd name="T57" fmla="*/ 3 h 424"/>
                <a:gd name="T58" fmla="*/ 1 w 244"/>
                <a:gd name="T59" fmla="*/ 3 h 424"/>
                <a:gd name="T60" fmla="*/ 1 w 244"/>
                <a:gd name="T61" fmla="*/ 3 h 424"/>
                <a:gd name="T62" fmla="*/ 1 w 244"/>
                <a:gd name="T63" fmla="*/ 3 h 424"/>
                <a:gd name="T64" fmla="*/ 0 w 244"/>
                <a:gd name="T65" fmla="*/ 3 h 424"/>
                <a:gd name="T66" fmla="*/ 0 w 244"/>
                <a:gd name="T67" fmla="*/ 3 h 424"/>
                <a:gd name="T68" fmla="*/ 0 w 244"/>
                <a:gd name="T69" fmla="*/ 3 h 424"/>
                <a:gd name="T70" fmla="*/ 0 w 244"/>
                <a:gd name="T71" fmla="*/ 3 h 424"/>
                <a:gd name="T72" fmla="*/ 0 w 244"/>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4"/>
                <a:gd name="T112" fmla="*/ 0 h 424"/>
                <a:gd name="T113" fmla="*/ 244 w 244"/>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4" h="424">
                  <a:moveTo>
                    <a:pt x="0" y="424"/>
                  </a:moveTo>
                  <a:lnTo>
                    <a:pt x="0" y="424"/>
                  </a:lnTo>
                  <a:lnTo>
                    <a:pt x="25" y="422"/>
                  </a:lnTo>
                  <a:lnTo>
                    <a:pt x="50" y="416"/>
                  </a:lnTo>
                  <a:lnTo>
                    <a:pt x="73" y="405"/>
                  </a:lnTo>
                  <a:lnTo>
                    <a:pt x="96" y="390"/>
                  </a:lnTo>
                  <a:lnTo>
                    <a:pt x="118" y="373"/>
                  </a:lnTo>
                  <a:lnTo>
                    <a:pt x="138" y="350"/>
                  </a:lnTo>
                  <a:lnTo>
                    <a:pt x="155" y="326"/>
                  </a:lnTo>
                  <a:lnTo>
                    <a:pt x="173" y="299"/>
                  </a:lnTo>
                  <a:lnTo>
                    <a:pt x="189" y="268"/>
                  </a:lnTo>
                  <a:lnTo>
                    <a:pt x="203" y="235"/>
                  </a:lnTo>
                  <a:lnTo>
                    <a:pt x="215" y="201"/>
                  </a:lnTo>
                  <a:lnTo>
                    <a:pt x="226" y="163"/>
                  </a:lnTo>
                  <a:lnTo>
                    <a:pt x="234" y="125"/>
                  </a:lnTo>
                  <a:lnTo>
                    <a:pt x="240" y="85"/>
                  </a:lnTo>
                  <a:lnTo>
                    <a:pt x="243" y="42"/>
                  </a:lnTo>
                  <a:lnTo>
                    <a:pt x="244" y="0"/>
                  </a:lnTo>
                  <a:lnTo>
                    <a:pt x="233" y="0"/>
                  </a:lnTo>
                  <a:lnTo>
                    <a:pt x="232" y="42"/>
                  </a:lnTo>
                  <a:lnTo>
                    <a:pt x="228" y="83"/>
                  </a:lnTo>
                  <a:lnTo>
                    <a:pt x="222" y="123"/>
                  </a:lnTo>
                  <a:lnTo>
                    <a:pt x="214" y="160"/>
                  </a:lnTo>
                  <a:lnTo>
                    <a:pt x="203" y="197"/>
                  </a:lnTo>
                  <a:lnTo>
                    <a:pt x="192" y="231"/>
                  </a:lnTo>
                  <a:lnTo>
                    <a:pt x="178" y="263"/>
                  </a:lnTo>
                  <a:lnTo>
                    <a:pt x="164" y="292"/>
                  </a:lnTo>
                  <a:lnTo>
                    <a:pt x="146" y="319"/>
                  </a:lnTo>
                  <a:lnTo>
                    <a:pt x="129" y="343"/>
                  </a:lnTo>
                  <a:lnTo>
                    <a:pt x="109" y="363"/>
                  </a:lnTo>
                  <a:lnTo>
                    <a:pt x="89" y="381"/>
                  </a:lnTo>
                  <a:lnTo>
                    <a:pt x="66" y="394"/>
                  </a:lnTo>
                  <a:lnTo>
                    <a:pt x="45" y="404"/>
                  </a:lnTo>
                  <a:lnTo>
                    <a:pt x="23" y="410"/>
                  </a:lnTo>
                  <a:lnTo>
                    <a:pt x="0" y="412"/>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6" name="Freeform 57"/>
            <p:cNvSpPr>
              <a:spLocks/>
            </p:cNvSpPr>
            <p:nvPr/>
          </p:nvSpPr>
          <p:spPr bwMode="auto">
            <a:xfrm>
              <a:off x="915" y="1830"/>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1" y="42"/>
                  </a:lnTo>
                  <a:lnTo>
                    <a:pt x="4" y="85"/>
                  </a:lnTo>
                  <a:lnTo>
                    <a:pt x="10" y="125"/>
                  </a:lnTo>
                  <a:lnTo>
                    <a:pt x="19" y="163"/>
                  </a:lnTo>
                  <a:lnTo>
                    <a:pt x="29" y="201"/>
                  </a:lnTo>
                  <a:lnTo>
                    <a:pt x="41" y="235"/>
                  </a:lnTo>
                  <a:lnTo>
                    <a:pt x="55" y="268"/>
                  </a:lnTo>
                  <a:lnTo>
                    <a:pt x="71" y="299"/>
                  </a:lnTo>
                  <a:lnTo>
                    <a:pt x="89" y="326"/>
                  </a:lnTo>
                  <a:lnTo>
                    <a:pt x="106" y="350"/>
                  </a:lnTo>
                  <a:lnTo>
                    <a:pt x="126" y="373"/>
                  </a:lnTo>
                  <a:lnTo>
                    <a:pt x="149" y="390"/>
                  </a:lnTo>
                  <a:lnTo>
                    <a:pt x="171" y="405"/>
                  </a:lnTo>
                  <a:lnTo>
                    <a:pt x="194" y="416"/>
                  </a:lnTo>
                  <a:lnTo>
                    <a:pt x="219" y="422"/>
                  </a:lnTo>
                  <a:lnTo>
                    <a:pt x="245" y="424"/>
                  </a:lnTo>
                  <a:lnTo>
                    <a:pt x="245" y="412"/>
                  </a:lnTo>
                  <a:lnTo>
                    <a:pt x="221" y="410"/>
                  </a:lnTo>
                  <a:lnTo>
                    <a:pt x="199" y="404"/>
                  </a:lnTo>
                  <a:lnTo>
                    <a:pt x="178" y="394"/>
                  </a:lnTo>
                  <a:lnTo>
                    <a:pt x="156" y="381"/>
                  </a:lnTo>
                  <a:lnTo>
                    <a:pt x="136" y="363"/>
                  </a:lnTo>
                  <a:lnTo>
                    <a:pt x="116" y="343"/>
                  </a:lnTo>
                  <a:lnTo>
                    <a:pt x="98" y="319"/>
                  </a:lnTo>
                  <a:lnTo>
                    <a:pt x="81" y="292"/>
                  </a:lnTo>
                  <a:lnTo>
                    <a:pt x="67" y="263"/>
                  </a:lnTo>
                  <a:lnTo>
                    <a:pt x="52" y="231"/>
                  </a:lnTo>
                  <a:lnTo>
                    <a:pt x="41" y="197"/>
                  </a:lnTo>
                  <a:lnTo>
                    <a:pt x="30" y="160"/>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7" name="Freeform 58"/>
            <p:cNvSpPr>
              <a:spLocks/>
            </p:cNvSpPr>
            <p:nvPr/>
          </p:nvSpPr>
          <p:spPr bwMode="auto">
            <a:xfrm>
              <a:off x="915" y="1745"/>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0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19" y="2"/>
                  </a:lnTo>
                  <a:lnTo>
                    <a:pt x="194" y="8"/>
                  </a:lnTo>
                  <a:lnTo>
                    <a:pt x="171" y="19"/>
                  </a:lnTo>
                  <a:lnTo>
                    <a:pt x="149" y="34"/>
                  </a:lnTo>
                  <a:lnTo>
                    <a:pt x="126" y="52"/>
                  </a:lnTo>
                  <a:lnTo>
                    <a:pt x="106" y="74"/>
                  </a:lnTo>
                  <a:lnTo>
                    <a:pt x="89" y="99"/>
                  </a:lnTo>
                  <a:lnTo>
                    <a:pt x="70" y="126"/>
                  </a:lnTo>
                  <a:lnTo>
                    <a:pt x="55" y="157"/>
                  </a:lnTo>
                  <a:lnTo>
                    <a:pt x="41" y="189"/>
                  </a:lnTo>
                  <a:lnTo>
                    <a:pt x="29" y="224"/>
                  </a:lnTo>
                  <a:lnTo>
                    <a:pt x="19" y="262"/>
                  </a:lnTo>
                  <a:lnTo>
                    <a:pt x="10" y="300"/>
                  </a:lnTo>
                  <a:lnTo>
                    <a:pt x="4" y="340"/>
                  </a:lnTo>
                  <a:lnTo>
                    <a:pt x="1" y="383"/>
                  </a:lnTo>
                  <a:lnTo>
                    <a:pt x="0" y="426"/>
                  </a:lnTo>
                  <a:lnTo>
                    <a:pt x="11" y="426"/>
                  </a:lnTo>
                  <a:lnTo>
                    <a:pt x="13" y="383"/>
                  </a:lnTo>
                  <a:lnTo>
                    <a:pt x="16" y="342"/>
                  </a:lnTo>
                  <a:lnTo>
                    <a:pt x="22" y="303"/>
                  </a:lnTo>
                  <a:lnTo>
                    <a:pt x="30" y="264"/>
                  </a:lnTo>
                  <a:lnTo>
                    <a:pt x="41" y="229"/>
                  </a:lnTo>
                  <a:lnTo>
                    <a:pt x="52" y="194"/>
                  </a:lnTo>
                  <a:lnTo>
                    <a:pt x="67" y="162"/>
                  </a:lnTo>
                  <a:lnTo>
                    <a:pt x="82" y="133"/>
                  </a:lnTo>
                  <a:lnTo>
                    <a:pt x="98" y="106"/>
                  </a:lnTo>
                  <a:lnTo>
                    <a:pt x="116" y="81"/>
                  </a:lnTo>
                  <a:lnTo>
                    <a:pt x="136" y="61"/>
                  </a:lnTo>
                  <a:lnTo>
                    <a:pt x="156" y="43"/>
                  </a:lnTo>
                  <a:lnTo>
                    <a:pt x="178" y="31"/>
                  </a:lnTo>
                  <a:lnTo>
                    <a:pt x="199" y="20"/>
                  </a:lnTo>
                  <a:lnTo>
                    <a:pt x="221"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8" name="Freeform 59"/>
            <p:cNvSpPr>
              <a:spLocks/>
            </p:cNvSpPr>
            <p:nvPr/>
          </p:nvSpPr>
          <p:spPr bwMode="auto">
            <a:xfrm>
              <a:off x="1140" y="2087"/>
              <a:ext cx="49" cy="85"/>
            </a:xfrm>
            <a:custGeom>
              <a:avLst/>
              <a:gdLst>
                <a:gd name="T0" fmla="*/ 2 w 246"/>
                <a:gd name="T1" fmla="*/ 3 h 424"/>
                <a:gd name="T2" fmla="*/ 2 w 246"/>
                <a:gd name="T3" fmla="*/ 3 h 424"/>
                <a:gd name="T4" fmla="*/ 2 w 246"/>
                <a:gd name="T5" fmla="*/ 3 h 424"/>
                <a:gd name="T6" fmla="*/ 2 w 246"/>
                <a:gd name="T7" fmla="*/ 3 h 424"/>
                <a:gd name="T8" fmla="*/ 2 w 246"/>
                <a:gd name="T9" fmla="*/ 2 h 424"/>
                <a:gd name="T10" fmla="*/ 2 w 246"/>
                <a:gd name="T11" fmla="*/ 2 h 424"/>
                <a:gd name="T12" fmla="*/ 2 w 246"/>
                <a:gd name="T13" fmla="*/ 2 h 424"/>
                <a:gd name="T14" fmla="*/ 2 w 246"/>
                <a:gd name="T15" fmla="*/ 2 h 424"/>
                <a:gd name="T16" fmla="*/ 2 w 246"/>
                <a:gd name="T17" fmla="*/ 1 h 424"/>
                <a:gd name="T18" fmla="*/ 1 w 246"/>
                <a:gd name="T19" fmla="*/ 1 h 424"/>
                <a:gd name="T20" fmla="*/ 1 w 246"/>
                <a:gd name="T21" fmla="*/ 1 h 424"/>
                <a:gd name="T22" fmla="*/ 1 w 246"/>
                <a:gd name="T23" fmla="*/ 1 h 424"/>
                <a:gd name="T24" fmla="*/ 1 w 246"/>
                <a:gd name="T25" fmla="*/ 0 h 424"/>
                <a:gd name="T26" fmla="*/ 1 w 246"/>
                <a:gd name="T27" fmla="*/ 0 h 424"/>
                <a:gd name="T28" fmla="*/ 1 w 246"/>
                <a:gd name="T29" fmla="*/ 0 h 424"/>
                <a:gd name="T30" fmla="*/ 0 w 246"/>
                <a:gd name="T31" fmla="*/ 0 h 424"/>
                <a:gd name="T32" fmla="*/ 0 w 246"/>
                <a:gd name="T33" fmla="*/ 0 h 424"/>
                <a:gd name="T34" fmla="*/ 0 w 246"/>
                <a:gd name="T35" fmla="*/ 0 h 424"/>
                <a:gd name="T36" fmla="*/ 0 w 246"/>
                <a:gd name="T37" fmla="*/ 0 h 424"/>
                <a:gd name="T38" fmla="*/ 0 w 246"/>
                <a:gd name="T39" fmla="*/ 0 h 424"/>
                <a:gd name="T40" fmla="*/ 0 w 246"/>
                <a:gd name="T41" fmla="*/ 0 h 424"/>
                <a:gd name="T42" fmla="*/ 1 w 246"/>
                <a:gd name="T43" fmla="*/ 0 h 424"/>
                <a:gd name="T44" fmla="*/ 1 w 246"/>
                <a:gd name="T45" fmla="*/ 0 h 424"/>
                <a:gd name="T46" fmla="*/ 1 w 246"/>
                <a:gd name="T47" fmla="*/ 0 h 424"/>
                <a:gd name="T48" fmla="*/ 1 w 246"/>
                <a:gd name="T49" fmla="*/ 1 h 424"/>
                <a:gd name="T50" fmla="*/ 1 w 246"/>
                <a:gd name="T51" fmla="*/ 1 h 424"/>
                <a:gd name="T52" fmla="*/ 1 w 246"/>
                <a:gd name="T53" fmla="*/ 1 h 424"/>
                <a:gd name="T54" fmla="*/ 1 w 246"/>
                <a:gd name="T55" fmla="*/ 1 h 424"/>
                <a:gd name="T56" fmla="*/ 2 w 246"/>
                <a:gd name="T57" fmla="*/ 2 h 424"/>
                <a:gd name="T58" fmla="*/ 2 w 246"/>
                <a:gd name="T59" fmla="*/ 2 h 424"/>
                <a:gd name="T60" fmla="*/ 2 w 246"/>
                <a:gd name="T61" fmla="*/ 2 h 424"/>
                <a:gd name="T62" fmla="*/ 2 w 246"/>
                <a:gd name="T63" fmla="*/ 2 h 424"/>
                <a:gd name="T64" fmla="*/ 2 w 246"/>
                <a:gd name="T65" fmla="*/ 3 h 424"/>
                <a:gd name="T66" fmla="*/ 2 w 246"/>
                <a:gd name="T67" fmla="*/ 3 h 424"/>
                <a:gd name="T68" fmla="*/ 2 w 246"/>
                <a:gd name="T69" fmla="*/ 3 h 424"/>
                <a:gd name="T70" fmla="*/ 2 w 246"/>
                <a:gd name="T71" fmla="*/ 3 h 424"/>
                <a:gd name="T72" fmla="*/ 2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424"/>
                  </a:moveTo>
                  <a:lnTo>
                    <a:pt x="246" y="424"/>
                  </a:lnTo>
                  <a:lnTo>
                    <a:pt x="244" y="382"/>
                  </a:lnTo>
                  <a:lnTo>
                    <a:pt x="241" y="338"/>
                  </a:lnTo>
                  <a:lnTo>
                    <a:pt x="235" y="298"/>
                  </a:lnTo>
                  <a:lnTo>
                    <a:pt x="227" y="261"/>
                  </a:lnTo>
                  <a:lnTo>
                    <a:pt x="216" y="222"/>
                  </a:lnTo>
                  <a:lnTo>
                    <a:pt x="205" y="188"/>
                  </a:lnTo>
                  <a:lnTo>
                    <a:pt x="190" y="155"/>
                  </a:lnTo>
                  <a:lnTo>
                    <a:pt x="174" y="125"/>
                  </a:lnTo>
                  <a:lnTo>
                    <a:pt x="157" y="98"/>
                  </a:lnTo>
                  <a:lnTo>
                    <a:pt x="138" y="73"/>
                  </a:lnTo>
                  <a:lnTo>
                    <a:pt x="118" y="51"/>
                  </a:lnTo>
                  <a:lnTo>
                    <a:pt x="96" y="34"/>
                  </a:lnTo>
                  <a:lnTo>
                    <a:pt x="74" y="18"/>
                  </a:lnTo>
                  <a:lnTo>
                    <a:pt x="50" y="8"/>
                  </a:lnTo>
                  <a:lnTo>
                    <a:pt x="25" y="2"/>
                  </a:lnTo>
                  <a:lnTo>
                    <a:pt x="0" y="0"/>
                  </a:lnTo>
                  <a:lnTo>
                    <a:pt x="0" y="11"/>
                  </a:lnTo>
                  <a:lnTo>
                    <a:pt x="23" y="14"/>
                  </a:lnTo>
                  <a:lnTo>
                    <a:pt x="45" y="19"/>
                  </a:lnTo>
                  <a:lnTo>
                    <a:pt x="67" y="30"/>
                  </a:lnTo>
                  <a:lnTo>
                    <a:pt x="89" y="43"/>
                  </a:lnTo>
                  <a:lnTo>
                    <a:pt x="108" y="60"/>
                  </a:lnTo>
                  <a:lnTo>
                    <a:pt x="128" y="80"/>
                  </a:lnTo>
                  <a:lnTo>
                    <a:pt x="147" y="105"/>
                  </a:lnTo>
                  <a:lnTo>
                    <a:pt x="165" y="132"/>
                  </a:lnTo>
                  <a:lnTo>
                    <a:pt x="179" y="160"/>
                  </a:lnTo>
                  <a:lnTo>
                    <a:pt x="193" y="193"/>
                  </a:lnTo>
                  <a:lnTo>
                    <a:pt x="205" y="227"/>
                  </a:lnTo>
                  <a:lnTo>
                    <a:pt x="215" y="263"/>
                  </a:lnTo>
                  <a:lnTo>
                    <a:pt x="223" y="301"/>
                  </a:lnTo>
                  <a:lnTo>
                    <a:pt x="229" y="341"/>
                  </a:lnTo>
                  <a:lnTo>
                    <a:pt x="233" y="382"/>
                  </a:lnTo>
                  <a:lnTo>
                    <a:pt x="234" y="424"/>
                  </a:lnTo>
                  <a:lnTo>
                    <a:pt x="246"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59" name="Freeform 60"/>
            <p:cNvSpPr>
              <a:spLocks/>
            </p:cNvSpPr>
            <p:nvPr/>
          </p:nvSpPr>
          <p:spPr bwMode="auto">
            <a:xfrm>
              <a:off x="1140" y="2172"/>
              <a:ext cx="49" cy="85"/>
            </a:xfrm>
            <a:custGeom>
              <a:avLst/>
              <a:gdLst>
                <a:gd name="T0" fmla="*/ 0 w 246"/>
                <a:gd name="T1" fmla="*/ 3 h 426"/>
                <a:gd name="T2" fmla="*/ 0 w 246"/>
                <a:gd name="T3" fmla="*/ 3 h 426"/>
                <a:gd name="T4" fmla="*/ 0 w 246"/>
                <a:gd name="T5" fmla="*/ 3 h 426"/>
                <a:gd name="T6" fmla="*/ 0 w 246"/>
                <a:gd name="T7" fmla="*/ 3 h 426"/>
                <a:gd name="T8" fmla="*/ 1 w 246"/>
                <a:gd name="T9" fmla="*/ 3 h 426"/>
                <a:gd name="T10" fmla="*/ 1 w 246"/>
                <a:gd name="T11" fmla="*/ 3 h 426"/>
                <a:gd name="T12" fmla="*/ 1 w 246"/>
                <a:gd name="T13" fmla="*/ 3 h 426"/>
                <a:gd name="T14" fmla="*/ 1 w 246"/>
                <a:gd name="T15" fmla="*/ 3 h 426"/>
                <a:gd name="T16" fmla="*/ 1 w 246"/>
                <a:gd name="T17" fmla="*/ 3 h 426"/>
                <a:gd name="T18" fmla="*/ 1 w 246"/>
                <a:gd name="T19" fmla="*/ 2 h 426"/>
                <a:gd name="T20" fmla="*/ 2 w 246"/>
                <a:gd name="T21" fmla="*/ 2 h 426"/>
                <a:gd name="T22" fmla="*/ 2 w 246"/>
                <a:gd name="T23" fmla="*/ 2 h 426"/>
                <a:gd name="T24" fmla="*/ 2 w 246"/>
                <a:gd name="T25" fmla="*/ 2 h 426"/>
                <a:gd name="T26" fmla="*/ 2 w 246"/>
                <a:gd name="T27" fmla="*/ 1 h 426"/>
                <a:gd name="T28" fmla="*/ 2 w 246"/>
                <a:gd name="T29" fmla="*/ 1 h 426"/>
                <a:gd name="T30" fmla="*/ 2 w 246"/>
                <a:gd name="T31" fmla="*/ 1 h 426"/>
                <a:gd name="T32" fmla="*/ 2 w 246"/>
                <a:gd name="T33" fmla="*/ 0 h 426"/>
                <a:gd name="T34" fmla="*/ 2 w 246"/>
                <a:gd name="T35" fmla="*/ 0 h 426"/>
                <a:gd name="T36" fmla="*/ 2 w 246"/>
                <a:gd name="T37" fmla="*/ 0 h 426"/>
                <a:gd name="T38" fmla="*/ 2 w 246"/>
                <a:gd name="T39" fmla="*/ 0 h 426"/>
                <a:gd name="T40" fmla="*/ 2 w 246"/>
                <a:gd name="T41" fmla="*/ 1 h 426"/>
                <a:gd name="T42" fmla="*/ 2 w 246"/>
                <a:gd name="T43" fmla="*/ 1 h 426"/>
                <a:gd name="T44" fmla="*/ 2 w 246"/>
                <a:gd name="T45" fmla="*/ 1 h 426"/>
                <a:gd name="T46" fmla="*/ 2 w 246"/>
                <a:gd name="T47" fmla="*/ 2 h 426"/>
                <a:gd name="T48" fmla="*/ 2 w 246"/>
                <a:gd name="T49" fmla="*/ 2 h 426"/>
                <a:gd name="T50" fmla="*/ 1 w 246"/>
                <a:gd name="T51" fmla="*/ 2 h 426"/>
                <a:gd name="T52" fmla="*/ 1 w 246"/>
                <a:gd name="T53" fmla="*/ 2 h 426"/>
                <a:gd name="T54" fmla="*/ 1 w 246"/>
                <a:gd name="T55" fmla="*/ 3 h 426"/>
                <a:gd name="T56" fmla="*/ 1 w 246"/>
                <a:gd name="T57" fmla="*/ 3 h 426"/>
                <a:gd name="T58" fmla="*/ 1 w 246"/>
                <a:gd name="T59" fmla="*/ 3 h 426"/>
                <a:gd name="T60" fmla="*/ 1 w 246"/>
                <a:gd name="T61" fmla="*/ 3 h 426"/>
                <a:gd name="T62" fmla="*/ 1 w 246"/>
                <a:gd name="T63" fmla="*/ 3 h 426"/>
                <a:gd name="T64" fmla="*/ 0 w 246"/>
                <a:gd name="T65" fmla="*/ 3 h 426"/>
                <a:gd name="T66" fmla="*/ 0 w 246"/>
                <a:gd name="T67" fmla="*/ 3 h 426"/>
                <a:gd name="T68" fmla="*/ 0 w 246"/>
                <a:gd name="T69" fmla="*/ 3 h 426"/>
                <a:gd name="T70" fmla="*/ 0 w 246"/>
                <a:gd name="T71" fmla="*/ 3 h 426"/>
                <a:gd name="T72" fmla="*/ 0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426"/>
                  </a:moveTo>
                  <a:lnTo>
                    <a:pt x="0" y="426"/>
                  </a:lnTo>
                  <a:lnTo>
                    <a:pt x="25" y="423"/>
                  </a:lnTo>
                  <a:lnTo>
                    <a:pt x="50" y="417"/>
                  </a:lnTo>
                  <a:lnTo>
                    <a:pt x="74" y="407"/>
                  </a:lnTo>
                  <a:lnTo>
                    <a:pt x="96" y="392"/>
                  </a:lnTo>
                  <a:lnTo>
                    <a:pt x="118" y="373"/>
                  </a:lnTo>
                  <a:lnTo>
                    <a:pt x="138" y="350"/>
                  </a:lnTo>
                  <a:lnTo>
                    <a:pt x="157" y="327"/>
                  </a:lnTo>
                  <a:lnTo>
                    <a:pt x="175" y="299"/>
                  </a:lnTo>
                  <a:lnTo>
                    <a:pt x="190" y="268"/>
                  </a:lnTo>
                  <a:lnTo>
                    <a:pt x="205" y="236"/>
                  </a:lnTo>
                  <a:lnTo>
                    <a:pt x="216" y="202"/>
                  </a:lnTo>
                  <a:lnTo>
                    <a:pt x="227" y="164"/>
                  </a:lnTo>
                  <a:lnTo>
                    <a:pt x="235" y="125"/>
                  </a:lnTo>
                  <a:lnTo>
                    <a:pt x="241" y="86"/>
                  </a:lnTo>
                  <a:lnTo>
                    <a:pt x="244" y="42"/>
                  </a:lnTo>
                  <a:lnTo>
                    <a:pt x="246" y="0"/>
                  </a:lnTo>
                  <a:lnTo>
                    <a:pt x="234" y="0"/>
                  </a:lnTo>
                  <a:lnTo>
                    <a:pt x="233" y="42"/>
                  </a:lnTo>
                  <a:lnTo>
                    <a:pt x="229" y="83"/>
                  </a:lnTo>
                  <a:lnTo>
                    <a:pt x="223" y="123"/>
                  </a:lnTo>
                  <a:lnTo>
                    <a:pt x="215" y="162"/>
                  </a:lnTo>
                  <a:lnTo>
                    <a:pt x="205" y="197"/>
                  </a:lnTo>
                  <a:lnTo>
                    <a:pt x="193" y="231"/>
                  </a:lnTo>
                  <a:lnTo>
                    <a:pt x="179" y="264"/>
                  </a:lnTo>
                  <a:lnTo>
                    <a:pt x="164" y="292"/>
                  </a:lnTo>
                  <a:lnTo>
                    <a:pt x="147" y="320"/>
                  </a:lnTo>
                  <a:lnTo>
                    <a:pt x="128" y="343"/>
                  </a:lnTo>
                  <a:lnTo>
                    <a:pt x="108" y="363"/>
                  </a:lnTo>
                  <a:lnTo>
                    <a:pt x="89" y="382"/>
                  </a:lnTo>
                  <a:lnTo>
                    <a:pt x="67" y="395"/>
                  </a:lnTo>
                  <a:lnTo>
                    <a:pt x="45" y="406"/>
                  </a:lnTo>
                  <a:lnTo>
                    <a:pt x="23" y="411"/>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0" name="Freeform 61"/>
            <p:cNvSpPr>
              <a:spLocks/>
            </p:cNvSpPr>
            <p:nvPr/>
          </p:nvSpPr>
          <p:spPr bwMode="auto">
            <a:xfrm>
              <a:off x="1091" y="2172"/>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4" y="86"/>
                  </a:lnTo>
                  <a:lnTo>
                    <a:pt x="10" y="125"/>
                  </a:lnTo>
                  <a:lnTo>
                    <a:pt x="18" y="164"/>
                  </a:lnTo>
                  <a:lnTo>
                    <a:pt x="29" y="202"/>
                  </a:lnTo>
                  <a:lnTo>
                    <a:pt x="41" y="236"/>
                  </a:lnTo>
                  <a:lnTo>
                    <a:pt x="55" y="268"/>
                  </a:lnTo>
                  <a:lnTo>
                    <a:pt x="70" y="299"/>
                  </a:lnTo>
                  <a:lnTo>
                    <a:pt x="89" y="327"/>
                  </a:lnTo>
                  <a:lnTo>
                    <a:pt x="106" y="350"/>
                  </a:lnTo>
                  <a:lnTo>
                    <a:pt x="126" y="373"/>
                  </a:lnTo>
                  <a:lnTo>
                    <a:pt x="148" y="392"/>
                  </a:lnTo>
                  <a:lnTo>
                    <a:pt x="171" y="407"/>
                  </a:lnTo>
                  <a:lnTo>
                    <a:pt x="194" y="417"/>
                  </a:lnTo>
                  <a:lnTo>
                    <a:pt x="219" y="423"/>
                  </a:lnTo>
                  <a:lnTo>
                    <a:pt x="245" y="426"/>
                  </a:lnTo>
                  <a:lnTo>
                    <a:pt x="245" y="414"/>
                  </a:lnTo>
                  <a:lnTo>
                    <a:pt x="221" y="411"/>
                  </a:lnTo>
                  <a:lnTo>
                    <a:pt x="199" y="406"/>
                  </a:lnTo>
                  <a:lnTo>
                    <a:pt x="178" y="395"/>
                  </a:lnTo>
                  <a:lnTo>
                    <a:pt x="155" y="382"/>
                  </a:lnTo>
                  <a:lnTo>
                    <a:pt x="136" y="363"/>
                  </a:lnTo>
                  <a:lnTo>
                    <a:pt x="116" y="343"/>
                  </a:lnTo>
                  <a:lnTo>
                    <a:pt x="98" y="320"/>
                  </a:lnTo>
                  <a:lnTo>
                    <a:pt x="82" y="292"/>
                  </a:lnTo>
                  <a:lnTo>
                    <a:pt x="66" y="264"/>
                  </a:lnTo>
                  <a:lnTo>
                    <a:pt x="52" y="231"/>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1" name="Freeform 62"/>
            <p:cNvSpPr>
              <a:spLocks/>
            </p:cNvSpPr>
            <p:nvPr/>
          </p:nvSpPr>
          <p:spPr bwMode="auto">
            <a:xfrm>
              <a:off x="1091" y="2087"/>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4" y="8"/>
                  </a:lnTo>
                  <a:lnTo>
                    <a:pt x="171" y="18"/>
                  </a:lnTo>
                  <a:lnTo>
                    <a:pt x="148" y="34"/>
                  </a:lnTo>
                  <a:lnTo>
                    <a:pt x="126" y="51"/>
                  </a:lnTo>
                  <a:lnTo>
                    <a:pt x="106" y="73"/>
                  </a:lnTo>
                  <a:lnTo>
                    <a:pt x="89" y="98"/>
                  </a:lnTo>
                  <a:lnTo>
                    <a:pt x="71" y="125"/>
                  </a:lnTo>
                  <a:lnTo>
                    <a:pt x="55" y="155"/>
                  </a:lnTo>
                  <a:lnTo>
                    <a:pt x="41" y="188"/>
                  </a:lnTo>
                  <a:lnTo>
                    <a:pt x="29" y="222"/>
                  </a:lnTo>
                  <a:lnTo>
                    <a:pt x="18" y="261"/>
                  </a:lnTo>
                  <a:lnTo>
                    <a:pt x="10" y="298"/>
                  </a:lnTo>
                  <a:lnTo>
                    <a:pt x="4" y="338"/>
                  </a:lnTo>
                  <a:lnTo>
                    <a:pt x="1" y="382"/>
                  </a:lnTo>
                  <a:lnTo>
                    <a:pt x="0" y="424"/>
                  </a:lnTo>
                  <a:lnTo>
                    <a:pt x="11" y="424"/>
                  </a:lnTo>
                  <a:lnTo>
                    <a:pt x="13" y="382"/>
                  </a:lnTo>
                  <a:lnTo>
                    <a:pt x="16" y="341"/>
                  </a:lnTo>
                  <a:lnTo>
                    <a:pt x="22" y="301"/>
                  </a:lnTo>
                  <a:lnTo>
                    <a:pt x="30" y="263"/>
                  </a:lnTo>
                  <a:lnTo>
                    <a:pt x="41" y="227"/>
                  </a:lnTo>
                  <a:lnTo>
                    <a:pt x="52" y="193"/>
                  </a:lnTo>
                  <a:lnTo>
                    <a:pt x="66" y="160"/>
                  </a:lnTo>
                  <a:lnTo>
                    <a:pt x="80" y="132"/>
                  </a:lnTo>
                  <a:lnTo>
                    <a:pt x="98" y="105"/>
                  </a:lnTo>
                  <a:lnTo>
                    <a:pt x="116" y="80"/>
                  </a:lnTo>
                  <a:lnTo>
                    <a:pt x="136" y="60"/>
                  </a:lnTo>
                  <a:lnTo>
                    <a:pt x="155" y="43"/>
                  </a:lnTo>
                  <a:lnTo>
                    <a:pt x="178" y="30"/>
                  </a:lnTo>
                  <a:lnTo>
                    <a:pt x="199" y="19"/>
                  </a:lnTo>
                  <a:lnTo>
                    <a:pt x="221" y="14"/>
                  </a:lnTo>
                  <a:lnTo>
                    <a:pt x="245" y="11"/>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2" name="Freeform 63"/>
            <p:cNvSpPr>
              <a:spLocks/>
            </p:cNvSpPr>
            <p:nvPr/>
          </p:nvSpPr>
          <p:spPr bwMode="auto">
            <a:xfrm>
              <a:off x="1392" y="2118"/>
              <a:ext cx="49" cy="85"/>
            </a:xfrm>
            <a:custGeom>
              <a:avLst/>
              <a:gdLst>
                <a:gd name="T0" fmla="*/ 2 w 246"/>
                <a:gd name="T1" fmla="*/ 3 h 426"/>
                <a:gd name="T2" fmla="*/ 2 w 246"/>
                <a:gd name="T3" fmla="*/ 3 h 426"/>
                <a:gd name="T4" fmla="*/ 2 w 246"/>
                <a:gd name="T5" fmla="*/ 3 h 426"/>
                <a:gd name="T6" fmla="*/ 2 w 246"/>
                <a:gd name="T7" fmla="*/ 3 h 426"/>
                <a:gd name="T8" fmla="*/ 2 w 246"/>
                <a:gd name="T9" fmla="*/ 2 h 426"/>
                <a:gd name="T10" fmla="*/ 2 w 246"/>
                <a:gd name="T11" fmla="*/ 2 h 426"/>
                <a:gd name="T12" fmla="*/ 2 w 246"/>
                <a:gd name="T13" fmla="*/ 2 h 426"/>
                <a:gd name="T14" fmla="*/ 2 w 246"/>
                <a:gd name="T15" fmla="*/ 2 h 426"/>
                <a:gd name="T16" fmla="*/ 2 w 246"/>
                <a:gd name="T17" fmla="*/ 1 h 426"/>
                <a:gd name="T18" fmla="*/ 1 w 246"/>
                <a:gd name="T19" fmla="*/ 1 h 426"/>
                <a:gd name="T20" fmla="*/ 1 w 246"/>
                <a:gd name="T21" fmla="*/ 1 h 426"/>
                <a:gd name="T22" fmla="*/ 1 w 246"/>
                <a:gd name="T23" fmla="*/ 1 h 426"/>
                <a:gd name="T24" fmla="*/ 1 w 246"/>
                <a:gd name="T25" fmla="*/ 0 h 426"/>
                <a:gd name="T26" fmla="*/ 1 w 246"/>
                <a:gd name="T27" fmla="*/ 0 h 426"/>
                <a:gd name="T28" fmla="*/ 1 w 246"/>
                <a:gd name="T29" fmla="*/ 0 h 426"/>
                <a:gd name="T30" fmla="*/ 0 w 246"/>
                <a:gd name="T31" fmla="*/ 0 h 426"/>
                <a:gd name="T32" fmla="*/ 0 w 246"/>
                <a:gd name="T33" fmla="*/ 0 h 426"/>
                <a:gd name="T34" fmla="*/ 0 w 246"/>
                <a:gd name="T35" fmla="*/ 0 h 426"/>
                <a:gd name="T36" fmla="*/ 0 w 246"/>
                <a:gd name="T37" fmla="*/ 0 h 426"/>
                <a:gd name="T38" fmla="*/ 0 w 246"/>
                <a:gd name="T39" fmla="*/ 0 h 426"/>
                <a:gd name="T40" fmla="*/ 0 w 246"/>
                <a:gd name="T41" fmla="*/ 0 h 426"/>
                <a:gd name="T42" fmla="*/ 1 w 246"/>
                <a:gd name="T43" fmla="*/ 0 h 426"/>
                <a:gd name="T44" fmla="*/ 1 w 246"/>
                <a:gd name="T45" fmla="*/ 0 h 426"/>
                <a:gd name="T46" fmla="*/ 1 w 246"/>
                <a:gd name="T47" fmla="*/ 1 h 426"/>
                <a:gd name="T48" fmla="*/ 1 w 246"/>
                <a:gd name="T49" fmla="*/ 1 h 426"/>
                <a:gd name="T50" fmla="*/ 1 w 246"/>
                <a:gd name="T51" fmla="*/ 1 h 426"/>
                <a:gd name="T52" fmla="*/ 1 w 246"/>
                <a:gd name="T53" fmla="*/ 1 h 426"/>
                <a:gd name="T54" fmla="*/ 1 w 246"/>
                <a:gd name="T55" fmla="*/ 1 h 426"/>
                <a:gd name="T56" fmla="*/ 2 w 246"/>
                <a:gd name="T57" fmla="*/ 2 h 426"/>
                <a:gd name="T58" fmla="*/ 2 w 246"/>
                <a:gd name="T59" fmla="*/ 2 h 426"/>
                <a:gd name="T60" fmla="*/ 2 w 246"/>
                <a:gd name="T61" fmla="*/ 2 h 426"/>
                <a:gd name="T62" fmla="*/ 2 w 246"/>
                <a:gd name="T63" fmla="*/ 2 h 426"/>
                <a:gd name="T64" fmla="*/ 2 w 246"/>
                <a:gd name="T65" fmla="*/ 3 h 426"/>
                <a:gd name="T66" fmla="*/ 2 w 246"/>
                <a:gd name="T67" fmla="*/ 3 h 426"/>
                <a:gd name="T68" fmla="*/ 2 w 246"/>
                <a:gd name="T69" fmla="*/ 3 h 426"/>
                <a:gd name="T70" fmla="*/ 2 w 246"/>
                <a:gd name="T71" fmla="*/ 3 h 426"/>
                <a:gd name="T72" fmla="*/ 2 w 246"/>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246" y="426"/>
                  </a:moveTo>
                  <a:lnTo>
                    <a:pt x="246" y="426"/>
                  </a:lnTo>
                  <a:lnTo>
                    <a:pt x="245" y="384"/>
                  </a:lnTo>
                  <a:lnTo>
                    <a:pt x="242" y="340"/>
                  </a:lnTo>
                  <a:lnTo>
                    <a:pt x="236" y="301"/>
                  </a:lnTo>
                  <a:lnTo>
                    <a:pt x="228" y="262"/>
                  </a:lnTo>
                  <a:lnTo>
                    <a:pt x="217" y="224"/>
                  </a:lnTo>
                  <a:lnTo>
                    <a:pt x="205" y="190"/>
                  </a:lnTo>
                  <a:lnTo>
                    <a:pt x="191" y="158"/>
                  </a:lnTo>
                  <a:lnTo>
                    <a:pt x="176" y="126"/>
                  </a:lnTo>
                  <a:lnTo>
                    <a:pt x="157" y="99"/>
                  </a:lnTo>
                  <a:lnTo>
                    <a:pt x="139" y="75"/>
                  </a:lnTo>
                  <a:lnTo>
                    <a:pt x="119" y="53"/>
                  </a:lnTo>
                  <a:lnTo>
                    <a:pt x="96" y="34"/>
                  </a:lnTo>
                  <a:lnTo>
                    <a:pt x="75" y="19"/>
                  </a:lnTo>
                  <a:lnTo>
                    <a:pt x="51" y="9"/>
                  </a:lnTo>
                  <a:lnTo>
                    <a:pt x="26" y="3"/>
                  </a:lnTo>
                  <a:lnTo>
                    <a:pt x="0" y="0"/>
                  </a:lnTo>
                  <a:lnTo>
                    <a:pt x="0" y="12"/>
                  </a:lnTo>
                  <a:lnTo>
                    <a:pt x="24" y="15"/>
                  </a:lnTo>
                  <a:lnTo>
                    <a:pt x="46" y="20"/>
                  </a:lnTo>
                  <a:lnTo>
                    <a:pt x="68" y="31"/>
                  </a:lnTo>
                  <a:lnTo>
                    <a:pt x="89" y="44"/>
                  </a:lnTo>
                  <a:lnTo>
                    <a:pt x="109" y="63"/>
                  </a:lnTo>
                  <a:lnTo>
                    <a:pt x="129" y="83"/>
                  </a:lnTo>
                  <a:lnTo>
                    <a:pt x="148" y="106"/>
                  </a:lnTo>
                  <a:lnTo>
                    <a:pt x="164" y="133"/>
                  </a:lnTo>
                  <a:lnTo>
                    <a:pt x="180" y="162"/>
                  </a:lnTo>
                  <a:lnTo>
                    <a:pt x="194" y="195"/>
                  </a:lnTo>
                  <a:lnTo>
                    <a:pt x="205" y="229"/>
                  </a:lnTo>
                  <a:lnTo>
                    <a:pt x="216" y="264"/>
                  </a:lnTo>
                  <a:lnTo>
                    <a:pt x="224" y="303"/>
                  </a:lnTo>
                  <a:lnTo>
                    <a:pt x="230" y="343"/>
                  </a:lnTo>
                  <a:lnTo>
                    <a:pt x="233" y="384"/>
                  </a:lnTo>
                  <a:lnTo>
                    <a:pt x="235" y="426"/>
                  </a:lnTo>
                  <a:lnTo>
                    <a:pt x="24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3" name="Freeform 64"/>
            <p:cNvSpPr>
              <a:spLocks/>
            </p:cNvSpPr>
            <p:nvPr/>
          </p:nvSpPr>
          <p:spPr bwMode="auto">
            <a:xfrm>
              <a:off x="1392" y="2203"/>
              <a:ext cx="49" cy="85"/>
            </a:xfrm>
            <a:custGeom>
              <a:avLst/>
              <a:gdLst>
                <a:gd name="T0" fmla="*/ 0 w 246"/>
                <a:gd name="T1" fmla="*/ 3 h 424"/>
                <a:gd name="T2" fmla="*/ 0 w 246"/>
                <a:gd name="T3" fmla="*/ 3 h 424"/>
                <a:gd name="T4" fmla="*/ 0 w 246"/>
                <a:gd name="T5" fmla="*/ 3 h 424"/>
                <a:gd name="T6" fmla="*/ 0 w 246"/>
                <a:gd name="T7" fmla="*/ 3 h 424"/>
                <a:gd name="T8" fmla="*/ 1 w 246"/>
                <a:gd name="T9" fmla="*/ 3 h 424"/>
                <a:gd name="T10" fmla="*/ 1 w 246"/>
                <a:gd name="T11" fmla="*/ 3 h 424"/>
                <a:gd name="T12" fmla="*/ 1 w 246"/>
                <a:gd name="T13" fmla="*/ 3 h 424"/>
                <a:gd name="T14" fmla="*/ 1 w 246"/>
                <a:gd name="T15" fmla="*/ 3 h 424"/>
                <a:gd name="T16" fmla="*/ 1 w 246"/>
                <a:gd name="T17" fmla="*/ 3 h 424"/>
                <a:gd name="T18" fmla="*/ 1 w 246"/>
                <a:gd name="T19" fmla="*/ 2 h 424"/>
                <a:gd name="T20" fmla="*/ 2 w 246"/>
                <a:gd name="T21" fmla="*/ 2 h 424"/>
                <a:gd name="T22" fmla="*/ 2 w 246"/>
                <a:gd name="T23" fmla="*/ 2 h 424"/>
                <a:gd name="T24" fmla="*/ 2 w 246"/>
                <a:gd name="T25" fmla="*/ 2 h 424"/>
                <a:gd name="T26" fmla="*/ 2 w 246"/>
                <a:gd name="T27" fmla="*/ 1 h 424"/>
                <a:gd name="T28" fmla="*/ 2 w 246"/>
                <a:gd name="T29" fmla="*/ 1 h 424"/>
                <a:gd name="T30" fmla="*/ 2 w 246"/>
                <a:gd name="T31" fmla="*/ 1 h 424"/>
                <a:gd name="T32" fmla="*/ 2 w 246"/>
                <a:gd name="T33" fmla="*/ 0 h 424"/>
                <a:gd name="T34" fmla="*/ 2 w 246"/>
                <a:gd name="T35" fmla="*/ 0 h 424"/>
                <a:gd name="T36" fmla="*/ 2 w 246"/>
                <a:gd name="T37" fmla="*/ 0 h 424"/>
                <a:gd name="T38" fmla="*/ 2 w 246"/>
                <a:gd name="T39" fmla="*/ 0 h 424"/>
                <a:gd name="T40" fmla="*/ 2 w 246"/>
                <a:gd name="T41" fmla="*/ 1 h 424"/>
                <a:gd name="T42" fmla="*/ 2 w 246"/>
                <a:gd name="T43" fmla="*/ 1 h 424"/>
                <a:gd name="T44" fmla="*/ 2 w 246"/>
                <a:gd name="T45" fmla="*/ 1 h 424"/>
                <a:gd name="T46" fmla="*/ 2 w 246"/>
                <a:gd name="T47" fmla="*/ 2 h 424"/>
                <a:gd name="T48" fmla="*/ 2 w 246"/>
                <a:gd name="T49" fmla="*/ 2 h 424"/>
                <a:gd name="T50" fmla="*/ 1 w 246"/>
                <a:gd name="T51" fmla="*/ 2 h 424"/>
                <a:gd name="T52" fmla="*/ 1 w 246"/>
                <a:gd name="T53" fmla="*/ 2 h 424"/>
                <a:gd name="T54" fmla="*/ 1 w 246"/>
                <a:gd name="T55" fmla="*/ 3 h 424"/>
                <a:gd name="T56" fmla="*/ 1 w 246"/>
                <a:gd name="T57" fmla="*/ 3 h 424"/>
                <a:gd name="T58" fmla="*/ 1 w 246"/>
                <a:gd name="T59" fmla="*/ 3 h 424"/>
                <a:gd name="T60" fmla="*/ 1 w 246"/>
                <a:gd name="T61" fmla="*/ 3 h 424"/>
                <a:gd name="T62" fmla="*/ 1 w 246"/>
                <a:gd name="T63" fmla="*/ 3 h 424"/>
                <a:gd name="T64" fmla="*/ 0 w 246"/>
                <a:gd name="T65" fmla="*/ 3 h 424"/>
                <a:gd name="T66" fmla="*/ 0 w 246"/>
                <a:gd name="T67" fmla="*/ 3 h 424"/>
                <a:gd name="T68" fmla="*/ 0 w 246"/>
                <a:gd name="T69" fmla="*/ 3 h 424"/>
                <a:gd name="T70" fmla="*/ 0 w 246"/>
                <a:gd name="T71" fmla="*/ 3 h 424"/>
                <a:gd name="T72" fmla="*/ 0 w 246"/>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0" y="424"/>
                  </a:moveTo>
                  <a:lnTo>
                    <a:pt x="0" y="424"/>
                  </a:lnTo>
                  <a:lnTo>
                    <a:pt x="26" y="422"/>
                  </a:lnTo>
                  <a:lnTo>
                    <a:pt x="51" y="416"/>
                  </a:lnTo>
                  <a:lnTo>
                    <a:pt x="75" y="406"/>
                  </a:lnTo>
                  <a:lnTo>
                    <a:pt x="96" y="390"/>
                  </a:lnTo>
                  <a:lnTo>
                    <a:pt x="119" y="373"/>
                  </a:lnTo>
                  <a:lnTo>
                    <a:pt x="139" y="351"/>
                  </a:lnTo>
                  <a:lnTo>
                    <a:pt x="157" y="326"/>
                  </a:lnTo>
                  <a:lnTo>
                    <a:pt x="175" y="299"/>
                  </a:lnTo>
                  <a:lnTo>
                    <a:pt x="191" y="269"/>
                  </a:lnTo>
                  <a:lnTo>
                    <a:pt x="205" y="236"/>
                  </a:lnTo>
                  <a:lnTo>
                    <a:pt x="217" y="202"/>
                  </a:lnTo>
                  <a:lnTo>
                    <a:pt x="228" y="163"/>
                  </a:lnTo>
                  <a:lnTo>
                    <a:pt x="236" y="125"/>
                  </a:lnTo>
                  <a:lnTo>
                    <a:pt x="242" y="86"/>
                  </a:lnTo>
                  <a:lnTo>
                    <a:pt x="245" y="42"/>
                  </a:lnTo>
                  <a:lnTo>
                    <a:pt x="246" y="0"/>
                  </a:lnTo>
                  <a:lnTo>
                    <a:pt x="235" y="0"/>
                  </a:lnTo>
                  <a:lnTo>
                    <a:pt x="233" y="42"/>
                  </a:lnTo>
                  <a:lnTo>
                    <a:pt x="230" y="83"/>
                  </a:lnTo>
                  <a:lnTo>
                    <a:pt x="224" y="123"/>
                  </a:lnTo>
                  <a:lnTo>
                    <a:pt x="216" y="161"/>
                  </a:lnTo>
                  <a:lnTo>
                    <a:pt x="205" y="197"/>
                  </a:lnTo>
                  <a:lnTo>
                    <a:pt x="194" y="231"/>
                  </a:lnTo>
                  <a:lnTo>
                    <a:pt x="180" y="264"/>
                  </a:lnTo>
                  <a:lnTo>
                    <a:pt x="166" y="292"/>
                  </a:lnTo>
                  <a:lnTo>
                    <a:pt x="148" y="319"/>
                  </a:lnTo>
                  <a:lnTo>
                    <a:pt x="129" y="344"/>
                  </a:lnTo>
                  <a:lnTo>
                    <a:pt x="109" y="364"/>
                  </a:lnTo>
                  <a:lnTo>
                    <a:pt x="89" y="381"/>
                  </a:lnTo>
                  <a:lnTo>
                    <a:pt x="68" y="394"/>
                  </a:lnTo>
                  <a:lnTo>
                    <a:pt x="46" y="405"/>
                  </a:lnTo>
                  <a:lnTo>
                    <a:pt x="24" y="410"/>
                  </a:lnTo>
                  <a:lnTo>
                    <a:pt x="0" y="413"/>
                  </a:lnTo>
                  <a:lnTo>
                    <a:pt x="0"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4" name="Freeform 65"/>
            <p:cNvSpPr>
              <a:spLocks/>
            </p:cNvSpPr>
            <p:nvPr/>
          </p:nvSpPr>
          <p:spPr bwMode="auto">
            <a:xfrm>
              <a:off x="1343" y="2203"/>
              <a:ext cx="49" cy="85"/>
            </a:xfrm>
            <a:custGeom>
              <a:avLst/>
              <a:gdLst>
                <a:gd name="T0" fmla="*/ 0 w 245"/>
                <a:gd name="T1" fmla="*/ 0 h 424"/>
                <a:gd name="T2" fmla="*/ 0 w 245"/>
                <a:gd name="T3" fmla="*/ 0 h 424"/>
                <a:gd name="T4" fmla="*/ 0 w 245"/>
                <a:gd name="T5" fmla="*/ 0 h 424"/>
                <a:gd name="T6" fmla="*/ 0 w 245"/>
                <a:gd name="T7" fmla="*/ 1 h 424"/>
                <a:gd name="T8" fmla="*/ 0 w 245"/>
                <a:gd name="T9" fmla="*/ 1 h 424"/>
                <a:gd name="T10" fmla="*/ 0 w 245"/>
                <a:gd name="T11" fmla="*/ 1 h 424"/>
                <a:gd name="T12" fmla="*/ 0 w 245"/>
                <a:gd name="T13" fmla="*/ 2 h 424"/>
                <a:gd name="T14" fmla="*/ 0 w 245"/>
                <a:gd name="T15" fmla="*/ 2 h 424"/>
                <a:gd name="T16" fmla="*/ 0 w 245"/>
                <a:gd name="T17" fmla="*/ 2 h 424"/>
                <a:gd name="T18" fmla="*/ 1 w 245"/>
                <a:gd name="T19" fmla="*/ 2 h 424"/>
                <a:gd name="T20" fmla="*/ 1 w 245"/>
                <a:gd name="T21" fmla="*/ 3 h 424"/>
                <a:gd name="T22" fmla="*/ 1 w 245"/>
                <a:gd name="T23" fmla="*/ 3 h 424"/>
                <a:gd name="T24" fmla="*/ 1 w 245"/>
                <a:gd name="T25" fmla="*/ 3 h 424"/>
                <a:gd name="T26" fmla="*/ 1 w 245"/>
                <a:gd name="T27" fmla="*/ 3 h 424"/>
                <a:gd name="T28" fmla="*/ 1 w 245"/>
                <a:gd name="T29" fmla="*/ 3 h 424"/>
                <a:gd name="T30" fmla="*/ 2 w 245"/>
                <a:gd name="T31" fmla="*/ 3 h 424"/>
                <a:gd name="T32" fmla="*/ 2 w 245"/>
                <a:gd name="T33" fmla="*/ 3 h 424"/>
                <a:gd name="T34" fmla="*/ 2 w 245"/>
                <a:gd name="T35" fmla="*/ 3 h 424"/>
                <a:gd name="T36" fmla="*/ 2 w 245"/>
                <a:gd name="T37" fmla="*/ 3 h 424"/>
                <a:gd name="T38" fmla="*/ 2 w 245"/>
                <a:gd name="T39" fmla="*/ 3 h 424"/>
                <a:gd name="T40" fmla="*/ 2 w 245"/>
                <a:gd name="T41" fmla="*/ 3 h 424"/>
                <a:gd name="T42" fmla="*/ 1 w 245"/>
                <a:gd name="T43" fmla="*/ 3 h 424"/>
                <a:gd name="T44" fmla="*/ 1 w 245"/>
                <a:gd name="T45" fmla="*/ 3 h 424"/>
                <a:gd name="T46" fmla="*/ 1 w 245"/>
                <a:gd name="T47" fmla="*/ 3 h 424"/>
                <a:gd name="T48" fmla="*/ 1 w 245"/>
                <a:gd name="T49" fmla="*/ 3 h 424"/>
                <a:gd name="T50" fmla="*/ 1 w 245"/>
                <a:gd name="T51" fmla="*/ 3 h 424"/>
                <a:gd name="T52" fmla="*/ 1 w 245"/>
                <a:gd name="T53" fmla="*/ 2 h 424"/>
                <a:gd name="T54" fmla="*/ 1 w 245"/>
                <a:gd name="T55" fmla="*/ 2 h 424"/>
                <a:gd name="T56" fmla="*/ 0 w 245"/>
                <a:gd name="T57" fmla="*/ 2 h 424"/>
                <a:gd name="T58" fmla="*/ 0 w 245"/>
                <a:gd name="T59" fmla="*/ 2 h 424"/>
                <a:gd name="T60" fmla="*/ 0 w 245"/>
                <a:gd name="T61" fmla="*/ 1 h 424"/>
                <a:gd name="T62" fmla="*/ 0 w 245"/>
                <a:gd name="T63" fmla="*/ 1 h 424"/>
                <a:gd name="T64" fmla="*/ 0 w 245"/>
                <a:gd name="T65" fmla="*/ 1 h 424"/>
                <a:gd name="T66" fmla="*/ 0 w 245"/>
                <a:gd name="T67" fmla="*/ 0 h 424"/>
                <a:gd name="T68" fmla="*/ 0 w 245"/>
                <a:gd name="T69" fmla="*/ 0 h 424"/>
                <a:gd name="T70" fmla="*/ 0 w 245"/>
                <a:gd name="T71" fmla="*/ 0 h 424"/>
                <a:gd name="T72" fmla="*/ 0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0" y="0"/>
                  </a:moveTo>
                  <a:lnTo>
                    <a:pt x="0" y="0"/>
                  </a:lnTo>
                  <a:lnTo>
                    <a:pt x="2" y="42"/>
                  </a:lnTo>
                  <a:lnTo>
                    <a:pt x="5" y="86"/>
                  </a:lnTo>
                  <a:lnTo>
                    <a:pt x="11" y="125"/>
                  </a:lnTo>
                  <a:lnTo>
                    <a:pt x="19" y="163"/>
                  </a:lnTo>
                  <a:lnTo>
                    <a:pt x="30" y="202"/>
                  </a:lnTo>
                  <a:lnTo>
                    <a:pt x="41" y="236"/>
                  </a:lnTo>
                  <a:lnTo>
                    <a:pt x="56" y="269"/>
                  </a:lnTo>
                  <a:lnTo>
                    <a:pt x="72" y="299"/>
                  </a:lnTo>
                  <a:lnTo>
                    <a:pt x="90" y="326"/>
                  </a:lnTo>
                  <a:lnTo>
                    <a:pt x="108" y="351"/>
                  </a:lnTo>
                  <a:lnTo>
                    <a:pt x="127" y="373"/>
                  </a:lnTo>
                  <a:lnTo>
                    <a:pt x="149" y="390"/>
                  </a:lnTo>
                  <a:lnTo>
                    <a:pt x="172" y="406"/>
                  </a:lnTo>
                  <a:lnTo>
                    <a:pt x="195" y="416"/>
                  </a:lnTo>
                  <a:lnTo>
                    <a:pt x="220" y="422"/>
                  </a:lnTo>
                  <a:lnTo>
                    <a:pt x="245" y="424"/>
                  </a:lnTo>
                  <a:lnTo>
                    <a:pt x="245" y="413"/>
                  </a:lnTo>
                  <a:lnTo>
                    <a:pt x="222" y="410"/>
                  </a:lnTo>
                  <a:lnTo>
                    <a:pt x="200" y="405"/>
                  </a:lnTo>
                  <a:lnTo>
                    <a:pt x="179" y="394"/>
                  </a:lnTo>
                  <a:lnTo>
                    <a:pt x="156" y="381"/>
                  </a:lnTo>
                  <a:lnTo>
                    <a:pt x="136" y="364"/>
                  </a:lnTo>
                  <a:lnTo>
                    <a:pt x="118" y="344"/>
                  </a:lnTo>
                  <a:lnTo>
                    <a:pt x="99" y="319"/>
                  </a:lnTo>
                  <a:lnTo>
                    <a:pt x="81" y="292"/>
                  </a:lnTo>
                  <a:lnTo>
                    <a:pt x="67" y="264"/>
                  </a:lnTo>
                  <a:lnTo>
                    <a:pt x="53" y="231"/>
                  </a:lnTo>
                  <a:lnTo>
                    <a:pt x="41" y="197"/>
                  </a:lnTo>
                  <a:lnTo>
                    <a:pt x="31" y="161"/>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5" name="Freeform 66"/>
            <p:cNvSpPr>
              <a:spLocks/>
            </p:cNvSpPr>
            <p:nvPr/>
          </p:nvSpPr>
          <p:spPr bwMode="auto">
            <a:xfrm>
              <a:off x="1343" y="2118"/>
              <a:ext cx="49" cy="85"/>
            </a:xfrm>
            <a:custGeom>
              <a:avLst/>
              <a:gdLst>
                <a:gd name="T0" fmla="*/ 2 w 245"/>
                <a:gd name="T1" fmla="*/ 0 h 426"/>
                <a:gd name="T2" fmla="*/ 2 w 245"/>
                <a:gd name="T3" fmla="*/ 0 h 426"/>
                <a:gd name="T4" fmla="*/ 2 w 245"/>
                <a:gd name="T5" fmla="*/ 0 h 426"/>
                <a:gd name="T6" fmla="*/ 2 w 245"/>
                <a:gd name="T7" fmla="*/ 0 h 426"/>
                <a:gd name="T8" fmla="*/ 1 w 245"/>
                <a:gd name="T9" fmla="*/ 0 h 426"/>
                <a:gd name="T10" fmla="*/ 1 w 245"/>
                <a:gd name="T11" fmla="*/ 0 h 426"/>
                <a:gd name="T12" fmla="*/ 1 w 245"/>
                <a:gd name="T13" fmla="*/ 0 h 426"/>
                <a:gd name="T14" fmla="*/ 1 w 245"/>
                <a:gd name="T15" fmla="*/ 1 h 426"/>
                <a:gd name="T16" fmla="*/ 1 w 245"/>
                <a:gd name="T17" fmla="*/ 1 h 426"/>
                <a:gd name="T18" fmla="*/ 1 w 245"/>
                <a:gd name="T19" fmla="*/ 1 h 426"/>
                <a:gd name="T20" fmla="*/ 0 w 245"/>
                <a:gd name="T21" fmla="*/ 1 h 426"/>
                <a:gd name="T22" fmla="*/ 0 w 245"/>
                <a:gd name="T23" fmla="*/ 2 h 426"/>
                <a:gd name="T24" fmla="*/ 0 w 245"/>
                <a:gd name="T25" fmla="*/ 2 h 426"/>
                <a:gd name="T26" fmla="*/ 0 w 245"/>
                <a:gd name="T27" fmla="*/ 2 h 426"/>
                <a:gd name="T28" fmla="*/ 0 w 245"/>
                <a:gd name="T29" fmla="*/ 2 h 426"/>
                <a:gd name="T30" fmla="*/ 0 w 245"/>
                <a:gd name="T31" fmla="*/ 3 h 426"/>
                <a:gd name="T32" fmla="*/ 0 w 245"/>
                <a:gd name="T33" fmla="*/ 3 h 426"/>
                <a:gd name="T34" fmla="*/ 0 w 245"/>
                <a:gd name="T35" fmla="*/ 3 h 426"/>
                <a:gd name="T36" fmla="*/ 0 w 245"/>
                <a:gd name="T37" fmla="*/ 3 h 426"/>
                <a:gd name="T38" fmla="*/ 0 w 245"/>
                <a:gd name="T39" fmla="*/ 3 h 426"/>
                <a:gd name="T40" fmla="*/ 0 w 245"/>
                <a:gd name="T41" fmla="*/ 3 h 426"/>
                <a:gd name="T42" fmla="*/ 0 w 245"/>
                <a:gd name="T43" fmla="*/ 2 h 426"/>
                <a:gd name="T44" fmla="*/ 0 w 245"/>
                <a:gd name="T45" fmla="*/ 2 h 426"/>
                <a:gd name="T46" fmla="*/ 0 w 245"/>
                <a:gd name="T47" fmla="*/ 2 h 426"/>
                <a:gd name="T48" fmla="*/ 0 w 245"/>
                <a:gd name="T49" fmla="*/ 2 h 426"/>
                <a:gd name="T50" fmla="*/ 1 w 245"/>
                <a:gd name="T51" fmla="*/ 1 h 426"/>
                <a:gd name="T52" fmla="*/ 1 w 245"/>
                <a:gd name="T53" fmla="*/ 1 h 426"/>
                <a:gd name="T54" fmla="*/ 1 w 245"/>
                <a:gd name="T55" fmla="*/ 1 h 426"/>
                <a:gd name="T56" fmla="*/ 1 w 245"/>
                <a:gd name="T57" fmla="*/ 1 h 426"/>
                <a:gd name="T58" fmla="*/ 1 w 245"/>
                <a:gd name="T59" fmla="*/ 1 h 426"/>
                <a:gd name="T60" fmla="*/ 1 w 245"/>
                <a:gd name="T61" fmla="*/ 0 h 426"/>
                <a:gd name="T62" fmla="*/ 1 w 245"/>
                <a:gd name="T63" fmla="*/ 0 h 426"/>
                <a:gd name="T64" fmla="*/ 2 w 245"/>
                <a:gd name="T65" fmla="*/ 0 h 426"/>
                <a:gd name="T66" fmla="*/ 2 w 245"/>
                <a:gd name="T67" fmla="*/ 0 h 426"/>
                <a:gd name="T68" fmla="*/ 2 w 245"/>
                <a:gd name="T69" fmla="*/ 0 h 426"/>
                <a:gd name="T70" fmla="*/ 2 w 245"/>
                <a:gd name="T71" fmla="*/ 0 h 426"/>
                <a:gd name="T72" fmla="*/ 2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245" y="0"/>
                  </a:moveTo>
                  <a:lnTo>
                    <a:pt x="245" y="0"/>
                  </a:lnTo>
                  <a:lnTo>
                    <a:pt x="220" y="3"/>
                  </a:lnTo>
                  <a:lnTo>
                    <a:pt x="195" y="9"/>
                  </a:lnTo>
                  <a:lnTo>
                    <a:pt x="172" y="19"/>
                  </a:lnTo>
                  <a:lnTo>
                    <a:pt x="149" y="34"/>
                  </a:lnTo>
                  <a:lnTo>
                    <a:pt x="127" y="53"/>
                  </a:lnTo>
                  <a:lnTo>
                    <a:pt x="108" y="75"/>
                  </a:lnTo>
                  <a:lnTo>
                    <a:pt x="90" y="99"/>
                  </a:lnTo>
                  <a:lnTo>
                    <a:pt x="71" y="126"/>
                  </a:lnTo>
                  <a:lnTo>
                    <a:pt x="56" y="158"/>
                  </a:lnTo>
                  <a:lnTo>
                    <a:pt x="41" y="190"/>
                  </a:lnTo>
                  <a:lnTo>
                    <a:pt x="30" y="224"/>
                  </a:lnTo>
                  <a:lnTo>
                    <a:pt x="19" y="262"/>
                  </a:lnTo>
                  <a:lnTo>
                    <a:pt x="11" y="301"/>
                  </a:lnTo>
                  <a:lnTo>
                    <a:pt x="5" y="340"/>
                  </a:lnTo>
                  <a:lnTo>
                    <a:pt x="2" y="384"/>
                  </a:lnTo>
                  <a:lnTo>
                    <a:pt x="0" y="426"/>
                  </a:lnTo>
                  <a:lnTo>
                    <a:pt x="12" y="426"/>
                  </a:lnTo>
                  <a:lnTo>
                    <a:pt x="13" y="384"/>
                  </a:lnTo>
                  <a:lnTo>
                    <a:pt x="17" y="343"/>
                  </a:lnTo>
                  <a:lnTo>
                    <a:pt x="23" y="303"/>
                  </a:lnTo>
                  <a:lnTo>
                    <a:pt x="31" y="264"/>
                  </a:lnTo>
                  <a:lnTo>
                    <a:pt x="41" y="229"/>
                  </a:lnTo>
                  <a:lnTo>
                    <a:pt x="53" y="195"/>
                  </a:lnTo>
                  <a:lnTo>
                    <a:pt x="67" y="162"/>
                  </a:lnTo>
                  <a:lnTo>
                    <a:pt x="82" y="133"/>
                  </a:lnTo>
                  <a:lnTo>
                    <a:pt x="99" y="106"/>
                  </a:lnTo>
                  <a:lnTo>
                    <a:pt x="118" y="83"/>
                  </a:lnTo>
                  <a:lnTo>
                    <a:pt x="136" y="63"/>
                  </a:lnTo>
                  <a:lnTo>
                    <a:pt x="156" y="44"/>
                  </a:lnTo>
                  <a:lnTo>
                    <a:pt x="179" y="31"/>
                  </a:lnTo>
                  <a:lnTo>
                    <a:pt x="200" y="20"/>
                  </a:lnTo>
                  <a:lnTo>
                    <a:pt x="222" y="15"/>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6" name="Freeform 67"/>
            <p:cNvSpPr>
              <a:spLocks/>
            </p:cNvSpPr>
            <p:nvPr/>
          </p:nvSpPr>
          <p:spPr bwMode="auto">
            <a:xfrm>
              <a:off x="1384" y="1859"/>
              <a:ext cx="49" cy="84"/>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1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3" y="382"/>
                  </a:lnTo>
                  <a:lnTo>
                    <a:pt x="240" y="339"/>
                  </a:lnTo>
                  <a:lnTo>
                    <a:pt x="234" y="299"/>
                  </a:lnTo>
                  <a:lnTo>
                    <a:pt x="226" y="261"/>
                  </a:lnTo>
                  <a:lnTo>
                    <a:pt x="215" y="222"/>
                  </a:lnTo>
                  <a:lnTo>
                    <a:pt x="204" y="188"/>
                  </a:lnTo>
                  <a:lnTo>
                    <a:pt x="189" y="156"/>
                  </a:lnTo>
                  <a:lnTo>
                    <a:pt x="173" y="125"/>
                  </a:lnTo>
                  <a:lnTo>
                    <a:pt x="155" y="98"/>
                  </a:lnTo>
                  <a:lnTo>
                    <a:pt x="138" y="74"/>
                  </a:lnTo>
                  <a:lnTo>
                    <a:pt x="118" y="51"/>
                  </a:lnTo>
                  <a:lnTo>
                    <a:pt x="96" y="34"/>
                  </a:lnTo>
                  <a:lnTo>
                    <a:pt x="73" y="18"/>
                  </a:lnTo>
                  <a:lnTo>
                    <a:pt x="50" y="8"/>
                  </a:lnTo>
                  <a:lnTo>
                    <a:pt x="25" y="2"/>
                  </a:lnTo>
                  <a:lnTo>
                    <a:pt x="0" y="0"/>
                  </a:lnTo>
                  <a:lnTo>
                    <a:pt x="0" y="11"/>
                  </a:lnTo>
                  <a:lnTo>
                    <a:pt x="23" y="14"/>
                  </a:lnTo>
                  <a:lnTo>
                    <a:pt x="45" y="20"/>
                  </a:lnTo>
                  <a:lnTo>
                    <a:pt x="66" y="30"/>
                  </a:lnTo>
                  <a:lnTo>
                    <a:pt x="89" y="43"/>
                  </a:lnTo>
                  <a:lnTo>
                    <a:pt x="109" y="61"/>
                  </a:lnTo>
                  <a:lnTo>
                    <a:pt x="129" y="81"/>
                  </a:lnTo>
                  <a:lnTo>
                    <a:pt x="146" y="105"/>
                  </a:lnTo>
                  <a:lnTo>
                    <a:pt x="164" y="132"/>
                  </a:lnTo>
                  <a:lnTo>
                    <a:pt x="178" y="160"/>
                  </a:lnTo>
                  <a:lnTo>
                    <a:pt x="192" y="193"/>
                  </a:lnTo>
                  <a:lnTo>
                    <a:pt x="204" y="227"/>
                  </a:lnTo>
                  <a:lnTo>
                    <a:pt x="214" y="264"/>
                  </a:lnTo>
                  <a:lnTo>
                    <a:pt x="222" y="301"/>
                  </a:lnTo>
                  <a:lnTo>
                    <a:pt x="228"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7" name="Freeform 68"/>
            <p:cNvSpPr>
              <a:spLocks/>
            </p:cNvSpPr>
            <p:nvPr/>
          </p:nvSpPr>
          <p:spPr bwMode="auto">
            <a:xfrm>
              <a:off x="1384" y="1943"/>
              <a:ext cx="49" cy="86"/>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5" y="423"/>
                  </a:lnTo>
                  <a:lnTo>
                    <a:pt x="50" y="418"/>
                  </a:lnTo>
                  <a:lnTo>
                    <a:pt x="73" y="407"/>
                  </a:lnTo>
                  <a:lnTo>
                    <a:pt x="96" y="392"/>
                  </a:lnTo>
                  <a:lnTo>
                    <a:pt x="118" y="374"/>
                  </a:lnTo>
                  <a:lnTo>
                    <a:pt x="138" y="352"/>
                  </a:lnTo>
                  <a:lnTo>
                    <a:pt x="155" y="327"/>
                  </a:lnTo>
                  <a:lnTo>
                    <a:pt x="174" y="300"/>
                  </a:lnTo>
                  <a:lnTo>
                    <a:pt x="189" y="269"/>
                  </a:lnTo>
                  <a:lnTo>
                    <a:pt x="204" y="237"/>
                  </a:lnTo>
                  <a:lnTo>
                    <a:pt x="215" y="202"/>
                  </a:lnTo>
                  <a:lnTo>
                    <a:pt x="226" y="164"/>
                  </a:lnTo>
                  <a:lnTo>
                    <a:pt x="234" y="126"/>
                  </a:lnTo>
                  <a:lnTo>
                    <a:pt x="240" y="86"/>
                  </a:lnTo>
                  <a:lnTo>
                    <a:pt x="243" y="42"/>
                  </a:lnTo>
                  <a:lnTo>
                    <a:pt x="245" y="0"/>
                  </a:lnTo>
                  <a:lnTo>
                    <a:pt x="233" y="0"/>
                  </a:lnTo>
                  <a:lnTo>
                    <a:pt x="232" y="42"/>
                  </a:lnTo>
                  <a:lnTo>
                    <a:pt x="228" y="83"/>
                  </a:lnTo>
                  <a:lnTo>
                    <a:pt x="222" y="123"/>
                  </a:lnTo>
                  <a:lnTo>
                    <a:pt x="214" y="162"/>
                  </a:lnTo>
                  <a:lnTo>
                    <a:pt x="204" y="197"/>
                  </a:lnTo>
                  <a:lnTo>
                    <a:pt x="192" y="232"/>
                  </a:lnTo>
                  <a:lnTo>
                    <a:pt x="178" y="264"/>
                  </a:lnTo>
                  <a:lnTo>
                    <a:pt x="163" y="293"/>
                  </a:lnTo>
                  <a:lnTo>
                    <a:pt x="146" y="320"/>
                  </a:lnTo>
                  <a:lnTo>
                    <a:pt x="129" y="345"/>
                  </a:lnTo>
                  <a:lnTo>
                    <a:pt x="109" y="365"/>
                  </a:lnTo>
                  <a:lnTo>
                    <a:pt x="89" y="382"/>
                  </a:lnTo>
                  <a:lnTo>
                    <a:pt x="66" y="395"/>
                  </a:lnTo>
                  <a:lnTo>
                    <a:pt x="45" y="406"/>
                  </a:lnTo>
                  <a:lnTo>
                    <a:pt x="23"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8" name="Freeform 69"/>
            <p:cNvSpPr>
              <a:spLocks/>
            </p:cNvSpPr>
            <p:nvPr/>
          </p:nvSpPr>
          <p:spPr bwMode="auto">
            <a:xfrm>
              <a:off x="1335" y="1943"/>
              <a:ext cx="49" cy="86"/>
            </a:xfrm>
            <a:custGeom>
              <a:avLst/>
              <a:gdLst>
                <a:gd name="T0" fmla="*/ 0 w 246"/>
                <a:gd name="T1" fmla="*/ 0 h 426"/>
                <a:gd name="T2" fmla="*/ 0 w 246"/>
                <a:gd name="T3" fmla="*/ 0 h 426"/>
                <a:gd name="T4" fmla="*/ 0 w 246"/>
                <a:gd name="T5" fmla="*/ 0 h 426"/>
                <a:gd name="T6" fmla="*/ 0 w 246"/>
                <a:gd name="T7" fmla="*/ 1 h 426"/>
                <a:gd name="T8" fmla="*/ 0 w 246"/>
                <a:gd name="T9" fmla="*/ 1 h 426"/>
                <a:gd name="T10" fmla="*/ 0 w 246"/>
                <a:gd name="T11" fmla="*/ 1 h 426"/>
                <a:gd name="T12" fmla="*/ 0 w 246"/>
                <a:gd name="T13" fmla="*/ 2 h 426"/>
                <a:gd name="T14" fmla="*/ 0 w 246"/>
                <a:gd name="T15" fmla="*/ 2 h 426"/>
                <a:gd name="T16" fmla="*/ 0 w 246"/>
                <a:gd name="T17" fmla="*/ 2 h 426"/>
                <a:gd name="T18" fmla="*/ 1 w 246"/>
                <a:gd name="T19" fmla="*/ 2 h 426"/>
                <a:gd name="T20" fmla="*/ 1 w 246"/>
                <a:gd name="T21" fmla="*/ 3 h 426"/>
                <a:gd name="T22" fmla="*/ 1 w 246"/>
                <a:gd name="T23" fmla="*/ 3 h 426"/>
                <a:gd name="T24" fmla="*/ 1 w 246"/>
                <a:gd name="T25" fmla="*/ 3 h 426"/>
                <a:gd name="T26" fmla="*/ 1 w 246"/>
                <a:gd name="T27" fmla="*/ 3 h 426"/>
                <a:gd name="T28" fmla="*/ 1 w 246"/>
                <a:gd name="T29" fmla="*/ 3 h 426"/>
                <a:gd name="T30" fmla="*/ 2 w 246"/>
                <a:gd name="T31" fmla="*/ 3 h 426"/>
                <a:gd name="T32" fmla="*/ 2 w 246"/>
                <a:gd name="T33" fmla="*/ 3 h 426"/>
                <a:gd name="T34" fmla="*/ 2 w 246"/>
                <a:gd name="T35" fmla="*/ 3 h 426"/>
                <a:gd name="T36" fmla="*/ 2 w 246"/>
                <a:gd name="T37" fmla="*/ 3 h 426"/>
                <a:gd name="T38" fmla="*/ 2 w 246"/>
                <a:gd name="T39" fmla="*/ 3 h 426"/>
                <a:gd name="T40" fmla="*/ 2 w 246"/>
                <a:gd name="T41" fmla="*/ 3 h 426"/>
                <a:gd name="T42" fmla="*/ 1 w 246"/>
                <a:gd name="T43" fmla="*/ 3 h 426"/>
                <a:gd name="T44" fmla="*/ 1 w 246"/>
                <a:gd name="T45" fmla="*/ 3 h 426"/>
                <a:gd name="T46" fmla="*/ 1 w 246"/>
                <a:gd name="T47" fmla="*/ 3 h 426"/>
                <a:gd name="T48" fmla="*/ 1 w 246"/>
                <a:gd name="T49" fmla="*/ 3 h 426"/>
                <a:gd name="T50" fmla="*/ 1 w 246"/>
                <a:gd name="T51" fmla="*/ 3 h 426"/>
                <a:gd name="T52" fmla="*/ 1 w 246"/>
                <a:gd name="T53" fmla="*/ 2 h 426"/>
                <a:gd name="T54" fmla="*/ 1 w 246"/>
                <a:gd name="T55" fmla="*/ 2 h 426"/>
                <a:gd name="T56" fmla="*/ 0 w 246"/>
                <a:gd name="T57" fmla="*/ 2 h 426"/>
                <a:gd name="T58" fmla="*/ 0 w 246"/>
                <a:gd name="T59" fmla="*/ 2 h 426"/>
                <a:gd name="T60" fmla="*/ 0 w 246"/>
                <a:gd name="T61" fmla="*/ 1 h 426"/>
                <a:gd name="T62" fmla="*/ 0 w 246"/>
                <a:gd name="T63" fmla="*/ 1 h 426"/>
                <a:gd name="T64" fmla="*/ 0 w 246"/>
                <a:gd name="T65" fmla="*/ 1 h 426"/>
                <a:gd name="T66" fmla="*/ 0 w 246"/>
                <a:gd name="T67" fmla="*/ 0 h 426"/>
                <a:gd name="T68" fmla="*/ 0 w 246"/>
                <a:gd name="T69" fmla="*/ 0 h 426"/>
                <a:gd name="T70" fmla="*/ 0 w 246"/>
                <a:gd name="T71" fmla="*/ 0 h 426"/>
                <a:gd name="T72" fmla="*/ 0 w 246"/>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6"/>
                <a:gd name="T113" fmla="*/ 246 w 246"/>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6">
                  <a:moveTo>
                    <a:pt x="0" y="0"/>
                  </a:moveTo>
                  <a:lnTo>
                    <a:pt x="0" y="0"/>
                  </a:lnTo>
                  <a:lnTo>
                    <a:pt x="1" y="42"/>
                  </a:lnTo>
                  <a:lnTo>
                    <a:pt x="4" y="86"/>
                  </a:lnTo>
                  <a:lnTo>
                    <a:pt x="10" y="126"/>
                  </a:lnTo>
                  <a:lnTo>
                    <a:pt x="18" y="164"/>
                  </a:lnTo>
                  <a:lnTo>
                    <a:pt x="29" y="202"/>
                  </a:lnTo>
                  <a:lnTo>
                    <a:pt x="41" y="237"/>
                  </a:lnTo>
                  <a:lnTo>
                    <a:pt x="55" y="269"/>
                  </a:lnTo>
                  <a:lnTo>
                    <a:pt x="71" y="300"/>
                  </a:lnTo>
                  <a:lnTo>
                    <a:pt x="89" y="327"/>
                  </a:lnTo>
                  <a:lnTo>
                    <a:pt x="107" y="352"/>
                  </a:lnTo>
                  <a:lnTo>
                    <a:pt x="127" y="374"/>
                  </a:lnTo>
                  <a:lnTo>
                    <a:pt x="150" y="392"/>
                  </a:lnTo>
                  <a:lnTo>
                    <a:pt x="171" y="407"/>
                  </a:lnTo>
                  <a:lnTo>
                    <a:pt x="195" y="418"/>
                  </a:lnTo>
                  <a:lnTo>
                    <a:pt x="220" y="423"/>
                  </a:lnTo>
                  <a:lnTo>
                    <a:pt x="246" y="426"/>
                  </a:lnTo>
                  <a:lnTo>
                    <a:pt x="246" y="414"/>
                  </a:lnTo>
                  <a:lnTo>
                    <a:pt x="222" y="412"/>
                  </a:lnTo>
                  <a:lnTo>
                    <a:pt x="200" y="406"/>
                  </a:lnTo>
                  <a:lnTo>
                    <a:pt x="178" y="395"/>
                  </a:lnTo>
                  <a:lnTo>
                    <a:pt x="157" y="382"/>
                  </a:lnTo>
                  <a:lnTo>
                    <a:pt x="137" y="365"/>
                  </a:lnTo>
                  <a:lnTo>
                    <a:pt x="117" y="345"/>
                  </a:lnTo>
                  <a:lnTo>
                    <a:pt x="98" y="320"/>
                  </a:lnTo>
                  <a:lnTo>
                    <a:pt x="83" y="293"/>
                  </a:lnTo>
                  <a:lnTo>
                    <a:pt x="66" y="264"/>
                  </a:lnTo>
                  <a:lnTo>
                    <a:pt x="52" y="232"/>
                  </a:lnTo>
                  <a:lnTo>
                    <a:pt x="41" y="197"/>
                  </a:lnTo>
                  <a:lnTo>
                    <a:pt x="30" y="162"/>
                  </a:lnTo>
                  <a:lnTo>
                    <a:pt x="22" y="123"/>
                  </a:lnTo>
                  <a:lnTo>
                    <a:pt x="16" y="83"/>
                  </a:lnTo>
                  <a:lnTo>
                    <a:pt x="13" y="42"/>
                  </a:ln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69" name="Freeform 70"/>
            <p:cNvSpPr>
              <a:spLocks/>
            </p:cNvSpPr>
            <p:nvPr/>
          </p:nvSpPr>
          <p:spPr bwMode="auto">
            <a:xfrm>
              <a:off x="1335" y="1859"/>
              <a:ext cx="49" cy="84"/>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1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0" y="2"/>
                  </a:lnTo>
                  <a:lnTo>
                    <a:pt x="195" y="8"/>
                  </a:lnTo>
                  <a:lnTo>
                    <a:pt x="171" y="18"/>
                  </a:lnTo>
                  <a:lnTo>
                    <a:pt x="150" y="34"/>
                  </a:lnTo>
                  <a:lnTo>
                    <a:pt x="127" y="51"/>
                  </a:lnTo>
                  <a:lnTo>
                    <a:pt x="107" y="74"/>
                  </a:lnTo>
                  <a:lnTo>
                    <a:pt x="89" y="98"/>
                  </a:lnTo>
                  <a:lnTo>
                    <a:pt x="72" y="125"/>
                  </a:lnTo>
                  <a:lnTo>
                    <a:pt x="55" y="156"/>
                  </a:lnTo>
                  <a:lnTo>
                    <a:pt x="41" y="188"/>
                  </a:lnTo>
                  <a:lnTo>
                    <a:pt x="29" y="222"/>
                  </a:lnTo>
                  <a:lnTo>
                    <a:pt x="18" y="261"/>
                  </a:lnTo>
                  <a:lnTo>
                    <a:pt x="10" y="299"/>
                  </a:lnTo>
                  <a:lnTo>
                    <a:pt x="4" y="339"/>
                  </a:lnTo>
                  <a:lnTo>
                    <a:pt x="1" y="382"/>
                  </a:lnTo>
                  <a:lnTo>
                    <a:pt x="0" y="424"/>
                  </a:lnTo>
                  <a:lnTo>
                    <a:pt x="11" y="424"/>
                  </a:lnTo>
                  <a:lnTo>
                    <a:pt x="13" y="382"/>
                  </a:lnTo>
                  <a:lnTo>
                    <a:pt x="16" y="341"/>
                  </a:lnTo>
                  <a:lnTo>
                    <a:pt x="22" y="301"/>
                  </a:lnTo>
                  <a:lnTo>
                    <a:pt x="30" y="264"/>
                  </a:lnTo>
                  <a:lnTo>
                    <a:pt x="41" y="227"/>
                  </a:lnTo>
                  <a:lnTo>
                    <a:pt x="52" y="193"/>
                  </a:lnTo>
                  <a:lnTo>
                    <a:pt x="66" y="160"/>
                  </a:lnTo>
                  <a:lnTo>
                    <a:pt x="82" y="132"/>
                  </a:lnTo>
                  <a:lnTo>
                    <a:pt x="98" y="105"/>
                  </a:lnTo>
                  <a:lnTo>
                    <a:pt x="117" y="81"/>
                  </a:lnTo>
                  <a:lnTo>
                    <a:pt x="137" y="61"/>
                  </a:lnTo>
                  <a:lnTo>
                    <a:pt x="157" y="43"/>
                  </a:lnTo>
                  <a:lnTo>
                    <a:pt x="178" y="30"/>
                  </a:lnTo>
                  <a:lnTo>
                    <a:pt x="200" y="20"/>
                  </a:lnTo>
                  <a:lnTo>
                    <a:pt x="222" y="14"/>
                  </a:lnTo>
                  <a:lnTo>
                    <a:pt x="246" y="11"/>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0" name="Freeform 71"/>
            <p:cNvSpPr>
              <a:spLocks/>
            </p:cNvSpPr>
            <p:nvPr/>
          </p:nvSpPr>
          <p:spPr bwMode="auto">
            <a:xfrm>
              <a:off x="1552" y="1751"/>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1" y="339"/>
                  </a:lnTo>
                  <a:lnTo>
                    <a:pt x="235" y="299"/>
                  </a:lnTo>
                  <a:lnTo>
                    <a:pt x="226" y="261"/>
                  </a:lnTo>
                  <a:lnTo>
                    <a:pt x="216" y="223"/>
                  </a:lnTo>
                  <a:lnTo>
                    <a:pt x="204" y="189"/>
                  </a:lnTo>
                  <a:lnTo>
                    <a:pt x="190" y="156"/>
                  </a:lnTo>
                  <a:lnTo>
                    <a:pt x="174" y="125"/>
                  </a:lnTo>
                  <a:lnTo>
                    <a:pt x="156" y="98"/>
                  </a:lnTo>
                  <a:lnTo>
                    <a:pt x="137" y="74"/>
                  </a:lnTo>
                  <a:lnTo>
                    <a:pt x="119" y="52"/>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8" y="81"/>
                  </a:lnTo>
                  <a:lnTo>
                    <a:pt x="147" y="105"/>
                  </a:lnTo>
                  <a:lnTo>
                    <a:pt x="164" y="132"/>
                  </a:lnTo>
                  <a:lnTo>
                    <a:pt x="178" y="161"/>
                  </a:lnTo>
                  <a:lnTo>
                    <a:pt x="193" y="193"/>
                  </a:lnTo>
                  <a:lnTo>
                    <a:pt x="204" y="227"/>
                  </a:lnTo>
                  <a:lnTo>
                    <a:pt x="215" y="264"/>
                  </a:lnTo>
                  <a:lnTo>
                    <a:pt x="223" y="301"/>
                  </a:lnTo>
                  <a:lnTo>
                    <a:pt x="229" y="341"/>
                  </a:lnTo>
                  <a:lnTo>
                    <a:pt x="232" y="382"/>
                  </a:lnTo>
                  <a:lnTo>
                    <a:pt x="234"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1" name="Freeform 72"/>
            <p:cNvSpPr>
              <a:spLocks/>
            </p:cNvSpPr>
            <p:nvPr/>
          </p:nvSpPr>
          <p:spPr bwMode="auto">
            <a:xfrm>
              <a:off x="1552" y="1836"/>
              <a:ext cx="49" cy="85"/>
            </a:xfrm>
            <a:custGeom>
              <a:avLst/>
              <a:gdLst>
                <a:gd name="T0" fmla="*/ 0 w 245"/>
                <a:gd name="T1" fmla="*/ 3 h 425"/>
                <a:gd name="T2" fmla="*/ 0 w 245"/>
                <a:gd name="T3" fmla="*/ 3 h 425"/>
                <a:gd name="T4" fmla="*/ 0 w 245"/>
                <a:gd name="T5" fmla="*/ 3 h 425"/>
                <a:gd name="T6" fmla="*/ 0 w 245"/>
                <a:gd name="T7" fmla="*/ 3 h 425"/>
                <a:gd name="T8" fmla="*/ 1 w 245"/>
                <a:gd name="T9" fmla="*/ 3 h 425"/>
                <a:gd name="T10" fmla="*/ 1 w 245"/>
                <a:gd name="T11" fmla="*/ 3 h 425"/>
                <a:gd name="T12" fmla="*/ 1 w 245"/>
                <a:gd name="T13" fmla="*/ 3 h 425"/>
                <a:gd name="T14" fmla="*/ 1 w 245"/>
                <a:gd name="T15" fmla="*/ 3 h 425"/>
                <a:gd name="T16" fmla="*/ 1 w 245"/>
                <a:gd name="T17" fmla="*/ 3 h 425"/>
                <a:gd name="T18" fmla="*/ 1 w 245"/>
                <a:gd name="T19" fmla="*/ 2 h 425"/>
                <a:gd name="T20" fmla="*/ 2 w 245"/>
                <a:gd name="T21" fmla="*/ 2 h 425"/>
                <a:gd name="T22" fmla="*/ 2 w 245"/>
                <a:gd name="T23" fmla="*/ 2 h 425"/>
                <a:gd name="T24" fmla="*/ 2 w 245"/>
                <a:gd name="T25" fmla="*/ 2 h 425"/>
                <a:gd name="T26" fmla="*/ 2 w 245"/>
                <a:gd name="T27" fmla="*/ 1 h 425"/>
                <a:gd name="T28" fmla="*/ 2 w 245"/>
                <a:gd name="T29" fmla="*/ 1 h 425"/>
                <a:gd name="T30" fmla="*/ 2 w 245"/>
                <a:gd name="T31" fmla="*/ 1 h 425"/>
                <a:gd name="T32" fmla="*/ 2 w 245"/>
                <a:gd name="T33" fmla="*/ 0 h 425"/>
                <a:gd name="T34" fmla="*/ 2 w 245"/>
                <a:gd name="T35" fmla="*/ 0 h 425"/>
                <a:gd name="T36" fmla="*/ 2 w 245"/>
                <a:gd name="T37" fmla="*/ 0 h 425"/>
                <a:gd name="T38" fmla="*/ 2 w 245"/>
                <a:gd name="T39" fmla="*/ 0 h 425"/>
                <a:gd name="T40" fmla="*/ 2 w 245"/>
                <a:gd name="T41" fmla="*/ 1 h 425"/>
                <a:gd name="T42" fmla="*/ 2 w 245"/>
                <a:gd name="T43" fmla="*/ 1 h 425"/>
                <a:gd name="T44" fmla="*/ 2 w 245"/>
                <a:gd name="T45" fmla="*/ 1 h 425"/>
                <a:gd name="T46" fmla="*/ 2 w 245"/>
                <a:gd name="T47" fmla="*/ 2 h 425"/>
                <a:gd name="T48" fmla="*/ 2 w 245"/>
                <a:gd name="T49" fmla="*/ 2 h 425"/>
                <a:gd name="T50" fmla="*/ 1 w 245"/>
                <a:gd name="T51" fmla="*/ 2 h 425"/>
                <a:gd name="T52" fmla="*/ 1 w 245"/>
                <a:gd name="T53" fmla="*/ 2 h 425"/>
                <a:gd name="T54" fmla="*/ 1 w 245"/>
                <a:gd name="T55" fmla="*/ 3 h 425"/>
                <a:gd name="T56" fmla="*/ 1 w 245"/>
                <a:gd name="T57" fmla="*/ 3 h 425"/>
                <a:gd name="T58" fmla="*/ 1 w 245"/>
                <a:gd name="T59" fmla="*/ 3 h 425"/>
                <a:gd name="T60" fmla="*/ 1 w 245"/>
                <a:gd name="T61" fmla="*/ 3 h 425"/>
                <a:gd name="T62" fmla="*/ 1 w 245"/>
                <a:gd name="T63" fmla="*/ 3 h 425"/>
                <a:gd name="T64" fmla="*/ 0 w 245"/>
                <a:gd name="T65" fmla="*/ 3 h 425"/>
                <a:gd name="T66" fmla="*/ 0 w 245"/>
                <a:gd name="T67" fmla="*/ 3 h 425"/>
                <a:gd name="T68" fmla="*/ 0 w 245"/>
                <a:gd name="T69" fmla="*/ 3 h 425"/>
                <a:gd name="T70" fmla="*/ 0 w 245"/>
                <a:gd name="T71" fmla="*/ 3 h 425"/>
                <a:gd name="T72" fmla="*/ 0 w 245"/>
                <a:gd name="T73" fmla="*/ 3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5"/>
                <a:gd name="T113" fmla="*/ 245 w 245"/>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5">
                  <a:moveTo>
                    <a:pt x="0" y="425"/>
                  </a:moveTo>
                  <a:lnTo>
                    <a:pt x="0" y="425"/>
                  </a:lnTo>
                  <a:lnTo>
                    <a:pt x="26" y="422"/>
                  </a:lnTo>
                  <a:lnTo>
                    <a:pt x="51" y="417"/>
                  </a:lnTo>
                  <a:lnTo>
                    <a:pt x="74" y="406"/>
                  </a:lnTo>
                  <a:lnTo>
                    <a:pt x="96" y="391"/>
                  </a:lnTo>
                  <a:lnTo>
                    <a:pt x="119" y="373"/>
                  </a:lnTo>
                  <a:lnTo>
                    <a:pt x="137" y="351"/>
                  </a:lnTo>
                  <a:lnTo>
                    <a:pt x="156" y="326"/>
                  </a:lnTo>
                  <a:lnTo>
                    <a:pt x="174" y="299"/>
                  </a:lnTo>
                  <a:lnTo>
                    <a:pt x="190" y="269"/>
                  </a:lnTo>
                  <a:lnTo>
                    <a:pt x="204" y="236"/>
                  </a:lnTo>
                  <a:lnTo>
                    <a:pt x="216" y="202"/>
                  </a:lnTo>
                  <a:lnTo>
                    <a:pt x="226" y="163"/>
                  </a:lnTo>
                  <a:lnTo>
                    <a:pt x="235" y="126"/>
                  </a:lnTo>
                  <a:lnTo>
                    <a:pt x="241" y="86"/>
                  </a:lnTo>
                  <a:lnTo>
                    <a:pt x="244" y="43"/>
                  </a:lnTo>
                  <a:lnTo>
                    <a:pt x="245" y="0"/>
                  </a:lnTo>
                  <a:lnTo>
                    <a:pt x="234" y="0"/>
                  </a:lnTo>
                  <a:lnTo>
                    <a:pt x="232" y="43"/>
                  </a:lnTo>
                  <a:lnTo>
                    <a:pt x="229" y="84"/>
                  </a:lnTo>
                  <a:lnTo>
                    <a:pt x="223" y="123"/>
                  </a:lnTo>
                  <a:lnTo>
                    <a:pt x="215" y="161"/>
                  </a:lnTo>
                  <a:lnTo>
                    <a:pt x="204" y="197"/>
                  </a:lnTo>
                  <a:lnTo>
                    <a:pt x="193" y="231"/>
                  </a:lnTo>
                  <a:lnTo>
                    <a:pt x="178" y="264"/>
                  </a:lnTo>
                  <a:lnTo>
                    <a:pt x="164" y="292"/>
                  </a:lnTo>
                  <a:lnTo>
                    <a:pt x="147" y="319"/>
                  </a:lnTo>
                  <a:lnTo>
                    <a:pt x="128" y="344"/>
                  </a:lnTo>
                  <a:lnTo>
                    <a:pt x="109" y="364"/>
                  </a:lnTo>
                  <a:lnTo>
                    <a:pt x="89" y="381"/>
                  </a:lnTo>
                  <a:lnTo>
                    <a:pt x="67" y="394"/>
                  </a:lnTo>
                  <a:lnTo>
                    <a:pt x="46" y="405"/>
                  </a:lnTo>
                  <a:lnTo>
                    <a:pt x="24" y="411"/>
                  </a:lnTo>
                  <a:lnTo>
                    <a:pt x="0" y="413"/>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2" name="Freeform 73"/>
            <p:cNvSpPr>
              <a:spLocks/>
            </p:cNvSpPr>
            <p:nvPr/>
          </p:nvSpPr>
          <p:spPr bwMode="auto">
            <a:xfrm>
              <a:off x="1502" y="1836"/>
              <a:ext cx="50" cy="85"/>
            </a:xfrm>
            <a:custGeom>
              <a:avLst/>
              <a:gdLst>
                <a:gd name="T0" fmla="*/ 0 w 246"/>
                <a:gd name="T1" fmla="*/ 0 h 425"/>
                <a:gd name="T2" fmla="*/ 0 w 246"/>
                <a:gd name="T3" fmla="*/ 0 h 425"/>
                <a:gd name="T4" fmla="*/ 0 w 246"/>
                <a:gd name="T5" fmla="*/ 0 h 425"/>
                <a:gd name="T6" fmla="*/ 0 w 246"/>
                <a:gd name="T7" fmla="*/ 1 h 425"/>
                <a:gd name="T8" fmla="*/ 0 w 246"/>
                <a:gd name="T9" fmla="*/ 1 h 425"/>
                <a:gd name="T10" fmla="*/ 0 w 246"/>
                <a:gd name="T11" fmla="*/ 1 h 425"/>
                <a:gd name="T12" fmla="*/ 0 w 246"/>
                <a:gd name="T13" fmla="*/ 2 h 425"/>
                <a:gd name="T14" fmla="*/ 0 w 246"/>
                <a:gd name="T15" fmla="*/ 2 h 425"/>
                <a:gd name="T16" fmla="*/ 0 w 246"/>
                <a:gd name="T17" fmla="*/ 2 h 425"/>
                <a:gd name="T18" fmla="*/ 1 w 246"/>
                <a:gd name="T19" fmla="*/ 2 h 425"/>
                <a:gd name="T20" fmla="*/ 1 w 246"/>
                <a:gd name="T21" fmla="*/ 3 h 425"/>
                <a:gd name="T22" fmla="*/ 1 w 246"/>
                <a:gd name="T23" fmla="*/ 3 h 425"/>
                <a:gd name="T24" fmla="*/ 1 w 246"/>
                <a:gd name="T25" fmla="*/ 3 h 425"/>
                <a:gd name="T26" fmla="*/ 1 w 246"/>
                <a:gd name="T27" fmla="*/ 3 h 425"/>
                <a:gd name="T28" fmla="*/ 1 w 246"/>
                <a:gd name="T29" fmla="*/ 3 h 425"/>
                <a:gd name="T30" fmla="*/ 2 w 246"/>
                <a:gd name="T31" fmla="*/ 3 h 425"/>
                <a:gd name="T32" fmla="*/ 2 w 246"/>
                <a:gd name="T33" fmla="*/ 3 h 425"/>
                <a:gd name="T34" fmla="*/ 2 w 246"/>
                <a:gd name="T35" fmla="*/ 3 h 425"/>
                <a:gd name="T36" fmla="*/ 2 w 246"/>
                <a:gd name="T37" fmla="*/ 3 h 425"/>
                <a:gd name="T38" fmla="*/ 2 w 246"/>
                <a:gd name="T39" fmla="*/ 3 h 425"/>
                <a:gd name="T40" fmla="*/ 2 w 246"/>
                <a:gd name="T41" fmla="*/ 3 h 425"/>
                <a:gd name="T42" fmla="*/ 1 w 246"/>
                <a:gd name="T43" fmla="*/ 3 h 425"/>
                <a:gd name="T44" fmla="*/ 1 w 246"/>
                <a:gd name="T45" fmla="*/ 3 h 425"/>
                <a:gd name="T46" fmla="*/ 1 w 246"/>
                <a:gd name="T47" fmla="*/ 3 h 425"/>
                <a:gd name="T48" fmla="*/ 1 w 246"/>
                <a:gd name="T49" fmla="*/ 3 h 425"/>
                <a:gd name="T50" fmla="*/ 1 w 246"/>
                <a:gd name="T51" fmla="*/ 3 h 425"/>
                <a:gd name="T52" fmla="*/ 1 w 246"/>
                <a:gd name="T53" fmla="*/ 2 h 425"/>
                <a:gd name="T54" fmla="*/ 1 w 246"/>
                <a:gd name="T55" fmla="*/ 2 h 425"/>
                <a:gd name="T56" fmla="*/ 0 w 246"/>
                <a:gd name="T57" fmla="*/ 2 h 425"/>
                <a:gd name="T58" fmla="*/ 0 w 246"/>
                <a:gd name="T59" fmla="*/ 2 h 425"/>
                <a:gd name="T60" fmla="*/ 0 w 246"/>
                <a:gd name="T61" fmla="*/ 1 h 425"/>
                <a:gd name="T62" fmla="*/ 0 w 246"/>
                <a:gd name="T63" fmla="*/ 1 h 425"/>
                <a:gd name="T64" fmla="*/ 0 w 246"/>
                <a:gd name="T65" fmla="*/ 1 h 425"/>
                <a:gd name="T66" fmla="*/ 0 w 246"/>
                <a:gd name="T67" fmla="*/ 0 h 425"/>
                <a:gd name="T68" fmla="*/ 0 w 246"/>
                <a:gd name="T69" fmla="*/ 0 h 425"/>
                <a:gd name="T70" fmla="*/ 0 w 246"/>
                <a:gd name="T71" fmla="*/ 0 h 425"/>
                <a:gd name="T72" fmla="*/ 0 w 246"/>
                <a:gd name="T73" fmla="*/ 0 h 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5"/>
                <a:gd name="T113" fmla="*/ 246 w 246"/>
                <a:gd name="T114" fmla="*/ 425 h 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5">
                  <a:moveTo>
                    <a:pt x="0" y="0"/>
                  </a:moveTo>
                  <a:lnTo>
                    <a:pt x="0" y="0"/>
                  </a:lnTo>
                  <a:lnTo>
                    <a:pt x="2" y="43"/>
                  </a:lnTo>
                  <a:lnTo>
                    <a:pt x="5" y="86"/>
                  </a:lnTo>
                  <a:lnTo>
                    <a:pt x="11" y="126"/>
                  </a:lnTo>
                  <a:lnTo>
                    <a:pt x="19" y="163"/>
                  </a:lnTo>
                  <a:lnTo>
                    <a:pt x="30" y="202"/>
                  </a:lnTo>
                  <a:lnTo>
                    <a:pt x="41" y="236"/>
                  </a:lnTo>
                  <a:lnTo>
                    <a:pt x="55" y="269"/>
                  </a:lnTo>
                  <a:lnTo>
                    <a:pt x="73" y="299"/>
                  </a:lnTo>
                  <a:lnTo>
                    <a:pt x="89" y="326"/>
                  </a:lnTo>
                  <a:lnTo>
                    <a:pt x="108" y="351"/>
                  </a:lnTo>
                  <a:lnTo>
                    <a:pt x="128" y="373"/>
                  </a:lnTo>
                  <a:lnTo>
                    <a:pt x="150" y="391"/>
                  </a:lnTo>
                  <a:lnTo>
                    <a:pt x="171" y="406"/>
                  </a:lnTo>
                  <a:lnTo>
                    <a:pt x="196" y="417"/>
                  </a:lnTo>
                  <a:lnTo>
                    <a:pt x="221" y="422"/>
                  </a:lnTo>
                  <a:lnTo>
                    <a:pt x="246" y="425"/>
                  </a:lnTo>
                  <a:lnTo>
                    <a:pt x="246" y="413"/>
                  </a:lnTo>
                  <a:lnTo>
                    <a:pt x="223" y="411"/>
                  </a:lnTo>
                  <a:lnTo>
                    <a:pt x="201" y="405"/>
                  </a:lnTo>
                  <a:lnTo>
                    <a:pt x="178" y="394"/>
                  </a:lnTo>
                  <a:lnTo>
                    <a:pt x="157" y="381"/>
                  </a:lnTo>
                  <a:lnTo>
                    <a:pt x="137" y="364"/>
                  </a:lnTo>
                  <a:lnTo>
                    <a:pt x="117" y="344"/>
                  </a:lnTo>
                  <a:lnTo>
                    <a:pt x="99" y="319"/>
                  </a:lnTo>
                  <a:lnTo>
                    <a:pt x="82" y="292"/>
                  </a:lnTo>
                  <a:lnTo>
                    <a:pt x="67" y="264"/>
                  </a:lnTo>
                  <a:lnTo>
                    <a:pt x="53" y="231"/>
                  </a:lnTo>
                  <a:lnTo>
                    <a:pt x="41" y="197"/>
                  </a:lnTo>
                  <a:lnTo>
                    <a:pt x="31" y="161"/>
                  </a:lnTo>
                  <a:lnTo>
                    <a:pt x="23" y="123"/>
                  </a:lnTo>
                  <a:lnTo>
                    <a:pt x="17" y="84"/>
                  </a:lnTo>
                  <a:lnTo>
                    <a:pt x="13" y="43"/>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3" name="Freeform 74"/>
            <p:cNvSpPr>
              <a:spLocks/>
            </p:cNvSpPr>
            <p:nvPr/>
          </p:nvSpPr>
          <p:spPr bwMode="auto">
            <a:xfrm>
              <a:off x="1502" y="1751"/>
              <a:ext cx="50" cy="85"/>
            </a:xfrm>
            <a:custGeom>
              <a:avLst/>
              <a:gdLst>
                <a:gd name="T0" fmla="*/ 2 w 246"/>
                <a:gd name="T1" fmla="*/ 0 h 424"/>
                <a:gd name="T2" fmla="*/ 2 w 246"/>
                <a:gd name="T3" fmla="*/ 0 h 424"/>
                <a:gd name="T4" fmla="*/ 2 w 246"/>
                <a:gd name="T5" fmla="*/ 0 h 424"/>
                <a:gd name="T6" fmla="*/ 2 w 246"/>
                <a:gd name="T7" fmla="*/ 0 h 424"/>
                <a:gd name="T8" fmla="*/ 1 w 246"/>
                <a:gd name="T9" fmla="*/ 0 h 424"/>
                <a:gd name="T10" fmla="*/ 1 w 246"/>
                <a:gd name="T11" fmla="*/ 0 h 424"/>
                <a:gd name="T12" fmla="*/ 1 w 246"/>
                <a:gd name="T13" fmla="*/ 0 h 424"/>
                <a:gd name="T14" fmla="*/ 1 w 246"/>
                <a:gd name="T15" fmla="*/ 1 h 424"/>
                <a:gd name="T16" fmla="*/ 1 w 246"/>
                <a:gd name="T17" fmla="*/ 1 h 424"/>
                <a:gd name="T18" fmla="*/ 1 w 246"/>
                <a:gd name="T19" fmla="*/ 1 h 424"/>
                <a:gd name="T20" fmla="*/ 0 w 246"/>
                <a:gd name="T21" fmla="*/ 1 h 424"/>
                <a:gd name="T22" fmla="*/ 0 w 246"/>
                <a:gd name="T23" fmla="*/ 2 h 424"/>
                <a:gd name="T24" fmla="*/ 0 w 246"/>
                <a:gd name="T25" fmla="*/ 2 h 424"/>
                <a:gd name="T26" fmla="*/ 0 w 246"/>
                <a:gd name="T27" fmla="*/ 2 h 424"/>
                <a:gd name="T28" fmla="*/ 0 w 246"/>
                <a:gd name="T29" fmla="*/ 2 h 424"/>
                <a:gd name="T30" fmla="*/ 0 w 246"/>
                <a:gd name="T31" fmla="*/ 3 h 424"/>
                <a:gd name="T32" fmla="*/ 0 w 246"/>
                <a:gd name="T33" fmla="*/ 3 h 424"/>
                <a:gd name="T34" fmla="*/ 0 w 246"/>
                <a:gd name="T35" fmla="*/ 3 h 424"/>
                <a:gd name="T36" fmla="*/ 0 w 246"/>
                <a:gd name="T37" fmla="*/ 3 h 424"/>
                <a:gd name="T38" fmla="*/ 0 w 246"/>
                <a:gd name="T39" fmla="*/ 3 h 424"/>
                <a:gd name="T40" fmla="*/ 0 w 246"/>
                <a:gd name="T41" fmla="*/ 3 h 424"/>
                <a:gd name="T42" fmla="*/ 0 w 246"/>
                <a:gd name="T43" fmla="*/ 2 h 424"/>
                <a:gd name="T44" fmla="*/ 0 w 246"/>
                <a:gd name="T45" fmla="*/ 2 h 424"/>
                <a:gd name="T46" fmla="*/ 0 w 246"/>
                <a:gd name="T47" fmla="*/ 2 h 424"/>
                <a:gd name="T48" fmla="*/ 0 w 246"/>
                <a:gd name="T49" fmla="*/ 2 h 424"/>
                <a:gd name="T50" fmla="*/ 1 w 246"/>
                <a:gd name="T51" fmla="*/ 1 h 424"/>
                <a:gd name="T52" fmla="*/ 1 w 246"/>
                <a:gd name="T53" fmla="*/ 1 h 424"/>
                <a:gd name="T54" fmla="*/ 1 w 246"/>
                <a:gd name="T55" fmla="*/ 1 h 424"/>
                <a:gd name="T56" fmla="*/ 1 w 246"/>
                <a:gd name="T57" fmla="*/ 1 h 424"/>
                <a:gd name="T58" fmla="*/ 1 w 246"/>
                <a:gd name="T59" fmla="*/ 0 h 424"/>
                <a:gd name="T60" fmla="*/ 1 w 246"/>
                <a:gd name="T61" fmla="*/ 0 h 424"/>
                <a:gd name="T62" fmla="*/ 1 w 246"/>
                <a:gd name="T63" fmla="*/ 0 h 424"/>
                <a:gd name="T64" fmla="*/ 2 w 246"/>
                <a:gd name="T65" fmla="*/ 0 h 424"/>
                <a:gd name="T66" fmla="*/ 2 w 246"/>
                <a:gd name="T67" fmla="*/ 0 h 424"/>
                <a:gd name="T68" fmla="*/ 2 w 246"/>
                <a:gd name="T69" fmla="*/ 0 h 424"/>
                <a:gd name="T70" fmla="*/ 2 w 246"/>
                <a:gd name="T71" fmla="*/ 0 h 424"/>
                <a:gd name="T72" fmla="*/ 2 w 246"/>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424"/>
                <a:gd name="T113" fmla="*/ 246 w 246"/>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424">
                  <a:moveTo>
                    <a:pt x="246" y="0"/>
                  </a:moveTo>
                  <a:lnTo>
                    <a:pt x="246" y="0"/>
                  </a:lnTo>
                  <a:lnTo>
                    <a:pt x="221" y="2"/>
                  </a:lnTo>
                  <a:lnTo>
                    <a:pt x="196" y="8"/>
                  </a:lnTo>
                  <a:lnTo>
                    <a:pt x="171" y="19"/>
                  </a:lnTo>
                  <a:lnTo>
                    <a:pt x="150" y="34"/>
                  </a:lnTo>
                  <a:lnTo>
                    <a:pt x="128" y="52"/>
                  </a:lnTo>
                  <a:lnTo>
                    <a:pt x="108" y="74"/>
                  </a:lnTo>
                  <a:lnTo>
                    <a:pt x="89" y="98"/>
                  </a:lnTo>
                  <a:lnTo>
                    <a:pt x="73" y="125"/>
                  </a:lnTo>
                  <a:lnTo>
                    <a:pt x="55" y="156"/>
                  </a:lnTo>
                  <a:lnTo>
                    <a:pt x="41" y="189"/>
                  </a:lnTo>
                  <a:lnTo>
                    <a:pt x="30" y="223"/>
                  </a:lnTo>
                  <a:lnTo>
                    <a:pt x="19" y="261"/>
                  </a:lnTo>
                  <a:lnTo>
                    <a:pt x="11" y="299"/>
                  </a:lnTo>
                  <a:lnTo>
                    <a:pt x="5" y="339"/>
                  </a:lnTo>
                  <a:lnTo>
                    <a:pt x="2" y="382"/>
                  </a:lnTo>
                  <a:lnTo>
                    <a:pt x="0" y="424"/>
                  </a:lnTo>
                  <a:lnTo>
                    <a:pt x="12" y="424"/>
                  </a:lnTo>
                  <a:lnTo>
                    <a:pt x="13" y="382"/>
                  </a:lnTo>
                  <a:lnTo>
                    <a:pt x="17" y="341"/>
                  </a:lnTo>
                  <a:lnTo>
                    <a:pt x="23" y="301"/>
                  </a:lnTo>
                  <a:lnTo>
                    <a:pt x="31" y="264"/>
                  </a:lnTo>
                  <a:lnTo>
                    <a:pt x="41" y="227"/>
                  </a:lnTo>
                  <a:lnTo>
                    <a:pt x="53" y="193"/>
                  </a:lnTo>
                  <a:lnTo>
                    <a:pt x="67" y="161"/>
                  </a:lnTo>
                  <a:lnTo>
                    <a:pt x="82" y="132"/>
                  </a:lnTo>
                  <a:lnTo>
                    <a:pt x="99" y="105"/>
                  </a:lnTo>
                  <a:lnTo>
                    <a:pt x="117" y="81"/>
                  </a:lnTo>
                  <a:lnTo>
                    <a:pt x="137" y="61"/>
                  </a:lnTo>
                  <a:lnTo>
                    <a:pt x="157" y="43"/>
                  </a:lnTo>
                  <a:lnTo>
                    <a:pt x="178" y="30"/>
                  </a:lnTo>
                  <a:lnTo>
                    <a:pt x="201" y="20"/>
                  </a:lnTo>
                  <a:lnTo>
                    <a:pt x="223" y="14"/>
                  </a:lnTo>
                  <a:lnTo>
                    <a:pt x="246" y="12"/>
                  </a:lnTo>
                  <a:lnTo>
                    <a:pt x="2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4" name="Freeform 75"/>
            <p:cNvSpPr>
              <a:spLocks/>
            </p:cNvSpPr>
            <p:nvPr/>
          </p:nvSpPr>
          <p:spPr bwMode="auto">
            <a:xfrm>
              <a:off x="1565" y="2016"/>
              <a:ext cx="49" cy="85"/>
            </a:xfrm>
            <a:custGeom>
              <a:avLst/>
              <a:gdLst>
                <a:gd name="T0" fmla="*/ 2 w 245"/>
                <a:gd name="T1" fmla="*/ 3 h 424"/>
                <a:gd name="T2" fmla="*/ 2 w 245"/>
                <a:gd name="T3" fmla="*/ 3 h 424"/>
                <a:gd name="T4" fmla="*/ 2 w 245"/>
                <a:gd name="T5" fmla="*/ 3 h 424"/>
                <a:gd name="T6" fmla="*/ 2 w 245"/>
                <a:gd name="T7" fmla="*/ 3 h 424"/>
                <a:gd name="T8" fmla="*/ 2 w 245"/>
                <a:gd name="T9" fmla="*/ 2 h 424"/>
                <a:gd name="T10" fmla="*/ 2 w 245"/>
                <a:gd name="T11" fmla="*/ 2 h 424"/>
                <a:gd name="T12" fmla="*/ 2 w 245"/>
                <a:gd name="T13" fmla="*/ 2 h 424"/>
                <a:gd name="T14" fmla="*/ 2 w 245"/>
                <a:gd name="T15" fmla="*/ 2 h 424"/>
                <a:gd name="T16" fmla="*/ 2 w 245"/>
                <a:gd name="T17" fmla="*/ 1 h 424"/>
                <a:gd name="T18" fmla="*/ 1 w 245"/>
                <a:gd name="T19" fmla="*/ 1 h 424"/>
                <a:gd name="T20" fmla="*/ 1 w 245"/>
                <a:gd name="T21" fmla="*/ 1 h 424"/>
                <a:gd name="T22" fmla="*/ 1 w 245"/>
                <a:gd name="T23" fmla="*/ 1 h 424"/>
                <a:gd name="T24" fmla="*/ 1 w 245"/>
                <a:gd name="T25" fmla="*/ 0 h 424"/>
                <a:gd name="T26" fmla="*/ 1 w 245"/>
                <a:gd name="T27" fmla="*/ 0 h 424"/>
                <a:gd name="T28" fmla="*/ 1 w 245"/>
                <a:gd name="T29" fmla="*/ 0 h 424"/>
                <a:gd name="T30" fmla="*/ 0 w 245"/>
                <a:gd name="T31" fmla="*/ 0 h 424"/>
                <a:gd name="T32" fmla="*/ 0 w 245"/>
                <a:gd name="T33" fmla="*/ 0 h 424"/>
                <a:gd name="T34" fmla="*/ 0 w 245"/>
                <a:gd name="T35" fmla="*/ 0 h 424"/>
                <a:gd name="T36" fmla="*/ 0 w 245"/>
                <a:gd name="T37" fmla="*/ 0 h 424"/>
                <a:gd name="T38" fmla="*/ 0 w 245"/>
                <a:gd name="T39" fmla="*/ 0 h 424"/>
                <a:gd name="T40" fmla="*/ 0 w 245"/>
                <a:gd name="T41" fmla="*/ 0 h 424"/>
                <a:gd name="T42" fmla="*/ 1 w 245"/>
                <a:gd name="T43" fmla="*/ 0 h 424"/>
                <a:gd name="T44" fmla="*/ 1 w 245"/>
                <a:gd name="T45" fmla="*/ 0 h 424"/>
                <a:gd name="T46" fmla="*/ 1 w 245"/>
                <a:gd name="T47" fmla="*/ 0 h 424"/>
                <a:gd name="T48" fmla="*/ 1 w 245"/>
                <a:gd name="T49" fmla="*/ 1 h 424"/>
                <a:gd name="T50" fmla="*/ 1 w 245"/>
                <a:gd name="T51" fmla="*/ 1 h 424"/>
                <a:gd name="T52" fmla="*/ 1 w 245"/>
                <a:gd name="T53" fmla="*/ 1 h 424"/>
                <a:gd name="T54" fmla="*/ 1 w 245"/>
                <a:gd name="T55" fmla="*/ 1 h 424"/>
                <a:gd name="T56" fmla="*/ 2 w 245"/>
                <a:gd name="T57" fmla="*/ 2 h 424"/>
                <a:gd name="T58" fmla="*/ 2 w 245"/>
                <a:gd name="T59" fmla="*/ 2 h 424"/>
                <a:gd name="T60" fmla="*/ 2 w 245"/>
                <a:gd name="T61" fmla="*/ 2 h 424"/>
                <a:gd name="T62" fmla="*/ 2 w 245"/>
                <a:gd name="T63" fmla="*/ 2 h 424"/>
                <a:gd name="T64" fmla="*/ 2 w 245"/>
                <a:gd name="T65" fmla="*/ 3 h 424"/>
                <a:gd name="T66" fmla="*/ 2 w 245"/>
                <a:gd name="T67" fmla="*/ 3 h 424"/>
                <a:gd name="T68" fmla="*/ 2 w 245"/>
                <a:gd name="T69" fmla="*/ 3 h 424"/>
                <a:gd name="T70" fmla="*/ 2 w 245"/>
                <a:gd name="T71" fmla="*/ 3 h 424"/>
                <a:gd name="T72" fmla="*/ 2 w 245"/>
                <a:gd name="T73" fmla="*/ 3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424"/>
                  </a:moveTo>
                  <a:lnTo>
                    <a:pt x="245" y="424"/>
                  </a:lnTo>
                  <a:lnTo>
                    <a:pt x="244" y="382"/>
                  </a:lnTo>
                  <a:lnTo>
                    <a:pt x="240" y="339"/>
                  </a:lnTo>
                  <a:lnTo>
                    <a:pt x="234" y="299"/>
                  </a:lnTo>
                  <a:lnTo>
                    <a:pt x="226" y="261"/>
                  </a:lnTo>
                  <a:lnTo>
                    <a:pt x="216" y="223"/>
                  </a:lnTo>
                  <a:lnTo>
                    <a:pt x="204" y="189"/>
                  </a:lnTo>
                  <a:lnTo>
                    <a:pt x="190" y="156"/>
                  </a:lnTo>
                  <a:lnTo>
                    <a:pt x="174" y="125"/>
                  </a:lnTo>
                  <a:lnTo>
                    <a:pt x="156" y="98"/>
                  </a:lnTo>
                  <a:lnTo>
                    <a:pt x="138" y="74"/>
                  </a:lnTo>
                  <a:lnTo>
                    <a:pt x="118" y="51"/>
                  </a:lnTo>
                  <a:lnTo>
                    <a:pt x="96" y="34"/>
                  </a:lnTo>
                  <a:lnTo>
                    <a:pt x="74" y="19"/>
                  </a:lnTo>
                  <a:lnTo>
                    <a:pt x="51" y="8"/>
                  </a:lnTo>
                  <a:lnTo>
                    <a:pt x="26" y="2"/>
                  </a:lnTo>
                  <a:lnTo>
                    <a:pt x="0" y="0"/>
                  </a:lnTo>
                  <a:lnTo>
                    <a:pt x="0" y="12"/>
                  </a:lnTo>
                  <a:lnTo>
                    <a:pt x="24" y="14"/>
                  </a:lnTo>
                  <a:lnTo>
                    <a:pt x="46" y="20"/>
                  </a:lnTo>
                  <a:lnTo>
                    <a:pt x="67" y="30"/>
                  </a:lnTo>
                  <a:lnTo>
                    <a:pt x="89" y="43"/>
                  </a:lnTo>
                  <a:lnTo>
                    <a:pt x="109" y="61"/>
                  </a:lnTo>
                  <a:lnTo>
                    <a:pt x="129" y="81"/>
                  </a:lnTo>
                  <a:lnTo>
                    <a:pt x="147" y="105"/>
                  </a:lnTo>
                  <a:lnTo>
                    <a:pt x="164" y="132"/>
                  </a:lnTo>
                  <a:lnTo>
                    <a:pt x="178" y="160"/>
                  </a:lnTo>
                  <a:lnTo>
                    <a:pt x="192" y="193"/>
                  </a:lnTo>
                  <a:lnTo>
                    <a:pt x="204" y="227"/>
                  </a:lnTo>
                  <a:lnTo>
                    <a:pt x="215" y="264"/>
                  </a:lnTo>
                  <a:lnTo>
                    <a:pt x="223" y="301"/>
                  </a:lnTo>
                  <a:lnTo>
                    <a:pt x="229" y="341"/>
                  </a:lnTo>
                  <a:lnTo>
                    <a:pt x="232" y="382"/>
                  </a:lnTo>
                  <a:lnTo>
                    <a:pt x="233" y="424"/>
                  </a:lnTo>
                  <a:lnTo>
                    <a:pt x="245"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5" name="Freeform 76"/>
            <p:cNvSpPr>
              <a:spLocks/>
            </p:cNvSpPr>
            <p:nvPr/>
          </p:nvSpPr>
          <p:spPr bwMode="auto">
            <a:xfrm>
              <a:off x="1565" y="2101"/>
              <a:ext cx="49" cy="85"/>
            </a:xfrm>
            <a:custGeom>
              <a:avLst/>
              <a:gdLst>
                <a:gd name="T0" fmla="*/ 0 w 245"/>
                <a:gd name="T1" fmla="*/ 3 h 426"/>
                <a:gd name="T2" fmla="*/ 0 w 245"/>
                <a:gd name="T3" fmla="*/ 3 h 426"/>
                <a:gd name="T4" fmla="*/ 0 w 245"/>
                <a:gd name="T5" fmla="*/ 3 h 426"/>
                <a:gd name="T6" fmla="*/ 0 w 245"/>
                <a:gd name="T7" fmla="*/ 3 h 426"/>
                <a:gd name="T8" fmla="*/ 1 w 245"/>
                <a:gd name="T9" fmla="*/ 3 h 426"/>
                <a:gd name="T10" fmla="*/ 1 w 245"/>
                <a:gd name="T11" fmla="*/ 3 h 426"/>
                <a:gd name="T12" fmla="*/ 1 w 245"/>
                <a:gd name="T13" fmla="*/ 3 h 426"/>
                <a:gd name="T14" fmla="*/ 1 w 245"/>
                <a:gd name="T15" fmla="*/ 3 h 426"/>
                <a:gd name="T16" fmla="*/ 1 w 245"/>
                <a:gd name="T17" fmla="*/ 3 h 426"/>
                <a:gd name="T18" fmla="*/ 1 w 245"/>
                <a:gd name="T19" fmla="*/ 2 h 426"/>
                <a:gd name="T20" fmla="*/ 2 w 245"/>
                <a:gd name="T21" fmla="*/ 2 h 426"/>
                <a:gd name="T22" fmla="*/ 2 w 245"/>
                <a:gd name="T23" fmla="*/ 2 h 426"/>
                <a:gd name="T24" fmla="*/ 2 w 245"/>
                <a:gd name="T25" fmla="*/ 2 h 426"/>
                <a:gd name="T26" fmla="*/ 2 w 245"/>
                <a:gd name="T27" fmla="*/ 1 h 426"/>
                <a:gd name="T28" fmla="*/ 2 w 245"/>
                <a:gd name="T29" fmla="*/ 1 h 426"/>
                <a:gd name="T30" fmla="*/ 2 w 245"/>
                <a:gd name="T31" fmla="*/ 1 h 426"/>
                <a:gd name="T32" fmla="*/ 2 w 245"/>
                <a:gd name="T33" fmla="*/ 0 h 426"/>
                <a:gd name="T34" fmla="*/ 2 w 245"/>
                <a:gd name="T35" fmla="*/ 0 h 426"/>
                <a:gd name="T36" fmla="*/ 2 w 245"/>
                <a:gd name="T37" fmla="*/ 0 h 426"/>
                <a:gd name="T38" fmla="*/ 2 w 245"/>
                <a:gd name="T39" fmla="*/ 0 h 426"/>
                <a:gd name="T40" fmla="*/ 2 w 245"/>
                <a:gd name="T41" fmla="*/ 1 h 426"/>
                <a:gd name="T42" fmla="*/ 2 w 245"/>
                <a:gd name="T43" fmla="*/ 1 h 426"/>
                <a:gd name="T44" fmla="*/ 2 w 245"/>
                <a:gd name="T45" fmla="*/ 1 h 426"/>
                <a:gd name="T46" fmla="*/ 2 w 245"/>
                <a:gd name="T47" fmla="*/ 2 h 426"/>
                <a:gd name="T48" fmla="*/ 2 w 245"/>
                <a:gd name="T49" fmla="*/ 2 h 426"/>
                <a:gd name="T50" fmla="*/ 1 w 245"/>
                <a:gd name="T51" fmla="*/ 2 h 426"/>
                <a:gd name="T52" fmla="*/ 1 w 245"/>
                <a:gd name="T53" fmla="*/ 2 h 426"/>
                <a:gd name="T54" fmla="*/ 1 w 245"/>
                <a:gd name="T55" fmla="*/ 3 h 426"/>
                <a:gd name="T56" fmla="*/ 1 w 245"/>
                <a:gd name="T57" fmla="*/ 3 h 426"/>
                <a:gd name="T58" fmla="*/ 1 w 245"/>
                <a:gd name="T59" fmla="*/ 3 h 426"/>
                <a:gd name="T60" fmla="*/ 1 w 245"/>
                <a:gd name="T61" fmla="*/ 3 h 426"/>
                <a:gd name="T62" fmla="*/ 1 w 245"/>
                <a:gd name="T63" fmla="*/ 3 h 426"/>
                <a:gd name="T64" fmla="*/ 0 w 245"/>
                <a:gd name="T65" fmla="*/ 3 h 426"/>
                <a:gd name="T66" fmla="*/ 0 w 245"/>
                <a:gd name="T67" fmla="*/ 3 h 426"/>
                <a:gd name="T68" fmla="*/ 0 w 245"/>
                <a:gd name="T69" fmla="*/ 3 h 426"/>
                <a:gd name="T70" fmla="*/ 0 w 245"/>
                <a:gd name="T71" fmla="*/ 3 h 426"/>
                <a:gd name="T72" fmla="*/ 0 w 245"/>
                <a:gd name="T73" fmla="*/ 3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426"/>
                  </a:moveTo>
                  <a:lnTo>
                    <a:pt x="0" y="426"/>
                  </a:lnTo>
                  <a:lnTo>
                    <a:pt x="26" y="423"/>
                  </a:lnTo>
                  <a:lnTo>
                    <a:pt x="51" y="418"/>
                  </a:lnTo>
                  <a:lnTo>
                    <a:pt x="74" y="407"/>
                  </a:lnTo>
                  <a:lnTo>
                    <a:pt x="96" y="392"/>
                  </a:lnTo>
                  <a:lnTo>
                    <a:pt x="118" y="373"/>
                  </a:lnTo>
                  <a:lnTo>
                    <a:pt x="138" y="351"/>
                  </a:lnTo>
                  <a:lnTo>
                    <a:pt x="156" y="327"/>
                  </a:lnTo>
                  <a:lnTo>
                    <a:pt x="175" y="299"/>
                  </a:lnTo>
                  <a:lnTo>
                    <a:pt x="190" y="269"/>
                  </a:lnTo>
                  <a:lnTo>
                    <a:pt x="204" y="236"/>
                  </a:lnTo>
                  <a:lnTo>
                    <a:pt x="216" y="202"/>
                  </a:lnTo>
                  <a:lnTo>
                    <a:pt x="226" y="164"/>
                  </a:lnTo>
                  <a:lnTo>
                    <a:pt x="234" y="126"/>
                  </a:lnTo>
                  <a:lnTo>
                    <a:pt x="240" y="86"/>
                  </a:lnTo>
                  <a:lnTo>
                    <a:pt x="244" y="42"/>
                  </a:lnTo>
                  <a:lnTo>
                    <a:pt x="245" y="0"/>
                  </a:lnTo>
                  <a:lnTo>
                    <a:pt x="233" y="0"/>
                  </a:lnTo>
                  <a:lnTo>
                    <a:pt x="232" y="42"/>
                  </a:lnTo>
                  <a:lnTo>
                    <a:pt x="229" y="83"/>
                  </a:lnTo>
                  <a:lnTo>
                    <a:pt x="223" y="123"/>
                  </a:lnTo>
                  <a:lnTo>
                    <a:pt x="215" y="162"/>
                  </a:lnTo>
                  <a:lnTo>
                    <a:pt x="204" y="197"/>
                  </a:lnTo>
                  <a:lnTo>
                    <a:pt x="192" y="231"/>
                  </a:lnTo>
                  <a:lnTo>
                    <a:pt x="178" y="264"/>
                  </a:lnTo>
                  <a:lnTo>
                    <a:pt x="163" y="292"/>
                  </a:lnTo>
                  <a:lnTo>
                    <a:pt x="147" y="320"/>
                  </a:lnTo>
                  <a:lnTo>
                    <a:pt x="129" y="344"/>
                  </a:lnTo>
                  <a:lnTo>
                    <a:pt x="109" y="364"/>
                  </a:lnTo>
                  <a:lnTo>
                    <a:pt x="89" y="382"/>
                  </a:lnTo>
                  <a:lnTo>
                    <a:pt x="67" y="395"/>
                  </a:lnTo>
                  <a:lnTo>
                    <a:pt x="46" y="406"/>
                  </a:lnTo>
                  <a:lnTo>
                    <a:pt x="24" y="412"/>
                  </a:lnTo>
                  <a:lnTo>
                    <a:pt x="0" y="414"/>
                  </a:lnTo>
                  <a:lnTo>
                    <a:pt x="0"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6" name="Freeform 77"/>
            <p:cNvSpPr>
              <a:spLocks/>
            </p:cNvSpPr>
            <p:nvPr/>
          </p:nvSpPr>
          <p:spPr bwMode="auto">
            <a:xfrm>
              <a:off x="1516" y="2101"/>
              <a:ext cx="49" cy="85"/>
            </a:xfrm>
            <a:custGeom>
              <a:avLst/>
              <a:gdLst>
                <a:gd name="T0" fmla="*/ 0 w 245"/>
                <a:gd name="T1" fmla="*/ 0 h 426"/>
                <a:gd name="T2" fmla="*/ 0 w 245"/>
                <a:gd name="T3" fmla="*/ 0 h 426"/>
                <a:gd name="T4" fmla="*/ 0 w 245"/>
                <a:gd name="T5" fmla="*/ 0 h 426"/>
                <a:gd name="T6" fmla="*/ 0 w 245"/>
                <a:gd name="T7" fmla="*/ 1 h 426"/>
                <a:gd name="T8" fmla="*/ 0 w 245"/>
                <a:gd name="T9" fmla="*/ 1 h 426"/>
                <a:gd name="T10" fmla="*/ 0 w 245"/>
                <a:gd name="T11" fmla="*/ 1 h 426"/>
                <a:gd name="T12" fmla="*/ 0 w 245"/>
                <a:gd name="T13" fmla="*/ 2 h 426"/>
                <a:gd name="T14" fmla="*/ 0 w 245"/>
                <a:gd name="T15" fmla="*/ 2 h 426"/>
                <a:gd name="T16" fmla="*/ 0 w 245"/>
                <a:gd name="T17" fmla="*/ 2 h 426"/>
                <a:gd name="T18" fmla="*/ 1 w 245"/>
                <a:gd name="T19" fmla="*/ 2 h 426"/>
                <a:gd name="T20" fmla="*/ 1 w 245"/>
                <a:gd name="T21" fmla="*/ 3 h 426"/>
                <a:gd name="T22" fmla="*/ 1 w 245"/>
                <a:gd name="T23" fmla="*/ 3 h 426"/>
                <a:gd name="T24" fmla="*/ 1 w 245"/>
                <a:gd name="T25" fmla="*/ 3 h 426"/>
                <a:gd name="T26" fmla="*/ 1 w 245"/>
                <a:gd name="T27" fmla="*/ 3 h 426"/>
                <a:gd name="T28" fmla="*/ 1 w 245"/>
                <a:gd name="T29" fmla="*/ 3 h 426"/>
                <a:gd name="T30" fmla="*/ 2 w 245"/>
                <a:gd name="T31" fmla="*/ 3 h 426"/>
                <a:gd name="T32" fmla="*/ 2 w 245"/>
                <a:gd name="T33" fmla="*/ 3 h 426"/>
                <a:gd name="T34" fmla="*/ 2 w 245"/>
                <a:gd name="T35" fmla="*/ 3 h 426"/>
                <a:gd name="T36" fmla="*/ 2 w 245"/>
                <a:gd name="T37" fmla="*/ 3 h 426"/>
                <a:gd name="T38" fmla="*/ 2 w 245"/>
                <a:gd name="T39" fmla="*/ 3 h 426"/>
                <a:gd name="T40" fmla="*/ 2 w 245"/>
                <a:gd name="T41" fmla="*/ 3 h 426"/>
                <a:gd name="T42" fmla="*/ 1 w 245"/>
                <a:gd name="T43" fmla="*/ 3 h 426"/>
                <a:gd name="T44" fmla="*/ 1 w 245"/>
                <a:gd name="T45" fmla="*/ 3 h 426"/>
                <a:gd name="T46" fmla="*/ 1 w 245"/>
                <a:gd name="T47" fmla="*/ 3 h 426"/>
                <a:gd name="T48" fmla="*/ 1 w 245"/>
                <a:gd name="T49" fmla="*/ 3 h 426"/>
                <a:gd name="T50" fmla="*/ 1 w 245"/>
                <a:gd name="T51" fmla="*/ 3 h 426"/>
                <a:gd name="T52" fmla="*/ 1 w 245"/>
                <a:gd name="T53" fmla="*/ 2 h 426"/>
                <a:gd name="T54" fmla="*/ 1 w 245"/>
                <a:gd name="T55" fmla="*/ 2 h 426"/>
                <a:gd name="T56" fmla="*/ 0 w 245"/>
                <a:gd name="T57" fmla="*/ 2 h 426"/>
                <a:gd name="T58" fmla="*/ 0 w 245"/>
                <a:gd name="T59" fmla="*/ 2 h 426"/>
                <a:gd name="T60" fmla="*/ 0 w 245"/>
                <a:gd name="T61" fmla="*/ 1 h 426"/>
                <a:gd name="T62" fmla="*/ 0 w 245"/>
                <a:gd name="T63" fmla="*/ 1 h 426"/>
                <a:gd name="T64" fmla="*/ 0 w 245"/>
                <a:gd name="T65" fmla="*/ 1 h 426"/>
                <a:gd name="T66" fmla="*/ 0 w 245"/>
                <a:gd name="T67" fmla="*/ 0 h 426"/>
                <a:gd name="T68" fmla="*/ 0 w 245"/>
                <a:gd name="T69" fmla="*/ 0 h 426"/>
                <a:gd name="T70" fmla="*/ 0 w 245"/>
                <a:gd name="T71" fmla="*/ 0 h 426"/>
                <a:gd name="T72" fmla="*/ 0 w 245"/>
                <a:gd name="T73" fmla="*/ 0 h 4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6"/>
                <a:gd name="T113" fmla="*/ 245 w 245"/>
                <a:gd name="T114" fmla="*/ 426 h 4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6">
                  <a:moveTo>
                    <a:pt x="0" y="0"/>
                  </a:moveTo>
                  <a:lnTo>
                    <a:pt x="0" y="0"/>
                  </a:lnTo>
                  <a:lnTo>
                    <a:pt x="1" y="42"/>
                  </a:lnTo>
                  <a:lnTo>
                    <a:pt x="5" y="86"/>
                  </a:lnTo>
                  <a:lnTo>
                    <a:pt x="11" y="126"/>
                  </a:lnTo>
                  <a:lnTo>
                    <a:pt x="19" y="164"/>
                  </a:lnTo>
                  <a:lnTo>
                    <a:pt x="30" y="202"/>
                  </a:lnTo>
                  <a:lnTo>
                    <a:pt x="41" y="236"/>
                  </a:lnTo>
                  <a:lnTo>
                    <a:pt x="55" y="269"/>
                  </a:lnTo>
                  <a:lnTo>
                    <a:pt x="71" y="299"/>
                  </a:lnTo>
                  <a:lnTo>
                    <a:pt x="89" y="327"/>
                  </a:lnTo>
                  <a:lnTo>
                    <a:pt x="107" y="351"/>
                  </a:lnTo>
                  <a:lnTo>
                    <a:pt x="127" y="373"/>
                  </a:lnTo>
                  <a:lnTo>
                    <a:pt x="149" y="392"/>
                  </a:lnTo>
                  <a:lnTo>
                    <a:pt x="171" y="407"/>
                  </a:lnTo>
                  <a:lnTo>
                    <a:pt x="195" y="418"/>
                  </a:lnTo>
                  <a:lnTo>
                    <a:pt x="219" y="423"/>
                  </a:lnTo>
                  <a:lnTo>
                    <a:pt x="245" y="426"/>
                  </a:lnTo>
                  <a:lnTo>
                    <a:pt x="245" y="414"/>
                  </a:lnTo>
                  <a:lnTo>
                    <a:pt x="222" y="412"/>
                  </a:lnTo>
                  <a:lnTo>
                    <a:pt x="199" y="406"/>
                  </a:lnTo>
                  <a:lnTo>
                    <a:pt x="178" y="395"/>
                  </a:lnTo>
                  <a:lnTo>
                    <a:pt x="156" y="382"/>
                  </a:lnTo>
                  <a:lnTo>
                    <a:pt x="136" y="364"/>
                  </a:lnTo>
                  <a:lnTo>
                    <a:pt x="116" y="344"/>
                  </a:lnTo>
                  <a:lnTo>
                    <a:pt x="99" y="320"/>
                  </a:lnTo>
                  <a:lnTo>
                    <a:pt x="82" y="292"/>
                  </a:lnTo>
                  <a:lnTo>
                    <a:pt x="67" y="264"/>
                  </a:lnTo>
                  <a:lnTo>
                    <a:pt x="53" y="231"/>
                  </a:lnTo>
                  <a:lnTo>
                    <a:pt x="41" y="197"/>
                  </a:lnTo>
                  <a:lnTo>
                    <a:pt x="31" y="162"/>
                  </a:lnTo>
                  <a:lnTo>
                    <a:pt x="23" y="123"/>
                  </a:lnTo>
                  <a:lnTo>
                    <a:pt x="17" y="83"/>
                  </a:lnTo>
                  <a:lnTo>
                    <a:pt x="13" y="42"/>
                  </a:lnTo>
                  <a:lnTo>
                    <a:pt x="1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14077" name="Freeform 78"/>
            <p:cNvSpPr>
              <a:spLocks/>
            </p:cNvSpPr>
            <p:nvPr/>
          </p:nvSpPr>
          <p:spPr bwMode="auto">
            <a:xfrm>
              <a:off x="1516" y="2016"/>
              <a:ext cx="49" cy="85"/>
            </a:xfrm>
            <a:custGeom>
              <a:avLst/>
              <a:gdLst>
                <a:gd name="T0" fmla="*/ 2 w 245"/>
                <a:gd name="T1" fmla="*/ 0 h 424"/>
                <a:gd name="T2" fmla="*/ 2 w 245"/>
                <a:gd name="T3" fmla="*/ 0 h 424"/>
                <a:gd name="T4" fmla="*/ 2 w 245"/>
                <a:gd name="T5" fmla="*/ 0 h 424"/>
                <a:gd name="T6" fmla="*/ 2 w 245"/>
                <a:gd name="T7" fmla="*/ 0 h 424"/>
                <a:gd name="T8" fmla="*/ 1 w 245"/>
                <a:gd name="T9" fmla="*/ 0 h 424"/>
                <a:gd name="T10" fmla="*/ 1 w 245"/>
                <a:gd name="T11" fmla="*/ 0 h 424"/>
                <a:gd name="T12" fmla="*/ 1 w 245"/>
                <a:gd name="T13" fmla="*/ 0 h 424"/>
                <a:gd name="T14" fmla="*/ 1 w 245"/>
                <a:gd name="T15" fmla="*/ 1 h 424"/>
                <a:gd name="T16" fmla="*/ 1 w 245"/>
                <a:gd name="T17" fmla="*/ 1 h 424"/>
                <a:gd name="T18" fmla="*/ 1 w 245"/>
                <a:gd name="T19" fmla="*/ 1 h 424"/>
                <a:gd name="T20" fmla="*/ 0 w 245"/>
                <a:gd name="T21" fmla="*/ 1 h 424"/>
                <a:gd name="T22" fmla="*/ 0 w 245"/>
                <a:gd name="T23" fmla="*/ 2 h 424"/>
                <a:gd name="T24" fmla="*/ 0 w 245"/>
                <a:gd name="T25" fmla="*/ 2 h 424"/>
                <a:gd name="T26" fmla="*/ 0 w 245"/>
                <a:gd name="T27" fmla="*/ 2 h 424"/>
                <a:gd name="T28" fmla="*/ 0 w 245"/>
                <a:gd name="T29" fmla="*/ 2 h 424"/>
                <a:gd name="T30" fmla="*/ 0 w 245"/>
                <a:gd name="T31" fmla="*/ 3 h 424"/>
                <a:gd name="T32" fmla="*/ 0 w 245"/>
                <a:gd name="T33" fmla="*/ 3 h 424"/>
                <a:gd name="T34" fmla="*/ 0 w 245"/>
                <a:gd name="T35" fmla="*/ 3 h 424"/>
                <a:gd name="T36" fmla="*/ 0 w 245"/>
                <a:gd name="T37" fmla="*/ 3 h 424"/>
                <a:gd name="T38" fmla="*/ 0 w 245"/>
                <a:gd name="T39" fmla="*/ 3 h 424"/>
                <a:gd name="T40" fmla="*/ 0 w 245"/>
                <a:gd name="T41" fmla="*/ 3 h 424"/>
                <a:gd name="T42" fmla="*/ 0 w 245"/>
                <a:gd name="T43" fmla="*/ 2 h 424"/>
                <a:gd name="T44" fmla="*/ 0 w 245"/>
                <a:gd name="T45" fmla="*/ 2 h 424"/>
                <a:gd name="T46" fmla="*/ 0 w 245"/>
                <a:gd name="T47" fmla="*/ 2 h 424"/>
                <a:gd name="T48" fmla="*/ 0 w 245"/>
                <a:gd name="T49" fmla="*/ 2 h 424"/>
                <a:gd name="T50" fmla="*/ 1 w 245"/>
                <a:gd name="T51" fmla="*/ 1 h 424"/>
                <a:gd name="T52" fmla="*/ 1 w 245"/>
                <a:gd name="T53" fmla="*/ 1 h 424"/>
                <a:gd name="T54" fmla="*/ 1 w 245"/>
                <a:gd name="T55" fmla="*/ 1 h 424"/>
                <a:gd name="T56" fmla="*/ 1 w 245"/>
                <a:gd name="T57" fmla="*/ 1 h 424"/>
                <a:gd name="T58" fmla="*/ 1 w 245"/>
                <a:gd name="T59" fmla="*/ 0 h 424"/>
                <a:gd name="T60" fmla="*/ 1 w 245"/>
                <a:gd name="T61" fmla="*/ 0 h 424"/>
                <a:gd name="T62" fmla="*/ 1 w 245"/>
                <a:gd name="T63" fmla="*/ 0 h 424"/>
                <a:gd name="T64" fmla="*/ 2 w 245"/>
                <a:gd name="T65" fmla="*/ 0 h 424"/>
                <a:gd name="T66" fmla="*/ 2 w 245"/>
                <a:gd name="T67" fmla="*/ 0 h 424"/>
                <a:gd name="T68" fmla="*/ 2 w 245"/>
                <a:gd name="T69" fmla="*/ 0 h 424"/>
                <a:gd name="T70" fmla="*/ 2 w 245"/>
                <a:gd name="T71" fmla="*/ 0 h 424"/>
                <a:gd name="T72" fmla="*/ 2 w 245"/>
                <a:gd name="T73" fmla="*/ 0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5"/>
                <a:gd name="T112" fmla="*/ 0 h 424"/>
                <a:gd name="T113" fmla="*/ 245 w 245"/>
                <a:gd name="T114" fmla="*/ 424 h 4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5" h="424">
                  <a:moveTo>
                    <a:pt x="245" y="0"/>
                  </a:moveTo>
                  <a:lnTo>
                    <a:pt x="245" y="0"/>
                  </a:lnTo>
                  <a:lnTo>
                    <a:pt x="219" y="2"/>
                  </a:lnTo>
                  <a:lnTo>
                    <a:pt x="195" y="8"/>
                  </a:lnTo>
                  <a:lnTo>
                    <a:pt x="171" y="19"/>
                  </a:lnTo>
                  <a:lnTo>
                    <a:pt x="149" y="34"/>
                  </a:lnTo>
                  <a:lnTo>
                    <a:pt x="127" y="51"/>
                  </a:lnTo>
                  <a:lnTo>
                    <a:pt x="107" y="74"/>
                  </a:lnTo>
                  <a:lnTo>
                    <a:pt x="89" y="98"/>
                  </a:lnTo>
                  <a:lnTo>
                    <a:pt x="72" y="125"/>
                  </a:lnTo>
                  <a:lnTo>
                    <a:pt x="55" y="156"/>
                  </a:lnTo>
                  <a:lnTo>
                    <a:pt x="41" y="189"/>
                  </a:lnTo>
                  <a:lnTo>
                    <a:pt x="30" y="223"/>
                  </a:lnTo>
                  <a:lnTo>
                    <a:pt x="19" y="261"/>
                  </a:lnTo>
                  <a:lnTo>
                    <a:pt x="11" y="299"/>
                  </a:lnTo>
                  <a:lnTo>
                    <a:pt x="5" y="339"/>
                  </a:lnTo>
                  <a:lnTo>
                    <a:pt x="1" y="382"/>
                  </a:lnTo>
                  <a:lnTo>
                    <a:pt x="0" y="424"/>
                  </a:lnTo>
                  <a:lnTo>
                    <a:pt x="12" y="424"/>
                  </a:lnTo>
                  <a:lnTo>
                    <a:pt x="13" y="382"/>
                  </a:lnTo>
                  <a:lnTo>
                    <a:pt x="17" y="341"/>
                  </a:lnTo>
                  <a:lnTo>
                    <a:pt x="23" y="301"/>
                  </a:lnTo>
                  <a:lnTo>
                    <a:pt x="31" y="264"/>
                  </a:lnTo>
                  <a:lnTo>
                    <a:pt x="41" y="227"/>
                  </a:lnTo>
                  <a:lnTo>
                    <a:pt x="53" y="193"/>
                  </a:lnTo>
                  <a:lnTo>
                    <a:pt x="67" y="160"/>
                  </a:lnTo>
                  <a:lnTo>
                    <a:pt x="81" y="132"/>
                  </a:lnTo>
                  <a:lnTo>
                    <a:pt x="99" y="105"/>
                  </a:lnTo>
                  <a:lnTo>
                    <a:pt x="116" y="81"/>
                  </a:lnTo>
                  <a:lnTo>
                    <a:pt x="136" y="61"/>
                  </a:lnTo>
                  <a:lnTo>
                    <a:pt x="156" y="43"/>
                  </a:lnTo>
                  <a:lnTo>
                    <a:pt x="178" y="30"/>
                  </a:lnTo>
                  <a:lnTo>
                    <a:pt x="199" y="20"/>
                  </a:lnTo>
                  <a:lnTo>
                    <a:pt x="222" y="14"/>
                  </a:lnTo>
                  <a:lnTo>
                    <a:pt x="245" y="12"/>
                  </a:lnTo>
                  <a:lnTo>
                    <a:pt x="2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214025" name="Text Box 86"/>
          <p:cNvSpPr txBox="1">
            <a:spLocks noChangeArrowheads="1"/>
          </p:cNvSpPr>
          <p:nvPr/>
        </p:nvSpPr>
        <p:spPr bwMode="auto">
          <a:xfrm>
            <a:off x="604838" y="5364163"/>
            <a:ext cx="65436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eaLnBrk="1" hangingPunct="1">
              <a:spcBef>
                <a:spcPct val="0"/>
              </a:spcBef>
              <a:buFontTx/>
              <a:buNone/>
            </a:pPr>
            <a:r>
              <a:rPr lang="fr-FR" altLang="fr-FR" sz="2300"/>
              <a:t>4. Pointez la production sur votre feuille de suivi</a:t>
            </a:r>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2"/>
          <p:cNvSpPr>
            <a:spLocks noGrp="1" noChangeArrowheads="1"/>
          </p:cNvSpPr>
          <p:nvPr>
            <p:ph type="title"/>
          </p:nvPr>
        </p:nvSpPr>
        <p:spPr/>
        <p:txBody>
          <a:bodyPr/>
          <a:lstStyle/>
          <a:p>
            <a:pPr eaLnBrk="1" hangingPunct="1"/>
            <a:r>
              <a:rPr lang="fr-FR" altLang="fr-FR"/>
              <a:t>Bilan de la semaine 4</a:t>
            </a:r>
          </a:p>
        </p:txBody>
      </p:sp>
      <p:sp>
        <p:nvSpPr>
          <p:cNvPr id="215043" name="Rectangle 3"/>
          <p:cNvSpPr>
            <a:spLocks noGrp="1" noChangeArrowheads="1"/>
          </p:cNvSpPr>
          <p:nvPr>
            <p:ph type="body" idx="1"/>
          </p:nvPr>
        </p:nvSpPr>
        <p:spPr/>
        <p:txBody>
          <a:bodyPr/>
          <a:lstStyle/>
          <a:p>
            <a:pPr eaLnBrk="1" hangingPunct="1"/>
            <a:r>
              <a:rPr lang="fr-FR" altLang="fr-FR"/>
              <a:t>Remplissez vos documents de synthèse et calculez vos indicateurs :</a:t>
            </a:r>
          </a:p>
          <a:p>
            <a:pPr lvl="1" eaLnBrk="1" hangingPunct="1"/>
            <a:r>
              <a:rPr lang="fr-FR" altLang="fr-FR"/>
              <a:t>Inventaire</a:t>
            </a:r>
          </a:p>
          <a:p>
            <a:pPr lvl="1" eaLnBrk="1" hangingPunct="1"/>
            <a:r>
              <a:rPr lang="fr-FR" altLang="fr-FR"/>
              <a:t>Taux de service</a:t>
            </a:r>
          </a:p>
          <a:p>
            <a:pPr lvl="1" eaLnBrk="1" hangingPunct="1"/>
            <a:r>
              <a:rPr lang="fr-FR" altLang="fr-FR"/>
              <a:t>Efficience des équipements</a:t>
            </a:r>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Rectangle 2"/>
          <p:cNvSpPr>
            <a:spLocks noGrp="1" noChangeArrowheads="1"/>
          </p:cNvSpPr>
          <p:nvPr>
            <p:ph type="title"/>
          </p:nvPr>
        </p:nvSpPr>
        <p:spPr/>
        <p:txBody>
          <a:bodyPr/>
          <a:lstStyle/>
          <a:p>
            <a:pPr eaLnBrk="1" hangingPunct="1"/>
            <a:r>
              <a:rPr lang="fr-FR" altLang="fr-FR"/>
              <a:t>Debriefing</a:t>
            </a:r>
          </a:p>
        </p:txBody>
      </p:sp>
      <p:sp>
        <p:nvSpPr>
          <p:cNvPr id="216067" name="Rectangle 3"/>
          <p:cNvSpPr>
            <a:spLocks noGrp="1" noChangeArrowheads="1"/>
          </p:cNvSpPr>
          <p:nvPr>
            <p:ph type="body" idx="1"/>
          </p:nvPr>
        </p:nvSpPr>
        <p:spPr>
          <a:xfrm>
            <a:off x="384175" y="982663"/>
            <a:ext cx="8366125" cy="5500687"/>
          </a:xfrm>
        </p:spPr>
        <p:txBody>
          <a:bodyPr/>
          <a:lstStyle/>
          <a:p>
            <a:pPr marL="381000" indent="-381000" eaLnBrk="1" hangingPunct="1">
              <a:lnSpc>
                <a:spcPct val="110000"/>
              </a:lnSpc>
            </a:pPr>
            <a:r>
              <a:rPr lang="fr-FR" altLang="fr-FR" sz="1500"/>
              <a:t>L’animateur préparera soigneusement son debriefing, car c’est lui qui donnera de la consistance à la formation en reliant le jeu à la réalité des entreprises. </a:t>
            </a:r>
          </a:p>
          <a:p>
            <a:pPr marL="381000" indent="-381000" eaLnBrk="1" hangingPunct="1">
              <a:lnSpc>
                <a:spcPct val="110000"/>
              </a:lnSpc>
            </a:pPr>
            <a:r>
              <a:rPr lang="fr-FR" altLang="fr-FR" sz="1500"/>
              <a:t>Il existe de nombreuses façons de concevoir le debriefing. En fonction de ses objectifs pédagogiques et du temps dont il dispose, l’animateur pourra procéder de la façon suivante.</a:t>
            </a:r>
          </a:p>
          <a:p>
            <a:pPr marL="381000" indent="-381000" eaLnBrk="1" hangingPunct="1">
              <a:lnSpc>
                <a:spcPct val="110000"/>
              </a:lnSpc>
            </a:pPr>
            <a:endParaRPr lang="fr-FR" altLang="fr-FR" sz="1500"/>
          </a:p>
          <a:p>
            <a:pPr marL="381000" indent="-381000" eaLnBrk="1" hangingPunct="1">
              <a:lnSpc>
                <a:spcPct val="110000"/>
              </a:lnSpc>
              <a:buFontTx/>
              <a:buAutoNum type="arabicPeriod"/>
            </a:pPr>
            <a:r>
              <a:rPr lang="fr-FR" altLang="fr-FR" sz="1500"/>
              <a:t>Projeter les résultats du tableau de bord Excel.</a:t>
            </a:r>
          </a:p>
          <a:p>
            <a:pPr marL="381000" indent="-381000" eaLnBrk="1" hangingPunct="1">
              <a:lnSpc>
                <a:spcPct val="110000"/>
              </a:lnSpc>
              <a:buFontTx/>
              <a:buAutoNum type="arabicPeriod"/>
            </a:pPr>
            <a:r>
              <a:rPr lang="fr-FR" altLang="fr-FR" sz="1500"/>
              <a:t>Demander à chaque équipe de commenter rapidement ses résultats.</a:t>
            </a:r>
          </a:p>
          <a:p>
            <a:pPr marL="381000" indent="-381000" eaLnBrk="1" hangingPunct="1">
              <a:lnSpc>
                <a:spcPct val="110000"/>
              </a:lnSpc>
              <a:buFontTx/>
              <a:buAutoNum type="arabicPeriod"/>
            </a:pPr>
            <a:r>
              <a:rPr lang="fr-FR" altLang="fr-FR" sz="1500"/>
              <a:t>Projeter l’analyse des progrès et la commenter (voir Fichier </a:t>
            </a:r>
            <a:r>
              <a:rPr lang="fr-FR" altLang="fr-FR" sz="1500">
                <a:solidFill>
                  <a:srgbClr val="FC2C1C"/>
                </a:solidFill>
              </a:rPr>
              <a:t>Analyse des progrès)</a:t>
            </a:r>
            <a:r>
              <a:rPr lang="fr-FR" altLang="fr-FR" sz="1500"/>
              <a:t>.</a:t>
            </a:r>
          </a:p>
          <a:p>
            <a:pPr marL="381000" indent="-381000" eaLnBrk="1" hangingPunct="1">
              <a:lnSpc>
                <a:spcPct val="110000"/>
              </a:lnSpc>
              <a:buFontTx/>
              <a:buAutoNum type="arabicPeriod"/>
            </a:pPr>
            <a:r>
              <a:rPr lang="fr-FR" altLang="fr-FR" sz="1500"/>
              <a:t>Utiliser la diapo suivante pour commenter le choix des progrès</a:t>
            </a:r>
          </a:p>
          <a:p>
            <a:pPr marL="381000" indent="-381000" eaLnBrk="1" hangingPunct="1">
              <a:lnSpc>
                <a:spcPct val="110000"/>
              </a:lnSpc>
              <a:buFontTx/>
              <a:buAutoNum type="arabicPeriod"/>
            </a:pPr>
            <a:r>
              <a:rPr lang="fr-FR" altLang="fr-FR" sz="1500"/>
              <a:t>Compléter par un exposé / débat sur les points suivants (au choix de l’animateur) :</a:t>
            </a:r>
          </a:p>
          <a:p>
            <a:pPr marL="800100" lvl="1" indent="-342900" eaLnBrk="1" hangingPunct="1">
              <a:lnSpc>
                <a:spcPct val="110000"/>
              </a:lnSpc>
            </a:pPr>
            <a:r>
              <a:rPr lang="fr-FR" altLang="fr-FR" sz="1500"/>
              <a:t>Explications plus détaillées sur le fonctionnement du Kanban, ses avantages, ses conditions d’emploi, son rapport avec MRP, etc.</a:t>
            </a:r>
          </a:p>
          <a:p>
            <a:pPr marL="800100" lvl="1" indent="-342900" eaLnBrk="1" hangingPunct="1">
              <a:lnSpc>
                <a:spcPct val="110000"/>
              </a:lnSpc>
            </a:pPr>
            <a:r>
              <a:rPr lang="fr-FR" altLang="fr-FR" sz="1500"/>
              <a:t>Commentaires sur les actions de progrès : SMED, Qualité, réduction des pannes, etc. </a:t>
            </a:r>
          </a:p>
          <a:p>
            <a:pPr marL="800100" lvl="1" indent="-342900" eaLnBrk="1" hangingPunct="1">
              <a:lnSpc>
                <a:spcPct val="110000"/>
              </a:lnSpc>
            </a:pPr>
            <a:r>
              <a:rPr lang="fr-FR" altLang="fr-FR" sz="1500"/>
              <a:t>Débat sur la conduite du changement, c’est à dire sur le fait que les entreprises ont du mal à modifier leur façon de gérer les flux ou d’engager des progrès. Pourquoi a-t-il fallu attendre Toyota pour appliquer ces méthodes ?</a:t>
            </a:r>
          </a:p>
        </p:txBody>
      </p:sp>
      <p:pic>
        <p:nvPicPr>
          <p:cNvPr id="5"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2"/>
          <p:cNvSpPr>
            <a:spLocks noGrp="1" noChangeArrowheads="1"/>
          </p:cNvSpPr>
          <p:nvPr>
            <p:ph type="title"/>
          </p:nvPr>
        </p:nvSpPr>
        <p:spPr/>
        <p:txBody>
          <a:bodyPr/>
          <a:lstStyle/>
          <a:p>
            <a:pPr eaLnBrk="1" hangingPunct="1"/>
            <a:r>
              <a:rPr lang="fr-FR" altLang="fr-FR"/>
              <a:t>Quelle stratégie de progrès ?</a:t>
            </a:r>
          </a:p>
        </p:txBody>
      </p:sp>
      <p:sp>
        <p:nvSpPr>
          <p:cNvPr id="217092" name="Rectangle 6"/>
          <p:cNvSpPr>
            <a:spLocks noChangeArrowheads="1"/>
          </p:cNvSpPr>
          <p:nvPr/>
        </p:nvSpPr>
        <p:spPr bwMode="auto">
          <a:xfrm>
            <a:off x="1831975" y="2111375"/>
            <a:ext cx="6051550" cy="27114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093" name="Text Box 7"/>
          <p:cNvSpPr txBox="1">
            <a:spLocks noChangeArrowheads="1"/>
          </p:cNvSpPr>
          <p:nvPr/>
        </p:nvSpPr>
        <p:spPr bwMode="auto">
          <a:xfrm>
            <a:off x="2919413" y="2233613"/>
            <a:ext cx="1149350" cy="31432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Engrenages</a:t>
            </a:r>
          </a:p>
        </p:txBody>
      </p:sp>
      <p:sp>
        <p:nvSpPr>
          <p:cNvPr id="217094" name="Text Box 8"/>
          <p:cNvSpPr txBox="1">
            <a:spLocks noChangeArrowheads="1"/>
          </p:cNvSpPr>
          <p:nvPr/>
        </p:nvSpPr>
        <p:spPr bwMode="auto">
          <a:xfrm>
            <a:off x="5435600" y="2208213"/>
            <a:ext cx="774700" cy="31432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Carters</a:t>
            </a:r>
          </a:p>
        </p:txBody>
      </p:sp>
      <p:sp>
        <p:nvSpPr>
          <p:cNvPr id="217095" name="Text Box 9"/>
          <p:cNvSpPr txBox="1">
            <a:spLocks noChangeArrowheads="1"/>
          </p:cNvSpPr>
          <p:nvPr/>
        </p:nvSpPr>
        <p:spPr bwMode="auto">
          <a:xfrm>
            <a:off x="6626225" y="2924175"/>
            <a:ext cx="1060450" cy="5270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Couronnes</a:t>
            </a:r>
          </a:p>
          <a:p>
            <a:pPr algn="ctr">
              <a:spcBef>
                <a:spcPct val="0"/>
              </a:spcBef>
              <a:buFontTx/>
              <a:buNone/>
            </a:pPr>
            <a:r>
              <a:rPr lang="fr-FR" altLang="fr-FR" sz="1400">
                <a:solidFill>
                  <a:schemeClr val="tx1"/>
                </a:solidFill>
              </a:rPr>
              <a:t>(ph. A)</a:t>
            </a:r>
          </a:p>
        </p:txBody>
      </p:sp>
      <p:sp>
        <p:nvSpPr>
          <p:cNvPr id="217096" name="Text Box 10"/>
          <p:cNvSpPr txBox="1">
            <a:spLocks noChangeArrowheads="1"/>
          </p:cNvSpPr>
          <p:nvPr/>
        </p:nvSpPr>
        <p:spPr bwMode="auto">
          <a:xfrm>
            <a:off x="5370513" y="4148138"/>
            <a:ext cx="1060450" cy="527050"/>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wrap="none"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spcBef>
                <a:spcPct val="0"/>
              </a:spcBef>
              <a:buFontTx/>
              <a:buNone/>
            </a:pPr>
            <a:r>
              <a:rPr lang="fr-FR" altLang="fr-FR" sz="1400">
                <a:solidFill>
                  <a:schemeClr val="tx1"/>
                </a:solidFill>
              </a:rPr>
              <a:t>Couronnes</a:t>
            </a:r>
          </a:p>
          <a:p>
            <a:pPr algn="ctr">
              <a:spcBef>
                <a:spcPct val="0"/>
              </a:spcBef>
              <a:buFontTx/>
              <a:buNone/>
            </a:pPr>
            <a:r>
              <a:rPr lang="fr-FR" altLang="fr-FR" sz="1400">
                <a:solidFill>
                  <a:schemeClr val="tx1"/>
                </a:solidFill>
              </a:rPr>
              <a:t>(ph. B)</a:t>
            </a:r>
          </a:p>
        </p:txBody>
      </p:sp>
      <p:sp>
        <p:nvSpPr>
          <p:cNvPr id="217097" name="Text Box 11"/>
          <p:cNvSpPr txBox="1">
            <a:spLocks noChangeArrowheads="1"/>
          </p:cNvSpPr>
          <p:nvPr/>
        </p:nvSpPr>
        <p:spPr bwMode="auto">
          <a:xfrm>
            <a:off x="3055938" y="4265613"/>
            <a:ext cx="1073150" cy="282575"/>
          </a:xfrm>
          <a:prstGeom prst="rect">
            <a:avLst/>
          </a:prstGeom>
          <a:solidFill>
            <a:schemeClr val="bg1"/>
          </a:solidFill>
          <a:ln w="9525">
            <a:solidFill>
              <a:schemeClr val="tx1"/>
            </a:solidFill>
            <a:miter lim="800000"/>
            <a:headEnd/>
            <a:tailEnd/>
          </a:ln>
          <a:effectLst>
            <a:outerShdw dist="63500" dir="2212194" algn="ctr" rotWithShape="0">
              <a:srgbClr val="336699"/>
            </a:outerShdw>
          </a:effectLst>
        </p:spPr>
        <p:txBody>
          <a:bodyPr anchor="ctr">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a:lnSpc>
                <a:spcPct val="85000"/>
              </a:lnSpc>
              <a:spcBef>
                <a:spcPct val="0"/>
              </a:spcBef>
              <a:buFontTx/>
              <a:buNone/>
            </a:pPr>
            <a:r>
              <a:rPr lang="fr-FR" altLang="fr-FR" sz="1400">
                <a:solidFill>
                  <a:schemeClr val="tx1"/>
                </a:solidFill>
              </a:rPr>
              <a:t>Montage</a:t>
            </a:r>
          </a:p>
        </p:txBody>
      </p:sp>
      <p:grpSp>
        <p:nvGrpSpPr>
          <p:cNvPr id="217098" name="Group 12"/>
          <p:cNvGrpSpPr>
            <a:grpSpLocks/>
          </p:cNvGrpSpPr>
          <p:nvPr/>
        </p:nvGrpSpPr>
        <p:grpSpPr bwMode="auto">
          <a:xfrm>
            <a:off x="3232150" y="4770438"/>
            <a:ext cx="665163" cy="409575"/>
            <a:chOff x="2102" y="1800"/>
            <a:chExt cx="787" cy="480"/>
          </a:xfrm>
        </p:grpSpPr>
        <p:sp>
          <p:nvSpPr>
            <p:cNvPr id="217181" name="Oval 13"/>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82" name="Rectangle 14"/>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83" name="Oval 15"/>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099" name="Group 16"/>
          <p:cNvGrpSpPr>
            <a:grpSpLocks/>
          </p:cNvGrpSpPr>
          <p:nvPr/>
        </p:nvGrpSpPr>
        <p:grpSpPr bwMode="auto">
          <a:xfrm>
            <a:off x="5611813" y="4754563"/>
            <a:ext cx="666750" cy="409575"/>
            <a:chOff x="2102" y="1800"/>
            <a:chExt cx="787" cy="480"/>
          </a:xfrm>
        </p:grpSpPr>
        <p:sp>
          <p:nvSpPr>
            <p:cNvPr id="217178" name="Oval 17"/>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9" name="Rectangle 18"/>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80" name="Oval 19"/>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100" name="Group 20"/>
          <p:cNvGrpSpPr>
            <a:grpSpLocks/>
          </p:cNvGrpSpPr>
          <p:nvPr/>
        </p:nvGrpSpPr>
        <p:grpSpPr bwMode="auto">
          <a:xfrm rot="-5400000">
            <a:off x="7696994" y="2966244"/>
            <a:ext cx="673100" cy="404812"/>
            <a:chOff x="2102" y="1800"/>
            <a:chExt cx="787" cy="480"/>
          </a:xfrm>
        </p:grpSpPr>
        <p:sp>
          <p:nvSpPr>
            <p:cNvPr id="217175" name="Oval 21"/>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6" name="Rectangle 22"/>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7" name="Oval 23"/>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101" name="Group 24"/>
          <p:cNvGrpSpPr>
            <a:grpSpLocks/>
          </p:cNvGrpSpPr>
          <p:nvPr/>
        </p:nvGrpSpPr>
        <p:grpSpPr bwMode="auto">
          <a:xfrm flipV="1">
            <a:off x="5475288" y="1724025"/>
            <a:ext cx="666750" cy="409575"/>
            <a:chOff x="2102" y="1800"/>
            <a:chExt cx="787" cy="480"/>
          </a:xfrm>
        </p:grpSpPr>
        <p:sp>
          <p:nvSpPr>
            <p:cNvPr id="217172" name="Oval 25"/>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3" name="Rectangle 26"/>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4" name="Oval 27"/>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102" name="Group 28"/>
          <p:cNvGrpSpPr>
            <a:grpSpLocks/>
          </p:cNvGrpSpPr>
          <p:nvPr/>
        </p:nvGrpSpPr>
        <p:grpSpPr bwMode="auto">
          <a:xfrm flipV="1">
            <a:off x="3119438" y="1781175"/>
            <a:ext cx="665162" cy="409575"/>
            <a:chOff x="2102" y="1800"/>
            <a:chExt cx="787" cy="480"/>
          </a:xfrm>
        </p:grpSpPr>
        <p:sp>
          <p:nvSpPr>
            <p:cNvPr id="217169" name="Oval 29"/>
            <p:cNvSpPr>
              <a:spLocks noChangeArrowheads="1"/>
            </p:cNvSpPr>
            <p:nvPr/>
          </p:nvSpPr>
          <p:spPr bwMode="auto">
            <a:xfrm>
              <a:off x="2135" y="1833"/>
              <a:ext cx="701" cy="320"/>
            </a:xfrm>
            <a:prstGeom prst="ellipse">
              <a:avLst/>
            </a:prstGeom>
            <a:noFill/>
            <a:ln w="38100" algn="ctr">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0" name="Rectangle 30"/>
            <p:cNvSpPr>
              <a:spLocks noChangeArrowheads="1"/>
            </p:cNvSpPr>
            <p:nvPr/>
          </p:nvSpPr>
          <p:spPr bwMode="auto">
            <a:xfrm>
              <a:off x="2102" y="1800"/>
              <a:ext cx="787" cy="159"/>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71" name="Oval 31"/>
            <p:cNvSpPr>
              <a:spLocks noChangeArrowheads="1"/>
            </p:cNvSpPr>
            <p:nvPr/>
          </p:nvSpPr>
          <p:spPr bwMode="auto">
            <a:xfrm>
              <a:off x="2338" y="1987"/>
              <a:ext cx="293" cy="293"/>
            </a:xfrm>
            <a:prstGeom prst="ellipse">
              <a:avLst/>
            </a:prstGeom>
            <a:solidFill>
              <a:srgbClr val="4D4D4D"/>
            </a:solidFill>
            <a:ln w="6350" algn="ctr">
              <a:solidFill>
                <a:schemeClr val="tx2"/>
              </a:solidFill>
              <a:round/>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217103" name="Group 32"/>
          <p:cNvGrpSpPr>
            <a:grpSpLocks/>
          </p:cNvGrpSpPr>
          <p:nvPr/>
        </p:nvGrpSpPr>
        <p:grpSpPr bwMode="auto">
          <a:xfrm>
            <a:off x="4229100" y="3403600"/>
            <a:ext cx="1036638" cy="754063"/>
            <a:chOff x="2086" y="1632"/>
            <a:chExt cx="805" cy="579"/>
          </a:xfrm>
        </p:grpSpPr>
        <p:sp>
          <p:nvSpPr>
            <p:cNvPr id="217151" name="Rectangle 33"/>
            <p:cNvSpPr>
              <a:spLocks noChangeArrowheads="1"/>
            </p:cNvSpPr>
            <p:nvPr/>
          </p:nvSpPr>
          <p:spPr bwMode="auto">
            <a:xfrm>
              <a:off x="2086" y="1632"/>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52" name="Line 34"/>
            <p:cNvSpPr>
              <a:spLocks noChangeShapeType="1"/>
            </p:cNvSpPr>
            <p:nvPr/>
          </p:nvSpPr>
          <p:spPr bwMode="auto">
            <a:xfrm rot="5400000">
              <a:off x="2027"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3" name="Line 35"/>
            <p:cNvSpPr>
              <a:spLocks noChangeShapeType="1"/>
            </p:cNvSpPr>
            <p:nvPr/>
          </p:nvSpPr>
          <p:spPr bwMode="auto">
            <a:xfrm rot="5400000">
              <a:off x="214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4" name="Line 36"/>
            <p:cNvSpPr>
              <a:spLocks noChangeShapeType="1"/>
            </p:cNvSpPr>
            <p:nvPr/>
          </p:nvSpPr>
          <p:spPr bwMode="auto">
            <a:xfrm rot="5400000">
              <a:off x="1797"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5" name="Line 37"/>
            <p:cNvSpPr>
              <a:spLocks noChangeShapeType="1"/>
            </p:cNvSpPr>
            <p:nvPr/>
          </p:nvSpPr>
          <p:spPr bwMode="auto">
            <a:xfrm rot="5400000">
              <a:off x="1912"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6" name="Line 38"/>
            <p:cNvSpPr>
              <a:spLocks noChangeShapeType="1"/>
            </p:cNvSpPr>
            <p:nvPr/>
          </p:nvSpPr>
          <p:spPr bwMode="auto">
            <a:xfrm rot="5400000">
              <a:off x="2256"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7" name="Line 39"/>
            <p:cNvSpPr>
              <a:spLocks noChangeShapeType="1"/>
            </p:cNvSpPr>
            <p:nvPr/>
          </p:nvSpPr>
          <p:spPr bwMode="auto">
            <a:xfrm rot="5400000">
              <a:off x="237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8" name="Line 40"/>
            <p:cNvSpPr>
              <a:spLocks noChangeShapeType="1"/>
            </p:cNvSpPr>
            <p:nvPr/>
          </p:nvSpPr>
          <p:spPr bwMode="auto">
            <a:xfrm rot="5400000">
              <a:off x="2486"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59" name="Line 41"/>
            <p:cNvSpPr>
              <a:spLocks noChangeShapeType="1"/>
            </p:cNvSpPr>
            <p:nvPr/>
          </p:nvSpPr>
          <p:spPr bwMode="auto">
            <a:xfrm rot="5400000">
              <a:off x="2601" y="1921"/>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60" name="Line 42"/>
            <p:cNvSpPr>
              <a:spLocks noChangeShapeType="1"/>
            </p:cNvSpPr>
            <p:nvPr/>
          </p:nvSpPr>
          <p:spPr bwMode="auto">
            <a:xfrm>
              <a:off x="2086" y="1727"/>
              <a:ext cx="805"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61" name="Rectangle 43"/>
            <p:cNvSpPr>
              <a:spLocks noChangeAspect="1" noChangeArrowheads="1"/>
            </p:cNvSpPr>
            <p:nvPr/>
          </p:nvSpPr>
          <p:spPr bwMode="auto">
            <a:xfrm>
              <a:off x="2450" y="1668"/>
              <a:ext cx="76" cy="24"/>
            </a:xfrm>
            <a:prstGeom prst="rect">
              <a:avLst/>
            </a:prstGeom>
            <a:solidFill>
              <a:srgbClr val="0099FF"/>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2" name="Rectangle 44"/>
            <p:cNvSpPr>
              <a:spLocks noChangeAspect="1" noChangeArrowheads="1"/>
            </p:cNvSpPr>
            <p:nvPr/>
          </p:nvSpPr>
          <p:spPr bwMode="auto">
            <a:xfrm>
              <a:off x="2335" y="1668"/>
              <a:ext cx="76" cy="24"/>
            </a:xfrm>
            <a:prstGeom prst="rect">
              <a:avLst/>
            </a:prstGeom>
            <a:solidFill>
              <a:srgbClr val="FF00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3" name="Rectangle 45"/>
            <p:cNvSpPr>
              <a:spLocks noChangeAspect="1" noChangeArrowheads="1"/>
            </p:cNvSpPr>
            <p:nvPr/>
          </p:nvSpPr>
          <p:spPr bwMode="auto">
            <a:xfrm>
              <a:off x="2122" y="1666"/>
              <a:ext cx="42" cy="27"/>
            </a:xfrm>
            <a:prstGeom prst="rect">
              <a:avLst/>
            </a:prstGeom>
            <a:solidFill>
              <a:srgbClr val="FFFF00"/>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4" name="Rectangle 46"/>
            <p:cNvSpPr>
              <a:spLocks noChangeAspect="1" noChangeArrowheads="1"/>
            </p:cNvSpPr>
            <p:nvPr/>
          </p:nvSpPr>
          <p:spPr bwMode="auto">
            <a:xfrm>
              <a:off x="2237" y="1666"/>
              <a:ext cx="42" cy="27"/>
            </a:xfrm>
            <a:prstGeom prst="rect">
              <a:avLst/>
            </a:prstGeom>
            <a:solidFill>
              <a:schemeClr val="bg1"/>
            </a:solidFill>
            <a:ln w="12700">
              <a:solidFill>
                <a:schemeClr val="tx1"/>
              </a:solidFill>
              <a:miter lim="800000"/>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5" name="Oval 47"/>
            <p:cNvSpPr>
              <a:spLocks noChangeAspect="1" noChangeArrowheads="1"/>
            </p:cNvSpPr>
            <p:nvPr/>
          </p:nvSpPr>
          <p:spPr bwMode="auto">
            <a:xfrm>
              <a:off x="2582" y="1659"/>
              <a:ext cx="41" cy="42"/>
            </a:xfrm>
            <a:prstGeom prst="ellipse">
              <a:avLst/>
            </a:prstGeom>
            <a:solidFill>
              <a:schemeClr val="bg1"/>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6" name="Oval 48"/>
            <p:cNvSpPr>
              <a:spLocks noChangeAspect="1" noChangeArrowheads="1"/>
            </p:cNvSpPr>
            <p:nvPr/>
          </p:nvSpPr>
          <p:spPr bwMode="auto">
            <a:xfrm>
              <a:off x="2811" y="1659"/>
              <a:ext cx="42" cy="42"/>
            </a:xfrm>
            <a:prstGeom prst="ellipse">
              <a:avLst/>
            </a:prstGeom>
            <a:solidFill>
              <a:srgbClr val="FF0000"/>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7" name="Oval 49"/>
            <p:cNvSpPr>
              <a:spLocks noChangeAspect="1" noChangeArrowheads="1"/>
            </p:cNvSpPr>
            <p:nvPr/>
          </p:nvSpPr>
          <p:spPr bwMode="auto">
            <a:xfrm>
              <a:off x="2696" y="1659"/>
              <a:ext cx="42" cy="42"/>
            </a:xfrm>
            <a:prstGeom prst="ellipse">
              <a:avLst/>
            </a:prstGeom>
            <a:solidFill>
              <a:srgbClr val="33CC33"/>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68" name="WordArt 50"/>
            <p:cNvSpPr>
              <a:spLocks noChangeArrowheads="1" noChangeShapeType="1" noTextEdit="1"/>
            </p:cNvSpPr>
            <p:nvPr/>
          </p:nvSpPr>
          <p:spPr bwMode="auto">
            <a:xfrm>
              <a:off x="2104" y="1815"/>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Pièces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usinées</a:t>
              </a:r>
            </a:p>
          </p:txBody>
        </p:sp>
      </p:grpSp>
      <p:grpSp>
        <p:nvGrpSpPr>
          <p:cNvPr id="217104" name="Group 51"/>
          <p:cNvGrpSpPr>
            <a:grpSpLocks/>
          </p:cNvGrpSpPr>
          <p:nvPr/>
        </p:nvGrpSpPr>
        <p:grpSpPr bwMode="auto">
          <a:xfrm>
            <a:off x="6681788" y="3778250"/>
            <a:ext cx="1036637" cy="754063"/>
            <a:chOff x="2269" y="2347"/>
            <a:chExt cx="805" cy="579"/>
          </a:xfrm>
        </p:grpSpPr>
        <p:sp>
          <p:nvSpPr>
            <p:cNvPr id="217137" name="Rectangle 52"/>
            <p:cNvSpPr>
              <a:spLocks noChangeArrowheads="1"/>
            </p:cNvSpPr>
            <p:nvPr/>
          </p:nvSpPr>
          <p:spPr bwMode="auto">
            <a:xfrm>
              <a:off x="2269" y="2347"/>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38" name="Line 53"/>
            <p:cNvSpPr>
              <a:spLocks noChangeShapeType="1"/>
            </p:cNvSpPr>
            <p:nvPr/>
          </p:nvSpPr>
          <p:spPr bwMode="auto">
            <a:xfrm rot="5400000">
              <a:off x="2210"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39" name="Line 54"/>
            <p:cNvSpPr>
              <a:spLocks noChangeShapeType="1"/>
            </p:cNvSpPr>
            <p:nvPr/>
          </p:nvSpPr>
          <p:spPr bwMode="auto">
            <a:xfrm rot="5400000">
              <a:off x="232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0" name="Line 55"/>
            <p:cNvSpPr>
              <a:spLocks noChangeShapeType="1"/>
            </p:cNvSpPr>
            <p:nvPr/>
          </p:nvSpPr>
          <p:spPr bwMode="auto">
            <a:xfrm rot="5400000">
              <a:off x="1980"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1" name="Line 56"/>
            <p:cNvSpPr>
              <a:spLocks noChangeShapeType="1"/>
            </p:cNvSpPr>
            <p:nvPr/>
          </p:nvSpPr>
          <p:spPr bwMode="auto">
            <a:xfrm rot="5400000">
              <a:off x="2095"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2" name="Line 57"/>
            <p:cNvSpPr>
              <a:spLocks noChangeShapeType="1"/>
            </p:cNvSpPr>
            <p:nvPr/>
          </p:nvSpPr>
          <p:spPr bwMode="auto">
            <a:xfrm rot="5400000">
              <a:off x="2439"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3" name="Line 58"/>
            <p:cNvSpPr>
              <a:spLocks noChangeShapeType="1"/>
            </p:cNvSpPr>
            <p:nvPr/>
          </p:nvSpPr>
          <p:spPr bwMode="auto">
            <a:xfrm rot="5400000">
              <a:off x="255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4" name="Line 59"/>
            <p:cNvSpPr>
              <a:spLocks noChangeShapeType="1"/>
            </p:cNvSpPr>
            <p:nvPr/>
          </p:nvSpPr>
          <p:spPr bwMode="auto">
            <a:xfrm rot="5400000">
              <a:off x="2669"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5" name="Line 60"/>
            <p:cNvSpPr>
              <a:spLocks noChangeShapeType="1"/>
            </p:cNvSpPr>
            <p:nvPr/>
          </p:nvSpPr>
          <p:spPr bwMode="auto">
            <a:xfrm rot="5400000">
              <a:off x="2784" y="2636"/>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6" name="Line 61"/>
            <p:cNvSpPr>
              <a:spLocks noChangeShapeType="1"/>
            </p:cNvSpPr>
            <p:nvPr/>
          </p:nvSpPr>
          <p:spPr bwMode="auto">
            <a:xfrm>
              <a:off x="2269" y="2442"/>
              <a:ext cx="805"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47" name="Oval 62"/>
            <p:cNvSpPr>
              <a:spLocks noChangeAspect="1" noChangeArrowheads="1"/>
            </p:cNvSpPr>
            <p:nvPr/>
          </p:nvSpPr>
          <p:spPr bwMode="auto">
            <a:xfrm>
              <a:off x="2303" y="2374"/>
              <a:ext cx="41" cy="42"/>
            </a:xfrm>
            <a:prstGeom prst="ellipse">
              <a:avLst/>
            </a:prstGeom>
            <a:solidFill>
              <a:schemeClr val="bg1"/>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48" name="Oval 63"/>
            <p:cNvSpPr>
              <a:spLocks noChangeAspect="1" noChangeArrowheads="1"/>
            </p:cNvSpPr>
            <p:nvPr/>
          </p:nvSpPr>
          <p:spPr bwMode="auto">
            <a:xfrm>
              <a:off x="2532" y="2374"/>
              <a:ext cx="42" cy="42"/>
            </a:xfrm>
            <a:prstGeom prst="ellipse">
              <a:avLst/>
            </a:prstGeom>
            <a:solidFill>
              <a:srgbClr val="FF0000"/>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49" name="Oval 64"/>
            <p:cNvSpPr>
              <a:spLocks noChangeAspect="1" noChangeArrowheads="1"/>
            </p:cNvSpPr>
            <p:nvPr/>
          </p:nvSpPr>
          <p:spPr bwMode="auto">
            <a:xfrm>
              <a:off x="2417" y="2374"/>
              <a:ext cx="42" cy="42"/>
            </a:xfrm>
            <a:prstGeom prst="ellipse">
              <a:avLst/>
            </a:prstGeom>
            <a:solidFill>
              <a:srgbClr val="33CC33"/>
            </a:solidFill>
            <a:ln w="12700">
              <a:solidFill>
                <a:schemeClr val="tx1"/>
              </a:solidFill>
              <a:round/>
              <a:headEnd/>
              <a:tailEnd/>
            </a:ln>
          </p:spPr>
          <p:txBody>
            <a:bodyPr wrap="none" lIns="147392" tIns="73696" rIns="147392" bIns="73696">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50" name="WordArt 65"/>
            <p:cNvSpPr>
              <a:spLocks noChangeArrowheads="1" noChangeShapeType="1" noTextEdit="1"/>
            </p:cNvSpPr>
            <p:nvPr/>
          </p:nvSpPr>
          <p:spPr bwMode="auto">
            <a:xfrm>
              <a:off x="2287" y="2530"/>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Couronnes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phase A</a:t>
              </a:r>
            </a:p>
          </p:txBody>
        </p:sp>
      </p:grpSp>
      <p:grpSp>
        <p:nvGrpSpPr>
          <p:cNvPr id="217105" name="Group 66"/>
          <p:cNvGrpSpPr>
            <a:grpSpLocks/>
          </p:cNvGrpSpPr>
          <p:nvPr/>
        </p:nvGrpSpPr>
        <p:grpSpPr bwMode="auto">
          <a:xfrm>
            <a:off x="1947863" y="3833813"/>
            <a:ext cx="1047750" cy="765175"/>
            <a:chOff x="288" y="2319"/>
            <a:chExt cx="813" cy="588"/>
          </a:xfrm>
        </p:grpSpPr>
        <p:sp>
          <p:nvSpPr>
            <p:cNvPr id="217121" name="Rectangle 67"/>
            <p:cNvSpPr>
              <a:spLocks noChangeArrowheads="1"/>
            </p:cNvSpPr>
            <p:nvPr/>
          </p:nvSpPr>
          <p:spPr bwMode="auto">
            <a:xfrm>
              <a:off x="296" y="2328"/>
              <a:ext cx="805" cy="579"/>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22" name="Line 68"/>
            <p:cNvSpPr>
              <a:spLocks noChangeShapeType="1"/>
            </p:cNvSpPr>
            <p:nvPr/>
          </p:nvSpPr>
          <p:spPr bwMode="auto">
            <a:xfrm rot="5400000">
              <a:off x="255"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3" name="Line 69"/>
            <p:cNvSpPr>
              <a:spLocks noChangeShapeType="1"/>
            </p:cNvSpPr>
            <p:nvPr/>
          </p:nvSpPr>
          <p:spPr bwMode="auto">
            <a:xfrm rot="5400000">
              <a:off x="38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4" name="Line 70"/>
            <p:cNvSpPr>
              <a:spLocks noChangeShapeType="1"/>
            </p:cNvSpPr>
            <p:nvPr/>
          </p:nvSpPr>
          <p:spPr bwMode="auto">
            <a:xfrm rot="5400000">
              <a:off x="7"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5" name="Line 71"/>
            <p:cNvSpPr>
              <a:spLocks noChangeShapeType="1"/>
            </p:cNvSpPr>
            <p:nvPr/>
          </p:nvSpPr>
          <p:spPr bwMode="auto">
            <a:xfrm rot="5400000">
              <a:off x="13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6" name="Line 72"/>
            <p:cNvSpPr>
              <a:spLocks noChangeShapeType="1"/>
            </p:cNvSpPr>
            <p:nvPr/>
          </p:nvSpPr>
          <p:spPr bwMode="auto">
            <a:xfrm rot="5400000">
              <a:off x="529"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7" name="Line 73"/>
            <p:cNvSpPr>
              <a:spLocks noChangeShapeType="1"/>
            </p:cNvSpPr>
            <p:nvPr/>
          </p:nvSpPr>
          <p:spPr bwMode="auto">
            <a:xfrm rot="5400000">
              <a:off x="659"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8" name="Line 74"/>
            <p:cNvSpPr>
              <a:spLocks noChangeShapeType="1"/>
            </p:cNvSpPr>
            <p:nvPr/>
          </p:nvSpPr>
          <p:spPr bwMode="auto">
            <a:xfrm rot="5400000">
              <a:off x="811" y="2617"/>
              <a:ext cx="578" cy="0"/>
            </a:xfrm>
            <a:prstGeom prst="line">
              <a:avLst/>
            </a:prstGeom>
            <a:noFill/>
            <a:ln w="19050">
              <a:solidFill>
                <a:srgbClr val="0000CC"/>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217129" name="WordArt 75"/>
            <p:cNvSpPr>
              <a:spLocks noChangeArrowheads="1" noChangeShapeType="1" noTextEdit="1"/>
            </p:cNvSpPr>
            <p:nvPr/>
          </p:nvSpPr>
          <p:spPr bwMode="auto">
            <a:xfrm>
              <a:off x="314" y="2511"/>
              <a:ext cx="760" cy="279"/>
            </a:xfrm>
            <a:prstGeom prst="rect">
              <a:avLst/>
            </a:prstGeom>
          </p:spPr>
          <p:txBody>
            <a:bodyPr wrap="none" fromWordArt="1">
              <a:prstTxWarp prst="textPlain">
                <a:avLst>
                  <a:gd name="adj" fmla="val 49315"/>
                </a:avLst>
              </a:prstTxWarp>
            </a:bodyPr>
            <a:lstStyle/>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Produits</a:t>
              </a:r>
            </a:p>
            <a:p>
              <a:r>
                <a:rPr lang="fr-FR" sz="3600" kern="10">
                  <a:ln w="12700">
                    <a:solidFill>
                      <a:schemeClr val="tx1"/>
                    </a:solidFill>
                    <a:round/>
                    <a:headEnd/>
                    <a:tailEnd/>
                  </a:ln>
                  <a:solidFill>
                    <a:srgbClr val="FF0000">
                      <a:alpha val="81960"/>
                    </a:srgbClr>
                  </a:solidFill>
                  <a:effectLst>
                    <a:outerShdw dist="45791" dir="2021404" algn="ctr" rotWithShape="0">
                      <a:srgbClr val="9999FF"/>
                    </a:outerShdw>
                  </a:effectLst>
                  <a:latin typeface="Arial Black"/>
                </a:rPr>
                <a:t>finis</a:t>
              </a:r>
            </a:p>
          </p:txBody>
        </p:sp>
        <p:sp>
          <p:nvSpPr>
            <p:cNvPr id="217130" name="Text Box 76"/>
            <p:cNvSpPr txBox="1">
              <a:spLocks noChangeArrowheads="1"/>
            </p:cNvSpPr>
            <p:nvPr/>
          </p:nvSpPr>
          <p:spPr bwMode="auto">
            <a:xfrm>
              <a:off x="295"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R1</a:t>
              </a:r>
            </a:p>
          </p:txBody>
        </p:sp>
        <p:sp>
          <p:nvSpPr>
            <p:cNvPr id="217131" name="Text Box 77"/>
            <p:cNvSpPr txBox="1">
              <a:spLocks noChangeArrowheads="1"/>
            </p:cNvSpPr>
            <p:nvPr/>
          </p:nvSpPr>
          <p:spPr bwMode="auto">
            <a:xfrm>
              <a:off x="412"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R2</a:t>
              </a:r>
            </a:p>
          </p:txBody>
        </p:sp>
        <p:sp>
          <p:nvSpPr>
            <p:cNvPr id="217132" name="Text Box 78"/>
            <p:cNvSpPr txBox="1">
              <a:spLocks noChangeArrowheads="1"/>
            </p:cNvSpPr>
            <p:nvPr/>
          </p:nvSpPr>
          <p:spPr bwMode="auto">
            <a:xfrm>
              <a:off x="532"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R3</a:t>
              </a:r>
            </a:p>
          </p:txBody>
        </p:sp>
        <p:sp>
          <p:nvSpPr>
            <p:cNvPr id="217133" name="Text Box 79"/>
            <p:cNvSpPr txBox="1">
              <a:spLocks noChangeArrowheads="1"/>
            </p:cNvSpPr>
            <p:nvPr/>
          </p:nvSpPr>
          <p:spPr bwMode="auto">
            <a:xfrm>
              <a:off x="661"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R4</a:t>
              </a:r>
            </a:p>
          </p:txBody>
        </p:sp>
        <p:sp>
          <p:nvSpPr>
            <p:cNvPr id="217134" name="Text Box 80"/>
            <p:cNvSpPr txBox="1">
              <a:spLocks noChangeArrowheads="1"/>
            </p:cNvSpPr>
            <p:nvPr/>
          </p:nvSpPr>
          <p:spPr bwMode="auto">
            <a:xfrm>
              <a:off x="808" y="2319"/>
              <a:ext cx="1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R5</a:t>
              </a:r>
            </a:p>
          </p:txBody>
        </p:sp>
        <p:sp>
          <p:nvSpPr>
            <p:cNvPr id="217135" name="Text Box 81"/>
            <p:cNvSpPr txBox="1">
              <a:spLocks noChangeArrowheads="1"/>
            </p:cNvSpPr>
            <p:nvPr/>
          </p:nvSpPr>
          <p:spPr bwMode="auto">
            <a:xfrm>
              <a:off x="934" y="2319"/>
              <a:ext cx="137"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18000" rIns="18000">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900">
                  <a:solidFill>
                    <a:schemeClr val="tx1"/>
                  </a:solidFill>
                </a:rPr>
                <a:t>R6</a:t>
              </a:r>
            </a:p>
          </p:txBody>
        </p:sp>
        <p:sp>
          <p:nvSpPr>
            <p:cNvPr id="217136" name="Line 82"/>
            <p:cNvSpPr>
              <a:spLocks noChangeShapeType="1"/>
            </p:cNvSpPr>
            <p:nvPr/>
          </p:nvSpPr>
          <p:spPr bwMode="auto">
            <a:xfrm>
              <a:off x="288" y="2439"/>
              <a:ext cx="807" cy="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217106" name="AutoShape 83"/>
          <p:cNvSpPr>
            <a:spLocks noChangeArrowheads="1"/>
          </p:cNvSpPr>
          <p:nvPr/>
        </p:nvSpPr>
        <p:spPr bwMode="auto">
          <a:xfrm>
            <a:off x="1184275" y="3798888"/>
            <a:ext cx="569913" cy="288925"/>
          </a:xfrm>
          <a:prstGeom prst="leftArrow">
            <a:avLst>
              <a:gd name="adj1" fmla="val 50000"/>
              <a:gd name="adj2" fmla="val 49313"/>
            </a:avLst>
          </a:prstGeom>
          <a:solidFill>
            <a:srgbClr val="FFFF00"/>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17107" name="Text Box 84"/>
          <p:cNvSpPr txBox="1">
            <a:spLocks noChangeArrowheads="1"/>
          </p:cNvSpPr>
          <p:nvPr/>
        </p:nvSpPr>
        <p:spPr bwMode="auto">
          <a:xfrm>
            <a:off x="1100138" y="3473450"/>
            <a:ext cx="1101725" cy="304800"/>
          </a:xfrm>
          <a:prstGeom prst="rect">
            <a:avLst/>
          </a:prstGeom>
          <a:solidFill>
            <a:schemeClr val="bg1"/>
          </a:solidFill>
          <a:ln>
            <a:noFill/>
          </a:ln>
          <a:extLst>
            <a:ext uri="{91240B29-F687-4F45-9708-019B960494DF}">
              <a14:hiddenLine xmlns:a14="http://schemas.microsoft.com/office/drawing/2010/main" w="6350" algn="ctr">
                <a:solidFill>
                  <a:srgbClr val="000000"/>
                </a:solidFill>
                <a:miter lim="800000"/>
                <a:headEnd/>
                <a:tailEnd/>
              </a14:hiddenLine>
            </a:ext>
          </a:extLst>
        </p:spPr>
        <p:txBody>
          <a:bodyPr wrap="none">
            <a:spAutoFit/>
          </a:bodyP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400">
                <a:solidFill>
                  <a:schemeClr val="tx1"/>
                </a:solidFill>
              </a:rPr>
              <a:t>Expéditions</a:t>
            </a:r>
          </a:p>
        </p:txBody>
      </p:sp>
      <p:grpSp>
        <p:nvGrpSpPr>
          <p:cNvPr id="10" name="Group 106"/>
          <p:cNvGrpSpPr>
            <a:grpSpLocks/>
          </p:cNvGrpSpPr>
          <p:nvPr/>
        </p:nvGrpSpPr>
        <p:grpSpPr bwMode="auto">
          <a:xfrm>
            <a:off x="3970338" y="982663"/>
            <a:ext cx="5022850" cy="4448175"/>
            <a:chOff x="2501" y="619"/>
            <a:chExt cx="3164" cy="2802"/>
          </a:xfrm>
        </p:grpSpPr>
        <p:sp>
          <p:nvSpPr>
            <p:cNvPr id="217116" name="AutoShape 94"/>
            <p:cNvSpPr>
              <a:spLocks/>
            </p:cNvSpPr>
            <p:nvPr/>
          </p:nvSpPr>
          <p:spPr bwMode="auto">
            <a:xfrm>
              <a:off x="5026" y="1089"/>
              <a:ext cx="639" cy="320"/>
            </a:xfrm>
            <a:prstGeom prst="borderCallout2">
              <a:avLst>
                <a:gd name="adj1" fmla="val 22500"/>
                <a:gd name="adj2" fmla="val -7514"/>
                <a:gd name="adj3" fmla="val 22500"/>
                <a:gd name="adj4" fmla="val -46167"/>
                <a:gd name="adj5" fmla="val 216565"/>
                <a:gd name="adj6" fmla="val -87009"/>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peu chargé</a:t>
              </a:r>
            </a:p>
          </p:txBody>
        </p:sp>
        <p:sp>
          <p:nvSpPr>
            <p:cNvPr id="217117" name="AutoShape 96"/>
            <p:cNvSpPr>
              <a:spLocks/>
            </p:cNvSpPr>
            <p:nvPr/>
          </p:nvSpPr>
          <p:spPr bwMode="auto">
            <a:xfrm>
              <a:off x="4699" y="3067"/>
              <a:ext cx="639" cy="320"/>
            </a:xfrm>
            <a:prstGeom prst="borderCallout2">
              <a:avLst>
                <a:gd name="adj1" fmla="val 22500"/>
                <a:gd name="adj2" fmla="val -7514"/>
                <a:gd name="adj3" fmla="val 22500"/>
                <a:gd name="adj4" fmla="val -47417"/>
                <a:gd name="adj5" fmla="val -46250"/>
                <a:gd name="adj6" fmla="val -89514"/>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peu chargé</a:t>
              </a:r>
            </a:p>
          </p:txBody>
        </p:sp>
        <p:sp>
          <p:nvSpPr>
            <p:cNvPr id="217118" name="AutoShape 97"/>
            <p:cNvSpPr>
              <a:spLocks/>
            </p:cNvSpPr>
            <p:nvPr/>
          </p:nvSpPr>
          <p:spPr bwMode="auto">
            <a:xfrm>
              <a:off x="2501" y="630"/>
              <a:ext cx="633" cy="320"/>
            </a:xfrm>
            <a:prstGeom prst="borderCallout2">
              <a:avLst>
                <a:gd name="adj1" fmla="val 22500"/>
                <a:gd name="adj2" fmla="val -7583"/>
                <a:gd name="adj3" fmla="val 22500"/>
                <a:gd name="adj4" fmla="val -29227"/>
                <a:gd name="adj5" fmla="val 117815"/>
                <a:gd name="adj6" fmla="val -51977"/>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très chargé</a:t>
              </a:r>
            </a:p>
          </p:txBody>
        </p:sp>
        <p:sp>
          <p:nvSpPr>
            <p:cNvPr id="217119" name="AutoShape 99"/>
            <p:cNvSpPr>
              <a:spLocks/>
            </p:cNvSpPr>
            <p:nvPr/>
          </p:nvSpPr>
          <p:spPr bwMode="auto">
            <a:xfrm>
              <a:off x="3996" y="619"/>
              <a:ext cx="633" cy="320"/>
            </a:xfrm>
            <a:prstGeom prst="borderCallout2">
              <a:avLst>
                <a:gd name="adj1" fmla="val 22500"/>
                <a:gd name="adj2" fmla="val -7583"/>
                <a:gd name="adj3" fmla="val 22500"/>
                <a:gd name="adj4" fmla="val -29227"/>
                <a:gd name="adj5" fmla="val 117815"/>
                <a:gd name="adj6" fmla="val -51977"/>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très chargé</a:t>
              </a:r>
            </a:p>
          </p:txBody>
        </p:sp>
        <p:sp>
          <p:nvSpPr>
            <p:cNvPr id="217120" name="AutoShape 100"/>
            <p:cNvSpPr>
              <a:spLocks/>
            </p:cNvSpPr>
            <p:nvPr/>
          </p:nvSpPr>
          <p:spPr bwMode="auto">
            <a:xfrm>
              <a:off x="2628" y="3101"/>
              <a:ext cx="633" cy="320"/>
            </a:xfrm>
            <a:prstGeom prst="borderCallout2">
              <a:avLst>
                <a:gd name="adj1" fmla="val 22500"/>
                <a:gd name="adj2" fmla="val -7583"/>
                <a:gd name="adj3" fmla="val 22500"/>
                <a:gd name="adj4" fmla="val -20222"/>
                <a:gd name="adj5" fmla="val -46565"/>
                <a:gd name="adj6" fmla="val -33491"/>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Poste très chargé</a:t>
              </a:r>
            </a:p>
          </p:txBody>
        </p:sp>
      </p:grpSp>
      <p:sp>
        <p:nvSpPr>
          <p:cNvPr id="648293" name="AutoShape 101"/>
          <p:cNvSpPr>
            <a:spLocks/>
          </p:cNvSpPr>
          <p:nvPr/>
        </p:nvSpPr>
        <p:spPr bwMode="auto">
          <a:xfrm>
            <a:off x="152400" y="4579938"/>
            <a:ext cx="1390650" cy="736600"/>
          </a:xfrm>
          <a:prstGeom prst="borderCallout2">
            <a:avLst>
              <a:gd name="adj1" fmla="val 15519"/>
              <a:gd name="adj2" fmla="val 105481"/>
              <a:gd name="adj3" fmla="val 15519"/>
              <a:gd name="adj4" fmla="val 115523"/>
              <a:gd name="adj5" fmla="val -40731"/>
              <a:gd name="adj6" fmla="val 125801"/>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Eviter à tout prix les ruptures de stock</a:t>
            </a:r>
          </a:p>
        </p:txBody>
      </p:sp>
      <p:grpSp>
        <p:nvGrpSpPr>
          <p:cNvPr id="11" name="Group 107"/>
          <p:cNvGrpSpPr>
            <a:grpSpLocks/>
          </p:cNvGrpSpPr>
          <p:nvPr/>
        </p:nvGrpSpPr>
        <p:grpSpPr bwMode="auto">
          <a:xfrm>
            <a:off x="908050" y="2733675"/>
            <a:ext cx="5680075" cy="3260725"/>
            <a:chOff x="572" y="1722"/>
            <a:chExt cx="3578" cy="2054"/>
          </a:xfrm>
        </p:grpSpPr>
        <p:sp>
          <p:nvSpPr>
            <p:cNvPr id="217112" name="AutoShape 102"/>
            <p:cNvSpPr>
              <a:spLocks/>
            </p:cNvSpPr>
            <p:nvPr/>
          </p:nvSpPr>
          <p:spPr bwMode="auto">
            <a:xfrm>
              <a:off x="572" y="3539"/>
              <a:ext cx="698" cy="237"/>
            </a:xfrm>
            <a:prstGeom prst="borderCallout2">
              <a:avLst>
                <a:gd name="adj1" fmla="val 30380"/>
                <a:gd name="adj2" fmla="val 106875"/>
                <a:gd name="adj3" fmla="val 30380"/>
                <a:gd name="adj4" fmla="val 119199"/>
                <a:gd name="adj5" fmla="val -271310"/>
                <a:gd name="adj6" fmla="val 133954"/>
              </a:avLst>
            </a:prstGeom>
            <a:solidFill>
              <a:srgbClr val="CCECFF"/>
            </a:solidFill>
            <a:ln w="6350" algn="ctr">
              <a:solidFill>
                <a:schemeClr val="accent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Stock cher</a:t>
              </a:r>
            </a:p>
          </p:txBody>
        </p:sp>
        <p:sp>
          <p:nvSpPr>
            <p:cNvPr id="217113" name="AutoShape 103"/>
            <p:cNvSpPr>
              <a:spLocks/>
            </p:cNvSpPr>
            <p:nvPr/>
          </p:nvSpPr>
          <p:spPr bwMode="auto">
            <a:xfrm>
              <a:off x="3585" y="3440"/>
              <a:ext cx="565" cy="314"/>
            </a:xfrm>
            <a:prstGeom prst="borderCallout2">
              <a:avLst>
                <a:gd name="adj1" fmla="val 22931"/>
                <a:gd name="adj2" fmla="val 108495"/>
                <a:gd name="adj3" fmla="val 22931"/>
                <a:gd name="adj4" fmla="val 131856"/>
                <a:gd name="adj5" fmla="val -207963"/>
                <a:gd name="adj6" fmla="val 159824"/>
              </a:avLst>
            </a:prstGeom>
            <a:solidFill>
              <a:srgbClr val="CCECFF"/>
            </a:solidFill>
            <a:ln w="6350" algn="ctr">
              <a:solidFill>
                <a:schemeClr val="accent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Stock peu cher</a:t>
              </a:r>
            </a:p>
          </p:txBody>
        </p:sp>
        <p:sp>
          <p:nvSpPr>
            <p:cNvPr id="217114" name="AutoShape 104"/>
            <p:cNvSpPr>
              <a:spLocks/>
            </p:cNvSpPr>
            <p:nvPr/>
          </p:nvSpPr>
          <p:spPr bwMode="auto">
            <a:xfrm>
              <a:off x="1945" y="1772"/>
              <a:ext cx="609" cy="314"/>
            </a:xfrm>
            <a:prstGeom prst="borderCallout2">
              <a:avLst>
                <a:gd name="adj1" fmla="val 22931"/>
                <a:gd name="adj2" fmla="val 107880"/>
                <a:gd name="adj3" fmla="val 22931"/>
                <a:gd name="adj4" fmla="val 130380"/>
                <a:gd name="adj5" fmla="val 118472"/>
                <a:gd name="adj6" fmla="val 157144"/>
              </a:avLst>
            </a:prstGeom>
            <a:solidFill>
              <a:srgbClr val="CCECFF"/>
            </a:solidFill>
            <a:ln w="6350" algn="ctr">
              <a:solidFill>
                <a:schemeClr val="accent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Carters : stock cher</a:t>
              </a:r>
            </a:p>
          </p:txBody>
        </p:sp>
        <p:sp>
          <p:nvSpPr>
            <p:cNvPr id="217115" name="AutoShape 105"/>
            <p:cNvSpPr>
              <a:spLocks/>
            </p:cNvSpPr>
            <p:nvPr/>
          </p:nvSpPr>
          <p:spPr bwMode="auto">
            <a:xfrm>
              <a:off x="3320" y="1722"/>
              <a:ext cx="604" cy="370"/>
            </a:xfrm>
            <a:prstGeom prst="borderCallout2">
              <a:avLst>
                <a:gd name="adj1" fmla="val 19458"/>
                <a:gd name="adj2" fmla="val -7949"/>
                <a:gd name="adj3" fmla="val 19458"/>
                <a:gd name="adj4" fmla="val -17713"/>
                <a:gd name="adj5" fmla="val 108106"/>
                <a:gd name="adj6" fmla="val -29472"/>
              </a:avLst>
            </a:prstGeom>
            <a:solidFill>
              <a:srgbClr val="CCECFF"/>
            </a:solidFill>
            <a:ln w="6350" algn="ctr">
              <a:solidFill>
                <a:schemeClr val="accent2"/>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a:solidFill>
                    <a:schemeClr val="tx1"/>
                  </a:solidFill>
                </a:rPr>
                <a:t>Couronnes stock peu cher</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ox(in)">
                                      <p:cBhvr>
                                        <p:cTn id="7" dur="500"/>
                                        <p:tgtEl>
                                          <p:spTgt spid="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box(in)">
                                      <p:cBhvr>
                                        <p:cTn id="12" dur="500"/>
                                        <p:tgtEl>
                                          <p:spTgt spid="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648293"/>
                                        </p:tgtEl>
                                        <p:attrNameLst>
                                          <p:attrName>style.visibility</p:attrName>
                                        </p:attrNameLst>
                                      </p:cBhvr>
                                      <p:to>
                                        <p:strVal val="visible"/>
                                      </p:to>
                                    </p:set>
                                    <p:animEffect transition="in" filter="box(in)">
                                      <p:cBhvr>
                                        <p:cTn id="17" dur="500"/>
                                        <p:tgtEl>
                                          <p:spTgt spid="6482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8293"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bg>
      <p:bgPr>
        <a:solidFill>
          <a:srgbClr val="27A8E0"/>
        </a:solidFill>
        <a:effectLst/>
      </p:bgPr>
    </p:bg>
    <p:spTree>
      <p:nvGrpSpPr>
        <p:cNvPr id="1" name=""/>
        <p:cNvGrpSpPr/>
        <p:nvPr/>
      </p:nvGrpSpPr>
      <p:grpSpPr>
        <a:xfrm>
          <a:off x="0" y="0"/>
          <a:ext cx="0" cy="0"/>
          <a:chOff x="0" y="0"/>
          <a:chExt cx="0" cy="0"/>
        </a:xfrm>
      </p:grpSpPr>
      <p:sp>
        <p:nvSpPr>
          <p:cNvPr id="218115" name="Rectangle 5"/>
          <p:cNvSpPr>
            <a:spLocks noGrp="1" noChangeArrowheads="1"/>
          </p:cNvSpPr>
          <p:nvPr>
            <p:ph type="subTitle" idx="4294967295"/>
          </p:nvPr>
        </p:nvSpPr>
        <p:spPr>
          <a:xfrm>
            <a:off x="1458913" y="1979613"/>
            <a:ext cx="6400800" cy="808037"/>
          </a:xfrm>
          <a:noFill/>
        </p:spPr>
        <p:txBody>
          <a:bodyPr/>
          <a:lstStyle/>
          <a:p>
            <a:pPr marL="0" indent="0" algn="ctr" eaLnBrk="1" hangingPunct="1">
              <a:buFontTx/>
              <a:buNone/>
            </a:pPr>
            <a:r>
              <a:rPr lang="fr-FR" altLang="fr-FR" sz="4000" b="1">
                <a:solidFill>
                  <a:schemeClr val="bg1"/>
                </a:solidFill>
              </a:rPr>
              <a:t>Variante financière</a:t>
            </a:r>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2"/>
          <p:cNvSpPr>
            <a:spLocks noGrp="1" noChangeArrowheads="1"/>
          </p:cNvSpPr>
          <p:nvPr>
            <p:ph type="title"/>
          </p:nvPr>
        </p:nvSpPr>
        <p:spPr/>
        <p:txBody>
          <a:bodyPr/>
          <a:lstStyle/>
          <a:p>
            <a:pPr eaLnBrk="1" hangingPunct="1"/>
            <a:r>
              <a:rPr lang="fr-FR" altLang="fr-FR"/>
              <a:t>Variante financière</a:t>
            </a:r>
          </a:p>
        </p:txBody>
      </p:sp>
      <p:sp>
        <p:nvSpPr>
          <p:cNvPr id="219139" name="Rectangle 3"/>
          <p:cNvSpPr>
            <a:spLocks noGrp="1" noChangeArrowheads="1"/>
          </p:cNvSpPr>
          <p:nvPr>
            <p:ph type="body" idx="1"/>
          </p:nvPr>
        </p:nvSpPr>
        <p:spPr>
          <a:xfrm>
            <a:off x="504825" y="1624013"/>
            <a:ext cx="8229600" cy="4376737"/>
          </a:xfrm>
        </p:spPr>
        <p:txBody>
          <a:bodyPr/>
          <a:lstStyle/>
          <a:p>
            <a:pPr eaLnBrk="1" hangingPunct="1"/>
            <a:r>
              <a:rPr lang="fr-FR" altLang="fr-FR"/>
              <a:t>La variante financière doit être introduite en début de semaine 2, afin que les équipes puissent déterminer leur stratégie.</a:t>
            </a:r>
          </a:p>
          <a:p>
            <a:pPr eaLnBrk="1" hangingPunct="1"/>
            <a:r>
              <a:rPr lang="fr-FR" altLang="fr-FR"/>
              <a:t>En fin de partie, les calculs permettent de déterminer l’équipe gagnante (celle qui a fait le plus de bénéfices).</a:t>
            </a:r>
          </a:p>
          <a:p>
            <a:pPr eaLnBrk="1" hangingPunct="1"/>
            <a:r>
              <a:rPr lang="fr-FR" altLang="fr-FR"/>
              <a:t>L’animateur explique cette règle aux participants grâce aux deux diapos suivantes.</a:t>
            </a:r>
          </a:p>
          <a:p>
            <a:pPr lvl="1" eaLnBrk="1" hangingPunct="1">
              <a:lnSpc>
                <a:spcPct val="110000"/>
              </a:lnSpc>
            </a:pPr>
            <a:r>
              <a:rPr lang="fr-FR" altLang="fr-FR" sz="1600"/>
              <a:t>Il distribue à chaque équipe un document variante financière (VF), en précisant que ce document sert à faire des simulations d’objectifs, et que d’autres feuilles sont disponibles en cas de besoin.</a:t>
            </a:r>
          </a:p>
        </p:txBody>
      </p:sp>
      <p:pic>
        <p:nvPicPr>
          <p:cNvPr id="5" name="Picture 2" descr="C:\Users\BertrandS\Dropbox\Jeux\00. CONCEPTION DES JEUX\photos\Bureau Une Femme 29\iStock_000002139332_Medium ALLEGE.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26675"/>
          <a:stretch/>
        </p:blipFill>
        <p:spPr bwMode="auto">
          <a:xfrm>
            <a:off x="8248783" y="45838"/>
            <a:ext cx="815481" cy="947302"/>
          </a:xfrm>
          <a:prstGeom prst="rect">
            <a:avLst/>
          </a:prstGeom>
          <a:solidFill>
            <a:schemeClr val="bg1"/>
          </a:solidFill>
          <a:ln w="12700">
            <a:solidFill>
              <a:srgbClr val="27A8E0"/>
            </a:solidFill>
          </a:ln>
          <a:effectLst>
            <a:outerShdw blurRad="25400" dist="50800" dir="2700000" algn="ctr" rotWithShape="0">
              <a:srgbClr val="27A8E0"/>
            </a:outerShdw>
          </a:effectLst>
        </p:spPr>
      </p:pic>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2"/>
          <p:cNvSpPr>
            <a:spLocks noGrp="1" noChangeArrowheads="1"/>
          </p:cNvSpPr>
          <p:nvPr>
            <p:ph type="title"/>
          </p:nvPr>
        </p:nvSpPr>
        <p:spPr>
          <a:xfrm>
            <a:off x="430213" y="0"/>
            <a:ext cx="8229600" cy="647700"/>
          </a:xfrm>
        </p:spPr>
        <p:txBody>
          <a:bodyPr/>
          <a:lstStyle/>
          <a:p>
            <a:pPr eaLnBrk="1" hangingPunct="1"/>
            <a:r>
              <a:rPr lang="fr-FR" altLang="fr-FR"/>
              <a:t>L’impact financier des performances</a:t>
            </a:r>
          </a:p>
        </p:txBody>
      </p:sp>
      <p:sp>
        <p:nvSpPr>
          <p:cNvPr id="220163" name="Rectangle 3"/>
          <p:cNvSpPr>
            <a:spLocks noGrp="1" noChangeArrowheads="1"/>
          </p:cNvSpPr>
          <p:nvPr>
            <p:ph type="body" idx="1"/>
          </p:nvPr>
        </p:nvSpPr>
        <p:spPr>
          <a:xfrm>
            <a:off x="225425" y="855663"/>
            <a:ext cx="8851900" cy="5475287"/>
          </a:xfrm>
        </p:spPr>
        <p:txBody>
          <a:bodyPr/>
          <a:lstStyle/>
          <a:p>
            <a:pPr eaLnBrk="1" hangingPunct="1"/>
            <a:r>
              <a:rPr lang="fr-FR" altLang="fr-FR" sz="1800"/>
              <a:t>Rappel concernant les données financières de l’entreprise</a:t>
            </a:r>
          </a:p>
          <a:p>
            <a:pPr lvl="1" eaLnBrk="1" hangingPunct="1"/>
            <a:r>
              <a:rPr lang="fr-FR" altLang="fr-FR" sz="1600"/>
              <a:t>Le chiffre d’affaires de l’entreprise est de </a:t>
            </a:r>
            <a:r>
              <a:rPr lang="fr-FR" altLang="fr-FR" sz="1600">
                <a:solidFill>
                  <a:srgbClr val="FC2C1C"/>
                </a:solidFill>
              </a:rPr>
              <a:t>90 M€</a:t>
            </a:r>
            <a:r>
              <a:rPr lang="fr-FR" altLang="fr-FR" sz="1600"/>
              <a:t>.</a:t>
            </a:r>
          </a:p>
          <a:p>
            <a:pPr lvl="1" eaLnBrk="1" hangingPunct="1"/>
            <a:r>
              <a:rPr lang="fr-FR" altLang="fr-FR" sz="1600"/>
              <a:t>Le coût de la production est de </a:t>
            </a:r>
            <a:r>
              <a:rPr lang="fr-FR" altLang="fr-FR" sz="1600">
                <a:solidFill>
                  <a:srgbClr val="FC2C1C"/>
                </a:solidFill>
              </a:rPr>
              <a:t>60 M€</a:t>
            </a:r>
            <a:r>
              <a:rPr lang="fr-FR" altLang="fr-FR" sz="1600"/>
              <a:t>.</a:t>
            </a:r>
          </a:p>
          <a:p>
            <a:pPr lvl="1" eaLnBrk="1" hangingPunct="1"/>
            <a:r>
              <a:rPr lang="fr-FR" altLang="fr-FR" sz="1600"/>
              <a:t>Le bénéfice est de </a:t>
            </a:r>
            <a:r>
              <a:rPr lang="fr-FR" altLang="fr-FR" sz="1600">
                <a:solidFill>
                  <a:srgbClr val="FC2C1C"/>
                </a:solidFill>
              </a:rPr>
              <a:t>0,4 M€</a:t>
            </a:r>
          </a:p>
          <a:p>
            <a:pPr lvl="1" eaLnBrk="1" hangingPunct="1"/>
            <a:r>
              <a:rPr lang="fr-FR" altLang="fr-FR" sz="1600"/>
              <a:t>Les stocks sont de </a:t>
            </a:r>
            <a:r>
              <a:rPr lang="fr-FR" altLang="fr-FR" sz="1600">
                <a:solidFill>
                  <a:srgbClr val="FC2C1C"/>
                </a:solidFill>
              </a:rPr>
              <a:t>20 M€</a:t>
            </a:r>
          </a:p>
          <a:p>
            <a:pPr eaLnBrk="1" hangingPunct="1"/>
            <a:r>
              <a:rPr lang="fr-FR" altLang="fr-FR" sz="1800">
                <a:solidFill>
                  <a:srgbClr val="FC2C1C"/>
                </a:solidFill>
              </a:rPr>
              <a:t>Le taux de service</a:t>
            </a:r>
          </a:p>
          <a:p>
            <a:pPr lvl="1" eaLnBrk="1" hangingPunct="1"/>
            <a:r>
              <a:rPr lang="fr-FR" altLang="fr-FR" sz="1600"/>
              <a:t>On considère qu’une variation de </a:t>
            </a:r>
            <a:r>
              <a:rPr lang="fr-FR" altLang="fr-FR" sz="1600">
                <a:solidFill>
                  <a:srgbClr val="FC2C1C"/>
                </a:solidFill>
              </a:rPr>
              <a:t>1%</a:t>
            </a:r>
            <a:r>
              <a:rPr lang="fr-FR" altLang="fr-FR" sz="1600"/>
              <a:t> de taux de service (par rapport à 100 %) entraîne une variation de </a:t>
            </a:r>
            <a:r>
              <a:rPr lang="fr-FR" altLang="fr-FR" sz="1600">
                <a:solidFill>
                  <a:srgbClr val="FC2C1C"/>
                </a:solidFill>
              </a:rPr>
              <a:t>0,5%</a:t>
            </a:r>
            <a:r>
              <a:rPr lang="fr-FR" altLang="fr-FR" sz="1600"/>
              <a:t> des ventes.</a:t>
            </a:r>
          </a:p>
          <a:p>
            <a:pPr lvl="1" eaLnBrk="1" hangingPunct="1"/>
            <a:r>
              <a:rPr lang="fr-FR" altLang="fr-FR" sz="1600"/>
              <a:t>Et comme la marge brute sur les ventes est de : (90 M€ - 60 M€) / 90 M€ = </a:t>
            </a:r>
            <a:r>
              <a:rPr lang="fr-FR" altLang="fr-FR" sz="1600">
                <a:solidFill>
                  <a:srgbClr val="FC2C1C"/>
                </a:solidFill>
              </a:rPr>
              <a:t>33%,</a:t>
            </a:r>
            <a:r>
              <a:rPr lang="fr-FR" altLang="fr-FR" sz="1600"/>
              <a:t> cette variation de </a:t>
            </a:r>
            <a:r>
              <a:rPr lang="fr-FR" altLang="fr-FR" sz="1600">
                <a:solidFill>
                  <a:srgbClr val="FC2C1C"/>
                </a:solidFill>
              </a:rPr>
              <a:t>0,5%</a:t>
            </a:r>
            <a:r>
              <a:rPr lang="fr-FR" altLang="fr-FR" sz="1600"/>
              <a:t> a un impact sur le bénéfice égal à </a:t>
            </a:r>
            <a:r>
              <a:rPr lang="fr-FR" altLang="fr-FR" sz="1600">
                <a:solidFill>
                  <a:srgbClr val="FC2C1C"/>
                </a:solidFill>
              </a:rPr>
              <a:t>0,17%</a:t>
            </a:r>
            <a:r>
              <a:rPr lang="fr-FR" altLang="fr-FR" sz="1600"/>
              <a:t> des ventes.</a:t>
            </a:r>
          </a:p>
          <a:p>
            <a:pPr eaLnBrk="1" hangingPunct="1"/>
            <a:r>
              <a:rPr lang="fr-FR" altLang="fr-FR" sz="1800">
                <a:solidFill>
                  <a:srgbClr val="FC2C1C"/>
                </a:solidFill>
              </a:rPr>
              <a:t>L’efficience de la production</a:t>
            </a:r>
          </a:p>
          <a:p>
            <a:pPr lvl="1" eaLnBrk="1" hangingPunct="1"/>
            <a:r>
              <a:rPr lang="fr-FR" altLang="fr-FR" sz="1600"/>
              <a:t>On considère qu’une variation de </a:t>
            </a:r>
            <a:r>
              <a:rPr lang="fr-FR" altLang="fr-FR" sz="1600">
                <a:solidFill>
                  <a:srgbClr val="FC2C1C"/>
                </a:solidFill>
              </a:rPr>
              <a:t>1%</a:t>
            </a:r>
            <a:r>
              <a:rPr lang="fr-FR" altLang="fr-FR" sz="1600"/>
              <a:t> d’efficience de la production (par rapport à 100 %) entraîne une variation de </a:t>
            </a:r>
            <a:r>
              <a:rPr lang="fr-FR" altLang="fr-FR" sz="1600">
                <a:solidFill>
                  <a:srgbClr val="FC2C1C"/>
                </a:solidFill>
              </a:rPr>
              <a:t>0,2 %</a:t>
            </a:r>
            <a:r>
              <a:rPr lang="fr-FR" altLang="fr-FR" sz="1600"/>
              <a:t> du bénéfice.</a:t>
            </a:r>
          </a:p>
          <a:p>
            <a:pPr eaLnBrk="1" hangingPunct="1"/>
            <a:r>
              <a:rPr lang="fr-FR" altLang="fr-FR" sz="1800">
                <a:solidFill>
                  <a:srgbClr val="FC2C1C"/>
                </a:solidFill>
              </a:rPr>
              <a:t>Les stocks</a:t>
            </a:r>
          </a:p>
          <a:p>
            <a:pPr lvl="1" eaLnBrk="1" hangingPunct="1"/>
            <a:r>
              <a:rPr lang="fr-FR" altLang="fr-FR" sz="1600"/>
              <a:t>Le stock est en réalité </a:t>
            </a:r>
            <a:r>
              <a:rPr lang="fr-FR" altLang="fr-FR" sz="1600">
                <a:solidFill>
                  <a:srgbClr val="FC2C1C"/>
                </a:solidFill>
              </a:rPr>
              <a:t>10 000 fois</a:t>
            </a:r>
            <a:r>
              <a:rPr lang="fr-FR" altLang="fr-FR" sz="1600"/>
              <a:t> plus élevé que la mesure faite dans le jeu (changement d’échelle dû à la simplification nécessaire pour faire la simulation).</a:t>
            </a:r>
          </a:p>
          <a:p>
            <a:pPr lvl="1" eaLnBrk="1" hangingPunct="1"/>
            <a:r>
              <a:rPr lang="fr-FR" altLang="fr-FR" sz="1600"/>
              <a:t>Le coût du stock pour la durée de la simulation (4 semaines) est de </a:t>
            </a:r>
            <a:r>
              <a:rPr lang="fr-FR" altLang="fr-FR" sz="1600">
                <a:solidFill>
                  <a:srgbClr val="FC2C1C"/>
                </a:solidFill>
              </a:rPr>
              <a:t>20 %</a:t>
            </a:r>
            <a:r>
              <a:rPr lang="fr-FR" altLang="fr-FR" sz="1600"/>
              <a:t> du montant moyen des stocks. </a:t>
            </a:r>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1186" name="Picture 5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725" y="1076325"/>
            <a:ext cx="7356475" cy="574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1187" name="Rectangle 2"/>
          <p:cNvSpPr>
            <a:spLocks noGrp="1" noChangeArrowheads="1"/>
          </p:cNvSpPr>
          <p:nvPr>
            <p:ph type="title"/>
          </p:nvPr>
        </p:nvSpPr>
        <p:spPr>
          <a:xfrm>
            <a:off x="438150" y="120650"/>
            <a:ext cx="8229600" cy="363538"/>
          </a:xfrm>
        </p:spPr>
        <p:txBody>
          <a:bodyPr/>
          <a:lstStyle/>
          <a:p>
            <a:pPr eaLnBrk="1" hangingPunct="1"/>
            <a:r>
              <a:rPr lang="fr-FR" altLang="fr-FR" sz="2000"/>
              <a:t>Utilisation de la feuille de calcul</a:t>
            </a:r>
          </a:p>
        </p:txBody>
      </p:sp>
      <p:sp>
        <p:nvSpPr>
          <p:cNvPr id="221189" name="AutoShape 30"/>
          <p:cNvSpPr>
            <a:spLocks noChangeArrowheads="1"/>
          </p:cNvSpPr>
          <p:nvPr/>
        </p:nvSpPr>
        <p:spPr bwMode="auto">
          <a:xfrm>
            <a:off x="4481513" y="6583363"/>
            <a:ext cx="527050" cy="246062"/>
          </a:xfrm>
          <a:prstGeom prst="downArrowCallout">
            <a:avLst>
              <a:gd name="adj1" fmla="val 53548"/>
              <a:gd name="adj2" fmla="val 53548"/>
              <a:gd name="adj3" fmla="val 16667"/>
              <a:gd name="adj4" fmla="val 66667"/>
            </a:avLst>
          </a:prstGeom>
          <a:solidFill>
            <a:srgbClr val="FFFF99"/>
          </a:solidFill>
          <a:ln w="6350" algn="ctr">
            <a:solidFill>
              <a:schemeClr val="tx2"/>
            </a:solidFill>
            <a:miter lim="800000"/>
            <a:headEnd/>
            <a:tailEnd/>
          </a:ln>
        </p:spPr>
        <p:txBody>
          <a:bodyPr wrap="none"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nvGrpSpPr>
          <p:cNvPr id="2" name="Group 59"/>
          <p:cNvGrpSpPr>
            <a:grpSpLocks/>
          </p:cNvGrpSpPr>
          <p:nvPr/>
        </p:nvGrpSpPr>
        <p:grpSpPr bwMode="auto">
          <a:xfrm>
            <a:off x="2116138" y="400050"/>
            <a:ext cx="1112837" cy="896938"/>
            <a:chOff x="1333" y="252"/>
            <a:chExt cx="701" cy="565"/>
          </a:xfrm>
        </p:grpSpPr>
        <p:sp>
          <p:nvSpPr>
            <p:cNvPr id="221217" name="AutoShape 32"/>
            <p:cNvSpPr>
              <a:spLocks/>
            </p:cNvSpPr>
            <p:nvPr/>
          </p:nvSpPr>
          <p:spPr bwMode="auto">
            <a:xfrm>
              <a:off x="1588" y="252"/>
              <a:ext cx="446" cy="451"/>
            </a:xfrm>
            <a:prstGeom prst="borderCallout2">
              <a:avLst>
                <a:gd name="adj1" fmla="val 15963"/>
                <a:gd name="adj2" fmla="val -10764"/>
                <a:gd name="adj3" fmla="val 15963"/>
                <a:gd name="adj4" fmla="val -24662"/>
                <a:gd name="adj5" fmla="val 85144"/>
                <a:gd name="adj6" fmla="val -38787"/>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votre équipe</a:t>
              </a:r>
            </a:p>
          </p:txBody>
        </p:sp>
        <p:sp>
          <p:nvSpPr>
            <p:cNvPr id="221218" name="Oval 33"/>
            <p:cNvSpPr>
              <a:spLocks noChangeArrowheads="1"/>
            </p:cNvSpPr>
            <p:nvPr/>
          </p:nvSpPr>
          <p:spPr bwMode="auto">
            <a:xfrm>
              <a:off x="1333" y="677"/>
              <a:ext cx="196"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3" name="Group 61"/>
          <p:cNvGrpSpPr>
            <a:grpSpLocks/>
          </p:cNvGrpSpPr>
          <p:nvPr/>
        </p:nvGrpSpPr>
        <p:grpSpPr bwMode="auto">
          <a:xfrm>
            <a:off x="3302000" y="766763"/>
            <a:ext cx="2103438" cy="2212975"/>
            <a:chOff x="2080" y="483"/>
            <a:chExt cx="1325" cy="1394"/>
          </a:xfrm>
        </p:grpSpPr>
        <p:sp>
          <p:nvSpPr>
            <p:cNvPr id="221215" name="AutoShape 35"/>
            <p:cNvSpPr>
              <a:spLocks/>
            </p:cNvSpPr>
            <p:nvPr/>
          </p:nvSpPr>
          <p:spPr bwMode="auto">
            <a:xfrm>
              <a:off x="2080" y="483"/>
              <a:ext cx="984" cy="583"/>
            </a:xfrm>
            <a:prstGeom prst="borderCallout2">
              <a:avLst>
                <a:gd name="adj1" fmla="val 12352"/>
                <a:gd name="adj2" fmla="val 104880"/>
                <a:gd name="adj3" fmla="val 12352"/>
                <a:gd name="adj4" fmla="val 111991"/>
                <a:gd name="adj5" fmla="val 207204"/>
                <a:gd name="adj6" fmla="val 119412"/>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6 % de perte de taux de service entraînent 3 % de ventes perdues</a:t>
              </a:r>
            </a:p>
          </p:txBody>
        </p:sp>
        <p:sp>
          <p:nvSpPr>
            <p:cNvPr id="221216" name="Oval 36"/>
            <p:cNvSpPr>
              <a:spLocks noChangeArrowheads="1"/>
            </p:cNvSpPr>
            <p:nvPr/>
          </p:nvSpPr>
          <p:spPr bwMode="auto">
            <a:xfrm>
              <a:off x="2430" y="1698"/>
              <a:ext cx="975" cy="179"/>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4" name="Group 62"/>
          <p:cNvGrpSpPr>
            <a:grpSpLocks/>
          </p:cNvGrpSpPr>
          <p:nvPr/>
        </p:nvGrpSpPr>
        <p:grpSpPr bwMode="auto">
          <a:xfrm>
            <a:off x="6189663" y="628650"/>
            <a:ext cx="2535237" cy="2319338"/>
            <a:chOff x="3899" y="396"/>
            <a:chExt cx="1597" cy="1461"/>
          </a:xfrm>
        </p:grpSpPr>
        <p:sp>
          <p:nvSpPr>
            <p:cNvPr id="221213" name="AutoShape 38"/>
            <p:cNvSpPr>
              <a:spLocks/>
            </p:cNvSpPr>
            <p:nvPr/>
          </p:nvSpPr>
          <p:spPr bwMode="auto">
            <a:xfrm>
              <a:off x="4702" y="396"/>
              <a:ext cx="794" cy="685"/>
            </a:xfrm>
            <a:prstGeom prst="borderCallout2">
              <a:avLst>
                <a:gd name="adj1" fmla="val 10509"/>
                <a:gd name="adj2" fmla="val -6046"/>
                <a:gd name="adj3" fmla="val 10509"/>
                <a:gd name="adj4" fmla="val -37532"/>
                <a:gd name="adj5" fmla="val 186718"/>
                <a:gd name="adj6" fmla="val -70278"/>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3 % de ventes perdues entraînent 1/3 de perte de bénéfices</a:t>
              </a:r>
            </a:p>
          </p:txBody>
        </p:sp>
        <p:sp>
          <p:nvSpPr>
            <p:cNvPr id="221214" name="Oval 39"/>
            <p:cNvSpPr>
              <a:spLocks noChangeArrowheads="1"/>
            </p:cNvSpPr>
            <p:nvPr/>
          </p:nvSpPr>
          <p:spPr bwMode="auto">
            <a:xfrm>
              <a:off x="3899" y="1717"/>
              <a:ext cx="41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5" name="Group 63"/>
          <p:cNvGrpSpPr>
            <a:grpSpLocks/>
          </p:cNvGrpSpPr>
          <p:nvPr/>
        </p:nvGrpSpPr>
        <p:grpSpPr bwMode="auto">
          <a:xfrm>
            <a:off x="6919913" y="2120900"/>
            <a:ext cx="2062162" cy="1243013"/>
            <a:chOff x="4359" y="1336"/>
            <a:chExt cx="1299" cy="783"/>
          </a:xfrm>
        </p:grpSpPr>
        <p:sp>
          <p:nvSpPr>
            <p:cNvPr id="221211" name="AutoShape 41"/>
            <p:cNvSpPr>
              <a:spLocks/>
            </p:cNvSpPr>
            <p:nvPr/>
          </p:nvSpPr>
          <p:spPr bwMode="auto">
            <a:xfrm>
              <a:off x="4903" y="1336"/>
              <a:ext cx="755" cy="783"/>
            </a:xfrm>
            <a:prstGeom prst="borderCallout2">
              <a:avLst>
                <a:gd name="adj1" fmla="val 9194"/>
                <a:gd name="adj2" fmla="val -6356"/>
                <a:gd name="adj3" fmla="val 9194"/>
                <a:gd name="adj4" fmla="val -13907"/>
                <a:gd name="adj5" fmla="val 48532"/>
                <a:gd name="adj6" fmla="val -21588"/>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Votre gain est la différence par rapport aux valeurs initiales</a:t>
              </a:r>
            </a:p>
          </p:txBody>
        </p:sp>
        <p:sp>
          <p:nvSpPr>
            <p:cNvPr id="221212" name="Oval 42"/>
            <p:cNvSpPr>
              <a:spLocks noChangeArrowheads="1"/>
            </p:cNvSpPr>
            <p:nvPr/>
          </p:nvSpPr>
          <p:spPr bwMode="auto">
            <a:xfrm>
              <a:off x="4359" y="1707"/>
              <a:ext cx="41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6" name="Group 66"/>
          <p:cNvGrpSpPr>
            <a:grpSpLocks/>
          </p:cNvGrpSpPr>
          <p:nvPr/>
        </p:nvGrpSpPr>
        <p:grpSpPr bwMode="auto">
          <a:xfrm>
            <a:off x="6915150" y="5235575"/>
            <a:ext cx="2038350" cy="1593850"/>
            <a:chOff x="4356" y="3298"/>
            <a:chExt cx="1284" cy="1004"/>
          </a:xfrm>
        </p:grpSpPr>
        <p:sp>
          <p:nvSpPr>
            <p:cNvPr id="221209" name="AutoShape 44"/>
            <p:cNvSpPr>
              <a:spLocks/>
            </p:cNvSpPr>
            <p:nvPr/>
          </p:nvSpPr>
          <p:spPr bwMode="auto">
            <a:xfrm>
              <a:off x="5008" y="3298"/>
              <a:ext cx="632" cy="456"/>
            </a:xfrm>
            <a:prstGeom prst="borderCallout2">
              <a:avLst>
                <a:gd name="adj1" fmla="val 15792"/>
                <a:gd name="adj2" fmla="val -7597"/>
                <a:gd name="adj3" fmla="val 15792"/>
                <a:gd name="adj4" fmla="val -29588"/>
                <a:gd name="adj5" fmla="val 168421"/>
                <a:gd name="adj6" fmla="val -51898"/>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Calculez votre gain total</a:t>
              </a:r>
            </a:p>
          </p:txBody>
        </p:sp>
        <p:sp>
          <p:nvSpPr>
            <p:cNvPr id="221210" name="Oval 45"/>
            <p:cNvSpPr>
              <a:spLocks noChangeArrowheads="1"/>
            </p:cNvSpPr>
            <p:nvPr/>
          </p:nvSpPr>
          <p:spPr bwMode="auto">
            <a:xfrm>
              <a:off x="4356" y="4100"/>
              <a:ext cx="418" cy="202"/>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7" name="Group 60"/>
          <p:cNvGrpSpPr>
            <a:grpSpLocks/>
          </p:cNvGrpSpPr>
          <p:nvPr/>
        </p:nvGrpSpPr>
        <p:grpSpPr bwMode="auto">
          <a:xfrm>
            <a:off x="109538" y="134938"/>
            <a:ext cx="3286125" cy="6240462"/>
            <a:chOff x="69" y="85"/>
            <a:chExt cx="2070" cy="3931"/>
          </a:xfrm>
        </p:grpSpPr>
        <p:sp>
          <p:nvSpPr>
            <p:cNvPr id="221202" name="AutoShape 47"/>
            <p:cNvSpPr>
              <a:spLocks/>
            </p:cNvSpPr>
            <p:nvPr/>
          </p:nvSpPr>
          <p:spPr bwMode="auto">
            <a:xfrm flipH="1">
              <a:off x="69" y="85"/>
              <a:ext cx="1226" cy="570"/>
            </a:xfrm>
            <a:prstGeom prst="borderCallout2">
              <a:avLst>
                <a:gd name="adj1" fmla="val 12630"/>
                <a:gd name="adj2" fmla="val -3917"/>
                <a:gd name="adj3" fmla="val 12630"/>
                <a:gd name="adj4" fmla="val -21454"/>
                <a:gd name="adj5" fmla="val 273681"/>
                <a:gd name="adj6" fmla="val -41681"/>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300">
                  <a:solidFill>
                    <a:schemeClr val="tx1"/>
                  </a:solidFill>
                </a:rPr>
                <a:t>Notez vos valeurs chaque fin de semaine et la moyenne en fin de simulation</a:t>
              </a:r>
            </a:p>
          </p:txBody>
        </p:sp>
        <p:sp>
          <p:nvSpPr>
            <p:cNvPr id="221203" name="Oval 48"/>
            <p:cNvSpPr>
              <a:spLocks noChangeArrowheads="1"/>
            </p:cNvSpPr>
            <p:nvPr/>
          </p:nvSpPr>
          <p:spPr bwMode="auto">
            <a:xfrm>
              <a:off x="1804" y="1701"/>
              <a:ext cx="26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21204" name="Line 49"/>
            <p:cNvSpPr>
              <a:spLocks noChangeShapeType="1"/>
            </p:cNvSpPr>
            <p:nvPr/>
          </p:nvSpPr>
          <p:spPr bwMode="auto">
            <a:xfrm>
              <a:off x="972" y="674"/>
              <a:ext cx="877" cy="2123"/>
            </a:xfrm>
            <a:prstGeom prst="line">
              <a:avLst/>
            </a:prstGeom>
            <a:noFill/>
            <a:ln w="6350">
              <a:solidFill>
                <a:schemeClr val="bg2"/>
              </a:solidFill>
              <a:round/>
              <a:headEnd/>
              <a:tailEnd type="triangle" w="med" len="med"/>
            </a:ln>
            <a:extLst>
              <a:ext uri="{909E8E84-426E-40DD-AFC4-6F175D3DCCD1}">
                <a14:hiddenFill xmlns:a14="http://schemas.microsoft.com/office/drawing/2010/main">
                  <a:noFill/>
                </a14:hiddenFill>
              </a:ext>
            </a:extLst>
          </p:spPr>
          <p:txBody>
            <a:bodyPr anchor="ctr"/>
            <a:lstStyle/>
            <a:p>
              <a:endParaRPr lang="fr-FR"/>
            </a:p>
          </p:txBody>
        </p:sp>
        <p:sp>
          <p:nvSpPr>
            <p:cNvPr id="221205" name="Line 50"/>
            <p:cNvSpPr>
              <a:spLocks noChangeShapeType="1"/>
            </p:cNvSpPr>
            <p:nvPr/>
          </p:nvSpPr>
          <p:spPr bwMode="auto">
            <a:xfrm>
              <a:off x="912" y="696"/>
              <a:ext cx="826" cy="2475"/>
            </a:xfrm>
            <a:prstGeom prst="line">
              <a:avLst/>
            </a:prstGeom>
            <a:noFill/>
            <a:ln w="6350">
              <a:solidFill>
                <a:schemeClr val="bg2"/>
              </a:solidFill>
              <a:round/>
              <a:headEnd/>
              <a:tailEnd type="triangle" w="med" len="med"/>
            </a:ln>
            <a:extLst>
              <a:ext uri="{909E8E84-426E-40DD-AFC4-6F175D3DCCD1}">
                <a14:hiddenFill xmlns:a14="http://schemas.microsoft.com/office/drawing/2010/main">
                  <a:noFill/>
                </a14:hiddenFill>
              </a:ext>
            </a:extLst>
          </p:spPr>
          <p:txBody>
            <a:bodyPr anchor="ctr"/>
            <a:lstStyle/>
            <a:p>
              <a:endParaRPr lang="fr-FR"/>
            </a:p>
          </p:txBody>
        </p:sp>
        <p:sp>
          <p:nvSpPr>
            <p:cNvPr id="221206" name="Oval 51"/>
            <p:cNvSpPr>
              <a:spLocks noChangeArrowheads="1"/>
            </p:cNvSpPr>
            <p:nvPr/>
          </p:nvSpPr>
          <p:spPr bwMode="auto">
            <a:xfrm>
              <a:off x="1828" y="2799"/>
              <a:ext cx="26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21207" name="Oval 52"/>
            <p:cNvSpPr>
              <a:spLocks noChangeArrowheads="1"/>
            </p:cNvSpPr>
            <p:nvPr/>
          </p:nvSpPr>
          <p:spPr bwMode="auto">
            <a:xfrm>
              <a:off x="1767" y="3876"/>
              <a:ext cx="372"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sp>
          <p:nvSpPr>
            <p:cNvPr id="221208" name="Oval 54"/>
            <p:cNvSpPr>
              <a:spLocks noChangeArrowheads="1"/>
            </p:cNvSpPr>
            <p:nvPr/>
          </p:nvSpPr>
          <p:spPr bwMode="auto">
            <a:xfrm>
              <a:off x="1810" y="1303"/>
              <a:ext cx="268"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8" name="Group 64"/>
          <p:cNvGrpSpPr>
            <a:grpSpLocks/>
          </p:cNvGrpSpPr>
          <p:nvPr/>
        </p:nvGrpSpPr>
        <p:grpSpPr bwMode="auto">
          <a:xfrm>
            <a:off x="3213100" y="3740150"/>
            <a:ext cx="2095500" cy="950913"/>
            <a:chOff x="2024" y="2356"/>
            <a:chExt cx="1320" cy="599"/>
          </a:xfrm>
        </p:grpSpPr>
        <p:sp>
          <p:nvSpPr>
            <p:cNvPr id="221200" name="AutoShape 55"/>
            <p:cNvSpPr>
              <a:spLocks/>
            </p:cNvSpPr>
            <p:nvPr/>
          </p:nvSpPr>
          <p:spPr bwMode="auto">
            <a:xfrm>
              <a:off x="2024" y="2356"/>
              <a:ext cx="1061" cy="411"/>
            </a:xfrm>
            <a:prstGeom prst="borderCallout2">
              <a:avLst>
                <a:gd name="adj1" fmla="val 17519"/>
                <a:gd name="adj2" fmla="val 104523"/>
                <a:gd name="adj3" fmla="val 17519"/>
                <a:gd name="adj4" fmla="val 108954"/>
                <a:gd name="adj5" fmla="val 101218"/>
                <a:gd name="adj6" fmla="val 113477"/>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a:solidFill>
                    <a:schemeClr val="tx1"/>
                  </a:solidFill>
                </a:rPr>
                <a:t>12 % de perte d’efficience = 12 % de production perdue</a:t>
              </a:r>
            </a:p>
          </p:txBody>
        </p:sp>
        <p:sp>
          <p:nvSpPr>
            <p:cNvPr id="221201" name="Oval 57"/>
            <p:cNvSpPr>
              <a:spLocks noChangeArrowheads="1"/>
            </p:cNvSpPr>
            <p:nvPr/>
          </p:nvSpPr>
          <p:spPr bwMode="auto">
            <a:xfrm>
              <a:off x="2974" y="2815"/>
              <a:ext cx="370"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grpSp>
        <p:nvGrpSpPr>
          <p:cNvPr id="9" name="Group 65"/>
          <p:cNvGrpSpPr>
            <a:grpSpLocks/>
          </p:cNvGrpSpPr>
          <p:nvPr/>
        </p:nvGrpSpPr>
        <p:grpSpPr bwMode="auto">
          <a:xfrm>
            <a:off x="6169025" y="3463925"/>
            <a:ext cx="2774950" cy="1217613"/>
            <a:chOff x="3886" y="2182"/>
            <a:chExt cx="1748" cy="767"/>
          </a:xfrm>
        </p:grpSpPr>
        <p:sp>
          <p:nvSpPr>
            <p:cNvPr id="221198" name="AutoShape 56"/>
            <p:cNvSpPr>
              <a:spLocks/>
            </p:cNvSpPr>
            <p:nvPr/>
          </p:nvSpPr>
          <p:spPr bwMode="auto">
            <a:xfrm>
              <a:off x="4633" y="2182"/>
              <a:ext cx="1001" cy="447"/>
            </a:xfrm>
            <a:prstGeom prst="borderCallout2">
              <a:avLst>
                <a:gd name="adj1" fmla="val 16106"/>
                <a:gd name="adj2" fmla="val -4796"/>
                <a:gd name="adj3" fmla="val 16106"/>
                <a:gd name="adj4" fmla="val -25375"/>
                <a:gd name="adj5" fmla="val 136019"/>
                <a:gd name="adj6" fmla="val -46255"/>
              </a:avLst>
            </a:prstGeom>
            <a:solidFill>
              <a:srgbClr val="FFFF99"/>
            </a:solidFill>
            <a:ln w="6350" algn="ctr">
              <a:solidFill>
                <a:srgbClr val="000000"/>
              </a:solidFill>
              <a:miter lim="800000"/>
              <a:headEnd/>
              <a:tailEnd type="triangle" w="med" len="med"/>
            </a:ln>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r>
                <a:rPr lang="fr-FR" altLang="fr-FR" sz="1200">
                  <a:solidFill>
                    <a:schemeClr val="tx1"/>
                  </a:solidFill>
                </a:rPr>
                <a:t>7,2 M€ de production perdue = 1,4 M€ de bénéfice en moins </a:t>
              </a:r>
            </a:p>
          </p:txBody>
        </p:sp>
        <p:sp>
          <p:nvSpPr>
            <p:cNvPr id="221199" name="Oval 58"/>
            <p:cNvSpPr>
              <a:spLocks noChangeArrowheads="1"/>
            </p:cNvSpPr>
            <p:nvPr/>
          </p:nvSpPr>
          <p:spPr bwMode="auto">
            <a:xfrm>
              <a:off x="3886" y="2809"/>
              <a:ext cx="430" cy="140"/>
            </a:xfrm>
            <a:prstGeom prst="ellipse">
              <a:avLst/>
            </a:prstGeom>
            <a:noFill/>
            <a:ln w="6350" algn="ctr">
              <a:solidFill>
                <a:srgbClr val="FC2C1C"/>
              </a:solidFill>
              <a:round/>
              <a:headEnd/>
              <a:tailEnd/>
            </a:ln>
            <a:extLst>
              <a:ext uri="{909E8E84-426E-40DD-AFC4-6F175D3DCCD1}">
                <a14:hiddenFill xmlns:a14="http://schemas.microsoft.com/office/drawing/2010/main">
                  <a:solidFill>
                    <a:srgbClr val="FFFFFF"/>
                  </a:solidFill>
                </a14:hiddenFill>
              </a:ext>
            </a:extLst>
          </p:spPr>
          <p:txBody>
            <a:bodyPr anchor="ctr"/>
            <a:lstStyle>
              <a:lvl1pPr algn="l" eaLnBrk="0" hangingPunct="0">
                <a:spcBef>
                  <a:spcPct val="20000"/>
                </a:spcBef>
                <a:buChar char="•"/>
                <a:defRPr sz="2000">
                  <a:solidFill>
                    <a:schemeClr val="accent2"/>
                  </a:solidFill>
                  <a:latin typeface="Arial" pitchFamily="34" charset="0"/>
                </a:defRPr>
              </a:lvl1pPr>
              <a:lvl2pPr marL="742950" indent="-285750" algn="l" eaLnBrk="0" hangingPunct="0">
                <a:spcBef>
                  <a:spcPct val="20000"/>
                </a:spcBef>
                <a:buChar char="–"/>
                <a:defRPr>
                  <a:solidFill>
                    <a:schemeClr val="accent2"/>
                  </a:solidFill>
                  <a:latin typeface="Arial" pitchFamily="34" charset="0"/>
                </a:defRPr>
              </a:lvl2pPr>
              <a:lvl3pPr marL="1143000" indent="-228600" algn="l" eaLnBrk="0" hangingPunct="0">
                <a:spcBef>
                  <a:spcPct val="20000"/>
                </a:spcBef>
                <a:buChar char="•"/>
                <a:defRPr sz="1600">
                  <a:solidFill>
                    <a:schemeClr val="accent2"/>
                  </a:solidFill>
                  <a:latin typeface="Arial" pitchFamily="34" charset="0"/>
                </a:defRPr>
              </a:lvl3pPr>
              <a:lvl4pPr marL="1600200" indent="-228600" algn="l" eaLnBrk="0" hangingPunct="0">
                <a:spcBef>
                  <a:spcPct val="20000"/>
                </a:spcBef>
                <a:buChar char="–"/>
                <a:defRPr sz="1600">
                  <a:solidFill>
                    <a:schemeClr val="accent2"/>
                  </a:solidFill>
                  <a:latin typeface="Arial" pitchFamily="34" charset="0"/>
                </a:defRPr>
              </a:lvl4pPr>
              <a:lvl5pPr marL="2057400" indent="-228600" algn="l" eaLnBrk="0" hangingPunct="0">
                <a:spcBef>
                  <a:spcPct val="20000"/>
                </a:spcBef>
                <a:buChar char="»"/>
                <a:defRPr sz="1600">
                  <a:solidFill>
                    <a:schemeClr val="accent2"/>
                  </a:solidFill>
                  <a:latin typeface="Arial" pitchFamily="34" charset="0"/>
                </a:defRPr>
              </a:lvl5pPr>
              <a:lvl6pPr marL="2514600" indent="-228600" eaLnBrk="0" fontAlgn="base" hangingPunct="0">
                <a:spcBef>
                  <a:spcPct val="20000"/>
                </a:spcBef>
                <a:spcAft>
                  <a:spcPct val="0"/>
                </a:spcAft>
                <a:buChar char="»"/>
                <a:defRPr sz="1600">
                  <a:solidFill>
                    <a:schemeClr val="accent2"/>
                  </a:solidFill>
                  <a:latin typeface="Arial" pitchFamily="34" charset="0"/>
                </a:defRPr>
              </a:lvl6pPr>
              <a:lvl7pPr marL="2971800" indent="-228600" eaLnBrk="0" fontAlgn="base" hangingPunct="0">
                <a:spcBef>
                  <a:spcPct val="20000"/>
                </a:spcBef>
                <a:spcAft>
                  <a:spcPct val="0"/>
                </a:spcAft>
                <a:buChar char="»"/>
                <a:defRPr sz="1600">
                  <a:solidFill>
                    <a:schemeClr val="accent2"/>
                  </a:solidFill>
                  <a:latin typeface="Arial" pitchFamily="34" charset="0"/>
                </a:defRPr>
              </a:lvl7pPr>
              <a:lvl8pPr marL="3429000" indent="-228600" eaLnBrk="0" fontAlgn="base" hangingPunct="0">
                <a:spcBef>
                  <a:spcPct val="20000"/>
                </a:spcBef>
                <a:spcAft>
                  <a:spcPct val="0"/>
                </a:spcAft>
                <a:buChar char="»"/>
                <a:defRPr sz="1600">
                  <a:solidFill>
                    <a:schemeClr val="accent2"/>
                  </a:solidFill>
                  <a:latin typeface="Arial" pitchFamily="34" charset="0"/>
                </a:defRPr>
              </a:lvl8pPr>
              <a:lvl9pPr marL="3886200" indent="-228600" eaLnBrk="0" fontAlgn="base" hangingPunct="0">
                <a:spcBef>
                  <a:spcPct val="20000"/>
                </a:spcBef>
                <a:spcAft>
                  <a:spcPct val="0"/>
                </a:spcAft>
                <a:buChar char="»"/>
                <a:defRPr sz="1600">
                  <a:solidFill>
                    <a:schemeClr val="accent2"/>
                  </a:solidFill>
                  <a:latin typeface="Arial" pitchFamily="34" charset="0"/>
                </a:defRPr>
              </a:lvl9pPr>
            </a:lstStyle>
            <a:p>
              <a:pPr algn="ctr" eaLnBrk="1" hangingPunct="1">
                <a:spcBef>
                  <a:spcPct val="0"/>
                </a:spcBef>
                <a:buFontTx/>
                <a:buNone/>
              </a:pPr>
              <a:endParaRPr lang="fr-FR" altLang="fr-FR" sz="1300">
                <a:solidFill>
                  <a:schemeClr val="tx1"/>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ox(in)">
                                      <p:cBhvr>
                                        <p:cTn id="12" dur="500"/>
                                        <p:tgtEl>
                                          <p:spTgt spid="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box(in)">
                                      <p:cBhvr>
                                        <p:cTn id="17" dur="5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box(in)">
                                      <p:cBhvr>
                                        <p:cTn id="22" dur="500"/>
                                        <p:tgtEl>
                                          <p:spTgt spid="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box(in)">
                                      <p:cBhvr>
                                        <p:cTn id="27" dur="500"/>
                                        <p:tgtEl>
                                          <p:spTgt spid="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box(in)">
                                      <p:cBhvr>
                                        <p:cTn id="32" dur="500"/>
                                        <p:tgtEl>
                                          <p:spTgt spid="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box(in)">
                                      <p:cBhvr>
                                        <p:cTn id="37" dur="500"/>
                                        <p:tgtEl>
                                          <p:spTgt spid="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box(in)">
                                      <p:cBhvr>
                                        <p:cTn id="4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Modèle par défaut">
  <a:themeElements>
    <a:clrScheme name="Modèle par défaut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Modèle par défau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6350" cap="flat" cmpd="sng" algn="ctr">
          <a:solidFill>
            <a:schemeClr val="tx2"/>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fr-FR" sz="13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noFill/>
        <a:ln w="6350" cap="flat" cmpd="sng" algn="ctr">
          <a:solidFill>
            <a:schemeClr val="tx2"/>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fr-FR" sz="13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Modèle par défaut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Modèle par défaut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Modèle par défaut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Modèle par défaut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Modèle par défaut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Modèle par défaut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Modèle par défaut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Thème Offic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hème Offic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10720</TotalTime>
  <Words>15311</Words>
  <Application>Microsoft Office PowerPoint</Application>
  <PresentationFormat>Affichage à l'écran (4:3)</PresentationFormat>
  <Paragraphs>1904</Paragraphs>
  <Slides>215</Slides>
  <Notes>215</Notes>
  <HiddenSlides>4</HiddenSlides>
  <MMClips>0</MMClips>
  <ScaleCrop>false</ScaleCrop>
  <HeadingPairs>
    <vt:vector size="6" baseType="variant">
      <vt:variant>
        <vt:lpstr>Polices utilisées</vt:lpstr>
      </vt:variant>
      <vt:variant>
        <vt:i4>6</vt:i4>
      </vt:variant>
      <vt:variant>
        <vt:lpstr>Thème</vt:lpstr>
      </vt:variant>
      <vt:variant>
        <vt:i4>1</vt:i4>
      </vt:variant>
      <vt:variant>
        <vt:lpstr>Titres des diapositives</vt:lpstr>
      </vt:variant>
      <vt:variant>
        <vt:i4>215</vt:i4>
      </vt:variant>
    </vt:vector>
  </HeadingPairs>
  <TitlesOfParts>
    <vt:vector size="222" baseType="lpstr">
      <vt:lpstr>Arial</vt:lpstr>
      <vt:lpstr>Arial Black</vt:lpstr>
      <vt:lpstr>Calibri</vt:lpstr>
      <vt:lpstr>Palatino</vt:lpstr>
      <vt:lpstr>Times New Roman</vt:lpstr>
      <vt:lpstr>Wingdings</vt:lpstr>
      <vt:lpstr>Modèle par défaut</vt:lpstr>
      <vt:lpstr>Présentation PowerPoint</vt:lpstr>
      <vt:lpstr>Préambule</vt:lpstr>
      <vt:lpstr>Sommaire du diaporama</vt:lpstr>
      <vt:lpstr>Règles du jeu pour l’animateur</vt:lpstr>
      <vt:lpstr>Objectif du jeu</vt:lpstr>
      <vt:lpstr>Variante financière</vt:lpstr>
      <vt:lpstr>Vue d’ensemble de la simulation</vt:lpstr>
      <vt:lpstr>Déroulement de la simulation</vt:lpstr>
      <vt:lpstr>Vue d’ensemble de la simulation</vt:lpstr>
      <vt:lpstr>Vue d’ensemble de la simulation</vt:lpstr>
      <vt:lpstr>Vue d’ensemble de la simulation</vt:lpstr>
      <vt:lpstr>Vue d’ensemble de la simulation</vt:lpstr>
      <vt:lpstr>Diapos Incidents</vt:lpstr>
      <vt:lpstr>Diapos Questions</vt:lpstr>
      <vt:lpstr>Tableau de bord</vt:lpstr>
      <vt:lpstr>Affiche Tableau de bord</vt:lpstr>
      <vt:lpstr>Horaire</vt:lpstr>
      <vt:lpstr>Variante sans ticket Kanban</vt:lpstr>
      <vt:lpstr>Participants</vt:lpstr>
      <vt:lpstr>Check List du matériel</vt:lpstr>
      <vt:lpstr>Check List du matériel</vt:lpstr>
      <vt:lpstr>Préparation de la salle</vt:lpstr>
      <vt:lpstr>Présentation de l’entreprise</vt:lpstr>
      <vt:lpstr>Présentation PowerPoint</vt:lpstr>
      <vt:lpstr>Votre mission : améliorer les performances de l’usine</vt:lpstr>
      <vt:lpstr>Les ventes</vt:lpstr>
      <vt:lpstr>La composition des produits</vt:lpstr>
      <vt:lpstr>La fabrication</vt:lpstr>
      <vt:lpstr>Les flux de fabrication</vt:lpstr>
      <vt:lpstr>Les cadences de fabrication</vt:lpstr>
      <vt:lpstr>Les prix et les coûts</vt:lpstr>
      <vt:lpstr>Les approvisionnements</vt:lpstr>
      <vt:lpstr>Les problèmes</vt:lpstr>
      <vt:lpstr>Les réglages en début de partie</vt:lpstr>
      <vt:lpstr>La mesure des performances</vt:lpstr>
      <vt:lpstr>Suivi de la production et des livraisons</vt:lpstr>
      <vt:lpstr>Questions pratiques</vt:lpstr>
      <vt:lpstr>Implantation de la table</vt:lpstr>
      <vt:lpstr>Rangement des pièces dans les conteneurs</vt:lpstr>
      <vt:lpstr>Les stocks en début de partie</vt:lpstr>
      <vt:lpstr>Produire</vt:lpstr>
      <vt:lpstr>C’est le moment d’installer votre usine.  Vérifiez que vous avez reçu :</vt:lpstr>
      <vt:lpstr>Ce qui vous est demandé :</vt:lpstr>
      <vt:lpstr>Calcul des besoins</vt:lpstr>
      <vt:lpstr>Les informations</vt:lpstr>
      <vt:lpstr>Conseils pour la phase de préparation</vt:lpstr>
      <vt:lpstr>Début de la simulation</vt:lpstr>
      <vt:lpstr>Sem. 1 - Lundi (St Léonard)</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1 - Mardi (Ste Carine)</vt:lpstr>
      <vt:lpstr>Présentation PowerPoint</vt:lpstr>
      <vt:lpstr>Présentation PowerPoint</vt:lpstr>
      <vt:lpstr>Présentation PowerPoint</vt:lpstr>
      <vt:lpstr>Présentation PowerPoint</vt:lpstr>
      <vt:lpstr>Présentation PowerPoint</vt:lpstr>
      <vt:lpstr>Présentation PowerPoint</vt:lpstr>
      <vt:lpstr>Question</vt:lpstr>
      <vt:lpstr>Présentation PowerPoint</vt:lpstr>
      <vt:lpstr>Sem. 1 - Mercredi (St Geoffroy)</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1 - Jeudi (St Théodore)</vt:lpstr>
      <vt:lpstr>Présentation PowerPoint</vt:lpstr>
      <vt:lpstr>Présentation PowerPoint</vt:lpstr>
      <vt:lpstr>Présentation PowerPoint</vt:lpstr>
      <vt:lpstr>Présentation PowerPoint</vt:lpstr>
      <vt:lpstr>Présentation PowerPoint</vt:lpstr>
      <vt:lpstr>Question</vt:lpstr>
      <vt:lpstr>Présentation PowerPoint</vt:lpstr>
      <vt:lpstr>Présentation PowerPoint</vt:lpstr>
      <vt:lpstr>Bilan de la semaine 1</vt:lpstr>
      <vt:lpstr>Calcul des indicateurs</vt:lpstr>
      <vt:lpstr>Résultats</vt:lpstr>
      <vt:lpstr>Affichage des résultats (voir fichier Excel)</vt:lpstr>
      <vt:lpstr>Préparation de la semaine 2</vt:lpstr>
      <vt:lpstr>La méthode Kanban pour l’usinage</vt:lpstr>
      <vt:lpstr>La méthode Kanban : exemple pour le montage d’un R5</vt:lpstr>
      <vt:lpstr>La méthode Kanban</vt:lpstr>
      <vt:lpstr>Le nombre de tickets Kanban</vt:lpstr>
      <vt:lpstr>C’est le moment d’installer votre système Kanban. Recevez pour chaque table :</vt:lpstr>
      <vt:lpstr>2. Les progrès</vt:lpstr>
      <vt:lpstr>Enregistrement des progrès</vt:lpstr>
      <vt:lpstr>Enregistrement des progrès (diapo destinée à l’animateur)</vt:lpstr>
      <vt:lpstr>Reprise de la simulation</vt:lpstr>
      <vt:lpstr>Sem. 2 - Lundi (St Brice)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2 - Mardi (Ste Sidoine)</vt:lpstr>
      <vt:lpstr>Présentation PowerPoint</vt:lpstr>
      <vt:lpstr>Présentation PowerPoint</vt:lpstr>
      <vt:lpstr>Présentation PowerPoint</vt:lpstr>
      <vt:lpstr>Présentation PowerPoint</vt:lpstr>
      <vt:lpstr>Présentation PowerPoint</vt:lpstr>
      <vt:lpstr>Présentation PowerPoint</vt:lpstr>
      <vt:lpstr>Question</vt:lpstr>
      <vt:lpstr>Présentation PowerPoint</vt:lpstr>
      <vt:lpstr>Enregistrement des progrès</vt:lpstr>
      <vt:lpstr>Ajustement des stocks</vt:lpstr>
      <vt:lpstr>Sem. 2 - Mercredi (fêtes de la dynastie)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2 - Jeudi (Ste Marguerite)</vt:lpstr>
      <vt:lpstr>Présentation PowerPoint</vt:lpstr>
      <vt:lpstr>Présentation PowerPoint</vt:lpstr>
      <vt:lpstr>Présentation PowerPoint</vt:lpstr>
      <vt:lpstr>Présentation PowerPoint</vt:lpstr>
      <vt:lpstr>Présentation PowerPoint</vt:lpstr>
      <vt:lpstr>Question</vt:lpstr>
      <vt:lpstr>Présentation PowerPoint</vt:lpstr>
      <vt:lpstr>Présentation PowerPoint</vt:lpstr>
      <vt:lpstr>Bilan de la semaine 2</vt:lpstr>
      <vt:lpstr>Affichage des résultats (voir fichier Excel)</vt:lpstr>
      <vt:lpstr>Enregistrement des progrès</vt:lpstr>
      <vt:lpstr>Sem. 3 - Lundi (St Edmond)</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3 - Mardi</vt:lpstr>
      <vt:lpstr>Présentation PowerPoint</vt:lpstr>
      <vt:lpstr>Présentation PowerPoint</vt:lpstr>
      <vt:lpstr>Présentation PowerPoint</vt:lpstr>
      <vt:lpstr>Présentation PowerPoint</vt:lpstr>
      <vt:lpstr>Présentation PowerPoint</vt:lpstr>
      <vt:lpstr>Présentation PowerPoint</vt:lpstr>
      <vt:lpstr>Question</vt:lpstr>
      <vt:lpstr>Présentation PowerPoint</vt:lpstr>
      <vt:lpstr>Ajustement des stocks</vt:lpstr>
      <vt:lpstr>Enregistrement des progrès</vt:lpstr>
      <vt:lpstr>Sem. 3 - Mercredi (Ste Cécile)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Sem. 3 - Jeudi (St Clément)</vt:lpstr>
      <vt:lpstr>Présentation PowerPoint</vt:lpstr>
      <vt:lpstr>Présentation PowerPoint</vt:lpstr>
      <vt:lpstr>Présentation PowerPoint</vt:lpstr>
      <vt:lpstr>Présentation PowerPoint</vt:lpstr>
      <vt:lpstr>Question</vt:lpstr>
      <vt:lpstr>Présentation PowerPoint</vt:lpstr>
      <vt:lpstr>Présentation PowerPoint</vt:lpstr>
      <vt:lpstr>Présentation PowerPoint</vt:lpstr>
      <vt:lpstr>Bilan de la semaine 3</vt:lpstr>
      <vt:lpstr>Affichage des résultats</vt:lpstr>
      <vt:lpstr>Sem. 4 - Lundi (St Séverin)</vt:lpstr>
      <vt:lpstr>Sem. 4 - Lundi</vt:lpstr>
      <vt:lpstr>Sem. 4 - Lundi</vt:lpstr>
      <vt:lpstr>Sem. 4 - Lundi</vt:lpstr>
      <vt:lpstr>Sem. 4 - Lundi</vt:lpstr>
      <vt:lpstr>Sem. 4 - Lundi</vt:lpstr>
      <vt:lpstr>Sem. 4 - Lundi</vt:lpstr>
      <vt:lpstr>Sem. 4 - Lundi</vt:lpstr>
      <vt:lpstr>Sem. 4 - Mardi (St Jacques de la Manche)</vt:lpstr>
      <vt:lpstr>Sem. 4 - Mardi</vt:lpstr>
      <vt:lpstr>Sem. 4 - Mardi</vt:lpstr>
      <vt:lpstr>Sem. 4 - Mardi</vt:lpstr>
      <vt:lpstr>Sem. 4 – Mardi</vt:lpstr>
      <vt:lpstr>Sem. 4 - Mardi</vt:lpstr>
      <vt:lpstr>Sem. 4 - Mardi</vt:lpstr>
      <vt:lpstr>Question</vt:lpstr>
      <vt:lpstr>Sem. 4 - Mardi</vt:lpstr>
      <vt:lpstr>Ajustement des stocks</vt:lpstr>
      <vt:lpstr>Enregistrement des progrès</vt:lpstr>
      <vt:lpstr>Sem. 4 - Mercredi (St Saturnin)</vt:lpstr>
      <vt:lpstr>Sem. 4 - Mercredi</vt:lpstr>
      <vt:lpstr>Sem. 4 - Mercredi</vt:lpstr>
      <vt:lpstr>Sem. 4 - Mercredi</vt:lpstr>
      <vt:lpstr>Sem. 4 - Mercredi</vt:lpstr>
      <vt:lpstr>Sem. 4 - Mercredi</vt:lpstr>
      <vt:lpstr>Sem. 4 - Mercredi</vt:lpstr>
      <vt:lpstr>Sem. 4 - Mercredi</vt:lpstr>
      <vt:lpstr>Sem. 4 - Jeudi (St André)</vt:lpstr>
      <vt:lpstr>Sem. 4 - Jeudi</vt:lpstr>
      <vt:lpstr>Sem. 4 - Jeudi</vt:lpstr>
      <vt:lpstr>Sem. 4 - Jeudi</vt:lpstr>
      <vt:lpstr>Sem. 4 - Jeudi</vt:lpstr>
      <vt:lpstr>Sem. 4 - Jeudi</vt:lpstr>
      <vt:lpstr>Question</vt:lpstr>
      <vt:lpstr>Sem. 4 - Jeudi</vt:lpstr>
      <vt:lpstr>Sem. 4 - Jeudi</vt:lpstr>
      <vt:lpstr>Bilan de la semaine 4</vt:lpstr>
      <vt:lpstr>Debriefing</vt:lpstr>
      <vt:lpstr>Quelle stratégie de progrès ?</vt:lpstr>
      <vt:lpstr>Présentation PowerPoint</vt:lpstr>
      <vt:lpstr>Variante financière</vt:lpstr>
      <vt:lpstr>L’impact financier des performances</vt:lpstr>
      <vt:lpstr>Utilisation de la feuille de calcul</vt:lpstr>
    </vt:vector>
  </TitlesOfParts>
  <Company>PROCONSEIL</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PowerPoint</dc:title>
  <dc:creator>CIPE</dc:creator>
  <cp:lastModifiedBy>Stéphane JAUBERT</cp:lastModifiedBy>
  <cp:revision>289</cp:revision>
  <cp:lastPrinted>2015-02-16T11:03:36Z</cp:lastPrinted>
  <dcterms:created xsi:type="dcterms:W3CDTF">2002-08-09T10:40:13Z</dcterms:created>
  <dcterms:modified xsi:type="dcterms:W3CDTF">2026-02-06T07:04:02Z</dcterms:modified>
</cp:coreProperties>
</file>
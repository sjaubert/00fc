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18"/>
  </p:notesMasterIdLst>
  <p:handoutMasterIdLst>
    <p:handoutMasterId r:id="rId19"/>
  </p:handoutMasterIdLst>
  <p:sldIdLst>
    <p:sldId id="263" r:id="rId2"/>
    <p:sldId id="282" r:id="rId3"/>
    <p:sldId id="283" r:id="rId4"/>
    <p:sldId id="284" r:id="rId5"/>
    <p:sldId id="285" r:id="rId6"/>
    <p:sldId id="280" r:id="rId7"/>
    <p:sldId id="287" r:id="rId8"/>
    <p:sldId id="292" r:id="rId9"/>
    <p:sldId id="288" r:id="rId10"/>
    <p:sldId id="295" r:id="rId11"/>
    <p:sldId id="299" r:id="rId12"/>
    <p:sldId id="300" r:id="rId13"/>
    <p:sldId id="302" r:id="rId14"/>
    <p:sldId id="301" r:id="rId15"/>
    <p:sldId id="294" r:id="rId16"/>
    <p:sldId id="281" r:id="rId17"/>
  </p:sldIdLst>
  <p:sldSz cx="9144000" cy="5715000" type="screen16x10"/>
  <p:notesSz cx="6858000" cy="9144000"/>
  <p:defaultTextStyle>
    <a:defPPr>
      <a:defRPr lang="fr-FR"/>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ndrianina AMADOU" initials="NA" lastIdx="1" clrIdx="0">
    <p:extLst>
      <p:ext uri="{19B8F6BF-5375-455C-9EA6-DF929625EA0E}">
        <p15:presenceInfo xmlns:p15="http://schemas.microsoft.com/office/powerpoint/2012/main" userId="Nandrianina AMADO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9"/>
    <a:srgbClr val="FFF9FD"/>
    <a:srgbClr val="FEFDF5"/>
    <a:srgbClr val="FF6600"/>
    <a:srgbClr val="990000"/>
    <a:srgbClr val="CC00F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21471" autoAdjust="0"/>
    <p:restoredTop sz="56407" autoAdjust="0"/>
  </p:normalViewPr>
  <p:slideViewPr>
    <p:cSldViewPr snapToGrid="0">
      <p:cViewPr>
        <p:scale>
          <a:sx n="75" d="100"/>
          <a:sy n="75" d="100"/>
        </p:scale>
        <p:origin x="826" y="-54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9" d="100"/>
          <a:sy n="69" d="100"/>
        </p:scale>
        <p:origin x="308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gradFill flip="none" rotWithShape="1">
          <a:gsLst>
            <a:gs pos="0">
              <a:srgbClr val="FFFF00"/>
            </a:gs>
            <a:gs pos="83000">
              <a:srgbClr val="FFFF00">
                <a:tint val="44500"/>
                <a:satMod val="160000"/>
                <a:lumMod val="79000"/>
                <a:lumOff val="21000"/>
              </a:srgbClr>
            </a:gs>
            <a:gs pos="100000">
              <a:srgbClr val="FFFF00">
                <a:tint val="23500"/>
                <a:satMod val="160000"/>
              </a:srgbClr>
            </a:gs>
          </a:gsLst>
          <a:lin ang="13500000" scaled="1"/>
          <a:tileRect/>
        </a:gradFill>
      </dgm:spPr>
      <dgm:t>
        <a:bodyPr/>
        <a:lstStyle/>
        <a:p>
          <a:r>
            <a:rPr lang="fr-FR" b="1" dirty="0" smtClean="0">
              <a:solidFill>
                <a:schemeClr val="tx1"/>
              </a:solidFill>
            </a:rPr>
            <a:t>1/ Cadrage</a:t>
          </a:r>
          <a:endParaRPr lang="fr-FR" b="1" dirty="0">
            <a:solidFill>
              <a:schemeClr val="tx1"/>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545A213F-2155-4C03-BFCB-104553601256}">
      <dgm:prSet phldrT="[Texte]" custT="1"/>
      <dgm:spPr/>
      <dgm:t>
        <a:bodyPr/>
        <a:lstStyle/>
        <a:p>
          <a:r>
            <a:rPr lang="fr-FR" sz="1100" b="1" dirty="0" smtClean="0"/>
            <a:t> Définir le problème</a:t>
          </a:r>
          <a:endParaRPr lang="fr-FR" sz="1100" b="1" dirty="0"/>
        </a:p>
      </dgm:t>
    </dgm:pt>
    <dgm:pt modelId="{110A4B37-79A1-4C59-8E50-805B0146A490}" type="parTrans" cxnId="{42D630F0-9497-4945-B20F-14798412D2AB}">
      <dgm:prSet/>
      <dgm:spPr/>
      <dgm:t>
        <a:bodyPr/>
        <a:lstStyle/>
        <a:p>
          <a:endParaRPr lang="fr-FR"/>
        </a:p>
      </dgm:t>
    </dgm:pt>
    <dgm:pt modelId="{F0972DE1-D1E4-4708-9EE8-32DA828CA920}" type="sibTrans" cxnId="{42D630F0-9497-4945-B20F-14798412D2AB}">
      <dgm:prSet/>
      <dgm:spPr/>
      <dgm:t>
        <a:bodyPr/>
        <a:lstStyle/>
        <a:p>
          <a:endParaRPr lang="fr-FR"/>
        </a:p>
      </dgm:t>
    </dgm:pt>
    <dgm:pt modelId="{F2CB097B-1C1C-4376-BD18-28E4F1115DBE}">
      <dgm:prSet phldrT="[Texte]"/>
      <dgm:spPr>
        <a:noFill/>
        <a:ln w="9525">
          <a:solidFill>
            <a:schemeClr val="tx1"/>
          </a:solidFill>
        </a:ln>
      </dgm:spPr>
      <dgm:t>
        <a:bodyPr/>
        <a:lstStyle/>
        <a:p>
          <a:r>
            <a:rPr lang="fr-FR" b="0" dirty="0" smtClean="0">
              <a:solidFill>
                <a:schemeClr val="bg1">
                  <a:lumMod val="50000"/>
                </a:schemeClr>
              </a:solidFill>
            </a:rPr>
            <a:t>2/ Analyse</a:t>
          </a:r>
          <a:endParaRPr lang="fr-FR" b="0" dirty="0">
            <a:solidFill>
              <a:schemeClr val="bg1">
                <a:lumMod val="50000"/>
              </a:schemeClr>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noFill/>
        <a:ln>
          <a:solidFill>
            <a:schemeClr val="tx1"/>
          </a:solidFill>
        </a:ln>
      </dgm:spPr>
      <dgm:t>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 </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CBC57992-1D9B-4F1A-BEC0-36A068C7F52E}" type="pres">
      <dgm:prSet presAssocID="{169848FD-5959-4585-8CCA-FE4E05AB5F19}" presName="child1group" presStyleCnt="0"/>
      <dgm:spPr/>
    </dgm:pt>
    <dgm:pt modelId="{CA9CE49F-810F-4F80-9342-A77493580008}" type="pres">
      <dgm:prSet presAssocID="{169848FD-5959-4585-8CCA-FE4E05AB5F19}" presName="child1" presStyleLbl="bgAcc1" presStyleIdx="0" presStyleCnt="1" custScaleX="133218" custScaleY="29450" custLinFactNeighborX="2357" custLinFactNeighborY="-11430"/>
      <dgm:spPr/>
      <dgm:t>
        <a:bodyPr/>
        <a:lstStyle/>
        <a:p>
          <a:endParaRPr lang="fr-FR"/>
        </a:p>
      </dgm:t>
    </dgm:pt>
    <dgm:pt modelId="{882B1E0E-C0FD-4F3D-844F-C74899053C15}" type="pres">
      <dgm:prSet presAssocID="{169848FD-5959-4585-8CCA-FE4E05AB5F19}" presName="child1Text" presStyleLbl="bgAcc1" presStyleIdx="0" presStyleCnt="1">
        <dgm:presLayoutVars>
          <dgm:bulletEnabled val="1"/>
        </dgm:presLayoutVars>
      </dgm:prSet>
      <dgm:spPr/>
      <dgm:t>
        <a:bodyPr/>
        <a:lstStyle/>
        <a:p>
          <a:endParaRPr lang="fr-FR"/>
        </a:p>
      </dgm:t>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5F1FBC42-52D7-46DB-8584-05FF17A6BF6D}" type="presOf" srcId="{545A213F-2155-4C03-BFCB-104553601256}" destId="{882B1E0E-C0FD-4F3D-844F-C74899053C15}" srcOrd="1" destOrd="0" presId="urn:microsoft.com/office/officeart/2005/8/layout/cycle4"/>
    <dgm:cxn modelId="{3F1D0D1D-D44A-4A2A-AD10-F326B1497FB2}" srcId="{169848FD-5959-4585-8CCA-FE4E05AB5F19}" destId="{C1B4313F-9EDF-46D3-865D-ED7D1B3ED70F}" srcOrd="3" destOrd="0" parTransId="{088A3019-A1F5-415B-A3F6-98EB842144C2}" sibTransId="{C3AE3F5A-D990-4793-92E9-61C915E06FC4}"/>
    <dgm:cxn modelId="{D687298A-27AC-4A82-B87C-DB4E74198ABF}" type="presOf" srcId="{169848FD-5959-4585-8CCA-FE4E05AB5F19}" destId="{5CD38043-69DA-4206-9EB2-0B17A5BF2336}" srcOrd="0" destOrd="0" presId="urn:microsoft.com/office/officeart/2005/8/layout/cycle4"/>
    <dgm:cxn modelId="{A8598291-6B90-4901-9969-EDDF81BF4EA1}" type="presOf" srcId="{F2CB097B-1C1C-4376-BD18-28E4F1115DBE}" destId="{8D432D36-AC94-424C-9260-76605356F92C}" srcOrd="0" destOrd="0" presId="urn:microsoft.com/office/officeart/2005/8/layout/cycle4"/>
    <dgm:cxn modelId="{17ED5F81-D9D4-4B17-9677-A21591564C64}" type="presOf" srcId="{C1B4313F-9EDF-46D3-865D-ED7D1B3ED70F}" destId="{5C916EA5-8EFD-448B-8F90-D9F726E310F8}"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DFFE7D8F-9AFA-40C0-8E71-A9F499C5D27C}" srcId="{169848FD-5959-4585-8CCA-FE4E05AB5F19}" destId="{B0DE0E2E-31BF-47F0-B1C1-C9F856A07CF7}" srcOrd="2" destOrd="0" parTransId="{A3B307D1-625D-4442-9295-3353540D44C5}" sibTransId="{D5356DFD-B6CC-4057-8013-9DEEA1C7494A}"/>
    <dgm:cxn modelId="{F662818F-E38D-4BDB-8D86-E359B7BFEAD2}" type="presOf" srcId="{B0DE0E2E-31BF-47F0-B1C1-C9F856A07CF7}" destId="{B8150CF8-3BD7-4944-BA8A-F74823759992}" srcOrd="0" destOrd="0" presId="urn:microsoft.com/office/officeart/2005/8/layout/cycle4"/>
    <dgm:cxn modelId="{02E9278A-AAE7-40C5-9420-9EFA4F86FF43}" type="presOf" srcId="{C6C4D920-FB24-4947-99F3-9FC465D821CB}" destId="{A19941CB-262B-4BB1-939B-03D23C82AF39}" srcOrd="0" destOrd="0" presId="urn:microsoft.com/office/officeart/2005/8/layout/cycle4"/>
    <dgm:cxn modelId="{49264B39-22B2-456F-94C4-FDE558B8B3DF}" type="presOf" srcId="{545A213F-2155-4C03-BFCB-104553601256}" destId="{CA9CE49F-810F-4F80-9342-A77493580008}" srcOrd="0" destOrd="0" presId="urn:microsoft.com/office/officeart/2005/8/layout/cycle4"/>
    <dgm:cxn modelId="{F9ACA9AC-425E-43B0-9C22-44BCD9E05501}" srcId="{169848FD-5959-4585-8CCA-FE4E05AB5F19}" destId="{C6C4D920-FB24-4947-99F3-9FC465D821CB}" srcOrd="0" destOrd="0" parTransId="{4F9565C2-CE8F-4DE2-AAF6-DB74CAEE3B88}" sibTransId="{9F5AB75A-DE0E-4A65-A96E-CB3B9410CB01}"/>
    <dgm:cxn modelId="{42D630F0-9497-4945-B20F-14798412D2AB}" srcId="{C6C4D920-FB24-4947-99F3-9FC465D821CB}" destId="{545A213F-2155-4C03-BFCB-104553601256}" srcOrd="0" destOrd="0" parTransId="{110A4B37-79A1-4C59-8E50-805B0146A490}" sibTransId="{F0972DE1-D1E4-4708-9EE8-32DA828CA920}"/>
    <dgm:cxn modelId="{252653F0-6588-43C1-A4E2-678D34059B8B}" type="presParOf" srcId="{5CD38043-69DA-4206-9EB2-0B17A5BF2336}" destId="{6443AF5F-ED4F-495E-B1E5-34ED1A8B2E94}" srcOrd="0" destOrd="0" presId="urn:microsoft.com/office/officeart/2005/8/layout/cycle4"/>
    <dgm:cxn modelId="{02DB3871-F005-4850-9BB9-73B9D686CA94}" type="presParOf" srcId="{6443AF5F-ED4F-495E-B1E5-34ED1A8B2E94}" destId="{CBC57992-1D9B-4F1A-BEC0-36A068C7F52E}" srcOrd="0" destOrd="0" presId="urn:microsoft.com/office/officeart/2005/8/layout/cycle4"/>
    <dgm:cxn modelId="{EF908585-767D-43D2-AE37-CBF5A573E7E6}" type="presParOf" srcId="{CBC57992-1D9B-4F1A-BEC0-36A068C7F52E}" destId="{CA9CE49F-810F-4F80-9342-A77493580008}" srcOrd="0" destOrd="0" presId="urn:microsoft.com/office/officeart/2005/8/layout/cycle4"/>
    <dgm:cxn modelId="{A2C0902E-5CAF-4D22-B37F-FB001658C89B}" type="presParOf" srcId="{CBC57992-1D9B-4F1A-BEC0-36A068C7F52E}" destId="{882B1E0E-C0FD-4F3D-844F-C74899053C15}" srcOrd="1" destOrd="0" presId="urn:microsoft.com/office/officeart/2005/8/layout/cycle4"/>
    <dgm:cxn modelId="{5E365EF6-8419-4430-A292-2950E2C3CF7C}" type="presParOf" srcId="{6443AF5F-ED4F-495E-B1E5-34ED1A8B2E94}" destId="{3E404949-70EA-4853-A34A-FE124F571C8B}" srcOrd="1" destOrd="0" presId="urn:microsoft.com/office/officeart/2005/8/layout/cycle4"/>
    <dgm:cxn modelId="{390E182B-08B8-4366-A132-D45FE3CBC2FE}" type="presParOf" srcId="{5CD38043-69DA-4206-9EB2-0B17A5BF2336}" destId="{1AE2EE9F-B9BF-48EB-9150-403559C3FA1F}" srcOrd="1" destOrd="0" presId="urn:microsoft.com/office/officeart/2005/8/layout/cycle4"/>
    <dgm:cxn modelId="{8336A645-EF63-431C-8DFD-6059B9EFB465}" type="presParOf" srcId="{1AE2EE9F-B9BF-48EB-9150-403559C3FA1F}" destId="{A19941CB-262B-4BB1-939B-03D23C82AF39}" srcOrd="0" destOrd="0" presId="urn:microsoft.com/office/officeart/2005/8/layout/cycle4"/>
    <dgm:cxn modelId="{A0BE2F4D-38DC-4475-BE4F-3858C5D48DE8}" type="presParOf" srcId="{1AE2EE9F-B9BF-48EB-9150-403559C3FA1F}" destId="{8D432D36-AC94-424C-9260-76605356F92C}" srcOrd="1" destOrd="0" presId="urn:microsoft.com/office/officeart/2005/8/layout/cycle4"/>
    <dgm:cxn modelId="{5F4863BF-06AF-47F0-9498-FF7660CB0200}" type="presParOf" srcId="{1AE2EE9F-B9BF-48EB-9150-403559C3FA1F}" destId="{B8150CF8-3BD7-4944-BA8A-F74823759992}" srcOrd="2" destOrd="0" presId="urn:microsoft.com/office/officeart/2005/8/layout/cycle4"/>
    <dgm:cxn modelId="{F0DCCF4C-5A25-47B1-A385-CCA3F870151A}" type="presParOf" srcId="{1AE2EE9F-B9BF-48EB-9150-403559C3FA1F}" destId="{5C916EA5-8EFD-448B-8F90-D9F726E310F8}" srcOrd="3" destOrd="0" presId="urn:microsoft.com/office/officeart/2005/8/layout/cycle4"/>
    <dgm:cxn modelId="{96FC0188-083E-4C1F-868F-1DE4AC006320}" type="presParOf" srcId="{1AE2EE9F-B9BF-48EB-9150-403559C3FA1F}" destId="{37C01172-B574-47F8-B2F5-B98A791A9AE0}" srcOrd="4" destOrd="0" presId="urn:microsoft.com/office/officeart/2005/8/layout/cycle4"/>
    <dgm:cxn modelId="{91C76C3A-CF7A-44E0-9DB9-3674B950A0A8}" type="presParOf" srcId="{5CD38043-69DA-4206-9EB2-0B17A5BF2336}" destId="{4F38D613-0F56-459E-95F6-EFB03060E4C9}" srcOrd="2" destOrd="0" presId="urn:microsoft.com/office/officeart/2005/8/layout/cycle4"/>
    <dgm:cxn modelId="{91BA680A-C4C6-48AF-847F-EAB3420C3983}"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9CE49F-810F-4F80-9342-A77493580008}">
      <dsp:nvSpPr>
        <dsp:cNvPr id="0" name=""/>
        <dsp:cNvSpPr/>
      </dsp:nvSpPr>
      <dsp:spPr>
        <a:xfrm>
          <a:off x="304282" y="280161"/>
          <a:ext cx="2416300" cy="346016"/>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fr-FR" sz="1100" b="1" kern="1200" dirty="0" smtClean="0"/>
            <a:t> Définir le problème</a:t>
          </a:r>
          <a:endParaRPr lang="fr-FR" sz="1100" b="1" kern="1200" dirty="0"/>
        </a:p>
      </dsp:txBody>
      <dsp:txXfrm>
        <a:off x="311883" y="287762"/>
        <a:ext cx="1676208" cy="244310"/>
      </dsp:txXfrm>
    </dsp:sp>
    <dsp:sp modelId="{A19941CB-262B-4BB1-939B-03D23C82AF39}">
      <dsp:nvSpPr>
        <dsp:cNvPr id="0" name=""/>
        <dsp:cNvSpPr/>
      </dsp:nvSpPr>
      <dsp:spPr>
        <a:xfrm>
          <a:off x="1172188" y="209283"/>
          <a:ext cx="1589823" cy="1589823"/>
        </a:xfrm>
        <a:prstGeom prst="pieWedge">
          <a:avLst/>
        </a:prstGeom>
        <a:gradFill flip="none" rotWithShape="1">
          <a:gsLst>
            <a:gs pos="0">
              <a:srgbClr val="FFFF00"/>
            </a:gs>
            <a:gs pos="83000">
              <a:srgbClr val="FFFF00">
                <a:tint val="44500"/>
                <a:satMod val="160000"/>
                <a:lumMod val="79000"/>
                <a:lumOff val="21000"/>
              </a:srgbClr>
            </a:gs>
            <a:gs pos="100000">
              <a:srgbClr val="FFFF00">
                <a:tint val="23500"/>
                <a:satMod val="160000"/>
              </a:srgbClr>
            </a:gs>
          </a:gsLst>
          <a:lin ang="13500000" scaled="1"/>
          <a:tileRect/>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fr-FR" sz="1700" b="1" kern="1200" dirty="0" smtClean="0">
              <a:solidFill>
                <a:schemeClr val="tx1"/>
              </a:solidFill>
            </a:rPr>
            <a:t>1/ Cadrage</a:t>
          </a:r>
          <a:endParaRPr lang="fr-FR" sz="1700" b="1" kern="1200" dirty="0">
            <a:solidFill>
              <a:schemeClr val="tx1"/>
            </a:solidFill>
          </a:endParaRPr>
        </a:p>
      </dsp:txBody>
      <dsp:txXfrm>
        <a:off x="1637836" y="674931"/>
        <a:ext cx="1124175" cy="1124175"/>
      </dsp:txXfrm>
    </dsp:sp>
    <dsp:sp modelId="{8D432D36-AC94-424C-9260-76605356F92C}">
      <dsp:nvSpPr>
        <dsp:cNvPr id="0" name=""/>
        <dsp:cNvSpPr/>
      </dsp:nvSpPr>
      <dsp:spPr>
        <a:xfrm rot="5400000">
          <a:off x="2835445" y="209283"/>
          <a:ext cx="1589823" cy="1589823"/>
        </a:xfrm>
        <a:prstGeom prst="pieWedge">
          <a:avLst/>
        </a:prstGeom>
        <a:noFill/>
        <a:ln w="9525">
          <a:solidFill>
            <a:schemeClr val="tx1"/>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fr-FR" sz="1700" b="0" kern="1200" dirty="0" smtClean="0">
              <a:solidFill>
                <a:schemeClr val="bg1">
                  <a:lumMod val="50000"/>
                </a:schemeClr>
              </a:solidFill>
            </a:rPr>
            <a:t>2/ Analyse</a:t>
          </a:r>
          <a:endParaRPr lang="fr-FR" sz="1700" b="0" kern="1200" dirty="0">
            <a:solidFill>
              <a:schemeClr val="bg1">
                <a:lumMod val="50000"/>
              </a:schemeClr>
            </a:solidFill>
          </a:endParaRPr>
        </a:p>
      </dsp:txBody>
      <dsp:txXfrm rot="-5400000">
        <a:off x="2835445" y="674931"/>
        <a:ext cx="1124175" cy="1124175"/>
      </dsp:txXfrm>
    </dsp:sp>
    <dsp:sp modelId="{B8150CF8-3BD7-4944-BA8A-F74823759992}">
      <dsp:nvSpPr>
        <dsp:cNvPr id="0" name=""/>
        <dsp:cNvSpPr/>
      </dsp:nvSpPr>
      <dsp:spPr>
        <a:xfrm rot="10800000">
          <a:off x="2835445" y="1872540"/>
          <a:ext cx="1589823" cy="1589823"/>
        </a:xfrm>
        <a:prstGeom prst="pieWedge">
          <a:avLst/>
        </a:prstGeom>
        <a:noFill/>
        <a:ln>
          <a:solidFill>
            <a:schemeClr val="tx1"/>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fr-FR" sz="1700" b="0" kern="1200" dirty="0" smtClean="0">
              <a:solidFill>
                <a:schemeClr val="bg1">
                  <a:lumMod val="50000"/>
                </a:schemeClr>
              </a:solidFill>
            </a:rPr>
            <a:t>3/ Solution</a:t>
          </a:r>
          <a:endParaRPr lang="fr-FR" sz="1700" b="0" kern="1200" dirty="0">
            <a:solidFill>
              <a:schemeClr val="bg1">
                <a:lumMod val="50000"/>
              </a:schemeClr>
            </a:solidFill>
          </a:endParaRPr>
        </a:p>
      </dsp:txBody>
      <dsp:txXfrm rot="10800000">
        <a:off x="2835445" y="1872540"/>
        <a:ext cx="1124175" cy="1124175"/>
      </dsp:txXfrm>
    </dsp:sp>
    <dsp:sp modelId="{5C916EA5-8EFD-448B-8F90-D9F726E310F8}">
      <dsp:nvSpPr>
        <dsp:cNvPr id="0" name=""/>
        <dsp:cNvSpPr/>
      </dsp:nvSpPr>
      <dsp:spPr>
        <a:xfrm rot="16200000">
          <a:off x="1172188" y="1872540"/>
          <a:ext cx="1589823" cy="1589823"/>
        </a:xfrm>
        <a:prstGeom prst="pieWedge">
          <a:avLst/>
        </a:prstGeom>
        <a:noFill/>
        <a:ln>
          <a:solidFill>
            <a:schemeClr val="tx1"/>
          </a:solid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0904" tIns="120904" rIns="120904" bIns="120904" numCol="1" spcCol="1270" anchor="ctr" anchorCtr="0">
          <a:noAutofit/>
        </a:bodyPr>
        <a:lstStyle/>
        <a:p>
          <a:pPr lvl="0" algn="ctr" defTabSz="755650">
            <a:lnSpc>
              <a:spcPct val="90000"/>
            </a:lnSpc>
            <a:spcBef>
              <a:spcPct val="0"/>
            </a:spcBef>
            <a:spcAft>
              <a:spcPct val="35000"/>
            </a:spcAft>
          </a:pPr>
          <a:r>
            <a:rPr lang="fr-FR" sz="1700" b="0" kern="1200" dirty="0" smtClean="0">
              <a:solidFill>
                <a:schemeClr val="bg1">
                  <a:lumMod val="50000"/>
                </a:schemeClr>
              </a:solidFill>
            </a:rPr>
            <a:t>4/ </a:t>
          </a:r>
        </a:p>
        <a:p>
          <a:pPr lvl="0" algn="ctr" defTabSz="755650">
            <a:lnSpc>
              <a:spcPct val="90000"/>
            </a:lnSpc>
            <a:spcBef>
              <a:spcPct val="0"/>
            </a:spcBef>
            <a:spcAft>
              <a:spcPct val="35000"/>
            </a:spcAft>
          </a:pPr>
          <a:r>
            <a:rPr lang="fr-FR" sz="1700" b="0" kern="1200" dirty="0" smtClean="0">
              <a:solidFill>
                <a:schemeClr val="bg1">
                  <a:lumMod val="50000"/>
                </a:schemeClr>
              </a:solidFill>
            </a:rPr>
            <a:t>Action</a:t>
          </a:r>
          <a:endParaRPr lang="fr-FR" sz="1700" b="0" kern="1200" dirty="0">
            <a:solidFill>
              <a:schemeClr val="bg1">
                <a:lumMod val="50000"/>
              </a:schemeClr>
            </a:solidFill>
          </a:endParaRPr>
        </a:p>
      </dsp:txBody>
      <dsp:txXfrm rot="5400000">
        <a:off x="1637836" y="1872540"/>
        <a:ext cx="1124175" cy="1124175"/>
      </dsp:txXfrm>
    </dsp:sp>
    <dsp:sp modelId="{4F38D613-0F56-459E-95F6-EFB03060E4C9}">
      <dsp:nvSpPr>
        <dsp:cNvPr id="0" name=""/>
        <dsp:cNvSpPr/>
      </dsp:nvSpPr>
      <dsp:spPr>
        <a:xfrm>
          <a:off x="2524273" y="1505375"/>
          <a:ext cx="548911" cy="477314"/>
        </a:xfrm>
        <a:prstGeom prst="circularArrow">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A0C021CE-CCB8-4B36-BE25-91EE9AB42E20}">
      <dsp:nvSpPr>
        <dsp:cNvPr id="0" name=""/>
        <dsp:cNvSpPr/>
      </dsp:nvSpPr>
      <dsp:spPr>
        <a:xfrm rot="10800000">
          <a:off x="2524273" y="1688958"/>
          <a:ext cx="548911" cy="477314"/>
        </a:xfrm>
        <a:prstGeom prst="circularArrow">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69378B-8C34-47D2-880C-748361953433}" type="datetimeFigureOut">
              <a:rPr lang="fr-FR" smtClean="0"/>
              <a:t>30/03/2014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23B298-73EA-485C-9A59-554FB1B444E3}" type="slidenum">
              <a:rPr lang="fr-FR" smtClean="0"/>
              <a:t>‹N°›</a:t>
            </a:fld>
            <a:endParaRPr lang="fr-FR"/>
          </a:p>
        </p:txBody>
      </p:sp>
    </p:spTree>
    <p:extLst>
      <p:ext uri="{BB962C8B-B14F-4D97-AF65-F5344CB8AC3E}">
        <p14:creationId xmlns:p14="http://schemas.microsoft.com/office/powerpoint/2010/main" val="1094051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Shape 2"/>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smtClean="0"/>
            </a:lvl1pPr>
          </a:lstStyle>
          <a:p>
            <a:pPr>
              <a:defRPr/>
            </a:pPr>
            <a:endParaRPr lang="fr-FR"/>
          </a:p>
        </p:txBody>
      </p:sp>
      <p:sp>
        <p:nvSpPr>
          <p:cNvPr id="13315" name="Shape 3"/>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smtClean="0"/>
            </a:lvl1pPr>
          </a:lstStyle>
          <a:p>
            <a:pPr>
              <a:defRPr/>
            </a:pPr>
            <a:endParaRPr lang="fr-FR"/>
          </a:p>
        </p:txBody>
      </p:sp>
      <p:sp>
        <p:nvSpPr>
          <p:cNvPr id="13316" name="Shape 4"/>
          <p:cNvSpPr>
            <a:spLocks noGrp="1" noRot="1" noChangeAspect="1"/>
          </p:cNvSpPr>
          <p:nvPr>
            <p:ph type="sldImg" idx="3"/>
          </p:nvPr>
        </p:nvSpPr>
        <p:spPr bwMode="auto">
          <a:xfrm>
            <a:off x="685800" y="685800"/>
            <a:ext cx="5486400" cy="3429000"/>
          </a:xfrm>
          <a:custGeom>
            <a:avLst/>
            <a:gdLst>
              <a:gd name="T0" fmla="*/ 0 w 120000"/>
              <a:gd name="T1" fmla="*/ 0 h 120000"/>
              <a:gd name="T2" fmla="*/ 5486400 w 120000"/>
              <a:gd name="T3" fmla="*/ 0 h 120000"/>
              <a:gd name="T4" fmla="*/ 54864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cap="flat">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5" name="Shape 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pPr lvl="0"/>
            <a:endParaRPr noProof="0"/>
          </a:p>
        </p:txBody>
      </p:sp>
      <p:sp>
        <p:nvSpPr>
          <p:cNvPr id="13318" name="Shape 6"/>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mtClean="0"/>
            </a:lvl1pPr>
          </a:lstStyle>
          <a:p>
            <a:pPr>
              <a:defRPr/>
            </a:pPr>
            <a:endParaRPr lang="fr-FR"/>
          </a:p>
        </p:txBody>
      </p:sp>
      <p:sp>
        <p:nvSpPr>
          <p:cNvPr id="13319" name="Shape 7"/>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algn="r" eaLnBrk="1" hangingPunct="1">
              <a:defRPr smtClean="0"/>
            </a:lvl1pPr>
          </a:lstStyle>
          <a:p>
            <a:pPr>
              <a:defRPr/>
            </a:pPr>
            <a:endParaRPr lang="fr-FR"/>
          </a:p>
        </p:txBody>
      </p:sp>
    </p:spTree>
    <p:extLst>
      <p:ext uri="{BB962C8B-B14F-4D97-AF65-F5344CB8AC3E}">
        <p14:creationId xmlns:p14="http://schemas.microsoft.com/office/powerpoint/2010/main" val="3440948641"/>
      </p:ext>
    </p:extLst>
  </p:cSld>
  <p:clrMap bg1="lt1" tx1="dk1" bg2="dk2"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Agir sur la base d’information </a:t>
            </a:r>
            <a:r>
              <a:rPr lang="fr-FR" baseline="0" dirty="0" smtClean="0"/>
              <a:t>fiables ? Quelques</a:t>
            </a:r>
            <a:r>
              <a:rPr lang="fr-FR" sz="1200" b="0" i="1" kern="1200" dirty="0" smtClean="0">
                <a:solidFill>
                  <a:schemeClr val="tx1"/>
                </a:solidFill>
                <a:effectLst/>
                <a:latin typeface="+mn-lt"/>
                <a:ea typeface="+mn-ea"/>
                <a:cs typeface="+mn-cs"/>
              </a:rPr>
              <a:t> </a:t>
            </a:r>
            <a:r>
              <a:rPr lang="fr-FR" sz="1200" b="1" i="1" kern="1200" dirty="0" smtClean="0">
                <a:solidFill>
                  <a:schemeClr val="tx1"/>
                </a:solidFill>
                <a:effectLst/>
                <a:latin typeface="+mn-lt"/>
                <a:ea typeface="+mn-ea"/>
                <a:cs typeface="+mn-cs"/>
              </a:rPr>
              <a:t>méthodes</a:t>
            </a:r>
            <a:r>
              <a:rPr lang="fr-FR" sz="1200" b="0" i="1" kern="1200" dirty="0" smtClean="0">
                <a:solidFill>
                  <a:schemeClr val="tx1"/>
                </a:solidFill>
                <a:effectLst/>
                <a:latin typeface="+mn-lt"/>
                <a:ea typeface="+mn-ea"/>
                <a:cs typeface="+mn-cs"/>
              </a:rPr>
              <a:t> ayant pour objectif le </a:t>
            </a:r>
            <a:r>
              <a:rPr lang="fr-FR" sz="1200" b="1" i="1" kern="1200" dirty="0" smtClean="0">
                <a:solidFill>
                  <a:schemeClr val="tx1"/>
                </a:solidFill>
                <a:effectLst/>
                <a:latin typeface="+mn-lt"/>
                <a:ea typeface="+mn-ea"/>
                <a:cs typeface="+mn-cs"/>
              </a:rPr>
              <a:t>recueil</a:t>
            </a:r>
            <a:r>
              <a:rPr lang="fr-FR" sz="1200" b="0" i="1" kern="1200" dirty="0" smtClean="0">
                <a:solidFill>
                  <a:schemeClr val="tx1"/>
                </a:solidFill>
                <a:effectLst/>
                <a:latin typeface="+mn-lt"/>
                <a:ea typeface="+mn-ea"/>
                <a:cs typeface="+mn-cs"/>
              </a:rPr>
              <a:t> et le </a:t>
            </a:r>
            <a:r>
              <a:rPr lang="fr-FR" sz="1200" b="1" i="1" kern="1200" dirty="0" smtClean="0">
                <a:solidFill>
                  <a:schemeClr val="tx1"/>
                </a:solidFill>
                <a:effectLst/>
                <a:latin typeface="+mn-lt"/>
                <a:ea typeface="+mn-ea"/>
                <a:cs typeface="+mn-cs"/>
              </a:rPr>
              <a:t>traitement des données</a:t>
            </a:r>
            <a:r>
              <a:rPr lang="fr-FR" sz="1200" b="0" i="1" kern="1200" dirty="0" smtClean="0">
                <a:solidFill>
                  <a:schemeClr val="tx1"/>
                </a:solidFill>
                <a:effectLst/>
                <a:latin typeface="+mn-lt"/>
                <a:ea typeface="+mn-ea"/>
                <a:cs typeface="+mn-cs"/>
              </a:rPr>
              <a:t>. Le but de cette famille d’outils est 1/de rassembler un ensemble d'éléments </a:t>
            </a:r>
            <a:r>
              <a:rPr lang="fr-FR" sz="1200" b="1" i="1" kern="1200" dirty="0" smtClean="0">
                <a:solidFill>
                  <a:schemeClr val="tx1"/>
                </a:solidFill>
                <a:effectLst/>
                <a:latin typeface="+mn-lt"/>
                <a:ea typeface="+mn-ea"/>
                <a:cs typeface="+mn-cs"/>
              </a:rPr>
              <a:t>quantitatifs</a:t>
            </a:r>
            <a:r>
              <a:rPr lang="fr-FR" sz="1200" b="0" i="1" kern="1200" dirty="0" smtClean="0">
                <a:solidFill>
                  <a:schemeClr val="tx1"/>
                </a:solidFill>
                <a:effectLst/>
                <a:latin typeface="+mn-lt"/>
                <a:ea typeface="+mn-ea"/>
                <a:cs typeface="+mn-cs"/>
              </a:rPr>
              <a:t> et </a:t>
            </a:r>
            <a:r>
              <a:rPr lang="fr-FR" sz="1200" b="1" i="1" kern="1200" dirty="0" smtClean="0">
                <a:solidFill>
                  <a:schemeClr val="tx1"/>
                </a:solidFill>
                <a:effectLst/>
                <a:latin typeface="+mn-lt"/>
                <a:ea typeface="+mn-ea"/>
                <a:cs typeface="+mn-cs"/>
              </a:rPr>
              <a:t>qualitatifs</a:t>
            </a:r>
            <a:r>
              <a:rPr lang="fr-FR" sz="1200" b="0" i="1" kern="1200" dirty="0" smtClean="0">
                <a:solidFill>
                  <a:schemeClr val="tx1"/>
                </a:solidFill>
                <a:effectLst/>
                <a:latin typeface="+mn-lt"/>
                <a:ea typeface="+mn-ea"/>
                <a:cs typeface="+mn-cs"/>
              </a:rPr>
              <a:t> 2/pour en extraire </a:t>
            </a:r>
            <a:r>
              <a:rPr lang="fr-FR" sz="1200" b="1" i="1" kern="1200" dirty="0" smtClean="0">
                <a:solidFill>
                  <a:schemeClr val="tx1"/>
                </a:solidFill>
                <a:effectLst/>
                <a:latin typeface="+mn-lt"/>
                <a:ea typeface="+mn-ea"/>
                <a:cs typeface="+mn-cs"/>
              </a:rPr>
              <a:t>l'information</a:t>
            </a:r>
            <a:r>
              <a:rPr lang="fr-FR" sz="1200" b="0" i="1" kern="1200" dirty="0" smtClean="0">
                <a:solidFill>
                  <a:schemeClr val="tx1"/>
                </a:solidFill>
                <a:effectLst/>
                <a:latin typeface="+mn-lt"/>
                <a:ea typeface="+mn-ea"/>
                <a:cs typeface="+mn-cs"/>
              </a:rPr>
              <a:t> utile 3/ communiquer pour aider la </a:t>
            </a:r>
            <a:r>
              <a:rPr lang="fr-FR" sz="1200" b="1" i="1" kern="1200" dirty="0" smtClean="0">
                <a:solidFill>
                  <a:schemeClr val="tx1"/>
                </a:solidFill>
                <a:effectLst/>
                <a:latin typeface="+mn-lt"/>
                <a:ea typeface="+mn-ea"/>
                <a:cs typeface="+mn-cs"/>
              </a:rPr>
              <a:t>prise de</a:t>
            </a:r>
            <a:r>
              <a:rPr lang="fr-FR" sz="1200" b="0" i="1" kern="1200" dirty="0" smtClean="0">
                <a:solidFill>
                  <a:schemeClr val="tx1"/>
                </a:solidFill>
                <a:effectLst/>
                <a:latin typeface="+mn-lt"/>
                <a:ea typeface="+mn-ea"/>
                <a:cs typeface="+mn-cs"/>
              </a:rPr>
              <a:t> </a:t>
            </a:r>
            <a:r>
              <a:rPr lang="fr-FR" sz="1200" b="1" i="1" kern="1200" dirty="0" smtClean="0">
                <a:solidFill>
                  <a:schemeClr val="tx1"/>
                </a:solidFill>
                <a:effectLst/>
                <a:latin typeface="+mn-lt"/>
                <a:ea typeface="+mn-ea"/>
                <a:cs typeface="+mn-cs"/>
              </a:rPr>
              <a:t>décision</a:t>
            </a:r>
            <a:r>
              <a:rPr lang="fr-FR" sz="1200" b="0" i="1" kern="1200" dirty="0" smtClean="0">
                <a:solidFill>
                  <a:schemeClr val="tx1"/>
                </a:solidFill>
                <a:effectLst/>
                <a:latin typeface="+mn-lt"/>
                <a:ea typeface="+mn-ea"/>
                <a:cs typeface="+mn-cs"/>
              </a:rPr>
              <a:t>.</a:t>
            </a:r>
            <a:endParaRPr lang="fr-FR" baseline="0" dirty="0" smtClean="0"/>
          </a:p>
          <a:p>
            <a:endParaRPr lang="fr-FR" baseline="0" dirty="0" smtClean="0"/>
          </a:p>
          <a:p>
            <a:r>
              <a:rPr lang="fr-FR" baseline="0" dirty="0" smtClean="0"/>
              <a:t>L’objectif de cette formation n’est pas de traiter en détail de tous ces problèmes, mais de vous permettre d’aller à l’essentiel lorsque vous avez à conduire la résolution d’un problème</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915819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772858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dirty="0" smtClean="0"/>
              <a:t>Example of polar area diagram by w:Florence Nightingale (1820–1910).</a:t>
            </a:r>
          </a:p>
          <a:p>
            <a:r>
              <a:rPr lang="en-US" dirty="0" smtClean="0"/>
              <a:t>This "Diagram of the causes of mortality in the army in the East" was published in Notes on Matters Affecting the Health, Efficiency, and Hospital Administration of the British Army and sent to Queen Victoria in 1858.</a:t>
            </a:r>
          </a:p>
          <a:p>
            <a:r>
              <a:rPr lang="en-US" dirty="0" smtClean="0"/>
              <a:t>This graphic indicates the number of deaths that </a:t>
            </a:r>
            <a:r>
              <a:rPr lang="en-US" dirty="0" err="1" smtClean="0"/>
              <a:t>occured</a:t>
            </a:r>
            <a:r>
              <a:rPr lang="en-US" dirty="0" smtClean="0"/>
              <a:t> from preventable diseases (in blue), those that were the results of wounds (in red), and those due to other causes (in black).</a:t>
            </a:r>
          </a:p>
          <a:p>
            <a:r>
              <a:rPr lang="en-US" dirty="0" smtClean="0"/>
              <a:t>The legend reads:</a:t>
            </a:r>
          </a:p>
          <a:p>
            <a:r>
              <a:rPr lang="en-US" dirty="0" smtClean="0"/>
              <a:t>The Areas of the blue, red, &amp; black wedges are each measured from the </a:t>
            </a:r>
            <a:r>
              <a:rPr lang="en-US" dirty="0" err="1" smtClean="0"/>
              <a:t>centre</a:t>
            </a:r>
            <a:r>
              <a:rPr lang="en-US" dirty="0" smtClean="0"/>
              <a:t> as the common vertex.</a:t>
            </a:r>
          </a:p>
          <a:p>
            <a:r>
              <a:rPr lang="en-US" dirty="0" smtClean="0"/>
              <a:t>The blue wedges measured from the </a:t>
            </a:r>
            <a:r>
              <a:rPr lang="en-US" dirty="0" err="1" smtClean="0"/>
              <a:t>centre</a:t>
            </a:r>
            <a:r>
              <a:rPr lang="en-US" dirty="0" smtClean="0"/>
              <a:t> of the circle represent area for area the deaths from Preventable or </a:t>
            </a:r>
            <a:r>
              <a:rPr lang="en-US" dirty="0" err="1" smtClean="0"/>
              <a:t>Mitigable</a:t>
            </a:r>
            <a:r>
              <a:rPr lang="en-US" dirty="0" smtClean="0"/>
              <a:t> Zymotic diseases, the red wedges measured from the </a:t>
            </a:r>
            <a:r>
              <a:rPr lang="en-US" dirty="0" err="1" smtClean="0"/>
              <a:t>centre</a:t>
            </a:r>
            <a:r>
              <a:rPr lang="en-US" dirty="0" smtClean="0"/>
              <a:t> the deaths from wounds, &amp; the black wedges measured from the </a:t>
            </a:r>
            <a:r>
              <a:rPr lang="en-US" dirty="0" err="1" smtClean="0"/>
              <a:t>centre</a:t>
            </a:r>
            <a:r>
              <a:rPr lang="en-US" dirty="0" smtClean="0"/>
              <a:t> the deaths from all other causes.</a:t>
            </a:r>
          </a:p>
          <a:p>
            <a:r>
              <a:rPr lang="en-US" dirty="0" smtClean="0"/>
              <a:t>The black line across the red triangle in Nov. 1854 marks the boundary of the deaths from all other causes during the month.</a:t>
            </a:r>
          </a:p>
          <a:p>
            <a:r>
              <a:rPr lang="en-US" dirty="0" smtClean="0"/>
              <a:t>In October 1854, &amp; April 1855, the black area coincides with the red, in January &amp; February 1856, the blue coincides with the black.</a:t>
            </a:r>
          </a:p>
          <a:p>
            <a:r>
              <a:rPr lang="en-US" dirty="0" smtClean="0"/>
              <a:t>The entire areas may be compared by following the blue, the red, &amp; the black lines enclosing them.</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007512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Chaque participant fourni</a:t>
            </a:r>
            <a:r>
              <a:rPr lang="fr-FR" baseline="0" dirty="0" smtClean="0"/>
              <a:t>t des informations, et marques évoluent en fonction du nombre de participants.</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95594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4212431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H_Chapitre 8">
    <p:spTree>
      <p:nvGrpSpPr>
        <p:cNvPr id="1" name="Shape 60"/>
        <p:cNvGrpSpPr/>
        <p:nvPr/>
      </p:nvGrpSpPr>
      <p:grpSpPr>
        <a:xfrm>
          <a:off x="0" y="0"/>
          <a:ext cx="0" cy="0"/>
          <a:chOff x="0" y="0"/>
          <a:chExt cx="0" cy="0"/>
        </a:xfrm>
      </p:grpSpPr>
      <p:sp>
        <p:nvSpPr>
          <p:cNvPr id="4" name="Shape 61"/>
          <p:cNvSpPr/>
          <p:nvPr/>
        </p:nvSpPr>
        <p:spPr>
          <a:xfrm>
            <a:off x="0" y="0"/>
            <a:ext cx="2481263" cy="5723157"/>
          </a:xfrm>
          <a:prstGeom prst="rect">
            <a:avLst/>
          </a:prstGeom>
          <a:gradFill flip="none" rotWithShape="1">
            <a:gsLst>
              <a:gs pos="0">
                <a:srgbClr val="CC00FF">
                  <a:shade val="30000"/>
                  <a:satMod val="115000"/>
                </a:srgbClr>
              </a:gs>
              <a:gs pos="38000">
                <a:srgbClr val="CC00FF">
                  <a:shade val="67500"/>
                  <a:satMod val="115000"/>
                </a:srgbClr>
              </a:gs>
              <a:gs pos="100000">
                <a:schemeClr val="bg1"/>
              </a:gs>
            </a:gsLst>
            <a:lin ang="18900000" scaled="1"/>
            <a:tileRect/>
          </a:gradFill>
          <a:ln>
            <a:noFill/>
          </a:ln>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481263" y="1269999"/>
            <a:ext cx="6535740" cy="4206875"/>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Tree>
    <p:extLst>
      <p:ext uri="{BB962C8B-B14F-4D97-AF65-F5344CB8AC3E}">
        <p14:creationId xmlns:p14="http://schemas.microsoft.com/office/powerpoint/2010/main" val="82642213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H_Chapitre 8">
    <p:spTree>
      <p:nvGrpSpPr>
        <p:cNvPr id="1" name="Shape 60"/>
        <p:cNvGrpSpPr/>
        <p:nvPr/>
      </p:nvGrpSpPr>
      <p:grpSpPr>
        <a:xfrm>
          <a:off x="0" y="0"/>
          <a:ext cx="0" cy="0"/>
          <a:chOff x="0" y="0"/>
          <a:chExt cx="0" cy="0"/>
        </a:xfrm>
      </p:grpSpPr>
      <p:sp>
        <p:nvSpPr>
          <p:cNvPr id="4" name="Shape 61"/>
          <p:cNvSpPr/>
          <p:nvPr/>
        </p:nvSpPr>
        <p:spPr>
          <a:xfrm>
            <a:off x="0" y="0"/>
            <a:ext cx="2481263" cy="5723157"/>
          </a:xfrm>
          <a:prstGeom prst="rect">
            <a:avLst/>
          </a:prstGeom>
          <a:gradFill flip="none" rotWithShape="1">
            <a:gsLst>
              <a:gs pos="0">
                <a:srgbClr val="CC00FF">
                  <a:shade val="30000"/>
                  <a:satMod val="115000"/>
                </a:srgbClr>
              </a:gs>
              <a:gs pos="38000">
                <a:srgbClr val="CC00FF">
                  <a:shade val="67500"/>
                  <a:satMod val="115000"/>
                </a:srgbClr>
              </a:gs>
              <a:gs pos="100000">
                <a:schemeClr val="bg1"/>
              </a:gs>
            </a:gsLst>
            <a:lin ang="18900000" scaled="1"/>
            <a:tileRect/>
          </a:gradFill>
          <a:ln>
            <a:noFill/>
          </a:ln>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481263" y="1269999"/>
            <a:ext cx="6535740" cy="4206875"/>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242888" y="3309938"/>
            <a:ext cx="2235200" cy="1723549"/>
          </a:xfrm>
          <a:prstGeom prst="rect">
            <a:avLst/>
          </a:prstGeom>
          <a:noFill/>
        </p:spPr>
        <p:txBody>
          <a:bodyPr>
            <a:spAutoFit/>
          </a:bodyPr>
          <a:lstStyle/>
          <a:p>
            <a:pPr marL="171450" indent="-1714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    </a:t>
            </a:r>
            <a:r>
              <a:rPr lang="fr-FR" sz="1200" kern="0" dirty="0" smtClean="0">
                <a:latin typeface="Calibri" panose="020F0502020204030204" pitchFamily="34" charset="0"/>
                <a:ea typeface="Arial"/>
                <a:cs typeface="Arial"/>
                <a:sym typeface="Arial"/>
                <a:rtl val="0"/>
              </a:rPr>
              <a:t>Vocation</a:t>
            </a:r>
          </a:p>
          <a:p>
            <a:pPr marL="171450" indent="-171450" eaLnBrk="1" fontAlgn="auto" hangingPunct="1">
              <a:spcBef>
                <a:spcPts val="0"/>
              </a:spcBef>
              <a:spcAft>
                <a:spcPts val="0"/>
              </a:spcAft>
              <a:buFont typeface="Wingdings" panose="05000000000000000000" pitchFamily="2" charset="2"/>
              <a:buChar char="q"/>
              <a:defRPr/>
            </a:pPr>
            <a:endParaRPr lang="fr-FR" sz="1200" kern="0" dirty="0" smtClean="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baseline="0" dirty="0" smtClean="0">
                <a:latin typeface="Calibri" panose="020F0502020204030204" pitchFamily="34" charset="0"/>
                <a:ea typeface="Arial"/>
                <a:cs typeface="Arial"/>
                <a:sym typeface="Arial"/>
                <a:rtl val="0"/>
              </a:rPr>
              <a:t> </a:t>
            </a:r>
            <a:r>
              <a:rPr lang="fr-FR" sz="1200" kern="0" dirty="0" smtClean="0">
                <a:latin typeface="Arial"/>
                <a:ea typeface="Arial"/>
                <a:cs typeface="Arial"/>
                <a:sym typeface="Wingdings" panose="05000000000000000000" pitchFamily="2" charset="2"/>
                <a:rtl val="0"/>
              </a:rPr>
              <a:t>  </a:t>
            </a:r>
            <a:r>
              <a:rPr lang="fr-FR" sz="1200" kern="0" dirty="0" smtClean="0">
                <a:latin typeface="Calibri" panose="020F0502020204030204" pitchFamily="34" charset="0"/>
                <a:ea typeface="Arial"/>
                <a:cs typeface="Arial"/>
                <a:sym typeface="Wingdings" panose="05000000000000000000" pitchFamily="2" charset="2"/>
                <a:rtl val="0"/>
              </a:rPr>
              <a:t>Méthodologie</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200" kern="0" dirty="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dirty="0" smtClean="0">
                <a:latin typeface="Calibri" panose="020F0502020204030204" pitchFamily="34" charset="0"/>
                <a:ea typeface="Arial"/>
                <a:cs typeface="Arial"/>
                <a:sym typeface="Arial"/>
                <a:rtl val="0"/>
              </a:rPr>
              <a:t>    Exploitation</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p:txBody>
      </p:sp>
    </p:spTree>
    <p:extLst>
      <p:ext uri="{BB962C8B-B14F-4D97-AF65-F5344CB8AC3E}">
        <p14:creationId xmlns:p14="http://schemas.microsoft.com/office/powerpoint/2010/main" val="20251994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H_Chapitre 8">
    <p:spTree>
      <p:nvGrpSpPr>
        <p:cNvPr id="1" name="Shape 60"/>
        <p:cNvGrpSpPr/>
        <p:nvPr/>
      </p:nvGrpSpPr>
      <p:grpSpPr>
        <a:xfrm>
          <a:off x="0" y="0"/>
          <a:ext cx="0" cy="0"/>
          <a:chOff x="0" y="0"/>
          <a:chExt cx="0" cy="0"/>
        </a:xfrm>
      </p:grpSpPr>
      <p:sp>
        <p:nvSpPr>
          <p:cNvPr id="4" name="Shape 61"/>
          <p:cNvSpPr/>
          <p:nvPr/>
        </p:nvSpPr>
        <p:spPr>
          <a:xfrm>
            <a:off x="0" y="0"/>
            <a:ext cx="2481263" cy="5723157"/>
          </a:xfrm>
          <a:prstGeom prst="rect">
            <a:avLst/>
          </a:prstGeom>
          <a:gradFill flip="none" rotWithShape="1">
            <a:gsLst>
              <a:gs pos="0">
                <a:schemeClr val="bg1"/>
              </a:gs>
              <a:gs pos="21000">
                <a:srgbClr val="FFC000"/>
              </a:gs>
              <a:gs pos="100000">
                <a:srgbClr val="FF6600"/>
              </a:gs>
            </a:gsLst>
            <a:lin ang="18900000" scaled="1"/>
            <a:tileRect/>
          </a:gradFill>
          <a:ln>
            <a:noFill/>
          </a:ln>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7" name="Shape 66"/>
          <p:cNvSpPr txBox="1"/>
          <p:nvPr/>
        </p:nvSpPr>
        <p:spPr>
          <a:xfrm>
            <a:off x="250825" y="1982788"/>
            <a:ext cx="2160588" cy="384175"/>
          </a:xfrm>
          <a:prstGeom prst="rect">
            <a:avLst/>
          </a:prstGeom>
          <a:noFill/>
          <a:ln>
            <a:noFill/>
          </a:ln>
        </p:spPr>
        <p:txBody>
          <a:bodyPr lIns="101583" tIns="50778" rIns="101583" bIns="50778"/>
          <a:lstStyle/>
          <a:p>
            <a:pPr eaLnBrk="1" fontAlgn="auto" hangingPunct="1">
              <a:spcBef>
                <a:spcPts val="0"/>
              </a:spcBef>
              <a:spcAft>
                <a:spcPts val="0"/>
              </a:spcAft>
              <a:buSzPct val="25000"/>
              <a:defRPr/>
            </a:pPr>
            <a:r>
              <a:rPr lang="fr-CH" sz="2111" kern="0" dirty="0">
                <a:solidFill>
                  <a:schemeClr val="dk1"/>
                </a:solidFill>
                <a:latin typeface="Calibri"/>
                <a:ea typeface="Calibri"/>
                <a:cs typeface="Calibri"/>
                <a:sym typeface="Calibri"/>
                <a:rtl val="0"/>
              </a:rPr>
              <a:t>Dr. Rémi Bachelet</a:t>
            </a:r>
          </a:p>
        </p:txBody>
      </p:sp>
      <p:sp>
        <p:nvSpPr>
          <p:cNvPr id="8" name="Shape 67"/>
          <p:cNvSpPr txBox="1"/>
          <p:nvPr/>
        </p:nvSpPr>
        <p:spPr>
          <a:xfrm>
            <a:off x="255588" y="2333625"/>
            <a:ext cx="2117725" cy="523875"/>
          </a:xfrm>
          <a:prstGeom prst="rect">
            <a:avLst/>
          </a:prstGeom>
          <a:noFill/>
          <a:ln>
            <a:noFill/>
          </a:ln>
        </p:spPr>
        <p:txBody>
          <a:bodyPr lIns="101583" tIns="50778" rIns="101583" bIns="50778"/>
          <a:lstStyle/>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Maître de conférences</a:t>
            </a:r>
          </a:p>
          <a:p>
            <a:pPr algn="ctr" eaLnBrk="1" fontAlgn="auto" hangingPunct="1">
              <a:spcBef>
                <a:spcPts val="0"/>
              </a:spcBef>
              <a:spcAft>
                <a:spcPts val="0"/>
              </a:spcAft>
              <a:buSzPct val="25000"/>
              <a:defRPr/>
            </a:pPr>
            <a:r>
              <a:rPr lang="fr-CH" sz="1556" kern="0" dirty="0">
                <a:solidFill>
                  <a:schemeClr val="dk1"/>
                </a:solidFill>
                <a:latin typeface="Calibri"/>
                <a:ea typeface="Calibri"/>
                <a:cs typeface="Calibri"/>
                <a:sym typeface="Calibri"/>
                <a:rtl val="0"/>
              </a:rPr>
              <a:t> à Centrale Lille</a:t>
            </a:r>
          </a:p>
        </p:txBody>
      </p:sp>
      <p:pic>
        <p:nvPicPr>
          <p:cNvPr id="9" name="Shape 68"/>
          <p:cNvPicPr preferRelativeResize="0">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481263" y="1269999"/>
            <a:ext cx="6535740" cy="4206875"/>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242888" y="3309938"/>
            <a:ext cx="2235200" cy="1723549"/>
          </a:xfrm>
          <a:prstGeom prst="rect">
            <a:avLst/>
          </a:prstGeom>
          <a:noFill/>
        </p:spPr>
        <p:txBody>
          <a:bodyPr>
            <a:spAutoFit/>
          </a:bodyPr>
          <a:lstStyle/>
          <a:p>
            <a:pPr marL="171450" indent="-1714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    </a:t>
            </a:r>
            <a:r>
              <a:rPr lang="fr-FR" sz="1200" kern="0" dirty="0" smtClean="0">
                <a:latin typeface="Calibri" panose="020F0502020204030204" pitchFamily="34" charset="0"/>
                <a:ea typeface="Arial"/>
                <a:cs typeface="Arial"/>
                <a:sym typeface="Arial"/>
                <a:rtl val="0"/>
              </a:rPr>
              <a:t>Visualisation</a:t>
            </a:r>
          </a:p>
          <a:p>
            <a:pPr marL="171450" indent="-171450" eaLnBrk="1" fontAlgn="auto" hangingPunct="1">
              <a:spcBef>
                <a:spcPts val="0"/>
              </a:spcBef>
              <a:spcAft>
                <a:spcPts val="0"/>
              </a:spcAft>
              <a:buFont typeface="Wingdings" panose="05000000000000000000" pitchFamily="2" charset="2"/>
              <a:buChar char="q"/>
              <a:defRPr/>
            </a:pPr>
            <a:endParaRPr lang="fr-FR" sz="1200" kern="0" dirty="0" smtClean="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baseline="0" dirty="0" smtClean="0">
                <a:latin typeface="Calibri" panose="020F0502020204030204" pitchFamily="34" charset="0"/>
                <a:ea typeface="Arial"/>
                <a:cs typeface="Arial"/>
                <a:sym typeface="Arial"/>
                <a:rtl val="0"/>
              </a:rPr>
              <a:t> </a:t>
            </a:r>
            <a:r>
              <a:rPr lang="fr-FR" sz="1200" kern="0" dirty="0" smtClean="0">
                <a:latin typeface="Arial"/>
                <a:ea typeface="Arial"/>
                <a:cs typeface="Arial"/>
                <a:sym typeface="Wingdings" panose="05000000000000000000" pitchFamily="2" charset="2"/>
                <a:rtl val="0"/>
              </a:rPr>
              <a:t>  </a:t>
            </a:r>
            <a:r>
              <a:rPr lang="fr-FR" sz="1200" kern="0" dirty="0" smtClean="0">
                <a:latin typeface="Calibri" panose="020F0502020204030204" pitchFamily="34" charset="0"/>
                <a:ea typeface="Arial"/>
                <a:cs typeface="Arial"/>
                <a:sym typeface="Wingdings" panose="05000000000000000000" pitchFamily="2" charset="2"/>
                <a:rtl val="0"/>
              </a:rPr>
              <a:t>Exemples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200" kern="0" dirty="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dirty="0" smtClean="0">
                <a:latin typeface="Calibri" panose="020F0502020204030204" pitchFamily="34" charset="0"/>
                <a:ea typeface="Arial"/>
                <a:cs typeface="Arial"/>
                <a:sym typeface="Arial"/>
                <a:rtl val="0"/>
              </a:rPr>
              <a:t>    Outils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p:txBody>
      </p:sp>
    </p:spTree>
    <p:extLst>
      <p:ext uri="{BB962C8B-B14F-4D97-AF65-F5344CB8AC3E}">
        <p14:creationId xmlns:p14="http://schemas.microsoft.com/office/powerpoint/2010/main" val="319601436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7"/>
          <p:cNvSpPr>
            <a:spLocks noChangeArrowheads="1"/>
          </p:cNvSpPr>
          <p:nvPr userDrawn="1"/>
        </p:nvSpPr>
        <p:spPr bwMode="auto">
          <a:xfrm>
            <a:off x="8675688" y="5498042"/>
            <a:ext cx="468312" cy="2169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5000" tIns="39000" rIns="75000" bIns="39000"/>
          <a:lstStyle/>
          <a:p>
            <a:pPr algn="r">
              <a:lnSpc>
                <a:spcPct val="95000"/>
              </a:lnSpc>
              <a:tabLst>
                <a:tab pos="0" algn="l"/>
                <a:tab pos="373048" algn="l"/>
                <a:tab pos="747418" algn="l"/>
                <a:tab pos="1121788" algn="l"/>
                <a:tab pos="1496159" algn="l"/>
                <a:tab pos="1870529" algn="l"/>
                <a:tab pos="2244900" algn="l"/>
                <a:tab pos="2619270" algn="l"/>
                <a:tab pos="2993641" algn="l"/>
                <a:tab pos="3368011" algn="l"/>
                <a:tab pos="3742382" algn="l"/>
                <a:tab pos="4116752" algn="l"/>
                <a:tab pos="4491123" algn="l"/>
                <a:tab pos="4865493" algn="l"/>
                <a:tab pos="5239864" algn="l"/>
                <a:tab pos="5614234" algn="l"/>
                <a:tab pos="5988605" algn="l"/>
                <a:tab pos="6362975" algn="l"/>
                <a:tab pos="6737345" algn="l"/>
                <a:tab pos="7111716" algn="l"/>
                <a:tab pos="7486086" algn="l"/>
              </a:tabLst>
            </a:pPr>
            <a:fld id="{06EA8637-1BB6-434A-A053-40E0344F18EC}" type="slidenum">
              <a:rPr lang="en-GB" sz="1000">
                <a:solidFill>
                  <a:srgbClr val="000000"/>
                </a:solidFill>
              </a:rPr>
              <a:pPr algn="r">
                <a:lnSpc>
                  <a:spcPct val="95000"/>
                </a:lnSpc>
                <a:tabLst>
                  <a:tab pos="0" algn="l"/>
                  <a:tab pos="373048" algn="l"/>
                  <a:tab pos="747418" algn="l"/>
                  <a:tab pos="1121788" algn="l"/>
                  <a:tab pos="1496159" algn="l"/>
                  <a:tab pos="1870529" algn="l"/>
                  <a:tab pos="2244900" algn="l"/>
                  <a:tab pos="2619270" algn="l"/>
                  <a:tab pos="2993641" algn="l"/>
                  <a:tab pos="3368011" algn="l"/>
                  <a:tab pos="3742382" algn="l"/>
                  <a:tab pos="4116752" algn="l"/>
                  <a:tab pos="4491123" algn="l"/>
                  <a:tab pos="4865493" algn="l"/>
                  <a:tab pos="5239864" algn="l"/>
                  <a:tab pos="5614234" algn="l"/>
                  <a:tab pos="5988605" algn="l"/>
                  <a:tab pos="6362975" algn="l"/>
                  <a:tab pos="6737345" algn="l"/>
                  <a:tab pos="7111716" algn="l"/>
                  <a:tab pos="7486086" algn="l"/>
                </a:tabLst>
              </a:pPr>
              <a:t>‹N°›</a:t>
            </a:fld>
            <a:endParaRPr lang="en-GB" sz="1000" dirty="0">
              <a:solidFill>
                <a:srgbClr val="000000"/>
              </a:solidFill>
            </a:endParaRPr>
          </a:p>
        </p:txBody>
      </p:sp>
    </p:spTree>
  </p:cSld>
  <p:clrMap bg1="lt1" tx1="dk1" bg2="dk2" tx2="lt2" accent1="accent1" accent2="accent2" accent3="accent3" accent4="accent4" accent5="accent5" accent6="accent6" hlink="hlink" folHlink="folHlink"/>
  <p:sldLayoutIdLst>
    <p:sldLayoutId id="2147483738" r:id="rId1"/>
    <p:sldLayoutId id="2147483739" r:id="rId2"/>
    <p:sldLayoutId id="2147483740" r:id="rId3"/>
  </p:sldLayoutIdLst>
  <p:timing>
    <p:tnLst>
      <p:par>
        <p:cTn id="1" dur="indefinite" restart="never" nodeType="tmRoot"/>
      </p:par>
    </p:tnLst>
  </p:timing>
  <p:hf hdr="0" ftr="0" dt="0"/>
  <p:txStyles>
    <p:title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commons.wikimedia.org/wiki/File:Diagramme_climatique_de_Brisbane.png"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www.flickr.com/photos/a_dangerous_business/4239958056/sizes/m/in/photostream/" TargetMode="External"/><Relationship Id="rId5" Type="http://schemas.openxmlformats.org/officeDocument/2006/relationships/image" Target="../media/image4.jpeg"/><Relationship Id="rId4" Type="http://schemas.openxmlformats.org/officeDocument/2006/relationships/hyperlink" Target="http://www.flickr.com/photos/have-a-nice-day/2808692757/sizes/l/in/photostrea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File:Automated_weighbridge_for_Ad%C3%A9lie_penguins_-_journal.pone.0085291.g002.png"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pixabay.com/fr/corbeille-des-d%C3%A9chets-ordures-9925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commons.wikimedia.org/wiki/File:PDCA-Cycle.png"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commons.wikimedia.org/wiki/File:Playfair_TimeSeries.png" TargetMode="External"/><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commons.wikimedia.org/wiki/File:Nightingale-mortality.jp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commons.wikimedia.org/wiki/File:Diagramme_climatique_de_Brisbane.png"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hyperlink" Target="http://www.boursier.com/actions/cours/l-oreal-FR0000120321,FR.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insee.fr/fr/themes/document.asp?reg_id=99&amp;ref_id=ip1410&amp;page=graph#graphique2" TargetMode="Externa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hyperlink" Target="https://fr.wikipedia.org/wiki/Diagramme_circulaire" TargetMode="External"/><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hyperlink" Target="https://fr.wikipedia.org/wiki/Diagramme_circulaire"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hyperlink" Target="http://www.nebrwesleyan.edu/events/harvardrel/images/excel.gif" TargetMode="External"/><Relationship Id="rId7" Type="http://schemas.openxmlformats.org/officeDocument/2006/relationships/hyperlink" Target="http://www.gams.com/solvers/excel.gif" TargetMode="External"/><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hyperlink" Target="http://www.adeptscience.co.uk/products/mathsim/mathcad/images/excel.gif" TargetMode="External"/><Relationship Id="rId4" Type="http://schemas.openxmlformats.org/officeDocument/2006/relationships/image" Target="../media/image20.png"/><Relationship Id="rId9" Type="http://schemas.openxmlformats.org/officeDocument/2006/relationships/hyperlink" Target="http://newt.quantumsi.com/pm/support/doc/user/index_all_files/image663.jpg"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rb.ec-lille.fr/Cours_de_recueil_analyse_et_traitement_de_donnees.htm" TargetMode="External"/><Relationship Id="rId2" Type="http://schemas.openxmlformats.org/officeDocument/2006/relationships/hyperlink" Target="http://dataparis.io/" TargetMode="External"/><Relationship Id="rId1" Type="http://schemas.openxmlformats.org/officeDocument/2006/relationships/slideLayout" Target="../slideLayouts/slideLayout1.xml"/><Relationship Id="rId4" Type="http://schemas.openxmlformats.org/officeDocument/2006/relationships/image" Target="../media/image2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MRP : Collecte et visualisation de données</a:t>
            </a:r>
          </a:p>
        </p:txBody>
      </p:sp>
      <p:pic>
        <p:nvPicPr>
          <p:cNvPr id="1026" name="Picture 2" descr="http://upload.wikimedia.org/wikipedia/commons/8/8e/Diagramme_climatique_de_Brisbane.png"/>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l="1187" t="2437" r="14838" b="3563"/>
          <a:stretch/>
        </p:blipFill>
        <p:spPr bwMode="auto">
          <a:xfrm>
            <a:off x="3765852" y="1895736"/>
            <a:ext cx="4212000" cy="254854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Diagramme de relevé</a:t>
            </a:r>
            <a:endParaRPr lang="fr-FR" dirty="0"/>
          </a:p>
        </p:txBody>
      </p:sp>
      <p:graphicFrame>
        <p:nvGraphicFramePr>
          <p:cNvPr id="4" name="Diagramme 3"/>
          <p:cNvGraphicFramePr>
            <a:graphicFrameLocks noChangeAspect="1"/>
          </p:cNvGraphicFramePr>
          <p:nvPr>
            <p:extLst>
              <p:ext uri="{D42A27DB-BD31-4B8C-83A1-F6EECF244321}">
                <p14:modId xmlns:p14="http://schemas.microsoft.com/office/powerpoint/2010/main" val="1599668491"/>
              </p:ext>
            </p:extLst>
          </p:nvPr>
        </p:nvGraphicFramePr>
        <p:xfrm>
          <a:off x="2881722" y="1269999"/>
          <a:ext cx="5597458" cy="3671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266912" y="3402814"/>
            <a:ext cx="378043" cy="110392"/>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2489303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Relevé </a:t>
            </a:r>
            <a:r>
              <a:rPr lang="fr-FR" dirty="0"/>
              <a:t>de </a:t>
            </a:r>
            <a:r>
              <a:rPr lang="fr-FR" dirty="0" smtClean="0"/>
              <a:t>données</a:t>
            </a:r>
            <a:endParaRPr lang="fr-FR" dirty="0"/>
          </a:p>
        </p:txBody>
      </p:sp>
      <p:sp>
        <p:nvSpPr>
          <p:cNvPr id="3" name="Espace réservé du texte 2"/>
          <p:cNvSpPr>
            <a:spLocks noGrp="1"/>
          </p:cNvSpPr>
          <p:nvPr>
            <p:ph type="body" idx="1"/>
          </p:nvPr>
        </p:nvSpPr>
        <p:spPr>
          <a:xfrm>
            <a:off x="2632855" y="1269999"/>
            <a:ext cx="6384148" cy="4206875"/>
          </a:xfrm>
        </p:spPr>
        <p:txBody>
          <a:bodyPr/>
          <a:lstStyle/>
          <a:p>
            <a:pPr marL="447675" indent="-285750">
              <a:spcBef>
                <a:spcPts val="300"/>
              </a:spcBef>
              <a:spcAft>
                <a:spcPts val="300"/>
              </a:spcAft>
              <a:buFont typeface="Arial" panose="020B0604020202020204" pitchFamily="34" charset="0"/>
              <a:buChar char="•"/>
            </a:pPr>
            <a:r>
              <a:rPr lang="fr-FR" sz="1800" dirty="0" smtClean="0">
                <a:solidFill>
                  <a:schemeClr val="accent6"/>
                </a:solidFill>
                <a:latin typeface="Calibri" panose="020F0502020204030204" pitchFamily="34" charset="0"/>
              </a:rPr>
              <a:t>Un document </a:t>
            </a:r>
            <a:r>
              <a:rPr lang="fr-FR" sz="1800" dirty="0">
                <a:solidFill>
                  <a:schemeClr val="accent6"/>
                </a:solidFill>
                <a:latin typeface="Calibri" panose="020F0502020204030204" pitchFamily="34" charset="0"/>
              </a:rPr>
              <a:t>permettant de recueillir </a:t>
            </a:r>
            <a:r>
              <a:rPr lang="fr-FR" sz="1800" dirty="0" smtClean="0">
                <a:solidFill>
                  <a:schemeClr val="accent6"/>
                </a:solidFill>
                <a:latin typeface="Calibri" panose="020F0502020204030204" pitchFamily="34" charset="0"/>
              </a:rPr>
              <a:t>des </a:t>
            </a:r>
            <a:r>
              <a:rPr lang="fr-FR" sz="1800" dirty="0">
                <a:solidFill>
                  <a:schemeClr val="accent6"/>
                </a:solidFill>
                <a:latin typeface="Calibri" panose="020F0502020204030204" pitchFamily="34" charset="0"/>
              </a:rPr>
              <a:t>données fiables et précises </a:t>
            </a:r>
          </a:p>
          <a:p>
            <a:pPr marL="447675" indent="-285750">
              <a:spcBef>
                <a:spcPts val="300"/>
              </a:spcBef>
              <a:spcAft>
                <a:spcPts val="300"/>
              </a:spcAft>
              <a:buFont typeface="Arial" panose="020B0604020202020204" pitchFamily="34" charset="0"/>
              <a:buChar char="•"/>
            </a:pPr>
            <a:r>
              <a:rPr lang="fr-FR" sz="1800" dirty="0" smtClean="0">
                <a:solidFill>
                  <a:schemeClr val="accent6"/>
                </a:solidFill>
                <a:latin typeface="Calibri" panose="020F0502020204030204" pitchFamily="34" charset="0"/>
              </a:rPr>
              <a:t>… </a:t>
            </a:r>
            <a:r>
              <a:rPr lang="fr-FR" sz="1800" dirty="0" smtClean="0">
                <a:solidFill>
                  <a:schemeClr val="accent6"/>
                </a:solidFill>
                <a:latin typeface="Calibri" panose="020F0502020204030204" pitchFamily="34" charset="0"/>
              </a:rPr>
              <a:t>en </a:t>
            </a:r>
            <a:r>
              <a:rPr lang="fr-FR" sz="1800" dirty="0">
                <a:solidFill>
                  <a:schemeClr val="accent6"/>
                </a:solidFill>
                <a:latin typeface="Calibri" panose="020F0502020204030204" pitchFamily="34" charset="0"/>
              </a:rPr>
              <a:t>relation avec un objectif défini. </a:t>
            </a:r>
          </a:p>
          <a:p>
            <a:endParaRPr lang="fr-FR" sz="2300" dirty="0">
              <a:solidFill>
                <a:schemeClr val="tx1"/>
              </a:solidFill>
              <a:latin typeface="Calibri" panose="020F0502020204030204" pitchFamily="34" charset="0"/>
            </a:endParaRPr>
          </a:p>
          <a:p>
            <a:pPr marL="0" indent="0">
              <a:buNone/>
            </a:pPr>
            <a:r>
              <a:rPr lang="fr-FR" sz="2300" dirty="0" smtClean="0">
                <a:solidFill>
                  <a:schemeClr val="tx1"/>
                </a:solidFill>
                <a:latin typeface="Calibri" panose="020F0502020204030204" pitchFamily="34" charset="0"/>
              </a:rPr>
              <a:t>De la collecte à l’exploitation</a:t>
            </a:r>
            <a:endParaRPr lang="fr-FR" sz="2300" dirty="0">
              <a:solidFill>
                <a:schemeClr val="accent6"/>
              </a:solidFill>
              <a:latin typeface="Calibri" panose="020F0502020204030204" pitchFamily="34" charset="0"/>
            </a:endParaRPr>
          </a:p>
          <a:p>
            <a:pPr marL="647700" lvl="1" indent="-285750">
              <a:spcBef>
                <a:spcPts val="300"/>
              </a:spcBef>
              <a:spcAft>
                <a:spcPts val="300"/>
              </a:spcAft>
              <a:buFontTx/>
              <a:buChar char="-"/>
            </a:pPr>
            <a:r>
              <a:rPr lang="fr-FR" sz="1600" dirty="0" smtClean="0">
                <a:solidFill>
                  <a:schemeClr val="accent6"/>
                </a:solidFill>
                <a:latin typeface="Calibri" panose="020F0502020204030204" pitchFamily="34" charset="0"/>
              </a:rPr>
              <a:t>Protocole </a:t>
            </a:r>
            <a:r>
              <a:rPr lang="fr-FR" sz="1600" dirty="0">
                <a:solidFill>
                  <a:schemeClr val="accent6"/>
                </a:solidFill>
                <a:latin typeface="Calibri" panose="020F0502020204030204" pitchFamily="34" charset="0"/>
              </a:rPr>
              <a:t>de collecte </a:t>
            </a:r>
            <a:r>
              <a:rPr lang="fr-FR" sz="1600" dirty="0" smtClean="0">
                <a:solidFill>
                  <a:schemeClr val="accent6"/>
                </a:solidFill>
                <a:latin typeface="Calibri" panose="020F0502020204030204" pitchFamily="34" charset="0"/>
              </a:rPr>
              <a:t>?</a:t>
            </a:r>
          </a:p>
          <a:p>
            <a:pPr marL="647700" lvl="1" indent="-285750">
              <a:spcBef>
                <a:spcPts val="300"/>
              </a:spcBef>
              <a:spcAft>
                <a:spcPts val="300"/>
              </a:spcAft>
              <a:buFontTx/>
              <a:buChar char="-"/>
            </a:pPr>
            <a:r>
              <a:rPr lang="fr-FR" sz="1600" dirty="0" smtClean="0">
                <a:solidFill>
                  <a:schemeClr val="accent6"/>
                </a:solidFill>
                <a:latin typeface="Calibri" panose="020F0502020204030204" pitchFamily="34" charset="0"/>
              </a:rPr>
              <a:t>Format </a:t>
            </a:r>
            <a:r>
              <a:rPr lang="fr-FR" sz="1600" dirty="0">
                <a:solidFill>
                  <a:schemeClr val="accent6"/>
                </a:solidFill>
                <a:latin typeface="Calibri" panose="020F0502020204030204" pitchFamily="34" charset="0"/>
              </a:rPr>
              <a:t>de stockage </a:t>
            </a:r>
            <a:r>
              <a:rPr lang="fr-FR" sz="1600" dirty="0" smtClean="0">
                <a:solidFill>
                  <a:schemeClr val="accent6"/>
                </a:solidFill>
                <a:latin typeface="Calibri" panose="020F0502020204030204" pitchFamily="34" charset="0"/>
              </a:rPr>
              <a:t>?</a:t>
            </a:r>
          </a:p>
          <a:p>
            <a:pPr marL="361950" lvl="1">
              <a:spcBef>
                <a:spcPts val="300"/>
              </a:spcBef>
              <a:spcAft>
                <a:spcPts val="600"/>
              </a:spcAft>
            </a:pPr>
            <a:endParaRPr lang="fr-FR" sz="1600" dirty="0" smtClean="0">
              <a:solidFill>
                <a:schemeClr val="accent6"/>
              </a:solidFill>
              <a:latin typeface="Calibri" panose="020F0502020204030204" pitchFamily="34" charset="0"/>
            </a:endParaRPr>
          </a:p>
          <a:p>
            <a:pPr lvl="1">
              <a:spcBef>
                <a:spcPts val="300"/>
              </a:spcBef>
              <a:spcAft>
                <a:spcPts val="300"/>
              </a:spcAft>
            </a:pPr>
            <a:r>
              <a:rPr lang="fr-FR" sz="1600" dirty="0" smtClean="0">
                <a:solidFill>
                  <a:srgbClr val="990000"/>
                </a:solidFill>
                <a:latin typeface="Calibri" panose="020F0502020204030204" pitchFamily="34" charset="0"/>
              </a:rPr>
              <a:t> </a:t>
            </a:r>
            <a:r>
              <a:rPr lang="fr-FR" sz="1600" dirty="0" smtClean="0">
                <a:solidFill>
                  <a:srgbClr val="990000"/>
                </a:solidFill>
                <a:latin typeface="Calibri" panose="020F0502020204030204" pitchFamily="34" charset="0"/>
              </a:rPr>
              <a:t>Collecte </a:t>
            </a:r>
            <a:endParaRPr lang="fr-FR" sz="1600" dirty="0" smtClean="0">
              <a:solidFill>
                <a:srgbClr val="990000"/>
              </a:solidFill>
              <a:latin typeface="Calibri" panose="020F0502020204030204" pitchFamily="34" charset="0"/>
            </a:endParaRPr>
          </a:p>
          <a:p>
            <a:pPr lvl="1">
              <a:spcBef>
                <a:spcPts val="300"/>
              </a:spcBef>
              <a:spcAft>
                <a:spcPts val="300"/>
              </a:spcAft>
            </a:pPr>
            <a:r>
              <a:rPr lang="fr-FR" sz="1600" dirty="0">
                <a:solidFill>
                  <a:srgbClr val="990000"/>
                </a:solidFill>
                <a:latin typeface="Calibri" panose="020F0502020204030204" pitchFamily="34" charset="0"/>
              </a:rPr>
              <a:t>	</a:t>
            </a:r>
            <a:r>
              <a:rPr lang="fr-FR" sz="1600" dirty="0" smtClean="0">
                <a:solidFill>
                  <a:srgbClr val="990000"/>
                </a:solidFill>
                <a:latin typeface="Calibri" panose="020F0502020204030204" pitchFamily="34" charset="0"/>
              </a:rPr>
              <a:t>→ </a:t>
            </a:r>
            <a:r>
              <a:rPr lang="fr-FR" sz="1600" dirty="0" smtClean="0">
                <a:solidFill>
                  <a:srgbClr val="990000"/>
                </a:solidFill>
                <a:latin typeface="Calibri" panose="020F0502020204030204" pitchFamily="34" charset="0"/>
              </a:rPr>
              <a:t>accès </a:t>
            </a:r>
            <a:endParaRPr lang="fr-FR" sz="1600" dirty="0" smtClean="0">
              <a:solidFill>
                <a:srgbClr val="990000"/>
              </a:solidFill>
              <a:latin typeface="Calibri" panose="020F0502020204030204" pitchFamily="34" charset="0"/>
            </a:endParaRPr>
          </a:p>
          <a:p>
            <a:pPr lvl="1">
              <a:spcBef>
                <a:spcPts val="300"/>
              </a:spcBef>
              <a:spcAft>
                <a:spcPts val="300"/>
              </a:spcAft>
            </a:pPr>
            <a:r>
              <a:rPr lang="fr-FR" sz="1600" dirty="0">
                <a:solidFill>
                  <a:srgbClr val="990000"/>
                </a:solidFill>
                <a:latin typeface="Calibri" panose="020F0502020204030204" pitchFamily="34" charset="0"/>
              </a:rPr>
              <a:t>	</a:t>
            </a:r>
            <a:r>
              <a:rPr lang="fr-FR" sz="1600" dirty="0" smtClean="0">
                <a:solidFill>
                  <a:srgbClr val="990000"/>
                </a:solidFill>
                <a:latin typeface="Calibri" panose="020F0502020204030204" pitchFamily="34" charset="0"/>
              </a:rPr>
              <a:t>	→ </a:t>
            </a:r>
            <a:r>
              <a:rPr lang="fr-FR" sz="1600" dirty="0" smtClean="0">
                <a:solidFill>
                  <a:srgbClr val="990000"/>
                </a:solidFill>
                <a:latin typeface="Calibri" panose="020F0502020204030204" pitchFamily="34" charset="0"/>
              </a:rPr>
              <a:t>traitement </a:t>
            </a:r>
            <a:endParaRPr lang="fr-FR" sz="1600" dirty="0" smtClean="0">
              <a:solidFill>
                <a:srgbClr val="990000"/>
              </a:solidFill>
              <a:latin typeface="Calibri" panose="020F0502020204030204" pitchFamily="34" charset="0"/>
            </a:endParaRPr>
          </a:p>
          <a:p>
            <a:pPr lvl="1">
              <a:spcBef>
                <a:spcPts val="300"/>
              </a:spcBef>
              <a:spcAft>
                <a:spcPts val="300"/>
              </a:spcAft>
            </a:pPr>
            <a:r>
              <a:rPr lang="fr-FR" sz="1600" dirty="0">
                <a:solidFill>
                  <a:srgbClr val="990000"/>
                </a:solidFill>
                <a:latin typeface="Calibri" panose="020F0502020204030204" pitchFamily="34" charset="0"/>
              </a:rPr>
              <a:t>	</a:t>
            </a:r>
            <a:r>
              <a:rPr lang="fr-FR" sz="1600" dirty="0" smtClean="0">
                <a:solidFill>
                  <a:srgbClr val="990000"/>
                </a:solidFill>
                <a:latin typeface="Calibri" panose="020F0502020204030204" pitchFamily="34" charset="0"/>
              </a:rPr>
              <a:t>		→ </a:t>
            </a:r>
            <a:r>
              <a:rPr lang="fr-FR" sz="1600" dirty="0" smtClean="0">
                <a:solidFill>
                  <a:srgbClr val="990000"/>
                </a:solidFill>
                <a:latin typeface="Calibri" panose="020F0502020204030204" pitchFamily="34" charset="0"/>
              </a:rPr>
              <a:t>archivage</a:t>
            </a:r>
            <a:endParaRPr lang="fr-FR" sz="1600" dirty="0">
              <a:solidFill>
                <a:srgbClr val="990000"/>
              </a:solidFill>
              <a:latin typeface="Calibri" panose="020F0502020204030204" pitchFamily="34" charset="0"/>
            </a:endParaRPr>
          </a:p>
          <a:p>
            <a:endParaRPr lang="fr-FR" dirty="0"/>
          </a:p>
        </p:txBody>
      </p:sp>
      <p:pic>
        <p:nvPicPr>
          <p:cNvPr id="4" name="Image 3" descr="Capture d’écran"/>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26259" y="2205932"/>
            <a:ext cx="2092274" cy="2092274"/>
          </a:xfrm>
          <a:prstGeom prst="rect">
            <a:avLst/>
          </a:prstGeom>
        </p:spPr>
      </p:pic>
      <p:sp>
        <p:nvSpPr>
          <p:cNvPr id="5" name="Rectangle 4"/>
          <p:cNvSpPr/>
          <p:nvPr/>
        </p:nvSpPr>
        <p:spPr>
          <a:xfrm>
            <a:off x="2632855" y="5476874"/>
            <a:ext cx="2626040"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Image1 </a:t>
            </a:r>
            <a:r>
              <a:rPr lang="fr-FR" sz="1100" dirty="0" err="1" smtClean="0">
                <a:solidFill>
                  <a:schemeClr val="tx1"/>
                </a:solidFill>
                <a:latin typeface="Times New Roman" pitchFamily="18" charset="0"/>
              </a:rPr>
              <a:t>Stickerkitty</a:t>
            </a:r>
            <a:r>
              <a:rPr lang="fr-FR" sz="1100" dirty="0" smtClean="0">
                <a:solidFill>
                  <a:schemeClr val="tx1"/>
                </a:solidFill>
                <a:latin typeface="Times New Roman" pitchFamily="18" charset="0"/>
              </a:rPr>
              <a:t> cc-by-NC-SA : </a:t>
            </a:r>
            <a:r>
              <a:rPr lang="fr-FR" sz="1100" dirty="0" smtClean="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pic>
        <p:nvPicPr>
          <p:cNvPr id="1026" name="Picture 2" descr="http://farm3.staticflickr.com/2782/4239958056_f360c5ff65.jpg"/>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176074" y="4519871"/>
            <a:ext cx="1727469" cy="89828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926238" y="5476874"/>
            <a:ext cx="2717411"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Image2 :  </a:t>
            </a:r>
            <a:r>
              <a:rPr lang="fr-FR" sz="1100" dirty="0">
                <a:solidFill>
                  <a:schemeClr val="tx1"/>
                </a:solidFill>
                <a:latin typeface="Times New Roman" pitchFamily="18" charset="0"/>
              </a:rPr>
              <a:t>35 </a:t>
            </a:r>
            <a:r>
              <a:rPr lang="fr-FR" sz="1100" dirty="0" err="1">
                <a:solidFill>
                  <a:schemeClr val="tx1"/>
                </a:solidFill>
                <a:latin typeface="Times New Roman" pitchFamily="18" charset="0"/>
              </a:rPr>
              <a:t>Summers</a:t>
            </a:r>
            <a:r>
              <a:rPr lang="fr-FR" sz="1100" dirty="0" err="1" smtClean="0">
                <a:solidFill>
                  <a:schemeClr val="tx1"/>
                </a:solidFill>
                <a:latin typeface="Times New Roman" pitchFamily="18" charset="0"/>
              </a:rPr>
              <a:t>cc</a:t>
            </a:r>
            <a:r>
              <a:rPr lang="fr-FR" sz="1100" dirty="0" smtClean="0">
                <a:solidFill>
                  <a:schemeClr val="tx1"/>
                </a:solidFill>
                <a:latin typeface="Times New Roman" pitchFamily="18" charset="0"/>
              </a:rPr>
              <a:t>-by-NC-SA : </a:t>
            </a:r>
            <a:r>
              <a:rPr lang="fr-FR" sz="1100" dirty="0" smtClean="0">
                <a:solidFill>
                  <a:schemeClr val="tx1"/>
                </a:solidFill>
                <a:latin typeface="Times New Roman" pitchFamily="18" charset="0"/>
                <a:hlinkClick r:id="rId6"/>
              </a:rPr>
              <a:t>source</a:t>
            </a:r>
            <a:endParaRPr lang="fr-FR" sz="1100" dirty="0">
              <a:solidFill>
                <a:schemeClr val="tx1"/>
              </a:solidFill>
              <a:latin typeface="Times New Roman" pitchFamily="18" charset="0"/>
            </a:endParaRPr>
          </a:p>
        </p:txBody>
      </p:sp>
      <p:sp>
        <p:nvSpPr>
          <p:cNvPr id="8" name="ZoneTexte 7"/>
          <p:cNvSpPr txBox="1"/>
          <p:nvPr/>
        </p:nvSpPr>
        <p:spPr>
          <a:xfrm>
            <a:off x="266912" y="3402814"/>
            <a:ext cx="378043" cy="110392"/>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913524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Méthodologie de collecte</a:t>
            </a:r>
            <a:endParaRPr lang="fr-FR" dirty="0"/>
          </a:p>
        </p:txBody>
      </p:sp>
      <p:sp>
        <p:nvSpPr>
          <p:cNvPr id="3" name="Espace réservé du texte 2"/>
          <p:cNvSpPr>
            <a:spLocks noGrp="1"/>
          </p:cNvSpPr>
          <p:nvPr>
            <p:ph type="body" idx="1"/>
          </p:nvPr>
        </p:nvSpPr>
        <p:spPr>
          <a:xfrm>
            <a:off x="2657959" y="1269999"/>
            <a:ext cx="6359044" cy="4206875"/>
          </a:xfrm>
        </p:spPr>
        <p:txBody>
          <a:bodyPr/>
          <a:lstStyle/>
          <a:p>
            <a:pPr marL="0" indent="0">
              <a:buNone/>
            </a:pPr>
            <a:r>
              <a:rPr lang="fr-FR" sz="2300" dirty="0" smtClean="0">
                <a:solidFill>
                  <a:schemeClr val="tx1"/>
                </a:solidFill>
                <a:latin typeface="Calibri" panose="020F0502020204030204" pitchFamily="34" charset="0"/>
              </a:rPr>
              <a:t>Étapes :</a:t>
            </a:r>
            <a:endParaRPr lang="fr-FR" sz="2300" dirty="0">
              <a:solidFill>
                <a:schemeClr val="tx1"/>
              </a:solidFill>
              <a:latin typeface="Calibri" panose="020F0502020204030204" pitchFamily="34" charset="0"/>
            </a:endParaRPr>
          </a:p>
          <a:p>
            <a:pPr marL="361950" lvl="1" indent="-19050">
              <a:spcBef>
                <a:spcPts val="300"/>
              </a:spcBef>
              <a:spcAft>
                <a:spcPts val="300"/>
              </a:spcAft>
              <a:buFont typeface="+mj-lt"/>
              <a:buAutoNum type="arabicPeriod"/>
            </a:pPr>
            <a:r>
              <a:rPr lang="fr-FR" sz="1600" dirty="0" smtClean="0">
                <a:solidFill>
                  <a:schemeClr val="accent2"/>
                </a:solidFill>
                <a:latin typeface="Calibri" panose="020F0502020204030204" pitchFamily="34" charset="0"/>
              </a:rPr>
              <a:t> La </a:t>
            </a:r>
            <a:r>
              <a:rPr lang="fr-FR" sz="1600" dirty="0">
                <a:solidFill>
                  <a:schemeClr val="accent2"/>
                </a:solidFill>
                <a:latin typeface="Calibri" panose="020F0502020204030204" pitchFamily="34" charset="0"/>
              </a:rPr>
              <a:t>détermination des </a:t>
            </a:r>
            <a:r>
              <a:rPr lang="fr-FR" sz="1600" dirty="0" smtClean="0">
                <a:solidFill>
                  <a:schemeClr val="accent2"/>
                </a:solidFill>
                <a:latin typeface="Calibri" panose="020F0502020204030204" pitchFamily="34" charset="0"/>
              </a:rPr>
              <a:t>éléments </a:t>
            </a:r>
            <a:r>
              <a:rPr lang="fr-FR" sz="1600" dirty="0">
                <a:solidFill>
                  <a:schemeClr val="accent2"/>
                </a:solidFill>
                <a:latin typeface="Calibri" panose="020F0502020204030204" pitchFamily="34" charset="0"/>
              </a:rPr>
              <a:t>à </a:t>
            </a:r>
            <a:r>
              <a:rPr lang="fr-FR" sz="1600" dirty="0" smtClean="0">
                <a:solidFill>
                  <a:schemeClr val="accent2"/>
                </a:solidFill>
                <a:latin typeface="Calibri" panose="020F0502020204030204" pitchFamily="34" charset="0"/>
              </a:rPr>
              <a:t>relever</a:t>
            </a:r>
            <a:endParaRPr lang="fr-FR" sz="1600" dirty="0">
              <a:solidFill>
                <a:srgbClr val="00B050"/>
              </a:solidFill>
              <a:latin typeface="Calibri" panose="020F0502020204030204" pitchFamily="34" charset="0"/>
            </a:endParaRPr>
          </a:p>
          <a:p>
            <a:pPr marL="361950" lvl="1" indent="-19050">
              <a:spcBef>
                <a:spcPts val="300"/>
              </a:spcBef>
              <a:spcAft>
                <a:spcPts val="300"/>
              </a:spcAft>
              <a:buFont typeface="+mj-lt"/>
              <a:buAutoNum type="arabicPeriod"/>
            </a:pPr>
            <a:r>
              <a:rPr lang="fr-FR" sz="1600" dirty="0" smtClean="0">
                <a:solidFill>
                  <a:schemeClr val="accent2"/>
                </a:solidFill>
                <a:latin typeface="Calibri" panose="020F0502020204030204" pitchFamily="34" charset="0"/>
              </a:rPr>
              <a:t> L’élaboration </a:t>
            </a:r>
            <a:r>
              <a:rPr lang="fr-FR" sz="1600" dirty="0">
                <a:solidFill>
                  <a:schemeClr val="accent2"/>
                </a:solidFill>
                <a:latin typeface="Calibri" panose="020F0502020204030204" pitchFamily="34" charset="0"/>
              </a:rPr>
              <a:t>de la fiche de relevés. </a:t>
            </a:r>
          </a:p>
          <a:p>
            <a:pPr marL="534988" lvl="2" indent="92075">
              <a:spcBef>
                <a:spcPts val="300"/>
              </a:spcBef>
              <a:spcAft>
                <a:spcPts val="300"/>
              </a:spcAft>
              <a:buFont typeface="Arial" panose="020B0604020202020204" pitchFamily="34" charset="0"/>
              <a:buChar char="•"/>
            </a:pPr>
            <a:r>
              <a:rPr lang="fr-FR" sz="1600" dirty="0" smtClean="0">
                <a:solidFill>
                  <a:srgbClr val="00B050"/>
                </a:solidFill>
                <a:latin typeface="Calibri" panose="020F0502020204030204" pitchFamily="34" charset="0"/>
              </a:rPr>
              <a:t> Tableau </a:t>
            </a:r>
            <a:r>
              <a:rPr lang="fr-FR" sz="1600" dirty="0">
                <a:solidFill>
                  <a:srgbClr val="00B050"/>
                </a:solidFill>
                <a:latin typeface="Calibri" panose="020F0502020204030204" pitchFamily="34" charset="0"/>
              </a:rPr>
              <a:t>à une ou deux entrées, </a:t>
            </a:r>
            <a:r>
              <a:rPr lang="fr-FR" sz="1600" dirty="0" smtClean="0">
                <a:solidFill>
                  <a:srgbClr val="00B050"/>
                </a:solidFill>
                <a:latin typeface="Calibri" panose="020F0502020204030204" pitchFamily="34" charset="0"/>
              </a:rPr>
              <a:t>cases</a:t>
            </a:r>
          </a:p>
          <a:p>
            <a:pPr marL="715963" lvl="2">
              <a:spcBef>
                <a:spcPts val="0"/>
              </a:spcBef>
              <a:spcAft>
                <a:spcPts val="300"/>
              </a:spcAft>
            </a:pPr>
            <a:r>
              <a:rPr lang="fr-FR" sz="1600" dirty="0">
                <a:solidFill>
                  <a:srgbClr val="00B050"/>
                </a:solidFill>
                <a:latin typeface="Calibri" panose="020F0502020204030204" pitchFamily="34" charset="0"/>
              </a:rPr>
              <a:t>à cocher</a:t>
            </a:r>
            <a:r>
              <a:rPr lang="fr-FR" sz="1600" dirty="0" smtClean="0">
                <a:solidFill>
                  <a:srgbClr val="00B050"/>
                </a:solidFill>
                <a:latin typeface="Calibri" panose="020F0502020204030204" pitchFamily="34" charset="0"/>
              </a:rPr>
              <a:t>, main </a:t>
            </a:r>
            <a:r>
              <a:rPr lang="fr-FR" sz="1600" dirty="0">
                <a:solidFill>
                  <a:srgbClr val="00B050"/>
                </a:solidFill>
                <a:latin typeface="Calibri" panose="020F0502020204030204" pitchFamily="34" charset="0"/>
              </a:rPr>
              <a:t>courante, </a:t>
            </a:r>
            <a:r>
              <a:rPr lang="fr-FR" sz="1600" dirty="0" smtClean="0">
                <a:solidFill>
                  <a:srgbClr val="00B050"/>
                </a:solidFill>
                <a:latin typeface="Calibri" panose="020F0502020204030204" pitchFamily="34" charset="0"/>
              </a:rPr>
              <a:t>questionnaire</a:t>
            </a:r>
            <a:r>
              <a:rPr lang="fr-FR" sz="1600" dirty="0" smtClean="0">
                <a:solidFill>
                  <a:srgbClr val="00B050"/>
                </a:solidFill>
                <a:latin typeface="Calibri" panose="020F0502020204030204" pitchFamily="34" charset="0"/>
              </a:rPr>
              <a:t>, </a:t>
            </a:r>
            <a:endParaRPr lang="fr-FR" sz="1600" dirty="0" smtClean="0">
              <a:solidFill>
                <a:srgbClr val="00B050"/>
              </a:solidFill>
              <a:latin typeface="Calibri" panose="020F0502020204030204" pitchFamily="34" charset="0"/>
            </a:endParaRPr>
          </a:p>
          <a:p>
            <a:pPr marL="715963" lvl="2">
              <a:spcBef>
                <a:spcPts val="0"/>
              </a:spcBef>
              <a:spcAft>
                <a:spcPts val="300"/>
              </a:spcAft>
            </a:pPr>
            <a:r>
              <a:rPr lang="fr-FR" sz="1600" dirty="0" smtClean="0">
                <a:solidFill>
                  <a:srgbClr val="00B050"/>
                </a:solidFill>
                <a:latin typeface="Calibri" panose="020F0502020204030204" pitchFamily="34" charset="0"/>
              </a:rPr>
              <a:t>enregistrement </a:t>
            </a:r>
            <a:r>
              <a:rPr lang="fr-FR" sz="1600" dirty="0" smtClean="0">
                <a:solidFill>
                  <a:srgbClr val="00B050"/>
                </a:solidFill>
                <a:latin typeface="Calibri" panose="020F0502020204030204" pitchFamily="34" charset="0"/>
              </a:rPr>
              <a:t>automatique..</a:t>
            </a:r>
            <a:endParaRPr lang="fr-FR" sz="1600" dirty="0">
              <a:solidFill>
                <a:srgbClr val="00B050"/>
              </a:solidFill>
              <a:latin typeface="Calibri" panose="020F0502020204030204" pitchFamily="34" charset="0"/>
            </a:endParaRPr>
          </a:p>
          <a:p>
            <a:pPr marL="534988" lvl="2" indent="92075">
              <a:spcBef>
                <a:spcPts val="300"/>
              </a:spcBef>
              <a:spcAft>
                <a:spcPts val="300"/>
              </a:spcAft>
              <a:buFont typeface="Arial" panose="020B0604020202020204" pitchFamily="34" charset="0"/>
              <a:buChar char="•"/>
            </a:pPr>
            <a:r>
              <a:rPr lang="fr-FR" sz="1600" dirty="0" smtClean="0">
                <a:solidFill>
                  <a:srgbClr val="00B050"/>
                </a:solidFill>
                <a:latin typeface="Calibri" panose="020F0502020204030204" pitchFamily="34" charset="0"/>
              </a:rPr>
              <a:t>Mémorisation </a:t>
            </a:r>
            <a:r>
              <a:rPr lang="fr-FR" sz="1600" dirty="0">
                <a:solidFill>
                  <a:srgbClr val="00B050"/>
                </a:solidFill>
                <a:latin typeface="Calibri" panose="020F0502020204030204" pitchFamily="34" charset="0"/>
              </a:rPr>
              <a:t>méthodique des mesures</a:t>
            </a:r>
          </a:p>
          <a:p>
            <a:pPr marL="534988" lvl="2" indent="92075">
              <a:spcBef>
                <a:spcPts val="300"/>
              </a:spcBef>
              <a:spcAft>
                <a:spcPts val="300"/>
              </a:spcAft>
              <a:buFont typeface="Arial" panose="020B0604020202020204" pitchFamily="34" charset="0"/>
              <a:buChar char="•"/>
            </a:pPr>
            <a:r>
              <a:rPr lang="fr-FR" sz="1600" dirty="0" smtClean="0">
                <a:solidFill>
                  <a:srgbClr val="00B050"/>
                </a:solidFill>
                <a:latin typeface="Calibri" panose="020F0502020204030204" pitchFamily="34" charset="0"/>
              </a:rPr>
              <a:t> Ce </a:t>
            </a:r>
            <a:r>
              <a:rPr lang="fr-FR" sz="1600" dirty="0">
                <a:solidFill>
                  <a:srgbClr val="00B050"/>
                </a:solidFill>
                <a:latin typeface="Calibri" panose="020F0502020204030204" pitchFamily="34" charset="0"/>
              </a:rPr>
              <a:t>qui n’est pas mesuré est perdu !</a:t>
            </a:r>
          </a:p>
          <a:p>
            <a:pPr marL="361950" lvl="1">
              <a:spcBef>
                <a:spcPts val="300"/>
              </a:spcBef>
              <a:spcAft>
                <a:spcPts val="300"/>
              </a:spcAft>
              <a:buFont typeface="+mj-lt"/>
              <a:buAutoNum type="arabicPeriod" startAt="2"/>
            </a:pPr>
            <a:r>
              <a:rPr lang="fr-FR" sz="1600" dirty="0" smtClean="0">
                <a:solidFill>
                  <a:schemeClr val="accent2"/>
                </a:solidFill>
                <a:latin typeface="Calibri" panose="020F0502020204030204" pitchFamily="34" charset="0"/>
              </a:rPr>
              <a:t> La </a:t>
            </a:r>
            <a:r>
              <a:rPr lang="fr-FR" sz="1600" dirty="0">
                <a:solidFill>
                  <a:schemeClr val="accent2"/>
                </a:solidFill>
                <a:latin typeface="Calibri" panose="020F0502020204030204" pitchFamily="34" charset="0"/>
              </a:rPr>
              <a:t>détermination de la période et du lieu de </a:t>
            </a:r>
            <a:r>
              <a:rPr lang="fr-FR" sz="1600" dirty="0" smtClean="0">
                <a:solidFill>
                  <a:schemeClr val="accent2"/>
                </a:solidFill>
                <a:latin typeface="Calibri" panose="020F0502020204030204" pitchFamily="34" charset="0"/>
              </a:rPr>
              <a:t>collecte, formation des enquêteurs…</a:t>
            </a:r>
            <a:endParaRPr lang="fr-FR" sz="1600" dirty="0">
              <a:solidFill>
                <a:schemeClr val="accent2"/>
              </a:solidFill>
              <a:latin typeface="Calibri" panose="020F0502020204030204" pitchFamily="34" charset="0"/>
            </a:endParaRPr>
          </a:p>
          <a:p>
            <a:pPr marL="361950" lvl="1">
              <a:spcBef>
                <a:spcPts val="300"/>
              </a:spcBef>
              <a:spcAft>
                <a:spcPts val="300"/>
              </a:spcAft>
              <a:buFont typeface="+mj-lt"/>
              <a:buAutoNum type="arabicPeriod" startAt="2"/>
            </a:pPr>
            <a:r>
              <a:rPr lang="fr-FR" sz="1600" dirty="0" smtClean="0">
                <a:solidFill>
                  <a:schemeClr val="accent2"/>
                </a:solidFill>
                <a:latin typeface="Calibri" panose="020F0502020204030204" pitchFamily="34" charset="0"/>
              </a:rPr>
              <a:t> La </a:t>
            </a:r>
            <a:r>
              <a:rPr lang="fr-FR" sz="1600" dirty="0">
                <a:solidFill>
                  <a:schemeClr val="accent2"/>
                </a:solidFill>
                <a:latin typeface="Calibri" panose="020F0502020204030204" pitchFamily="34" charset="0"/>
              </a:rPr>
              <a:t>collecte </a:t>
            </a:r>
            <a:r>
              <a:rPr lang="fr-FR" sz="1600" dirty="0" smtClean="0">
                <a:solidFill>
                  <a:schemeClr val="accent2"/>
                </a:solidFill>
                <a:latin typeface="Calibri" panose="020F0502020204030204" pitchFamily="34" charset="0"/>
              </a:rPr>
              <a:t>elle-même</a:t>
            </a:r>
          </a:p>
          <a:p>
            <a:pPr marL="361950" lvl="1">
              <a:spcBef>
                <a:spcPts val="300"/>
              </a:spcBef>
              <a:spcAft>
                <a:spcPts val="300"/>
              </a:spcAft>
              <a:buFont typeface="+mj-lt"/>
              <a:buAutoNum type="arabicPeriod" startAt="2"/>
            </a:pPr>
            <a:r>
              <a:rPr lang="fr-FR" sz="1600" dirty="0" smtClean="0">
                <a:solidFill>
                  <a:schemeClr val="accent2"/>
                </a:solidFill>
                <a:latin typeface="Calibri" panose="020F0502020204030204" pitchFamily="34" charset="0"/>
              </a:rPr>
              <a:t> Le compte-rendu de la campagne (</a:t>
            </a:r>
            <a:r>
              <a:rPr lang="fr-FR" sz="1600" dirty="0" smtClean="0">
                <a:solidFill>
                  <a:schemeClr val="accent2"/>
                </a:solidFill>
                <a:latin typeface="Calibri" panose="020F0502020204030204" pitchFamily="34" charset="0"/>
              </a:rPr>
              <a:t>incidents, évènements...)</a:t>
            </a:r>
            <a:endParaRPr lang="fr-FR" sz="1600" dirty="0" smtClean="0">
              <a:solidFill>
                <a:schemeClr val="accent2"/>
              </a:solidFill>
              <a:latin typeface="Calibri" panose="020F0502020204030204" pitchFamily="34" charset="0"/>
            </a:endParaRPr>
          </a:p>
        </p:txBody>
      </p:sp>
      <p:sp>
        <p:nvSpPr>
          <p:cNvPr id="5" name="ZoneTexte 4"/>
          <p:cNvSpPr txBox="1"/>
          <p:nvPr/>
        </p:nvSpPr>
        <p:spPr>
          <a:xfrm>
            <a:off x="275704" y="3768060"/>
            <a:ext cx="378043" cy="110392"/>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1026" name="Picture 2" descr="File:Automated weighbridge for Adélie penguins - journal.pone.0085291.g0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4032" y="2011680"/>
            <a:ext cx="2283160" cy="15316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344190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02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smtClean="0"/>
              <a:t>Garbage</a:t>
            </a:r>
            <a:r>
              <a:rPr lang="fr-FR" dirty="0" smtClean="0"/>
              <a:t> in, </a:t>
            </a:r>
            <a:r>
              <a:rPr lang="fr-FR" dirty="0" err="1" smtClean="0"/>
              <a:t>Garbage</a:t>
            </a:r>
            <a:r>
              <a:rPr lang="fr-FR" dirty="0" smtClean="0"/>
              <a:t> out </a:t>
            </a:r>
            <a:r>
              <a:rPr lang="fr-FR" sz="2800" dirty="0" smtClean="0"/>
              <a:t>(GIGO)</a:t>
            </a:r>
            <a:endParaRPr lang="fr-FR" sz="2800" dirty="0"/>
          </a:p>
        </p:txBody>
      </p:sp>
      <p:sp>
        <p:nvSpPr>
          <p:cNvPr id="3" name="Espace réservé du texte 2"/>
          <p:cNvSpPr>
            <a:spLocks noGrp="1"/>
          </p:cNvSpPr>
          <p:nvPr>
            <p:ph type="body" idx="1"/>
          </p:nvPr>
        </p:nvSpPr>
        <p:spPr/>
        <p:txBody>
          <a:bodyPr/>
          <a:lstStyle/>
          <a:p>
            <a:pPr algn="ctr"/>
            <a:r>
              <a:rPr lang="fr-FR" sz="2300" b="1" dirty="0" smtClean="0">
                <a:latin typeface="Calibri" panose="020F0502020204030204" pitchFamily="34" charset="0"/>
              </a:rPr>
              <a:t>Collecte.. </a:t>
            </a:r>
            <a:r>
              <a:rPr lang="fr-FR" sz="2300" b="1" dirty="0">
                <a:latin typeface="Calibri" panose="020F0502020204030204" pitchFamily="34" charset="0"/>
              </a:rPr>
              <a:t>e</a:t>
            </a:r>
            <a:r>
              <a:rPr lang="fr-FR" sz="2300" b="1" dirty="0" smtClean="0">
                <a:latin typeface="Calibri" panose="020F0502020204030204" pitchFamily="34" charset="0"/>
              </a:rPr>
              <a:t>t traitement</a:t>
            </a:r>
            <a:endParaRPr lang="fr-FR" b="1" dirty="0"/>
          </a:p>
          <a:p>
            <a:endParaRPr lang="fr-FR" b="1" dirty="0"/>
          </a:p>
        </p:txBody>
      </p:sp>
      <p:sp>
        <p:nvSpPr>
          <p:cNvPr id="6" name="Rectangle 5"/>
          <p:cNvSpPr/>
          <p:nvPr/>
        </p:nvSpPr>
        <p:spPr>
          <a:xfrm>
            <a:off x="7517973" y="2209800"/>
            <a:ext cx="1495399" cy="1009650"/>
          </a:xfrm>
          <a:prstGeom prst="rect">
            <a:avLst/>
          </a:prstGeom>
          <a:solidFill>
            <a:srgbClr val="99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fr-FR" b="1" dirty="0" smtClean="0">
                <a:solidFill>
                  <a:schemeClr val="tx1"/>
                </a:solidFill>
              </a:rPr>
              <a:t>POUBELLE</a:t>
            </a:r>
            <a:endParaRPr lang="fr-FR" b="1" dirty="0">
              <a:solidFill>
                <a:schemeClr val="tx1"/>
              </a:solidFill>
            </a:endParaRPr>
          </a:p>
        </p:txBody>
      </p:sp>
      <p:sp>
        <p:nvSpPr>
          <p:cNvPr id="7" name="Rectangle 6"/>
          <p:cNvSpPr/>
          <p:nvPr/>
        </p:nvSpPr>
        <p:spPr>
          <a:xfrm>
            <a:off x="2600350" y="3843337"/>
            <a:ext cx="1495399" cy="1009650"/>
          </a:xfrm>
          <a:prstGeom prst="rect">
            <a:avLst/>
          </a:prstGeom>
          <a:solidFill>
            <a:srgbClr val="0099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DONNEES VALIDES</a:t>
            </a:r>
            <a:endParaRPr lang="fr-FR" b="1" dirty="0"/>
          </a:p>
        </p:txBody>
      </p:sp>
      <p:sp>
        <p:nvSpPr>
          <p:cNvPr id="8" name="Rectangle 7"/>
          <p:cNvSpPr/>
          <p:nvPr/>
        </p:nvSpPr>
        <p:spPr>
          <a:xfrm>
            <a:off x="5059161" y="3843337"/>
            <a:ext cx="1495399" cy="1009650"/>
          </a:xfrm>
          <a:prstGeom prst="rect">
            <a:avLst/>
          </a:prstGeom>
          <a:solidFill>
            <a:srgbClr val="99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fr-FR" b="1" dirty="0" smtClean="0">
                <a:solidFill>
                  <a:schemeClr val="tx1"/>
                </a:solidFill>
              </a:rPr>
              <a:t>MODELE ERRONE</a:t>
            </a:r>
            <a:endParaRPr lang="fr-FR" b="1" dirty="0">
              <a:solidFill>
                <a:schemeClr val="tx1"/>
              </a:solidFill>
            </a:endParaRPr>
          </a:p>
        </p:txBody>
      </p:sp>
      <p:sp>
        <p:nvSpPr>
          <p:cNvPr id="9" name="Rectangle 8"/>
          <p:cNvSpPr/>
          <p:nvPr/>
        </p:nvSpPr>
        <p:spPr>
          <a:xfrm>
            <a:off x="7517973" y="3843337"/>
            <a:ext cx="1495399" cy="1009650"/>
          </a:xfrm>
          <a:prstGeom prst="rect">
            <a:avLst/>
          </a:prstGeom>
          <a:solidFill>
            <a:srgbClr val="99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fr-FR" b="1" dirty="0">
                <a:solidFill>
                  <a:schemeClr val="tx1"/>
                </a:solidFill>
              </a:rPr>
              <a:t>POUBELLE</a:t>
            </a:r>
            <a:endParaRPr lang="fr-FR" b="1" dirty="0">
              <a:solidFill>
                <a:schemeClr val="tx1"/>
              </a:solidFill>
            </a:endParaRPr>
          </a:p>
        </p:txBody>
      </p:sp>
      <p:sp>
        <p:nvSpPr>
          <p:cNvPr id="12" name="Flèche droite 11"/>
          <p:cNvSpPr/>
          <p:nvPr/>
        </p:nvSpPr>
        <p:spPr>
          <a:xfrm>
            <a:off x="4103010" y="4150517"/>
            <a:ext cx="952519" cy="400050"/>
          </a:xfrm>
          <a:prstGeom prst="rightArrow">
            <a:avLst/>
          </a:prstGeom>
          <a:gradFill>
            <a:gsLst>
              <a:gs pos="0">
                <a:srgbClr val="FF0000">
                  <a:tint val="66000"/>
                  <a:satMod val="160000"/>
                </a:srgbClr>
              </a:gs>
              <a:gs pos="0">
                <a:srgbClr val="FF0000">
                  <a:tint val="44500"/>
                  <a:satMod val="160000"/>
                </a:srgbClr>
              </a:gs>
              <a:gs pos="100000">
                <a:schemeClr val="bg1">
                  <a:lumMod val="95000"/>
                </a:schemeClr>
              </a:gs>
            </a:gsLst>
            <a:lin ang="27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lèche droite 12"/>
          <p:cNvSpPr/>
          <p:nvPr/>
        </p:nvSpPr>
        <p:spPr>
          <a:xfrm>
            <a:off x="6558192" y="4150517"/>
            <a:ext cx="952518" cy="400050"/>
          </a:xfrm>
          <a:prstGeom prst="rightArrow">
            <a:avLst/>
          </a:prstGeom>
          <a:gradFill>
            <a:gsLst>
              <a:gs pos="0">
                <a:srgbClr val="FF0000">
                  <a:tint val="66000"/>
                  <a:satMod val="160000"/>
                </a:srgbClr>
              </a:gs>
              <a:gs pos="50000">
                <a:srgbClr val="FF0000">
                  <a:tint val="44500"/>
                  <a:satMod val="160000"/>
                </a:srgbClr>
              </a:gs>
              <a:gs pos="100000">
                <a:schemeClr val="bg1">
                  <a:lumMod val="95000"/>
                </a:schemeClr>
              </a:gs>
            </a:gsLst>
            <a:lin ang="2700000" scaled="1"/>
          </a:gra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2607614" y="2245519"/>
            <a:ext cx="1495399" cy="1009650"/>
          </a:xfrm>
          <a:prstGeom prst="rect">
            <a:avLst/>
          </a:prstGeom>
          <a:solidFill>
            <a:srgbClr val="99000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fr-FR" b="1" dirty="0" smtClean="0">
                <a:solidFill>
                  <a:schemeClr val="tx1"/>
                </a:solidFill>
              </a:rPr>
              <a:t>MAUVAISES DONNEES</a:t>
            </a:r>
            <a:endParaRPr lang="fr-FR" b="1" dirty="0">
              <a:solidFill>
                <a:schemeClr val="tx1"/>
              </a:solidFill>
            </a:endParaRPr>
          </a:p>
        </p:txBody>
      </p:sp>
      <p:sp>
        <p:nvSpPr>
          <p:cNvPr id="16" name="Rectangle 15"/>
          <p:cNvSpPr/>
          <p:nvPr/>
        </p:nvSpPr>
        <p:spPr>
          <a:xfrm>
            <a:off x="5066425" y="2245519"/>
            <a:ext cx="1495399" cy="1009650"/>
          </a:xfrm>
          <a:prstGeom prst="rect">
            <a:avLst/>
          </a:prstGeom>
          <a:solidFill>
            <a:srgbClr val="0099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MODELE CORRECT</a:t>
            </a:r>
            <a:endParaRPr lang="fr-FR" b="1" dirty="0"/>
          </a:p>
        </p:txBody>
      </p:sp>
      <p:sp>
        <p:nvSpPr>
          <p:cNvPr id="17" name="Flèche droite 16"/>
          <p:cNvSpPr/>
          <p:nvPr/>
        </p:nvSpPr>
        <p:spPr>
          <a:xfrm>
            <a:off x="4110272" y="2626519"/>
            <a:ext cx="956151" cy="400050"/>
          </a:xfrm>
          <a:prstGeom prst="rightArrow">
            <a:avLst/>
          </a:prstGeom>
          <a:gradFill>
            <a:gsLst>
              <a:gs pos="0">
                <a:srgbClr val="FF0000">
                  <a:tint val="66000"/>
                  <a:satMod val="160000"/>
                </a:srgbClr>
              </a:gs>
              <a:gs pos="50000">
                <a:srgbClr val="FF0000">
                  <a:tint val="44500"/>
                  <a:satMod val="160000"/>
                </a:srgbClr>
              </a:gs>
              <a:gs pos="100000">
                <a:schemeClr val="bg1">
                  <a:lumMod val="95000"/>
                </a:schemeClr>
              </a:gs>
            </a:gsLst>
            <a:lin ang="27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lèche droite 17"/>
          <p:cNvSpPr/>
          <p:nvPr/>
        </p:nvSpPr>
        <p:spPr>
          <a:xfrm>
            <a:off x="6561823" y="2626519"/>
            <a:ext cx="959782" cy="400050"/>
          </a:xfrm>
          <a:prstGeom prst="rightArrow">
            <a:avLst/>
          </a:prstGeom>
          <a:gradFill>
            <a:gsLst>
              <a:gs pos="0">
                <a:srgbClr val="FF0000">
                  <a:tint val="66000"/>
                  <a:satMod val="160000"/>
                </a:srgbClr>
              </a:gs>
              <a:gs pos="0">
                <a:srgbClr val="FF0000">
                  <a:tint val="44500"/>
                  <a:satMod val="160000"/>
                </a:srgbClr>
              </a:gs>
              <a:gs pos="100000">
                <a:schemeClr val="bg1">
                  <a:lumMod val="95000"/>
                </a:schemeClr>
              </a:gs>
            </a:gsLst>
            <a:lin ang="27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50" name="Picture 2" descr="Corbeille, Des Déchets, Ordures, Poubelles, Recycle Bin"/>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7749153" y="914401"/>
            <a:ext cx="1036394" cy="1036394"/>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p:nvPr/>
        </p:nvSpPr>
        <p:spPr>
          <a:xfrm>
            <a:off x="6480193" y="5463361"/>
            <a:ext cx="2603598" cy="246221"/>
          </a:xfrm>
          <a:prstGeom prst="rect">
            <a:avLst/>
          </a:prstGeom>
        </p:spPr>
        <p:txBody>
          <a:bodyPr wrap="none">
            <a:spAutoFit/>
          </a:bodyPr>
          <a:lstStyle/>
          <a:p>
            <a:r>
              <a:rPr lang="fr-FR" sz="1000" dirty="0"/>
              <a:t>Licence CC0 universelle : </a:t>
            </a:r>
            <a:r>
              <a:rPr lang="fr-FR" sz="1000" dirty="0" err="1" smtClean="0"/>
              <a:t>pixabay</a:t>
            </a:r>
            <a:r>
              <a:rPr lang="fr-FR" sz="1000" dirty="0" smtClean="0"/>
              <a:t> - </a:t>
            </a:r>
            <a:r>
              <a:rPr lang="fr-FR" sz="1000" dirty="0" smtClean="0">
                <a:hlinkClick r:id="rId3"/>
              </a:rPr>
              <a:t>source</a:t>
            </a:r>
            <a:endParaRPr lang="fr-FR" sz="1000" dirty="0"/>
          </a:p>
        </p:txBody>
      </p:sp>
      <p:sp>
        <p:nvSpPr>
          <p:cNvPr id="20" name="ZoneTexte 19"/>
          <p:cNvSpPr txBox="1"/>
          <p:nvPr/>
        </p:nvSpPr>
        <p:spPr>
          <a:xfrm>
            <a:off x="275704" y="3768060"/>
            <a:ext cx="378043" cy="110392"/>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47962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500"/>
                                  </p:stCondLst>
                                  <p:childTnLst>
                                    <p:set>
                                      <p:cBhvr>
                                        <p:cTn id="24" dur="1" fill="hold">
                                          <p:stCondLst>
                                            <p:cond delay="0"/>
                                          </p:stCondLst>
                                        </p:cTn>
                                        <p:tgtEl>
                                          <p:spTgt spid="205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nodeType="afterEffect">
                                  <p:stCondLst>
                                    <p:cond delay="0"/>
                                  </p:stCondLst>
                                  <p:childTnLst>
                                    <p:set>
                                      <p:cBhvr>
                                        <p:cTn id="31" dur="1" fill="hold">
                                          <p:stCondLst>
                                            <p:cond delay="0"/>
                                          </p:stCondLst>
                                        </p:cTn>
                                        <p:tgtEl>
                                          <p:spTgt spid="205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childTnLst>
                                </p:cTn>
                              </p:par>
                              <p:par>
                                <p:cTn id="48" presetID="1" presetClass="entr" presetSubtype="0" fill="hold" grpId="0" nodeType="withEffect">
                                  <p:stCondLst>
                                    <p:cond delay="1000"/>
                                  </p:stCondLst>
                                  <p:childTnLst>
                                    <p:set>
                                      <p:cBhvr>
                                        <p:cTn id="49" dur="1" fill="hold">
                                          <p:stCondLst>
                                            <p:cond delay="0"/>
                                          </p:stCondLst>
                                        </p:cTn>
                                        <p:tgtEl>
                                          <p:spTgt spid="19"/>
                                        </p:tgtEl>
                                        <p:attrNameLst>
                                          <p:attrName>style.visibility</p:attrName>
                                        </p:attrNameLst>
                                      </p:cBhvr>
                                      <p:to>
                                        <p:strVal val="visible"/>
                                      </p:to>
                                    </p:set>
                                  </p:childTnLst>
                                </p:cTn>
                              </p:par>
                            </p:childTnLst>
                          </p:cTn>
                        </p:par>
                        <p:par>
                          <p:cTn id="50" fill="hold">
                            <p:stCondLst>
                              <p:cond delay="1000"/>
                            </p:stCondLst>
                            <p:childTnLst>
                              <p:par>
                                <p:cTn id="51" presetID="1" presetClass="entr" presetSubtype="0" fill="hold" nodeType="afterEffect">
                                  <p:stCondLst>
                                    <p:cond delay="500"/>
                                  </p:stCondLst>
                                  <p:childTnLst>
                                    <p:set>
                                      <p:cBhvr>
                                        <p:cTn id="5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5" grpId="0" animBg="1"/>
      <p:bldP spid="16" grpId="0" animBg="1"/>
      <p:bldP spid="17" grpId="0" animBg="1"/>
      <p:bldP spid="18"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755956" y="3143295"/>
            <a:ext cx="2626676" cy="1806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610"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Quand collecter des données ?</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55956" y="931986"/>
            <a:ext cx="6257416" cy="2787160"/>
          </a:xfrm>
        </p:spPr>
        <p:txBody>
          <a:bodyPr/>
          <a:lstStyle/>
          <a:p>
            <a:pPr marL="0" indent="0">
              <a:buNone/>
            </a:pPr>
            <a:r>
              <a:rPr lang="fr-FR" sz="2300" dirty="0" smtClean="0">
                <a:solidFill>
                  <a:schemeClr val="tx1"/>
                </a:solidFill>
                <a:latin typeface="Calibri" panose="020F0502020204030204" pitchFamily="34" charset="0"/>
              </a:rPr>
              <a:t>S'applique </a:t>
            </a:r>
            <a:r>
              <a:rPr lang="fr-FR" sz="2300" dirty="0">
                <a:solidFill>
                  <a:schemeClr val="tx1"/>
                </a:solidFill>
                <a:latin typeface="Calibri" panose="020F0502020204030204" pitchFamily="34" charset="0"/>
              </a:rPr>
              <a:t>à différentes étapes de la </a:t>
            </a:r>
            <a:r>
              <a:rPr lang="fr-FR" sz="2300" dirty="0" smtClean="0">
                <a:solidFill>
                  <a:schemeClr val="tx1"/>
                </a:solidFill>
                <a:latin typeface="Calibri" panose="020F0502020204030204" pitchFamily="34" charset="0"/>
              </a:rPr>
              <a:t>MRP :</a:t>
            </a:r>
            <a:endParaRPr lang="fr-FR" sz="2300" dirty="0">
              <a:solidFill>
                <a:schemeClr val="tx1"/>
              </a:solidFill>
              <a:latin typeface="Calibri" panose="020F0502020204030204" pitchFamily="34" charset="0"/>
            </a:endParaRPr>
          </a:p>
          <a:p>
            <a:pPr marL="549275" lvl="1" indent="-285750">
              <a:spcBef>
                <a:spcPts val="600"/>
              </a:spcBef>
              <a:spcAft>
                <a:spcPts val="0"/>
              </a:spcAft>
              <a:buFont typeface="Wingdings" panose="05000000000000000000" pitchFamily="2" charset="2"/>
              <a:buChar char="ü"/>
            </a:pPr>
            <a:r>
              <a:rPr lang="fr-FR" sz="1800" dirty="0" smtClean="0">
                <a:solidFill>
                  <a:schemeClr val="accent2"/>
                </a:solidFill>
                <a:latin typeface="Calibri" panose="020F0502020204030204" pitchFamily="34" charset="0"/>
              </a:rPr>
              <a:t>Formulation du </a:t>
            </a:r>
            <a:r>
              <a:rPr lang="fr-FR" sz="1800" dirty="0">
                <a:solidFill>
                  <a:schemeClr val="accent2"/>
                </a:solidFill>
                <a:latin typeface="Calibri" panose="020F0502020204030204" pitchFamily="34" charset="0"/>
              </a:rPr>
              <a:t>problème </a:t>
            </a:r>
            <a:r>
              <a:rPr lang="fr-FR" sz="1800" dirty="0" smtClean="0">
                <a:solidFill>
                  <a:schemeClr val="accent2"/>
                </a:solidFill>
                <a:latin typeface="Calibri" panose="020F0502020204030204" pitchFamily="34" charset="0"/>
              </a:rPr>
              <a:t>: </a:t>
            </a:r>
            <a:r>
              <a:rPr lang="fr-FR" sz="1800" dirty="0" smtClean="0">
                <a:solidFill>
                  <a:schemeClr val="accent2"/>
                </a:solidFill>
                <a:latin typeface="Calibri" panose="020F0502020204030204" pitchFamily="34" charset="0"/>
              </a:rPr>
              <a:t>effets, priorisation, objectifs</a:t>
            </a:r>
            <a:endParaRPr lang="fr-FR" sz="1800" dirty="0" smtClean="0">
              <a:solidFill>
                <a:schemeClr val="accent2"/>
              </a:solidFill>
              <a:latin typeface="Calibri" panose="020F0502020204030204" pitchFamily="34" charset="0"/>
            </a:endParaRPr>
          </a:p>
          <a:p>
            <a:pPr marL="549275" lvl="1" indent="-285750">
              <a:spcBef>
                <a:spcPts val="600"/>
              </a:spcBef>
              <a:spcAft>
                <a:spcPts val="0"/>
              </a:spcAft>
              <a:buFont typeface="Wingdings" panose="05000000000000000000" pitchFamily="2" charset="2"/>
              <a:buChar char="ü"/>
            </a:pPr>
            <a:r>
              <a:rPr lang="fr-FR" sz="1800" dirty="0" smtClean="0">
                <a:solidFill>
                  <a:schemeClr val="accent2"/>
                </a:solidFill>
                <a:latin typeface="Calibri" panose="020F0502020204030204" pitchFamily="34" charset="0"/>
              </a:rPr>
              <a:t>Recherche </a:t>
            </a:r>
            <a:r>
              <a:rPr lang="fr-FR" sz="1800" dirty="0">
                <a:solidFill>
                  <a:schemeClr val="accent2"/>
                </a:solidFill>
                <a:latin typeface="Calibri" panose="020F0502020204030204" pitchFamily="34" charset="0"/>
              </a:rPr>
              <a:t>des causes et quantification </a:t>
            </a:r>
            <a:r>
              <a:rPr lang="fr-FR" sz="1800" dirty="0" smtClean="0">
                <a:solidFill>
                  <a:schemeClr val="accent2"/>
                </a:solidFill>
                <a:latin typeface="Calibri" panose="020F0502020204030204" pitchFamily="34" charset="0"/>
              </a:rPr>
              <a:t> : hypothèses</a:t>
            </a:r>
            <a:endParaRPr lang="fr-FR" sz="1800" dirty="0">
              <a:solidFill>
                <a:schemeClr val="accent2"/>
              </a:solidFill>
              <a:latin typeface="Calibri" panose="020F0502020204030204" pitchFamily="34" charset="0"/>
            </a:endParaRPr>
          </a:p>
          <a:p>
            <a:pPr marL="549275" lvl="1" indent="-285750">
              <a:spcBef>
                <a:spcPts val="600"/>
              </a:spcBef>
              <a:spcAft>
                <a:spcPts val="0"/>
              </a:spcAft>
              <a:buFont typeface="Wingdings" panose="05000000000000000000" pitchFamily="2" charset="2"/>
              <a:buChar char="ü"/>
            </a:pPr>
            <a:r>
              <a:rPr lang="fr-FR" sz="1800" dirty="0" smtClean="0">
                <a:solidFill>
                  <a:schemeClr val="accent2"/>
                </a:solidFill>
                <a:latin typeface="Calibri" panose="020F0502020204030204" pitchFamily="34" charset="0"/>
              </a:rPr>
              <a:t>Recherche </a:t>
            </a:r>
            <a:r>
              <a:rPr lang="fr-FR" sz="1800" dirty="0">
                <a:solidFill>
                  <a:schemeClr val="accent2"/>
                </a:solidFill>
                <a:latin typeface="Calibri" panose="020F0502020204030204" pitchFamily="34" charset="0"/>
              </a:rPr>
              <a:t>des </a:t>
            </a:r>
            <a:r>
              <a:rPr lang="fr-FR" sz="1800" dirty="0" smtClean="0">
                <a:solidFill>
                  <a:schemeClr val="accent2"/>
                </a:solidFill>
                <a:latin typeface="Calibri" panose="020F0502020204030204" pitchFamily="34" charset="0"/>
              </a:rPr>
              <a:t>solutions : validation des </a:t>
            </a:r>
            <a:r>
              <a:rPr lang="fr-FR" sz="1800" dirty="0" smtClean="0">
                <a:solidFill>
                  <a:schemeClr val="accent2"/>
                </a:solidFill>
                <a:latin typeface="Calibri" panose="020F0502020204030204" pitchFamily="34" charset="0"/>
              </a:rPr>
              <a:t>actions</a:t>
            </a:r>
          </a:p>
          <a:p>
            <a:pPr marL="549275" lvl="1" indent="-285750">
              <a:spcBef>
                <a:spcPts val="600"/>
              </a:spcBef>
              <a:spcAft>
                <a:spcPts val="0"/>
              </a:spcAft>
              <a:buFont typeface="Wingdings" panose="05000000000000000000" pitchFamily="2" charset="2"/>
              <a:buChar char="ü"/>
            </a:pPr>
            <a:r>
              <a:rPr lang="fr-FR" sz="1800" dirty="0">
                <a:solidFill>
                  <a:schemeClr val="accent2"/>
                </a:solidFill>
                <a:latin typeface="Calibri" panose="020F0502020204030204" pitchFamily="34" charset="0"/>
              </a:rPr>
              <a:t>Suivi (</a:t>
            </a:r>
            <a:r>
              <a:rPr lang="fr-FR" sz="1800" i="1" dirty="0">
                <a:solidFill>
                  <a:schemeClr val="accent2"/>
                </a:solidFill>
                <a:latin typeface="Calibri" panose="020F0502020204030204" pitchFamily="34" charset="0"/>
              </a:rPr>
              <a:t>monitoring</a:t>
            </a:r>
            <a:r>
              <a:rPr lang="fr-FR" sz="1800" dirty="0">
                <a:solidFill>
                  <a:schemeClr val="accent2"/>
                </a:solidFill>
                <a:latin typeface="Calibri" panose="020F0502020204030204" pitchFamily="34" charset="0"/>
              </a:rPr>
              <a:t>) : Détection </a:t>
            </a:r>
            <a:r>
              <a:rPr lang="fr-FR" sz="1800" dirty="0" smtClean="0">
                <a:solidFill>
                  <a:schemeClr val="accent2"/>
                </a:solidFill>
                <a:latin typeface="Calibri" panose="020F0502020204030204" pitchFamily="34" charset="0"/>
              </a:rPr>
              <a:t>d’anomalies</a:t>
            </a:r>
            <a:endParaRPr lang="fr-FR" sz="1800" dirty="0">
              <a:solidFill>
                <a:schemeClr val="accent2"/>
              </a:solidFill>
              <a:latin typeface="Calibri" panose="020F0502020204030204" pitchFamily="34" charset="0"/>
            </a:endParaRPr>
          </a:p>
          <a:p>
            <a:pPr lvl="1">
              <a:defRPr/>
            </a:pPr>
            <a:endParaRPr lang="fr-FR" sz="1600" dirty="0">
              <a:solidFill>
                <a:schemeClr val="accent2"/>
              </a:solidFill>
              <a:latin typeface="Calibri" panose="020F0502020204030204" pitchFamily="34" charset="0"/>
              <a:sym typeface="Arial"/>
            </a:endParaRPr>
          </a:p>
        </p:txBody>
      </p:sp>
      <p:sp>
        <p:nvSpPr>
          <p:cNvPr id="6" name="ZoneTexte 5"/>
          <p:cNvSpPr txBox="1"/>
          <p:nvPr/>
        </p:nvSpPr>
        <p:spPr>
          <a:xfrm>
            <a:off x="266912" y="4123477"/>
            <a:ext cx="378043" cy="110392"/>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7" name="Text Box 179"/>
          <p:cNvSpPr txBox="1">
            <a:spLocks noChangeArrowheads="1"/>
          </p:cNvSpPr>
          <p:nvPr/>
        </p:nvSpPr>
        <p:spPr bwMode="auto">
          <a:xfrm>
            <a:off x="2755956" y="5454450"/>
            <a:ext cx="317018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200">
                <a:solidFill>
                  <a:schemeClr val="tx1"/>
                </a:solidFill>
                <a:latin typeface="Times New Roman" pitchFamily="18" charset="0"/>
              </a:defRPr>
            </a:lvl1pPr>
            <a:lvl2pPr marL="742950" indent="-285750" eaLnBrk="0" hangingPunct="0">
              <a:defRPr sz="2200">
                <a:solidFill>
                  <a:schemeClr val="tx1"/>
                </a:solidFill>
                <a:latin typeface="Times New Roman" pitchFamily="18" charset="0"/>
              </a:defRPr>
            </a:lvl2pPr>
            <a:lvl3pPr marL="1143000" indent="-228600" eaLnBrk="0" hangingPunct="0">
              <a:defRPr sz="2200">
                <a:solidFill>
                  <a:schemeClr val="tx1"/>
                </a:solidFill>
                <a:latin typeface="Times New Roman" pitchFamily="18" charset="0"/>
              </a:defRPr>
            </a:lvl3pPr>
            <a:lvl4pPr marL="1600200" indent="-228600" eaLnBrk="0" hangingPunct="0">
              <a:defRPr sz="2200">
                <a:solidFill>
                  <a:schemeClr val="tx1"/>
                </a:solidFill>
                <a:latin typeface="Times New Roman" pitchFamily="18" charset="0"/>
              </a:defRPr>
            </a:lvl4pPr>
            <a:lvl5pPr marL="2057400" indent="-228600" eaLnBrk="0" hangingPunct="0">
              <a:defRPr sz="2200">
                <a:solidFill>
                  <a:schemeClr val="tx1"/>
                </a:solidFill>
                <a:latin typeface="Times New Roman" pitchFamily="18" charset="0"/>
              </a:defRPr>
            </a:lvl5pPr>
            <a:lvl6pPr marL="2514600" indent="-228600" eaLnBrk="0" fontAlgn="base" hangingPunct="0">
              <a:spcBef>
                <a:spcPct val="0"/>
              </a:spcBef>
              <a:spcAft>
                <a:spcPct val="0"/>
              </a:spcAft>
              <a:defRPr sz="2200">
                <a:solidFill>
                  <a:schemeClr val="tx1"/>
                </a:solidFill>
                <a:latin typeface="Times New Roman" pitchFamily="18" charset="0"/>
              </a:defRPr>
            </a:lvl6pPr>
            <a:lvl7pPr marL="2971800" indent="-228600" eaLnBrk="0" fontAlgn="base" hangingPunct="0">
              <a:spcBef>
                <a:spcPct val="0"/>
              </a:spcBef>
              <a:spcAft>
                <a:spcPct val="0"/>
              </a:spcAft>
              <a:defRPr sz="2200">
                <a:solidFill>
                  <a:schemeClr val="tx1"/>
                </a:solidFill>
                <a:latin typeface="Times New Roman" pitchFamily="18" charset="0"/>
              </a:defRPr>
            </a:lvl7pPr>
            <a:lvl8pPr marL="3429000" indent="-228600" eaLnBrk="0" fontAlgn="base" hangingPunct="0">
              <a:spcBef>
                <a:spcPct val="0"/>
              </a:spcBef>
              <a:spcAft>
                <a:spcPct val="0"/>
              </a:spcAft>
              <a:defRPr sz="2200">
                <a:solidFill>
                  <a:schemeClr val="tx1"/>
                </a:solidFill>
                <a:latin typeface="Times New Roman" pitchFamily="18" charset="0"/>
              </a:defRPr>
            </a:lvl8pPr>
            <a:lvl9pPr marL="3886200" indent="-228600" eaLnBrk="0" fontAlgn="base" hangingPunct="0">
              <a:spcBef>
                <a:spcPct val="0"/>
              </a:spcBef>
              <a:spcAft>
                <a:spcPct val="0"/>
              </a:spcAft>
              <a:defRPr sz="2200">
                <a:solidFill>
                  <a:schemeClr val="tx1"/>
                </a:solidFill>
                <a:latin typeface="Times New Roman" pitchFamily="18" charset="0"/>
              </a:defRPr>
            </a:lvl9pPr>
          </a:lstStyle>
          <a:p>
            <a:pPr algn="r" eaLnBrk="1" hangingPunct="1">
              <a:spcBef>
                <a:spcPct val="50000"/>
              </a:spcBef>
            </a:pPr>
            <a:r>
              <a:rPr lang="fr-FR" sz="1200" dirty="0" smtClean="0">
                <a:solidFill>
                  <a:srgbClr val="000099"/>
                </a:solidFill>
              </a:rPr>
              <a:t>Image Wikimédia Commons cc-by : </a:t>
            </a:r>
            <a:r>
              <a:rPr lang="fr-FR" sz="1200" dirty="0">
                <a:solidFill>
                  <a:srgbClr val="000099"/>
                </a:solidFill>
                <a:hlinkClick r:id="rId3"/>
              </a:rPr>
              <a:t>Source</a:t>
            </a:r>
            <a:endParaRPr lang="fr-FR" sz="1200" dirty="0">
              <a:solidFill>
                <a:srgbClr val="000099"/>
              </a:solidFill>
            </a:endParaRPr>
          </a:p>
        </p:txBody>
      </p:sp>
      <p:pic>
        <p:nvPicPr>
          <p:cNvPr id="9" name="Image 8" descr="Capture d’écran"/>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26144" y="2947052"/>
            <a:ext cx="3047867" cy="19952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par>
                          <p:cTn id="17" fill="hold">
                            <p:stCondLst>
                              <p:cond delay="500"/>
                            </p:stCondLst>
                            <p:childTnLst>
                              <p:par>
                                <p:cTn id="18" presetID="21" presetClass="entr" presetSubtype="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heel(1)">
                                      <p:cBhvr>
                                        <p:cTn id="20" dur="25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DF5"/>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présentation visuelle des données</a:t>
            </a:r>
            <a:endParaRPr lang="fr-FR" dirty="0"/>
          </a:p>
        </p:txBody>
      </p:sp>
      <p:sp>
        <p:nvSpPr>
          <p:cNvPr id="5" name="ZoneTexte 4"/>
          <p:cNvSpPr txBox="1"/>
          <p:nvPr/>
        </p:nvSpPr>
        <p:spPr>
          <a:xfrm>
            <a:off x="282152" y="339697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1026" name="Picture 2" descr="File:Playfair TimeSeries.png"/>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rot="21540000">
            <a:off x="3462655" y="1708413"/>
            <a:ext cx="4568825" cy="3377124"/>
          </a:xfrm>
          <a:prstGeom prst="rect">
            <a:avLst/>
          </a:prstGeom>
          <a:noFill/>
          <a:effectLst>
            <a:softEdge rad="139700"/>
          </a:effectLst>
          <a:extLst>
            <a:ext uri="{909E8E84-426E-40DD-AFC4-6F175D3DCCD1}">
              <a14:hiddenFill xmlns:a14="http://schemas.microsoft.com/office/drawing/2010/main">
                <a:solidFill>
                  <a:srgbClr val="FFFFFF"/>
                </a:solidFill>
              </a14:hiddenFill>
            </a:ext>
          </a:extLst>
        </p:spPr>
      </p:pic>
      <p:sp>
        <p:nvSpPr>
          <p:cNvPr id="6" name="Rectangle 5"/>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27421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771801" y="0"/>
            <a:ext cx="6241571" cy="706438"/>
          </a:xfrm>
        </p:spPr>
        <p:txBody>
          <a:bodyPr/>
          <a:lstStyle/>
          <a:p>
            <a:r>
              <a:rPr lang="fr-FR" dirty="0" smtClean="0"/>
              <a:t>Diagramme circulaire</a:t>
            </a:r>
            <a:br>
              <a:rPr lang="fr-FR" dirty="0" smtClean="0"/>
            </a:br>
            <a:r>
              <a:rPr lang="fr-FR" sz="2000" b="0" dirty="0"/>
              <a:t>Florence Nightingale (</a:t>
            </a:r>
            <a:r>
              <a:rPr lang="fr-FR" sz="2000" b="0" dirty="0" smtClean="0"/>
              <a:t>1858)</a:t>
            </a:r>
            <a:endParaRPr lang="fr-FR" sz="2000" b="0"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497774" y="1196696"/>
            <a:ext cx="6661001" cy="4188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ZoneTexte 4"/>
          <p:cNvSpPr txBox="1"/>
          <p:nvPr/>
        </p:nvSpPr>
        <p:spPr>
          <a:xfrm>
            <a:off x="274532" y="376273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6" name="Rectangle 5"/>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692577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9"/>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771801" y="0"/>
            <a:ext cx="6241571" cy="706438"/>
          </a:xfrm>
        </p:spPr>
        <p:txBody>
          <a:bodyPr/>
          <a:lstStyle/>
          <a:p>
            <a:r>
              <a:rPr lang="fr-FR" dirty="0"/>
              <a:t>Relevé des victimes du choléra </a:t>
            </a:r>
            <a:r>
              <a:rPr lang="fr-FR" sz="2000" b="0" dirty="0"/>
              <a:t>John Snow, </a:t>
            </a:r>
            <a:r>
              <a:rPr lang="fr-FR" sz="2000" b="0" dirty="0" smtClean="0"/>
              <a:t>1854</a:t>
            </a:r>
            <a:endParaRPr lang="fr-FR" b="0" dirty="0"/>
          </a:p>
        </p:txBody>
      </p:sp>
      <p:pic>
        <p:nvPicPr>
          <p:cNvPr id="4" name="Picture 4" descr="découverte du choléra relevés John Snow 1854 épidémiologi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633216" y="1216153"/>
            <a:ext cx="4309872" cy="4146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e 4"/>
          <p:cNvGrpSpPr/>
          <p:nvPr/>
        </p:nvGrpSpPr>
        <p:grpSpPr>
          <a:xfrm>
            <a:off x="4222495" y="2966706"/>
            <a:ext cx="3495058" cy="2109798"/>
            <a:chOff x="4222495" y="2966706"/>
            <a:chExt cx="3495058" cy="2109798"/>
          </a:xfrm>
        </p:grpSpPr>
        <p:sp>
          <p:nvSpPr>
            <p:cNvPr id="6" name="Ellipse 1"/>
            <p:cNvSpPr>
              <a:spLocks noChangeArrowheads="1"/>
            </p:cNvSpPr>
            <p:nvPr/>
          </p:nvSpPr>
          <p:spPr bwMode="auto">
            <a:xfrm>
              <a:off x="4222495" y="2966706"/>
              <a:ext cx="85257" cy="76437"/>
            </a:xfrm>
            <a:prstGeom prst="ellipse">
              <a:avLst/>
            </a:prstGeom>
            <a:solidFill>
              <a:srgbClr val="FF0000">
                <a:alpha val="83000"/>
              </a:srgbClr>
            </a:solidFill>
            <a:ln>
              <a:noFill/>
            </a:ln>
            <a:scene3d>
              <a:camera prst="orthographicFront"/>
              <a:lightRig rig="threePt" dir="t"/>
            </a:scene3d>
            <a:sp3d>
              <a:bevelT/>
            </a:sp3d>
            <a:extLst>
              <a:ext uri="{91240B29-F687-4F45-9708-019B960494DF}">
                <a14:hiddenLine xmlns:a14="http://schemas.microsoft.com/office/drawing/2010/main" w="12700" algn="ctr">
                  <a:solidFill>
                    <a:srgbClr val="000000"/>
                  </a:solidFill>
                  <a:round/>
                  <a:headEnd/>
                  <a:tailEnd/>
                </a14:hiddenLine>
              </a:ext>
            </a:extLst>
          </p:spPr>
          <p:txBody>
            <a:bodyPr/>
            <a:lstStyle/>
            <a:p>
              <a:endParaRPr lang="fr-FR">
                <a:solidFill>
                  <a:srgbClr val="990000"/>
                </a:solidFill>
              </a:endParaRPr>
            </a:p>
          </p:txBody>
        </p:sp>
        <p:sp>
          <p:nvSpPr>
            <p:cNvPr id="7" name="Ellipse 7"/>
            <p:cNvSpPr>
              <a:spLocks noChangeArrowheads="1"/>
            </p:cNvSpPr>
            <p:nvPr/>
          </p:nvSpPr>
          <p:spPr bwMode="auto">
            <a:xfrm>
              <a:off x="6288873" y="4377453"/>
              <a:ext cx="85257" cy="76437"/>
            </a:xfrm>
            <a:prstGeom prst="ellipse">
              <a:avLst/>
            </a:prstGeom>
            <a:solidFill>
              <a:srgbClr val="FF0000">
                <a:alpha val="83000"/>
              </a:srgbClr>
            </a:solidFill>
            <a:ln>
              <a:noFill/>
            </a:ln>
            <a:scene3d>
              <a:camera prst="orthographicFront"/>
              <a:lightRig rig="threePt" dir="t"/>
            </a:scene3d>
            <a:sp3d>
              <a:bevelT/>
            </a:sp3d>
            <a:extLst>
              <a:ext uri="{91240B29-F687-4F45-9708-019B960494DF}">
                <a14:hiddenLine xmlns:a14="http://schemas.microsoft.com/office/drawing/2010/main" w="12700" algn="ctr">
                  <a:solidFill>
                    <a:srgbClr val="000000"/>
                  </a:solidFill>
                  <a:round/>
                  <a:headEnd/>
                  <a:tailEnd/>
                </a14:hiddenLine>
              </a:ext>
            </a:extLst>
          </p:spPr>
          <p:txBody>
            <a:bodyPr/>
            <a:lstStyle/>
            <a:p>
              <a:endParaRPr lang="fr-FR">
                <a:solidFill>
                  <a:srgbClr val="990000"/>
                </a:solidFill>
              </a:endParaRPr>
            </a:p>
          </p:txBody>
        </p:sp>
        <p:sp>
          <p:nvSpPr>
            <p:cNvPr id="8" name="Ellipse 8"/>
            <p:cNvSpPr>
              <a:spLocks noChangeArrowheads="1"/>
            </p:cNvSpPr>
            <p:nvPr/>
          </p:nvSpPr>
          <p:spPr bwMode="auto">
            <a:xfrm>
              <a:off x="7632296" y="4160415"/>
              <a:ext cx="85257" cy="76437"/>
            </a:xfrm>
            <a:prstGeom prst="ellipse">
              <a:avLst/>
            </a:prstGeom>
            <a:solidFill>
              <a:srgbClr val="FF0000">
                <a:alpha val="83000"/>
              </a:srgbClr>
            </a:solidFill>
            <a:ln>
              <a:noFill/>
            </a:ln>
            <a:scene3d>
              <a:camera prst="orthographicFront"/>
              <a:lightRig rig="threePt" dir="t"/>
            </a:scene3d>
            <a:sp3d>
              <a:bevelT/>
            </a:sp3d>
            <a:extLst>
              <a:ext uri="{91240B29-F687-4F45-9708-019B960494DF}">
                <a14:hiddenLine xmlns:a14="http://schemas.microsoft.com/office/drawing/2010/main" w="12700" algn="ctr">
                  <a:solidFill>
                    <a:srgbClr val="000000"/>
                  </a:solidFill>
                  <a:round/>
                  <a:headEnd/>
                  <a:tailEnd/>
                </a14:hiddenLine>
              </a:ext>
            </a:extLst>
          </p:spPr>
          <p:txBody>
            <a:bodyPr/>
            <a:lstStyle/>
            <a:p>
              <a:endParaRPr lang="fr-FR">
                <a:solidFill>
                  <a:srgbClr val="990000"/>
                </a:solidFill>
              </a:endParaRPr>
            </a:p>
          </p:txBody>
        </p:sp>
        <p:sp>
          <p:nvSpPr>
            <p:cNvPr id="9" name="Ellipse 9"/>
            <p:cNvSpPr>
              <a:spLocks noChangeArrowheads="1"/>
            </p:cNvSpPr>
            <p:nvPr/>
          </p:nvSpPr>
          <p:spPr bwMode="auto">
            <a:xfrm>
              <a:off x="4693696" y="5000067"/>
              <a:ext cx="85257" cy="76437"/>
            </a:xfrm>
            <a:prstGeom prst="ellipse">
              <a:avLst/>
            </a:prstGeom>
            <a:solidFill>
              <a:srgbClr val="FF0000">
                <a:alpha val="83000"/>
              </a:srgbClr>
            </a:solidFill>
            <a:ln>
              <a:noFill/>
            </a:ln>
            <a:scene3d>
              <a:camera prst="orthographicFront"/>
              <a:lightRig rig="threePt" dir="t"/>
            </a:scene3d>
            <a:sp3d>
              <a:bevelT/>
            </a:sp3d>
            <a:extLst>
              <a:ext uri="{91240B29-F687-4F45-9708-019B960494DF}">
                <a14:hiddenLine xmlns:a14="http://schemas.microsoft.com/office/drawing/2010/main" w="12700" algn="ctr">
                  <a:solidFill>
                    <a:srgbClr val="000000"/>
                  </a:solidFill>
                  <a:round/>
                  <a:headEnd/>
                  <a:tailEnd/>
                </a14:hiddenLine>
              </a:ext>
            </a:extLst>
          </p:spPr>
          <p:txBody>
            <a:bodyPr/>
            <a:lstStyle/>
            <a:p>
              <a:endParaRPr lang="fr-FR">
                <a:solidFill>
                  <a:srgbClr val="990000"/>
                </a:solidFill>
              </a:endParaRPr>
            </a:p>
          </p:txBody>
        </p:sp>
      </p:grpSp>
      <p:sp>
        <p:nvSpPr>
          <p:cNvPr id="11" name="ZoneTexte 10"/>
          <p:cNvSpPr txBox="1"/>
          <p:nvPr/>
        </p:nvSpPr>
        <p:spPr>
          <a:xfrm>
            <a:off x="274532" y="376273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2" name="Rectangle 11"/>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64121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Histogramme</a:t>
            </a:r>
            <a:endParaRPr lang="fr-FR" dirty="0"/>
          </a:p>
        </p:txBody>
      </p:sp>
      <p:pic>
        <p:nvPicPr>
          <p:cNvPr id="8" name="Image 7"/>
          <p:cNvPicPr>
            <a:picLocks noChangeAspect="1"/>
          </p:cNvPicPr>
          <p:nvPr/>
        </p:nvPicPr>
        <p:blipFill>
          <a:blip r:embed="rId2"/>
          <a:stretch>
            <a:fillRect/>
          </a:stretch>
        </p:blipFill>
        <p:spPr>
          <a:xfrm>
            <a:off x="2771801" y="1361162"/>
            <a:ext cx="2373697" cy="2083496"/>
          </a:xfrm>
          <a:prstGeom prst="rect">
            <a:avLst/>
          </a:prstGeom>
        </p:spPr>
      </p:pic>
      <p:pic>
        <p:nvPicPr>
          <p:cNvPr id="9" name="Image 8"/>
          <p:cNvPicPr>
            <a:picLocks noChangeAspect="1"/>
          </p:cNvPicPr>
          <p:nvPr/>
        </p:nvPicPr>
        <p:blipFill>
          <a:blip r:embed="rId3"/>
          <a:stretch>
            <a:fillRect/>
          </a:stretch>
        </p:blipFill>
        <p:spPr>
          <a:xfrm>
            <a:off x="5553205" y="2782931"/>
            <a:ext cx="3048000" cy="2428875"/>
          </a:xfrm>
          <a:prstGeom prst="rect">
            <a:avLst/>
          </a:prstGeom>
        </p:spPr>
      </p:pic>
      <p:sp>
        <p:nvSpPr>
          <p:cNvPr id="10" name="Rectangle 9"/>
          <p:cNvSpPr/>
          <p:nvPr/>
        </p:nvSpPr>
        <p:spPr>
          <a:xfrm>
            <a:off x="6968709" y="5468779"/>
            <a:ext cx="1880643" cy="246221"/>
          </a:xfrm>
          <a:prstGeom prst="rect">
            <a:avLst/>
          </a:prstGeom>
        </p:spPr>
        <p:txBody>
          <a:bodyPr wrap="none">
            <a:spAutoFit/>
          </a:bodyPr>
          <a:lstStyle/>
          <a:p>
            <a:r>
              <a:rPr lang="fr-FR" sz="1000" dirty="0" smtClean="0"/>
              <a:t>Image </a:t>
            </a:r>
            <a:r>
              <a:rPr lang="fr-FR" sz="1000" dirty="0"/>
              <a:t>: </a:t>
            </a:r>
            <a:r>
              <a:rPr lang="fr-FR" sz="1000" dirty="0" smtClean="0"/>
              <a:t>boursier.com - </a:t>
            </a:r>
            <a:r>
              <a:rPr lang="fr-FR" sz="1000" dirty="0" smtClean="0">
                <a:hlinkClick r:id="rId4"/>
              </a:rPr>
              <a:t>source</a:t>
            </a:r>
            <a:endParaRPr lang="fr-FR" sz="1000" dirty="0"/>
          </a:p>
        </p:txBody>
      </p:sp>
      <p:sp>
        <p:nvSpPr>
          <p:cNvPr id="11" name="ZoneTexte 10"/>
          <p:cNvSpPr txBox="1"/>
          <p:nvPr/>
        </p:nvSpPr>
        <p:spPr>
          <a:xfrm>
            <a:off x="5429131" y="1657316"/>
            <a:ext cx="3296147" cy="800219"/>
          </a:xfrm>
          <a:prstGeom prst="rect">
            <a:avLst/>
          </a:prstGeom>
          <a:noFill/>
        </p:spPr>
        <p:txBody>
          <a:bodyPr wrap="square" rtlCol="0">
            <a:spAutoFit/>
          </a:bodyPr>
          <a:lstStyle/>
          <a:p>
            <a:r>
              <a:rPr lang="fr-FR" sz="2300" dirty="0" smtClean="0">
                <a:latin typeface="Calibri" panose="020F0502020204030204" pitchFamily="34" charset="0"/>
              </a:rPr>
              <a:t>Représentation graphique d’une cotation </a:t>
            </a:r>
            <a:r>
              <a:rPr lang="fr-FR" sz="2300" dirty="0" smtClean="0">
                <a:latin typeface="Calibri" panose="020F0502020204030204" pitchFamily="34" charset="0"/>
              </a:rPr>
              <a:t>boursière</a:t>
            </a:r>
            <a:endParaRPr lang="fr-FR" sz="2300" dirty="0" smtClean="0">
              <a:latin typeface="Calibri" panose="020F0502020204030204" pitchFamily="34" charset="0"/>
            </a:endParaRPr>
          </a:p>
        </p:txBody>
      </p:sp>
      <p:sp>
        <p:nvSpPr>
          <p:cNvPr id="12" name="ZoneTexte 11"/>
          <p:cNvSpPr txBox="1"/>
          <p:nvPr/>
        </p:nvSpPr>
        <p:spPr>
          <a:xfrm>
            <a:off x="2771801" y="3704980"/>
            <a:ext cx="2501657" cy="2062103"/>
          </a:xfrm>
          <a:prstGeom prst="rect">
            <a:avLst/>
          </a:prstGeom>
          <a:noFill/>
        </p:spPr>
        <p:txBody>
          <a:bodyPr wrap="square" rtlCol="0">
            <a:spAutoFit/>
          </a:bodyPr>
          <a:lstStyle/>
          <a:p>
            <a:r>
              <a:rPr lang="fr-FR" sz="1600" b="1" dirty="0" smtClean="0">
                <a:latin typeface="Calibri" panose="020F0502020204030204" pitchFamily="34" charset="0"/>
              </a:rPr>
              <a:t>Tableau de données :</a:t>
            </a:r>
          </a:p>
          <a:p>
            <a:pPr marL="285750" indent="-285750">
              <a:buFont typeface="Wingdings" panose="05000000000000000000" pitchFamily="2" charset="2"/>
              <a:buChar char="ü"/>
            </a:pPr>
            <a:r>
              <a:rPr lang="fr-FR" sz="1600" dirty="0" smtClean="0">
                <a:latin typeface="Calibri" panose="020F0502020204030204" pitchFamily="34" charset="0"/>
              </a:rPr>
              <a:t>Cours de l’action </a:t>
            </a:r>
          </a:p>
          <a:p>
            <a:pPr marL="285750" indent="-285750">
              <a:buFont typeface="Wingdings" panose="05000000000000000000" pitchFamily="2" charset="2"/>
              <a:buChar char="ü"/>
            </a:pPr>
            <a:r>
              <a:rPr lang="fr-FR" sz="1600" dirty="0" smtClean="0">
                <a:latin typeface="Calibri" panose="020F0502020204030204" pitchFamily="34" charset="0"/>
              </a:rPr>
              <a:t>Heure</a:t>
            </a:r>
          </a:p>
          <a:p>
            <a:r>
              <a:rPr lang="fr-FR" sz="1600" b="1" dirty="0" smtClean="0">
                <a:latin typeface="Calibri" panose="020F0502020204030204" pitchFamily="34" charset="0"/>
              </a:rPr>
              <a:t>Graphique :</a:t>
            </a:r>
          </a:p>
          <a:p>
            <a:pPr marL="285750" indent="-285750">
              <a:buFont typeface="Wingdings" panose="05000000000000000000" pitchFamily="2" charset="2"/>
              <a:buChar char="ü"/>
            </a:pPr>
            <a:r>
              <a:rPr lang="fr-FR" sz="1600" dirty="0" smtClean="0">
                <a:latin typeface="Calibri" panose="020F0502020204030204" pitchFamily="34" charset="0"/>
              </a:rPr>
              <a:t>Abscisse : Heure</a:t>
            </a:r>
          </a:p>
          <a:p>
            <a:pPr marL="285750" indent="-285750">
              <a:buFont typeface="Wingdings" panose="05000000000000000000" pitchFamily="2" charset="2"/>
              <a:buChar char="ü"/>
            </a:pPr>
            <a:r>
              <a:rPr lang="fr-FR" sz="1600" dirty="0" smtClean="0">
                <a:latin typeface="Calibri" panose="020F0502020204030204" pitchFamily="34" charset="0"/>
              </a:rPr>
              <a:t>Ordonnée : Cours de l’action</a:t>
            </a:r>
          </a:p>
          <a:p>
            <a:pPr marL="285750" indent="-285750">
              <a:buFont typeface="Wingdings" panose="05000000000000000000" pitchFamily="2" charset="2"/>
              <a:buChar char="ü"/>
            </a:pPr>
            <a:endParaRPr lang="fr-FR" sz="1600" dirty="0">
              <a:latin typeface="Calibri" panose="020F0502020204030204" pitchFamily="34" charset="0"/>
            </a:endParaRPr>
          </a:p>
        </p:txBody>
      </p:sp>
      <p:sp>
        <p:nvSpPr>
          <p:cNvPr id="13" name="Rectangle 12"/>
          <p:cNvSpPr/>
          <p:nvPr/>
        </p:nvSpPr>
        <p:spPr>
          <a:xfrm>
            <a:off x="2771801" y="2782931"/>
            <a:ext cx="1036111" cy="6617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3" name="ZoneTexte 2"/>
          <p:cNvSpPr txBox="1"/>
          <p:nvPr/>
        </p:nvSpPr>
        <p:spPr>
          <a:xfrm>
            <a:off x="3029919" y="5491404"/>
            <a:ext cx="3859078" cy="230832"/>
          </a:xfrm>
          <a:prstGeom prst="rect">
            <a:avLst/>
          </a:prstGeom>
          <a:noFill/>
        </p:spPr>
        <p:txBody>
          <a:bodyPr wrap="square" rtlCol="0">
            <a:spAutoFit/>
          </a:bodyPr>
          <a:lstStyle/>
          <a:p>
            <a:r>
              <a:rPr lang="fr-FR" sz="900" dirty="0"/>
              <a:t>Diapositive par </a:t>
            </a:r>
            <a:r>
              <a:rPr lang="fr-FR" sz="900" dirty="0" err="1"/>
              <a:t>Nandrianina</a:t>
            </a:r>
            <a:r>
              <a:rPr lang="fr-FR" sz="900" dirty="0"/>
              <a:t> ANDRIANARISON - AMADOU</a:t>
            </a:r>
          </a:p>
        </p:txBody>
      </p:sp>
    </p:spTree>
    <p:extLst>
      <p:ext uri="{BB962C8B-B14F-4D97-AF65-F5344CB8AC3E}">
        <p14:creationId xmlns:p14="http://schemas.microsoft.com/office/powerpoint/2010/main" val="113724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Diagramme bâton</a:t>
            </a:r>
          </a:p>
        </p:txBody>
      </p:sp>
      <p:sp>
        <p:nvSpPr>
          <p:cNvPr id="3" name="Espace réservé du texte 2"/>
          <p:cNvSpPr>
            <a:spLocks noGrp="1"/>
          </p:cNvSpPr>
          <p:nvPr>
            <p:ph type="body" idx="1"/>
          </p:nvPr>
        </p:nvSpPr>
        <p:spPr>
          <a:xfrm>
            <a:off x="2771801" y="1219895"/>
            <a:ext cx="6072677" cy="4206875"/>
          </a:xfrm>
        </p:spPr>
        <p:txBody>
          <a:bodyPr/>
          <a:lstStyle/>
          <a:p>
            <a:pPr marL="285750" indent="-285750">
              <a:buFont typeface="Wingdings" panose="05000000000000000000" pitchFamily="2" charset="2"/>
              <a:buChar char="q"/>
            </a:pPr>
            <a:endParaRPr lang="fr-FR" dirty="0"/>
          </a:p>
          <a:p>
            <a:endParaRPr lang="fr-FR" dirty="0"/>
          </a:p>
          <a:p>
            <a:endParaRPr lang="fr-FR" dirty="0"/>
          </a:p>
        </p:txBody>
      </p:sp>
      <p:sp>
        <p:nvSpPr>
          <p:cNvPr id="6" name="Text Box 179"/>
          <p:cNvSpPr txBox="1">
            <a:spLocks noChangeArrowheads="1"/>
          </p:cNvSpPr>
          <p:nvPr/>
        </p:nvSpPr>
        <p:spPr bwMode="auto">
          <a:xfrm>
            <a:off x="5674290" y="5404396"/>
            <a:ext cx="317018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200">
                <a:solidFill>
                  <a:schemeClr val="tx1"/>
                </a:solidFill>
                <a:latin typeface="Times New Roman" pitchFamily="18" charset="0"/>
              </a:defRPr>
            </a:lvl1pPr>
            <a:lvl2pPr marL="742950" indent="-285750" eaLnBrk="0" hangingPunct="0">
              <a:defRPr sz="2200">
                <a:solidFill>
                  <a:schemeClr val="tx1"/>
                </a:solidFill>
                <a:latin typeface="Times New Roman" pitchFamily="18" charset="0"/>
              </a:defRPr>
            </a:lvl2pPr>
            <a:lvl3pPr marL="1143000" indent="-228600" eaLnBrk="0" hangingPunct="0">
              <a:defRPr sz="2200">
                <a:solidFill>
                  <a:schemeClr val="tx1"/>
                </a:solidFill>
                <a:latin typeface="Times New Roman" pitchFamily="18" charset="0"/>
              </a:defRPr>
            </a:lvl3pPr>
            <a:lvl4pPr marL="1600200" indent="-228600" eaLnBrk="0" hangingPunct="0">
              <a:defRPr sz="2200">
                <a:solidFill>
                  <a:schemeClr val="tx1"/>
                </a:solidFill>
                <a:latin typeface="Times New Roman" pitchFamily="18" charset="0"/>
              </a:defRPr>
            </a:lvl4pPr>
            <a:lvl5pPr marL="2057400" indent="-228600" eaLnBrk="0" hangingPunct="0">
              <a:defRPr sz="2200">
                <a:solidFill>
                  <a:schemeClr val="tx1"/>
                </a:solidFill>
                <a:latin typeface="Times New Roman" pitchFamily="18" charset="0"/>
              </a:defRPr>
            </a:lvl5pPr>
            <a:lvl6pPr marL="2514600" indent="-228600" eaLnBrk="0" fontAlgn="base" hangingPunct="0">
              <a:spcBef>
                <a:spcPct val="0"/>
              </a:spcBef>
              <a:spcAft>
                <a:spcPct val="0"/>
              </a:spcAft>
              <a:defRPr sz="2200">
                <a:solidFill>
                  <a:schemeClr val="tx1"/>
                </a:solidFill>
                <a:latin typeface="Times New Roman" pitchFamily="18" charset="0"/>
              </a:defRPr>
            </a:lvl6pPr>
            <a:lvl7pPr marL="2971800" indent="-228600" eaLnBrk="0" fontAlgn="base" hangingPunct="0">
              <a:spcBef>
                <a:spcPct val="0"/>
              </a:spcBef>
              <a:spcAft>
                <a:spcPct val="0"/>
              </a:spcAft>
              <a:defRPr sz="2200">
                <a:solidFill>
                  <a:schemeClr val="tx1"/>
                </a:solidFill>
                <a:latin typeface="Times New Roman" pitchFamily="18" charset="0"/>
              </a:defRPr>
            </a:lvl7pPr>
            <a:lvl8pPr marL="3429000" indent="-228600" eaLnBrk="0" fontAlgn="base" hangingPunct="0">
              <a:spcBef>
                <a:spcPct val="0"/>
              </a:spcBef>
              <a:spcAft>
                <a:spcPct val="0"/>
              </a:spcAft>
              <a:defRPr sz="2200">
                <a:solidFill>
                  <a:schemeClr val="tx1"/>
                </a:solidFill>
                <a:latin typeface="Times New Roman" pitchFamily="18" charset="0"/>
              </a:defRPr>
            </a:lvl8pPr>
            <a:lvl9pPr marL="3886200" indent="-228600" eaLnBrk="0" fontAlgn="base" hangingPunct="0">
              <a:spcBef>
                <a:spcPct val="0"/>
              </a:spcBef>
              <a:spcAft>
                <a:spcPct val="0"/>
              </a:spcAft>
              <a:defRPr sz="2200">
                <a:solidFill>
                  <a:schemeClr val="tx1"/>
                </a:solidFill>
                <a:latin typeface="Times New Roman" pitchFamily="18" charset="0"/>
              </a:defRPr>
            </a:lvl9pPr>
          </a:lstStyle>
          <a:p>
            <a:pPr algn="r" eaLnBrk="1" hangingPunct="1">
              <a:spcBef>
                <a:spcPct val="50000"/>
              </a:spcBef>
            </a:pPr>
            <a:r>
              <a:rPr lang="fr-FR" sz="1200" dirty="0" smtClean="0">
                <a:solidFill>
                  <a:srgbClr val="000099"/>
                </a:solidFill>
              </a:rPr>
              <a:t>INSEE : </a:t>
            </a:r>
            <a:r>
              <a:rPr lang="fr-FR" sz="1200" dirty="0">
                <a:solidFill>
                  <a:srgbClr val="000099"/>
                </a:solidFill>
                <a:hlinkClick r:id="rId2"/>
              </a:rPr>
              <a:t>Source</a:t>
            </a:r>
            <a:endParaRPr lang="fr-FR" sz="1200" dirty="0">
              <a:solidFill>
                <a:srgbClr val="000099"/>
              </a:solidFill>
            </a:endParaRPr>
          </a:p>
        </p:txBody>
      </p:sp>
      <p:sp>
        <p:nvSpPr>
          <p:cNvPr id="7" name="ZoneTexte 6"/>
          <p:cNvSpPr txBox="1"/>
          <p:nvPr/>
        </p:nvSpPr>
        <p:spPr>
          <a:xfrm>
            <a:off x="5857046" y="1984574"/>
            <a:ext cx="3296147" cy="800219"/>
          </a:xfrm>
          <a:prstGeom prst="rect">
            <a:avLst/>
          </a:prstGeom>
          <a:noFill/>
        </p:spPr>
        <p:txBody>
          <a:bodyPr wrap="square" rtlCol="0">
            <a:spAutoFit/>
          </a:bodyPr>
          <a:lstStyle/>
          <a:p>
            <a:r>
              <a:rPr lang="fr-FR" sz="2300" dirty="0" smtClean="0">
                <a:latin typeface="Calibri" panose="020F0502020204030204" pitchFamily="34" charset="0"/>
              </a:rPr>
              <a:t>Pyramide des âges – 2014</a:t>
            </a:r>
          </a:p>
          <a:p>
            <a:pPr algn="ctr"/>
            <a:r>
              <a:rPr lang="fr-FR" sz="2300" dirty="0" smtClean="0">
                <a:latin typeface="Calibri" panose="020F0502020204030204" pitchFamily="34" charset="0"/>
              </a:rPr>
              <a:t>Population française</a:t>
            </a:r>
          </a:p>
        </p:txBody>
      </p:sp>
      <p:pic>
        <p:nvPicPr>
          <p:cNvPr id="4" name="Image 3"/>
          <p:cNvPicPr>
            <a:picLocks noChangeAspect="1"/>
          </p:cNvPicPr>
          <p:nvPr/>
        </p:nvPicPr>
        <p:blipFill rotWithShape="1">
          <a:blip r:embed="rId3"/>
          <a:srcRect t="7889" b="-2605"/>
          <a:stretch/>
        </p:blipFill>
        <p:spPr>
          <a:xfrm>
            <a:off x="2620561" y="1368000"/>
            <a:ext cx="3115650" cy="1800000"/>
          </a:xfrm>
          <a:prstGeom prst="rect">
            <a:avLst/>
          </a:prstGeom>
        </p:spPr>
      </p:pic>
      <p:pic>
        <p:nvPicPr>
          <p:cNvPr id="8" name="Image 7"/>
          <p:cNvPicPr>
            <a:picLocks noChangeAspect="1"/>
          </p:cNvPicPr>
          <p:nvPr/>
        </p:nvPicPr>
        <p:blipFill rotWithShape="1">
          <a:blip r:embed="rId4"/>
          <a:srcRect l="3083" t="3012" r="1981" b="1986"/>
          <a:stretch/>
        </p:blipFill>
        <p:spPr>
          <a:xfrm>
            <a:off x="5934480" y="2880000"/>
            <a:ext cx="2952000" cy="2340000"/>
          </a:xfrm>
          <a:prstGeom prst="rect">
            <a:avLst/>
          </a:prstGeom>
        </p:spPr>
      </p:pic>
      <p:sp>
        <p:nvSpPr>
          <p:cNvPr id="9" name="ZoneTexte 8"/>
          <p:cNvSpPr txBox="1"/>
          <p:nvPr/>
        </p:nvSpPr>
        <p:spPr>
          <a:xfrm>
            <a:off x="2620560" y="3364667"/>
            <a:ext cx="2927771" cy="2062103"/>
          </a:xfrm>
          <a:prstGeom prst="rect">
            <a:avLst/>
          </a:prstGeom>
          <a:noFill/>
        </p:spPr>
        <p:txBody>
          <a:bodyPr wrap="square" rtlCol="0">
            <a:spAutoFit/>
          </a:bodyPr>
          <a:lstStyle/>
          <a:p>
            <a:r>
              <a:rPr lang="fr-FR" sz="1600" b="1" dirty="0" smtClean="0">
                <a:latin typeface="Calibri" panose="020F0502020204030204" pitchFamily="34" charset="0"/>
              </a:rPr>
              <a:t>Tableau de données :</a:t>
            </a:r>
          </a:p>
          <a:p>
            <a:pPr marL="285750" indent="-285750">
              <a:buFont typeface="Wingdings" panose="05000000000000000000" pitchFamily="2" charset="2"/>
              <a:buChar char="ü"/>
            </a:pPr>
            <a:r>
              <a:rPr lang="fr-FR" sz="1600" dirty="0" smtClean="0">
                <a:latin typeface="Calibri" panose="020F0502020204030204" pitchFamily="34" charset="0"/>
              </a:rPr>
              <a:t>Age </a:t>
            </a:r>
          </a:p>
          <a:p>
            <a:pPr marL="285750" indent="-285750">
              <a:buFont typeface="Wingdings" panose="05000000000000000000" pitchFamily="2" charset="2"/>
              <a:buChar char="ü"/>
            </a:pPr>
            <a:r>
              <a:rPr lang="fr-FR" sz="1600" dirty="0" smtClean="0">
                <a:latin typeface="Calibri" panose="020F0502020204030204" pitchFamily="34" charset="0"/>
              </a:rPr>
              <a:t>Nombre d’hommes / femmes</a:t>
            </a:r>
          </a:p>
          <a:p>
            <a:r>
              <a:rPr lang="fr-FR" sz="1600" b="1" dirty="0" smtClean="0">
                <a:latin typeface="Calibri" panose="020F0502020204030204" pitchFamily="34" charset="0"/>
              </a:rPr>
              <a:t>Graphique :</a:t>
            </a:r>
          </a:p>
          <a:p>
            <a:pPr marL="285750" indent="-285750">
              <a:buFont typeface="Wingdings" panose="05000000000000000000" pitchFamily="2" charset="2"/>
              <a:buChar char="ü"/>
            </a:pPr>
            <a:r>
              <a:rPr lang="fr-FR" sz="1600" dirty="0" smtClean="0">
                <a:latin typeface="Calibri" panose="020F0502020204030204" pitchFamily="34" charset="0"/>
              </a:rPr>
              <a:t>Abscisse : Nombre en millier</a:t>
            </a:r>
          </a:p>
          <a:p>
            <a:pPr marL="285750" indent="-285750">
              <a:buFont typeface="Wingdings" panose="05000000000000000000" pitchFamily="2" charset="2"/>
              <a:buChar char="ü"/>
            </a:pPr>
            <a:r>
              <a:rPr lang="fr-FR" sz="1600" dirty="0" smtClean="0">
                <a:latin typeface="Calibri" panose="020F0502020204030204" pitchFamily="34" charset="0"/>
              </a:rPr>
              <a:t>Ordonnée : Age</a:t>
            </a:r>
          </a:p>
          <a:p>
            <a:pPr marL="285750" indent="-285750">
              <a:buFont typeface="Wingdings" panose="05000000000000000000" pitchFamily="2" charset="2"/>
              <a:buChar char="ü"/>
            </a:pPr>
            <a:r>
              <a:rPr lang="fr-FR" sz="1600" dirty="0" smtClean="0">
                <a:latin typeface="Calibri" panose="020F0502020204030204" pitchFamily="34" charset="0"/>
              </a:rPr>
              <a:t>Hommes / femmes</a:t>
            </a:r>
          </a:p>
          <a:p>
            <a:pPr marL="285750" indent="-285750">
              <a:buFont typeface="Wingdings" panose="05000000000000000000" pitchFamily="2" charset="2"/>
              <a:buChar char="ü"/>
            </a:pPr>
            <a:endParaRPr lang="fr-FR" sz="1600" dirty="0">
              <a:latin typeface="Calibri" panose="020F0502020204030204" pitchFamily="34" charset="0"/>
            </a:endParaRPr>
          </a:p>
        </p:txBody>
      </p:sp>
      <p:sp>
        <p:nvSpPr>
          <p:cNvPr id="12" name="ZoneTexte 11"/>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0" name="ZoneTexte 9"/>
          <p:cNvSpPr txBox="1"/>
          <p:nvPr/>
        </p:nvSpPr>
        <p:spPr>
          <a:xfrm>
            <a:off x="3029919" y="5491404"/>
            <a:ext cx="3859078" cy="230832"/>
          </a:xfrm>
          <a:prstGeom prst="rect">
            <a:avLst/>
          </a:prstGeom>
          <a:noFill/>
        </p:spPr>
        <p:txBody>
          <a:bodyPr wrap="square" rtlCol="0">
            <a:spAutoFit/>
          </a:bodyPr>
          <a:lstStyle/>
          <a:p>
            <a:r>
              <a:rPr lang="fr-FR" sz="900" dirty="0"/>
              <a:t>Diapositive par </a:t>
            </a:r>
            <a:r>
              <a:rPr lang="fr-FR" sz="900" dirty="0" err="1"/>
              <a:t>Nandrianina</a:t>
            </a:r>
            <a:r>
              <a:rPr lang="fr-FR" sz="900" dirty="0"/>
              <a:t> ANDRIANARISON - AMADOU</a:t>
            </a:r>
          </a:p>
        </p:txBody>
      </p:sp>
    </p:spTree>
    <p:extLst>
      <p:ext uri="{BB962C8B-B14F-4D97-AF65-F5344CB8AC3E}">
        <p14:creationId xmlns:p14="http://schemas.microsoft.com/office/powerpoint/2010/main" val="1199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p:cNvGrpSpPr/>
          <p:nvPr/>
        </p:nvGrpSpPr>
        <p:grpSpPr>
          <a:xfrm>
            <a:off x="3128560" y="1147995"/>
            <a:ext cx="2927771" cy="2175337"/>
            <a:chOff x="2620560" y="1147995"/>
            <a:chExt cx="2927771" cy="2175337"/>
          </a:xfrm>
        </p:grpSpPr>
        <p:pic>
          <p:nvPicPr>
            <p:cNvPr id="5" name="Image 4"/>
            <p:cNvPicPr>
              <a:picLocks noChangeAspect="1"/>
            </p:cNvPicPr>
            <p:nvPr/>
          </p:nvPicPr>
          <p:blipFill>
            <a:blip r:embed="rId2"/>
            <a:stretch>
              <a:fillRect/>
            </a:stretch>
          </p:blipFill>
          <p:spPr>
            <a:xfrm>
              <a:off x="2620560" y="1147995"/>
              <a:ext cx="2927771" cy="2175337"/>
            </a:xfrm>
            <a:prstGeom prst="rect">
              <a:avLst/>
            </a:prstGeom>
          </p:spPr>
        </p:pic>
        <p:sp>
          <p:nvSpPr>
            <p:cNvPr id="11" name="Rectangle 10"/>
            <p:cNvSpPr/>
            <p:nvPr/>
          </p:nvSpPr>
          <p:spPr>
            <a:xfrm>
              <a:off x="4528820" y="1147995"/>
              <a:ext cx="1001731" cy="2175337"/>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Titre 1"/>
          <p:cNvSpPr>
            <a:spLocks noGrp="1"/>
          </p:cNvSpPr>
          <p:nvPr>
            <p:ph type="title"/>
          </p:nvPr>
        </p:nvSpPr>
        <p:spPr/>
        <p:txBody>
          <a:bodyPr/>
          <a:lstStyle/>
          <a:p>
            <a:r>
              <a:rPr lang="fr-FR" dirty="0"/>
              <a:t>Diagramme circulaire</a:t>
            </a:r>
          </a:p>
        </p:txBody>
      </p:sp>
      <p:sp>
        <p:nvSpPr>
          <p:cNvPr id="3" name="Espace réservé du texte 2"/>
          <p:cNvSpPr>
            <a:spLocks noGrp="1"/>
          </p:cNvSpPr>
          <p:nvPr>
            <p:ph type="body" idx="1"/>
          </p:nvPr>
        </p:nvSpPr>
        <p:spPr>
          <a:xfrm>
            <a:off x="2771801" y="1219895"/>
            <a:ext cx="6072677" cy="4206875"/>
          </a:xfrm>
        </p:spPr>
        <p:txBody>
          <a:bodyPr/>
          <a:lstStyle/>
          <a:p>
            <a:pPr marL="285750" indent="-285750">
              <a:buFont typeface="Wingdings" panose="05000000000000000000" pitchFamily="2" charset="2"/>
              <a:buChar char="q"/>
            </a:pPr>
            <a:endParaRPr lang="fr-FR" dirty="0"/>
          </a:p>
          <a:p>
            <a:endParaRPr lang="fr-FR" dirty="0"/>
          </a:p>
          <a:p>
            <a:endParaRPr lang="fr-FR" dirty="0"/>
          </a:p>
        </p:txBody>
      </p:sp>
      <p:sp>
        <p:nvSpPr>
          <p:cNvPr id="6" name="Text Box 179"/>
          <p:cNvSpPr txBox="1">
            <a:spLocks noChangeArrowheads="1"/>
          </p:cNvSpPr>
          <p:nvPr/>
        </p:nvSpPr>
        <p:spPr bwMode="auto">
          <a:xfrm>
            <a:off x="5674290" y="5404396"/>
            <a:ext cx="317018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200">
                <a:solidFill>
                  <a:schemeClr val="tx1"/>
                </a:solidFill>
                <a:latin typeface="Times New Roman" pitchFamily="18" charset="0"/>
              </a:defRPr>
            </a:lvl1pPr>
            <a:lvl2pPr marL="742950" indent="-285750" eaLnBrk="0" hangingPunct="0">
              <a:defRPr sz="2200">
                <a:solidFill>
                  <a:schemeClr val="tx1"/>
                </a:solidFill>
                <a:latin typeface="Times New Roman" pitchFamily="18" charset="0"/>
              </a:defRPr>
            </a:lvl2pPr>
            <a:lvl3pPr marL="1143000" indent="-228600" eaLnBrk="0" hangingPunct="0">
              <a:defRPr sz="2200">
                <a:solidFill>
                  <a:schemeClr val="tx1"/>
                </a:solidFill>
                <a:latin typeface="Times New Roman" pitchFamily="18" charset="0"/>
              </a:defRPr>
            </a:lvl3pPr>
            <a:lvl4pPr marL="1600200" indent="-228600" eaLnBrk="0" hangingPunct="0">
              <a:defRPr sz="2200">
                <a:solidFill>
                  <a:schemeClr val="tx1"/>
                </a:solidFill>
                <a:latin typeface="Times New Roman" pitchFamily="18" charset="0"/>
              </a:defRPr>
            </a:lvl4pPr>
            <a:lvl5pPr marL="2057400" indent="-228600" eaLnBrk="0" hangingPunct="0">
              <a:defRPr sz="2200">
                <a:solidFill>
                  <a:schemeClr val="tx1"/>
                </a:solidFill>
                <a:latin typeface="Times New Roman" pitchFamily="18" charset="0"/>
              </a:defRPr>
            </a:lvl5pPr>
            <a:lvl6pPr marL="2514600" indent="-228600" eaLnBrk="0" fontAlgn="base" hangingPunct="0">
              <a:spcBef>
                <a:spcPct val="0"/>
              </a:spcBef>
              <a:spcAft>
                <a:spcPct val="0"/>
              </a:spcAft>
              <a:defRPr sz="2200">
                <a:solidFill>
                  <a:schemeClr val="tx1"/>
                </a:solidFill>
                <a:latin typeface="Times New Roman" pitchFamily="18" charset="0"/>
              </a:defRPr>
            </a:lvl6pPr>
            <a:lvl7pPr marL="2971800" indent="-228600" eaLnBrk="0" fontAlgn="base" hangingPunct="0">
              <a:spcBef>
                <a:spcPct val="0"/>
              </a:spcBef>
              <a:spcAft>
                <a:spcPct val="0"/>
              </a:spcAft>
              <a:defRPr sz="2200">
                <a:solidFill>
                  <a:schemeClr val="tx1"/>
                </a:solidFill>
                <a:latin typeface="Times New Roman" pitchFamily="18" charset="0"/>
              </a:defRPr>
            </a:lvl7pPr>
            <a:lvl8pPr marL="3429000" indent="-228600" eaLnBrk="0" fontAlgn="base" hangingPunct="0">
              <a:spcBef>
                <a:spcPct val="0"/>
              </a:spcBef>
              <a:spcAft>
                <a:spcPct val="0"/>
              </a:spcAft>
              <a:defRPr sz="2200">
                <a:solidFill>
                  <a:schemeClr val="tx1"/>
                </a:solidFill>
                <a:latin typeface="Times New Roman" pitchFamily="18" charset="0"/>
              </a:defRPr>
            </a:lvl8pPr>
            <a:lvl9pPr marL="3886200" indent="-228600" eaLnBrk="0" fontAlgn="base" hangingPunct="0">
              <a:spcBef>
                <a:spcPct val="0"/>
              </a:spcBef>
              <a:spcAft>
                <a:spcPct val="0"/>
              </a:spcAft>
              <a:defRPr sz="2200">
                <a:solidFill>
                  <a:schemeClr val="tx1"/>
                </a:solidFill>
                <a:latin typeface="Times New Roman" pitchFamily="18" charset="0"/>
              </a:defRPr>
            </a:lvl9pPr>
          </a:lstStyle>
          <a:p>
            <a:pPr algn="r" eaLnBrk="1" hangingPunct="1">
              <a:spcBef>
                <a:spcPct val="50000"/>
              </a:spcBef>
            </a:pPr>
            <a:r>
              <a:rPr lang="fr-FR" sz="1200" dirty="0" smtClean="0">
                <a:solidFill>
                  <a:srgbClr val="000099"/>
                </a:solidFill>
              </a:rPr>
              <a:t>Exemple </a:t>
            </a:r>
            <a:r>
              <a:rPr lang="fr-FR" sz="1200" dirty="0" err="1" smtClean="0">
                <a:solidFill>
                  <a:srgbClr val="000099"/>
                </a:solidFill>
              </a:rPr>
              <a:t>Wikimedia</a:t>
            </a:r>
            <a:r>
              <a:rPr lang="fr-FR" sz="1200" dirty="0" smtClean="0">
                <a:solidFill>
                  <a:srgbClr val="000099"/>
                </a:solidFill>
              </a:rPr>
              <a:t> : </a:t>
            </a:r>
            <a:r>
              <a:rPr lang="fr-FR" sz="1200" dirty="0">
                <a:solidFill>
                  <a:srgbClr val="000099"/>
                </a:solidFill>
                <a:hlinkClick r:id="rId3"/>
              </a:rPr>
              <a:t>Source</a:t>
            </a:r>
            <a:endParaRPr lang="fr-FR" sz="1200" dirty="0">
              <a:solidFill>
                <a:srgbClr val="000099"/>
              </a:solidFill>
            </a:endParaRPr>
          </a:p>
        </p:txBody>
      </p:sp>
      <p:sp>
        <p:nvSpPr>
          <p:cNvPr id="7" name="ZoneTexte 6"/>
          <p:cNvSpPr txBox="1"/>
          <p:nvPr/>
        </p:nvSpPr>
        <p:spPr>
          <a:xfrm>
            <a:off x="5643686" y="1700094"/>
            <a:ext cx="3296147" cy="800219"/>
          </a:xfrm>
          <a:prstGeom prst="rect">
            <a:avLst/>
          </a:prstGeom>
          <a:noFill/>
        </p:spPr>
        <p:txBody>
          <a:bodyPr wrap="square" rtlCol="0">
            <a:spAutoFit/>
          </a:bodyPr>
          <a:lstStyle/>
          <a:p>
            <a:pPr algn="ctr"/>
            <a:r>
              <a:rPr lang="fr-FR" sz="2300" dirty="0" smtClean="0">
                <a:latin typeface="Calibri" panose="020F0502020204030204" pitchFamily="34" charset="0"/>
              </a:rPr>
              <a:t>Elections </a:t>
            </a:r>
            <a:r>
              <a:rPr lang="fr-FR" sz="2300" dirty="0" smtClean="0">
                <a:latin typeface="Calibri" panose="020F0502020204030204" pitchFamily="34" charset="0"/>
              </a:rPr>
              <a:t>au parlement européen</a:t>
            </a:r>
          </a:p>
        </p:txBody>
      </p:sp>
      <p:sp>
        <p:nvSpPr>
          <p:cNvPr id="9" name="ZoneTexte 8"/>
          <p:cNvSpPr txBox="1"/>
          <p:nvPr/>
        </p:nvSpPr>
        <p:spPr>
          <a:xfrm>
            <a:off x="2620560" y="3364667"/>
            <a:ext cx="2927771" cy="2308324"/>
          </a:xfrm>
          <a:prstGeom prst="rect">
            <a:avLst/>
          </a:prstGeom>
          <a:noFill/>
        </p:spPr>
        <p:txBody>
          <a:bodyPr wrap="square" rtlCol="0">
            <a:spAutoFit/>
          </a:bodyPr>
          <a:lstStyle/>
          <a:p>
            <a:r>
              <a:rPr lang="fr-FR" sz="1600" b="1" dirty="0" smtClean="0">
                <a:latin typeface="Calibri" panose="020F0502020204030204" pitchFamily="34" charset="0"/>
              </a:rPr>
              <a:t>Tableau de données :</a:t>
            </a:r>
          </a:p>
          <a:p>
            <a:pPr marL="285750" indent="-285750">
              <a:buFont typeface="Wingdings" panose="05000000000000000000" pitchFamily="2" charset="2"/>
              <a:buChar char="ü"/>
            </a:pPr>
            <a:r>
              <a:rPr lang="fr-FR" sz="1600" dirty="0" smtClean="0">
                <a:latin typeface="Calibri" panose="020F0502020204030204" pitchFamily="34" charset="0"/>
              </a:rPr>
              <a:t>Nom des </a:t>
            </a:r>
            <a:r>
              <a:rPr lang="fr-FR" sz="1600" dirty="0" smtClean="0">
                <a:latin typeface="Calibri" panose="020F0502020204030204" pitchFamily="34" charset="0"/>
              </a:rPr>
              <a:t>groupes de partis</a:t>
            </a:r>
            <a:endParaRPr lang="fr-FR" sz="1600" dirty="0" smtClean="0">
              <a:latin typeface="Calibri" panose="020F0502020204030204" pitchFamily="34" charset="0"/>
            </a:endParaRPr>
          </a:p>
          <a:p>
            <a:pPr marL="285750" indent="-285750">
              <a:buFont typeface="Wingdings" panose="05000000000000000000" pitchFamily="2" charset="2"/>
              <a:buChar char="ü"/>
            </a:pPr>
            <a:r>
              <a:rPr lang="fr-FR" sz="1600" dirty="0" smtClean="0">
                <a:latin typeface="Calibri" panose="020F0502020204030204" pitchFamily="34" charset="0"/>
              </a:rPr>
              <a:t>Nombre de sièges</a:t>
            </a:r>
          </a:p>
          <a:p>
            <a:endParaRPr lang="fr-FR" sz="1600" dirty="0" smtClean="0">
              <a:latin typeface="Calibri" panose="020F0502020204030204" pitchFamily="34" charset="0"/>
            </a:endParaRPr>
          </a:p>
          <a:p>
            <a:r>
              <a:rPr lang="fr-FR" sz="1600" b="1" dirty="0" smtClean="0">
                <a:latin typeface="Calibri" panose="020F0502020204030204" pitchFamily="34" charset="0"/>
              </a:rPr>
              <a:t>Graphique :</a:t>
            </a:r>
          </a:p>
          <a:p>
            <a:pPr marL="285750" indent="-285750">
              <a:buFont typeface="Wingdings" panose="05000000000000000000" pitchFamily="2" charset="2"/>
              <a:buChar char="ü"/>
            </a:pPr>
            <a:r>
              <a:rPr lang="fr-FR" sz="1600" dirty="0" smtClean="0">
                <a:latin typeface="Calibri" panose="020F0502020204030204" pitchFamily="34" charset="0"/>
              </a:rPr>
              <a:t>Groupes</a:t>
            </a:r>
            <a:r>
              <a:rPr lang="fr-FR" sz="1600" dirty="0" smtClean="0">
                <a:latin typeface="Calibri" panose="020F0502020204030204" pitchFamily="34" charset="0"/>
              </a:rPr>
              <a:t>	</a:t>
            </a:r>
          </a:p>
          <a:p>
            <a:pPr marL="285750" indent="-285750">
              <a:buFont typeface="Wingdings" panose="05000000000000000000" pitchFamily="2" charset="2"/>
              <a:buChar char="ü"/>
            </a:pPr>
            <a:r>
              <a:rPr lang="fr-FR" sz="1600" dirty="0" smtClean="0">
                <a:latin typeface="Calibri" panose="020F0502020204030204" pitchFamily="34" charset="0"/>
              </a:rPr>
              <a:t>Pourcentage de sièges</a:t>
            </a:r>
          </a:p>
          <a:p>
            <a:pPr marL="285750" indent="-285750">
              <a:buFont typeface="Wingdings" panose="05000000000000000000" pitchFamily="2" charset="2"/>
              <a:buChar char="ü"/>
            </a:pPr>
            <a:endParaRPr lang="fr-FR" sz="1600" dirty="0" smtClean="0">
              <a:latin typeface="Calibri" panose="020F0502020204030204" pitchFamily="34" charset="0"/>
            </a:endParaRPr>
          </a:p>
          <a:p>
            <a:pPr marL="285750" indent="-285750">
              <a:buFont typeface="Wingdings" panose="05000000000000000000" pitchFamily="2" charset="2"/>
              <a:buChar char="ü"/>
            </a:pPr>
            <a:endParaRPr lang="fr-FR" sz="1600" dirty="0">
              <a:latin typeface="Calibri" panose="020F0502020204030204" pitchFamily="34" charset="0"/>
            </a:endParaRPr>
          </a:p>
        </p:txBody>
      </p:sp>
      <p:pic>
        <p:nvPicPr>
          <p:cNvPr id="10" name="Image 9"/>
          <p:cNvPicPr>
            <a:picLocks noChangeAspect="1"/>
          </p:cNvPicPr>
          <p:nvPr/>
        </p:nvPicPr>
        <p:blipFill>
          <a:blip r:embed="rId4"/>
          <a:stretch>
            <a:fillRect/>
          </a:stretch>
        </p:blipFill>
        <p:spPr>
          <a:xfrm>
            <a:off x="5781749" y="2536384"/>
            <a:ext cx="3213970" cy="2461864"/>
          </a:xfrm>
          <a:prstGeom prst="rect">
            <a:avLst/>
          </a:prstGeom>
        </p:spPr>
      </p:pic>
      <p:sp>
        <p:nvSpPr>
          <p:cNvPr id="12" name="ZoneTexte 11"/>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3" name="ZoneTexte 12"/>
          <p:cNvSpPr txBox="1"/>
          <p:nvPr/>
        </p:nvSpPr>
        <p:spPr>
          <a:xfrm>
            <a:off x="3223648" y="5498670"/>
            <a:ext cx="3859078" cy="230832"/>
          </a:xfrm>
          <a:prstGeom prst="rect">
            <a:avLst/>
          </a:prstGeom>
          <a:noFill/>
        </p:spPr>
        <p:txBody>
          <a:bodyPr wrap="square" rtlCol="0">
            <a:spAutoFit/>
          </a:bodyPr>
          <a:lstStyle/>
          <a:p>
            <a:r>
              <a:rPr lang="fr-FR" sz="900" dirty="0"/>
              <a:t>Diapositive par </a:t>
            </a:r>
            <a:r>
              <a:rPr lang="fr-FR" sz="900" dirty="0" err="1"/>
              <a:t>Nandrianina</a:t>
            </a:r>
            <a:r>
              <a:rPr lang="fr-FR" sz="900" dirty="0"/>
              <a:t> ANDRIANARISON - AMADOU</a:t>
            </a:r>
          </a:p>
        </p:txBody>
      </p:sp>
    </p:spTree>
    <p:extLst>
      <p:ext uri="{BB962C8B-B14F-4D97-AF65-F5344CB8AC3E}">
        <p14:creationId xmlns:p14="http://schemas.microsoft.com/office/powerpoint/2010/main" val="52452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Carte</a:t>
            </a:r>
            <a:endParaRPr lang="fr-FR" dirty="0"/>
          </a:p>
        </p:txBody>
      </p:sp>
      <p:sp>
        <p:nvSpPr>
          <p:cNvPr id="3" name="Espace réservé du texte 2"/>
          <p:cNvSpPr>
            <a:spLocks noGrp="1"/>
          </p:cNvSpPr>
          <p:nvPr>
            <p:ph type="body" idx="1"/>
          </p:nvPr>
        </p:nvSpPr>
        <p:spPr>
          <a:xfrm>
            <a:off x="5130826" y="4369495"/>
            <a:ext cx="6072677" cy="4206875"/>
          </a:xfrm>
        </p:spPr>
        <p:txBody>
          <a:bodyPr/>
          <a:lstStyle/>
          <a:p>
            <a:pPr marL="285750" indent="-285750">
              <a:buFont typeface="Wingdings" panose="05000000000000000000" pitchFamily="2" charset="2"/>
              <a:buChar char="q"/>
            </a:pPr>
            <a:endParaRPr lang="fr-FR" dirty="0"/>
          </a:p>
          <a:p>
            <a:endParaRPr lang="fr-FR" dirty="0"/>
          </a:p>
          <a:p>
            <a:endParaRPr lang="fr-FR" dirty="0"/>
          </a:p>
        </p:txBody>
      </p:sp>
      <p:sp>
        <p:nvSpPr>
          <p:cNvPr id="6" name="Text Box 179"/>
          <p:cNvSpPr txBox="1">
            <a:spLocks noChangeArrowheads="1"/>
          </p:cNvSpPr>
          <p:nvPr/>
        </p:nvSpPr>
        <p:spPr bwMode="auto">
          <a:xfrm>
            <a:off x="5674290" y="5404396"/>
            <a:ext cx="3170188"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200">
                <a:solidFill>
                  <a:schemeClr val="tx1"/>
                </a:solidFill>
                <a:latin typeface="Times New Roman" pitchFamily="18" charset="0"/>
              </a:defRPr>
            </a:lvl1pPr>
            <a:lvl2pPr marL="742950" indent="-285750" eaLnBrk="0" hangingPunct="0">
              <a:defRPr sz="2200">
                <a:solidFill>
                  <a:schemeClr val="tx1"/>
                </a:solidFill>
                <a:latin typeface="Times New Roman" pitchFamily="18" charset="0"/>
              </a:defRPr>
            </a:lvl2pPr>
            <a:lvl3pPr marL="1143000" indent="-228600" eaLnBrk="0" hangingPunct="0">
              <a:defRPr sz="2200">
                <a:solidFill>
                  <a:schemeClr val="tx1"/>
                </a:solidFill>
                <a:latin typeface="Times New Roman" pitchFamily="18" charset="0"/>
              </a:defRPr>
            </a:lvl3pPr>
            <a:lvl4pPr marL="1600200" indent="-228600" eaLnBrk="0" hangingPunct="0">
              <a:defRPr sz="2200">
                <a:solidFill>
                  <a:schemeClr val="tx1"/>
                </a:solidFill>
                <a:latin typeface="Times New Roman" pitchFamily="18" charset="0"/>
              </a:defRPr>
            </a:lvl4pPr>
            <a:lvl5pPr marL="2057400" indent="-228600" eaLnBrk="0" hangingPunct="0">
              <a:defRPr sz="2200">
                <a:solidFill>
                  <a:schemeClr val="tx1"/>
                </a:solidFill>
                <a:latin typeface="Times New Roman" pitchFamily="18" charset="0"/>
              </a:defRPr>
            </a:lvl5pPr>
            <a:lvl6pPr marL="2514600" indent="-228600" eaLnBrk="0" fontAlgn="base" hangingPunct="0">
              <a:spcBef>
                <a:spcPct val="0"/>
              </a:spcBef>
              <a:spcAft>
                <a:spcPct val="0"/>
              </a:spcAft>
              <a:defRPr sz="2200">
                <a:solidFill>
                  <a:schemeClr val="tx1"/>
                </a:solidFill>
                <a:latin typeface="Times New Roman" pitchFamily="18" charset="0"/>
              </a:defRPr>
            </a:lvl6pPr>
            <a:lvl7pPr marL="2971800" indent="-228600" eaLnBrk="0" fontAlgn="base" hangingPunct="0">
              <a:spcBef>
                <a:spcPct val="0"/>
              </a:spcBef>
              <a:spcAft>
                <a:spcPct val="0"/>
              </a:spcAft>
              <a:defRPr sz="2200">
                <a:solidFill>
                  <a:schemeClr val="tx1"/>
                </a:solidFill>
                <a:latin typeface="Times New Roman" pitchFamily="18" charset="0"/>
              </a:defRPr>
            </a:lvl7pPr>
            <a:lvl8pPr marL="3429000" indent="-228600" eaLnBrk="0" fontAlgn="base" hangingPunct="0">
              <a:spcBef>
                <a:spcPct val="0"/>
              </a:spcBef>
              <a:spcAft>
                <a:spcPct val="0"/>
              </a:spcAft>
              <a:defRPr sz="2200">
                <a:solidFill>
                  <a:schemeClr val="tx1"/>
                </a:solidFill>
                <a:latin typeface="Times New Roman" pitchFamily="18" charset="0"/>
              </a:defRPr>
            </a:lvl8pPr>
            <a:lvl9pPr marL="3886200" indent="-228600" eaLnBrk="0" fontAlgn="base" hangingPunct="0">
              <a:spcBef>
                <a:spcPct val="0"/>
              </a:spcBef>
              <a:spcAft>
                <a:spcPct val="0"/>
              </a:spcAft>
              <a:defRPr sz="2200">
                <a:solidFill>
                  <a:schemeClr val="tx1"/>
                </a:solidFill>
                <a:latin typeface="Times New Roman" pitchFamily="18" charset="0"/>
              </a:defRPr>
            </a:lvl9pPr>
          </a:lstStyle>
          <a:p>
            <a:pPr algn="r" eaLnBrk="1" hangingPunct="1">
              <a:spcBef>
                <a:spcPct val="50000"/>
              </a:spcBef>
            </a:pPr>
            <a:r>
              <a:rPr lang="fr-FR" sz="1200" dirty="0" smtClean="0">
                <a:solidFill>
                  <a:srgbClr val="000099"/>
                </a:solidFill>
              </a:rPr>
              <a:t>Données : </a:t>
            </a:r>
            <a:r>
              <a:rPr lang="fr-FR" sz="1200" dirty="0">
                <a:solidFill>
                  <a:srgbClr val="000099"/>
                </a:solidFill>
                <a:hlinkClick r:id="rId3"/>
              </a:rPr>
              <a:t>Source</a:t>
            </a:r>
            <a:endParaRPr lang="fr-FR" sz="1200" dirty="0">
              <a:solidFill>
                <a:srgbClr val="000099"/>
              </a:solidFill>
            </a:endParaRPr>
          </a:p>
        </p:txBody>
      </p:sp>
      <p:sp>
        <p:nvSpPr>
          <p:cNvPr id="7" name="ZoneTexte 6"/>
          <p:cNvSpPr txBox="1"/>
          <p:nvPr/>
        </p:nvSpPr>
        <p:spPr>
          <a:xfrm>
            <a:off x="2771801" y="991496"/>
            <a:ext cx="5758378" cy="723275"/>
          </a:xfrm>
          <a:prstGeom prst="rect">
            <a:avLst/>
          </a:prstGeom>
          <a:noFill/>
        </p:spPr>
        <p:txBody>
          <a:bodyPr wrap="square" rtlCol="0">
            <a:spAutoFit/>
          </a:bodyPr>
          <a:lstStyle/>
          <a:p>
            <a:pPr algn="ctr"/>
            <a:r>
              <a:rPr lang="fr-FR" sz="2300" dirty="0" smtClean="0">
                <a:latin typeface="Calibri" panose="020F0502020204030204" pitchFamily="34" charset="0"/>
              </a:rPr>
              <a:t>Participants au </a:t>
            </a:r>
            <a:r>
              <a:rPr lang="fr-FR" sz="2300" dirty="0" smtClean="0">
                <a:latin typeface="Calibri" panose="020F0502020204030204" pitchFamily="34" charset="0"/>
              </a:rPr>
              <a:t>MOOC GdP#3</a:t>
            </a:r>
            <a:endParaRPr lang="fr-FR" sz="2300" dirty="0" smtClean="0">
              <a:latin typeface="Calibri" panose="020F0502020204030204" pitchFamily="34" charset="0"/>
            </a:endParaRPr>
          </a:p>
          <a:p>
            <a:pPr algn="ctr"/>
            <a:r>
              <a:rPr lang="fr-FR" sz="1800" i="1" dirty="0" err="1" smtClean="0">
                <a:latin typeface="Calibri" panose="020F0502020204030204" pitchFamily="34" charset="0"/>
              </a:rPr>
              <a:t>Heatmap</a:t>
            </a:r>
            <a:r>
              <a:rPr lang="fr-FR" sz="1800" dirty="0" smtClean="0">
                <a:latin typeface="Calibri" panose="020F0502020204030204" pitchFamily="34" charset="0"/>
              </a:rPr>
              <a:t> </a:t>
            </a:r>
            <a:r>
              <a:rPr lang="fr-FR" sz="1800" dirty="0" smtClean="0">
                <a:latin typeface="Calibri" panose="020F0502020204030204" pitchFamily="34" charset="0"/>
              </a:rPr>
              <a:t> ou </a:t>
            </a:r>
            <a:r>
              <a:rPr lang="fr-FR" sz="1800" dirty="0" smtClean="0">
                <a:latin typeface="Calibri" panose="020F0502020204030204" pitchFamily="34" charset="0"/>
              </a:rPr>
              <a:t>carte colorée</a:t>
            </a:r>
          </a:p>
        </p:txBody>
      </p:sp>
      <p:pic>
        <p:nvPicPr>
          <p:cNvPr id="4" name="Image 3"/>
          <p:cNvPicPr>
            <a:picLocks noChangeAspect="1"/>
          </p:cNvPicPr>
          <p:nvPr/>
        </p:nvPicPr>
        <p:blipFill>
          <a:blip r:embed="rId4"/>
          <a:stretch>
            <a:fillRect/>
          </a:stretch>
        </p:blipFill>
        <p:spPr>
          <a:xfrm>
            <a:off x="3211760" y="1894743"/>
            <a:ext cx="5067300" cy="3092940"/>
          </a:xfrm>
          <a:prstGeom prst="rect">
            <a:avLst/>
          </a:prstGeom>
        </p:spPr>
      </p:pic>
      <p:sp>
        <p:nvSpPr>
          <p:cNvPr id="12" name="ZoneTexte 11"/>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148555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Matrice de classement</a:t>
            </a:r>
            <a:endParaRPr lang="fr-FR" dirty="0"/>
          </a:p>
        </p:txBody>
      </p:sp>
      <p:sp>
        <p:nvSpPr>
          <p:cNvPr id="3" name="Espace réservé du texte 2"/>
          <p:cNvSpPr>
            <a:spLocks noGrp="1"/>
          </p:cNvSpPr>
          <p:nvPr>
            <p:ph type="body" idx="1"/>
          </p:nvPr>
        </p:nvSpPr>
        <p:spPr>
          <a:xfrm>
            <a:off x="2771801" y="1219895"/>
            <a:ext cx="6072677" cy="4206875"/>
          </a:xfrm>
        </p:spPr>
        <p:txBody>
          <a:bodyPr/>
          <a:lstStyle/>
          <a:p>
            <a:pPr marL="285750" indent="-285750">
              <a:buFont typeface="Wingdings" panose="05000000000000000000" pitchFamily="2" charset="2"/>
              <a:buChar char="q"/>
            </a:pPr>
            <a:endParaRPr lang="fr-FR" dirty="0"/>
          </a:p>
          <a:p>
            <a:endParaRPr lang="fr-FR" dirty="0"/>
          </a:p>
          <a:p>
            <a:endParaRPr lang="fr-FR" dirty="0"/>
          </a:p>
        </p:txBody>
      </p:sp>
      <p:sp>
        <p:nvSpPr>
          <p:cNvPr id="16" name="ZoneTexte 15"/>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grpSp>
        <p:nvGrpSpPr>
          <p:cNvPr id="11" name="Groupe 10"/>
          <p:cNvGrpSpPr/>
          <p:nvPr/>
        </p:nvGrpSpPr>
        <p:grpSpPr>
          <a:xfrm>
            <a:off x="2627784" y="1017811"/>
            <a:ext cx="6192688" cy="4503985"/>
            <a:chOff x="2555776" y="1140341"/>
            <a:chExt cx="6192688" cy="4503985"/>
          </a:xfrm>
        </p:grpSpPr>
        <p:sp>
          <p:nvSpPr>
            <p:cNvPr id="13" name="Line 4"/>
            <p:cNvSpPr>
              <a:spLocks noChangeShapeType="1"/>
            </p:cNvSpPr>
            <p:nvPr/>
          </p:nvSpPr>
          <p:spPr bwMode="auto">
            <a:xfrm flipV="1">
              <a:off x="3168471" y="1453748"/>
              <a:ext cx="1" cy="3636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dirty="0"/>
            </a:p>
          </p:txBody>
        </p:sp>
        <p:sp>
          <p:nvSpPr>
            <p:cNvPr id="14" name="Line 5"/>
            <p:cNvSpPr>
              <a:spLocks noChangeShapeType="1"/>
            </p:cNvSpPr>
            <p:nvPr/>
          </p:nvSpPr>
          <p:spPr bwMode="auto">
            <a:xfrm flipV="1">
              <a:off x="3168472" y="5089747"/>
              <a:ext cx="550798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dirty="0"/>
            </a:p>
          </p:txBody>
        </p:sp>
        <p:cxnSp>
          <p:nvCxnSpPr>
            <p:cNvPr id="17" name="Connecteur droit 16"/>
            <p:cNvCxnSpPr/>
            <p:nvPr/>
          </p:nvCxnSpPr>
          <p:spPr>
            <a:xfrm flipV="1">
              <a:off x="4571999" y="1633748"/>
              <a:ext cx="1" cy="34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flipV="1">
              <a:off x="5940151" y="1633748"/>
              <a:ext cx="1" cy="34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flipV="1">
              <a:off x="7308303" y="1633748"/>
              <a:ext cx="1" cy="34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flipV="1">
              <a:off x="8604447" y="1633748"/>
              <a:ext cx="1" cy="34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a:xfrm flipV="1">
              <a:off x="3168448" y="4225652"/>
              <a:ext cx="54360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a:xfrm flipV="1">
              <a:off x="3168448" y="3361556"/>
              <a:ext cx="54360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flipV="1">
              <a:off x="3168448" y="2497460"/>
              <a:ext cx="54360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flipV="1">
              <a:off x="3168448" y="1633364"/>
              <a:ext cx="543600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ZoneTexte 24"/>
            <p:cNvSpPr txBox="1"/>
            <p:nvPr/>
          </p:nvSpPr>
          <p:spPr>
            <a:xfrm>
              <a:off x="3131840" y="5089748"/>
              <a:ext cx="288032" cy="307777"/>
            </a:xfrm>
            <a:prstGeom prst="rect">
              <a:avLst/>
            </a:prstGeom>
            <a:noFill/>
          </p:spPr>
          <p:txBody>
            <a:bodyPr wrap="square" rtlCol="0">
              <a:spAutoFit/>
            </a:bodyPr>
            <a:lstStyle/>
            <a:p>
              <a:r>
                <a:rPr lang="fr-FR" sz="1400" dirty="0" smtClean="0">
                  <a:latin typeface="Calibri" pitchFamily="34" charset="0"/>
                </a:rPr>
                <a:t>0</a:t>
              </a:r>
              <a:endParaRPr lang="fr-FR" sz="1400" dirty="0">
                <a:latin typeface="Calibri" pitchFamily="34" charset="0"/>
              </a:endParaRPr>
            </a:p>
          </p:txBody>
        </p:sp>
        <p:sp>
          <p:nvSpPr>
            <p:cNvPr id="26" name="ZoneTexte 25"/>
            <p:cNvSpPr txBox="1"/>
            <p:nvPr/>
          </p:nvSpPr>
          <p:spPr>
            <a:xfrm>
              <a:off x="4427984" y="5089748"/>
              <a:ext cx="288032" cy="307777"/>
            </a:xfrm>
            <a:prstGeom prst="rect">
              <a:avLst/>
            </a:prstGeom>
            <a:noFill/>
          </p:spPr>
          <p:txBody>
            <a:bodyPr wrap="square" rtlCol="0">
              <a:spAutoFit/>
            </a:bodyPr>
            <a:lstStyle/>
            <a:p>
              <a:r>
                <a:rPr lang="fr-FR" sz="1400" dirty="0" smtClean="0">
                  <a:latin typeface="Calibri" pitchFamily="34" charset="0"/>
                </a:rPr>
                <a:t>1</a:t>
              </a:r>
              <a:endParaRPr lang="fr-FR" sz="1400" dirty="0">
                <a:latin typeface="Calibri" pitchFamily="34" charset="0"/>
              </a:endParaRPr>
            </a:p>
          </p:txBody>
        </p:sp>
        <p:sp>
          <p:nvSpPr>
            <p:cNvPr id="27" name="ZoneTexte 26"/>
            <p:cNvSpPr txBox="1"/>
            <p:nvPr/>
          </p:nvSpPr>
          <p:spPr>
            <a:xfrm>
              <a:off x="5796136" y="5089748"/>
              <a:ext cx="288032" cy="307777"/>
            </a:xfrm>
            <a:prstGeom prst="rect">
              <a:avLst/>
            </a:prstGeom>
            <a:noFill/>
          </p:spPr>
          <p:txBody>
            <a:bodyPr wrap="square" rtlCol="0">
              <a:spAutoFit/>
            </a:bodyPr>
            <a:lstStyle/>
            <a:p>
              <a:r>
                <a:rPr lang="fr-FR" sz="1400" dirty="0" smtClean="0">
                  <a:latin typeface="Calibri" pitchFamily="34" charset="0"/>
                </a:rPr>
                <a:t>2</a:t>
              </a:r>
              <a:endParaRPr lang="fr-FR" sz="1400" dirty="0">
                <a:latin typeface="Calibri" pitchFamily="34" charset="0"/>
              </a:endParaRPr>
            </a:p>
          </p:txBody>
        </p:sp>
        <p:sp>
          <p:nvSpPr>
            <p:cNvPr id="28" name="ZoneTexte 27"/>
            <p:cNvSpPr txBox="1"/>
            <p:nvPr/>
          </p:nvSpPr>
          <p:spPr>
            <a:xfrm>
              <a:off x="7164288" y="5089748"/>
              <a:ext cx="288032" cy="307777"/>
            </a:xfrm>
            <a:prstGeom prst="rect">
              <a:avLst/>
            </a:prstGeom>
            <a:noFill/>
          </p:spPr>
          <p:txBody>
            <a:bodyPr wrap="square" rtlCol="0">
              <a:spAutoFit/>
            </a:bodyPr>
            <a:lstStyle/>
            <a:p>
              <a:r>
                <a:rPr lang="fr-FR" sz="1400" dirty="0" smtClean="0">
                  <a:latin typeface="Calibri" pitchFamily="34" charset="0"/>
                </a:rPr>
                <a:t>3</a:t>
              </a:r>
            </a:p>
          </p:txBody>
        </p:sp>
        <p:sp>
          <p:nvSpPr>
            <p:cNvPr id="29" name="ZoneTexte 28"/>
            <p:cNvSpPr txBox="1"/>
            <p:nvPr/>
          </p:nvSpPr>
          <p:spPr>
            <a:xfrm>
              <a:off x="8460432" y="5089748"/>
              <a:ext cx="288032" cy="307777"/>
            </a:xfrm>
            <a:prstGeom prst="rect">
              <a:avLst/>
            </a:prstGeom>
            <a:noFill/>
          </p:spPr>
          <p:txBody>
            <a:bodyPr wrap="square" rtlCol="0">
              <a:spAutoFit/>
            </a:bodyPr>
            <a:lstStyle/>
            <a:p>
              <a:r>
                <a:rPr lang="fr-FR" sz="1400" dirty="0" smtClean="0">
                  <a:latin typeface="Calibri" pitchFamily="34" charset="0"/>
                </a:rPr>
                <a:t>4</a:t>
              </a:r>
            </a:p>
          </p:txBody>
        </p:sp>
        <p:sp>
          <p:nvSpPr>
            <p:cNvPr id="30" name="ZoneTexte 29"/>
            <p:cNvSpPr txBox="1"/>
            <p:nvPr/>
          </p:nvSpPr>
          <p:spPr>
            <a:xfrm>
              <a:off x="2843808" y="4945732"/>
              <a:ext cx="288032" cy="307777"/>
            </a:xfrm>
            <a:prstGeom prst="rect">
              <a:avLst/>
            </a:prstGeom>
            <a:noFill/>
          </p:spPr>
          <p:txBody>
            <a:bodyPr wrap="square" rtlCol="0">
              <a:spAutoFit/>
            </a:bodyPr>
            <a:lstStyle/>
            <a:p>
              <a:r>
                <a:rPr lang="fr-FR" sz="1400" dirty="0" smtClean="0">
                  <a:latin typeface="Calibri" pitchFamily="34" charset="0"/>
                </a:rPr>
                <a:t>0</a:t>
              </a:r>
              <a:endParaRPr lang="fr-FR" sz="1400" dirty="0">
                <a:latin typeface="Calibri" pitchFamily="34" charset="0"/>
              </a:endParaRPr>
            </a:p>
          </p:txBody>
        </p:sp>
        <p:sp>
          <p:nvSpPr>
            <p:cNvPr id="31" name="ZoneTexte 30"/>
            <p:cNvSpPr txBox="1"/>
            <p:nvPr/>
          </p:nvSpPr>
          <p:spPr>
            <a:xfrm>
              <a:off x="2843808" y="4081636"/>
              <a:ext cx="288032" cy="307777"/>
            </a:xfrm>
            <a:prstGeom prst="rect">
              <a:avLst/>
            </a:prstGeom>
            <a:noFill/>
          </p:spPr>
          <p:txBody>
            <a:bodyPr wrap="square" rtlCol="0">
              <a:spAutoFit/>
            </a:bodyPr>
            <a:lstStyle/>
            <a:p>
              <a:r>
                <a:rPr lang="fr-FR" sz="1400" dirty="0" smtClean="0">
                  <a:latin typeface="Calibri" pitchFamily="34" charset="0"/>
                </a:rPr>
                <a:t>1</a:t>
              </a:r>
              <a:endParaRPr lang="fr-FR" sz="1400" dirty="0">
                <a:latin typeface="Calibri" pitchFamily="34" charset="0"/>
              </a:endParaRPr>
            </a:p>
          </p:txBody>
        </p:sp>
        <p:sp>
          <p:nvSpPr>
            <p:cNvPr id="32" name="ZoneTexte 31"/>
            <p:cNvSpPr txBox="1"/>
            <p:nvPr/>
          </p:nvSpPr>
          <p:spPr>
            <a:xfrm>
              <a:off x="2843808" y="3217540"/>
              <a:ext cx="288032" cy="307777"/>
            </a:xfrm>
            <a:prstGeom prst="rect">
              <a:avLst/>
            </a:prstGeom>
            <a:noFill/>
          </p:spPr>
          <p:txBody>
            <a:bodyPr wrap="square" rtlCol="0">
              <a:spAutoFit/>
            </a:bodyPr>
            <a:lstStyle/>
            <a:p>
              <a:r>
                <a:rPr lang="fr-FR" sz="1400" dirty="0" smtClean="0">
                  <a:latin typeface="Calibri" pitchFamily="34" charset="0"/>
                </a:rPr>
                <a:t>2</a:t>
              </a:r>
              <a:endParaRPr lang="fr-FR" sz="1400" dirty="0">
                <a:latin typeface="Calibri" pitchFamily="34" charset="0"/>
              </a:endParaRPr>
            </a:p>
          </p:txBody>
        </p:sp>
        <p:sp>
          <p:nvSpPr>
            <p:cNvPr id="33" name="ZoneTexte 32"/>
            <p:cNvSpPr txBox="1"/>
            <p:nvPr/>
          </p:nvSpPr>
          <p:spPr>
            <a:xfrm>
              <a:off x="2843808" y="2353444"/>
              <a:ext cx="288032" cy="307777"/>
            </a:xfrm>
            <a:prstGeom prst="rect">
              <a:avLst/>
            </a:prstGeom>
            <a:noFill/>
          </p:spPr>
          <p:txBody>
            <a:bodyPr wrap="square" rtlCol="0">
              <a:spAutoFit/>
            </a:bodyPr>
            <a:lstStyle/>
            <a:p>
              <a:r>
                <a:rPr lang="fr-FR" sz="1400" dirty="0" smtClean="0">
                  <a:latin typeface="Calibri" pitchFamily="34" charset="0"/>
                </a:rPr>
                <a:t>3</a:t>
              </a:r>
            </a:p>
          </p:txBody>
        </p:sp>
        <p:sp>
          <p:nvSpPr>
            <p:cNvPr id="34" name="ZoneTexte 33"/>
            <p:cNvSpPr txBox="1"/>
            <p:nvPr/>
          </p:nvSpPr>
          <p:spPr>
            <a:xfrm>
              <a:off x="2843808" y="1489348"/>
              <a:ext cx="288032" cy="307777"/>
            </a:xfrm>
            <a:prstGeom prst="rect">
              <a:avLst/>
            </a:prstGeom>
            <a:noFill/>
          </p:spPr>
          <p:txBody>
            <a:bodyPr wrap="square" rtlCol="0">
              <a:spAutoFit/>
            </a:bodyPr>
            <a:lstStyle/>
            <a:p>
              <a:r>
                <a:rPr lang="fr-FR" sz="1400" dirty="0" smtClean="0">
                  <a:latin typeface="Calibri" pitchFamily="34" charset="0"/>
                </a:rPr>
                <a:t>4</a:t>
              </a:r>
            </a:p>
          </p:txBody>
        </p:sp>
        <p:sp>
          <p:nvSpPr>
            <p:cNvPr id="35" name="ZoneTexte 34"/>
            <p:cNvSpPr txBox="1"/>
            <p:nvPr/>
          </p:nvSpPr>
          <p:spPr>
            <a:xfrm>
              <a:off x="5508104" y="5305772"/>
              <a:ext cx="1080120" cy="338554"/>
            </a:xfrm>
            <a:prstGeom prst="rect">
              <a:avLst/>
            </a:prstGeom>
            <a:noFill/>
          </p:spPr>
          <p:txBody>
            <a:bodyPr wrap="square" rtlCol="0">
              <a:spAutoFit/>
            </a:bodyPr>
            <a:lstStyle/>
            <a:p>
              <a:r>
                <a:rPr lang="fr-FR" sz="1600" dirty="0" smtClean="0">
                  <a:latin typeface="Calibri" pitchFamily="34" charset="0"/>
                </a:rPr>
                <a:t>Gravité</a:t>
              </a:r>
              <a:endParaRPr lang="fr-FR" sz="1600" dirty="0">
                <a:latin typeface="Calibri" pitchFamily="34" charset="0"/>
              </a:endParaRPr>
            </a:p>
          </p:txBody>
        </p:sp>
        <p:sp>
          <p:nvSpPr>
            <p:cNvPr id="36" name="ZoneTexte 35"/>
            <p:cNvSpPr txBox="1"/>
            <p:nvPr/>
          </p:nvSpPr>
          <p:spPr>
            <a:xfrm rot="16200000">
              <a:off x="2184993" y="3228284"/>
              <a:ext cx="1080120" cy="338554"/>
            </a:xfrm>
            <a:prstGeom prst="rect">
              <a:avLst/>
            </a:prstGeom>
            <a:noFill/>
          </p:spPr>
          <p:txBody>
            <a:bodyPr wrap="square" rtlCol="0">
              <a:spAutoFit/>
            </a:bodyPr>
            <a:lstStyle/>
            <a:p>
              <a:r>
                <a:rPr lang="fr-FR" sz="1600" dirty="0" smtClean="0">
                  <a:latin typeface="Calibri" pitchFamily="34" charset="0"/>
                </a:rPr>
                <a:t>Probabilité</a:t>
              </a:r>
              <a:endParaRPr lang="fr-FR" sz="1600" dirty="0">
                <a:latin typeface="Calibri" pitchFamily="34" charset="0"/>
              </a:endParaRPr>
            </a:p>
          </p:txBody>
        </p:sp>
        <p:sp>
          <p:nvSpPr>
            <p:cNvPr id="37" name="Oval 6"/>
            <p:cNvSpPr>
              <a:spLocks noChangeArrowheads="1"/>
            </p:cNvSpPr>
            <p:nvPr/>
          </p:nvSpPr>
          <p:spPr bwMode="auto">
            <a:xfrm>
              <a:off x="3635896" y="3001516"/>
              <a:ext cx="936104" cy="684808"/>
            </a:xfrm>
            <a:prstGeom prst="ellipse">
              <a:avLst/>
            </a:prstGeom>
            <a:solidFill>
              <a:schemeClr val="bg1"/>
            </a:solidFill>
            <a:ln w="9525">
              <a:solidFill>
                <a:schemeClr val="accent4">
                  <a:lumMod val="85000"/>
                  <a:lumOff val="1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38" name="ZoneTexte 37"/>
            <p:cNvSpPr txBox="1"/>
            <p:nvPr/>
          </p:nvSpPr>
          <p:spPr>
            <a:xfrm>
              <a:off x="3635896" y="3069749"/>
              <a:ext cx="864096" cy="553998"/>
            </a:xfrm>
            <a:prstGeom prst="rect">
              <a:avLst/>
            </a:prstGeom>
            <a:noFill/>
          </p:spPr>
          <p:txBody>
            <a:bodyPr wrap="square" rtlCol="0">
              <a:spAutoFit/>
            </a:bodyPr>
            <a:lstStyle/>
            <a:p>
              <a:pPr algn="ctr"/>
              <a:r>
                <a:rPr lang="fr-FR" sz="1000" dirty="0" smtClean="0">
                  <a:latin typeface="Calibri" pitchFamily="34" charset="0"/>
                </a:rPr>
                <a:t>Mauvaise vision du parc installé</a:t>
              </a:r>
              <a:endParaRPr lang="fr-FR" sz="1000" dirty="0">
                <a:latin typeface="Calibri" pitchFamily="34" charset="0"/>
              </a:endParaRPr>
            </a:p>
          </p:txBody>
        </p:sp>
        <p:sp>
          <p:nvSpPr>
            <p:cNvPr id="39" name="Oval 6"/>
            <p:cNvSpPr>
              <a:spLocks noChangeArrowheads="1"/>
            </p:cNvSpPr>
            <p:nvPr/>
          </p:nvSpPr>
          <p:spPr bwMode="auto">
            <a:xfrm>
              <a:off x="4860032" y="2137420"/>
              <a:ext cx="936104" cy="684808"/>
            </a:xfrm>
            <a:prstGeom prst="ellipse">
              <a:avLst/>
            </a:prstGeom>
            <a:solidFill>
              <a:schemeClr val="accent3">
                <a:lumMod val="50000"/>
              </a:schemeClr>
            </a:solidFill>
            <a:ln w="9525">
              <a:solidFill>
                <a:schemeClr val="accent3">
                  <a:lumMod val="50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0" name="Oval 6"/>
            <p:cNvSpPr>
              <a:spLocks noChangeArrowheads="1"/>
            </p:cNvSpPr>
            <p:nvPr/>
          </p:nvSpPr>
          <p:spPr bwMode="auto">
            <a:xfrm>
              <a:off x="5220072" y="2785492"/>
              <a:ext cx="936104" cy="684808"/>
            </a:xfrm>
            <a:prstGeom prst="ellipse">
              <a:avLst/>
            </a:prstGeom>
            <a:solidFill>
              <a:schemeClr val="accent4">
                <a:lumMod val="75000"/>
                <a:lumOff val="25000"/>
              </a:schemeClr>
            </a:solidFill>
            <a:ln w="9525">
              <a:solidFill>
                <a:schemeClr val="accent4">
                  <a:lumMod val="75000"/>
                  <a:lumOff val="2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1" name="Oval 6"/>
            <p:cNvSpPr>
              <a:spLocks noChangeArrowheads="1"/>
            </p:cNvSpPr>
            <p:nvPr/>
          </p:nvSpPr>
          <p:spPr bwMode="auto">
            <a:xfrm>
              <a:off x="5292080" y="3649588"/>
              <a:ext cx="1008112" cy="720080"/>
            </a:xfrm>
            <a:prstGeom prst="ellipse">
              <a:avLst/>
            </a:prstGeom>
            <a:solidFill>
              <a:schemeClr val="accent3">
                <a:lumMod val="50000"/>
              </a:schemeClr>
            </a:solidFill>
            <a:ln w="9525">
              <a:solidFill>
                <a:schemeClr val="accent3">
                  <a:lumMod val="50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2" name="ZoneTexte 41"/>
            <p:cNvSpPr txBox="1"/>
            <p:nvPr/>
          </p:nvSpPr>
          <p:spPr>
            <a:xfrm>
              <a:off x="4788024" y="2281436"/>
              <a:ext cx="1080120" cy="400110"/>
            </a:xfrm>
            <a:prstGeom prst="rect">
              <a:avLst/>
            </a:prstGeom>
            <a:noFill/>
          </p:spPr>
          <p:txBody>
            <a:bodyPr wrap="square" rtlCol="0">
              <a:spAutoFit/>
            </a:bodyPr>
            <a:lstStyle/>
            <a:p>
              <a:pPr algn="ctr"/>
              <a:r>
                <a:rPr lang="fr-FR" sz="1000" dirty="0" smtClean="0">
                  <a:solidFill>
                    <a:schemeClr val="bg1"/>
                  </a:solidFill>
                  <a:latin typeface="Calibri" pitchFamily="34" charset="0"/>
                </a:rPr>
                <a:t>Migration lente sur le terrain</a:t>
              </a:r>
            </a:p>
          </p:txBody>
        </p:sp>
        <p:sp>
          <p:nvSpPr>
            <p:cNvPr id="43" name="ZoneTexte 42"/>
            <p:cNvSpPr txBox="1"/>
            <p:nvPr/>
          </p:nvSpPr>
          <p:spPr>
            <a:xfrm>
              <a:off x="5220072" y="2857500"/>
              <a:ext cx="864096" cy="553998"/>
            </a:xfrm>
            <a:prstGeom prst="rect">
              <a:avLst/>
            </a:prstGeom>
            <a:noFill/>
          </p:spPr>
          <p:txBody>
            <a:bodyPr wrap="square" rtlCol="0">
              <a:spAutoFit/>
            </a:bodyPr>
            <a:lstStyle/>
            <a:p>
              <a:pPr algn="ctr"/>
              <a:r>
                <a:rPr lang="fr-FR" sz="1000" dirty="0" smtClean="0">
                  <a:solidFill>
                    <a:schemeClr val="bg1"/>
                  </a:solidFill>
                  <a:latin typeface="Calibri" pitchFamily="34" charset="0"/>
                </a:rPr>
                <a:t>Serveurs banques non à niveau</a:t>
              </a:r>
            </a:p>
          </p:txBody>
        </p:sp>
        <p:sp>
          <p:nvSpPr>
            <p:cNvPr id="44" name="ZoneTexte 43"/>
            <p:cNvSpPr txBox="1"/>
            <p:nvPr/>
          </p:nvSpPr>
          <p:spPr>
            <a:xfrm>
              <a:off x="5220072" y="3743662"/>
              <a:ext cx="1080120" cy="553998"/>
            </a:xfrm>
            <a:prstGeom prst="rect">
              <a:avLst/>
            </a:prstGeom>
            <a:noFill/>
          </p:spPr>
          <p:txBody>
            <a:bodyPr wrap="square" rtlCol="0">
              <a:spAutoFit/>
            </a:bodyPr>
            <a:lstStyle/>
            <a:p>
              <a:pPr algn="ctr"/>
              <a:r>
                <a:rPr lang="fr-FR" sz="1000" dirty="0" smtClean="0">
                  <a:solidFill>
                    <a:schemeClr val="bg1"/>
                  </a:solidFill>
                  <a:latin typeface="Calibri" pitchFamily="34" charset="0"/>
                </a:rPr>
                <a:t>Développement de solutions non CB pour la VAD</a:t>
              </a:r>
            </a:p>
          </p:txBody>
        </p:sp>
        <p:sp>
          <p:nvSpPr>
            <p:cNvPr id="45" name="Oval 6"/>
            <p:cNvSpPr>
              <a:spLocks noChangeArrowheads="1"/>
            </p:cNvSpPr>
            <p:nvPr/>
          </p:nvSpPr>
          <p:spPr bwMode="auto">
            <a:xfrm>
              <a:off x="6264188" y="4044900"/>
              <a:ext cx="936104" cy="684808"/>
            </a:xfrm>
            <a:prstGeom prst="ellipse">
              <a:avLst/>
            </a:prstGeom>
            <a:solidFill>
              <a:schemeClr val="bg1"/>
            </a:solidFill>
            <a:ln w="9525">
              <a:solidFill>
                <a:schemeClr val="accent4">
                  <a:lumMod val="85000"/>
                  <a:lumOff val="1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6" name="Oval 6"/>
            <p:cNvSpPr>
              <a:spLocks noChangeArrowheads="1"/>
            </p:cNvSpPr>
            <p:nvPr/>
          </p:nvSpPr>
          <p:spPr bwMode="auto">
            <a:xfrm>
              <a:off x="6452592" y="1561356"/>
              <a:ext cx="936104" cy="684808"/>
            </a:xfrm>
            <a:prstGeom prst="ellipse">
              <a:avLst/>
            </a:prstGeom>
            <a:solidFill>
              <a:schemeClr val="bg1"/>
            </a:solidFill>
            <a:ln w="9525">
              <a:solidFill>
                <a:schemeClr val="accent4">
                  <a:lumMod val="85000"/>
                  <a:lumOff val="1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7" name="Oval 6"/>
            <p:cNvSpPr>
              <a:spLocks noChangeArrowheads="1"/>
            </p:cNvSpPr>
            <p:nvPr/>
          </p:nvSpPr>
          <p:spPr bwMode="auto">
            <a:xfrm>
              <a:off x="5868144" y="2065412"/>
              <a:ext cx="720080" cy="612800"/>
            </a:xfrm>
            <a:prstGeom prst="ellipse">
              <a:avLst/>
            </a:prstGeom>
            <a:solidFill>
              <a:schemeClr val="accent4">
                <a:lumMod val="75000"/>
                <a:lumOff val="25000"/>
              </a:schemeClr>
            </a:solidFill>
            <a:ln w="9525">
              <a:solidFill>
                <a:schemeClr val="accent4">
                  <a:lumMod val="75000"/>
                  <a:lumOff val="2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8" name="Oval 6"/>
            <p:cNvSpPr>
              <a:spLocks noChangeArrowheads="1"/>
            </p:cNvSpPr>
            <p:nvPr/>
          </p:nvSpPr>
          <p:spPr bwMode="auto">
            <a:xfrm>
              <a:off x="7164288" y="1993404"/>
              <a:ext cx="936104" cy="684808"/>
            </a:xfrm>
            <a:prstGeom prst="ellipse">
              <a:avLst/>
            </a:prstGeom>
            <a:solidFill>
              <a:schemeClr val="accent4">
                <a:lumMod val="75000"/>
                <a:lumOff val="25000"/>
              </a:schemeClr>
            </a:solidFill>
            <a:ln w="9525">
              <a:solidFill>
                <a:schemeClr val="accent4">
                  <a:lumMod val="75000"/>
                  <a:lumOff val="25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49" name="Oval 6"/>
            <p:cNvSpPr>
              <a:spLocks noChangeArrowheads="1"/>
            </p:cNvSpPr>
            <p:nvPr/>
          </p:nvSpPr>
          <p:spPr bwMode="auto">
            <a:xfrm>
              <a:off x="6300192" y="2641476"/>
              <a:ext cx="936104" cy="684808"/>
            </a:xfrm>
            <a:prstGeom prst="ellipse">
              <a:avLst/>
            </a:prstGeom>
            <a:solidFill>
              <a:schemeClr val="accent3">
                <a:lumMod val="85000"/>
              </a:schemeClr>
            </a:solidFill>
            <a:ln w="9525">
              <a:solidFill>
                <a:schemeClr val="accent3">
                  <a:lumMod val="50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50" name="Oval 6"/>
            <p:cNvSpPr>
              <a:spLocks noChangeArrowheads="1"/>
            </p:cNvSpPr>
            <p:nvPr/>
          </p:nvSpPr>
          <p:spPr bwMode="auto">
            <a:xfrm>
              <a:off x="7308304" y="2713484"/>
              <a:ext cx="792088" cy="612800"/>
            </a:xfrm>
            <a:prstGeom prst="ellipse">
              <a:avLst/>
            </a:prstGeom>
            <a:solidFill>
              <a:schemeClr val="accent3">
                <a:lumMod val="85000"/>
              </a:schemeClr>
            </a:solidFill>
            <a:ln w="9525">
              <a:solidFill>
                <a:schemeClr val="accent3">
                  <a:lumMod val="50000"/>
                </a:schemeClr>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dirty="0"/>
            </a:p>
          </p:txBody>
        </p:sp>
        <p:sp>
          <p:nvSpPr>
            <p:cNvPr id="51" name="ZoneTexte 50"/>
            <p:cNvSpPr txBox="1"/>
            <p:nvPr/>
          </p:nvSpPr>
          <p:spPr>
            <a:xfrm>
              <a:off x="6372200" y="1583422"/>
              <a:ext cx="1080120" cy="553998"/>
            </a:xfrm>
            <a:prstGeom prst="rect">
              <a:avLst/>
            </a:prstGeom>
            <a:noFill/>
          </p:spPr>
          <p:txBody>
            <a:bodyPr wrap="square" rtlCol="0">
              <a:spAutoFit/>
            </a:bodyPr>
            <a:lstStyle/>
            <a:p>
              <a:pPr algn="ctr"/>
              <a:r>
                <a:rPr lang="fr-FR" sz="1000" dirty="0" smtClean="0">
                  <a:latin typeface="Calibri" pitchFamily="34" charset="0"/>
                </a:rPr>
                <a:t>Grands commerces non à niveau</a:t>
              </a:r>
            </a:p>
          </p:txBody>
        </p:sp>
        <p:sp>
          <p:nvSpPr>
            <p:cNvPr id="52" name="ZoneTexte 51"/>
            <p:cNvSpPr txBox="1"/>
            <p:nvPr/>
          </p:nvSpPr>
          <p:spPr>
            <a:xfrm>
              <a:off x="7092280" y="2065412"/>
              <a:ext cx="1080120" cy="553998"/>
            </a:xfrm>
            <a:prstGeom prst="rect">
              <a:avLst/>
            </a:prstGeom>
            <a:noFill/>
          </p:spPr>
          <p:txBody>
            <a:bodyPr wrap="square" rtlCol="0">
              <a:spAutoFit/>
            </a:bodyPr>
            <a:lstStyle/>
            <a:p>
              <a:pPr algn="ctr"/>
              <a:r>
                <a:rPr lang="fr-FR" sz="1000" dirty="0" smtClean="0">
                  <a:solidFill>
                    <a:schemeClr val="bg1"/>
                  </a:solidFill>
                  <a:latin typeface="Calibri" pitchFamily="34" charset="0"/>
                </a:rPr>
                <a:t>Apparition de fausses cartes à puce</a:t>
              </a:r>
            </a:p>
          </p:txBody>
        </p:sp>
        <p:sp>
          <p:nvSpPr>
            <p:cNvPr id="53" name="ZoneTexte 52"/>
            <p:cNvSpPr txBox="1"/>
            <p:nvPr/>
          </p:nvSpPr>
          <p:spPr>
            <a:xfrm>
              <a:off x="5724128" y="2169358"/>
              <a:ext cx="1008112" cy="400110"/>
            </a:xfrm>
            <a:prstGeom prst="rect">
              <a:avLst/>
            </a:prstGeom>
            <a:noFill/>
          </p:spPr>
          <p:txBody>
            <a:bodyPr wrap="square" rtlCol="0">
              <a:spAutoFit/>
            </a:bodyPr>
            <a:lstStyle/>
            <a:p>
              <a:pPr algn="ctr"/>
              <a:r>
                <a:rPr lang="fr-FR" sz="1000" dirty="0" smtClean="0">
                  <a:solidFill>
                    <a:schemeClr val="bg1"/>
                  </a:solidFill>
                  <a:latin typeface="Calibri" pitchFamily="34" charset="0"/>
                </a:rPr>
                <a:t>Tickets non tronqués</a:t>
              </a:r>
            </a:p>
          </p:txBody>
        </p:sp>
        <p:sp>
          <p:nvSpPr>
            <p:cNvPr id="54" name="ZoneTexte 53"/>
            <p:cNvSpPr txBox="1"/>
            <p:nvPr/>
          </p:nvSpPr>
          <p:spPr>
            <a:xfrm>
              <a:off x="6228184" y="2713484"/>
              <a:ext cx="1008112" cy="553998"/>
            </a:xfrm>
            <a:prstGeom prst="rect">
              <a:avLst/>
            </a:prstGeom>
            <a:noFill/>
          </p:spPr>
          <p:txBody>
            <a:bodyPr wrap="square" rtlCol="0">
              <a:spAutoFit/>
            </a:bodyPr>
            <a:lstStyle/>
            <a:p>
              <a:pPr algn="ctr"/>
              <a:r>
                <a:rPr lang="fr-FR" sz="1000" dirty="0" smtClean="0">
                  <a:latin typeface="Calibri" pitchFamily="34" charset="0"/>
                </a:rPr>
                <a:t>Accentuation de la campagne médiatique</a:t>
              </a:r>
            </a:p>
          </p:txBody>
        </p:sp>
        <p:sp>
          <p:nvSpPr>
            <p:cNvPr id="55" name="ZoneTexte 54"/>
            <p:cNvSpPr txBox="1"/>
            <p:nvPr/>
          </p:nvSpPr>
          <p:spPr>
            <a:xfrm>
              <a:off x="7308304" y="2817430"/>
              <a:ext cx="792088" cy="400110"/>
            </a:xfrm>
            <a:prstGeom prst="rect">
              <a:avLst/>
            </a:prstGeom>
            <a:noFill/>
          </p:spPr>
          <p:txBody>
            <a:bodyPr wrap="square" rtlCol="0">
              <a:spAutoFit/>
            </a:bodyPr>
            <a:lstStyle/>
            <a:p>
              <a:pPr algn="ctr"/>
              <a:r>
                <a:rPr lang="fr-FR" sz="1000" dirty="0" smtClean="0">
                  <a:latin typeface="Calibri" pitchFamily="34" charset="0"/>
                </a:rPr>
                <a:t>Clé simple DES</a:t>
              </a:r>
            </a:p>
          </p:txBody>
        </p:sp>
        <p:sp>
          <p:nvSpPr>
            <p:cNvPr id="56" name="ZoneTexte 55"/>
            <p:cNvSpPr txBox="1"/>
            <p:nvPr/>
          </p:nvSpPr>
          <p:spPr>
            <a:xfrm>
              <a:off x="6228184" y="4103702"/>
              <a:ext cx="1008112" cy="553998"/>
            </a:xfrm>
            <a:prstGeom prst="rect">
              <a:avLst/>
            </a:prstGeom>
            <a:noFill/>
          </p:spPr>
          <p:txBody>
            <a:bodyPr wrap="square" rtlCol="0">
              <a:spAutoFit/>
            </a:bodyPr>
            <a:lstStyle/>
            <a:p>
              <a:pPr algn="ctr"/>
              <a:r>
                <a:rPr lang="fr-FR" sz="1000" dirty="0" smtClean="0">
                  <a:latin typeface="Calibri" pitchFamily="34" charset="0"/>
                </a:rPr>
                <a:t>Non renouvellement de l’assurance</a:t>
              </a:r>
            </a:p>
          </p:txBody>
        </p:sp>
        <p:sp>
          <p:nvSpPr>
            <p:cNvPr id="57" name="ZoneTexte 56"/>
            <p:cNvSpPr txBox="1"/>
            <p:nvPr/>
          </p:nvSpPr>
          <p:spPr>
            <a:xfrm>
              <a:off x="3617640" y="1140341"/>
              <a:ext cx="4392488" cy="276999"/>
            </a:xfrm>
            <a:prstGeom prst="rect">
              <a:avLst/>
            </a:prstGeom>
            <a:noFill/>
          </p:spPr>
          <p:txBody>
            <a:bodyPr wrap="square" rtlCol="0">
              <a:spAutoFit/>
            </a:bodyPr>
            <a:lstStyle/>
            <a:p>
              <a:pPr algn="ctr"/>
              <a:r>
                <a:rPr lang="fr-FR" sz="1200" dirty="0" smtClean="0">
                  <a:latin typeface="Calibri" pitchFamily="34" charset="0"/>
                </a:rPr>
                <a:t>SUIVI INTERNE AVANCEMENT PLAN SECURITE </a:t>
              </a:r>
              <a:endParaRPr lang="fr-FR" sz="1200" dirty="0">
                <a:latin typeface="Calibri" pitchFamily="34" charset="0"/>
              </a:endParaRPr>
            </a:p>
          </p:txBody>
        </p:sp>
      </p:grpSp>
    </p:spTree>
    <p:extLst>
      <p:ext uri="{BB962C8B-B14F-4D97-AF65-F5344CB8AC3E}">
        <p14:creationId xmlns:p14="http://schemas.microsoft.com/office/powerpoint/2010/main" val="378244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tableurs</a:t>
            </a:r>
            <a:endParaRPr lang="fr-FR" dirty="0"/>
          </a:p>
        </p:txBody>
      </p:sp>
      <p:sp>
        <p:nvSpPr>
          <p:cNvPr id="3" name="Espace réservé du texte 2"/>
          <p:cNvSpPr>
            <a:spLocks noGrp="1"/>
          </p:cNvSpPr>
          <p:nvPr>
            <p:ph type="body" idx="1"/>
          </p:nvPr>
        </p:nvSpPr>
        <p:spPr>
          <a:xfrm>
            <a:off x="2631440" y="1046218"/>
            <a:ext cx="6381932" cy="4206875"/>
          </a:xfrm>
        </p:spPr>
        <p:txBody>
          <a:bodyPr/>
          <a:lstStyle/>
          <a:p>
            <a:pPr>
              <a:buFontTx/>
              <a:buNone/>
            </a:pPr>
            <a:r>
              <a:rPr lang="fr-FR" sz="2300" dirty="0" smtClean="0">
                <a:latin typeface="Calibri" panose="020F0502020204030204" pitchFamily="34" charset="0"/>
              </a:rPr>
              <a:t>Présenter </a:t>
            </a:r>
            <a:r>
              <a:rPr lang="fr-FR" sz="2300" dirty="0">
                <a:latin typeface="Calibri" panose="020F0502020204030204" pitchFamily="34" charset="0"/>
              </a:rPr>
              <a:t>des résultats et des tableaux de bord sous forme graphique, mais aussi…</a:t>
            </a:r>
          </a:p>
          <a:p>
            <a:pPr marL="355600" lvl="1">
              <a:spcBef>
                <a:spcPts val="600"/>
              </a:spcBef>
              <a:spcAft>
                <a:spcPts val="0"/>
              </a:spcAft>
            </a:pPr>
            <a:r>
              <a:rPr lang="fr-FR" sz="1600" dirty="0" smtClean="0">
                <a:solidFill>
                  <a:schemeClr val="accent2"/>
                </a:solidFill>
                <a:latin typeface="Calibri" panose="020F0502020204030204" pitchFamily="34" charset="0"/>
              </a:rPr>
              <a:t>- d’éditer </a:t>
            </a:r>
            <a:r>
              <a:rPr lang="fr-FR" sz="1600" dirty="0">
                <a:solidFill>
                  <a:schemeClr val="accent2"/>
                </a:solidFill>
                <a:latin typeface="Calibri" panose="020F0502020204030204" pitchFamily="34" charset="0"/>
              </a:rPr>
              <a:t>des listes de personnes, de les filtrer sur critère</a:t>
            </a:r>
          </a:p>
          <a:p>
            <a:pPr marL="355600" lvl="1">
              <a:spcBef>
                <a:spcPts val="600"/>
              </a:spcBef>
              <a:spcAft>
                <a:spcPts val="0"/>
              </a:spcAft>
            </a:pPr>
            <a:r>
              <a:rPr lang="fr-FR" sz="1600" dirty="0" smtClean="0">
                <a:solidFill>
                  <a:schemeClr val="accent2"/>
                </a:solidFill>
                <a:latin typeface="Calibri" panose="020F0502020204030204" pitchFamily="34" charset="0"/>
              </a:rPr>
              <a:t>- de </a:t>
            </a:r>
            <a:r>
              <a:rPr lang="fr-FR" sz="1600" dirty="0">
                <a:solidFill>
                  <a:schemeClr val="accent2"/>
                </a:solidFill>
                <a:latin typeface="Calibri" panose="020F0502020204030204" pitchFamily="34" charset="0"/>
              </a:rPr>
              <a:t>faire des calculs, des statistiques... </a:t>
            </a:r>
          </a:p>
          <a:p>
            <a:pPr marL="355600" lvl="1">
              <a:spcBef>
                <a:spcPts val="600"/>
              </a:spcBef>
              <a:spcAft>
                <a:spcPts val="0"/>
              </a:spcAft>
            </a:pPr>
            <a:r>
              <a:rPr lang="fr-FR" sz="1600" dirty="0" smtClean="0">
                <a:solidFill>
                  <a:schemeClr val="accent2"/>
                </a:solidFill>
                <a:latin typeface="Calibri" panose="020F0502020204030204" pitchFamily="34" charset="0"/>
              </a:rPr>
              <a:t>- d’écrire </a:t>
            </a:r>
            <a:r>
              <a:rPr lang="fr-FR" sz="1600" dirty="0">
                <a:solidFill>
                  <a:schemeClr val="accent2"/>
                </a:solidFill>
                <a:latin typeface="Calibri" panose="020F0502020204030204" pitchFamily="34" charset="0"/>
              </a:rPr>
              <a:t>des macros qui </a:t>
            </a:r>
            <a:r>
              <a:rPr lang="fr-FR" sz="1600" dirty="0" smtClean="0">
                <a:solidFill>
                  <a:schemeClr val="accent2"/>
                </a:solidFill>
                <a:latin typeface="Calibri" panose="020F0502020204030204" pitchFamily="34" charset="0"/>
              </a:rPr>
              <a:t>d’automatisent l’actualisation</a:t>
            </a:r>
          </a:p>
          <a:p>
            <a:pPr marL="355600" lvl="1">
              <a:spcBef>
                <a:spcPts val="600"/>
              </a:spcBef>
              <a:spcAft>
                <a:spcPts val="600"/>
              </a:spcAft>
            </a:pPr>
            <a:endParaRPr lang="fr-FR" sz="1600" dirty="0">
              <a:solidFill>
                <a:schemeClr val="accent2"/>
              </a:solidFill>
              <a:latin typeface="Calibri" panose="020F0502020204030204" pitchFamily="34" charset="0"/>
            </a:endParaRPr>
          </a:p>
        </p:txBody>
      </p:sp>
      <p:grpSp>
        <p:nvGrpSpPr>
          <p:cNvPr id="5" name="Group 18"/>
          <p:cNvGrpSpPr>
            <a:grpSpLocks/>
          </p:cNvGrpSpPr>
          <p:nvPr/>
        </p:nvGrpSpPr>
        <p:grpSpPr bwMode="auto">
          <a:xfrm>
            <a:off x="4114279" y="3324044"/>
            <a:ext cx="1358907" cy="1890809"/>
            <a:chOff x="4433" y="2705"/>
            <a:chExt cx="1079" cy="1335"/>
          </a:xfrm>
        </p:grpSpPr>
        <p:pic>
          <p:nvPicPr>
            <p:cNvPr id="15" name="Picture 8" descr="excel"/>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4547" y="2705"/>
              <a:ext cx="965"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9"/>
            <p:cNvSpPr txBox="1">
              <a:spLocks noChangeArrowheads="1"/>
            </p:cNvSpPr>
            <p:nvPr/>
          </p:nvSpPr>
          <p:spPr bwMode="auto">
            <a:xfrm>
              <a:off x="4433" y="3877"/>
              <a:ext cx="881"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200" b="1">
                  <a:solidFill>
                    <a:schemeClr val="tx1"/>
                  </a:solidFill>
                  <a:latin typeface="Times New Roman" pitchFamily="18" charset="0"/>
                </a:defRPr>
              </a:lvl1pPr>
              <a:lvl2pPr marL="742950" indent="-285750">
                <a:defRPr sz="2200" b="1">
                  <a:solidFill>
                    <a:schemeClr val="tx1"/>
                  </a:solidFill>
                  <a:latin typeface="Times New Roman" pitchFamily="18" charset="0"/>
                </a:defRPr>
              </a:lvl2pPr>
              <a:lvl3pPr marL="1143000" indent="-228600">
                <a:defRPr sz="2200" b="1">
                  <a:solidFill>
                    <a:schemeClr val="tx1"/>
                  </a:solidFill>
                  <a:latin typeface="Times New Roman" pitchFamily="18" charset="0"/>
                </a:defRPr>
              </a:lvl3pPr>
              <a:lvl4pPr marL="1600200" indent="-228600">
                <a:defRPr sz="2200" b="1">
                  <a:solidFill>
                    <a:schemeClr val="tx1"/>
                  </a:solidFill>
                  <a:latin typeface="Times New Roman" pitchFamily="18" charset="0"/>
                </a:defRPr>
              </a:lvl4pPr>
              <a:lvl5pPr marL="2057400" indent="-228600">
                <a:defRPr sz="2200" b="1">
                  <a:solidFill>
                    <a:schemeClr val="tx1"/>
                  </a:solidFill>
                  <a:latin typeface="Times New Roman" pitchFamily="18" charset="0"/>
                </a:defRPr>
              </a:lvl5pPr>
              <a:lvl6pPr marL="25146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6pPr>
              <a:lvl7pPr marL="29718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7pPr>
              <a:lvl8pPr marL="34290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8pPr>
              <a:lvl9pPr marL="38862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9pPr>
            </a:lstStyle>
            <a:p>
              <a:pPr>
                <a:lnSpc>
                  <a:spcPct val="100000"/>
                </a:lnSpc>
                <a:spcBef>
                  <a:spcPct val="50000"/>
                </a:spcBef>
                <a:buClrTx/>
              </a:pPr>
              <a:r>
                <a:rPr lang="fr-FR" sz="900" b="0" dirty="0" smtClean="0">
                  <a:hlinkClick r:id="rId3"/>
                </a:rPr>
                <a:t>source</a:t>
              </a:r>
              <a:endParaRPr lang="fr-FR" sz="900" b="0" dirty="0"/>
            </a:p>
          </p:txBody>
        </p:sp>
      </p:grpSp>
      <p:grpSp>
        <p:nvGrpSpPr>
          <p:cNvPr id="6" name="Group 16"/>
          <p:cNvGrpSpPr>
            <a:grpSpLocks/>
          </p:cNvGrpSpPr>
          <p:nvPr/>
        </p:nvGrpSpPr>
        <p:grpSpPr bwMode="auto">
          <a:xfrm>
            <a:off x="2477044" y="3389194"/>
            <a:ext cx="1434472" cy="1416336"/>
            <a:chOff x="2889" y="2793"/>
            <a:chExt cx="1139" cy="1000"/>
          </a:xfrm>
        </p:grpSpPr>
        <p:pic>
          <p:nvPicPr>
            <p:cNvPr id="13" name="Picture 11" descr="excel"/>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52" y="2793"/>
              <a:ext cx="1076"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14"/>
            <p:cNvSpPr txBox="1">
              <a:spLocks noChangeArrowheads="1"/>
            </p:cNvSpPr>
            <p:nvPr/>
          </p:nvSpPr>
          <p:spPr bwMode="auto">
            <a:xfrm>
              <a:off x="2889" y="3630"/>
              <a:ext cx="881"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200" b="1">
                  <a:solidFill>
                    <a:schemeClr val="tx1"/>
                  </a:solidFill>
                  <a:latin typeface="Times New Roman" pitchFamily="18" charset="0"/>
                </a:defRPr>
              </a:lvl1pPr>
              <a:lvl2pPr marL="742950" indent="-285750">
                <a:defRPr sz="2200" b="1">
                  <a:solidFill>
                    <a:schemeClr val="tx1"/>
                  </a:solidFill>
                  <a:latin typeface="Times New Roman" pitchFamily="18" charset="0"/>
                </a:defRPr>
              </a:lvl2pPr>
              <a:lvl3pPr marL="1143000" indent="-228600">
                <a:defRPr sz="2200" b="1">
                  <a:solidFill>
                    <a:schemeClr val="tx1"/>
                  </a:solidFill>
                  <a:latin typeface="Times New Roman" pitchFamily="18" charset="0"/>
                </a:defRPr>
              </a:lvl3pPr>
              <a:lvl4pPr marL="1600200" indent="-228600">
                <a:defRPr sz="2200" b="1">
                  <a:solidFill>
                    <a:schemeClr val="tx1"/>
                  </a:solidFill>
                  <a:latin typeface="Times New Roman" pitchFamily="18" charset="0"/>
                </a:defRPr>
              </a:lvl4pPr>
              <a:lvl5pPr marL="2057400" indent="-228600">
                <a:defRPr sz="2200" b="1">
                  <a:solidFill>
                    <a:schemeClr val="tx1"/>
                  </a:solidFill>
                  <a:latin typeface="Times New Roman" pitchFamily="18" charset="0"/>
                </a:defRPr>
              </a:lvl5pPr>
              <a:lvl6pPr marL="25146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6pPr>
              <a:lvl7pPr marL="29718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7pPr>
              <a:lvl8pPr marL="34290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8pPr>
              <a:lvl9pPr marL="38862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9pPr>
            </a:lstStyle>
            <a:p>
              <a:pPr>
                <a:lnSpc>
                  <a:spcPct val="100000"/>
                </a:lnSpc>
                <a:spcBef>
                  <a:spcPct val="50000"/>
                </a:spcBef>
                <a:buClrTx/>
              </a:pPr>
              <a:r>
                <a:rPr lang="fr-FR" sz="900" b="0" dirty="0" smtClean="0">
                  <a:hlinkClick r:id="rId5"/>
                </a:rPr>
                <a:t>Source</a:t>
              </a:r>
              <a:endParaRPr lang="fr-FR" sz="900" b="0" dirty="0"/>
            </a:p>
          </p:txBody>
        </p:sp>
      </p:grpSp>
      <p:grpSp>
        <p:nvGrpSpPr>
          <p:cNvPr id="7" name="Group 17"/>
          <p:cNvGrpSpPr>
            <a:grpSpLocks/>
          </p:cNvGrpSpPr>
          <p:nvPr/>
        </p:nvGrpSpPr>
        <p:grpSpPr bwMode="auto">
          <a:xfrm>
            <a:off x="5892571" y="3234813"/>
            <a:ext cx="1211556" cy="1455994"/>
            <a:chOff x="3242" y="2737"/>
            <a:chExt cx="962" cy="1028"/>
          </a:xfrm>
        </p:grpSpPr>
        <p:pic>
          <p:nvPicPr>
            <p:cNvPr id="11" name="Picture 5" descr="excel"/>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290" y="2737"/>
              <a:ext cx="914" cy="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5"/>
            <p:cNvSpPr txBox="1">
              <a:spLocks noChangeArrowheads="1"/>
            </p:cNvSpPr>
            <p:nvPr/>
          </p:nvSpPr>
          <p:spPr bwMode="auto">
            <a:xfrm>
              <a:off x="3242" y="3602"/>
              <a:ext cx="881"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200" b="1">
                  <a:solidFill>
                    <a:schemeClr val="tx1"/>
                  </a:solidFill>
                  <a:latin typeface="Times New Roman" pitchFamily="18" charset="0"/>
                </a:defRPr>
              </a:lvl1pPr>
              <a:lvl2pPr marL="742950" indent="-285750">
                <a:defRPr sz="2200" b="1">
                  <a:solidFill>
                    <a:schemeClr val="tx1"/>
                  </a:solidFill>
                  <a:latin typeface="Times New Roman" pitchFamily="18" charset="0"/>
                </a:defRPr>
              </a:lvl2pPr>
              <a:lvl3pPr marL="1143000" indent="-228600">
                <a:defRPr sz="2200" b="1">
                  <a:solidFill>
                    <a:schemeClr val="tx1"/>
                  </a:solidFill>
                  <a:latin typeface="Times New Roman" pitchFamily="18" charset="0"/>
                </a:defRPr>
              </a:lvl3pPr>
              <a:lvl4pPr marL="1600200" indent="-228600">
                <a:defRPr sz="2200" b="1">
                  <a:solidFill>
                    <a:schemeClr val="tx1"/>
                  </a:solidFill>
                  <a:latin typeface="Times New Roman" pitchFamily="18" charset="0"/>
                </a:defRPr>
              </a:lvl4pPr>
              <a:lvl5pPr marL="2057400" indent="-228600">
                <a:defRPr sz="2200" b="1">
                  <a:solidFill>
                    <a:schemeClr val="tx1"/>
                  </a:solidFill>
                  <a:latin typeface="Times New Roman" pitchFamily="18" charset="0"/>
                </a:defRPr>
              </a:lvl5pPr>
              <a:lvl6pPr marL="25146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6pPr>
              <a:lvl7pPr marL="29718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7pPr>
              <a:lvl8pPr marL="34290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8pPr>
              <a:lvl9pPr marL="38862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9pPr>
            </a:lstStyle>
            <a:p>
              <a:pPr>
                <a:lnSpc>
                  <a:spcPct val="100000"/>
                </a:lnSpc>
                <a:spcBef>
                  <a:spcPct val="50000"/>
                </a:spcBef>
                <a:buClrTx/>
              </a:pPr>
              <a:r>
                <a:rPr lang="fr-FR" sz="900" b="0" dirty="0" smtClean="0">
                  <a:hlinkClick r:id="rId7"/>
                </a:rPr>
                <a:t>source</a:t>
              </a:r>
              <a:endParaRPr lang="fr-FR" sz="900" b="0" dirty="0"/>
            </a:p>
          </p:txBody>
        </p:sp>
      </p:grpSp>
      <p:grpSp>
        <p:nvGrpSpPr>
          <p:cNvPr id="8" name="Group 24"/>
          <p:cNvGrpSpPr>
            <a:grpSpLocks/>
          </p:cNvGrpSpPr>
          <p:nvPr/>
        </p:nvGrpSpPr>
        <p:grpSpPr bwMode="auto">
          <a:xfrm>
            <a:off x="7444166" y="3307047"/>
            <a:ext cx="1419359" cy="1152898"/>
            <a:chOff x="4190" y="2701"/>
            <a:chExt cx="1127" cy="814"/>
          </a:xfrm>
        </p:grpSpPr>
        <p:pic>
          <p:nvPicPr>
            <p:cNvPr id="9" name="Picture 20" descr="image663"/>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4242" y="2701"/>
              <a:ext cx="1075" cy="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3"/>
            <p:cNvSpPr txBox="1">
              <a:spLocks noChangeArrowheads="1"/>
            </p:cNvSpPr>
            <p:nvPr/>
          </p:nvSpPr>
          <p:spPr bwMode="auto">
            <a:xfrm>
              <a:off x="4190" y="3352"/>
              <a:ext cx="881"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200" b="1">
                  <a:solidFill>
                    <a:schemeClr val="tx1"/>
                  </a:solidFill>
                  <a:latin typeface="Times New Roman" pitchFamily="18" charset="0"/>
                </a:defRPr>
              </a:lvl1pPr>
              <a:lvl2pPr marL="742950" indent="-285750">
                <a:defRPr sz="2200" b="1">
                  <a:solidFill>
                    <a:schemeClr val="tx1"/>
                  </a:solidFill>
                  <a:latin typeface="Times New Roman" pitchFamily="18" charset="0"/>
                </a:defRPr>
              </a:lvl2pPr>
              <a:lvl3pPr marL="1143000" indent="-228600">
                <a:defRPr sz="2200" b="1">
                  <a:solidFill>
                    <a:schemeClr val="tx1"/>
                  </a:solidFill>
                  <a:latin typeface="Times New Roman" pitchFamily="18" charset="0"/>
                </a:defRPr>
              </a:lvl3pPr>
              <a:lvl4pPr marL="1600200" indent="-228600">
                <a:defRPr sz="2200" b="1">
                  <a:solidFill>
                    <a:schemeClr val="tx1"/>
                  </a:solidFill>
                  <a:latin typeface="Times New Roman" pitchFamily="18" charset="0"/>
                </a:defRPr>
              </a:lvl4pPr>
              <a:lvl5pPr marL="2057400" indent="-228600">
                <a:defRPr sz="2200" b="1">
                  <a:solidFill>
                    <a:schemeClr val="tx1"/>
                  </a:solidFill>
                  <a:latin typeface="Times New Roman" pitchFamily="18" charset="0"/>
                </a:defRPr>
              </a:lvl5pPr>
              <a:lvl6pPr marL="25146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6pPr>
              <a:lvl7pPr marL="29718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7pPr>
              <a:lvl8pPr marL="34290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8pPr>
              <a:lvl9pPr marL="3886200" indent="-228600" eaLnBrk="0" fontAlgn="base" hangingPunct="0">
                <a:lnSpc>
                  <a:spcPct val="90000"/>
                </a:lnSpc>
                <a:spcBef>
                  <a:spcPct val="0"/>
                </a:spcBef>
                <a:spcAft>
                  <a:spcPct val="0"/>
                </a:spcAft>
                <a:buClr>
                  <a:srgbClr val="FF0000"/>
                </a:buClr>
                <a:defRPr sz="2200" b="1">
                  <a:solidFill>
                    <a:schemeClr val="tx1"/>
                  </a:solidFill>
                  <a:latin typeface="Times New Roman" pitchFamily="18" charset="0"/>
                </a:defRPr>
              </a:lvl9pPr>
            </a:lstStyle>
            <a:p>
              <a:pPr>
                <a:lnSpc>
                  <a:spcPct val="100000"/>
                </a:lnSpc>
                <a:spcBef>
                  <a:spcPct val="50000"/>
                </a:spcBef>
                <a:buClrTx/>
              </a:pPr>
              <a:r>
                <a:rPr lang="fr-FR" sz="900" b="0" dirty="0" smtClean="0">
                  <a:hlinkClick r:id="rId9"/>
                </a:rPr>
                <a:t>source</a:t>
              </a:r>
              <a:endParaRPr lang="fr-FR" sz="900" b="0" dirty="0"/>
            </a:p>
          </p:txBody>
        </p:sp>
      </p:grpSp>
      <p:sp>
        <p:nvSpPr>
          <p:cNvPr id="17" name="ZoneTexte 16"/>
          <p:cNvSpPr txBox="1"/>
          <p:nvPr/>
        </p:nvSpPr>
        <p:spPr>
          <a:xfrm>
            <a:off x="274532" y="4128495"/>
            <a:ext cx="378043" cy="100356"/>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40513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latin typeface="Arial" panose="020B0604020202020204" pitchFamily="34" charset="0"/>
                <a:cs typeface="Arial" panose="020B0604020202020204" pitchFamily="34" charset="0"/>
              </a:rPr>
              <a:t>Réflexion sur le chapitre</a:t>
            </a:r>
          </a:p>
        </p:txBody>
      </p:sp>
      <p:sp>
        <p:nvSpPr>
          <p:cNvPr id="3" name="Espace réservé du texte 2"/>
          <p:cNvSpPr>
            <a:spLocks noGrp="1"/>
          </p:cNvSpPr>
          <p:nvPr>
            <p:ph type="body" idx="1"/>
          </p:nvPr>
        </p:nvSpPr>
        <p:spPr>
          <a:xfrm>
            <a:off x="2843213" y="1270000"/>
            <a:ext cx="6173787" cy="3937000"/>
          </a:xfrm>
        </p:spPr>
        <p:txBody>
          <a:bodyPr/>
          <a:lstStyle/>
          <a:p>
            <a:pPr marL="285750" indent="-285750" eaLnBrk="1" fontAlgn="auto" hangingPunct="1">
              <a:spcBef>
                <a:spcPts val="0"/>
              </a:spcBef>
              <a:spcAft>
                <a:spcPts val="0"/>
              </a:spcAft>
              <a:buFont typeface="Wingdings" panose="05000000000000000000" pitchFamily="2" charset="2"/>
              <a:buChar char="§"/>
              <a:defRPr/>
            </a:pPr>
            <a:r>
              <a:rPr lang="fr-FR" sz="2000" i="1" dirty="0" smtClean="0">
                <a:sym typeface="Arial"/>
              </a:rPr>
              <a:t>Lorsque vos enfants étaient petits, avez-vous reporté leur taille sur une toise ? </a:t>
            </a:r>
            <a:r>
              <a:rPr lang="fr-FR" sz="2000" i="1" dirty="0" smtClean="0">
                <a:sym typeface="Arial"/>
              </a:rPr>
              <a:t>Quelles sont les données collect</a:t>
            </a:r>
            <a:r>
              <a:rPr lang="fr-FR" sz="2000" i="1" dirty="0" smtClean="0">
                <a:sym typeface="Arial"/>
              </a:rPr>
              <a:t>ées </a:t>
            </a:r>
            <a:r>
              <a:rPr lang="fr-FR" sz="2000" i="1" dirty="0" smtClean="0">
                <a:sym typeface="Arial"/>
              </a:rPr>
              <a:t>sur leur </a:t>
            </a:r>
            <a:r>
              <a:rPr lang="fr-FR" sz="2000" i="1" dirty="0" smtClean="0">
                <a:sym typeface="Arial"/>
              </a:rPr>
              <a:t>carnet de santé </a:t>
            </a:r>
            <a:r>
              <a:rPr lang="fr-FR" sz="2000" i="1" dirty="0" smtClean="0">
                <a:sym typeface="Arial"/>
              </a:rPr>
              <a:t>? Quels outils de représentation ?</a:t>
            </a:r>
            <a:endParaRPr lang="fr-FR" sz="2000" i="1" dirty="0" smtClean="0">
              <a:sym typeface="Arial"/>
            </a:endParaRPr>
          </a:p>
          <a:p>
            <a:pPr eaLnBrk="1" fontAlgn="auto" hangingPunct="1">
              <a:spcBef>
                <a:spcPts val="0"/>
              </a:spcBef>
              <a:spcAft>
                <a:spcPts val="0"/>
              </a:spcAft>
              <a:defRPr/>
            </a:pPr>
            <a:endParaRPr lang="fr-FR" sz="1556" dirty="0" smtClean="0">
              <a:sym typeface="Arial"/>
            </a:endParaRPr>
          </a:p>
          <a:p>
            <a:pPr eaLnBrk="1" fontAlgn="auto" hangingPunct="1">
              <a:spcBef>
                <a:spcPts val="0"/>
              </a:spcBef>
              <a:spcAft>
                <a:spcPts val="0"/>
              </a:spcAft>
              <a:defRPr/>
            </a:pPr>
            <a:endParaRPr lang="fr-FR" sz="1556" dirty="0">
              <a:sym typeface="Arial"/>
            </a:endParaRPr>
          </a:p>
          <a:p>
            <a:pPr eaLnBrk="1" fontAlgn="auto" hangingPunct="1">
              <a:spcBef>
                <a:spcPts val="0"/>
              </a:spcBef>
              <a:spcAft>
                <a:spcPts val="0"/>
              </a:spcAft>
              <a:defRPr/>
            </a:pPr>
            <a:r>
              <a:rPr lang="fr-FR" sz="2000" dirty="0" smtClean="0">
                <a:sym typeface="Arial"/>
              </a:rPr>
              <a:t>Pour aller plus loin : </a:t>
            </a:r>
            <a:endParaRPr lang="fr-FR" sz="1556" dirty="0">
              <a:sym typeface="Arial"/>
              <a:hlinkClick r:id="rId2"/>
            </a:endParaRPr>
          </a:p>
          <a:p>
            <a:pPr marL="285750" indent="-285750" eaLnBrk="1" fontAlgn="auto" hangingPunct="1">
              <a:spcBef>
                <a:spcPts val="0"/>
              </a:spcBef>
              <a:spcAft>
                <a:spcPts val="0"/>
              </a:spcAft>
              <a:buFont typeface="Wingdings" panose="05000000000000000000" pitchFamily="2" charset="2"/>
              <a:buChar char="§"/>
              <a:defRPr/>
            </a:pPr>
            <a:r>
              <a:rPr lang="fr-FR" sz="1800" dirty="0" smtClean="0">
                <a:solidFill>
                  <a:schemeClr val="accent6">
                    <a:lumMod val="75000"/>
                  </a:schemeClr>
                </a:solidFill>
                <a:sym typeface="Arial"/>
              </a:rPr>
              <a:t>Mon cours de </a:t>
            </a:r>
            <a:r>
              <a:rPr lang="fr-FR" sz="1800" dirty="0" smtClean="0">
                <a:solidFill>
                  <a:schemeClr val="accent6">
                    <a:lumMod val="75000"/>
                  </a:schemeClr>
                </a:solidFill>
                <a:sym typeface="Arial"/>
                <a:hlinkClick r:id="rId3"/>
              </a:rPr>
              <a:t>recueil et analyse de données</a:t>
            </a:r>
            <a:endParaRPr lang="fr-FR" sz="1800" dirty="0" smtClean="0">
              <a:solidFill>
                <a:schemeClr val="accent6">
                  <a:lumMod val="75000"/>
                </a:schemeClr>
              </a:solidFill>
              <a:sym typeface="Arial"/>
            </a:endParaRPr>
          </a:p>
          <a:p>
            <a:pPr marL="285750" indent="-285750" eaLnBrk="1" fontAlgn="auto" hangingPunct="1">
              <a:spcBef>
                <a:spcPts val="0"/>
              </a:spcBef>
              <a:spcAft>
                <a:spcPts val="0"/>
              </a:spcAft>
              <a:buFont typeface="Wingdings" panose="05000000000000000000" pitchFamily="2" charset="2"/>
              <a:buChar char="§"/>
              <a:defRPr/>
            </a:pPr>
            <a:r>
              <a:rPr lang="fr-FR" sz="1800" dirty="0" smtClean="0">
                <a:solidFill>
                  <a:schemeClr val="accent6">
                    <a:lumMod val="75000"/>
                  </a:schemeClr>
                </a:solidFill>
                <a:sym typeface="Arial"/>
              </a:rPr>
              <a:t>Carte </a:t>
            </a:r>
            <a:r>
              <a:rPr lang="fr-FR" sz="1800" dirty="0" smtClean="0">
                <a:solidFill>
                  <a:schemeClr val="accent6">
                    <a:lumMod val="75000"/>
                  </a:schemeClr>
                </a:solidFill>
                <a:sym typeface="Arial"/>
              </a:rPr>
              <a:t>interactive : </a:t>
            </a:r>
            <a:r>
              <a:rPr lang="fr-FR" sz="2000" dirty="0" smtClean="0">
                <a:solidFill>
                  <a:schemeClr val="accent6">
                    <a:lumMod val="75000"/>
                  </a:schemeClr>
                </a:solidFill>
                <a:hlinkClick r:id="rId2"/>
              </a:rPr>
              <a:t>http</a:t>
            </a:r>
            <a:r>
              <a:rPr lang="fr-FR" sz="2000" dirty="0">
                <a:solidFill>
                  <a:schemeClr val="accent6">
                    <a:lumMod val="75000"/>
                  </a:schemeClr>
                </a:solidFill>
                <a:hlinkClick r:id="rId2"/>
              </a:rPr>
              <a:t>://dataparis.io</a:t>
            </a:r>
            <a:r>
              <a:rPr lang="fr-FR" sz="2000" dirty="0" smtClean="0">
                <a:solidFill>
                  <a:schemeClr val="accent6">
                    <a:lumMod val="75000"/>
                  </a:schemeClr>
                </a:solidFill>
                <a:hlinkClick r:id="rId2"/>
              </a:rPr>
              <a:t>/#</a:t>
            </a:r>
            <a:endParaRPr lang="fr-FR" sz="2000" dirty="0" smtClean="0">
              <a:solidFill>
                <a:schemeClr val="accent6">
                  <a:lumMod val="75000"/>
                </a:schemeClr>
              </a:solidFill>
            </a:endParaRPr>
          </a:p>
          <a:p>
            <a:pPr marL="285750" indent="-285750" eaLnBrk="1" fontAlgn="auto" hangingPunct="1">
              <a:spcBef>
                <a:spcPts val="0"/>
              </a:spcBef>
              <a:spcAft>
                <a:spcPts val="0"/>
              </a:spcAft>
              <a:buFont typeface="Wingdings" panose="05000000000000000000" pitchFamily="2" charset="2"/>
              <a:buChar char="§"/>
              <a:defRPr/>
            </a:pPr>
            <a:endParaRPr lang="fr-FR" sz="1556" dirty="0" smtClean="0">
              <a:sym typeface="Arial"/>
            </a:endParaRPr>
          </a:p>
          <a:p>
            <a:pPr eaLnBrk="1" fontAlgn="auto" hangingPunct="1">
              <a:spcBef>
                <a:spcPts val="0"/>
              </a:spcBef>
              <a:spcAft>
                <a:spcPts val="0"/>
              </a:spcAft>
              <a:defRPr/>
            </a:pPr>
            <a:endParaRPr lang="fr-FR" sz="1556" dirty="0" smtClean="0">
              <a:sym typeface="Arial"/>
            </a:endParaRPr>
          </a:p>
          <a:p>
            <a:pPr marL="285750" indent="-285750" eaLnBrk="1" fontAlgn="auto" hangingPunct="1">
              <a:spcBef>
                <a:spcPts val="0"/>
              </a:spcBef>
              <a:spcAft>
                <a:spcPts val="0"/>
              </a:spcAft>
              <a:buFont typeface="Wingdings" panose="05000000000000000000" pitchFamily="2" charset="2"/>
              <a:buChar char="§"/>
              <a:defRPr/>
            </a:pPr>
            <a:endParaRPr lang="fr-FR" sz="1556" dirty="0">
              <a:sym typeface="Arial"/>
            </a:endParaRPr>
          </a:p>
          <a:p>
            <a:pPr marL="285750" indent="-285750" eaLnBrk="1" fontAlgn="auto" hangingPunct="1">
              <a:spcBef>
                <a:spcPts val="0"/>
              </a:spcBef>
              <a:spcAft>
                <a:spcPts val="0"/>
              </a:spcAft>
              <a:buFont typeface="Wingdings" panose="05000000000000000000" pitchFamily="2" charset="2"/>
              <a:buChar char="§"/>
              <a:defRPr/>
            </a:pPr>
            <a:endParaRPr lang="fr-FR" sz="1556" dirty="0">
              <a:sym typeface="Arial"/>
            </a:endParaRPr>
          </a:p>
        </p:txBody>
      </p:sp>
      <p:pic>
        <p:nvPicPr>
          <p:cNvPr id="5" name="Picture 5"/>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113595" y="4424078"/>
            <a:ext cx="773365" cy="737678"/>
          </a:xfrm>
          <a:prstGeom prst="rect">
            <a:avLst/>
          </a:prstGeom>
          <a:ln>
            <a:noFill/>
          </a:ln>
          <a:effectLst>
            <a:outerShdw blurRad="190500" algn="tl" rotWithShape="0">
              <a:srgbClr val="000000">
                <a:alpha val="70000"/>
              </a:srgbClr>
            </a:outerShdw>
          </a:effectLst>
        </p:spPr>
      </p:pic>
      <p:sp>
        <p:nvSpPr>
          <p:cNvPr id="6" name="ZoneTexte 5"/>
          <p:cNvSpPr txBox="1"/>
          <p:nvPr/>
        </p:nvSpPr>
        <p:spPr>
          <a:xfrm>
            <a:off x="4886960" y="4608251"/>
            <a:ext cx="2736304" cy="369332"/>
          </a:xfrm>
          <a:prstGeom prst="rect">
            <a:avLst/>
          </a:prstGeom>
          <a:noFill/>
        </p:spPr>
        <p:txBody>
          <a:bodyPr wrap="square" rtlCol="0">
            <a:spAutoFit/>
          </a:body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style.rotation</p:attrName>
                                        </p:attrNameLst>
                                      </p:cBhvr>
                                      <p:tavLst>
                                        <p:tav tm="0">
                                          <p:val>
                                            <p:fltVal val="90"/>
                                          </p:val>
                                        </p:tav>
                                        <p:tav tm="100000">
                                          <p:val>
                                            <p:fltVal val="0"/>
                                          </p:val>
                                        </p:tav>
                                      </p:tavLst>
                                    </p:anim>
                                    <p:animEffect transition="in" filter="fade">
                                      <p:cBhvr>
                                        <p:cTn id="22" dur="1000"/>
                                        <p:tgtEl>
                                          <p:spTgt spid="5"/>
                                        </p:tgtEl>
                                      </p:cBhvr>
                                    </p:animEffec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Modèle cours ECLille 2004">
  <a:themeElements>
    <a:clrScheme name="Modèle cours ECLille 2004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3799</TotalTime>
  <Words>855</Words>
  <Application>Microsoft Office PowerPoint</Application>
  <PresentationFormat>Affichage à l'écran (16:10)</PresentationFormat>
  <Paragraphs>169</Paragraphs>
  <Slides>16</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Times New Roman</vt:lpstr>
      <vt:lpstr>Wingdings</vt:lpstr>
      <vt:lpstr>Modèle cours ECLille 2004</vt:lpstr>
      <vt:lpstr>MRP : Collecte et visualisation de données</vt:lpstr>
      <vt:lpstr>Diagramme de relevé</vt:lpstr>
      <vt:lpstr>Relevé de données</vt:lpstr>
      <vt:lpstr>Méthodologie de collecte</vt:lpstr>
      <vt:lpstr>Garbage in, Garbage out (GIGO)</vt:lpstr>
      <vt:lpstr>Quand collecter des données ?</vt:lpstr>
      <vt:lpstr>La présentation visuelle des données</vt:lpstr>
      <vt:lpstr>Diagramme circulaire Florence Nightingale (1858)</vt:lpstr>
      <vt:lpstr>Relevé des victimes du choléra John Snow, 1854</vt:lpstr>
      <vt:lpstr>Histogramme</vt:lpstr>
      <vt:lpstr>Diagramme bâton</vt:lpstr>
      <vt:lpstr>Diagramme circulaire</vt:lpstr>
      <vt:lpstr>Carte</vt:lpstr>
      <vt:lpstr>Matrice de classement</vt:lpstr>
      <vt:lpstr>Les tableurs</vt:lpstr>
      <vt:lpstr>Réflexion sur le chapitre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méthode 1/6</dc:title>
  <dc:creator>Nandrianina AMADOU</dc:creator>
  <cp:lastModifiedBy>remi bachelet</cp:lastModifiedBy>
  <cp:revision>137</cp:revision>
  <dcterms:modified xsi:type="dcterms:W3CDTF">2014-03-30T00:43:56Z</dcterms:modified>
</cp:coreProperties>
</file>
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handoutMasterIdLst>
    <p:handoutMasterId r:id="rId133"/>
  </p:handoutMasterIdLst>
  <p:sldIdLst>
    <p:sldId id="772" r:id="rId2"/>
    <p:sldId id="819" r:id="rId3"/>
    <p:sldId id="1198" r:id="rId4"/>
    <p:sldId id="1199" r:id="rId5"/>
    <p:sldId id="1200" r:id="rId6"/>
    <p:sldId id="1201" r:id="rId7"/>
    <p:sldId id="790" r:id="rId8"/>
    <p:sldId id="789" r:id="rId9"/>
    <p:sldId id="791" r:id="rId10"/>
    <p:sldId id="798" r:id="rId11"/>
    <p:sldId id="1111" r:id="rId12"/>
    <p:sldId id="1125" r:id="rId13"/>
    <p:sldId id="792" r:id="rId14"/>
    <p:sldId id="793" r:id="rId15"/>
    <p:sldId id="820" r:id="rId16"/>
    <p:sldId id="1114" r:id="rId17"/>
    <p:sldId id="796" r:id="rId18"/>
    <p:sldId id="834" r:id="rId19"/>
    <p:sldId id="797" r:id="rId20"/>
    <p:sldId id="835" r:id="rId21"/>
    <p:sldId id="918" r:id="rId22"/>
    <p:sldId id="903" r:id="rId23"/>
    <p:sldId id="901" r:id="rId24"/>
    <p:sldId id="1048" r:id="rId25"/>
    <p:sldId id="848" r:id="rId26"/>
    <p:sldId id="994" r:id="rId27"/>
    <p:sldId id="990" r:id="rId28"/>
    <p:sldId id="854" r:id="rId29"/>
    <p:sldId id="849" r:id="rId30"/>
    <p:sldId id="893" r:id="rId31"/>
    <p:sldId id="851" r:id="rId32"/>
    <p:sldId id="853" r:id="rId33"/>
    <p:sldId id="897" r:id="rId34"/>
    <p:sldId id="995" r:id="rId35"/>
    <p:sldId id="996" r:id="rId36"/>
    <p:sldId id="999" r:id="rId37"/>
    <p:sldId id="1116" r:id="rId38"/>
    <p:sldId id="998" r:id="rId39"/>
    <p:sldId id="1104" r:id="rId40"/>
    <p:sldId id="1001" r:id="rId41"/>
    <p:sldId id="1176" r:id="rId42"/>
    <p:sldId id="1000" r:id="rId43"/>
    <p:sldId id="1073" r:id="rId44"/>
    <p:sldId id="1117" r:id="rId45"/>
    <p:sldId id="1123" r:id="rId46"/>
    <p:sldId id="902" r:id="rId47"/>
    <p:sldId id="1118" r:id="rId48"/>
    <p:sldId id="1002" r:id="rId49"/>
    <p:sldId id="1003" r:id="rId50"/>
    <p:sldId id="1011" r:id="rId51"/>
    <p:sldId id="1122" r:id="rId52"/>
    <p:sldId id="1008" r:id="rId53"/>
    <p:sldId id="1103" r:id="rId54"/>
    <p:sldId id="1119" r:id="rId55"/>
    <p:sldId id="1013" r:id="rId56"/>
    <p:sldId id="1105" r:id="rId57"/>
    <p:sldId id="1126" r:id="rId58"/>
    <p:sldId id="1110" r:id="rId59"/>
    <p:sldId id="1017" r:id="rId60"/>
    <p:sldId id="1106" r:id="rId61"/>
    <p:sldId id="1077" r:id="rId62"/>
    <p:sldId id="1124" r:id="rId63"/>
    <p:sldId id="1121" r:id="rId64"/>
    <p:sldId id="1113" r:id="rId65"/>
    <p:sldId id="1109" r:id="rId66"/>
    <p:sldId id="1081" r:id="rId67"/>
    <p:sldId id="1007" r:id="rId68"/>
    <p:sldId id="1128" r:id="rId69"/>
    <p:sldId id="1127" r:id="rId70"/>
    <p:sldId id="1129" r:id="rId71"/>
    <p:sldId id="1181" r:id="rId72"/>
    <p:sldId id="1182" r:id="rId73"/>
    <p:sldId id="1183" r:id="rId74"/>
    <p:sldId id="1130" r:id="rId75"/>
    <p:sldId id="1131" r:id="rId76"/>
    <p:sldId id="1180" r:id="rId77"/>
    <p:sldId id="1101" r:id="rId78"/>
    <p:sldId id="1134" r:id="rId79"/>
    <p:sldId id="1135" r:id="rId80"/>
    <p:sldId id="1136" r:id="rId81"/>
    <p:sldId id="1143" r:id="rId82"/>
    <p:sldId id="1145" r:id="rId83"/>
    <p:sldId id="1165" r:id="rId84"/>
    <p:sldId id="1166" r:id="rId85"/>
    <p:sldId id="1167" r:id="rId86"/>
    <p:sldId id="1168" r:id="rId87"/>
    <p:sldId id="1169" r:id="rId88"/>
    <p:sldId id="1144" r:id="rId89"/>
    <p:sldId id="1142" r:id="rId90"/>
    <p:sldId id="1132" r:id="rId91"/>
    <p:sldId id="1147" r:id="rId92"/>
    <p:sldId id="1138" r:id="rId93"/>
    <p:sldId id="1148" r:id="rId94"/>
    <p:sldId id="1149" r:id="rId95"/>
    <p:sldId id="1137" r:id="rId96"/>
    <p:sldId id="1150" r:id="rId97"/>
    <p:sldId id="1139" r:id="rId98"/>
    <p:sldId id="1151" r:id="rId99"/>
    <p:sldId id="1152" r:id="rId100"/>
    <p:sldId id="1140" r:id="rId101"/>
    <p:sldId id="1153" r:id="rId102"/>
    <p:sldId id="1184" r:id="rId103"/>
    <p:sldId id="1156" r:id="rId104"/>
    <p:sldId id="1154" r:id="rId105"/>
    <p:sldId id="1158" r:id="rId106"/>
    <p:sldId id="1159" r:id="rId107"/>
    <p:sldId id="1160" r:id="rId108"/>
    <p:sldId id="1163" r:id="rId109"/>
    <p:sldId id="1091" r:id="rId110"/>
    <p:sldId id="1173" r:id="rId111"/>
    <p:sldId id="1086" r:id="rId112"/>
    <p:sldId id="1107" r:id="rId113"/>
    <p:sldId id="1087" r:id="rId114"/>
    <p:sldId id="1174" r:id="rId115"/>
    <p:sldId id="1088" r:id="rId116"/>
    <p:sldId id="1179" r:id="rId117"/>
    <p:sldId id="1090" r:id="rId118"/>
    <p:sldId id="1162" r:id="rId119"/>
    <p:sldId id="1185" r:id="rId120"/>
    <p:sldId id="1186" r:id="rId121"/>
    <p:sldId id="1187" r:id="rId122"/>
    <p:sldId id="1188" r:id="rId123"/>
    <p:sldId id="1189" r:id="rId124"/>
    <p:sldId id="1190" r:id="rId125"/>
    <p:sldId id="1191" r:id="rId126"/>
    <p:sldId id="1192" r:id="rId127"/>
    <p:sldId id="1193" r:id="rId128"/>
    <p:sldId id="1194" r:id="rId129"/>
    <p:sldId id="1195" r:id="rId130"/>
    <p:sldId id="1196" r:id="rId131"/>
  </p:sldIdLst>
  <p:sldSz cx="9612313" cy="6840538"/>
  <p:notesSz cx="7099300" cy="10234613"/>
  <p:defaultTextStyle>
    <a:defPPr>
      <a:defRPr lang="fr-FR"/>
    </a:defPPr>
    <a:lvl1pPr algn="l" rtl="0" eaLnBrk="0" fontAlgn="base" hangingPunct="0">
      <a:spcBef>
        <a:spcPct val="0"/>
      </a:spcBef>
      <a:spcAft>
        <a:spcPct val="0"/>
      </a:spcAft>
      <a:defRPr sz="10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0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0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0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000" kern="1200">
        <a:solidFill>
          <a:schemeClr val="tx1"/>
        </a:solidFill>
        <a:latin typeface="Arial" panose="020B0604020202020204" pitchFamily="34" charset="0"/>
        <a:ea typeface="+mn-ea"/>
        <a:cs typeface="+mn-cs"/>
      </a:defRPr>
    </a:lvl5pPr>
    <a:lvl6pPr marL="2286000" algn="l" defTabSz="914400" rtl="0" eaLnBrk="1" latinLnBrk="0" hangingPunct="1">
      <a:defRPr sz="1000" kern="1200">
        <a:solidFill>
          <a:schemeClr val="tx1"/>
        </a:solidFill>
        <a:latin typeface="Arial" panose="020B0604020202020204" pitchFamily="34" charset="0"/>
        <a:ea typeface="+mn-ea"/>
        <a:cs typeface="+mn-cs"/>
      </a:defRPr>
    </a:lvl6pPr>
    <a:lvl7pPr marL="2743200" algn="l" defTabSz="914400" rtl="0" eaLnBrk="1" latinLnBrk="0" hangingPunct="1">
      <a:defRPr sz="1000" kern="1200">
        <a:solidFill>
          <a:schemeClr val="tx1"/>
        </a:solidFill>
        <a:latin typeface="Arial" panose="020B0604020202020204" pitchFamily="34" charset="0"/>
        <a:ea typeface="+mn-ea"/>
        <a:cs typeface="+mn-cs"/>
      </a:defRPr>
    </a:lvl7pPr>
    <a:lvl8pPr marL="3200400" algn="l" defTabSz="914400" rtl="0" eaLnBrk="1" latinLnBrk="0" hangingPunct="1">
      <a:defRPr sz="1000" kern="1200">
        <a:solidFill>
          <a:schemeClr val="tx1"/>
        </a:solidFill>
        <a:latin typeface="Arial" panose="020B0604020202020204" pitchFamily="34" charset="0"/>
        <a:ea typeface="+mn-ea"/>
        <a:cs typeface="+mn-cs"/>
      </a:defRPr>
    </a:lvl8pPr>
    <a:lvl9pPr marL="3657600" algn="l" defTabSz="914400" rtl="0" eaLnBrk="1" latinLnBrk="0" hangingPunct="1">
      <a:defRPr sz="1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5">
          <p15:clr>
            <a:srgbClr val="A4A3A4"/>
          </p15:clr>
        </p15:guide>
        <p15:guide id="2" pos="3028">
          <p15:clr>
            <a:srgbClr val="A4A3A4"/>
          </p15:clr>
        </p15:guide>
      </p15:sldGuideLst>
    </p:ext>
    <p:ext uri="{2D200454-40CA-4A62-9FC3-DE9A4176ACB9}">
      <p15:notesGuideLst xmlns:p15="http://schemas.microsoft.com/office/powerpoint/2012/main">
        <p15:guide id="1" orient="horz" pos="3244" userDrawn="1">
          <p15:clr>
            <a:srgbClr val="A4A3A4"/>
          </p15:clr>
        </p15:guide>
        <p15:guide id="2" pos="2257" userDrawn="1">
          <p15:clr>
            <a:srgbClr val="A4A3A4"/>
          </p15:clr>
        </p15:guide>
        <p15:guide id="3" orient="horz" pos="3224" userDrawn="1">
          <p15:clr>
            <a:srgbClr val="A4A3A4"/>
          </p15:clr>
        </p15:guide>
        <p15:guide id="4"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FFFF"/>
    <a:srgbClr val="FF3300"/>
    <a:srgbClr val="27A8E0"/>
    <a:srgbClr val="FFFF00"/>
    <a:srgbClr val="FF99CC"/>
    <a:srgbClr val="CC99FF"/>
    <a:srgbClr val="CC66FF"/>
    <a:srgbClr val="99FF99"/>
    <a:srgbClr val="FFCDE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33929" autoAdjust="0"/>
    <p:restoredTop sz="87916" autoAdjust="0"/>
  </p:normalViewPr>
  <p:slideViewPr>
    <p:cSldViewPr snapToGrid="0">
      <p:cViewPr varScale="1">
        <p:scale>
          <a:sx n="116" d="100"/>
          <a:sy n="116" d="100"/>
        </p:scale>
        <p:origin x="1920" y="84"/>
      </p:cViewPr>
      <p:guideLst>
        <p:guide orient="horz" pos="2155"/>
        <p:guide pos="30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70" d="100"/>
        <a:sy n="170" d="100"/>
      </p:scale>
      <p:origin x="0" y="-6444"/>
    </p:cViewPr>
  </p:sorterViewPr>
  <p:notesViewPr>
    <p:cSldViewPr snapToGrid="0">
      <p:cViewPr varScale="1">
        <p:scale>
          <a:sx n="63" d="100"/>
          <a:sy n="63" d="100"/>
        </p:scale>
        <p:origin x="2478" y="66"/>
      </p:cViewPr>
      <p:guideLst>
        <p:guide orient="horz" pos="3244"/>
        <p:guide pos="2257"/>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microsoft.com/office/2016/11/relationships/changesInfo" Target="changesInfos/changesInfo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éphane JAUBERT" userId="926aeaf5-0d8d-4569-9635-338e3b4850fc" providerId="ADAL" clId="{C777CAD2-2948-4130-A6C6-8CB11CD7CD00}"/>
    <pc:docChg chg="modSld">
      <pc:chgData name="Stéphane JAUBERT" userId="926aeaf5-0d8d-4569-9635-338e3b4850fc" providerId="ADAL" clId="{C777CAD2-2948-4130-A6C6-8CB11CD7CD00}" dt="2026-09-15T08:38:17.047" v="0" actId="34476"/>
      <pc:docMkLst>
        <pc:docMk/>
      </pc:docMkLst>
      <pc:sldChg chg="mod modShow">
        <pc:chgData name="Stéphane JAUBERT" userId="926aeaf5-0d8d-4569-9635-338e3b4850fc" providerId="ADAL" clId="{C777CAD2-2948-4130-A6C6-8CB11CD7CD00}" dt="2026-09-15T08:38:17.047" v="0" actId="34476"/>
        <pc:sldMkLst>
          <pc:docMk/>
          <pc:sldMk cId="0" sldId="112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p:cNvSpPr>
            <a:spLocks noGrp="1" noChangeArrowheads="1"/>
          </p:cNvSpPr>
          <p:nvPr>
            <p:ph type="hdr" sz="quarter"/>
          </p:nvPr>
        </p:nvSpPr>
        <p:spPr bwMode="auto">
          <a:xfrm>
            <a:off x="1" y="0"/>
            <a:ext cx="3075480" cy="512304"/>
          </a:xfrm>
          <a:prstGeom prst="rect">
            <a:avLst/>
          </a:prstGeom>
          <a:noFill/>
          <a:ln w="9525">
            <a:noFill/>
            <a:miter lim="800000"/>
            <a:headEnd/>
            <a:tailEnd/>
          </a:ln>
          <a:effectLst/>
        </p:spPr>
        <p:txBody>
          <a:bodyPr vert="horz" wrap="square" lIns="95473" tIns="47736" rIns="95473" bIns="47736" numCol="1" anchor="t" anchorCtr="0" compatLnSpc="1">
            <a:prstTxWarp prst="textNoShape">
              <a:avLst/>
            </a:prstTxWarp>
          </a:bodyPr>
          <a:lstStyle>
            <a:lvl1pPr algn="l" eaLnBrk="1" hangingPunct="1">
              <a:defRPr sz="1200">
                <a:latin typeface="Arial" charset="0"/>
              </a:defRPr>
            </a:lvl1pPr>
          </a:lstStyle>
          <a:p>
            <a:pPr>
              <a:defRPr/>
            </a:pPr>
            <a:endParaRPr lang="fr-FR" dirty="0">
              <a:latin typeface="Calibri" panose="020F0502020204030204" pitchFamily="34" charset="0"/>
            </a:endParaRPr>
          </a:p>
        </p:txBody>
      </p:sp>
      <p:sp>
        <p:nvSpPr>
          <p:cNvPr id="176131" name="Rectangle 3"/>
          <p:cNvSpPr>
            <a:spLocks noGrp="1" noChangeArrowheads="1"/>
          </p:cNvSpPr>
          <p:nvPr>
            <p:ph type="dt" sz="quarter" idx="1"/>
          </p:nvPr>
        </p:nvSpPr>
        <p:spPr bwMode="auto">
          <a:xfrm>
            <a:off x="4022164" y="0"/>
            <a:ext cx="3075480" cy="512304"/>
          </a:xfrm>
          <a:prstGeom prst="rect">
            <a:avLst/>
          </a:prstGeom>
          <a:noFill/>
          <a:ln w="9525">
            <a:noFill/>
            <a:miter lim="800000"/>
            <a:headEnd/>
            <a:tailEnd/>
          </a:ln>
          <a:effectLst/>
        </p:spPr>
        <p:txBody>
          <a:bodyPr vert="horz" wrap="square" lIns="95473" tIns="47736" rIns="95473" bIns="47736" numCol="1" anchor="t" anchorCtr="0" compatLnSpc="1">
            <a:prstTxWarp prst="textNoShape">
              <a:avLst/>
            </a:prstTxWarp>
          </a:bodyPr>
          <a:lstStyle>
            <a:lvl1pPr algn="r" eaLnBrk="1" hangingPunct="1">
              <a:defRPr sz="1200">
                <a:latin typeface="Arial" charset="0"/>
              </a:defRPr>
            </a:lvl1pPr>
          </a:lstStyle>
          <a:p>
            <a:pPr>
              <a:defRPr/>
            </a:pPr>
            <a:endParaRPr lang="fr-FR" dirty="0">
              <a:latin typeface="Calibri" panose="020F0502020204030204" pitchFamily="34" charset="0"/>
            </a:endParaRPr>
          </a:p>
        </p:txBody>
      </p:sp>
      <p:sp>
        <p:nvSpPr>
          <p:cNvPr id="176132" name="Rectangle 4"/>
          <p:cNvSpPr>
            <a:spLocks noGrp="1" noChangeArrowheads="1"/>
          </p:cNvSpPr>
          <p:nvPr>
            <p:ph type="ftr" sz="quarter" idx="2"/>
          </p:nvPr>
        </p:nvSpPr>
        <p:spPr bwMode="auto">
          <a:xfrm>
            <a:off x="1" y="9720674"/>
            <a:ext cx="3075480" cy="512303"/>
          </a:xfrm>
          <a:prstGeom prst="rect">
            <a:avLst/>
          </a:prstGeom>
          <a:noFill/>
          <a:ln w="9525">
            <a:noFill/>
            <a:miter lim="800000"/>
            <a:headEnd/>
            <a:tailEnd/>
          </a:ln>
          <a:effectLst/>
        </p:spPr>
        <p:txBody>
          <a:bodyPr vert="horz" wrap="square" lIns="95473" tIns="47736" rIns="95473" bIns="47736" numCol="1" anchor="b" anchorCtr="0" compatLnSpc="1">
            <a:prstTxWarp prst="textNoShape">
              <a:avLst/>
            </a:prstTxWarp>
          </a:bodyPr>
          <a:lstStyle>
            <a:lvl1pPr algn="l" eaLnBrk="1" hangingPunct="1">
              <a:defRPr sz="1200">
                <a:latin typeface="Arial" charset="0"/>
              </a:defRPr>
            </a:lvl1pPr>
          </a:lstStyle>
          <a:p>
            <a:pPr>
              <a:defRPr/>
            </a:pPr>
            <a:r>
              <a:rPr lang="fr-FR" dirty="0">
                <a:latin typeface="Calibri" panose="020F0502020204030204" pitchFamily="34" charset="0"/>
              </a:rPr>
              <a:t>CIPE - Le jeu du Lean </a:t>
            </a:r>
            <a:r>
              <a:rPr lang="fr-FR" dirty="0" err="1">
                <a:latin typeface="Calibri" panose="020F0502020204030204" pitchFamily="34" charset="0"/>
              </a:rPr>
              <a:t>Manufacturing</a:t>
            </a:r>
            <a:r>
              <a:rPr lang="fr-FR" dirty="0">
                <a:latin typeface="Calibri" panose="020F0502020204030204" pitchFamily="34" charset="0"/>
              </a:rPr>
              <a:t> - Guide d'animation</a:t>
            </a:r>
          </a:p>
        </p:txBody>
      </p:sp>
      <p:sp>
        <p:nvSpPr>
          <p:cNvPr id="176133" name="Rectangle 5"/>
          <p:cNvSpPr>
            <a:spLocks noGrp="1" noChangeArrowheads="1"/>
          </p:cNvSpPr>
          <p:nvPr>
            <p:ph type="sldNum" sz="quarter" idx="3"/>
          </p:nvPr>
        </p:nvSpPr>
        <p:spPr bwMode="auto">
          <a:xfrm>
            <a:off x="4022164" y="9720674"/>
            <a:ext cx="3075480" cy="512303"/>
          </a:xfrm>
          <a:prstGeom prst="rect">
            <a:avLst/>
          </a:prstGeom>
          <a:noFill/>
          <a:ln w="9525">
            <a:noFill/>
            <a:miter lim="800000"/>
            <a:headEnd/>
            <a:tailEnd/>
          </a:ln>
          <a:effectLst/>
        </p:spPr>
        <p:txBody>
          <a:bodyPr vert="horz" wrap="square" lIns="95473" tIns="47736" rIns="95473" bIns="47736" numCol="1" anchor="b" anchorCtr="0" compatLnSpc="1">
            <a:prstTxWarp prst="textNoShape">
              <a:avLst/>
            </a:prstTxWarp>
          </a:bodyPr>
          <a:lstStyle>
            <a:lvl1pPr algn="r" eaLnBrk="1" hangingPunct="1">
              <a:defRPr sz="1200"/>
            </a:lvl1pPr>
          </a:lstStyle>
          <a:p>
            <a:pPr>
              <a:defRPr/>
            </a:pPr>
            <a:fld id="{E5AA95CC-9167-48F7-B199-0A1D52F95481}" type="slidenum">
              <a:rPr lang="fr-FR" altLang="fr-FR">
                <a:latin typeface="Calibri" panose="020F0502020204030204" pitchFamily="34" charset="0"/>
              </a:rPr>
              <a:pPr>
                <a:defRPr/>
              </a:pPr>
              <a:t>‹N°›</a:t>
            </a:fld>
            <a:endParaRPr lang="fr-FR" altLang="fr-FR" dirty="0">
              <a:latin typeface="Calibri" panose="020F0502020204030204" pitchFamily="34" charset="0"/>
            </a:endParaRPr>
          </a:p>
        </p:txBody>
      </p:sp>
    </p:spTree>
    <p:extLst>
      <p:ext uri="{BB962C8B-B14F-4D97-AF65-F5344CB8AC3E}">
        <p14:creationId xmlns:p14="http://schemas.microsoft.com/office/powerpoint/2010/main" val="37563325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1" y="0"/>
            <a:ext cx="3075480" cy="512304"/>
          </a:xfrm>
          <a:prstGeom prst="rect">
            <a:avLst/>
          </a:prstGeom>
          <a:noFill/>
          <a:ln w="9525">
            <a:noFill/>
            <a:miter lim="800000"/>
            <a:headEnd/>
            <a:tailEnd/>
          </a:ln>
          <a:effectLst/>
        </p:spPr>
        <p:txBody>
          <a:bodyPr vert="horz" wrap="square" lIns="95473" tIns="47736" rIns="95473" bIns="47736" numCol="1" anchor="t" anchorCtr="0" compatLnSpc="1">
            <a:prstTxWarp prst="textNoShape">
              <a:avLst/>
            </a:prstTxWarp>
          </a:bodyPr>
          <a:lstStyle>
            <a:lvl1pPr algn="l" eaLnBrk="1" hangingPunct="1">
              <a:defRPr sz="1200">
                <a:latin typeface="Calibri" panose="020F0502020204030204" pitchFamily="34" charset="0"/>
              </a:defRPr>
            </a:lvl1pPr>
          </a:lstStyle>
          <a:p>
            <a:pPr>
              <a:defRPr/>
            </a:pPr>
            <a:endParaRPr lang="fr-FR" dirty="0"/>
          </a:p>
        </p:txBody>
      </p:sp>
      <p:sp>
        <p:nvSpPr>
          <p:cNvPr id="109571" name="Rectangle 3"/>
          <p:cNvSpPr>
            <a:spLocks noGrp="1" noChangeArrowheads="1"/>
          </p:cNvSpPr>
          <p:nvPr>
            <p:ph type="dt" idx="1"/>
          </p:nvPr>
        </p:nvSpPr>
        <p:spPr bwMode="auto">
          <a:xfrm>
            <a:off x="4022164" y="0"/>
            <a:ext cx="3075480" cy="512304"/>
          </a:xfrm>
          <a:prstGeom prst="rect">
            <a:avLst/>
          </a:prstGeom>
          <a:noFill/>
          <a:ln w="9525">
            <a:noFill/>
            <a:miter lim="800000"/>
            <a:headEnd/>
            <a:tailEnd/>
          </a:ln>
          <a:effectLst/>
        </p:spPr>
        <p:txBody>
          <a:bodyPr vert="horz" wrap="square" lIns="95473" tIns="47736" rIns="95473" bIns="47736"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endParaRPr lang="fr-FR" dirty="0"/>
          </a:p>
        </p:txBody>
      </p:sp>
      <p:sp>
        <p:nvSpPr>
          <p:cNvPr id="13316" name="Rectangle 4"/>
          <p:cNvSpPr>
            <a:spLocks noGrp="1" noRot="1" noChangeAspect="1" noChangeArrowheads="1" noTextEdit="1"/>
          </p:cNvSpPr>
          <p:nvPr>
            <p:ph type="sldImg" idx="2"/>
          </p:nvPr>
        </p:nvSpPr>
        <p:spPr bwMode="auto">
          <a:xfrm>
            <a:off x="482600" y="663575"/>
            <a:ext cx="6359525" cy="45259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3" name="Rectangle 5"/>
          <p:cNvSpPr>
            <a:spLocks noGrp="1" noChangeArrowheads="1"/>
          </p:cNvSpPr>
          <p:nvPr>
            <p:ph type="body" sz="quarter" idx="3"/>
          </p:nvPr>
        </p:nvSpPr>
        <p:spPr bwMode="auto">
          <a:xfrm>
            <a:off x="366405" y="5658254"/>
            <a:ext cx="6504100" cy="4198270"/>
          </a:xfrm>
          <a:prstGeom prst="rect">
            <a:avLst/>
          </a:prstGeom>
          <a:noFill/>
          <a:ln w="9525">
            <a:solidFill>
              <a:schemeClr val="bg2"/>
            </a:solidFill>
            <a:miter lim="800000"/>
            <a:headEnd/>
            <a:tailEnd/>
          </a:ln>
          <a:effectLst/>
        </p:spPr>
        <p:txBody>
          <a:bodyPr vert="horz" wrap="square" lIns="95473" tIns="47736" rIns="95473" bIns="47736" numCol="1" anchor="t" anchorCtr="0" compatLnSpc="1">
            <a:prstTxWarp prst="textNoShape">
              <a:avLst/>
            </a:prstTxWarp>
          </a:bodyPr>
          <a:lstStyle/>
          <a:p>
            <a:pPr lvl="0"/>
            <a:r>
              <a:rPr lang="fr-FR" noProof="0" dirty="0"/>
              <a:t>Click to </a:t>
            </a:r>
            <a:r>
              <a:rPr lang="fr-FR" noProof="0" dirty="0" err="1"/>
              <a:t>edit</a:t>
            </a:r>
            <a:r>
              <a:rPr lang="fr-FR" noProof="0" dirty="0"/>
              <a:t> Master </a:t>
            </a:r>
            <a:r>
              <a:rPr lang="fr-FR" noProof="0" dirty="0" err="1"/>
              <a:t>text</a:t>
            </a:r>
            <a:r>
              <a:rPr lang="fr-FR" noProof="0" dirty="0"/>
              <a:t> styles</a:t>
            </a:r>
          </a:p>
          <a:p>
            <a:pPr lvl="1"/>
            <a:r>
              <a:rPr lang="fr-FR" noProof="0" dirty="0"/>
              <a:t>Second </a:t>
            </a:r>
            <a:r>
              <a:rPr lang="fr-FR" noProof="0" dirty="0" err="1"/>
              <a:t>level</a:t>
            </a:r>
            <a:endParaRPr lang="fr-FR" noProof="0" dirty="0"/>
          </a:p>
          <a:p>
            <a:pPr lvl="2"/>
            <a:r>
              <a:rPr lang="fr-FR" noProof="0" dirty="0" err="1"/>
              <a:t>Third</a:t>
            </a:r>
            <a:r>
              <a:rPr lang="fr-FR" noProof="0" dirty="0"/>
              <a:t> </a:t>
            </a:r>
            <a:r>
              <a:rPr lang="fr-FR" noProof="0" dirty="0" err="1"/>
              <a:t>level</a:t>
            </a:r>
            <a:endParaRPr lang="fr-FR" noProof="0" dirty="0"/>
          </a:p>
          <a:p>
            <a:pPr lvl="3"/>
            <a:r>
              <a:rPr lang="fr-FR" noProof="0" dirty="0" err="1"/>
              <a:t>Fourth</a:t>
            </a:r>
            <a:r>
              <a:rPr lang="fr-FR" noProof="0" dirty="0"/>
              <a:t> </a:t>
            </a:r>
            <a:r>
              <a:rPr lang="fr-FR" noProof="0" dirty="0" err="1"/>
              <a:t>level</a:t>
            </a:r>
            <a:endParaRPr lang="fr-FR" noProof="0" dirty="0"/>
          </a:p>
          <a:p>
            <a:pPr lvl="4"/>
            <a:r>
              <a:rPr lang="fr-FR" noProof="0" dirty="0" err="1"/>
              <a:t>Fifth</a:t>
            </a:r>
            <a:r>
              <a:rPr lang="fr-FR" noProof="0" dirty="0"/>
              <a:t> </a:t>
            </a:r>
            <a:r>
              <a:rPr lang="fr-FR" noProof="0" dirty="0" err="1"/>
              <a:t>level</a:t>
            </a:r>
            <a:endParaRPr lang="fr-FR" noProof="0" dirty="0"/>
          </a:p>
        </p:txBody>
      </p:sp>
      <p:sp>
        <p:nvSpPr>
          <p:cNvPr id="9" name="Espace réservé du numéro de diapositive 8"/>
          <p:cNvSpPr>
            <a:spLocks noGrp="1"/>
          </p:cNvSpPr>
          <p:nvPr>
            <p:ph type="sldNum" sz="quarter" idx="5"/>
          </p:nvPr>
        </p:nvSpPr>
        <p:spPr>
          <a:xfrm>
            <a:off x="4998691" y="9720674"/>
            <a:ext cx="2098951" cy="512303"/>
          </a:xfrm>
          <a:prstGeom prst="rect">
            <a:avLst/>
          </a:prstGeom>
        </p:spPr>
        <p:txBody>
          <a:bodyPr vert="horz" wrap="square" lIns="95473" tIns="47736" rIns="95473" bIns="47736" numCol="1" anchor="b" anchorCtr="0" compatLnSpc="1">
            <a:prstTxWarp prst="textNoShape">
              <a:avLst/>
            </a:prstTxWarp>
          </a:bodyPr>
          <a:lstStyle>
            <a:lvl1pPr algn="r" eaLnBrk="1" hangingPunct="1">
              <a:defRPr sz="1100">
                <a:latin typeface="Calibri" panose="020F0502020204030204" pitchFamily="34" charset="0"/>
              </a:defRPr>
            </a:lvl1pPr>
          </a:lstStyle>
          <a:p>
            <a:pPr>
              <a:defRPr/>
            </a:pPr>
            <a:fld id="{F9601B91-EB76-48E4-8423-4E6F76F0E704}" type="slidenum">
              <a:rPr lang="fr-FR" altLang="fr-FR" smtClean="0"/>
              <a:pPr>
                <a:defRPr/>
              </a:pPr>
              <a:t>‹N°›</a:t>
            </a:fld>
            <a:endParaRPr lang="fr-FR" altLang="fr-FR" dirty="0"/>
          </a:p>
        </p:txBody>
      </p:sp>
      <p:sp>
        <p:nvSpPr>
          <p:cNvPr id="10" name="Espace réservé du pied de page 9"/>
          <p:cNvSpPr>
            <a:spLocks noGrp="1"/>
          </p:cNvSpPr>
          <p:nvPr>
            <p:ph type="ftr" sz="quarter" idx="4"/>
          </p:nvPr>
        </p:nvSpPr>
        <p:spPr>
          <a:xfrm>
            <a:off x="1" y="9889260"/>
            <a:ext cx="4514572" cy="343718"/>
          </a:xfrm>
          <a:prstGeom prst="rect">
            <a:avLst/>
          </a:prstGeom>
        </p:spPr>
        <p:txBody>
          <a:bodyPr vert="horz" lIns="95473" tIns="47736" rIns="95473" bIns="47736" rtlCol="0" anchor="b"/>
          <a:lstStyle>
            <a:lvl1pPr algn="l" eaLnBrk="1" hangingPunct="1">
              <a:defRPr sz="1000">
                <a:latin typeface="Calibri" panose="020F0502020204030204" pitchFamily="34" charset="0"/>
              </a:defRPr>
            </a:lvl1pPr>
          </a:lstStyle>
          <a:p>
            <a:pPr>
              <a:defRPr/>
            </a:pPr>
            <a:r>
              <a:rPr lang="fr-FR" dirty="0"/>
              <a:t>CIPE - Le jeu du Lean </a:t>
            </a:r>
            <a:r>
              <a:rPr lang="fr-FR" dirty="0" err="1"/>
              <a:t>Manufacturing</a:t>
            </a:r>
            <a:r>
              <a:rPr lang="fr-FR" dirty="0"/>
              <a:t> - Guide d'animation</a:t>
            </a:r>
          </a:p>
        </p:txBody>
      </p:sp>
    </p:spTree>
    <p:extLst>
      <p:ext uri="{BB962C8B-B14F-4D97-AF65-F5344CB8AC3E}">
        <p14:creationId xmlns:p14="http://schemas.microsoft.com/office/powerpoint/2010/main" val="1389124227"/>
      </p:ext>
    </p:extLst>
  </p:cSld>
  <p:clrMap bg1="lt1" tx1="dk1" bg2="lt2" tx2="dk2" accent1="accent1" accent2="accent2" accent3="accent3" accent4="accent4" accent5="accent5" accent6="accent6" hlink="hlink" folHlink="folHlink"/>
  <p:hf hdr="0" dt="0"/>
  <p:notesStyle>
    <a:lvl1pPr algn="l" rtl="0" eaLnBrk="0" fontAlgn="base" hangingPunct="0">
      <a:lnSpc>
        <a:spcPct val="120000"/>
      </a:lnSpc>
      <a:spcBef>
        <a:spcPct val="30000"/>
      </a:spcBef>
      <a:spcAft>
        <a:spcPct val="0"/>
      </a:spcAft>
      <a:defRPr sz="11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9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9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9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9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image" Target="../media/image4.jpe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image" Target="../media/image36.emf"/></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 y="3"/>
            <a:ext cx="7102616" cy="102297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3745" tIns="46872" rIns="93745" bIns="46872" anchor="ctr"/>
          <a:lstStyle/>
          <a:p>
            <a:pPr algn="ctr" eaLnBrk="1" hangingPunct="1">
              <a:defRPr/>
            </a:pPr>
            <a:endParaRPr lang="fr-FR"/>
          </a:p>
        </p:txBody>
      </p:sp>
      <p:sp>
        <p:nvSpPr>
          <p:cNvPr id="14" name="Rectangle 13"/>
          <p:cNvSpPr/>
          <p:nvPr/>
        </p:nvSpPr>
        <p:spPr>
          <a:xfrm>
            <a:off x="583597" y="263518"/>
            <a:ext cx="6238830" cy="9262381"/>
          </a:xfrm>
          <a:prstGeom prst="rect">
            <a:avLst/>
          </a:prstGeom>
          <a:solidFill>
            <a:schemeClr val="bg1"/>
          </a:solidFill>
          <a:ln>
            <a:solidFill>
              <a:srgbClr val="27A8E0"/>
            </a:solidFill>
          </a:ln>
          <a:effectLst>
            <a:outerShdw blurRad="1397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3745" tIns="46872" rIns="93745" bIns="46872" anchor="ctr"/>
          <a:lstStyle/>
          <a:p>
            <a:pPr algn="ctr" eaLnBrk="1" hangingPunct="1">
              <a:defRPr/>
            </a:pPr>
            <a:endParaRPr lang="fr-FR"/>
          </a:p>
        </p:txBody>
      </p:sp>
      <p:sp>
        <p:nvSpPr>
          <p:cNvPr id="15" name="Rectangle 629"/>
          <p:cNvSpPr>
            <a:spLocks noChangeArrowheads="1"/>
          </p:cNvSpPr>
          <p:nvPr/>
        </p:nvSpPr>
        <p:spPr bwMode="auto">
          <a:xfrm>
            <a:off x="991450" y="9781232"/>
            <a:ext cx="5423123" cy="41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757" tIns="46878" rIns="93757" bIns="46878">
            <a:spAutoFit/>
          </a:bodyPr>
          <a:lstStyle/>
          <a:p>
            <a:pPr algn="ctr" eaLnBrk="1" hangingPunct="1">
              <a:defRPr/>
            </a:pPr>
            <a:r>
              <a:rPr lang="fr-FR" dirty="0">
                <a:solidFill>
                  <a:schemeClr val="tx1">
                    <a:lumMod val="65000"/>
                    <a:lumOff val="35000"/>
                  </a:schemeClr>
                </a:solidFill>
                <a:latin typeface="Calibri" panose="020F0502020204030204" pitchFamily="34" charset="0"/>
                <a:cs typeface="Times New Roman" pitchFamily="18" charset="0"/>
              </a:rPr>
              <a:t>CIPE  –  Centre International de la Pédagogie d'Entreprise</a:t>
            </a:r>
          </a:p>
          <a:p>
            <a:pPr algn="ctr">
              <a:defRPr/>
            </a:pPr>
            <a:r>
              <a:rPr lang="fr-FR" dirty="0">
                <a:solidFill>
                  <a:schemeClr val="tx1">
                    <a:lumMod val="65000"/>
                    <a:lumOff val="35000"/>
                  </a:schemeClr>
                </a:solidFill>
                <a:latin typeface="Calibri" panose="020F0502020204030204" pitchFamily="34" charset="0"/>
                <a:cs typeface="Times New Roman" pitchFamily="18" charset="0"/>
              </a:rPr>
              <a:t>info@cipe.fr   –   www.cipe.fr</a:t>
            </a:r>
            <a:endParaRPr lang="fr-FR" dirty="0">
              <a:solidFill>
                <a:schemeClr val="tx1">
                  <a:lumMod val="65000"/>
                  <a:lumOff val="35000"/>
                </a:schemeClr>
              </a:solidFill>
              <a:latin typeface="Calibri" panose="020F0502020204030204" pitchFamily="34" charset="0"/>
            </a:endParaRPr>
          </a:p>
        </p:txBody>
      </p:sp>
      <p:pic>
        <p:nvPicPr>
          <p:cNvPr id="16389" name="Picture 10" descr="C:\Users\bertrands\Dropbox\Marketing\Logo Cipe\Logo CIPE Baseline image Couleurs bureautiqu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677" y="8507841"/>
            <a:ext cx="2216667" cy="803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Rectangle 3081"/>
          <p:cNvSpPr>
            <a:spLocks noChangeArrowheads="1"/>
          </p:cNvSpPr>
          <p:nvPr/>
        </p:nvSpPr>
        <p:spPr bwMode="auto">
          <a:xfrm>
            <a:off x="1037873" y="5560051"/>
            <a:ext cx="5330277" cy="1114628"/>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491" tIns="49452" rIns="95491" bIns="49452">
            <a:spAutoFit/>
          </a:bodyPr>
          <a:lstStyle>
            <a:lvl1pPr defTabSz="927100">
              <a:defRPr sz="1000">
                <a:solidFill>
                  <a:schemeClr val="tx1"/>
                </a:solidFill>
                <a:latin typeface="Arial" panose="020B0604020202020204" pitchFamily="34" charset="0"/>
              </a:defRPr>
            </a:lvl1pPr>
            <a:lvl2pPr marL="742950" indent="-285750" defTabSz="927100">
              <a:defRPr sz="1000">
                <a:solidFill>
                  <a:schemeClr val="tx1"/>
                </a:solidFill>
                <a:latin typeface="Arial" panose="020B0604020202020204" pitchFamily="34" charset="0"/>
              </a:defRPr>
            </a:lvl2pPr>
            <a:lvl3pPr marL="1143000" indent="-228600" defTabSz="927100">
              <a:defRPr sz="1000">
                <a:solidFill>
                  <a:schemeClr val="tx1"/>
                </a:solidFill>
                <a:latin typeface="Arial" panose="020B0604020202020204" pitchFamily="34" charset="0"/>
              </a:defRPr>
            </a:lvl3pPr>
            <a:lvl4pPr marL="1600200" indent="-228600" defTabSz="927100">
              <a:defRPr sz="1000">
                <a:solidFill>
                  <a:schemeClr val="tx1"/>
                </a:solidFill>
                <a:latin typeface="Arial" panose="020B0604020202020204" pitchFamily="34" charset="0"/>
              </a:defRPr>
            </a:lvl4pPr>
            <a:lvl5pPr marL="2057400" indent="-228600" defTabSz="927100">
              <a:defRPr sz="1000">
                <a:solidFill>
                  <a:schemeClr val="tx1"/>
                </a:solidFill>
                <a:latin typeface="Arial" panose="020B0604020202020204" pitchFamily="34" charset="0"/>
              </a:defRPr>
            </a:lvl5pPr>
            <a:lvl6pPr marL="2514600" indent="-228600" defTabSz="927100" eaLnBrk="0" fontAlgn="base" hangingPunct="0">
              <a:spcBef>
                <a:spcPct val="0"/>
              </a:spcBef>
              <a:spcAft>
                <a:spcPct val="0"/>
              </a:spcAft>
              <a:defRPr sz="1000">
                <a:solidFill>
                  <a:schemeClr val="tx1"/>
                </a:solidFill>
                <a:latin typeface="Arial" panose="020B0604020202020204" pitchFamily="34" charset="0"/>
              </a:defRPr>
            </a:lvl6pPr>
            <a:lvl7pPr marL="2971800" indent="-228600" defTabSz="927100" eaLnBrk="0" fontAlgn="base" hangingPunct="0">
              <a:spcBef>
                <a:spcPct val="0"/>
              </a:spcBef>
              <a:spcAft>
                <a:spcPct val="0"/>
              </a:spcAft>
              <a:defRPr sz="1000">
                <a:solidFill>
                  <a:schemeClr val="tx1"/>
                </a:solidFill>
                <a:latin typeface="Arial" panose="020B0604020202020204" pitchFamily="34" charset="0"/>
              </a:defRPr>
            </a:lvl7pPr>
            <a:lvl8pPr marL="3429000" indent="-228600" defTabSz="927100" eaLnBrk="0" fontAlgn="base" hangingPunct="0">
              <a:spcBef>
                <a:spcPct val="0"/>
              </a:spcBef>
              <a:spcAft>
                <a:spcPct val="0"/>
              </a:spcAft>
              <a:defRPr sz="1000">
                <a:solidFill>
                  <a:schemeClr val="tx1"/>
                </a:solidFill>
                <a:latin typeface="Arial" panose="020B0604020202020204" pitchFamily="34" charset="0"/>
              </a:defRPr>
            </a:lvl8pPr>
            <a:lvl9pPr marL="3886200" indent="-228600" defTabSz="9271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3300" b="1">
                <a:solidFill>
                  <a:srgbClr val="27A8E0"/>
                </a:solidFill>
                <a:latin typeface="Calibri" panose="020F0502020204030204" pitchFamily="34" charset="0"/>
              </a:rPr>
              <a:t>Guide</a:t>
            </a:r>
          </a:p>
          <a:p>
            <a:pPr algn="ctr" eaLnBrk="1" hangingPunct="1"/>
            <a:r>
              <a:rPr lang="fr-FR" altLang="fr-FR" sz="3300" b="1">
                <a:solidFill>
                  <a:srgbClr val="27A8E0"/>
                </a:solidFill>
                <a:latin typeface="Calibri" panose="020F0502020204030204" pitchFamily="34" charset="0"/>
              </a:rPr>
              <a:t>de l'Animateur</a:t>
            </a:r>
          </a:p>
        </p:txBody>
      </p:sp>
      <p:pic>
        <p:nvPicPr>
          <p:cNvPr id="8" name="Picture 2" descr="C:\Users\Bertrand\Desktop\logos\Lean manufacturing_300dpi.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008" y="1401060"/>
            <a:ext cx="4250733" cy="3154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266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sz="1100" dirty="0">
                <a:latin typeface="Calibri" panose="020F0502020204030204" pitchFamily="34" charset="0"/>
              </a:rPr>
              <a:t>2</a:t>
            </a:r>
          </a:p>
        </p:txBody>
      </p:sp>
      <p:sp>
        <p:nvSpPr>
          <p:cNvPr id="2048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Tree>
    <p:extLst>
      <p:ext uri="{BB962C8B-B14F-4D97-AF65-F5344CB8AC3E}">
        <p14:creationId xmlns:p14="http://schemas.microsoft.com/office/powerpoint/2010/main" val="2683479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e l'image des diapositives 9"/>
          <p:cNvSpPr>
            <a:spLocks noGrp="1" noRot="1" noChangeAspect="1"/>
          </p:cNvSpPr>
          <p:nvPr>
            <p:ph type="sldImg"/>
          </p:nvPr>
        </p:nvSpPr>
        <p:spPr/>
      </p:sp>
      <p:sp>
        <p:nvSpPr>
          <p:cNvPr id="13" name="Rectangle 7"/>
          <p:cNvSpPr>
            <a:spLocks noGrp="1" noChangeArrowheads="1"/>
          </p:cNvSpPr>
          <p:nvPr>
            <p:ph type="sldNum" sz="quarter" idx="5"/>
          </p:nvPr>
        </p:nvSpPr>
        <p:spPr>
          <a:xfrm>
            <a:off x="5986824" y="9720674"/>
            <a:ext cx="1110820" cy="51230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70093" indent="-296189" eaLnBrk="0" hangingPunct="0">
              <a:defRPr sz="1000">
                <a:solidFill>
                  <a:schemeClr val="tx1"/>
                </a:solidFill>
                <a:latin typeface="Arial" charset="0"/>
              </a:defRPr>
            </a:lvl2pPr>
            <a:lvl3pPr marL="1184759" indent="-236952" eaLnBrk="0" hangingPunct="0">
              <a:defRPr sz="1000">
                <a:solidFill>
                  <a:schemeClr val="tx1"/>
                </a:solidFill>
                <a:latin typeface="Arial" charset="0"/>
              </a:defRPr>
            </a:lvl3pPr>
            <a:lvl4pPr marL="1658662" indent="-236952" eaLnBrk="0" hangingPunct="0">
              <a:defRPr sz="1000">
                <a:solidFill>
                  <a:schemeClr val="tx1"/>
                </a:solidFill>
                <a:latin typeface="Arial" charset="0"/>
              </a:defRPr>
            </a:lvl4pPr>
            <a:lvl5pPr marL="2132564" indent="-236952" eaLnBrk="0" hangingPunct="0">
              <a:defRPr sz="1000">
                <a:solidFill>
                  <a:schemeClr val="tx1"/>
                </a:solidFill>
                <a:latin typeface="Arial" charset="0"/>
              </a:defRPr>
            </a:lvl5pPr>
            <a:lvl6pPr marL="2606468" indent="-236952" algn="ctr" eaLnBrk="0" fontAlgn="base" hangingPunct="0">
              <a:spcBef>
                <a:spcPct val="0"/>
              </a:spcBef>
              <a:spcAft>
                <a:spcPct val="0"/>
              </a:spcAft>
              <a:defRPr sz="1000">
                <a:solidFill>
                  <a:schemeClr val="tx1"/>
                </a:solidFill>
                <a:latin typeface="Arial" charset="0"/>
              </a:defRPr>
            </a:lvl6pPr>
            <a:lvl7pPr marL="3080371" indent="-236952" algn="ctr" eaLnBrk="0" fontAlgn="base" hangingPunct="0">
              <a:spcBef>
                <a:spcPct val="0"/>
              </a:spcBef>
              <a:spcAft>
                <a:spcPct val="0"/>
              </a:spcAft>
              <a:defRPr sz="1000">
                <a:solidFill>
                  <a:schemeClr val="tx1"/>
                </a:solidFill>
                <a:latin typeface="Arial" charset="0"/>
              </a:defRPr>
            </a:lvl7pPr>
            <a:lvl8pPr marL="3554274" indent="-236952" algn="ctr" eaLnBrk="0" fontAlgn="base" hangingPunct="0">
              <a:spcBef>
                <a:spcPct val="0"/>
              </a:spcBef>
              <a:spcAft>
                <a:spcPct val="0"/>
              </a:spcAft>
              <a:defRPr sz="1000">
                <a:solidFill>
                  <a:schemeClr val="tx1"/>
                </a:solidFill>
                <a:latin typeface="Arial" charset="0"/>
              </a:defRPr>
            </a:lvl8pPr>
            <a:lvl9pPr marL="4028177" indent="-236952" algn="ctr" eaLnBrk="0" fontAlgn="base" hangingPunct="0">
              <a:spcBef>
                <a:spcPct val="0"/>
              </a:spcBef>
              <a:spcAft>
                <a:spcPct val="0"/>
              </a:spcAft>
              <a:defRPr sz="1000">
                <a:solidFill>
                  <a:schemeClr val="tx1"/>
                </a:solidFill>
                <a:latin typeface="Arial" charset="0"/>
              </a:defRPr>
            </a:lvl9pPr>
          </a:lstStyle>
          <a:p>
            <a:pPr eaLnBrk="1" hangingPunct="1"/>
            <a:fld id="{8A894C8F-5449-494F-9E36-7ED45F57D94D}" type="slidenum">
              <a:rPr lang="fr-FR" altLang="fr-FR" sz="1100">
                <a:latin typeface="Calibri" panose="020F0502020204030204" pitchFamily="34" charset="0"/>
              </a:rPr>
              <a:pPr eaLnBrk="1" hangingPunct="1"/>
              <a:t>3</a:t>
            </a:fld>
            <a:endParaRPr lang="fr-FR" altLang="fr-FR" sz="1100" dirty="0">
              <a:latin typeface="Calibri" panose="020F0502020204030204" pitchFamily="34" charset="0"/>
            </a:endParaRPr>
          </a:p>
        </p:txBody>
      </p:sp>
      <p:sp>
        <p:nvSpPr>
          <p:cNvPr id="2" name="Espace réservé des commentaires 1"/>
          <p:cNvSpPr>
            <a:spLocks noGrp="1"/>
          </p:cNvSpPr>
          <p:nvPr>
            <p:ph type="body" sz="quarter" idx="10"/>
          </p:nvPr>
        </p:nvSpPr>
        <p:spPr/>
        <p:txBody>
          <a:bodyPr/>
          <a:lstStyle/>
          <a:p>
            <a:endParaRPr lang="fr-FR"/>
          </a:p>
        </p:txBody>
      </p:sp>
      <p:sp>
        <p:nvSpPr>
          <p:cNvPr id="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530572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e l'image des diapositives 6"/>
          <p:cNvSpPr>
            <a:spLocks noGrp="1" noRot="1" noChangeAspect="1"/>
          </p:cNvSpPr>
          <p:nvPr>
            <p:ph type="sldImg"/>
          </p:nvPr>
        </p:nvSpPr>
        <p:spPr/>
      </p:sp>
      <p:sp>
        <p:nvSpPr>
          <p:cNvPr id="8" name="Espace réservé des commentaires 7"/>
          <p:cNvSpPr>
            <a:spLocks noGrp="1"/>
          </p:cNvSpPr>
          <p:nvPr>
            <p:ph type="body" idx="1"/>
          </p:nvPr>
        </p:nvSpPr>
        <p:spPr/>
        <p:txBody>
          <a:bodyPr/>
          <a:lstStyle/>
          <a:p>
            <a:endParaRPr lang="fr-FR" dirty="0"/>
          </a:p>
        </p:txBody>
      </p:sp>
      <p:sp>
        <p:nvSpPr>
          <p:cNvPr id="12" name="Rectangle 7"/>
          <p:cNvSpPr>
            <a:spLocks noGrp="1" noChangeArrowheads="1"/>
          </p:cNvSpPr>
          <p:nvPr>
            <p:ph type="sldNum" sz="quarter" idx="5"/>
          </p:nvPr>
        </p:nvSpPr>
        <p:spPr>
          <a:xfrm>
            <a:off x="5986824" y="9720674"/>
            <a:ext cx="1110820" cy="51230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70093" indent="-296189" eaLnBrk="0" hangingPunct="0">
              <a:defRPr sz="1000">
                <a:solidFill>
                  <a:schemeClr val="tx1"/>
                </a:solidFill>
                <a:latin typeface="Arial" charset="0"/>
              </a:defRPr>
            </a:lvl2pPr>
            <a:lvl3pPr marL="1184759" indent="-236952" eaLnBrk="0" hangingPunct="0">
              <a:defRPr sz="1000">
                <a:solidFill>
                  <a:schemeClr val="tx1"/>
                </a:solidFill>
                <a:latin typeface="Arial" charset="0"/>
              </a:defRPr>
            </a:lvl3pPr>
            <a:lvl4pPr marL="1658662" indent="-236952" eaLnBrk="0" hangingPunct="0">
              <a:defRPr sz="1000">
                <a:solidFill>
                  <a:schemeClr val="tx1"/>
                </a:solidFill>
                <a:latin typeface="Arial" charset="0"/>
              </a:defRPr>
            </a:lvl4pPr>
            <a:lvl5pPr marL="2132564" indent="-236952" eaLnBrk="0" hangingPunct="0">
              <a:defRPr sz="1000">
                <a:solidFill>
                  <a:schemeClr val="tx1"/>
                </a:solidFill>
                <a:latin typeface="Arial" charset="0"/>
              </a:defRPr>
            </a:lvl5pPr>
            <a:lvl6pPr marL="2606468" indent="-236952" algn="ctr" eaLnBrk="0" fontAlgn="base" hangingPunct="0">
              <a:spcBef>
                <a:spcPct val="0"/>
              </a:spcBef>
              <a:spcAft>
                <a:spcPct val="0"/>
              </a:spcAft>
              <a:defRPr sz="1000">
                <a:solidFill>
                  <a:schemeClr val="tx1"/>
                </a:solidFill>
                <a:latin typeface="Arial" charset="0"/>
              </a:defRPr>
            </a:lvl6pPr>
            <a:lvl7pPr marL="3080371" indent="-236952" algn="ctr" eaLnBrk="0" fontAlgn="base" hangingPunct="0">
              <a:spcBef>
                <a:spcPct val="0"/>
              </a:spcBef>
              <a:spcAft>
                <a:spcPct val="0"/>
              </a:spcAft>
              <a:defRPr sz="1000">
                <a:solidFill>
                  <a:schemeClr val="tx1"/>
                </a:solidFill>
                <a:latin typeface="Arial" charset="0"/>
              </a:defRPr>
            </a:lvl7pPr>
            <a:lvl8pPr marL="3554274" indent="-236952" algn="ctr" eaLnBrk="0" fontAlgn="base" hangingPunct="0">
              <a:spcBef>
                <a:spcPct val="0"/>
              </a:spcBef>
              <a:spcAft>
                <a:spcPct val="0"/>
              </a:spcAft>
              <a:defRPr sz="1000">
                <a:solidFill>
                  <a:schemeClr val="tx1"/>
                </a:solidFill>
                <a:latin typeface="Arial" charset="0"/>
              </a:defRPr>
            </a:lvl8pPr>
            <a:lvl9pPr marL="4028177" indent="-236952" algn="ctr" eaLnBrk="0" fontAlgn="base" hangingPunct="0">
              <a:spcBef>
                <a:spcPct val="0"/>
              </a:spcBef>
              <a:spcAft>
                <a:spcPct val="0"/>
              </a:spcAft>
              <a:defRPr sz="1000">
                <a:solidFill>
                  <a:schemeClr val="tx1"/>
                </a:solidFill>
                <a:latin typeface="Arial" charset="0"/>
              </a:defRPr>
            </a:lvl9pPr>
          </a:lstStyle>
          <a:p>
            <a:pPr eaLnBrk="1" hangingPunct="1"/>
            <a:fld id="{8A894C8F-5449-494F-9E36-7ED45F57D94D}" type="slidenum">
              <a:rPr lang="fr-FR" altLang="fr-FR" sz="1100">
                <a:latin typeface="Calibri" panose="020F0502020204030204" pitchFamily="34" charset="0"/>
              </a:rPr>
              <a:pPr eaLnBrk="1" hangingPunct="1"/>
              <a:t>4</a:t>
            </a:fld>
            <a:endParaRPr lang="fr-FR" altLang="fr-FR" sz="1100" dirty="0">
              <a:latin typeface="Calibri" panose="020F0502020204030204" pitchFamily="34" charset="0"/>
            </a:endParaRPr>
          </a:p>
        </p:txBody>
      </p:sp>
      <p:sp>
        <p:nvSpPr>
          <p:cNvPr id="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159812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e l'image des diapositives 6"/>
          <p:cNvSpPr>
            <a:spLocks noGrp="1" noRot="1" noChangeAspect="1"/>
          </p:cNvSpPr>
          <p:nvPr>
            <p:ph type="sldImg"/>
          </p:nvPr>
        </p:nvSpPr>
        <p:spPr/>
      </p:sp>
      <p:sp>
        <p:nvSpPr>
          <p:cNvPr id="8" name="Espace réservé des commentaires 7"/>
          <p:cNvSpPr>
            <a:spLocks noGrp="1"/>
          </p:cNvSpPr>
          <p:nvPr>
            <p:ph type="body" idx="1"/>
          </p:nvPr>
        </p:nvSpPr>
        <p:spPr/>
        <p:txBody>
          <a:bodyPr/>
          <a:lstStyle/>
          <a:p>
            <a:endParaRPr lang="fr-FR"/>
          </a:p>
        </p:txBody>
      </p:sp>
      <p:sp>
        <p:nvSpPr>
          <p:cNvPr id="12" name="Rectangle 7"/>
          <p:cNvSpPr>
            <a:spLocks noGrp="1" noChangeArrowheads="1"/>
          </p:cNvSpPr>
          <p:nvPr>
            <p:ph type="sldNum" sz="quarter" idx="5"/>
          </p:nvPr>
        </p:nvSpPr>
        <p:spPr>
          <a:xfrm>
            <a:off x="5986824" y="9720674"/>
            <a:ext cx="1110820" cy="51230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70093" indent="-296189" eaLnBrk="0" hangingPunct="0">
              <a:defRPr sz="1000">
                <a:solidFill>
                  <a:schemeClr val="tx1"/>
                </a:solidFill>
                <a:latin typeface="Arial" charset="0"/>
              </a:defRPr>
            </a:lvl2pPr>
            <a:lvl3pPr marL="1184759" indent="-236952" eaLnBrk="0" hangingPunct="0">
              <a:defRPr sz="1000">
                <a:solidFill>
                  <a:schemeClr val="tx1"/>
                </a:solidFill>
                <a:latin typeface="Arial" charset="0"/>
              </a:defRPr>
            </a:lvl3pPr>
            <a:lvl4pPr marL="1658662" indent="-236952" eaLnBrk="0" hangingPunct="0">
              <a:defRPr sz="1000">
                <a:solidFill>
                  <a:schemeClr val="tx1"/>
                </a:solidFill>
                <a:latin typeface="Arial" charset="0"/>
              </a:defRPr>
            </a:lvl4pPr>
            <a:lvl5pPr marL="2132564" indent="-236952" eaLnBrk="0" hangingPunct="0">
              <a:defRPr sz="1000">
                <a:solidFill>
                  <a:schemeClr val="tx1"/>
                </a:solidFill>
                <a:latin typeface="Arial" charset="0"/>
              </a:defRPr>
            </a:lvl5pPr>
            <a:lvl6pPr marL="2606468" indent="-236952" algn="ctr" eaLnBrk="0" fontAlgn="base" hangingPunct="0">
              <a:spcBef>
                <a:spcPct val="0"/>
              </a:spcBef>
              <a:spcAft>
                <a:spcPct val="0"/>
              </a:spcAft>
              <a:defRPr sz="1000">
                <a:solidFill>
                  <a:schemeClr val="tx1"/>
                </a:solidFill>
                <a:latin typeface="Arial" charset="0"/>
              </a:defRPr>
            </a:lvl6pPr>
            <a:lvl7pPr marL="3080371" indent="-236952" algn="ctr" eaLnBrk="0" fontAlgn="base" hangingPunct="0">
              <a:spcBef>
                <a:spcPct val="0"/>
              </a:spcBef>
              <a:spcAft>
                <a:spcPct val="0"/>
              </a:spcAft>
              <a:defRPr sz="1000">
                <a:solidFill>
                  <a:schemeClr val="tx1"/>
                </a:solidFill>
                <a:latin typeface="Arial" charset="0"/>
              </a:defRPr>
            </a:lvl7pPr>
            <a:lvl8pPr marL="3554274" indent="-236952" algn="ctr" eaLnBrk="0" fontAlgn="base" hangingPunct="0">
              <a:spcBef>
                <a:spcPct val="0"/>
              </a:spcBef>
              <a:spcAft>
                <a:spcPct val="0"/>
              </a:spcAft>
              <a:defRPr sz="1000">
                <a:solidFill>
                  <a:schemeClr val="tx1"/>
                </a:solidFill>
                <a:latin typeface="Arial" charset="0"/>
              </a:defRPr>
            </a:lvl8pPr>
            <a:lvl9pPr marL="4028177" indent="-236952" algn="ctr" eaLnBrk="0" fontAlgn="base" hangingPunct="0">
              <a:spcBef>
                <a:spcPct val="0"/>
              </a:spcBef>
              <a:spcAft>
                <a:spcPct val="0"/>
              </a:spcAft>
              <a:defRPr sz="1000">
                <a:solidFill>
                  <a:schemeClr val="tx1"/>
                </a:solidFill>
                <a:latin typeface="Arial" charset="0"/>
              </a:defRPr>
            </a:lvl9pPr>
          </a:lstStyle>
          <a:p>
            <a:pPr eaLnBrk="1" hangingPunct="1"/>
            <a:fld id="{8A894C8F-5449-494F-9E36-7ED45F57D94D}" type="slidenum">
              <a:rPr lang="fr-FR" altLang="fr-FR" sz="1100">
                <a:latin typeface="Calibri" panose="020F0502020204030204" pitchFamily="34" charset="0"/>
              </a:rPr>
              <a:pPr eaLnBrk="1" hangingPunct="1"/>
              <a:t>5</a:t>
            </a:fld>
            <a:endParaRPr lang="fr-FR" altLang="fr-FR" sz="1100" dirty="0">
              <a:latin typeface="Calibri" panose="020F0502020204030204" pitchFamily="34" charset="0"/>
            </a:endParaRPr>
          </a:p>
        </p:txBody>
      </p:sp>
      <p:sp>
        <p:nvSpPr>
          <p:cNvPr id="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322803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e l'image des diapositives 6"/>
          <p:cNvSpPr>
            <a:spLocks noGrp="1" noRot="1" noChangeAspect="1"/>
          </p:cNvSpPr>
          <p:nvPr>
            <p:ph type="sldImg"/>
          </p:nvPr>
        </p:nvSpPr>
        <p:spPr/>
      </p:sp>
      <p:sp>
        <p:nvSpPr>
          <p:cNvPr id="8" name="Espace réservé des commentaires 7"/>
          <p:cNvSpPr>
            <a:spLocks noGrp="1"/>
          </p:cNvSpPr>
          <p:nvPr>
            <p:ph type="body" idx="1"/>
          </p:nvPr>
        </p:nvSpPr>
        <p:spPr/>
        <p:txBody>
          <a:bodyPr/>
          <a:lstStyle/>
          <a:p>
            <a:endParaRPr lang="fr-FR" dirty="0"/>
          </a:p>
        </p:txBody>
      </p:sp>
      <p:sp>
        <p:nvSpPr>
          <p:cNvPr id="12" name="Rectangle 7"/>
          <p:cNvSpPr>
            <a:spLocks noGrp="1" noChangeArrowheads="1"/>
          </p:cNvSpPr>
          <p:nvPr>
            <p:ph type="sldNum" sz="quarter" idx="5"/>
          </p:nvPr>
        </p:nvSpPr>
        <p:spPr>
          <a:xfrm>
            <a:off x="5986824" y="9720674"/>
            <a:ext cx="1110820" cy="51230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charset="0"/>
              </a:defRPr>
            </a:lvl1pPr>
            <a:lvl2pPr marL="770093" indent="-296189" eaLnBrk="0" hangingPunct="0">
              <a:defRPr sz="1000">
                <a:solidFill>
                  <a:schemeClr val="tx1"/>
                </a:solidFill>
                <a:latin typeface="Arial" charset="0"/>
              </a:defRPr>
            </a:lvl2pPr>
            <a:lvl3pPr marL="1184759" indent="-236952" eaLnBrk="0" hangingPunct="0">
              <a:defRPr sz="1000">
                <a:solidFill>
                  <a:schemeClr val="tx1"/>
                </a:solidFill>
                <a:latin typeface="Arial" charset="0"/>
              </a:defRPr>
            </a:lvl3pPr>
            <a:lvl4pPr marL="1658662" indent="-236952" eaLnBrk="0" hangingPunct="0">
              <a:defRPr sz="1000">
                <a:solidFill>
                  <a:schemeClr val="tx1"/>
                </a:solidFill>
                <a:latin typeface="Arial" charset="0"/>
              </a:defRPr>
            </a:lvl4pPr>
            <a:lvl5pPr marL="2132564" indent="-236952" eaLnBrk="0" hangingPunct="0">
              <a:defRPr sz="1000">
                <a:solidFill>
                  <a:schemeClr val="tx1"/>
                </a:solidFill>
                <a:latin typeface="Arial" charset="0"/>
              </a:defRPr>
            </a:lvl5pPr>
            <a:lvl6pPr marL="2606468" indent="-236952" algn="ctr" eaLnBrk="0" fontAlgn="base" hangingPunct="0">
              <a:spcBef>
                <a:spcPct val="0"/>
              </a:spcBef>
              <a:spcAft>
                <a:spcPct val="0"/>
              </a:spcAft>
              <a:defRPr sz="1000">
                <a:solidFill>
                  <a:schemeClr val="tx1"/>
                </a:solidFill>
                <a:latin typeface="Arial" charset="0"/>
              </a:defRPr>
            </a:lvl6pPr>
            <a:lvl7pPr marL="3080371" indent="-236952" algn="ctr" eaLnBrk="0" fontAlgn="base" hangingPunct="0">
              <a:spcBef>
                <a:spcPct val="0"/>
              </a:spcBef>
              <a:spcAft>
                <a:spcPct val="0"/>
              </a:spcAft>
              <a:defRPr sz="1000">
                <a:solidFill>
                  <a:schemeClr val="tx1"/>
                </a:solidFill>
                <a:latin typeface="Arial" charset="0"/>
              </a:defRPr>
            </a:lvl7pPr>
            <a:lvl8pPr marL="3554274" indent="-236952" algn="ctr" eaLnBrk="0" fontAlgn="base" hangingPunct="0">
              <a:spcBef>
                <a:spcPct val="0"/>
              </a:spcBef>
              <a:spcAft>
                <a:spcPct val="0"/>
              </a:spcAft>
              <a:defRPr sz="1000">
                <a:solidFill>
                  <a:schemeClr val="tx1"/>
                </a:solidFill>
                <a:latin typeface="Arial" charset="0"/>
              </a:defRPr>
            </a:lvl8pPr>
            <a:lvl9pPr marL="4028177" indent="-236952" algn="ctr" eaLnBrk="0" fontAlgn="base" hangingPunct="0">
              <a:spcBef>
                <a:spcPct val="0"/>
              </a:spcBef>
              <a:spcAft>
                <a:spcPct val="0"/>
              </a:spcAft>
              <a:defRPr sz="1000">
                <a:solidFill>
                  <a:schemeClr val="tx1"/>
                </a:solidFill>
                <a:latin typeface="Arial" charset="0"/>
              </a:defRPr>
            </a:lvl9pPr>
          </a:lstStyle>
          <a:p>
            <a:pPr eaLnBrk="1" hangingPunct="1"/>
            <a:fld id="{8A894C8F-5449-494F-9E36-7ED45F57D94D}" type="slidenum">
              <a:rPr lang="fr-FR" altLang="fr-FR" sz="1100">
                <a:latin typeface="Calibri" panose="020F0502020204030204" pitchFamily="34" charset="0"/>
              </a:rPr>
              <a:pPr eaLnBrk="1" hangingPunct="1"/>
              <a:t>6</a:t>
            </a:fld>
            <a:endParaRPr lang="fr-FR" altLang="fr-FR" sz="1100" dirty="0">
              <a:latin typeface="Calibri" panose="020F0502020204030204" pitchFamily="34" charset="0"/>
            </a:endParaRPr>
          </a:p>
        </p:txBody>
      </p:sp>
      <p:sp>
        <p:nvSpPr>
          <p:cNvPr id="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79007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480607B-5532-458E-A8BA-B0D6598F63F3}" type="slidenum">
              <a:rPr lang="fr-FR" altLang="fr-FR" sz="1100">
                <a:latin typeface="Calibri" panose="020F0502020204030204" pitchFamily="34" charset="0"/>
              </a:rPr>
              <a:pPr/>
              <a:t>7</a:t>
            </a:fld>
            <a:endParaRPr lang="fr-FR" altLang="fr-FR" sz="1100" dirty="0">
              <a:latin typeface="Calibri" panose="020F0502020204030204" pitchFamily="34" charset="0"/>
            </a:endParaRPr>
          </a:p>
        </p:txBody>
      </p:sp>
      <p:sp>
        <p:nvSpPr>
          <p:cNvPr id="24579"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4" name="Espace réservé de l'image des diapositives 3"/>
          <p:cNvSpPr>
            <a:spLocks noGrp="1" noRot="1" noChangeAspect="1"/>
          </p:cNvSpPr>
          <p:nvPr>
            <p:ph type="sldImg"/>
          </p:nvPr>
        </p:nvSpPr>
        <p:spPr/>
      </p:sp>
      <p:sp>
        <p:nvSpPr>
          <p:cNvPr id="6" name="Espace réservé des commentaires 5"/>
          <p:cNvSpPr>
            <a:spLocks noGrp="1"/>
          </p:cNvSpPr>
          <p:nvPr>
            <p:ph type="body" idx="1"/>
          </p:nvPr>
        </p:nvSpPr>
        <p:spPr/>
        <p:txBody>
          <a:bodyPr/>
          <a:lstStyle/>
          <a:p>
            <a:endParaRPr lang="fr-FR"/>
          </a:p>
        </p:txBody>
      </p:sp>
    </p:spTree>
    <p:extLst>
      <p:ext uri="{BB962C8B-B14F-4D97-AF65-F5344CB8AC3E}">
        <p14:creationId xmlns:p14="http://schemas.microsoft.com/office/powerpoint/2010/main" val="233807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0912444C-C837-4CB0-8504-2DF9004E0B25}" type="slidenum">
              <a:rPr lang="fr-FR" altLang="fr-FR" sz="1100">
                <a:latin typeface="Calibri" panose="020F0502020204030204" pitchFamily="34" charset="0"/>
              </a:rPr>
              <a:pPr/>
              <a:t>8</a:t>
            </a:fld>
            <a:endParaRPr lang="fr-FR" altLang="fr-FR" sz="1100" dirty="0">
              <a:latin typeface="Calibri" panose="020F0502020204030204" pitchFamily="34" charset="0"/>
            </a:endParaRPr>
          </a:p>
        </p:txBody>
      </p:sp>
      <p:sp>
        <p:nvSpPr>
          <p:cNvPr id="26627" name="Rectangle 2"/>
          <p:cNvSpPr>
            <a:spLocks noGrp="1" noRot="1" noChangeAspect="1" noChangeArrowheads="1" noTextEdit="1"/>
          </p:cNvSpPr>
          <p:nvPr>
            <p:ph type="sldImg"/>
          </p:nvPr>
        </p:nvSpPr>
        <p:spPr>
          <a:xfrm>
            <a:off x="481013" y="663575"/>
            <a:ext cx="6361112" cy="4525963"/>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26629"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56172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E7D3744-C19C-410E-A517-EC991725D55D}" type="slidenum">
              <a:rPr lang="fr-FR" altLang="fr-FR" sz="1100">
                <a:latin typeface="Calibri" panose="020F0502020204030204" pitchFamily="34" charset="0"/>
              </a:rPr>
              <a:pPr/>
              <a:t>9</a:t>
            </a:fld>
            <a:endParaRPr lang="fr-FR" altLang="fr-FR" sz="1100" dirty="0">
              <a:latin typeface="Calibri" panose="020F0502020204030204" pitchFamily="34" charset="0"/>
            </a:endParaRPr>
          </a:p>
        </p:txBody>
      </p:sp>
      <p:sp>
        <p:nvSpPr>
          <p:cNvPr id="2867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8676" name="Rectangle 6"/>
          <p:cNvSpPr>
            <a:spLocks noChangeArrowheads="1"/>
          </p:cNvSpPr>
          <p:nvPr/>
        </p:nvSpPr>
        <p:spPr bwMode="auto">
          <a:xfrm>
            <a:off x="880370" y="3419177"/>
            <a:ext cx="5386647"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none"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Partie destinée à l’animateur</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1437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8"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E7D3744-C19C-410E-A517-EC991725D55D}" type="slidenum">
              <a:rPr lang="fr-FR" altLang="fr-FR" sz="1100">
                <a:latin typeface="Calibri" panose="020F0502020204030204" pitchFamily="34" charset="0"/>
              </a:rPr>
              <a:pPr/>
              <a:t>10</a:t>
            </a:fld>
            <a:endParaRPr lang="fr-FR" altLang="fr-FR" sz="1100" dirty="0">
              <a:latin typeface="Calibri" panose="020F0502020204030204" pitchFamily="34" charset="0"/>
            </a:endParaRPr>
          </a:p>
        </p:txBody>
      </p:sp>
    </p:spTree>
    <p:extLst>
      <p:ext uri="{BB962C8B-B14F-4D97-AF65-F5344CB8AC3E}">
        <p14:creationId xmlns:p14="http://schemas.microsoft.com/office/powerpoint/2010/main" val="2699277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13"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E7D3744-C19C-410E-A517-EC991725D55D}" type="slidenum">
              <a:rPr lang="fr-FR" altLang="fr-FR" sz="1100">
                <a:latin typeface="Calibri" panose="020F0502020204030204" pitchFamily="34" charset="0"/>
              </a:rPr>
              <a:pPr/>
              <a:t>11</a:t>
            </a:fld>
            <a:endParaRPr lang="fr-FR" altLang="fr-FR" sz="1100" dirty="0">
              <a:latin typeface="Calibri" panose="020F0502020204030204" pitchFamily="34" charset="0"/>
            </a:endParaRPr>
          </a:p>
        </p:txBody>
      </p:sp>
    </p:spTree>
    <p:extLst>
      <p:ext uri="{BB962C8B-B14F-4D97-AF65-F5344CB8AC3E}">
        <p14:creationId xmlns:p14="http://schemas.microsoft.com/office/powerpoint/2010/main" val="98478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Espace réservé de l'image des diapositives 1"/>
          <p:cNvSpPr>
            <a:spLocks noGrp="1" noRot="1" noChangeAspect="1" noTextEdit="1"/>
          </p:cNvSpPr>
          <p:nvPr>
            <p:ph type="sldImg"/>
          </p:nvPr>
        </p:nvSpPr>
        <p:spPr>
          <a:xfrm>
            <a:off x="481013" y="663575"/>
            <a:ext cx="6361112" cy="4525963"/>
          </a:xfrm>
          <a:ln/>
        </p:spPr>
      </p:sp>
      <p:sp>
        <p:nvSpPr>
          <p:cNvPr id="3481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348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67E5B0F-5357-4600-89DE-91A5398BD7DB}" type="slidenum">
              <a:rPr lang="fr-FR" altLang="fr-FR" sz="1100">
                <a:latin typeface="Calibri" panose="020F0502020204030204" pitchFamily="34" charset="0"/>
              </a:rPr>
              <a:pPr/>
              <a:t>12</a:t>
            </a:fld>
            <a:endParaRPr lang="fr-FR" altLang="fr-FR" sz="1100" dirty="0">
              <a:latin typeface="Calibri" panose="020F0502020204030204" pitchFamily="34" charset="0"/>
            </a:endParaRPr>
          </a:p>
        </p:txBody>
      </p:sp>
      <p:sp>
        <p:nvSpPr>
          <p:cNvPr id="3482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067341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08DC751-260A-43B8-B295-D2C949EED28A}" type="slidenum">
              <a:rPr lang="fr-FR" altLang="fr-FR" sz="1100">
                <a:latin typeface="Calibri" panose="020F0502020204030204" pitchFamily="34" charset="0"/>
              </a:rPr>
              <a:pPr/>
              <a:t>13</a:t>
            </a:fld>
            <a:endParaRPr lang="fr-FR" altLang="fr-FR" sz="1100" dirty="0">
              <a:latin typeface="Calibri" panose="020F0502020204030204" pitchFamily="34" charset="0"/>
            </a:endParaRPr>
          </a:p>
        </p:txBody>
      </p:sp>
      <p:sp>
        <p:nvSpPr>
          <p:cNvPr id="36867" name="Rectangle 2"/>
          <p:cNvSpPr>
            <a:spLocks noGrp="1" noRot="1" noChangeAspect="1" noChangeArrowheads="1" noTextEdit="1"/>
          </p:cNvSpPr>
          <p:nvPr>
            <p:ph type="sldImg"/>
          </p:nvPr>
        </p:nvSpPr>
        <p:spPr>
          <a:xfrm>
            <a:off x="481013" y="663575"/>
            <a:ext cx="6361112" cy="4525963"/>
          </a:xfrm>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36869"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613679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3A3C083-C5DF-45E1-8CB8-53E401301824}" type="slidenum">
              <a:rPr lang="fr-FR" altLang="fr-FR" sz="1100">
                <a:latin typeface="Calibri" panose="020F0502020204030204" pitchFamily="34" charset="0"/>
              </a:rPr>
              <a:pPr/>
              <a:t>14</a:t>
            </a:fld>
            <a:endParaRPr lang="fr-FR" altLang="fr-FR" sz="1100" dirty="0">
              <a:latin typeface="Calibri" panose="020F0502020204030204" pitchFamily="34" charset="0"/>
            </a:endParaRPr>
          </a:p>
        </p:txBody>
      </p:sp>
      <p:sp>
        <p:nvSpPr>
          <p:cNvPr id="38915" name="Rectangle 2"/>
          <p:cNvSpPr>
            <a:spLocks noGrp="1" noRot="1" noChangeAspect="1" noChangeArrowheads="1" noTextEdit="1"/>
          </p:cNvSpPr>
          <p:nvPr>
            <p:ph type="sldImg"/>
          </p:nvPr>
        </p:nvSpPr>
        <p:spPr>
          <a:xfrm>
            <a:off x="481013" y="663575"/>
            <a:ext cx="6361112" cy="4525963"/>
          </a:xfrm>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38917"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412085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ce réservé de l'image des diapositives 1"/>
          <p:cNvSpPr>
            <a:spLocks noGrp="1" noRot="1" noChangeAspect="1" noTextEdit="1"/>
          </p:cNvSpPr>
          <p:nvPr>
            <p:ph type="sldImg"/>
          </p:nvPr>
        </p:nvSpPr>
        <p:spPr>
          <a:xfrm>
            <a:off x="481013" y="663575"/>
            <a:ext cx="6361112" cy="4525963"/>
          </a:xfrm>
          <a:ln/>
        </p:spPr>
      </p:sp>
      <p:sp>
        <p:nvSpPr>
          <p:cNvPr id="4096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u="sng" dirty="0"/>
              <a:t>Remarque</a:t>
            </a:r>
          </a:p>
          <a:p>
            <a:r>
              <a:rPr lang="fr-FR" altLang="fr-FR" dirty="0"/>
              <a:t>L’animateur qui souhaite évoque le concept de DMAIC peut s’appuyer sur le schéma suivant : DÉFINIR le problème correspond à la simulation à blanc, puis il y a l’étape de la MESURE, puis l’ANALYSE et l’AMÉLIORATION (</a:t>
            </a:r>
            <a:r>
              <a:rPr lang="fr-FR" altLang="fr-FR" dirty="0" err="1"/>
              <a:t>regro</a:t>
            </a:r>
            <a:r>
              <a:rPr lang="fr-FR" altLang="fr-FR" dirty="0"/>
              <a:t>, puis le CONTRÔLE lors de la 2</a:t>
            </a:r>
            <a:r>
              <a:rPr lang="fr-FR" altLang="fr-FR" baseline="30000" dirty="0"/>
              <a:t>ème</a:t>
            </a:r>
            <a:r>
              <a:rPr lang="fr-FR" altLang="fr-FR" dirty="0"/>
              <a:t> simulation.</a:t>
            </a:r>
          </a:p>
          <a:p>
            <a:endParaRPr lang="fr-FR" altLang="fr-FR" dirty="0"/>
          </a:p>
        </p:txBody>
      </p:sp>
      <p:sp>
        <p:nvSpPr>
          <p:cNvPr id="4096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495CDE8-7784-45B5-9271-21CDD3D1F778}" type="slidenum">
              <a:rPr lang="fr-FR" altLang="fr-FR" sz="1100">
                <a:latin typeface="Calibri" panose="020F0502020204030204" pitchFamily="34" charset="0"/>
              </a:rPr>
              <a:pPr/>
              <a:t>15</a:t>
            </a:fld>
            <a:endParaRPr lang="fr-FR" altLang="fr-FR" sz="1100" dirty="0">
              <a:latin typeface="Calibri" panose="020F0502020204030204" pitchFamily="34" charset="0"/>
            </a:endParaRPr>
          </a:p>
        </p:txBody>
      </p:sp>
      <p:sp>
        <p:nvSpPr>
          <p:cNvPr id="4096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582226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0C18A80D-0A00-437F-8761-C7A90CF5F2A1}" type="slidenum">
              <a:rPr lang="fr-FR" altLang="fr-FR" sz="1100">
                <a:latin typeface="Calibri" panose="020F0502020204030204" pitchFamily="34" charset="0"/>
              </a:rPr>
              <a:pPr/>
              <a:t>16</a:t>
            </a:fld>
            <a:endParaRPr lang="fr-FR" altLang="fr-FR" sz="1100" dirty="0">
              <a:latin typeface="Calibri" panose="020F0502020204030204" pitchFamily="34" charset="0"/>
            </a:endParaRPr>
          </a:p>
        </p:txBody>
      </p:sp>
      <p:sp>
        <p:nvSpPr>
          <p:cNvPr id="43011" name="Rectangle 2"/>
          <p:cNvSpPr>
            <a:spLocks noGrp="1" noRot="1" noChangeAspect="1" noChangeArrowheads="1" noTextEdit="1"/>
          </p:cNvSpPr>
          <p:nvPr>
            <p:ph type="sldImg"/>
          </p:nvPr>
        </p:nvSpPr>
        <p:spPr>
          <a:xfrm>
            <a:off x="481013" y="663575"/>
            <a:ext cx="6361112" cy="4525963"/>
          </a:xfrm>
          <a:ln/>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43013"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239594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0C7674E-D45D-4E45-982F-1E571B118FF9}" type="slidenum">
              <a:rPr lang="fr-FR" altLang="fr-FR" sz="1100">
                <a:latin typeface="Calibri" panose="020F0502020204030204" pitchFamily="34" charset="0"/>
              </a:rPr>
              <a:pPr/>
              <a:t>17</a:t>
            </a:fld>
            <a:endParaRPr lang="fr-FR" altLang="fr-FR" sz="1100" dirty="0">
              <a:latin typeface="Calibri" panose="020F0502020204030204" pitchFamily="34" charset="0"/>
            </a:endParaRPr>
          </a:p>
        </p:txBody>
      </p:sp>
      <p:sp>
        <p:nvSpPr>
          <p:cNvPr id="45059" name="Rectangle 2"/>
          <p:cNvSpPr>
            <a:spLocks noGrp="1" noRot="1" noChangeAspect="1" noChangeArrowheads="1" noTextEdit="1"/>
          </p:cNvSpPr>
          <p:nvPr>
            <p:ph type="sldImg"/>
          </p:nvPr>
        </p:nvSpPr>
        <p:spPr>
          <a:xfrm>
            <a:off x="481013" y="663575"/>
            <a:ext cx="6361112" cy="4525963"/>
          </a:xfrm>
          <a:ln/>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45061"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6496920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348D956-9BB2-47CA-9E7D-2C871E918ECB}" type="slidenum">
              <a:rPr lang="fr-FR" altLang="fr-FR" sz="1100">
                <a:latin typeface="Calibri" panose="020F0502020204030204" pitchFamily="34" charset="0"/>
              </a:rPr>
              <a:pPr/>
              <a:t>18</a:t>
            </a:fld>
            <a:endParaRPr lang="fr-FR" altLang="fr-FR" sz="1100" dirty="0">
              <a:latin typeface="Calibri" panose="020F0502020204030204" pitchFamily="34" charset="0"/>
            </a:endParaRPr>
          </a:p>
        </p:txBody>
      </p:sp>
      <p:sp>
        <p:nvSpPr>
          <p:cNvPr id="47107" name="Rectangle 2"/>
          <p:cNvSpPr>
            <a:spLocks noGrp="1" noRot="1" noChangeAspect="1" noChangeArrowheads="1" noTextEdit="1"/>
          </p:cNvSpPr>
          <p:nvPr>
            <p:ph type="sldImg"/>
          </p:nvPr>
        </p:nvSpPr>
        <p:spPr>
          <a:xfrm>
            <a:off x="481013" y="663575"/>
            <a:ext cx="6361112" cy="4525963"/>
          </a:xfrm>
          <a:ln/>
        </p:spPr>
      </p:sp>
      <p:sp>
        <p:nvSpPr>
          <p:cNvPr id="119813" name="Rectangle 3"/>
          <p:cNvSpPr>
            <a:spLocks noGrp="1" noChangeArrowheads="1"/>
          </p:cNvSpPr>
          <p:nvPr>
            <p:ph type="body" idx="1"/>
          </p:nvPr>
        </p:nvSpPr>
        <p:spPr/>
        <p:txBody>
          <a:bodyPr/>
          <a:lstStyle/>
          <a:p>
            <a:pPr eaLnBrk="1" hangingPunct="1">
              <a:defRPr/>
            </a:pPr>
            <a:r>
              <a:rPr lang="fr-FR" u="sng" dirty="0"/>
              <a:t>Remarque concernant la répartition des participants</a:t>
            </a:r>
          </a:p>
          <a:p>
            <a:pPr eaLnBrk="1" hangingPunct="1">
              <a:defRPr/>
            </a:pPr>
            <a:r>
              <a:rPr lang="fr-FR" dirty="0"/>
              <a:t>Dans le schéma ci-dessus nous avons réparti les effectifs pour équilibrer autant que possible le flux entre les ateliers. Les ateliers Croix et Triangle, qui ont le plus de charge, sont ceux dans lesquels nous affectons en priorité les postes supplémentaires.</a:t>
            </a:r>
          </a:p>
          <a:p>
            <a:pPr eaLnBrk="1" hangingPunct="1">
              <a:defRPr/>
            </a:pPr>
            <a:r>
              <a:rPr lang="fr-FR" dirty="0"/>
              <a:t>Il faut cependant noter que même avec cette affectation de postes supplémentaires, les ateliers Croix et Triangle restent des goulets, mais des goulets assez peu marqués.</a:t>
            </a:r>
          </a:p>
          <a:p>
            <a:pPr eaLnBrk="1" hangingPunct="1">
              <a:defRPr/>
            </a:pPr>
            <a:r>
              <a:rPr lang="fr-FR" dirty="0"/>
              <a:t>Si l’animateur souhaite marquer davantage les goulets, une solution consiste à procéder de la façon suivante :</a:t>
            </a:r>
          </a:p>
          <a:p>
            <a:pPr marL="89507" indent="-89507" eaLnBrk="1" hangingPunct="1">
              <a:buFont typeface="Arial" pitchFamily="34" charset="0"/>
              <a:buChar char="•"/>
              <a:defRPr/>
            </a:pPr>
            <a:r>
              <a:rPr lang="fr-FR" dirty="0"/>
              <a:t>Affecter les postes Lancement et Contrôle conformément au tableau ci-dessus</a:t>
            </a:r>
          </a:p>
          <a:p>
            <a:pPr marL="89507" indent="-89507" eaLnBrk="1" hangingPunct="1">
              <a:buFont typeface="Arial" pitchFamily="34" charset="0"/>
              <a:buChar char="•"/>
              <a:defRPr/>
            </a:pPr>
            <a:r>
              <a:rPr lang="fr-FR" dirty="0"/>
              <a:t>Demander aux autres participants de se répartir de façon égale entre les 6 tables des ateliers de production.</a:t>
            </a:r>
          </a:p>
        </p:txBody>
      </p:sp>
      <p:sp>
        <p:nvSpPr>
          <p:cNvPr id="47109"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424849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45B4E30-9F9B-41DF-AC5B-FE4DC1B148AE}" type="slidenum">
              <a:rPr lang="fr-FR" altLang="fr-FR" sz="1100">
                <a:latin typeface="Calibri" panose="020F0502020204030204" pitchFamily="34" charset="0"/>
              </a:rPr>
              <a:pPr/>
              <a:t>19</a:t>
            </a:fld>
            <a:endParaRPr lang="fr-FR" altLang="fr-FR" sz="1100" dirty="0">
              <a:latin typeface="Calibri" panose="020F0502020204030204" pitchFamily="34" charset="0"/>
            </a:endParaRPr>
          </a:p>
        </p:txBody>
      </p:sp>
      <p:sp>
        <p:nvSpPr>
          <p:cNvPr id="49155" name="Rectangle 2"/>
          <p:cNvSpPr>
            <a:spLocks noGrp="1" noRot="1" noChangeAspect="1" noChangeArrowheads="1" noTextEdit="1"/>
          </p:cNvSpPr>
          <p:nvPr>
            <p:ph type="sldImg"/>
          </p:nvPr>
        </p:nvSpPr>
        <p:spPr>
          <a:xfrm>
            <a:off x="481013" y="663575"/>
            <a:ext cx="6361112" cy="4525963"/>
          </a:xfrm>
          <a:ln/>
        </p:spPr>
      </p:sp>
      <p:sp>
        <p:nvSpPr>
          <p:cNvPr id="121861" name="Rectangle 3"/>
          <p:cNvSpPr>
            <a:spLocks noGrp="1" noChangeArrowheads="1"/>
          </p:cNvSpPr>
          <p:nvPr>
            <p:ph type="body" idx="1"/>
          </p:nvPr>
        </p:nvSpPr>
        <p:spPr/>
        <p:txBody>
          <a:bodyPr/>
          <a:lstStyle/>
          <a:p>
            <a:pPr eaLnBrk="1" hangingPunct="1">
              <a:lnSpc>
                <a:spcPts val="1253"/>
              </a:lnSpc>
              <a:defRPr/>
            </a:pPr>
            <a:r>
              <a:rPr lang="fr-FR" dirty="0"/>
              <a:t>L’implantation de la salle joue un rôle important dans la qualité de la simulation.</a:t>
            </a:r>
          </a:p>
          <a:p>
            <a:pPr eaLnBrk="1" hangingPunct="1">
              <a:lnSpc>
                <a:spcPts val="1253"/>
              </a:lnSpc>
              <a:defRPr/>
            </a:pPr>
            <a:r>
              <a:rPr lang="fr-FR" dirty="0"/>
              <a:t>Nous présentons ici l’implantation pour la 1</a:t>
            </a:r>
            <a:r>
              <a:rPr lang="fr-FR" baseline="30000" dirty="0"/>
              <a:t>ère</a:t>
            </a:r>
            <a:r>
              <a:rPr lang="fr-FR" dirty="0"/>
              <a:t> simulation.</a:t>
            </a:r>
          </a:p>
          <a:p>
            <a:pPr marL="89507" indent="-89507" eaLnBrk="1" hangingPunct="1">
              <a:lnSpc>
                <a:spcPts val="1253"/>
              </a:lnSpc>
              <a:buFont typeface="Arial" pitchFamily="34" charset="0"/>
              <a:buChar char="•"/>
              <a:defRPr/>
            </a:pPr>
            <a:r>
              <a:rPr lang="fr-FR" dirty="0"/>
              <a:t>Pour mémoriser l’implantation des ateliers, nous conseillons de toujours attribuer les tables dans le sens des aiguilles d’une montre en suivant l’ordre alphabétique comme dans le schéma ci-dessus (croix, étoile, ovale, rectangle, triangle, vague).</a:t>
            </a:r>
          </a:p>
          <a:p>
            <a:pPr marL="89507" indent="-89507" eaLnBrk="1" hangingPunct="1">
              <a:lnSpc>
                <a:spcPts val="1253"/>
              </a:lnSpc>
              <a:buFont typeface="Arial" pitchFamily="34" charset="0"/>
              <a:buChar char="•"/>
              <a:defRPr/>
            </a:pPr>
            <a:r>
              <a:rPr lang="fr-FR" dirty="0"/>
              <a:t>Les ateliers doivent être éloignés les uns des autres, car dans la 1</a:t>
            </a:r>
            <a:r>
              <a:rPr lang="fr-FR" baseline="30000" dirty="0"/>
              <a:t>ère</a:t>
            </a:r>
            <a:r>
              <a:rPr lang="fr-FR" dirty="0"/>
              <a:t> simulation les pertes de temps pour le transport doivent être significatives (dans la 2</a:t>
            </a:r>
            <a:r>
              <a:rPr lang="fr-FR" baseline="30000" dirty="0"/>
              <a:t>ème</a:t>
            </a:r>
            <a:r>
              <a:rPr lang="fr-FR" dirty="0"/>
              <a:t> simulation les postes seront rapprochés).</a:t>
            </a:r>
          </a:p>
          <a:p>
            <a:pPr marL="89507" indent="-89507" eaLnBrk="1" hangingPunct="1">
              <a:lnSpc>
                <a:spcPts val="1253"/>
              </a:lnSpc>
              <a:buFont typeface="Arial" pitchFamily="34" charset="0"/>
              <a:buChar char="•"/>
              <a:defRPr/>
            </a:pPr>
            <a:r>
              <a:rPr lang="fr-FR" dirty="0"/>
              <a:t>Le Magasin d’outillage contient les surligneurs utilisés par les participants au cours de la simulation. Il faut le placer à la périphérie de la salle, sur une petite table prévue à cet effet.</a:t>
            </a:r>
          </a:p>
          <a:p>
            <a:pPr marL="89507" indent="-89507" eaLnBrk="1" hangingPunct="1">
              <a:lnSpc>
                <a:spcPts val="1253"/>
              </a:lnSpc>
              <a:buFont typeface="Arial" pitchFamily="34" charset="0"/>
              <a:buChar char="•"/>
              <a:defRPr/>
            </a:pPr>
            <a:r>
              <a:rPr lang="fr-FR" dirty="0"/>
              <a:t>Le Lancement-découpe et le Contrôle qualité  peuvent être placés côte à côte, car ils ont des tâches complémentaires pour la gestion du flux.</a:t>
            </a:r>
          </a:p>
          <a:p>
            <a:pPr marL="89507" indent="-89507" eaLnBrk="1" hangingPunct="1">
              <a:lnSpc>
                <a:spcPts val="1253"/>
              </a:lnSpc>
              <a:defRPr/>
            </a:pPr>
            <a:r>
              <a:rPr lang="fr-FR" u="sng" dirty="0"/>
              <a:t>Important : dimension de la salle</a:t>
            </a:r>
          </a:p>
          <a:p>
            <a:pPr marL="89507" indent="-89507" eaLnBrk="1" hangingPunct="1">
              <a:lnSpc>
                <a:spcPts val="1253"/>
              </a:lnSpc>
              <a:buFont typeface="Arial" pitchFamily="34" charset="0"/>
              <a:buChar char="•"/>
              <a:defRPr/>
            </a:pPr>
            <a:r>
              <a:rPr lang="fr-FR" dirty="0"/>
              <a:t>L’animateur doit disposer d’une salle suffisamment grande.</a:t>
            </a:r>
          </a:p>
          <a:p>
            <a:pPr marL="89507" indent="-89507" eaLnBrk="1" hangingPunct="1">
              <a:lnSpc>
                <a:spcPts val="1253"/>
              </a:lnSpc>
              <a:buFont typeface="Arial" pitchFamily="34" charset="0"/>
              <a:buChar char="•"/>
              <a:defRPr/>
            </a:pPr>
            <a:r>
              <a:rPr lang="fr-FR" dirty="0"/>
              <a:t>La dimension varie suivant le nombre de participants. Il faut compter environ 3m² par personne avec un minimum de 30 m².</a:t>
            </a:r>
          </a:p>
          <a:p>
            <a:pPr marL="89507" indent="-89507" eaLnBrk="1" hangingPunct="1">
              <a:lnSpc>
                <a:spcPts val="1253"/>
              </a:lnSpc>
              <a:buFont typeface="Arial" pitchFamily="34" charset="0"/>
              <a:buChar char="•"/>
              <a:defRPr/>
            </a:pPr>
            <a:r>
              <a:rPr lang="fr-FR" dirty="0"/>
              <a:t>L’animateur doit disposer d’une table pour préparer le matériel qu’il distribuera aux participants.</a:t>
            </a:r>
          </a:p>
          <a:p>
            <a:pPr marL="89507" indent="-89507" eaLnBrk="1" hangingPunct="1">
              <a:lnSpc>
                <a:spcPts val="1253"/>
              </a:lnSpc>
              <a:buFont typeface="Arial" pitchFamily="34" charset="0"/>
              <a:buChar char="•"/>
              <a:defRPr/>
            </a:pPr>
            <a:r>
              <a:rPr lang="fr-FR" dirty="0"/>
              <a:t>Le Lancement et le Contrôle qualité doivent être placés côte à côte.</a:t>
            </a:r>
          </a:p>
        </p:txBody>
      </p:sp>
      <p:sp>
        <p:nvSpPr>
          <p:cNvPr id="49157"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171059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94FA9D0-857C-4888-A404-5AC7DB5DEBEE}" type="slidenum">
              <a:rPr lang="fr-FR" altLang="fr-FR" sz="1100">
                <a:latin typeface="Calibri" panose="020F0502020204030204" pitchFamily="34" charset="0"/>
              </a:rPr>
              <a:pPr/>
              <a:t>20</a:t>
            </a:fld>
            <a:endParaRPr lang="fr-FR" altLang="fr-FR" sz="1100" dirty="0">
              <a:latin typeface="Calibri" panose="020F0502020204030204" pitchFamily="34" charset="0"/>
            </a:endParaRPr>
          </a:p>
        </p:txBody>
      </p:sp>
      <p:sp>
        <p:nvSpPr>
          <p:cNvPr id="51203" name="Rectangle 2"/>
          <p:cNvSpPr>
            <a:spLocks noGrp="1" noRot="1" noChangeAspect="1" noChangeArrowheads="1" noTextEdit="1"/>
          </p:cNvSpPr>
          <p:nvPr>
            <p:ph type="sldImg"/>
          </p:nvPr>
        </p:nvSpPr>
        <p:spPr>
          <a:xfrm>
            <a:off x="481013" y="663575"/>
            <a:ext cx="6361112" cy="4525963"/>
          </a:xfrm>
          <a:ln/>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r>
              <a:rPr lang="fr-FR" altLang="fr-FR" dirty="0"/>
              <a:t>Voici l’implantation pour la 2</a:t>
            </a:r>
            <a:r>
              <a:rPr lang="fr-FR" altLang="fr-FR" baseline="30000" dirty="0"/>
              <a:t>ème</a:t>
            </a:r>
            <a:r>
              <a:rPr lang="fr-FR" altLang="fr-FR" dirty="0"/>
              <a:t> simulation.</a:t>
            </a:r>
          </a:p>
          <a:p>
            <a:pPr eaLnBrk="1" hangingPunct="1"/>
            <a:r>
              <a:rPr lang="fr-FR" altLang="fr-FR" dirty="0"/>
              <a:t>Les ateliers sont regroupés par Produit. Le contrôle qualité est assuré dans l’atelier 1 par le poste Étoile, et dans l’atelier 2 par le poste Triangle . Quand on emploie 6 personnes par atelier, l’étoile est doublée. Quand on emploie 4 personnes par atelier, le Lancement Découpe est assuré par les premiers postes (l’Ovale / le Rectangle)</a:t>
            </a:r>
          </a:p>
          <a:p>
            <a:pPr eaLnBrk="1" hangingPunct="1"/>
            <a:r>
              <a:rPr lang="fr-FR" altLang="fr-FR" dirty="0"/>
              <a:t>Nous n’avons représenté ici que 2 ateliers, ce qui correspond à une configuration dans laquelle le nombre de participants ne dépasse par 11 personnes.</a:t>
            </a:r>
          </a:p>
          <a:p>
            <a:pPr eaLnBrk="1" hangingPunct="1"/>
            <a:r>
              <a:rPr lang="fr-FR" altLang="fr-FR" u="sng" dirty="0"/>
              <a:t>À partir de 12 personnes, et jusqu’à 20, il faut constituer 3 puis 4 ateliers</a:t>
            </a:r>
            <a:r>
              <a:rPr lang="fr-FR" altLang="fr-FR" dirty="0"/>
              <a:t>. Nous les appelons </a:t>
            </a:r>
            <a:r>
              <a:rPr lang="fr-FR" altLang="fr-FR" b="1" dirty="0"/>
              <a:t>Atelier 1b</a:t>
            </a:r>
            <a:r>
              <a:rPr lang="fr-FR" altLang="fr-FR" dirty="0"/>
              <a:t> et  </a:t>
            </a:r>
            <a:r>
              <a:rPr lang="fr-FR" altLang="fr-FR" b="1" dirty="0"/>
              <a:t>Atelier 2b</a:t>
            </a:r>
            <a:r>
              <a:rPr lang="fr-FR" altLang="fr-FR" dirty="0"/>
              <a:t>. Ils ont la </a:t>
            </a:r>
            <a:r>
              <a:rPr lang="fr-FR" altLang="fr-FR" u="sng" dirty="0"/>
              <a:t>même configuration</a:t>
            </a:r>
            <a:r>
              <a:rPr lang="fr-FR" altLang="fr-FR" dirty="0"/>
              <a:t> que les</a:t>
            </a:r>
            <a:r>
              <a:rPr lang="fr-FR" altLang="fr-FR" b="1" dirty="0"/>
              <a:t> Ateliers 1 et 2</a:t>
            </a:r>
            <a:r>
              <a:rPr lang="fr-FR" altLang="fr-FR" dirty="0"/>
              <a:t>.</a:t>
            </a:r>
          </a:p>
          <a:p>
            <a:pPr eaLnBrk="1" hangingPunct="1"/>
            <a:r>
              <a:rPr lang="fr-FR" altLang="fr-FR" dirty="0"/>
              <a:t>Ce sont les participants qui réimplantent les ateliers avant d’engager la simulation n°2.</a:t>
            </a:r>
          </a:p>
          <a:p>
            <a:pPr eaLnBrk="1" hangingPunct="1"/>
            <a:r>
              <a:rPr lang="fr-FR" altLang="fr-FR" dirty="0"/>
              <a:t>L’animateur doit s’assurer que les tables peuvent être facilement déplacées pour passer de la 1</a:t>
            </a:r>
            <a:r>
              <a:rPr lang="fr-FR" altLang="fr-FR" baseline="30000" dirty="0"/>
              <a:t>ère</a:t>
            </a:r>
            <a:r>
              <a:rPr lang="fr-FR" altLang="fr-FR" dirty="0"/>
              <a:t> simulation à la 2</a:t>
            </a:r>
            <a:r>
              <a:rPr lang="fr-FR" altLang="fr-FR" baseline="30000" dirty="0"/>
              <a:t>ème</a:t>
            </a:r>
            <a:r>
              <a:rPr lang="fr-FR" altLang="fr-FR" dirty="0"/>
              <a:t> simulation.</a:t>
            </a:r>
          </a:p>
        </p:txBody>
      </p:sp>
      <p:sp>
        <p:nvSpPr>
          <p:cNvPr id="5120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558118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Espace réservé de l'image des diapositives 1"/>
          <p:cNvSpPr>
            <a:spLocks noGrp="1" noRot="1" noChangeAspect="1" noTextEdit="1"/>
          </p:cNvSpPr>
          <p:nvPr>
            <p:ph type="sldImg"/>
          </p:nvPr>
        </p:nvSpPr>
        <p:spPr>
          <a:xfrm>
            <a:off x="481013" y="663575"/>
            <a:ext cx="6361112" cy="4525963"/>
          </a:xfrm>
          <a:ln/>
        </p:spPr>
      </p:sp>
      <p:sp>
        <p:nvSpPr>
          <p:cNvPr id="5325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532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B0594D4-D715-4392-BFB2-DEB9B2981242}" type="slidenum">
              <a:rPr lang="fr-FR" altLang="fr-FR" sz="1100">
                <a:latin typeface="Calibri" panose="020F0502020204030204" pitchFamily="34" charset="0"/>
              </a:rPr>
              <a:pPr/>
              <a:t>21</a:t>
            </a:fld>
            <a:endParaRPr lang="fr-FR" altLang="fr-FR" sz="1100" dirty="0">
              <a:latin typeface="Calibri" panose="020F0502020204030204" pitchFamily="34" charset="0"/>
            </a:endParaRPr>
          </a:p>
        </p:txBody>
      </p:sp>
      <p:sp>
        <p:nvSpPr>
          <p:cNvPr id="5325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424813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a:bodyPr>
          <a:lstStyle/>
          <a:p>
            <a:pPr eaLnBrk="1" hangingPunct="1">
              <a:lnSpc>
                <a:spcPct val="100000"/>
              </a:lnSpc>
              <a:defRPr/>
            </a:pPr>
            <a:r>
              <a:rPr lang="fr-FR" dirty="0"/>
              <a:t>Si c’est possible, nous conseillons à l’animateur de préparer la salle avant l’arrivée des participants : </a:t>
            </a:r>
          </a:p>
          <a:p>
            <a:pPr marL="92820" indent="-92820" eaLnBrk="1" hangingPunct="1">
              <a:lnSpc>
                <a:spcPct val="100000"/>
              </a:lnSpc>
              <a:buFont typeface="Arial" pitchFamily="34" charset="0"/>
              <a:buChar char="•"/>
              <a:defRPr/>
            </a:pPr>
            <a:r>
              <a:rPr lang="fr-FR" dirty="0"/>
              <a:t>Implanter les tables et associer les ateliers aux tables (ordre alphabétique suivant les aiguilles d’une montre).</a:t>
            </a:r>
          </a:p>
          <a:p>
            <a:pPr marL="92820" indent="-92820" eaLnBrk="1" hangingPunct="1">
              <a:lnSpc>
                <a:spcPct val="100000"/>
              </a:lnSpc>
              <a:buFont typeface="Arial" pitchFamily="34" charset="0"/>
              <a:buChar char="•"/>
              <a:defRPr/>
            </a:pPr>
            <a:r>
              <a:rPr lang="fr-FR" dirty="0"/>
              <a:t>Placer autour de chaque table le nombre de chaises correspondant au nombre de postes de travail de l’atelier.</a:t>
            </a:r>
          </a:p>
          <a:p>
            <a:pPr marL="92820" indent="-92820" eaLnBrk="1" hangingPunct="1">
              <a:lnSpc>
                <a:spcPct val="100000"/>
              </a:lnSpc>
              <a:buFont typeface="Arial" pitchFamily="34" charset="0"/>
              <a:buChar char="•"/>
              <a:defRPr/>
            </a:pPr>
            <a:r>
              <a:rPr lang="fr-FR" dirty="0"/>
              <a:t>Sur sa table personnelle, l’animateur prépare 8 paquets pour les 6 ateliers + Lancement + Contrôle. Chacun de ces paquets comprend les éléments à distribuer à chaque poste (voir détail plus loin).</a:t>
            </a:r>
          </a:p>
          <a:p>
            <a:pPr marL="92820" indent="-92820" eaLnBrk="1" hangingPunct="1">
              <a:lnSpc>
                <a:spcPct val="100000"/>
              </a:lnSpc>
              <a:buFont typeface="Arial" pitchFamily="34" charset="0"/>
              <a:buChar char="•"/>
              <a:defRPr/>
            </a:pPr>
            <a:r>
              <a:rPr lang="fr-FR" dirty="0"/>
              <a:t>Avant de commencer une nouvelle phase du jeu, l’animateur aura toujours soin de préparer les paquets correspondant au matériel à distribuer à chacun des ateliers.</a:t>
            </a:r>
          </a:p>
          <a:p>
            <a:pPr>
              <a:defRPr/>
            </a:pPr>
            <a:endParaRPr lang="fr-FR" dirty="0"/>
          </a:p>
        </p:txBody>
      </p:sp>
      <p:sp>
        <p:nvSpPr>
          <p:cNvPr id="5530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D2E8001-94D7-4B2D-A1CE-A3119BF7CD29}" type="slidenum">
              <a:rPr lang="fr-FR" altLang="fr-FR" sz="1100">
                <a:latin typeface="Calibri" panose="020F0502020204030204" pitchFamily="34" charset="0"/>
              </a:rPr>
              <a:pPr/>
              <a:t>22</a:t>
            </a:fld>
            <a:endParaRPr lang="fr-FR" altLang="fr-FR" sz="1100" dirty="0">
              <a:latin typeface="Calibri" panose="020F0502020204030204" pitchFamily="34" charset="0"/>
            </a:endParaRPr>
          </a:p>
        </p:txBody>
      </p:sp>
      <p:sp>
        <p:nvSpPr>
          <p:cNvPr id="5530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8121245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16988F6-BE2A-4DE3-9732-A5E96331E47B}" type="slidenum">
              <a:rPr lang="fr-FR" altLang="fr-FR" sz="1100">
                <a:latin typeface="Calibri" panose="020F0502020204030204" pitchFamily="34" charset="0"/>
              </a:rPr>
              <a:pPr/>
              <a:t>23</a:t>
            </a:fld>
            <a:endParaRPr lang="fr-FR" altLang="fr-FR" sz="1100" dirty="0">
              <a:latin typeface="Calibri" panose="020F0502020204030204" pitchFamily="34" charset="0"/>
            </a:endParaRPr>
          </a:p>
        </p:txBody>
      </p:sp>
      <p:sp>
        <p:nvSpPr>
          <p:cNvPr id="57347"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57348" name="Rectangle 6"/>
          <p:cNvSpPr>
            <a:spLocks noChangeArrowheads="1"/>
          </p:cNvSpPr>
          <p:nvPr/>
        </p:nvSpPr>
        <p:spPr bwMode="auto">
          <a:xfrm>
            <a:off x="497384" y="3219493"/>
            <a:ext cx="5953664" cy="2158876"/>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INTRODUCTION</a:t>
            </a:r>
          </a:p>
          <a:p>
            <a:pPr algn="ctr" eaLnBrk="1" hangingPunct="1"/>
            <a:endParaRPr lang="fr-FR" altLang="fr-FR" sz="2900" dirty="0">
              <a:solidFill>
                <a:srgbClr val="0033CC"/>
              </a:solidFill>
              <a:latin typeface="Calibri" panose="020F0502020204030204" pitchFamily="34" charset="0"/>
            </a:endParaRPr>
          </a:p>
          <a:p>
            <a:pPr algn="ctr" eaLnBrk="1" hangingPunct="1"/>
            <a:r>
              <a:rPr lang="fr-FR" altLang="fr-FR" sz="2500" dirty="0">
                <a:solidFill>
                  <a:srgbClr val="0033CC"/>
                </a:solidFill>
                <a:latin typeface="Calibri" panose="020F0502020204030204" pitchFamily="34" charset="0"/>
              </a:rPr>
              <a:t>PRÉSENTATION DE L’ENTREPRISE</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727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Espace réservé de l'image des diapositives 1"/>
          <p:cNvSpPr>
            <a:spLocks noGrp="1" noRot="1" noChangeAspect="1" noTextEdit="1"/>
          </p:cNvSpPr>
          <p:nvPr>
            <p:ph type="sldImg"/>
          </p:nvPr>
        </p:nvSpPr>
        <p:spPr>
          <a:xfrm>
            <a:off x="481013" y="663575"/>
            <a:ext cx="6361112" cy="4525963"/>
          </a:xfrm>
          <a:ln/>
        </p:spPr>
      </p:sp>
      <p:sp>
        <p:nvSpPr>
          <p:cNvPr id="5939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demande aux participants d’enlever de leurs tables tout ce qu’ils ont, sauf un stylo. Il précise qu’ils recevront dans un moment un Dossier du participant individuel, sur lequel ils disposeront de toute l’information présente sur les diapos suivantes.</a:t>
            </a:r>
          </a:p>
        </p:txBody>
      </p:sp>
      <p:sp>
        <p:nvSpPr>
          <p:cNvPr id="5939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80F3CA25-ED16-4540-AD37-4B0286B9EE73}" type="slidenum">
              <a:rPr lang="fr-FR" altLang="fr-FR" sz="1100">
                <a:latin typeface="Calibri" panose="020F0502020204030204" pitchFamily="34" charset="0"/>
              </a:rPr>
              <a:pPr/>
              <a:t>24</a:t>
            </a:fld>
            <a:endParaRPr lang="fr-FR" altLang="fr-FR" sz="1100" dirty="0">
              <a:latin typeface="Calibri" panose="020F0502020204030204" pitchFamily="34" charset="0"/>
            </a:endParaRPr>
          </a:p>
        </p:txBody>
      </p:sp>
      <p:sp>
        <p:nvSpPr>
          <p:cNvPr id="5939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92327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ce réservé de l'image des diapositives 1"/>
          <p:cNvSpPr>
            <a:spLocks noGrp="1" noRot="1" noChangeAspect="1" noTextEdit="1"/>
          </p:cNvSpPr>
          <p:nvPr>
            <p:ph type="sldImg"/>
          </p:nvPr>
        </p:nvSpPr>
        <p:spPr>
          <a:xfrm>
            <a:off x="481013" y="663575"/>
            <a:ext cx="6361112" cy="4525963"/>
          </a:xfrm>
          <a:ln/>
        </p:spPr>
      </p:sp>
      <p:sp>
        <p:nvSpPr>
          <p:cNvPr id="614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commente cette diapo ainsi que la suivante qui introduisent brièvement le sujet.</a:t>
            </a:r>
          </a:p>
          <a:p>
            <a:endParaRPr lang="fr-FR" altLang="fr-FR" dirty="0"/>
          </a:p>
        </p:txBody>
      </p:sp>
      <p:sp>
        <p:nvSpPr>
          <p:cNvPr id="6144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894F725-7657-4173-A9B8-85308112A1C5}" type="slidenum">
              <a:rPr lang="fr-FR" altLang="fr-FR" sz="1100">
                <a:latin typeface="Calibri" panose="020F0502020204030204" pitchFamily="34" charset="0"/>
              </a:rPr>
              <a:pPr/>
              <a:t>25</a:t>
            </a:fld>
            <a:endParaRPr lang="fr-FR" altLang="fr-FR" sz="1100" dirty="0">
              <a:latin typeface="Calibri" panose="020F0502020204030204" pitchFamily="34" charset="0"/>
            </a:endParaRPr>
          </a:p>
        </p:txBody>
      </p:sp>
      <p:sp>
        <p:nvSpPr>
          <p:cNvPr id="6144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1353578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a:bodyPr>
          <a:lstStyle/>
          <a:p>
            <a:pPr marL="96136" indent="-96136">
              <a:defRPr/>
            </a:pPr>
            <a:endParaRPr lang="fr-FR" dirty="0"/>
          </a:p>
          <a:p>
            <a:pPr>
              <a:defRPr/>
            </a:pPr>
            <a:endParaRPr lang="fr-FR" dirty="0"/>
          </a:p>
        </p:txBody>
      </p:sp>
      <p:sp>
        <p:nvSpPr>
          <p:cNvPr id="6349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E4A4B75-1A3E-4126-A389-8BCDB73C721B}" type="slidenum">
              <a:rPr lang="fr-FR" altLang="fr-FR" sz="1100">
                <a:latin typeface="Calibri" panose="020F0502020204030204" pitchFamily="34" charset="0"/>
              </a:rPr>
              <a:pPr/>
              <a:t>26</a:t>
            </a:fld>
            <a:endParaRPr lang="fr-FR" altLang="fr-FR" sz="1100" dirty="0">
              <a:latin typeface="Calibri" panose="020F0502020204030204" pitchFamily="34" charset="0"/>
            </a:endParaRPr>
          </a:p>
        </p:txBody>
      </p:sp>
      <p:sp>
        <p:nvSpPr>
          <p:cNvPr id="6349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847327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Espace réservé de l'image des diapositives 1"/>
          <p:cNvSpPr>
            <a:spLocks noGrp="1" noRot="1" noChangeAspect="1" noTextEdit="1"/>
          </p:cNvSpPr>
          <p:nvPr>
            <p:ph type="sldImg"/>
          </p:nvPr>
        </p:nvSpPr>
        <p:spPr>
          <a:xfrm>
            <a:off x="481013" y="663575"/>
            <a:ext cx="6361112" cy="4525963"/>
          </a:xfrm>
          <a:ln/>
        </p:spPr>
      </p:sp>
      <p:sp>
        <p:nvSpPr>
          <p:cNvPr id="6553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marL="6582" indent="-6582"/>
            <a:r>
              <a:rPr lang="fr-FR" altLang="fr-FR" dirty="0"/>
              <a:t>L’animateur explique que l’entreprise a 4 grands indicateurs de performance sur lesquels elle s’est comparée avec la concurrence.</a:t>
            </a:r>
          </a:p>
          <a:p>
            <a:pPr marL="6582" indent="-6582"/>
            <a:r>
              <a:rPr lang="fr-FR" altLang="fr-FR" dirty="0"/>
              <a:t>Remarque : si un participant demande comment </a:t>
            </a:r>
            <a:r>
              <a:rPr lang="fr-FR" altLang="fr-FR" dirty="0" err="1"/>
              <a:t>Paleo</a:t>
            </a:r>
            <a:r>
              <a:rPr lang="fr-FR" altLang="fr-FR" dirty="0"/>
              <a:t> a réussi a obtenir les chiffres de la concurrence, il répond qu’elle a commandé une étude à un institut spécialisé, ou bien que le syndicat professionnel des fabricants d’éolienne a organisé un benchmark …</a:t>
            </a:r>
          </a:p>
          <a:p>
            <a:pPr marL="6582" indent="-6582"/>
            <a:r>
              <a:rPr lang="fr-FR" altLang="fr-FR" dirty="0"/>
              <a:t>L’animateur indique aux participants qu’ils sont chargés d’améliorer les performances de la production.</a:t>
            </a:r>
          </a:p>
        </p:txBody>
      </p:sp>
      <p:sp>
        <p:nvSpPr>
          <p:cNvPr id="6554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8E84A2B2-C8C1-42FE-B29B-8BE420B0FAE2}" type="slidenum">
              <a:rPr lang="fr-FR" altLang="fr-FR" sz="1100">
                <a:latin typeface="Calibri" panose="020F0502020204030204" pitchFamily="34" charset="0"/>
              </a:rPr>
              <a:pPr/>
              <a:t>27</a:t>
            </a:fld>
            <a:endParaRPr lang="fr-FR" altLang="fr-FR" sz="1100" dirty="0">
              <a:latin typeface="Calibri" panose="020F0502020204030204" pitchFamily="34" charset="0"/>
            </a:endParaRPr>
          </a:p>
        </p:txBody>
      </p:sp>
      <p:sp>
        <p:nvSpPr>
          <p:cNvPr id="6554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9824320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Espace réservé de l'image des diapositives 1"/>
          <p:cNvSpPr>
            <a:spLocks noGrp="1" noRot="1" noChangeAspect="1" noTextEdit="1"/>
          </p:cNvSpPr>
          <p:nvPr>
            <p:ph type="sldImg"/>
          </p:nvPr>
        </p:nvSpPr>
        <p:spPr>
          <a:xfrm>
            <a:off x="481013" y="663575"/>
            <a:ext cx="6361112" cy="4525963"/>
          </a:xfrm>
          <a:ln/>
        </p:spPr>
      </p:sp>
      <p:sp>
        <p:nvSpPr>
          <p:cNvPr id="67587" name="Espace réservé des commentaires 2"/>
          <p:cNvSpPr>
            <a:spLocks noGrp="1"/>
          </p:cNvSpPr>
          <p:nvPr>
            <p:ph type="body" idx="1"/>
          </p:nvPr>
        </p:nvSpPr>
        <p:spPr>
          <a:xfrm>
            <a:off x="316667" y="5352180"/>
            <a:ext cx="6605234" cy="4504342"/>
          </a:xfrm>
          <a:noFill/>
          <a:extLst>
            <a:ext uri="{909E8E84-426E-40DD-AFC4-6F175D3DCCD1}">
              <a14:hiddenFill xmlns:a14="http://schemas.microsoft.com/office/drawing/2010/main">
                <a:solidFill>
                  <a:srgbClr val="FFFFFF"/>
                </a:solidFill>
              </a14:hiddenFill>
            </a:ext>
          </a:extLst>
        </p:spPr>
        <p:txBody>
          <a:bodyPr/>
          <a:lstStyle/>
          <a:p>
            <a:pPr>
              <a:lnSpc>
                <a:spcPct val="100000"/>
              </a:lnSpc>
            </a:pPr>
            <a:r>
              <a:rPr lang="fr-FR" altLang="fr-FR" sz="1000" dirty="0"/>
              <a:t>L’animateur utilise cette diapo pour expliquer le scénario.</a:t>
            </a:r>
          </a:p>
          <a:p>
            <a:pPr>
              <a:lnSpc>
                <a:spcPct val="100000"/>
              </a:lnSpc>
            </a:pPr>
            <a:r>
              <a:rPr lang="fr-FR" altLang="fr-FR" sz="1000" u="sng" dirty="0"/>
              <a:t>Remarque</a:t>
            </a:r>
          </a:p>
          <a:p>
            <a:pPr>
              <a:lnSpc>
                <a:spcPct val="100000"/>
              </a:lnSpc>
            </a:pPr>
            <a:r>
              <a:rPr lang="fr-FR" altLang="fr-FR" sz="1000" dirty="0"/>
              <a:t>Nous avons utilisé le schéma DMAIC mais si l’animateur préfère utiliser un autre schéma (par exemple PDCA), il peut le remplacer ou même supprimer toute référence à un processus.</a:t>
            </a:r>
          </a:p>
          <a:p>
            <a:pPr>
              <a:lnSpc>
                <a:spcPct val="100000"/>
              </a:lnSpc>
            </a:pPr>
            <a:r>
              <a:rPr lang="fr-FR" altLang="fr-FR" sz="1000" dirty="0"/>
              <a:t>Dans ce cas, il doit intervenir sur le Dossier du participant car les pages sont marquées à droite selon les étapes DMAIC : il suffit d’enlever l’inscription.</a:t>
            </a:r>
          </a:p>
        </p:txBody>
      </p:sp>
      <p:sp>
        <p:nvSpPr>
          <p:cNvPr id="6758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127835F-10C3-4854-83A3-BA602C2DE95B}" type="slidenum">
              <a:rPr lang="fr-FR" altLang="fr-FR" sz="1100">
                <a:latin typeface="Calibri" panose="020F0502020204030204" pitchFamily="34" charset="0"/>
              </a:rPr>
              <a:pPr/>
              <a:t>28</a:t>
            </a:fld>
            <a:endParaRPr lang="fr-FR" altLang="fr-FR" sz="1100" dirty="0">
              <a:latin typeface="Calibri" panose="020F0502020204030204" pitchFamily="34" charset="0"/>
            </a:endParaRPr>
          </a:p>
        </p:txBody>
      </p:sp>
      <p:sp>
        <p:nvSpPr>
          <p:cNvPr id="6758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310792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Espace réservé de l'image des diapositives 1"/>
          <p:cNvSpPr>
            <a:spLocks noGrp="1" noRot="1" noChangeAspect="1" noTextEdit="1"/>
          </p:cNvSpPr>
          <p:nvPr>
            <p:ph type="sldImg"/>
          </p:nvPr>
        </p:nvSpPr>
        <p:spPr>
          <a:xfrm>
            <a:off x="481013" y="663575"/>
            <a:ext cx="6361112" cy="4525963"/>
          </a:xfrm>
          <a:ln/>
        </p:spPr>
      </p:sp>
      <p:sp>
        <p:nvSpPr>
          <p:cNvPr id="6963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explique que la réalisation des plaques nécessite plusieurs opérations d’usinage représentées par des formes différentes (ovale, croix, étoile, triangle sur l’exemple ci-dessus).</a:t>
            </a:r>
          </a:p>
          <a:p>
            <a:r>
              <a:rPr lang="fr-FR" altLang="fr-FR" dirty="0"/>
              <a:t>Dans la simulation, l’usinage consiste pour un atelier à colorer une forme (dans une couleur inscrite sous la forme).</a:t>
            </a:r>
          </a:p>
          <a:p>
            <a:r>
              <a:rPr lang="fr-FR" altLang="fr-FR" dirty="0"/>
              <a:t>En même temps qu’il projette la diapo, l’animateur présente un ordre de fabrication.</a:t>
            </a:r>
          </a:p>
        </p:txBody>
      </p:sp>
      <p:sp>
        <p:nvSpPr>
          <p:cNvPr id="6963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8213F2E-2C74-404D-8610-7672E9084109}" type="slidenum">
              <a:rPr lang="fr-FR" altLang="fr-FR" sz="1100">
                <a:latin typeface="Calibri" panose="020F0502020204030204" pitchFamily="34" charset="0"/>
              </a:rPr>
              <a:pPr/>
              <a:t>29</a:t>
            </a:fld>
            <a:endParaRPr lang="fr-FR" altLang="fr-FR" sz="1100" dirty="0">
              <a:latin typeface="Calibri" panose="020F0502020204030204" pitchFamily="34" charset="0"/>
            </a:endParaRPr>
          </a:p>
        </p:txBody>
      </p:sp>
      <p:sp>
        <p:nvSpPr>
          <p:cNvPr id="6963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9307566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C81A2BD-4843-453C-BED8-2475BC20FFA9}" type="slidenum">
              <a:rPr lang="fr-FR" altLang="fr-FR" sz="1100">
                <a:latin typeface="Calibri" panose="020F0502020204030204" pitchFamily="34" charset="0"/>
              </a:rPr>
              <a:pPr/>
              <a:t>30</a:t>
            </a:fld>
            <a:endParaRPr lang="fr-FR" altLang="fr-FR" sz="1100" dirty="0">
              <a:latin typeface="Calibri" panose="020F0502020204030204" pitchFamily="34" charset="0"/>
            </a:endParaRPr>
          </a:p>
        </p:txBody>
      </p:sp>
      <p:sp>
        <p:nvSpPr>
          <p:cNvPr id="71683" name="Rectangle 2"/>
          <p:cNvSpPr>
            <a:spLocks noGrp="1" noRot="1" noChangeAspect="1" noChangeArrowheads="1" noTextEdit="1"/>
          </p:cNvSpPr>
          <p:nvPr>
            <p:ph type="sldImg"/>
          </p:nvPr>
        </p:nvSpPr>
        <p:spPr>
          <a:xfrm>
            <a:off x="481013" y="663575"/>
            <a:ext cx="6361112" cy="4525963"/>
          </a:xfrm>
          <a:ln/>
        </p:spPr>
      </p:sp>
      <p:sp>
        <p:nvSpPr>
          <p:cNvPr id="121861" name="Rectangle 3"/>
          <p:cNvSpPr>
            <a:spLocks noGrp="1" noChangeArrowheads="1"/>
          </p:cNvSpPr>
          <p:nvPr>
            <p:ph type="body" idx="1"/>
          </p:nvPr>
        </p:nvSpPr>
        <p:spPr>
          <a:xfrm>
            <a:off x="366405" y="5401285"/>
            <a:ext cx="6504100" cy="4546898"/>
          </a:xfrm>
        </p:spPr>
        <p:txBody>
          <a:bodyPr/>
          <a:lstStyle/>
          <a:p>
            <a:pPr eaLnBrk="1" hangingPunct="1">
              <a:defRPr/>
            </a:pPr>
            <a:r>
              <a:rPr lang="fr-FR" sz="900" dirty="0"/>
              <a:t>À l’aide de cette diapo, l’animateur donne les indications suivantes :</a:t>
            </a:r>
          </a:p>
          <a:p>
            <a:pPr marL="96136" indent="-96136" eaLnBrk="1" hangingPunct="1">
              <a:buFont typeface="Arial" pitchFamily="34" charset="0"/>
              <a:buChar char="•"/>
              <a:defRPr/>
            </a:pPr>
            <a:r>
              <a:rPr lang="fr-FR" sz="900" dirty="0"/>
              <a:t>Chaque atelier est </a:t>
            </a:r>
            <a:r>
              <a:rPr lang="fr-FR" sz="900" dirty="0">
                <a:solidFill>
                  <a:srgbClr val="FF0000"/>
                </a:solidFill>
              </a:rPr>
              <a:t>spécialisé</a:t>
            </a:r>
            <a:r>
              <a:rPr lang="fr-FR" sz="900" dirty="0"/>
              <a:t> dans une </a:t>
            </a:r>
            <a:r>
              <a:rPr lang="fr-FR" sz="900" dirty="0">
                <a:solidFill>
                  <a:srgbClr val="FF0000"/>
                </a:solidFill>
              </a:rPr>
              <a:t>forme</a:t>
            </a:r>
            <a:r>
              <a:rPr lang="fr-FR" sz="900" dirty="0"/>
              <a:t>. L’atelier Triangle ne peut pas faire des Rectangles, etc.</a:t>
            </a:r>
          </a:p>
          <a:p>
            <a:pPr marL="96136" indent="-96136" eaLnBrk="1" hangingPunct="1">
              <a:buFont typeface="Arial" pitchFamily="34" charset="0"/>
              <a:buChar char="•"/>
              <a:defRPr/>
            </a:pPr>
            <a:r>
              <a:rPr lang="fr-FR" sz="900" dirty="0"/>
              <a:t>Il y a en plus une fonction de Lancement qui est chargée de donner les fabrications à réaliser aux ateliers. Elle est également chargée de</a:t>
            </a:r>
            <a:r>
              <a:rPr lang="fr-FR" sz="900" dirty="0">
                <a:solidFill>
                  <a:srgbClr val="FF0000"/>
                </a:solidFill>
              </a:rPr>
              <a:t> découper les plaques</a:t>
            </a:r>
            <a:r>
              <a:rPr lang="fr-FR" sz="900" dirty="0"/>
              <a:t> (l’animateur montre une plaque de format A4 comportant les 12 OF à découper).</a:t>
            </a:r>
          </a:p>
          <a:p>
            <a:pPr marL="96136" indent="-96136" eaLnBrk="1" hangingPunct="1">
              <a:buFont typeface="Arial" pitchFamily="34" charset="0"/>
              <a:buChar char="•"/>
              <a:defRPr/>
            </a:pPr>
            <a:r>
              <a:rPr lang="fr-FR" sz="900" dirty="0"/>
              <a:t>Le Contrôle qualité est chargé de vérifier si les </a:t>
            </a:r>
            <a:r>
              <a:rPr lang="fr-FR" sz="900" dirty="0">
                <a:solidFill>
                  <a:srgbClr val="FF0000"/>
                </a:solidFill>
              </a:rPr>
              <a:t>produits</a:t>
            </a:r>
            <a:r>
              <a:rPr lang="fr-FR" sz="900" dirty="0"/>
              <a:t> </a:t>
            </a:r>
            <a:r>
              <a:rPr lang="fr-FR" sz="900" dirty="0">
                <a:solidFill>
                  <a:srgbClr val="FF0000"/>
                </a:solidFill>
              </a:rPr>
              <a:t>sont bons</a:t>
            </a:r>
            <a:r>
              <a:rPr lang="fr-FR" sz="900" dirty="0"/>
              <a:t>.</a:t>
            </a:r>
          </a:p>
          <a:p>
            <a:pPr marL="190614" eaLnBrk="1" hangingPunct="1">
              <a:defRPr/>
            </a:pPr>
            <a:r>
              <a:rPr lang="fr-FR" sz="900" dirty="0"/>
              <a:t>Remarque : si les participants demandent quels sont les critères de qualité, l’animateur répond de façon évasive, par exemple : il faut s’appliquer, ne pas se tromper de couleur, bien faire les bordures, etc. Durant la simulation, les critères de qualité précis ne sont connus que du seul contrôleur.</a:t>
            </a:r>
          </a:p>
          <a:p>
            <a:pPr marL="96136" indent="-96136" eaLnBrk="1" hangingPunct="1">
              <a:buFont typeface="Arial" pitchFamily="34" charset="0"/>
              <a:buChar char="•"/>
              <a:defRPr/>
            </a:pPr>
            <a:r>
              <a:rPr lang="fr-FR" sz="900" dirty="0"/>
              <a:t>Les produits circulent d’un atelier à l’autre, en suivant l’ordre des formes indiqué sur l’ordre de fabrication (de haut en bas). Quand la dernière opération est faite, le produit va au </a:t>
            </a:r>
            <a:r>
              <a:rPr lang="fr-FR" sz="900" dirty="0">
                <a:solidFill>
                  <a:srgbClr val="FF0000"/>
                </a:solidFill>
              </a:rPr>
              <a:t>Contrôle</a:t>
            </a:r>
            <a:r>
              <a:rPr lang="fr-FR" sz="900" dirty="0"/>
              <a:t>.</a:t>
            </a:r>
          </a:p>
          <a:p>
            <a:pPr marL="96136" indent="-96136" eaLnBrk="1" hangingPunct="1">
              <a:buFont typeface="Arial" pitchFamily="34" charset="0"/>
              <a:buChar char="•"/>
              <a:defRPr/>
            </a:pPr>
            <a:r>
              <a:rPr lang="fr-FR" sz="900" dirty="0"/>
              <a:t>L’entreprise travaille à la commande, c’est-à-dire que l’ordre de fabrication (correspondant dans la simulation à un produit à réaliser) est directement associé à la commande du client. Il n’y a pas de produits fabriqués d’avance, donc pas de stocks de produits finis. Dans la simulation, chaque produit est donc associé à un ordre de fabrication, notés OF1, OF2, etc.</a:t>
            </a:r>
          </a:p>
          <a:p>
            <a:pPr marL="96136" indent="-96136" eaLnBrk="1" hangingPunct="1">
              <a:buFont typeface="Arial" pitchFamily="34" charset="0"/>
              <a:buChar char="•"/>
              <a:defRPr/>
            </a:pPr>
            <a:r>
              <a:rPr lang="fr-FR" sz="900" dirty="0"/>
              <a:t>Une fois ces explications terminées, l’animateur indique à </a:t>
            </a:r>
            <a:r>
              <a:rPr lang="fr-FR" sz="900" dirty="0">
                <a:solidFill>
                  <a:srgbClr val="FF0000"/>
                </a:solidFill>
              </a:rPr>
              <a:t>chaque table le nom de son atelier </a:t>
            </a:r>
            <a:r>
              <a:rPr lang="fr-FR" sz="900" dirty="0"/>
              <a:t>(s’il veut matérialiser dès à présent cette indication il peut distribuer à chaque poste ses Zones de stockage, et au poste Lancement sa Fiche de rôle)</a:t>
            </a:r>
          </a:p>
          <a:p>
            <a:pPr eaLnBrk="1" hangingPunct="1">
              <a:defRPr/>
            </a:pPr>
            <a:r>
              <a:rPr lang="fr-FR" sz="900" u="sng" dirty="0"/>
              <a:t>Remarque</a:t>
            </a:r>
            <a:r>
              <a:rPr lang="fr-FR" sz="900" dirty="0"/>
              <a:t> : l’animateur doit souligner le fait que l’on emploiera toujours le terme </a:t>
            </a:r>
            <a:r>
              <a:rPr lang="fr-FR" sz="900" dirty="0">
                <a:solidFill>
                  <a:srgbClr val="FF0000"/>
                </a:solidFill>
              </a:rPr>
              <a:t>ATELIER</a:t>
            </a:r>
            <a:r>
              <a:rPr lang="fr-FR" sz="900" dirty="0"/>
              <a:t> pour désigner l’entité qui réalise une forme, et le terme </a:t>
            </a:r>
            <a:r>
              <a:rPr lang="fr-FR" sz="900" dirty="0">
                <a:solidFill>
                  <a:srgbClr val="FF0000"/>
                </a:solidFill>
              </a:rPr>
              <a:t>POSTE DE TRAVAIL</a:t>
            </a:r>
            <a:r>
              <a:rPr lang="fr-FR" sz="900" dirty="0"/>
              <a:t> pour désigner le poste tenu par un participant dans un atelier. Cette distinction est importante parce que les calculs des performances seront faits dans certains cas par poste, et dans d’autres cas par atelier. Il faut donc lever toute ambiguïté</a:t>
            </a:r>
            <a:r>
              <a:rPr lang="fr-FR" sz="1000" dirty="0"/>
              <a:t>.</a:t>
            </a:r>
          </a:p>
          <a:p>
            <a:pPr eaLnBrk="1" hangingPunct="1">
              <a:defRPr/>
            </a:pPr>
            <a:endParaRPr lang="fr-FR" sz="1000" dirty="0"/>
          </a:p>
        </p:txBody>
      </p:sp>
      <p:sp>
        <p:nvSpPr>
          <p:cNvPr id="7168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2567952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7FAEC5D-C0CD-4312-AEFB-5182B34C5501}" type="slidenum">
              <a:rPr lang="fr-FR" altLang="fr-FR" sz="1100">
                <a:latin typeface="Calibri" panose="020F0502020204030204" pitchFamily="34" charset="0"/>
              </a:rPr>
              <a:pPr/>
              <a:t>31</a:t>
            </a:fld>
            <a:endParaRPr lang="fr-FR" altLang="fr-FR" sz="1100" dirty="0">
              <a:latin typeface="Calibri" panose="020F0502020204030204" pitchFamily="34" charset="0"/>
            </a:endParaRPr>
          </a:p>
        </p:txBody>
      </p:sp>
      <p:sp>
        <p:nvSpPr>
          <p:cNvPr id="73731" name="Rectangle 2"/>
          <p:cNvSpPr>
            <a:spLocks noGrp="1" noRot="1" noChangeAspect="1" noChangeArrowheads="1" noTextEdit="1"/>
          </p:cNvSpPr>
          <p:nvPr>
            <p:ph type="sldImg"/>
          </p:nvPr>
        </p:nvSpPr>
        <p:spPr>
          <a:xfrm>
            <a:off x="481013" y="663575"/>
            <a:ext cx="6361112" cy="4525963"/>
          </a:xfrm>
          <a:ln/>
        </p:spPr>
      </p:sp>
      <p:sp>
        <p:nvSpPr>
          <p:cNvPr id="73733" name="Rectangle 3"/>
          <p:cNvSpPr>
            <a:spLocks noGrp="1" noChangeArrowheads="1"/>
          </p:cNvSpPr>
          <p:nvPr>
            <p:ph type="body" idx="1"/>
          </p:nvPr>
        </p:nvSpPr>
        <p:spPr/>
        <p:txBody>
          <a:bodyPr/>
          <a:lstStyle/>
          <a:p>
            <a:pPr eaLnBrk="1" hangingPunct="1">
              <a:defRPr/>
            </a:pPr>
            <a:r>
              <a:rPr lang="fr-FR" dirty="0"/>
              <a:t>Le magasin d’outillage sert à ranger et entretenir les feutres (surligneurs) nécessaires à la fabrication. Il fonctionne en libre-service. </a:t>
            </a:r>
          </a:p>
          <a:p>
            <a:pPr eaLnBrk="1" hangingPunct="1">
              <a:defRPr/>
            </a:pPr>
            <a:r>
              <a:rPr lang="fr-FR" u="sng" dirty="0"/>
              <a:t>Remarques</a:t>
            </a:r>
          </a:p>
          <a:p>
            <a:pPr marL="96136" indent="-96136" eaLnBrk="1" hangingPunct="1">
              <a:buFont typeface="Arial" pitchFamily="34" charset="0"/>
              <a:buChar char="•"/>
              <a:defRPr/>
            </a:pPr>
            <a:r>
              <a:rPr lang="fr-FR" dirty="0"/>
              <a:t>La règle imposant de rapporter le surligneur au magasin d’outillages (elle est rappelée dans la fiche de rôle) symbolise le temps de changement de série. Cette règle incite les participants à traiter en même temps tous les OF d’une même couleur dans la file d’attente, ce qui aura pour effet de désorganiser le flux (c’est surtout vrai pour les postes qui ont des files d’attente).</a:t>
            </a:r>
          </a:p>
          <a:p>
            <a:pPr marL="96136" indent="-96136" eaLnBrk="1" hangingPunct="1">
              <a:buFont typeface="Arial" pitchFamily="34" charset="0"/>
              <a:buChar char="•"/>
              <a:defRPr/>
            </a:pPr>
            <a:r>
              <a:rPr lang="fr-FR" dirty="0"/>
              <a:t>Quand il y a 2 ou 3 postes de travail (c’est-à-dire 2 ou 3 participants) par atelier, chacun est responsable de la gestion de ses outillages. Autrement dit, chacun se déplace pour aller changer son feutre. </a:t>
            </a:r>
          </a:p>
          <a:p>
            <a:pPr marL="96136" indent="-96136" eaLnBrk="1" hangingPunct="1">
              <a:buFont typeface="Arial" pitchFamily="34" charset="0"/>
              <a:buChar char="•"/>
              <a:defRPr/>
            </a:pPr>
            <a:r>
              <a:rPr lang="fr-FR" dirty="0"/>
              <a:t>Il n’est pas permis à un participant de donner son outil à un autre poste de travail. Il est en effet « responsable de son bon état de son outil ». On peut imaginer qu’il a signé un papier à faire viser par le magasin au moment où il rend son outil (même si en pratique, dans la simulation, on ne lui fait rien signer …).  </a:t>
            </a:r>
          </a:p>
          <a:p>
            <a:pPr marL="96136" indent="-96136" eaLnBrk="1" hangingPunct="1">
              <a:buFont typeface="Arial" pitchFamily="34" charset="0"/>
              <a:buChar char="•"/>
              <a:defRPr/>
            </a:pPr>
            <a:r>
              <a:rPr lang="fr-FR" dirty="0"/>
              <a:t>Cette dernière règle est destinée, dans la simulation, à renforcer la contrainte liée au changement de série.</a:t>
            </a:r>
          </a:p>
          <a:p>
            <a:pPr eaLnBrk="1" hangingPunct="1">
              <a:defRPr/>
            </a:pPr>
            <a:endParaRPr lang="fr-FR" dirty="0"/>
          </a:p>
          <a:p>
            <a:pPr eaLnBrk="1" hangingPunct="1">
              <a:defRPr/>
            </a:pPr>
            <a:endParaRPr lang="fr-FR" dirty="0"/>
          </a:p>
        </p:txBody>
      </p:sp>
      <p:sp>
        <p:nvSpPr>
          <p:cNvPr id="2"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585240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Espace réservé de l'image des diapositives 1"/>
          <p:cNvSpPr>
            <a:spLocks noGrp="1" noRot="1" noChangeAspect="1" noTextEdit="1"/>
          </p:cNvSpPr>
          <p:nvPr>
            <p:ph type="sldImg"/>
          </p:nvPr>
        </p:nvSpPr>
        <p:spPr>
          <a:xfrm>
            <a:off x="481013" y="663575"/>
            <a:ext cx="6361112" cy="4525963"/>
          </a:xfrm>
          <a:ln/>
        </p:spPr>
      </p:sp>
      <p:sp>
        <p:nvSpPr>
          <p:cNvPr id="7577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Chacun est responsable de son transport : l’étoile doit transporter les pièces vers l’atelier Vague, qui le transportera ensuite vers l’atelier Triangle.</a:t>
            </a:r>
          </a:p>
          <a:p>
            <a:r>
              <a:rPr lang="fr-FR" altLang="fr-FR" dirty="0"/>
              <a:t>La règle relative au nombre de produits à transporter joue un rôle dans la simulation, car elle ralentit fortement le flux. Pour éviter de multiplier les transports, les participants ont tendance à accumuler les pièces avant de se déplacer. Le fait de marcher lentement a pour effet d’augmenter le temps de transport, donc d’accentuer cette tendance.</a:t>
            </a:r>
          </a:p>
          <a:p>
            <a:r>
              <a:rPr lang="fr-FR" altLang="fr-FR" dirty="0"/>
              <a:t>La règle relative au changement d’outil et au transport signifie qu’un participant qui doit changer de couleur ne peut pas emmener des pièces en même temps. Il doit retourner à son poste. Si l’animateur le souhaite, il peut expliquer que cette règle est due au fait que le chariot qui sert à la manutention des pièces ne peut pas circuler dans le bâtiment où se trouve le magasin d’outillage.</a:t>
            </a:r>
          </a:p>
        </p:txBody>
      </p:sp>
      <p:sp>
        <p:nvSpPr>
          <p:cNvPr id="757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676A8B3-7714-447A-882D-866F084ED3D3}" type="slidenum">
              <a:rPr lang="fr-FR" altLang="fr-FR" sz="1100">
                <a:latin typeface="Calibri" panose="020F0502020204030204" pitchFamily="34" charset="0"/>
              </a:rPr>
              <a:pPr/>
              <a:t>32</a:t>
            </a:fld>
            <a:endParaRPr lang="fr-FR" altLang="fr-FR" sz="1100" dirty="0">
              <a:latin typeface="Calibri" panose="020F0502020204030204" pitchFamily="34" charset="0"/>
            </a:endParaRPr>
          </a:p>
        </p:txBody>
      </p:sp>
      <p:sp>
        <p:nvSpPr>
          <p:cNvPr id="7578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6508916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a:bodyPr>
          <a:lstStyle/>
          <a:p>
            <a:pPr indent="18233" eaLnBrk="1" hangingPunct="1">
              <a:defRPr/>
            </a:pPr>
            <a:r>
              <a:rPr lang="fr-FR" dirty="0"/>
              <a:t>Quand il y a plusieurs personnes par atelier (ce qui se produit à partir de 9 participants, voir tableau des effectifs), chaque participant prend un charge un poste de travail, c’est-à-dire qu’il colorie des pièces. On peut donc avoir 2, 3 ou 4 personnes qui colorient des pièces au sein d’un même atelier.</a:t>
            </a:r>
          </a:p>
          <a:p>
            <a:pPr marL="188956" indent="-188956" eaLnBrk="1" hangingPunct="1">
              <a:buFont typeface="Arial" pitchFamily="34" charset="0"/>
              <a:buChar char="•"/>
              <a:defRPr/>
            </a:pPr>
            <a:r>
              <a:rPr lang="fr-FR" dirty="0"/>
              <a:t>Les pièces livrées par l’atelier précédent sont placées dans une</a:t>
            </a:r>
            <a:r>
              <a:rPr lang="fr-FR" dirty="0">
                <a:solidFill>
                  <a:srgbClr val="FF0000"/>
                </a:solidFill>
              </a:rPr>
              <a:t> file d’attente unique </a:t>
            </a:r>
            <a:r>
              <a:rPr lang="fr-FR" dirty="0"/>
              <a:t>matérialisée par une </a:t>
            </a:r>
            <a:r>
              <a:rPr lang="fr-FR" dirty="0">
                <a:solidFill>
                  <a:srgbClr val="FF0000"/>
                </a:solidFill>
              </a:rPr>
              <a:t>Zone de stockage </a:t>
            </a:r>
            <a:r>
              <a:rPr lang="fr-FR" dirty="0"/>
              <a:t>(l’animateur montre une zone). Chaque participant se sert à son tour dans la file d’attente.</a:t>
            </a:r>
          </a:p>
          <a:p>
            <a:pPr marL="188956" indent="-188956" eaLnBrk="1" hangingPunct="1">
              <a:buFont typeface="Arial" pitchFamily="34" charset="0"/>
              <a:buChar char="•"/>
              <a:defRPr/>
            </a:pPr>
            <a:r>
              <a:rPr lang="fr-FR" dirty="0"/>
              <a:t>L’animateur insiste sur le fait que les pièces doivent être posées dans la zone de stockage (qui sera distribuée dans un moment). Il ne </a:t>
            </a:r>
            <a:r>
              <a:rPr lang="fr-FR" dirty="0">
                <a:solidFill>
                  <a:srgbClr val="FF0000"/>
                </a:solidFill>
              </a:rPr>
              <a:t>faut pas poser les pièces n’importe où</a:t>
            </a:r>
            <a:r>
              <a:rPr lang="fr-FR" dirty="0"/>
              <a:t> sur la table (cette règle a pour but de faciliter la mesure des files d’attente maximum, voir plus loin).</a:t>
            </a:r>
          </a:p>
          <a:p>
            <a:pPr marL="188956" indent="-188956" eaLnBrk="1" hangingPunct="1">
              <a:buFont typeface="Arial" pitchFamily="34" charset="0"/>
              <a:buChar char="•"/>
              <a:defRPr/>
            </a:pPr>
            <a:r>
              <a:rPr lang="fr-FR" dirty="0"/>
              <a:t>Chaque participant est responsable de sa production, il doit porter </a:t>
            </a:r>
            <a:r>
              <a:rPr lang="fr-FR" dirty="0">
                <a:solidFill>
                  <a:srgbClr val="FF0000"/>
                </a:solidFill>
              </a:rPr>
              <a:t>ce qu’il a coloré</a:t>
            </a:r>
            <a:r>
              <a:rPr lang="fr-FR" dirty="0"/>
              <a:t> au poste suivant. Il n’est donc pas permis à un opérateur de transporter les pièces fabriquées par un autre opérateur du même atelier. Si les participants demandent la raison de cette règle, l’animateur répond qu’elle renforce la responsabilité de l’opérateur vis-à-vis de la qualité : il est responsable de sa pièce (fragile !) jusqu’à sa livraison au poste suivant.</a:t>
            </a:r>
          </a:p>
          <a:p>
            <a:pPr>
              <a:defRPr/>
            </a:pPr>
            <a:r>
              <a:rPr lang="fr-FR" u="sng" dirty="0"/>
              <a:t>Priorités dans la file d’attente</a:t>
            </a:r>
          </a:p>
          <a:p>
            <a:pPr>
              <a:defRPr/>
            </a:pPr>
            <a:r>
              <a:rPr lang="fr-FR" dirty="0"/>
              <a:t>La question du choix des priorités dans la file d’attente n’est généralement pas évoquée à ce stade par les participants. Si un participant pose cependant la question, lui répondre qu’ils peuvent faire comme ils le souhaitent.</a:t>
            </a:r>
          </a:p>
        </p:txBody>
      </p:sp>
      <p:sp>
        <p:nvSpPr>
          <p:cNvPr id="7782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8E5BF739-C7EA-45C1-A76F-6C3E61F31A04}" type="slidenum">
              <a:rPr lang="fr-FR" altLang="fr-FR" sz="1100">
                <a:latin typeface="Calibri" panose="020F0502020204030204" pitchFamily="34" charset="0"/>
              </a:rPr>
              <a:pPr/>
              <a:t>33</a:t>
            </a:fld>
            <a:endParaRPr lang="fr-FR" altLang="fr-FR" sz="1100" dirty="0">
              <a:latin typeface="Calibri" panose="020F0502020204030204" pitchFamily="34" charset="0"/>
            </a:endParaRPr>
          </a:p>
        </p:txBody>
      </p:sp>
      <p:sp>
        <p:nvSpPr>
          <p:cNvPr id="7782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5350546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Espace réservé de l'image des diapositives 1"/>
          <p:cNvSpPr>
            <a:spLocks noGrp="1" noRot="1" noChangeAspect="1" noTextEdit="1"/>
          </p:cNvSpPr>
          <p:nvPr>
            <p:ph type="sldImg"/>
          </p:nvPr>
        </p:nvSpPr>
        <p:spPr>
          <a:xfrm>
            <a:off x="481013" y="663575"/>
            <a:ext cx="6361112" cy="4525963"/>
          </a:xfrm>
          <a:ln/>
        </p:spPr>
      </p:sp>
      <p:sp>
        <p:nvSpPr>
          <p:cNvPr id="7987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distribue les livrets et demande à chacun d’inscrire son nom sur la couverture et de pointer le poste qui lui est attribué sur la 1</a:t>
            </a:r>
            <a:r>
              <a:rPr lang="fr-FR" altLang="fr-FR" baseline="30000" dirty="0"/>
              <a:t>ère</a:t>
            </a:r>
            <a:r>
              <a:rPr lang="fr-FR" altLang="fr-FR" dirty="0"/>
              <a:t> page.</a:t>
            </a:r>
          </a:p>
        </p:txBody>
      </p:sp>
      <p:sp>
        <p:nvSpPr>
          <p:cNvPr id="7987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FE0AA87-0BBE-4DF3-BDB8-49E6901BD458}" type="slidenum">
              <a:rPr lang="fr-FR" altLang="fr-FR" sz="1100">
                <a:latin typeface="Calibri" panose="020F0502020204030204" pitchFamily="34" charset="0"/>
              </a:rPr>
              <a:pPr/>
              <a:t>34</a:t>
            </a:fld>
            <a:endParaRPr lang="fr-FR" altLang="fr-FR" sz="1100" dirty="0">
              <a:latin typeface="Calibri" panose="020F0502020204030204" pitchFamily="34" charset="0"/>
            </a:endParaRPr>
          </a:p>
        </p:txBody>
      </p:sp>
      <p:sp>
        <p:nvSpPr>
          <p:cNvPr id="7987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152845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Espace réservé de l'image des diapositives 1"/>
          <p:cNvSpPr>
            <a:spLocks noGrp="1" noRot="1" noChangeAspect="1" noTextEdit="1"/>
          </p:cNvSpPr>
          <p:nvPr>
            <p:ph type="sldImg"/>
          </p:nvPr>
        </p:nvSpPr>
        <p:spPr>
          <a:xfrm>
            <a:off x="481013" y="663575"/>
            <a:ext cx="6361112" cy="4525963"/>
          </a:xfrm>
          <a:ln/>
        </p:spPr>
      </p:sp>
      <p:sp>
        <p:nvSpPr>
          <p:cNvPr id="8192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pose aux participants la question :comment faire en pratique, dans la simulation qui va commencer, pour mesurer les 4 performances de l’entreprise ?</a:t>
            </a:r>
          </a:p>
          <a:p>
            <a:r>
              <a:rPr lang="fr-FR" altLang="fr-FR" dirty="0"/>
              <a:t>L’objectif de cette phase est d’amener le groupe à comprendre la raison des dispositifs présentés dans les diapos suivantes.</a:t>
            </a:r>
          </a:p>
          <a:p>
            <a:r>
              <a:rPr lang="fr-FR" altLang="fr-FR" u="sng" dirty="0"/>
              <a:t>Remarque</a:t>
            </a:r>
          </a:p>
          <a:p>
            <a:r>
              <a:rPr lang="fr-FR" altLang="fr-FR" dirty="0"/>
              <a:t>Quand l’animateur évoque la question du coût, les participants font des réponses variées : ils parlent de matière première, d’investissements, de frais généraux, de salaires, etc.</a:t>
            </a:r>
          </a:p>
          <a:p>
            <a:r>
              <a:rPr lang="fr-FR" altLang="fr-FR" dirty="0"/>
              <a:t>L’animateur leur dit qu’ils ont raison, mais que dans la simulation les participants ne peuvent pas agir sur le coût des matières ou sur les frais généraux. Ils les amène à comprendre qu’ils ne peuvent agir que sur le temps nécessaire pour faire la production.</a:t>
            </a:r>
          </a:p>
          <a:p>
            <a:r>
              <a:rPr lang="fr-FR" altLang="fr-FR" dirty="0"/>
              <a:t>De fait, dans la suite du jeu, nous identifierons « productivité » et « coût » : c’est une simplification à admettre comme une convention nécessaire au jeu. </a:t>
            </a:r>
          </a:p>
        </p:txBody>
      </p:sp>
      <p:sp>
        <p:nvSpPr>
          <p:cNvPr id="8192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55584BB-6C9B-4532-942A-B352D120E5B7}" type="slidenum">
              <a:rPr lang="fr-FR" altLang="fr-FR" sz="1100">
                <a:latin typeface="Calibri" panose="020F0502020204030204" pitchFamily="34" charset="0"/>
              </a:rPr>
              <a:pPr/>
              <a:t>35</a:t>
            </a:fld>
            <a:endParaRPr lang="fr-FR" altLang="fr-FR" sz="1100" dirty="0">
              <a:latin typeface="Calibri" panose="020F0502020204030204" pitchFamily="34" charset="0"/>
            </a:endParaRPr>
          </a:p>
        </p:txBody>
      </p:sp>
      <p:sp>
        <p:nvSpPr>
          <p:cNvPr id="8192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7998544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Espace réservé de l'image des diapositives 1"/>
          <p:cNvSpPr>
            <a:spLocks noGrp="1" noRot="1" noChangeAspect="1" noTextEdit="1"/>
          </p:cNvSpPr>
          <p:nvPr>
            <p:ph type="sldImg"/>
          </p:nvPr>
        </p:nvSpPr>
        <p:spPr>
          <a:xfrm>
            <a:off x="481013" y="663575"/>
            <a:ext cx="6361112" cy="4525963"/>
          </a:xfrm>
          <a:ln/>
        </p:spPr>
      </p:sp>
      <p:sp>
        <p:nvSpPr>
          <p:cNvPr id="8397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demande aux participants d’ouvrir leur livrer à la page correspondante à cette image.</a:t>
            </a:r>
          </a:p>
          <a:p>
            <a:r>
              <a:rPr lang="fr-FR" altLang="fr-FR" dirty="0"/>
              <a:t>Il explique que ce tableau permettra de mesurer la quantité produite en pointant chaque pièce produite sur la grille : l’animateur explique qu’il faut utiliser le même feutre qui a servi à colorer la pièce pour colorer successivement les chiffres 1, 2, 3, etc. Cette méthode permet de connaître le nombre de changements de couleurs effectués et la taille moyenne de chaque série.</a:t>
            </a:r>
          </a:p>
          <a:p>
            <a:r>
              <a:rPr lang="fr-FR" altLang="fr-FR" u="sng" dirty="0"/>
              <a:t>Remarque</a:t>
            </a:r>
          </a:p>
          <a:p>
            <a:r>
              <a:rPr lang="fr-FR" altLang="fr-FR" dirty="0"/>
              <a:t>Les participants oublient souvent de pointer leur production. Pendant les premières fabrications de la simulation, l’animateur doit passer parmi les tables et rappeler aux participants qu’ils doivent pointer (le fait de placer la pièce à colorier sur le cadre prévu à cet effet incite également à ne pas oublier le pointage).</a:t>
            </a:r>
          </a:p>
        </p:txBody>
      </p:sp>
      <p:sp>
        <p:nvSpPr>
          <p:cNvPr id="839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340DA04-7B10-440E-854E-7C15CCEFC6C3}" type="slidenum">
              <a:rPr lang="fr-FR" altLang="fr-FR" sz="1100">
                <a:latin typeface="Calibri" panose="020F0502020204030204" pitchFamily="34" charset="0"/>
              </a:rPr>
              <a:pPr/>
              <a:t>36</a:t>
            </a:fld>
            <a:endParaRPr lang="fr-FR" altLang="fr-FR" sz="1100" dirty="0">
              <a:latin typeface="Calibri" panose="020F0502020204030204" pitchFamily="34" charset="0"/>
            </a:endParaRPr>
          </a:p>
        </p:txBody>
      </p:sp>
      <p:sp>
        <p:nvSpPr>
          <p:cNvPr id="8397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0551415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Espace réservé de l'image des diapositives 1"/>
          <p:cNvSpPr>
            <a:spLocks noGrp="1" noRot="1" noChangeAspect="1" noTextEdit="1"/>
          </p:cNvSpPr>
          <p:nvPr>
            <p:ph type="sldImg"/>
          </p:nvPr>
        </p:nvSpPr>
        <p:spPr>
          <a:xfrm>
            <a:off x="481013" y="663575"/>
            <a:ext cx="6361112" cy="4525963"/>
          </a:xfrm>
          <a:ln/>
        </p:spPr>
      </p:sp>
      <p:sp>
        <p:nvSpPr>
          <p:cNvPr id="8601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Le</a:t>
            </a:r>
            <a:r>
              <a:rPr lang="fr-FR" altLang="fr-FR" u="sng" dirty="0"/>
              <a:t> temps de production</a:t>
            </a:r>
            <a:r>
              <a:rPr lang="fr-FR" altLang="fr-FR" dirty="0"/>
              <a:t> est mesuré par une horloge qui apparaîtra à l’écran. C’est l’animateur qui signalera la fin de la production (il peut dire aux participants, si ceux-ci en font la demande, que la simulation durera entre 15 et 20 minutes).</a:t>
            </a:r>
          </a:p>
          <a:p>
            <a:r>
              <a:rPr lang="fr-FR" altLang="fr-FR" dirty="0"/>
              <a:t>La </a:t>
            </a:r>
            <a:r>
              <a:rPr lang="fr-FR" altLang="fr-FR" u="sng" dirty="0"/>
              <a:t>qualité</a:t>
            </a:r>
            <a:r>
              <a:rPr lang="fr-FR" altLang="fr-FR" dirty="0"/>
              <a:t> est mesurée par le nombre de produits non conformes signalés par le Contrôle.</a:t>
            </a:r>
          </a:p>
          <a:p>
            <a:r>
              <a:rPr lang="fr-FR" altLang="fr-FR" u="sng" dirty="0"/>
              <a:t>Remarque</a:t>
            </a:r>
          </a:p>
          <a:p>
            <a:r>
              <a:rPr lang="fr-FR" altLang="fr-FR" dirty="0"/>
              <a:t>La quantité de non conformes est mesurée par </a:t>
            </a:r>
            <a:r>
              <a:rPr lang="fr-FR" altLang="fr-FR" dirty="0">
                <a:solidFill>
                  <a:srgbClr val="FF0000"/>
                </a:solidFill>
              </a:rPr>
              <a:t>Atelier</a:t>
            </a:r>
            <a:r>
              <a:rPr lang="fr-FR" altLang="fr-FR" dirty="0"/>
              <a:t> et non par </a:t>
            </a:r>
            <a:r>
              <a:rPr lang="fr-FR" altLang="fr-FR" dirty="0">
                <a:solidFill>
                  <a:srgbClr val="FF0000"/>
                </a:solidFill>
              </a:rPr>
              <a:t>Poste</a:t>
            </a:r>
            <a:r>
              <a:rPr lang="fr-FR" altLang="fr-FR" dirty="0"/>
              <a:t>. En effet, le Contrôle ne sait pas qui a dessiné une forme défectueuse s’il y a plusieurs postes au sein d’un même atelier.</a:t>
            </a:r>
          </a:p>
          <a:p>
            <a:r>
              <a:rPr lang="fr-FR" altLang="fr-FR" dirty="0"/>
              <a:t>C’est la raison pour laquelle le tableau présente pour le moment une zone grisée sur les non conformes du poste.</a:t>
            </a:r>
          </a:p>
          <a:p>
            <a:r>
              <a:rPr lang="fr-FR" altLang="fr-FR" dirty="0"/>
              <a:t>Au moment du calcul du </a:t>
            </a:r>
            <a:r>
              <a:rPr lang="fr-FR" altLang="fr-FR" dirty="0">
                <a:solidFill>
                  <a:srgbClr val="FF0000"/>
                </a:solidFill>
              </a:rPr>
              <a:t>TRG</a:t>
            </a:r>
            <a:r>
              <a:rPr lang="fr-FR" altLang="fr-FR" dirty="0"/>
              <a:t> (voir plus loin) il sera cependant nécessaire de connaître le nombre de </a:t>
            </a:r>
            <a:r>
              <a:rPr lang="fr-FR" altLang="fr-FR" dirty="0">
                <a:solidFill>
                  <a:srgbClr val="FF0000"/>
                </a:solidFill>
              </a:rPr>
              <a:t>pièces bonnes</a:t>
            </a:r>
            <a:r>
              <a:rPr lang="fr-FR" altLang="fr-FR" dirty="0"/>
              <a:t> par poste. Dans ce cas, on </a:t>
            </a:r>
            <a:r>
              <a:rPr lang="fr-FR" altLang="fr-FR" dirty="0">
                <a:solidFill>
                  <a:srgbClr val="FF0000"/>
                </a:solidFill>
              </a:rPr>
              <a:t>divisera</a:t>
            </a:r>
            <a:r>
              <a:rPr lang="fr-FR" altLang="fr-FR" dirty="0"/>
              <a:t> le nombre de pièces non conformes de l’atelier par le nombre de postes.</a:t>
            </a:r>
          </a:p>
        </p:txBody>
      </p:sp>
      <p:sp>
        <p:nvSpPr>
          <p:cNvPr id="860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8A49139E-1C1D-431C-A62C-6AECD5F7731E}" type="slidenum">
              <a:rPr lang="fr-FR" altLang="fr-FR" sz="1100">
                <a:latin typeface="Calibri" panose="020F0502020204030204" pitchFamily="34" charset="0"/>
              </a:rPr>
              <a:pPr/>
              <a:t>37</a:t>
            </a:fld>
            <a:endParaRPr lang="fr-FR" altLang="fr-FR" sz="1100" dirty="0">
              <a:latin typeface="Calibri" panose="020F0502020204030204" pitchFamily="34" charset="0"/>
            </a:endParaRPr>
          </a:p>
        </p:txBody>
      </p:sp>
      <p:sp>
        <p:nvSpPr>
          <p:cNvPr id="8602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6843599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66405" y="5371821"/>
            <a:ext cx="6504100" cy="4484701"/>
          </a:xfrm>
        </p:spPr>
        <p:txBody>
          <a:bodyPr>
            <a:noAutofit/>
          </a:bodyPr>
          <a:lstStyle/>
          <a:p>
            <a:pPr>
              <a:defRPr/>
            </a:pPr>
            <a:r>
              <a:rPr lang="fr-FR" sz="900" dirty="0"/>
              <a:t>L’animateur explique que le délai de livraison au client dépend du délai de production</a:t>
            </a:r>
          </a:p>
          <a:p>
            <a:pPr>
              <a:defRPr/>
            </a:pPr>
            <a:r>
              <a:rPr lang="fr-FR" sz="900" u="sng" dirty="0"/>
              <a:t>Remarque</a:t>
            </a:r>
            <a:r>
              <a:rPr lang="fr-FR" sz="900" dirty="0"/>
              <a:t> : l’animateur peut indiquer que le délai de livraison dépend également du délai de traitement administratif de la commande, ainsi que du délai de transport, mais que dans la simulation on s’intéresse seulement à la partie qui dépend de la production.</a:t>
            </a:r>
          </a:p>
          <a:p>
            <a:pPr>
              <a:defRPr/>
            </a:pPr>
            <a:r>
              <a:rPr lang="fr-FR" sz="900" dirty="0"/>
              <a:t>Pour mesurer le délai de production on fera circuler un OF traceur.</a:t>
            </a:r>
          </a:p>
          <a:p>
            <a:pPr>
              <a:defRPr/>
            </a:pPr>
            <a:r>
              <a:rPr lang="fr-FR" sz="900" dirty="0"/>
              <a:t>Le point important à souligner est que chaque poste doit noter l’heure au moment où il </a:t>
            </a:r>
            <a:r>
              <a:rPr lang="fr-FR" sz="900" dirty="0">
                <a:solidFill>
                  <a:srgbClr val="FF0000"/>
                </a:solidFill>
              </a:rPr>
              <a:t>commence à colorer </a:t>
            </a:r>
            <a:r>
              <a:rPr lang="fr-FR" sz="900" dirty="0"/>
              <a:t>l’OF traceur. C’est donc bien le début de l’opération qu’il faut pointer et non la fin.</a:t>
            </a:r>
          </a:p>
          <a:p>
            <a:pPr>
              <a:defRPr/>
            </a:pPr>
            <a:r>
              <a:rPr lang="fr-FR" sz="900" dirty="0"/>
              <a:t>C’est le </a:t>
            </a:r>
            <a:r>
              <a:rPr lang="fr-FR" sz="900" dirty="0">
                <a:solidFill>
                  <a:srgbClr val="FF0000"/>
                </a:solidFill>
              </a:rPr>
              <a:t>Lancement</a:t>
            </a:r>
            <a:r>
              <a:rPr lang="fr-FR" sz="900" dirty="0"/>
              <a:t> qui note </a:t>
            </a:r>
            <a:r>
              <a:rPr lang="fr-FR" sz="900" dirty="0">
                <a:solidFill>
                  <a:srgbClr val="FF0000"/>
                </a:solidFill>
              </a:rPr>
              <a:t>l’heure de début</a:t>
            </a:r>
            <a:r>
              <a:rPr lang="fr-FR" sz="900" dirty="0"/>
              <a:t> ainsi que</a:t>
            </a:r>
            <a:r>
              <a:rPr lang="fr-FR" sz="900" dirty="0">
                <a:solidFill>
                  <a:srgbClr val="FF0000"/>
                </a:solidFill>
              </a:rPr>
              <a:t> l’heure de fin </a:t>
            </a:r>
            <a:r>
              <a:rPr lang="fr-FR" sz="900" dirty="0"/>
              <a:t>(une fois le contrôle fait)</a:t>
            </a:r>
          </a:p>
          <a:p>
            <a:pPr>
              <a:defRPr/>
            </a:pPr>
            <a:r>
              <a:rPr lang="fr-FR" sz="900" dirty="0"/>
              <a:t>L’animateur explique que l’OF traceur est marqué d’une pastille rouge afin qu’on n’oublie pas de pointer l’heure quand il circule !</a:t>
            </a:r>
          </a:p>
          <a:p>
            <a:pPr>
              <a:defRPr/>
            </a:pPr>
            <a:r>
              <a:rPr lang="fr-FR" sz="900" u="sng" dirty="0"/>
              <a:t>Remarques</a:t>
            </a:r>
            <a:r>
              <a:rPr lang="fr-FR" sz="900" dirty="0"/>
              <a:t> :</a:t>
            </a:r>
          </a:p>
          <a:p>
            <a:pPr marL="89507" indent="-89507">
              <a:buFont typeface="Arial" pitchFamily="34" charset="0"/>
              <a:buChar char="•"/>
              <a:defRPr/>
            </a:pPr>
            <a:r>
              <a:rPr lang="fr-FR" sz="900" dirty="0"/>
              <a:t>Avant de commencer l’animation, l’animateur doit coller la pastille </a:t>
            </a:r>
            <a:r>
              <a:rPr lang="fr-FR" sz="900" dirty="0">
                <a:solidFill>
                  <a:srgbClr val="FF0000"/>
                </a:solidFill>
              </a:rPr>
              <a:t>rouge</a:t>
            </a:r>
            <a:r>
              <a:rPr lang="fr-FR" sz="900" dirty="0"/>
              <a:t> sur l’OF traceur. S’il ne l’a pas fait, il doit le faire au moment où il projette cette diapo.</a:t>
            </a:r>
          </a:p>
          <a:p>
            <a:pPr marL="89507" indent="-89507">
              <a:buFont typeface="Arial" pitchFamily="34" charset="0"/>
              <a:buChar char="•"/>
              <a:defRPr/>
            </a:pPr>
            <a:r>
              <a:rPr lang="fr-FR" sz="900" dirty="0"/>
              <a:t>Malgré la pastille rouge, les participants oublient parfois de noter l’heure. Nous conseillons à l’animateur de jeter un coup d’œil de temps en temps pour voir où est l’OF traceur et s’assurer que l’heure a bien été notée. Si l’heure a été oubliée, il faut noter une heure approximative en demandant au poste concerné « depuis combien de temps environ est passé entre ses mains l’OF traceur ».</a:t>
            </a:r>
          </a:p>
          <a:p>
            <a:pPr marL="89507" indent="-89507">
              <a:buFont typeface="Arial" pitchFamily="34" charset="0"/>
              <a:buChar char="•"/>
              <a:defRPr/>
            </a:pPr>
            <a:r>
              <a:rPr lang="fr-FR" sz="900" dirty="0"/>
              <a:t>Une erreur fréquemment commise : les participants notent l’heure de l’OF traceur non pas sur l’OF lui-même mais sur leur Dossier du participant. L’animateur doit les mettre en garde.</a:t>
            </a:r>
          </a:p>
          <a:p>
            <a:pPr marL="89507" indent="-89507">
              <a:buFont typeface="Arial" pitchFamily="34" charset="0"/>
              <a:buChar char="•"/>
              <a:defRPr/>
            </a:pPr>
            <a:r>
              <a:rPr lang="fr-FR" sz="900" dirty="0"/>
              <a:t>Sur leur dossier les participants ont également une colonne à droite pour calculer la différence par rapport à 0. Son utilisation est expliquée plus loin.</a:t>
            </a:r>
          </a:p>
        </p:txBody>
      </p:sp>
      <p:sp>
        <p:nvSpPr>
          <p:cNvPr id="8806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1198B68-8A3C-41C0-BE5C-4F66A483C7FF}" type="slidenum">
              <a:rPr lang="fr-FR" altLang="fr-FR" sz="1100">
                <a:latin typeface="Calibri" panose="020F0502020204030204" pitchFamily="34" charset="0"/>
              </a:rPr>
              <a:pPr/>
              <a:t>38</a:t>
            </a:fld>
            <a:endParaRPr lang="fr-FR" altLang="fr-FR" sz="1100" dirty="0">
              <a:latin typeface="Calibri" panose="020F0502020204030204" pitchFamily="34" charset="0"/>
            </a:endParaRPr>
          </a:p>
        </p:txBody>
      </p:sp>
      <p:sp>
        <p:nvSpPr>
          <p:cNvPr id="8806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3515304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lnSpcReduction="10000"/>
          </a:bodyPr>
          <a:lstStyle/>
          <a:p>
            <a:pPr>
              <a:defRPr/>
            </a:pPr>
            <a:r>
              <a:rPr lang="fr-FR" dirty="0"/>
              <a:t>L’animateur explique que le stock sera mesuré par les emplacements utilisés dans les zones de stockage.</a:t>
            </a:r>
          </a:p>
          <a:p>
            <a:pPr>
              <a:defRPr/>
            </a:pPr>
            <a:r>
              <a:rPr lang="fr-FR" dirty="0"/>
              <a:t>Il montre une zone de stockage et explique qu’elles doivent être posées sur chaque table sur le côté verso (blanc) et qu’il convient de les retourner uniquement au moment où on en a besoin.</a:t>
            </a:r>
          </a:p>
          <a:p>
            <a:pPr>
              <a:defRPr/>
            </a:pPr>
            <a:r>
              <a:rPr lang="fr-FR" dirty="0"/>
              <a:t>Une fois retournées sur le côté </a:t>
            </a:r>
            <a:r>
              <a:rPr lang="fr-FR" b="1" dirty="0">
                <a:solidFill>
                  <a:srgbClr val="0033CC"/>
                </a:solidFill>
              </a:rPr>
              <a:t>bleu</a:t>
            </a:r>
            <a:r>
              <a:rPr lang="fr-FR" dirty="0"/>
              <a:t>, on ne les retourne plus sur le côté blanc : c’est ce qui permet de connaître en fin de simulation le nombre maximum d’emplacements utilisés.</a:t>
            </a:r>
          </a:p>
          <a:p>
            <a:pPr>
              <a:defRPr/>
            </a:pPr>
            <a:r>
              <a:rPr lang="fr-FR" dirty="0"/>
              <a:t>Au début de la simulation, il faut retourner </a:t>
            </a:r>
            <a:r>
              <a:rPr lang="fr-FR" b="1" dirty="0">
                <a:solidFill>
                  <a:srgbClr val="0033CC"/>
                </a:solidFill>
              </a:rPr>
              <a:t>une seule plaque</a:t>
            </a:r>
            <a:r>
              <a:rPr lang="fr-FR" dirty="0"/>
              <a:t> (le stock d’en-cours sera de 3 pièces). </a:t>
            </a:r>
          </a:p>
          <a:p>
            <a:pPr>
              <a:defRPr/>
            </a:pPr>
            <a:r>
              <a:rPr lang="fr-FR" dirty="0"/>
              <a:t>L’animateur rappelle que cette solution pour mesurer les stocks suppose une discipline : ne jamais poser de pièces sur la table, en dehors des zones de stockage.</a:t>
            </a:r>
          </a:p>
          <a:p>
            <a:pPr>
              <a:defRPr/>
            </a:pPr>
            <a:r>
              <a:rPr lang="fr-FR" u="sng" dirty="0"/>
              <a:t>Remarque concernant cette façon de mesurer les stocks</a:t>
            </a:r>
          </a:p>
          <a:p>
            <a:pPr>
              <a:defRPr/>
            </a:pPr>
            <a:r>
              <a:rPr lang="fr-FR" dirty="0"/>
              <a:t>Nous avons choisi cette solution pour sa simplicité. Il aura été préférable sur le plan comptable de faire un inventaire, mais cette solution se heurte à la difficulté suivante : il est difficile de faire un inventaire permanent en cours de simulation, et si l’on se contente de faire un inventaire en début et en fin de simulation on a des résultats parfois peu significatifs, car les en-cours augmentent fortement pendant la simulation et se dégonflent en fin de simulation.</a:t>
            </a:r>
          </a:p>
          <a:p>
            <a:pPr>
              <a:defRPr/>
            </a:pPr>
            <a:r>
              <a:rPr lang="fr-FR" dirty="0"/>
              <a:t>La solution du stock maxi présente l’avantage de souligner le manque de maîtrise des stocks en flux poussé (par contraste, dans la 2</a:t>
            </a:r>
            <a:r>
              <a:rPr lang="fr-FR" baseline="30000" dirty="0"/>
              <a:t>ème</a:t>
            </a:r>
            <a:r>
              <a:rPr lang="fr-FR" dirty="0"/>
              <a:t> simulation, on travaillera en appel par l’aval et le stock ne dépassera pas une limite fixée d’avance). Même si elle ne donne pas une valeur juste des stocks, le stock réel est bien dans une proportion donnée du stock maxi. Ce qui compte est de mettre en valeur la baisse relative entre la 1</a:t>
            </a:r>
            <a:r>
              <a:rPr lang="fr-FR" baseline="30000" dirty="0"/>
              <a:t>ère</a:t>
            </a:r>
            <a:r>
              <a:rPr lang="fr-FR" dirty="0"/>
              <a:t> et la 2</a:t>
            </a:r>
            <a:r>
              <a:rPr lang="fr-FR" baseline="30000" dirty="0"/>
              <a:t>ème</a:t>
            </a:r>
            <a:r>
              <a:rPr lang="fr-FR" dirty="0"/>
              <a:t> simulation.</a:t>
            </a:r>
          </a:p>
          <a:p>
            <a:pPr>
              <a:defRPr/>
            </a:pPr>
            <a:r>
              <a:rPr lang="fr-FR" dirty="0"/>
              <a:t> </a:t>
            </a:r>
          </a:p>
        </p:txBody>
      </p:sp>
      <p:sp>
        <p:nvSpPr>
          <p:cNvPr id="901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4DD0C89-B938-4561-9C71-90293D19318F}" type="slidenum">
              <a:rPr lang="fr-FR" altLang="fr-FR" sz="1100">
                <a:latin typeface="Calibri" panose="020F0502020204030204" pitchFamily="34" charset="0"/>
              </a:rPr>
              <a:pPr/>
              <a:t>39</a:t>
            </a:fld>
            <a:endParaRPr lang="fr-FR" altLang="fr-FR" sz="1100" dirty="0">
              <a:latin typeface="Calibri" panose="020F0502020204030204" pitchFamily="34" charset="0"/>
            </a:endParaRPr>
          </a:p>
        </p:txBody>
      </p:sp>
      <p:sp>
        <p:nvSpPr>
          <p:cNvPr id="9011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2179692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Espace réservé de l'image des diapositives 1"/>
          <p:cNvSpPr>
            <a:spLocks noGrp="1" noRot="1" noChangeAspect="1" noTextEdit="1"/>
          </p:cNvSpPr>
          <p:nvPr>
            <p:ph type="sldImg"/>
          </p:nvPr>
        </p:nvSpPr>
        <p:spPr>
          <a:xfrm>
            <a:off x="481013" y="663575"/>
            <a:ext cx="6361112" cy="4525963"/>
          </a:xfrm>
          <a:ln/>
        </p:spPr>
      </p:sp>
      <p:sp>
        <p:nvSpPr>
          <p:cNvPr id="92163" name="Espace réservé des commentaires 2"/>
          <p:cNvSpPr>
            <a:spLocks noGrp="1"/>
          </p:cNvSpPr>
          <p:nvPr>
            <p:ph type="body" idx="1"/>
          </p:nvPr>
        </p:nvSpPr>
        <p:spPr>
          <a:xfrm>
            <a:off x="293457" y="5312899"/>
            <a:ext cx="6630102" cy="4684385"/>
          </a:xfrm>
          <a:noFill/>
          <a:extLst>
            <a:ext uri="{909E8E84-426E-40DD-AFC4-6F175D3DCCD1}">
              <a14:hiddenFill xmlns:a14="http://schemas.microsoft.com/office/drawing/2010/main">
                <a:solidFill>
                  <a:srgbClr val="FFFFFF"/>
                </a:solidFill>
              </a14:hiddenFill>
            </a:ext>
          </a:extLst>
        </p:spPr>
        <p:txBody>
          <a:bodyPr/>
          <a:lstStyle/>
          <a:p>
            <a:pPr>
              <a:lnSpc>
                <a:spcPct val="110000"/>
              </a:lnSpc>
            </a:pPr>
            <a:r>
              <a:rPr lang="fr-FR" altLang="fr-FR" sz="1000" dirty="0"/>
              <a:t>L’animateur distribue le matériel ci-dessus aux postes de travail (s’il ne l’a pas fait auparavant).</a:t>
            </a:r>
          </a:p>
          <a:p>
            <a:pPr>
              <a:lnSpc>
                <a:spcPct val="110000"/>
              </a:lnSpc>
            </a:pPr>
            <a:r>
              <a:rPr lang="fr-FR" altLang="fr-FR" sz="1000" dirty="0"/>
              <a:t>Chaque Atelier reçoit 3 en-cours. Si les participants demandent dans quel ordre les traiter, l’animateur répond qu’ils peuvent faire comme ils le souhaitent.</a:t>
            </a:r>
          </a:p>
          <a:p>
            <a:pPr>
              <a:lnSpc>
                <a:spcPct val="110000"/>
              </a:lnSpc>
            </a:pPr>
            <a:r>
              <a:rPr lang="fr-FR" altLang="fr-FR" sz="1000" u="sng" dirty="0"/>
              <a:t>Remarque</a:t>
            </a:r>
            <a:r>
              <a:rPr lang="fr-FR" altLang="fr-FR" sz="1000" dirty="0"/>
              <a:t> : il est intéressant de laisser aux participants cette liberté car ils peuvent regrouper les ordres par couleur pour ne pas changer de surligneur. Dans le </a:t>
            </a:r>
            <a:r>
              <a:rPr lang="fr-FR" altLang="fr-FR" sz="1000" dirty="0" err="1"/>
              <a:t>debriefing</a:t>
            </a:r>
            <a:r>
              <a:rPr lang="fr-FR" altLang="fr-FR" sz="1000" dirty="0"/>
              <a:t>, l’animateur évoquera cette question : on gagne du temps en ne changeant pas de surligneur, mais on ne respecte (peut-être) plus les priorités commerciales.</a:t>
            </a:r>
          </a:p>
          <a:p>
            <a:pPr>
              <a:lnSpc>
                <a:spcPct val="110000"/>
              </a:lnSpc>
            </a:pPr>
            <a:r>
              <a:rPr lang="fr-FR" altLang="fr-FR" sz="1000" u="sng" dirty="0"/>
              <a:t>Distribution des surligneurs</a:t>
            </a:r>
          </a:p>
          <a:p>
            <a:pPr>
              <a:lnSpc>
                <a:spcPct val="110000"/>
              </a:lnSpc>
            </a:pPr>
            <a:r>
              <a:rPr lang="fr-FR" altLang="fr-FR" sz="1000" dirty="0"/>
              <a:t>Une fois les OF en-cours distribués, l’animateur passe dans chaque atelier avec la boîte de surligneurs et demande aux participants quelle couleur il veulent. Ils regardent quel OF ils vont traiter en premier (c’est le moment en général où ils posent la question de la priorité), et indiquent la couleur voulue.</a:t>
            </a:r>
          </a:p>
          <a:p>
            <a:pPr>
              <a:lnSpc>
                <a:spcPct val="110000"/>
              </a:lnSpc>
            </a:pPr>
            <a:r>
              <a:rPr lang="fr-FR" altLang="fr-FR" sz="1000" dirty="0"/>
              <a:t>L’animateur donne un </a:t>
            </a:r>
            <a:r>
              <a:rPr lang="fr-FR" altLang="fr-FR" sz="1000" dirty="0">
                <a:solidFill>
                  <a:srgbClr val="FF0000"/>
                </a:solidFill>
              </a:rPr>
              <a:t>surligneur qui marche</a:t>
            </a:r>
            <a:r>
              <a:rPr lang="fr-FR" altLang="fr-FR" sz="1000" dirty="0"/>
              <a:t> (!). Il ne faut pas mettre les participants en difficulté avec un surligneur défectueux (partie arrière entaillée).</a:t>
            </a:r>
          </a:p>
          <a:p>
            <a:pPr>
              <a:lnSpc>
                <a:spcPct val="110000"/>
              </a:lnSpc>
            </a:pPr>
            <a:r>
              <a:rPr lang="fr-FR" altLang="fr-FR" sz="1000" dirty="0"/>
              <a:t>Une fois la distribution faite l’animateur passe un peu plus de temps avec le Lancement et le Contrôle, car leurs rôles méritent davantage d’explications que les postes de dessin.</a:t>
            </a:r>
          </a:p>
          <a:p>
            <a:pPr>
              <a:lnSpc>
                <a:spcPct val="110000"/>
              </a:lnSpc>
            </a:pPr>
            <a:r>
              <a:rPr lang="fr-FR" altLang="fr-FR" sz="1000" dirty="0"/>
              <a:t>Il insiste auprès du </a:t>
            </a:r>
            <a:r>
              <a:rPr lang="fr-FR" altLang="fr-FR" sz="1000" u="sng" dirty="0"/>
              <a:t>Lancement</a:t>
            </a:r>
            <a:r>
              <a:rPr lang="fr-FR" altLang="fr-FR" sz="1000" dirty="0"/>
              <a:t> sur la nécessite de découper puis de porter les pièces au 1</a:t>
            </a:r>
            <a:r>
              <a:rPr lang="fr-FR" altLang="fr-FR" sz="1000" baseline="30000" dirty="0"/>
              <a:t>er</a:t>
            </a:r>
            <a:r>
              <a:rPr lang="fr-FR" altLang="fr-FR" sz="1000" dirty="0"/>
              <a:t> poste de l’OF. Il explique qu’il doit découper les planches sans arrêt, de façon à bien alimenter les ateliers. Il souligne également la présence de l’OF traceur et la nécessité de noter l’heure de lancement (en pratique c’est l’heure de découpe de l’OF).</a:t>
            </a:r>
          </a:p>
          <a:p>
            <a:pPr>
              <a:lnSpc>
                <a:spcPct val="110000"/>
              </a:lnSpc>
            </a:pPr>
            <a:r>
              <a:rPr lang="fr-FR" altLang="fr-FR" sz="1000" dirty="0"/>
              <a:t>Il insiste auprès du </a:t>
            </a:r>
            <a:r>
              <a:rPr lang="fr-FR" altLang="fr-FR" sz="1000" u="sng" dirty="0"/>
              <a:t>Contrôle</a:t>
            </a:r>
            <a:r>
              <a:rPr lang="fr-FR" altLang="fr-FR" sz="1000" dirty="0"/>
              <a:t> sur le fait qu’il doit adapter ses critères à la qualité de la production : il ne fait pas tout rejeter ou rien rejeter. Un bon compromis consiste à rejeter entre 10 et 20% de la production, conformément à ce qui a été observé dans la passé (voir la Fiche de rôle du Contrôle).</a:t>
            </a:r>
          </a:p>
          <a:p>
            <a:pPr>
              <a:lnSpc>
                <a:spcPct val="110000"/>
              </a:lnSpc>
            </a:pPr>
            <a:r>
              <a:rPr lang="fr-FR" altLang="fr-FR" sz="1000" dirty="0"/>
              <a:t>Il précise au Contrôle que si un produit fini a deux défauts, il faut se limiter au défaut le plus grave et ne pas compter l’autre (cette règle simplifie la procédure car elle permet de classer l’OF dans une case donnée).</a:t>
            </a:r>
          </a:p>
        </p:txBody>
      </p:sp>
      <p:sp>
        <p:nvSpPr>
          <p:cNvPr id="9216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0C9794B-4CDE-4889-9D2F-CE09EC13193D}" type="slidenum">
              <a:rPr lang="fr-FR" altLang="fr-FR" sz="1100">
                <a:latin typeface="Calibri" panose="020F0502020204030204" pitchFamily="34" charset="0"/>
              </a:rPr>
              <a:pPr/>
              <a:t>40</a:t>
            </a:fld>
            <a:endParaRPr lang="fr-FR" altLang="fr-FR" sz="1100" dirty="0">
              <a:latin typeface="Calibri" panose="020F0502020204030204" pitchFamily="34" charset="0"/>
            </a:endParaRPr>
          </a:p>
        </p:txBody>
      </p:sp>
      <p:sp>
        <p:nvSpPr>
          <p:cNvPr id="9216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1695898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39" y="705441"/>
            <a:ext cx="3373910" cy="6494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Tableau 13"/>
          <p:cNvGraphicFramePr>
            <a:graphicFrameLocks noGrp="1"/>
          </p:cNvGraphicFramePr>
          <p:nvPr/>
        </p:nvGraphicFramePr>
        <p:xfrm>
          <a:off x="258640" y="8020086"/>
          <a:ext cx="6490834" cy="723446"/>
        </p:xfrm>
        <a:graphic>
          <a:graphicData uri="http://schemas.openxmlformats.org/drawingml/2006/table">
            <a:tbl>
              <a:tblPr/>
              <a:tblGrid>
                <a:gridCol w="1912637">
                  <a:extLst>
                    <a:ext uri="{9D8B030D-6E8A-4147-A177-3AD203B41FA5}">
                      <a16:colId xmlns:a16="http://schemas.microsoft.com/office/drawing/2014/main" val="20000"/>
                    </a:ext>
                  </a:extLst>
                </a:gridCol>
                <a:gridCol w="654028">
                  <a:extLst>
                    <a:ext uri="{9D8B030D-6E8A-4147-A177-3AD203B41FA5}">
                      <a16:colId xmlns:a16="http://schemas.microsoft.com/office/drawing/2014/main" val="20001"/>
                    </a:ext>
                  </a:extLst>
                </a:gridCol>
                <a:gridCol w="654028">
                  <a:extLst>
                    <a:ext uri="{9D8B030D-6E8A-4147-A177-3AD203B41FA5}">
                      <a16:colId xmlns:a16="http://schemas.microsoft.com/office/drawing/2014/main" val="20002"/>
                    </a:ext>
                  </a:extLst>
                </a:gridCol>
                <a:gridCol w="654028">
                  <a:extLst>
                    <a:ext uri="{9D8B030D-6E8A-4147-A177-3AD203B41FA5}">
                      <a16:colId xmlns:a16="http://schemas.microsoft.com/office/drawing/2014/main" val="20003"/>
                    </a:ext>
                  </a:extLst>
                </a:gridCol>
                <a:gridCol w="654028">
                  <a:extLst>
                    <a:ext uri="{9D8B030D-6E8A-4147-A177-3AD203B41FA5}">
                      <a16:colId xmlns:a16="http://schemas.microsoft.com/office/drawing/2014/main" val="20004"/>
                    </a:ext>
                  </a:extLst>
                </a:gridCol>
                <a:gridCol w="654028">
                  <a:extLst>
                    <a:ext uri="{9D8B030D-6E8A-4147-A177-3AD203B41FA5}">
                      <a16:colId xmlns:a16="http://schemas.microsoft.com/office/drawing/2014/main" val="20005"/>
                    </a:ext>
                  </a:extLst>
                </a:gridCol>
                <a:gridCol w="654028">
                  <a:extLst>
                    <a:ext uri="{9D8B030D-6E8A-4147-A177-3AD203B41FA5}">
                      <a16:colId xmlns:a16="http://schemas.microsoft.com/office/drawing/2014/main" val="20006"/>
                    </a:ext>
                  </a:extLst>
                </a:gridCol>
                <a:gridCol w="654028">
                  <a:extLst>
                    <a:ext uri="{9D8B030D-6E8A-4147-A177-3AD203B41FA5}">
                      <a16:colId xmlns:a16="http://schemas.microsoft.com/office/drawing/2014/main" val="20007"/>
                    </a:ext>
                  </a:extLst>
                </a:gridCol>
              </a:tblGrid>
              <a:tr h="180861">
                <a:tc>
                  <a:txBody>
                    <a:bodyPr/>
                    <a:lstStyle/>
                    <a:p>
                      <a:pPr algn="ctr" fontAlgn="ctr"/>
                      <a:endParaRPr lang="fr-FR" sz="1000" b="0" i="0" u="none" strike="noStrike" dirty="0">
                        <a:solidFill>
                          <a:srgbClr val="000000"/>
                        </a:solidFill>
                        <a:latin typeface="Calibri" panose="020F0502020204030204" pitchFamily="34" charset="0"/>
                      </a:endParaRP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Croix</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Etoile</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Ovale</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Rectangle</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Triangle</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Vague</a:t>
                      </a:r>
                    </a:p>
                  </a:txBody>
                  <a:tcPr marL="7805" marR="7805" marT="753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000" b="0" i="0" u="none" strike="noStrike" dirty="0">
                          <a:solidFill>
                            <a:srgbClr val="000000"/>
                          </a:solidFill>
                          <a:latin typeface="Calibri" panose="020F0502020204030204" pitchFamily="34" charset="0"/>
                        </a:rPr>
                        <a:t>TOTAL</a:t>
                      </a:r>
                    </a:p>
                  </a:txBody>
                  <a:tcPr marL="7805" marR="7805" marT="753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0861">
                <a:tc>
                  <a:txBody>
                    <a:bodyPr/>
                    <a:lstStyle/>
                    <a:p>
                      <a:pPr algn="ctr" fontAlgn="ctr"/>
                      <a:r>
                        <a:rPr lang="fr-FR" sz="1000" b="0" i="0" u="none" strike="noStrike" dirty="0">
                          <a:solidFill>
                            <a:srgbClr val="000000"/>
                          </a:solidFill>
                          <a:latin typeface="Calibri" panose="020F0502020204030204" pitchFamily="34" charset="0"/>
                        </a:rPr>
                        <a:t>Nombre de formes à traiter</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19</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40</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15</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19</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38</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15</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146</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861">
                <a:tc>
                  <a:txBody>
                    <a:bodyPr/>
                    <a:lstStyle/>
                    <a:p>
                      <a:pPr algn="ctr" fontAlgn="ctr"/>
                      <a:r>
                        <a:rPr lang="fr-FR" sz="1000" b="0" i="0" u="none" strike="noStrike" dirty="0">
                          <a:solidFill>
                            <a:srgbClr val="000000"/>
                          </a:solidFill>
                          <a:latin typeface="Calibri" panose="020F0502020204030204" pitchFamily="34" charset="0"/>
                        </a:rPr>
                        <a:t>% de chaque forme</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13%</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27%</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10%</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13%</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26%</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10%</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100%</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861">
                <a:tc>
                  <a:txBody>
                    <a:bodyPr/>
                    <a:lstStyle/>
                    <a:p>
                      <a:pPr algn="ctr" fontAlgn="ctr"/>
                      <a:r>
                        <a:rPr lang="fr-FR" sz="1000" b="0" i="0" u="none" strike="noStrike" dirty="0">
                          <a:solidFill>
                            <a:srgbClr val="000000"/>
                          </a:solidFill>
                          <a:latin typeface="Calibri" panose="020F0502020204030204" pitchFamily="34" charset="0"/>
                        </a:rPr>
                        <a:t>% des OF contenant la forme</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40%</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83%</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31%</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40%</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79%</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31%</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000" b="0" i="0" u="none" strike="noStrike" dirty="0">
                          <a:solidFill>
                            <a:srgbClr val="000000"/>
                          </a:solidFill>
                          <a:latin typeface="Calibri" panose="020F0502020204030204" pitchFamily="34" charset="0"/>
                        </a:rPr>
                        <a:t> </a:t>
                      </a:r>
                    </a:p>
                  </a:txBody>
                  <a:tcPr marL="7805" marR="7805" marT="75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bl>
          </a:graphicData>
        </a:graphic>
      </p:graphicFrame>
      <p:sp>
        <p:nvSpPr>
          <p:cNvPr id="94260" name="ZoneTexte 14"/>
          <p:cNvSpPr txBox="1">
            <a:spLocks noChangeArrowheads="1"/>
          </p:cNvSpPr>
          <p:nvPr/>
        </p:nvSpPr>
        <p:spPr bwMode="auto">
          <a:xfrm>
            <a:off x="613642" y="7768028"/>
            <a:ext cx="5830572" cy="250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473" tIns="47736" rIns="95473" bIns="47736">
            <a:spAutoFit/>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dirty="0">
                <a:latin typeface="Calibri" panose="020F0502020204030204" pitchFamily="34" charset="0"/>
              </a:rPr>
              <a:t>Ce tableau se réfère à la production des 48 OF. Il indique la part de chaque atelier dans la production totale. </a:t>
            </a:r>
          </a:p>
        </p:txBody>
      </p:sp>
      <p:sp>
        <p:nvSpPr>
          <p:cNvPr id="94261" name="ZoneTexte 15"/>
          <p:cNvSpPr txBox="1">
            <a:spLocks noChangeArrowheads="1"/>
          </p:cNvSpPr>
          <p:nvPr/>
        </p:nvSpPr>
        <p:spPr bwMode="auto">
          <a:xfrm>
            <a:off x="716784" y="8786088"/>
            <a:ext cx="5657447" cy="250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473" tIns="47736" rIns="95473" bIns="47736">
            <a:spAutoFit/>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dirty="0">
                <a:latin typeface="Calibri" panose="020F0502020204030204" pitchFamily="34" charset="0"/>
              </a:rPr>
              <a:t>Ce tableau se réfère à la production des 48 OF. Il indique la part de chaque couleur dans les 6 opérations.</a:t>
            </a:r>
          </a:p>
        </p:txBody>
      </p:sp>
      <p:sp>
        <p:nvSpPr>
          <p:cNvPr id="94262" name="ZoneTexte 17"/>
          <p:cNvSpPr txBox="1">
            <a:spLocks noChangeArrowheads="1"/>
          </p:cNvSpPr>
          <p:nvPr/>
        </p:nvSpPr>
        <p:spPr bwMode="auto">
          <a:xfrm>
            <a:off x="202270" y="286434"/>
            <a:ext cx="6897032" cy="414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73" tIns="47736" rIns="95473" bIns="47736">
            <a:spAutoFit/>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r>
              <a:rPr lang="fr-FR" altLang="fr-FR" dirty="0">
                <a:latin typeface="Calibri" panose="020F0502020204030204" pitchFamily="34" charset="0"/>
              </a:rPr>
              <a:t>Les OF 1 à 18 sont les En-cours en début de simulation. </a:t>
            </a:r>
          </a:p>
          <a:p>
            <a:pPr eaLnBrk="1" hangingPunct="1"/>
            <a:r>
              <a:rPr lang="fr-FR" altLang="fr-FR" dirty="0">
                <a:latin typeface="Calibri" panose="020F0502020204030204" pitchFamily="34" charset="0"/>
              </a:rPr>
              <a:t>La référence (A, B, etc.) indique la gamme de fabrication de l’OF (voir plus loin la notion de gamme).</a:t>
            </a:r>
          </a:p>
        </p:txBody>
      </p:sp>
      <p:sp>
        <p:nvSpPr>
          <p:cNvPr id="94263" name="ZoneTexte 18"/>
          <p:cNvSpPr txBox="1">
            <a:spLocks noChangeArrowheads="1"/>
          </p:cNvSpPr>
          <p:nvPr/>
        </p:nvSpPr>
        <p:spPr bwMode="auto">
          <a:xfrm>
            <a:off x="-8289" y="7157521"/>
            <a:ext cx="6993193" cy="57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473" tIns="47736" rIns="95473" bIns="47736">
            <a:spAutoFit/>
          </a:bodyPr>
          <a:lstStyle>
            <a:lvl1pPr marL="92075" indent="-92075">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buFont typeface="Arial" panose="020B0604020202020204" pitchFamily="34" charset="0"/>
              <a:buChar char="•"/>
            </a:pPr>
            <a:r>
              <a:rPr lang="fr-FR" altLang="fr-FR" i="1" dirty="0">
                <a:latin typeface="Calibri" panose="020F0502020204030204" pitchFamily="34" charset="0"/>
              </a:rPr>
              <a:t>La série des OF de 67 à 114 est une reprise à l’identique des OF n°19 à 66.</a:t>
            </a:r>
          </a:p>
          <a:p>
            <a:pPr eaLnBrk="1" hangingPunct="1">
              <a:buFont typeface="Arial" panose="020B0604020202020204" pitchFamily="34" charset="0"/>
              <a:buChar char="•"/>
            </a:pPr>
            <a:r>
              <a:rPr lang="fr-FR" altLang="fr-FR" i="1" dirty="0">
                <a:latin typeface="Calibri" panose="020F0502020204030204" pitchFamily="34" charset="0"/>
              </a:rPr>
              <a:t>Les OF de la 2</a:t>
            </a:r>
            <a:r>
              <a:rPr lang="fr-FR" altLang="fr-FR" i="1" baseline="30000" dirty="0">
                <a:latin typeface="Calibri" panose="020F0502020204030204" pitchFamily="34" charset="0"/>
              </a:rPr>
              <a:t>ème</a:t>
            </a:r>
            <a:r>
              <a:rPr lang="fr-FR" altLang="fr-FR" i="1" dirty="0">
                <a:latin typeface="Calibri" panose="020F0502020204030204" pitchFamily="34" charset="0"/>
              </a:rPr>
              <a:t> simulation sont les mêmes que ceux de la 1</a:t>
            </a:r>
            <a:r>
              <a:rPr lang="fr-FR" altLang="fr-FR" i="1" baseline="30000" dirty="0">
                <a:latin typeface="Calibri" panose="020F0502020204030204" pitchFamily="34" charset="0"/>
              </a:rPr>
              <a:t>ère</a:t>
            </a:r>
            <a:r>
              <a:rPr lang="fr-FR" altLang="fr-FR" i="1" dirty="0">
                <a:latin typeface="Calibri" panose="020F0502020204030204" pitchFamily="34" charset="0"/>
              </a:rPr>
              <a:t> simulation : les OF impairs sont pris en charge par l’atelier 1, les OF pairs par l’atelier 2.</a:t>
            </a:r>
          </a:p>
        </p:txBody>
      </p:sp>
      <p:graphicFrame>
        <p:nvGraphicFramePr>
          <p:cNvPr id="21" name="Tableau 20"/>
          <p:cNvGraphicFramePr>
            <a:graphicFrameLocks noGrp="1"/>
          </p:cNvGraphicFramePr>
          <p:nvPr/>
        </p:nvGraphicFramePr>
        <p:xfrm>
          <a:off x="807420" y="9034875"/>
          <a:ext cx="5519285" cy="867477"/>
        </p:xfrm>
        <a:graphic>
          <a:graphicData uri="http://schemas.openxmlformats.org/drawingml/2006/table">
            <a:tbl>
              <a:tblPr/>
              <a:tblGrid>
                <a:gridCol w="820041">
                  <a:extLst>
                    <a:ext uri="{9D8B030D-6E8A-4147-A177-3AD203B41FA5}">
                      <a16:colId xmlns:a16="http://schemas.microsoft.com/office/drawing/2014/main" val="20000"/>
                    </a:ext>
                  </a:extLst>
                </a:gridCol>
                <a:gridCol w="820041">
                  <a:extLst>
                    <a:ext uri="{9D8B030D-6E8A-4147-A177-3AD203B41FA5}">
                      <a16:colId xmlns:a16="http://schemas.microsoft.com/office/drawing/2014/main" val="20001"/>
                    </a:ext>
                  </a:extLst>
                </a:gridCol>
                <a:gridCol w="820041">
                  <a:extLst>
                    <a:ext uri="{9D8B030D-6E8A-4147-A177-3AD203B41FA5}">
                      <a16:colId xmlns:a16="http://schemas.microsoft.com/office/drawing/2014/main" val="20002"/>
                    </a:ext>
                  </a:extLst>
                </a:gridCol>
                <a:gridCol w="820041">
                  <a:extLst>
                    <a:ext uri="{9D8B030D-6E8A-4147-A177-3AD203B41FA5}">
                      <a16:colId xmlns:a16="http://schemas.microsoft.com/office/drawing/2014/main" val="20003"/>
                    </a:ext>
                  </a:extLst>
                </a:gridCol>
                <a:gridCol w="721171">
                  <a:extLst>
                    <a:ext uri="{9D8B030D-6E8A-4147-A177-3AD203B41FA5}">
                      <a16:colId xmlns:a16="http://schemas.microsoft.com/office/drawing/2014/main" val="20004"/>
                    </a:ext>
                  </a:extLst>
                </a:gridCol>
                <a:gridCol w="628115">
                  <a:extLst>
                    <a:ext uri="{9D8B030D-6E8A-4147-A177-3AD203B41FA5}">
                      <a16:colId xmlns:a16="http://schemas.microsoft.com/office/drawing/2014/main" val="20005"/>
                    </a:ext>
                  </a:extLst>
                </a:gridCol>
                <a:gridCol w="889834">
                  <a:extLst>
                    <a:ext uri="{9D8B030D-6E8A-4147-A177-3AD203B41FA5}">
                      <a16:colId xmlns:a16="http://schemas.microsoft.com/office/drawing/2014/main" val="20006"/>
                    </a:ext>
                  </a:extLst>
                </a:gridCol>
              </a:tblGrid>
              <a:tr h="173496">
                <a:tc>
                  <a:txBody>
                    <a:bodyPr/>
                    <a:lstStyle/>
                    <a:p>
                      <a:pPr algn="ctr" fontAlgn="b"/>
                      <a:r>
                        <a:rPr lang="fr-FR" sz="1000" b="0" i="0" u="none" strike="noStrike" dirty="0">
                          <a:solidFill>
                            <a:srgbClr val="000000"/>
                          </a:solidFill>
                          <a:latin typeface="Calibri" panose="020F0502020204030204" pitchFamily="34" charset="0"/>
                        </a:rPr>
                        <a:t>Croix</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000" b="0" i="0" u="none" strike="noStrike" dirty="0">
                          <a:solidFill>
                            <a:srgbClr val="000000"/>
                          </a:solidFill>
                          <a:latin typeface="Calibri" panose="020F0502020204030204" pitchFamily="34" charset="0"/>
                        </a:rPr>
                        <a:t>Étoile</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000" b="0" i="0" u="none" strike="noStrike" dirty="0">
                          <a:solidFill>
                            <a:srgbClr val="000000"/>
                          </a:solidFill>
                          <a:latin typeface="Calibri" panose="020F0502020204030204" pitchFamily="34" charset="0"/>
                        </a:rPr>
                        <a:t>Ovale</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000" b="0" i="0" u="none" strike="noStrike" dirty="0">
                          <a:solidFill>
                            <a:srgbClr val="000000"/>
                          </a:solidFill>
                          <a:latin typeface="Calibri" panose="020F0502020204030204" pitchFamily="34" charset="0"/>
                        </a:rPr>
                        <a:t>Rectangle</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000" b="0" i="0" u="none" strike="noStrike" dirty="0">
                          <a:solidFill>
                            <a:srgbClr val="000000"/>
                          </a:solidFill>
                          <a:latin typeface="Calibri" panose="020F0502020204030204" pitchFamily="34" charset="0"/>
                        </a:rPr>
                        <a:t>Triangle</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000" b="0" i="0" u="none" strike="noStrike" dirty="0">
                          <a:solidFill>
                            <a:srgbClr val="000000"/>
                          </a:solidFill>
                          <a:latin typeface="Calibri" panose="020F0502020204030204" pitchFamily="34" charset="0"/>
                        </a:rPr>
                        <a:t>Vague</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000" b="1" i="0" u="none" strike="noStrike" dirty="0">
                          <a:solidFill>
                            <a:srgbClr val="000000"/>
                          </a:solidFill>
                          <a:latin typeface="Calibri" panose="020F0502020204030204" pitchFamily="34" charset="0"/>
                        </a:rPr>
                        <a:t>TOTAL</a:t>
                      </a:r>
                    </a:p>
                  </a:txBody>
                  <a:tcPr marL="10142" marR="10142" marT="9838"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3496">
                <a:tc>
                  <a:txBody>
                    <a:bodyPr/>
                    <a:lstStyle/>
                    <a:p>
                      <a:pPr algn="ctr" fontAlgn="b"/>
                      <a:r>
                        <a:rPr lang="fr-FR" sz="1000" b="1" i="0" u="none" strike="noStrike" dirty="0">
                          <a:solidFill>
                            <a:srgbClr val="FFFFFF"/>
                          </a:solidFill>
                          <a:latin typeface="Calibri" panose="020F0502020204030204" pitchFamily="34" charset="0"/>
                        </a:rPr>
                        <a:t>10</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fr-FR" sz="1000" b="1" i="0" u="none" strike="noStrike" dirty="0">
                          <a:solidFill>
                            <a:srgbClr val="FFFFFF"/>
                          </a:solidFill>
                          <a:latin typeface="Calibri" panose="020F0502020204030204" pitchFamily="34" charset="0"/>
                        </a:rPr>
                        <a:t>18</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fr-FR" sz="1000" b="1" i="0" u="none" strike="noStrike" dirty="0">
                          <a:solidFill>
                            <a:srgbClr val="FFFFFF"/>
                          </a:solidFill>
                          <a:latin typeface="Calibri" panose="020F0502020204030204" pitchFamily="34" charset="0"/>
                        </a:rPr>
                        <a:t>7</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fr-FR" sz="1000" b="1" i="0" u="none" strike="noStrike" dirty="0">
                          <a:solidFill>
                            <a:srgbClr val="FFFFFF"/>
                          </a:solidFill>
                          <a:latin typeface="Calibri" panose="020F0502020204030204" pitchFamily="34" charset="0"/>
                        </a:rPr>
                        <a:t>3</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fr-FR" sz="1000" b="1" i="0" u="none" strike="noStrike" dirty="0">
                          <a:solidFill>
                            <a:srgbClr val="FFFFFF"/>
                          </a:solidFill>
                          <a:latin typeface="Calibri" panose="020F0502020204030204" pitchFamily="34" charset="0"/>
                        </a:rPr>
                        <a:t>15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fr-FR" sz="1000" b="1" i="0" u="none" strike="noStrike" dirty="0">
                          <a:solidFill>
                            <a:srgbClr val="FFFFFF"/>
                          </a:solidFill>
                          <a:latin typeface="Calibri" panose="020F0502020204030204" pitchFamily="34" charset="0"/>
                        </a:rPr>
                        <a:t>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fr-FR" sz="1000" b="1" i="0" u="none" strike="noStrike" dirty="0">
                          <a:solidFill>
                            <a:srgbClr val="FFFFFF"/>
                          </a:solidFill>
                          <a:latin typeface="Calibri" panose="020F0502020204030204" pitchFamily="34" charset="0"/>
                        </a:rPr>
                        <a:t>58</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173496">
                <a:tc>
                  <a:txBody>
                    <a:bodyPr/>
                    <a:lstStyle/>
                    <a:p>
                      <a:pPr algn="ctr" fontAlgn="b"/>
                      <a:r>
                        <a:rPr lang="fr-FR" sz="1000" b="0" i="0" u="none" strike="noStrike" dirty="0">
                          <a:solidFill>
                            <a:srgbClr val="000000"/>
                          </a:solidFill>
                          <a:latin typeface="Calibri" panose="020F0502020204030204" pitchFamily="34" charset="0"/>
                        </a:rPr>
                        <a:t>3</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000" b="0" i="0" u="none" strike="noStrike" dirty="0">
                          <a:solidFill>
                            <a:srgbClr val="000000"/>
                          </a:solidFill>
                          <a:latin typeface="Calibri" panose="020F0502020204030204" pitchFamily="34" charset="0"/>
                        </a:rPr>
                        <a:t>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000" b="0" i="0" u="none" strike="noStrike" dirty="0">
                          <a:solidFill>
                            <a:srgbClr val="000000"/>
                          </a:solidFill>
                          <a:latin typeface="Calibri" panose="020F0502020204030204" pitchFamily="34" charset="0"/>
                        </a:rPr>
                        <a:t>0</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000" b="0" i="0" u="none" strike="noStrike" dirty="0">
                          <a:solidFill>
                            <a:srgbClr val="000000"/>
                          </a:solidFill>
                          <a:latin typeface="Calibri" panose="020F0502020204030204" pitchFamily="34" charset="0"/>
                        </a:rPr>
                        <a:t>12</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000" b="0" i="0" u="none" strike="noStrike" dirty="0">
                          <a:solidFill>
                            <a:srgbClr val="000000"/>
                          </a:solidFill>
                          <a:latin typeface="Calibri" panose="020F0502020204030204" pitchFamily="34" charset="0"/>
                        </a:rPr>
                        <a:t>12</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000" b="0" i="0" u="none" strike="noStrike" dirty="0">
                          <a:solidFill>
                            <a:srgbClr val="000000"/>
                          </a:solidFill>
                          <a:latin typeface="Calibri" panose="020F0502020204030204" pitchFamily="34" charset="0"/>
                        </a:rPr>
                        <a:t>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000" b="0" i="0" u="none" strike="noStrike" dirty="0">
                          <a:solidFill>
                            <a:srgbClr val="000000"/>
                          </a:solidFill>
                          <a:latin typeface="Calibri" panose="020F0502020204030204" pitchFamily="34" charset="0"/>
                        </a:rPr>
                        <a:t>37</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173496">
                <a:tc>
                  <a:txBody>
                    <a:bodyPr/>
                    <a:lstStyle/>
                    <a:p>
                      <a:pPr algn="ctr" fontAlgn="b"/>
                      <a:r>
                        <a:rPr lang="fr-FR" sz="1000" b="0" i="0" u="none" strike="noStrike" dirty="0">
                          <a:solidFill>
                            <a:srgbClr val="000000"/>
                          </a:solidFill>
                          <a:latin typeface="Calibri" panose="020F0502020204030204" pitchFamily="34" charset="0"/>
                        </a:rPr>
                        <a:t>4</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5B4"/>
                    </a:solidFill>
                  </a:tcPr>
                </a:tc>
                <a:tc>
                  <a:txBody>
                    <a:bodyPr/>
                    <a:lstStyle/>
                    <a:p>
                      <a:pPr algn="ctr" fontAlgn="b"/>
                      <a:r>
                        <a:rPr lang="fr-FR" sz="1000" b="0" i="0" u="none" strike="noStrike" dirty="0">
                          <a:solidFill>
                            <a:srgbClr val="000000"/>
                          </a:solidFill>
                          <a:latin typeface="Calibri" panose="020F0502020204030204" pitchFamily="34" charset="0"/>
                        </a:rPr>
                        <a:t>11</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5B4"/>
                    </a:solidFill>
                  </a:tcPr>
                </a:tc>
                <a:tc>
                  <a:txBody>
                    <a:bodyPr/>
                    <a:lstStyle/>
                    <a:p>
                      <a:pPr algn="ctr" fontAlgn="b"/>
                      <a:r>
                        <a:rPr lang="fr-FR" sz="1000" b="0" i="0" u="none" strike="noStrike" dirty="0">
                          <a:solidFill>
                            <a:srgbClr val="000000"/>
                          </a:solidFill>
                          <a:latin typeface="Calibri" panose="020F0502020204030204" pitchFamily="34" charset="0"/>
                        </a:rPr>
                        <a:t>3</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5B4"/>
                    </a:solidFill>
                  </a:tcPr>
                </a:tc>
                <a:tc>
                  <a:txBody>
                    <a:bodyPr/>
                    <a:lstStyle/>
                    <a:p>
                      <a:pPr algn="ctr" fontAlgn="b"/>
                      <a:r>
                        <a:rPr lang="fr-FR" sz="1000" b="0" i="0" u="none" strike="noStrike" dirty="0">
                          <a:solidFill>
                            <a:srgbClr val="000000"/>
                          </a:solidFill>
                          <a:latin typeface="Calibri" panose="020F0502020204030204" pitchFamily="34" charset="0"/>
                        </a:rPr>
                        <a:t> </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1000" b="0" i="0" u="none" strike="noStrike" dirty="0">
                          <a:solidFill>
                            <a:srgbClr val="000000"/>
                          </a:solidFill>
                          <a:latin typeface="Calibri" panose="020F0502020204030204" pitchFamily="34" charset="0"/>
                        </a:rPr>
                        <a:t>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5B4"/>
                    </a:solidFill>
                  </a:tcPr>
                </a:tc>
                <a:tc>
                  <a:txBody>
                    <a:bodyPr/>
                    <a:lstStyle/>
                    <a:p>
                      <a:pPr algn="ctr" fontAlgn="b"/>
                      <a:r>
                        <a:rPr lang="fr-FR" sz="1000" b="0" i="0" u="none" strike="noStrike" dirty="0">
                          <a:solidFill>
                            <a:srgbClr val="000000"/>
                          </a:solidFill>
                          <a:latin typeface="Calibri" panose="020F0502020204030204" pitchFamily="34" charset="0"/>
                        </a:rPr>
                        <a:t>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5B4"/>
                    </a:solidFill>
                  </a:tcPr>
                </a:tc>
                <a:tc>
                  <a:txBody>
                    <a:bodyPr/>
                    <a:lstStyle/>
                    <a:p>
                      <a:pPr algn="ctr" fontAlgn="b"/>
                      <a:r>
                        <a:rPr lang="fr-FR" sz="1000" b="0" i="0" u="none" strike="noStrike" dirty="0">
                          <a:solidFill>
                            <a:srgbClr val="000000"/>
                          </a:solidFill>
                          <a:latin typeface="Calibri" panose="020F0502020204030204" pitchFamily="34" charset="0"/>
                        </a:rPr>
                        <a:t>28</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D5B4"/>
                    </a:solidFill>
                  </a:tcPr>
                </a:tc>
                <a:extLst>
                  <a:ext uri="{0D108BD9-81ED-4DB2-BD59-A6C34878D82A}">
                    <a16:rowId xmlns:a16="http://schemas.microsoft.com/office/drawing/2014/main" val="10003"/>
                  </a:ext>
                </a:extLst>
              </a:tr>
              <a:tr h="173496">
                <a:tc>
                  <a:txBody>
                    <a:bodyPr/>
                    <a:lstStyle/>
                    <a:p>
                      <a:pPr algn="ctr" fontAlgn="b"/>
                      <a:r>
                        <a:rPr lang="fr-FR" sz="1000" b="1" i="0" u="none" strike="noStrike" dirty="0">
                          <a:solidFill>
                            <a:srgbClr val="FFFFFF"/>
                          </a:solidFill>
                          <a:latin typeface="Calibri" panose="020F0502020204030204" pitchFamily="34" charset="0"/>
                        </a:rPr>
                        <a:t>2</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FR" sz="1000" b="1" i="0" u="none" strike="noStrike" dirty="0">
                          <a:solidFill>
                            <a:srgbClr val="FFFFFF"/>
                          </a:solidFill>
                          <a:latin typeface="Calibri" panose="020F0502020204030204" pitchFamily="34" charset="0"/>
                        </a:rPr>
                        <a:t>6</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FR" sz="1000" b="1" i="0" u="none" strike="noStrike" dirty="0">
                          <a:solidFill>
                            <a:srgbClr val="FFFFFF"/>
                          </a:solidFill>
                          <a:latin typeface="Calibri" panose="020F0502020204030204" pitchFamily="34" charset="0"/>
                        </a:rPr>
                        <a:t>5</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FR" sz="1000" b="1" i="0" u="none" strike="noStrike" dirty="0">
                          <a:solidFill>
                            <a:srgbClr val="FFFFFF"/>
                          </a:solidFill>
                          <a:latin typeface="Calibri" panose="020F0502020204030204" pitchFamily="34" charset="0"/>
                        </a:rPr>
                        <a:t>4</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FR" sz="1000" b="1" i="0" u="none" strike="noStrike" dirty="0">
                          <a:solidFill>
                            <a:srgbClr val="FFFFFF"/>
                          </a:solidFill>
                          <a:latin typeface="Calibri" panose="020F0502020204030204" pitchFamily="34" charset="0"/>
                        </a:rPr>
                        <a:t>6</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fr-FR" sz="1000" b="1" i="0" u="none" strike="noStrike" dirty="0">
                          <a:solidFill>
                            <a:srgbClr val="FFFFFF"/>
                          </a:solidFill>
                          <a:latin typeface="Calibri" panose="020F0502020204030204" pitchFamily="34" charset="0"/>
                        </a:rPr>
                        <a:t> </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1000" b="1" i="0" u="none" strike="noStrike" dirty="0">
                          <a:solidFill>
                            <a:srgbClr val="FFFFFF"/>
                          </a:solidFill>
                          <a:latin typeface="Calibri" panose="020F0502020204030204" pitchFamily="34" charset="0"/>
                        </a:rPr>
                        <a:t>23</a:t>
                      </a:r>
                    </a:p>
                  </a:txBody>
                  <a:tcPr marL="10142" marR="10142" marT="98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4"/>
                  </a:ext>
                </a:extLst>
              </a:tr>
            </a:tbl>
          </a:graphicData>
        </a:graphic>
      </p:graphicFrame>
      <p:sp>
        <p:nvSpPr>
          <p:cNvPr id="22" name="Titre 1"/>
          <p:cNvSpPr txBox="1">
            <a:spLocks/>
          </p:cNvSpPr>
          <p:nvPr/>
        </p:nvSpPr>
        <p:spPr>
          <a:xfrm>
            <a:off x="1182113" y="26190"/>
            <a:ext cx="4753314" cy="260244"/>
          </a:xfrm>
          <a:prstGeom prst="rect">
            <a:avLst/>
          </a:prstGeom>
          <a:solidFill>
            <a:srgbClr val="FFFF00"/>
          </a:solidFill>
          <a:ln>
            <a:solidFill>
              <a:schemeClr val="bg1">
                <a:lumMod val="65000"/>
              </a:schemeClr>
            </a:solidFill>
          </a:ln>
        </p:spPr>
        <p:txBody>
          <a:bodyPr lIns="95473" tIns="47736" rIns="95473" bIns="47736" anchor="ctr"/>
          <a:lstStyle/>
          <a:p>
            <a:pPr algn="ctr" defTabSz="954730" eaLnBrk="1" fontAlgn="auto" hangingPunct="1">
              <a:spcAft>
                <a:spcPts val="0"/>
              </a:spcAft>
              <a:defRPr/>
            </a:pPr>
            <a:r>
              <a:rPr lang="fr-FR" sz="1700" dirty="0">
                <a:latin typeface="Calibri" panose="020F0502020204030204" pitchFamily="34" charset="0"/>
                <a:ea typeface="+mj-ea"/>
                <a:cs typeface="Arial" pitchFamily="34" charset="0"/>
              </a:rPr>
              <a:t>Informations relatives aux OF</a:t>
            </a:r>
          </a:p>
        </p:txBody>
      </p:sp>
      <p:pic>
        <p:nvPicPr>
          <p:cNvPr id="943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9545" y="703803"/>
            <a:ext cx="3373909" cy="649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22"/>
          <p:cNvSpPr/>
          <p:nvPr/>
        </p:nvSpPr>
        <p:spPr>
          <a:xfrm>
            <a:off x="81241" y="7717290"/>
            <a:ext cx="6935163" cy="2301274"/>
          </a:xfrm>
          <a:prstGeom prst="rect">
            <a:avLst/>
          </a:prstGeom>
          <a:noFill/>
          <a:ln w="9525">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lIns="95473" tIns="47736" rIns="95473" bIns="47736" anchor="ctr"/>
          <a:lstStyle/>
          <a:p>
            <a:pPr algn="ctr" eaLnBrk="1" hangingPunct="1">
              <a:defRPr/>
            </a:pPr>
            <a:endParaRPr lang="fr-FR"/>
          </a:p>
        </p:txBody>
      </p:sp>
      <p:sp>
        <p:nvSpPr>
          <p:cNvPr id="94317" name="ZoneTexte 19"/>
          <p:cNvSpPr txBox="1">
            <a:spLocks noChangeArrowheads="1"/>
          </p:cNvSpPr>
          <p:nvPr/>
        </p:nvSpPr>
        <p:spPr bwMode="auto">
          <a:xfrm>
            <a:off x="3105871" y="7520879"/>
            <a:ext cx="819585" cy="250293"/>
          </a:xfrm>
          <a:prstGeom prst="rect">
            <a:avLst/>
          </a:prstGeom>
          <a:solidFill>
            <a:schemeClr val="bg1"/>
          </a:solidFill>
          <a:ln w="9525">
            <a:solidFill>
              <a:srgbClr val="0033CC"/>
            </a:solidFill>
            <a:miter lim="800000"/>
            <a:headEnd/>
            <a:tailEnd/>
          </a:ln>
        </p:spPr>
        <p:txBody>
          <a:bodyPr wrap="none" lIns="95473" tIns="47736" rIns="95473" bIns="47736">
            <a:spAutoFit/>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b="1" dirty="0">
                <a:solidFill>
                  <a:srgbClr val="0033CC"/>
                </a:solidFill>
                <a:latin typeface="Calibri" panose="020F0502020204030204" pitchFamily="34" charset="0"/>
              </a:rPr>
              <a:t>Statistiques</a:t>
            </a:r>
          </a:p>
        </p:txBody>
      </p:sp>
      <p:sp>
        <p:nvSpPr>
          <p:cNvPr id="94318"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657117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350CFBE-F032-42B5-8F95-75C78E17AE38}" type="slidenum">
              <a:rPr lang="fr-FR" altLang="fr-FR" sz="1100">
                <a:latin typeface="Calibri" panose="020F0502020204030204" pitchFamily="34" charset="0"/>
              </a:rPr>
              <a:pPr/>
              <a:t>42</a:t>
            </a:fld>
            <a:endParaRPr lang="fr-FR" altLang="fr-FR" sz="1100" dirty="0">
              <a:latin typeface="Calibri" panose="020F0502020204030204" pitchFamily="34" charset="0"/>
            </a:endParaRPr>
          </a:p>
        </p:txBody>
      </p:sp>
      <p:sp>
        <p:nvSpPr>
          <p:cNvPr id="98307"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98308" name="Rectangle 6"/>
          <p:cNvSpPr>
            <a:spLocks noChangeArrowheads="1"/>
          </p:cNvSpPr>
          <p:nvPr/>
        </p:nvSpPr>
        <p:spPr bwMode="auto">
          <a:xfrm>
            <a:off x="880370" y="3026356"/>
            <a:ext cx="5386647"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1. SIMULATION 1</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0351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66405" y="5499489"/>
            <a:ext cx="6504100" cy="4357035"/>
          </a:xfrm>
        </p:spPr>
        <p:txBody>
          <a:bodyPr>
            <a:noAutofit/>
          </a:bodyPr>
          <a:lstStyle/>
          <a:p>
            <a:pPr>
              <a:lnSpc>
                <a:spcPct val="110000"/>
              </a:lnSpc>
              <a:defRPr/>
            </a:pPr>
            <a:r>
              <a:rPr lang="fr-FR" sz="1000" dirty="0"/>
              <a:t>Quand tout le monde est prêt, et que l’animateur a le sentiment que les consignes sont bien comprises, il lance le chronomètre. C’est ce chronomètre qui servira en particulier à noter l’heure sur l’OF traceur.</a:t>
            </a:r>
          </a:p>
          <a:p>
            <a:pPr>
              <a:lnSpc>
                <a:spcPct val="110000"/>
              </a:lnSpc>
              <a:defRPr/>
            </a:pPr>
            <a:r>
              <a:rPr lang="fr-FR" sz="1000" u="sng" dirty="0"/>
              <a:t>Remarque</a:t>
            </a:r>
          </a:p>
          <a:p>
            <a:pPr>
              <a:lnSpc>
                <a:spcPct val="110000"/>
              </a:lnSpc>
              <a:defRPr/>
            </a:pPr>
            <a:r>
              <a:rPr lang="fr-FR" sz="1000" dirty="0"/>
              <a:t>Il n’est pas possible d’arrêter le chronomètre une fois lancé. Pour enregistrer la fin, il faut noter sur un papier la valeur à l’écran. Appuyer sur la touche ESC. ramène le chronomètre à la valeur de 29 minutes.</a:t>
            </a:r>
          </a:p>
          <a:p>
            <a:pPr>
              <a:lnSpc>
                <a:spcPct val="110000"/>
              </a:lnSpc>
              <a:defRPr/>
            </a:pPr>
            <a:r>
              <a:rPr lang="fr-FR" sz="1000" u="sng" dirty="0"/>
              <a:t>À quel moment arrêter la simulation ?</a:t>
            </a:r>
          </a:p>
          <a:p>
            <a:pPr>
              <a:lnSpc>
                <a:spcPct val="110000"/>
              </a:lnSpc>
              <a:defRPr/>
            </a:pPr>
            <a:r>
              <a:rPr lang="fr-FR" sz="1000" dirty="0"/>
              <a:t>Il appartient à l’animateur d’arrêter la simulation. Au moment où il annonce l’arrêt, il doit regarder le compteur horaire et </a:t>
            </a:r>
            <a:r>
              <a:rPr lang="fr-FR" sz="1000" dirty="0">
                <a:solidFill>
                  <a:srgbClr val="FF0000"/>
                </a:solidFill>
              </a:rPr>
              <a:t>noter l’heure de fin de la production</a:t>
            </a:r>
            <a:r>
              <a:rPr lang="fr-FR" sz="1000" dirty="0"/>
              <a:t> (le poste Lancement est chargé de le faire, mais il lui arrive d’oublier).</a:t>
            </a:r>
          </a:p>
          <a:p>
            <a:pPr>
              <a:lnSpc>
                <a:spcPct val="110000"/>
              </a:lnSpc>
              <a:defRPr/>
            </a:pPr>
            <a:r>
              <a:rPr lang="fr-FR" sz="1000" dirty="0"/>
              <a:t>Il faut noter qu’il n’est pas souhaitable d’attendre que tout le travail en atelier soit terminé, car la simulation ayant démarré avec des en-cours il est préférable qu’elle se termine avec des en-cours (sinon on fausse les mesures de productivité, une partie de l’usine n’ayant plus rien à faire en fin de période).</a:t>
            </a:r>
          </a:p>
          <a:p>
            <a:pPr>
              <a:lnSpc>
                <a:spcPct val="110000"/>
              </a:lnSpc>
              <a:defRPr/>
            </a:pPr>
            <a:r>
              <a:rPr lang="fr-FR" sz="1000" dirty="0"/>
              <a:t>Une solution simple consiste à compter les OF qui sortent, et à arrêter la production quand le nombre de sorties atteint le nombre d’OF lancés. Dans ce cas, les en-cours de fin sont égaux aux en-cours de début.</a:t>
            </a:r>
          </a:p>
          <a:p>
            <a:pPr marL="89507" indent="-89507">
              <a:lnSpc>
                <a:spcPct val="110000"/>
              </a:lnSpc>
              <a:buFont typeface="Arial" pitchFamily="34" charset="0"/>
              <a:buChar char="•"/>
              <a:defRPr/>
            </a:pPr>
            <a:r>
              <a:rPr lang="fr-FR" sz="1000" dirty="0"/>
              <a:t>Si on a lancé 4 plaques de 12 OF, soit 48 OF, en arrêtant à 48 OF produits on finira avec 18 en-cours.</a:t>
            </a:r>
          </a:p>
          <a:p>
            <a:pPr>
              <a:lnSpc>
                <a:spcPct val="110000"/>
              </a:lnSpc>
              <a:defRPr/>
            </a:pPr>
            <a:r>
              <a:rPr lang="fr-FR" sz="1000" dirty="0"/>
              <a:t>En pratique, le critère ci-dessus peut être appliqué avec souplesse. Si on arrête un peu avant ou un peu après cela n’a aucune conséquence sur la suite des travaux. Par exemple, si l’animateur constate que les postes d’entrée du flux (rectangle, ovale et croix) n’ont plus rien à faire depuis quelques minutes il peut arrêter la simulation.</a:t>
            </a:r>
          </a:p>
          <a:p>
            <a:pPr>
              <a:lnSpc>
                <a:spcPct val="110000"/>
              </a:lnSpc>
              <a:defRPr/>
            </a:pPr>
            <a:endParaRPr lang="fr-FR" sz="1000" dirty="0"/>
          </a:p>
          <a:p>
            <a:pPr>
              <a:lnSpc>
                <a:spcPct val="110000"/>
              </a:lnSpc>
              <a:defRPr/>
            </a:pPr>
            <a:endParaRPr lang="fr-FR" sz="1000" dirty="0"/>
          </a:p>
        </p:txBody>
      </p:sp>
      <p:sp>
        <p:nvSpPr>
          <p:cNvPr id="10035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A08B3E60-EDAE-4FD4-992B-F6BB3C3F1AC9}" type="slidenum">
              <a:rPr lang="fr-FR" altLang="fr-FR" sz="1100">
                <a:latin typeface="Calibri" panose="020F0502020204030204" pitchFamily="34" charset="0"/>
              </a:rPr>
              <a:pPr/>
              <a:t>43</a:t>
            </a:fld>
            <a:endParaRPr lang="fr-FR" altLang="fr-FR" sz="1100" dirty="0">
              <a:latin typeface="Calibri" panose="020F0502020204030204" pitchFamily="34" charset="0"/>
            </a:endParaRPr>
          </a:p>
        </p:txBody>
      </p:sp>
      <p:sp>
        <p:nvSpPr>
          <p:cNvPr id="10035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4973938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DC0A48BB-4935-4BCC-94ED-BFEBA05F206C}" type="slidenum">
              <a:rPr lang="fr-FR" altLang="fr-FR" sz="1100">
                <a:latin typeface="Calibri" panose="020F0502020204030204" pitchFamily="34" charset="0"/>
              </a:rPr>
              <a:pPr/>
              <a:t>44</a:t>
            </a:fld>
            <a:endParaRPr lang="fr-FR" altLang="fr-FR" sz="1100" dirty="0">
              <a:latin typeface="Calibri" panose="020F0502020204030204" pitchFamily="34" charset="0"/>
            </a:endParaRPr>
          </a:p>
        </p:txBody>
      </p:sp>
      <p:sp>
        <p:nvSpPr>
          <p:cNvPr id="102403" name="Rectangle 2"/>
          <p:cNvSpPr>
            <a:spLocks noGrp="1" noRot="1" noChangeAspect="1" noChangeArrowheads="1" noTextEdit="1"/>
          </p:cNvSpPr>
          <p:nvPr>
            <p:ph type="sldImg"/>
          </p:nvPr>
        </p:nvSpPr>
        <p:spPr>
          <a:xfrm>
            <a:off x="481013" y="663575"/>
            <a:ext cx="6361112" cy="4525963"/>
          </a:xfrm>
          <a:ln/>
        </p:spPr>
      </p:sp>
      <p:sp>
        <p:nvSpPr>
          <p:cNvPr id="1024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10240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4529319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268CEA9-39E0-4472-86C3-3B08E487152A}" type="slidenum">
              <a:rPr lang="fr-FR" altLang="fr-FR" sz="1100">
                <a:latin typeface="Calibri" panose="020F0502020204030204" pitchFamily="34" charset="0"/>
              </a:rPr>
              <a:pPr/>
              <a:t>45</a:t>
            </a:fld>
            <a:endParaRPr lang="fr-FR" altLang="fr-FR" sz="1100" dirty="0">
              <a:latin typeface="Calibri" panose="020F0502020204030204" pitchFamily="34" charset="0"/>
            </a:endParaRPr>
          </a:p>
        </p:txBody>
      </p:sp>
      <p:sp>
        <p:nvSpPr>
          <p:cNvPr id="104451" name="Rectangle 2"/>
          <p:cNvSpPr>
            <a:spLocks noGrp="1" noRot="1" noChangeAspect="1" noChangeArrowheads="1" noTextEdit="1"/>
          </p:cNvSpPr>
          <p:nvPr>
            <p:ph type="sldImg"/>
          </p:nvPr>
        </p:nvSpPr>
        <p:spPr>
          <a:xfrm>
            <a:off x="481013" y="663575"/>
            <a:ext cx="6361112" cy="4525963"/>
          </a:xfrm>
          <a:ln/>
        </p:spPr>
      </p:sp>
      <p:sp>
        <p:nvSpPr>
          <p:cNvPr id="1044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eaLnBrk="1" hangingPunct="1"/>
            <a:endParaRPr lang="fr-FR" altLang="fr-FR" dirty="0"/>
          </a:p>
        </p:txBody>
      </p:sp>
      <p:sp>
        <p:nvSpPr>
          <p:cNvPr id="104453"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292672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E6BDCDB-E148-441C-880D-87FDDA1B0D62}" type="slidenum">
              <a:rPr lang="fr-FR" altLang="fr-FR" sz="1100">
                <a:latin typeface="Calibri" panose="020F0502020204030204" pitchFamily="34" charset="0"/>
              </a:rPr>
              <a:pPr/>
              <a:t>46</a:t>
            </a:fld>
            <a:endParaRPr lang="fr-FR" altLang="fr-FR" sz="1100" dirty="0">
              <a:latin typeface="Calibri" panose="020F0502020204030204" pitchFamily="34" charset="0"/>
            </a:endParaRPr>
          </a:p>
        </p:txBody>
      </p:sp>
      <p:sp>
        <p:nvSpPr>
          <p:cNvPr id="106499"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106500" name="Rectangle 6"/>
          <p:cNvSpPr>
            <a:spLocks noChangeArrowheads="1"/>
          </p:cNvSpPr>
          <p:nvPr/>
        </p:nvSpPr>
        <p:spPr bwMode="auto">
          <a:xfrm>
            <a:off x="880370" y="3085280"/>
            <a:ext cx="5386647"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2. La mesure</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2646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Espace réservé de l'image des diapositives 1"/>
          <p:cNvSpPr>
            <a:spLocks noGrp="1" noRot="1" noChangeAspect="1" noTextEdit="1"/>
          </p:cNvSpPr>
          <p:nvPr>
            <p:ph type="sldImg"/>
          </p:nvPr>
        </p:nvSpPr>
        <p:spPr>
          <a:xfrm>
            <a:off x="481013" y="663575"/>
            <a:ext cx="6361112" cy="4525963"/>
          </a:xfrm>
          <a:ln/>
        </p:spPr>
      </p:sp>
      <p:sp>
        <p:nvSpPr>
          <p:cNvPr id="10854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0854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659212F-8C9F-4002-BCEE-742F68F845D1}" type="slidenum">
              <a:rPr lang="fr-FR" altLang="fr-FR" sz="1100">
                <a:latin typeface="Calibri" panose="020F0502020204030204" pitchFamily="34" charset="0"/>
              </a:rPr>
              <a:pPr/>
              <a:t>47</a:t>
            </a:fld>
            <a:endParaRPr lang="fr-FR" altLang="fr-FR" sz="1100" dirty="0">
              <a:latin typeface="Calibri" panose="020F0502020204030204" pitchFamily="34" charset="0"/>
            </a:endParaRPr>
          </a:p>
        </p:txBody>
      </p:sp>
      <p:sp>
        <p:nvSpPr>
          <p:cNvPr id="10854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1537682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Autofit/>
          </a:bodyPr>
          <a:lstStyle/>
          <a:p>
            <a:pPr>
              <a:defRPr/>
            </a:pPr>
            <a:r>
              <a:rPr lang="fr-FR" sz="900" dirty="0"/>
              <a:t>L’animateur projette cette diapo pour demander que chacun remplisse cette fiche dans le dossier :</a:t>
            </a:r>
          </a:p>
          <a:p>
            <a:pPr marL="238682" indent="-238682">
              <a:buFont typeface="+mj-lt"/>
              <a:buAutoNum type="arabicPeriod"/>
              <a:defRPr/>
            </a:pPr>
            <a:r>
              <a:rPr lang="fr-FR" sz="900" dirty="0"/>
              <a:t>Le lancement (ou l’animateur) annonce</a:t>
            </a:r>
            <a:r>
              <a:rPr lang="fr-FR" sz="900" dirty="0">
                <a:solidFill>
                  <a:srgbClr val="FF0000"/>
                </a:solidFill>
              </a:rPr>
              <a:t> l’heure de fin</a:t>
            </a:r>
            <a:r>
              <a:rPr lang="fr-FR" sz="900" dirty="0"/>
              <a:t>, qui indique le « temps d’ouverture ».</a:t>
            </a:r>
          </a:p>
          <a:p>
            <a:pPr marL="238682" indent="-238682">
              <a:buFont typeface="+mj-lt"/>
              <a:buAutoNum type="arabicPeriod"/>
              <a:defRPr/>
            </a:pPr>
            <a:r>
              <a:rPr lang="fr-FR" sz="900" dirty="0"/>
              <a:t>Chaque </a:t>
            </a:r>
            <a:r>
              <a:rPr lang="fr-FR" sz="900" dirty="0">
                <a:solidFill>
                  <a:srgbClr val="FF0000"/>
                </a:solidFill>
              </a:rPr>
              <a:t>Poste de travail</a:t>
            </a:r>
            <a:r>
              <a:rPr lang="fr-FR" sz="900" dirty="0"/>
              <a:t> (c’est-à-dire chaque participant) note sur son dossier sa </a:t>
            </a:r>
            <a:r>
              <a:rPr lang="fr-FR" sz="900" dirty="0">
                <a:solidFill>
                  <a:srgbClr val="FF0000"/>
                </a:solidFill>
              </a:rPr>
              <a:t>quantité produite</a:t>
            </a:r>
            <a:r>
              <a:rPr lang="fr-FR" sz="900" dirty="0"/>
              <a:t> (en se référant au pointage de la production sur la grille).</a:t>
            </a:r>
          </a:p>
          <a:p>
            <a:pPr marL="278462" lvl="1">
              <a:defRPr/>
            </a:pPr>
            <a:r>
              <a:rPr lang="fr-FR" dirty="0"/>
              <a:t>Remarque : si un participant a oublié de pointer et ne connaît pas la quantité, l’animateur peut la recalculer de la façon suivante : il applique à la quantité produite le coefficient de présence de la forme dans les gammes (voir plus loin l’étude faite à propos du takt time). Il connaît alors la production théorique de l’atelier, et il suffit de déduire cette produite par les autres postes du même atelier. Si aucun poste n’a fait la mesure, il divise la quantité produite dans l’atelier par le nombre de postes.</a:t>
            </a:r>
          </a:p>
          <a:p>
            <a:pPr marL="238682" indent="-238682">
              <a:buFont typeface="+mj-lt"/>
              <a:buAutoNum type="arabicPeriod"/>
              <a:defRPr/>
            </a:pPr>
            <a:r>
              <a:rPr lang="fr-FR" sz="900" dirty="0"/>
              <a:t>Chaque</a:t>
            </a:r>
            <a:r>
              <a:rPr lang="fr-FR" sz="900" dirty="0">
                <a:solidFill>
                  <a:srgbClr val="FF0000"/>
                </a:solidFill>
              </a:rPr>
              <a:t> atelier</a:t>
            </a:r>
            <a:r>
              <a:rPr lang="fr-FR" sz="900" dirty="0"/>
              <a:t> fait le total des productions des postes et indique à haute voix la quantité produite dans l’atelier. Les participants notent ces valeurs.</a:t>
            </a:r>
          </a:p>
          <a:p>
            <a:pPr marL="238682" indent="-238682">
              <a:buFont typeface="+mj-lt"/>
              <a:buAutoNum type="arabicPeriod"/>
              <a:defRPr/>
            </a:pPr>
            <a:r>
              <a:rPr lang="fr-FR" sz="900" dirty="0"/>
              <a:t>La quantité produite </a:t>
            </a:r>
            <a:r>
              <a:rPr lang="fr-FR" sz="900" dirty="0">
                <a:solidFill>
                  <a:srgbClr val="FF0000"/>
                </a:solidFill>
              </a:rPr>
              <a:t>par l’usine</a:t>
            </a:r>
            <a:r>
              <a:rPr lang="fr-FR" sz="900" dirty="0"/>
              <a:t> est annoncée par le Lancement, qui la connaît en comptant le nombre d’OF produits (</a:t>
            </a:r>
            <a:r>
              <a:rPr lang="fr-FR" sz="900" dirty="0">
                <a:solidFill>
                  <a:srgbClr val="FF0000"/>
                </a:solidFill>
              </a:rPr>
              <a:t>attention</a:t>
            </a:r>
            <a:r>
              <a:rPr lang="fr-FR" sz="900" dirty="0"/>
              <a:t> : ce n’est pas le total des quantités travaillées par chaque atelier !).</a:t>
            </a:r>
          </a:p>
          <a:p>
            <a:pPr marL="238682" indent="-238682">
              <a:buFont typeface="+mj-lt"/>
              <a:buAutoNum type="arabicPeriod"/>
              <a:defRPr/>
            </a:pPr>
            <a:r>
              <a:rPr lang="fr-FR" sz="900" dirty="0"/>
              <a:t>Le Contrôle qualité annonce les quantités de </a:t>
            </a:r>
            <a:r>
              <a:rPr lang="fr-FR" sz="900" dirty="0">
                <a:solidFill>
                  <a:srgbClr val="FF0000"/>
                </a:solidFill>
              </a:rPr>
              <a:t>non conformes</a:t>
            </a:r>
            <a:r>
              <a:rPr lang="fr-FR" sz="900" dirty="0"/>
              <a:t> par atelier. Les participants notent ces valeurs, et le Contrôle (ou chaque atelier à son tour) calcule les %. </a:t>
            </a:r>
          </a:p>
          <a:p>
            <a:pPr marL="238682" indent="-238682">
              <a:buFont typeface="+mj-lt"/>
              <a:buAutoNum type="arabicPeriod"/>
              <a:defRPr/>
            </a:pPr>
            <a:r>
              <a:rPr lang="fr-FR" sz="900" dirty="0"/>
              <a:t>Pour connaître le </a:t>
            </a:r>
            <a:r>
              <a:rPr lang="fr-FR" sz="900" dirty="0">
                <a:solidFill>
                  <a:srgbClr val="FF0000"/>
                </a:solidFill>
              </a:rPr>
              <a:t>total des non conformes de l’usine</a:t>
            </a:r>
            <a:r>
              <a:rPr lang="fr-FR" sz="900" dirty="0"/>
              <a:t> il faut soit que le Contrôle qualité compte les produits finis mis de côté soit qu’il fasse la somme des non conformes des différents ateliers, (puisqu’un produit fini ne peut, par conventions, n’avoir qu’un seul défaut).</a:t>
            </a:r>
          </a:p>
          <a:p>
            <a:pPr marL="238682" indent="-238682">
              <a:buFont typeface="+mj-lt"/>
              <a:buAutoNum type="arabicPeriod"/>
              <a:defRPr/>
            </a:pPr>
            <a:r>
              <a:rPr lang="fr-FR" sz="900" dirty="0"/>
              <a:t>Le tableau est complété par la </a:t>
            </a:r>
            <a:r>
              <a:rPr lang="fr-FR" sz="900" dirty="0">
                <a:solidFill>
                  <a:srgbClr val="FF0000"/>
                </a:solidFill>
              </a:rPr>
              <a:t>quantité produite bonne </a:t>
            </a:r>
            <a:r>
              <a:rPr lang="fr-FR" sz="900" dirty="0"/>
              <a:t>de chaque atelier.</a:t>
            </a:r>
          </a:p>
          <a:p>
            <a:pPr marL="238682" indent="-238682">
              <a:buFont typeface="+mj-lt"/>
              <a:buAutoNum type="arabicPeriod"/>
              <a:defRPr/>
            </a:pPr>
            <a:r>
              <a:rPr lang="fr-FR" sz="900" dirty="0"/>
              <a:t>La</a:t>
            </a:r>
            <a:r>
              <a:rPr lang="fr-FR" sz="900" dirty="0">
                <a:solidFill>
                  <a:srgbClr val="FF0000"/>
                </a:solidFill>
              </a:rPr>
              <a:t> taille de série moyenne</a:t>
            </a:r>
            <a:r>
              <a:rPr lang="fr-FR" sz="900" dirty="0"/>
              <a:t> est calculée par chaque poste, elle sera exploitée plus tard dans l’analyse détaillée du TRG.</a:t>
            </a:r>
          </a:p>
        </p:txBody>
      </p:sp>
      <p:sp>
        <p:nvSpPr>
          <p:cNvPr id="11059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255E7A8-2566-4F1E-82A9-4EC0FEFB4F9F}" type="slidenum">
              <a:rPr lang="fr-FR" altLang="fr-FR" sz="1100">
                <a:latin typeface="Calibri" panose="020F0502020204030204" pitchFamily="34" charset="0"/>
              </a:rPr>
              <a:pPr/>
              <a:t>48</a:t>
            </a:fld>
            <a:endParaRPr lang="fr-FR" altLang="fr-FR" sz="1100" dirty="0">
              <a:latin typeface="Calibri" panose="020F0502020204030204" pitchFamily="34" charset="0"/>
            </a:endParaRPr>
          </a:p>
        </p:txBody>
      </p:sp>
      <p:sp>
        <p:nvSpPr>
          <p:cNvPr id="11059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949158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Espace réservé de l'image des diapositives 1"/>
          <p:cNvSpPr>
            <a:spLocks noGrp="1" noRot="1" noChangeAspect="1" noTextEdit="1"/>
          </p:cNvSpPr>
          <p:nvPr>
            <p:ph type="sldImg"/>
          </p:nvPr>
        </p:nvSpPr>
        <p:spPr>
          <a:xfrm>
            <a:off x="481013" y="663575"/>
            <a:ext cx="6361112" cy="4525963"/>
          </a:xfrm>
          <a:ln/>
        </p:spPr>
      </p:sp>
      <p:sp>
        <p:nvSpPr>
          <p:cNvPr id="112643" name="Espace réservé des commentaires 2"/>
          <p:cNvSpPr>
            <a:spLocks noGrp="1"/>
          </p:cNvSpPr>
          <p:nvPr>
            <p:ph type="body" idx="1"/>
          </p:nvPr>
        </p:nvSpPr>
        <p:spPr>
          <a:xfrm>
            <a:off x="172426" y="5401284"/>
            <a:ext cx="6732896" cy="4429052"/>
          </a:xfrm>
          <a:noFill/>
          <a:extLst>
            <a:ext uri="{909E8E84-426E-40DD-AFC4-6F175D3DCCD1}">
              <a14:hiddenFill xmlns:a14="http://schemas.microsoft.com/office/drawing/2010/main">
                <a:solidFill>
                  <a:srgbClr val="FFFFFF"/>
                </a:solidFill>
              </a14:hiddenFill>
            </a:ext>
          </a:extLst>
        </p:spPr>
        <p:txBody>
          <a:bodyPr/>
          <a:lstStyle/>
          <a:p>
            <a:pPr>
              <a:lnSpc>
                <a:spcPts val="1154"/>
              </a:lnSpc>
            </a:pPr>
            <a:r>
              <a:rPr lang="fr-FR" altLang="fr-FR" sz="1000" u="sng" dirty="0"/>
              <a:t>Délais</a:t>
            </a:r>
          </a:p>
          <a:p>
            <a:pPr>
              <a:lnSpc>
                <a:spcPts val="1154"/>
              </a:lnSpc>
            </a:pPr>
            <a:r>
              <a:rPr lang="fr-FR" altLang="fr-FR" sz="1000" dirty="0"/>
              <a:t>Les valeurs inscrites sur l’OF traceur sont annoncées par le Lancement (s’il manque des valeurs, on choisit d’inscrire des valeurs hypothétiques, par interpolation des valeurs existantes).</a:t>
            </a:r>
          </a:p>
          <a:p>
            <a:pPr>
              <a:lnSpc>
                <a:spcPts val="1154"/>
              </a:lnSpc>
            </a:pPr>
            <a:r>
              <a:rPr lang="fr-FR" altLang="fr-FR" sz="1000" dirty="0"/>
              <a:t>Le lancement fait le calcul des différences pour remplir les cases de droite. Il annonce les résultats et les autres participants le notent dans leur dossier.</a:t>
            </a:r>
          </a:p>
          <a:p>
            <a:pPr>
              <a:lnSpc>
                <a:spcPts val="1154"/>
              </a:lnSpc>
            </a:pPr>
            <a:r>
              <a:rPr lang="fr-FR" altLang="fr-FR" sz="1000" u="sng" dirty="0"/>
              <a:t>Productivité</a:t>
            </a:r>
          </a:p>
          <a:p>
            <a:pPr>
              <a:lnSpc>
                <a:spcPts val="1154"/>
              </a:lnSpc>
            </a:pPr>
            <a:r>
              <a:rPr lang="fr-FR" altLang="fr-FR" sz="1000" dirty="0"/>
              <a:t>L’animateur explique comment faire le calcul.</a:t>
            </a:r>
          </a:p>
          <a:p>
            <a:pPr>
              <a:lnSpc>
                <a:spcPts val="1154"/>
              </a:lnSpc>
            </a:pPr>
            <a:r>
              <a:rPr lang="fr-FR" altLang="fr-FR" sz="1000" dirty="0"/>
              <a:t>La question des effectifs se pose : faut-il compter les postes Lancement et Contrôle ? L’animateur peut échanger avec le groupe. La réponse doit être finalement : oui, ils doivent être comptés, car ils sont nécessaires à chaque instant pour la production (de fait, cette solution est préférable car dans la 2</a:t>
            </a:r>
            <a:r>
              <a:rPr lang="fr-FR" altLang="fr-FR" sz="1000" baseline="30000" dirty="0"/>
              <a:t>ème</a:t>
            </a:r>
            <a:r>
              <a:rPr lang="fr-FR" altLang="fr-FR" sz="1000" dirty="0"/>
              <a:t> simulation ils seront souvent réaffectés à des postes de production).</a:t>
            </a:r>
          </a:p>
          <a:p>
            <a:pPr>
              <a:lnSpc>
                <a:spcPts val="1154"/>
              </a:lnSpc>
            </a:pPr>
            <a:r>
              <a:rPr lang="fr-FR" altLang="fr-FR" sz="1000" dirty="0"/>
              <a:t>L’animateur demande aux participants ce qu’ils pensent de la productivité. 3 ou 4 minutes pour faire un produit, cela leur semble-t-il normal ? Sachant qu’une personne peut seule faire un produit en moins d’une minute.</a:t>
            </a:r>
          </a:p>
          <a:p>
            <a:pPr>
              <a:lnSpc>
                <a:spcPts val="1154"/>
              </a:lnSpc>
            </a:pPr>
            <a:r>
              <a:rPr lang="fr-FR" altLang="fr-FR" sz="1000" u="sng" dirty="0"/>
              <a:t>Remarque</a:t>
            </a:r>
            <a:r>
              <a:rPr lang="fr-FR" altLang="fr-FR" sz="1000" dirty="0"/>
              <a:t> : nous avons calculé la productivité en éliminant du calcul les pièces non conformes. En toute rigueur, ce calcul n’est pas juste car les pièces non conformes ne sont pas toutes rebutées. Certaines sont retouchées pour un temps additionnel sensiblement plus faible que le temps total d’un produit. Mais dans le cadre de ce jeu il nous a semblé plus simple et plus pédagogique d’adopter cette convention.</a:t>
            </a:r>
          </a:p>
          <a:p>
            <a:pPr>
              <a:lnSpc>
                <a:spcPts val="1154"/>
              </a:lnSpc>
            </a:pPr>
            <a:r>
              <a:rPr lang="fr-FR" altLang="fr-FR" sz="1000" u="sng" dirty="0"/>
              <a:t>Stocks</a:t>
            </a:r>
          </a:p>
          <a:p>
            <a:pPr>
              <a:lnSpc>
                <a:spcPts val="1154"/>
              </a:lnSpc>
            </a:pPr>
            <a:r>
              <a:rPr lang="fr-FR" altLang="fr-FR" sz="1000" dirty="0"/>
              <a:t>Chacun annonce les valeurs en tenant compte du nombre de Zones de stockage retournées.</a:t>
            </a:r>
          </a:p>
          <a:p>
            <a:pPr>
              <a:lnSpc>
                <a:spcPts val="1154"/>
              </a:lnSpc>
            </a:pPr>
            <a:r>
              <a:rPr lang="fr-FR" altLang="fr-FR" sz="1000" dirty="0"/>
              <a:t>Comme les zones comportent 4 cases, on n’a pas un compte exact. Dans ce cas, soit l’atelier se souvient du nombre de cases utilisées dans la dernière Zone, soit il ne s’en souvient pas et dans ce cas on prend la valeur moyenne 2.</a:t>
            </a:r>
          </a:p>
          <a:p>
            <a:pPr>
              <a:lnSpc>
                <a:spcPts val="1154"/>
              </a:lnSpc>
            </a:pPr>
            <a:r>
              <a:rPr lang="fr-FR" altLang="fr-FR" sz="1000" u="sng" dirty="0"/>
              <a:t>Remarque concernant les unités de calcul</a:t>
            </a:r>
          </a:p>
          <a:p>
            <a:pPr>
              <a:lnSpc>
                <a:spcPts val="1154"/>
              </a:lnSpc>
            </a:pPr>
            <a:r>
              <a:rPr lang="fr-FR" altLang="fr-FR" sz="1000" dirty="0"/>
              <a:t>Nous indiquons à chaque fois s’il faut faire le calcul avec des minutes et des secondes, ou des minutes et des décimales. Quelques conversions sont nécessaires … L’important est que tout le monde ait les mêmes unités (qui sont aussi celles prises en compte dans le tableau de bord Excel).</a:t>
            </a:r>
          </a:p>
        </p:txBody>
      </p:sp>
      <p:sp>
        <p:nvSpPr>
          <p:cNvPr id="11264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56C48AF-397C-4138-8EDA-3994C786269B}" type="slidenum">
              <a:rPr lang="fr-FR" altLang="fr-FR" sz="1100">
                <a:latin typeface="Calibri" panose="020F0502020204030204" pitchFamily="34" charset="0"/>
              </a:rPr>
              <a:pPr/>
              <a:t>49</a:t>
            </a:fld>
            <a:endParaRPr lang="fr-FR" altLang="fr-FR" sz="1100" dirty="0">
              <a:latin typeface="Calibri" panose="020F0502020204030204" pitchFamily="34" charset="0"/>
            </a:endParaRPr>
          </a:p>
        </p:txBody>
      </p:sp>
      <p:sp>
        <p:nvSpPr>
          <p:cNvPr id="11264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2130430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Autofit/>
          </a:bodyPr>
          <a:lstStyle/>
          <a:p>
            <a:pPr>
              <a:lnSpc>
                <a:spcPct val="100000"/>
              </a:lnSpc>
              <a:spcBef>
                <a:spcPts val="0"/>
              </a:spcBef>
              <a:defRPr/>
            </a:pPr>
            <a:r>
              <a:rPr lang="fr-FR" dirty="0"/>
              <a:t>L’animateur demande aux participants de mettre à jour le tableau de bord qui se situe à la fin de leur dossier en calculant la valeur pour l’entreprise (K€, jours, etc.)</a:t>
            </a:r>
          </a:p>
          <a:p>
            <a:pPr marL="92820" indent="-92820">
              <a:lnSpc>
                <a:spcPct val="100000"/>
              </a:lnSpc>
              <a:spcBef>
                <a:spcPts val="0"/>
              </a:spcBef>
              <a:buFont typeface="Arial" pitchFamily="34" charset="0"/>
              <a:buChar char="•"/>
              <a:defRPr/>
            </a:pPr>
            <a:r>
              <a:rPr lang="fr-FR" dirty="0"/>
              <a:t>L’animateur utilise cette diapo pour montrer au groupe que les valeurs issues de la simulation ont une correspondante avec les « vraies valeurs » de l’entreprise. Cette correspondance apparaît sur la double échelle verticale.</a:t>
            </a:r>
            <a:endParaRPr lang="fr-FR" u="sng" dirty="0"/>
          </a:p>
          <a:p>
            <a:pPr>
              <a:lnSpc>
                <a:spcPct val="100000"/>
              </a:lnSpc>
              <a:spcBef>
                <a:spcPts val="0"/>
              </a:spcBef>
              <a:defRPr/>
            </a:pPr>
            <a:r>
              <a:rPr lang="fr-FR" u="sng" dirty="0"/>
              <a:t>Remarques</a:t>
            </a:r>
          </a:p>
          <a:p>
            <a:pPr marL="92820" indent="-92820">
              <a:lnSpc>
                <a:spcPct val="100000"/>
              </a:lnSpc>
              <a:spcBef>
                <a:spcPts val="0"/>
              </a:spcBef>
              <a:buFont typeface="Arial" pitchFamily="34" charset="0"/>
              <a:buChar char="•"/>
              <a:defRPr/>
            </a:pPr>
            <a:r>
              <a:rPr lang="fr-FR" dirty="0"/>
              <a:t>Les valeurs correspondantes sont automatiquement calculées dans le Tableau de bord Excel, ce qui permet de vérifier qu’il n’y a pas d’erreur.</a:t>
            </a:r>
          </a:p>
          <a:p>
            <a:pPr marL="92820" indent="-92820">
              <a:lnSpc>
                <a:spcPct val="100000"/>
              </a:lnSpc>
              <a:spcBef>
                <a:spcPts val="0"/>
              </a:spcBef>
              <a:buFont typeface="Arial" pitchFamily="34" charset="0"/>
              <a:buChar char="•"/>
              <a:defRPr/>
            </a:pPr>
            <a:r>
              <a:rPr lang="fr-FR" dirty="0"/>
              <a:t>La transformation avec la double échelle nécessite de faire un petit calcul d’interpolation. Celui-ci peut conduire ceux qui se trompent dans l’interpolation à des valeurs différentes. L’animateur annoncera les valeurs justes (elles apparaissent dans le tableau de bord).</a:t>
            </a:r>
          </a:p>
          <a:p>
            <a:pPr marL="92820" indent="-92820">
              <a:lnSpc>
                <a:spcPct val="100000"/>
              </a:lnSpc>
              <a:spcBef>
                <a:spcPts val="0"/>
              </a:spcBef>
              <a:buFont typeface="Arial" pitchFamily="34" charset="0"/>
              <a:buChar char="•"/>
              <a:defRPr/>
            </a:pPr>
            <a:r>
              <a:rPr lang="fr-FR" dirty="0"/>
              <a:t>Les échelles verticales pour l’entreprise sont proportionnelles à celles issues de la simulation mais n’ont pas la même valeur 0. Cela signifie que dans l’indicateur de l’entreprise rentrent en jeu d’autres paramètres que ceux observés dans la simulation.</a:t>
            </a:r>
          </a:p>
          <a:p>
            <a:pPr marL="92820" indent="-92820">
              <a:lnSpc>
                <a:spcPct val="100000"/>
              </a:lnSpc>
              <a:spcBef>
                <a:spcPts val="0"/>
              </a:spcBef>
              <a:buFont typeface="Arial" pitchFamily="34" charset="0"/>
              <a:buChar char="•"/>
              <a:defRPr/>
            </a:pPr>
            <a:r>
              <a:rPr lang="fr-FR" dirty="0"/>
              <a:t>Il peut arriver que la simulation conduise à des valeurs hors échelle. Dans ce cas les participants marquent un point à la limite de l’échelle et inscrivent la valeur numérique.</a:t>
            </a:r>
          </a:p>
          <a:p>
            <a:pPr marL="92820" indent="-92820">
              <a:lnSpc>
                <a:spcPct val="100000"/>
              </a:lnSpc>
              <a:spcBef>
                <a:spcPts val="0"/>
              </a:spcBef>
              <a:buFont typeface="Arial" pitchFamily="34" charset="0"/>
              <a:buChar char="•"/>
              <a:defRPr/>
            </a:pPr>
            <a:r>
              <a:rPr lang="fr-FR" dirty="0"/>
              <a:t>Il peut arriver que les valeurs de la simulation 1 soient sensiblement différentes des valeurs de référence indiquées sur le graphique pour </a:t>
            </a:r>
            <a:r>
              <a:rPr lang="fr-FR" dirty="0" err="1"/>
              <a:t>Paleo</a:t>
            </a:r>
            <a:r>
              <a:rPr lang="fr-FR" dirty="0"/>
              <a:t>. L’animateur expliquera cet écart en disant que les indicateurs peuvent fluctuer. En tout état de cause, l’important est d’obtenir une amélioration en simulation 2.</a:t>
            </a:r>
          </a:p>
          <a:p>
            <a:pPr marL="92820" indent="-92820">
              <a:lnSpc>
                <a:spcPct val="100000"/>
              </a:lnSpc>
              <a:spcBef>
                <a:spcPts val="0"/>
              </a:spcBef>
              <a:buFont typeface="Arial" pitchFamily="34" charset="0"/>
              <a:buChar char="•"/>
              <a:defRPr/>
            </a:pPr>
            <a:r>
              <a:rPr lang="fr-FR" dirty="0"/>
              <a:t>NB : pour la qualité, au-dessus d'un taux de non-qualité de 20 % (c'est-à-dire un % de non-conformes supérieur à 20% en case J13 de l'onglet "Données simulation 1", le tableau de bord considère que la qualité est à 0. C'est une vision qui signifie que "au-delà de 20% de non-conformes, c'est comme si l'entreprise générait 100% de non-conformes"</a:t>
            </a:r>
          </a:p>
        </p:txBody>
      </p:sp>
      <p:sp>
        <p:nvSpPr>
          <p:cNvPr id="11469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4DC789D-46FF-4E79-B22A-02D14BB1149C}" type="slidenum">
              <a:rPr lang="fr-FR" altLang="fr-FR" sz="1100">
                <a:latin typeface="Calibri" panose="020F0502020204030204" pitchFamily="34" charset="0"/>
              </a:rPr>
              <a:pPr/>
              <a:t>50</a:t>
            </a:fld>
            <a:endParaRPr lang="fr-FR" altLang="fr-FR" sz="1100" dirty="0">
              <a:latin typeface="Calibri" panose="020F0502020204030204" pitchFamily="34" charset="0"/>
            </a:endParaRPr>
          </a:p>
        </p:txBody>
      </p:sp>
      <p:sp>
        <p:nvSpPr>
          <p:cNvPr id="11469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3566042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Espace réservé de l'image des diapositives 1"/>
          <p:cNvSpPr>
            <a:spLocks noGrp="1" noRot="1" noChangeAspect="1" noTextEdit="1"/>
          </p:cNvSpPr>
          <p:nvPr>
            <p:ph type="sldImg"/>
          </p:nvPr>
        </p:nvSpPr>
        <p:spPr>
          <a:xfrm>
            <a:off x="481013" y="663575"/>
            <a:ext cx="6361112" cy="4525963"/>
          </a:xfrm>
          <a:ln/>
        </p:spPr>
      </p:sp>
      <p:sp>
        <p:nvSpPr>
          <p:cNvPr id="11673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1674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8E7F5AA-AA13-4068-ADE4-5CB6313139DF}" type="slidenum">
              <a:rPr lang="fr-FR" altLang="fr-FR" sz="1100">
                <a:latin typeface="Calibri" panose="020F0502020204030204" pitchFamily="34" charset="0"/>
              </a:rPr>
              <a:pPr/>
              <a:t>51</a:t>
            </a:fld>
            <a:endParaRPr lang="fr-FR" altLang="fr-FR" sz="1100" dirty="0">
              <a:latin typeface="Calibri" panose="020F0502020204030204" pitchFamily="34" charset="0"/>
            </a:endParaRPr>
          </a:p>
        </p:txBody>
      </p:sp>
      <p:sp>
        <p:nvSpPr>
          <p:cNvPr id="11674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3534091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77351833-510E-4118-AA98-1CC143D21182}" type="slidenum">
              <a:rPr lang="fr-FR" altLang="fr-FR" sz="1100">
                <a:latin typeface="Calibri" panose="020F0502020204030204" pitchFamily="34" charset="0"/>
              </a:rPr>
              <a:pPr/>
              <a:t>52</a:t>
            </a:fld>
            <a:endParaRPr lang="fr-FR" altLang="fr-FR" sz="1100" dirty="0">
              <a:latin typeface="Calibri" panose="020F0502020204030204" pitchFamily="34" charset="0"/>
            </a:endParaRPr>
          </a:p>
        </p:txBody>
      </p:sp>
      <p:sp>
        <p:nvSpPr>
          <p:cNvPr id="118787"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118788" name="Rectangle 6"/>
          <p:cNvSpPr>
            <a:spLocks noChangeArrowheads="1"/>
          </p:cNvSpPr>
          <p:nvPr/>
        </p:nvSpPr>
        <p:spPr bwMode="auto">
          <a:xfrm>
            <a:off x="880370" y="3045997"/>
            <a:ext cx="5386647"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3. L’analyse</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1172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Espace réservé de l'image des diapositives 1"/>
          <p:cNvSpPr>
            <a:spLocks noGrp="1" noRot="1" noChangeAspect="1" noTextEdit="1"/>
          </p:cNvSpPr>
          <p:nvPr>
            <p:ph type="sldImg"/>
          </p:nvPr>
        </p:nvSpPr>
        <p:spPr>
          <a:xfrm>
            <a:off x="481013" y="663575"/>
            <a:ext cx="6361112" cy="4525963"/>
          </a:xfrm>
          <a:ln/>
        </p:spPr>
      </p:sp>
      <p:sp>
        <p:nvSpPr>
          <p:cNvPr id="12083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Le calcul du TRG et du </a:t>
            </a:r>
            <a:r>
              <a:rPr lang="fr-FR" altLang="fr-FR" dirty="0" err="1"/>
              <a:t>Takt</a:t>
            </a:r>
            <a:r>
              <a:rPr lang="fr-FR" altLang="fr-FR" dirty="0"/>
              <a:t> Time ne se font que pour les postes de production. Il est donc souhaitable que les postes Lancement et Contrôle rejoignent un atelier.</a:t>
            </a:r>
          </a:p>
          <a:p>
            <a:r>
              <a:rPr lang="fr-FR" altLang="fr-FR" dirty="0"/>
              <a:t>L’animateur leur demande de se déplacer et de rejoindre une des autres tables (sur l’image nous les avons groupés avec Croix et Vague, mais en pratique peu importe, ils peuvent aller dans l’atelier de leur choix, de préférence un atelier qui comporte moins de postes que les autres).</a:t>
            </a:r>
          </a:p>
          <a:p>
            <a:r>
              <a:rPr lang="fr-FR" altLang="fr-FR" u="sng" dirty="0"/>
              <a:t>Remarque</a:t>
            </a:r>
          </a:p>
          <a:p>
            <a:r>
              <a:rPr lang="fr-FR" altLang="fr-FR" dirty="0"/>
              <a:t>Il est possible de faire un calcul de TRG et de </a:t>
            </a:r>
            <a:r>
              <a:rPr lang="fr-FR" altLang="fr-FR" dirty="0" err="1"/>
              <a:t>Takt</a:t>
            </a:r>
            <a:r>
              <a:rPr lang="fr-FR" altLang="fr-FR" dirty="0"/>
              <a:t> time pour les postes Lancement et Contrôle. Mais cela rallonge un peu la durée de l’animation et n’apporte pas grand-chose de plus pour la pédagogie. Cependant, rien n’empêche l’animateur, tout en conservant la formule de répartition des participants proposée ici, de faire ce calcul en plus au moment où les résultats du TRG et du </a:t>
            </a:r>
            <a:r>
              <a:rPr lang="fr-FR" altLang="fr-FR" dirty="0" err="1"/>
              <a:t>Takt</a:t>
            </a:r>
            <a:r>
              <a:rPr lang="fr-FR" altLang="fr-FR" dirty="0"/>
              <a:t> time sont annoncés.</a:t>
            </a:r>
          </a:p>
        </p:txBody>
      </p:sp>
      <p:sp>
        <p:nvSpPr>
          <p:cNvPr id="12083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E37082E-24AD-42A4-98F1-841019C828C5}" type="slidenum">
              <a:rPr lang="fr-FR" altLang="fr-FR" sz="1100">
                <a:latin typeface="Calibri" panose="020F0502020204030204" pitchFamily="34" charset="0"/>
              </a:rPr>
              <a:pPr/>
              <a:t>53</a:t>
            </a:fld>
            <a:endParaRPr lang="fr-FR" altLang="fr-FR" sz="1100" dirty="0">
              <a:latin typeface="Calibri" panose="020F0502020204030204" pitchFamily="34" charset="0"/>
            </a:endParaRPr>
          </a:p>
        </p:txBody>
      </p:sp>
      <p:sp>
        <p:nvSpPr>
          <p:cNvPr id="12083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8776514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Espace réservé de l'image des diapositives 1"/>
          <p:cNvSpPr>
            <a:spLocks noGrp="1" noRot="1" noChangeAspect="1" noTextEdit="1"/>
          </p:cNvSpPr>
          <p:nvPr>
            <p:ph type="sldImg"/>
          </p:nvPr>
        </p:nvSpPr>
        <p:spPr>
          <a:xfrm>
            <a:off x="481013" y="663575"/>
            <a:ext cx="6361112" cy="4525963"/>
          </a:xfrm>
          <a:ln/>
        </p:spPr>
      </p:sp>
      <p:sp>
        <p:nvSpPr>
          <p:cNvPr id="12288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2288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25F5CAF-82EC-4185-A75B-3C58FD538E7C}" type="slidenum">
              <a:rPr lang="fr-FR" altLang="fr-FR" sz="1100">
                <a:latin typeface="Calibri" panose="020F0502020204030204" pitchFamily="34" charset="0"/>
              </a:rPr>
              <a:pPr/>
              <a:t>54</a:t>
            </a:fld>
            <a:endParaRPr lang="fr-FR" altLang="fr-FR" sz="1100" dirty="0">
              <a:latin typeface="Calibri" panose="020F0502020204030204" pitchFamily="34" charset="0"/>
            </a:endParaRPr>
          </a:p>
        </p:txBody>
      </p:sp>
      <p:sp>
        <p:nvSpPr>
          <p:cNvPr id="12288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9490070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Espace réservé de l'image des diapositives 1"/>
          <p:cNvSpPr>
            <a:spLocks noGrp="1" noRot="1" noChangeAspect="1" noTextEdit="1"/>
          </p:cNvSpPr>
          <p:nvPr>
            <p:ph type="sldImg"/>
          </p:nvPr>
        </p:nvSpPr>
        <p:spPr>
          <a:xfrm>
            <a:off x="481013" y="663575"/>
            <a:ext cx="6361112" cy="4525963"/>
          </a:xfrm>
          <a:ln/>
        </p:spPr>
      </p:sp>
      <p:sp>
        <p:nvSpPr>
          <p:cNvPr id="1249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explique que le TRG est un indicateur couramment utilisé pour mesurer la performance globale d’une ressource.</a:t>
            </a:r>
          </a:p>
          <a:p>
            <a:r>
              <a:rPr lang="fr-FR" altLang="fr-FR" dirty="0"/>
              <a:t>Il explique, si les participants l’ignorent, ce qu’est un temps gamme.</a:t>
            </a:r>
          </a:p>
        </p:txBody>
      </p:sp>
      <p:sp>
        <p:nvSpPr>
          <p:cNvPr id="12493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DF97B513-9F94-4939-8996-76F6DDEDCCF6}" type="slidenum">
              <a:rPr lang="fr-FR" altLang="fr-FR" sz="1100">
                <a:latin typeface="Calibri" panose="020F0502020204030204" pitchFamily="34" charset="0"/>
              </a:rPr>
              <a:pPr/>
              <a:t>55</a:t>
            </a:fld>
            <a:endParaRPr lang="fr-FR" altLang="fr-FR" sz="1100" dirty="0">
              <a:latin typeface="Calibri" panose="020F0502020204030204" pitchFamily="34" charset="0"/>
            </a:endParaRPr>
          </a:p>
        </p:txBody>
      </p:sp>
      <p:sp>
        <p:nvSpPr>
          <p:cNvPr id="12493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6170508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222165" y="5303078"/>
            <a:ext cx="6792582" cy="4704026"/>
          </a:xfrm>
        </p:spPr>
        <p:txBody>
          <a:bodyPr>
            <a:noAutofit/>
          </a:bodyPr>
          <a:lstStyle/>
          <a:p>
            <a:pPr>
              <a:defRPr/>
            </a:pPr>
            <a:r>
              <a:rPr lang="fr-FR" sz="1000" dirty="0"/>
              <a:t>L’animateur distribue les supports dénommés « échantillons pour temps gamme » qui servent à évaluer le temps nécessaire pour faire des coloriages. En guise de chronomètre, chaque atelier utilisera une montre avec trotteuse, ou un chronomètre sur téléphone afin de mesurer le temps à la seconde près.</a:t>
            </a:r>
          </a:p>
          <a:p>
            <a:pPr>
              <a:defRPr/>
            </a:pPr>
            <a:r>
              <a:rPr lang="fr-FR" sz="1000" dirty="0"/>
              <a:t>Chaque équipe organise le chronométrage comme elle l’entend. Elle peut mesurer le temps nécessaire pour une ou plusieurs figures, et dans ce dernier cas ramener le temps à une figure.</a:t>
            </a:r>
          </a:p>
          <a:p>
            <a:pPr>
              <a:defRPr/>
            </a:pPr>
            <a:r>
              <a:rPr lang="fr-FR" sz="1000" u="sng" dirty="0"/>
              <a:t>Remarque concernant le calcul du TRG</a:t>
            </a:r>
          </a:p>
          <a:p>
            <a:pPr>
              <a:defRPr/>
            </a:pPr>
            <a:r>
              <a:rPr lang="fr-FR" sz="1000" dirty="0"/>
              <a:t>Le calcul d’un TRG doit se faire pour un poste. Mais pour éviter de devoir enregistrer un résultat par poste (ce qui alourdirait la saisie des données et la présentation des résultats) nous préférons n’enregistrer que les valeurs au niveau des ateliers.</a:t>
            </a:r>
          </a:p>
          <a:p>
            <a:pPr>
              <a:defRPr/>
            </a:pPr>
            <a:r>
              <a:rPr lang="fr-FR" sz="1000" dirty="0"/>
              <a:t>L’animateur a deux possibilités :</a:t>
            </a:r>
          </a:p>
          <a:p>
            <a:pPr marL="89507" indent="-89507">
              <a:buFont typeface="Arial" pitchFamily="34" charset="0"/>
              <a:buChar char="•"/>
              <a:defRPr/>
            </a:pPr>
            <a:r>
              <a:rPr lang="fr-FR" sz="1000" dirty="0"/>
              <a:t>Soit il laisse chaque poste calculer son TRG et dans ce cas l’atelier doit faire la moyenne des TRG de ses différents postes (à supposer que l’atelier ait plusieurs postes).</a:t>
            </a:r>
          </a:p>
          <a:p>
            <a:pPr marL="89507" indent="-89507">
              <a:buFont typeface="Arial" pitchFamily="34" charset="0"/>
              <a:buChar char="•"/>
              <a:defRPr/>
            </a:pPr>
            <a:r>
              <a:rPr lang="fr-FR" sz="1000" dirty="0"/>
              <a:t>Soit il demande à un seul poste de calculer son TRG qui sera considéré comme représentatif de l’ensemble de l’atelier.</a:t>
            </a:r>
          </a:p>
          <a:p>
            <a:pPr marL="89507" indent="-89507">
              <a:defRPr/>
            </a:pPr>
            <a:r>
              <a:rPr lang="fr-FR" sz="1000" u="sng" dirty="0"/>
              <a:t>Remarque concernant le calcul du TRG</a:t>
            </a:r>
          </a:p>
          <a:p>
            <a:pPr marL="238682" indent="-238682">
              <a:buFont typeface="Arial" pitchFamily="34" charset="0"/>
              <a:buChar char="•"/>
              <a:defRPr/>
            </a:pPr>
            <a:r>
              <a:rPr lang="fr-FR" sz="1000" dirty="0"/>
              <a:t>Ne pas oublier de calculer le « temps utile » uniquement sur les pièces bonnes du poste. S’il y a des non conformes connus au niveau de l’atelier, diviser par le nombre de postes pour connaître les non-conformes au niveau du poste (quitte à conserver un résultat avec décimale).</a:t>
            </a:r>
          </a:p>
        </p:txBody>
      </p:sp>
      <p:sp>
        <p:nvSpPr>
          <p:cNvPr id="1269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55D8BD2A-4C0E-4583-A16E-2D3C22FBE712}" type="slidenum">
              <a:rPr lang="fr-FR" altLang="fr-FR" sz="1100">
                <a:latin typeface="Calibri" panose="020F0502020204030204" pitchFamily="34" charset="0"/>
              </a:rPr>
              <a:pPr/>
              <a:t>56</a:t>
            </a:fld>
            <a:endParaRPr lang="fr-FR" altLang="fr-FR" sz="1100" dirty="0">
              <a:latin typeface="Calibri" panose="020F0502020204030204" pitchFamily="34" charset="0"/>
            </a:endParaRPr>
          </a:p>
        </p:txBody>
      </p:sp>
      <p:sp>
        <p:nvSpPr>
          <p:cNvPr id="12698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2045693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Espace réservé de l'image des diapositives 1"/>
          <p:cNvSpPr>
            <a:spLocks noGrp="1" noRot="1" noChangeAspect="1" noTextEdit="1"/>
          </p:cNvSpPr>
          <p:nvPr>
            <p:ph type="sldImg"/>
          </p:nvPr>
        </p:nvSpPr>
        <p:spPr>
          <a:xfrm>
            <a:off x="481013" y="663575"/>
            <a:ext cx="6361112" cy="4525963"/>
          </a:xfrm>
          <a:ln/>
        </p:spPr>
      </p:sp>
      <p:sp>
        <p:nvSpPr>
          <p:cNvPr id="129027" name="Espace réservé des commentaires 2"/>
          <p:cNvSpPr>
            <a:spLocks noGrp="1"/>
          </p:cNvSpPr>
          <p:nvPr>
            <p:ph type="body" idx="1"/>
          </p:nvPr>
        </p:nvSpPr>
        <p:spPr>
          <a:xfrm>
            <a:off x="293457" y="5312899"/>
            <a:ext cx="6630102" cy="4684385"/>
          </a:xfrm>
          <a:noFill/>
          <a:extLst>
            <a:ext uri="{909E8E84-426E-40DD-AFC4-6F175D3DCCD1}">
              <a14:hiddenFill xmlns:a14="http://schemas.microsoft.com/office/drawing/2010/main">
                <a:solidFill>
                  <a:srgbClr val="FFFFFF"/>
                </a:solidFill>
              </a14:hiddenFill>
            </a:ext>
          </a:extLst>
        </p:spPr>
        <p:txBody>
          <a:bodyPr/>
          <a:lstStyle/>
          <a:p>
            <a:pPr>
              <a:lnSpc>
                <a:spcPct val="110000"/>
              </a:lnSpc>
            </a:pPr>
            <a:endParaRPr lang="fr-FR" altLang="fr-FR" sz="1000" dirty="0"/>
          </a:p>
        </p:txBody>
      </p:sp>
      <p:sp>
        <p:nvSpPr>
          <p:cNvPr id="12902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7E5ADD3-74CA-492C-9D72-AF963A77029C}" type="slidenum">
              <a:rPr lang="fr-FR" altLang="fr-FR" sz="1100">
                <a:latin typeface="Calibri" panose="020F0502020204030204" pitchFamily="34" charset="0"/>
              </a:rPr>
              <a:pPr/>
              <a:t>57</a:t>
            </a:fld>
            <a:endParaRPr lang="fr-FR" altLang="fr-FR" sz="1100" dirty="0">
              <a:latin typeface="Calibri" panose="020F0502020204030204" pitchFamily="34" charset="0"/>
            </a:endParaRPr>
          </a:p>
        </p:txBody>
      </p:sp>
      <p:sp>
        <p:nvSpPr>
          <p:cNvPr id="12902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7276352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Espace réservé de l'image des diapositives 1"/>
          <p:cNvSpPr>
            <a:spLocks noGrp="1" noRot="1" noChangeAspect="1" noTextEdit="1"/>
          </p:cNvSpPr>
          <p:nvPr>
            <p:ph type="sldImg"/>
          </p:nvPr>
        </p:nvSpPr>
        <p:spPr>
          <a:xfrm>
            <a:off x="481013" y="663575"/>
            <a:ext cx="6361112" cy="4525963"/>
          </a:xfrm>
          <a:ln/>
        </p:spPr>
      </p:sp>
      <p:sp>
        <p:nvSpPr>
          <p:cNvPr id="13107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3107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1C20D54-1199-42E8-AC12-D70272A1036B}" type="slidenum">
              <a:rPr lang="fr-FR" altLang="fr-FR" sz="1100">
                <a:latin typeface="Calibri" panose="020F0502020204030204" pitchFamily="34" charset="0"/>
              </a:rPr>
              <a:pPr/>
              <a:t>58</a:t>
            </a:fld>
            <a:endParaRPr lang="fr-FR" altLang="fr-FR" sz="1100" dirty="0">
              <a:latin typeface="Calibri" panose="020F0502020204030204" pitchFamily="34" charset="0"/>
            </a:endParaRPr>
          </a:p>
        </p:txBody>
      </p:sp>
      <p:sp>
        <p:nvSpPr>
          <p:cNvPr id="13107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2793707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273561" y="5352180"/>
            <a:ext cx="6689788" cy="4504342"/>
          </a:xfrm>
        </p:spPr>
        <p:txBody>
          <a:bodyPr>
            <a:noAutofit/>
          </a:bodyPr>
          <a:lstStyle/>
          <a:p>
            <a:pPr>
              <a:lnSpc>
                <a:spcPts val="1253"/>
              </a:lnSpc>
              <a:defRPr/>
            </a:pPr>
            <a:r>
              <a:rPr lang="fr-FR" sz="1000" dirty="0"/>
              <a:t>L’animateur fait le lien avec l’analyse précédente en rappelant qu’un des obstacles à la circulation rapide d’un flux provient de la différence de rythme de production entre les différentes opérations d’un processus. Le concept de Takt time est utilisé pour améliorer l’équilibrage des différents postes de production avec la demande commerciale.</a:t>
            </a:r>
          </a:p>
          <a:p>
            <a:pPr>
              <a:lnSpc>
                <a:spcPts val="1253"/>
              </a:lnSpc>
              <a:defRPr/>
            </a:pPr>
            <a:r>
              <a:rPr lang="fr-FR" sz="1000" u="sng" dirty="0"/>
              <a:t>Définition du Takt time</a:t>
            </a:r>
          </a:p>
          <a:p>
            <a:pPr>
              <a:lnSpc>
                <a:spcPts val="1253"/>
              </a:lnSpc>
              <a:defRPr/>
            </a:pPr>
            <a:r>
              <a:rPr lang="fr-FR" sz="1000" dirty="0"/>
              <a:t>L’animateur utilise la diapo ci-dessus pour définir le takt time :</a:t>
            </a:r>
          </a:p>
          <a:p>
            <a:pPr marL="188956" indent="-188956">
              <a:lnSpc>
                <a:spcPts val="1253"/>
              </a:lnSpc>
              <a:buFont typeface="Arial" pitchFamily="34" charset="0"/>
              <a:buChar char="•"/>
              <a:defRPr/>
            </a:pPr>
            <a:r>
              <a:rPr lang="fr-FR" sz="1000" dirty="0"/>
              <a:t>Le besoin des clients s’exprime sous forme d’une quantité de produits par unité de temps : 400 000 / an (la valeur réelle du besoin sera indiquée plus loin).</a:t>
            </a:r>
          </a:p>
          <a:p>
            <a:pPr marL="188956" indent="-188956">
              <a:lnSpc>
                <a:spcPts val="1253"/>
              </a:lnSpc>
              <a:buFont typeface="Arial" pitchFamily="34" charset="0"/>
              <a:buChar char="•"/>
              <a:defRPr/>
            </a:pPr>
            <a:r>
              <a:rPr lang="fr-FR" sz="1000" dirty="0"/>
              <a:t>L’opération pour laquelle on veut calculer le Takt time est ici le Triangle. Mais il n’y a pas un triangle dans chaque produit fini. Supposons qu’il y ait en moyenne 1 triangle pour 2 produits finis. Le besoin du client est donc de 200 000 triangles par an.</a:t>
            </a:r>
          </a:p>
          <a:p>
            <a:pPr marL="188956" indent="-188956">
              <a:lnSpc>
                <a:spcPts val="1253"/>
              </a:lnSpc>
              <a:buFont typeface="Arial" pitchFamily="34" charset="0"/>
              <a:buChar char="•"/>
              <a:defRPr/>
            </a:pPr>
            <a:r>
              <a:rPr lang="fr-FR" sz="1000" dirty="0"/>
              <a:t>On considère qu’il y a dans l’année 2000 h (ce chiffre est juste pris en compte ici car il est simple, mais en réalité il faut prendre le temps réel de travail de l’usine). Cela correspond à 7 200 000 secondes.</a:t>
            </a:r>
          </a:p>
          <a:p>
            <a:pPr marL="188956" indent="-188956">
              <a:lnSpc>
                <a:spcPts val="1253"/>
              </a:lnSpc>
              <a:buFont typeface="Arial" pitchFamily="34" charset="0"/>
              <a:buChar char="•"/>
              <a:defRPr/>
            </a:pPr>
            <a:r>
              <a:rPr lang="fr-FR" sz="1000" dirty="0"/>
              <a:t>Le takt time est le résultat de la division du nombre de secondes par le nombre de triangles à réaliser pour satisfaire le client, ce qui suppose de faire </a:t>
            </a:r>
            <a:r>
              <a:rPr lang="fr-FR" sz="1000" dirty="0">
                <a:solidFill>
                  <a:srgbClr val="FF0000"/>
                </a:solidFill>
              </a:rPr>
              <a:t>en moyenne </a:t>
            </a:r>
            <a:r>
              <a:rPr lang="fr-FR" sz="1000" dirty="0"/>
              <a:t>un triangle toutes les</a:t>
            </a:r>
            <a:r>
              <a:rPr lang="fr-FR" sz="1000" b="1" dirty="0"/>
              <a:t> </a:t>
            </a:r>
            <a:r>
              <a:rPr lang="fr-FR" sz="1000" dirty="0">
                <a:solidFill>
                  <a:srgbClr val="FF0000"/>
                </a:solidFill>
              </a:rPr>
              <a:t>36 secondes</a:t>
            </a:r>
            <a:r>
              <a:rPr lang="fr-FR" sz="1000" dirty="0"/>
              <a:t>.</a:t>
            </a:r>
          </a:p>
        </p:txBody>
      </p:sp>
      <p:sp>
        <p:nvSpPr>
          <p:cNvPr id="13312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BC81F83-D8C1-450A-A438-EDFFFFFF62AC}" type="slidenum">
              <a:rPr lang="fr-FR" altLang="fr-FR" sz="1100">
                <a:latin typeface="Calibri" panose="020F0502020204030204" pitchFamily="34" charset="0"/>
              </a:rPr>
              <a:pPr/>
              <a:t>59</a:t>
            </a:fld>
            <a:endParaRPr lang="fr-FR" altLang="fr-FR" sz="1100" dirty="0">
              <a:latin typeface="Calibri" panose="020F0502020204030204" pitchFamily="34" charset="0"/>
            </a:endParaRPr>
          </a:p>
        </p:txBody>
      </p:sp>
      <p:sp>
        <p:nvSpPr>
          <p:cNvPr id="13312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663842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a:bodyPr>
          <a:lstStyle/>
          <a:p>
            <a:pPr>
              <a:lnSpc>
                <a:spcPts val="1253"/>
              </a:lnSpc>
              <a:defRPr/>
            </a:pPr>
            <a:r>
              <a:rPr lang="fr-FR" dirty="0"/>
              <a:t>L’animateur insistera sur le fait que le temps de cycle correspond au rythme auquel produit la machine, </a:t>
            </a:r>
            <a:r>
              <a:rPr lang="fr-FR" i="1" dirty="0"/>
              <a:t>quand elle produit</a:t>
            </a:r>
            <a:r>
              <a:rPr lang="fr-FR" dirty="0"/>
              <a:t>. Cette définition appelle deux commentaires :</a:t>
            </a:r>
          </a:p>
          <a:p>
            <a:pPr marL="96136" indent="-96136">
              <a:lnSpc>
                <a:spcPts val="1253"/>
              </a:lnSpc>
              <a:buFont typeface="Arial" pitchFamily="34" charset="0"/>
              <a:buChar char="•"/>
              <a:defRPr/>
            </a:pPr>
            <a:r>
              <a:rPr lang="fr-FR" dirty="0"/>
              <a:t>Le temps de cycle inclut les arrêts qui interviennent </a:t>
            </a:r>
            <a:r>
              <a:rPr lang="fr-FR" i="1" dirty="0"/>
              <a:t>habituellement</a:t>
            </a:r>
            <a:r>
              <a:rPr lang="fr-FR" dirty="0"/>
              <a:t> quand la machine est en service : changements d’outils, pannes, etc.</a:t>
            </a:r>
          </a:p>
          <a:p>
            <a:pPr marL="96136" indent="-96136">
              <a:lnSpc>
                <a:spcPts val="1253"/>
              </a:lnSpc>
              <a:buFont typeface="Arial" pitchFamily="34" charset="0"/>
              <a:buChar char="•"/>
              <a:defRPr/>
            </a:pPr>
            <a:r>
              <a:rPr lang="fr-FR" dirty="0"/>
              <a:t>En revanche, on n‘inclut pas dans le temps de cycle les arrêts qui correspondent à un temps pendant il n’est pas prévu que la machine produise, autrement dit les temps « hors planning ». C’est la raison pour laquelle nous proposons ici de faire le calcul en enlevant les temps pendant lesquels le poste n’a pas eu de travail</a:t>
            </a:r>
          </a:p>
          <a:p>
            <a:pPr marL="278462">
              <a:lnSpc>
                <a:spcPts val="1253"/>
              </a:lnSpc>
              <a:defRPr/>
            </a:pPr>
            <a:r>
              <a:rPr lang="fr-FR" sz="900" dirty="0"/>
              <a:t>Remarque : cette façon de procéder diffère de celle utilisée pour le calcul du TRG, dans lequel nous avons pris en compte tous les arrêts. Mais dans le cas du TRG nous avions la volonté de mettre en évidence des arrêts considérés comme imprévus. À présent, on considère que ces arrêts pourraient être prévus, dans le cadre d’un meilleur équilibrage du travail entre les ateliers.</a:t>
            </a:r>
          </a:p>
          <a:p>
            <a:pPr>
              <a:defRPr/>
            </a:pPr>
            <a:r>
              <a:rPr lang="fr-FR" dirty="0"/>
              <a:t>Le calcul du temps de charge, qui implique de soustraire du temps d’ouverture les arrêts pour manque de charge, est commenté plus loin.</a:t>
            </a:r>
          </a:p>
        </p:txBody>
      </p:sp>
      <p:sp>
        <p:nvSpPr>
          <p:cNvPr id="1351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BF032D4-B524-47F8-AD0C-B2DE9DA91398}" type="slidenum">
              <a:rPr lang="fr-FR" altLang="fr-FR" sz="1100">
                <a:latin typeface="Calibri" panose="020F0502020204030204" pitchFamily="34" charset="0"/>
              </a:rPr>
              <a:pPr/>
              <a:t>60</a:t>
            </a:fld>
            <a:endParaRPr lang="fr-FR" altLang="fr-FR" sz="1100" dirty="0">
              <a:latin typeface="Calibri" panose="020F0502020204030204" pitchFamily="34" charset="0"/>
            </a:endParaRPr>
          </a:p>
        </p:txBody>
      </p:sp>
      <p:sp>
        <p:nvSpPr>
          <p:cNvPr id="13517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2244880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Espace réservé de l'image des diapositives 1"/>
          <p:cNvSpPr>
            <a:spLocks noGrp="1" noRot="1" noChangeAspect="1" noTextEdit="1"/>
          </p:cNvSpPr>
          <p:nvPr>
            <p:ph type="sldImg"/>
          </p:nvPr>
        </p:nvSpPr>
        <p:spPr>
          <a:xfrm>
            <a:off x="481013" y="663575"/>
            <a:ext cx="6361112" cy="4525963"/>
          </a:xfrm>
          <a:ln/>
        </p:spPr>
      </p:sp>
      <p:sp>
        <p:nvSpPr>
          <p:cNvPr id="13721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Les participants remplissent le tableau pour leur atelier. Une fois le calcul terminé, ils annoncent les valeurs et chacun peut mettre à jour son dossier pour l’ensemble de l’usine.</a:t>
            </a:r>
          </a:p>
          <a:p>
            <a:r>
              <a:rPr lang="fr-FR" altLang="fr-FR" u="sng" dirty="0"/>
              <a:t>Remarque concernant la demande commerciale</a:t>
            </a:r>
          </a:p>
          <a:p>
            <a:r>
              <a:rPr lang="fr-FR" altLang="fr-FR" dirty="0"/>
              <a:t>La demande commerciale ne peut pas être fixée a priori, car elle dépend du nombre de participants (voir diapo suivante).</a:t>
            </a:r>
          </a:p>
        </p:txBody>
      </p:sp>
      <p:sp>
        <p:nvSpPr>
          <p:cNvPr id="1372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0FCBD39A-7BCE-44CB-8FE4-37A0204123F2}" type="slidenum">
              <a:rPr lang="fr-FR" altLang="fr-FR" sz="1100">
                <a:latin typeface="Calibri" panose="020F0502020204030204" pitchFamily="34" charset="0"/>
              </a:rPr>
              <a:pPr/>
              <a:t>61</a:t>
            </a:fld>
            <a:endParaRPr lang="fr-FR" altLang="fr-FR" sz="1100" dirty="0">
              <a:latin typeface="Calibri" panose="020F0502020204030204" pitchFamily="34" charset="0"/>
            </a:endParaRPr>
          </a:p>
        </p:txBody>
      </p:sp>
      <p:sp>
        <p:nvSpPr>
          <p:cNvPr id="13722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9033489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Espace réservé de l'image des diapositives 1"/>
          <p:cNvSpPr>
            <a:spLocks noGrp="1" noRot="1" noChangeAspect="1" noTextEdit="1"/>
          </p:cNvSpPr>
          <p:nvPr>
            <p:ph type="sldImg"/>
          </p:nvPr>
        </p:nvSpPr>
        <p:spPr>
          <a:xfrm>
            <a:off x="481013" y="663575"/>
            <a:ext cx="6361112" cy="4525963"/>
          </a:xfrm>
          <a:ln/>
        </p:spPr>
      </p:sp>
      <p:sp>
        <p:nvSpPr>
          <p:cNvPr id="13926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3926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652974C-998E-4035-87FE-266D709FDCD9}" type="slidenum">
              <a:rPr lang="fr-FR" altLang="fr-FR" sz="1100">
                <a:latin typeface="Calibri" panose="020F0502020204030204" pitchFamily="34" charset="0"/>
              </a:rPr>
              <a:pPr/>
              <a:t>62</a:t>
            </a:fld>
            <a:endParaRPr lang="fr-FR" altLang="fr-FR" sz="1100" dirty="0">
              <a:latin typeface="Calibri" panose="020F0502020204030204" pitchFamily="34" charset="0"/>
            </a:endParaRPr>
          </a:p>
        </p:txBody>
      </p:sp>
      <p:sp>
        <p:nvSpPr>
          <p:cNvPr id="13926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633683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Espace réservé de l'image des diapositives 1"/>
          <p:cNvSpPr>
            <a:spLocks noGrp="1" noRot="1" noChangeAspect="1" noTextEdit="1"/>
          </p:cNvSpPr>
          <p:nvPr>
            <p:ph type="sldImg"/>
          </p:nvPr>
        </p:nvSpPr>
        <p:spPr>
          <a:xfrm>
            <a:off x="481013" y="663575"/>
            <a:ext cx="6361112" cy="4525963"/>
          </a:xfrm>
          <a:ln/>
        </p:spPr>
      </p:sp>
      <p:sp>
        <p:nvSpPr>
          <p:cNvPr id="14131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Ce document, qui figure dans le Dossier du participant, représente les GAMMES DE FABRICATION.</a:t>
            </a:r>
          </a:p>
          <a:p>
            <a:r>
              <a:rPr lang="fr-FR" altLang="fr-FR" dirty="0"/>
              <a:t>L’animateur explique que tous les OF travaillés dans la simulation 1 sont issus de l’un de ces processus, avec des couleurs diverses. Ces gammes ont les mêmes proportions dans les ventes. Autrement dit, chacune d’entre elles concerne  1 produit vendu sur 10 en moyenne.</a:t>
            </a:r>
          </a:p>
          <a:p>
            <a:r>
              <a:rPr lang="fr-FR" altLang="fr-FR" dirty="0"/>
              <a:t>Avec ces informations, chaque atelier est capable de calculer son </a:t>
            </a:r>
            <a:r>
              <a:rPr lang="fr-FR" altLang="fr-FR" dirty="0" err="1"/>
              <a:t>takt</a:t>
            </a:r>
            <a:r>
              <a:rPr lang="fr-FR" altLang="fr-FR" dirty="0"/>
              <a:t> time.</a:t>
            </a:r>
          </a:p>
        </p:txBody>
      </p:sp>
      <p:sp>
        <p:nvSpPr>
          <p:cNvPr id="1413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3D5B0D3-72FB-43FB-97D1-5524497A50C0}" type="slidenum">
              <a:rPr lang="fr-FR" altLang="fr-FR" sz="1100">
                <a:latin typeface="Calibri" panose="020F0502020204030204" pitchFamily="34" charset="0"/>
              </a:rPr>
              <a:pPr/>
              <a:t>63</a:t>
            </a:fld>
            <a:endParaRPr lang="fr-FR" altLang="fr-FR" sz="1100" dirty="0">
              <a:latin typeface="Calibri" panose="020F0502020204030204" pitchFamily="34" charset="0"/>
            </a:endParaRPr>
          </a:p>
        </p:txBody>
      </p:sp>
      <p:sp>
        <p:nvSpPr>
          <p:cNvPr id="14131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0349879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a:bodyPr>
          <a:lstStyle/>
          <a:p>
            <a:pPr>
              <a:defRPr/>
            </a:pPr>
            <a:r>
              <a:rPr lang="fr-FR" kern="0" dirty="0"/>
              <a:t>L’animateur explique comment calculer le temps de cycle à l’aide de ce tableau. Une fois les calculs terminés, chaque atelier annonce ses valeurs et chacun met à jour son dossier.</a:t>
            </a:r>
          </a:p>
          <a:p>
            <a:pPr>
              <a:defRPr/>
            </a:pPr>
            <a:r>
              <a:rPr lang="fr-FR" u="sng" kern="0" dirty="0"/>
              <a:t>Trois remarques</a:t>
            </a:r>
            <a:endParaRPr lang="fr-FR" kern="0" dirty="0"/>
          </a:p>
          <a:p>
            <a:pPr>
              <a:defRPr/>
            </a:pPr>
            <a:r>
              <a:rPr lang="fr-FR" b="1" kern="0" dirty="0">
                <a:solidFill>
                  <a:srgbClr val="FF0000"/>
                </a:solidFill>
              </a:rPr>
              <a:t>1. </a:t>
            </a:r>
            <a:r>
              <a:rPr lang="fr-FR" kern="0" dirty="0"/>
              <a:t>Le calcul se fait par atelier et non par poste de travail. Car c’est bien la production de l’atelier qui doit satisfaire la demande commerciale et non la production d’un seul poste.</a:t>
            </a:r>
          </a:p>
          <a:p>
            <a:pPr>
              <a:defRPr/>
            </a:pPr>
            <a:r>
              <a:rPr lang="fr-FR" b="1" kern="0" dirty="0">
                <a:solidFill>
                  <a:srgbClr val="FF0000"/>
                </a:solidFill>
              </a:rPr>
              <a:t>2.</a:t>
            </a:r>
            <a:r>
              <a:rPr lang="fr-FR" kern="0" dirty="0"/>
              <a:t> La difficulté est évidemment d’évaluer le taux de charge. Il n’y a pas d’autre moyen que de demander aux membres de chaque atelier combien de temps, selon eux, leur atelier a été arrêté. On obtient en général des taux de charge proches de 100 % pour Triangle et Étoile, et proches de 50 à 70% pour les autres ateliers. L’animateur admettra avec le groupe qu’il n’était pas possible de mesurer avec précision le temps de charge durant la simulation, mais que les entreprises ont des moyens précis pour le faire. Au final les valeurs trouvées par les participants pour les cycles de production sont donc difficiles à prévoir. </a:t>
            </a:r>
          </a:p>
          <a:p>
            <a:pPr>
              <a:defRPr/>
            </a:pPr>
            <a:r>
              <a:rPr lang="fr-FR" b="1" kern="0" dirty="0">
                <a:solidFill>
                  <a:srgbClr val="FF0000"/>
                </a:solidFill>
              </a:rPr>
              <a:t>3. </a:t>
            </a:r>
            <a:r>
              <a:rPr lang="fr-FR" kern="0" dirty="0"/>
              <a:t>On peut toutefois faire une évaluation d’une façon différente, en considérant que le temps moyen nécessaire à un poste pour colorier une pièce en moyenne (compte tenu des déplacements) est de l’ordre de 30 à 40 secondes. On aura donc un cycle de 30 à 40 secondes divisé par le nombre de postes de l’atelier. La fixation de la demande commerciale a été faite de façon  à ce que sur certains postes (étoile, triangle) le temps de cycle soit supérieur au takt time, alors que sur les autres postes il est inférieur. Mais ce résultat dépend du nombre de personnes affectées à chaque poste, on ne peut donc pas le considérer comme certain.</a:t>
            </a:r>
          </a:p>
          <a:p>
            <a:pPr>
              <a:defRPr/>
            </a:pPr>
            <a:endParaRPr lang="fr-FR" dirty="0"/>
          </a:p>
        </p:txBody>
      </p:sp>
      <p:sp>
        <p:nvSpPr>
          <p:cNvPr id="14336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96D8AEE-1D64-4E3D-B9B2-090CFE2204D9}" type="slidenum">
              <a:rPr lang="fr-FR" altLang="fr-FR" sz="1100">
                <a:latin typeface="Calibri" panose="020F0502020204030204" pitchFamily="34" charset="0"/>
              </a:rPr>
              <a:pPr/>
              <a:t>64</a:t>
            </a:fld>
            <a:endParaRPr lang="fr-FR" altLang="fr-FR" sz="1100" dirty="0">
              <a:latin typeface="Calibri" panose="020F0502020204030204" pitchFamily="34" charset="0"/>
            </a:endParaRPr>
          </a:p>
        </p:txBody>
      </p:sp>
      <p:sp>
        <p:nvSpPr>
          <p:cNvPr id="14336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6568759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Espace réservé de l'image des diapositives 1"/>
          <p:cNvSpPr>
            <a:spLocks noGrp="1" noRot="1" noChangeAspect="1" noTextEdit="1"/>
          </p:cNvSpPr>
          <p:nvPr>
            <p:ph type="sldImg"/>
          </p:nvPr>
        </p:nvSpPr>
        <p:spPr>
          <a:xfrm>
            <a:off x="481013" y="663575"/>
            <a:ext cx="6361112" cy="4525963"/>
          </a:xfrm>
          <a:ln/>
        </p:spPr>
      </p:sp>
      <p:sp>
        <p:nvSpPr>
          <p:cNvPr id="14541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454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543D0E3-05F6-4EBF-8D9E-1F7D5C8B392C}" type="slidenum">
              <a:rPr lang="fr-FR" altLang="fr-FR" sz="1100">
                <a:latin typeface="Calibri" panose="020F0502020204030204" pitchFamily="34" charset="0"/>
              </a:rPr>
              <a:pPr/>
              <a:t>65</a:t>
            </a:fld>
            <a:endParaRPr lang="fr-FR" altLang="fr-FR" sz="1100" dirty="0">
              <a:latin typeface="Calibri" panose="020F0502020204030204" pitchFamily="34" charset="0"/>
            </a:endParaRPr>
          </a:p>
        </p:txBody>
      </p:sp>
      <p:sp>
        <p:nvSpPr>
          <p:cNvPr id="14541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9019463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594FFF1-7F74-4EF0-81C7-10FF20DD7588}" type="slidenum">
              <a:rPr lang="fr-FR" altLang="fr-FR" sz="1100">
                <a:latin typeface="Calibri" panose="020F0502020204030204" pitchFamily="34" charset="0"/>
              </a:rPr>
              <a:pPr/>
              <a:t>66</a:t>
            </a:fld>
            <a:endParaRPr lang="fr-FR" altLang="fr-FR" sz="1100" dirty="0">
              <a:latin typeface="Calibri" panose="020F0502020204030204" pitchFamily="34" charset="0"/>
            </a:endParaRPr>
          </a:p>
        </p:txBody>
      </p:sp>
      <p:sp>
        <p:nvSpPr>
          <p:cNvPr id="147459"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147460" name="Rectangle 6"/>
          <p:cNvSpPr>
            <a:spLocks noChangeArrowheads="1"/>
          </p:cNvSpPr>
          <p:nvPr/>
        </p:nvSpPr>
        <p:spPr bwMode="auto">
          <a:xfrm>
            <a:off x="880370" y="3276779"/>
            <a:ext cx="5386647"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4. Les améliorations</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5629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Espace réservé de l'image des diapositives 1"/>
          <p:cNvSpPr>
            <a:spLocks noGrp="1" noRot="1" noChangeAspect="1" noTextEdit="1"/>
          </p:cNvSpPr>
          <p:nvPr>
            <p:ph type="sldImg"/>
          </p:nvPr>
        </p:nvSpPr>
        <p:spPr>
          <a:xfrm>
            <a:off x="481013" y="663575"/>
            <a:ext cx="6361112" cy="4525963"/>
          </a:xfrm>
          <a:ln/>
        </p:spPr>
      </p:sp>
      <p:sp>
        <p:nvSpPr>
          <p:cNvPr id="1495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constitue 4 équipes de taille sensiblement égale. Chaque équipe se met en place autour d’une table.</a:t>
            </a:r>
          </a:p>
          <a:p>
            <a:r>
              <a:rPr lang="fr-FR" altLang="fr-FR" dirty="0"/>
              <a:t>Il annonce que les projets d’amélioration sont répartis en quatre grands thèmes présentés sur la diapo, et résumé dans la Fiche de mission.</a:t>
            </a:r>
          </a:p>
        </p:txBody>
      </p:sp>
      <p:sp>
        <p:nvSpPr>
          <p:cNvPr id="14950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E9B5329-39CE-49B6-B300-3DA845A2D97B}" type="slidenum">
              <a:rPr lang="fr-FR" altLang="fr-FR" sz="1100">
                <a:latin typeface="Calibri" panose="020F0502020204030204" pitchFamily="34" charset="0"/>
              </a:rPr>
              <a:pPr/>
              <a:t>67</a:t>
            </a:fld>
            <a:endParaRPr lang="fr-FR" altLang="fr-FR" sz="1100" dirty="0">
              <a:latin typeface="Calibri" panose="020F0502020204030204" pitchFamily="34" charset="0"/>
            </a:endParaRPr>
          </a:p>
        </p:txBody>
      </p:sp>
      <p:sp>
        <p:nvSpPr>
          <p:cNvPr id="14950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9224382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Autofit/>
          </a:bodyPr>
          <a:lstStyle/>
          <a:p>
            <a:pPr>
              <a:defRPr/>
            </a:pPr>
            <a:r>
              <a:rPr lang="fr-FR" sz="1000" dirty="0"/>
              <a:t>L’animateur présente une Fiche de mission à titre d’exemple. Il insiste sur plusieurs points :</a:t>
            </a:r>
          </a:p>
          <a:p>
            <a:pPr marL="96136" indent="-96136">
              <a:buFont typeface="Arial" pitchFamily="34" charset="0"/>
              <a:buChar char="•"/>
              <a:defRPr/>
            </a:pPr>
            <a:r>
              <a:rPr lang="fr-FR" sz="1000" u="sng" dirty="0"/>
              <a:t>L’objectif</a:t>
            </a:r>
            <a:r>
              <a:rPr lang="fr-FR" sz="1000" dirty="0"/>
              <a:t>, qui précise ce qui est attendu du projet.</a:t>
            </a:r>
          </a:p>
          <a:p>
            <a:pPr marL="96136" indent="-96136">
              <a:buFont typeface="Arial" pitchFamily="34" charset="0"/>
              <a:buChar char="•"/>
              <a:defRPr/>
            </a:pPr>
            <a:r>
              <a:rPr lang="fr-FR" sz="1000" dirty="0"/>
              <a:t>Les </a:t>
            </a:r>
            <a:r>
              <a:rPr lang="fr-FR" sz="1000" u="sng" dirty="0"/>
              <a:t>supports</a:t>
            </a:r>
            <a:r>
              <a:rPr lang="fr-FR" sz="1000" dirty="0"/>
              <a:t>, qui sont des aides méthodologiques distribuées à chaque équipe.</a:t>
            </a:r>
          </a:p>
          <a:p>
            <a:pPr marL="96136" indent="-96136">
              <a:buFont typeface="Arial" pitchFamily="34" charset="0"/>
              <a:buChar char="•"/>
              <a:defRPr/>
            </a:pPr>
            <a:r>
              <a:rPr lang="fr-FR" sz="1000" dirty="0"/>
              <a:t>Les </a:t>
            </a:r>
            <a:r>
              <a:rPr lang="fr-FR" sz="1000" u="sng" dirty="0"/>
              <a:t>échanges</a:t>
            </a:r>
            <a:r>
              <a:rPr lang="fr-FR" sz="1000" dirty="0"/>
              <a:t> avec les autres équipes, qui doivent conduire à tenir compte des objectifs et des moyens des autres équipes pour construire un projet cohérent.</a:t>
            </a:r>
          </a:p>
          <a:p>
            <a:pPr marL="96136" indent="-96136">
              <a:buFont typeface="Arial" pitchFamily="34" charset="0"/>
              <a:buChar char="•"/>
              <a:defRPr/>
            </a:pPr>
            <a:r>
              <a:rPr lang="fr-FR" sz="1000" dirty="0"/>
              <a:t>La </a:t>
            </a:r>
            <a:r>
              <a:rPr lang="fr-FR" sz="1000" u="sng" dirty="0"/>
              <a:t>présentation</a:t>
            </a:r>
            <a:r>
              <a:rPr lang="fr-FR" sz="1000" dirty="0"/>
              <a:t>, qui sera faite par chaque équipe et au cours de laquelle les objectifs chiffrés sur les 4 indicateurs seront indiqués (coût, qualité, délai, stock).</a:t>
            </a:r>
          </a:p>
          <a:p>
            <a:pPr marL="96136" indent="-96136">
              <a:defRPr/>
            </a:pPr>
            <a:r>
              <a:rPr lang="fr-FR" sz="1000" dirty="0">
                <a:solidFill>
                  <a:srgbClr val="FF0000"/>
                </a:solidFill>
              </a:rPr>
              <a:t>Remarques importantes</a:t>
            </a:r>
          </a:p>
          <a:p>
            <a:pPr marL="238682" indent="-238682">
              <a:buFont typeface="+mj-lt"/>
              <a:buAutoNum type="arabicPeriod"/>
              <a:defRPr/>
            </a:pPr>
            <a:r>
              <a:rPr lang="fr-FR" sz="1000" u="sng" dirty="0"/>
              <a:t>Intervention de l’animateur</a:t>
            </a:r>
          </a:p>
          <a:p>
            <a:pPr marL="238682" indent="-238682">
              <a:buFont typeface="Arial" pitchFamily="34" charset="0"/>
              <a:buChar char="•"/>
              <a:defRPr/>
            </a:pPr>
            <a:r>
              <a:rPr lang="fr-FR" sz="1000" dirty="0"/>
              <a:t>Quand il distribue les Fiches l’animateur doit insister sur le fait qu’il est disponible pour répondre aux questions des participants. Il y a en effet dans les fiches des termes que les participants peuvent ne pas comprendre. Ils doivent demander de l’aide à l’animateur.</a:t>
            </a:r>
          </a:p>
          <a:p>
            <a:pPr marL="238682" indent="-238682">
              <a:buFont typeface="+mj-lt"/>
              <a:buAutoNum type="arabicPeriod" startAt="2"/>
              <a:defRPr/>
            </a:pPr>
            <a:r>
              <a:rPr lang="fr-FR" sz="1000" u="sng" dirty="0"/>
              <a:t>Échanges</a:t>
            </a:r>
          </a:p>
          <a:p>
            <a:pPr>
              <a:defRPr/>
            </a:pPr>
            <a:r>
              <a:rPr lang="fr-FR" sz="1000" dirty="0"/>
              <a:t>Les échanges entre les équipes projet jouent un rôle clé dans le jeu. Pour deux raisons :</a:t>
            </a:r>
          </a:p>
          <a:p>
            <a:pPr marL="96136" indent="-96136">
              <a:buFont typeface="Arial" pitchFamily="34" charset="0"/>
              <a:buChar char="•"/>
              <a:defRPr/>
            </a:pPr>
            <a:r>
              <a:rPr lang="fr-FR" sz="1000" dirty="0"/>
              <a:t>Ils montrent aux participants que les projets sont liés et qu’une démarche Lean nécessite une collaboration entre les différents services de l’entreprise.</a:t>
            </a:r>
          </a:p>
          <a:p>
            <a:pPr marL="96136" indent="-96136">
              <a:buFont typeface="Arial" pitchFamily="34" charset="0"/>
              <a:buChar char="•"/>
              <a:defRPr/>
            </a:pPr>
            <a:r>
              <a:rPr lang="fr-FR" sz="1000" dirty="0"/>
              <a:t>Ils aident les participants à trouver des solutions. En effet, comme la Fiche de mission les incite à aller voir une autre équipe, cela les oblige à étudier le sujet évoqué. C’est une façon discrète d’orienter les participants vers des pistes d’amélioration qu’ils auraient peut-être ignorées.</a:t>
            </a:r>
          </a:p>
          <a:p>
            <a:pPr>
              <a:defRPr/>
            </a:pPr>
            <a:endParaRPr lang="fr-FR" sz="1000" dirty="0"/>
          </a:p>
        </p:txBody>
      </p:sp>
      <p:sp>
        <p:nvSpPr>
          <p:cNvPr id="15155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0CEB9CC-47D6-4789-ABA8-941E93B0335E}" type="slidenum">
              <a:rPr lang="fr-FR" altLang="fr-FR" sz="1100">
                <a:latin typeface="Calibri" panose="020F0502020204030204" pitchFamily="34" charset="0"/>
              </a:rPr>
              <a:pPr/>
              <a:t>68</a:t>
            </a:fld>
            <a:endParaRPr lang="fr-FR" altLang="fr-FR" sz="1100" dirty="0">
              <a:latin typeface="Calibri" panose="020F0502020204030204" pitchFamily="34" charset="0"/>
            </a:endParaRPr>
          </a:p>
        </p:txBody>
      </p:sp>
      <p:sp>
        <p:nvSpPr>
          <p:cNvPr id="15155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42195383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Espace réservé de l'image des diapositives 1"/>
          <p:cNvSpPr>
            <a:spLocks noGrp="1" noRot="1" noChangeAspect="1" noTextEdit="1"/>
          </p:cNvSpPr>
          <p:nvPr>
            <p:ph type="sldImg"/>
          </p:nvPr>
        </p:nvSpPr>
        <p:spPr>
          <a:xfrm>
            <a:off x="481013" y="663575"/>
            <a:ext cx="6361112" cy="4525963"/>
          </a:xfrm>
          <a:ln/>
        </p:spPr>
      </p:sp>
      <p:sp>
        <p:nvSpPr>
          <p:cNvPr id="153603" name="Espace réservé des commentaires 2"/>
          <p:cNvSpPr>
            <a:spLocks noGrp="1"/>
          </p:cNvSpPr>
          <p:nvPr>
            <p:ph type="body" idx="1"/>
          </p:nvPr>
        </p:nvSpPr>
        <p:spPr>
          <a:xfrm>
            <a:off x="293457" y="5312899"/>
            <a:ext cx="6630102" cy="4684385"/>
          </a:xfrm>
          <a:noFill/>
          <a:extLst>
            <a:ext uri="{909E8E84-426E-40DD-AFC4-6F175D3DCCD1}">
              <a14:hiddenFill xmlns:a14="http://schemas.microsoft.com/office/drawing/2010/main">
                <a:solidFill>
                  <a:srgbClr val="FFFFFF"/>
                </a:solidFill>
              </a14:hiddenFill>
            </a:ext>
          </a:extLst>
        </p:spPr>
        <p:txBody>
          <a:bodyPr/>
          <a:lstStyle/>
          <a:p>
            <a:pPr>
              <a:lnSpc>
                <a:spcPct val="110000"/>
              </a:lnSpc>
            </a:pPr>
            <a:r>
              <a:rPr lang="fr-FR" altLang="fr-FR" sz="1000" dirty="0"/>
              <a:t>L’animateur aura pris soir de préparer les 4 groupes de matériel destinés à chaque équipe.</a:t>
            </a:r>
          </a:p>
          <a:p>
            <a:pPr>
              <a:lnSpc>
                <a:spcPct val="110000"/>
              </a:lnSpc>
            </a:pPr>
            <a:r>
              <a:rPr lang="fr-FR" altLang="fr-FR" sz="1000" dirty="0"/>
              <a:t>Il distribue ce matériel, demande de lire la fiche de mission, puis passe voir chaque équipe pour expliquer comment utiliser les supports méthodologiques (voir sur les diapos suivantes).</a:t>
            </a:r>
          </a:p>
          <a:p>
            <a:pPr>
              <a:lnSpc>
                <a:spcPct val="110000"/>
              </a:lnSpc>
            </a:pPr>
            <a:r>
              <a:rPr lang="fr-FR" altLang="fr-FR" sz="1000" u="sng" dirty="0"/>
              <a:t>Remarque</a:t>
            </a:r>
          </a:p>
          <a:p>
            <a:pPr>
              <a:lnSpc>
                <a:spcPct val="110000"/>
              </a:lnSpc>
            </a:pPr>
            <a:r>
              <a:rPr lang="fr-FR" altLang="fr-FR" sz="1000" dirty="0"/>
              <a:t>Il peut arriver que des tickets e gamme ou d’implantation soit égarés à l’issue d’une animation. C’est la raison pour laquelle nous fournissons un fichier informatique qui permet de fabriquer les tickets . Le ticket sera en bristol non plastifié, mais cela suffit pour se dépanner en attendant de commander au CIPE un jeu complet de tickets si l’animateur le juge nécessaire.</a:t>
            </a:r>
          </a:p>
        </p:txBody>
      </p:sp>
      <p:sp>
        <p:nvSpPr>
          <p:cNvPr id="15360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ABD961B0-179B-4489-A009-F051EE93153F}" type="slidenum">
              <a:rPr lang="fr-FR" altLang="fr-FR" sz="1100">
                <a:latin typeface="Calibri" panose="020F0502020204030204" pitchFamily="34" charset="0"/>
              </a:rPr>
              <a:pPr/>
              <a:t>69</a:t>
            </a:fld>
            <a:endParaRPr lang="fr-FR" altLang="fr-FR" sz="1100" dirty="0">
              <a:latin typeface="Calibri" panose="020F0502020204030204" pitchFamily="34" charset="0"/>
            </a:endParaRPr>
          </a:p>
        </p:txBody>
      </p:sp>
      <p:sp>
        <p:nvSpPr>
          <p:cNvPr id="15360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4327243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66405" y="5342361"/>
            <a:ext cx="6504100" cy="4514163"/>
          </a:xfrm>
        </p:spPr>
        <p:txBody>
          <a:bodyPr>
            <a:noAutofit/>
          </a:bodyPr>
          <a:lstStyle/>
          <a:p>
            <a:pPr>
              <a:lnSpc>
                <a:spcPct val="110000"/>
              </a:lnSpc>
              <a:defRPr/>
            </a:pPr>
            <a:r>
              <a:rPr lang="fr-FR" sz="1000" dirty="0"/>
              <a:t>Le plateau productivité a deux fonctions :</a:t>
            </a:r>
          </a:p>
          <a:p>
            <a:pPr marL="92820" indent="-92820">
              <a:lnSpc>
                <a:spcPct val="110000"/>
              </a:lnSpc>
              <a:buFont typeface="Arial" pitchFamily="34" charset="0"/>
              <a:buChar char="•"/>
              <a:defRPr/>
            </a:pPr>
            <a:r>
              <a:rPr lang="fr-FR" sz="1000" dirty="0"/>
              <a:t>Il permet de calculer le détail du TRG d’un poste de travail, en séparant les arrêts identifiés, les écarts de performance et les temps perdus pour non conformes.</a:t>
            </a:r>
          </a:p>
          <a:p>
            <a:pPr marL="92820" indent="-92820">
              <a:lnSpc>
                <a:spcPct val="110000"/>
              </a:lnSpc>
              <a:buFont typeface="Arial" pitchFamily="34" charset="0"/>
              <a:buChar char="•"/>
              <a:defRPr/>
            </a:pPr>
            <a:r>
              <a:rPr lang="fr-FR" sz="1000" dirty="0"/>
              <a:t>Il permet de séparer les temps entre Valeur ajoutée et Gaspillages, et de classer les gaspillages en 5 catégories.</a:t>
            </a:r>
          </a:p>
          <a:p>
            <a:pPr>
              <a:lnSpc>
                <a:spcPct val="110000"/>
              </a:lnSpc>
              <a:defRPr/>
            </a:pPr>
            <a:r>
              <a:rPr lang="fr-FR" sz="1000" u="sng" dirty="0"/>
              <a:t>Quel poste de travail choisir ?</a:t>
            </a:r>
          </a:p>
          <a:p>
            <a:pPr>
              <a:lnSpc>
                <a:spcPct val="110000"/>
              </a:lnSpc>
              <a:defRPr/>
            </a:pPr>
            <a:r>
              <a:rPr lang="fr-FR" sz="1000" dirty="0"/>
              <a:t>Pour simplifier les calculs on choisit de faire le calcul du TRG détaillé pour un seul poste. L’animateur peut laisser les participants libres de leur choix. </a:t>
            </a:r>
          </a:p>
          <a:p>
            <a:pPr marL="92820">
              <a:lnSpc>
                <a:spcPct val="110000"/>
              </a:lnSpc>
              <a:defRPr/>
            </a:pPr>
            <a:r>
              <a:rPr lang="fr-FR" sz="1000" dirty="0"/>
              <a:t>Remarque : s’il y avait 2 postes dans l’atelier (ou davantage) le calcul doit se faire pour un seul poste (même principe que pour le calcul fait précédemment pour le TRG).</a:t>
            </a:r>
          </a:p>
          <a:p>
            <a:pPr>
              <a:lnSpc>
                <a:spcPct val="110000"/>
              </a:lnSpc>
              <a:defRPr/>
            </a:pPr>
            <a:r>
              <a:rPr lang="fr-FR" sz="1000" u="sng" dirty="0"/>
              <a:t>Calcul des temps d’arrêt</a:t>
            </a:r>
          </a:p>
          <a:p>
            <a:pPr>
              <a:lnSpc>
                <a:spcPct val="110000"/>
              </a:lnSpc>
              <a:defRPr/>
            </a:pPr>
            <a:r>
              <a:rPr lang="fr-FR" sz="1000" dirty="0"/>
              <a:t>Le nombre de changements de série proviendra du compteur situé dans le dossier du participant (changements de couleur). Le nombre de transferts sera évalué en divisant la quantité produite par la taille du lot de transfert. Pour connaître cette valeur, il faut interroger le poste concerné (l’évaluation du lot de transfert sera également faite par un autre sous-groupe, celui chargé du Flux).</a:t>
            </a:r>
          </a:p>
          <a:p>
            <a:pPr>
              <a:lnSpc>
                <a:spcPct val="110000"/>
              </a:lnSpc>
              <a:defRPr/>
            </a:pPr>
            <a:r>
              <a:rPr lang="fr-FR" sz="1000" dirty="0"/>
              <a:t>Les temps pour le changement de série et pour le transfert seront évalués (de façon très approximative) en chronométrant un opérateur qui simule l’opération. Si les tables ont changé de place entre temps, faire la mesure sur une distance correspondant à la distance moyenne entre les postes dans la simulation n°1.</a:t>
            </a:r>
          </a:p>
          <a:p>
            <a:pPr>
              <a:lnSpc>
                <a:spcPct val="110000"/>
              </a:lnSpc>
              <a:defRPr/>
            </a:pPr>
            <a:r>
              <a:rPr lang="fr-FR" sz="1000" dirty="0"/>
              <a:t>Pour le « manque de charge », on reprend la valeur déclarée précédemment (calcul du Cycle).</a:t>
            </a:r>
          </a:p>
          <a:p>
            <a:pPr>
              <a:lnSpc>
                <a:spcPct val="110000"/>
              </a:lnSpc>
              <a:defRPr/>
            </a:pPr>
            <a:endParaRPr lang="fr-FR" sz="1000" dirty="0"/>
          </a:p>
          <a:p>
            <a:pPr>
              <a:lnSpc>
                <a:spcPct val="110000"/>
              </a:lnSpc>
              <a:defRPr/>
            </a:pPr>
            <a:endParaRPr lang="fr-FR" sz="1000" dirty="0"/>
          </a:p>
        </p:txBody>
      </p:sp>
      <p:sp>
        <p:nvSpPr>
          <p:cNvPr id="1556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D02CD601-5327-49D5-8C35-E07BC89B5579}" type="slidenum">
              <a:rPr lang="fr-FR" altLang="fr-FR" sz="1100">
                <a:latin typeface="Calibri" panose="020F0502020204030204" pitchFamily="34" charset="0"/>
              </a:rPr>
              <a:pPr/>
              <a:t>70</a:t>
            </a:fld>
            <a:endParaRPr lang="fr-FR" altLang="fr-FR" sz="1100" dirty="0">
              <a:latin typeface="Calibri" panose="020F0502020204030204" pitchFamily="34" charset="0"/>
            </a:endParaRPr>
          </a:p>
        </p:txBody>
      </p:sp>
      <p:sp>
        <p:nvSpPr>
          <p:cNvPr id="15565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9254993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Espace réservé de l'image des diapositives 1"/>
          <p:cNvSpPr>
            <a:spLocks noGrp="1" noRot="1" noChangeAspect="1" noTextEdit="1"/>
          </p:cNvSpPr>
          <p:nvPr>
            <p:ph type="sldImg"/>
          </p:nvPr>
        </p:nvSpPr>
        <p:spPr>
          <a:xfrm>
            <a:off x="481013" y="663575"/>
            <a:ext cx="6361112" cy="4525963"/>
          </a:xfrm>
          <a:ln/>
        </p:spPr>
      </p:sp>
      <p:sp>
        <p:nvSpPr>
          <p:cNvPr id="157699" name="Espace réservé des commentaires 2"/>
          <p:cNvSpPr>
            <a:spLocks noGrp="1"/>
          </p:cNvSpPr>
          <p:nvPr>
            <p:ph type="body" idx="1"/>
          </p:nvPr>
        </p:nvSpPr>
        <p:spPr>
          <a:xfrm>
            <a:off x="366405" y="5342361"/>
            <a:ext cx="6504100" cy="4514163"/>
          </a:xfrm>
          <a:noFill/>
          <a:extLst>
            <a:ext uri="{909E8E84-426E-40DD-AFC4-6F175D3DCCD1}">
              <a14:hiddenFill xmlns:a14="http://schemas.microsoft.com/office/drawing/2010/main">
                <a:solidFill>
                  <a:srgbClr val="FFFFFF"/>
                </a:solidFill>
              </a14:hiddenFill>
            </a:ext>
          </a:extLst>
        </p:spPr>
        <p:txBody>
          <a:bodyPr/>
          <a:lstStyle/>
          <a:p>
            <a:pPr>
              <a:lnSpc>
                <a:spcPct val="110000"/>
              </a:lnSpc>
            </a:pPr>
            <a:r>
              <a:rPr lang="fr-FR" altLang="fr-FR" sz="1000" dirty="0"/>
              <a:t>Le calcul du Temps net de fonctionnement ressemble à celui effectué précédemment pour le calcul du TRG. La différence tient au fait de prendre en compte la totalité des pièces produites y compris les non conformes et de le multiplier par le temps gamme. </a:t>
            </a:r>
          </a:p>
          <a:p>
            <a:pPr>
              <a:lnSpc>
                <a:spcPct val="110000"/>
              </a:lnSpc>
            </a:pPr>
            <a:r>
              <a:rPr lang="fr-FR" altLang="fr-FR" sz="1000" dirty="0"/>
              <a:t>La différence entre le Temps brut et le Temps de fonctionnement correspond à des pertes de temps trop faibles pour être identifiées en tant que telles. On les regroupe dans la catégorie « Écart de performance ».</a:t>
            </a:r>
          </a:p>
        </p:txBody>
      </p:sp>
      <p:sp>
        <p:nvSpPr>
          <p:cNvPr id="15770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6CA970D-0441-4D9C-BE30-3E0D98C286D0}" type="slidenum">
              <a:rPr lang="fr-FR" altLang="fr-FR" sz="1100">
                <a:latin typeface="Calibri" panose="020F0502020204030204" pitchFamily="34" charset="0"/>
              </a:rPr>
              <a:pPr/>
              <a:t>71</a:t>
            </a:fld>
            <a:endParaRPr lang="fr-FR" altLang="fr-FR" sz="1100" dirty="0">
              <a:latin typeface="Calibri" panose="020F0502020204030204" pitchFamily="34" charset="0"/>
            </a:endParaRPr>
          </a:p>
        </p:txBody>
      </p:sp>
      <p:sp>
        <p:nvSpPr>
          <p:cNvPr id="15770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7778708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Espace réservé de l'image des diapositives 1"/>
          <p:cNvSpPr>
            <a:spLocks noGrp="1" noRot="1" noChangeAspect="1" noTextEdit="1"/>
          </p:cNvSpPr>
          <p:nvPr>
            <p:ph type="sldImg"/>
          </p:nvPr>
        </p:nvSpPr>
        <p:spPr>
          <a:xfrm>
            <a:off x="481013" y="663575"/>
            <a:ext cx="6361112" cy="4525963"/>
          </a:xfrm>
          <a:ln/>
        </p:spPr>
      </p:sp>
      <p:sp>
        <p:nvSpPr>
          <p:cNvPr id="159747" name="Espace réservé des commentaires 2"/>
          <p:cNvSpPr>
            <a:spLocks noGrp="1"/>
          </p:cNvSpPr>
          <p:nvPr>
            <p:ph type="body" idx="1"/>
          </p:nvPr>
        </p:nvSpPr>
        <p:spPr>
          <a:xfrm>
            <a:off x="366405" y="5342361"/>
            <a:ext cx="6504100" cy="4514163"/>
          </a:xfrm>
          <a:noFill/>
          <a:extLst>
            <a:ext uri="{909E8E84-426E-40DD-AFC4-6F175D3DCCD1}">
              <a14:hiddenFill xmlns:a14="http://schemas.microsoft.com/office/drawing/2010/main">
                <a:solidFill>
                  <a:srgbClr val="FFFFFF"/>
                </a:solidFill>
              </a14:hiddenFill>
            </a:ext>
          </a:extLst>
        </p:spPr>
        <p:txBody>
          <a:bodyPr/>
          <a:lstStyle/>
          <a:p>
            <a:pPr>
              <a:lnSpc>
                <a:spcPct val="110000"/>
              </a:lnSpc>
            </a:pPr>
            <a:r>
              <a:rPr lang="fr-FR" altLang="fr-FR" sz="1000" dirty="0"/>
              <a:t>L’analyse de ces écarts sera faite de la façon suivante :</a:t>
            </a:r>
          </a:p>
          <a:p>
            <a:pPr>
              <a:lnSpc>
                <a:spcPct val="110000"/>
              </a:lnSpc>
            </a:pPr>
            <a:r>
              <a:rPr lang="fr-FR" altLang="fr-FR" sz="1000" dirty="0"/>
              <a:t>On imagine qu’on a observé (ou filmé) un opérateur pendant son travail.</a:t>
            </a:r>
          </a:p>
          <a:p>
            <a:pPr>
              <a:lnSpc>
                <a:spcPct val="110000"/>
              </a:lnSpc>
            </a:pPr>
            <a:r>
              <a:rPr lang="fr-FR" altLang="fr-FR" sz="1000" dirty="0"/>
              <a:t>La liste des activités qui figure sur le tableau est le résultat de ces observations. Mais comme on s’intéresse aux Écarts de performance on ne conserve dans cette liste que certaines activités : n’y figurent ni le </a:t>
            </a:r>
            <a:r>
              <a:rPr lang="fr-FR" altLang="fr-FR" sz="1000" dirty="0">
                <a:solidFill>
                  <a:srgbClr val="FF0000"/>
                </a:solidFill>
              </a:rPr>
              <a:t>temps de travail</a:t>
            </a:r>
            <a:r>
              <a:rPr lang="fr-FR" altLang="fr-FR" sz="1000" dirty="0"/>
              <a:t> (coloriage d’une forme) ni les </a:t>
            </a:r>
            <a:r>
              <a:rPr lang="fr-FR" altLang="fr-FR" sz="1000" dirty="0">
                <a:solidFill>
                  <a:srgbClr val="FF0000"/>
                </a:solidFill>
              </a:rPr>
              <a:t>trois arrêts identifiés</a:t>
            </a:r>
            <a:r>
              <a:rPr lang="fr-FR" altLang="fr-FR" sz="1000" dirty="0"/>
              <a:t> pris en compte précédemment (changement de série, etc.).</a:t>
            </a:r>
          </a:p>
          <a:p>
            <a:pPr>
              <a:lnSpc>
                <a:spcPct val="110000"/>
              </a:lnSpc>
            </a:pPr>
            <a:r>
              <a:rPr lang="fr-FR" altLang="fr-FR" sz="1000" dirty="0"/>
              <a:t>Les % indiquent la part observée pour chacune de ces activités. Il faut donc multiplier la valeur inscrite dans la case écart de performance par ce % et ranger le résultat dans la case correspondant à la nature de la perte de temps.</a:t>
            </a:r>
          </a:p>
        </p:txBody>
      </p:sp>
      <p:sp>
        <p:nvSpPr>
          <p:cNvPr id="15974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70AAB74-8E5E-4A18-9236-C237AFFC1D8B}" type="slidenum">
              <a:rPr lang="fr-FR" altLang="fr-FR" sz="1100">
                <a:latin typeface="Calibri" panose="020F0502020204030204" pitchFamily="34" charset="0"/>
              </a:rPr>
              <a:pPr/>
              <a:t>72</a:t>
            </a:fld>
            <a:endParaRPr lang="fr-FR" altLang="fr-FR" sz="1100" dirty="0">
              <a:latin typeface="Calibri" panose="020F0502020204030204" pitchFamily="34" charset="0"/>
            </a:endParaRPr>
          </a:p>
        </p:txBody>
      </p:sp>
      <p:sp>
        <p:nvSpPr>
          <p:cNvPr id="15974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0191486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Espace réservé de l'image des diapositives 1"/>
          <p:cNvSpPr>
            <a:spLocks noGrp="1" noRot="1" noChangeAspect="1" noTextEdit="1"/>
          </p:cNvSpPr>
          <p:nvPr>
            <p:ph type="sldImg"/>
          </p:nvPr>
        </p:nvSpPr>
        <p:spPr>
          <a:xfrm>
            <a:off x="481013" y="663575"/>
            <a:ext cx="6361112" cy="4525963"/>
          </a:xfrm>
          <a:ln/>
        </p:spPr>
      </p:sp>
      <p:sp>
        <p:nvSpPr>
          <p:cNvPr id="161795" name="Espace réservé des commentaires 2"/>
          <p:cNvSpPr>
            <a:spLocks noGrp="1"/>
          </p:cNvSpPr>
          <p:nvPr>
            <p:ph type="body" idx="1"/>
          </p:nvPr>
        </p:nvSpPr>
        <p:spPr>
          <a:xfrm>
            <a:off x="366405" y="5342361"/>
            <a:ext cx="6504100" cy="4514163"/>
          </a:xfrm>
          <a:noFill/>
          <a:extLst>
            <a:ext uri="{909E8E84-426E-40DD-AFC4-6F175D3DCCD1}">
              <a14:hiddenFill xmlns:a14="http://schemas.microsoft.com/office/drawing/2010/main">
                <a:solidFill>
                  <a:srgbClr val="FFFFFF"/>
                </a:solidFill>
              </a14:hiddenFill>
            </a:ext>
          </a:extLst>
        </p:spPr>
        <p:txBody>
          <a:bodyPr/>
          <a:lstStyle/>
          <a:p>
            <a:pPr>
              <a:lnSpc>
                <a:spcPct val="110000"/>
              </a:lnSpc>
            </a:pPr>
            <a:r>
              <a:rPr lang="fr-FR" altLang="fr-FR" sz="1000" dirty="0"/>
              <a:t>La dernière partie du calcul consiste à calculer le Temps utile, en déduisant du Temps net de fonctionnement le temps perdu pour faire des produits non conformes. Le Temps utile est le seul temps considéré à Valeur Ajoutée (colonne verte).</a:t>
            </a:r>
          </a:p>
          <a:p>
            <a:pPr>
              <a:lnSpc>
                <a:spcPct val="110000"/>
              </a:lnSpc>
            </a:pPr>
            <a:r>
              <a:rPr lang="fr-FR" altLang="fr-FR" sz="1000" dirty="0"/>
              <a:t>En réalité, le calcul a déjà été fait au moment du calcul du TRG.</a:t>
            </a:r>
          </a:p>
          <a:p>
            <a:pPr>
              <a:lnSpc>
                <a:spcPct val="110000"/>
              </a:lnSpc>
            </a:pPr>
            <a:r>
              <a:rPr lang="fr-FR" altLang="fr-FR" sz="1000" dirty="0"/>
              <a:t>On termine les calculs en additionnant le contenu des 6 colonnes, en calculant les % et en reportant les résultats sur le camembert prévu à cet effet.</a:t>
            </a:r>
          </a:p>
          <a:p>
            <a:pPr>
              <a:lnSpc>
                <a:spcPct val="110000"/>
              </a:lnSpc>
            </a:pPr>
            <a:r>
              <a:rPr lang="fr-FR" altLang="fr-FR" sz="1000" dirty="0"/>
              <a:t>Les propositions d’amélioration seront inscrites dans le cadre correspondant, ainsi la valeur que l’on choisit comme objectif de productivité.</a:t>
            </a:r>
          </a:p>
          <a:p>
            <a:pPr>
              <a:lnSpc>
                <a:spcPct val="110000"/>
              </a:lnSpc>
            </a:pPr>
            <a:r>
              <a:rPr lang="fr-FR" altLang="fr-FR" sz="1000" u="sng" dirty="0"/>
              <a:t>Remarque</a:t>
            </a:r>
          </a:p>
          <a:p>
            <a:pPr>
              <a:lnSpc>
                <a:spcPct val="110000"/>
              </a:lnSpc>
            </a:pPr>
            <a:r>
              <a:rPr lang="fr-FR" altLang="fr-FR" sz="1000" dirty="0"/>
              <a:t>Les participants ont souvent tendance à choisir un gain de productivité « prudent ». Par exemple, si la productivité était dans la première simulation de 4 minutes (par personne et par produit), ils proposent 3 minutes. L’animateur doit les inciter à s’appuyer sur les actions qu’ils envisagent : combien </a:t>
            </a:r>
            <a:r>
              <a:rPr lang="fr-FR" altLang="fr-FR" sz="1000" dirty="0" err="1"/>
              <a:t>vont-ils</a:t>
            </a:r>
            <a:r>
              <a:rPr lang="fr-FR" altLang="fr-FR" sz="1000" dirty="0"/>
              <a:t> gagner sur les arrêts identifiés ? Combien de non conformes doit-on prévoir ?</a:t>
            </a:r>
          </a:p>
          <a:p>
            <a:pPr>
              <a:lnSpc>
                <a:spcPct val="110000"/>
              </a:lnSpc>
            </a:pPr>
            <a:r>
              <a:rPr lang="fr-FR" altLang="fr-FR" sz="1000" u="sng" dirty="0"/>
              <a:t>À propos des non conformes</a:t>
            </a:r>
          </a:p>
          <a:p>
            <a:pPr>
              <a:lnSpc>
                <a:spcPct val="110000"/>
              </a:lnSpc>
            </a:pPr>
            <a:r>
              <a:rPr lang="fr-FR" altLang="fr-FR" sz="1000" dirty="0"/>
              <a:t>Le groupe chargé de la Qualité sera orienté par l’animateur vers la mise en place de l’</a:t>
            </a:r>
            <a:r>
              <a:rPr lang="fr-FR" altLang="fr-FR" sz="1000" dirty="0" err="1"/>
              <a:t>auto-contrôle</a:t>
            </a:r>
            <a:r>
              <a:rPr lang="fr-FR" altLang="fr-FR" sz="1000" dirty="0"/>
              <a:t>. Cela signifie que s’il y a des produits non conformes ils seront réparés au poste de travail (collage d’une gommette blanche). Si le groupe Productivité va rendre visite au groupe Qualité il pourra prendre en compte cette information importante.</a:t>
            </a:r>
          </a:p>
        </p:txBody>
      </p:sp>
      <p:sp>
        <p:nvSpPr>
          <p:cNvPr id="16179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AA1F838-2814-4F47-82E9-502D95D9DCE7}" type="slidenum">
              <a:rPr lang="fr-FR" altLang="fr-FR" sz="1100">
                <a:latin typeface="Calibri" panose="020F0502020204030204" pitchFamily="34" charset="0"/>
              </a:rPr>
              <a:pPr/>
              <a:t>73</a:t>
            </a:fld>
            <a:endParaRPr lang="fr-FR" altLang="fr-FR" sz="1100" dirty="0">
              <a:latin typeface="Calibri" panose="020F0502020204030204" pitchFamily="34" charset="0"/>
            </a:endParaRPr>
          </a:p>
        </p:txBody>
      </p:sp>
      <p:sp>
        <p:nvSpPr>
          <p:cNvPr id="16179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1471233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01747" y="5658254"/>
            <a:ext cx="6633418" cy="4198270"/>
          </a:xfrm>
        </p:spPr>
        <p:txBody>
          <a:bodyPr>
            <a:normAutofit/>
          </a:bodyPr>
          <a:lstStyle/>
          <a:p>
            <a:pPr>
              <a:defRPr/>
            </a:pPr>
            <a:r>
              <a:rPr lang="fr-FR" sz="1000" dirty="0"/>
              <a:t>Cette affiche sert à représenter le flux des produits dans l’atelier, et plus particulièrement l’OF traceur.</a:t>
            </a:r>
          </a:p>
          <a:p>
            <a:pPr>
              <a:defRPr/>
            </a:pPr>
            <a:r>
              <a:rPr lang="fr-FR" sz="1000" dirty="0"/>
              <a:t>L’animateur explique à l’équipe qu’elle doit mettre à jour l’affiche à partir des données relevées pendant la simulation. Il faut colorer les carrés pour les stocks en attente et les lots de transfert, et mettre à jour les graphiques de Takt time / cycle ainsi que le graphique de défilement de l’OF (voir diapo suivante).</a:t>
            </a:r>
          </a:p>
          <a:p>
            <a:pPr marL="92820" indent="-92820">
              <a:buFont typeface="Arial" pitchFamily="34" charset="0"/>
              <a:buChar char="•"/>
              <a:defRPr/>
            </a:pPr>
            <a:r>
              <a:rPr lang="fr-FR" sz="1000" dirty="0"/>
              <a:t>Les stocks en attente avant chaque atelier sont ceux notés sur le Dossier du participant.</a:t>
            </a:r>
          </a:p>
          <a:p>
            <a:pPr marL="92820" indent="-92820">
              <a:buFont typeface="Arial" pitchFamily="34" charset="0"/>
              <a:buChar char="•"/>
              <a:defRPr/>
            </a:pPr>
            <a:r>
              <a:rPr lang="fr-FR" sz="1000" dirty="0"/>
              <a:t>La taille des lots de transfert doit être demandée à chaque atelier concerné. S’il y a dans l’équipe un membre de l’atelier concerné, il peut répondre. Sinon, il faut poser la question à une autre équipe : « quelle était la quantité que vous transportiez habituellement aux postes suivants ? » La réponse varie en général entre 1 et  3 ou 4. Si le résultat est fractionnaire, on peut colorer un demi-carré sur l’affiche.</a:t>
            </a:r>
          </a:p>
          <a:p>
            <a:pPr marL="92820" indent="-92820">
              <a:buFont typeface="Arial" pitchFamily="34" charset="0"/>
              <a:buChar char="•"/>
              <a:defRPr/>
            </a:pPr>
            <a:r>
              <a:rPr lang="fr-FR" sz="1000" dirty="0"/>
              <a:t>Le graphique Takt time / cycle est mis à jour à partir du Dossier du participant.</a:t>
            </a:r>
          </a:p>
          <a:p>
            <a:pPr marL="92820" indent="-92820">
              <a:buFont typeface="Arial" pitchFamily="34" charset="0"/>
              <a:buChar char="•"/>
              <a:defRPr/>
            </a:pPr>
            <a:r>
              <a:rPr lang="fr-FR" sz="1000" dirty="0"/>
              <a:t>Le graphique de défilement de l’OF traceur doit être mis à jour à partir des données de l’OF traceur (voir diapo suivante).</a:t>
            </a:r>
          </a:p>
          <a:p>
            <a:pPr>
              <a:defRPr/>
            </a:pPr>
            <a:r>
              <a:rPr lang="fr-FR" sz="1000" dirty="0"/>
              <a:t>Une fois l’affiche mise à jour, l’équipe doit répondre aux questions posées sur sa fiche de mission (voir détails plus loin sur les réponses attendues). </a:t>
            </a:r>
          </a:p>
          <a:p>
            <a:pPr>
              <a:defRPr/>
            </a:pPr>
            <a:r>
              <a:rPr lang="fr-FR" sz="1000" dirty="0"/>
              <a:t>L’équipe utilise les post-</a:t>
            </a:r>
            <a:r>
              <a:rPr lang="fr-FR" sz="1000" dirty="0" err="1"/>
              <a:t>it</a:t>
            </a:r>
            <a:r>
              <a:rPr lang="fr-FR" sz="1000" dirty="0"/>
              <a:t> mis à sa disposition pour noter des idées d’amélioration.</a:t>
            </a:r>
          </a:p>
          <a:p>
            <a:pPr>
              <a:defRPr/>
            </a:pPr>
            <a:r>
              <a:rPr lang="fr-FR" sz="1000" u="sng" dirty="0"/>
              <a:t>Remarque</a:t>
            </a:r>
          </a:p>
          <a:p>
            <a:pPr>
              <a:defRPr/>
            </a:pPr>
            <a:r>
              <a:rPr lang="fr-FR" sz="1000" dirty="0"/>
              <a:t>L’animateur demande à l’équipe d’afficher le document au mur. Même si le résultat est différent d’un véritable Value Stream Mapping, cela permet à l’animateur d’évoquer les techniques de VSM utilisées dans les projets Lean.</a:t>
            </a:r>
          </a:p>
        </p:txBody>
      </p:sp>
      <p:sp>
        <p:nvSpPr>
          <p:cNvPr id="16384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765CEFAB-94CB-4036-8CA5-B92B0C080E71}" type="slidenum">
              <a:rPr lang="fr-FR" altLang="fr-FR" sz="1100">
                <a:latin typeface="Calibri" panose="020F0502020204030204" pitchFamily="34" charset="0"/>
              </a:rPr>
              <a:pPr/>
              <a:t>74</a:t>
            </a:fld>
            <a:endParaRPr lang="fr-FR" altLang="fr-FR" sz="1100" dirty="0">
              <a:latin typeface="Calibri" panose="020F0502020204030204" pitchFamily="34" charset="0"/>
            </a:endParaRPr>
          </a:p>
        </p:txBody>
      </p:sp>
      <p:sp>
        <p:nvSpPr>
          <p:cNvPr id="16384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93641573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66405" y="5450386"/>
            <a:ext cx="6504100" cy="4406137"/>
          </a:xfrm>
        </p:spPr>
        <p:txBody>
          <a:bodyPr>
            <a:normAutofit/>
          </a:bodyPr>
          <a:lstStyle/>
          <a:p>
            <a:pPr>
              <a:defRPr/>
            </a:pPr>
            <a:r>
              <a:rPr lang="fr-FR" dirty="0"/>
              <a:t>Pour les stocks en attente au poste et les lots de transfert, utiliser une même couleur (jaune ou marron).</a:t>
            </a:r>
          </a:p>
          <a:p>
            <a:pPr>
              <a:defRPr/>
            </a:pPr>
            <a:r>
              <a:rPr lang="fr-FR" dirty="0"/>
              <a:t>Pour les Takt time et Cycle utiliser les </a:t>
            </a:r>
            <a:r>
              <a:rPr lang="fr-FR" b="1" dirty="0">
                <a:solidFill>
                  <a:srgbClr val="0033CC"/>
                </a:solidFill>
              </a:rPr>
              <a:t>bleus</a:t>
            </a:r>
            <a:r>
              <a:rPr lang="fr-FR" dirty="0"/>
              <a:t> et </a:t>
            </a:r>
            <a:r>
              <a:rPr lang="fr-FR" b="1" dirty="0">
                <a:solidFill>
                  <a:srgbClr val="FF0000"/>
                </a:solidFill>
              </a:rPr>
              <a:t>rouge</a:t>
            </a:r>
            <a:r>
              <a:rPr lang="fr-FR" dirty="0"/>
              <a:t>.</a:t>
            </a:r>
          </a:p>
          <a:p>
            <a:pPr>
              <a:defRPr/>
            </a:pPr>
            <a:r>
              <a:rPr lang="fr-FR" dirty="0"/>
              <a:t>Pour mettre à jour le graphique de défilement, procéder de la façon suivante :</a:t>
            </a:r>
          </a:p>
          <a:p>
            <a:pPr marL="89507" indent="-89507">
              <a:buFont typeface="Arial" pitchFamily="34" charset="0"/>
              <a:buChar char="•"/>
              <a:defRPr/>
            </a:pPr>
            <a:r>
              <a:rPr lang="fr-FR" dirty="0"/>
              <a:t>Positionner par un trait de crayon le début du</a:t>
            </a:r>
            <a:r>
              <a:rPr lang="fr-FR" b="1" dirty="0">
                <a:solidFill>
                  <a:srgbClr val="009242"/>
                </a:solidFill>
              </a:rPr>
              <a:t> trait vert </a:t>
            </a:r>
            <a:r>
              <a:rPr lang="fr-FR" dirty="0"/>
              <a:t>d’après le temps indiqué sur l’OF traceur. </a:t>
            </a:r>
          </a:p>
          <a:p>
            <a:pPr marL="89507" indent="-89507">
              <a:buFont typeface="Arial" pitchFamily="34" charset="0"/>
              <a:buChar char="•"/>
              <a:defRPr/>
            </a:pPr>
            <a:r>
              <a:rPr lang="fr-FR" dirty="0"/>
              <a:t>Il y a donc 6 débuts de </a:t>
            </a:r>
            <a:r>
              <a:rPr lang="fr-FR" b="1" dirty="0">
                <a:solidFill>
                  <a:srgbClr val="009242"/>
                </a:solidFill>
              </a:rPr>
              <a:t>traits verts </a:t>
            </a:r>
            <a:r>
              <a:rPr lang="fr-FR" dirty="0"/>
              <a:t>correspondant aux 6 valeurs inscrites sur l’OF : le premier démarre à l’instant 0 (Découpe), le second au début de l’opération Rectangle, etc. Le dernier au début de l’opération Contrôle. </a:t>
            </a:r>
          </a:p>
          <a:p>
            <a:pPr marL="89507" indent="-89507">
              <a:buFont typeface="Arial" pitchFamily="34" charset="0"/>
              <a:buChar char="•"/>
              <a:defRPr/>
            </a:pPr>
            <a:r>
              <a:rPr lang="fr-FR" dirty="0"/>
              <a:t>La longueur du </a:t>
            </a:r>
            <a:r>
              <a:rPr lang="fr-FR" b="1" dirty="0">
                <a:solidFill>
                  <a:srgbClr val="009242"/>
                </a:solidFill>
              </a:rPr>
              <a:t>trait vert</a:t>
            </a:r>
            <a:r>
              <a:rPr lang="fr-FR" dirty="0"/>
              <a:t> est égale au temps gamme. En gros, c’est 10 secondes, car l’échelle du graphique n’est pas précise en dessous de 10 secondes (et pour la découpe, même si on n’a pas mesuré son temps gamme, on peut l’estimer à environ 10 secondes).</a:t>
            </a:r>
          </a:p>
          <a:p>
            <a:pPr marL="89507" indent="-89507">
              <a:buFont typeface="Arial" pitchFamily="34" charset="0"/>
              <a:buChar char="•"/>
              <a:defRPr/>
            </a:pPr>
            <a:r>
              <a:rPr lang="fr-FR" dirty="0"/>
              <a:t>Une fois les traits verts tracés, on tracer les</a:t>
            </a:r>
            <a:r>
              <a:rPr lang="fr-FR" b="1" dirty="0">
                <a:solidFill>
                  <a:srgbClr val="FF0000"/>
                </a:solidFill>
              </a:rPr>
              <a:t> traits rouges</a:t>
            </a:r>
            <a:r>
              <a:rPr lang="fr-FR" dirty="0"/>
              <a:t> dans la partie basse. Chaque trait rouge va de la fin d’un trait vert au début du trait vert suivant.</a:t>
            </a:r>
          </a:p>
          <a:p>
            <a:pPr>
              <a:defRPr/>
            </a:pPr>
            <a:r>
              <a:rPr lang="fr-FR" dirty="0"/>
              <a:t>Ensuite l’équipe met à jour le tableau des indicateurs en utilisant des couleurs différentes pour les 3 lignes. Elle fixe, en accord avec les autres équipes, les </a:t>
            </a:r>
            <a:r>
              <a:rPr lang="fr-FR" u="sng" dirty="0"/>
              <a:t>objectifs de délai et de stock</a:t>
            </a:r>
            <a:r>
              <a:rPr lang="fr-FR" dirty="0"/>
              <a:t>. Le réalisé sera inscrit à l’issue de la simulation 2.</a:t>
            </a:r>
          </a:p>
          <a:p>
            <a:pPr>
              <a:defRPr/>
            </a:pPr>
            <a:r>
              <a:rPr lang="fr-FR" u="sng" dirty="0"/>
              <a:t>Remarque</a:t>
            </a:r>
            <a:r>
              <a:rPr lang="fr-FR" dirty="0"/>
              <a:t> : nous ne proposons pas de fixer des objectifs pour les temps opératoires, car ceux-ci ne font pas l’objet d’une mesure en simulation 2. C’est le délai qui permet d’améliorer le ratio, non le temps opératoire.</a:t>
            </a:r>
          </a:p>
          <a:p>
            <a:pPr>
              <a:defRPr/>
            </a:pPr>
            <a:endParaRPr lang="fr-FR" dirty="0"/>
          </a:p>
        </p:txBody>
      </p:sp>
      <p:sp>
        <p:nvSpPr>
          <p:cNvPr id="16589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FEB33AF-0297-461E-8E42-8C866DBB4711}" type="slidenum">
              <a:rPr lang="fr-FR" altLang="fr-FR" sz="1100">
                <a:latin typeface="Calibri" panose="020F0502020204030204" pitchFamily="34" charset="0"/>
              </a:rPr>
              <a:pPr/>
              <a:t>75</a:t>
            </a:fld>
            <a:endParaRPr lang="fr-FR" altLang="fr-FR" sz="1100" dirty="0">
              <a:latin typeface="Calibri" panose="020F0502020204030204" pitchFamily="34" charset="0"/>
            </a:endParaRPr>
          </a:p>
        </p:txBody>
      </p:sp>
      <p:sp>
        <p:nvSpPr>
          <p:cNvPr id="16589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0662140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130980" y="5312898"/>
            <a:ext cx="6837344" cy="4596001"/>
          </a:xfrm>
        </p:spPr>
        <p:txBody>
          <a:bodyPr>
            <a:noAutofit/>
          </a:bodyPr>
          <a:lstStyle/>
          <a:p>
            <a:pPr>
              <a:lnSpc>
                <a:spcPct val="110000"/>
              </a:lnSpc>
              <a:defRPr/>
            </a:pPr>
            <a:r>
              <a:rPr lang="fr-FR" sz="1000" dirty="0"/>
              <a:t>Ce plateau sert à préparer une nouvelle implantation. L’animateur peut organiser l’animation ainsi :</a:t>
            </a:r>
          </a:p>
          <a:p>
            <a:pPr marL="96136" indent="-96136">
              <a:lnSpc>
                <a:spcPct val="110000"/>
              </a:lnSpc>
              <a:buFont typeface="Arial" pitchFamily="34" charset="0"/>
              <a:buChar char="•"/>
              <a:defRPr/>
            </a:pPr>
            <a:r>
              <a:rPr lang="fr-FR" sz="1000" dirty="0"/>
              <a:t>Il donne à l’équipe les</a:t>
            </a:r>
            <a:r>
              <a:rPr lang="fr-FR" sz="1000" b="1" dirty="0">
                <a:solidFill>
                  <a:srgbClr val="0033CC"/>
                </a:solidFill>
              </a:rPr>
              <a:t> tickets d’implantation</a:t>
            </a:r>
            <a:r>
              <a:rPr lang="fr-FR" sz="1000" dirty="0"/>
              <a:t> (bleus, jaunes, images du contrôle, du lancement et des outillages). Ces tickets serviront à représenter la nouvelle implantation dans la zone de droite du tableau.</a:t>
            </a:r>
          </a:p>
          <a:p>
            <a:pPr marL="96136" indent="-96136">
              <a:lnSpc>
                <a:spcPct val="110000"/>
              </a:lnSpc>
              <a:buFont typeface="Arial" pitchFamily="34" charset="0"/>
              <a:buChar char="•"/>
              <a:defRPr/>
            </a:pPr>
            <a:r>
              <a:rPr lang="fr-FR" sz="1000" dirty="0"/>
              <a:t>Tout d’abord il laisse l’équipe chercher par elle-même. Souvent, les participants ont des idées sur une implantation meilleure que celle actuellement en place, ils parviennent parfois d’eux-mêmes à la solution des deux « Ateliers Produit ».</a:t>
            </a:r>
          </a:p>
          <a:p>
            <a:pPr marL="96136" indent="-96136">
              <a:lnSpc>
                <a:spcPct val="110000"/>
              </a:lnSpc>
              <a:buFont typeface="Arial" pitchFamily="34" charset="0"/>
              <a:buChar char="•"/>
              <a:defRPr/>
            </a:pPr>
            <a:r>
              <a:rPr lang="fr-FR" sz="1000" dirty="0"/>
              <a:t>Dans un deuxième temps, il  incite l’équipe à utiliser l’analyse des gammes (baptisée pompeusement « logiciel de TGAO, pour Technologie de Groupe Assistée par Ordinateur » …). Il explique que cette analyse sert à voir s’il y a des regroupements possibles de machines.</a:t>
            </a:r>
          </a:p>
          <a:p>
            <a:pPr>
              <a:lnSpc>
                <a:spcPct val="110000"/>
              </a:lnSpc>
              <a:defRPr/>
            </a:pPr>
            <a:r>
              <a:rPr lang="fr-FR" sz="1000" dirty="0"/>
              <a:t>L’équipe positionne les </a:t>
            </a:r>
            <a:r>
              <a:rPr lang="fr-FR" sz="1000" b="1" dirty="0"/>
              <a:t>tickets de gammes gris</a:t>
            </a:r>
            <a:r>
              <a:rPr lang="fr-FR" sz="1000" dirty="0"/>
              <a:t> pour chacune des 10 gammes, en se référant aux gammes présentées dans le Dossier du participant (pour le calcul du takt time).</a:t>
            </a:r>
          </a:p>
          <a:p>
            <a:pPr>
              <a:lnSpc>
                <a:spcPct val="110000"/>
              </a:lnSpc>
              <a:defRPr/>
            </a:pPr>
            <a:r>
              <a:rPr lang="fr-FR" sz="1000" dirty="0"/>
              <a:t>En général les participants commencent par placer les opérations à gauche. L’animateur leur demande s’ils voient des analogies entre les gammes. S’ils ne voient rien, et s’ils n’ont pas d’eux-mêmes l’idée, il les incite à déplacer les tickets de façon à aligner verticalement les mêmes tickets. Une nouvelle figure apparaît, qui met clairement en évidence les deux structures de référence (qui sont celles des gammes A et F).</a:t>
            </a:r>
          </a:p>
          <a:p>
            <a:pPr>
              <a:lnSpc>
                <a:spcPct val="110000"/>
              </a:lnSpc>
              <a:defRPr/>
            </a:pPr>
            <a:r>
              <a:rPr lang="fr-FR" sz="1000" u="sng" dirty="0"/>
              <a:t>Remarque importante</a:t>
            </a:r>
          </a:p>
          <a:p>
            <a:pPr>
              <a:lnSpc>
                <a:spcPct val="110000"/>
              </a:lnSpc>
              <a:defRPr/>
            </a:pPr>
            <a:r>
              <a:rPr lang="fr-FR" sz="1000" dirty="0"/>
              <a:t>Le choix d’une nouvelle implantation en Ateliers Produit (ou îlots) (voir diapo suivante) est un passage obligé pour la 2</a:t>
            </a:r>
            <a:r>
              <a:rPr lang="fr-FR" sz="1000" baseline="30000" dirty="0"/>
              <a:t>ème</a:t>
            </a:r>
            <a:r>
              <a:rPr lang="fr-FR" sz="1000" dirty="0"/>
              <a:t> simulation. Il arrive que malgré l’analyse des gammes l’équipe n’ait pas l’idée de constituer deux ateliers </a:t>
            </a:r>
            <a:r>
              <a:rPr lang="fr-FR" sz="1000" u="sng" dirty="0"/>
              <a:t>distincts</a:t>
            </a:r>
            <a:r>
              <a:rPr lang="fr-FR" sz="1000" dirty="0"/>
              <a:t>. Elle propose des circuits distincts, mais avec deux machines communes (triangle et étoile). Dans ce cas, l’animateur doit leur suggérer de séparer les machines : on se dote d’un premier poste triangle dans l’atelier 1 et d’un second dans l’atelier 2, et de même pour l’étoile. Parfois les participants protestent : « cela suppose d’avoir deux machines ! ». L’animateur répond que si nous avons suffisamment de surligneurs et suffisamment d’opérateurs, rien ne s’y oppose. Il peut rajouter qu’il n’est pas nécessaire de disposer de plus de surligneurs que dans la simulation précédente : il suffit de </a:t>
            </a:r>
            <a:r>
              <a:rPr lang="fr-FR" sz="1000" u="sng" dirty="0"/>
              <a:t>remettre en état ceux qui ne fonctionnent pas</a:t>
            </a:r>
            <a:r>
              <a:rPr lang="fr-FR" sz="1000" dirty="0"/>
              <a:t> !</a:t>
            </a:r>
          </a:p>
        </p:txBody>
      </p:sp>
      <p:sp>
        <p:nvSpPr>
          <p:cNvPr id="16794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DD4CEEAA-12E3-4462-A71C-79C8146037B4}" type="slidenum">
              <a:rPr lang="fr-FR" altLang="fr-FR" sz="1100">
                <a:latin typeface="Calibri" panose="020F0502020204030204" pitchFamily="34" charset="0"/>
              </a:rPr>
              <a:pPr/>
              <a:t>76</a:t>
            </a:fld>
            <a:endParaRPr lang="fr-FR" altLang="fr-FR" sz="1100" dirty="0">
              <a:latin typeface="Calibri" panose="020F0502020204030204" pitchFamily="34" charset="0"/>
            </a:endParaRPr>
          </a:p>
        </p:txBody>
      </p:sp>
      <p:sp>
        <p:nvSpPr>
          <p:cNvPr id="16794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5685482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Espace réservé de l'image des diapositives 1"/>
          <p:cNvSpPr>
            <a:spLocks noGrp="1" noRot="1" noChangeAspect="1" noTextEdit="1"/>
          </p:cNvSpPr>
          <p:nvPr>
            <p:ph type="sldImg"/>
          </p:nvPr>
        </p:nvSpPr>
        <p:spPr>
          <a:xfrm>
            <a:off x="481013" y="663575"/>
            <a:ext cx="6361112" cy="4525963"/>
          </a:xfrm>
          <a:ln/>
        </p:spPr>
      </p:sp>
      <p:sp>
        <p:nvSpPr>
          <p:cNvPr id="16998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À gauche, le type d’implantation actuelle avec les flux de produits entre les ateliers. </a:t>
            </a:r>
          </a:p>
          <a:p>
            <a:r>
              <a:rPr lang="fr-FR" altLang="fr-FR" dirty="0"/>
              <a:t>À droite, la nouvelle implantation, en deux Ateliers Produits. C’est à cette implantation que les participants vont aboutir.</a:t>
            </a:r>
          </a:p>
          <a:p>
            <a:r>
              <a:rPr lang="fr-FR" altLang="fr-FR" dirty="0"/>
              <a:t>L’équipe utilise les tickets d’implantation colorés pour construire son projet. Elle positionne également les outillages, le lancement et le contrôle. </a:t>
            </a:r>
          </a:p>
          <a:p>
            <a:r>
              <a:rPr lang="fr-FR" altLang="fr-FR" dirty="0"/>
              <a:t>Une fois son implantation faite, elle la recopie sur le tableau de papier. Elle utilisera le tableau de papier pour présenter son projet au groupe.</a:t>
            </a:r>
          </a:p>
          <a:p>
            <a:r>
              <a:rPr lang="fr-FR" altLang="fr-FR" u="sng" dirty="0"/>
              <a:t>Remarque</a:t>
            </a:r>
          </a:p>
          <a:p>
            <a:r>
              <a:rPr lang="fr-FR" altLang="fr-FR" dirty="0"/>
              <a:t>La constitution des deux Ateliers Produit distincts est essentielle pour la simulation 2, et l’animateur guide les participants jusqu’à ce qu’ils aboutissent à cette solution.</a:t>
            </a:r>
          </a:p>
          <a:p>
            <a:r>
              <a:rPr lang="fr-FR" altLang="fr-FR" dirty="0"/>
              <a:t>En revanche, le choix de décentraliser les Outillages, le Lancement et le Contrôle peut être laissé à l’initiative de l’équipe. De même, l’équipe peut envisager de pratiquer l’</a:t>
            </a:r>
            <a:r>
              <a:rPr lang="fr-FR" altLang="fr-FR" dirty="0" err="1"/>
              <a:t>auto-contrôle</a:t>
            </a:r>
            <a:r>
              <a:rPr lang="fr-FR" altLang="fr-FR" dirty="0"/>
              <a:t> (dans ce cas chaque poste contrôle ses pièces, et le poste de sortie contrôle l’ensemble), ou bien conserver un contrôle séparé du poste de travail. À l’équipe de décider (on verra qu’une des actions importantes pour améliorer le fonctionnement des Ateliers Produit est de développer la polyvalence. Nous y revenons plus loin).</a:t>
            </a:r>
          </a:p>
        </p:txBody>
      </p:sp>
      <p:sp>
        <p:nvSpPr>
          <p:cNvPr id="16998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0A343DB-5100-4DEC-B6C5-5752EBE7C85C}" type="slidenum">
              <a:rPr lang="fr-FR" altLang="fr-FR" sz="1100">
                <a:latin typeface="Calibri" panose="020F0502020204030204" pitchFamily="34" charset="0"/>
              </a:rPr>
              <a:pPr/>
              <a:t>77</a:t>
            </a:fld>
            <a:endParaRPr lang="fr-FR" altLang="fr-FR" sz="1100" dirty="0">
              <a:latin typeface="Calibri" panose="020F0502020204030204" pitchFamily="34" charset="0"/>
            </a:endParaRPr>
          </a:p>
        </p:txBody>
      </p:sp>
      <p:sp>
        <p:nvSpPr>
          <p:cNvPr id="16998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56216951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66405" y="5273616"/>
            <a:ext cx="6504100" cy="4713847"/>
          </a:xfrm>
        </p:spPr>
        <p:txBody>
          <a:bodyPr>
            <a:noAutofit/>
          </a:bodyPr>
          <a:lstStyle/>
          <a:p>
            <a:pPr>
              <a:lnSpc>
                <a:spcPct val="100000"/>
              </a:lnSpc>
              <a:defRPr/>
            </a:pPr>
            <a:r>
              <a:rPr lang="fr-FR" sz="900" dirty="0"/>
              <a:t>L’image ci-dessus représente les trajets effectivement réalisés par les produits. On a pris comme référence 10 OF correspondant aux 10 produits de la gamme. Le chiffre indique le nombre de trajets entre deux ateliers. Le tableau de droite reprend ces résultats de façon plus synthétique. L’objectif est de mesurer la distance parcourue par les produits. Les trajets pour 10 produits doivent ensuite être extrapolés au nombre de produits réellement travaillés pendant la simulation 1.</a:t>
            </a:r>
          </a:p>
          <a:p>
            <a:pPr>
              <a:lnSpc>
                <a:spcPct val="100000"/>
              </a:lnSpc>
              <a:defRPr/>
            </a:pPr>
            <a:r>
              <a:rPr lang="fr-FR" sz="900" dirty="0"/>
              <a:t>Notons que la véritable mesure consisterait à évaluer chaque distance entre les postes, et à la multiplier par le nombre de trajets. Mais comme cette opération est longue, on la simplifie en calculant un trajet moyen et en le multipliant par le nombre de trajets (40).</a:t>
            </a:r>
          </a:p>
          <a:p>
            <a:pPr>
              <a:lnSpc>
                <a:spcPct val="100000"/>
              </a:lnSpc>
              <a:defRPr/>
            </a:pPr>
            <a:r>
              <a:rPr lang="fr-FR" sz="900" dirty="0"/>
              <a:t>Pour évaluer le trajet moyen, les participants ont un décamètre. L’opération est rendue difficile par le fait que les tables qui représentaient les ateliers dans la simulation 1 ont été déplacées. Il faut donc que l’équipe fasse la mesure en se référant au souvenir qu’elle a des emplacements précédents. Elle doit mesurer ce qui lui semble être « le trajet moyen entre deux postes ».</a:t>
            </a:r>
          </a:p>
          <a:p>
            <a:pPr>
              <a:lnSpc>
                <a:spcPct val="100000"/>
              </a:lnSpc>
              <a:defRPr/>
            </a:pPr>
            <a:r>
              <a:rPr lang="fr-FR" sz="900" u="sng" dirty="0"/>
              <a:t>Remarque</a:t>
            </a:r>
          </a:p>
          <a:p>
            <a:pPr marL="89507">
              <a:lnSpc>
                <a:spcPct val="100000"/>
              </a:lnSpc>
              <a:defRPr/>
            </a:pPr>
            <a:r>
              <a:rPr lang="fr-FR" sz="900" dirty="0"/>
              <a:t>L’étude ci-dessus repose sur des hypothèses et des simplifications. L’animateur pourra en parler si les participants posent la question.</a:t>
            </a:r>
          </a:p>
          <a:p>
            <a:pPr marL="188956" indent="-99452">
              <a:lnSpc>
                <a:spcPct val="100000"/>
              </a:lnSpc>
              <a:buFont typeface="Arial" pitchFamily="34" charset="0"/>
              <a:buChar char="•"/>
              <a:defRPr/>
            </a:pPr>
            <a:r>
              <a:rPr lang="fr-FR" sz="900" dirty="0"/>
              <a:t>L’étude ne considère pas le trajet des personnes, mais le trajet des produits. Sinon, il faudrait diviser le nombre de trajets par le lot de transport. C’est également la raison pour laquelle on ne compte pas le trajet Aller – Retour : c’est le produit qui est suivi, non la personne. L’animateur peut refaire le calcul en s’intéressant aux personnes, s’il le juge utile.</a:t>
            </a:r>
          </a:p>
          <a:p>
            <a:pPr marL="188956" indent="-99452">
              <a:lnSpc>
                <a:spcPct val="100000"/>
              </a:lnSpc>
              <a:buFont typeface="Arial" pitchFamily="34" charset="0"/>
              <a:buChar char="•"/>
              <a:defRPr/>
            </a:pPr>
            <a:r>
              <a:rPr lang="fr-FR" sz="900" dirty="0"/>
              <a:t>L’étude considère que le produit va d’un poste A à un poste B, alors qu’en réalité le transport effectue une « tournée » entre A, B, et C par exemple. Le calcul n’est donc pas celui qui figure sur le plan.</a:t>
            </a:r>
          </a:p>
          <a:p>
            <a:pPr marL="188956" indent="-99452">
              <a:lnSpc>
                <a:spcPct val="100000"/>
              </a:lnSpc>
              <a:buFont typeface="Arial" pitchFamily="34" charset="0"/>
              <a:buChar char="•"/>
              <a:defRPr/>
            </a:pPr>
            <a:r>
              <a:rPr lang="fr-FR" sz="900" dirty="0"/>
              <a:t>Nous avons limité les mesures aux trajets des produits, sans considérer le trajet des outils. C’est cohérent avec le fait qu’on s’intéresse aux trajets des produits et non aux trajets des personnes.</a:t>
            </a:r>
          </a:p>
          <a:p>
            <a:pPr>
              <a:lnSpc>
                <a:spcPct val="100000"/>
              </a:lnSpc>
              <a:defRPr/>
            </a:pPr>
            <a:r>
              <a:rPr lang="fr-FR" sz="900" dirty="0"/>
              <a:t>Une fois la nouvelle implantation dessinée, l’équipe refera l’évaluation du trajet moyen. On ne changera pas le nombre de trajets (40), seule la distance change. </a:t>
            </a:r>
          </a:p>
          <a:p>
            <a:pPr>
              <a:lnSpc>
                <a:spcPct val="100000"/>
              </a:lnSpc>
              <a:defRPr/>
            </a:pPr>
            <a:r>
              <a:rPr lang="fr-FR" sz="900" dirty="0"/>
              <a:t>Notons que cette évaluation repose sur l’idée que l’équipe se fait de l’implantation des tables : il est trop tôt pour les réimplanter, cela se fera plus tard.</a:t>
            </a:r>
          </a:p>
        </p:txBody>
      </p:sp>
      <p:sp>
        <p:nvSpPr>
          <p:cNvPr id="17203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89A95F7-78DF-442B-8AFF-475EE99BE1A1}" type="slidenum">
              <a:rPr lang="fr-FR" altLang="fr-FR" sz="1100">
                <a:latin typeface="Calibri" panose="020F0502020204030204" pitchFamily="34" charset="0"/>
              </a:rPr>
              <a:pPr/>
              <a:t>78</a:t>
            </a:fld>
            <a:endParaRPr lang="fr-FR" altLang="fr-FR" sz="1100" dirty="0">
              <a:latin typeface="Calibri" panose="020F0502020204030204" pitchFamily="34" charset="0"/>
            </a:endParaRPr>
          </a:p>
        </p:txBody>
      </p:sp>
      <p:sp>
        <p:nvSpPr>
          <p:cNvPr id="17203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5694980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a:xfrm>
            <a:off x="366405" y="5371821"/>
            <a:ext cx="6504100" cy="4484701"/>
          </a:xfrm>
        </p:spPr>
        <p:txBody>
          <a:bodyPr>
            <a:normAutofit fontScale="92500"/>
          </a:bodyPr>
          <a:lstStyle/>
          <a:p>
            <a:pPr>
              <a:lnSpc>
                <a:spcPts val="1358"/>
              </a:lnSpc>
              <a:defRPr/>
            </a:pPr>
            <a:r>
              <a:rPr lang="fr-FR" dirty="0"/>
              <a:t>L’animateur explique à l’équipe qu’elle est chargé de trouver les causes de non-conformité et de proposer des pistes d’amélioration. L’équipe peut noter dans un premier temps ses idées de cause sur des post-</a:t>
            </a:r>
            <a:r>
              <a:rPr lang="fr-FR" dirty="0" err="1"/>
              <a:t>it</a:t>
            </a:r>
            <a:r>
              <a:rPr lang="fr-FR" dirty="0"/>
              <a:t>, avant de les recopier au feutre sur le tableau. Elle peut également coller directement les post-</a:t>
            </a:r>
            <a:r>
              <a:rPr lang="fr-FR" dirty="0" err="1"/>
              <a:t>it</a:t>
            </a:r>
            <a:r>
              <a:rPr lang="fr-FR" dirty="0"/>
              <a:t> sur le tableau, ou écrire au feutre Véléda sur le tableau.</a:t>
            </a:r>
          </a:p>
          <a:p>
            <a:pPr>
              <a:lnSpc>
                <a:spcPts val="1358"/>
              </a:lnSpc>
              <a:defRPr/>
            </a:pPr>
            <a:r>
              <a:rPr lang="fr-FR" dirty="0"/>
              <a:t>Pour trouver les causes l’équipe va utiliser plusieurs sources d’informations :</a:t>
            </a:r>
          </a:p>
          <a:p>
            <a:pPr marL="89507" indent="-89507">
              <a:lnSpc>
                <a:spcPts val="1358"/>
              </a:lnSpc>
              <a:buFont typeface="Arial" pitchFamily="34" charset="0"/>
              <a:buChar char="•"/>
              <a:defRPr/>
            </a:pPr>
            <a:r>
              <a:rPr lang="fr-FR" dirty="0"/>
              <a:t>Elle peut faire un brainstorming en rassemblant les souvenirs qu’elle a de la simulation n°1.</a:t>
            </a:r>
          </a:p>
          <a:p>
            <a:pPr marL="89507" indent="-89507">
              <a:lnSpc>
                <a:spcPts val="1358"/>
              </a:lnSpc>
              <a:buFont typeface="Arial" pitchFamily="34" charset="0"/>
              <a:buChar char="•"/>
              <a:defRPr/>
            </a:pPr>
            <a:r>
              <a:rPr lang="fr-FR" dirty="0"/>
              <a:t>Elle peut interroger la personne qui était au contrôle qualité et examiner les produits défectueux.</a:t>
            </a:r>
          </a:p>
          <a:p>
            <a:pPr marL="89507" indent="-89507">
              <a:lnSpc>
                <a:spcPts val="1358"/>
              </a:lnSpc>
              <a:buFont typeface="Arial" pitchFamily="34" charset="0"/>
              <a:buChar char="•"/>
              <a:defRPr/>
            </a:pPr>
            <a:r>
              <a:rPr lang="fr-FR" dirty="0"/>
              <a:t>Elle peut lire les interviews.</a:t>
            </a:r>
          </a:p>
          <a:p>
            <a:pPr>
              <a:lnSpc>
                <a:spcPts val="1358"/>
              </a:lnSpc>
              <a:defRPr/>
            </a:pPr>
            <a:r>
              <a:rPr lang="fr-FR" dirty="0"/>
              <a:t>Nous avons introduit ces interviews pour enrichir le contexte avec des situations vécues dans l’entreprise </a:t>
            </a:r>
            <a:r>
              <a:rPr lang="fr-FR" dirty="0" err="1"/>
              <a:t>Paleo</a:t>
            </a:r>
            <a:r>
              <a:rPr lang="fr-FR" dirty="0"/>
              <a:t> qui ne pouvaient pas être jouées pendant la simulation : les problèmes avec les fournisseurs, ou les problèmes de stockage et de manutention. Au moment du debriefing l’équipe fera allusion à des informations que les autres participants ignorent : elle devra préciser d’où viennent ces informations.</a:t>
            </a:r>
          </a:p>
          <a:p>
            <a:pPr>
              <a:lnSpc>
                <a:spcPts val="1358"/>
              </a:lnSpc>
              <a:defRPr/>
            </a:pPr>
            <a:r>
              <a:rPr lang="fr-FR" dirty="0"/>
              <a:t>Le Pareto sert à représenter les chiffres indiqués dans l’interview du Responsable Qualité.</a:t>
            </a:r>
          </a:p>
          <a:p>
            <a:pPr>
              <a:lnSpc>
                <a:spcPts val="1358"/>
              </a:lnSpc>
              <a:defRPr/>
            </a:pPr>
            <a:r>
              <a:rPr lang="fr-FR" dirty="0"/>
              <a:t>Une fois le diagramme Causes Effet prêt, l’équipe cherche des solutions. Puis elle définit les objectifs de qualité (% de non conformes) qu’elle compte atteindre dans la simulation 2.</a:t>
            </a:r>
          </a:p>
          <a:p>
            <a:pPr>
              <a:lnSpc>
                <a:spcPts val="1358"/>
              </a:lnSpc>
              <a:defRPr/>
            </a:pPr>
            <a:r>
              <a:rPr lang="fr-FR" u="sng" dirty="0"/>
              <a:t>Remarque concernant l’</a:t>
            </a:r>
            <a:r>
              <a:rPr lang="fr-FR" u="sng" dirty="0" err="1"/>
              <a:t>auto-contrôle</a:t>
            </a:r>
            <a:endParaRPr lang="fr-FR" u="sng" dirty="0"/>
          </a:p>
          <a:p>
            <a:pPr>
              <a:lnSpc>
                <a:spcPts val="1358"/>
              </a:lnSpc>
              <a:defRPr/>
            </a:pPr>
            <a:r>
              <a:rPr lang="fr-FR" dirty="0"/>
              <a:t>Le scénario du jeu suppose que les équipes adoptent l’</a:t>
            </a:r>
            <a:r>
              <a:rPr lang="fr-FR" dirty="0" err="1"/>
              <a:t>auto-contrôle</a:t>
            </a:r>
            <a:r>
              <a:rPr lang="fr-FR" dirty="0"/>
              <a:t> (nous l’avons inscrit dans la fiche de mission du groupe Qualité). Cela suppose que les opérateurs vérifient leur production, et qu’ils réparent en cas de défaut (en collant une pastille blanche sur le défaut, pour symboliser la réparation). Ainsi la production sera entièrement conforme (c’est important pour l’amélioration de la productivité) à la sortie, ce qui n’empêche pas l’existence de non conformes. Mais ces derniers seront réparés sur le champ. L’animateur </a:t>
            </a:r>
            <a:r>
              <a:rPr lang="fr-FR" dirty="0">
                <a:solidFill>
                  <a:srgbClr val="FF0000"/>
                </a:solidFill>
              </a:rPr>
              <a:t>donnera ces précisions au groupe</a:t>
            </a:r>
            <a:r>
              <a:rPr lang="fr-FR" dirty="0"/>
              <a:t>, non pas au début de leur travaux, mais après qu’ils aient fait l’analyse Causes Effet et le Pareto des défauts.</a:t>
            </a:r>
          </a:p>
        </p:txBody>
      </p:sp>
      <p:sp>
        <p:nvSpPr>
          <p:cNvPr id="17408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9E34C9F-921B-4DFF-A3B3-77D1FE9D0A6F}" type="slidenum">
              <a:rPr lang="fr-FR" altLang="fr-FR" sz="1100">
                <a:latin typeface="Calibri" panose="020F0502020204030204" pitchFamily="34" charset="0"/>
              </a:rPr>
              <a:pPr/>
              <a:t>79</a:t>
            </a:fld>
            <a:endParaRPr lang="fr-FR" altLang="fr-FR" sz="1100" dirty="0">
              <a:latin typeface="Calibri" panose="020F0502020204030204" pitchFamily="34" charset="0"/>
            </a:endParaRPr>
          </a:p>
        </p:txBody>
      </p:sp>
      <p:sp>
        <p:nvSpPr>
          <p:cNvPr id="17408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8790199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Espace réservé de l'image des diapositives 1"/>
          <p:cNvSpPr>
            <a:spLocks noGrp="1" noRot="1" noChangeAspect="1" noTextEdit="1"/>
          </p:cNvSpPr>
          <p:nvPr>
            <p:ph type="sldImg"/>
          </p:nvPr>
        </p:nvSpPr>
        <p:spPr>
          <a:xfrm>
            <a:off x="481013" y="663575"/>
            <a:ext cx="6361112" cy="4525963"/>
          </a:xfrm>
          <a:ln/>
        </p:spPr>
      </p:sp>
      <p:sp>
        <p:nvSpPr>
          <p:cNvPr id="1761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explique à l’équipe qu’elle doit remplir ce formulaire en tenant compte de ce qu’elle a ressenti durant la simulation 1.</a:t>
            </a:r>
          </a:p>
          <a:p>
            <a:r>
              <a:rPr lang="fr-FR" altLang="fr-FR" dirty="0"/>
              <a:t>Une fois le questionnaire rempli, elle peut le faire remplir par les autres équipes pour valider son impression ou pour la modifier.</a:t>
            </a:r>
          </a:p>
          <a:p>
            <a:r>
              <a:rPr lang="fr-FR" altLang="fr-FR" dirty="0"/>
              <a:t>L’équipe devra chercher des idées qui permettent d’améliorer la motivation du personnel (nous proposons plus loin des réponses sur ce point).</a:t>
            </a:r>
          </a:p>
        </p:txBody>
      </p:sp>
      <p:sp>
        <p:nvSpPr>
          <p:cNvPr id="17613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5F0D54DE-8FC0-4C93-A8CD-CDF0FDF05784}" type="slidenum">
              <a:rPr lang="fr-FR" altLang="fr-FR" sz="1100">
                <a:latin typeface="Calibri" panose="020F0502020204030204" pitchFamily="34" charset="0"/>
              </a:rPr>
              <a:pPr/>
              <a:t>80</a:t>
            </a:fld>
            <a:endParaRPr lang="fr-FR" altLang="fr-FR" sz="1100" dirty="0">
              <a:latin typeface="Calibri" panose="020F0502020204030204" pitchFamily="34" charset="0"/>
            </a:endParaRPr>
          </a:p>
        </p:txBody>
      </p:sp>
      <p:sp>
        <p:nvSpPr>
          <p:cNvPr id="17613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72632689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Espace réservé de l'image des diapositives 1"/>
          <p:cNvSpPr>
            <a:spLocks noGrp="1" noRot="1" noChangeAspect="1" noTextEdit="1"/>
          </p:cNvSpPr>
          <p:nvPr>
            <p:ph type="sldImg"/>
          </p:nvPr>
        </p:nvSpPr>
        <p:spPr>
          <a:xfrm>
            <a:off x="481013" y="663575"/>
            <a:ext cx="6361112" cy="4525963"/>
          </a:xfrm>
          <a:ln/>
        </p:spPr>
      </p:sp>
      <p:sp>
        <p:nvSpPr>
          <p:cNvPr id="17817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78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C102307-A38C-4A6A-B8DA-EEBBF76B51FF}" type="slidenum">
              <a:rPr lang="fr-FR" altLang="fr-FR" sz="1100">
                <a:latin typeface="Calibri" panose="020F0502020204030204" pitchFamily="34" charset="0"/>
              </a:rPr>
              <a:pPr/>
              <a:t>81</a:t>
            </a:fld>
            <a:endParaRPr lang="fr-FR" altLang="fr-FR" sz="1100" dirty="0">
              <a:latin typeface="Calibri" panose="020F0502020204030204" pitchFamily="34" charset="0"/>
            </a:endParaRPr>
          </a:p>
        </p:txBody>
      </p:sp>
      <p:sp>
        <p:nvSpPr>
          <p:cNvPr id="17818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862304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Espace réservé de l'image des diapositives 1"/>
          <p:cNvSpPr>
            <a:spLocks noGrp="1" noRot="1" noChangeAspect="1" noTextEdit="1"/>
          </p:cNvSpPr>
          <p:nvPr>
            <p:ph type="sldImg"/>
          </p:nvPr>
        </p:nvSpPr>
        <p:spPr>
          <a:xfrm>
            <a:off x="481013" y="663575"/>
            <a:ext cx="6361112" cy="4525963"/>
          </a:xfrm>
          <a:ln/>
        </p:spPr>
      </p:sp>
      <p:sp>
        <p:nvSpPr>
          <p:cNvPr id="18022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8022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726C9A58-F9B4-4B20-BC83-E3BFEB815FB3}" type="slidenum">
              <a:rPr lang="fr-FR" altLang="fr-FR" sz="1100">
                <a:latin typeface="Calibri" panose="020F0502020204030204" pitchFamily="34" charset="0"/>
              </a:rPr>
              <a:pPr/>
              <a:t>82</a:t>
            </a:fld>
            <a:endParaRPr lang="fr-FR" altLang="fr-FR" sz="1100" dirty="0">
              <a:latin typeface="Calibri" panose="020F0502020204030204" pitchFamily="34" charset="0"/>
            </a:endParaRPr>
          </a:p>
        </p:txBody>
      </p:sp>
      <p:sp>
        <p:nvSpPr>
          <p:cNvPr id="18022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7583334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Espace réservé de l'image des diapositives 1"/>
          <p:cNvSpPr>
            <a:spLocks noGrp="1" noRot="1" noChangeAspect="1" noTextEdit="1"/>
          </p:cNvSpPr>
          <p:nvPr>
            <p:ph type="sldImg"/>
          </p:nvPr>
        </p:nvSpPr>
        <p:spPr>
          <a:xfrm>
            <a:off x="481013" y="663575"/>
            <a:ext cx="6361112" cy="4525963"/>
          </a:xfrm>
          <a:ln/>
        </p:spPr>
      </p:sp>
      <p:sp>
        <p:nvSpPr>
          <p:cNvPr id="18227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u="sng" dirty="0"/>
              <a:t>Productivité</a:t>
            </a:r>
            <a:r>
              <a:rPr lang="fr-FR" altLang="fr-FR" dirty="0"/>
              <a:t> : </a:t>
            </a:r>
          </a:p>
          <a:p>
            <a:r>
              <a:rPr lang="fr-FR" altLang="fr-FR" dirty="0"/>
              <a:t>Le classement des activités en 6 catégories a été préparé par les participants sur la feuille Productivité. La feuille d’analyse des gaspillages permet de mettre à jour le Tableau de bord Excel.</a:t>
            </a:r>
          </a:p>
          <a:p>
            <a:r>
              <a:rPr lang="fr-FR" altLang="fr-FR" dirty="0"/>
              <a:t>L’animateur projette le graphique en secteurs du type de celui présenté ci-dessus.</a:t>
            </a:r>
          </a:p>
          <a:p>
            <a:r>
              <a:rPr lang="fr-FR" altLang="fr-FR" dirty="0"/>
              <a:t>Il projette également la décomposition du TRG.</a:t>
            </a:r>
          </a:p>
          <a:p>
            <a:r>
              <a:rPr lang="fr-FR" altLang="fr-FR" dirty="0"/>
              <a:t>Le rapporteur de l’équipe comment les résultats en s’appuyant sur ces deux graphiques.</a:t>
            </a:r>
          </a:p>
          <a:p>
            <a:endParaRPr lang="fr-FR" altLang="fr-FR" dirty="0"/>
          </a:p>
        </p:txBody>
      </p:sp>
      <p:sp>
        <p:nvSpPr>
          <p:cNvPr id="18227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AE2A432-31AF-4E04-97FA-E52AD14F7D01}" type="slidenum">
              <a:rPr lang="fr-FR" altLang="fr-FR" sz="1100">
                <a:latin typeface="Calibri" panose="020F0502020204030204" pitchFamily="34" charset="0"/>
              </a:rPr>
              <a:pPr/>
              <a:t>83</a:t>
            </a:fld>
            <a:endParaRPr lang="fr-FR" altLang="fr-FR" sz="1100" dirty="0">
              <a:latin typeface="Calibri" panose="020F0502020204030204" pitchFamily="34" charset="0"/>
            </a:endParaRPr>
          </a:p>
        </p:txBody>
      </p:sp>
      <p:sp>
        <p:nvSpPr>
          <p:cNvPr id="18227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597840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Espace réservé de l'image des diapositives 1"/>
          <p:cNvSpPr>
            <a:spLocks noGrp="1" noRot="1" noChangeAspect="1" noTextEdit="1"/>
          </p:cNvSpPr>
          <p:nvPr>
            <p:ph type="sldImg"/>
          </p:nvPr>
        </p:nvSpPr>
        <p:spPr>
          <a:xfrm>
            <a:off x="481013" y="663575"/>
            <a:ext cx="6361112" cy="4525963"/>
          </a:xfrm>
          <a:ln/>
        </p:spPr>
      </p:sp>
      <p:sp>
        <p:nvSpPr>
          <p:cNvPr id="18432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L’équipe a préparé une affiche Analyse des flux. Mais comme celle-ci n’est pas visible de loin, l’animateur dispose dans le</a:t>
            </a:r>
            <a:r>
              <a:rPr lang="fr-FR" altLang="fr-FR" dirty="0">
                <a:solidFill>
                  <a:srgbClr val="FF0000"/>
                </a:solidFill>
              </a:rPr>
              <a:t> </a:t>
            </a:r>
            <a:r>
              <a:rPr lang="fr-FR" altLang="fr-FR" dirty="0"/>
              <a:t>Tableau de bord de graphiques qui pourront être projetés pendant la présentation pour aider le rapporteur.</a:t>
            </a:r>
          </a:p>
          <a:p>
            <a:endParaRPr lang="fr-FR" altLang="fr-FR" dirty="0"/>
          </a:p>
        </p:txBody>
      </p:sp>
      <p:sp>
        <p:nvSpPr>
          <p:cNvPr id="18432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5C05887-58FE-46CD-8035-CBE229F6B2EA}" type="slidenum">
              <a:rPr lang="fr-FR" altLang="fr-FR" sz="1100">
                <a:latin typeface="Calibri" panose="020F0502020204030204" pitchFamily="34" charset="0"/>
              </a:rPr>
              <a:pPr/>
              <a:t>84</a:t>
            </a:fld>
            <a:endParaRPr lang="fr-FR" altLang="fr-FR" sz="1100" dirty="0">
              <a:latin typeface="Calibri" panose="020F0502020204030204" pitchFamily="34" charset="0"/>
            </a:endParaRPr>
          </a:p>
        </p:txBody>
      </p:sp>
      <p:sp>
        <p:nvSpPr>
          <p:cNvPr id="18432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8890249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Espace réservé de l'image des diapositives 1"/>
          <p:cNvSpPr>
            <a:spLocks noGrp="1" noRot="1" noChangeAspect="1" noTextEdit="1"/>
          </p:cNvSpPr>
          <p:nvPr>
            <p:ph type="sldImg"/>
          </p:nvPr>
        </p:nvSpPr>
        <p:spPr>
          <a:xfrm>
            <a:off x="481013" y="663575"/>
            <a:ext cx="6361112" cy="4525963"/>
          </a:xfrm>
          <a:ln/>
        </p:spPr>
      </p:sp>
      <p:sp>
        <p:nvSpPr>
          <p:cNvPr id="18637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u="sng" dirty="0"/>
              <a:t>Implantation</a:t>
            </a:r>
            <a:r>
              <a:rPr lang="fr-FR" altLang="fr-FR" dirty="0"/>
              <a:t> : l’équipe dessine sur le </a:t>
            </a:r>
            <a:r>
              <a:rPr lang="fr-FR" altLang="fr-FR" dirty="0">
                <a:solidFill>
                  <a:srgbClr val="FF0000"/>
                </a:solidFill>
              </a:rPr>
              <a:t>Tableau de papier</a:t>
            </a:r>
            <a:r>
              <a:rPr lang="fr-FR" altLang="fr-FR" dirty="0"/>
              <a:t> la nouvelle implantation.</a:t>
            </a:r>
          </a:p>
          <a:p>
            <a:r>
              <a:rPr lang="fr-FR" altLang="fr-FR" dirty="0"/>
              <a:t>L’animateur projette le calcul des trajets, après avoir mis à jour le fichier Excel  présent dans le Tableau de bord.</a:t>
            </a:r>
          </a:p>
        </p:txBody>
      </p:sp>
      <p:sp>
        <p:nvSpPr>
          <p:cNvPr id="1863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F3C0E37-4777-4A63-B840-9CC9F5E914AF}" type="slidenum">
              <a:rPr lang="fr-FR" altLang="fr-FR" sz="1100">
                <a:latin typeface="Calibri" panose="020F0502020204030204" pitchFamily="34" charset="0"/>
              </a:rPr>
              <a:pPr/>
              <a:t>85</a:t>
            </a:fld>
            <a:endParaRPr lang="fr-FR" altLang="fr-FR" sz="1100" dirty="0">
              <a:latin typeface="Calibri" panose="020F0502020204030204" pitchFamily="34" charset="0"/>
            </a:endParaRPr>
          </a:p>
        </p:txBody>
      </p:sp>
      <p:sp>
        <p:nvSpPr>
          <p:cNvPr id="18637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5172056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Espace réservé de l'image des diapositives 1"/>
          <p:cNvSpPr>
            <a:spLocks noGrp="1" noRot="1" noChangeAspect="1" noTextEdit="1"/>
          </p:cNvSpPr>
          <p:nvPr>
            <p:ph type="sldImg"/>
          </p:nvPr>
        </p:nvSpPr>
        <p:spPr>
          <a:xfrm>
            <a:off x="479425" y="674688"/>
            <a:ext cx="6364288" cy="4529137"/>
          </a:xfrm>
          <a:ln/>
        </p:spPr>
      </p:sp>
      <p:sp>
        <p:nvSpPr>
          <p:cNvPr id="18841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u="sng" dirty="0"/>
              <a:t>Qualité</a:t>
            </a:r>
            <a:r>
              <a:rPr lang="fr-FR" altLang="fr-FR" dirty="0"/>
              <a:t> : l’équipe a préparé une Affiche Causes – Effet qu’elle place sur le tableau de papier.</a:t>
            </a:r>
          </a:p>
          <a:p>
            <a:r>
              <a:rPr lang="fr-FR" altLang="fr-FR" dirty="0"/>
              <a:t>L’équipe lit les causes inscrites sur l’affiche.</a:t>
            </a:r>
          </a:p>
          <a:p>
            <a:r>
              <a:rPr lang="fr-FR" altLang="fr-FR" dirty="0"/>
              <a:t>Elle utilise ensuite le Pareto pour indique les causes les plus fréquentes selon l’étude du responsable qualité.</a:t>
            </a:r>
          </a:p>
          <a:p>
            <a:r>
              <a:rPr lang="fr-FR" altLang="fr-FR" dirty="0"/>
              <a:t>Puis elle propose des actions d’amélioration.</a:t>
            </a:r>
          </a:p>
          <a:p>
            <a:r>
              <a:rPr lang="fr-FR" altLang="fr-FR" dirty="0"/>
              <a:t>Remarque</a:t>
            </a:r>
          </a:p>
          <a:p>
            <a:r>
              <a:rPr lang="fr-FR" altLang="fr-FR" dirty="0"/>
              <a:t>L’animateur peut utiliser la diapo page 98 de ce diaporama pour projeter le résultat du diagramme de Pareto qui illustre l’exposé du rapporteur.</a:t>
            </a:r>
          </a:p>
        </p:txBody>
      </p:sp>
      <p:sp>
        <p:nvSpPr>
          <p:cNvPr id="1884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1069146-42DD-4297-883A-8318F4A7686D}" type="slidenum">
              <a:rPr lang="fr-FR" altLang="fr-FR" sz="1100">
                <a:latin typeface="Calibri" panose="020F0502020204030204" pitchFamily="34" charset="0"/>
              </a:rPr>
              <a:pPr/>
              <a:t>86</a:t>
            </a:fld>
            <a:endParaRPr lang="fr-FR" altLang="fr-FR" sz="1100" dirty="0">
              <a:latin typeface="Calibri" panose="020F0502020204030204" pitchFamily="34" charset="0"/>
            </a:endParaRPr>
          </a:p>
        </p:txBody>
      </p:sp>
      <p:sp>
        <p:nvSpPr>
          <p:cNvPr id="18842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75721363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Espace réservé de l'image des diapositives 1"/>
          <p:cNvSpPr>
            <a:spLocks noGrp="1" noRot="1" noChangeAspect="1" noTextEdit="1"/>
          </p:cNvSpPr>
          <p:nvPr>
            <p:ph type="sldImg"/>
          </p:nvPr>
        </p:nvSpPr>
        <p:spPr>
          <a:xfrm>
            <a:off x="481013" y="663575"/>
            <a:ext cx="6361112" cy="4525963"/>
          </a:xfrm>
          <a:ln/>
        </p:spPr>
      </p:sp>
      <p:sp>
        <p:nvSpPr>
          <p:cNvPr id="19046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u="sng" dirty="0"/>
              <a:t>Motivation</a:t>
            </a:r>
            <a:r>
              <a:rPr lang="fr-FR" altLang="fr-FR" dirty="0"/>
              <a:t> : dans la mesure où chaque équipe a participé au sondage, celui-ci peut être commenté sans autre support. Toutefois, le Tableau de bord comporte un onglet Enquête de motivation qui peut être renseigné à partir de la feuille remplie par l’équipe pour projeter le résultat du sondage.</a:t>
            </a:r>
          </a:p>
        </p:txBody>
      </p:sp>
      <p:sp>
        <p:nvSpPr>
          <p:cNvPr id="19046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75F5ACA-D904-43BC-B474-31A05FEC057E}" type="slidenum">
              <a:rPr lang="fr-FR" altLang="fr-FR" sz="1100">
                <a:latin typeface="Calibri" panose="020F0502020204030204" pitchFamily="34" charset="0"/>
              </a:rPr>
              <a:pPr/>
              <a:t>87</a:t>
            </a:fld>
            <a:endParaRPr lang="fr-FR" altLang="fr-FR" sz="1100" dirty="0">
              <a:latin typeface="Calibri" panose="020F0502020204030204" pitchFamily="34" charset="0"/>
            </a:endParaRPr>
          </a:p>
        </p:txBody>
      </p:sp>
      <p:sp>
        <p:nvSpPr>
          <p:cNvPr id="19046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58455634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Espace réservé de l'image des diapositives 1"/>
          <p:cNvSpPr>
            <a:spLocks noGrp="1" noRot="1" noChangeAspect="1" noTextEdit="1"/>
          </p:cNvSpPr>
          <p:nvPr>
            <p:ph type="sldImg"/>
          </p:nvPr>
        </p:nvSpPr>
        <p:spPr>
          <a:xfrm>
            <a:off x="481013" y="663575"/>
            <a:ext cx="6361112" cy="4525963"/>
          </a:xfrm>
          <a:ln/>
        </p:spPr>
      </p:sp>
      <p:sp>
        <p:nvSpPr>
          <p:cNvPr id="19251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925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571BFF4-D97A-4A30-9BD8-8AEEF9583880}" type="slidenum">
              <a:rPr lang="fr-FR" altLang="fr-FR" sz="1100">
                <a:latin typeface="Calibri" panose="020F0502020204030204" pitchFamily="34" charset="0"/>
              </a:rPr>
              <a:pPr/>
              <a:t>88</a:t>
            </a:fld>
            <a:endParaRPr lang="fr-FR" altLang="fr-FR" sz="1100" dirty="0">
              <a:latin typeface="Calibri" panose="020F0502020204030204" pitchFamily="34" charset="0"/>
            </a:endParaRPr>
          </a:p>
        </p:txBody>
      </p:sp>
      <p:sp>
        <p:nvSpPr>
          <p:cNvPr id="19251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9430940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E103B27-054C-401E-B17E-D4267AA1F5E7}" type="slidenum">
              <a:rPr lang="fr-FR" altLang="fr-FR" sz="1100">
                <a:latin typeface="Calibri" panose="020F0502020204030204" pitchFamily="34" charset="0"/>
              </a:rPr>
              <a:pPr/>
              <a:t>89</a:t>
            </a:fld>
            <a:endParaRPr lang="fr-FR" altLang="fr-FR" sz="1100" dirty="0">
              <a:latin typeface="Calibri" panose="020F0502020204030204" pitchFamily="34" charset="0"/>
            </a:endParaRPr>
          </a:p>
        </p:txBody>
      </p:sp>
      <p:sp>
        <p:nvSpPr>
          <p:cNvPr id="196611"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196612" name="Rectangle 6"/>
          <p:cNvSpPr>
            <a:spLocks noChangeArrowheads="1"/>
          </p:cNvSpPr>
          <p:nvPr/>
        </p:nvSpPr>
        <p:spPr bwMode="auto">
          <a:xfrm>
            <a:off x="880370" y="3334065"/>
            <a:ext cx="5386647"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Commentaires sur les projets</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11555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Espace réservé de l'image des diapositives 1"/>
          <p:cNvSpPr>
            <a:spLocks noGrp="1" noRot="1" noChangeAspect="1" noTextEdit="1"/>
          </p:cNvSpPr>
          <p:nvPr>
            <p:ph type="sldImg"/>
          </p:nvPr>
        </p:nvSpPr>
        <p:spPr>
          <a:xfrm>
            <a:off x="481013" y="663575"/>
            <a:ext cx="6361112" cy="4525963"/>
          </a:xfrm>
          <a:ln/>
        </p:spPr>
      </p:sp>
      <p:sp>
        <p:nvSpPr>
          <p:cNvPr id="19865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19866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04766D5-9E7D-4584-AF8B-996EF674349B}" type="slidenum">
              <a:rPr lang="fr-FR" altLang="fr-FR" sz="1100">
                <a:latin typeface="Calibri" panose="020F0502020204030204" pitchFamily="34" charset="0"/>
              </a:rPr>
              <a:pPr/>
              <a:t>90</a:t>
            </a:fld>
            <a:endParaRPr lang="fr-FR" altLang="fr-FR" sz="1100" dirty="0">
              <a:latin typeface="Calibri" panose="020F0502020204030204" pitchFamily="34" charset="0"/>
            </a:endParaRPr>
          </a:p>
        </p:txBody>
      </p:sp>
      <p:sp>
        <p:nvSpPr>
          <p:cNvPr id="19866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78752505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Espace réservé de l'image des diapositives 1"/>
          <p:cNvSpPr>
            <a:spLocks noGrp="1" noRot="1" noChangeAspect="1" noTextEdit="1"/>
          </p:cNvSpPr>
          <p:nvPr>
            <p:ph type="sldImg"/>
          </p:nvPr>
        </p:nvSpPr>
        <p:spPr>
          <a:xfrm>
            <a:off x="481013" y="663575"/>
            <a:ext cx="6361112" cy="4525963"/>
          </a:xfrm>
          <a:ln/>
        </p:spPr>
      </p:sp>
      <p:sp>
        <p:nvSpPr>
          <p:cNvPr id="2007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0070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B7AF126-E25B-4451-B7FC-FC35FD82C406}" type="slidenum">
              <a:rPr lang="fr-FR" altLang="fr-FR" sz="1100">
                <a:latin typeface="Calibri" panose="020F0502020204030204" pitchFamily="34" charset="0"/>
              </a:rPr>
              <a:pPr/>
              <a:t>91</a:t>
            </a:fld>
            <a:endParaRPr lang="fr-FR" altLang="fr-FR" sz="1100" dirty="0">
              <a:latin typeface="Calibri" panose="020F0502020204030204" pitchFamily="34" charset="0"/>
            </a:endParaRPr>
          </a:p>
        </p:txBody>
      </p:sp>
      <p:sp>
        <p:nvSpPr>
          <p:cNvPr id="20070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77467990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Espace réservé de l'image des diapositives 1"/>
          <p:cNvSpPr>
            <a:spLocks noGrp="1" noRot="1" noChangeAspect="1" noTextEdit="1"/>
          </p:cNvSpPr>
          <p:nvPr>
            <p:ph type="sldImg"/>
          </p:nvPr>
        </p:nvSpPr>
        <p:spPr>
          <a:xfrm>
            <a:off x="481013" y="663575"/>
            <a:ext cx="6361112" cy="4525963"/>
          </a:xfrm>
          <a:ln/>
        </p:spPr>
      </p:sp>
      <p:sp>
        <p:nvSpPr>
          <p:cNvPr id="20275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0275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8C9F18A7-556D-4BFD-82A1-A74569F08CCE}" type="slidenum">
              <a:rPr lang="fr-FR" altLang="fr-FR" sz="1100">
                <a:latin typeface="Calibri" panose="020F0502020204030204" pitchFamily="34" charset="0"/>
              </a:rPr>
              <a:pPr/>
              <a:t>92</a:t>
            </a:fld>
            <a:endParaRPr lang="fr-FR" altLang="fr-FR" sz="1100" dirty="0">
              <a:latin typeface="Calibri" panose="020F0502020204030204" pitchFamily="34" charset="0"/>
            </a:endParaRPr>
          </a:p>
        </p:txBody>
      </p:sp>
      <p:sp>
        <p:nvSpPr>
          <p:cNvPr id="20275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37859344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Espace réservé de l'image des diapositives 1"/>
          <p:cNvSpPr>
            <a:spLocks noGrp="1" noRot="1" noChangeAspect="1" noTextEdit="1"/>
          </p:cNvSpPr>
          <p:nvPr>
            <p:ph type="sldImg"/>
          </p:nvPr>
        </p:nvSpPr>
        <p:spPr>
          <a:xfrm>
            <a:off x="481013" y="663575"/>
            <a:ext cx="6361112" cy="4525963"/>
          </a:xfrm>
          <a:ln/>
        </p:spPr>
      </p:sp>
      <p:sp>
        <p:nvSpPr>
          <p:cNvPr id="20480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0480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107AFFA-558A-4AEF-AB8D-0A1207E73963}" type="slidenum">
              <a:rPr lang="fr-FR" altLang="fr-FR" sz="1100">
                <a:latin typeface="Calibri" panose="020F0502020204030204" pitchFamily="34" charset="0"/>
              </a:rPr>
              <a:pPr/>
              <a:t>93</a:t>
            </a:fld>
            <a:endParaRPr lang="fr-FR" altLang="fr-FR" sz="1100" dirty="0">
              <a:latin typeface="Calibri" panose="020F0502020204030204" pitchFamily="34" charset="0"/>
            </a:endParaRPr>
          </a:p>
        </p:txBody>
      </p:sp>
      <p:sp>
        <p:nvSpPr>
          <p:cNvPr id="20480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79079598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Espace réservé de l'image des diapositives 1"/>
          <p:cNvSpPr>
            <a:spLocks noGrp="1" noRot="1" noChangeAspect="1" noTextEdit="1"/>
          </p:cNvSpPr>
          <p:nvPr>
            <p:ph type="sldImg"/>
          </p:nvPr>
        </p:nvSpPr>
        <p:spPr>
          <a:xfrm>
            <a:off x="481013" y="663575"/>
            <a:ext cx="6361112" cy="4525963"/>
          </a:xfrm>
          <a:ln/>
        </p:spPr>
      </p:sp>
      <p:sp>
        <p:nvSpPr>
          <p:cNvPr id="20685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068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ED5331A-492D-4DE0-BB20-386B7536D3C7}" type="slidenum">
              <a:rPr lang="fr-FR" altLang="fr-FR" sz="1100">
                <a:latin typeface="Calibri" panose="020F0502020204030204" pitchFamily="34" charset="0"/>
              </a:rPr>
              <a:pPr/>
              <a:t>94</a:t>
            </a:fld>
            <a:endParaRPr lang="fr-FR" altLang="fr-FR" sz="1100" dirty="0">
              <a:latin typeface="Calibri" panose="020F0502020204030204" pitchFamily="34" charset="0"/>
            </a:endParaRPr>
          </a:p>
        </p:txBody>
      </p:sp>
      <p:sp>
        <p:nvSpPr>
          <p:cNvPr id="20685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60898515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Espace réservé de l'image des diapositives 1"/>
          <p:cNvSpPr>
            <a:spLocks noGrp="1" noRot="1" noChangeAspect="1" noTextEdit="1"/>
          </p:cNvSpPr>
          <p:nvPr>
            <p:ph type="sldImg"/>
          </p:nvPr>
        </p:nvSpPr>
        <p:spPr>
          <a:xfrm>
            <a:off x="481013" y="663575"/>
            <a:ext cx="6361112" cy="4525963"/>
          </a:xfrm>
          <a:ln/>
        </p:spPr>
      </p:sp>
      <p:sp>
        <p:nvSpPr>
          <p:cNvPr id="20889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0890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C95DE08A-A316-4107-AE73-7BA18CD35462}" type="slidenum">
              <a:rPr lang="fr-FR" altLang="fr-FR" sz="1100">
                <a:latin typeface="Calibri" panose="020F0502020204030204" pitchFamily="34" charset="0"/>
              </a:rPr>
              <a:pPr/>
              <a:t>95</a:t>
            </a:fld>
            <a:endParaRPr lang="fr-FR" altLang="fr-FR" sz="1100" dirty="0">
              <a:latin typeface="Calibri" panose="020F0502020204030204" pitchFamily="34" charset="0"/>
            </a:endParaRPr>
          </a:p>
        </p:txBody>
      </p:sp>
      <p:sp>
        <p:nvSpPr>
          <p:cNvPr id="20890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21738085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Espace réservé de l'image des diapositives 1"/>
          <p:cNvSpPr>
            <a:spLocks noGrp="1" noRot="1" noChangeAspect="1" noTextEdit="1"/>
          </p:cNvSpPr>
          <p:nvPr>
            <p:ph type="sldImg"/>
          </p:nvPr>
        </p:nvSpPr>
        <p:spPr>
          <a:xfrm>
            <a:off x="481013" y="663575"/>
            <a:ext cx="6361112" cy="4525963"/>
          </a:xfrm>
          <a:ln/>
        </p:spPr>
      </p:sp>
      <p:sp>
        <p:nvSpPr>
          <p:cNvPr id="21094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1094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EAC4011-DB40-472A-8A2B-877958D8DFAB}" type="slidenum">
              <a:rPr lang="fr-FR" altLang="fr-FR" sz="1100">
                <a:latin typeface="Calibri" panose="020F0502020204030204" pitchFamily="34" charset="0"/>
              </a:rPr>
              <a:pPr/>
              <a:t>96</a:t>
            </a:fld>
            <a:endParaRPr lang="fr-FR" altLang="fr-FR" sz="1100" dirty="0">
              <a:latin typeface="Calibri" panose="020F0502020204030204" pitchFamily="34" charset="0"/>
            </a:endParaRPr>
          </a:p>
        </p:txBody>
      </p:sp>
      <p:sp>
        <p:nvSpPr>
          <p:cNvPr id="21094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94632273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Espace réservé de l'image des diapositives 1"/>
          <p:cNvSpPr>
            <a:spLocks noGrp="1" noRot="1" noChangeAspect="1" noTextEdit="1"/>
          </p:cNvSpPr>
          <p:nvPr>
            <p:ph type="sldImg"/>
          </p:nvPr>
        </p:nvSpPr>
        <p:spPr>
          <a:xfrm>
            <a:off x="481013" y="663575"/>
            <a:ext cx="6361112" cy="4525963"/>
          </a:xfrm>
          <a:ln/>
        </p:spPr>
      </p:sp>
      <p:sp>
        <p:nvSpPr>
          <p:cNvPr id="21299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1299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F29D530A-B6C7-4522-976C-E8C89A0C2621}" type="slidenum">
              <a:rPr lang="fr-FR" altLang="fr-FR" sz="1100">
                <a:latin typeface="Calibri" panose="020F0502020204030204" pitchFamily="34" charset="0"/>
              </a:rPr>
              <a:pPr/>
              <a:t>97</a:t>
            </a:fld>
            <a:endParaRPr lang="fr-FR" altLang="fr-FR" sz="1100" dirty="0">
              <a:latin typeface="Calibri" panose="020F0502020204030204" pitchFamily="34" charset="0"/>
            </a:endParaRPr>
          </a:p>
        </p:txBody>
      </p:sp>
      <p:sp>
        <p:nvSpPr>
          <p:cNvPr id="21299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17197581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Espace réservé de l'image des diapositives 1"/>
          <p:cNvSpPr>
            <a:spLocks noGrp="1" noRot="1" noChangeAspect="1" noTextEdit="1"/>
          </p:cNvSpPr>
          <p:nvPr>
            <p:ph type="sldImg"/>
          </p:nvPr>
        </p:nvSpPr>
        <p:spPr>
          <a:xfrm>
            <a:off x="481013" y="663575"/>
            <a:ext cx="6361112" cy="4525963"/>
          </a:xfrm>
          <a:ln/>
        </p:spPr>
      </p:sp>
      <p:sp>
        <p:nvSpPr>
          <p:cNvPr id="2150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1504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9FDBD1D-75D0-4EB1-AEC4-D9BE47E7758F}" type="slidenum">
              <a:rPr lang="fr-FR" altLang="fr-FR" sz="1100">
                <a:latin typeface="Calibri" panose="020F0502020204030204" pitchFamily="34" charset="0"/>
              </a:rPr>
              <a:pPr/>
              <a:t>98</a:t>
            </a:fld>
            <a:endParaRPr lang="fr-FR" altLang="fr-FR" sz="1100" dirty="0">
              <a:latin typeface="Calibri" panose="020F0502020204030204" pitchFamily="34" charset="0"/>
            </a:endParaRPr>
          </a:p>
        </p:txBody>
      </p:sp>
      <p:sp>
        <p:nvSpPr>
          <p:cNvPr id="21504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33687342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Espace réservé de l'image des diapositives 1"/>
          <p:cNvSpPr>
            <a:spLocks noGrp="1" noRot="1" noChangeAspect="1" noTextEdit="1"/>
          </p:cNvSpPr>
          <p:nvPr>
            <p:ph type="sldImg"/>
          </p:nvPr>
        </p:nvSpPr>
        <p:spPr>
          <a:xfrm>
            <a:off x="481013" y="663575"/>
            <a:ext cx="6361112" cy="4525963"/>
          </a:xfrm>
          <a:ln/>
        </p:spPr>
      </p:sp>
      <p:sp>
        <p:nvSpPr>
          <p:cNvPr id="21709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1709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4AF8F59-303E-43EC-90ED-4FFB35CB5EBE}" type="slidenum">
              <a:rPr lang="fr-FR" altLang="fr-FR" sz="1100">
                <a:latin typeface="Calibri" panose="020F0502020204030204" pitchFamily="34" charset="0"/>
              </a:rPr>
              <a:pPr/>
              <a:t>99</a:t>
            </a:fld>
            <a:endParaRPr lang="fr-FR" altLang="fr-FR" sz="1100" dirty="0">
              <a:latin typeface="Calibri" panose="020F0502020204030204" pitchFamily="34" charset="0"/>
            </a:endParaRPr>
          </a:p>
        </p:txBody>
      </p:sp>
      <p:sp>
        <p:nvSpPr>
          <p:cNvPr id="21709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00453884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Espace réservé de l'image des diapositives 1"/>
          <p:cNvSpPr>
            <a:spLocks noGrp="1" noRot="1" noChangeAspect="1" noTextEdit="1"/>
          </p:cNvSpPr>
          <p:nvPr>
            <p:ph type="sldImg"/>
          </p:nvPr>
        </p:nvSpPr>
        <p:spPr>
          <a:xfrm>
            <a:off x="481013" y="663575"/>
            <a:ext cx="6361112" cy="4525963"/>
          </a:xfrm>
          <a:ln/>
        </p:spPr>
      </p:sp>
      <p:sp>
        <p:nvSpPr>
          <p:cNvPr id="21913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1914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D58F6477-06FF-47AA-B438-105D152B862A}" type="slidenum">
              <a:rPr lang="fr-FR" altLang="fr-FR" sz="1100">
                <a:latin typeface="Calibri" panose="020F0502020204030204" pitchFamily="34" charset="0"/>
              </a:rPr>
              <a:pPr/>
              <a:t>100</a:t>
            </a:fld>
            <a:endParaRPr lang="fr-FR" altLang="fr-FR" sz="1100" dirty="0">
              <a:latin typeface="Calibri" panose="020F0502020204030204" pitchFamily="34" charset="0"/>
            </a:endParaRPr>
          </a:p>
        </p:txBody>
      </p:sp>
      <p:sp>
        <p:nvSpPr>
          <p:cNvPr id="21914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11864278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Espace réservé de l'image des diapositives 1"/>
          <p:cNvSpPr>
            <a:spLocks noGrp="1" noRot="1" noChangeAspect="1" noTextEdit="1"/>
          </p:cNvSpPr>
          <p:nvPr>
            <p:ph type="sldImg"/>
          </p:nvPr>
        </p:nvSpPr>
        <p:spPr>
          <a:xfrm>
            <a:off x="481013" y="663575"/>
            <a:ext cx="6361112" cy="4525963"/>
          </a:xfrm>
          <a:ln/>
        </p:spPr>
      </p:sp>
      <p:sp>
        <p:nvSpPr>
          <p:cNvPr id="22118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2118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539E481-D000-4946-A60C-F5E7A4B7339C}" type="slidenum">
              <a:rPr lang="fr-FR" altLang="fr-FR" sz="1100">
                <a:latin typeface="Calibri" panose="020F0502020204030204" pitchFamily="34" charset="0"/>
              </a:rPr>
              <a:pPr/>
              <a:t>101</a:t>
            </a:fld>
            <a:endParaRPr lang="fr-FR" altLang="fr-FR" sz="1100" dirty="0">
              <a:latin typeface="Calibri" panose="020F0502020204030204" pitchFamily="34" charset="0"/>
            </a:endParaRPr>
          </a:p>
        </p:txBody>
      </p:sp>
      <p:sp>
        <p:nvSpPr>
          <p:cNvPr id="22118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47827616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Espace réservé de l'image des diapositives 1"/>
          <p:cNvSpPr>
            <a:spLocks noGrp="1" noRot="1" noChangeAspect="1" noTextEdit="1"/>
          </p:cNvSpPr>
          <p:nvPr>
            <p:ph type="sldImg"/>
          </p:nvPr>
        </p:nvSpPr>
        <p:spPr>
          <a:xfrm>
            <a:off x="481013" y="663575"/>
            <a:ext cx="6361112" cy="4525963"/>
          </a:xfrm>
          <a:ln/>
        </p:spPr>
      </p:sp>
      <p:sp>
        <p:nvSpPr>
          <p:cNvPr id="22323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Ce tableau montre une vue d’ensemble des avantages obtenus grâce aux échanges.</a:t>
            </a:r>
          </a:p>
          <a:p>
            <a:r>
              <a:rPr lang="fr-FR" altLang="fr-FR" dirty="0"/>
              <a:t>Par exemple, le groupe Flux (première ligne) aidera le groupe Productivité (2</a:t>
            </a:r>
            <a:r>
              <a:rPr lang="fr-FR" altLang="fr-FR" baseline="30000" dirty="0"/>
              <a:t>ème</a:t>
            </a:r>
            <a:r>
              <a:rPr lang="fr-FR" altLang="fr-FR" dirty="0"/>
              <a:t> colonne) à mieux équilibrer la charge entre les postes de travail. La productivité sera accrue, grâce à la diminution des temps morts sur les postes peu chargés.</a:t>
            </a:r>
          </a:p>
        </p:txBody>
      </p:sp>
      <p:sp>
        <p:nvSpPr>
          <p:cNvPr id="22323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595D41C-6084-4877-BBB8-5FA6DABF20F3}" type="slidenum">
              <a:rPr lang="fr-FR" altLang="fr-FR" sz="1100">
                <a:latin typeface="Calibri" panose="020F0502020204030204" pitchFamily="34" charset="0"/>
              </a:rPr>
              <a:pPr/>
              <a:t>102</a:t>
            </a:fld>
            <a:endParaRPr lang="fr-FR" altLang="fr-FR" sz="1100" dirty="0">
              <a:latin typeface="Calibri" panose="020F0502020204030204" pitchFamily="34" charset="0"/>
            </a:endParaRPr>
          </a:p>
        </p:txBody>
      </p:sp>
      <p:sp>
        <p:nvSpPr>
          <p:cNvPr id="22323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04193341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3438601C-D990-4ABB-BE27-9ECF1630DB6A}" type="slidenum">
              <a:rPr lang="fr-FR" altLang="fr-FR" sz="1100">
                <a:latin typeface="Calibri" panose="020F0502020204030204" pitchFamily="34" charset="0"/>
              </a:rPr>
              <a:pPr/>
              <a:t>103</a:t>
            </a:fld>
            <a:endParaRPr lang="fr-FR" altLang="fr-FR" sz="1100" dirty="0">
              <a:latin typeface="Calibri" panose="020F0502020204030204" pitchFamily="34" charset="0"/>
            </a:endParaRPr>
          </a:p>
        </p:txBody>
      </p:sp>
      <p:sp>
        <p:nvSpPr>
          <p:cNvPr id="225283"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25284" name="Rectangle 6"/>
          <p:cNvSpPr>
            <a:spLocks noChangeArrowheads="1"/>
          </p:cNvSpPr>
          <p:nvPr/>
        </p:nvSpPr>
        <p:spPr bwMode="auto">
          <a:xfrm>
            <a:off x="880370" y="3008352"/>
            <a:ext cx="5386647" cy="1275031"/>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5. Simulation n°2</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32520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Espace réservé de l'image des diapositives 1"/>
          <p:cNvSpPr>
            <a:spLocks noGrp="1" noRot="1" noChangeAspect="1" noTextEdit="1"/>
          </p:cNvSpPr>
          <p:nvPr>
            <p:ph type="sldImg"/>
          </p:nvPr>
        </p:nvSpPr>
        <p:spPr>
          <a:xfrm>
            <a:off x="481013" y="663575"/>
            <a:ext cx="6361112" cy="4525963"/>
          </a:xfrm>
          <a:ln/>
        </p:spPr>
      </p:sp>
      <p:sp>
        <p:nvSpPr>
          <p:cNvPr id="2273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sépare le groupe en 2 équipes (ou 3 dès que l’on atteint 15 participants).</a:t>
            </a:r>
          </a:p>
          <a:p>
            <a:r>
              <a:rPr lang="fr-FR" altLang="fr-FR" dirty="0"/>
              <a:t>Il demande à chaque équipe de se placer autour d’une table de façon à avoir un flux en U.</a:t>
            </a:r>
          </a:p>
          <a:p>
            <a:r>
              <a:rPr lang="fr-FR" altLang="fr-FR" dirty="0"/>
              <a:t>Le nombre de personnes par poste doit être décidé par les participants.</a:t>
            </a:r>
          </a:p>
          <a:p>
            <a:r>
              <a:rPr lang="fr-FR" altLang="fr-FR" dirty="0"/>
              <a:t>Sur le dessin ci-dessus, nous avons représenté les postes Lancement / Découpe et Contrôle Qualité. Mais si les équipes décident d’implanter l’</a:t>
            </a:r>
            <a:r>
              <a:rPr lang="fr-FR" altLang="fr-FR" dirty="0" err="1"/>
              <a:t>auto-contrôle</a:t>
            </a:r>
            <a:r>
              <a:rPr lang="fr-FR" altLang="fr-FR" dirty="0"/>
              <a:t>, et de fusionner le lancement avec la première opération, ces postes disparaissent.</a:t>
            </a:r>
          </a:p>
        </p:txBody>
      </p:sp>
      <p:sp>
        <p:nvSpPr>
          <p:cNvPr id="22733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179AB89-3F28-468F-87E8-E3D719423357}" type="slidenum">
              <a:rPr lang="fr-FR" altLang="fr-FR" sz="1100">
                <a:latin typeface="Calibri" panose="020F0502020204030204" pitchFamily="34" charset="0"/>
              </a:rPr>
              <a:pPr/>
              <a:t>104</a:t>
            </a:fld>
            <a:endParaRPr lang="fr-FR" altLang="fr-FR" sz="1100" dirty="0">
              <a:latin typeface="Calibri" panose="020F0502020204030204" pitchFamily="34" charset="0"/>
            </a:endParaRPr>
          </a:p>
        </p:txBody>
      </p:sp>
      <p:sp>
        <p:nvSpPr>
          <p:cNvPr id="22733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92813946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Espace réservé de l'image des diapositives 1"/>
          <p:cNvSpPr>
            <a:spLocks noGrp="1" noRot="1" noChangeAspect="1" noTextEdit="1"/>
          </p:cNvSpPr>
          <p:nvPr>
            <p:ph type="sldImg"/>
          </p:nvPr>
        </p:nvSpPr>
        <p:spPr>
          <a:xfrm>
            <a:off x="481013" y="663575"/>
            <a:ext cx="6361112" cy="4525963"/>
          </a:xfrm>
          <a:ln/>
        </p:spPr>
      </p:sp>
      <p:sp>
        <p:nvSpPr>
          <p:cNvPr id="22937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explique que les participants peuvent acquérir de la polyvalence. Le fait de devenir polyvalent est matérialisé par un post-it sur lequel on dessine la forme à laquelle on est formé, en plus de celle qui est faite dans l’atelier auquel on appartient.</a:t>
            </a:r>
          </a:p>
          <a:p>
            <a:r>
              <a:rPr lang="fr-FR" altLang="fr-FR" dirty="0"/>
              <a:t>Mais celle-ci demande de la formation, et il n’est pas possible de rendre tout le monde polyvalent.</a:t>
            </a:r>
          </a:p>
          <a:p>
            <a:r>
              <a:rPr lang="fr-FR" altLang="fr-FR" dirty="0"/>
              <a:t>La polyvalence est limitée à deux ateliers. Il appartient à l’équipe de choisir. L’animateur précise que c’est tout l’effectif de l’atelier qui devient polyvalent avec un ticket. Si l’équipe a prévu de mettre 2 personnes au poste étoile, la polyvalence est attribuée aux deux avec un seul post-it de polyvalence.</a:t>
            </a:r>
          </a:p>
          <a:p>
            <a:r>
              <a:rPr lang="fr-FR" altLang="fr-FR" u="sng" dirty="0"/>
              <a:t>Remarque</a:t>
            </a:r>
          </a:p>
          <a:p>
            <a:r>
              <a:rPr lang="fr-FR" altLang="fr-FR" dirty="0"/>
              <a:t>Si l’équipe décide d’intégrer la découpe avec un poste de coloriage elle consomme un ticket de polyvalence.</a:t>
            </a:r>
          </a:p>
          <a:p>
            <a:r>
              <a:rPr lang="fr-FR" altLang="fr-FR" u="sng" dirty="0"/>
              <a:t>Exception</a:t>
            </a:r>
            <a:r>
              <a:rPr lang="fr-FR" altLang="fr-FR" dirty="0"/>
              <a:t> : si une équipe ne comporte que </a:t>
            </a:r>
            <a:r>
              <a:rPr lang="fr-FR" altLang="fr-FR" dirty="0">
                <a:solidFill>
                  <a:srgbClr val="FF0000"/>
                </a:solidFill>
              </a:rPr>
              <a:t>4 personnes</a:t>
            </a:r>
            <a:r>
              <a:rPr lang="fr-FR" altLang="fr-FR" dirty="0"/>
              <a:t>, elle ne peut pas affecter du personnel aux 4 postes + la découpe. Dans ce cas, le fait de confier la découpe au premier poste de travail ne consomme pas de ticket de polyvalence.</a:t>
            </a:r>
          </a:p>
        </p:txBody>
      </p:sp>
      <p:sp>
        <p:nvSpPr>
          <p:cNvPr id="2293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16BFBD7-0D7C-4861-BF5F-6419815EF6A9}" type="slidenum">
              <a:rPr lang="fr-FR" altLang="fr-FR" sz="1100">
                <a:latin typeface="Calibri" panose="020F0502020204030204" pitchFamily="34" charset="0"/>
              </a:rPr>
              <a:pPr/>
              <a:t>105</a:t>
            </a:fld>
            <a:endParaRPr lang="fr-FR" altLang="fr-FR" sz="1100" dirty="0">
              <a:latin typeface="Calibri" panose="020F0502020204030204" pitchFamily="34" charset="0"/>
            </a:endParaRPr>
          </a:p>
        </p:txBody>
      </p:sp>
      <p:sp>
        <p:nvSpPr>
          <p:cNvPr id="22938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90107294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Espace réservé de l'image des diapositives 1"/>
          <p:cNvSpPr>
            <a:spLocks noGrp="1" noRot="1" noChangeAspect="1" noTextEdit="1"/>
          </p:cNvSpPr>
          <p:nvPr>
            <p:ph type="sldImg"/>
          </p:nvPr>
        </p:nvSpPr>
        <p:spPr>
          <a:xfrm>
            <a:off x="481013" y="663575"/>
            <a:ext cx="6361112" cy="4525963"/>
          </a:xfrm>
          <a:ln/>
        </p:spPr>
      </p:sp>
      <p:sp>
        <p:nvSpPr>
          <p:cNvPr id="23142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 question de la qualité est assez délicate, car dans cette simulation les équipes sont généralement en </a:t>
            </a:r>
            <a:r>
              <a:rPr lang="fr-FR" altLang="fr-FR" dirty="0" err="1"/>
              <a:t>auto-contrôle</a:t>
            </a:r>
            <a:r>
              <a:rPr lang="fr-FR" altLang="fr-FR" dirty="0"/>
              <a:t>. De plus elles ont tendance à développer une compétition entre elles, pour savoir qui aura les meilleurs indicateurs.</a:t>
            </a:r>
          </a:p>
          <a:p>
            <a:r>
              <a:rPr lang="fr-FR" altLang="fr-FR" dirty="0"/>
              <a:t>Or l’indicateur qualité (le nombre de non-conformes) peut difficilement être jugé de façon objective, sauf à demander à l’animateur de contrôler tous les produits.</a:t>
            </a:r>
          </a:p>
          <a:p>
            <a:r>
              <a:rPr lang="fr-FR" altLang="fr-FR" dirty="0"/>
              <a:t>C’est la raison pour laquelle nous demandons aux équipes de réparer les produits qu’elle juge non conformes. Une figure qui </a:t>
            </a:r>
            <a:r>
              <a:rPr lang="fr-FR" altLang="fr-FR" i="1" dirty="0"/>
              <a:t>manque</a:t>
            </a:r>
            <a:r>
              <a:rPr lang="fr-FR" altLang="fr-FR" dirty="0"/>
              <a:t> de couleur est facile à compléter. Une figure donc la couleur </a:t>
            </a:r>
            <a:r>
              <a:rPr lang="fr-FR" altLang="fr-FR" i="1" dirty="0"/>
              <a:t>dépasse</a:t>
            </a:r>
            <a:r>
              <a:rPr lang="fr-FR" altLang="fr-FR" dirty="0"/>
              <a:t> sera réparée par un « patch » blanc. Utiliser du blanc liquide aurait donné un meilleur résultat, mais le blanc est plus difficile à utiliser pratiquement (il coule sur le carton, il sèche dans le flacon). Le patch ne cache pas le défaut, mais on admettra sa valeur symbolique.</a:t>
            </a:r>
          </a:p>
          <a:p>
            <a:r>
              <a:rPr lang="fr-FR" altLang="fr-FR" dirty="0"/>
              <a:t>Le principe de l’</a:t>
            </a:r>
            <a:r>
              <a:rPr lang="fr-FR" altLang="fr-FR" dirty="0" err="1"/>
              <a:t>auto-contrôle</a:t>
            </a:r>
            <a:r>
              <a:rPr lang="fr-FR" altLang="fr-FR" dirty="0"/>
              <a:t> n’empêche pas le client (l’animateur) de passer prendre quelques pièces par prélèvement : s’il en voit des non conformes, il les donne à réparer à la ligne.</a:t>
            </a:r>
          </a:p>
          <a:p>
            <a:r>
              <a:rPr lang="fr-FR" altLang="fr-FR" dirty="0"/>
              <a:t>Au final, si l’on applique ce principe, il n’y aura donc pas de non conformes et la satisfaction client sera de 100%. Cela revient à neutraliser l’indicateur, mais c’est la seule solution pour éviter les discussions sans fin sur la réalité des défauts.</a:t>
            </a:r>
          </a:p>
        </p:txBody>
      </p:sp>
      <p:sp>
        <p:nvSpPr>
          <p:cNvPr id="23142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45103240-411D-485B-9E9C-B4566F0CDE6D}" type="slidenum">
              <a:rPr lang="fr-FR" altLang="fr-FR" sz="1100">
                <a:latin typeface="Calibri" panose="020F0502020204030204" pitchFamily="34" charset="0"/>
              </a:rPr>
              <a:pPr/>
              <a:t>106</a:t>
            </a:fld>
            <a:endParaRPr lang="fr-FR" altLang="fr-FR" sz="1100" dirty="0">
              <a:latin typeface="Calibri" panose="020F0502020204030204" pitchFamily="34" charset="0"/>
            </a:endParaRPr>
          </a:p>
        </p:txBody>
      </p:sp>
      <p:sp>
        <p:nvSpPr>
          <p:cNvPr id="23142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5930826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Espace réservé de l'image des diapositives 1"/>
          <p:cNvSpPr>
            <a:spLocks noGrp="1" noRot="1" noChangeAspect="1" noTextEdit="1"/>
          </p:cNvSpPr>
          <p:nvPr>
            <p:ph type="sldImg"/>
          </p:nvPr>
        </p:nvSpPr>
        <p:spPr>
          <a:xfrm>
            <a:off x="481013" y="663575"/>
            <a:ext cx="6361112" cy="4525963"/>
          </a:xfrm>
          <a:ln/>
        </p:spPr>
      </p:sp>
      <p:sp>
        <p:nvSpPr>
          <p:cNvPr id="23347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3347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68F1CD5A-BAB9-45CA-BA0F-3A4FB320DDAF}" type="slidenum">
              <a:rPr lang="fr-FR" altLang="fr-FR" sz="1100">
                <a:latin typeface="Calibri" panose="020F0502020204030204" pitchFamily="34" charset="0"/>
              </a:rPr>
              <a:pPr/>
              <a:t>107</a:t>
            </a:fld>
            <a:endParaRPr lang="fr-FR" altLang="fr-FR" sz="1100" dirty="0">
              <a:latin typeface="Calibri" panose="020F0502020204030204" pitchFamily="34" charset="0"/>
            </a:endParaRPr>
          </a:p>
        </p:txBody>
      </p:sp>
      <p:sp>
        <p:nvSpPr>
          <p:cNvPr id="23347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9892198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Espace réservé de l'image des diapositives 1"/>
          <p:cNvSpPr>
            <a:spLocks noGrp="1" noRot="1" noChangeAspect="1" noTextEdit="1"/>
          </p:cNvSpPr>
          <p:nvPr>
            <p:ph type="sldImg"/>
          </p:nvPr>
        </p:nvSpPr>
        <p:spPr>
          <a:xfrm>
            <a:off x="481013" y="663575"/>
            <a:ext cx="6361112" cy="4525963"/>
          </a:xfrm>
          <a:ln/>
        </p:spPr>
      </p:sp>
      <p:sp>
        <p:nvSpPr>
          <p:cNvPr id="23552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Comme dans la simulation précédente il y a des OF traceurs :</a:t>
            </a:r>
          </a:p>
          <a:p>
            <a:r>
              <a:rPr lang="fr-FR" altLang="fr-FR" dirty="0"/>
              <a:t>Il y a un OF traceur par atelier</a:t>
            </a:r>
          </a:p>
          <a:p>
            <a:r>
              <a:rPr lang="fr-FR" altLang="fr-FR" dirty="0"/>
              <a:t>L’OF traceur n’enregistre que le début (Lancement – Découpe) et la fin (dernière opération). En effet, le délai est désormais trop court pour que cela vaille la peine de suivre les temps intermédiaires.</a:t>
            </a:r>
          </a:p>
          <a:p>
            <a:r>
              <a:rPr lang="fr-FR" altLang="fr-FR" dirty="0"/>
              <a:t>Au moment du </a:t>
            </a:r>
            <a:r>
              <a:rPr lang="fr-FR" altLang="fr-FR" dirty="0" err="1"/>
              <a:t>debriefing</a:t>
            </a:r>
            <a:r>
              <a:rPr lang="fr-FR" altLang="fr-FR" dirty="0"/>
              <a:t>, on pourra calculer le ratio Temps opératoires / Délai de l’OF en reprenant la même valeur qu’en simulation 1 pour les temps opératoires, et en divisant par le nouveau délai. On trouvera en général un ratio de l’ordre de 40 à 50%.</a:t>
            </a:r>
          </a:p>
          <a:p>
            <a:r>
              <a:rPr lang="fr-FR" altLang="fr-FR" dirty="0"/>
              <a:t>L’animateur place une </a:t>
            </a:r>
            <a:r>
              <a:rPr lang="fr-FR" altLang="fr-FR" dirty="0">
                <a:solidFill>
                  <a:srgbClr val="FF0000"/>
                </a:solidFill>
              </a:rPr>
              <a:t>pastille rouge</a:t>
            </a:r>
            <a:r>
              <a:rPr lang="fr-FR" altLang="fr-FR" dirty="0"/>
              <a:t> sur chaque OF traceur.</a:t>
            </a:r>
          </a:p>
        </p:txBody>
      </p:sp>
      <p:sp>
        <p:nvSpPr>
          <p:cNvPr id="23552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58B8B4BE-2026-475D-8DFD-D8B38361FD43}" type="slidenum">
              <a:rPr lang="fr-FR" altLang="fr-FR" sz="1100">
                <a:latin typeface="Calibri" panose="020F0502020204030204" pitchFamily="34" charset="0"/>
              </a:rPr>
              <a:pPr/>
              <a:t>108</a:t>
            </a:fld>
            <a:endParaRPr lang="fr-FR" altLang="fr-FR" sz="1100" dirty="0">
              <a:latin typeface="Calibri" panose="020F0502020204030204" pitchFamily="34" charset="0"/>
            </a:endParaRPr>
          </a:p>
        </p:txBody>
      </p:sp>
      <p:sp>
        <p:nvSpPr>
          <p:cNvPr id="23552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47269261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Espace réservé de l'image des diapositives 1"/>
          <p:cNvSpPr>
            <a:spLocks noGrp="1" noRot="1" noChangeAspect="1" noTextEdit="1"/>
          </p:cNvSpPr>
          <p:nvPr>
            <p:ph type="sldImg"/>
          </p:nvPr>
        </p:nvSpPr>
        <p:spPr>
          <a:xfrm>
            <a:off x="481013" y="663575"/>
            <a:ext cx="6361112" cy="4525963"/>
          </a:xfrm>
          <a:ln/>
        </p:spPr>
      </p:sp>
      <p:sp>
        <p:nvSpPr>
          <p:cNvPr id="23757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attribue les feutres à chaque atelier en respectant les indications ci-dessus. Les feutres secs sont enlevés du magasin.</a:t>
            </a:r>
          </a:p>
          <a:p>
            <a:r>
              <a:rPr lang="fr-FR" altLang="fr-FR" u="sng" dirty="0"/>
              <a:t>Remarque</a:t>
            </a:r>
          </a:p>
          <a:p>
            <a:r>
              <a:rPr lang="fr-FR" altLang="fr-FR" dirty="0"/>
              <a:t>Si l’on compare ces chiffres au tableau de distribution des feutres présenté avant la 1</a:t>
            </a:r>
            <a:r>
              <a:rPr lang="fr-FR" altLang="fr-FR" baseline="30000" dirty="0"/>
              <a:t>ère</a:t>
            </a:r>
            <a:r>
              <a:rPr lang="fr-FR" altLang="fr-FR" dirty="0"/>
              <a:t> simulation, on voit que la 2</a:t>
            </a:r>
            <a:r>
              <a:rPr lang="fr-FR" altLang="fr-FR" baseline="30000" dirty="0"/>
              <a:t>ème</a:t>
            </a:r>
            <a:r>
              <a:rPr lang="fr-FR" altLang="fr-FR" dirty="0"/>
              <a:t> simulation utilise davantage de feutres que la 1</a:t>
            </a:r>
            <a:r>
              <a:rPr lang="fr-FR" altLang="fr-FR" baseline="30000" dirty="0"/>
              <a:t>ère</a:t>
            </a:r>
            <a:r>
              <a:rPr lang="fr-FR" altLang="fr-FR" dirty="0"/>
              <a:t> simulation. Mais comme il y avait dans la 1</a:t>
            </a:r>
            <a:r>
              <a:rPr lang="fr-FR" altLang="fr-FR" baseline="30000" dirty="0"/>
              <a:t>ère</a:t>
            </a:r>
            <a:r>
              <a:rPr lang="fr-FR" altLang="fr-FR" dirty="0"/>
              <a:t> simulation des feutres secs, on considère qu’ils ont été remis en état : il n’est donc pas nécessaire d’acheter de nouveaux feutres.</a:t>
            </a:r>
          </a:p>
          <a:p>
            <a:r>
              <a:rPr lang="fr-FR" altLang="fr-FR" dirty="0"/>
              <a:t>La même remarque ne s’applique pas aux ciseaux : on utilise davantage de ciseaux dans la 2</a:t>
            </a:r>
            <a:r>
              <a:rPr lang="fr-FR" altLang="fr-FR" baseline="30000" dirty="0"/>
              <a:t>ème</a:t>
            </a:r>
            <a:r>
              <a:rPr lang="fr-FR" altLang="fr-FR" dirty="0"/>
              <a:t> simulation que dans la 1</a:t>
            </a:r>
            <a:r>
              <a:rPr lang="fr-FR" altLang="fr-FR" baseline="30000" dirty="0"/>
              <a:t>ère</a:t>
            </a:r>
            <a:r>
              <a:rPr lang="fr-FR" altLang="fr-FR" dirty="0"/>
              <a:t> simulation. C’est également vrai en entreprise : une décentralisation des outils implique souvent une augmentation du nombre d’outils. En contrepartie, on peut s’attendre à ce qu’étant placés sous la responsabilité directe des ateliers ils soient mieux entretenus et que leur durée de vie soit accrue. Une augmentation du nombre d’outillages n’entraîne donc pas forcément une augmentation de coût.</a:t>
            </a:r>
          </a:p>
          <a:p>
            <a:r>
              <a:rPr lang="fr-FR" altLang="fr-FR" dirty="0"/>
              <a:t>On donnera 1 paire de ciseaux par atelier.</a:t>
            </a:r>
          </a:p>
        </p:txBody>
      </p:sp>
      <p:sp>
        <p:nvSpPr>
          <p:cNvPr id="2375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1207ABB-8FB6-4079-9054-9A774B242D87}" type="slidenum">
              <a:rPr lang="fr-FR" altLang="fr-FR" sz="1100">
                <a:latin typeface="Calibri" panose="020F0502020204030204" pitchFamily="34" charset="0"/>
              </a:rPr>
              <a:pPr/>
              <a:t>109</a:t>
            </a:fld>
            <a:endParaRPr lang="fr-FR" altLang="fr-FR" sz="1100" dirty="0">
              <a:latin typeface="Calibri" panose="020F0502020204030204" pitchFamily="34" charset="0"/>
            </a:endParaRPr>
          </a:p>
        </p:txBody>
      </p:sp>
      <p:sp>
        <p:nvSpPr>
          <p:cNvPr id="23757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173515540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Espace réservé de l'image des diapositives 1"/>
          <p:cNvSpPr>
            <a:spLocks noGrp="1" noRot="1" noChangeAspect="1" noTextEdit="1"/>
          </p:cNvSpPr>
          <p:nvPr>
            <p:ph type="sldImg"/>
          </p:nvPr>
        </p:nvSpPr>
        <p:spPr>
          <a:xfrm>
            <a:off x="481013" y="663575"/>
            <a:ext cx="6361112" cy="4525963"/>
          </a:xfrm>
          <a:ln/>
        </p:spPr>
      </p:sp>
      <p:sp>
        <p:nvSpPr>
          <p:cNvPr id="23961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entre les objectifs des équipes dans le Tableau de bord Excel</a:t>
            </a:r>
          </a:p>
        </p:txBody>
      </p:sp>
      <p:sp>
        <p:nvSpPr>
          <p:cNvPr id="2396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E67783AA-8145-48E7-B8E2-CC28F0139F03}" type="slidenum">
              <a:rPr lang="fr-FR" altLang="fr-FR" sz="1100">
                <a:latin typeface="Calibri" panose="020F0502020204030204" pitchFamily="34" charset="0"/>
              </a:rPr>
              <a:pPr/>
              <a:t>110</a:t>
            </a:fld>
            <a:endParaRPr lang="fr-FR" altLang="fr-FR" sz="1100" dirty="0">
              <a:latin typeface="Calibri" panose="020F0502020204030204" pitchFamily="34" charset="0"/>
            </a:endParaRPr>
          </a:p>
        </p:txBody>
      </p:sp>
      <p:sp>
        <p:nvSpPr>
          <p:cNvPr id="23962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34033760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CF66200-5FD0-42EA-A514-88907C689E33}" type="slidenum">
              <a:rPr lang="fr-FR" altLang="fr-FR" sz="1100">
                <a:latin typeface="Calibri" panose="020F0502020204030204" pitchFamily="34" charset="0"/>
              </a:rPr>
              <a:pPr/>
              <a:t>111</a:t>
            </a:fld>
            <a:endParaRPr lang="fr-FR" altLang="fr-FR" sz="1100" dirty="0">
              <a:latin typeface="Calibri" panose="020F0502020204030204" pitchFamily="34" charset="0"/>
            </a:endParaRPr>
          </a:p>
        </p:txBody>
      </p:sp>
      <p:sp>
        <p:nvSpPr>
          <p:cNvPr id="241667"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41668" name="Rectangle 6"/>
          <p:cNvSpPr>
            <a:spLocks noChangeArrowheads="1"/>
          </p:cNvSpPr>
          <p:nvPr/>
        </p:nvSpPr>
        <p:spPr bwMode="auto">
          <a:xfrm>
            <a:off x="707943" y="3026356"/>
            <a:ext cx="5731498" cy="1276667"/>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Lancement de la simulation n°2</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1251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Espace réservé de l'image des diapositives 1"/>
          <p:cNvSpPr>
            <a:spLocks noGrp="1" noRot="1" noChangeAspect="1" noTextEdit="1"/>
          </p:cNvSpPr>
          <p:nvPr>
            <p:ph type="sldImg"/>
          </p:nvPr>
        </p:nvSpPr>
        <p:spPr>
          <a:xfrm>
            <a:off x="481013" y="663575"/>
            <a:ext cx="6361112" cy="4525963"/>
          </a:xfrm>
          <a:ln/>
        </p:spPr>
      </p:sp>
      <p:sp>
        <p:nvSpPr>
          <p:cNvPr id="243715"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Comme pendant la simulation 1, l’animateur passe parmi  les tables. Il vérifie en particulier que les règles du jeu sont respectées, et que les produits sont de bonne qualité. En cas de non-conformité, il fait retoucher le produit sur la ligne.</a:t>
            </a:r>
          </a:p>
        </p:txBody>
      </p:sp>
      <p:sp>
        <p:nvSpPr>
          <p:cNvPr id="2437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934D5D89-FEAB-426D-BC7C-39558DB68B1B}" type="slidenum">
              <a:rPr lang="fr-FR" altLang="fr-FR" sz="1100">
                <a:latin typeface="Calibri" panose="020F0502020204030204" pitchFamily="34" charset="0"/>
              </a:rPr>
              <a:pPr/>
              <a:t>112</a:t>
            </a:fld>
            <a:endParaRPr lang="fr-FR" altLang="fr-FR" sz="1100" dirty="0">
              <a:latin typeface="Calibri" panose="020F0502020204030204" pitchFamily="34" charset="0"/>
            </a:endParaRPr>
          </a:p>
        </p:txBody>
      </p:sp>
      <p:sp>
        <p:nvSpPr>
          <p:cNvPr id="243717"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54920600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Espace réservé de l'image des diapositives 1"/>
          <p:cNvSpPr>
            <a:spLocks noGrp="1" noRot="1" noChangeAspect="1" noTextEdit="1"/>
          </p:cNvSpPr>
          <p:nvPr>
            <p:ph type="sldImg"/>
          </p:nvPr>
        </p:nvSpPr>
        <p:spPr>
          <a:xfrm>
            <a:off x="481013" y="663575"/>
            <a:ext cx="6361112" cy="4525963"/>
          </a:xfrm>
          <a:ln/>
        </p:spPr>
      </p:sp>
      <p:sp>
        <p:nvSpPr>
          <p:cNvPr id="3" name="Espace réservé des commentaires 2"/>
          <p:cNvSpPr>
            <a:spLocks noGrp="1"/>
          </p:cNvSpPr>
          <p:nvPr>
            <p:ph type="body" idx="1"/>
          </p:nvPr>
        </p:nvSpPr>
        <p:spPr/>
        <p:txBody>
          <a:bodyPr>
            <a:normAutofit/>
          </a:bodyPr>
          <a:lstStyle/>
          <a:p>
            <a:pPr>
              <a:defRPr/>
            </a:pPr>
            <a:r>
              <a:rPr lang="fr-FR" dirty="0"/>
              <a:t>Pour la simulation 2, les mesures sont simplifiées. On se contente d’enregistrer :</a:t>
            </a:r>
          </a:p>
          <a:p>
            <a:pPr marL="89507" indent="-89507">
              <a:buFont typeface="Arial" pitchFamily="34" charset="0"/>
              <a:buChar char="•"/>
              <a:defRPr/>
            </a:pPr>
            <a:r>
              <a:rPr lang="fr-FR" dirty="0"/>
              <a:t>Le nombre de non conformes de l’atelier, et non celui de chaque poste.</a:t>
            </a:r>
          </a:p>
          <a:p>
            <a:pPr marL="89507" indent="-89507">
              <a:buFont typeface="Arial" pitchFamily="34" charset="0"/>
              <a:buChar char="•"/>
              <a:defRPr/>
            </a:pPr>
            <a:r>
              <a:rPr lang="fr-FR" dirty="0"/>
              <a:t>La quantité produite totale, et non la quantité produite par chaque poste.</a:t>
            </a:r>
          </a:p>
          <a:p>
            <a:pPr>
              <a:defRPr/>
            </a:pPr>
            <a:r>
              <a:rPr lang="fr-FR" dirty="0"/>
              <a:t>L’animateur utilise le fichier Tableau de bord pour présenter les résultats de la simulation 2 comparés à ceux de la simulation 1 (voir diapo </a:t>
            </a:r>
            <a:r>
              <a:rPr lang="fr-FR"/>
              <a:t>suivante).</a:t>
            </a:r>
          </a:p>
          <a:p>
            <a:pPr>
              <a:defRPr/>
            </a:pPr>
            <a:endParaRPr lang="fr-FR" dirty="0"/>
          </a:p>
        </p:txBody>
      </p:sp>
      <p:sp>
        <p:nvSpPr>
          <p:cNvPr id="24576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0076417E-4935-4543-8496-F259D82976CF}" type="slidenum">
              <a:rPr lang="fr-FR" altLang="fr-FR" sz="1100">
                <a:latin typeface="Calibri" panose="020F0502020204030204" pitchFamily="34" charset="0"/>
              </a:rPr>
              <a:pPr/>
              <a:t>113</a:t>
            </a:fld>
            <a:endParaRPr lang="fr-FR" altLang="fr-FR" sz="1100" dirty="0">
              <a:latin typeface="Calibri" panose="020F0502020204030204" pitchFamily="34" charset="0"/>
            </a:endParaRPr>
          </a:p>
        </p:txBody>
      </p:sp>
      <p:sp>
        <p:nvSpPr>
          <p:cNvPr id="24576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28539717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Espace réservé de l'image des diapositives 1"/>
          <p:cNvSpPr>
            <a:spLocks noGrp="1" noRot="1" noChangeAspect="1" noTextEdit="1"/>
          </p:cNvSpPr>
          <p:nvPr>
            <p:ph type="sldImg"/>
          </p:nvPr>
        </p:nvSpPr>
        <p:spPr>
          <a:xfrm>
            <a:off x="481013" y="663575"/>
            <a:ext cx="6361112" cy="4525963"/>
          </a:xfrm>
          <a:ln/>
        </p:spPr>
      </p:sp>
      <p:sp>
        <p:nvSpPr>
          <p:cNvPr id="24781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L’animateur entre les résultats des équipes dans le Tableau de bord Excel</a:t>
            </a:r>
          </a:p>
        </p:txBody>
      </p:sp>
      <p:sp>
        <p:nvSpPr>
          <p:cNvPr id="2478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1A9D61CC-B0A2-44F1-8767-4041F319370B}" type="slidenum">
              <a:rPr lang="fr-FR" altLang="fr-FR" sz="1100">
                <a:latin typeface="Calibri" panose="020F0502020204030204" pitchFamily="34" charset="0"/>
              </a:rPr>
              <a:pPr/>
              <a:t>114</a:t>
            </a:fld>
            <a:endParaRPr lang="fr-FR" altLang="fr-FR" sz="1100" dirty="0">
              <a:latin typeface="Calibri" panose="020F0502020204030204" pitchFamily="34" charset="0"/>
            </a:endParaRPr>
          </a:p>
        </p:txBody>
      </p:sp>
      <p:sp>
        <p:nvSpPr>
          <p:cNvPr id="247813"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57071849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Espace réservé de l'image des diapositives 1"/>
          <p:cNvSpPr>
            <a:spLocks noGrp="1" noRot="1" noChangeAspect="1" noTextEdit="1"/>
          </p:cNvSpPr>
          <p:nvPr>
            <p:ph type="sldImg"/>
          </p:nvPr>
        </p:nvSpPr>
        <p:spPr>
          <a:xfrm>
            <a:off x="481013" y="663575"/>
            <a:ext cx="6361112" cy="4525963"/>
          </a:xfrm>
          <a:ln/>
        </p:spPr>
      </p:sp>
      <p:sp>
        <p:nvSpPr>
          <p:cNvPr id="249859"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La valeur du stock mesurée dans chaque atelier peut-elle être comparée à la valeur mesurée dans la simulation 1 ? Fait-il comparer chaque atelier séparément ou faire la somme des stocks des deux ateliers ?</a:t>
            </a:r>
          </a:p>
          <a:p>
            <a:r>
              <a:rPr lang="fr-FR" altLang="fr-FR" dirty="0"/>
              <a:t>Si l’on se content de comparer les stocks en valeur absolue, on commet une erreur. En effet, les quantités produites ne sont pas les mêmes dans la simulation 1 et la simulation 2.</a:t>
            </a:r>
          </a:p>
          <a:p>
            <a:r>
              <a:rPr lang="fr-FR" altLang="fr-FR" dirty="0"/>
              <a:t>Pour comparer des choses comparables, il faut rapporter le stock à la quantité produite par unité de temps. On dira d’une entreprise qui produit par an </a:t>
            </a:r>
            <a:r>
              <a:rPr lang="fr-FR" altLang="fr-FR" u="sng" dirty="0"/>
              <a:t>deux fois plus qu’une autre</a:t>
            </a:r>
            <a:r>
              <a:rPr lang="fr-FR" altLang="fr-FR" dirty="0"/>
              <a:t> qu’elle a moins de stock si elle a le </a:t>
            </a:r>
            <a:r>
              <a:rPr lang="fr-FR" altLang="fr-FR" u="sng" dirty="0"/>
              <a:t>même stock en valeur absolue</a:t>
            </a:r>
            <a:r>
              <a:rPr lang="fr-FR" altLang="fr-FR" dirty="0"/>
              <a:t> que l’autre. La comparaison doit reposer sur la durée d’écoulement et non sur le stock.</a:t>
            </a:r>
          </a:p>
          <a:p>
            <a:r>
              <a:rPr lang="fr-FR" altLang="fr-FR" dirty="0"/>
              <a:t>Le tableau ci-dessus permet de prendre en compte le facteur de correction.</a:t>
            </a:r>
          </a:p>
          <a:p>
            <a:r>
              <a:rPr lang="fr-FR" altLang="fr-FR" dirty="0"/>
              <a:t>L’animateur pourra le faire calculer aux participants s’il le juge utile. </a:t>
            </a:r>
          </a:p>
          <a:p>
            <a:r>
              <a:rPr lang="fr-FR" altLang="fr-FR" dirty="0"/>
              <a:t>La correction est particulièrement nécessaire si les participants additionnent les stocks des deux et surtout des trois ateliers. On peut alors atteindre en simulation 2 un stock supérieur à celui de la simulation 1. Mais quand on introduit le facteur de correction on revient à un stock plus faible.</a:t>
            </a:r>
          </a:p>
        </p:txBody>
      </p:sp>
      <p:sp>
        <p:nvSpPr>
          <p:cNvPr id="24986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B6D5D826-B29A-40A9-8998-A853F2EDF628}" type="slidenum">
              <a:rPr lang="fr-FR" altLang="fr-FR" sz="1100">
                <a:latin typeface="Calibri" panose="020F0502020204030204" pitchFamily="34" charset="0"/>
              </a:rPr>
              <a:pPr/>
              <a:t>115</a:t>
            </a:fld>
            <a:endParaRPr lang="fr-FR" altLang="fr-FR" sz="1100" dirty="0">
              <a:latin typeface="Calibri" panose="020F0502020204030204" pitchFamily="34" charset="0"/>
            </a:endParaRPr>
          </a:p>
        </p:txBody>
      </p:sp>
      <p:sp>
        <p:nvSpPr>
          <p:cNvPr id="249861"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311926052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Espace réservé de l'image des diapositives 1"/>
          <p:cNvSpPr>
            <a:spLocks noGrp="1" noRot="1" noChangeAspect="1" noTextEdit="1"/>
          </p:cNvSpPr>
          <p:nvPr>
            <p:ph type="sldImg"/>
          </p:nvPr>
        </p:nvSpPr>
        <p:spPr>
          <a:xfrm>
            <a:off x="481013" y="663575"/>
            <a:ext cx="6361112" cy="4525963"/>
          </a:xfrm>
          <a:ln/>
        </p:spPr>
      </p:sp>
      <p:sp>
        <p:nvSpPr>
          <p:cNvPr id="2519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5190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2E72A7B5-E58A-42D6-B6B6-5993E1CCE09C}" type="slidenum">
              <a:rPr lang="fr-FR" altLang="fr-FR" sz="1100">
                <a:latin typeface="Calibri" panose="020F0502020204030204" pitchFamily="34" charset="0"/>
              </a:rPr>
              <a:pPr/>
              <a:t>116</a:t>
            </a:fld>
            <a:endParaRPr lang="fr-FR" altLang="fr-FR" sz="1100" dirty="0">
              <a:latin typeface="Calibri" panose="020F0502020204030204" pitchFamily="34" charset="0"/>
            </a:endParaRPr>
          </a:p>
        </p:txBody>
      </p:sp>
      <p:sp>
        <p:nvSpPr>
          <p:cNvPr id="251909"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212825212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079E70CB-C652-45C0-8E0B-31E05F45B4D7}" type="slidenum">
              <a:rPr lang="fr-FR" altLang="fr-FR" sz="1100">
                <a:latin typeface="Calibri" panose="020F0502020204030204" pitchFamily="34" charset="0"/>
              </a:rPr>
              <a:pPr/>
              <a:t>117</a:t>
            </a:fld>
            <a:endParaRPr lang="fr-FR" altLang="fr-FR" sz="1100" dirty="0">
              <a:latin typeface="Calibri" panose="020F0502020204030204" pitchFamily="34" charset="0"/>
            </a:endParaRPr>
          </a:p>
        </p:txBody>
      </p:sp>
      <p:sp>
        <p:nvSpPr>
          <p:cNvPr id="253955"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53956" name="Rectangle 6"/>
          <p:cNvSpPr>
            <a:spLocks noChangeArrowheads="1"/>
          </p:cNvSpPr>
          <p:nvPr/>
        </p:nvSpPr>
        <p:spPr bwMode="auto">
          <a:xfrm>
            <a:off x="880370" y="2931424"/>
            <a:ext cx="5386647" cy="1275030"/>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Synthèse</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70435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Espace réservé de l'image des diapositives 1"/>
          <p:cNvSpPr>
            <a:spLocks noGrp="1" noRot="1" noChangeAspect="1" noTextEdit="1"/>
          </p:cNvSpPr>
          <p:nvPr>
            <p:ph type="sldImg"/>
          </p:nvPr>
        </p:nvSpPr>
        <p:spPr>
          <a:xfrm>
            <a:off x="481013" y="663575"/>
            <a:ext cx="6361112" cy="4525963"/>
          </a:xfrm>
          <a:ln/>
        </p:spPr>
      </p:sp>
      <p:sp>
        <p:nvSpPr>
          <p:cNvPr id="25600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5600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540029EE-8881-4FE1-90CE-2E55FA39146C}" type="slidenum">
              <a:rPr lang="fr-FR" altLang="fr-FR" sz="1100">
                <a:latin typeface="Calibri" panose="020F0502020204030204" pitchFamily="34" charset="0"/>
              </a:rPr>
              <a:pPr/>
              <a:t>118</a:t>
            </a:fld>
            <a:endParaRPr lang="fr-FR" altLang="fr-FR" sz="1100" dirty="0">
              <a:latin typeface="Calibri" panose="020F0502020204030204" pitchFamily="34" charset="0"/>
            </a:endParaRPr>
          </a:p>
        </p:txBody>
      </p:sp>
      <p:sp>
        <p:nvSpPr>
          <p:cNvPr id="256005" name="Espace réservé du pied de page 4"/>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Tree>
    <p:extLst>
      <p:ext uri="{BB962C8B-B14F-4D97-AF65-F5344CB8AC3E}">
        <p14:creationId xmlns:p14="http://schemas.microsoft.com/office/powerpoint/2010/main" val="99785966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Espace réservé du numéro de diapositive 4"/>
          <p:cNvSpPr>
            <a:spLocks noGrp="1"/>
          </p:cNvSpPr>
          <p:nvPr>
            <p:ph type="sldNum" sz="quarter" idx="5"/>
          </p:nvPr>
        </p:nvSpPr>
        <p:spPr bwMode="auto">
          <a:xfrm>
            <a:off x="5988480" y="9720674"/>
            <a:ext cx="1109163"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fld id="{8EF1FB52-2B78-4C52-B1B1-D2AF687F80E8}" type="slidenum">
              <a:rPr lang="fr-FR" altLang="fr-FR" sz="1100">
                <a:latin typeface="Calibri" panose="020F0502020204030204" pitchFamily="34" charset="0"/>
              </a:rPr>
              <a:pPr/>
              <a:t>119</a:t>
            </a:fld>
            <a:endParaRPr lang="fr-FR" altLang="fr-FR" sz="1100" dirty="0">
              <a:latin typeface="Calibri" panose="020F0502020204030204" pitchFamily="34" charset="0"/>
            </a:endParaRPr>
          </a:p>
        </p:txBody>
      </p:sp>
      <p:sp>
        <p:nvSpPr>
          <p:cNvPr id="258051" name="Espace réservé du pied de page 3"/>
          <p:cNvSpPr>
            <a:spLocks noGrp="1"/>
          </p:cNvSpPr>
          <p:nvPr>
            <p:ph type="ftr" sz="quarter" idx="4"/>
          </p:nvPr>
        </p:nvSpPr>
        <p:spPr bwMode="auto">
          <a:xfrm>
            <a:off x="2" y="9720674"/>
            <a:ext cx="5709945" cy="5123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58052" name="Rectangle 6"/>
          <p:cNvSpPr>
            <a:spLocks noChangeArrowheads="1"/>
          </p:cNvSpPr>
          <p:nvPr/>
        </p:nvSpPr>
        <p:spPr bwMode="auto">
          <a:xfrm>
            <a:off x="880370" y="2931424"/>
            <a:ext cx="5386647" cy="1275030"/>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95473" tIns="47736" rIns="95473" bIns="47736"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algn="ctr" eaLnBrk="1" hangingPunct="1"/>
            <a:r>
              <a:rPr lang="fr-FR" altLang="fr-FR" sz="2900" dirty="0">
                <a:solidFill>
                  <a:srgbClr val="0033CC"/>
                </a:solidFill>
                <a:latin typeface="Calibri" panose="020F0502020204030204" pitchFamily="34" charset="0"/>
              </a:rPr>
              <a:t>Quiz de validation des acquis</a:t>
            </a:r>
          </a:p>
        </p:txBody>
      </p:sp>
      <p:pic>
        <p:nvPicPr>
          <p:cNvPr id="7" name="Picture 2" descr="C:\Users\Bertrand\Desktop\logos\Lean manufacturing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6267" y="265157"/>
            <a:ext cx="3148792" cy="2336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82608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r>
              <a:rPr lang="fr-FR" altLang="fr-FR" dirty="0"/>
              <a:t>Distribuer 1 questionnaire par participant.</a:t>
            </a:r>
          </a:p>
          <a:p>
            <a:endParaRPr lang="fr-FR" altLang="fr-FR" dirty="0"/>
          </a:p>
          <a:p>
            <a:r>
              <a:rPr lang="fr-FR" altLang="fr-FR" dirty="0"/>
              <a:t>On pourra réaliser le questionnaire de manière anonyme : </a:t>
            </a:r>
          </a:p>
          <a:p>
            <a:r>
              <a:rPr lang="fr-FR" altLang="fr-FR" dirty="0"/>
              <a:t>- chaque participant remplit le questionnaire, et calcule le total</a:t>
            </a:r>
          </a:p>
          <a:p>
            <a:r>
              <a:rPr lang="fr-FR" altLang="fr-FR" dirty="0"/>
              <a:t>- puis les feuilles sont ramassées et données à l'animateur</a:t>
            </a:r>
          </a:p>
          <a:p>
            <a:r>
              <a:rPr lang="fr-FR" altLang="fr-FR" dirty="0"/>
              <a:t>Dans ce cas, l'objectif est davantage à destination de l'animateur : disposer d'un retour globale, et non individuel.</a:t>
            </a:r>
          </a:p>
        </p:txBody>
      </p:sp>
      <p:sp>
        <p:nvSpPr>
          <p:cNvPr id="260099"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60100" name="Espace réservé de l'image des diapositives 7"/>
          <p:cNvSpPr>
            <a:spLocks noGrp="1" noRot="1" noChangeAspect="1" noTextEdit="1"/>
          </p:cNvSpPr>
          <p:nvPr>
            <p:ph type="sldImg"/>
          </p:nvPr>
        </p:nvSpPr>
        <p:spPr>
          <a:ln/>
        </p:spPr>
      </p:sp>
    </p:spTree>
    <p:extLst>
      <p:ext uri="{BB962C8B-B14F-4D97-AF65-F5344CB8AC3E}">
        <p14:creationId xmlns:p14="http://schemas.microsoft.com/office/powerpoint/2010/main" val="352686150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62147" name="Espace réservé de l'image des diapositives 2"/>
          <p:cNvSpPr>
            <a:spLocks noGrp="1" noRot="1" noChangeAspect="1" noTextEdit="1"/>
          </p:cNvSpPr>
          <p:nvPr>
            <p:ph type="sldImg"/>
          </p:nvPr>
        </p:nvSpPr>
        <p:spPr>
          <a:ln/>
        </p:spPr>
      </p:sp>
      <p:sp>
        <p:nvSpPr>
          <p:cNvPr id="262148" name="Espace réservé des commentaires 3"/>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Tree>
    <p:extLst>
      <p:ext uri="{BB962C8B-B14F-4D97-AF65-F5344CB8AC3E}">
        <p14:creationId xmlns:p14="http://schemas.microsoft.com/office/powerpoint/2010/main" val="6631917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64195" name="Espace réservé de l'image des diapositives 2"/>
          <p:cNvSpPr>
            <a:spLocks noGrp="1" noRot="1" noChangeAspect="1" noTextEdit="1"/>
          </p:cNvSpPr>
          <p:nvPr>
            <p:ph type="sldImg"/>
          </p:nvPr>
        </p:nvSpPr>
        <p:spPr>
          <a:ln/>
        </p:spPr>
      </p:sp>
      <p:sp>
        <p:nvSpPr>
          <p:cNvPr id="264196" name="Espace réservé des commentaires 3"/>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Tree>
    <p:extLst>
      <p:ext uri="{BB962C8B-B14F-4D97-AF65-F5344CB8AC3E}">
        <p14:creationId xmlns:p14="http://schemas.microsoft.com/office/powerpoint/2010/main" val="197887359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66243" name="Espace réservé de l'image des diapositives 2"/>
          <p:cNvSpPr>
            <a:spLocks noGrp="1" noRot="1" noChangeAspect="1" noTextEdit="1"/>
          </p:cNvSpPr>
          <p:nvPr>
            <p:ph type="sldImg"/>
          </p:nvPr>
        </p:nvSpPr>
        <p:spPr>
          <a:ln/>
        </p:spPr>
      </p:sp>
      <p:sp>
        <p:nvSpPr>
          <p:cNvPr id="266244" name="Espace réservé des commentaires 3"/>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Tree>
    <p:extLst>
      <p:ext uri="{BB962C8B-B14F-4D97-AF65-F5344CB8AC3E}">
        <p14:creationId xmlns:p14="http://schemas.microsoft.com/office/powerpoint/2010/main" val="18768859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68291" name="Espace réservé de l'image des diapositives 2"/>
          <p:cNvSpPr>
            <a:spLocks noGrp="1" noRot="1" noChangeAspect="1" noTextEdit="1"/>
          </p:cNvSpPr>
          <p:nvPr>
            <p:ph type="sldImg"/>
          </p:nvPr>
        </p:nvSpPr>
        <p:spPr>
          <a:ln/>
        </p:spPr>
      </p:sp>
      <p:sp>
        <p:nvSpPr>
          <p:cNvPr id="268292" name="Espace réservé des commentaires 3"/>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Tree>
    <p:extLst>
      <p:ext uri="{BB962C8B-B14F-4D97-AF65-F5344CB8AC3E}">
        <p14:creationId xmlns:p14="http://schemas.microsoft.com/office/powerpoint/2010/main" val="118267143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Espace réservé des commentaires 10"/>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70339"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70340" name="Espace réservé de l'image des diapositives 3"/>
          <p:cNvSpPr>
            <a:spLocks noGrp="1" noRot="1" noChangeAspect="1" noTextEdit="1"/>
          </p:cNvSpPr>
          <p:nvPr>
            <p:ph type="sldImg"/>
          </p:nvPr>
        </p:nvSpPr>
        <p:spPr>
          <a:ln/>
        </p:spPr>
      </p:sp>
    </p:spTree>
    <p:extLst>
      <p:ext uri="{BB962C8B-B14F-4D97-AF65-F5344CB8AC3E}">
        <p14:creationId xmlns:p14="http://schemas.microsoft.com/office/powerpoint/2010/main" val="212780685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Espace réservé des commentaires 10"/>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72387"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72388" name="Espace réservé de l'image des diapositives 3"/>
          <p:cNvSpPr>
            <a:spLocks noGrp="1" noRot="1" noChangeAspect="1" noTextEdit="1"/>
          </p:cNvSpPr>
          <p:nvPr>
            <p:ph type="sldImg"/>
          </p:nvPr>
        </p:nvSpPr>
        <p:spPr>
          <a:ln/>
        </p:spPr>
      </p:sp>
    </p:spTree>
    <p:extLst>
      <p:ext uri="{BB962C8B-B14F-4D97-AF65-F5344CB8AC3E}">
        <p14:creationId xmlns:p14="http://schemas.microsoft.com/office/powerpoint/2010/main" val="249788718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74435" name="Espace réservé de l'image des diapositives 2"/>
          <p:cNvSpPr>
            <a:spLocks noGrp="1" noRot="1" noChangeAspect="1" noTextEdit="1"/>
          </p:cNvSpPr>
          <p:nvPr>
            <p:ph type="sldImg"/>
          </p:nvPr>
        </p:nvSpPr>
        <p:spPr>
          <a:ln/>
        </p:spPr>
      </p:sp>
      <p:sp>
        <p:nvSpPr>
          <p:cNvPr id="274436" name="Espace réservé des commentaires 3"/>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Tree>
    <p:extLst>
      <p:ext uri="{BB962C8B-B14F-4D97-AF65-F5344CB8AC3E}">
        <p14:creationId xmlns:p14="http://schemas.microsoft.com/office/powerpoint/2010/main" val="390324307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Espace réservé des commentaires 10"/>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
        <p:nvSpPr>
          <p:cNvPr id="276483"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76484" name="Espace réservé de l'image des diapositives 3"/>
          <p:cNvSpPr>
            <a:spLocks noGrp="1" noRot="1" noChangeAspect="1" noTextEdit="1"/>
          </p:cNvSpPr>
          <p:nvPr>
            <p:ph type="sldImg"/>
          </p:nvPr>
        </p:nvSpPr>
        <p:spPr>
          <a:ln/>
        </p:spPr>
      </p:sp>
    </p:spTree>
    <p:extLst>
      <p:ext uri="{BB962C8B-B14F-4D97-AF65-F5344CB8AC3E}">
        <p14:creationId xmlns:p14="http://schemas.microsoft.com/office/powerpoint/2010/main" val="294766822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78531" name="Espace réservé de l'image des diapositives 2"/>
          <p:cNvSpPr>
            <a:spLocks noGrp="1" noRot="1" noChangeAspect="1" noTextEdit="1"/>
          </p:cNvSpPr>
          <p:nvPr>
            <p:ph type="sldImg"/>
          </p:nvPr>
        </p:nvSpPr>
        <p:spPr>
          <a:ln/>
        </p:spPr>
      </p:sp>
      <p:sp>
        <p:nvSpPr>
          <p:cNvPr id="278532" name="Espace réservé des commentaires 3"/>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p:txBody>
      </p:sp>
    </p:spTree>
    <p:extLst>
      <p:ext uri="{BB962C8B-B14F-4D97-AF65-F5344CB8AC3E}">
        <p14:creationId xmlns:p14="http://schemas.microsoft.com/office/powerpoint/2010/main" val="83223440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Espace réservé des commentaires 10"/>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fr-FR" altLang="fr-FR" dirty="0"/>
          </a:p>
          <a:p>
            <a:endParaRPr lang="fr-FR" altLang="fr-FR" dirty="0"/>
          </a:p>
        </p:txBody>
      </p:sp>
      <p:sp>
        <p:nvSpPr>
          <p:cNvPr id="280579" name="Espace réservé du pied de page 3"/>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000">
                <a:solidFill>
                  <a:schemeClr val="tx1"/>
                </a:solidFill>
                <a:latin typeface="Arial" panose="020B0604020202020204" pitchFamily="34" charset="0"/>
              </a:defRPr>
            </a:lvl1pPr>
            <a:lvl2pPr marL="770093" indent="-296189">
              <a:defRPr sz="1000">
                <a:solidFill>
                  <a:schemeClr val="tx1"/>
                </a:solidFill>
                <a:latin typeface="Arial" panose="020B0604020202020204" pitchFamily="34" charset="0"/>
              </a:defRPr>
            </a:lvl2pPr>
            <a:lvl3pPr marL="1184759" indent="-236952">
              <a:defRPr sz="1000">
                <a:solidFill>
                  <a:schemeClr val="tx1"/>
                </a:solidFill>
                <a:latin typeface="Arial" panose="020B0604020202020204" pitchFamily="34" charset="0"/>
              </a:defRPr>
            </a:lvl3pPr>
            <a:lvl4pPr marL="1658662" indent="-236952">
              <a:defRPr sz="1000">
                <a:solidFill>
                  <a:schemeClr val="tx1"/>
                </a:solidFill>
                <a:latin typeface="Arial" panose="020B0604020202020204" pitchFamily="34" charset="0"/>
              </a:defRPr>
            </a:lvl4pPr>
            <a:lvl5pPr marL="2132564" indent="-236952">
              <a:defRPr sz="1000">
                <a:solidFill>
                  <a:schemeClr val="tx1"/>
                </a:solidFill>
                <a:latin typeface="Arial" panose="020B0604020202020204" pitchFamily="34" charset="0"/>
              </a:defRPr>
            </a:lvl5pPr>
            <a:lvl6pPr marL="2606468" indent="-236952" eaLnBrk="0" fontAlgn="base" hangingPunct="0">
              <a:spcBef>
                <a:spcPct val="0"/>
              </a:spcBef>
              <a:spcAft>
                <a:spcPct val="0"/>
              </a:spcAft>
              <a:defRPr sz="1000">
                <a:solidFill>
                  <a:schemeClr val="tx1"/>
                </a:solidFill>
                <a:latin typeface="Arial" panose="020B0604020202020204" pitchFamily="34" charset="0"/>
              </a:defRPr>
            </a:lvl6pPr>
            <a:lvl7pPr marL="3080371" indent="-236952" eaLnBrk="0" fontAlgn="base" hangingPunct="0">
              <a:spcBef>
                <a:spcPct val="0"/>
              </a:spcBef>
              <a:spcAft>
                <a:spcPct val="0"/>
              </a:spcAft>
              <a:defRPr sz="1000">
                <a:solidFill>
                  <a:schemeClr val="tx1"/>
                </a:solidFill>
                <a:latin typeface="Arial" panose="020B0604020202020204" pitchFamily="34" charset="0"/>
              </a:defRPr>
            </a:lvl7pPr>
            <a:lvl8pPr marL="3554274" indent="-236952" eaLnBrk="0" fontAlgn="base" hangingPunct="0">
              <a:spcBef>
                <a:spcPct val="0"/>
              </a:spcBef>
              <a:spcAft>
                <a:spcPct val="0"/>
              </a:spcAft>
              <a:defRPr sz="1000">
                <a:solidFill>
                  <a:schemeClr val="tx1"/>
                </a:solidFill>
                <a:latin typeface="Arial" panose="020B0604020202020204" pitchFamily="34" charset="0"/>
              </a:defRPr>
            </a:lvl8pPr>
            <a:lvl9pPr marL="4028177" indent="-236952" eaLnBrk="0" fontAlgn="base" hangingPunct="0">
              <a:spcBef>
                <a:spcPct val="0"/>
              </a:spcBef>
              <a:spcAft>
                <a:spcPct val="0"/>
              </a:spcAft>
              <a:defRPr sz="1000">
                <a:solidFill>
                  <a:schemeClr val="tx1"/>
                </a:solidFill>
                <a:latin typeface="Arial" panose="020B0604020202020204" pitchFamily="34" charset="0"/>
              </a:defRPr>
            </a:lvl9pPr>
          </a:lstStyle>
          <a:p>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r>
              <a:rPr lang="fr-FR" altLang="fr-FR" dirty="0">
                <a:latin typeface="Calibri" panose="020F0502020204030204" pitchFamily="34" charset="0"/>
              </a:rPr>
              <a:t> - Guide d'animation</a:t>
            </a:r>
          </a:p>
        </p:txBody>
      </p:sp>
      <p:sp>
        <p:nvSpPr>
          <p:cNvPr id="280580" name="Espace réservé de l'image des diapositives 3"/>
          <p:cNvSpPr>
            <a:spLocks noGrp="1" noRot="1" noChangeAspect="1" noTextEdit="1"/>
          </p:cNvSpPr>
          <p:nvPr>
            <p:ph type="sldImg"/>
          </p:nvPr>
        </p:nvSpPr>
        <p:spPr>
          <a:ln/>
        </p:spPr>
      </p:sp>
    </p:spTree>
    <p:extLst>
      <p:ext uri="{BB962C8B-B14F-4D97-AF65-F5344CB8AC3E}">
        <p14:creationId xmlns:p14="http://schemas.microsoft.com/office/powerpoint/2010/main" val="1982201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720725" y="2125663"/>
            <a:ext cx="8170863" cy="1465262"/>
          </a:xfrm>
        </p:spPr>
        <p:txBody>
          <a:bodyPr/>
          <a:lstStyle/>
          <a:p>
            <a:r>
              <a:rPr lang="fr-FR"/>
              <a:t>Cliquez pour modifier le style du titre</a:t>
            </a:r>
          </a:p>
        </p:txBody>
      </p:sp>
      <p:sp>
        <p:nvSpPr>
          <p:cNvPr id="3" name="Sous-titre 2"/>
          <p:cNvSpPr>
            <a:spLocks noGrp="1"/>
          </p:cNvSpPr>
          <p:nvPr>
            <p:ph type="subTitle" idx="1"/>
          </p:nvPr>
        </p:nvSpPr>
        <p:spPr>
          <a:xfrm>
            <a:off x="1441450" y="3876675"/>
            <a:ext cx="6729413" cy="174783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3"/>
          <p:cNvSpPr>
            <a:spLocks noGrp="1" noChangeArrowheads="1"/>
          </p:cNvSpPr>
          <p:nvPr>
            <p:ph type="ftr" sz="quarter" idx="10"/>
          </p:nvPr>
        </p:nvSpPr>
        <p:spPr/>
        <p:txBody>
          <a:bodyPr/>
          <a:lstStyle>
            <a:lvl1pPr algn="l">
              <a:defRPr/>
            </a:lvl1pPr>
          </a:lstStyle>
          <a:p>
            <a:pPr>
              <a:defRPr/>
            </a:pPr>
            <a:r>
              <a:rPr lang="fr-FR" dirty="0"/>
              <a:t>CIPE – Le jeu du Lean </a:t>
            </a:r>
            <a:r>
              <a:rPr lang="fr-FR" dirty="0" err="1"/>
              <a:t>Manufacturing</a:t>
            </a:r>
            <a:endParaRPr lang="fr-FR" dirty="0"/>
          </a:p>
        </p:txBody>
      </p:sp>
      <p:sp>
        <p:nvSpPr>
          <p:cNvPr id="5" name="Espace réservé du numéro de diapositive 4"/>
          <p:cNvSpPr>
            <a:spLocks noGrp="1" noChangeArrowheads="1"/>
          </p:cNvSpPr>
          <p:nvPr>
            <p:ph type="sldNum" sz="quarter" idx="11"/>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r" eaLnBrk="1" hangingPunct="1">
              <a:defRPr>
                <a:latin typeface="Calibri" panose="020F0502020204030204" pitchFamily="34" charset="0"/>
              </a:defRPr>
            </a:lvl1pPr>
          </a:lstStyle>
          <a:p>
            <a:pPr>
              <a:defRPr/>
            </a:pPr>
            <a:fld id="{709D4282-675C-43A5-A594-656AC83D29D7}" type="slidenum">
              <a:rPr lang="fr-FR" altLang="fr-FR" smtClean="0"/>
              <a:pPr>
                <a:defRPr/>
              </a:pPr>
              <a:t>‹N°›</a:t>
            </a:fld>
            <a:endParaRPr lang="fr-FR" altLang="fr-FR" dirty="0"/>
          </a:p>
        </p:txBody>
      </p:sp>
    </p:spTree>
    <p:extLst>
      <p:ext uri="{BB962C8B-B14F-4D97-AF65-F5344CB8AC3E}">
        <p14:creationId xmlns:p14="http://schemas.microsoft.com/office/powerpoint/2010/main" val="3695876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3"/>
          <p:cNvSpPr>
            <a:spLocks noGrp="1" noChangeArrowheads="1"/>
          </p:cNvSpPr>
          <p:nvPr>
            <p:ph type="ftr" sz="quarter" idx="10"/>
          </p:nvPr>
        </p:nvSpPr>
        <p:spPr/>
        <p:txBody>
          <a:bodyPr/>
          <a:lstStyle>
            <a:lvl1pPr algn="l">
              <a:defRPr/>
            </a:lvl1pPr>
          </a:lstStyle>
          <a:p>
            <a:pPr>
              <a:defRPr/>
            </a:pPr>
            <a:r>
              <a:rPr lang="fr-FR" dirty="0"/>
              <a:t>CIPE – Le jeu du Lean </a:t>
            </a:r>
            <a:r>
              <a:rPr lang="fr-FR" dirty="0" err="1"/>
              <a:t>Manufacturing</a:t>
            </a:r>
            <a:endParaRPr lang="fr-FR" dirty="0"/>
          </a:p>
        </p:txBody>
      </p:sp>
      <p:sp>
        <p:nvSpPr>
          <p:cNvPr id="5" name="Espace réservé du numéro de diapositive 4"/>
          <p:cNvSpPr>
            <a:spLocks noGrp="1" noChangeArrowheads="1"/>
          </p:cNvSpPr>
          <p:nvPr>
            <p:ph type="sldNum" sz="quarter" idx="11"/>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r" eaLnBrk="1" hangingPunct="1">
              <a:defRPr>
                <a:latin typeface="Calibri" panose="020F0502020204030204" pitchFamily="34" charset="0"/>
              </a:defRPr>
            </a:lvl1pPr>
          </a:lstStyle>
          <a:p>
            <a:pPr>
              <a:defRPr/>
            </a:pPr>
            <a:fld id="{68E3C92D-5E99-40AC-ACE9-1CD2BCE0C852}" type="slidenum">
              <a:rPr lang="fr-FR" altLang="fr-FR" smtClean="0"/>
              <a:pPr>
                <a:defRPr/>
              </a:pPr>
              <a:t>‹N°›</a:t>
            </a:fld>
            <a:endParaRPr lang="fr-FR" altLang="fr-FR" dirty="0"/>
          </a:p>
        </p:txBody>
      </p:sp>
    </p:spTree>
    <p:extLst>
      <p:ext uri="{BB962C8B-B14F-4D97-AF65-F5344CB8AC3E}">
        <p14:creationId xmlns:p14="http://schemas.microsoft.com/office/powerpoint/2010/main" val="424146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58825" y="4395788"/>
            <a:ext cx="8170863" cy="1358900"/>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58825" y="2898775"/>
            <a:ext cx="8170863" cy="149701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0C566306-F6EC-44C2-81A8-56514A4BCC1C}" type="slidenum">
              <a:rPr lang="fr-FR" altLang="fr-FR" smtClean="0"/>
              <a:pPr>
                <a:defRPr/>
              </a:pPr>
              <a:t>‹N°›</a:t>
            </a:fld>
            <a:endParaRPr lang="fr-FR" altLang="fr-FR" dirty="0"/>
          </a:p>
        </p:txBody>
      </p:sp>
      <p:sp>
        <p:nvSpPr>
          <p:cNvPr id="5" name="Espace réservé du pied de pag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1506566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236538" y="571500"/>
            <a:ext cx="4492625" cy="5538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881563" y="571500"/>
            <a:ext cx="4492625" cy="5538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59B206AA-4AF2-4E64-B916-A041FEB139E3}" type="slidenum">
              <a:rPr lang="fr-FR" altLang="fr-FR" smtClean="0"/>
              <a:pPr>
                <a:defRPr/>
              </a:pPr>
              <a:t>‹N°›</a:t>
            </a:fld>
            <a:endParaRPr lang="fr-FR" altLang="fr-FR" dirty="0"/>
          </a:p>
        </p:txBody>
      </p:sp>
      <p:sp>
        <p:nvSpPr>
          <p:cNvPr id="6" name="Rectangl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258082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81013" y="274638"/>
            <a:ext cx="8650287" cy="1139825"/>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81013" y="1531938"/>
            <a:ext cx="4246562"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81013" y="2170113"/>
            <a:ext cx="4246562" cy="39401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883150" y="1531938"/>
            <a:ext cx="4248150" cy="6381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883150" y="2170113"/>
            <a:ext cx="4248150" cy="39401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BC657C18-7AB0-44EB-920C-47338145FA90}" type="slidenum">
              <a:rPr lang="fr-FR" altLang="fr-FR" smtClean="0"/>
              <a:pPr>
                <a:defRPr/>
              </a:pPr>
              <a:t>‹N°›</a:t>
            </a:fld>
            <a:endParaRPr lang="fr-FR" altLang="fr-FR" dirty="0"/>
          </a:p>
        </p:txBody>
      </p:sp>
      <p:sp>
        <p:nvSpPr>
          <p:cNvPr id="8" name="Rectangl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3239307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846D6D80-4E28-4250-ADE2-DB0050D05B75}" type="slidenum">
              <a:rPr lang="fr-FR" altLang="fr-FR" smtClean="0"/>
              <a:pPr>
                <a:defRPr/>
              </a:pPr>
              <a:t>‹N°›</a:t>
            </a:fld>
            <a:endParaRPr lang="fr-FR" altLang="fr-FR" dirty="0"/>
          </a:p>
        </p:txBody>
      </p:sp>
      <p:sp>
        <p:nvSpPr>
          <p:cNvPr id="4" name="Rectangl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139466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029D0B62-5D7E-4717-ADC9-DDBDBB65FE3C}" type="slidenum">
              <a:rPr lang="fr-FR" altLang="fr-FR" smtClean="0"/>
              <a:pPr>
                <a:defRPr/>
              </a:pPr>
              <a:t>‹N°›</a:t>
            </a:fld>
            <a:endParaRPr lang="fr-FR" altLang="fr-FR" dirty="0"/>
          </a:p>
        </p:txBody>
      </p:sp>
      <p:sp>
        <p:nvSpPr>
          <p:cNvPr id="3" name="Rectangl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4090292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81013" y="273050"/>
            <a:ext cx="3162300" cy="1158875"/>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757613" y="273050"/>
            <a:ext cx="5373687" cy="58372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81013" y="1431925"/>
            <a:ext cx="3162300" cy="46783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D3EC9E1F-3BFB-485A-874F-033E1E46B3C9}" type="slidenum">
              <a:rPr lang="fr-FR" altLang="fr-FR" smtClean="0"/>
              <a:pPr>
                <a:defRPr/>
              </a:pPr>
              <a:t>‹N°›</a:t>
            </a:fld>
            <a:endParaRPr lang="fr-FR" altLang="fr-FR" dirty="0"/>
          </a:p>
        </p:txBody>
      </p:sp>
      <p:sp>
        <p:nvSpPr>
          <p:cNvPr id="6" name="Rectangl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4255310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84363" y="4787900"/>
            <a:ext cx="5767387" cy="565150"/>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884363" y="611188"/>
            <a:ext cx="5767387" cy="41036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884363" y="5353050"/>
            <a:ext cx="5767387" cy="8032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B6734C95-D1C8-4F20-B6F1-59C6C68322D4}" type="slidenum">
              <a:rPr lang="fr-FR" altLang="fr-FR" smtClean="0"/>
              <a:pPr>
                <a:defRPr/>
              </a:pPr>
              <a:t>‹N°›</a:t>
            </a:fld>
            <a:endParaRPr lang="fr-FR" altLang="fr-FR" dirty="0"/>
          </a:p>
        </p:txBody>
      </p:sp>
      <p:sp>
        <p:nvSpPr>
          <p:cNvPr id="6" name="Rectangl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357078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0E3B7BEB-90D4-4979-BDF9-B6553D65B064}" type="slidenum">
              <a:rPr lang="fr-FR" altLang="fr-FR" smtClean="0"/>
              <a:pPr>
                <a:defRPr/>
              </a:pPr>
              <a:t>‹N°›</a:t>
            </a:fld>
            <a:endParaRPr lang="fr-FR" altLang="fr-FR" dirty="0"/>
          </a:p>
        </p:txBody>
      </p:sp>
      <p:sp>
        <p:nvSpPr>
          <p:cNvPr id="5" name="Espace réservé du pied de pag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73920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89775" y="0"/>
            <a:ext cx="2284413" cy="6110288"/>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236538" y="0"/>
            <a:ext cx="6700837" cy="611028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xfrm>
            <a:off x="7818438" y="6548438"/>
            <a:ext cx="1776412" cy="2921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atin typeface="Calibri" panose="020F0502020204030204" pitchFamily="34" charset="0"/>
              </a:defRPr>
            </a:lvl1pPr>
          </a:lstStyle>
          <a:p>
            <a:pPr>
              <a:defRPr/>
            </a:pPr>
            <a:fld id="{3A9821FE-2385-429A-8061-24D1CE2E4783}" type="slidenum">
              <a:rPr lang="fr-FR" altLang="fr-FR" smtClean="0"/>
              <a:pPr>
                <a:defRPr/>
              </a:pPr>
              <a:t>‹N°›</a:t>
            </a:fld>
            <a:endParaRPr lang="fr-FR" altLang="fr-FR" dirty="0"/>
          </a:p>
        </p:txBody>
      </p:sp>
      <p:sp>
        <p:nvSpPr>
          <p:cNvPr id="5" name="Espace réservé du pied de page 5"/>
          <p:cNvSpPr>
            <a:spLocks noGrp="1" noChangeArrowheads="1"/>
          </p:cNvSpPr>
          <p:nvPr>
            <p:ph type="ftr" sz="quarter" idx="11"/>
          </p:nvPr>
        </p:nvSpPr>
        <p:spPr/>
        <p:txBody>
          <a:bodyPr/>
          <a:lstStyle>
            <a:lvl1pPr algn="l">
              <a:defRPr/>
            </a:lvl1pPr>
          </a:lstStyle>
          <a:p>
            <a:pPr>
              <a:defRPr/>
            </a:pPr>
            <a:r>
              <a:rPr lang="fr-FR" dirty="0"/>
              <a:t>CIPE – Le jeu du Lean </a:t>
            </a:r>
            <a:r>
              <a:rPr lang="fr-FR" dirty="0" err="1"/>
              <a:t>Manufacturing</a:t>
            </a:r>
            <a:endParaRPr lang="fr-FR" dirty="0"/>
          </a:p>
        </p:txBody>
      </p:sp>
    </p:spTree>
    <p:extLst>
      <p:ext uri="{BB962C8B-B14F-4D97-AF65-F5344CB8AC3E}">
        <p14:creationId xmlns:p14="http://schemas.microsoft.com/office/powerpoint/2010/main" val="865871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36538" y="571500"/>
            <a:ext cx="9137650" cy="553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dirty="0"/>
              <a:t>Click to </a:t>
            </a:r>
            <a:r>
              <a:rPr lang="fr-FR" altLang="fr-FR" dirty="0" err="1"/>
              <a:t>edit</a:t>
            </a:r>
            <a:r>
              <a:rPr lang="fr-FR" altLang="fr-FR" dirty="0"/>
              <a:t> Master </a:t>
            </a:r>
            <a:r>
              <a:rPr lang="fr-FR" altLang="fr-FR" dirty="0" err="1"/>
              <a:t>text</a:t>
            </a:r>
            <a:r>
              <a:rPr lang="fr-FR" altLang="fr-FR" dirty="0"/>
              <a:t> styles</a:t>
            </a:r>
          </a:p>
          <a:p>
            <a:pPr lvl="1"/>
            <a:r>
              <a:rPr lang="fr-FR" altLang="fr-FR" dirty="0"/>
              <a:t>Second </a:t>
            </a:r>
            <a:r>
              <a:rPr lang="fr-FR" altLang="fr-FR" dirty="0" err="1"/>
              <a:t>level</a:t>
            </a:r>
            <a:endParaRPr lang="fr-FR" altLang="fr-FR" dirty="0"/>
          </a:p>
          <a:p>
            <a:pPr lvl="2"/>
            <a:r>
              <a:rPr lang="fr-FR" altLang="fr-FR" dirty="0" err="1"/>
              <a:t>Third</a:t>
            </a:r>
            <a:r>
              <a:rPr lang="fr-FR" altLang="fr-FR" dirty="0"/>
              <a:t> </a:t>
            </a:r>
            <a:r>
              <a:rPr lang="fr-FR" altLang="fr-FR" dirty="0" err="1"/>
              <a:t>level</a:t>
            </a:r>
            <a:endParaRPr lang="fr-FR" altLang="fr-FR" dirty="0"/>
          </a:p>
          <a:p>
            <a:pPr lvl="3"/>
            <a:r>
              <a:rPr lang="fr-FR" altLang="fr-FR" dirty="0" err="1"/>
              <a:t>Fourth</a:t>
            </a:r>
            <a:r>
              <a:rPr lang="fr-FR" altLang="fr-FR" dirty="0"/>
              <a:t> </a:t>
            </a:r>
            <a:r>
              <a:rPr lang="fr-FR" altLang="fr-FR" dirty="0" err="1"/>
              <a:t>level</a:t>
            </a:r>
            <a:endParaRPr lang="fr-FR" altLang="fr-FR" dirty="0"/>
          </a:p>
          <a:p>
            <a:pPr lvl="4"/>
            <a:r>
              <a:rPr lang="fr-FR" altLang="fr-FR" dirty="0" err="1"/>
              <a:t>Fifth</a:t>
            </a:r>
            <a:r>
              <a:rPr lang="fr-FR" altLang="fr-FR" dirty="0"/>
              <a:t> </a:t>
            </a:r>
            <a:r>
              <a:rPr lang="fr-FR" altLang="fr-FR" dirty="0" err="1"/>
              <a:t>level</a:t>
            </a:r>
            <a:endParaRPr lang="fr-FR" altLang="fr-FR" dirty="0"/>
          </a:p>
        </p:txBody>
      </p:sp>
      <p:sp>
        <p:nvSpPr>
          <p:cNvPr id="1027" name="Rectangle 9"/>
          <p:cNvSpPr>
            <a:spLocks noChangeArrowheads="1"/>
          </p:cNvSpPr>
          <p:nvPr userDrawn="1"/>
        </p:nvSpPr>
        <p:spPr bwMode="auto">
          <a:xfrm>
            <a:off x="0" y="7938"/>
            <a:ext cx="9612313" cy="415925"/>
          </a:xfrm>
          <a:prstGeom prst="rect">
            <a:avLst/>
          </a:prstGeom>
          <a:solidFill>
            <a:srgbClr val="27A8E0"/>
          </a:solidFill>
          <a:ln>
            <a:noFill/>
          </a:ln>
        </p:spPr>
        <p:txBody>
          <a:bodyPr wrap="none" anchor="ctr"/>
          <a:lstStyle>
            <a:lvl1pPr algn="ctr">
              <a:defRPr sz="1000">
                <a:solidFill>
                  <a:schemeClr val="tx1"/>
                </a:solidFill>
                <a:latin typeface="Arial" charset="0"/>
              </a:defRPr>
            </a:lvl1pPr>
            <a:lvl2pPr marL="742950" indent="-285750" algn="ctr">
              <a:defRPr sz="1000">
                <a:solidFill>
                  <a:schemeClr val="tx1"/>
                </a:solidFill>
                <a:latin typeface="Arial" charset="0"/>
              </a:defRPr>
            </a:lvl2pPr>
            <a:lvl3pPr marL="1143000" indent="-228600" algn="ctr">
              <a:defRPr sz="1000">
                <a:solidFill>
                  <a:schemeClr val="tx1"/>
                </a:solidFill>
                <a:latin typeface="Arial" charset="0"/>
              </a:defRPr>
            </a:lvl3pPr>
            <a:lvl4pPr marL="1600200" indent="-228600" algn="ctr">
              <a:defRPr sz="1000">
                <a:solidFill>
                  <a:schemeClr val="tx1"/>
                </a:solidFill>
                <a:latin typeface="Arial" charset="0"/>
              </a:defRPr>
            </a:lvl4pPr>
            <a:lvl5pPr marL="2057400" indent="-228600" algn="ctr">
              <a:defRPr sz="1000">
                <a:solidFill>
                  <a:schemeClr val="tx1"/>
                </a:solidFill>
                <a:latin typeface="Arial" charset="0"/>
              </a:defRPr>
            </a:lvl5pPr>
            <a:lvl6pPr marL="2514600" indent="-228600" algn="ctr" eaLnBrk="0" fontAlgn="base" hangingPunct="0">
              <a:spcBef>
                <a:spcPct val="0"/>
              </a:spcBef>
              <a:spcAft>
                <a:spcPct val="0"/>
              </a:spcAft>
              <a:defRPr sz="1000">
                <a:solidFill>
                  <a:schemeClr val="tx1"/>
                </a:solidFill>
                <a:latin typeface="Arial" charset="0"/>
              </a:defRPr>
            </a:lvl6pPr>
            <a:lvl7pPr marL="2971800" indent="-228600" algn="ctr" eaLnBrk="0" fontAlgn="base" hangingPunct="0">
              <a:spcBef>
                <a:spcPct val="0"/>
              </a:spcBef>
              <a:spcAft>
                <a:spcPct val="0"/>
              </a:spcAft>
              <a:defRPr sz="1000">
                <a:solidFill>
                  <a:schemeClr val="tx1"/>
                </a:solidFill>
                <a:latin typeface="Arial" charset="0"/>
              </a:defRPr>
            </a:lvl7pPr>
            <a:lvl8pPr marL="3429000" indent="-228600" algn="ctr" eaLnBrk="0" fontAlgn="base" hangingPunct="0">
              <a:spcBef>
                <a:spcPct val="0"/>
              </a:spcBef>
              <a:spcAft>
                <a:spcPct val="0"/>
              </a:spcAft>
              <a:defRPr sz="1000">
                <a:solidFill>
                  <a:schemeClr val="tx1"/>
                </a:solidFill>
                <a:latin typeface="Arial" charset="0"/>
              </a:defRPr>
            </a:lvl8pPr>
            <a:lvl9pPr marL="3886200" indent="-228600" algn="ctr" eaLnBrk="0" fontAlgn="base" hangingPunct="0">
              <a:spcBef>
                <a:spcPct val="0"/>
              </a:spcBef>
              <a:spcAft>
                <a:spcPct val="0"/>
              </a:spcAft>
              <a:defRPr sz="1000">
                <a:solidFill>
                  <a:schemeClr val="tx1"/>
                </a:solidFill>
                <a:latin typeface="Arial" charset="0"/>
              </a:defRPr>
            </a:lvl9pPr>
          </a:lstStyle>
          <a:p>
            <a:pPr eaLnBrk="1" hangingPunct="1">
              <a:defRPr/>
            </a:pPr>
            <a:endParaRPr lang="fr-FR" altLang="fr-FR" sz="1800" b="1" dirty="0">
              <a:latin typeface="Calibri" panose="020F0502020204030204" pitchFamily="34" charset="0"/>
            </a:endParaRPr>
          </a:p>
        </p:txBody>
      </p:sp>
      <p:sp>
        <p:nvSpPr>
          <p:cNvPr id="1028" name="Rectangle 10"/>
          <p:cNvSpPr>
            <a:spLocks noGrp="1" noChangeArrowheads="1"/>
          </p:cNvSpPr>
          <p:nvPr>
            <p:ph type="title"/>
          </p:nvPr>
        </p:nvSpPr>
        <p:spPr bwMode="auto">
          <a:xfrm>
            <a:off x="498475" y="0"/>
            <a:ext cx="86502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dirty="0"/>
              <a:t>Click to </a:t>
            </a:r>
            <a:r>
              <a:rPr lang="fr-FR" altLang="fr-FR" dirty="0" err="1"/>
              <a:t>edit</a:t>
            </a:r>
            <a:r>
              <a:rPr lang="fr-FR" altLang="fr-FR" dirty="0"/>
              <a:t> Master </a:t>
            </a:r>
            <a:r>
              <a:rPr lang="fr-FR" altLang="fr-FR" dirty="0" err="1"/>
              <a:t>title</a:t>
            </a:r>
            <a:r>
              <a:rPr lang="fr-FR" altLang="fr-FR" dirty="0"/>
              <a:t> style</a:t>
            </a:r>
          </a:p>
        </p:txBody>
      </p:sp>
      <p:sp>
        <p:nvSpPr>
          <p:cNvPr id="5" name="Rectangle 5"/>
          <p:cNvSpPr>
            <a:spLocks noGrp="1" noChangeArrowheads="1"/>
          </p:cNvSpPr>
          <p:nvPr>
            <p:ph type="ftr" sz="quarter" idx="3"/>
          </p:nvPr>
        </p:nvSpPr>
        <p:spPr>
          <a:xfrm>
            <a:off x="0" y="6624638"/>
            <a:ext cx="5141913" cy="215900"/>
          </a:xfrm>
          <a:prstGeom prst="rect">
            <a:avLst/>
          </a:prstGeom>
          <a:ln/>
        </p:spPr>
        <p:txBody>
          <a:bodyPr/>
          <a:lstStyle>
            <a:lvl1pPr algn="l" eaLnBrk="1" hangingPunct="1">
              <a:defRPr>
                <a:latin typeface="Calibri" panose="020F0502020204030204" pitchFamily="34" charset="0"/>
              </a:defRPr>
            </a:lvl1pPr>
          </a:lstStyle>
          <a:p>
            <a:pPr>
              <a:defRPr/>
            </a:pPr>
            <a:r>
              <a:rPr lang="fr-FR" dirty="0"/>
              <a:t>CIPE – Le jeu du Lean </a:t>
            </a:r>
            <a:r>
              <a:rPr lang="fr-FR" dirty="0" err="1"/>
              <a:t>Manufacturing</a:t>
            </a:r>
            <a:endParaRPr lang="fr-FR" dirty="0"/>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hf hdr="0" dt="0"/>
  <p:txStyles>
    <p:titleStyle>
      <a:lvl1pPr algn="ctr" rtl="0" eaLnBrk="0" fontAlgn="base" hangingPunct="0">
        <a:spcBef>
          <a:spcPct val="0"/>
        </a:spcBef>
        <a:spcAft>
          <a:spcPct val="0"/>
        </a:spcAft>
        <a:defRPr sz="2000" b="1">
          <a:solidFill>
            <a:schemeClr val="bg1"/>
          </a:solidFill>
          <a:latin typeface="Calibri" panose="020F0502020204030204" pitchFamily="34" charset="0"/>
          <a:ea typeface="+mj-ea"/>
          <a:cs typeface="+mj-cs"/>
        </a:defRPr>
      </a:lvl1pPr>
      <a:lvl2pPr algn="ctr" rtl="0" eaLnBrk="0" fontAlgn="base" hangingPunct="0">
        <a:spcBef>
          <a:spcPct val="0"/>
        </a:spcBef>
        <a:spcAft>
          <a:spcPct val="0"/>
        </a:spcAft>
        <a:defRPr sz="2000" b="1">
          <a:solidFill>
            <a:schemeClr val="tx2"/>
          </a:solidFill>
          <a:latin typeface="Arial" charset="0"/>
        </a:defRPr>
      </a:lvl2pPr>
      <a:lvl3pPr algn="ctr" rtl="0" eaLnBrk="0" fontAlgn="base" hangingPunct="0">
        <a:spcBef>
          <a:spcPct val="0"/>
        </a:spcBef>
        <a:spcAft>
          <a:spcPct val="0"/>
        </a:spcAft>
        <a:defRPr sz="2000" b="1">
          <a:solidFill>
            <a:schemeClr val="tx2"/>
          </a:solidFill>
          <a:latin typeface="Arial" charset="0"/>
        </a:defRPr>
      </a:lvl3pPr>
      <a:lvl4pPr algn="ctr" rtl="0" eaLnBrk="0" fontAlgn="base" hangingPunct="0">
        <a:spcBef>
          <a:spcPct val="0"/>
        </a:spcBef>
        <a:spcAft>
          <a:spcPct val="0"/>
        </a:spcAft>
        <a:defRPr sz="2000" b="1">
          <a:solidFill>
            <a:schemeClr val="tx2"/>
          </a:solidFill>
          <a:latin typeface="Arial" charset="0"/>
        </a:defRPr>
      </a:lvl4pPr>
      <a:lvl5pPr algn="ctr" rtl="0" eaLnBrk="0" fontAlgn="base" hangingPunct="0">
        <a:spcBef>
          <a:spcPct val="0"/>
        </a:spcBef>
        <a:spcAft>
          <a:spcPct val="0"/>
        </a:spcAft>
        <a:defRPr sz="2000" b="1">
          <a:solidFill>
            <a:schemeClr val="tx2"/>
          </a:solidFill>
          <a:latin typeface="Arial" charset="0"/>
        </a:defRPr>
      </a:lvl5pPr>
      <a:lvl6pPr marL="457200" algn="ctr" rtl="0" fontAlgn="base">
        <a:spcBef>
          <a:spcPct val="0"/>
        </a:spcBef>
        <a:spcAft>
          <a:spcPct val="0"/>
        </a:spcAft>
        <a:defRPr sz="2000" b="1">
          <a:solidFill>
            <a:schemeClr val="tx2"/>
          </a:solidFill>
          <a:latin typeface="Arial" charset="0"/>
        </a:defRPr>
      </a:lvl6pPr>
      <a:lvl7pPr marL="914400" algn="ctr" rtl="0" fontAlgn="base">
        <a:spcBef>
          <a:spcPct val="0"/>
        </a:spcBef>
        <a:spcAft>
          <a:spcPct val="0"/>
        </a:spcAft>
        <a:defRPr sz="2000" b="1">
          <a:solidFill>
            <a:schemeClr val="tx2"/>
          </a:solidFill>
          <a:latin typeface="Arial" charset="0"/>
        </a:defRPr>
      </a:lvl7pPr>
      <a:lvl8pPr marL="1371600" algn="ctr" rtl="0" fontAlgn="base">
        <a:spcBef>
          <a:spcPct val="0"/>
        </a:spcBef>
        <a:spcAft>
          <a:spcPct val="0"/>
        </a:spcAft>
        <a:defRPr sz="2000" b="1">
          <a:solidFill>
            <a:schemeClr val="tx2"/>
          </a:solidFill>
          <a:latin typeface="Arial" charset="0"/>
        </a:defRPr>
      </a:lvl8pPr>
      <a:lvl9pPr marL="1828800" algn="ctr" rtl="0" fontAlgn="base">
        <a:spcBef>
          <a:spcPct val="0"/>
        </a:spcBef>
        <a:spcAft>
          <a:spcPct val="0"/>
        </a:spcAft>
        <a:defRPr sz="2000" b="1">
          <a:solidFill>
            <a:schemeClr val="tx2"/>
          </a:solidFill>
          <a:latin typeface="Arial" charset="0"/>
        </a:defRPr>
      </a:lvl9pPr>
    </p:titleStyle>
    <p:bodyStyle>
      <a:lvl1pPr marL="342900" indent="-342900" algn="l" rtl="0" eaLnBrk="0" fontAlgn="base" hangingPunct="0">
        <a:spcBef>
          <a:spcPct val="20000"/>
        </a:spcBef>
        <a:spcAft>
          <a:spcPct val="0"/>
        </a:spcAft>
        <a:buChar char="•"/>
        <a:defRPr>
          <a:solidFill>
            <a:schemeClr val="tx1"/>
          </a:solidFill>
          <a:latin typeface="Calibri" panose="020F0502020204030204" pitchFamily="34" charset="0"/>
          <a:ea typeface="+mn-ea"/>
          <a:cs typeface="+mn-cs"/>
        </a:defRPr>
      </a:lvl1pPr>
      <a:lvl2pPr marL="701675" indent="-179388" algn="l" rtl="0" eaLnBrk="0" fontAlgn="base" hangingPunct="0">
        <a:spcBef>
          <a:spcPct val="20000"/>
        </a:spcBef>
        <a:spcAft>
          <a:spcPct val="0"/>
        </a:spcAft>
        <a:buChar char="–"/>
        <a:defRPr sz="1400">
          <a:solidFill>
            <a:schemeClr val="tx1"/>
          </a:solidFill>
          <a:latin typeface="Calibri" panose="020F0502020204030204" pitchFamily="34" charset="0"/>
        </a:defRPr>
      </a:lvl2pPr>
      <a:lvl3pPr marL="1150938" indent="-228600" algn="l" rtl="0" eaLnBrk="0" fontAlgn="base" hangingPunct="0">
        <a:spcBef>
          <a:spcPct val="20000"/>
        </a:spcBef>
        <a:spcAft>
          <a:spcPct val="0"/>
        </a:spcAft>
        <a:buChar char="•"/>
        <a:defRPr sz="1200">
          <a:solidFill>
            <a:schemeClr val="tx1"/>
          </a:solidFill>
          <a:latin typeface="Calibri" panose="020F0502020204030204" pitchFamily="34" charset="0"/>
        </a:defRPr>
      </a:lvl3pPr>
      <a:lvl4pPr marL="1600200" indent="-228600" algn="l" rtl="0" eaLnBrk="0" fontAlgn="base" hangingPunct="0">
        <a:spcBef>
          <a:spcPct val="20000"/>
        </a:spcBef>
        <a:spcAft>
          <a:spcPct val="0"/>
        </a:spcAft>
        <a:buChar char="–"/>
        <a:defRPr sz="1200">
          <a:solidFill>
            <a:schemeClr val="tx1"/>
          </a:solidFill>
          <a:latin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Calibri" panose="020F0502020204030204" pitchFamily="34" charset="0"/>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3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0.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21.emf"/><Relationship Id="rId7" Type="http://schemas.openxmlformats.org/officeDocument/2006/relationships/image" Target="../media/image30.emf"/><Relationship Id="rId12" Type="http://schemas.openxmlformats.org/officeDocument/2006/relationships/image" Target="../media/image34.em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9.jpeg"/><Relationship Id="rId11" Type="http://schemas.openxmlformats.org/officeDocument/2006/relationships/image" Target="../media/image33.emf"/><Relationship Id="rId5" Type="http://schemas.openxmlformats.org/officeDocument/2006/relationships/image" Target="../media/image27.emf"/><Relationship Id="rId10" Type="http://schemas.openxmlformats.org/officeDocument/2006/relationships/image" Target="../media/image18.jpeg"/><Relationship Id="rId4" Type="http://schemas.openxmlformats.org/officeDocument/2006/relationships/image" Target="../media/image29.png"/><Relationship Id="rId9"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hyperlink" Target="Tableau%20de%20bord.xlsx"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hyperlink" Target="Tableau%20de%20bord.xlsx"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8.emf"/><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hyperlink" Target="Tableau%20de%20bord.xlsx" TargetMode="External"/><Relationship Id="rId5" Type="http://schemas.openxmlformats.org/officeDocument/2006/relationships/image" Target="../media/image40.emf"/><Relationship Id="rId4" Type="http://schemas.openxmlformats.org/officeDocument/2006/relationships/image" Target="../media/image39.emf"/></Relationships>
</file>

<file path=ppt/slides/_rels/slide50.xml.rels><?xml version="1.0" encoding="UTF-8" standalone="yes"?>
<Relationships xmlns="http://schemas.openxmlformats.org/package/2006/relationships"><Relationship Id="rId3" Type="http://schemas.openxmlformats.org/officeDocument/2006/relationships/hyperlink" Target="Tableau%20de%20bord.xlsx"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5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1.wmf"/></Relationships>
</file>

<file path=ppt/slides/_rels/slide5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hyperlink" Target="Tableau%20de%20bord.xlsx"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5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hyperlink" Target="Tableau%20de%20bord.xlsx" TargetMode="External"/><Relationship Id="rId4" Type="http://schemas.openxmlformats.org/officeDocument/2006/relationships/image" Target="../media/image6.jpeg"/></Relationships>
</file>

<file path=ppt/slides/_rels/slide5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7.wmf"/></Relationships>
</file>

<file path=ppt/slides/_rels/slide6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image" Target="../media/image42.jpeg"/><Relationship Id="rId4" Type="http://schemas.openxmlformats.org/officeDocument/2006/relationships/image" Target="../media/image47.wmf"/></Relationships>
</file>

<file path=ppt/slides/_rels/slide6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hyperlink" Target="Tableau%20de%20bord.xlsx"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Tableau%20de%20bord.xlsx"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6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52.wmf"/></Relationships>
</file>

<file path=ppt/slides/_rels/slide68.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2.emf"/><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57.emf"/><Relationship Id="rId11" Type="http://schemas.openxmlformats.org/officeDocument/2006/relationships/image" Target="../media/image61.png"/><Relationship Id="rId5" Type="http://schemas.openxmlformats.org/officeDocument/2006/relationships/image" Target="../media/image56.emf"/><Relationship Id="rId10" Type="http://schemas.openxmlformats.org/officeDocument/2006/relationships/image" Target="../media/image60.png"/><Relationship Id="rId4" Type="http://schemas.openxmlformats.org/officeDocument/2006/relationships/image" Target="../media/image55.emf"/><Relationship Id="rId9" Type="http://schemas.openxmlformats.org/officeDocument/2006/relationships/image" Target="../media/image59.emf"/></Relationships>
</file>

<file path=ppt/slides/_rels/slide70.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4.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5.x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image" Target="../media/image65.emf"/><Relationship Id="rId7" Type="http://schemas.openxmlformats.org/officeDocument/2006/relationships/image" Target="../media/image19.jpe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67.emf"/><Relationship Id="rId4" Type="http://schemas.openxmlformats.org/officeDocument/2006/relationships/image" Target="../media/image66.emf"/><Relationship Id="rId9" Type="http://schemas.openxmlformats.org/officeDocument/2006/relationships/image" Target="../media/image6.jpeg"/></Relationships>
</file>

<file path=ppt/slides/_rels/slide76.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62.emf"/></Relationships>
</file>

<file path=ppt/slides/_rels/slide77.xml.rels><?xml version="1.0" encoding="UTF-8" standalone="yes"?>
<Relationships xmlns="http://schemas.openxmlformats.org/package/2006/relationships"><Relationship Id="rId3" Type="http://schemas.openxmlformats.org/officeDocument/2006/relationships/image" Target="../media/image69.emf"/><Relationship Id="rId7" Type="http://schemas.openxmlformats.org/officeDocument/2006/relationships/image" Target="../media/image6.jpe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image" Target="../media/image19.jpeg"/><Relationship Id="rId4" Type="http://schemas.openxmlformats.org/officeDocument/2006/relationships/image" Target="../media/image18.jpeg"/></Relationships>
</file>

<file path=ppt/slides/_rels/slide78.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9.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6.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71.png"/></Relationships>
</file>

<file path=ppt/slides/_rels/slide8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hyperlink" Target="Tableau%20de%20bord.xlsx" TargetMode="External"/><Relationship Id="rId4" Type="http://schemas.openxmlformats.org/officeDocument/2006/relationships/image" Target="../media/image73.emf"/></Relationships>
</file>

<file path=ppt/slides/_rels/slide84.xml.rels><?xml version="1.0" encoding="UTF-8" standalone="yes"?>
<Relationships xmlns="http://schemas.openxmlformats.org/package/2006/relationships"><Relationship Id="rId3" Type="http://schemas.openxmlformats.org/officeDocument/2006/relationships/image" Target="../media/image74.emf"/><Relationship Id="rId7" Type="http://schemas.openxmlformats.org/officeDocument/2006/relationships/image" Target="../media/image38.emf"/><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hyperlink" Target="Tableau%20de%20bord.xlsx" TargetMode="External"/><Relationship Id="rId5" Type="http://schemas.openxmlformats.org/officeDocument/2006/relationships/image" Target="../media/image76.emf"/><Relationship Id="rId4" Type="http://schemas.openxmlformats.org/officeDocument/2006/relationships/image" Target="../media/image75.emf"/></Relationships>
</file>

<file path=ppt/slides/_rels/slide8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77.emf"/></Relationships>
</file>

<file path=ppt/slides/_rels/slide86.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80.emf"/><Relationship Id="rId4" Type="http://schemas.openxmlformats.org/officeDocument/2006/relationships/image" Target="../media/image79.emf"/></Relationships>
</file>

<file path=ppt/slides/_rels/slide87.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hyperlink" Target="Tableau%20de%20bord.xlsx"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7.emf"/><Relationship Id="rId7" Type="http://schemas.openxmlformats.org/officeDocument/2006/relationships/image" Target="../media/image6.jpeg"/><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image" Target="../media/image66.emf"/><Relationship Id="rId5" Type="http://schemas.openxmlformats.org/officeDocument/2006/relationships/image" Target="../media/image19.jpeg"/><Relationship Id="rId4" Type="http://schemas.openxmlformats.org/officeDocument/2006/relationships/image" Target="../media/image82.jpeg"/></Relationships>
</file>

<file path=ppt/slides/_rels/slide93.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9.emf"/><Relationship Id="rId7" Type="http://schemas.openxmlformats.org/officeDocument/2006/relationships/image" Target="../media/image6.jpe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84.emf"/><Relationship Id="rId5" Type="http://schemas.openxmlformats.org/officeDocument/2006/relationships/image" Target="../media/image83.emf"/><Relationship Id="rId4" Type="http://schemas.openxmlformats.org/officeDocument/2006/relationships/image" Target="../media/image10.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8.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88.emf"/></Relationships>
</file>

<file path=ppt/slides/_rels/slide105.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88.emf"/></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91.png"/><Relationship Id="rId4" Type="http://schemas.openxmlformats.org/officeDocument/2006/relationships/image" Target="../media/image90.emf"/></Relationships>
</file>

<file path=ppt/slides/_rels/slide10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94.emf"/></Relationships>
</file>

<file path=ppt/slides/_rels/slide1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0.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hyperlink" Target="Tableau%20de%20bord.xlsx" TargetMode="Externa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hyperlink" Target="Tableau%20de%20bord.xlsx" TargetMode="External"/><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114.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122.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2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23.xml"/><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7.wmf"/></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Espace réservé du numéro de diapositive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CDBC8FC-F5E0-4B94-939E-E6F6B1EF5ED2}" type="slidenum">
              <a:rPr lang="fr-FR" altLang="fr-FR" smtClean="0">
                <a:latin typeface="Calibri" panose="020F0502020204030204" pitchFamily="34" charset="0"/>
              </a:rPr>
              <a:pPr>
                <a:spcBef>
                  <a:spcPct val="0"/>
                </a:spcBef>
                <a:buFontTx/>
                <a:buNone/>
              </a:pPr>
              <a:t>1</a:t>
            </a:fld>
            <a:endParaRPr lang="fr-FR" altLang="fr-FR" dirty="0">
              <a:latin typeface="Calibri" panose="020F0502020204030204" pitchFamily="34" charset="0"/>
            </a:endParaRPr>
          </a:p>
        </p:txBody>
      </p:sp>
      <p:pic>
        <p:nvPicPr>
          <p:cNvPr id="15364" name="Picture 2" descr="C:\Users\bertrandS\Dropbox\Marketing\Logo Cipe\Logo CIPE Baseline image Couleurs bureautiqu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1913" y="6057900"/>
            <a:ext cx="18684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6" name="Picture 2" descr="C:\Users\Bertrand\Desktop\logos\Lean manufacturing_300dpi.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5582" y="1502696"/>
            <a:ext cx="3389993" cy="25479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itre 1"/>
          <p:cNvSpPr>
            <a:spLocks noGrp="1"/>
          </p:cNvSpPr>
          <p:nvPr>
            <p:ph type="title"/>
          </p:nvPr>
        </p:nvSpPr>
        <p:spPr/>
        <p:txBody>
          <a:bodyPr/>
          <a:lstStyle/>
          <a:p>
            <a:r>
              <a:rPr lang="fr-FR" altLang="fr-FR" dirty="0"/>
              <a:t>AVERTISSEMENT</a:t>
            </a:r>
          </a:p>
        </p:txBody>
      </p:sp>
      <p:sp>
        <p:nvSpPr>
          <p:cNvPr id="1945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946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6A2E20C-203A-45AC-81EE-6DDC779BB275}" type="slidenum">
              <a:rPr lang="fr-FR" altLang="fr-FR" smtClean="0">
                <a:latin typeface="Calibri" panose="020F0502020204030204" pitchFamily="34" charset="0"/>
              </a:rPr>
              <a:pPr>
                <a:spcBef>
                  <a:spcPct val="0"/>
                </a:spcBef>
                <a:buFontTx/>
                <a:buNone/>
              </a:pPr>
              <a:t>2</a:t>
            </a:fld>
            <a:endParaRPr lang="fr-FR" altLang="fr-FR" dirty="0">
              <a:latin typeface="Calibri" panose="020F0502020204030204" pitchFamily="34" charset="0"/>
            </a:endParaRPr>
          </a:p>
        </p:txBody>
      </p:sp>
      <p:sp>
        <p:nvSpPr>
          <p:cNvPr id="19461" name="Rectangle 5"/>
          <p:cNvSpPr>
            <a:spLocks noChangeArrowheads="1"/>
          </p:cNvSpPr>
          <p:nvPr/>
        </p:nvSpPr>
        <p:spPr bwMode="auto">
          <a:xfrm>
            <a:off x="277019" y="574993"/>
            <a:ext cx="9058275" cy="493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58850">
              <a:spcBef>
                <a:spcPct val="20000"/>
              </a:spcBef>
              <a:buChar char="•"/>
              <a:defRPr>
                <a:solidFill>
                  <a:schemeClr val="tx1"/>
                </a:solidFill>
                <a:latin typeface="Arial" panose="020B0604020202020204" pitchFamily="34" charset="0"/>
              </a:defRPr>
            </a:lvl1pPr>
            <a:lvl2pPr marL="742950" indent="-285750" defTabSz="958850">
              <a:spcBef>
                <a:spcPct val="20000"/>
              </a:spcBef>
              <a:buChar char="–"/>
              <a:defRPr sz="1400">
                <a:solidFill>
                  <a:schemeClr val="tx1"/>
                </a:solidFill>
                <a:latin typeface="Arial" panose="020B0604020202020204" pitchFamily="34" charset="0"/>
              </a:defRPr>
            </a:lvl2pPr>
            <a:lvl3pPr marL="1143000" indent="-228600" defTabSz="958850">
              <a:spcBef>
                <a:spcPct val="20000"/>
              </a:spcBef>
              <a:buChar char="•"/>
              <a:defRPr sz="1200">
                <a:solidFill>
                  <a:schemeClr val="tx1"/>
                </a:solidFill>
                <a:latin typeface="Arial" panose="020B0604020202020204" pitchFamily="34" charset="0"/>
              </a:defRPr>
            </a:lvl3pPr>
            <a:lvl4pPr marL="1600200" indent="-228600" defTabSz="958850">
              <a:spcBef>
                <a:spcPct val="20000"/>
              </a:spcBef>
              <a:buChar char="–"/>
              <a:defRPr sz="1200">
                <a:solidFill>
                  <a:schemeClr val="tx1"/>
                </a:solidFill>
                <a:latin typeface="Arial" panose="020B0604020202020204" pitchFamily="34" charset="0"/>
              </a:defRPr>
            </a:lvl4pPr>
            <a:lvl5pPr marL="2057400" indent="-228600" defTabSz="958850">
              <a:spcBef>
                <a:spcPct val="20000"/>
              </a:spcBef>
              <a:buChar char="»"/>
              <a:defRPr sz="1200">
                <a:solidFill>
                  <a:schemeClr val="tx1"/>
                </a:solidFill>
                <a:latin typeface="Arial" panose="020B0604020202020204" pitchFamily="34" charset="0"/>
              </a:defRPr>
            </a:lvl5pPr>
            <a:lvl6pPr marL="2514600" indent="-228600" defTabSz="95885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95885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95885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95885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lnSpc>
                <a:spcPct val="110000"/>
              </a:lnSpc>
              <a:spcBef>
                <a:spcPct val="0"/>
              </a:spcBef>
              <a:buFontTx/>
              <a:buNone/>
            </a:pPr>
            <a:r>
              <a:rPr lang="fr-FR" altLang="fr-FR" sz="1400" dirty="0">
                <a:latin typeface="Calibri" panose="020F0502020204030204" pitchFamily="34" charset="0"/>
              </a:rPr>
              <a:t>« Le jeu du Lean </a:t>
            </a:r>
            <a:r>
              <a:rPr lang="fr-FR" altLang="fr-FR" sz="1400" dirty="0" err="1">
                <a:latin typeface="Calibri" panose="020F0502020204030204" pitchFamily="34" charset="0"/>
              </a:rPr>
              <a:t>Manufacturing</a:t>
            </a:r>
            <a:r>
              <a:rPr lang="fr-FR" altLang="fr-FR" sz="1400" dirty="0">
                <a:latin typeface="Calibri" panose="020F0502020204030204" pitchFamily="34" charset="0"/>
              </a:rPr>
              <a:t> </a:t>
            </a:r>
            <a:r>
              <a:rPr lang="fr-FR" altLang="fr-FR" sz="1400" baseline="30000" dirty="0">
                <a:latin typeface="Calibri" panose="020F0502020204030204" pitchFamily="34" charset="0"/>
                <a:sym typeface="Symbol" panose="05050102010706020507" pitchFamily="18" charset="2"/>
              </a:rPr>
              <a:t></a:t>
            </a:r>
            <a:r>
              <a:rPr lang="fr-FR" altLang="fr-FR" sz="1400" dirty="0">
                <a:latin typeface="Calibri" panose="020F0502020204030204" pitchFamily="34" charset="0"/>
              </a:rPr>
              <a:t> » est un support pédagogique du Centre International de la Pédagogie d'Entreprise. </a:t>
            </a:r>
          </a:p>
          <a:p>
            <a:pPr algn="ctr">
              <a:lnSpc>
                <a:spcPct val="110000"/>
              </a:lnSpc>
              <a:spcBef>
                <a:spcPct val="0"/>
              </a:spcBef>
              <a:buFontTx/>
              <a:buNone/>
            </a:pPr>
            <a:endParaRPr lang="fr-FR" altLang="fr-FR" sz="1400" dirty="0">
              <a:latin typeface="Calibri" panose="020F0502020204030204" pitchFamily="34" charset="0"/>
            </a:endParaRPr>
          </a:p>
          <a:p>
            <a:pPr algn="ctr">
              <a:lnSpc>
                <a:spcPct val="110000"/>
              </a:lnSpc>
              <a:spcBef>
                <a:spcPct val="0"/>
              </a:spcBef>
              <a:buFontTx/>
              <a:buNone/>
            </a:pPr>
            <a:r>
              <a:rPr lang="fr-FR" altLang="fr-FR" sz="1400" b="1" dirty="0">
                <a:latin typeface="Calibri" panose="020F0502020204030204" pitchFamily="34" charset="0"/>
              </a:rPr>
              <a:t>ISBN N° </a:t>
            </a:r>
            <a:r>
              <a:rPr lang="de-DE" altLang="fr-FR" sz="1400" b="1" i="1" dirty="0">
                <a:latin typeface="Calibri" panose="020F0502020204030204" pitchFamily="34" charset="0"/>
              </a:rPr>
              <a:t>2-905920-40-8</a:t>
            </a:r>
            <a:r>
              <a:rPr lang="fr-FR" altLang="fr-FR" sz="1400" b="1" dirty="0">
                <a:latin typeface="Calibri" panose="020F0502020204030204" pitchFamily="34" charset="0"/>
              </a:rPr>
              <a:t> </a:t>
            </a:r>
            <a:r>
              <a:rPr lang="fr-FR" altLang="fr-FR" sz="1400" b="1" i="1" dirty="0">
                <a:latin typeface="Calibri" panose="020F0502020204030204" pitchFamily="34" charset="0"/>
              </a:rPr>
              <a:t>- </a:t>
            </a:r>
            <a:r>
              <a:rPr lang="fr-FR" altLang="fr-FR" sz="1400" b="1" dirty="0">
                <a:latin typeface="Calibri" panose="020F0502020204030204" pitchFamily="34" charset="0"/>
              </a:rPr>
              <a:t>CIPE - Dépôt Légal Paris – 2010</a:t>
            </a:r>
          </a:p>
          <a:p>
            <a:pPr algn="ctr">
              <a:lnSpc>
                <a:spcPct val="110000"/>
              </a:lnSpc>
              <a:spcBef>
                <a:spcPct val="0"/>
              </a:spcBef>
              <a:buFontTx/>
              <a:buNone/>
            </a:pPr>
            <a:endParaRPr lang="fr-FR" altLang="fr-FR" sz="1400" b="1" dirty="0">
              <a:latin typeface="Calibri" panose="020F0502020204030204" pitchFamily="34" charset="0"/>
            </a:endParaRPr>
          </a:p>
          <a:p>
            <a:pPr algn="ctr">
              <a:lnSpc>
                <a:spcPct val="110000"/>
              </a:lnSpc>
              <a:spcBef>
                <a:spcPct val="0"/>
              </a:spcBef>
              <a:buFontTx/>
              <a:buNone/>
            </a:pPr>
            <a:r>
              <a:rPr lang="fr-FR" altLang="fr-FR" sz="1400" dirty="0">
                <a:latin typeface="Calibri" panose="020F0502020204030204" pitchFamily="34" charset="0"/>
              </a:rPr>
              <a:t>«  </a:t>
            </a:r>
            <a:r>
              <a:rPr lang="fr-FR" altLang="fr-FR" sz="1200" dirty="0">
                <a:latin typeface="Calibri" panose="020F0502020204030204" pitchFamily="34" charset="0"/>
              </a:rPr>
              <a:t>Le jeu du Lean </a:t>
            </a:r>
            <a:r>
              <a:rPr lang="fr-FR" altLang="fr-FR" sz="1200" dirty="0" err="1">
                <a:latin typeface="Calibri" panose="020F0502020204030204" pitchFamily="34" charset="0"/>
              </a:rPr>
              <a:t>Manufacturing</a:t>
            </a:r>
            <a:r>
              <a:rPr lang="fr-FR" altLang="fr-FR" sz="1200" dirty="0">
                <a:latin typeface="Calibri" panose="020F0502020204030204" pitchFamily="34" charset="0"/>
              </a:rPr>
              <a:t> </a:t>
            </a:r>
            <a:r>
              <a:rPr lang="fr-FR" altLang="fr-FR" sz="1200" baseline="30000" dirty="0">
                <a:latin typeface="Calibri" panose="020F0502020204030204" pitchFamily="34" charset="0"/>
                <a:sym typeface="Symbol" panose="05050102010706020507" pitchFamily="18" charset="2"/>
              </a:rPr>
              <a:t></a:t>
            </a:r>
            <a:r>
              <a:rPr lang="fr-FR" altLang="fr-FR" sz="1200" dirty="0">
                <a:latin typeface="Calibri" panose="020F0502020204030204" pitchFamily="34" charset="0"/>
                <a:sym typeface="Symbol" panose="05050102010706020507" pitchFamily="18" charset="2"/>
              </a:rPr>
              <a:t> </a:t>
            </a:r>
            <a:r>
              <a:rPr lang="fr-FR" altLang="fr-FR" sz="1400" dirty="0">
                <a:latin typeface="Calibri" panose="020F0502020204030204" pitchFamily="34" charset="0"/>
              </a:rPr>
              <a:t> » est une marque déposée du CIPE, 56 avenue Henri </a:t>
            </a:r>
            <a:r>
              <a:rPr lang="fr-FR" altLang="fr-FR" sz="1400" dirty="0" err="1">
                <a:latin typeface="Calibri" panose="020F0502020204030204" pitchFamily="34" charset="0"/>
              </a:rPr>
              <a:t>Ginoux</a:t>
            </a:r>
            <a:r>
              <a:rPr lang="fr-FR" altLang="fr-FR" sz="1400" dirty="0">
                <a:latin typeface="Calibri" panose="020F0502020204030204" pitchFamily="34" charset="0"/>
              </a:rPr>
              <a:t> 92120 MONTROUGE</a:t>
            </a:r>
          </a:p>
          <a:p>
            <a:pPr algn="ctr">
              <a:lnSpc>
                <a:spcPct val="110000"/>
              </a:lnSpc>
              <a:spcBef>
                <a:spcPct val="0"/>
              </a:spcBef>
              <a:buFontTx/>
              <a:buNone/>
            </a:pPr>
            <a:r>
              <a:rPr lang="fr-FR" altLang="fr-FR" sz="1400" dirty="0">
                <a:latin typeface="Calibri" panose="020F0502020204030204" pitchFamily="34" charset="0"/>
              </a:rPr>
              <a:t>Téléphone : 01 40 64 59 18</a:t>
            </a:r>
          </a:p>
          <a:p>
            <a:pPr>
              <a:lnSpc>
                <a:spcPct val="110000"/>
              </a:lnSpc>
              <a:spcBef>
                <a:spcPct val="0"/>
              </a:spcBef>
              <a:buFontTx/>
              <a:buNone/>
            </a:pPr>
            <a:endParaRPr lang="fr-FR" altLang="fr-FR" sz="2000" dirty="0">
              <a:latin typeface="Calibri" panose="020F0502020204030204" pitchFamily="34" charset="0"/>
            </a:endParaRPr>
          </a:p>
          <a:p>
            <a:pPr algn="ctr">
              <a:lnSpc>
                <a:spcPct val="110000"/>
              </a:lnSpc>
              <a:spcBef>
                <a:spcPct val="0"/>
              </a:spcBef>
              <a:buFontTx/>
              <a:buNone/>
            </a:pPr>
            <a:r>
              <a:rPr lang="fr-FR" altLang="fr-FR" sz="1400" b="1" u="sng" dirty="0">
                <a:latin typeface="Calibri" panose="020F0502020204030204" pitchFamily="34" charset="0"/>
              </a:rPr>
              <a:t>LICENCE</a:t>
            </a:r>
            <a:endParaRPr lang="fr-FR" altLang="fr-FR" sz="1400" b="1" dirty="0">
              <a:latin typeface="Calibri" panose="020F0502020204030204" pitchFamily="34" charset="0"/>
            </a:endParaRPr>
          </a:p>
          <a:p>
            <a:pPr algn="just">
              <a:lnSpc>
                <a:spcPct val="110000"/>
              </a:lnSpc>
              <a:spcBef>
                <a:spcPct val="0"/>
              </a:spcBef>
              <a:buFontTx/>
              <a:buNone/>
            </a:pPr>
            <a:r>
              <a:rPr lang="fr-FR" altLang="fr-FR" sz="1200" dirty="0">
                <a:latin typeface="Calibri" panose="020F0502020204030204" pitchFamily="34" charset="0"/>
              </a:rPr>
              <a:t>Le « Contrat de Licence Entreprise » CIPE autorise l’acquéreur à utiliser l'ensemble pédagogique Le jeu du Lean </a:t>
            </a:r>
            <a:r>
              <a:rPr lang="fr-FR" altLang="fr-FR" sz="1200" dirty="0" err="1">
                <a:latin typeface="Calibri" panose="020F0502020204030204" pitchFamily="34" charset="0"/>
              </a:rPr>
              <a:t>Manufacturing</a:t>
            </a:r>
            <a:r>
              <a:rPr lang="fr-FR" altLang="fr-FR" sz="1200" dirty="0">
                <a:latin typeface="Calibri" panose="020F0502020204030204" pitchFamily="34" charset="0"/>
              </a:rPr>
              <a:t> </a:t>
            </a:r>
            <a:r>
              <a:rPr lang="fr-FR" altLang="fr-FR" sz="1200" dirty="0">
                <a:latin typeface="Calibri" panose="020F0502020204030204" pitchFamily="34" charset="0"/>
                <a:sym typeface="Symbol" panose="05050102010706020507" pitchFamily="18" charset="2"/>
              </a:rPr>
              <a:t></a:t>
            </a:r>
            <a:r>
              <a:rPr lang="fr-FR" altLang="fr-FR" sz="1200" dirty="0">
                <a:latin typeface="Calibri" panose="020F0502020204030204" pitchFamily="34" charset="0"/>
              </a:rPr>
              <a:t>, sur le (ou les) site(s) (et donc auprès du personnel de l’acquéreur affecté à ce (ou ces) site(s)), pour lequel (lesquels) celui-ci a fait l'acquisition d'une licence d'utilisation.</a:t>
            </a:r>
          </a:p>
          <a:p>
            <a:pPr algn="just">
              <a:lnSpc>
                <a:spcPct val="110000"/>
              </a:lnSpc>
              <a:spcBef>
                <a:spcPct val="0"/>
              </a:spcBef>
              <a:buFontTx/>
              <a:buNone/>
            </a:pPr>
            <a:r>
              <a:rPr lang="fr-FR" altLang="fr-FR" sz="1200" dirty="0">
                <a:latin typeface="Calibri" panose="020F0502020204030204" pitchFamily="34" charset="0"/>
              </a:rPr>
              <a:t>Dans ce cadre, sont également acquis les droits de reproduction partielle (duplication des éléments de la valise pédagogique désignés comme « consommables »).</a:t>
            </a:r>
          </a:p>
          <a:p>
            <a:pPr algn="just">
              <a:lnSpc>
                <a:spcPct val="110000"/>
              </a:lnSpc>
              <a:spcBef>
                <a:spcPct val="0"/>
              </a:spcBef>
              <a:buFontTx/>
              <a:buNone/>
            </a:pPr>
            <a:r>
              <a:rPr lang="fr-FR" altLang="fr-FR" sz="1200" dirty="0">
                <a:latin typeface="Calibri" panose="020F0502020204030204" pitchFamily="34" charset="0"/>
              </a:rPr>
              <a:t>Toute autre utilisation de cet ensemble pédagogique (c'est-à-dire en dehors des sites pour lesquels la licence a été acquise), devra faire l'objet d'une demande formelle, et nécessitera au préalable l'acquittement d'une extension de licence.</a:t>
            </a:r>
            <a:endParaRPr lang="fr-FR" altLang="fr-FR" sz="1200" i="1" dirty="0">
              <a:latin typeface="Calibri" panose="020F0502020204030204" pitchFamily="34" charset="0"/>
            </a:endParaRPr>
          </a:p>
          <a:p>
            <a:pPr algn="just">
              <a:lnSpc>
                <a:spcPct val="110000"/>
              </a:lnSpc>
              <a:spcBef>
                <a:spcPct val="0"/>
              </a:spcBef>
              <a:buFontTx/>
              <a:buNone/>
            </a:pPr>
            <a:r>
              <a:rPr lang="fr-FR" altLang="fr-FR" sz="1200" i="1" dirty="0">
                <a:latin typeface="Calibri" panose="020F0502020204030204" pitchFamily="34" charset="0"/>
              </a:rPr>
              <a:t>La loi du 11 mars 1957 n'autorisant, aux termes des alinéas 2 et 3 de l'article 41, d'une part, que « les copies ou productions strictement réservées à l'usage privé du copiste et non destinées à une utilisation collective », et d'autre part, que « les analyses et les courtes citations dans un but d'exemple et d'illustration », toute représentation ou reproduction intégrale ou partielle faite sans le consentement de l'auteur ou de ses ayants droit ou de ses ayants cause, est illicite » (alinéa 1er de l'article 40).</a:t>
            </a:r>
          </a:p>
          <a:p>
            <a:pPr algn="just">
              <a:lnSpc>
                <a:spcPct val="110000"/>
              </a:lnSpc>
              <a:spcBef>
                <a:spcPct val="0"/>
              </a:spcBef>
              <a:buFontTx/>
              <a:buNone/>
            </a:pPr>
            <a:r>
              <a:rPr lang="fr-FR" altLang="fr-FR" sz="1200" i="1" dirty="0">
                <a:latin typeface="Calibri" panose="020F0502020204030204" pitchFamily="34" charset="0"/>
              </a:rPr>
              <a:t>Cette représentation ou reproduction, par quelque procédé que ce soit, hors des conditions de la licence, constitue donc une contrefaçon sanctionnée par les alinéas 425 et suivants du Code Pénal.</a:t>
            </a:r>
            <a:endParaRPr lang="fr-FR" altLang="fr-FR" sz="1200" dirty="0">
              <a:latin typeface="Calibri" panose="020F0502020204030204" pitchFamily="34" charset="0"/>
            </a:endParaRPr>
          </a:p>
          <a:p>
            <a:pPr algn="just">
              <a:lnSpc>
                <a:spcPct val="110000"/>
              </a:lnSpc>
              <a:spcBef>
                <a:spcPct val="0"/>
              </a:spcBef>
              <a:buFontTx/>
              <a:buNone/>
            </a:pPr>
            <a:r>
              <a:rPr lang="fr-FR" altLang="fr-FR" sz="1200" dirty="0">
                <a:latin typeface="Calibri" panose="020F0502020204030204" pitchFamily="34" charset="0"/>
              </a:rPr>
              <a:t>Cette page doit demeurer en permanence en tête de ce Guide de l'Animateur.</a:t>
            </a:r>
            <a:endParaRPr lang="fr-FR" altLang="fr-FR" sz="1100" dirty="0">
              <a:latin typeface="Calibri" panose="020F0502020204030204" pitchFamily="34" charset="0"/>
            </a:endParaRPr>
          </a:p>
        </p:txBody>
      </p:sp>
      <p:sp>
        <p:nvSpPr>
          <p:cNvPr id="6" name="Text Box 5"/>
          <p:cNvSpPr txBox="1">
            <a:spLocks noChangeArrowheads="1"/>
          </p:cNvSpPr>
          <p:nvPr/>
        </p:nvSpPr>
        <p:spPr bwMode="auto">
          <a:xfrm>
            <a:off x="2358072" y="5740442"/>
            <a:ext cx="4896168" cy="895405"/>
          </a:xfrm>
          <a:prstGeom prst="rect">
            <a:avLst/>
          </a:prstGeom>
          <a:noFill/>
          <a:ln w="9525" algn="ctr">
            <a:solidFill>
              <a:schemeClr val="bg2"/>
            </a:solidFill>
            <a:miter lim="800000"/>
            <a:headEnd/>
            <a:tailEnd/>
          </a:ln>
        </p:spPr>
        <p:txBody>
          <a:bodyPr wrap="square" lIns="92107" tIns="46053" rIns="92107" bIns="46053">
            <a:spAutoFit/>
          </a:bodyPr>
          <a:lstStyle/>
          <a:p>
            <a:pPr marL="179098" indent="-179098" algn="l">
              <a:lnSpc>
                <a:spcPct val="110000"/>
              </a:lnSpc>
            </a:pPr>
            <a:r>
              <a:rPr lang="fr-FR" sz="1200" dirty="0">
                <a:latin typeface="Calibri" pitchFamily="34" charset="0"/>
              </a:rPr>
              <a:t>Cet exemplaire du Jeu </a:t>
            </a:r>
            <a:r>
              <a:rPr lang="fr-FR" altLang="fr-FR" sz="1200" dirty="0">
                <a:latin typeface="Calibri" panose="020F0502020204030204" pitchFamily="34" charset="0"/>
              </a:rPr>
              <a:t>Le jeu du Lean </a:t>
            </a:r>
            <a:r>
              <a:rPr lang="fr-FR" altLang="fr-FR" sz="1200" dirty="0" err="1">
                <a:latin typeface="Calibri" panose="020F0502020204030204" pitchFamily="34" charset="0"/>
              </a:rPr>
              <a:t>Manufacturing</a:t>
            </a:r>
            <a:r>
              <a:rPr lang="fr-FR" sz="1200" baseline="30000" dirty="0">
                <a:latin typeface="Calibri" pitchFamily="34" charset="0"/>
                <a:sym typeface="Symbol" pitchFamily="18" charset="2"/>
              </a:rPr>
              <a:t></a:t>
            </a:r>
            <a:r>
              <a:rPr lang="fr-FR" altLang="fr-FR" sz="1200" dirty="0">
                <a:latin typeface="Calibri" panose="020F0502020204030204" pitchFamily="34" charset="0"/>
              </a:rPr>
              <a:t> </a:t>
            </a:r>
            <a:r>
              <a:rPr lang="fr-FR" sz="1200" dirty="0">
                <a:latin typeface="Calibri" pitchFamily="34" charset="0"/>
              </a:rPr>
              <a:t>fait l'objet de :</a:t>
            </a:r>
          </a:p>
          <a:p>
            <a:pPr marL="179098" indent="-179098" algn="l">
              <a:lnSpc>
                <a:spcPct val="110000"/>
              </a:lnSpc>
              <a:buFontTx/>
              <a:buChar char="•"/>
            </a:pPr>
            <a:r>
              <a:rPr lang="fr-FR" sz="1200" dirty="0">
                <a:latin typeface="Calibri" pitchFamily="34" charset="0"/>
              </a:rPr>
              <a:t>La licence n° 228</a:t>
            </a:r>
          </a:p>
          <a:p>
            <a:pPr marL="179098" indent="-179098" algn="l">
              <a:lnSpc>
                <a:spcPct val="110000"/>
              </a:lnSpc>
              <a:buFontTx/>
              <a:buChar char="•"/>
            </a:pPr>
            <a:r>
              <a:rPr lang="fr-FR" sz="1200" dirty="0">
                <a:latin typeface="Calibri" pitchFamily="34" charset="0"/>
              </a:rPr>
              <a:t>Délivrée le 09/02/2023</a:t>
            </a:r>
          </a:p>
          <a:p>
            <a:pPr marL="179098" indent="-179098" algn="l">
              <a:lnSpc>
                <a:spcPct val="110000"/>
              </a:lnSpc>
              <a:buFontTx/>
              <a:buChar char="•"/>
            </a:pPr>
            <a:r>
              <a:rPr lang="fr-FR" sz="1200">
                <a:latin typeface="Calibri" pitchFamily="34" charset="0"/>
              </a:rPr>
              <a:t>À : CFAI CENTRE VAL DE LOIRE ORLEANS</a:t>
            </a:r>
            <a:endParaRPr lang="fr-FR" sz="1200" dirty="0">
              <a:latin typeface="Calibri"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Titre 1"/>
          <p:cNvSpPr>
            <a:spLocks noGrp="1"/>
          </p:cNvSpPr>
          <p:nvPr>
            <p:ph type="title"/>
          </p:nvPr>
        </p:nvSpPr>
        <p:spPr/>
        <p:txBody>
          <a:bodyPr/>
          <a:lstStyle/>
          <a:p>
            <a:r>
              <a:rPr lang="fr-FR" altLang="fr-FR" dirty="0"/>
              <a:t>Utilisation en mode diaporama</a:t>
            </a:r>
          </a:p>
        </p:txBody>
      </p:sp>
      <p:sp>
        <p:nvSpPr>
          <p:cNvPr id="4099" name="Espace réservé du contenu 3"/>
          <p:cNvSpPr>
            <a:spLocks noGrp="1"/>
          </p:cNvSpPr>
          <p:nvPr>
            <p:ph idx="1"/>
          </p:nvPr>
        </p:nvSpPr>
        <p:spPr>
          <a:xfrm>
            <a:off x="300039" y="787400"/>
            <a:ext cx="9137650" cy="5538788"/>
          </a:xfrm>
        </p:spPr>
        <p:txBody>
          <a:bodyPr/>
          <a:lstStyle/>
          <a:p>
            <a:r>
              <a:rPr lang="fr-FR" altLang="fr-FR" dirty="0"/>
              <a:t>Ce document a été créé pour être projeté en mode "diaporama".</a:t>
            </a:r>
          </a:p>
          <a:p>
            <a:endParaRPr lang="fr-FR" altLang="fr-FR" dirty="0"/>
          </a:p>
          <a:p>
            <a:r>
              <a:rPr lang="fr-FR" altLang="fr-FR" dirty="0">
                <a:solidFill>
                  <a:srgbClr val="FF0000"/>
                </a:solidFill>
              </a:rPr>
              <a:t>Pour activer </a:t>
            </a:r>
            <a:r>
              <a:rPr lang="fr-FR" altLang="fr-FR" dirty="0"/>
              <a:t>ce mode : </a:t>
            </a:r>
          </a:p>
          <a:p>
            <a:r>
              <a:rPr lang="fr-FR" altLang="fr-FR" dirty="0"/>
              <a:t>Sous </a:t>
            </a:r>
            <a:r>
              <a:rPr lang="fr-FR" altLang="fr-FR" dirty="0" err="1"/>
              <a:t>powerpoint</a:t>
            </a:r>
            <a:r>
              <a:rPr lang="fr-FR" altLang="fr-FR" dirty="0"/>
              <a:t> 2003 : </a:t>
            </a:r>
          </a:p>
          <a:p>
            <a:pPr lvl="1"/>
            <a:r>
              <a:rPr lang="fr-FR" altLang="fr-FR" sz="1600" dirty="0"/>
              <a:t>Cliquer sur : affichage </a:t>
            </a:r>
            <a:r>
              <a:rPr lang="fr-FR" altLang="fr-FR" sz="1600" dirty="0">
                <a:sym typeface="Wingdings" pitchFamily="2" charset="2"/>
              </a:rPr>
              <a:t> </a:t>
            </a:r>
            <a:r>
              <a:rPr lang="fr-FR" altLang="fr-FR" sz="1600" dirty="0"/>
              <a:t>diaporama</a:t>
            </a:r>
          </a:p>
          <a:p>
            <a:pPr lvl="1"/>
            <a:r>
              <a:rPr lang="fr-FR" altLang="fr-FR" sz="1600" dirty="0"/>
              <a:t>OU cliquer sur : diaporama </a:t>
            </a:r>
            <a:r>
              <a:rPr lang="fr-FR" altLang="fr-FR" sz="1600" dirty="0">
                <a:sym typeface="Wingdings" pitchFamily="2" charset="2"/>
              </a:rPr>
              <a:t> </a:t>
            </a:r>
            <a:r>
              <a:rPr lang="fr-FR" altLang="fr-FR" sz="1600" dirty="0"/>
              <a:t>visionner le diaporama</a:t>
            </a:r>
          </a:p>
          <a:p>
            <a:r>
              <a:rPr lang="fr-FR" altLang="fr-FR" dirty="0"/>
              <a:t>Sous </a:t>
            </a:r>
            <a:r>
              <a:rPr lang="fr-FR" altLang="fr-FR" dirty="0" err="1"/>
              <a:t>powerpoint</a:t>
            </a:r>
            <a:r>
              <a:rPr lang="fr-FR" altLang="fr-FR" dirty="0"/>
              <a:t> 2010 : </a:t>
            </a:r>
          </a:p>
          <a:p>
            <a:pPr lvl="1"/>
            <a:r>
              <a:rPr lang="fr-FR" altLang="fr-FR" sz="1600" dirty="0"/>
              <a:t>Cliquer sur : diaporama </a:t>
            </a:r>
            <a:r>
              <a:rPr lang="fr-FR" altLang="fr-FR" sz="1600" dirty="0">
                <a:sym typeface="Wingdings" pitchFamily="2" charset="2"/>
              </a:rPr>
              <a:t> </a:t>
            </a:r>
            <a:r>
              <a:rPr lang="fr-FR" altLang="fr-FR" sz="1600" dirty="0"/>
              <a:t>A partir du début</a:t>
            </a:r>
          </a:p>
          <a:p>
            <a:pPr lvl="1"/>
            <a:r>
              <a:rPr lang="fr-FR" altLang="fr-FR" sz="1600" dirty="0"/>
              <a:t>OU cliquer sur : diaporama </a:t>
            </a:r>
            <a:r>
              <a:rPr lang="fr-FR" altLang="fr-FR" sz="1600" dirty="0">
                <a:sym typeface="Wingdings" pitchFamily="2" charset="2"/>
              </a:rPr>
              <a:t> </a:t>
            </a:r>
            <a:r>
              <a:rPr lang="fr-FR" altLang="fr-FR" sz="1600" dirty="0"/>
              <a:t>A partir de la diapositive actuelle</a:t>
            </a:r>
          </a:p>
          <a:p>
            <a:r>
              <a:rPr lang="fr-FR" altLang="fr-FR" dirty="0"/>
              <a:t>Sous n'importe quelle version de </a:t>
            </a:r>
            <a:r>
              <a:rPr lang="fr-FR" altLang="fr-FR" dirty="0" err="1"/>
              <a:t>powerpoint</a:t>
            </a:r>
            <a:r>
              <a:rPr lang="fr-FR" altLang="fr-FR" dirty="0"/>
              <a:t>, le plus rapide est d'utiliser l'icône situé en bas de la fenêtre de </a:t>
            </a:r>
            <a:r>
              <a:rPr lang="fr-FR" altLang="fr-FR" dirty="0" err="1"/>
              <a:t>powerpoint</a:t>
            </a:r>
            <a:r>
              <a:rPr lang="fr-FR" altLang="fr-FR" dirty="0"/>
              <a:t> (à gauche ou à droite)</a:t>
            </a:r>
          </a:p>
          <a:p>
            <a:endParaRPr lang="fr-FR" altLang="fr-FR" dirty="0"/>
          </a:p>
          <a:p>
            <a:endParaRPr lang="fr-FR" altLang="fr-FR" dirty="0"/>
          </a:p>
          <a:p>
            <a:endParaRPr lang="fr-FR" altLang="fr-FR" dirty="0"/>
          </a:p>
          <a:p>
            <a:endParaRPr lang="fr-FR" altLang="fr-FR" dirty="0"/>
          </a:p>
          <a:p>
            <a:r>
              <a:rPr lang="fr-FR" altLang="fr-FR" dirty="0">
                <a:solidFill>
                  <a:srgbClr val="FF0000"/>
                </a:solidFill>
              </a:rPr>
              <a:t>Pour désactiver </a:t>
            </a:r>
            <a:r>
              <a:rPr lang="fr-FR" altLang="fr-FR" dirty="0"/>
              <a:t>le mode diaporama : </a:t>
            </a:r>
          </a:p>
          <a:p>
            <a:r>
              <a:rPr lang="fr-FR" altLang="fr-FR" dirty="0"/>
              <a:t>Il suffit d'appuyer sur le bouton "</a:t>
            </a:r>
            <a:r>
              <a:rPr lang="fr-FR" altLang="fr-FR" dirty="0" err="1">
                <a:solidFill>
                  <a:srgbClr val="FF0000"/>
                </a:solidFill>
              </a:rPr>
              <a:t>échap</a:t>
            </a:r>
            <a:r>
              <a:rPr lang="fr-FR" altLang="fr-FR" dirty="0"/>
              <a:t>"</a:t>
            </a:r>
          </a:p>
        </p:txBody>
      </p:sp>
      <p:pic>
        <p:nvPicPr>
          <p:cNvPr id="4100" name="Picture 2"/>
          <p:cNvPicPr>
            <a:picLocks noChangeAspect="1" noChangeArrowheads="1"/>
          </p:cNvPicPr>
          <p:nvPr/>
        </p:nvPicPr>
        <p:blipFill>
          <a:blip r:embed="rId3">
            <a:extLst>
              <a:ext uri="{28A0092B-C50C-407E-A947-70E740481C1C}">
                <a14:useLocalDpi xmlns:a14="http://schemas.microsoft.com/office/drawing/2010/main" val="0"/>
              </a:ext>
            </a:extLst>
          </a:blip>
          <a:srcRect l="81219" t="90047" r="1308" b="4501"/>
          <a:stretch>
            <a:fillRect/>
          </a:stretch>
        </p:blipFill>
        <p:spPr bwMode="auto">
          <a:xfrm>
            <a:off x="3206364" y="4364023"/>
            <a:ext cx="6235680" cy="1038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 name="Connecteur droit avec flèche 17"/>
          <p:cNvCxnSpPr/>
          <p:nvPr/>
        </p:nvCxnSpPr>
        <p:spPr>
          <a:xfrm flipH="1">
            <a:off x="5669519" y="3930155"/>
            <a:ext cx="2584850" cy="953242"/>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à coins arrondis 18"/>
          <p:cNvSpPr/>
          <p:nvPr/>
        </p:nvSpPr>
        <p:spPr>
          <a:xfrm>
            <a:off x="4797634" y="4745636"/>
            <a:ext cx="774839" cy="73472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9739" tIns="44870" rIns="89739" bIns="44870" anchor="ctr"/>
          <a:lstStyle/>
          <a:p>
            <a:pPr algn="ctr">
              <a:spcBef>
                <a:spcPct val="20000"/>
              </a:spcBef>
              <a:defRPr/>
            </a:pPr>
            <a:endParaRPr lang="fr-FR" dirty="0">
              <a:latin typeface="Calibri" pitchFamily="34" charset="0"/>
            </a:endParaRPr>
          </a:p>
        </p:txBody>
      </p:sp>
      <p:pic>
        <p:nvPicPr>
          <p:cNvPr id="9"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671248" y="45721"/>
            <a:ext cx="857246" cy="944890"/>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8" name="Espace réservé du pied de page 3"/>
          <p:cNvSpPr>
            <a:spLocks noGrp="1"/>
          </p:cNvSpPr>
          <p:nvPr>
            <p:ph type="ftr" sz="quarter" idx="10"/>
          </p:nvPr>
        </p:nvSpPr>
        <p:spPr bwMode="auto">
          <a:xfrm>
            <a:off x="0" y="6624638"/>
            <a:ext cx="5141913"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0"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6A2E20C-203A-45AC-81EE-6DDC779BB275}" type="slidenum">
              <a:rPr lang="fr-FR" altLang="fr-FR" smtClean="0">
                <a:latin typeface="Calibri" panose="020F0502020204030204" pitchFamily="34" charset="0"/>
              </a:rPr>
              <a:pPr>
                <a:spcBef>
                  <a:spcPct val="0"/>
                </a:spcBef>
                <a:buFontTx/>
                <a:buNone/>
              </a:pPr>
              <a:t>3</a:t>
            </a:fld>
            <a:endParaRPr lang="fr-FR" altLang="fr-FR" dirty="0">
              <a:latin typeface="Calibri" panose="020F0502020204030204" pitchFamily="34" charset="0"/>
            </a:endParaRPr>
          </a:p>
        </p:txBody>
      </p:sp>
    </p:spTree>
    <p:extLst>
      <p:ext uri="{BB962C8B-B14F-4D97-AF65-F5344CB8AC3E}">
        <p14:creationId xmlns:p14="http://schemas.microsoft.com/office/powerpoint/2010/main" val="4248438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6"/>
          <p:cNvSpPr>
            <a:spLocks noGrp="1" noChangeArrowheads="1"/>
          </p:cNvSpPr>
          <p:nvPr>
            <p:ph type="title"/>
          </p:nvPr>
        </p:nvSpPr>
        <p:spPr/>
        <p:txBody>
          <a:bodyPr/>
          <a:lstStyle/>
          <a:p>
            <a:r>
              <a:rPr lang="fr-FR" altLang="fr-FR" dirty="0"/>
              <a:t>Préambule 1/3</a:t>
            </a:r>
          </a:p>
        </p:txBody>
      </p:sp>
      <p:sp>
        <p:nvSpPr>
          <p:cNvPr id="6147" name="Rectangle 7"/>
          <p:cNvSpPr>
            <a:spLocks noGrp="1" noChangeArrowheads="1"/>
          </p:cNvSpPr>
          <p:nvPr>
            <p:ph type="body" idx="1"/>
          </p:nvPr>
        </p:nvSpPr>
        <p:spPr>
          <a:xfrm>
            <a:off x="288369" y="861401"/>
            <a:ext cx="8947071" cy="5583906"/>
          </a:xfrm>
        </p:spPr>
        <p:txBody>
          <a:bodyPr/>
          <a:lstStyle/>
          <a:p>
            <a:r>
              <a:rPr lang="fr-FR" dirty="0"/>
              <a:t>Dans le but de n'avoir qu'un seul document de travail, certaines des diapos</a:t>
            </a:r>
            <a:br>
              <a:rPr lang="fr-FR" dirty="0"/>
            </a:br>
            <a:r>
              <a:rPr lang="fr-FR" dirty="0"/>
              <a:t>du guide sont </a:t>
            </a:r>
            <a:r>
              <a:rPr lang="fr-FR" b="1" dirty="0">
                <a:solidFill>
                  <a:srgbClr val="27A8E0"/>
                </a:solidFill>
              </a:rPr>
              <a:t>destinées uniquement à l'animateur</a:t>
            </a:r>
            <a:r>
              <a:rPr lang="fr-FR" dirty="0"/>
              <a:t>, d'autres aux participants.</a:t>
            </a:r>
          </a:p>
          <a:p>
            <a:r>
              <a:rPr lang="fr-FR" dirty="0"/>
              <a:t>Les diapos de l'animateur sont signalées par cette image en haut à droite de la diapo : </a:t>
            </a:r>
          </a:p>
          <a:p>
            <a:r>
              <a:rPr lang="fr-FR" dirty="0"/>
              <a:t>Ces diapos devront demeurer </a:t>
            </a:r>
            <a:r>
              <a:rPr lang="fr-FR" b="1" dirty="0">
                <a:solidFill>
                  <a:srgbClr val="27A8E0"/>
                </a:solidFill>
              </a:rPr>
              <a:t>masquées</a:t>
            </a:r>
            <a:r>
              <a:rPr lang="fr-FR" dirty="0"/>
              <a:t> au moment de la projection.</a:t>
            </a:r>
          </a:p>
          <a:p>
            <a:r>
              <a:rPr lang="fr-FR" dirty="0"/>
              <a:t>Comment masquer une diapositive ? </a:t>
            </a:r>
          </a:p>
          <a:p>
            <a:pPr lvl="1"/>
            <a:r>
              <a:rPr lang="fr-FR" dirty="0"/>
              <a:t>Cliquer sur l'icône situé en bas de la fenêtre</a:t>
            </a:r>
            <a:br>
              <a:rPr lang="fr-FR" dirty="0"/>
            </a:br>
            <a:r>
              <a:rPr lang="fr-FR" dirty="0"/>
              <a:t>de </a:t>
            </a:r>
            <a:r>
              <a:rPr lang="fr-FR" dirty="0" err="1"/>
              <a:t>powerpoint</a:t>
            </a:r>
            <a:r>
              <a:rPr lang="fr-FR" dirty="0"/>
              <a:t> (à gauche ou à droite)</a:t>
            </a:r>
          </a:p>
          <a:p>
            <a:pPr lvl="1"/>
            <a:r>
              <a:rPr lang="fr-FR" dirty="0"/>
              <a:t>Puis clic droit sur la diapo à masquer</a:t>
            </a:r>
          </a:p>
          <a:p>
            <a:pPr lvl="1"/>
            <a:r>
              <a:rPr lang="fr-FR" dirty="0"/>
              <a:t>Et sélectionner "masquer la diapositive"</a:t>
            </a:r>
          </a:p>
          <a:p>
            <a:r>
              <a:rPr lang="fr-FR" dirty="0"/>
              <a:t>Comment "démasquer"</a:t>
            </a:r>
            <a:br>
              <a:rPr lang="fr-FR" dirty="0"/>
            </a:br>
            <a:r>
              <a:rPr lang="fr-FR" dirty="0"/>
              <a:t>une diapositive ? </a:t>
            </a:r>
          </a:p>
          <a:p>
            <a:pPr lvl="1"/>
            <a:r>
              <a:rPr lang="fr-FR" dirty="0"/>
              <a:t>Même procédure</a:t>
            </a:r>
          </a:p>
          <a:p>
            <a:endParaRPr lang="fr-FR" dirty="0"/>
          </a:p>
          <a:p>
            <a:r>
              <a:rPr lang="fr-FR" dirty="0"/>
              <a:t>Le fichier Powerpoint de ce dossier figure</a:t>
            </a:r>
            <a:br>
              <a:rPr lang="fr-FR" dirty="0"/>
            </a:br>
            <a:r>
              <a:rPr lang="fr-FR" dirty="0"/>
              <a:t>sur la </a:t>
            </a:r>
            <a:r>
              <a:rPr lang="fr-FR" b="1" dirty="0">
                <a:solidFill>
                  <a:srgbClr val="27A8E0"/>
                </a:solidFill>
              </a:rPr>
              <a:t>clé USB </a:t>
            </a:r>
            <a:r>
              <a:rPr lang="fr-FR" dirty="0"/>
              <a:t>sous le titre</a:t>
            </a:r>
            <a:br>
              <a:rPr lang="fr-FR" dirty="0"/>
            </a:br>
            <a:r>
              <a:rPr lang="fr-FR" dirty="0"/>
              <a:t>« Guide d'animation 1 - Préparation ».</a:t>
            </a:r>
          </a:p>
        </p:txBody>
      </p:sp>
      <p:pic>
        <p:nvPicPr>
          <p:cNvPr id="5125" name="Picture 2"/>
          <p:cNvPicPr>
            <a:picLocks noChangeAspect="1" noChangeArrowheads="1"/>
          </p:cNvPicPr>
          <p:nvPr/>
        </p:nvPicPr>
        <p:blipFill>
          <a:blip r:embed="rId3">
            <a:extLst>
              <a:ext uri="{28A0092B-C50C-407E-A947-70E740481C1C}">
                <a14:useLocalDpi xmlns:a14="http://schemas.microsoft.com/office/drawing/2010/main" val="0"/>
              </a:ext>
            </a:extLst>
          </a:blip>
          <a:srcRect l="65378" t="21690" r="7249" b="35704"/>
          <a:stretch>
            <a:fillRect/>
          </a:stretch>
        </p:blipFill>
        <p:spPr bwMode="auto">
          <a:xfrm>
            <a:off x="5312961" y="3779716"/>
            <a:ext cx="3274964" cy="2946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2"/>
          <p:cNvPicPr>
            <a:picLocks noChangeAspect="1" noChangeArrowheads="1"/>
          </p:cNvPicPr>
          <p:nvPr/>
        </p:nvPicPr>
        <p:blipFill>
          <a:blip r:embed="rId4">
            <a:extLst>
              <a:ext uri="{28A0092B-C50C-407E-A947-70E740481C1C}">
                <a14:useLocalDpi xmlns:a14="http://schemas.microsoft.com/office/drawing/2010/main" val="0"/>
              </a:ext>
            </a:extLst>
          </a:blip>
          <a:srcRect l="81729" t="89333" r="406" b="4561"/>
          <a:stretch>
            <a:fillRect/>
          </a:stretch>
        </p:blipFill>
        <p:spPr bwMode="auto">
          <a:xfrm>
            <a:off x="5501099" y="2692195"/>
            <a:ext cx="4026697" cy="796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Connecteur droit avec flèche 9"/>
          <p:cNvCxnSpPr/>
          <p:nvPr/>
        </p:nvCxnSpPr>
        <p:spPr>
          <a:xfrm flipV="1">
            <a:off x="4507107" y="3290743"/>
            <a:ext cx="1141873" cy="73788"/>
          </a:xfrm>
          <a:prstGeom prst="straightConnector1">
            <a:avLst/>
          </a:prstGeom>
          <a:ln w="5715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à coins arrondis 10"/>
          <p:cNvSpPr/>
          <p:nvPr/>
        </p:nvSpPr>
        <p:spPr>
          <a:xfrm>
            <a:off x="5776836" y="3057974"/>
            <a:ext cx="489858" cy="463954"/>
          </a:xfrm>
          <a:prstGeom prst="roundRect">
            <a:avLst/>
          </a:prstGeom>
          <a:noFill/>
          <a:ln w="571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lIns="89739" tIns="44870" rIns="89739" bIns="44870" anchor="ctr"/>
          <a:lstStyle/>
          <a:p>
            <a:pPr algn="ctr">
              <a:spcBef>
                <a:spcPct val="20000"/>
              </a:spcBef>
              <a:defRPr/>
            </a:pPr>
            <a:endParaRPr lang="fr-FR" dirty="0">
              <a:latin typeface="Calibri" pitchFamily="34" charset="0"/>
            </a:endParaRPr>
          </a:p>
        </p:txBody>
      </p:sp>
      <p:cxnSp>
        <p:nvCxnSpPr>
          <p:cNvPr id="19" name="Connecteur droit avec flèche 18"/>
          <p:cNvCxnSpPr/>
          <p:nvPr/>
        </p:nvCxnSpPr>
        <p:spPr>
          <a:xfrm>
            <a:off x="4400304" y="4205664"/>
            <a:ext cx="2161949" cy="2159837"/>
          </a:xfrm>
          <a:prstGeom prst="straightConnector1">
            <a:avLst/>
          </a:prstGeom>
          <a:ln w="5715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à coins arrondis 19"/>
          <p:cNvSpPr/>
          <p:nvPr/>
        </p:nvSpPr>
        <p:spPr>
          <a:xfrm>
            <a:off x="6656221" y="6216655"/>
            <a:ext cx="1919381" cy="463954"/>
          </a:xfrm>
          <a:prstGeom prst="roundRect">
            <a:avLst/>
          </a:prstGeom>
          <a:noFill/>
          <a:ln w="571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lIns="89739" tIns="44870" rIns="89739" bIns="44870" anchor="ctr"/>
          <a:lstStyle/>
          <a:p>
            <a:pPr algn="ctr">
              <a:spcBef>
                <a:spcPct val="20000"/>
              </a:spcBef>
              <a:defRPr/>
            </a:pPr>
            <a:endParaRPr lang="fr-FR" dirty="0">
              <a:latin typeface="Calibri" pitchFamily="34" charset="0"/>
            </a:endParaRPr>
          </a:p>
        </p:txBody>
      </p:sp>
      <p:sp>
        <p:nvSpPr>
          <p:cNvPr id="2" name="Flèche à angle droit 1"/>
          <p:cNvSpPr/>
          <p:nvPr/>
        </p:nvSpPr>
        <p:spPr bwMode="auto">
          <a:xfrm>
            <a:off x="8788720" y="1172370"/>
            <a:ext cx="622300" cy="772160"/>
          </a:xfrm>
          <a:prstGeom prst="bentUpArrow">
            <a:avLst>
              <a:gd name="adj1" fmla="val 16372"/>
              <a:gd name="adj2" fmla="val 25000"/>
              <a:gd name="adj3" fmla="val 25000"/>
            </a:avLst>
          </a:prstGeom>
          <a:solidFill>
            <a:srgbClr val="27A8E0"/>
          </a:solidFill>
          <a:ln w="9525"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2400" b="0" i="0" u="none" strike="noStrike" cap="none" normalizeH="0" baseline="0" dirty="0">
              <a:ln>
                <a:noFill/>
              </a:ln>
              <a:solidFill>
                <a:schemeClr val="tx1"/>
              </a:solidFill>
              <a:effectLst/>
              <a:latin typeface="Calibri" panose="020F0502020204030204" pitchFamily="34" charset="0"/>
            </a:endParaRPr>
          </a:p>
        </p:txBody>
      </p:sp>
      <p:pic>
        <p:nvPicPr>
          <p:cNvPr id="12" name="Picture 2" descr="C:\Users\BertrandS\Dropbox\Jeux\00. CONCEPTION DES JEUX\photos\Bureau Une Femme 29\iStock_000002139332_Medium ALLEGE.jpg"/>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671248" y="45721"/>
            <a:ext cx="857246" cy="944890"/>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13" name="Espace réservé du pied de page 3"/>
          <p:cNvSpPr>
            <a:spLocks noGrp="1"/>
          </p:cNvSpPr>
          <p:nvPr>
            <p:ph type="ftr" sz="quarter" idx="10"/>
          </p:nvPr>
        </p:nvSpPr>
        <p:spPr bwMode="auto">
          <a:xfrm>
            <a:off x="0" y="6624638"/>
            <a:ext cx="5141913"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6A2E20C-203A-45AC-81EE-6DDC779BB275}" type="slidenum">
              <a:rPr lang="fr-FR" altLang="fr-FR" smtClean="0">
                <a:latin typeface="Calibri" panose="020F0502020204030204" pitchFamily="34" charset="0"/>
              </a:rPr>
              <a:pPr>
                <a:spcBef>
                  <a:spcPct val="0"/>
                </a:spcBef>
                <a:buFontTx/>
                <a:buNone/>
              </a:pPr>
              <a:t>4</a:t>
            </a:fld>
            <a:endParaRPr lang="fr-FR" altLang="fr-FR" dirty="0">
              <a:latin typeface="Calibri" panose="020F0502020204030204" pitchFamily="34" charset="0"/>
            </a:endParaRPr>
          </a:p>
        </p:txBody>
      </p:sp>
    </p:spTree>
    <p:extLst>
      <p:ext uri="{BB962C8B-B14F-4D97-AF65-F5344CB8AC3E}">
        <p14:creationId xmlns:p14="http://schemas.microsoft.com/office/powerpoint/2010/main" val="2024138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6"/>
          <p:cNvSpPr>
            <a:spLocks noGrp="1" noChangeArrowheads="1"/>
          </p:cNvSpPr>
          <p:nvPr>
            <p:ph type="title"/>
          </p:nvPr>
        </p:nvSpPr>
        <p:spPr/>
        <p:txBody>
          <a:bodyPr/>
          <a:lstStyle/>
          <a:p>
            <a:r>
              <a:rPr lang="fr-FR" altLang="fr-FR" dirty="0"/>
              <a:t>Préambule 2/3</a:t>
            </a:r>
          </a:p>
        </p:txBody>
      </p:sp>
      <p:sp>
        <p:nvSpPr>
          <p:cNvPr id="6147" name="Rectangle 7"/>
          <p:cNvSpPr>
            <a:spLocks noGrp="1" noChangeArrowheads="1"/>
          </p:cNvSpPr>
          <p:nvPr>
            <p:ph type="body" idx="1"/>
          </p:nvPr>
        </p:nvSpPr>
        <p:spPr>
          <a:xfrm>
            <a:off x="236538" y="957580"/>
            <a:ext cx="9137650" cy="5538788"/>
          </a:xfrm>
        </p:spPr>
        <p:txBody>
          <a:bodyPr/>
          <a:lstStyle/>
          <a:p>
            <a:r>
              <a:rPr lang="fr-FR" altLang="fr-FR" dirty="0"/>
              <a:t>« Horizon, le jeu des projets » est un package destiné à être animé par un animateur non forcément spécialiste de la formation. Ceci étant, plus l'animateur sera rompu au Lean </a:t>
            </a:r>
            <a:r>
              <a:rPr lang="fr-FR" altLang="fr-FR" dirty="0" err="1"/>
              <a:t>Manufacturing</a:t>
            </a:r>
            <a:r>
              <a:rPr lang="fr-FR" altLang="fr-FR" dirty="0"/>
              <a:t>, plus il tirera profit de ce support pédagogique.</a:t>
            </a:r>
          </a:p>
          <a:p>
            <a:endParaRPr lang="fr-FR" altLang="fr-FR" dirty="0"/>
          </a:p>
          <a:p>
            <a:r>
              <a:rPr lang="fr-FR" altLang="fr-FR" dirty="0"/>
              <a:t>Par ailleurs, certaines diapos sont accompagnées de </a:t>
            </a:r>
            <a:r>
              <a:rPr lang="fr-FR" altLang="fr-FR" b="1" dirty="0">
                <a:solidFill>
                  <a:srgbClr val="27A8E0"/>
                </a:solidFill>
              </a:rPr>
              <a:t>commentaires</a:t>
            </a:r>
            <a:r>
              <a:rPr lang="fr-FR" altLang="fr-FR" dirty="0"/>
              <a:t> pour l'animateur (ils sont </a:t>
            </a:r>
            <a:r>
              <a:rPr lang="fr-FR" altLang="fr-FR" b="1" dirty="0">
                <a:solidFill>
                  <a:srgbClr val="27A8E0"/>
                </a:solidFill>
              </a:rPr>
              <a:t>sous la diapo</a:t>
            </a:r>
            <a:r>
              <a:rPr lang="fr-FR" altLang="fr-FR" dirty="0"/>
              <a:t>, pour les voir il faut tirer avec la souris le trait supérieur de la barre d'outil en bas de l'écran).</a:t>
            </a:r>
          </a:p>
          <a:p>
            <a:endParaRPr lang="fr-FR" altLang="fr-FR" dirty="0"/>
          </a:p>
          <a:p>
            <a:r>
              <a:rPr lang="fr-FR" altLang="fr-FR" dirty="0"/>
              <a:t>Ce document doit néanmoins faire l'objet d'une appropriation par chaque animateur. Il peut donc, avant la première session et surtout pendant ou à la suite de chacune d'entre elles, y insérer ses commentaires particuliers : </a:t>
            </a:r>
          </a:p>
          <a:p>
            <a:pPr lvl="1"/>
            <a:r>
              <a:rPr lang="fr-FR" altLang="fr-FR" sz="1600" dirty="0"/>
              <a:t>L'adaptation au contexte de l'entreprise</a:t>
            </a:r>
          </a:p>
          <a:p>
            <a:pPr lvl="1"/>
            <a:r>
              <a:rPr lang="fr-FR" altLang="fr-FR" sz="1600" dirty="0"/>
              <a:t>Une manière personnelle d'introduire ou d'expliquer un concept</a:t>
            </a:r>
          </a:p>
          <a:p>
            <a:pPr lvl="1"/>
            <a:r>
              <a:rPr lang="fr-FR" altLang="fr-FR" sz="1600" dirty="0"/>
              <a:t>Un changement dans le chronométrage prévu à l'origine</a:t>
            </a:r>
          </a:p>
          <a:p>
            <a:pPr lvl="1"/>
            <a:r>
              <a:rPr lang="fr-FR" altLang="fr-FR" sz="1600" dirty="0"/>
              <a:t>L'introduction d'un concept qui n'est pas traité dans la pédagogie présentée</a:t>
            </a:r>
          </a:p>
          <a:p>
            <a:r>
              <a:rPr lang="fr-FR" altLang="fr-FR" dirty="0"/>
              <a:t>Il devra alors s'assurer du </a:t>
            </a:r>
            <a:r>
              <a:rPr lang="fr-FR" altLang="fr-FR" b="1" dirty="0">
                <a:solidFill>
                  <a:srgbClr val="27A8E0"/>
                </a:solidFill>
              </a:rPr>
              <a:t>respect du timing </a:t>
            </a:r>
            <a:r>
              <a:rPr lang="fr-FR" altLang="fr-FR" dirty="0"/>
              <a:t>de la formation.</a:t>
            </a: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671248" y="45721"/>
            <a:ext cx="857246" cy="944890"/>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7" name="Espace réservé du pied de page 3"/>
          <p:cNvSpPr>
            <a:spLocks noGrp="1"/>
          </p:cNvSpPr>
          <p:nvPr>
            <p:ph type="ftr" sz="quarter" idx="10"/>
          </p:nvPr>
        </p:nvSpPr>
        <p:spPr bwMode="auto">
          <a:xfrm>
            <a:off x="0" y="6624638"/>
            <a:ext cx="5141913"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9"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6A2E20C-203A-45AC-81EE-6DDC779BB275}" type="slidenum">
              <a:rPr lang="fr-FR" altLang="fr-FR" smtClean="0">
                <a:latin typeface="Calibri" panose="020F0502020204030204" pitchFamily="34" charset="0"/>
              </a:rPr>
              <a:pPr>
                <a:spcBef>
                  <a:spcPct val="0"/>
                </a:spcBef>
                <a:buFontTx/>
                <a:buNone/>
              </a:pPr>
              <a:t>5</a:t>
            </a:fld>
            <a:endParaRPr lang="fr-FR" altLang="fr-FR" dirty="0">
              <a:latin typeface="Calibri" panose="020F0502020204030204" pitchFamily="34" charset="0"/>
            </a:endParaRPr>
          </a:p>
        </p:txBody>
      </p:sp>
      <p:pic>
        <p:nvPicPr>
          <p:cNvPr id="10" name="Picture 2" descr="C:\Users\Bertrand\Desktop\logos\Lean manufacturing_300dpi.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71407" y="4800600"/>
            <a:ext cx="2015573" cy="151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79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fr-FR" dirty="0"/>
              <a:t>Préambule 3/3</a:t>
            </a:r>
          </a:p>
        </p:txBody>
      </p:sp>
      <p:sp>
        <p:nvSpPr>
          <p:cNvPr id="13317" name="Rectangle 7"/>
          <p:cNvSpPr>
            <a:spLocks noGrp="1" noChangeArrowheads="1"/>
          </p:cNvSpPr>
          <p:nvPr>
            <p:ph type="body" idx="1"/>
          </p:nvPr>
        </p:nvSpPr>
        <p:spPr/>
        <p:txBody>
          <a:bodyPr/>
          <a:lstStyle/>
          <a:p>
            <a:endParaRPr lang="fr-FR" dirty="0"/>
          </a:p>
          <a:p>
            <a:endParaRPr lang="fr-FR" dirty="0"/>
          </a:p>
          <a:p>
            <a:r>
              <a:rPr lang="fr-FR" dirty="0"/>
              <a:t>Pour améliorer sans cesse </a:t>
            </a:r>
            <a:r>
              <a:rPr lang="fr-FR" altLang="fr-FR" dirty="0"/>
              <a:t>Le jeu du Lean </a:t>
            </a:r>
            <a:r>
              <a:rPr lang="fr-FR" altLang="fr-FR" dirty="0" err="1"/>
              <a:t>Manufacturing</a:t>
            </a:r>
            <a:r>
              <a:rPr lang="fr-FR" altLang="fr-FR" baseline="30000" dirty="0"/>
              <a:t>®</a:t>
            </a:r>
            <a:r>
              <a:rPr lang="fr-FR" dirty="0"/>
              <a:t>, nous effectuons régulièrement des mises à jour.</a:t>
            </a:r>
          </a:p>
          <a:p>
            <a:endParaRPr lang="fr-FR" dirty="0"/>
          </a:p>
          <a:p>
            <a:r>
              <a:rPr lang="fr-FR" dirty="0"/>
              <a:t>Afin de faire tourner cette roue du progrès nous vous serions reconnaissants de nous transmettre vos questions, observations ou propositions d'amélioration. Nous ne manquerons pas de répondre à tous vos envois.</a:t>
            </a:r>
          </a:p>
          <a:p>
            <a:endParaRPr lang="fr-FR" dirty="0"/>
          </a:p>
          <a:p>
            <a:r>
              <a:rPr lang="fr-FR" dirty="0"/>
              <a:t>Merci d'adresser un mail à </a:t>
            </a:r>
            <a:r>
              <a:rPr lang="fr-FR" b="1" dirty="0">
                <a:solidFill>
                  <a:srgbClr val="27A8E0"/>
                </a:solidFill>
              </a:rPr>
              <a:t>nadia.gharbi@cipe.fr</a:t>
            </a:r>
            <a:r>
              <a:rPr lang="fr-FR" dirty="0"/>
              <a:t> qui transmettra aux concepteurs du Jeu.</a:t>
            </a:r>
          </a:p>
          <a:p>
            <a:endParaRPr lang="fr-FR" dirty="0"/>
          </a:p>
          <a:p>
            <a:pPr marL="0" indent="0">
              <a:buNone/>
            </a:pPr>
            <a:r>
              <a:rPr lang="fr-FR" i="1" dirty="0"/>
              <a:t>	Nous vous remercions d'avance de votre collaboration.</a:t>
            </a:r>
          </a:p>
          <a:p>
            <a:endParaRPr lang="fr-FR" dirty="0"/>
          </a:p>
          <a:p>
            <a:pPr marL="0" indent="0">
              <a:buNone/>
            </a:pPr>
            <a:r>
              <a:rPr lang="fr-FR" dirty="0"/>
              <a:t>	L'équipe de conception du CIPE</a:t>
            </a:r>
          </a:p>
        </p:txBody>
      </p:sp>
      <p:pic>
        <p:nvPicPr>
          <p:cNvPr id="6"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671248" y="45721"/>
            <a:ext cx="857246" cy="944890"/>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5" name="Espace réservé du pied de page 3"/>
          <p:cNvSpPr>
            <a:spLocks noGrp="1"/>
          </p:cNvSpPr>
          <p:nvPr>
            <p:ph type="ftr" sz="quarter" idx="10"/>
          </p:nvPr>
        </p:nvSpPr>
        <p:spPr bwMode="auto">
          <a:xfrm>
            <a:off x="0" y="6624638"/>
            <a:ext cx="5141913"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7"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6A2E20C-203A-45AC-81EE-6DDC779BB275}" type="slidenum">
              <a:rPr lang="fr-FR" altLang="fr-FR" smtClean="0">
                <a:latin typeface="Calibri" panose="020F0502020204030204" pitchFamily="34" charset="0"/>
              </a:rPr>
              <a:pPr>
                <a:spcBef>
                  <a:spcPct val="0"/>
                </a:spcBef>
                <a:buFontTx/>
                <a:buNone/>
              </a:pPr>
              <a:t>6</a:t>
            </a:fld>
            <a:endParaRPr lang="fr-FR" altLang="fr-FR" dirty="0">
              <a:latin typeface="Calibri" panose="020F0502020204030204" pitchFamily="34" charset="0"/>
            </a:endParaRPr>
          </a:p>
        </p:txBody>
      </p:sp>
    </p:spTree>
    <p:extLst>
      <p:ext uri="{BB962C8B-B14F-4D97-AF65-F5344CB8AC3E}">
        <p14:creationId xmlns:p14="http://schemas.microsoft.com/office/powerpoint/2010/main" val="155172509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fr-FR" altLang="fr-FR" dirty="0"/>
              <a:t>Sommaire du diaporama</a:t>
            </a:r>
          </a:p>
        </p:txBody>
      </p:sp>
      <p:sp>
        <p:nvSpPr>
          <p:cNvPr id="23566" name="Espace réservé du numéro de diapositive 30"/>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720E5AB-77EE-486D-95C8-B62D00467AF5}" type="slidenum">
              <a:rPr lang="fr-FR" altLang="fr-FR" smtClean="0">
                <a:latin typeface="Calibri" panose="020F0502020204030204" pitchFamily="34" charset="0"/>
              </a:rPr>
              <a:pPr>
                <a:spcBef>
                  <a:spcPct val="0"/>
                </a:spcBef>
                <a:buFontTx/>
                <a:buNone/>
              </a:pPr>
              <a:t>7</a:t>
            </a:fld>
            <a:endParaRPr lang="fr-FR" altLang="fr-FR" dirty="0">
              <a:latin typeface="Calibri" panose="020F0502020204030204" pitchFamily="34" charset="0"/>
            </a:endParaRPr>
          </a:p>
        </p:txBody>
      </p:sp>
      <p:sp>
        <p:nvSpPr>
          <p:cNvPr id="23567" name="Espace réservé du pied de page 3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41" name="Rectangle 3"/>
          <p:cNvSpPr txBox="1">
            <a:spLocks noChangeArrowheads="1"/>
          </p:cNvSpPr>
          <p:nvPr/>
        </p:nvSpPr>
        <p:spPr>
          <a:xfrm>
            <a:off x="1577446" y="572982"/>
            <a:ext cx="6093354" cy="5843587"/>
          </a:xfrm>
          <a:prstGeom prst="rect">
            <a:avLst/>
          </a:prstGeom>
        </p:spPr>
        <p:txBody>
          <a:bodyPr lIns="92109" tIns="46053" rIns="92109" bIns="46053"/>
          <a:lstStyle/>
          <a:p>
            <a:pPr marL="4060102" lvl="4" indent="4798" eaLnBrk="1" fontAlgn="auto" hangingPunct="1">
              <a:lnSpc>
                <a:spcPts val="2216"/>
              </a:lnSpc>
              <a:spcBef>
                <a:spcPct val="20000"/>
              </a:spcBef>
              <a:spcAft>
                <a:spcPts val="0"/>
              </a:spcAft>
              <a:tabLst>
                <a:tab pos="5562600" algn="r"/>
              </a:tabLst>
              <a:defRPr/>
            </a:pPr>
            <a:r>
              <a:rPr lang="fr-FR" sz="1800" dirty="0">
                <a:solidFill>
                  <a:schemeClr val="tx1">
                    <a:lumMod val="65000"/>
                    <a:lumOff val="35000"/>
                  </a:schemeClr>
                </a:solidFill>
                <a:latin typeface="Calibri" panose="020F0502020204030204" pitchFamily="34" charset="0"/>
                <a:cs typeface="Arial" pitchFamily="34" charset="0"/>
              </a:rPr>
              <a:t>	page</a:t>
            </a:r>
          </a:p>
          <a:p>
            <a:pPr defTabSz="921079" eaLnBrk="1" fontAlgn="auto" hangingPunct="1">
              <a:lnSpc>
                <a:spcPts val="2216"/>
              </a:lnSpc>
              <a:spcBef>
                <a:spcPct val="20000"/>
              </a:spcBef>
              <a:spcAft>
                <a:spcPts val="0"/>
              </a:spcAft>
              <a:tabLst>
                <a:tab pos="5384800" algn="r"/>
              </a:tabLst>
              <a:defRPr/>
            </a:pPr>
            <a:r>
              <a:rPr lang="fr-FR" sz="1800" b="1" dirty="0">
                <a:solidFill>
                  <a:schemeClr val="tx1">
                    <a:lumMod val="65000"/>
                    <a:lumOff val="35000"/>
                  </a:schemeClr>
                </a:solidFill>
                <a:latin typeface="Calibri" panose="020F0502020204030204" pitchFamily="34" charset="0"/>
                <a:cs typeface="Arial" pitchFamily="34" charset="0"/>
              </a:rPr>
              <a:t>Partie destinée à l’animateur	9</a:t>
            </a:r>
          </a:p>
          <a:p>
            <a:pPr marL="748376" lvl="1" indent="-287837" eaLnBrk="1" fontAlgn="auto" hangingPunct="1">
              <a:lnSpc>
                <a:spcPts val="2216"/>
              </a:lnSpc>
              <a:spcBef>
                <a:spcPct val="20000"/>
              </a:spcBef>
              <a:spcAft>
                <a:spcPts val="0"/>
              </a:spcAft>
              <a:buFont typeface="Arial" pitchFamily="34" charset="0"/>
              <a:buChar char="–"/>
              <a:tabLst>
                <a:tab pos="5384800" algn="r"/>
              </a:tabLst>
              <a:defRPr/>
            </a:pPr>
            <a:r>
              <a:rPr lang="fr-FR" sz="1600" dirty="0">
                <a:solidFill>
                  <a:schemeClr val="tx1">
                    <a:lumMod val="65000"/>
                    <a:lumOff val="35000"/>
                  </a:schemeClr>
                </a:solidFill>
                <a:latin typeface="Calibri" panose="020F0502020204030204" pitchFamily="34" charset="0"/>
                <a:cs typeface="Arial" pitchFamily="34" charset="0"/>
              </a:rPr>
              <a:t>Check List du matériel	10</a:t>
            </a:r>
          </a:p>
          <a:p>
            <a:pPr marL="748376" lvl="1" indent="-287837" defTabSz="921079" eaLnBrk="1" fontAlgn="auto" hangingPunct="1">
              <a:lnSpc>
                <a:spcPts val="2216"/>
              </a:lnSpc>
              <a:spcBef>
                <a:spcPct val="20000"/>
              </a:spcBef>
              <a:spcAft>
                <a:spcPts val="0"/>
              </a:spcAft>
              <a:buFont typeface="Arial" pitchFamily="34" charset="0"/>
              <a:buChar char="–"/>
              <a:tabLst>
                <a:tab pos="5384800" algn="r"/>
              </a:tabLst>
              <a:defRPr/>
            </a:pPr>
            <a:r>
              <a:rPr lang="fr-FR" sz="1600" dirty="0">
                <a:solidFill>
                  <a:schemeClr val="tx1">
                    <a:lumMod val="65000"/>
                    <a:lumOff val="35000"/>
                  </a:schemeClr>
                </a:solidFill>
                <a:latin typeface="Calibri" panose="020F0502020204030204" pitchFamily="34" charset="0"/>
                <a:cs typeface="Arial" pitchFamily="34" charset="0"/>
              </a:rPr>
              <a:t>Objectif du Jeu	13</a:t>
            </a:r>
          </a:p>
          <a:p>
            <a:pPr marL="748376" lvl="1" indent="-287837" defTabSz="921079" eaLnBrk="1" fontAlgn="auto" hangingPunct="1">
              <a:lnSpc>
                <a:spcPts val="2216"/>
              </a:lnSpc>
              <a:spcBef>
                <a:spcPct val="20000"/>
              </a:spcBef>
              <a:spcAft>
                <a:spcPts val="0"/>
              </a:spcAft>
              <a:buFont typeface="Arial" pitchFamily="34" charset="0"/>
              <a:buChar char="–"/>
              <a:tabLst>
                <a:tab pos="5384800" algn="r"/>
              </a:tabLst>
              <a:defRPr/>
            </a:pPr>
            <a:r>
              <a:rPr lang="fr-FR" sz="1600" dirty="0">
                <a:solidFill>
                  <a:schemeClr val="tx1">
                    <a:lumMod val="65000"/>
                    <a:lumOff val="35000"/>
                  </a:schemeClr>
                </a:solidFill>
                <a:latin typeface="Calibri" panose="020F0502020204030204" pitchFamily="34" charset="0"/>
                <a:cs typeface="Arial" pitchFamily="34" charset="0"/>
              </a:rPr>
              <a:t>Vue d’ensemble de la simulation	14</a:t>
            </a:r>
          </a:p>
          <a:p>
            <a:pPr marL="748376" lvl="1" indent="-287837" defTabSz="921079" eaLnBrk="1" fontAlgn="auto" hangingPunct="1">
              <a:lnSpc>
                <a:spcPts val="2216"/>
              </a:lnSpc>
              <a:spcBef>
                <a:spcPct val="20000"/>
              </a:spcBef>
              <a:spcAft>
                <a:spcPts val="0"/>
              </a:spcAft>
              <a:buFont typeface="Arial" pitchFamily="34" charset="0"/>
              <a:buChar char="–"/>
              <a:tabLst>
                <a:tab pos="5384800" algn="r"/>
              </a:tabLst>
              <a:defRPr/>
            </a:pPr>
            <a:r>
              <a:rPr lang="fr-FR" sz="1600" dirty="0">
                <a:solidFill>
                  <a:schemeClr val="tx1">
                    <a:lumMod val="65000"/>
                    <a:lumOff val="35000"/>
                  </a:schemeClr>
                </a:solidFill>
                <a:latin typeface="Calibri" panose="020F0502020204030204" pitchFamily="34" charset="0"/>
                <a:cs typeface="Arial" pitchFamily="34" charset="0"/>
              </a:rPr>
              <a:t>Les participants	16</a:t>
            </a:r>
          </a:p>
          <a:p>
            <a:pPr marL="748376" lvl="1" indent="-287837" eaLnBrk="1" fontAlgn="auto" hangingPunct="1">
              <a:lnSpc>
                <a:spcPts val="2216"/>
              </a:lnSpc>
              <a:spcBef>
                <a:spcPct val="20000"/>
              </a:spcBef>
              <a:spcAft>
                <a:spcPts val="0"/>
              </a:spcAft>
              <a:buFont typeface="Arial" pitchFamily="34" charset="0"/>
              <a:buChar char="–"/>
              <a:tabLst>
                <a:tab pos="5384800" algn="r"/>
              </a:tabLst>
              <a:defRPr/>
            </a:pPr>
            <a:r>
              <a:rPr lang="fr-FR" sz="1600" dirty="0">
                <a:solidFill>
                  <a:schemeClr val="tx1">
                    <a:lumMod val="65000"/>
                    <a:lumOff val="35000"/>
                  </a:schemeClr>
                </a:solidFill>
                <a:latin typeface="Calibri" panose="020F0502020204030204" pitchFamily="34" charset="0"/>
                <a:cs typeface="Arial" pitchFamily="34" charset="0"/>
              </a:rPr>
              <a:t>L’ aménagement de la salle	19</a:t>
            </a:r>
          </a:p>
          <a:p>
            <a:pPr defTabSz="921079" eaLnBrk="1" fontAlgn="auto" hangingPunct="1">
              <a:lnSpc>
                <a:spcPts val="2216"/>
              </a:lnSpc>
              <a:spcBef>
                <a:spcPct val="20000"/>
              </a:spcBef>
              <a:spcAft>
                <a:spcPts val="0"/>
              </a:spcAft>
              <a:tabLst>
                <a:tab pos="5384800" algn="r"/>
              </a:tabLst>
              <a:defRPr/>
            </a:pPr>
            <a:endParaRPr lang="fr-FR" sz="1800" b="1" dirty="0">
              <a:solidFill>
                <a:schemeClr val="tx1">
                  <a:lumMod val="65000"/>
                  <a:lumOff val="35000"/>
                </a:schemeClr>
              </a:solidFill>
              <a:latin typeface="Calibri" panose="020F0502020204030204" pitchFamily="34" charset="0"/>
              <a:cs typeface="Arial" pitchFamily="34" charset="0"/>
            </a:endParaRPr>
          </a:p>
          <a:p>
            <a:pPr defTabSz="921079" eaLnBrk="1" fontAlgn="auto" hangingPunct="1">
              <a:lnSpc>
                <a:spcPts val="2216"/>
              </a:lnSpc>
              <a:spcBef>
                <a:spcPct val="20000"/>
              </a:spcBef>
              <a:spcAft>
                <a:spcPts val="0"/>
              </a:spcAft>
              <a:tabLst>
                <a:tab pos="5384800" algn="r"/>
              </a:tabLst>
              <a:defRPr/>
            </a:pPr>
            <a:r>
              <a:rPr lang="fr-FR" sz="1800" b="1" dirty="0">
                <a:solidFill>
                  <a:schemeClr val="tx1">
                    <a:lumMod val="65000"/>
                    <a:lumOff val="35000"/>
                  </a:schemeClr>
                </a:solidFill>
                <a:latin typeface="Calibri" panose="020F0502020204030204" pitchFamily="34" charset="0"/>
                <a:cs typeface="Arial" pitchFamily="34" charset="0"/>
              </a:rPr>
              <a:t>Présentation de l’entreprise	23</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1. Simulation n°1	42</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2. La mesure	46</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3. L’analyse	52</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4. Les améliorations	66</a:t>
            </a:r>
          </a:p>
          <a:p>
            <a:pPr marL="805944" lvl="1" indent="-345404" eaLnBrk="1" fontAlgn="auto" hangingPunct="1">
              <a:lnSpc>
                <a:spcPts val="2216"/>
              </a:lnSpc>
              <a:spcBef>
                <a:spcPct val="20000"/>
              </a:spcBef>
              <a:spcAft>
                <a:spcPts val="0"/>
              </a:spcAft>
              <a:buFont typeface="Arial" pitchFamily="34" charset="0"/>
              <a:buChar char="-"/>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Commentaires sur les projets	89</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5. Simulation n°2	103</a:t>
            </a:r>
          </a:p>
          <a:p>
            <a:pPr marL="805944" lvl="1" indent="-345404" eaLnBrk="1" fontAlgn="auto" hangingPunct="1">
              <a:lnSpc>
                <a:spcPts val="2216"/>
              </a:lnSpc>
              <a:spcBef>
                <a:spcPct val="20000"/>
              </a:spcBef>
              <a:spcAft>
                <a:spcPts val="0"/>
              </a:spcAft>
              <a:buFont typeface="Arial" pitchFamily="34" charset="0"/>
              <a:buChar char="-"/>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Lancement de la simulation n°2.	111</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Synthèse	117</a:t>
            </a:r>
          </a:p>
          <a:p>
            <a:pPr defTabSz="921079" eaLnBrk="1" fontAlgn="auto" hangingPunct="1">
              <a:lnSpc>
                <a:spcPts val="2216"/>
              </a:lnSpc>
              <a:spcBef>
                <a:spcPct val="20000"/>
              </a:spcBef>
              <a:spcAft>
                <a:spcPts val="0"/>
              </a:spcAft>
              <a:tabLst>
                <a:tab pos="5384800" algn="r"/>
              </a:tabLst>
              <a:defRPr/>
            </a:pPr>
            <a:r>
              <a:rPr lang="fr-FR" sz="1800" dirty="0">
                <a:solidFill>
                  <a:schemeClr val="tx1">
                    <a:lumMod val="65000"/>
                    <a:lumOff val="35000"/>
                  </a:schemeClr>
                </a:solidFill>
                <a:latin typeface="Calibri" panose="020F0502020204030204" pitchFamily="34" charset="0"/>
                <a:cs typeface="Arial" pitchFamily="34" charset="0"/>
              </a:rPr>
              <a:t>Quiz de validation	119</a:t>
            </a:r>
          </a:p>
        </p:txBody>
      </p:sp>
      <p:pic>
        <p:nvPicPr>
          <p:cNvPr id="7"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671248" y="45721"/>
            <a:ext cx="857246" cy="944890"/>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fr-FR" altLang="fr-FR"/>
              <a:t>Préambule</a:t>
            </a:r>
          </a:p>
        </p:txBody>
      </p:sp>
      <p:sp>
        <p:nvSpPr>
          <p:cNvPr id="25603" name="Rectangle 3"/>
          <p:cNvSpPr>
            <a:spLocks noGrp="1" noChangeArrowheads="1"/>
          </p:cNvSpPr>
          <p:nvPr>
            <p:ph type="body" idx="1"/>
          </p:nvPr>
        </p:nvSpPr>
        <p:spPr>
          <a:xfrm>
            <a:off x="515938" y="1050925"/>
            <a:ext cx="7591425" cy="3163888"/>
          </a:xfrm>
        </p:spPr>
        <p:txBody>
          <a:bodyPr/>
          <a:lstStyle/>
          <a:p>
            <a:pPr eaLnBrk="1" hangingPunct="1">
              <a:buFont typeface="Wingdings" panose="05000000000000000000" pitchFamily="2" charset="2"/>
              <a:buChar char="Ø"/>
            </a:pPr>
            <a:r>
              <a:rPr lang="fr-FR" altLang="fr-FR" dirty="0"/>
              <a:t>Certaines des diapos du Guide sont destinées à </a:t>
            </a:r>
            <a:r>
              <a:rPr lang="fr-FR" altLang="fr-FR" dirty="0">
                <a:solidFill>
                  <a:srgbClr val="FF3300"/>
                </a:solidFill>
              </a:rPr>
              <a:t>l’animateur</a:t>
            </a:r>
            <a:r>
              <a:rPr lang="fr-FR" altLang="fr-FR" dirty="0"/>
              <a:t>, d’autres aux </a:t>
            </a:r>
            <a:r>
              <a:rPr lang="fr-FR" altLang="fr-FR" dirty="0">
                <a:solidFill>
                  <a:srgbClr val="FF3300"/>
                </a:solidFill>
              </a:rPr>
              <a:t>participants</a:t>
            </a:r>
            <a:r>
              <a:rPr lang="fr-FR" altLang="fr-FR" dirty="0"/>
              <a:t>. </a:t>
            </a:r>
          </a:p>
          <a:p>
            <a:pPr eaLnBrk="1" hangingPunct="1">
              <a:buFont typeface="Wingdings" panose="05000000000000000000" pitchFamily="2" charset="2"/>
              <a:buChar char="Ø"/>
            </a:pPr>
            <a:endParaRPr lang="fr-FR" altLang="fr-FR" dirty="0"/>
          </a:p>
          <a:p>
            <a:pPr eaLnBrk="1" hangingPunct="1">
              <a:buFont typeface="Wingdings" panose="05000000000000000000" pitchFamily="2" charset="2"/>
              <a:buChar char="Ø"/>
            </a:pPr>
            <a:r>
              <a:rPr lang="fr-FR" altLang="fr-FR" dirty="0"/>
              <a:t>Les diapos de l’animateur sont signalées par le logo ci-contre.</a:t>
            </a:r>
            <a:br>
              <a:rPr lang="fr-FR" altLang="fr-FR" dirty="0"/>
            </a:br>
            <a:r>
              <a:rPr lang="fr-FR" altLang="fr-FR" dirty="0"/>
              <a:t>Elles devront être </a:t>
            </a:r>
            <a:r>
              <a:rPr lang="fr-FR" altLang="fr-FR" dirty="0">
                <a:solidFill>
                  <a:srgbClr val="FF3300"/>
                </a:solidFill>
              </a:rPr>
              <a:t>masquées</a:t>
            </a:r>
            <a:r>
              <a:rPr lang="fr-FR" altLang="fr-FR" dirty="0"/>
              <a:t> au moment de la projection</a:t>
            </a:r>
            <a:br>
              <a:rPr lang="fr-FR" altLang="fr-FR" dirty="0"/>
            </a:br>
            <a:r>
              <a:rPr lang="fr-FR" altLang="fr-FR" sz="1400" i="1" dirty="0"/>
              <a:t>(diaporama / masquer la diapositive)</a:t>
            </a:r>
            <a:r>
              <a:rPr lang="fr-FR" altLang="fr-FR" dirty="0"/>
              <a:t>.</a:t>
            </a:r>
          </a:p>
          <a:p>
            <a:pPr eaLnBrk="1" hangingPunct="1">
              <a:buFont typeface="Wingdings" panose="05000000000000000000" pitchFamily="2" charset="2"/>
              <a:buChar char="Ø"/>
            </a:pPr>
            <a:endParaRPr lang="fr-FR" altLang="fr-FR" dirty="0"/>
          </a:p>
          <a:p>
            <a:pPr eaLnBrk="1" hangingPunct="1">
              <a:lnSpc>
                <a:spcPct val="110000"/>
              </a:lnSpc>
              <a:buFont typeface="Wingdings" panose="05000000000000000000" pitchFamily="2" charset="2"/>
              <a:buChar char="Ø"/>
            </a:pPr>
            <a:r>
              <a:rPr lang="fr-FR" altLang="fr-FR" dirty="0"/>
              <a:t>Le fichier Powerpoint de ce dossier figure sur la </a:t>
            </a:r>
            <a:r>
              <a:rPr lang="fr-FR" altLang="fr-FR" dirty="0">
                <a:solidFill>
                  <a:srgbClr val="FF3300"/>
                </a:solidFill>
              </a:rPr>
              <a:t>Clé USB</a:t>
            </a:r>
            <a:r>
              <a:rPr lang="fr-FR" altLang="fr-FR" dirty="0"/>
              <a:t> sous le titre « Guide d’animation ».</a:t>
            </a:r>
          </a:p>
        </p:txBody>
      </p:sp>
      <p:sp>
        <p:nvSpPr>
          <p:cNvPr id="25607" name="Espace réservé du numéro de diapositive 10"/>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33DB263-7077-4F8F-92CA-6B59B143E73B}" type="slidenum">
              <a:rPr lang="fr-FR" altLang="fr-FR" smtClean="0">
                <a:latin typeface="Calibri" panose="020F0502020204030204" pitchFamily="34" charset="0"/>
              </a:rPr>
              <a:pPr>
                <a:spcBef>
                  <a:spcPct val="0"/>
                </a:spcBef>
                <a:buFontTx/>
                <a:buNone/>
              </a:pPr>
              <a:t>8</a:t>
            </a:fld>
            <a:endParaRPr lang="fr-FR" altLang="fr-FR" dirty="0">
              <a:latin typeface="Calibri" panose="020F0502020204030204" pitchFamily="34" charset="0"/>
            </a:endParaRPr>
          </a:p>
        </p:txBody>
      </p:sp>
      <p:sp>
        <p:nvSpPr>
          <p:cNvPr id="25608" name="Espace réservé du pied de page 1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10"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7406612" y="1874639"/>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671248" y="45721"/>
            <a:ext cx="857246" cy="944890"/>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show="0">
  <p:cSld>
    <p:bg>
      <p:bgPr>
        <a:solidFill>
          <a:srgbClr val="27A8E0"/>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720725" y="1704132"/>
            <a:ext cx="8170863" cy="2308324"/>
          </a:xfr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eaLnBrk="1" hangingPunct="1"/>
            <a:r>
              <a:rPr lang="fr-FR" altLang="fr-FR" sz="7200" kern="1200" dirty="0">
                <a:ln w="50800"/>
                <a:ea typeface="+mn-ea"/>
                <a:cs typeface="+mn-cs"/>
              </a:rPr>
              <a:t>Partie destinée</a:t>
            </a:r>
            <a:br>
              <a:rPr lang="fr-FR" altLang="fr-FR" sz="7200" kern="1200" dirty="0">
                <a:ln w="50800"/>
                <a:ea typeface="+mn-ea"/>
                <a:cs typeface="+mn-cs"/>
              </a:rPr>
            </a:br>
            <a:r>
              <a:rPr lang="fr-FR" altLang="fr-FR" sz="7200" kern="1200" dirty="0">
                <a:ln w="50800"/>
                <a:ea typeface="+mn-ea"/>
                <a:cs typeface="+mn-cs"/>
              </a:rPr>
              <a:t>à l’animateur</a:t>
            </a:r>
          </a:p>
        </p:txBody>
      </p:sp>
      <p:sp>
        <p:nvSpPr>
          <p:cNvPr id="27651"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7228372-80CC-4BC4-B3FE-96BAE207381E}" type="slidenum">
              <a:rPr lang="fr-FR" altLang="fr-FR" smtClean="0">
                <a:latin typeface="Calibri" panose="020F0502020204030204" pitchFamily="34" charset="0"/>
              </a:rPr>
              <a:pPr>
                <a:spcBef>
                  <a:spcPct val="0"/>
                </a:spcBef>
                <a:buFontTx/>
                <a:buNone/>
              </a:pPr>
              <a:t>9</a:t>
            </a:fld>
            <a:endParaRPr lang="fr-FR" altLang="fr-FR" dirty="0">
              <a:latin typeface="Calibri" panose="020F0502020204030204" pitchFamily="34" charset="0"/>
            </a:endParaRPr>
          </a:p>
        </p:txBody>
      </p:sp>
      <p:sp>
        <p:nvSpPr>
          <p:cNvPr id="27652" name="Espace réservé du pied de page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AD87DB95-D2DE-4074-83B0-B2DF5F9CD538}" type="slidenum">
              <a:rPr lang="fr-FR" altLang="fr-FR" smtClean="0">
                <a:latin typeface="Calibri" panose="020F0502020204030204" pitchFamily="34" charset="0"/>
              </a:rPr>
              <a:pPr>
                <a:spcBef>
                  <a:spcPct val="0"/>
                </a:spcBef>
                <a:buFontTx/>
                <a:buNone/>
              </a:pPr>
              <a:t>10</a:t>
            </a:fld>
            <a:endParaRPr lang="fr-FR" altLang="fr-FR" dirty="0">
              <a:latin typeface="Calibri" panose="020F0502020204030204" pitchFamily="34" charset="0"/>
            </a:endParaRPr>
          </a:p>
        </p:txBody>
      </p:sp>
      <p:sp>
        <p:nvSpPr>
          <p:cNvPr id="29699" name="Rectangle 2"/>
          <p:cNvSpPr>
            <a:spLocks noGrp="1" noChangeArrowheads="1"/>
          </p:cNvSpPr>
          <p:nvPr>
            <p:ph type="title"/>
          </p:nvPr>
        </p:nvSpPr>
        <p:spPr/>
        <p:txBody>
          <a:bodyPr/>
          <a:lstStyle/>
          <a:p>
            <a:pPr eaLnBrk="1" hangingPunct="1"/>
            <a:r>
              <a:rPr lang="fr-FR" altLang="fr-FR" dirty="0"/>
              <a:t>Check List du matériel : Documents et Matériels</a:t>
            </a:r>
          </a:p>
        </p:txBody>
      </p:sp>
      <p:sp>
        <p:nvSpPr>
          <p:cNvPr id="29702"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graphicFrame>
        <p:nvGraphicFramePr>
          <p:cNvPr id="12" name="Tableau 11"/>
          <p:cNvGraphicFramePr>
            <a:graphicFrameLocks noGrp="1"/>
          </p:cNvGraphicFramePr>
          <p:nvPr>
            <p:extLst>
              <p:ext uri="{D42A27DB-BD31-4B8C-83A1-F6EECF244321}">
                <p14:modId xmlns:p14="http://schemas.microsoft.com/office/powerpoint/2010/main" val="899870593"/>
              </p:ext>
            </p:extLst>
          </p:nvPr>
        </p:nvGraphicFramePr>
        <p:xfrm>
          <a:off x="91440" y="524779"/>
          <a:ext cx="4311415" cy="6089572"/>
        </p:xfrm>
        <a:graphic>
          <a:graphicData uri="http://schemas.openxmlformats.org/drawingml/2006/table">
            <a:tbl>
              <a:tblPr>
                <a:tableStyleId>{5C22544A-7EE6-4342-B048-85BDC9FD1C3A}</a:tableStyleId>
              </a:tblPr>
              <a:tblGrid>
                <a:gridCol w="2170340">
                  <a:extLst>
                    <a:ext uri="{9D8B030D-6E8A-4147-A177-3AD203B41FA5}">
                      <a16:colId xmlns:a16="http://schemas.microsoft.com/office/drawing/2014/main" val="20000"/>
                    </a:ext>
                  </a:extLst>
                </a:gridCol>
                <a:gridCol w="421250">
                  <a:extLst>
                    <a:ext uri="{9D8B030D-6E8A-4147-A177-3AD203B41FA5}">
                      <a16:colId xmlns:a16="http://schemas.microsoft.com/office/drawing/2014/main" val="20001"/>
                    </a:ext>
                  </a:extLst>
                </a:gridCol>
                <a:gridCol w="1719825">
                  <a:extLst>
                    <a:ext uri="{9D8B030D-6E8A-4147-A177-3AD203B41FA5}">
                      <a16:colId xmlns:a16="http://schemas.microsoft.com/office/drawing/2014/main" val="20002"/>
                    </a:ext>
                  </a:extLst>
                </a:gridCol>
              </a:tblGrid>
              <a:tr h="309104">
                <a:tc>
                  <a:txBody>
                    <a:bodyPr/>
                    <a:lstStyle/>
                    <a:p>
                      <a:pPr algn="l" fontAlgn="ctr"/>
                      <a:r>
                        <a:rPr lang="fr-FR" sz="1400" b="1" i="0" u="none" strike="noStrike" dirty="0">
                          <a:solidFill>
                            <a:schemeClr val="tx1">
                              <a:lumMod val="65000"/>
                              <a:lumOff val="35000"/>
                            </a:schemeClr>
                          </a:solidFill>
                          <a:effectLst/>
                          <a:latin typeface="Calibri" panose="020F0502020204030204" pitchFamily="34" charset="0"/>
                        </a:rPr>
                        <a:t>DOCUMENTS</a:t>
                      </a:r>
                      <a:r>
                        <a:rPr lang="fr-FR" sz="1400" b="1" i="0" u="none" strike="noStrike" baseline="0" dirty="0">
                          <a:solidFill>
                            <a:schemeClr val="tx1">
                              <a:lumMod val="65000"/>
                              <a:lumOff val="35000"/>
                            </a:schemeClr>
                          </a:solidFill>
                          <a:effectLst/>
                          <a:latin typeface="Calibri" panose="020F0502020204030204" pitchFamily="34" charset="0"/>
                        </a:rPr>
                        <a:t> </a:t>
                      </a:r>
                      <a:r>
                        <a:rPr lang="fr-FR" sz="1400" b="1" i="0" u="none" strike="noStrike" dirty="0">
                          <a:solidFill>
                            <a:schemeClr val="tx1">
                              <a:lumMod val="65000"/>
                              <a:lumOff val="35000"/>
                            </a:schemeClr>
                          </a:solidFill>
                          <a:effectLst/>
                          <a:latin typeface="Calibri" panose="020F0502020204030204" pitchFamily="34" charset="0"/>
                        </a:rPr>
                        <a:t>&amp;</a:t>
                      </a:r>
                      <a:r>
                        <a:rPr lang="fr-FR" sz="1400" b="1" i="0" u="none" strike="noStrike" baseline="0" dirty="0">
                          <a:solidFill>
                            <a:schemeClr val="tx1">
                              <a:lumMod val="65000"/>
                              <a:lumOff val="35000"/>
                            </a:schemeClr>
                          </a:solidFill>
                          <a:effectLst/>
                          <a:latin typeface="Calibri" panose="020F0502020204030204" pitchFamily="34" charset="0"/>
                        </a:rPr>
                        <a:t> </a:t>
                      </a:r>
                      <a:r>
                        <a:rPr lang="fr-FR" sz="1400" b="1" i="0" u="none" strike="noStrike" dirty="0">
                          <a:solidFill>
                            <a:schemeClr val="tx1">
                              <a:lumMod val="65000"/>
                              <a:lumOff val="35000"/>
                            </a:schemeClr>
                          </a:solidFill>
                          <a:effectLst/>
                          <a:latin typeface="Calibri" panose="020F0502020204030204" pitchFamily="34" charset="0"/>
                        </a:rPr>
                        <a:t>MATÉRIELS</a:t>
                      </a:r>
                      <a:endParaRPr lang="fr-FR" sz="1200" b="1"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no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noFill/>
                  </a:tcPr>
                </a:tc>
                <a:tc>
                  <a:txBody>
                    <a:bodyPr/>
                    <a:lstStyle/>
                    <a:p>
                      <a:pPr algn="ctr" fontAlgn="ctr"/>
                      <a:r>
                        <a:rPr lang="fr-FR" sz="1100" u="none" strike="noStrike" dirty="0" err="1">
                          <a:solidFill>
                            <a:schemeClr val="tx1">
                              <a:lumMod val="65000"/>
                              <a:lumOff val="35000"/>
                            </a:schemeClr>
                          </a:solidFill>
                          <a:effectLst/>
                          <a:latin typeface="Calibri" panose="020F0502020204030204" pitchFamily="34" charset="0"/>
                        </a:rPr>
                        <a:t>Nbre</a:t>
                      </a:r>
                      <a:r>
                        <a:rPr lang="fr-FR" sz="1100" u="none" strike="noStrike" dirty="0">
                          <a:solidFill>
                            <a:schemeClr val="tx1">
                              <a:lumMod val="65000"/>
                              <a:lumOff val="35000"/>
                            </a:schemeClr>
                          </a:solidFill>
                          <a:effectLst/>
                          <a:latin typeface="Calibri" panose="020F0502020204030204" pitchFamily="34" charset="0"/>
                        </a:rPr>
                        <a:t>.</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fr-FR" sz="1100" u="none" strike="noStrike" dirty="0">
                          <a:solidFill>
                            <a:schemeClr val="tx1">
                              <a:lumMod val="65000"/>
                              <a:lumOff val="35000"/>
                            </a:schemeClr>
                          </a:solidFill>
                          <a:effectLst/>
                          <a:latin typeface="Calibri" panose="020F0502020204030204" pitchFamily="34" charset="0"/>
                        </a:rPr>
                        <a:t>Emplacement sur la clé USB</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9580">
                <a:tc gridSpan="3">
                  <a:txBody>
                    <a:bodyPr/>
                    <a:lstStyle/>
                    <a:p>
                      <a:pPr algn="l" fontAlgn="ctr"/>
                      <a:r>
                        <a:rPr lang="fr-FR" sz="1100" b="1" i="0" u="none" strike="noStrike" dirty="0">
                          <a:solidFill>
                            <a:schemeClr val="bg1"/>
                          </a:solidFill>
                          <a:effectLst/>
                          <a:latin typeface="Calibri" panose="020F0502020204030204" pitchFamily="34" charset="0"/>
                        </a:rPr>
                        <a:t>Boite</a:t>
                      </a:r>
                      <a:r>
                        <a:rPr lang="fr-FR" sz="1100" b="1" i="0" u="none" strike="noStrike" baseline="0" dirty="0">
                          <a:solidFill>
                            <a:schemeClr val="bg1"/>
                          </a:solidFill>
                          <a:effectLst/>
                          <a:latin typeface="Calibri" panose="020F0502020204030204" pitchFamily="34" charset="0"/>
                        </a:rPr>
                        <a:t> N° 1 (format A4)</a:t>
                      </a:r>
                      <a:endParaRPr lang="fr-FR" sz="11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endParaRPr lang="fr-FR"/>
                    </a:p>
                  </a:txBody>
                  <a:tcPr/>
                </a:tc>
                <a:tc hMerge="1">
                  <a:txBody>
                    <a:bodyPr/>
                    <a:lstStyle/>
                    <a:p>
                      <a:endParaRPr lang="fr-FR" sz="1100" dirty="0">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extLst>
                  <a:ext uri="{0D108BD9-81ED-4DB2-BD59-A6C34878D82A}">
                    <a16:rowId xmlns:a16="http://schemas.microsoft.com/office/drawing/2014/main" val="10001"/>
                  </a:ext>
                </a:extLst>
              </a:tr>
              <a:tr h="259580">
                <a:tc>
                  <a:txBody>
                    <a:bodyPr/>
                    <a:lstStyle/>
                    <a:p>
                      <a:pPr algn="l" fontAlgn="ctr"/>
                      <a:r>
                        <a:rPr lang="fr-FR" sz="1100" u="none" strike="noStrike" dirty="0">
                          <a:solidFill>
                            <a:schemeClr val="tx1">
                              <a:lumMod val="65000"/>
                              <a:lumOff val="35000"/>
                            </a:schemeClr>
                          </a:solidFill>
                          <a:effectLst/>
                          <a:latin typeface="Calibri" panose="020F0502020204030204" pitchFamily="34" charset="0"/>
                        </a:rPr>
                        <a:t>Guide d'animation</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fontAlgn="ctr"/>
                      <a:r>
                        <a:rPr lang="fr-FR" sz="1100" u="none" strike="noStrike" dirty="0">
                          <a:solidFill>
                            <a:schemeClr val="tx1">
                              <a:lumMod val="65000"/>
                              <a:lumOff val="35000"/>
                            </a:schemeClr>
                          </a:solidFill>
                          <a:effectLst/>
                          <a:latin typeface="Calibri" panose="020F0502020204030204" pitchFamily="34" charset="0"/>
                        </a:rPr>
                        <a:t>1</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l" fontAlgn="ctr"/>
                      <a:r>
                        <a:rPr lang="fr-FR" sz="1100" u="none" strike="noStrike" dirty="0">
                          <a:solidFill>
                            <a:schemeClr val="tx1">
                              <a:lumMod val="65000"/>
                              <a:lumOff val="35000"/>
                            </a:schemeClr>
                          </a:solidFill>
                          <a:effectLst/>
                          <a:latin typeface="Calibri" panose="020F0502020204030204" pitchFamily="34" charset="0"/>
                        </a:rPr>
                        <a:t>Répertoire "Animation"</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Résumé des consignes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9580">
                <a:tc>
                  <a:txBody>
                    <a:bodyPr/>
                    <a:lstStyle/>
                    <a:p>
                      <a:pPr algn="l" fontAlgn="ctr"/>
                      <a:r>
                        <a:rPr lang="fr-FR" sz="1100" u="none" strike="noStrike" dirty="0">
                          <a:solidFill>
                            <a:schemeClr val="tx1">
                              <a:lumMod val="65000"/>
                              <a:lumOff val="35000"/>
                            </a:schemeClr>
                          </a:solidFill>
                          <a:effectLst/>
                          <a:latin typeface="Calibri" panose="020F0502020204030204" pitchFamily="34" charset="0"/>
                        </a:rPr>
                        <a:t>Dossiers du participant</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effectLst/>
                          <a:latin typeface="Calibri" panose="020F0502020204030204" pitchFamily="34" charset="0"/>
                        </a:rPr>
                        <a:t>20</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l" fontAlgn="ctr"/>
                      <a:r>
                        <a:rPr lang="fr-FR" sz="1100" u="none" strike="noStrike" dirty="0">
                          <a:solidFill>
                            <a:schemeClr val="tx1">
                              <a:lumMod val="65000"/>
                              <a:lumOff val="35000"/>
                            </a:schemeClr>
                          </a:solidFill>
                          <a:effectLst/>
                          <a:latin typeface="Calibri" panose="020F0502020204030204" pitchFamily="34" charset="0"/>
                        </a:rPr>
                        <a:t>Répertoire "Consommables"</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9580">
                <a:tc gridSpan="3">
                  <a:txBody>
                    <a:bodyPr/>
                    <a:lstStyle/>
                    <a:p>
                      <a:pPr algn="l" fontAlgn="ctr"/>
                      <a:r>
                        <a:rPr lang="fr-FR" sz="1100" b="1" i="0" u="none" strike="noStrike" dirty="0">
                          <a:solidFill>
                            <a:schemeClr val="bg1"/>
                          </a:solidFill>
                          <a:effectLst/>
                          <a:latin typeface="Calibri" panose="020F0502020204030204" pitchFamily="34" charset="0"/>
                        </a:rPr>
                        <a:t>Pochette </a:t>
                      </a:r>
                      <a:r>
                        <a:rPr lang="fr-FR" sz="1100" b="1" i="0" u="none" strike="noStrike" baseline="0" dirty="0">
                          <a:solidFill>
                            <a:schemeClr val="bg1"/>
                          </a:solidFill>
                          <a:effectLst/>
                          <a:latin typeface="Calibri" panose="020F0502020204030204" pitchFamily="34" charset="0"/>
                        </a:rPr>
                        <a:t>N° 2, avec les documents nécessaires à la Simulation 1</a:t>
                      </a:r>
                      <a:endParaRPr lang="fr-FR" sz="11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endParaRPr lang="fr-FR"/>
                    </a:p>
                  </a:txBody>
                  <a:tcPr/>
                </a:tc>
                <a:tc hMerge="1">
                  <a:txBody>
                    <a:bodyPr/>
                    <a:lstStyle/>
                    <a:p>
                      <a:endParaRPr lang="fr-FR" sz="1100" dirty="0">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Fiche de rôle Contrôle</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effectLst/>
                          <a:latin typeface="Calibri" panose="020F0502020204030204" pitchFamily="34" charset="0"/>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l" fontAlgn="ctr"/>
                      <a:r>
                        <a:rPr lang="fr-FR" sz="1100" u="none" strike="noStrike" dirty="0">
                          <a:solidFill>
                            <a:schemeClr val="tx1">
                              <a:lumMod val="65000"/>
                              <a:lumOff val="35000"/>
                            </a:schemeClr>
                          </a:solidFill>
                          <a:effectLst/>
                          <a:latin typeface="Calibri" panose="020F0502020204030204" pitchFamily="34" charset="0"/>
                        </a:rPr>
                        <a:t>Répertoire "Consommables"</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Fiche de rôle Lancement</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effectLst/>
                          <a:latin typeface="Calibri" panose="020F0502020204030204" pitchFamily="34" charset="0"/>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l" fontAlgn="ctr"/>
                      <a:r>
                        <a:rPr lang="fr-FR" sz="1100" u="none" strike="noStrike" dirty="0">
                          <a:solidFill>
                            <a:schemeClr val="tx1">
                              <a:lumMod val="65000"/>
                              <a:lumOff val="35000"/>
                            </a:schemeClr>
                          </a:solidFill>
                          <a:effectLst/>
                          <a:latin typeface="Calibri" panose="020F0502020204030204" pitchFamily="34" charset="0"/>
                        </a:rPr>
                        <a:t>Répertoire "Consommables"</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Zones de stockage</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20</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41168">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Jeux de 8 bristol</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d</a:t>
                      </a:r>
                      <a:r>
                        <a:rPr lang="fr-FR" sz="1100" u="none" strike="noStrike" kern="1200" dirty="0">
                          <a:solidFill>
                            <a:schemeClr val="tx1">
                              <a:lumMod val="65000"/>
                              <a:lumOff val="35000"/>
                            </a:schemeClr>
                          </a:solidFill>
                          <a:effectLst/>
                          <a:latin typeface="Calibri" panose="020F0502020204030204" pitchFamily="34" charset="0"/>
                          <a:ea typeface="+mn-ea"/>
                          <a:cs typeface="+mn-cs"/>
                        </a:rPr>
                        <a:t>'OF en-cours</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a:t>
                      </a:r>
                      <a:r>
                        <a:rPr lang="fr-FR" sz="1100" u="none" strike="noStrike" kern="1200" dirty="0">
                          <a:solidFill>
                            <a:schemeClr val="tx1">
                              <a:lumMod val="65000"/>
                              <a:lumOff val="35000"/>
                            </a:schemeClr>
                          </a:solidFill>
                          <a:effectLst/>
                          <a:latin typeface="Calibri" panose="020F0502020204030204" pitchFamily="34" charset="0"/>
                          <a:ea typeface="+mn-ea"/>
                          <a:cs typeface="+mn-cs"/>
                        </a:rPr>
                        <a:t>Simulation 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Jeux d'OF simulation 1 (8 bristol)</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59580">
                <a:tc gridSpan="3">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bg1"/>
                          </a:solidFill>
                          <a:effectLst/>
                          <a:latin typeface="Calibri" panose="020F0502020204030204" pitchFamily="34" charset="0"/>
                        </a:rPr>
                        <a:t>Boite</a:t>
                      </a:r>
                      <a:r>
                        <a:rPr lang="fr-FR" sz="1100" b="1" i="0" u="none" strike="noStrike" baseline="0" dirty="0">
                          <a:solidFill>
                            <a:schemeClr val="bg1"/>
                          </a:solidFill>
                          <a:effectLst/>
                          <a:latin typeface="Calibri" panose="020F0502020204030204" pitchFamily="34" charset="0"/>
                        </a:rPr>
                        <a:t> N° 3</a:t>
                      </a:r>
                      <a:endParaRPr lang="fr-FR" sz="11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pPr marL="0" algn="ctr"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extLst>
                  <a:ext uri="{0D108BD9-81ED-4DB2-BD59-A6C34878D82A}">
                    <a16:rowId xmlns:a16="http://schemas.microsoft.com/office/drawing/2014/main" val="10011"/>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Clé USB</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Voir détail</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page suivante</a:t>
                      </a:r>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Paires de ciseaux</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4</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Décamètre</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59580">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100" u="none" strike="noStrike" kern="1200" dirty="0">
                          <a:solidFill>
                            <a:schemeClr val="tx1">
                              <a:lumMod val="65000"/>
                              <a:lumOff val="35000"/>
                            </a:schemeClr>
                          </a:solidFill>
                          <a:effectLst/>
                          <a:latin typeface="Calibri" panose="020F0502020204030204" pitchFamily="34" charset="0"/>
                          <a:ea typeface="+mn-ea"/>
                          <a:cs typeface="+mn-cs"/>
                        </a:rPr>
                        <a:t>Paquets</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de G</a:t>
                      </a:r>
                      <a:r>
                        <a:rPr lang="fr-FR" sz="1100" u="none" strike="noStrike" kern="1200" dirty="0">
                          <a:solidFill>
                            <a:schemeClr val="tx1">
                              <a:lumMod val="65000"/>
                              <a:lumOff val="35000"/>
                            </a:schemeClr>
                          </a:solidFill>
                          <a:effectLst/>
                          <a:latin typeface="Calibri" panose="020F0502020204030204" pitchFamily="34" charset="0"/>
                          <a:ea typeface="+mn-ea"/>
                          <a:cs typeface="+mn-cs"/>
                        </a:rPr>
                        <a:t>ommettes rouges Ø</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a:t>
                      </a:r>
                      <a:r>
                        <a:rPr lang="fr-FR" sz="1100" u="none" strike="noStrike" kern="1200" dirty="0">
                          <a:solidFill>
                            <a:schemeClr val="tx1">
                              <a:lumMod val="65000"/>
                              <a:lumOff val="35000"/>
                            </a:schemeClr>
                          </a:solidFill>
                          <a:effectLst/>
                          <a:latin typeface="Calibri" panose="020F0502020204030204" pitchFamily="34" charset="0"/>
                          <a:ea typeface="+mn-ea"/>
                          <a:cs typeface="+mn-cs"/>
                        </a:rPr>
                        <a:t>14</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59580">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100" u="none" strike="noStrike" kern="1200" dirty="0">
                          <a:solidFill>
                            <a:schemeClr val="tx1">
                              <a:lumMod val="65000"/>
                              <a:lumOff val="35000"/>
                            </a:schemeClr>
                          </a:solidFill>
                          <a:effectLst/>
                          <a:latin typeface="Calibri" panose="020F0502020204030204" pitchFamily="34" charset="0"/>
                          <a:ea typeface="+mn-ea"/>
                          <a:cs typeface="+mn-cs"/>
                        </a:rPr>
                        <a:t>Paquets</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de Gommettes </a:t>
                      </a:r>
                      <a:r>
                        <a:rPr lang="fr-FR" sz="1100" u="none" strike="noStrike" kern="1200" dirty="0">
                          <a:solidFill>
                            <a:schemeClr val="tx1">
                              <a:lumMod val="65000"/>
                              <a:lumOff val="35000"/>
                            </a:schemeClr>
                          </a:solidFill>
                          <a:effectLst/>
                          <a:latin typeface="Calibri" panose="020F0502020204030204" pitchFamily="34" charset="0"/>
                          <a:ea typeface="+mn-ea"/>
                          <a:cs typeface="+mn-cs"/>
                        </a:rPr>
                        <a:t>blanches Ø</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8</a:t>
                      </a:r>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259580">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100" u="none" strike="noStrike" kern="1200" dirty="0">
                          <a:solidFill>
                            <a:schemeClr val="tx1">
                              <a:lumMod val="65000"/>
                              <a:lumOff val="35000"/>
                            </a:schemeClr>
                          </a:solidFill>
                          <a:effectLst/>
                          <a:latin typeface="Calibri" panose="020F0502020204030204" pitchFamily="34" charset="0"/>
                          <a:ea typeface="+mn-ea"/>
                          <a:cs typeface="+mn-cs"/>
                        </a:rPr>
                        <a:t>Paquets de post-it jaune</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76x76</a:t>
                      </a:r>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4</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59580">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Scotch mural</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59580">
                <a:tc gridSpan="3">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100" b="1" i="0" u="none" strike="noStrike" dirty="0">
                          <a:solidFill>
                            <a:schemeClr val="bg1"/>
                          </a:solidFill>
                          <a:effectLst/>
                          <a:latin typeface="Calibri" panose="020F0502020204030204" pitchFamily="34" charset="0"/>
                        </a:rPr>
                        <a:t>Boite </a:t>
                      </a:r>
                      <a:r>
                        <a:rPr lang="fr-FR" sz="1100" b="1" i="0" u="none" strike="noStrike" baseline="0" dirty="0">
                          <a:solidFill>
                            <a:schemeClr val="bg1"/>
                          </a:solidFill>
                          <a:effectLst/>
                          <a:latin typeface="Calibri" panose="020F0502020204030204" pitchFamily="34" charset="0"/>
                        </a:rPr>
                        <a:t>N° 4</a:t>
                      </a:r>
                      <a:r>
                        <a:rPr lang="fr-FR" sz="1100" b="1" i="0" u="none" strike="noStrike" dirty="0">
                          <a:solidFill>
                            <a:schemeClr val="bg1"/>
                          </a:solidFill>
                          <a:effectLst/>
                          <a:latin typeface="Calibri" panose="020F0502020204030204" pitchFamily="34" charset="0"/>
                        </a:rPr>
                        <a:t>  MAGASIN D'OUTILLAGES</a:t>
                      </a:r>
                      <a:r>
                        <a:rPr lang="fr-FR" sz="1100" b="1" i="0" u="none" strike="noStrike" baseline="0" dirty="0">
                          <a:solidFill>
                            <a:schemeClr val="bg1"/>
                          </a:solidFill>
                          <a:effectLst/>
                          <a:latin typeface="Calibri" panose="020F0502020204030204" pitchFamily="34" charset="0"/>
                        </a:rPr>
                        <a:t>  </a:t>
                      </a:r>
                      <a:r>
                        <a:rPr lang="fr-FR" sz="1100" b="1" i="0" u="none" strike="noStrike" dirty="0">
                          <a:solidFill>
                            <a:schemeClr val="bg1"/>
                          </a:solidFill>
                          <a:effectLst/>
                          <a:latin typeface="Calibri" panose="020F0502020204030204" pitchFamily="34" charset="0"/>
                        </a:rPr>
                        <a:t>(carton)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pPr marL="0" algn="ctr"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59580">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100" u="none" strike="noStrike" kern="1200" dirty="0">
                          <a:solidFill>
                            <a:schemeClr val="tx1">
                              <a:lumMod val="65000"/>
                              <a:lumOff val="35000"/>
                            </a:schemeClr>
                          </a:solidFill>
                          <a:effectLst/>
                          <a:latin typeface="Calibri" panose="020F0502020204030204" pitchFamily="34" charset="0"/>
                          <a:ea typeface="+mn-ea"/>
                          <a:cs typeface="+mn-cs"/>
                        </a:rPr>
                        <a:t>Surligneurs</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de couleur</a:t>
                      </a:r>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53</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Voir détail ci-contre</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259580">
                <a:tc gridSpan="3">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100" i="1" u="none" strike="noStrike" kern="1200" dirty="0">
                          <a:solidFill>
                            <a:schemeClr val="tx1">
                              <a:lumMod val="65000"/>
                              <a:lumOff val="35000"/>
                            </a:schemeClr>
                          </a:solidFill>
                          <a:effectLst/>
                          <a:latin typeface="Calibri" panose="020F0502020204030204" pitchFamily="34" charset="0"/>
                          <a:ea typeface="+mn-ea"/>
                          <a:cs typeface="+mn-cs"/>
                        </a:rPr>
                        <a:t>Il n'y a pas d'étiquette</a:t>
                      </a:r>
                      <a:r>
                        <a:rPr lang="fr-FR" sz="1100" i="1" u="none" strike="noStrike" kern="1200" baseline="0" dirty="0">
                          <a:solidFill>
                            <a:schemeClr val="tx1">
                              <a:lumMod val="65000"/>
                              <a:lumOff val="35000"/>
                            </a:schemeClr>
                          </a:solidFill>
                          <a:effectLst/>
                          <a:latin typeface="Calibri" panose="020F0502020204030204" pitchFamily="34" charset="0"/>
                          <a:ea typeface="+mn-ea"/>
                          <a:cs typeface="+mn-cs"/>
                        </a:rPr>
                        <a:t> de contenu sur cette boite, pour ne pas donner d'informations aux participants.</a:t>
                      </a:r>
                      <a:endParaRPr lang="fr-FR" sz="1100" i="1"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algn="ctr"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1"/>
                  </a:ext>
                </a:extLst>
              </a:tr>
            </a:tbl>
          </a:graphicData>
        </a:graphic>
      </p:graphicFrame>
      <p:graphicFrame>
        <p:nvGraphicFramePr>
          <p:cNvPr id="11" name="Tableau 10"/>
          <p:cNvGraphicFramePr>
            <a:graphicFrameLocks noGrp="1"/>
          </p:cNvGraphicFramePr>
          <p:nvPr>
            <p:extLst>
              <p:ext uri="{D42A27DB-BD31-4B8C-83A1-F6EECF244321}">
                <p14:modId xmlns:p14="http://schemas.microsoft.com/office/powerpoint/2010/main" val="2704987371"/>
              </p:ext>
            </p:extLst>
          </p:nvPr>
        </p:nvGraphicFramePr>
        <p:xfrm>
          <a:off x="4578005" y="524779"/>
          <a:ext cx="4481613" cy="4844847"/>
        </p:xfrm>
        <a:graphic>
          <a:graphicData uri="http://schemas.openxmlformats.org/drawingml/2006/table">
            <a:tbl>
              <a:tblPr>
                <a:tableStyleId>{5C22544A-7EE6-4342-B048-85BDC9FD1C3A}</a:tableStyleId>
              </a:tblPr>
              <a:tblGrid>
                <a:gridCol w="2340538">
                  <a:extLst>
                    <a:ext uri="{9D8B030D-6E8A-4147-A177-3AD203B41FA5}">
                      <a16:colId xmlns:a16="http://schemas.microsoft.com/office/drawing/2014/main" val="20000"/>
                    </a:ext>
                  </a:extLst>
                </a:gridCol>
                <a:gridCol w="421250">
                  <a:extLst>
                    <a:ext uri="{9D8B030D-6E8A-4147-A177-3AD203B41FA5}">
                      <a16:colId xmlns:a16="http://schemas.microsoft.com/office/drawing/2014/main" val="20001"/>
                    </a:ext>
                  </a:extLst>
                </a:gridCol>
                <a:gridCol w="1719825">
                  <a:extLst>
                    <a:ext uri="{9D8B030D-6E8A-4147-A177-3AD203B41FA5}">
                      <a16:colId xmlns:a16="http://schemas.microsoft.com/office/drawing/2014/main" val="20002"/>
                    </a:ext>
                  </a:extLst>
                </a:gridCol>
              </a:tblGrid>
              <a:tr h="306275">
                <a:tc>
                  <a:txBody>
                    <a:bodyPr/>
                    <a:lstStyle/>
                    <a:p>
                      <a:pPr algn="l" fontAlgn="ctr"/>
                      <a:r>
                        <a:rPr lang="fr-FR" sz="1400" b="1" i="0" u="none" strike="noStrike" dirty="0">
                          <a:solidFill>
                            <a:schemeClr val="tx1">
                              <a:lumMod val="65000"/>
                              <a:lumOff val="35000"/>
                            </a:schemeClr>
                          </a:solidFill>
                          <a:effectLst/>
                          <a:latin typeface="Calibri" panose="020F0502020204030204" pitchFamily="34" charset="0"/>
                        </a:rPr>
                        <a:t>DOCUMENTS</a:t>
                      </a:r>
                      <a:r>
                        <a:rPr lang="fr-FR" sz="1400" b="1" i="0" u="none" strike="noStrike" baseline="0" dirty="0">
                          <a:solidFill>
                            <a:schemeClr val="tx1">
                              <a:lumMod val="65000"/>
                              <a:lumOff val="35000"/>
                            </a:schemeClr>
                          </a:solidFill>
                          <a:effectLst/>
                          <a:latin typeface="Calibri" panose="020F0502020204030204" pitchFamily="34" charset="0"/>
                        </a:rPr>
                        <a:t> </a:t>
                      </a:r>
                      <a:r>
                        <a:rPr lang="fr-FR" sz="1400" b="1" i="0" u="none" strike="noStrike" dirty="0">
                          <a:solidFill>
                            <a:schemeClr val="tx1">
                              <a:lumMod val="65000"/>
                              <a:lumOff val="35000"/>
                            </a:schemeClr>
                          </a:solidFill>
                          <a:effectLst/>
                          <a:latin typeface="Calibri" panose="020F0502020204030204" pitchFamily="34" charset="0"/>
                        </a:rPr>
                        <a:t>&amp;</a:t>
                      </a:r>
                      <a:r>
                        <a:rPr lang="fr-FR" sz="1400" b="1" i="0" u="none" strike="noStrike" baseline="0" dirty="0">
                          <a:solidFill>
                            <a:schemeClr val="tx1">
                              <a:lumMod val="65000"/>
                              <a:lumOff val="35000"/>
                            </a:schemeClr>
                          </a:solidFill>
                          <a:effectLst/>
                          <a:latin typeface="Calibri" panose="020F0502020204030204" pitchFamily="34" charset="0"/>
                        </a:rPr>
                        <a:t> </a:t>
                      </a:r>
                      <a:r>
                        <a:rPr lang="fr-FR" sz="1400" b="1" i="0" u="none" strike="noStrike" dirty="0">
                          <a:solidFill>
                            <a:schemeClr val="tx1">
                              <a:lumMod val="65000"/>
                              <a:lumOff val="35000"/>
                            </a:schemeClr>
                          </a:solidFill>
                          <a:effectLst/>
                          <a:latin typeface="Calibri" panose="020F0502020204030204" pitchFamily="34" charset="0"/>
                        </a:rPr>
                        <a:t>MATÉRIELS</a:t>
                      </a:r>
                      <a:endParaRPr lang="fr-FR" sz="1200" b="1"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no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noFill/>
                  </a:tcPr>
                </a:tc>
                <a:tc>
                  <a:txBody>
                    <a:bodyPr/>
                    <a:lstStyle/>
                    <a:p>
                      <a:pPr algn="ctr" fontAlgn="ctr"/>
                      <a:r>
                        <a:rPr lang="fr-FR" sz="1100" u="none" strike="noStrike" dirty="0" err="1">
                          <a:solidFill>
                            <a:schemeClr val="tx1">
                              <a:lumMod val="65000"/>
                              <a:lumOff val="35000"/>
                            </a:schemeClr>
                          </a:solidFill>
                          <a:effectLst/>
                          <a:latin typeface="Calibri" panose="020F0502020204030204" pitchFamily="34" charset="0"/>
                        </a:rPr>
                        <a:t>Nbre</a:t>
                      </a:r>
                      <a:r>
                        <a:rPr lang="fr-FR" sz="1100" u="none" strike="noStrike" dirty="0">
                          <a:solidFill>
                            <a:schemeClr val="tx1">
                              <a:lumMod val="65000"/>
                              <a:lumOff val="35000"/>
                            </a:schemeClr>
                          </a:solidFill>
                          <a:effectLst/>
                          <a:latin typeface="Calibri" panose="020F0502020204030204" pitchFamily="34" charset="0"/>
                        </a:rPr>
                        <a:t>.</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fr-FR" sz="1100" u="none" strike="noStrike" dirty="0">
                          <a:solidFill>
                            <a:schemeClr val="tx1">
                              <a:lumMod val="65000"/>
                              <a:lumOff val="35000"/>
                            </a:schemeClr>
                          </a:solidFill>
                          <a:effectLst/>
                          <a:latin typeface="Calibri" panose="020F0502020204030204" pitchFamily="34" charset="0"/>
                        </a:rPr>
                        <a:t>Emplacement sur clé USB</a:t>
                      </a:r>
                      <a:endParaRPr lang="fr-FR" sz="11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23308">
                <a:tc gridSpan="3">
                  <a:txBody>
                    <a:bodyPr/>
                    <a:lstStyle/>
                    <a:p>
                      <a:pPr algn="l" fontAlgn="ctr"/>
                      <a:r>
                        <a:rPr lang="fr-FR" sz="1100" b="1" i="0" u="none" strike="noStrike" dirty="0">
                          <a:solidFill>
                            <a:schemeClr val="bg1"/>
                          </a:solidFill>
                          <a:effectLst/>
                          <a:latin typeface="Calibri" panose="020F0502020204030204" pitchFamily="34" charset="0"/>
                        </a:rPr>
                        <a:t>Pochette </a:t>
                      </a:r>
                      <a:r>
                        <a:rPr lang="fr-FR" sz="1100" b="1" i="0" u="none" strike="noStrike" baseline="0" dirty="0">
                          <a:solidFill>
                            <a:schemeClr val="bg1"/>
                          </a:solidFill>
                          <a:effectLst/>
                          <a:latin typeface="Calibri" panose="020F0502020204030204" pitchFamily="34" charset="0"/>
                        </a:rPr>
                        <a:t>N° 5, avec les documents nécessaires à la Préparation</a:t>
                      </a:r>
                      <a:br>
                        <a:rPr lang="fr-FR" sz="1100" b="1" i="0" u="none" strike="noStrike" baseline="0" dirty="0">
                          <a:solidFill>
                            <a:schemeClr val="bg1"/>
                          </a:solidFill>
                          <a:effectLst/>
                          <a:latin typeface="Calibri" panose="020F0502020204030204" pitchFamily="34" charset="0"/>
                        </a:rPr>
                      </a:br>
                      <a:r>
                        <a:rPr lang="fr-FR" sz="1100" b="1" i="0" u="none" strike="noStrike" baseline="0" dirty="0">
                          <a:solidFill>
                            <a:schemeClr val="bg1"/>
                          </a:solidFill>
                          <a:effectLst/>
                          <a:latin typeface="Calibri" panose="020F0502020204030204" pitchFamily="34" charset="0"/>
                        </a:rPr>
                        <a:t>de la Simulation 2</a:t>
                      </a:r>
                      <a:endParaRPr lang="fr-FR" sz="11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endParaRPr lang="fr-FR"/>
                    </a:p>
                  </a:txBody>
                  <a:tcPr/>
                </a:tc>
                <a:tc hMerge="1">
                  <a:txBody>
                    <a:bodyPr/>
                    <a:lstStyle/>
                    <a:p>
                      <a:endParaRPr lang="fr-FR" sz="1100" dirty="0">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7204">
                <a:tc>
                  <a:txBody>
                    <a:bodyPr/>
                    <a:lstStyle/>
                    <a:p>
                      <a:pPr marL="0" algn="l" defTabSz="914400" rtl="0" eaLnBrk="1" fontAlgn="ctr" latinLnBrk="0" hangingPunct="1"/>
                      <a:r>
                        <a:rPr lang="fr-FR" sz="1100" b="0" i="0" u="none" strike="noStrike" kern="1200" dirty="0">
                          <a:solidFill>
                            <a:schemeClr val="tx1">
                              <a:lumMod val="65000"/>
                              <a:lumOff val="35000"/>
                            </a:schemeClr>
                          </a:solidFill>
                          <a:effectLst/>
                          <a:latin typeface="Calibri" panose="020F0502020204030204" pitchFamily="34" charset="0"/>
                          <a:ea typeface="+mn-ea"/>
                          <a:cs typeface="+mn-cs"/>
                        </a:rPr>
                        <a:t>Jeux d'Échantillons pour</a:t>
                      </a:r>
                      <a:r>
                        <a:rPr lang="fr-FR" sz="1100" b="0" i="0" u="none" strike="noStrike" kern="1200" baseline="0" dirty="0">
                          <a:solidFill>
                            <a:schemeClr val="tx1">
                              <a:lumMod val="65000"/>
                              <a:lumOff val="35000"/>
                            </a:schemeClr>
                          </a:solidFill>
                          <a:effectLst/>
                          <a:latin typeface="Calibri" panose="020F0502020204030204" pitchFamily="34" charset="0"/>
                          <a:ea typeface="+mn-ea"/>
                          <a:cs typeface="+mn-cs"/>
                        </a:rPr>
                        <a:t> </a:t>
                      </a:r>
                      <a:r>
                        <a:rPr lang="fr-FR" sz="1100" b="0" i="0" u="none" strike="noStrike" kern="1200" dirty="0">
                          <a:solidFill>
                            <a:schemeClr val="tx1">
                              <a:lumMod val="65000"/>
                              <a:lumOff val="35000"/>
                            </a:schemeClr>
                          </a:solidFill>
                          <a:effectLst/>
                          <a:latin typeface="Calibri" panose="020F0502020204030204" pitchFamily="34" charset="0"/>
                          <a:ea typeface="+mn-ea"/>
                          <a:cs typeface="+mn-cs"/>
                        </a:rPr>
                        <a:t>temps gamme</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Jeux</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de 4 </a:t>
                      </a:r>
                      <a:r>
                        <a:rPr lang="fr-FR" sz="1100" u="none" strike="noStrike" kern="1200" dirty="0">
                          <a:solidFill>
                            <a:schemeClr val="tx1">
                              <a:lumMod val="65000"/>
                              <a:lumOff val="35000"/>
                            </a:schemeClr>
                          </a:solidFill>
                          <a:effectLst/>
                          <a:latin typeface="Calibri" panose="020F0502020204030204" pitchFamily="34" charset="0"/>
                          <a:ea typeface="+mn-ea"/>
                          <a:cs typeface="+mn-cs"/>
                        </a:rPr>
                        <a:t>Fiches de mission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Feuilles A3 "Equipe Productivité"</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Feuilles</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a:t>
                      </a:r>
                      <a:r>
                        <a:rPr lang="fr-FR" sz="1100" u="none" strike="noStrike" kern="1200" dirty="0">
                          <a:solidFill>
                            <a:schemeClr val="tx1">
                              <a:lumMod val="65000"/>
                              <a:lumOff val="35000"/>
                            </a:schemeClr>
                          </a:solidFill>
                          <a:effectLst/>
                          <a:latin typeface="Calibri" panose="020F0502020204030204" pitchFamily="34" charset="0"/>
                          <a:ea typeface="+mn-ea"/>
                          <a:cs typeface="+mn-cs"/>
                        </a:rPr>
                        <a:t>Analyse des trajets"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4</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Tickets de gammes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30</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Tickets d’implantation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18</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Feuilles A3 "Equipe Analyse des Flux"</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3</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Feuilles A3 "Equipe Qualité"</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Cartes "Interviews"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5</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Feuilles "Enquête de motivation"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8</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57204">
                <a:tc gridSpan="3">
                  <a:txBody>
                    <a:bodyPr/>
                    <a:lstStyle/>
                    <a:p>
                      <a:pPr algn="l" fontAlgn="ctr"/>
                      <a:r>
                        <a:rPr lang="fr-FR" sz="1100" b="1" i="0" u="none" strike="noStrike" dirty="0">
                          <a:solidFill>
                            <a:schemeClr val="bg1"/>
                          </a:solidFill>
                          <a:effectLst/>
                          <a:latin typeface="Calibri" panose="020F0502020204030204" pitchFamily="34" charset="0"/>
                        </a:rPr>
                        <a:t>Pochette </a:t>
                      </a:r>
                      <a:r>
                        <a:rPr lang="fr-FR" sz="1100" b="1" i="0" u="none" strike="noStrike" baseline="0" dirty="0">
                          <a:solidFill>
                            <a:schemeClr val="bg1"/>
                          </a:solidFill>
                          <a:effectLst/>
                          <a:latin typeface="Calibri" panose="020F0502020204030204" pitchFamily="34" charset="0"/>
                        </a:rPr>
                        <a:t>N° 6, avec les documents nécessaires à la Simulation 2</a:t>
                      </a:r>
                      <a:endParaRPr lang="fr-FR" sz="11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endParaRPr lang="fr-FR"/>
                    </a:p>
                  </a:txBody>
                  <a:tcPr/>
                </a:tc>
                <a:tc hMerge="1">
                  <a:txBody>
                    <a:bodyPr/>
                    <a:lstStyle/>
                    <a:p>
                      <a:endParaRPr lang="fr-FR" sz="1100" dirty="0">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Jeux d'OF </a:t>
                      </a:r>
                      <a:r>
                        <a:rPr lang="fr-FR" sz="1100" b="0" i="0" u="none" strike="noStrike" kern="1200" dirty="0">
                          <a:solidFill>
                            <a:schemeClr val="tx1">
                              <a:lumMod val="65000"/>
                              <a:lumOff val="35000"/>
                            </a:schemeClr>
                          </a:solidFill>
                          <a:effectLst/>
                          <a:latin typeface="Calibri" panose="020F0502020204030204" pitchFamily="34" charset="0"/>
                          <a:ea typeface="+mn-ea"/>
                          <a:cs typeface="+mn-cs"/>
                        </a:rPr>
                        <a:t>en-cours</a:t>
                      </a:r>
                      <a:r>
                        <a:rPr lang="fr-FR" sz="1100" b="0" i="0" u="none" strike="noStrike" kern="1200" baseline="0" dirty="0">
                          <a:solidFill>
                            <a:schemeClr val="tx1">
                              <a:lumMod val="65000"/>
                              <a:lumOff val="35000"/>
                            </a:schemeClr>
                          </a:solidFill>
                          <a:effectLst/>
                          <a:latin typeface="Calibri" panose="020F0502020204030204" pitchFamily="34" charset="0"/>
                          <a:ea typeface="+mn-ea"/>
                          <a:cs typeface="+mn-cs"/>
                        </a:rPr>
                        <a:t> </a:t>
                      </a:r>
                      <a:r>
                        <a:rPr lang="fr-FR" sz="1100" b="0" i="0" u="none" strike="noStrike" kern="1200" dirty="0">
                          <a:solidFill>
                            <a:schemeClr val="tx1">
                              <a:lumMod val="65000"/>
                              <a:lumOff val="35000"/>
                            </a:schemeClr>
                          </a:solidFill>
                          <a:effectLst/>
                          <a:latin typeface="Calibri" panose="020F0502020204030204" pitchFamily="34" charset="0"/>
                          <a:ea typeface="+mn-ea"/>
                          <a:cs typeface="+mn-cs"/>
                        </a:rPr>
                        <a:t>Simulation 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Jeux de 4 bristol</a:t>
                      </a:r>
                      <a:r>
                        <a:rPr lang="fr-FR" sz="1100" u="none" strike="noStrike" kern="1200" baseline="0" dirty="0">
                          <a:solidFill>
                            <a:schemeClr val="tx1">
                              <a:lumMod val="65000"/>
                              <a:lumOff val="35000"/>
                            </a:schemeClr>
                          </a:solidFill>
                          <a:effectLst/>
                          <a:latin typeface="Calibri" panose="020F0502020204030204" pitchFamily="34" charset="0"/>
                          <a:ea typeface="+mn-ea"/>
                          <a:cs typeface="+mn-cs"/>
                        </a:rPr>
                        <a:t> </a:t>
                      </a:r>
                      <a:r>
                        <a:rPr lang="fr-FR" sz="1100" u="none" strike="noStrike" kern="1200" dirty="0">
                          <a:solidFill>
                            <a:schemeClr val="tx1">
                              <a:lumMod val="65000"/>
                              <a:lumOff val="35000"/>
                            </a:schemeClr>
                          </a:solidFill>
                          <a:effectLst/>
                          <a:latin typeface="Calibri" panose="020F0502020204030204" pitchFamily="34" charset="0"/>
                          <a:ea typeface="+mn-ea"/>
                          <a:cs typeface="+mn-cs"/>
                        </a:rPr>
                        <a:t>d'OF </a:t>
                      </a:r>
                      <a:r>
                        <a:rPr lang="fr-FR" sz="1100" b="0" i="0" u="none" strike="noStrike" kern="1200" dirty="0">
                          <a:solidFill>
                            <a:schemeClr val="tx1">
                              <a:lumMod val="65000"/>
                              <a:lumOff val="35000"/>
                            </a:schemeClr>
                          </a:solidFill>
                          <a:effectLst/>
                          <a:latin typeface="Calibri" panose="020F0502020204030204" pitchFamily="34" charset="0"/>
                          <a:ea typeface="+mn-ea"/>
                          <a:cs typeface="+mn-cs"/>
                        </a:rPr>
                        <a:t>simulation 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2</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57204">
                <a:tc gridSpan="3">
                  <a:txBody>
                    <a:bodyPr/>
                    <a:lstStyle/>
                    <a:p>
                      <a:pPr algn="l" fontAlgn="ctr"/>
                      <a:r>
                        <a:rPr lang="fr-FR" sz="1100" b="1" i="0" u="none" strike="noStrike" dirty="0">
                          <a:solidFill>
                            <a:schemeClr val="bg1"/>
                          </a:solidFill>
                          <a:effectLst/>
                          <a:latin typeface="Calibri" panose="020F0502020204030204" pitchFamily="34" charset="0"/>
                        </a:rPr>
                        <a:t>Autres matériels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pPr marL="0" algn="ctr"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hMerge="1">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extLst>
                  <a:ext uri="{0D108BD9-81ED-4DB2-BD59-A6C34878D82A}">
                    <a16:rowId xmlns:a16="http://schemas.microsoft.com/office/drawing/2014/main" val="10015"/>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Tapis de jeu Equipe Implantation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1</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257204">
                <a:tc>
                  <a:txBody>
                    <a:bodyPr/>
                    <a:lstStyle/>
                    <a:p>
                      <a:pPr marL="0" algn="l"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Pochette de feutres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fr-FR" sz="1100" u="none" strike="noStrike" kern="1200" dirty="0">
                          <a:solidFill>
                            <a:schemeClr val="tx1">
                              <a:lumMod val="65000"/>
                              <a:lumOff val="35000"/>
                            </a:schemeClr>
                          </a:solidFill>
                          <a:effectLst/>
                          <a:latin typeface="Calibri" panose="020F0502020204030204" pitchFamily="34" charset="0"/>
                          <a:ea typeface="+mn-ea"/>
                          <a:cs typeface="+mn-cs"/>
                        </a:rPr>
                        <a:t>3</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endParaRPr lang="fr-FR" sz="1100" u="none" strike="noStrike" kern="1200" dirty="0">
                        <a:solidFill>
                          <a:schemeClr val="tx1">
                            <a:lumMod val="65000"/>
                            <a:lumOff val="35000"/>
                          </a:schemeClr>
                        </a:solidFill>
                        <a:effectLst/>
                        <a:latin typeface="Calibri" panose="020F0502020204030204" pitchFamily="34" charset="0"/>
                        <a:ea typeface="+mn-ea"/>
                        <a:cs typeface="+mn-cs"/>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bl>
          </a:graphicData>
        </a:graphic>
      </p:graphicFrame>
      <p:graphicFrame>
        <p:nvGraphicFramePr>
          <p:cNvPr id="16" name="Tableau 15"/>
          <p:cNvGraphicFramePr>
            <a:graphicFrameLocks noGrp="1"/>
          </p:cNvGraphicFramePr>
          <p:nvPr>
            <p:extLst>
              <p:ext uri="{D42A27DB-BD31-4B8C-83A1-F6EECF244321}">
                <p14:modId xmlns:p14="http://schemas.microsoft.com/office/powerpoint/2010/main" val="836163968"/>
              </p:ext>
            </p:extLst>
          </p:nvPr>
        </p:nvGraphicFramePr>
        <p:xfrm>
          <a:off x="4783387" y="5575373"/>
          <a:ext cx="4206781" cy="1106628"/>
        </p:xfrm>
        <a:graphic>
          <a:graphicData uri="http://schemas.openxmlformats.org/drawingml/2006/table">
            <a:tbl>
              <a:tblPr/>
              <a:tblGrid>
                <a:gridCol w="646083">
                  <a:extLst>
                    <a:ext uri="{9D8B030D-6E8A-4147-A177-3AD203B41FA5}">
                      <a16:colId xmlns:a16="http://schemas.microsoft.com/office/drawing/2014/main" val="20000"/>
                    </a:ext>
                  </a:extLst>
                </a:gridCol>
                <a:gridCol w="855855">
                  <a:extLst>
                    <a:ext uri="{9D8B030D-6E8A-4147-A177-3AD203B41FA5}">
                      <a16:colId xmlns:a16="http://schemas.microsoft.com/office/drawing/2014/main" val="20001"/>
                    </a:ext>
                  </a:extLst>
                </a:gridCol>
                <a:gridCol w="966595">
                  <a:extLst>
                    <a:ext uri="{9D8B030D-6E8A-4147-A177-3AD203B41FA5}">
                      <a16:colId xmlns:a16="http://schemas.microsoft.com/office/drawing/2014/main" val="20002"/>
                    </a:ext>
                  </a:extLst>
                </a:gridCol>
                <a:gridCol w="1738248">
                  <a:extLst>
                    <a:ext uri="{9D8B030D-6E8A-4147-A177-3AD203B41FA5}">
                      <a16:colId xmlns:a16="http://schemas.microsoft.com/office/drawing/2014/main" val="20003"/>
                    </a:ext>
                  </a:extLst>
                </a:gridCol>
              </a:tblGrid>
              <a:tr h="368876">
                <a:tc>
                  <a:txBody>
                    <a:bodyPr/>
                    <a:lstStyle/>
                    <a:p>
                      <a:pPr algn="ctr" fontAlgn="ctr"/>
                      <a:r>
                        <a:rPr lang="fr-FR" sz="1100" b="1" i="0" u="none" strike="noStrike" dirty="0">
                          <a:solidFill>
                            <a:schemeClr val="bg1"/>
                          </a:solidFill>
                          <a:latin typeface="Calibri" panose="020F0502020204030204" pitchFamily="34" charset="0"/>
                          <a:cs typeface="Arial" pitchFamily="34" charset="0"/>
                        </a:rPr>
                        <a:t>Couleurs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A8E0"/>
                    </a:solidFill>
                  </a:tcPr>
                </a:tc>
                <a:tc>
                  <a:txBody>
                    <a:bodyPr/>
                    <a:lstStyle/>
                    <a:p>
                      <a:pPr algn="ctr" fontAlgn="ctr"/>
                      <a:r>
                        <a:rPr lang="fr-FR" sz="1100" b="1" i="0" u="none" strike="noStrike" dirty="0">
                          <a:solidFill>
                            <a:schemeClr val="bg1"/>
                          </a:solidFill>
                          <a:latin typeface="Calibri" panose="020F0502020204030204" pitchFamily="34" charset="0"/>
                          <a:cs typeface="Arial" pitchFamily="34" charset="0"/>
                        </a:rPr>
                        <a:t>Surligneurs</a:t>
                      </a:r>
                      <a:r>
                        <a:rPr lang="fr-FR" sz="1100" b="1" i="0" u="none" strike="noStrike" baseline="0" dirty="0">
                          <a:solidFill>
                            <a:schemeClr val="bg1"/>
                          </a:solidFill>
                          <a:latin typeface="Calibri" panose="020F0502020204030204" pitchFamily="34" charset="0"/>
                          <a:cs typeface="Arial" pitchFamily="34" charset="0"/>
                        </a:rPr>
                        <a:t> bons</a:t>
                      </a:r>
                      <a:endParaRPr lang="fr-FR" sz="1100" b="1" i="0" u="none" strike="noStrike" dirty="0">
                        <a:solidFill>
                          <a:schemeClr val="bg1"/>
                        </a:solidFill>
                        <a:latin typeface="Calibri" panose="020F0502020204030204" pitchFamily="34" charset="0"/>
                        <a:cs typeface="Arial"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A8E0"/>
                    </a:solidFill>
                  </a:tcPr>
                </a:tc>
                <a:tc>
                  <a:txBody>
                    <a:bodyPr/>
                    <a:lstStyle/>
                    <a:p>
                      <a:pPr algn="ctr" fontAlgn="ctr"/>
                      <a:r>
                        <a:rPr lang="fr-FR" sz="1100" b="1" i="0" u="none" strike="noStrike" dirty="0">
                          <a:solidFill>
                            <a:schemeClr val="bg1"/>
                          </a:solidFill>
                          <a:latin typeface="Calibri" panose="020F0502020204030204" pitchFamily="34" charset="0"/>
                          <a:cs typeface="Arial" pitchFamily="34" charset="0"/>
                        </a:rPr>
                        <a:t>Surligneurs coupés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A8E0"/>
                    </a:solidFill>
                  </a:tcPr>
                </a:tc>
                <a:tc>
                  <a:txBody>
                    <a:bodyPr/>
                    <a:lstStyle/>
                    <a:p>
                      <a:pPr algn="ctr" fontAlgn="ctr"/>
                      <a:r>
                        <a:rPr lang="fr-FR" sz="1100" b="1" i="0" u="none" strike="noStrike" dirty="0">
                          <a:solidFill>
                            <a:schemeClr val="bg1"/>
                          </a:solidFill>
                          <a:latin typeface="Calibri" panose="020F0502020204030204" pitchFamily="34" charset="0"/>
                          <a:cs typeface="Arial" pitchFamily="34" charset="0"/>
                        </a:rPr>
                        <a:t>Remarque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7A8E0"/>
                    </a:solidFill>
                  </a:tcPr>
                </a:tc>
                <a:extLst>
                  <a:ext uri="{0D108BD9-81ED-4DB2-BD59-A6C34878D82A}">
                    <a16:rowId xmlns:a16="http://schemas.microsoft.com/office/drawing/2014/main" val="10000"/>
                  </a:ext>
                </a:extLst>
              </a:tr>
              <a:tr h="184438">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Bleu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fr-FR" altLang="fr-FR" sz="1100" b="0" dirty="0">
                          <a:solidFill>
                            <a:schemeClr val="tx1">
                              <a:lumMod val="65000"/>
                              <a:lumOff val="35000"/>
                            </a:schemeClr>
                          </a:solidFill>
                          <a:latin typeface="Calibri" panose="020F0502020204030204" pitchFamily="34" charset="0"/>
                        </a:rPr>
                        <a:t>Les surligneurs défectueux (pointe</a:t>
                      </a:r>
                      <a:r>
                        <a:rPr lang="fr-FR" altLang="fr-FR" sz="1100" b="0" baseline="0" dirty="0">
                          <a:solidFill>
                            <a:schemeClr val="tx1">
                              <a:lumMod val="65000"/>
                              <a:lumOff val="35000"/>
                            </a:schemeClr>
                          </a:solidFill>
                          <a:latin typeface="Calibri" panose="020F0502020204030204" pitchFamily="34" charset="0"/>
                        </a:rPr>
                        <a:t> </a:t>
                      </a:r>
                      <a:r>
                        <a:rPr lang="fr-FR" altLang="fr-FR" sz="1100" b="0" dirty="0">
                          <a:solidFill>
                            <a:schemeClr val="tx1">
                              <a:lumMod val="65000"/>
                              <a:lumOff val="35000"/>
                            </a:schemeClr>
                          </a:solidFill>
                          <a:latin typeface="Calibri" panose="020F0502020204030204" pitchFamily="34" charset="0"/>
                        </a:rPr>
                        <a:t>coupée) sont marqués</a:t>
                      </a:r>
                    </a:p>
                    <a:p>
                      <a:pPr marL="0" marR="0" indent="0" algn="ctr" defTabSz="914400" rtl="0" eaLnBrk="1" fontAlgn="ctr" latinLnBrk="0" hangingPunct="1">
                        <a:lnSpc>
                          <a:spcPct val="100000"/>
                        </a:lnSpc>
                        <a:spcBef>
                          <a:spcPts val="0"/>
                        </a:spcBef>
                        <a:spcAft>
                          <a:spcPts val="0"/>
                        </a:spcAft>
                        <a:buClrTx/>
                        <a:buSzTx/>
                        <a:buFontTx/>
                        <a:buNone/>
                        <a:tabLst/>
                        <a:defRPr/>
                      </a:pPr>
                      <a:r>
                        <a:rPr lang="fr-FR" altLang="fr-FR" sz="1100" b="0" dirty="0">
                          <a:solidFill>
                            <a:schemeClr val="tx1">
                              <a:lumMod val="65000"/>
                              <a:lumOff val="35000"/>
                            </a:schemeClr>
                          </a:solidFill>
                          <a:latin typeface="Calibri" panose="020F0502020204030204" pitchFamily="34" charset="0"/>
                        </a:rPr>
                        <a:t>d’une encoche</a:t>
                      </a:r>
                      <a:r>
                        <a:rPr lang="fr-FR" altLang="fr-FR" sz="1100" b="0" baseline="0" dirty="0">
                          <a:solidFill>
                            <a:schemeClr val="tx1">
                              <a:lumMod val="65000"/>
                              <a:lumOff val="35000"/>
                            </a:schemeClr>
                          </a:solidFill>
                          <a:latin typeface="Calibri" panose="020F0502020204030204" pitchFamily="34" charset="0"/>
                        </a:rPr>
                        <a:t> </a:t>
                      </a:r>
                      <a:r>
                        <a:rPr lang="fr-FR" altLang="fr-FR" sz="1100" b="0" dirty="0">
                          <a:solidFill>
                            <a:schemeClr val="tx1">
                              <a:lumMod val="65000"/>
                              <a:lumOff val="35000"/>
                            </a:schemeClr>
                          </a:solidFill>
                          <a:latin typeface="Calibri" panose="020F0502020204030204" pitchFamily="34" charset="0"/>
                        </a:rPr>
                        <a:t>dans la partie arrière du surligneur.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4438">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Jaune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algn="ctr" fontAlgn="ctr"/>
                      <a:endParaRPr lang="fr-FR" sz="1100" b="0" i="0" u="none" strike="noStrike" dirty="0">
                        <a:solidFill>
                          <a:schemeClr val="tx1">
                            <a:lumMod val="65000"/>
                            <a:lumOff val="35000"/>
                          </a:schemeClr>
                        </a:solidFill>
                        <a:latin typeface="Calibri" panose="020F0502020204030204" pitchFamily="34" charset="0"/>
                        <a:cs typeface="Arial"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4438">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Rose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algn="ctr" fontAlgn="ctr"/>
                      <a:endParaRPr lang="fr-FR" sz="1100" b="0" i="0" u="none" strike="noStrike" dirty="0">
                        <a:solidFill>
                          <a:schemeClr val="tx1">
                            <a:lumMod val="65000"/>
                            <a:lumOff val="35000"/>
                          </a:schemeClr>
                        </a:solidFill>
                        <a:latin typeface="Calibri" panose="020F0502020204030204" pitchFamily="34" charset="0"/>
                        <a:cs typeface="Arial"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4438">
                <a:tc>
                  <a:txBody>
                    <a:bodyPr/>
                    <a:lstStyle/>
                    <a:p>
                      <a:pPr algn="ctr" fontAlgn="ctr"/>
                      <a:r>
                        <a:rPr lang="fr-FR" sz="1100" b="0" i="0" u="none" strike="noStrike" dirty="0">
                          <a:solidFill>
                            <a:schemeClr val="tx1">
                              <a:lumMod val="65000"/>
                              <a:lumOff val="35000"/>
                            </a:schemeClr>
                          </a:solidFill>
                          <a:latin typeface="Calibri" panose="020F0502020204030204" pitchFamily="34" charset="0"/>
                          <a:cs typeface="Arial" pitchFamily="34" charset="0"/>
                        </a:rPr>
                        <a:t>Vert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ct val="0"/>
                        </a:spcBef>
                        <a:spcAft>
                          <a:spcPct val="0"/>
                        </a:spcAft>
                        <a:buClrTx/>
                        <a:buSzTx/>
                        <a:buFontTx/>
                        <a:buNone/>
                        <a:tabLst/>
                        <a:defRPr/>
                      </a:pPr>
                      <a:r>
                        <a:rPr lang="fr-FR" sz="1100" b="0" i="0" u="none" strike="noStrike" dirty="0">
                          <a:solidFill>
                            <a:schemeClr val="tx1">
                              <a:lumMod val="65000"/>
                              <a:lumOff val="35000"/>
                            </a:schemeClr>
                          </a:solidFill>
                          <a:latin typeface="Calibri" panose="020F0502020204030204" pitchFamily="34" charset="0"/>
                          <a:cs typeface="Arial"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ct val="0"/>
                        </a:spcBef>
                        <a:spcAft>
                          <a:spcPct val="0"/>
                        </a:spcAft>
                        <a:buClrTx/>
                        <a:buSzTx/>
                        <a:buFontTx/>
                        <a:buNone/>
                        <a:tabLst/>
                        <a:defRPr/>
                      </a:pPr>
                      <a:r>
                        <a:rPr lang="fr-FR" sz="1100" b="0" i="0" u="none" strike="noStrike" dirty="0">
                          <a:solidFill>
                            <a:schemeClr val="tx1">
                              <a:lumMod val="65000"/>
                              <a:lumOff val="35000"/>
                            </a:schemeClr>
                          </a:solidFill>
                          <a:latin typeface="Calibri" panose="020F0502020204030204" pitchFamily="34" charset="0"/>
                          <a:cs typeface="Arial"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marR="0" indent="0" algn="ctr" defTabSz="914400" rtl="0" eaLnBrk="1" fontAlgn="ctr" latinLnBrk="0" hangingPunct="1">
                        <a:lnSpc>
                          <a:spcPct val="100000"/>
                        </a:lnSpc>
                        <a:spcBef>
                          <a:spcPct val="0"/>
                        </a:spcBef>
                        <a:spcAft>
                          <a:spcPct val="0"/>
                        </a:spcAft>
                        <a:buClrTx/>
                        <a:buSzTx/>
                        <a:buFontTx/>
                        <a:buNone/>
                        <a:tabLst/>
                        <a:defRPr/>
                      </a:pPr>
                      <a:endParaRPr lang="fr-FR" sz="1100" b="0" i="0" u="none" strike="noStrike" dirty="0">
                        <a:solidFill>
                          <a:schemeClr val="tx1">
                            <a:lumMod val="65000"/>
                            <a:lumOff val="35000"/>
                          </a:schemeClr>
                        </a:solidFill>
                        <a:latin typeface="Calibri" panose="020F0502020204030204" pitchFamily="34" charset="0"/>
                        <a:cs typeface="Arial"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9" name="Flèche droite 18"/>
          <p:cNvSpPr/>
          <p:nvPr/>
        </p:nvSpPr>
        <p:spPr bwMode="auto">
          <a:xfrm>
            <a:off x="4342062" y="6012893"/>
            <a:ext cx="314960" cy="233680"/>
          </a:xfrm>
          <a:prstGeom prst="rightArrow">
            <a:avLst/>
          </a:prstGeom>
          <a:solidFill>
            <a:srgbClr val="27A8E0"/>
          </a:solidFill>
          <a:ln w="12700" cap="flat" cmpd="sng" algn="ctr">
            <a:noFill/>
            <a:prstDash val="solid"/>
            <a:round/>
            <a:headEnd type="none" w="med" len="med"/>
            <a:tailEnd type="none" w="med" len="med"/>
          </a:ln>
          <a:effectLst/>
          <a:extLst>
            <a:ext uri="{53640926-AAD7-44D8-BBD7-CCE9431645EC}">
              <a14:shadowObscured xmlns:a14="http://schemas.microsoft.com/office/drawing/2010/main" val="1"/>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fr-FR" sz="1200" b="0" i="0" u="none" strike="noStrike" cap="none" normalizeH="0" baseline="0" dirty="0">
              <a:ln>
                <a:noFill/>
              </a:ln>
              <a:solidFill>
                <a:srgbClr val="000000"/>
              </a:solidFill>
              <a:effectLst/>
              <a:latin typeface="Calibri" panose="020F050202020403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fr-FR" altLang="fr-FR" dirty="0"/>
              <a:t>Check List du matériel : Contenu de la clé USB</a:t>
            </a:r>
          </a:p>
        </p:txBody>
      </p:sp>
      <p:sp>
        <p:nvSpPr>
          <p:cNvPr id="5" name="Espace réservé du contenu 4"/>
          <p:cNvSpPr>
            <a:spLocks noGrp="1"/>
          </p:cNvSpPr>
          <p:nvPr>
            <p:ph idx="1"/>
          </p:nvPr>
        </p:nvSpPr>
        <p:spPr/>
        <p:txBody>
          <a:bodyPr/>
          <a:lstStyle/>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eaLnBrk="1" hangingPunct="1">
              <a:spcBef>
                <a:spcPct val="0"/>
              </a:spcBef>
            </a:pPr>
            <a:endParaRPr lang="fr-FR" altLang="fr-FR" sz="1400" dirty="0">
              <a:solidFill>
                <a:schemeClr val="tx1">
                  <a:lumMod val="65000"/>
                  <a:lumOff val="35000"/>
                </a:schemeClr>
              </a:solidFill>
            </a:endParaRPr>
          </a:p>
          <a:p>
            <a:pPr marL="182563" indent="-182563" eaLnBrk="1" hangingPunct="1">
              <a:spcBef>
                <a:spcPct val="0"/>
              </a:spcBef>
              <a:buNone/>
            </a:pPr>
            <a:r>
              <a:rPr lang="fr-FR" altLang="fr-FR" sz="1400" dirty="0">
                <a:solidFill>
                  <a:srgbClr val="FF3300"/>
                </a:solidFill>
              </a:rPr>
              <a:t>*	</a:t>
            </a:r>
            <a:r>
              <a:rPr lang="fr-FR" altLang="fr-FR" sz="1400" dirty="0">
                <a:solidFill>
                  <a:schemeClr val="tx1">
                    <a:lumMod val="65000"/>
                    <a:lumOff val="35000"/>
                  </a:schemeClr>
                </a:solidFill>
              </a:rPr>
              <a:t>Les Tickets de gamme et d’implantation ne sont pas des documents consommables. Toutefois, il peut arriver qu’ils se perdent, c’est la raison pour laquelle nous vous fournissons sur la clé USB le fichier permettant de les reproduire.</a:t>
            </a:r>
          </a:p>
          <a:p>
            <a:pPr marL="182563" indent="-182563" eaLnBrk="1" hangingPunct="1">
              <a:spcBef>
                <a:spcPct val="0"/>
              </a:spcBef>
              <a:buNone/>
            </a:pPr>
            <a:r>
              <a:rPr lang="fr-FR" altLang="fr-FR" sz="1400" dirty="0">
                <a:solidFill>
                  <a:schemeClr val="tx1">
                    <a:lumMod val="65000"/>
                    <a:lumOff val="35000"/>
                  </a:schemeClr>
                </a:solidFill>
              </a:rPr>
              <a:t>	En cas de perte d’un autre document non consommable, contactez-nous, nous vous le remplacerons gratuitement (nous vous facturerons seulement les frais de port)</a:t>
            </a:r>
            <a:endParaRPr lang="fr-FR" sz="1400" dirty="0">
              <a:solidFill>
                <a:schemeClr val="tx1">
                  <a:lumMod val="65000"/>
                  <a:lumOff val="35000"/>
                </a:schemeClr>
              </a:solidFill>
            </a:endParaRPr>
          </a:p>
        </p:txBody>
      </p:sp>
      <p:sp>
        <p:nvSpPr>
          <p:cNvPr id="31750" name="Espace réservé du pied de page 7"/>
          <p:cNvSpPr>
            <a:spLocks noGrp="1"/>
          </p:cNvSpPr>
          <p:nvPr>
            <p:ph type="ftr" sz="quarter" idx="10"/>
          </p:nvPr>
        </p:nvSpPr>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31746" name="Espace réservé du numéro de diapositive 4"/>
          <p:cNvSpPr>
            <a:spLocks noGrp="1"/>
          </p:cNvSpPr>
          <p:nvPr>
            <p:ph type="sldNum" sz="quarter" idx="11"/>
          </p:nvPr>
        </p:nvSpPr>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buNone/>
            </a:pPr>
            <a:fld id="{3F79ADE3-B8F4-407B-833C-36953C0BC7BE}" type="slidenum">
              <a:rPr lang="fr-FR" altLang="fr-FR" smtClean="0">
                <a:latin typeface="Calibri" panose="020F0502020204030204" pitchFamily="34" charset="0"/>
              </a:rPr>
              <a:pPr>
                <a:buNone/>
              </a:pPr>
              <a:t>11</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graphicFrame>
        <p:nvGraphicFramePr>
          <p:cNvPr id="17" name="Tableau 16"/>
          <p:cNvGraphicFramePr>
            <a:graphicFrameLocks noGrp="1"/>
          </p:cNvGraphicFramePr>
          <p:nvPr>
            <p:extLst>
              <p:ext uri="{D42A27DB-BD31-4B8C-83A1-F6EECF244321}">
                <p14:modId xmlns:p14="http://schemas.microsoft.com/office/powerpoint/2010/main" val="1710246418"/>
              </p:ext>
            </p:extLst>
          </p:nvPr>
        </p:nvGraphicFramePr>
        <p:xfrm>
          <a:off x="868361" y="1027008"/>
          <a:ext cx="7037149" cy="3963005"/>
        </p:xfrm>
        <a:graphic>
          <a:graphicData uri="http://schemas.openxmlformats.org/drawingml/2006/table">
            <a:tbl>
              <a:tblPr>
                <a:tableStyleId>{5C22544A-7EE6-4342-B048-85BDC9FD1C3A}</a:tableStyleId>
              </a:tblPr>
              <a:tblGrid>
                <a:gridCol w="2012306">
                  <a:extLst>
                    <a:ext uri="{9D8B030D-6E8A-4147-A177-3AD203B41FA5}">
                      <a16:colId xmlns:a16="http://schemas.microsoft.com/office/drawing/2014/main" val="20000"/>
                    </a:ext>
                  </a:extLst>
                </a:gridCol>
                <a:gridCol w="5024843">
                  <a:extLst>
                    <a:ext uri="{9D8B030D-6E8A-4147-A177-3AD203B41FA5}">
                      <a16:colId xmlns:a16="http://schemas.microsoft.com/office/drawing/2014/main" val="20001"/>
                    </a:ext>
                  </a:extLst>
                </a:gridCol>
              </a:tblGrid>
              <a:tr h="307276">
                <a:tc>
                  <a:txBody>
                    <a:bodyPr/>
                    <a:lstStyle/>
                    <a:p>
                      <a:pPr algn="l" fontAlgn="ctr"/>
                      <a:r>
                        <a:rPr lang="fr-FR" sz="1600" b="1" u="none" strike="noStrike" dirty="0">
                          <a:solidFill>
                            <a:schemeClr val="tx1">
                              <a:lumMod val="65000"/>
                              <a:lumOff val="35000"/>
                            </a:schemeClr>
                          </a:solidFill>
                          <a:effectLst/>
                          <a:latin typeface="Calibri" panose="020F0502020204030204" pitchFamily="34" charset="0"/>
                        </a:rPr>
                        <a:t>Contenu de la CLÉ</a:t>
                      </a:r>
                      <a:r>
                        <a:rPr lang="fr-FR" sz="1600" b="1" u="none" strike="noStrike" baseline="0" dirty="0">
                          <a:solidFill>
                            <a:schemeClr val="tx1">
                              <a:lumMod val="65000"/>
                              <a:lumOff val="35000"/>
                            </a:schemeClr>
                          </a:solidFill>
                          <a:effectLst/>
                          <a:latin typeface="Calibri" panose="020F0502020204030204" pitchFamily="34" charset="0"/>
                        </a:rPr>
                        <a:t> </a:t>
                      </a:r>
                      <a:r>
                        <a:rPr lang="fr-FR" sz="1600" b="1" u="none" strike="noStrike" dirty="0">
                          <a:solidFill>
                            <a:schemeClr val="tx1">
                              <a:lumMod val="65000"/>
                              <a:lumOff val="35000"/>
                            </a:schemeClr>
                          </a:solidFill>
                          <a:effectLst/>
                          <a:latin typeface="Calibri" panose="020F0502020204030204" pitchFamily="34" charset="0"/>
                        </a:rPr>
                        <a:t>USB</a:t>
                      </a:r>
                      <a:endParaRPr lang="fr-FR" sz="1600" b="1"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no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r>
                        <a:rPr lang="fr-FR" sz="1200" dirty="0">
                          <a:solidFill>
                            <a:schemeClr val="tx1">
                              <a:lumMod val="65000"/>
                              <a:lumOff val="35000"/>
                            </a:schemeClr>
                          </a:solidFill>
                          <a:latin typeface="Calibri" panose="020F0502020204030204" pitchFamily="34" charset="0"/>
                        </a:rPr>
                        <a:t>Contenu</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8045">
                <a:tc>
                  <a:txBody>
                    <a:bodyPr/>
                    <a:lstStyle/>
                    <a:p>
                      <a:pPr algn="l" fontAlgn="ctr"/>
                      <a:r>
                        <a:rPr lang="fr-FR" sz="1200" b="1" i="0" u="none" strike="noStrike" dirty="0">
                          <a:solidFill>
                            <a:schemeClr val="bg1"/>
                          </a:solidFill>
                          <a:effectLst/>
                          <a:latin typeface="Calibri" panose="020F0502020204030204" pitchFamily="34" charset="0"/>
                        </a:rPr>
                        <a:t>Répertoire "Animation"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a:txBody>
                    <a:bodyPr/>
                    <a:lstStyle/>
                    <a:p>
                      <a:pPr algn="l" fontAlgn="ctr"/>
                      <a:endParaRPr lang="fr-FR" sz="12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extLst>
                  <a:ext uri="{0D108BD9-81ED-4DB2-BD59-A6C34878D82A}">
                    <a16:rowId xmlns:a16="http://schemas.microsoft.com/office/drawing/2014/main" val="10001"/>
                  </a:ext>
                </a:extLst>
              </a:tr>
              <a:tr h="258045">
                <a:tc>
                  <a:txBody>
                    <a:bodyPr/>
                    <a:lstStyle/>
                    <a:p>
                      <a:pPr algn="l" fontAlgn="ctr"/>
                      <a:r>
                        <a:rPr lang="fr-FR" sz="1200" u="none" strike="noStrike" dirty="0">
                          <a:solidFill>
                            <a:schemeClr val="tx1">
                              <a:lumMod val="65000"/>
                              <a:lumOff val="35000"/>
                            </a:schemeClr>
                          </a:solidFill>
                          <a:effectLst/>
                          <a:latin typeface="Calibri" panose="020F0502020204030204" pitchFamily="34" charset="0"/>
                        </a:rPr>
                        <a:t>Guide d'animation</a:t>
                      </a:r>
                      <a:endParaRPr lang="fr-FR" sz="12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Fil conducteur de l’animation</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8045">
                <a:tc>
                  <a:txBody>
                    <a:bodyPr/>
                    <a:lstStyle/>
                    <a:p>
                      <a:pPr algn="l" fontAlgn="ctr"/>
                      <a:r>
                        <a:rPr lang="fr-FR" sz="1200" u="none" strike="noStrike" dirty="0">
                          <a:solidFill>
                            <a:schemeClr val="tx1">
                              <a:lumMod val="65000"/>
                              <a:lumOff val="35000"/>
                            </a:schemeClr>
                          </a:solidFill>
                          <a:effectLst/>
                          <a:latin typeface="Calibri" panose="020F0502020204030204" pitchFamily="34" charset="0"/>
                        </a:rPr>
                        <a:t>Tableau</a:t>
                      </a:r>
                      <a:r>
                        <a:rPr lang="fr-FR" sz="1200" u="none" strike="noStrike" baseline="0" dirty="0">
                          <a:solidFill>
                            <a:schemeClr val="tx1">
                              <a:lumMod val="65000"/>
                              <a:lumOff val="35000"/>
                            </a:schemeClr>
                          </a:solidFill>
                          <a:effectLst/>
                          <a:latin typeface="Calibri" panose="020F0502020204030204" pitchFamily="34" charset="0"/>
                        </a:rPr>
                        <a:t> de bord (</a:t>
                      </a:r>
                      <a:r>
                        <a:rPr lang="fr-FR" sz="1200" u="none" strike="noStrike" baseline="0" dirty="0" err="1">
                          <a:solidFill>
                            <a:schemeClr val="tx1">
                              <a:lumMod val="65000"/>
                              <a:lumOff val="35000"/>
                            </a:schemeClr>
                          </a:solidFill>
                          <a:effectLst/>
                          <a:latin typeface="Calibri" panose="020F0502020204030204" pitchFamily="34" charset="0"/>
                        </a:rPr>
                        <a:t>excel</a:t>
                      </a:r>
                      <a:r>
                        <a:rPr lang="fr-FR" sz="1200" u="none" strike="noStrike" baseline="0" dirty="0">
                          <a:solidFill>
                            <a:schemeClr val="tx1">
                              <a:lumMod val="65000"/>
                              <a:lumOff val="35000"/>
                            </a:schemeClr>
                          </a:solidFill>
                          <a:effectLst/>
                          <a:latin typeface="Calibri" panose="020F0502020204030204" pitchFamily="34" charset="0"/>
                        </a:rPr>
                        <a:t>)</a:t>
                      </a:r>
                      <a:endParaRPr lang="fr-FR" sz="1200" b="0" i="0" u="none" strike="noStrike" dirty="0">
                        <a:solidFill>
                          <a:schemeClr val="tx1">
                            <a:lumMod val="65000"/>
                            <a:lumOff val="35000"/>
                          </a:schemeClr>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Calcul des résultats de la simulation pour présentation par l’animateur.</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8045">
                <a:tc>
                  <a:txBody>
                    <a:bodyPr/>
                    <a:lstStyle/>
                    <a:p>
                      <a:pPr algn="l" fontAlgn="ctr"/>
                      <a:r>
                        <a:rPr lang="fr-FR" sz="1200" b="1" i="0" u="none" strike="noStrike" dirty="0">
                          <a:solidFill>
                            <a:schemeClr val="bg1"/>
                          </a:solidFill>
                          <a:effectLst/>
                          <a:latin typeface="Calibri" panose="020F0502020204030204" pitchFamily="34" charset="0"/>
                        </a:rPr>
                        <a:t>Répertoire "Consommables"</a:t>
                      </a: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tc>
                  <a:txBody>
                    <a:bodyPr/>
                    <a:lstStyle/>
                    <a:p>
                      <a:pPr algn="l" fontAlgn="ctr"/>
                      <a:endParaRPr lang="fr-FR" sz="1200" b="1" i="0" u="none" strike="noStrike" dirty="0">
                        <a:solidFill>
                          <a:schemeClr val="bg1"/>
                        </a:solidFill>
                        <a:effectLst/>
                        <a:latin typeface="Calibri" panose="020F0502020204030204" pitchFamily="34" charset="0"/>
                      </a:endParaRPr>
                    </a:p>
                  </a:txBody>
                  <a:tcPr marL="36000" marR="36000" marT="36000" marB="3600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rgbClr val="27A8E0"/>
                    </a:solidFill>
                  </a:tcPr>
                </a:tc>
                <a:extLst>
                  <a:ext uri="{0D108BD9-81ED-4DB2-BD59-A6C34878D82A}">
                    <a16:rowId xmlns:a16="http://schemas.microsoft.com/office/drawing/2014/main" val="10004"/>
                  </a:ext>
                </a:extLst>
              </a:tr>
              <a:tr h="249069">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Affiches au format A3</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couleur (si possible) recto, format A3, puis montage (par scotch : voir les instructions sur</a:t>
                      </a:r>
                      <a:r>
                        <a:rPr lang="fr-FR" sz="1200" u="none" strike="noStrike" kern="1200" baseline="0" dirty="0">
                          <a:solidFill>
                            <a:schemeClr val="tx1">
                              <a:lumMod val="65000"/>
                              <a:lumOff val="35000"/>
                            </a:schemeClr>
                          </a:solidFill>
                          <a:effectLst/>
                          <a:latin typeface="Calibri" panose="020F0502020204030204" pitchFamily="34" charset="0"/>
                          <a:ea typeface="+mn-ea"/>
                          <a:cs typeface="+mn-cs"/>
                        </a:rPr>
                        <a:t> la </a:t>
                      </a:r>
                      <a:r>
                        <a:rPr lang="fr-FR" sz="1200" u="none" strike="noStrike" kern="1200" dirty="0">
                          <a:solidFill>
                            <a:schemeClr val="tx1">
                              <a:lumMod val="65000"/>
                              <a:lumOff val="35000"/>
                            </a:schemeClr>
                          </a:solidFill>
                          <a:effectLst/>
                          <a:latin typeface="Calibri" panose="020F0502020204030204" pitchFamily="34" charset="0"/>
                          <a:ea typeface="+mn-ea"/>
                          <a:cs typeface="+mn-cs"/>
                        </a:rPr>
                        <a:t>1</a:t>
                      </a:r>
                      <a:r>
                        <a:rPr lang="fr-FR" sz="1200" u="none" strike="noStrike" kern="1200" baseline="30000" dirty="0">
                          <a:solidFill>
                            <a:schemeClr val="tx1">
                              <a:lumMod val="65000"/>
                              <a:lumOff val="35000"/>
                            </a:schemeClr>
                          </a:solidFill>
                          <a:effectLst/>
                          <a:latin typeface="Calibri" panose="020F0502020204030204" pitchFamily="34" charset="0"/>
                          <a:ea typeface="+mn-ea"/>
                          <a:cs typeface="+mn-cs"/>
                        </a:rPr>
                        <a:t>ère</a:t>
                      </a:r>
                      <a:r>
                        <a:rPr lang="fr-FR" sz="1200" u="none" strike="noStrike" kern="1200" dirty="0">
                          <a:solidFill>
                            <a:schemeClr val="tx1">
                              <a:lumMod val="65000"/>
                              <a:lumOff val="35000"/>
                            </a:schemeClr>
                          </a:solidFill>
                          <a:effectLst/>
                          <a:latin typeface="Calibri" panose="020F0502020204030204" pitchFamily="34" charset="0"/>
                          <a:ea typeface="+mn-ea"/>
                          <a:cs typeface="+mn-cs"/>
                        </a:rPr>
                        <a:t> diapo)</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49069">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Analyse des trajets</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noir et blanc sur papier</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49069">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Dossier du participant</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couleur recto-verso, au format A3 puis pliage en deux</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49069">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Enquête de motivation</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noir et blanc sur papier</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49069">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OF en-cours Simulation 1</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couleur sur bristol blanc puis découpe en 12 tickets.</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49069">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OF en-cours Simulation 2</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couleur sur bristol blanc puis découpe en 12 tickets.</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49069">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OF Simulation 1</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noir et blanc sur bristol blanc, ne pas découper.</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49069">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OF Simulation 2</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algn="l" defTabSz="914400" rtl="0" eaLnBrk="1" fontAlgn="ctr" latinLnBrk="0" hangingPunct="1"/>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noir et blanc sur bristol blanc, ne pas découper.</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49069">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Tickets de gamme </a:t>
                      </a:r>
                      <a:r>
                        <a:rPr lang="fr-FR" sz="1200" b="1" u="none" strike="noStrike" kern="1200" dirty="0">
                          <a:solidFill>
                            <a:srgbClr val="FF3300"/>
                          </a:solidFill>
                          <a:effectLst/>
                          <a:latin typeface="Calibri" panose="020F0502020204030204" pitchFamily="34" charset="0"/>
                          <a:ea typeface="+mn-ea"/>
                          <a:cs typeface="+mn-cs"/>
                        </a:rPr>
                        <a:t>*</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noir et blanc sur bristol blanc, à découper.</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49069">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Tickets d’implantation </a:t>
                      </a:r>
                      <a:r>
                        <a:rPr lang="fr-FR" sz="1200" b="1" u="none" strike="noStrike" kern="1200" dirty="0">
                          <a:solidFill>
                            <a:srgbClr val="FF3300"/>
                          </a:solidFill>
                          <a:effectLst/>
                          <a:latin typeface="Calibri" panose="020F0502020204030204" pitchFamily="34" charset="0"/>
                          <a:ea typeface="+mn-ea"/>
                          <a:cs typeface="+mn-cs"/>
                        </a:rPr>
                        <a:t>*</a:t>
                      </a:r>
                    </a:p>
                  </a:txBody>
                  <a:tcPr marL="7751" marR="93003"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ctr" latinLnBrk="0" hangingPunct="1">
                        <a:lnSpc>
                          <a:spcPct val="100000"/>
                        </a:lnSpc>
                        <a:spcBef>
                          <a:spcPct val="0"/>
                        </a:spcBef>
                        <a:spcAft>
                          <a:spcPct val="0"/>
                        </a:spcAft>
                        <a:buClrTx/>
                        <a:buSzTx/>
                        <a:buFontTx/>
                        <a:buNone/>
                        <a:tabLst/>
                        <a:defRPr/>
                      </a:pPr>
                      <a:r>
                        <a:rPr lang="fr-FR" sz="1200" u="none" strike="noStrike" kern="1200" dirty="0">
                          <a:solidFill>
                            <a:schemeClr val="tx1">
                              <a:lumMod val="65000"/>
                              <a:lumOff val="35000"/>
                            </a:schemeClr>
                          </a:solidFill>
                          <a:effectLst/>
                          <a:latin typeface="Calibri" panose="020F0502020204030204" pitchFamily="34" charset="0"/>
                          <a:ea typeface="+mn-ea"/>
                          <a:cs typeface="+mn-cs"/>
                        </a:rPr>
                        <a:t>Impression couleur, sur bristol blanc, à découper</a:t>
                      </a:r>
                    </a:p>
                  </a:txBody>
                  <a:tcPr marL="93003" marR="7751" marT="7604" marB="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Titre 1"/>
          <p:cNvSpPr>
            <a:spLocks noGrp="1"/>
          </p:cNvSpPr>
          <p:nvPr>
            <p:ph type="title"/>
          </p:nvPr>
        </p:nvSpPr>
        <p:spPr/>
        <p:txBody>
          <a:bodyPr/>
          <a:lstStyle/>
          <a:p>
            <a:r>
              <a:rPr lang="fr-FR" altLang="fr-FR"/>
              <a:t>Résumé des consignes</a:t>
            </a:r>
          </a:p>
        </p:txBody>
      </p:sp>
      <p:sp>
        <p:nvSpPr>
          <p:cNvPr id="33795" name="Espace réservé du contenu 2"/>
          <p:cNvSpPr>
            <a:spLocks noGrp="1"/>
          </p:cNvSpPr>
          <p:nvPr>
            <p:ph idx="1"/>
          </p:nvPr>
        </p:nvSpPr>
        <p:spPr>
          <a:xfrm>
            <a:off x="469900" y="1168400"/>
            <a:ext cx="8670925" cy="4941888"/>
          </a:xfrm>
        </p:spPr>
        <p:txBody>
          <a:bodyPr/>
          <a:lstStyle/>
          <a:p>
            <a:pPr marL="0" indent="12700">
              <a:lnSpc>
                <a:spcPct val="150000"/>
              </a:lnSpc>
              <a:buFontTx/>
              <a:buNone/>
            </a:pPr>
            <a:r>
              <a:rPr lang="fr-FR" altLang="fr-FR"/>
              <a:t>Nous mettons à la disposition de l’animateur une fiche plastifiée intitulée RÉSUMÉ DES CONSIGNES. Elle comporte tous les chiffres utiles pour organiser l’animation, ainsi qu’une liste des éléments à distribuer à chaque étape du scénario.</a:t>
            </a:r>
          </a:p>
        </p:txBody>
      </p:sp>
      <p:sp>
        <p:nvSpPr>
          <p:cNvPr id="3379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3379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10CF8A1C-4FD5-42F6-A38B-6B3D32672522}" type="slidenum">
              <a:rPr lang="fr-FR" altLang="fr-FR" smtClean="0">
                <a:latin typeface="Calibri" panose="020F0502020204030204" pitchFamily="34" charset="0"/>
              </a:rPr>
              <a:pPr>
                <a:spcBef>
                  <a:spcPct val="0"/>
                </a:spcBef>
                <a:buFontTx/>
                <a:buNone/>
              </a:pPr>
              <a:t>12</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BB3FFF52-DD4F-42E7-9CEE-DDA171469968}" type="slidenum">
              <a:rPr lang="fr-FR" altLang="fr-FR" smtClean="0">
                <a:latin typeface="Calibri" panose="020F0502020204030204" pitchFamily="34" charset="0"/>
              </a:rPr>
              <a:pPr>
                <a:spcBef>
                  <a:spcPct val="0"/>
                </a:spcBef>
                <a:buFontTx/>
                <a:buNone/>
              </a:pPr>
              <a:t>13</a:t>
            </a:fld>
            <a:endParaRPr lang="fr-FR" altLang="fr-FR" dirty="0">
              <a:latin typeface="Calibri" panose="020F0502020204030204" pitchFamily="34" charset="0"/>
            </a:endParaRPr>
          </a:p>
        </p:txBody>
      </p:sp>
      <p:sp>
        <p:nvSpPr>
          <p:cNvPr id="35843" name="Rectangle 2"/>
          <p:cNvSpPr>
            <a:spLocks noGrp="1" noChangeArrowheads="1"/>
          </p:cNvSpPr>
          <p:nvPr>
            <p:ph type="title"/>
          </p:nvPr>
        </p:nvSpPr>
        <p:spPr/>
        <p:txBody>
          <a:bodyPr/>
          <a:lstStyle/>
          <a:p>
            <a:pPr eaLnBrk="1" hangingPunct="1"/>
            <a:r>
              <a:rPr lang="fr-FR" altLang="fr-FR"/>
              <a:t>Objectif  du jeu</a:t>
            </a:r>
          </a:p>
        </p:txBody>
      </p:sp>
      <p:sp>
        <p:nvSpPr>
          <p:cNvPr id="35844" name="Rectangle 3"/>
          <p:cNvSpPr>
            <a:spLocks noGrp="1" noChangeArrowheads="1"/>
          </p:cNvSpPr>
          <p:nvPr>
            <p:ph type="body" idx="1"/>
          </p:nvPr>
        </p:nvSpPr>
        <p:spPr>
          <a:xfrm>
            <a:off x="1317625" y="1185863"/>
            <a:ext cx="7226300" cy="4757737"/>
          </a:xfrm>
        </p:spPr>
        <p:txBody>
          <a:bodyPr/>
          <a:lstStyle/>
          <a:p>
            <a:pPr marL="3175" indent="-3175" eaLnBrk="1" hangingPunct="1">
              <a:lnSpc>
                <a:spcPct val="150000"/>
              </a:lnSpc>
              <a:buFontTx/>
              <a:buNone/>
            </a:pPr>
            <a:r>
              <a:rPr lang="fr-FR" altLang="fr-FR" sz="1600" dirty="0"/>
              <a:t>Le jeu Le jeu du Lean </a:t>
            </a:r>
            <a:r>
              <a:rPr lang="fr-FR" altLang="fr-FR" sz="1600" dirty="0" err="1"/>
              <a:t>Manufacturing</a:t>
            </a:r>
            <a:r>
              <a:rPr lang="fr-FR" altLang="fr-FR" sz="1600" dirty="0"/>
              <a:t> a pour but de faire partager par les élèves ou les stagiaires l’expérience d’une </a:t>
            </a:r>
            <a:r>
              <a:rPr lang="fr-FR" altLang="fr-FR" sz="1600" i="1" dirty="0"/>
              <a:t>démarche Lean</a:t>
            </a:r>
            <a:r>
              <a:rPr lang="fr-FR" altLang="fr-FR" sz="1600" dirty="0"/>
              <a:t>.</a:t>
            </a:r>
          </a:p>
          <a:p>
            <a:pPr marL="3175" indent="-3175" eaLnBrk="1" hangingPunct="1">
              <a:lnSpc>
                <a:spcPct val="150000"/>
              </a:lnSpc>
              <a:buFontTx/>
              <a:buNone/>
            </a:pPr>
            <a:r>
              <a:rPr lang="fr-FR" altLang="fr-FR" sz="1600" dirty="0"/>
              <a:t>Les grands principes d’une telle démarche sont connus : analyse détaillée des flux et des processus, détection des gaspillages et des opérations sans valeur ajouté pour le client, élimination des facteurs d’instabilité, équilibrage du flux pour éviter tout ralentissement, etc.</a:t>
            </a:r>
          </a:p>
          <a:p>
            <a:pPr marL="3175" indent="-3175" eaLnBrk="1" hangingPunct="1">
              <a:lnSpc>
                <a:spcPct val="150000"/>
              </a:lnSpc>
              <a:buFontTx/>
              <a:buNone/>
            </a:pPr>
            <a:r>
              <a:rPr lang="fr-FR" altLang="fr-FR" sz="1600" dirty="0"/>
              <a:t>Le jeu permet aux participants de découvrir par eux-mêmes la voie à suivre pour conduire un projet d’amélioration. Cette voie relève en grande partie du bon sens, et il n’est pas nécessaire de disposer de connaissances préalables pour rentrer dans la simulation.</a:t>
            </a:r>
          </a:p>
          <a:p>
            <a:pPr marL="3175" indent="-3175" eaLnBrk="1" hangingPunct="1">
              <a:lnSpc>
                <a:spcPct val="150000"/>
              </a:lnSpc>
              <a:buFontTx/>
              <a:buNone/>
            </a:pPr>
            <a:endParaRPr lang="fr-FR" altLang="fr-FR" sz="1600" dirty="0"/>
          </a:p>
        </p:txBody>
      </p:sp>
      <p:sp>
        <p:nvSpPr>
          <p:cNvPr id="35846"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9F6AD40-2DE2-4C5B-BB15-BDB86B9204C6}" type="slidenum">
              <a:rPr lang="fr-FR" altLang="fr-FR" smtClean="0">
                <a:latin typeface="Calibri" panose="020F0502020204030204" pitchFamily="34" charset="0"/>
              </a:rPr>
              <a:pPr>
                <a:spcBef>
                  <a:spcPct val="0"/>
                </a:spcBef>
                <a:buFontTx/>
                <a:buNone/>
              </a:pPr>
              <a:t>14</a:t>
            </a:fld>
            <a:endParaRPr lang="fr-FR" altLang="fr-FR" dirty="0">
              <a:latin typeface="Calibri" panose="020F0502020204030204" pitchFamily="34" charset="0"/>
            </a:endParaRPr>
          </a:p>
        </p:txBody>
      </p:sp>
      <p:sp>
        <p:nvSpPr>
          <p:cNvPr id="37891" name="Rectangle 2"/>
          <p:cNvSpPr>
            <a:spLocks noGrp="1" noChangeArrowheads="1"/>
          </p:cNvSpPr>
          <p:nvPr>
            <p:ph type="title"/>
          </p:nvPr>
        </p:nvSpPr>
        <p:spPr/>
        <p:txBody>
          <a:bodyPr/>
          <a:lstStyle/>
          <a:p>
            <a:pPr eaLnBrk="1" hangingPunct="1"/>
            <a:r>
              <a:rPr lang="fr-FR" altLang="fr-FR"/>
              <a:t>Déroulement de la simulation</a:t>
            </a:r>
          </a:p>
        </p:txBody>
      </p:sp>
      <p:sp>
        <p:nvSpPr>
          <p:cNvPr id="11" name="Rectangle 5"/>
          <p:cNvSpPr txBox="1">
            <a:spLocks noChangeArrowheads="1"/>
          </p:cNvSpPr>
          <p:nvPr/>
        </p:nvSpPr>
        <p:spPr bwMode="auto">
          <a:xfrm>
            <a:off x="4213543" y="596900"/>
            <a:ext cx="4231082" cy="900113"/>
          </a:xfrm>
          <a:prstGeom prst="rect">
            <a:avLst/>
          </a:prstGeom>
          <a:noFill/>
          <a:ln w="9525">
            <a:solidFill>
              <a:schemeClr val="bg2"/>
            </a:solidFill>
            <a:miter lim="800000"/>
            <a:headEnd/>
            <a:tailEnd/>
          </a:ln>
        </p:spPr>
        <p:txBody>
          <a:bodyPr lIns="144000" anchor="ctr"/>
          <a:lstStyle/>
          <a:p>
            <a:pPr marL="355600" indent="-342900" eaLnBrk="1" hangingPunct="1">
              <a:spcBef>
                <a:spcPct val="20000"/>
              </a:spcBef>
              <a:buFont typeface="+mj-lt"/>
              <a:buAutoNum type="alphaLcPeriod"/>
              <a:defRPr/>
            </a:pPr>
            <a:r>
              <a:rPr lang="fr-FR" sz="1600" kern="0" dirty="0">
                <a:latin typeface="Calibri" panose="020F0502020204030204" pitchFamily="34" charset="0"/>
              </a:rPr>
              <a:t>Introduction</a:t>
            </a:r>
          </a:p>
          <a:p>
            <a:pPr marL="355600" indent="-342900" eaLnBrk="1" hangingPunct="1">
              <a:spcBef>
                <a:spcPct val="20000"/>
              </a:spcBef>
              <a:buFont typeface="+mj-lt"/>
              <a:buAutoNum type="alphaLcPeriod"/>
              <a:defRPr/>
            </a:pPr>
            <a:r>
              <a:rPr lang="fr-FR" sz="1600" kern="0" dirty="0">
                <a:latin typeface="Calibri" panose="020F0502020204030204" pitchFamily="34" charset="0"/>
              </a:rPr>
              <a:t>Les participants prennent connaissance</a:t>
            </a:r>
            <a:br>
              <a:rPr lang="fr-FR" sz="1600" kern="0" dirty="0">
                <a:latin typeface="Calibri" panose="020F0502020204030204" pitchFamily="34" charset="0"/>
              </a:rPr>
            </a:br>
            <a:r>
              <a:rPr lang="fr-FR" sz="1600" kern="0" dirty="0">
                <a:latin typeface="Calibri" panose="020F0502020204030204" pitchFamily="34" charset="0"/>
              </a:rPr>
              <a:t>de l’atelier de production</a:t>
            </a:r>
          </a:p>
        </p:txBody>
      </p:sp>
      <p:sp>
        <p:nvSpPr>
          <p:cNvPr id="37894" name="Rectangle 7"/>
          <p:cNvSpPr>
            <a:spLocks noChangeArrowheads="1"/>
          </p:cNvSpPr>
          <p:nvPr/>
        </p:nvSpPr>
        <p:spPr bwMode="auto">
          <a:xfrm>
            <a:off x="1827530" y="4929188"/>
            <a:ext cx="2052638" cy="504825"/>
          </a:xfrm>
          <a:prstGeom prst="rect">
            <a:avLst/>
          </a:prstGeom>
          <a:solidFill>
            <a:srgbClr val="0066CC"/>
          </a:solidFill>
          <a:ln w="9525" algn="ctr">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chemeClr val="bg1"/>
                </a:solidFill>
                <a:latin typeface="Calibri" panose="020F0502020204030204" pitchFamily="34" charset="0"/>
              </a:rPr>
              <a:t>5. Simulation 2</a:t>
            </a:r>
          </a:p>
        </p:txBody>
      </p:sp>
      <p:cxnSp>
        <p:nvCxnSpPr>
          <p:cNvPr id="37895" name="AutoShape 11"/>
          <p:cNvCxnSpPr>
            <a:cxnSpLocks noChangeShapeType="1"/>
            <a:stCxn id="37897" idx="2"/>
            <a:endCxn id="37898" idx="0"/>
          </p:cNvCxnSpPr>
          <p:nvPr/>
        </p:nvCxnSpPr>
        <p:spPr bwMode="auto">
          <a:xfrm rot="5400000">
            <a:off x="2699861" y="1448594"/>
            <a:ext cx="307975"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896" name="AutoShape 12"/>
          <p:cNvCxnSpPr>
            <a:cxnSpLocks noChangeShapeType="1"/>
            <a:stCxn id="37898" idx="2"/>
            <a:endCxn id="37925" idx="0"/>
          </p:cNvCxnSpPr>
          <p:nvPr/>
        </p:nvCxnSpPr>
        <p:spPr bwMode="auto">
          <a:xfrm rot="5400000">
            <a:off x="2714149" y="2291556"/>
            <a:ext cx="279400"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897" name="Rectangle 13"/>
          <p:cNvSpPr>
            <a:spLocks noChangeArrowheads="1"/>
          </p:cNvSpPr>
          <p:nvPr/>
        </p:nvSpPr>
        <p:spPr bwMode="auto">
          <a:xfrm>
            <a:off x="1827530" y="790575"/>
            <a:ext cx="2052638" cy="503238"/>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Introduction</a:t>
            </a:r>
          </a:p>
        </p:txBody>
      </p:sp>
      <p:sp>
        <p:nvSpPr>
          <p:cNvPr id="37898" name="Rectangle 15"/>
          <p:cNvSpPr>
            <a:spLocks noChangeArrowheads="1"/>
          </p:cNvSpPr>
          <p:nvPr/>
        </p:nvSpPr>
        <p:spPr bwMode="auto">
          <a:xfrm>
            <a:off x="1827530" y="1603375"/>
            <a:ext cx="2052638" cy="547688"/>
          </a:xfrm>
          <a:prstGeom prst="rect">
            <a:avLst/>
          </a:prstGeom>
          <a:solidFill>
            <a:srgbClr val="0066CC"/>
          </a:solidFill>
          <a:ln w="9525" algn="ctr">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chemeClr val="bg1"/>
                </a:solidFill>
                <a:latin typeface="Calibri" panose="020F0502020204030204" pitchFamily="34" charset="0"/>
              </a:rPr>
              <a:t>1. Simulation 1</a:t>
            </a:r>
          </a:p>
        </p:txBody>
      </p:sp>
      <p:cxnSp>
        <p:nvCxnSpPr>
          <p:cNvPr id="37899" name="AutoShape 16"/>
          <p:cNvCxnSpPr>
            <a:cxnSpLocks noChangeShapeType="1"/>
            <a:stCxn id="11" idx="1"/>
            <a:endCxn id="37897" idx="3"/>
          </p:cNvCxnSpPr>
          <p:nvPr/>
        </p:nvCxnSpPr>
        <p:spPr bwMode="auto">
          <a:xfrm flipH="1" flipV="1">
            <a:off x="3880168" y="1042194"/>
            <a:ext cx="333375" cy="47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 name="Rectangle 5"/>
          <p:cNvSpPr txBox="1">
            <a:spLocks noChangeArrowheads="1"/>
          </p:cNvSpPr>
          <p:nvPr/>
        </p:nvSpPr>
        <p:spPr bwMode="auto">
          <a:xfrm>
            <a:off x="4213543" y="1660525"/>
            <a:ext cx="4967287" cy="431800"/>
          </a:xfrm>
          <a:prstGeom prst="rect">
            <a:avLst/>
          </a:prstGeom>
          <a:noFill/>
          <a:ln w="9525">
            <a:solidFill>
              <a:schemeClr val="bg2"/>
            </a:solidFill>
            <a:miter lim="800000"/>
            <a:headEnd/>
            <a:tailEnd/>
          </a:ln>
        </p:spPr>
        <p:txBody>
          <a:bodyPr lIns="144000" anchor="ctr">
            <a:normAutofit/>
          </a:bodyPr>
          <a:lstStyle/>
          <a:p>
            <a:pPr eaLnBrk="1" hangingPunct="1">
              <a:lnSpc>
                <a:spcPct val="120000"/>
              </a:lnSpc>
              <a:spcBef>
                <a:spcPct val="20000"/>
              </a:spcBef>
              <a:defRPr/>
            </a:pPr>
            <a:r>
              <a:rPr lang="fr-FR" sz="1600" kern="0" dirty="0">
                <a:latin typeface="Calibri" panose="020F0502020204030204" pitchFamily="34" charset="0"/>
              </a:rPr>
              <a:t>Ils réalisent une </a:t>
            </a:r>
            <a:r>
              <a:rPr lang="fr-FR" sz="1600" kern="0" dirty="0">
                <a:solidFill>
                  <a:srgbClr val="FF0000"/>
                </a:solidFill>
                <a:latin typeface="Calibri" panose="020F0502020204030204" pitchFamily="34" charset="0"/>
              </a:rPr>
              <a:t>première</a:t>
            </a:r>
            <a:r>
              <a:rPr lang="fr-FR" sz="1600" kern="0" dirty="0">
                <a:latin typeface="Calibri" panose="020F0502020204030204" pitchFamily="34" charset="0"/>
              </a:rPr>
              <a:t> </a:t>
            </a:r>
            <a:r>
              <a:rPr lang="fr-FR" sz="1600" kern="0" dirty="0">
                <a:solidFill>
                  <a:srgbClr val="FF0000"/>
                </a:solidFill>
                <a:latin typeface="Calibri" panose="020F0502020204030204" pitchFamily="34" charset="0"/>
              </a:rPr>
              <a:t>production</a:t>
            </a:r>
          </a:p>
        </p:txBody>
      </p:sp>
      <p:cxnSp>
        <p:nvCxnSpPr>
          <p:cNvPr id="37901" name="AutoShape 16"/>
          <p:cNvCxnSpPr>
            <a:cxnSpLocks noChangeShapeType="1"/>
            <a:stCxn id="31" idx="1"/>
            <a:endCxn id="37898" idx="3"/>
          </p:cNvCxnSpPr>
          <p:nvPr/>
        </p:nvCxnSpPr>
        <p:spPr bwMode="auto">
          <a:xfrm rot="10800000">
            <a:off x="3880168" y="1876425"/>
            <a:ext cx="333375"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 name="Rectangle 5"/>
          <p:cNvSpPr txBox="1">
            <a:spLocks noChangeArrowheads="1"/>
          </p:cNvSpPr>
          <p:nvPr/>
        </p:nvSpPr>
        <p:spPr bwMode="auto">
          <a:xfrm>
            <a:off x="4213543" y="4965700"/>
            <a:ext cx="4967287" cy="433388"/>
          </a:xfrm>
          <a:prstGeom prst="rect">
            <a:avLst/>
          </a:prstGeom>
          <a:noFill/>
          <a:ln w="9525">
            <a:solidFill>
              <a:schemeClr val="bg2"/>
            </a:solidFill>
            <a:miter lim="800000"/>
            <a:headEnd/>
            <a:tailEnd/>
          </a:ln>
        </p:spPr>
        <p:txBody>
          <a:bodyPr lIns="144000" anchor="ctr">
            <a:normAutofit/>
          </a:bodyPr>
          <a:lstStyle/>
          <a:p>
            <a:pPr eaLnBrk="1" hangingPunct="1">
              <a:lnSpc>
                <a:spcPct val="120000"/>
              </a:lnSpc>
              <a:spcBef>
                <a:spcPct val="20000"/>
              </a:spcBef>
              <a:defRPr/>
            </a:pPr>
            <a:r>
              <a:rPr lang="fr-FR" sz="1600" kern="0" dirty="0">
                <a:latin typeface="Calibri" panose="020F0502020204030204" pitchFamily="34" charset="0"/>
              </a:rPr>
              <a:t>Ils réalisent une </a:t>
            </a:r>
            <a:r>
              <a:rPr lang="fr-FR" sz="1600" kern="0" dirty="0">
                <a:solidFill>
                  <a:srgbClr val="FF0000"/>
                </a:solidFill>
                <a:latin typeface="Calibri" panose="020F0502020204030204" pitchFamily="34" charset="0"/>
              </a:rPr>
              <a:t>deuxième</a:t>
            </a:r>
            <a:r>
              <a:rPr lang="fr-FR" sz="1600" kern="0" dirty="0">
                <a:latin typeface="Calibri" panose="020F0502020204030204" pitchFamily="34" charset="0"/>
              </a:rPr>
              <a:t> </a:t>
            </a:r>
            <a:r>
              <a:rPr lang="fr-FR" sz="1600" kern="0" dirty="0">
                <a:solidFill>
                  <a:srgbClr val="FF0000"/>
                </a:solidFill>
                <a:latin typeface="Calibri" panose="020F0502020204030204" pitchFamily="34" charset="0"/>
              </a:rPr>
              <a:t>production</a:t>
            </a:r>
          </a:p>
        </p:txBody>
      </p:sp>
      <p:cxnSp>
        <p:nvCxnSpPr>
          <p:cNvPr id="37903" name="AutoShape 16"/>
          <p:cNvCxnSpPr>
            <a:cxnSpLocks noChangeShapeType="1"/>
            <a:stCxn id="43" idx="1"/>
            <a:endCxn id="37894" idx="3"/>
          </p:cNvCxnSpPr>
          <p:nvPr/>
        </p:nvCxnSpPr>
        <p:spPr bwMode="auto">
          <a:xfrm rot="10800000">
            <a:off x="3880168" y="5181600"/>
            <a:ext cx="333375"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904" name="ZoneTexte 54"/>
          <p:cNvSpPr txBox="1">
            <a:spLocks noChangeArrowheads="1"/>
          </p:cNvSpPr>
          <p:nvPr/>
        </p:nvSpPr>
        <p:spPr bwMode="auto">
          <a:xfrm>
            <a:off x="581343" y="839788"/>
            <a:ext cx="1017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45 min.</a:t>
            </a:r>
          </a:p>
        </p:txBody>
      </p:sp>
      <p:sp>
        <p:nvSpPr>
          <p:cNvPr id="37905" name="ZoneTexte 66"/>
          <p:cNvSpPr txBox="1">
            <a:spLocks noChangeArrowheads="1"/>
          </p:cNvSpPr>
          <p:nvPr/>
        </p:nvSpPr>
        <p:spPr bwMode="auto">
          <a:xfrm>
            <a:off x="284480" y="6246813"/>
            <a:ext cx="1327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rPr>
              <a:t>Total 5 h</a:t>
            </a:r>
          </a:p>
        </p:txBody>
      </p:sp>
      <p:sp>
        <p:nvSpPr>
          <p:cNvPr id="37906"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37908" name="Rectangle 7"/>
          <p:cNvSpPr>
            <a:spLocks noChangeArrowheads="1"/>
          </p:cNvSpPr>
          <p:nvPr/>
        </p:nvSpPr>
        <p:spPr bwMode="auto">
          <a:xfrm>
            <a:off x="1827530" y="4225925"/>
            <a:ext cx="2052638" cy="461963"/>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4. Améliorations</a:t>
            </a:r>
          </a:p>
        </p:txBody>
      </p:sp>
      <p:sp>
        <p:nvSpPr>
          <p:cNvPr id="37" name="Rectangle 5"/>
          <p:cNvSpPr txBox="1">
            <a:spLocks noChangeArrowheads="1"/>
          </p:cNvSpPr>
          <p:nvPr/>
        </p:nvSpPr>
        <p:spPr bwMode="auto">
          <a:xfrm>
            <a:off x="4213543" y="4235450"/>
            <a:ext cx="4967287" cy="433388"/>
          </a:xfrm>
          <a:prstGeom prst="rect">
            <a:avLst/>
          </a:prstGeom>
          <a:noFill/>
          <a:ln w="9525">
            <a:solidFill>
              <a:schemeClr val="bg2"/>
            </a:solidFill>
            <a:miter lim="800000"/>
            <a:headEnd/>
            <a:tailEnd/>
          </a:ln>
        </p:spPr>
        <p:txBody>
          <a:bodyPr lIns="144000" anchor="ctr">
            <a:normAutofit/>
          </a:bodyPr>
          <a:lstStyle/>
          <a:p>
            <a:pPr eaLnBrk="1" hangingPunct="1">
              <a:lnSpc>
                <a:spcPct val="120000"/>
              </a:lnSpc>
              <a:spcBef>
                <a:spcPct val="20000"/>
              </a:spcBef>
              <a:defRPr/>
            </a:pPr>
            <a:r>
              <a:rPr lang="fr-FR" sz="1600" kern="0" dirty="0">
                <a:latin typeface="Calibri" panose="020F0502020204030204" pitchFamily="34" charset="0"/>
              </a:rPr>
              <a:t>Ils proposent et mettent en place les </a:t>
            </a:r>
            <a:r>
              <a:rPr lang="fr-FR" sz="1600" kern="0" dirty="0">
                <a:solidFill>
                  <a:srgbClr val="FF0000"/>
                </a:solidFill>
                <a:latin typeface="Calibri" panose="020F0502020204030204" pitchFamily="34" charset="0"/>
              </a:rPr>
              <a:t>améliorations</a:t>
            </a:r>
          </a:p>
        </p:txBody>
      </p:sp>
      <p:cxnSp>
        <p:nvCxnSpPr>
          <p:cNvPr id="37910" name="AutoShape 16"/>
          <p:cNvCxnSpPr>
            <a:cxnSpLocks noChangeShapeType="1"/>
            <a:stCxn id="37" idx="1"/>
            <a:endCxn id="37908" idx="3"/>
          </p:cNvCxnSpPr>
          <p:nvPr/>
        </p:nvCxnSpPr>
        <p:spPr bwMode="auto">
          <a:xfrm rot="10800000" flipV="1">
            <a:off x="3880168" y="4452938"/>
            <a:ext cx="333375" cy="47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911" name="AutoShape 12"/>
          <p:cNvCxnSpPr>
            <a:cxnSpLocks noChangeShapeType="1"/>
            <a:stCxn id="37908" idx="2"/>
            <a:endCxn id="37894" idx="0"/>
          </p:cNvCxnSpPr>
          <p:nvPr/>
        </p:nvCxnSpPr>
        <p:spPr bwMode="auto">
          <a:xfrm rot="5400000">
            <a:off x="2733199" y="4809331"/>
            <a:ext cx="241300"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912" name="Rectangle 7"/>
          <p:cNvSpPr>
            <a:spLocks noChangeArrowheads="1"/>
          </p:cNvSpPr>
          <p:nvPr/>
        </p:nvSpPr>
        <p:spPr bwMode="auto">
          <a:xfrm>
            <a:off x="1827530" y="5753100"/>
            <a:ext cx="2052638" cy="504825"/>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6. Synthèse</a:t>
            </a:r>
          </a:p>
        </p:txBody>
      </p:sp>
      <p:sp>
        <p:nvSpPr>
          <p:cNvPr id="48" name="Rectangle 5"/>
          <p:cNvSpPr txBox="1">
            <a:spLocks noChangeArrowheads="1"/>
          </p:cNvSpPr>
          <p:nvPr/>
        </p:nvSpPr>
        <p:spPr bwMode="auto">
          <a:xfrm>
            <a:off x="4213543" y="5792788"/>
            <a:ext cx="4967287" cy="431800"/>
          </a:xfrm>
          <a:prstGeom prst="rect">
            <a:avLst/>
          </a:prstGeom>
          <a:noFill/>
          <a:ln w="9525">
            <a:solidFill>
              <a:schemeClr val="bg2"/>
            </a:solidFill>
            <a:miter lim="800000"/>
            <a:headEnd/>
            <a:tailEnd/>
          </a:ln>
        </p:spPr>
        <p:txBody>
          <a:bodyPr lIns="144000" anchor="ctr">
            <a:normAutofit/>
          </a:bodyPr>
          <a:lstStyle/>
          <a:p>
            <a:pPr eaLnBrk="1" hangingPunct="1">
              <a:lnSpc>
                <a:spcPct val="120000"/>
              </a:lnSpc>
              <a:spcBef>
                <a:spcPct val="20000"/>
              </a:spcBef>
              <a:defRPr/>
            </a:pPr>
            <a:r>
              <a:rPr lang="fr-FR" sz="1600" kern="0" dirty="0">
                <a:latin typeface="Calibri" panose="020F0502020204030204" pitchFamily="34" charset="0"/>
              </a:rPr>
              <a:t>Ils tirent les conclusions de la simulation</a:t>
            </a:r>
          </a:p>
        </p:txBody>
      </p:sp>
      <p:cxnSp>
        <p:nvCxnSpPr>
          <p:cNvPr id="37914" name="AutoShape 16"/>
          <p:cNvCxnSpPr>
            <a:cxnSpLocks noChangeShapeType="1"/>
            <a:stCxn id="48" idx="1"/>
            <a:endCxn id="37912" idx="3"/>
          </p:cNvCxnSpPr>
          <p:nvPr/>
        </p:nvCxnSpPr>
        <p:spPr bwMode="auto">
          <a:xfrm rot="10800000">
            <a:off x="3880168" y="6005513"/>
            <a:ext cx="333375"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915" name="AutoShape 12"/>
          <p:cNvCxnSpPr>
            <a:cxnSpLocks noChangeShapeType="1"/>
            <a:stCxn id="37894" idx="2"/>
            <a:endCxn id="37912" idx="0"/>
          </p:cNvCxnSpPr>
          <p:nvPr/>
        </p:nvCxnSpPr>
        <p:spPr bwMode="auto">
          <a:xfrm rot="5400000">
            <a:off x="2694305" y="5594350"/>
            <a:ext cx="319088"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916" name="Rectangle 7"/>
          <p:cNvSpPr>
            <a:spLocks noChangeArrowheads="1"/>
          </p:cNvSpPr>
          <p:nvPr/>
        </p:nvSpPr>
        <p:spPr bwMode="auto">
          <a:xfrm>
            <a:off x="1827530" y="3303588"/>
            <a:ext cx="2052638" cy="461962"/>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3. Analyse</a:t>
            </a:r>
          </a:p>
        </p:txBody>
      </p:sp>
      <p:sp>
        <p:nvSpPr>
          <p:cNvPr id="73" name="Rectangle 5"/>
          <p:cNvSpPr txBox="1">
            <a:spLocks noChangeArrowheads="1"/>
          </p:cNvSpPr>
          <p:nvPr/>
        </p:nvSpPr>
        <p:spPr bwMode="auto">
          <a:xfrm>
            <a:off x="4213543" y="3078163"/>
            <a:ext cx="4968875" cy="912812"/>
          </a:xfrm>
          <a:prstGeom prst="rect">
            <a:avLst/>
          </a:prstGeom>
          <a:noFill/>
          <a:ln w="9525">
            <a:solidFill>
              <a:schemeClr val="bg2"/>
            </a:solidFill>
            <a:miter lim="800000"/>
            <a:headEnd/>
            <a:tailEnd/>
          </a:ln>
        </p:spPr>
        <p:txBody>
          <a:bodyPr lIns="144000" anchor="ctr"/>
          <a:lstStyle/>
          <a:p>
            <a:pPr eaLnBrk="1" hangingPunct="1">
              <a:lnSpc>
                <a:spcPct val="120000"/>
              </a:lnSpc>
              <a:spcBef>
                <a:spcPct val="20000"/>
              </a:spcBef>
              <a:defRPr/>
            </a:pPr>
            <a:r>
              <a:rPr lang="fr-FR" sz="1600" kern="0" dirty="0">
                <a:latin typeface="Calibri" panose="020F0502020204030204" pitchFamily="34" charset="0"/>
              </a:rPr>
              <a:t>Recherche des causes à l’origine des performances. </a:t>
            </a:r>
            <a:br>
              <a:rPr lang="fr-FR" sz="1600" kern="0" dirty="0">
                <a:latin typeface="Calibri" panose="020F0502020204030204" pitchFamily="34" charset="0"/>
              </a:rPr>
            </a:br>
            <a:r>
              <a:rPr lang="fr-FR" sz="1600" kern="0" dirty="0">
                <a:latin typeface="Calibri" panose="020F0502020204030204" pitchFamily="34" charset="0"/>
              </a:rPr>
              <a:t>Au cours des phases 3 et 4 les participants se répartissent en </a:t>
            </a:r>
            <a:r>
              <a:rPr lang="fr-FR" sz="1600" kern="0" dirty="0">
                <a:solidFill>
                  <a:srgbClr val="FF0000"/>
                </a:solidFill>
                <a:latin typeface="Calibri" panose="020F0502020204030204" pitchFamily="34" charset="0"/>
              </a:rPr>
              <a:t>4 groupes projets</a:t>
            </a:r>
            <a:r>
              <a:rPr lang="fr-FR" sz="1600" kern="0" dirty="0">
                <a:latin typeface="Calibri" panose="020F0502020204030204" pitchFamily="34" charset="0"/>
              </a:rPr>
              <a:t>.</a:t>
            </a:r>
          </a:p>
        </p:txBody>
      </p:sp>
      <p:cxnSp>
        <p:nvCxnSpPr>
          <p:cNvPr id="37918" name="AutoShape 16"/>
          <p:cNvCxnSpPr>
            <a:cxnSpLocks noChangeShapeType="1"/>
            <a:stCxn id="73" idx="1"/>
            <a:endCxn id="37916" idx="3"/>
          </p:cNvCxnSpPr>
          <p:nvPr/>
        </p:nvCxnSpPr>
        <p:spPr bwMode="auto">
          <a:xfrm rot="10800000">
            <a:off x="3880168" y="3533775"/>
            <a:ext cx="333375"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919" name="AutoShape 12"/>
          <p:cNvCxnSpPr>
            <a:cxnSpLocks noChangeShapeType="1"/>
            <a:stCxn id="37916" idx="2"/>
            <a:endCxn id="37908" idx="0"/>
          </p:cNvCxnSpPr>
          <p:nvPr/>
        </p:nvCxnSpPr>
        <p:spPr bwMode="auto">
          <a:xfrm rot="5400000">
            <a:off x="2624455" y="3995738"/>
            <a:ext cx="458787"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920" name="ZoneTexte 81"/>
          <p:cNvSpPr txBox="1">
            <a:spLocks noChangeArrowheads="1"/>
          </p:cNvSpPr>
          <p:nvPr/>
        </p:nvSpPr>
        <p:spPr bwMode="auto">
          <a:xfrm>
            <a:off x="581343" y="1701800"/>
            <a:ext cx="1017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30 min.</a:t>
            </a:r>
          </a:p>
        </p:txBody>
      </p:sp>
      <p:sp>
        <p:nvSpPr>
          <p:cNvPr id="37921" name="ZoneTexte 82"/>
          <p:cNvSpPr txBox="1">
            <a:spLocks noChangeArrowheads="1"/>
          </p:cNvSpPr>
          <p:nvPr/>
        </p:nvSpPr>
        <p:spPr bwMode="auto">
          <a:xfrm>
            <a:off x="581343" y="3427413"/>
            <a:ext cx="1017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60 min.</a:t>
            </a:r>
          </a:p>
        </p:txBody>
      </p:sp>
      <p:sp>
        <p:nvSpPr>
          <p:cNvPr id="37922" name="ZoneTexte 83"/>
          <p:cNvSpPr txBox="1">
            <a:spLocks noChangeArrowheads="1"/>
          </p:cNvSpPr>
          <p:nvPr/>
        </p:nvSpPr>
        <p:spPr bwMode="auto">
          <a:xfrm>
            <a:off x="581343" y="4278313"/>
            <a:ext cx="1017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45 min.</a:t>
            </a:r>
          </a:p>
        </p:txBody>
      </p:sp>
      <p:sp>
        <p:nvSpPr>
          <p:cNvPr id="37923" name="ZoneTexte 84"/>
          <p:cNvSpPr txBox="1">
            <a:spLocks noChangeArrowheads="1"/>
          </p:cNvSpPr>
          <p:nvPr/>
        </p:nvSpPr>
        <p:spPr bwMode="auto">
          <a:xfrm>
            <a:off x="581343" y="5037138"/>
            <a:ext cx="10175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30 min.</a:t>
            </a:r>
          </a:p>
        </p:txBody>
      </p:sp>
      <p:sp>
        <p:nvSpPr>
          <p:cNvPr id="37924" name="ZoneTexte 85"/>
          <p:cNvSpPr txBox="1">
            <a:spLocks noChangeArrowheads="1"/>
          </p:cNvSpPr>
          <p:nvPr/>
        </p:nvSpPr>
        <p:spPr bwMode="auto">
          <a:xfrm>
            <a:off x="581343" y="5759450"/>
            <a:ext cx="1017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30 min.</a:t>
            </a:r>
          </a:p>
        </p:txBody>
      </p:sp>
      <p:sp>
        <p:nvSpPr>
          <p:cNvPr id="37925" name="Rectangle 7"/>
          <p:cNvSpPr>
            <a:spLocks noChangeArrowheads="1"/>
          </p:cNvSpPr>
          <p:nvPr/>
        </p:nvSpPr>
        <p:spPr bwMode="auto">
          <a:xfrm>
            <a:off x="1827530" y="2432050"/>
            <a:ext cx="2052638" cy="461963"/>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2. Mesure</a:t>
            </a:r>
          </a:p>
        </p:txBody>
      </p:sp>
      <p:sp>
        <p:nvSpPr>
          <p:cNvPr id="53" name="Rectangle 5"/>
          <p:cNvSpPr txBox="1">
            <a:spLocks noChangeArrowheads="1"/>
          </p:cNvSpPr>
          <p:nvPr/>
        </p:nvSpPr>
        <p:spPr bwMode="auto">
          <a:xfrm>
            <a:off x="4213543" y="2446338"/>
            <a:ext cx="4967287" cy="431800"/>
          </a:xfrm>
          <a:prstGeom prst="rect">
            <a:avLst/>
          </a:prstGeom>
          <a:noFill/>
          <a:ln w="9525">
            <a:solidFill>
              <a:schemeClr val="bg2"/>
            </a:solidFill>
            <a:miter lim="800000"/>
            <a:headEnd/>
            <a:tailEnd/>
          </a:ln>
        </p:spPr>
        <p:txBody>
          <a:bodyPr lIns="144000" anchor="ctr">
            <a:normAutofit/>
          </a:bodyPr>
          <a:lstStyle/>
          <a:p>
            <a:pPr eaLnBrk="1" hangingPunct="1">
              <a:lnSpc>
                <a:spcPct val="120000"/>
              </a:lnSpc>
              <a:spcBef>
                <a:spcPct val="20000"/>
              </a:spcBef>
              <a:defRPr/>
            </a:pPr>
            <a:r>
              <a:rPr lang="fr-FR" sz="1600" kern="0" dirty="0">
                <a:latin typeface="Calibri" panose="020F0502020204030204" pitchFamily="34" charset="0"/>
              </a:rPr>
              <a:t>Ils mesurent les </a:t>
            </a:r>
            <a:r>
              <a:rPr lang="fr-FR" sz="1600" kern="0" dirty="0">
                <a:solidFill>
                  <a:srgbClr val="FF0000"/>
                </a:solidFill>
                <a:latin typeface="Calibri" panose="020F0502020204030204" pitchFamily="34" charset="0"/>
              </a:rPr>
              <a:t>performances</a:t>
            </a:r>
            <a:r>
              <a:rPr lang="fr-FR" sz="1600" kern="0" dirty="0">
                <a:latin typeface="Calibri" panose="020F0502020204030204" pitchFamily="34" charset="0"/>
              </a:rPr>
              <a:t> de la production</a:t>
            </a:r>
          </a:p>
        </p:txBody>
      </p:sp>
      <p:cxnSp>
        <p:nvCxnSpPr>
          <p:cNvPr id="37927" name="AutoShape 16"/>
          <p:cNvCxnSpPr>
            <a:cxnSpLocks noChangeShapeType="1"/>
            <a:stCxn id="53" idx="1"/>
            <a:endCxn id="37925" idx="3"/>
          </p:cNvCxnSpPr>
          <p:nvPr/>
        </p:nvCxnSpPr>
        <p:spPr bwMode="auto">
          <a:xfrm rot="10800000">
            <a:off x="3880168" y="2662238"/>
            <a:ext cx="333375"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928" name="ZoneTexte 56"/>
          <p:cNvSpPr txBox="1">
            <a:spLocks noChangeArrowheads="1"/>
          </p:cNvSpPr>
          <p:nvPr/>
        </p:nvSpPr>
        <p:spPr bwMode="auto">
          <a:xfrm>
            <a:off x="594043" y="2487613"/>
            <a:ext cx="1017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60 min.</a:t>
            </a:r>
          </a:p>
        </p:txBody>
      </p:sp>
      <p:cxnSp>
        <p:nvCxnSpPr>
          <p:cNvPr id="37929" name="AutoShape 12"/>
          <p:cNvCxnSpPr>
            <a:cxnSpLocks noChangeShapeType="1"/>
            <a:stCxn id="37925" idx="2"/>
            <a:endCxn id="37916" idx="0"/>
          </p:cNvCxnSpPr>
          <p:nvPr/>
        </p:nvCxnSpPr>
        <p:spPr bwMode="auto">
          <a:xfrm rot="5400000">
            <a:off x="2649855" y="3098800"/>
            <a:ext cx="407988" cy="15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pic>
        <p:nvPicPr>
          <p:cNvPr id="42"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Titre 1"/>
          <p:cNvSpPr>
            <a:spLocks noGrp="1"/>
          </p:cNvSpPr>
          <p:nvPr>
            <p:ph type="title"/>
          </p:nvPr>
        </p:nvSpPr>
        <p:spPr/>
        <p:txBody>
          <a:bodyPr/>
          <a:lstStyle/>
          <a:p>
            <a:r>
              <a:rPr lang="fr-FR" altLang="fr-FR"/>
              <a:t>Remarque concernant le déroulement du Jeu</a:t>
            </a:r>
          </a:p>
        </p:txBody>
      </p:sp>
      <p:sp>
        <p:nvSpPr>
          <p:cNvPr id="3" name="Espace réservé du contenu 2"/>
          <p:cNvSpPr>
            <a:spLocks noGrp="1"/>
          </p:cNvSpPr>
          <p:nvPr>
            <p:ph idx="1"/>
          </p:nvPr>
        </p:nvSpPr>
        <p:spPr>
          <a:xfrm>
            <a:off x="6016625" y="1779588"/>
            <a:ext cx="3268663" cy="1157287"/>
          </a:xfrm>
        </p:spPr>
        <p:txBody>
          <a:bodyPr/>
          <a:lstStyle/>
          <a:p>
            <a:pPr marL="0" indent="17463">
              <a:buFontTx/>
              <a:buNone/>
              <a:defRPr/>
            </a:pPr>
            <a:r>
              <a:rPr lang="fr-FR" dirty="0"/>
              <a:t>L’animateur qui souhaite fractionner le jeu peut le faire selon les repères ci-contre.</a:t>
            </a:r>
          </a:p>
          <a:p>
            <a:pPr>
              <a:defRPr/>
            </a:pPr>
            <a:endParaRPr lang="fr-FR" dirty="0"/>
          </a:p>
        </p:txBody>
      </p:sp>
      <p:sp>
        <p:nvSpPr>
          <p:cNvPr id="39940"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39941"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C241866-0F29-496D-810F-EAF9946D36A0}" type="slidenum">
              <a:rPr lang="fr-FR" altLang="fr-FR" smtClean="0">
                <a:latin typeface="Calibri" panose="020F0502020204030204" pitchFamily="34" charset="0"/>
              </a:rPr>
              <a:pPr>
                <a:spcBef>
                  <a:spcPct val="0"/>
                </a:spcBef>
                <a:buFontTx/>
                <a:buNone/>
              </a:pPr>
              <a:t>15</a:t>
            </a:fld>
            <a:endParaRPr lang="fr-FR" altLang="fr-FR" dirty="0">
              <a:latin typeface="Calibri" panose="020F0502020204030204" pitchFamily="34" charset="0"/>
            </a:endParaRPr>
          </a:p>
        </p:txBody>
      </p:sp>
      <p:sp>
        <p:nvSpPr>
          <p:cNvPr id="39944" name="Triangle isocèle 28"/>
          <p:cNvSpPr>
            <a:spLocks noChangeArrowheads="1"/>
          </p:cNvSpPr>
          <p:nvPr/>
        </p:nvSpPr>
        <p:spPr bwMode="auto">
          <a:xfrm rot="-5400000">
            <a:off x="4521200" y="2330451"/>
            <a:ext cx="141287" cy="309562"/>
          </a:xfrm>
          <a:prstGeom prst="triangle">
            <a:avLst>
              <a:gd name="adj" fmla="val 50000"/>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39945" name="Triangle isocèle 29"/>
          <p:cNvSpPr>
            <a:spLocks noChangeArrowheads="1"/>
          </p:cNvSpPr>
          <p:nvPr/>
        </p:nvSpPr>
        <p:spPr bwMode="auto">
          <a:xfrm rot="-5400000">
            <a:off x="4443413" y="3692525"/>
            <a:ext cx="141287" cy="309563"/>
          </a:xfrm>
          <a:prstGeom prst="triangle">
            <a:avLst>
              <a:gd name="adj" fmla="val 50000"/>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39946" name="ZoneTexte 31"/>
          <p:cNvSpPr txBox="1">
            <a:spLocks noChangeArrowheads="1"/>
          </p:cNvSpPr>
          <p:nvPr/>
        </p:nvSpPr>
        <p:spPr bwMode="auto">
          <a:xfrm>
            <a:off x="4449763" y="1484313"/>
            <a:ext cx="1101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Séance 1</a:t>
            </a:r>
            <a:br>
              <a:rPr lang="fr-FR" altLang="fr-FR" sz="1600" b="1" dirty="0">
                <a:solidFill>
                  <a:srgbClr val="0033CC"/>
                </a:solidFill>
                <a:latin typeface="Calibri" panose="020F0502020204030204" pitchFamily="34" charset="0"/>
              </a:rPr>
            </a:br>
            <a:r>
              <a:rPr lang="fr-FR" altLang="fr-FR" sz="1600" b="1" dirty="0">
                <a:solidFill>
                  <a:srgbClr val="0033CC"/>
                </a:solidFill>
                <a:latin typeface="Calibri" panose="020F0502020204030204" pitchFamily="34" charset="0"/>
              </a:rPr>
              <a:t>1h15</a:t>
            </a:r>
          </a:p>
        </p:txBody>
      </p:sp>
      <p:sp>
        <p:nvSpPr>
          <p:cNvPr id="39947" name="ZoneTexte 36"/>
          <p:cNvSpPr txBox="1">
            <a:spLocks noChangeArrowheads="1"/>
          </p:cNvSpPr>
          <p:nvPr/>
        </p:nvSpPr>
        <p:spPr bwMode="auto">
          <a:xfrm>
            <a:off x="4449763" y="4643438"/>
            <a:ext cx="11525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Séance 3</a:t>
            </a:r>
            <a:br>
              <a:rPr lang="fr-FR" altLang="fr-FR" sz="1600" b="1" dirty="0">
                <a:solidFill>
                  <a:srgbClr val="0033CC"/>
                </a:solidFill>
                <a:latin typeface="Calibri" panose="020F0502020204030204" pitchFamily="34" charset="0"/>
              </a:rPr>
            </a:br>
            <a:r>
              <a:rPr lang="fr-FR" altLang="fr-FR" sz="1600" b="1" dirty="0">
                <a:solidFill>
                  <a:srgbClr val="0033CC"/>
                </a:solidFill>
                <a:latin typeface="Calibri" panose="020F0502020204030204" pitchFamily="34" charset="0"/>
              </a:rPr>
              <a:t>1 h 45</a:t>
            </a:r>
          </a:p>
        </p:txBody>
      </p:sp>
      <p:sp>
        <p:nvSpPr>
          <p:cNvPr id="39948" name="ZoneTexte 37"/>
          <p:cNvSpPr txBox="1">
            <a:spLocks noChangeArrowheads="1"/>
          </p:cNvSpPr>
          <p:nvPr/>
        </p:nvSpPr>
        <p:spPr bwMode="auto">
          <a:xfrm>
            <a:off x="4449763" y="2919413"/>
            <a:ext cx="1152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0033CC"/>
                </a:solidFill>
                <a:latin typeface="Calibri" panose="020F0502020204030204" pitchFamily="34" charset="0"/>
              </a:rPr>
              <a:t>Séance 2</a:t>
            </a:r>
            <a:br>
              <a:rPr lang="fr-FR" altLang="fr-FR" sz="1600" b="1" dirty="0">
                <a:solidFill>
                  <a:srgbClr val="0033CC"/>
                </a:solidFill>
                <a:latin typeface="Calibri" panose="020F0502020204030204" pitchFamily="34" charset="0"/>
              </a:rPr>
            </a:br>
            <a:r>
              <a:rPr lang="fr-FR" altLang="fr-FR" sz="1600" b="1" dirty="0">
                <a:solidFill>
                  <a:srgbClr val="0033CC"/>
                </a:solidFill>
                <a:latin typeface="Calibri" panose="020F0502020204030204" pitchFamily="34" charset="0"/>
              </a:rPr>
              <a:t>2h</a:t>
            </a:r>
          </a:p>
        </p:txBody>
      </p:sp>
      <p:sp>
        <p:nvSpPr>
          <p:cNvPr id="39949" name="Triangle isocèle 38"/>
          <p:cNvSpPr>
            <a:spLocks noChangeArrowheads="1"/>
          </p:cNvSpPr>
          <p:nvPr/>
        </p:nvSpPr>
        <p:spPr bwMode="auto">
          <a:xfrm rot="-5400000">
            <a:off x="4506913" y="992188"/>
            <a:ext cx="142875" cy="307975"/>
          </a:xfrm>
          <a:prstGeom prst="triangle">
            <a:avLst>
              <a:gd name="adj" fmla="val 50000"/>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39950" name="Triangle isocèle 39"/>
          <p:cNvSpPr>
            <a:spLocks noChangeArrowheads="1"/>
          </p:cNvSpPr>
          <p:nvPr/>
        </p:nvSpPr>
        <p:spPr bwMode="auto">
          <a:xfrm rot="-5400000">
            <a:off x="4521200" y="5834063"/>
            <a:ext cx="141288" cy="309562"/>
          </a:xfrm>
          <a:prstGeom prst="triangle">
            <a:avLst>
              <a:gd name="adj" fmla="val 50000"/>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39951" name="Rectangle 7"/>
          <p:cNvSpPr>
            <a:spLocks noChangeArrowheads="1"/>
          </p:cNvSpPr>
          <p:nvPr/>
        </p:nvSpPr>
        <p:spPr bwMode="auto">
          <a:xfrm>
            <a:off x="2192338" y="4659313"/>
            <a:ext cx="2052637" cy="504825"/>
          </a:xfrm>
          <a:prstGeom prst="rect">
            <a:avLst/>
          </a:prstGeom>
          <a:solidFill>
            <a:srgbClr val="0066CC"/>
          </a:solidFill>
          <a:ln w="9525" algn="ctr">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chemeClr val="bg1"/>
                </a:solidFill>
                <a:latin typeface="Calibri" panose="020F0502020204030204" pitchFamily="34" charset="0"/>
              </a:rPr>
              <a:t>5. Simulation 2</a:t>
            </a:r>
          </a:p>
        </p:txBody>
      </p:sp>
      <p:cxnSp>
        <p:nvCxnSpPr>
          <p:cNvPr id="39952" name="AutoShape 11"/>
          <p:cNvCxnSpPr>
            <a:cxnSpLocks noChangeShapeType="1"/>
            <a:stCxn id="39954" idx="2"/>
            <a:endCxn id="39955" idx="0"/>
          </p:cNvCxnSpPr>
          <p:nvPr/>
        </p:nvCxnSpPr>
        <p:spPr bwMode="auto">
          <a:xfrm rot="5400000">
            <a:off x="3141663" y="1616075"/>
            <a:ext cx="153988"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53" name="AutoShape 12"/>
          <p:cNvCxnSpPr>
            <a:cxnSpLocks noChangeShapeType="1"/>
            <a:stCxn id="39955" idx="2"/>
            <a:endCxn id="39962" idx="0"/>
          </p:cNvCxnSpPr>
          <p:nvPr/>
        </p:nvCxnSpPr>
        <p:spPr bwMode="auto">
          <a:xfrm rot="5400000">
            <a:off x="3053557" y="2407444"/>
            <a:ext cx="330200"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954" name="Rectangle 13"/>
          <p:cNvSpPr>
            <a:spLocks noChangeArrowheads="1"/>
          </p:cNvSpPr>
          <p:nvPr/>
        </p:nvSpPr>
        <p:spPr bwMode="auto">
          <a:xfrm>
            <a:off x="2192338" y="1035050"/>
            <a:ext cx="2052637" cy="503238"/>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Introduction</a:t>
            </a:r>
          </a:p>
        </p:txBody>
      </p:sp>
      <p:sp>
        <p:nvSpPr>
          <p:cNvPr id="39955" name="Rectangle 15"/>
          <p:cNvSpPr>
            <a:spLocks noChangeArrowheads="1"/>
          </p:cNvSpPr>
          <p:nvPr/>
        </p:nvSpPr>
        <p:spPr bwMode="auto">
          <a:xfrm>
            <a:off x="2192338" y="1692275"/>
            <a:ext cx="2052637" cy="549275"/>
          </a:xfrm>
          <a:prstGeom prst="rect">
            <a:avLst/>
          </a:prstGeom>
          <a:solidFill>
            <a:srgbClr val="0066CC"/>
          </a:solidFill>
          <a:ln w="9525" algn="ctr">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chemeClr val="bg1"/>
                </a:solidFill>
                <a:latin typeface="Calibri" panose="020F0502020204030204" pitchFamily="34" charset="0"/>
              </a:rPr>
              <a:t>1. Simulation 1</a:t>
            </a:r>
          </a:p>
        </p:txBody>
      </p:sp>
      <p:sp>
        <p:nvSpPr>
          <p:cNvPr id="39956" name="Rectangle 7"/>
          <p:cNvSpPr>
            <a:spLocks noChangeArrowheads="1"/>
          </p:cNvSpPr>
          <p:nvPr/>
        </p:nvSpPr>
        <p:spPr bwMode="auto">
          <a:xfrm>
            <a:off x="2192338" y="4059238"/>
            <a:ext cx="2052637" cy="461962"/>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4. Améliorations</a:t>
            </a:r>
          </a:p>
        </p:txBody>
      </p:sp>
      <p:cxnSp>
        <p:nvCxnSpPr>
          <p:cNvPr id="39957" name="AutoShape 12"/>
          <p:cNvCxnSpPr>
            <a:cxnSpLocks noChangeShapeType="1"/>
            <a:stCxn id="39956" idx="2"/>
            <a:endCxn id="39951" idx="0"/>
          </p:cNvCxnSpPr>
          <p:nvPr/>
        </p:nvCxnSpPr>
        <p:spPr bwMode="auto">
          <a:xfrm rot="5400000">
            <a:off x="3148807" y="4590256"/>
            <a:ext cx="139700"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958" name="Rectangle 7"/>
          <p:cNvSpPr>
            <a:spLocks noChangeArrowheads="1"/>
          </p:cNvSpPr>
          <p:nvPr/>
        </p:nvSpPr>
        <p:spPr bwMode="auto">
          <a:xfrm>
            <a:off x="2192338" y="5367338"/>
            <a:ext cx="2052637" cy="504825"/>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6. Synthèse</a:t>
            </a:r>
          </a:p>
        </p:txBody>
      </p:sp>
      <p:cxnSp>
        <p:nvCxnSpPr>
          <p:cNvPr id="39959" name="AutoShape 12"/>
          <p:cNvCxnSpPr>
            <a:cxnSpLocks noChangeShapeType="1"/>
            <a:stCxn id="39951" idx="2"/>
            <a:endCxn id="39958" idx="0"/>
          </p:cNvCxnSpPr>
          <p:nvPr/>
        </p:nvCxnSpPr>
        <p:spPr bwMode="auto">
          <a:xfrm rot="5400000">
            <a:off x="3117850" y="5265738"/>
            <a:ext cx="201613"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960" name="Rectangle 7"/>
          <p:cNvSpPr>
            <a:spLocks noChangeArrowheads="1"/>
          </p:cNvSpPr>
          <p:nvPr/>
        </p:nvSpPr>
        <p:spPr bwMode="auto">
          <a:xfrm>
            <a:off x="2192338" y="3187700"/>
            <a:ext cx="2052637" cy="461963"/>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3. Analyse</a:t>
            </a:r>
          </a:p>
        </p:txBody>
      </p:sp>
      <p:cxnSp>
        <p:nvCxnSpPr>
          <p:cNvPr id="39961" name="AutoShape 12"/>
          <p:cNvCxnSpPr>
            <a:cxnSpLocks noChangeShapeType="1"/>
            <a:stCxn id="39960" idx="2"/>
            <a:endCxn id="39956" idx="0"/>
          </p:cNvCxnSpPr>
          <p:nvPr/>
        </p:nvCxnSpPr>
        <p:spPr bwMode="auto">
          <a:xfrm rot="5400000">
            <a:off x="3013869" y="3853657"/>
            <a:ext cx="409575" cy="15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962" name="Rectangle 7"/>
          <p:cNvSpPr>
            <a:spLocks noChangeArrowheads="1"/>
          </p:cNvSpPr>
          <p:nvPr/>
        </p:nvSpPr>
        <p:spPr bwMode="auto">
          <a:xfrm>
            <a:off x="2192338" y="2573338"/>
            <a:ext cx="2052637" cy="461962"/>
          </a:xfrm>
          <a:prstGeom prst="rect">
            <a:avLst/>
          </a:prstGeom>
          <a:solidFill>
            <a:schemeClr val="bg1"/>
          </a:solidFill>
          <a:ln w="6350" algn="ctr">
            <a:solidFill>
              <a:schemeClr val="tx2"/>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0000FF"/>
                </a:solidFill>
                <a:latin typeface="Calibri" panose="020F0502020204030204" pitchFamily="34" charset="0"/>
              </a:rPr>
              <a:t>2. Mesure</a:t>
            </a:r>
          </a:p>
        </p:txBody>
      </p:sp>
      <p:pic>
        <p:nvPicPr>
          <p:cNvPr id="27"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9C2047B-09CE-495C-93ED-91D4F1903F69}" type="slidenum">
              <a:rPr lang="fr-FR" altLang="fr-FR" smtClean="0">
                <a:latin typeface="Calibri" panose="020F0502020204030204" pitchFamily="34" charset="0"/>
              </a:rPr>
              <a:pPr>
                <a:spcBef>
                  <a:spcPct val="0"/>
                </a:spcBef>
                <a:buFontTx/>
                <a:buNone/>
              </a:pPr>
              <a:t>16</a:t>
            </a:fld>
            <a:endParaRPr lang="fr-FR" altLang="fr-FR" dirty="0">
              <a:latin typeface="Calibri" panose="020F0502020204030204" pitchFamily="34" charset="0"/>
            </a:endParaRPr>
          </a:p>
        </p:txBody>
      </p:sp>
      <p:sp>
        <p:nvSpPr>
          <p:cNvPr id="41987" name="Rectangle 2"/>
          <p:cNvSpPr>
            <a:spLocks noGrp="1" noChangeArrowheads="1"/>
          </p:cNvSpPr>
          <p:nvPr>
            <p:ph type="title"/>
          </p:nvPr>
        </p:nvSpPr>
        <p:spPr/>
        <p:txBody>
          <a:bodyPr/>
          <a:lstStyle/>
          <a:p>
            <a:pPr eaLnBrk="1" hangingPunct="1"/>
            <a:r>
              <a:rPr lang="fr-FR" altLang="fr-FR"/>
              <a:t>Le niveau des participants</a:t>
            </a:r>
          </a:p>
        </p:txBody>
      </p:sp>
      <p:sp>
        <p:nvSpPr>
          <p:cNvPr id="41988" name="Rectangle 3"/>
          <p:cNvSpPr>
            <a:spLocks noGrp="1" noChangeArrowheads="1"/>
          </p:cNvSpPr>
          <p:nvPr>
            <p:ph type="body" idx="1"/>
          </p:nvPr>
        </p:nvSpPr>
        <p:spPr>
          <a:xfrm>
            <a:off x="236538" y="1165225"/>
            <a:ext cx="9137650" cy="4945063"/>
          </a:xfrm>
        </p:spPr>
        <p:txBody>
          <a:bodyPr/>
          <a:lstStyle/>
          <a:p>
            <a:pPr eaLnBrk="1" hangingPunct="1">
              <a:lnSpc>
                <a:spcPct val="120000"/>
              </a:lnSpc>
            </a:pPr>
            <a:r>
              <a:rPr lang="fr-FR" altLang="fr-FR" sz="1600" dirty="0"/>
              <a:t>Le Jeu Le jeu du Lean </a:t>
            </a:r>
            <a:r>
              <a:rPr lang="fr-FR" altLang="fr-FR" sz="1600" dirty="0" err="1"/>
              <a:t>Manufacturing</a:t>
            </a:r>
            <a:r>
              <a:rPr lang="fr-FR" altLang="fr-FR" sz="1600" dirty="0"/>
              <a:t> peut être joué avec des participants de niveau très varié, il ne nécessite aucune connaissance préalable sur le fonctionnement d’une production.</a:t>
            </a:r>
          </a:p>
          <a:p>
            <a:pPr eaLnBrk="1" hangingPunct="1">
              <a:lnSpc>
                <a:spcPct val="120000"/>
              </a:lnSpc>
            </a:pPr>
            <a:r>
              <a:rPr lang="fr-FR" altLang="fr-FR" sz="1600" dirty="0"/>
              <a:t>C’est à l’animateur qu’il appartient d’adapter son attitude au niveau des participants.</a:t>
            </a:r>
          </a:p>
          <a:p>
            <a:pPr eaLnBrk="1" hangingPunct="1">
              <a:lnSpc>
                <a:spcPct val="120000"/>
              </a:lnSpc>
            </a:pPr>
            <a:r>
              <a:rPr lang="fr-FR" altLang="fr-FR" sz="1600" dirty="0"/>
              <a:t>S’il juge que le groupe a un niveau faible il peut procéder de la façon suivante :</a:t>
            </a:r>
          </a:p>
          <a:p>
            <a:pPr lvl="1" eaLnBrk="1" hangingPunct="1">
              <a:lnSpc>
                <a:spcPct val="120000"/>
              </a:lnSpc>
            </a:pPr>
            <a:r>
              <a:rPr lang="fr-FR" altLang="fr-FR" sz="1600" dirty="0"/>
              <a:t>Avant de lancer une phase, il donne des explications complémentaires nécessaires au traitement des travaux. </a:t>
            </a:r>
          </a:p>
          <a:p>
            <a:pPr lvl="1" eaLnBrk="1" hangingPunct="1">
              <a:lnSpc>
                <a:spcPct val="120000"/>
              </a:lnSpc>
            </a:pPr>
            <a:r>
              <a:rPr lang="fr-FR" altLang="fr-FR" sz="1600" dirty="0"/>
              <a:t>Au moment de faire les calculs il détaille pas à pas le mode opératoire.</a:t>
            </a:r>
          </a:p>
          <a:p>
            <a:pPr lvl="1" eaLnBrk="1" hangingPunct="1">
              <a:lnSpc>
                <a:spcPct val="120000"/>
              </a:lnSpc>
            </a:pPr>
            <a:r>
              <a:rPr lang="fr-FR" altLang="fr-FR" sz="1600" dirty="0"/>
              <a:t>Pendant la préparation, il passe parmi les équipes pour répondre à leurs questions et les aider à faire certains calculs.</a:t>
            </a:r>
          </a:p>
        </p:txBody>
      </p:sp>
      <p:sp>
        <p:nvSpPr>
          <p:cNvPr id="41991"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0A46A93-B73E-4D64-B159-21389F5782F6}" type="slidenum">
              <a:rPr lang="fr-FR" altLang="fr-FR" smtClean="0">
                <a:latin typeface="Calibri" panose="020F0502020204030204" pitchFamily="34" charset="0"/>
              </a:rPr>
              <a:pPr>
                <a:spcBef>
                  <a:spcPct val="0"/>
                </a:spcBef>
                <a:buFontTx/>
                <a:buNone/>
              </a:pPr>
              <a:t>17</a:t>
            </a:fld>
            <a:endParaRPr lang="fr-FR" altLang="fr-FR" dirty="0">
              <a:latin typeface="Calibri" panose="020F0502020204030204" pitchFamily="34" charset="0"/>
            </a:endParaRPr>
          </a:p>
        </p:txBody>
      </p:sp>
      <p:sp>
        <p:nvSpPr>
          <p:cNvPr id="44035" name="Rectangle 2"/>
          <p:cNvSpPr>
            <a:spLocks noGrp="1" noChangeArrowheads="1"/>
          </p:cNvSpPr>
          <p:nvPr>
            <p:ph type="title"/>
          </p:nvPr>
        </p:nvSpPr>
        <p:spPr/>
        <p:txBody>
          <a:bodyPr/>
          <a:lstStyle/>
          <a:p>
            <a:pPr eaLnBrk="1" hangingPunct="1"/>
            <a:r>
              <a:rPr lang="fr-FR" altLang="fr-FR"/>
              <a:t>Les participants</a:t>
            </a:r>
          </a:p>
        </p:txBody>
      </p:sp>
      <p:sp>
        <p:nvSpPr>
          <p:cNvPr id="21601" name="Rectangle 164"/>
          <p:cNvSpPr>
            <a:spLocks noGrp="1" noChangeArrowheads="1"/>
          </p:cNvSpPr>
          <p:nvPr>
            <p:ph type="body" idx="1"/>
          </p:nvPr>
        </p:nvSpPr>
        <p:spPr>
          <a:xfrm>
            <a:off x="303213" y="962025"/>
            <a:ext cx="9210675" cy="5651500"/>
          </a:xfrm>
        </p:spPr>
        <p:txBody>
          <a:bodyPr lIns="36000" rIns="36000"/>
          <a:lstStyle/>
          <a:p>
            <a:pPr eaLnBrk="1" hangingPunct="1">
              <a:lnSpc>
                <a:spcPct val="120000"/>
              </a:lnSpc>
              <a:buFontTx/>
              <a:buNone/>
              <a:defRPr/>
            </a:pPr>
            <a:r>
              <a:rPr lang="fr-FR" sz="1500" dirty="0"/>
              <a:t>La simulation comporte 2 types de rôles (voir schéma d’implantation plus loin) :</a:t>
            </a:r>
          </a:p>
          <a:p>
            <a:pPr eaLnBrk="1" hangingPunct="1">
              <a:lnSpc>
                <a:spcPct val="120000"/>
              </a:lnSpc>
              <a:buFontTx/>
              <a:buNone/>
              <a:defRPr/>
            </a:pPr>
            <a:r>
              <a:rPr lang="fr-FR" sz="1500" u="sng" dirty="0"/>
              <a:t>1. Des postes de Production</a:t>
            </a:r>
          </a:p>
          <a:p>
            <a:pPr eaLnBrk="1" hangingPunct="1">
              <a:lnSpc>
                <a:spcPct val="120000"/>
              </a:lnSpc>
              <a:defRPr/>
            </a:pPr>
            <a:r>
              <a:rPr lang="fr-FR" sz="1500" dirty="0"/>
              <a:t>Il y a </a:t>
            </a:r>
            <a:r>
              <a:rPr lang="fr-FR" sz="1500" dirty="0">
                <a:solidFill>
                  <a:srgbClr val="FF0000"/>
                </a:solidFill>
              </a:rPr>
              <a:t>6 </a:t>
            </a:r>
            <a:r>
              <a:rPr lang="fr-FR" sz="1500" dirty="0"/>
              <a:t>ateliers de production, dénommés Ovale, Vague, Rectangle, Croix, Triangle, Étoile.</a:t>
            </a:r>
          </a:p>
          <a:p>
            <a:pPr eaLnBrk="1" hangingPunct="1">
              <a:lnSpc>
                <a:spcPct val="120000"/>
              </a:lnSpc>
              <a:defRPr/>
            </a:pPr>
            <a:r>
              <a:rPr lang="fr-FR" sz="1500" dirty="0"/>
              <a:t>Chaque atelier peut être tenu par </a:t>
            </a:r>
            <a:r>
              <a:rPr lang="fr-FR" sz="1500" dirty="0">
                <a:solidFill>
                  <a:srgbClr val="FF0000"/>
                </a:solidFill>
              </a:rPr>
              <a:t>1 à 4 </a:t>
            </a:r>
            <a:r>
              <a:rPr lang="fr-FR" sz="1500" dirty="0"/>
              <a:t>personnes.</a:t>
            </a:r>
          </a:p>
          <a:p>
            <a:pPr eaLnBrk="1" hangingPunct="1">
              <a:lnSpc>
                <a:spcPct val="120000"/>
              </a:lnSpc>
              <a:buFontTx/>
              <a:buNone/>
              <a:defRPr/>
            </a:pPr>
            <a:r>
              <a:rPr lang="fr-FR" sz="1500" u="sng" dirty="0"/>
              <a:t>2. Des fonctions Support</a:t>
            </a:r>
          </a:p>
          <a:p>
            <a:pPr eaLnBrk="1" hangingPunct="1">
              <a:lnSpc>
                <a:spcPct val="120000"/>
              </a:lnSpc>
              <a:defRPr/>
            </a:pPr>
            <a:r>
              <a:rPr lang="fr-FR" sz="1500" dirty="0"/>
              <a:t>Il y a </a:t>
            </a:r>
            <a:r>
              <a:rPr lang="fr-FR" sz="1500" dirty="0">
                <a:solidFill>
                  <a:srgbClr val="FF0000"/>
                </a:solidFill>
              </a:rPr>
              <a:t>2 </a:t>
            </a:r>
            <a:r>
              <a:rPr lang="fr-FR" sz="1500" dirty="0"/>
              <a:t>fonctions support : </a:t>
            </a:r>
            <a:r>
              <a:rPr lang="fr-FR" sz="1500" dirty="0">
                <a:solidFill>
                  <a:srgbClr val="FF0000"/>
                </a:solidFill>
              </a:rPr>
              <a:t>1</a:t>
            </a:r>
            <a:r>
              <a:rPr lang="fr-FR" sz="1500" dirty="0"/>
              <a:t>. Lancement  et Découpe ; </a:t>
            </a:r>
            <a:r>
              <a:rPr lang="fr-FR" sz="1500" dirty="0">
                <a:solidFill>
                  <a:srgbClr val="FF0000"/>
                </a:solidFill>
              </a:rPr>
              <a:t>2</a:t>
            </a:r>
            <a:r>
              <a:rPr lang="fr-FR" sz="1500" dirty="0"/>
              <a:t>. Contrôle Qualité</a:t>
            </a:r>
          </a:p>
          <a:p>
            <a:pPr eaLnBrk="1" hangingPunct="1">
              <a:lnSpc>
                <a:spcPct val="120000"/>
              </a:lnSpc>
              <a:buFontTx/>
              <a:buNone/>
              <a:defRPr/>
            </a:pPr>
            <a:r>
              <a:rPr lang="fr-FR" sz="1500" u="sng" dirty="0"/>
              <a:t>La répartition change entre la simulation 1 et la simulation 2</a:t>
            </a:r>
          </a:p>
          <a:p>
            <a:pPr eaLnBrk="1" hangingPunct="1">
              <a:lnSpc>
                <a:spcPct val="120000"/>
              </a:lnSpc>
              <a:defRPr/>
            </a:pPr>
            <a:r>
              <a:rPr lang="fr-FR" sz="1500" dirty="0"/>
              <a:t>Dans la simulation 1 les participants sont organisés en </a:t>
            </a:r>
            <a:r>
              <a:rPr lang="fr-FR" sz="1500" dirty="0">
                <a:solidFill>
                  <a:srgbClr val="FF0000"/>
                </a:solidFill>
              </a:rPr>
              <a:t>6</a:t>
            </a:r>
            <a:r>
              <a:rPr lang="fr-FR" sz="1500" dirty="0"/>
              <a:t> ateliers de production spécialisés.</a:t>
            </a:r>
          </a:p>
          <a:p>
            <a:pPr eaLnBrk="1" hangingPunct="1">
              <a:lnSpc>
                <a:spcPct val="120000"/>
              </a:lnSpc>
              <a:defRPr/>
            </a:pPr>
            <a:r>
              <a:rPr lang="fr-FR" sz="1500" dirty="0"/>
              <a:t>Dans la simulation 2 ils adoptent une nouvelle implantation en Atelier produit, chaque Atelier comportant un ensemble de postes de travail qui réalisent la totalité du produit. </a:t>
            </a:r>
          </a:p>
          <a:p>
            <a:pPr eaLnBrk="1" hangingPunct="1">
              <a:lnSpc>
                <a:spcPct val="120000"/>
              </a:lnSpc>
              <a:defRPr/>
            </a:pPr>
            <a:r>
              <a:rPr lang="fr-FR" sz="1500" dirty="0"/>
              <a:t>Ce changement explique pourquoi nous proposons deux tableaux de répartition (diapo suivante).</a:t>
            </a:r>
          </a:p>
          <a:p>
            <a:pPr marL="0" indent="17463" eaLnBrk="1" hangingPunct="1">
              <a:lnSpc>
                <a:spcPct val="120000"/>
              </a:lnSpc>
              <a:buFontTx/>
              <a:buNone/>
              <a:defRPr/>
            </a:pPr>
            <a:r>
              <a:rPr lang="fr-FR" sz="1500" u="sng" dirty="0"/>
              <a:t>Le nombre de participants</a:t>
            </a:r>
            <a:r>
              <a:rPr lang="fr-FR" sz="1500" dirty="0"/>
              <a:t> varie entre </a:t>
            </a:r>
            <a:r>
              <a:rPr lang="fr-FR" sz="1500" dirty="0">
                <a:solidFill>
                  <a:srgbClr val="FF0000"/>
                </a:solidFill>
              </a:rPr>
              <a:t>8</a:t>
            </a:r>
            <a:r>
              <a:rPr lang="fr-FR" sz="1500" dirty="0"/>
              <a:t> et </a:t>
            </a:r>
            <a:r>
              <a:rPr lang="fr-FR" sz="1500" dirty="0">
                <a:solidFill>
                  <a:srgbClr val="FF0000"/>
                </a:solidFill>
              </a:rPr>
              <a:t>20</a:t>
            </a:r>
            <a:r>
              <a:rPr lang="fr-FR" sz="1500" dirty="0"/>
              <a:t>. En fonction du nombre de participants, il faut adapter le nombre d’opérateurs par poste, le nombre de surligneurs et la quantité de produits à fabriquer. Nous donnons plus loin des tables pour régler ces paramètres.</a:t>
            </a:r>
          </a:p>
          <a:p>
            <a:pPr marL="0" indent="17463" eaLnBrk="1" hangingPunct="1">
              <a:lnSpc>
                <a:spcPct val="120000"/>
              </a:lnSpc>
              <a:buFontTx/>
              <a:buNone/>
              <a:defRPr/>
            </a:pPr>
            <a:r>
              <a:rPr lang="fr-FR" sz="1500" dirty="0"/>
              <a:t>Il est possible d’aller </a:t>
            </a:r>
            <a:r>
              <a:rPr lang="fr-FR" sz="1500" u="sng" dirty="0"/>
              <a:t>au-delà de 20</a:t>
            </a:r>
            <a:r>
              <a:rPr lang="fr-FR" sz="1500" dirty="0"/>
              <a:t>. Nous consulter pour obtenir plus de matériel (il faut dédoubler certains postes dans la phase des Projets).</a:t>
            </a:r>
          </a:p>
          <a:p>
            <a:pPr marL="0" indent="17463" eaLnBrk="1" hangingPunct="1">
              <a:lnSpc>
                <a:spcPct val="120000"/>
              </a:lnSpc>
              <a:buFontTx/>
              <a:buNone/>
              <a:defRPr/>
            </a:pPr>
            <a:r>
              <a:rPr lang="fr-FR" sz="1500" u="sng" dirty="0"/>
              <a:t>Le matériel à mettre en jeu</a:t>
            </a:r>
            <a:r>
              <a:rPr lang="fr-FR" sz="1500" dirty="0"/>
              <a:t> (surligneurs, tickets d’OF) dépend du nombre de participants : voir les diapos suivantes.</a:t>
            </a:r>
          </a:p>
        </p:txBody>
      </p:sp>
      <p:sp>
        <p:nvSpPr>
          <p:cNvPr id="44038" name="Espace réservé du pied de page 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pSp>
        <p:nvGrpSpPr>
          <p:cNvPr id="44040" name="Groupe 18"/>
          <p:cNvGrpSpPr>
            <a:grpSpLocks/>
          </p:cNvGrpSpPr>
          <p:nvPr/>
        </p:nvGrpSpPr>
        <p:grpSpPr bwMode="auto">
          <a:xfrm>
            <a:off x="4684713" y="1316038"/>
            <a:ext cx="4114800" cy="327025"/>
            <a:chOff x="4479382" y="1342412"/>
            <a:chExt cx="4113656" cy="327975"/>
          </a:xfrm>
        </p:grpSpPr>
        <p:sp>
          <p:nvSpPr>
            <p:cNvPr id="11" name="Ellipse 10"/>
            <p:cNvSpPr/>
            <p:nvPr/>
          </p:nvSpPr>
          <p:spPr bwMode="auto">
            <a:xfrm>
              <a:off x="4479382" y="1457044"/>
              <a:ext cx="425332" cy="149658"/>
            </a:xfrm>
            <a:prstGeom prst="ellipse">
              <a:avLst/>
            </a:prstGeom>
            <a:solidFill>
              <a:srgbClr val="FFB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2" name="Croix 11"/>
            <p:cNvSpPr/>
            <p:nvPr/>
          </p:nvSpPr>
          <p:spPr bwMode="auto">
            <a:xfrm>
              <a:off x="6786965" y="1402912"/>
              <a:ext cx="295193" cy="257922"/>
            </a:xfrm>
            <a:prstGeom prst="plus">
              <a:avLst/>
            </a:pr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3" name="Étoile à 5 branches 12"/>
            <p:cNvSpPr/>
            <p:nvPr/>
          </p:nvSpPr>
          <p:spPr bwMode="auto">
            <a:xfrm>
              <a:off x="8229601" y="1342412"/>
              <a:ext cx="363437" cy="327975"/>
            </a:xfrm>
            <a:prstGeom prst="star5">
              <a:avLst/>
            </a:pr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4" name="Triangle isocèle 13"/>
            <p:cNvSpPr/>
            <p:nvPr/>
          </p:nvSpPr>
          <p:spPr bwMode="auto">
            <a:xfrm>
              <a:off x="7507490" y="1420425"/>
              <a:ext cx="309476" cy="224488"/>
            </a:xfrm>
            <a:prstGeom prst="triangle">
              <a:avLst/>
            </a:prstGeom>
            <a:solidFill>
              <a:srgbClr val="FFB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5" name="Rectangle 14"/>
            <p:cNvSpPr/>
            <p:nvPr/>
          </p:nvSpPr>
          <p:spPr bwMode="auto">
            <a:xfrm>
              <a:off x="6009307" y="1466597"/>
              <a:ext cx="350739" cy="132145"/>
            </a:xfrm>
            <a:prstGeom prst="rect">
              <a:avLst/>
            </a:prstGeom>
            <a:solidFill>
              <a:srgbClr val="66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6" name="AutoShape 34"/>
            <p:cNvSpPr>
              <a:spLocks noChangeArrowheads="1"/>
            </p:cNvSpPr>
            <p:nvPr/>
          </p:nvSpPr>
          <p:spPr bwMode="auto">
            <a:xfrm>
              <a:off x="5131663" y="1422018"/>
              <a:ext cx="357089" cy="221303"/>
            </a:xfrm>
            <a:prstGeom prst="wave">
              <a:avLst>
                <a:gd name="adj1" fmla="val 20644"/>
                <a:gd name="adj2" fmla="val 7681"/>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pic>
        <p:nvPicPr>
          <p:cNvPr id="17"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93F95B2-DBE9-4A98-BBA5-77F72FE25F85}" type="slidenum">
              <a:rPr lang="fr-FR" altLang="fr-FR" smtClean="0">
                <a:latin typeface="Calibri" panose="020F0502020204030204" pitchFamily="34" charset="0"/>
              </a:rPr>
              <a:pPr>
                <a:spcBef>
                  <a:spcPct val="0"/>
                </a:spcBef>
                <a:buFontTx/>
                <a:buNone/>
              </a:pPr>
              <a:t>18</a:t>
            </a:fld>
            <a:endParaRPr lang="fr-FR" altLang="fr-FR" dirty="0">
              <a:latin typeface="Calibri" panose="020F0502020204030204" pitchFamily="34" charset="0"/>
            </a:endParaRPr>
          </a:p>
        </p:txBody>
      </p:sp>
      <p:sp>
        <p:nvSpPr>
          <p:cNvPr id="46083" name="Rectangle 2"/>
          <p:cNvSpPr>
            <a:spLocks noGrp="1" noChangeArrowheads="1"/>
          </p:cNvSpPr>
          <p:nvPr>
            <p:ph type="title"/>
          </p:nvPr>
        </p:nvSpPr>
        <p:spPr/>
        <p:txBody>
          <a:bodyPr/>
          <a:lstStyle/>
          <a:p>
            <a:pPr eaLnBrk="1" hangingPunct="1"/>
            <a:r>
              <a:rPr lang="fr-FR" altLang="fr-FR"/>
              <a:t>Les participants</a:t>
            </a:r>
          </a:p>
        </p:txBody>
      </p:sp>
      <p:graphicFrame>
        <p:nvGraphicFramePr>
          <p:cNvPr id="126123" name="Group 171"/>
          <p:cNvGraphicFramePr>
            <a:graphicFrameLocks noGrp="1"/>
          </p:cNvGraphicFramePr>
          <p:nvPr>
            <p:extLst>
              <p:ext uri="{D42A27DB-BD31-4B8C-83A1-F6EECF244321}">
                <p14:modId xmlns:p14="http://schemas.microsoft.com/office/powerpoint/2010/main" val="2965540091"/>
              </p:ext>
            </p:extLst>
          </p:nvPr>
        </p:nvGraphicFramePr>
        <p:xfrm>
          <a:off x="868363" y="1561465"/>
          <a:ext cx="8166100" cy="2640095"/>
        </p:xfrm>
        <a:graphic>
          <a:graphicData uri="http://schemas.openxmlformats.org/drawingml/2006/table">
            <a:tbl>
              <a:tblPr/>
              <a:tblGrid>
                <a:gridCol w="2118214">
                  <a:extLst>
                    <a:ext uri="{9D8B030D-6E8A-4147-A177-3AD203B41FA5}">
                      <a16:colId xmlns:a16="http://schemas.microsoft.com/office/drawing/2014/main" val="20000"/>
                    </a:ext>
                  </a:extLst>
                </a:gridCol>
                <a:gridCol w="465222">
                  <a:extLst>
                    <a:ext uri="{9D8B030D-6E8A-4147-A177-3AD203B41FA5}">
                      <a16:colId xmlns:a16="http://schemas.microsoft.com/office/drawing/2014/main" val="20001"/>
                    </a:ext>
                  </a:extLst>
                </a:gridCol>
                <a:gridCol w="465222">
                  <a:extLst>
                    <a:ext uri="{9D8B030D-6E8A-4147-A177-3AD203B41FA5}">
                      <a16:colId xmlns:a16="http://schemas.microsoft.com/office/drawing/2014/main" val="20002"/>
                    </a:ext>
                  </a:extLst>
                </a:gridCol>
                <a:gridCol w="465222">
                  <a:extLst>
                    <a:ext uri="{9D8B030D-6E8A-4147-A177-3AD203B41FA5}">
                      <a16:colId xmlns:a16="http://schemas.microsoft.com/office/drawing/2014/main" val="20003"/>
                    </a:ext>
                  </a:extLst>
                </a:gridCol>
                <a:gridCol w="465222">
                  <a:extLst>
                    <a:ext uri="{9D8B030D-6E8A-4147-A177-3AD203B41FA5}">
                      <a16:colId xmlns:a16="http://schemas.microsoft.com/office/drawing/2014/main" val="20004"/>
                    </a:ext>
                  </a:extLst>
                </a:gridCol>
                <a:gridCol w="465222">
                  <a:extLst>
                    <a:ext uri="{9D8B030D-6E8A-4147-A177-3AD203B41FA5}">
                      <a16:colId xmlns:a16="http://schemas.microsoft.com/office/drawing/2014/main" val="20005"/>
                    </a:ext>
                  </a:extLst>
                </a:gridCol>
                <a:gridCol w="465222">
                  <a:extLst>
                    <a:ext uri="{9D8B030D-6E8A-4147-A177-3AD203B41FA5}">
                      <a16:colId xmlns:a16="http://schemas.microsoft.com/office/drawing/2014/main" val="20006"/>
                    </a:ext>
                  </a:extLst>
                </a:gridCol>
                <a:gridCol w="465222">
                  <a:extLst>
                    <a:ext uri="{9D8B030D-6E8A-4147-A177-3AD203B41FA5}">
                      <a16:colId xmlns:a16="http://schemas.microsoft.com/office/drawing/2014/main" val="20007"/>
                    </a:ext>
                  </a:extLst>
                </a:gridCol>
                <a:gridCol w="465222">
                  <a:extLst>
                    <a:ext uri="{9D8B030D-6E8A-4147-A177-3AD203B41FA5}">
                      <a16:colId xmlns:a16="http://schemas.microsoft.com/office/drawing/2014/main" val="20008"/>
                    </a:ext>
                  </a:extLst>
                </a:gridCol>
                <a:gridCol w="465222">
                  <a:extLst>
                    <a:ext uri="{9D8B030D-6E8A-4147-A177-3AD203B41FA5}">
                      <a16:colId xmlns:a16="http://schemas.microsoft.com/office/drawing/2014/main" val="20009"/>
                    </a:ext>
                  </a:extLst>
                </a:gridCol>
                <a:gridCol w="465222">
                  <a:extLst>
                    <a:ext uri="{9D8B030D-6E8A-4147-A177-3AD203B41FA5}">
                      <a16:colId xmlns:a16="http://schemas.microsoft.com/office/drawing/2014/main" val="20010"/>
                    </a:ext>
                  </a:extLst>
                </a:gridCol>
                <a:gridCol w="465222">
                  <a:extLst>
                    <a:ext uri="{9D8B030D-6E8A-4147-A177-3AD203B41FA5}">
                      <a16:colId xmlns:a16="http://schemas.microsoft.com/office/drawing/2014/main" val="20011"/>
                    </a:ext>
                  </a:extLst>
                </a:gridCol>
                <a:gridCol w="465222">
                  <a:extLst>
                    <a:ext uri="{9D8B030D-6E8A-4147-A177-3AD203B41FA5}">
                      <a16:colId xmlns:a16="http://schemas.microsoft.com/office/drawing/2014/main" val="20012"/>
                    </a:ext>
                  </a:extLst>
                </a:gridCol>
                <a:gridCol w="465222">
                  <a:extLst>
                    <a:ext uri="{9D8B030D-6E8A-4147-A177-3AD203B41FA5}">
                      <a16:colId xmlns:a16="http://schemas.microsoft.com/office/drawing/2014/main" val="20013"/>
                    </a:ext>
                  </a:extLst>
                </a:gridCol>
              </a:tblGrid>
              <a:tr h="279789">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Effectif total </a:t>
                      </a: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sym typeface="Wingdings" pitchFamily="2" charset="2"/>
                        </a:rPr>
                        <a:t></a:t>
                      </a:r>
                    </a:p>
                  </a:txBody>
                  <a:tcPr marL="90002" marR="90002" marT="17985" marB="17985" anchor="ct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10</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14</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15</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16</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17</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18</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19</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20</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304171">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ÉTOILE</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extLst>
                  <a:ext uri="{0D108BD9-81ED-4DB2-BD59-A6C34878D82A}">
                    <a16:rowId xmlns:a16="http://schemas.microsoft.com/office/drawing/2014/main" val="10001"/>
                  </a:ext>
                </a:extLst>
              </a:tr>
              <a:tr h="304171">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TRIANGLE</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extLst>
                  <a:ext uri="{0D108BD9-81ED-4DB2-BD59-A6C34878D82A}">
                    <a16:rowId xmlns:a16="http://schemas.microsoft.com/office/drawing/2014/main" val="10002"/>
                  </a:ext>
                </a:extLst>
              </a:tr>
              <a:tr h="304171">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CROIX</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extLst>
                  <a:ext uri="{0D108BD9-81ED-4DB2-BD59-A6C34878D82A}">
                    <a16:rowId xmlns:a16="http://schemas.microsoft.com/office/drawing/2014/main" val="10003"/>
                  </a:ext>
                </a:extLst>
              </a:tr>
              <a:tr h="279789">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VAGUE</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1FFFF"/>
                    </a:solidFill>
                  </a:tcPr>
                </a:tc>
                <a:extLst>
                  <a:ext uri="{0D108BD9-81ED-4DB2-BD59-A6C34878D82A}">
                    <a16:rowId xmlns:a16="http://schemas.microsoft.com/office/drawing/2014/main" val="10004"/>
                  </a:ext>
                </a:extLst>
              </a:tr>
              <a:tr h="279789">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Atelier OVALE</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5"/>
                  </a:ext>
                </a:extLst>
              </a:tr>
              <a:tr h="279789">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RECTANGLE</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extLst>
                  <a:ext uri="{0D108BD9-81ED-4DB2-BD59-A6C34878D82A}">
                    <a16:rowId xmlns:a16="http://schemas.microsoft.com/office/drawing/2014/main" val="10006"/>
                  </a:ext>
                </a:extLst>
              </a:tr>
              <a:tr h="304171">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Lancement / Déc.</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7F5D7"/>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F9F"/>
                    </a:solidFill>
                  </a:tcPr>
                </a:tc>
                <a:extLst>
                  <a:ext uri="{0D108BD9-81ED-4DB2-BD59-A6C34878D82A}">
                    <a16:rowId xmlns:a16="http://schemas.microsoft.com/office/drawing/2014/main" val="10007"/>
                  </a:ext>
                </a:extLst>
              </a:tr>
              <a:tr h="304171">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Contrôle Qualité</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7F5D7"/>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2" marR="90002" marT="17985" marB="1798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8"/>
                  </a:ext>
                </a:extLst>
              </a:tr>
            </a:tbl>
          </a:graphicData>
        </a:graphic>
      </p:graphicFrame>
      <p:sp>
        <p:nvSpPr>
          <p:cNvPr id="46236" name="Rectangle 164"/>
          <p:cNvSpPr>
            <a:spLocks noGrp="1" noChangeArrowheads="1"/>
          </p:cNvSpPr>
          <p:nvPr>
            <p:ph type="body" idx="1"/>
          </p:nvPr>
        </p:nvSpPr>
        <p:spPr>
          <a:xfrm>
            <a:off x="1092200" y="1096328"/>
            <a:ext cx="8089900" cy="369887"/>
          </a:xfrm>
        </p:spPr>
        <p:txBody>
          <a:bodyPr/>
          <a:lstStyle/>
          <a:p>
            <a:pPr eaLnBrk="1" hangingPunct="1">
              <a:lnSpc>
                <a:spcPct val="120000"/>
              </a:lnSpc>
              <a:buFontTx/>
              <a:buNone/>
            </a:pPr>
            <a:r>
              <a:rPr lang="fr-FR" altLang="fr-FR" sz="1600" dirty="0"/>
              <a:t>Simulation </a:t>
            </a:r>
            <a:r>
              <a:rPr lang="fr-FR" altLang="fr-FR" b="1" dirty="0">
                <a:solidFill>
                  <a:srgbClr val="FF0000"/>
                </a:solidFill>
              </a:rPr>
              <a:t>1</a:t>
            </a:r>
            <a:r>
              <a:rPr lang="fr-FR" altLang="fr-FR" sz="1600" dirty="0"/>
              <a:t> : organisation en 6 ateliers (</a:t>
            </a:r>
            <a:r>
              <a:rPr lang="fr-FR" altLang="fr-FR" sz="1400" dirty="0"/>
              <a:t>le tableau précise le nombre de postes de travail)</a:t>
            </a:r>
            <a:endParaRPr lang="fr-FR" altLang="fr-FR" sz="1600" dirty="0"/>
          </a:p>
        </p:txBody>
      </p:sp>
      <p:sp>
        <p:nvSpPr>
          <p:cNvPr id="46238" name="Espace réservé du pied de page 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aphicFrame>
        <p:nvGraphicFramePr>
          <p:cNvPr id="18" name="Group 171"/>
          <p:cNvGraphicFramePr>
            <a:graphicFrameLocks noGrp="1"/>
          </p:cNvGraphicFramePr>
          <p:nvPr>
            <p:extLst>
              <p:ext uri="{D42A27DB-BD31-4B8C-83A1-F6EECF244321}">
                <p14:modId xmlns:p14="http://schemas.microsoft.com/office/powerpoint/2010/main" val="1143166096"/>
              </p:ext>
            </p:extLst>
          </p:nvPr>
        </p:nvGraphicFramePr>
        <p:xfrm>
          <a:off x="855663" y="5052378"/>
          <a:ext cx="8258173" cy="1203324"/>
        </p:xfrm>
        <a:graphic>
          <a:graphicData uri="http://schemas.openxmlformats.org/drawingml/2006/table">
            <a:tbl>
              <a:tblPr/>
              <a:tblGrid>
                <a:gridCol w="1702559">
                  <a:extLst>
                    <a:ext uri="{9D8B030D-6E8A-4147-A177-3AD203B41FA5}">
                      <a16:colId xmlns:a16="http://schemas.microsoft.com/office/drawing/2014/main" val="20000"/>
                    </a:ext>
                  </a:extLst>
                </a:gridCol>
                <a:gridCol w="504278">
                  <a:extLst>
                    <a:ext uri="{9D8B030D-6E8A-4147-A177-3AD203B41FA5}">
                      <a16:colId xmlns:a16="http://schemas.microsoft.com/office/drawing/2014/main" val="20001"/>
                    </a:ext>
                  </a:extLst>
                </a:gridCol>
                <a:gridCol w="504278">
                  <a:extLst>
                    <a:ext uri="{9D8B030D-6E8A-4147-A177-3AD203B41FA5}">
                      <a16:colId xmlns:a16="http://schemas.microsoft.com/office/drawing/2014/main" val="20002"/>
                    </a:ext>
                  </a:extLst>
                </a:gridCol>
                <a:gridCol w="504278">
                  <a:extLst>
                    <a:ext uri="{9D8B030D-6E8A-4147-A177-3AD203B41FA5}">
                      <a16:colId xmlns:a16="http://schemas.microsoft.com/office/drawing/2014/main" val="20003"/>
                    </a:ext>
                  </a:extLst>
                </a:gridCol>
                <a:gridCol w="504278">
                  <a:extLst>
                    <a:ext uri="{9D8B030D-6E8A-4147-A177-3AD203B41FA5}">
                      <a16:colId xmlns:a16="http://schemas.microsoft.com/office/drawing/2014/main" val="20004"/>
                    </a:ext>
                  </a:extLst>
                </a:gridCol>
                <a:gridCol w="504278">
                  <a:extLst>
                    <a:ext uri="{9D8B030D-6E8A-4147-A177-3AD203B41FA5}">
                      <a16:colId xmlns:a16="http://schemas.microsoft.com/office/drawing/2014/main" val="20005"/>
                    </a:ext>
                  </a:extLst>
                </a:gridCol>
                <a:gridCol w="504278">
                  <a:extLst>
                    <a:ext uri="{9D8B030D-6E8A-4147-A177-3AD203B41FA5}">
                      <a16:colId xmlns:a16="http://schemas.microsoft.com/office/drawing/2014/main" val="20006"/>
                    </a:ext>
                  </a:extLst>
                </a:gridCol>
                <a:gridCol w="504278">
                  <a:extLst>
                    <a:ext uri="{9D8B030D-6E8A-4147-A177-3AD203B41FA5}">
                      <a16:colId xmlns:a16="http://schemas.microsoft.com/office/drawing/2014/main" val="20007"/>
                    </a:ext>
                  </a:extLst>
                </a:gridCol>
                <a:gridCol w="504278">
                  <a:extLst>
                    <a:ext uri="{9D8B030D-6E8A-4147-A177-3AD203B41FA5}">
                      <a16:colId xmlns:a16="http://schemas.microsoft.com/office/drawing/2014/main" val="20008"/>
                    </a:ext>
                  </a:extLst>
                </a:gridCol>
                <a:gridCol w="504278">
                  <a:extLst>
                    <a:ext uri="{9D8B030D-6E8A-4147-A177-3AD203B41FA5}">
                      <a16:colId xmlns:a16="http://schemas.microsoft.com/office/drawing/2014/main" val="20009"/>
                    </a:ext>
                  </a:extLst>
                </a:gridCol>
                <a:gridCol w="504278">
                  <a:extLst>
                    <a:ext uri="{9D8B030D-6E8A-4147-A177-3AD203B41FA5}">
                      <a16:colId xmlns:a16="http://schemas.microsoft.com/office/drawing/2014/main" val="20010"/>
                    </a:ext>
                  </a:extLst>
                </a:gridCol>
                <a:gridCol w="504278">
                  <a:extLst>
                    <a:ext uri="{9D8B030D-6E8A-4147-A177-3AD203B41FA5}">
                      <a16:colId xmlns:a16="http://schemas.microsoft.com/office/drawing/2014/main" val="20011"/>
                    </a:ext>
                  </a:extLst>
                </a:gridCol>
                <a:gridCol w="504278">
                  <a:extLst>
                    <a:ext uri="{9D8B030D-6E8A-4147-A177-3AD203B41FA5}">
                      <a16:colId xmlns:a16="http://schemas.microsoft.com/office/drawing/2014/main" val="20012"/>
                    </a:ext>
                  </a:extLst>
                </a:gridCol>
                <a:gridCol w="504278">
                  <a:extLst>
                    <a:ext uri="{9D8B030D-6E8A-4147-A177-3AD203B41FA5}">
                      <a16:colId xmlns:a16="http://schemas.microsoft.com/office/drawing/2014/main" val="20013"/>
                    </a:ext>
                  </a:extLst>
                </a:gridCol>
              </a:tblGrid>
              <a:tr h="280122">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Effectif total </a:t>
                      </a: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sym typeface="Wingdings" pitchFamily="2" charset="2"/>
                        </a:rPr>
                        <a:t></a:t>
                      </a:r>
                    </a:p>
                  </a:txBody>
                  <a:tcPr marL="90009" marR="90009" marT="18018" marB="18018" anchor="ct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10</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11</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12</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13</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14</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18</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19</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20</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304531">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1 </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9242"/>
                          </a:solidFill>
                          <a:effectLst/>
                          <a:latin typeface="Calibri" panose="020F0502020204030204" pitchFamily="34" charset="0"/>
                          <a:ea typeface="Times New Roman" pitchFamily="18" charset="0"/>
                          <a:cs typeface="Arial" charset="0"/>
                        </a:rPr>
                        <a:t>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9242"/>
                          </a:solidFill>
                          <a:effectLst/>
                          <a:latin typeface="Calibri" panose="020F0502020204030204" pitchFamily="34" charset="0"/>
                          <a:ea typeface="Times New Roman" pitchFamily="18" charset="0"/>
                          <a:cs typeface="Arial" charset="0"/>
                        </a:rPr>
                        <a:t>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9242"/>
                          </a:solidFill>
                          <a:effectLst/>
                          <a:latin typeface="Calibri" panose="020F0502020204030204" pitchFamily="34" charset="0"/>
                          <a:ea typeface="Times New Roman" pitchFamily="18" charset="0"/>
                          <a:cs typeface="Arial" charset="0"/>
                        </a:rPr>
                        <a:t>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9242"/>
                          </a:solidFill>
                          <a:effectLst/>
                          <a:latin typeface="Calibri" panose="020F0502020204030204" pitchFamily="34" charset="0"/>
                          <a:ea typeface="Times New Roman" pitchFamily="18" charset="0"/>
                          <a:cs typeface="Arial" charset="0"/>
                        </a:rPr>
                        <a:t>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8549">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2</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9242"/>
                          </a:solidFill>
                          <a:effectLst/>
                          <a:latin typeface="Calibri" panose="020F0502020204030204" pitchFamily="34" charset="0"/>
                          <a:ea typeface="Times New Roman" pitchFamily="18" charset="0"/>
                          <a:cs typeface="Arial" charset="0"/>
                        </a:rPr>
                        <a:t>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9242"/>
                          </a:solidFill>
                          <a:effectLst/>
                          <a:latin typeface="Calibri" panose="020F0502020204030204" pitchFamily="34" charset="0"/>
                          <a:ea typeface="Times New Roman" pitchFamily="18" charset="0"/>
                          <a:cs typeface="Arial" charset="0"/>
                        </a:rPr>
                        <a:t>7</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80122">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Atelier 1b</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FF0000"/>
                          </a:solidFill>
                          <a:effectLst/>
                          <a:latin typeface="Calibri" panose="020F0502020204030204" pitchFamily="34" charset="0"/>
                          <a:ea typeface="Times New Roman" pitchFamily="18" charset="0"/>
                          <a:cs typeface="Arial" charset="0"/>
                        </a:rPr>
                        <a:t>6</a:t>
                      </a:r>
                    </a:p>
                  </a:txBody>
                  <a:tcPr marL="90009" marR="90009" marT="18018" marB="180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 name="Rectangle 164"/>
          <p:cNvSpPr txBox="1">
            <a:spLocks noChangeArrowheads="1"/>
          </p:cNvSpPr>
          <p:nvPr/>
        </p:nvSpPr>
        <p:spPr bwMode="auto">
          <a:xfrm>
            <a:off x="901700" y="4509453"/>
            <a:ext cx="8318500" cy="369887"/>
          </a:xfrm>
          <a:prstGeom prst="rect">
            <a:avLst/>
          </a:prstGeom>
          <a:noFill/>
          <a:ln w="9525">
            <a:noFill/>
            <a:miter lim="800000"/>
            <a:headEnd/>
            <a:tailEnd/>
          </a:ln>
        </p:spPr>
        <p:txBody>
          <a:bodyPr/>
          <a:lstStyle/>
          <a:p>
            <a:pPr marL="342900" indent="-342900" eaLnBrk="1" hangingPunct="1">
              <a:lnSpc>
                <a:spcPct val="120000"/>
              </a:lnSpc>
              <a:spcBef>
                <a:spcPct val="20000"/>
              </a:spcBef>
              <a:defRPr/>
            </a:pPr>
            <a:r>
              <a:rPr lang="fr-FR" sz="1600" kern="0" dirty="0">
                <a:latin typeface="Calibri" panose="020F0502020204030204" pitchFamily="34" charset="0"/>
              </a:rPr>
              <a:t>Simulation </a:t>
            </a:r>
            <a:r>
              <a:rPr lang="fr-FR" sz="1800" b="1" dirty="0">
                <a:solidFill>
                  <a:srgbClr val="FF0000"/>
                </a:solidFill>
                <a:latin typeface="Calibri" panose="020F0502020204030204" pitchFamily="34" charset="0"/>
              </a:rPr>
              <a:t>2</a:t>
            </a:r>
            <a:r>
              <a:rPr lang="fr-FR" sz="1600" kern="0" dirty="0">
                <a:latin typeface="Calibri" panose="020F0502020204030204" pitchFamily="34" charset="0"/>
              </a:rPr>
              <a:t> : organisation en 2 (ou 3) Ateliers Produit</a:t>
            </a:r>
            <a:endParaRPr lang="fr-FR" sz="1600" kern="0" dirty="0">
              <a:solidFill>
                <a:srgbClr val="000000"/>
              </a:solidFill>
              <a:latin typeface="Calibri" panose="020F0502020204030204" pitchFamily="34" charset="0"/>
            </a:endParaRPr>
          </a:p>
          <a:p>
            <a:pPr marL="342900" indent="-342900" eaLnBrk="1" hangingPunct="1">
              <a:lnSpc>
                <a:spcPct val="120000"/>
              </a:lnSpc>
              <a:spcBef>
                <a:spcPct val="20000"/>
              </a:spcBef>
              <a:defRPr/>
            </a:pPr>
            <a:endParaRPr lang="fr-FR" sz="1600" kern="0" dirty="0">
              <a:latin typeface="Calibri" panose="020F0502020204030204" pitchFamily="34" charset="0"/>
            </a:endParaRPr>
          </a:p>
        </p:txBody>
      </p:sp>
      <p:pic>
        <p:nvPicPr>
          <p:cNvPr id="11"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591B351-8411-43FA-B97F-336379CD11CA}" type="slidenum">
              <a:rPr lang="fr-FR" altLang="fr-FR" smtClean="0">
                <a:latin typeface="Calibri" panose="020F0502020204030204" pitchFamily="34" charset="0"/>
              </a:rPr>
              <a:pPr>
                <a:spcBef>
                  <a:spcPct val="0"/>
                </a:spcBef>
                <a:buFontTx/>
                <a:buNone/>
              </a:pPr>
              <a:t>19</a:t>
            </a:fld>
            <a:endParaRPr lang="fr-FR" altLang="fr-FR" dirty="0">
              <a:latin typeface="Calibri" panose="020F0502020204030204" pitchFamily="34" charset="0"/>
            </a:endParaRPr>
          </a:p>
        </p:txBody>
      </p:sp>
      <p:sp>
        <p:nvSpPr>
          <p:cNvPr id="48131" name="Rectangle 2"/>
          <p:cNvSpPr>
            <a:spLocks noGrp="1" noChangeArrowheads="1"/>
          </p:cNvSpPr>
          <p:nvPr>
            <p:ph type="title"/>
          </p:nvPr>
        </p:nvSpPr>
        <p:spPr/>
        <p:txBody>
          <a:bodyPr/>
          <a:lstStyle/>
          <a:p>
            <a:pPr eaLnBrk="1" hangingPunct="1"/>
            <a:r>
              <a:rPr lang="fr-FR" altLang="fr-FR"/>
              <a:t>Aménagement de la salle (simulation n°1)</a:t>
            </a:r>
          </a:p>
        </p:txBody>
      </p:sp>
      <p:sp>
        <p:nvSpPr>
          <p:cNvPr id="48133" name="Espace réservé du pied de page 36"/>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11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117" name="Rectangle 10"/>
          <p:cNvSpPr>
            <a:spLocks noChangeArrowheads="1"/>
          </p:cNvSpPr>
          <p:nvPr/>
        </p:nvSpPr>
        <p:spPr bwMode="auto">
          <a:xfrm>
            <a:off x="4803775" y="4924425"/>
            <a:ext cx="1597025" cy="1009650"/>
          </a:xfrm>
          <a:prstGeom prst="rect">
            <a:avLst/>
          </a:prstGeom>
          <a:solidFill>
            <a:srgbClr val="FFFF00"/>
          </a:solidFill>
          <a:ln w="6985">
            <a:solidFill>
              <a:srgbClr val="000000"/>
            </a:solidFill>
            <a:miter lim="800000"/>
            <a:headEnd/>
            <a:tailEnd/>
          </a:ln>
        </p:spPr>
        <p:txBody>
          <a:bodyPr lIns="54000" tIns="262800">
            <a:noAutofit/>
          </a:bodyPr>
          <a:lstStyle/>
          <a:p>
            <a:pPr algn="l"/>
            <a:r>
              <a:rPr lang="fr-FR" sz="1600"/>
              <a:t>Table de l’animateur</a:t>
            </a:r>
          </a:p>
        </p:txBody>
      </p:sp>
      <p:grpSp>
        <p:nvGrpSpPr>
          <p:cNvPr id="119" name="Group 11"/>
          <p:cNvGrpSpPr>
            <a:grpSpLocks/>
          </p:cNvGrpSpPr>
          <p:nvPr/>
        </p:nvGrpSpPr>
        <p:grpSpPr bwMode="auto">
          <a:xfrm rot="5400000">
            <a:off x="5824538" y="5008563"/>
            <a:ext cx="568325" cy="441325"/>
            <a:chOff x="8881" y="7082"/>
            <a:chExt cx="897" cy="694"/>
          </a:xfrm>
        </p:grpSpPr>
        <p:sp>
          <p:nvSpPr>
            <p:cNvPr id="120" name="Freeform 12"/>
            <p:cNvSpPr>
              <a:spLocks/>
            </p:cNvSpPr>
            <p:nvPr/>
          </p:nvSpPr>
          <p:spPr bwMode="auto">
            <a:xfrm>
              <a:off x="8967" y="7082"/>
              <a:ext cx="747" cy="694"/>
            </a:xfrm>
            <a:custGeom>
              <a:avLst/>
              <a:gdLst>
                <a:gd name="T0" fmla="*/ 42 w 747"/>
                <a:gd name="T1" fmla="*/ 0 h 694"/>
                <a:gd name="T2" fmla="*/ 704 w 747"/>
                <a:gd name="T3" fmla="*/ 0 h 694"/>
                <a:gd name="T4" fmla="*/ 715 w 747"/>
                <a:gd name="T5" fmla="*/ 0 h 694"/>
                <a:gd name="T6" fmla="*/ 725 w 747"/>
                <a:gd name="T7" fmla="*/ 0 h 694"/>
                <a:gd name="T8" fmla="*/ 736 w 747"/>
                <a:gd name="T9" fmla="*/ 11 h 694"/>
                <a:gd name="T10" fmla="*/ 747 w 747"/>
                <a:gd name="T11" fmla="*/ 22 h 694"/>
                <a:gd name="T12" fmla="*/ 747 w 747"/>
                <a:gd name="T13" fmla="*/ 32 h 694"/>
                <a:gd name="T14" fmla="*/ 747 w 747"/>
                <a:gd name="T15" fmla="*/ 43 h 694"/>
                <a:gd name="T16" fmla="*/ 747 w 747"/>
                <a:gd name="T17" fmla="*/ 651 h 694"/>
                <a:gd name="T18" fmla="*/ 747 w 747"/>
                <a:gd name="T19" fmla="*/ 662 h 694"/>
                <a:gd name="T20" fmla="*/ 747 w 747"/>
                <a:gd name="T21" fmla="*/ 673 h 694"/>
                <a:gd name="T22" fmla="*/ 736 w 747"/>
                <a:gd name="T23" fmla="*/ 683 h 694"/>
                <a:gd name="T24" fmla="*/ 725 w 747"/>
                <a:gd name="T25" fmla="*/ 694 h 694"/>
                <a:gd name="T26" fmla="*/ 715 w 747"/>
                <a:gd name="T27" fmla="*/ 694 h 694"/>
                <a:gd name="T28" fmla="*/ 704 w 747"/>
                <a:gd name="T29" fmla="*/ 694 h 694"/>
                <a:gd name="T30" fmla="*/ 42 w 747"/>
                <a:gd name="T31" fmla="*/ 694 h 694"/>
                <a:gd name="T32" fmla="*/ 32 w 747"/>
                <a:gd name="T33" fmla="*/ 694 h 694"/>
                <a:gd name="T34" fmla="*/ 21 w 747"/>
                <a:gd name="T35" fmla="*/ 683 h 694"/>
                <a:gd name="T36" fmla="*/ 10 w 747"/>
                <a:gd name="T37" fmla="*/ 673 h 694"/>
                <a:gd name="T38" fmla="*/ 10 w 747"/>
                <a:gd name="T39" fmla="*/ 662 h 694"/>
                <a:gd name="T40" fmla="*/ 0 w 747"/>
                <a:gd name="T41" fmla="*/ 651 h 694"/>
                <a:gd name="T42" fmla="*/ 0 w 747"/>
                <a:gd name="T43" fmla="*/ 43 h 694"/>
                <a:gd name="T44" fmla="*/ 10 w 747"/>
                <a:gd name="T45" fmla="*/ 32 h 694"/>
                <a:gd name="T46" fmla="*/ 10 w 747"/>
                <a:gd name="T47" fmla="*/ 22 h 694"/>
                <a:gd name="T48" fmla="*/ 21 w 747"/>
                <a:gd name="T49" fmla="*/ 11 h 694"/>
                <a:gd name="T50" fmla="*/ 32 w 747"/>
                <a:gd name="T51" fmla="*/ 0 h 694"/>
                <a:gd name="T52" fmla="*/ 42 w 747"/>
                <a:gd name="T53" fmla="*/ 0 h 6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47"/>
                <a:gd name="T82" fmla="*/ 0 h 694"/>
                <a:gd name="T83" fmla="*/ 747 w 747"/>
                <a:gd name="T84" fmla="*/ 694 h 6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47" h="694">
                  <a:moveTo>
                    <a:pt x="42" y="0"/>
                  </a:moveTo>
                  <a:lnTo>
                    <a:pt x="704" y="0"/>
                  </a:lnTo>
                  <a:lnTo>
                    <a:pt x="715" y="0"/>
                  </a:lnTo>
                  <a:lnTo>
                    <a:pt x="725" y="0"/>
                  </a:lnTo>
                  <a:lnTo>
                    <a:pt x="736" y="11"/>
                  </a:lnTo>
                  <a:lnTo>
                    <a:pt x="747" y="22"/>
                  </a:lnTo>
                  <a:lnTo>
                    <a:pt x="747" y="32"/>
                  </a:lnTo>
                  <a:lnTo>
                    <a:pt x="747" y="43"/>
                  </a:lnTo>
                  <a:lnTo>
                    <a:pt x="747" y="651"/>
                  </a:lnTo>
                  <a:lnTo>
                    <a:pt x="747" y="662"/>
                  </a:lnTo>
                  <a:lnTo>
                    <a:pt x="747" y="673"/>
                  </a:lnTo>
                  <a:lnTo>
                    <a:pt x="736" y="683"/>
                  </a:lnTo>
                  <a:lnTo>
                    <a:pt x="725" y="694"/>
                  </a:lnTo>
                  <a:lnTo>
                    <a:pt x="715" y="694"/>
                  </a:lnTo>
                  <a:lnTo>
                    <a:pt x="704" y="694"/>
                  </a:lnTo>
                  <a:lnTo>
                    <a:pt x="42" y="694"/>
                  </a:lnTo>
                  <a:lnTo>
                    <a:pt x="32" y="694"/>
                  </a:lnTo>
                  <a:lnTo>
                    <a:pt x="21" y="683"/>
                  </a:lnTo>
                  <a:lnTo>
                    <a:pt x="10" y="673"/>
                  </a:lnTo>
                  <a:lnTo>
                    <a:pt x="10" y="662"/>
                  </a:lnTo>
                  <a:lnTo>
                    <a:pt x="0" y="651"/>
                  </a:lnTo>
                  <a:lnTo>
                    <a:pt x="0" y="43"/>
                  </a:lnTo>
                  <a:lnTo>
                    <a:pt x="10" y="32"/>
                  </a:lnTo>
                  <a:lnTo>
                    <a:pt x="10" y="22"/>
                  </a:lnTo>
                  <a:lnTo>
                    <a:pt x="21" y="11"/>
                  </a:lnTo>
                  <a:lnTo>
                    <a:pt x="32" y="0"/>
                  </a:lnTo>
                  <a:lnTo>
                    <a:pt x="42" y="0"/>
                  </a:lnTo>
                  <a:close/>
                </a:path>
              </a:pathLst>
            </a:custGeom>
            <a:solidFill>
              <a:srgbClr val="E8E8E8"/>
            </a:solidFill>
            <a:ln w="9525">
              <a:noFill/>
              <a:round/>
              <a:headEnd/>
              <a:tailEnd/>
            </a:ln>
          </p:spPr>
          <p:txBody>
            <a:bodyPr>
              <a:noAutofit/>
            </a:bodyPr>
            <a:lstStyle/>
            <a:p>
              <a:endParaRPr lang="fr-FR"/>
            </a:p>
          </p:txBody>
        </p:sp>
        <p:sp>
          <p:nvSpPr>
            <p:cNvPr id="121" name="Freeform 13"/>
            <p:cNvSpPr>
              <a:spLocks/>
            </p:cNvSpPr>
            <p:nvPr/>
          </p:nvSpPr>
          <p:spPr bwMode="auto">
            <a:xfrm>
              <a:off x="8967" y="7082"/>
              <a:ext cx="747" cy="694"/>
            </a:xfrm>
            <a:custGeom>
              <a:avLst/>
              <a:gdLst>
                <a:gd name="T0" fmla="*/ 42 w 747"/>
                <a:gd name="T1" fmla="*/ 0 h 694"/>
                <a:gd name="T2" fmla="*/ 704 w 747"/>
                <a:gd name="T3" fmla="*/ 0 h 694"/>
                <a:gd name="T4" fmla="*/ 715 w 747"/>
                <a:gd name="T5" fmla="*/ 0 h 694"/>
                <a:gd name="T6" fmla="*/ 725 w 747"/>
                <a:gd name="T7" fmla="*/ 0 h 694"/>
                <a:gd name="T8" fmla="*/ 736 w 747"/>
                <a:gd name="T9" fmla="*/ 11 h 694"/>
                <a:gd name="T10" fmla="*/ 747 w 747"/>
                <a:gd name="T11" fmla="*/ 22 h 694"/>
                <a:gd name="T12" fmla="*/ 747 w 747"/>
                <a:gd name="T13" fmla="*/ 32 h 694"/>
                <a:gd name="T14" fmla="*/ 747 w 747"/>
                <a:gd name="T15" fmla="*/ 43 h 694"/>
                <a:gd name="T16" fmla="*/ 747 w 747"/>
                <a:gd name="T17" fmla="*/ 651 h 694"/>
                <a:gd name="T18" fmla="*/ 747 w 747"/>
                <a:gd name="T19" fmla="*/ 662 h 694"/>
                <a:gd name="T20" fmla="*/ 747 w 747"/>
                <a:gd name="T21" fmla="*/ 673 h 694"/>
                <a:gd name="T22" fmla="*/ 736 w 747"/>
                <a:gd name="T23" fmla="*/ 683 h 694"/>
                <a:gd name="T24" fmla="*/ 725 w 747"/>
                <a:gd name="T25" fmla="*/ 694 h 694"/>
                <a:gd name="T26" fmla="*/ 715 w 747"/>
                <a:gd name="T27" fmla="*/ 694 h 694"/>
                <a:gd name="T28" fmla="*/ 704 w 747"/>
                <a:gd name="T29" fmla="*/ 694 h 694"/>
                <a:gd name="T30" fmla="*/ 42 w 747"/>
                <a:gd name="T31" fmla="*/ 694 h 694"/>
                <a:gd name="T32" fmla="*/ 32 w 747"/>
                <a:gd name="T33" fmla="*/ 694 h 694"/>
                <a:gd name="T34" fmla="*/ 21 w 747"/>
                <a:gd name="T35" fmla="*/ 683 h 694"/>
                <a:gd name="T36" fmla="*/ 10 w 747"/>
                <a:gd name="T37" fmla="*/ 673 h 694"/>
                <a:gd name="T38" fmla="*/ 10 w 747"/>
                <a:gd name="T39" fmla="*/ 662 h 694"/>
                <a:gd name="T40" fmla="*/ 0 w 747"/>
                <a:gd name="T41" fmla="*/ 651 h 694"/>
                <a:gd name="T42" fmla="*/ 0 w 747"/>
                <a:gd name="T43" fmla="*/ 43 h 694"/>
                <a:gd name="T44" fmla="*/ 10 w 747"/>
                <a:gd name="T45" fmla="*/ 32 h 694"/>
                <a:gd name="T46" fmla="*/ 10 w 747"/>
                <a:gd name="T47" fmla="*/ 22 h 694"/>
                <a:gd name="T48" fmla="*/ 21 w 747"/>
                <a:gd name="T49" fmla="*/ 11 h 694"/>
                <a:gd name="T50" fmla="*/ 32 w 747"/>
                <a:gd name="T51" fmla="*/ 0 h 694"/>
                <a:gd name="T52" fmla="*/ 42 w 747"/>
                <a:gd name="T53" fmla="*/ 0 h 6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47"/>
                <a:gd name="T82" fmla="*/ 0 h 694"/>
                <a:gd name="T83" fmla="*/ 747 w 747"/>
                <a:gd name="T84" fmla="*/ 694 h 6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47" h="694">
                  <a:moveTo>
                    <a:pt x="42" y="0"/>
                  </a:moveTo>
                  <a:lnTo>
                    <a:pt x="704" y="0"/>
                  </a:lnTo>
                  <a:lnTo>
                    <a:pt x="715" y="0"/>
                  </a:lnTo>
                  <a:lnTo>
                    <a:pt x="725" y="0"/>
                  </a:lnTo>
                  <a:lnTo>
                    <a:pt x="736" y="11"/>
                  </a:lnTo>
                  <a:lnTo>
                    <a:pt x="747" y="22"/>
                  </a:lnTo>
                  <a:lnTo>
                    <a:pt x="747" y="32"/>
                  </a:lnTo>
                  <a:lnTo>
                    <a:pt x="747" y="43"/>
                  </a:lnTo>
                  <a:lnTo>
                    <a:pt x="747" y="651"/>
                  </a:lnTo>
                  <a:lnTo>
                    <a:pt x="747" y="662"/>
                  </a:lnTo>
                  <a:lnTo>
                    <a:pt x="747" y="673"/>
                  </a:lnTo>
                  <a:lnTo>
                    <a:pt x="736" y="683"/>
                  </a:lnTo>
                  <a:lnTo>
                    <a:pt x="725" y="694"/>
                  </a:lnTo>
                  <a:lnTo>
                    <a:pt x="715" y="694"/>
                  </a:lnTo>
                  <a:lnTo>
                    <a:pt x="704" y="694"/>
                  </a:lnTo>
                  <a:lnTo>
                    <a:pt x="42" y="694"/>
                  </a:lnTo>
                  <a:lnTo>
                    <a:pt x="32" y="694"/>
                  </a:lnTo>
                  <a:lnTo>
                    <a:pt x="21" y="683"/>
                  </a:lnTo>
                  <a:lnTo>
                    <a:pt x="10" y="673"/>
                  </a:lnTo>
                  <a:lnTo>
                    <a:pt x="10" y="662"/>
                  </a:lnTo>
                  <a:lnTo>
                    <a:pt x="0" y="651"/>
                  </a:lnTo>
                  <a:lnTo>
                    <a:pt x="0" y="43"/>
                  </a:lnTo>
                  <a:lnTo>
                    <a:pt x="10" y="32"/>
                  </a:lnTo>
                  <a:lnTo>
                    <a:pt x="10" y="22"/>
                  </a:lnTo>
                  <a:lnTo>
                    <a:pt x="21" y="11"/>
                  </a:lnTo>
                  <a:lnTo>
                    <a:pt x="32" y="0"/>
                  </a:lnTo>
                  <a:lnTo>
                    <a:pt x="42" y="0"/>
                  </a:lnTo>
                </a:path>
              </a:pathLst>
            </a:custGeom>
            <a:noFill/>
            <a:ln w="6985">
              <a:solidFill>
                <a:srgbClr val="000000"/>
              </a:solidFill>
              <a:prstDash val="solid"/>
              <a:round/>
              <a:headEnd/>
              <a:tailEnd/>
            </a:ln>
          </p:spPr>
          <p:txBody>
            <a:bodyPr>
              <a:noAutofit/>
            </a:bodyPr>
            <a:lstStyle/>
            <a:p>
              <a:endParaRPr lang="fr-FR"/>
            </a:p>
          </p:txBody>
        </p:sp>
        <p:sp>
          <p:nvSpPr>
            <p:cNvPr id="122" name="Rectangle 14"/>
            <p:cNvSpPr>
              <a:spLocks noChangeArrowheads="1"/>
            </p:cNvSpPr>
            <p:nvPr/>
          </p:nvSpPr>
          <p:spPr bwMode="auto">
            <a:xfrm>
              <a:off x="9148" y="7178"/>
              <a:ext cx="395" cy="513"/>
            </a:xfrm>
            <a:prstGeom prst="rect">
              <a:avLst/>
            </a:prstGeom>
            <a:solidFill>
              <a:srgbClr val="FFFFFF"/>
            </a:solidFill>
            <a:ln w="9525">
              <a:noFill/>
              <a:miter lim="800000"/>
              <a:headEnd/>
              <a:tailEnd/>
            </a:ln>
          </p:spPr>
          <p:txBody>
            <a:bodyPr>
              <a:noAutofit/>
            </a:bodyPr>
            <a:lstStyle/>
            <a:p>
              <a:endParaRPr lang="fr-FR"/>
            </a:p>
          </p:txBody>
        </p:sp>
        <p:sp>
          <p:nvSpPr>
            <p:cNvPr id="123" name="Rectangle 15"/>
            <p:cNvSpPr>
              <a:spLocks noChangeArrowheads="1"/>
            </p:cNvSpPr>
            <p:nvPr/>
          </p:nvSpPr>
          <p:spPr bwMode="auto">
            <a:xfrm>
              <a:off x="9148" y="7178"/>
              <a:ext cx="395" cy="513"/>
            </a:xfrm>
            <a:prstGeom prst="rect">
              <a:avLst/>
            </a:prstGeom>
            <a:noFill/>
            <a:ln w="6985">
              <a:solidFill>
                <a:srgbClr val="000000"/>
              </a:solidFill>
              <a:miter lim="800000"/>
              <a:headEnd/>
              <a:tailEnd/>
            </a:ln>
          </p:spPr>
          <p:txBody>
            <a:bodyPr>
              <a:noAutofit/>
            </a:bodyPr>
            <a:lstStyle/>
            <a:p>
              <a:endParaRPr lang="fr-FR"/>
            </a:p>
          </p:txBody>
        </p:sp>
        <p:sp>
          <p:nvSpPr>
            <p:cNvPr id="124" name="Rectangle 16"/>
            <p:cNvSpPr>
              <a:spLocks noChangeArrowheads="1"/>
            </p:cNvSpPr>
            <p:nvPr/>
          </p:nvSpPr>
          <p:spPr bwMode="auto">
            <a:xfrm>
              <a:off x="8881" y="7541"/>
              <a:ext cx="118" cy="107"/>
            </a:xfrm>
            <a:prstGeom prst="rect">
              <a:avLst/>
            </a:prstGeom>
            <a:solidFill>
              <a:srgbClr val="E8E8E8"/>
            </a:solidFill>
            <a:ln w="9525">
              <a:noFill/>
              <a:miter lim="800000"/>
              <a:headEnd/>
              <a:tailEnd/>
            </a:ln>
          </p:spPr>
          <p:txBody>
            <a:bodyPr>
              <a:noAutofit/>
            </a:bodyPr>
            <a:lstStyle/>
            <a:p>
              <a:endParaRPr lang="fr-FR"/>
            </a:p>
          </p:txBody>
        </p:sp>
        <p:sp>
          <p:nvSpPr>
            <p:cNvPr id="125" name="Rectangle 17"/>
            <p:cNvSpPr>
              <a:spLocks noChangeArrowheads="1"/>
            </p:cNvSpPr>
            <p:nvPr/>
          </p:nvSpPr>
          <p:spPr bwMode="auto">
            <a:xfrm>
              <a:off x="8881" y="7541"/>
              <a:ext cx="118" cy="107"/>
            </a:xfrm>
            <a:prstGeom prst="rect">
              <a:avLst/>
            </a:prstGeom>
            <a:noFill/>
            <a:ln w="6985">
              <a:solidFill>
                <a:srgbClr val="000000"/>
              </a:solidFill>
              <a:miter lim="800000"/>
              <a:headEnd/>
              <a:tailEnd/>
            </a:ln>
          </p:spPr>
          <p:txBody>
            <a:bodyPr>
              <a:noAutofit/>
            </a:bodyPr>
            <a:lstStyle/>
            <a:p>
              <a:endParaRPr lang="fr-FR"/>
            </a:p>
          </p:txBody>
        </p:sp>
        <p:sp>
          <p:nvSpPr>
            <p:cNvPr id="126" name="Rectangle 18"/>
            <p:cNvSpPr>
              <a:spLocks noChangeArrowheads="1"/>
            </p:cNvSpPr>
            <p:nvPr/>
          </p:nvSpPr>
          <p:spPr bwMode="auto">
            <a:xfrm>
              <a:off x="8956" y="7392"/>
              <a:ext cx="309" cy="203"/>
            </a:xfrm>
            <a:prstGeom prst="rect">
              <a:avLst/>
            </a:prstGeom>
            <a:solidFill>
              <a:srgbClr val="E8E8E8"/>
            </a:solidFill>
            <a:ln w="9525">
              <a:noFill/>
              <a:miter lim="800000"/>
              <a:headEnd/>
              <a:tailEnd/>
            </a:ln>
          </p:spPr>
          <p:txBody>
            <a:bodyPr>
              <a:noAutofit/>
            </a:bodyPr>
            <a:lstStyle/>
            <a:p>
              <a:endParaRPr lang="fr-FR"/>
            </a:p>
          </p:txBody>
        </p:sp>
        <p:sp>
          <p:nvSpPr>
            <p:cNvPr id="127" name="Rectangle 19"/>
            <p:cNvSpPr>
              <a:spLocks noChangeArrowheads="1"/>
            </p:cNvSpPr>
            <p:nvPr/>
          </p:nvSpPr>
          <p:spPr bwMode="auto">
            <a:xfrm>
              <a:off x="8956" y="7392"/>
              <a:ext cx="309" cy="203"/>
            </a:xfrm>
            <a:prstGeom prst="rect">
              <a:avLst/>
            </a:prstGeom>
            <a:noFill/>
            <a:ln w="6985">
              <a:solidFill>
                <a:srgbClr val="000000"/>
              </a:solidFill>
              <a:miter lim="800000"/>
              <a:headEnd/>
              <a:tailEnd/>
            </a:ln>
          </p:spPr>
          <p:txBody>
            <a:bodyPr>
              <a:noAutofit/>
            </a:bodyPr>
            <a:lstStyle/>
            <a:p>
              <a:endParaRPr lang="fr-FR"/>
            </a:p>
          </p:txBody>
        </p:sp>
        <p:sp>
          <p:nvSpPr>
            <p:cNvPr id="128" name="Rectangle 20"/>
            <p:cNvSpPr>
              <a:spLocks noChangeArrowheads="1"/>
            </p:cNvSpPr>
            <p:nvPr/>
          </p:nvSpPr>
          <p:spPr bwMode="auto">
            <a:xfrm>
              <a:off x="8956" y="7392"/>
              <a:ext cx="309" cy="43"/>
            </a:xfrm>
            <a:prstGeom prst="rect">
              <a:avLst/>
            </a:prstGeom>
            <a:solidFill>
              <a:srgbClr val="000000"/>
            </a:solidFill>
            <a:ln w="9525">
              <a:noFill/>
              <a:miter lim="800000"/>
              <a:headEnd/>
              <a:tailEnd/>
            </a:ln>
          </p:spPr>
          <p:txBody>
            <a:bodyPr>
              <a:noAutofit/>
            </a:bodyPr>
            <a:lstStyle/>
            <a:p>
              <a:endParaRPr lang="fr-FR"/>
            </a:p>
          </p:txBody>
        </p:sp>
        <p:sp>
          <p:nvSpPr>
            <p:cNvPr id="129" name="Rectangle 21"/>
            <p:cNvSpPr>
              <a:spLocks noChangeArrowheads="1"/>
            </p:cNvSpPr>
            <p:nvPr/>
          </p:nvSpPr>
          <p:spPr bwMode="auto">
            <a:xfrm>
              <a:off x="8956" y="7392"/>
              <a:ext cx="309" cy="43"/>
            </a:xfrm>
            <a:prstGeom prst="rect">
              <a:avLst/>
            </a:prstGeom>
            <a:noFill/>
            <a:ln w="6985">
              <a:solidFill>
                <a:srgbClr val="000000"/>
              </a:solidFill>
              <a:miter lim="800000"/>
              <a:headEnd/>
              <a:tailEnd/>
            </a:ln>
          </p:spPr>
          <p:txBody>
            <a:bodyPr>
              <a:noAutofit/>
            </a:bodyPr>
            <a:lstStyle/>
            <a:p>
              <a:endParaRPr lang="fr-FR"/>
            </a:p>
          </p:txBody>
        </p:sp>
        <p:sp>
          <p:nvSpPr>
            <p:cNvPr id="130" name="Rectangle 22"/>
            <p:cNvSpPr>
              <a:spLocks noChangeArrowheads="1"/>
            </p:cNvSpPr>
            <p:nvPr/>
          </p:nvSpPr>
          <p:spPr bwMode="auto">
            <a:xfrm>
              <a:off x="9714" y="7210"/>
              <a:ext cx="64" cy="214"/>
            </a:xfrm>
            <a:prstGeom prst="rect">
              <a:avLst/>
            </a:prstGeom>
            <a:solidFill>
              <a:srgbClr val="000000"/>
            </a:solidFill>
            <a:ln w="9525">
              <a:noFill/>
              <a:miter lim="800000"/>
              <a:headEnd/>
              <a:tailEnd/>
            </a:ln>
          </p:spPr>
          <p:txBody>
            <a:bodyPr>
              <a:noAutofit/>
            </a:bodyPr>
            <a:lstStyle/>
            <a:p>
              <a:endParaRPr lang="fr-FR"/>
            </a:p>
          </p:txBody>
        </p:sp>
      </p:grpSp>
      <p:sp>
        <p:nvSpPr>
          <p:cNvPr id="131" name="Rectangle 23"/>
          <p:cNvSpPr>
            <a:spLocks noChangeArrowheads="1"/>
          </p:cNvSpPr>
          <p:nvPr/>
        </p:nvSpPr>
        <p:spPr bwMode="auto">
          <a:xfrm>
            <a:off x="6521450" y="5141913"/>
            <a:ext cx="787400" cy="384175"/>
          </a:xfrm>
          <a:prstGeom prst="rect">
            <a:avLst/>
          </a:prstGeom>
          <a:noFill/>
          <a:ln w="9525">
            <a:noFill/>
            <a:miter lim="800000"/>
            <a:headEnd/>
            <a:tailEnd/>
          </a:ln>
        </p:spPr>
        <p:txBody>
          <a:bodyPr wrap="none" lIns="0" tIns="0" rIns="0" bIns="0">
            <a:noAutofit/>
          </a:bodyPr>
          <a:lstStyle/>
          <a:p>
            <a:pPr algn="l">
              <a:lnSpc>
                <a:spcPct val="90000"/>
              </a:lnSpc>
              <a:spcBef>
                <a:spcPct val="50000"/>
              </a:spcBef>
            </a:pPr>
            <a:r>
              <a:rPr lang="en-US" sz="1400" i="1">
                <a:solidFill>
                  <a:srgbClr val="000000"/>
                </a:solidFill>
              </a:rPr>
              <a:t>Vidéo-</a:t>
            </a:r>
            <a:br>
              <a:rPr lang="en-US" sz="1400" i="1">
                <a:solidFill>
                  <a:srgbClr val="000000"/>
                </a:solidFill>
              </a:rPr>
            </a:br>
            <a:r>
              <a:rPr lang="en-US" sz="1400" i="1">
                <a:solidFill>
                  <a:srgbClr val="000000"/>
                </a:solidFill>
              </a:rPr>
              <a:t>projecteur</a:t>
            </a:r>
            <a:endParaRPr lang="fr-FR" sz="1800" i="1"/>
          </a:p>
        </p:txBody>
      </p:sp>
      <p:grpSp>
        <p:nvGrpSpPr>
          <p:cNvPr id="132" name="Group 111"/>
          <p:cNvGrpSpPr>
            <a:grpSpLocks/>
          </p:cNvGrpSpPr>
          <p:nvPr/>
        </p:nvGrpSpPr>
        <p:grpSpPr bwMode="auto">
          <a:xfrm>
            <a:off x="4875213" y="5562600"/>
            <a:ext cx="2568575" cy="1055688"/>
            <a:chOff x="2504" y="3205"/>
            <a:chExt cx="1618" cy="865"/>
          </a:xfrm>
        </p:grpSpPr>
        <p:grpSp>
          <p:nvGrpSpPr>
            <p:cNvPr id="133" name="Group 57"/>
            <p:cNvGrpSpPr>
              <a:grpSpLocks/>
            </p:cNvGrpSpPr>
            <p:nvPr/>
          </p:nvGrpSpPr>
          <p:grpSpPr bwMode="auto">
            <a:xfrm>
              <a:off x="2504" y="3983"/>
              <a:ext cx="1618" cy="87"/>
              <a:chOff x="2216" y="4017"/>
              <a:chExt cx="1618" cy="87"/>
            </a:xfrm>
          </p:grpSpPr>
          <p:sp>
            <p:nvSpPr>
              <p:cNvPr id="135" name="Rectangle 4"/>
              <p:cNvSpPr>
                <a:spLocks noChangeArrowheads="1"/>
              </p:cNvSpPr>
              <p:nvPr/>
            </p:nvSpPr>
            <p:spPr bwMode="auto">
              <a:xfrm>
                <a:off x="2330" y="4039"/>
                <a:ext cx="1386" cy="50"/>
              </a:xfrm>
              <a:prstGeom prst="rect">
                <a:avLst/>
              </a:prstGeom>
              <a:solidFill>
                <a:srgbClr val="E8E8E8"/>
              </a:solidFill>
              <a:ln w="9525">
                <a:noFill/>
                <a:miter lim="800000"/>
                <a:headEnd/>
                <a:tailEnd/>
              </a:ln>
            </p:spPr>
            <p:txBody>
              <a:bodyPr>
                <a:noAutofit/>
              </a:bodyPr>
              <a:lstStyle/>
              <a:p>
                <a:endParaRPr lang="fr-FR"/>
              </a:p>
            </p:txBody>
          </p:sp>
          <p:sp>
            <p:nvSpPr>
              <p:cNvPr id="136" name="Rectangle 5"/>
              <p:cNvSpPr>
                <a:spLocks noChangeArrowheads="1"/>
              </p:cNvSpPr>
              <p:nvPr/>
            </p:nvSpPr>
            <p:spPr bwMode="auto">
              <a:xfrm>
                <a:off x="2330" y="4039"/>
                <a:ext cx="1386" cy="50"/>
              </a:xfrm>
              <a:prstGeom prst="rect">
                <a:avLst/>
              </a:prstGeom>
              <a:noFill/>
              <a:ln w="0">
                <a:solidFill>
                  <a:srgbClr val="000000"/>
                </a:solidFill>
                <a:miter lim="800000"/>
                <a:headEnd/>
                <a:tailEnd/>
              </a:ln>
            </p:spPr>
            <p:txBody>
              <a:bodyPr>
                <a:noAutofit/>
              </a:bodyPr>
              <a:lstStyle/>
              <a:p>
                <a:endParaRPr lang="fr-FR"/>
              </a:p>
            </p:txBody>
          </p:sp>
          <p:sp>
            <p:nvSpPr>
              <p:cNvPr id="137" name="Freeform 6"/>
              <p:cNvSpPr>
                <a:spLocks/>
              </p:cNvSpPr>
              <p:nvPr/>
            </p:nvSpPr>
            <p:spPr bwMode="auto">
              <a:xfrm>
                <a:off x="2216" y="4017"/>
                <a:ext cx="118" cy="87"/>
              </a:xfrm>
              <a:custGeom>
                <a:avLst/>
                <a:gdLst>
                  <a:gd name="T0" fmla="*/ 17 w 296"/>
                  <a:gd name="T1" fmla="*/ 0 h 216"/>
                  <a:gd name="T2" fmla="*/ 101 w 296"/>
                  <a:gd name="T3" fmla="*/ 0 h 216"/>
                  <a:gd name="T4" fmla="*/ 105 w 296"/>
                  <a:gd name="T5" fmla="*/ 4 h 216"/>
                  <a:gd name="T6" fmla="*/ 105 w 296"/>
                  <a:gd name="T7" fmla="*/ 4 h 216"/>
                  <a:gd name="T8" fmla="*/ 110 w 296"/>
                  <a:gd name="T9" fmla="*/ 4 h 216"/>
                  <a:gd name="T10" fmla="*/ 114 w 296"/>
                  <a:gd name="T11" fmla="*/ 4 h 216"/>
                  <a:gd name="T12" fmla="*/ 114 w 296"/>
                  <a:gd name="T13" fmla="*/ 7 h 216"/>
                  <a:gd name="T14" fmla="*/ 118 w 296"/>
                  <a:gd name="T15" fmla="*/ 7 h 216"/>
                  <a:gd name="T16" fmla="*/ 118 w 296"/>
                  <a:gd name="T17" fmla="*/ 11 h 216"/>
                  <a:gd name="T18" fmla="*/ 118 w 296"/>
                  <a:gd name="T19" fmla="*/ 15 h 216"/>
                  <a:gd name="T20" fmla="*/ 118 w 296"/>
                  <a:gd name="T21" fmla="*/ 76 h 216"/>
                  <a:gd name="T22" fmla="*/ 118 w 296"/>
                  <a:gd name="T23" fmla="*/ 80 h 216"/>
                  <a:gd name="T24" fmla="*/ 118 w 296"/>
                  <a:gd name="T25" fmla="*/ 80 h 216"/>
                  <a:gd name="T26" fmla="*/ 114 w 296"/>
                  <a:gd name="T27" fmla="*/ 83 h 216"/>
                  <a:gd name="T28" fmla="*/ 114 w 296"/>
                  <a:gd name="T29" fmla="*/ 83 h 216"/>
                  <a:gd name="T30" fmla="*/ 110 w 296"/>
                  <a:gd name="T31" fmla="*/ 87 h 216"/>
                  <a:gd name="T32" fmla="*/ 105 w 296"/>
                  <a:gd name="T33" fmla="*/ 87 h 216"/>
                  <a:gd name="T34" fmla="*/ 105 w 296"/>
                  <a:gd name="T35" fmla="*/ 87 h 216"/>
                  <a:gd name="T36" fmla="*/ 101 w 296"/>
                  <a:gd name="T37" fmla="*/ 87 h 216"/>
                  <a:gd name="T38" fmla="*/ 17 w 296"/>
                  <a:gd name="T39" fmla="*/ 87 h 216"/>
                  <a:gd name="T40" fmla="*/ 13 w 296"/>
                  <a:gd name="T41" fmla="*/ 87 h 216"/>
                  <a:gd name="T42" fmla="*/ 13 w 296"/>
                  <a:gd name="T43" fmla="*/ 87 h 216"/>
                  <a:gd name="T44" fmla="*/ 8 w 296"/>
                  <a:gd name="T45" fmla="*/ 87 h 216"/>
                  <a:gd name="T46" fmla="*/ 4 w 296"/>
                  <a:gd name="T47" fmla="*/ 83 h 216"/>
                  <a:gd name="T48" fmla="*/ 4 w 296"/>
                  <a:gd name="T49" fmla="*/ 83 h 216"/>
                  <a:gd name="T50" fmla="*/ 0 w 296"/>
                  <a:gd name="T51" fmla="*/ 80 h 216"/>
                  <a:gd name="T52" fmla="*/ 0 w 296"/>
                  <a:gd name="T53" fmla="*/ 80 h 216"/>
                  <a:gd name="T54" fmla="*/ 0 w 296"/>
                  <a:gd name="T55" fmla="*/ 76 h 216"/>
                  <a:gd name="T56" fmla="*/ 0 w 296"/>
                  <a:gd name="T57" fmla="*/ 15 h 216"/>
                  <a:gd name="T58" fmla="*/ 0 w 296"/>
                  <a:gd name="T59" fmla="*/ 11 h 216"/>
                  <a:gd name="T60" fmla="*/ 0 w 296"/>
                  <a:gd name="T61" fmla="*/ 7 h 216"/>
                  <a:gd name="T62" fmla="*/ 4 w 296"/>
                  <a:gd name="T63" fmla="*/ 7 h 216"/>
                  <a:gd name="T64" fmla="*/ 4 w 296"/>
                  <a:gd name="T65" fmla="*/ 4 h 216"/>
                  <a:gd name="T66" fmla="*/ 8 w 296"/>
                  <a:gd name="T67" fmla="*/ 4 h 216"/>
                  <a:gd name="T68" fmla="*/ 13 w 296"/>
                  <a:gd name="T69" fmla="*/ 4 h 216"/>
                  <a:gd name="T70" fmla="*/ 13 w 296"/>
                  <a:gd name="T71" fmla="*/ 4 h 216"/>
                  <a:gd name="T72" fmla="*/ 17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4" y="9"/>
                    </a:lnTo>
                    <a:lnTo>
                      <a:pt x="275" y="9"/>
                    </a:lnTo>
                    <a:lnTo>
                      <a:pt x="285" y="9"/>
                    </a:lnTo>
                    <a:lnTo>
                      <a:pt x="285" y="18"/>
                    </a:lnTo>
                    <a:lnTo>
                      <a:pt x="296" y="18"/>
                    </a:lnTo>
                    <a:lnTo>
                      <a:pt x="296" y="27"/>
                    </a:lnTo>
                    <a:lnTo>
                      <a:pt x="296" y="36"/>
                    </a:lnTo>
                    <a:lnTo>
                      <a:pt x="296" y="189"/>
                    </a:lnTo>
                    <a:lnTo>
                      <a:pt x="296" y="198"/>
                    </a:lnTo>
                    <a:lnTo>
                      <a:pt x="285" y="207"/>
                    </a:lnTo>
                    <a:lnTo>
                      <a:pt x="275" y="216"/>
                    </a:lnTo>
                    <a:lnTo>
                      <a:pt x="264" y="216"/>
                    </a:lnTo>
                    <a:lnTo>
                      <a:pt x="254" y="216"/>
                    </a:lnTo>
                    <a:lnTo>
                      <a:pt x="43" y="216"/>
                    </a:lnTo>
                    <a:lnTo>
                      <a:pt x="32" y="216"/>
                    </a:lnTo>
                    <a:lnTo>
                      <a:pt x="21" y="216"/>
                    </a:lnTo>
                    <a:lnTo>
                      <a:pt x="11" y="207"/>
                    </a:lnTo>
                    <a:lnTo>
                      <a:pt x="0" y="198"/>
                    </a:lnTo>
                    <a:lnTo>
                      <a:pt x="0" y="189"/>
                    </a:lnTo>
                    <a:lnTo>
                      <a:pt x="0" y="36"/>
                    </a:lnTo>
                    <a:lnTo>
                      <a:pt x="0" y="27"/>
                    </a:lnTo>
                    <a:lnTo>
                      <a:pt x="0" y="18"/>
                    </a:lnTo>
                    <a:lnTo>
                      <a:pt x="11" y="18"/>
                    </a:lnTo>
                    <a:lnTo>
                      <a:pt x="11" y="9"/>
                    </a:lnTo>
                    <a:lnTo>
                      <a:pt x="21" y="9"/>
                    </a:lnTo>
                    <a:lnTo>
                      <a:pt x="32" y="9"/>
                    </a:lnTo>
                    <a:lnTo>
                      <a:pt x="43" y="0"/>
                    </a:lnTo>
                    <a:close/>
                  </a:path>
                </a:pathLst>
              </a:custGeom>
              <a:solidFill>
                <a:srgbClr val="99CCCC"/>
              </a:solidFill>
              <a:ln w="9525">
                <a:noFill/>
                <a:round/>
                <a:headEnd/>
                <a:tailEnd/>
              </a:ln>
            </p:spPr>
            <p:txBody>
              <a:bodyPr>
                <a:noAutofit/>
              </a:bodyPr>
              <a:lstStyle/>
              <a:p>
                <a:endParaRPr lang="fr-FR"/>
              </a:p>
            </p:txBody>
          </p:sp>
          <p:sp>
            <p:nvSpPr>
              <p:cNvPr id="138" name="Freeform 7"/>
              <p:cNvSpPr>
                <a:spLocks/>
              </p:cNvSpPr>
              <p:nvPr/>
            </p:nvSpPr>
            <p:spPr bwMode="auto">
              <a:xfrm>
                <a:off x="2216" y="4017"/>
                <a:ext cx="118" cy="87"/>
              </a:xfrm>
              <a:custGeom>
                <a:avLst/>
                <a:gdLst>
                  <a:gd name="T0" fmla="*/ 17 w 296"/>
                  <a:gd name="T1" fmla="*/ 0 h 216"/>
                  <a:gd name="T2" fmla="*/ 101 w 296"/>
                  <a:gd name="T3" fmla="*/ 0 h 216"/>
                  <a:gd name="T4" fmla="*/ 105 w 296"/>
                  <a:gd name="T5" fmla="*/ 4 h 216"/>
                  <a:gd name="T6" fmla="*/ 105 w 296"/>
                  <a:gd name="T7" fmla="*/ 4 h 216"/>
                  <a:gd name="T8" fmla="*/ 110 w 296"/>
                  <a:gd name="T9" fmla="*/ 4 h 216"/>
                  <a:gd name="T10" fmla="*/ 114 w 296"/>
                  <a:gd name="T11" fmla="*/ 4 h 216"/>
                  <a:gd name="T12" fmla="*/ 114 w 296"/>
                  <a:gd name="T13" fmla="*/ 7 h 216"/>
                  <a:gd name="T14" fmla="*/ 118 w 296"/>
                  <a:gd name="T15" fmla="*/ 7 h 216"/>
                  <a:gd name="T16" fmla="*/ 118 w 296"/>
                  <a:gd name="T17" fmla="*/ 11 h 216"/>
                  <a:gd name="T18" fmla="*/ 118 w 296"/>
                  <a:gd name="T19" fmla="*/ 15 h 216"/>
                  <a:gd name="T20" fmla="*/ 118 w 296"/>
                  <a:gd name="T21" fmla="*/ 76 h 216"/>
                  <a:gd name="T22" fmla="*/ 118 w 296"/>
                  <a:gd name="T23" fmla="*/ 80 h 216"/>
                  <a:gd name="T24" fmla="*/ 118 w 296"/>
                  <a:gd name="T25" fmla="*/ 80 h 216"/>
                  <a:gd name="T26" fmla="*/ 114 w 296"/>
                  <a:gd name="T27" fmla="*/ 83 h 216"/>
                  <a:gd name="T28" fmla="*/ 114 w 296"/>
                  <a:gd name="T29" fmla="*/ 83 h 216"/>
                  <a:gd name="T30" fmla="*/ 110 w 296"/>
                  <a:gd name="T31" fmla="*/ 87 h 216"/>
                  <a:gd name="T32" fmla="*/ 105 w 296"/>
                  <a:gd name="T33" fmla="*/ 87 h 216"/>
                  <a:gd name="T34" fmla="*/ 105 w 296"/>
                  <a:gd name="T35" fmla="*/ 87 h 216"/>
                  <a:gd name="T36" fmla="*/ 101 w 296"/>
                  <a:gd name="T37" fmla="*/ 87 h 216"/>
                  <a:gd name="T38" fmla="*/ 17 w 296"/>
                  <a:gd name="T39" fmla="*/ 87 h 216"/>
                  <a:gd name="T40" fmla="*/ 13 w 296"/>
                  <a:gd name="T41" fmla="*/ 87 h 216"/>
                  <a:gd name="T42" fmla="*/ 13 w 296"/>
                  <a:gd name="T43" fmla="*/ 87 h 216"/>
                  <a:gd name="T44" fmla="*/ 8 w 296"/>
                  <a:gd name="T45" fmla="*/ 87 h 216"/>
                  <a:gd name="T46" fmla="*/ 4 w 296"/>
                  <a:gd name="T47" fmla="*/ 83 h 216"/>
                  <a:gd name="T48" fmla="*/ 4 w 296"/>
                  <a:gd name="T49" fmla="*/ 83 h 216"/>
                  <a:gd name="T50" fmla="*/ 0 w 296"/>
                  <a:gd name="T51" fmla="*/ 80 h 216"/>
                  <a:gd name="T52" fmla="*/ 0 w 296"/>
                  <a:gd name="T53" fmla="*/ 80 h 216"/>
                  <a:gd name="T54" fmla="*/ 0 w 296"/>
                  <a:gd name="T55" fmla="*/ 76 h 216"/>
                  <a:gd name="T56" fmla="*/ 0 w 296"/>
                  <a:gd name="T57" fmla="*/ 15 h 216"/>
                  <a:gd name="T58" fmla="*/ 0 w 296"/>
                  <a:gd name="T59" fmla="*/ 11 h 216"/>
                  <a:gd name="T60" fmla="*/ 0 w 296"/>
                  <a:gd name="T61" fmla="*/ 7 h 216"/>
                  <a:gd name="T62" fmla="*/ 4 w 296"/>
                  <a:gd name="T63" fmla="*/ 7 h 216"/>
                  <a:gd name="T64" fmla="*/ 4 w 296"/>
                  <a:gd name="T65" fmla="*/ 4 h 216"/>
                  <a:gd name="T66" fmla="*/ 8 w 296"/>
                  <a:gd name="T67" fmla="*/ 4 h 216"/>
                  <a:gd name="T68" fmla="*/ 13 w 296"/>
                  <a:gd name="T69" fmla="*/ 4 h 216"/>
                  <a:gd name="T70" fmla="*/ 13 w 296"/>
                  <a:gd name="T71" fmla="*/ 4 h 216"/>
                  <a:gd name="T72" fmla="*/ 17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4" y="9"/>
                    </a:lnTo>
                    <a:lnTo>
                      <a:pt x="275" y="9"/>
                    </a:lnTo>
                    <a:lnTo>
                      <a:pt x="285" y="9"/>
                    </a:lnTo>
                    <a:lnTo>
                      <a:pt x="285" y="18"/>
                    </a:lnTo>
                    <a:lnTo>
                      <a:pt x="296" y="18"/>
                    </a:lnTo>
                    <a:lnTo>
                      <a:pt x="296" y="27"/>
                    </a:lnTo>
                    <a:lnTo>
                      <a:pt x="296" y="36"/>
                    </a:lnTo>
                    <a:lnTo>
                      <a:pt x="296" y="189"/>
                    </a:lnTo>
                    <a:lnTo>
                      <a:pt x="296" y="198"/>
                    </a:lnTo>
                    <a:lnTo>
                      <a:pt x="285" y="207"/>
                    </a:lnTo>
                    <a:lnTo>
                      <a:pt x="275" y="216"/>
                    </a:lnTo>
                    <a:lnTo>
                      <a:pt x="264" y="216"/>
                    </a:lnTo>
                    <a:lnTo>
                      <a:pt x="254" y="216"/>
                    </a:lnTo>
                    <a:lnTo>
                      <a:pt x="43" y="216"/>
                    </a:lnTo>
                    <a:lnTo>
                      <a:pt x="32" y="216"/>
                    </a:lnTo>
                    <a:lnTo>
                      <a:pt x="21" y="216"/>
                    </a:lnTo>
                    <a:lnTo>
                      <a:pt x="11" y="207"/>
                    </a:lnTo>
                    <a:lnTo>
                      <a:pt x="0" y="198"/>
                    </a:lnTo>
                    <a:lnTo>
                      <a:pt x="0" y="189"/>
                    </a:lnTo>
                    <a:lnTo>
                      <a:pt x="0" y="36"/>
                    </a:lnTo>
                    <a:lnTo>
                      <a:pt x="0" y="27"/>
                    </a:lnTo>
                    <a:lnTo>
                      <a:pt x="0" y="18"/>
                    </a:lnTo>
                    <a:lnTo>
                      <a:pt x="11" y="18"/>
                    </a:lnTo>
                    <a:lnTo>
                      <a:pt x="11" y="9"/>
                    </a:lnTo>
                    <a:lnTo>
                      <a:pt x="21" y="9"/>
                    </a:lnTo>
                    <a:lnTo>
                      <a:pt x="32" y="9"/>
                    </a:lnTo>
                    <a:lnTo>
                      <a:pt x="43" y="0"/>
                    </a:lnTo>
                  </a:path>
                </a:pathLst>
              </a:custGeom>
              <a:noFill/>
              <a:ln w="0">
                <a:solidFill>
                  <a:srgbClr val="000000"/>
                </a:solidFill>
                <a:prstDash val="solid"/>
                <a:round/>
                <a:headEnd/>
                <a:tailEnd/>
              </a:ln>
            </p:spPr>
            <p:txBody>
              <a:bodyPr>
                <a:noAutofit/>
              </a:bodyPr>
              <a:lstStyle/>
              <a:p>
                <a:endParaRPr lang="fr-FR"/>
              </a:p>
            </p:txBody>
          </p:sp>
          <p:sp>
            <p:nvSpPr>
              <p:cNvPr id="139" name="Freeform 8"/>
              <p:cNvSpPr>
                <a:spLocks/>
              </p:cNvSpPr>
              <p:nvPr/>
            </p:nvSpPr>
            <p:spPr bwMode="auto">
              <a:xfrm>
                <a:off x="3716" y="4017"/>
                <a:ext cx="118" cy="87"/>
              </a:xfrm>
              <a:custGeom>
                <a:avLst/>
                <a:gdLst>
                  <a:gd name="T0" fmla="*/ 17 w 296"/>
                  <a:gd name="T1" fmla="*/ 0 h 216"/>
                  <a:gd name="T2" fmla="*/ 101 w 296"/>
                  <a:gd name="T3" fmla="*/ 0 h 216"/>
                  <a:gd name="T4" fmla="*/ 106 w 296"/>
                  <a:gd name="T5" fmla="*/ 4 h 216"/>
                  <a:gd name="T6" fmla="*/ 106 w 296"/>
                  <a:gd name="T7" fmla="*/ 4 h 216"/>
                  <a:gd name="T8" fmla="*/ 110 w 296"/>
                  <a:gd name="T9" fmla="*/ 4 h 216"/>
                  <a:gd name="T10" fmla="*/ 114 w 296"/>
                  <a:gd name="T11" fmla="*/ 4 h 216"/>
                  <a:gd name="T12" fmla="*/ 114 w 296"/>
                  <a:gd name="T13" fmla="*/ 7 h 216"/>
                  <a:gd name="T14" fmla="*/ 118 w 296"/>
                  <a:gd name="T15" fmla="*/ 7 h 216"/>
                  <a:gd name="T16" fmla="*/ 118 w 296"/>
                  <a:gd name="T17" fmla="*/ 11 h 216"/>
                  <a:gd name="T18" fmla="*/ 118 w 296"/>
                  <a:gd name="T19" fmla="*/ 15 h 216"/>
                  <a:gd name="T20" fmla="*/ 118 w 296"/>
                  <a:gd name="T21" fmla="*/ 76 h 216"/>
                  <a:gd name="T22" fmla="*/ 118 w 296"/>
                  <a:gd name="T23" fmla="*/ 80 h 216"/>
                  <a:gd name="T24" fmla="*/ 118 w 296"/>
                  <a:gd name="T25" fmla="*/ 80 h 216"/>
                  <a:gd name="T26" fmla="*/ 114 w 296"/>
                  <a:gd name="T27" fmla="*/ 83 h 216"/>
                  <a:gd name="T28" fmla="*/ 114 w 296"/>
                  <a:gd name="T29" fmla="*/ 83 h 216"/>
                  <a:gd name="T30" fmla="*/ 110 w 296"/>
                  <a:gd name="T31" fmla="*/ 87 h 216"/>
                  <a:gd name="T32" fmla="*/ 106 w 296"/>
                  <a:gd name="T33" fmla="*/ 87 h 216"/>
                  <a:gd name="T34" fmla="*/ 106 w 296"/>
                  <a:gd name="T35" fmla="*/ 87 h 216"/>
                  <a:gd name="T36" fmla="*/ 101 w 296"/>
                  <a:gd name="T37" fmla="*/ 87 h 216"/>
                  <a:gd name="T38" fmla="*/ 17 w 296"/>
                  <a:gd name="T39" fmla="*/ 87 h 216"/>
                  <a:gd name="T40" fmla="*/ 13 w 296"/>
                  <a:gd name="T41" fmla="*/ 87 h 216"/>
                  <a:gd name="T42" fmla="*/ 13 w 296"/>
                  <a:gd name="T43" fmla="*/ 87 h 216"/>
                  <a:gd name="T44" fmla="*/ 9 w 296"/>
                  <a:gd name="T45" fmla="*/ 87 h 216"/>
                  <a:gd name="T46" fmla="*/ 4 w 296"/>
                  <a:gd name="T47" fmla="*/ 83 h 216"/>
                  <a:gd name="T48" fmla="*/ 4 w 296"/>
                  <a:gd name="T49" fmla="*/ 83 h 216"/>
                  <a:gd name="T50" fmla="*/ 0 w 296"/>
                  <a:gd name="T51" fmla="*/ 80 h 216"/>
                  <a:gd name="T52" fmla="*/ 0 w 296"/>
                  <a:gd name="T53" fmla="*/ 80 h 216"/>
                  <a:gd name="T54" fmla="*/ 0 w 296"/>
                  <a:gd name="T55" fmla="*/ 76 h 216"/>
                  <a:gd name="T56" fmla="*/ 0 w 296"/>
                  <a:gd name="T57" fmla="*/ 15 h 216"/>
                  <a:gd name="T58" fmla="*/ 0 w 296"/>
                  <a:gd name="T59" fmla="*/ 11 h 216"/>
                  <a:gd name="T60" fmla="*/ 0 w 296"/>
                  <a:gd name="T61" fmla="*/ 7 h 216"/>
                  <a:gd name="T62" fmla="*/ 4 w 296"/>
                  <a:gd name="T63" fmla="*/ 7 h 216"/>
                  <a:gd name="T64" fmla="*/ 4 w 296"/>
                  <a:gd name="T65" fmla="*/ 4 h 216"/>
                  <a:gd name="T66" fmla="*/ 9 w 296"/>
                  <a:gd name="T67" fmla="*/ 4 h 216"/>
                  <a:gd name="T68" fmla="*/ 13 w 296"/>
                  <a:gd name="T69" fmla="*/ 4 h 216"/>
                  <a:gd name="T70" fmla="*/ 13 w 296"/>
                  <a:gd name="T71" fmla="*/ 4 h 216"/>
                  <a:gd name="T72" fmla="*/ 17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5" y="9"/>
                    </a:lnTo>
                    <a:lnTo>
                      <a:pt x="275" y="9"/>
                    </a:lnTo>
                    <a:lnTo>
                      <a:pt x="286" y="9"/>
                    </a:lnTo>
                    <a:lnTo>
                      <a:pt x="286" y="18"/>
                    </a:lnTo>
                    <a:lnTo>
                      <a:pt x="296" y="18"/>
                    </a:lnTo>
                    <a:lnTo>
                      <a:pt x="296" y="27"/>
                    </a:lnTo>
                    <a:lnTo>
                      <a:pt x="296" y="36"/>
                    </a:lnTo>
                    <a:lnTo>
                      <a:pt x="296" y="189"/>
                    </a:lnTo>
                    <a:lnTo>
                      <a:pt x="296" y="198"/>
                    </a:lnTo>
                    <a:lnTo>
                      <a:pt x="286" y="207"/>
                    </a:lnTo>
                    <a:lnTo>
                      <a:pt x="275" y="216"/>
                    </a:lnTo>
                    <a:lnTo>
                      <a:pt x="265" y="216"/>
                    </a:lnTo>
                    <a:lnTo>
                      <a:pt x="254" y="216"/>
                    </a:lnTo>
                    <a:lnTo>
                      <a:pt x="43" y="216"/>
                    </a:lnTo>
                    <a:lnTo>
                      <a:pt x="32" y="216"/>
                    </a:lnTo>
                    <a:lnTo>
                      <a:pt x="22" y="216"/>
                    </a:lnTo>
                    <a:lnTo>
                      <a:pt x="11" y="207"/>
                    </a:lnTo>
                    <a:lnTo>
                      <a:pt x="0" y="198"/>
                    </a:lnTo>
                    <a:lnTo>
                      <a:pt x="0" y="189"/>
                    </a:lnTo>
                    <a:lnTo>
                      <a:pt x="0" y="36"/>
                    </a:lnTo>
                    <a:lnTo>
                      <a:pt x="0" y="27"/>
                    </a:lnTo>
                    <a:lnTo>
                      <a:pt x="0" y="18"/>
                    </a:lnTo>
                    <a:lnTo>
                      <a:pt x="11" y="18"/>
                    </a:lnTo>
                    <a:lnTo>
                      <a:pt x="11" y="9"/>
                    </a:lnTo>
                    <a:lnTo>
                      <a:pt x="22" y="9"/>
                    </a:lnTo>
                    <a:lnTo>
                      <a:pt x="32" y="9"/>
                    </a:lnTo>
                    <a:lnTo>
                      <a:pt x="43" y="0"/>
                    </a:lnTo>
                    <a:close/>
                  </a:path>
                </a:pathLst>
              </a:custGeom>
              <a:solidFill>
                <a:srgbClr val="99CCCC"/>
              </a:solidFill>
              <a:ln w="9525">
                <a:noFill/>
                <a:round/>
                <a:headEnd/>
                <a:tailEnd/>
              </a:ln>
            </p:spPr>
            <p:txBody>
              <a:bodyPr>
                <a:noAutofit/>
              </a:bodyPr>
              <a:lstStyle/>
              <a:p>
                <a:endParaRPr lang="fr-FR"/>
              </a:p>
            </p:txBody>
          </p:sp>
          <p:sp>
            <p:nvSpPr>
              <p:cNvPr id="140" name="Freeform 9"/>
              <p:cNvSpPr>
                <a:spLocks/>
              </p:cNvSpPr>
              <p:nvPr/>
            </p:nvSpPr>
            <p:spPr bwMode="auto">
              <a:xfrm>
                <a:off x="3716" y="4017"/>
                <a:ext cx="118" cy="87"/>
              </a:xfrm>
              <a:custGeom>
                <a:avLst/>
                <a:gdLst>
                  <a:gd name="T0" fmla="*/ 17 w 296"/>
                  <a:gd name="T1" fmla="*/ 0 h 216"/>
                  <a:gd name="T2" fmla="*/ 101 w 296"/>
                  <a:gd name="T3" fmla="*/ 0 h 216"/>
                  <a:gd name="T4" fmla="*/ 106 w 296"/>
                  <a:gd name="T5" fmla="*/ 4 h 216"/>
                  <a:gd name="T6" fmla="*/ 106 w 296"/>
                  <a:gd name="T7" fmla="*/ 4 h 216"/>
                  <a:gd name="T8" fmla="*/ 110 w 296"/>
                  <a:gd name="T9" fmla="*/ 4 h 216"/>
                  <a:gd name="T10" fmla="*/ 114 w 296"/>
                  <a:gd name="T11" fmla="*/ 4 h 216"/>
                  <a:gd name="T12" fmla="*/ 114 w 296"/>
                  <a:gd name="T13" fmla="*/ 7 h 216"/>
                  <a:gd name="T14" fmla="*/ 118 w 296"/>
                  <a:gd name="T15" fmla="*/ 7 h 216"/>
                  <a:gd name="T16" fmla="*/ 118 w 296"/>
                  <a:gd name="T17" fmla="*/ 11 h 216"/>
                  <a:gd name="T18" fmla="*/ 118 w 296"/>
                  <a:gd name="T19" fmla="*/ 15 h 216"/>
                  <a:gd name="T20" fmla="*/ 118 w 296"/>
                  <a:gd name="T21" fmla="*/ 76 h 216"/>
                  <a:gd name="T22" fmla="*/ 118 w 296"/>
                  <a:gd name="T23" fmla="*/ 80 h 216"/>
                  <a:gd name="T24" fmla="*/ 118 w 296"/>
                  <a:gd name="T25" fmla="*/ 80 h 216"/>
                  <a:gd name="T26" fmla="*/ 114 w 296"/>
                  <a:gd name="T27" fmla="*/ 83 h 216"/>
                  <a:gd name="T28" fmla="*/ 114 w 296"/>
                  <a:gd name="T29" fmla="*/ 83 h 216"/>
                  <a:gd name="T30" fmla="*/ 110 w 296"/>
                  <a:gd name="T31" fmla="*/ 87 h 216"/>
                  <a:gd name="T32" fmla="*/ 106 w 296"/>
                  <a:gd name="T33" fmla="*/ 87 h 216"/>
                  <a:gd name="T34" fmla="*/ 106 w 296"/>
                  <a:gd name="T35" fmla="*/ 87 h 216"/>
                  <a:gd name="T36" fmla="*/ 101 w 296"/>
                  <a:gd name="T37" fmla="*/ 87 h 216"/>
                  <a:gd name="T38" fmla="*/ 17 w 296"/>
                  <a:gd name="T39" fmla="*/ 87 h 216"/>
                  <a:gd name="T40" fmla="*/ 13 w 296"/>
                  <a:gd name="T41" fmla="*/ 87 h 216"/>
                  <a:gd name="T42" fmla="*/ 13 w 296"/>
                  <a:gd name="T43" fmla="*/ 87 h 216"/>
                  <a:gd name="T44" fmla="*/ 9 w 296"/>
                  <a:gd name="T45" fmla="*/ 87 h 216"/>
                  <a:gd name="T46" fmla="*/ 4 w 296"/>
                  <a:gd name="T47" fmla="*/ 83 h 216"/>
                  <a:gd name="T48" fmla="*/ 4 w 296"/>
                  <a:gd name="T49" fmla="*/ 83 h 216"/>
                  <a:gd name="T50" fmla="*/ 0 w 296"/>
                  <a:gd name="T51" fmla="*/ 80 h 216"/>
                  <a:gd name="T52" fmla="*/ 0 w 296"/>
                  <a:gd name="T53" fmla="*/ 80 h 216"/>
                  <a:gd name="T54" fmla="*/ 0 w 296"/>
                  <a:gd name="T55" fmla="*/ 76 h 216"/>
                  <a:gd name="T56" fmla="*/ 0 w 296"/>
                  <a:gd name="T57" fmla="*/ 15 h 216"/>
                  <a:gd name="T58" fmla="*/ 0 w 296"/>
                  <a:gd name="T59" fmla="*/ 11 h 216"/>
                  <a:gd name="T60" fmla="*/ 0 w 296"/>
                  <a:gd name="T61" fmla="*/ 7 h 216"/>
                  <a:gd name="T62" fmla="*/ 4 w 296"/>
                  <a:gd name="T63" fmla="*/ 7 h 216"/>
                  <a:gd name="T64" fmla="*/ 4 w 296"/>
                  <a:gd name="T65" fmla="*/ 4 h 216"/>
                  <a:gd name="T66" fmla="*/ 9 w 296"/>
                  <a:gd name="T67" fmla="*/ 4 h 216"/>
                  <a:gd name="T68" fmla="*/ 13 w 296"/>
                  <a:gd name="T69" fmla="*/ 4 h 216"/>
                  <a:gd name="T70" fmla="*/ 13 w 296"/>
                  <a:gd name="T71" fmla="*/ 4 h 216"/>
                  <a:gd name="T72" fmla="*/ 17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5" y="9"/>
                    </a:lnTo>
                    <a:lnTo>
                      <a:pt x="275" y="9"/>
                    </a:lnTo>
                    <a:lnTo>
                      <a:pt x="286" y="9"/>
                    </a:lnTo>
                    <a:lnTo>
                      <a:pt x="286" y="18"/>
                    </a:lnTo>
                    <a:lnTo>
                      <a:pt x="296" y="18"/>
                    </a:lnTo>
                    <a:lnTo>
                      <a:pt x="296" y="27"/>
                    </a:lnTo>
                    <a:lnTo>
                      <a:pt x="296" y="36"/>
                    </a:lnTo>
                    <a:lnTo>
                      <a:pt x="296" y="189"/>
                    </a:lnTo>
                    <a:lnTo>
                      <a:pt x="296" y="198"/>
                    </a:lnTo>
                    <a:lnTo>
                      <a:pt x="286" y="207"/>
                    </a:lnTo>
                    <a:lnTo>
                      <a:pt x="275" y="216"/>
                    </a:lnTo>
                    <a:lnTo>
                      <a:pt x="265" y="216"/>
                    </a:lnTo>
                    <a:lnTo>
                      <a:pt x="254" y="216"/>
                    </a:lnTo>
                    <a:lnTo>
                      <a:pt x="43" y="216"/>
                    </a:lnTo>
                    <a:lnTo>
                      <a:pt x="32" y="216"/>
                    </a:lnTo>
                    <a:lnTo>
                      <a:pt x="22" y="216"/>
                    </a:lnTo>
                    <a:lnTo>
                      <a:pt x="11" y="207"/>
                    </a:lnTo>
                    <a:lnTo>
                      <a:pt x="0" y="198"/>
                    </a:lnTo>
                    <a:lnTo>
                      <a:pt x="0" y="189"/>
                    </a:lnTo>
                    <a:lnTo>
                      <a:pt x="0" y="36"/>
                    </a:lnTo>
                    <a:lnTo>
                      <a:pt x="0" y="27"/>
                    </a:lnTo>
                    <a:lnTo>
                      <a:pt x="0" y="18"/>
                    </a:lnTo>
                    <a:lnTo>
                      <a:pt x="11" y="18"/>
                    </a:lnTo>
                    <a:lnTo>
                      <a:pt x="11" y="9"/>
                    </a:lnTo>
                    <a:lnTo>
                      <a:pt x="22" y="9"/>
                    </a:lnTo>
                    <a:lnTo>
                      <a:pt x="32" y="9"/>
                    </a:lnTo>
                    <a:lnTo>
                      <a:pt x="43" y="0"/>
                    </a:lnTo>
                  </a:path>
                </a:pathLst>
              </a:custGeom>
              <a:noFill/>
              <a:ln w="0">
                <a:solidFill>
                  <a:srgbClr val="000000"/>
                </a:solidFill>
                <a:prstDash val="solid"/>
                <a:round/>
                <a:headEnd/>
                <a:tailEnd/>
              </a:ln>
            </p:spPr>
            <p:txBody>
              <a:bodyPr>
                <a:noAutofit/>
              </a:bodyPr>
              <a:lstStyle/>
              <a:p>
                <a:endParaRPr lang="fr-FR"/>
              </a:p>
            </p:txBody>
          </p:sp>
        </p:grpSp>
        <p:sp>
          <p:nvSpPr>
            <p:cNvPr id="134" name="AutoShape 66"/>
            <p:cNvSpPr>
              <a:spLocks noChangeArrowheads="1"/>
            </p:cNvSpPr>
            <p:nvPr/>
          </p:nvSpPr>
          <p:spPr bwMode="auto">
            <a:xfrm flipV="1">
              <a:off x="2706" y="3205"/>
              <a:ext cx="1230" cy="792"/>
            </a:xfrm>
            <a:custGeom>
              <a:avLst/>
              <a:gdLst>
                <a:gd name="T0" fmla="*/ 54 w 21600"/>
                <a:gd name="T1" fmla="*/ 15 h 21600"/>
                <a:gd name="T2" fmla="*/ 35 w 21600"/>
                <a:gd name="T3" fmla="*/ 29 h 21600"/>
                <a:gd name="T4" fmla="*/ 17 w 21600"/>
                <a:gd name="T5" fmla="*/ 15 h 21600"/>
                <a:gd name="T6" fmla="*/ 35 w 21600"/>
                <a:gd name="T7" fmla="*/ 0 h 21600"/>
                <a:gd name="T8" fmla="*/ 0 60000 65536"/>
                <a:gd name="T9" fmla="*/ 0 60000 65536"/>
                <a:gd name="T10" fmla="*/ 0 60000 65536"/>
                <a:gd name="T11" fmla="*/ 0 60000 65536"/>
                <a:gd name="T12" fmla="*/ 6884 w 21600"/>
                <a:gd name="T13" fmla="*/ 6873 h 21600"/>
                <a:gd name="T14" fmla="*/ 14716 w 21600"/>
                <a:gd name="T15" fmla="*/ 14727 h 21600"/>
              </a:gdLst>
              <a:ahLst/>
              <a:cxnLst>
                <a:cxn ang="T8">
                  <a:pos x="T0" y="T1"/>
                </a:cxn>
                <a:cxn ang="T9">
                  <a:pos x="T2" y="T3"/>
                </a:cxn>
                <a:cxn ang="T10">
                  <a:pos x="T4" y="T5"/>
                </a:cxn>
                <a:cxn ang="T11">
                  <a:pos x="T6" y="T7"/>
                </a:cxn>
              </a:cxnLst>
              <a:rect l="T12" t="T13" r="T14" b="T15"/>
              <a:pathLst>
                <a:path w="21600" h="21600">
                  <a:moveTo>
                    <a:pt x="0" y="0"/>
                  </a:moveTo>
                  <a:lnTo>
                    <a:pt x="10167" y="21600"/>
                  </a:lnTo>
                  <a:lnTo>
                    <a:pt x="11433" y="21600"/>
                  </a:lnTo>
                  <a:lnTo>
                    <a:pt x="21600" y="0"/>
                  </a:lnTo>
                  <a:close/>
                </a:path>
              </a:pathLst>
            </a:custGeom>
            <a:gradFill rotWithShape="1">
              <a:gsLst>
                <a:gs pos="0">
                  <a:schemeClr val="bg1">
                    <a:alpha val="28000"/>
                  </a:schemeClr>
                </a:gs>
                <a:gs pos="100000">
                  <a:schemeClr val="bg1">
                    <a:alpha val="29999"/>
                  </a:schemeClr>
                </a:gs>
              </a:gsLst>
              <a:lin ang="5400000" scaled="1"/>
            </a:gradFill>
            <a:ln w="9525" algn="ctr">
              <a:solidFill>
                <a:srgbClr val="C0C0C0"/>
              </a:solidFill>
              <a:miter lim="800000"/>
              <a:headEnd/>
              <a:tailEnd/>
            </a:ln>
          </p:spPr>
          <p:txBody>
            <a:bodyPr anchor="ctr">
              <a:noAutofit/>
            </a:bodyPr>
            <a:lstStyle/>
            <a:p>
              <a:endParaRPr lang="fr-FR"/>
            </a:p>
          </p:txBody>
        </p:sp>
      </p:grpSp>
      <p:grpSp>
        <p:nvGrpSpPr>
          <p:cNvPr id="142" name="Groupe 141"/>
          <p:cNvGrpSpPr/>
          <p:nvPr/>
        </p:nvGrpSpPr>
        <p:grpSpPr>
          <a:xfrm rot="16200000">
            <a:off x="7662863" y="5654676"/>
            <a:ext cx="668337" cy="668338"/>
            <a:chOff x="1046162" y="5781675"/>
            <a:chExt cx="668337" cy="668338"/>
          </a:xfrm>
        </p:grpSpPr>
        <p:sp>
          <p:nvSpPr>
            <p:cNvPr id="143" name="AutoShape 170"/>
            <p:cNvSpPr>
              <a:spLocks noChangeArrowheads="1"/>
            </p:cNvSpPr>
            <p:nvPr/>
          </p:nvSpPr>
          <p:spPr bwMode="auto">
            <a:xfrm rot="5400000" flipH="1">
              <a:off x="1157287" y="5892800"/>
              <a:ext cx="446088" cy="446087"/>
            </a:xfrm>
            <a:prstGeom prst="rtTriangle">
              <a:avLst/>
            </a:prstGeom>
            <a:solidFill>
              <a:srgbClr val="FFFFFF"/>
            </a:solidFill>
            <a:ln w="38100" cmpd="dbl">
              <a:solidFill>
                <a:srgbClr val="000000"/>
              </a:solidFill>
              <a:miter lim="800000"/>
              <a:headEnd/>
              <a:tailEnd/>
            </a:ln>
          </p:spPr>
          <p:txBody>
            <a:bodyPr>
              <a:noAutofit/>
            </a:bodyPr>
            <a:lstStyle/>
            <a:p>
              <a:endParaRPr lang="fr-FR"/>
            </a:p>
          </p:txBody>
        </p:sp>
        <p:sp>
          <p:nvSpPr>
            <p:cNvPr id="144" name="Line 171"/>
            <p:cNvSpPr>
              <a:spLocks noChangeShapeType="1"/>
            </p:cNvSpPr>
            <p:nvPr/>
          </p:nvSpPr>
          <p:spPr bwMode="auto">
            <a:xfrm rot="5400000" flipH="1">
              <a:off x="1046162" y="5781675"/>
              <a:ext cx="668338" cy="668337"/>
            </a:xfrm>
            <a:prstGeom prst="line">
              <a:avLst/>
            </a:prstGeom>
            <a:noFill/>
            <a:ln w="28575">
              <a:solidFill>
                <a:srgbClr val="000000"/>
              </a:solidFill>
              <a:round/>
              <a:headEnd/>
              <a:tailEnd/>
            </a:ln>
          </p:spPr>
          <p:txBody>
            <a:bodyPr>
              <a:noAutofit/>
            </a:bodyPr>
            <a:lstStyle/>
            <a:p>
              <a:endParaRPr lang="fr-FR"/>
            </a:p>
          </p:txBody>
        </p:sp>
      </p:grpSp>
      <p:sp>
        <p:nvSpPr>
          <p:cNvPr id="145" name="Rectangle 172"/>
          <p:cNvSpPr>
            <a:spLocks noChangeArrowheads="1"/>
          </p:cNvSpPr>
          <p:nvPr/>
        </p:nvSpPr>
        <p:spPr bwMode="auto">
          <a:xfrm>
            <a:off x="8285163" y="5737225"/>
            <a:ext cx="760412" cy="384175"/>
          </a:xfrm>
          <a:prstGeom prst="rect">
            <a:avLst/>
          </a:prstGeom>
          <a:noFill/>
          <a:ln w="9525">
            <a:noFill/>
            <a:miter lim="800000"/>
            <a:headEnd/>
            <a:tailEnd/>
          </a:ln>
        </p:spPr>
        <p:txBody>
          <a:bodyPr lIns="0" tIns="0" rIns="0" bIns="0">
            <a:noAutofit/>
          </a:bodyPr>
          <a:lstStyle/>
          <a:p>
            <a:pPr>
              <a:lnSpc>
                <a:spcPct val="90000"/>
              </a:lnSpc>
              <a:spcBef>
                <a:spcPct val="50000"/>
              </a:spcBef>
            </a:pPr>
            <a:r>
              <a:rPr lang="fr-FR" sz="1400" i="1" dirty="0">
                <a:solidFill>
                  <a:srgbClr val="000000"/>
                </a:solidFill>
              </a:rPr>
              <a:t>Tableau de papier</a:t>
            </a:r>
            <a:endParaRPr lang="fr-FR" sz="1800" i="1" dirty="0"/>
          </a:p>
        </p:txBody>
      </p:sp>
      <p:sp>
        <p:nvSpPr>
          <p:cNvPr id="146" name="Rectangle 85"/>
          <p:cNvSpPr>
            <a:spLocks noChangeArrowheads="1"/>
          </p:cNvSpPr>
          <p:nvPr/>
        </p:nvSpPr>
        <p:spPr bwMode="auto">
          <a:xfrm rot="6228673">
            <a:off x="7721601" y="3923202"/>
            <a:ext cx="1447800" cy="815975"/>
          </a:xfrm>
          <a:prstGeom prst="rect">
            <a:avLst/>
          </a:prstGeom>
          <a:solidFill>
            <a:schemeClr val="accent1"/>
          </a:solidFill>
          <a:ln w="9525" algn="ctr">
            <a:solidFill>
              <a:schemeClr val="tx1"/>
            </a:solidFill>
            <a:miter lim="800000"/>
            <a:headEnd/>
            <a:tailEnd/>
          </a:ln>
        </p:spPr>
        <p:txBody>
          <a:bodyPr anchor="ctr" anchorCtr="1">
            <a:noAutofit/>
          </a:bodyPr>
          <a:lstStyle/>
          <a:p>
            <a:pPr algn="ctr"/>
            <a:r>
              <a:rPr lang="fr-FR" sz="1800" dirty="0"/>
              <a:t>Atelier VAGUE</a:t>
            </a:r>
          </a:p>
        </p:txBody>
      </p:sp>
      <p:sp>
        <p:nvSpPr>
          <p:cNvPr id="147" name="Rectangle 86"/>
          <p:cNvSpPr>
            <a:spLocks noChangeArrowheads="1"/>
          </p:cNvSpPr>
          <p:nvPr/>
        </p:nvSpPr>
        <p:spPr bwMode="auto">
          <a:xfrm>
            <a:off x="2025650" y="863600"/>
            <a:ext cx="1447800" cy="684213"/>
          </a:xfrm>
          <a:prstGeom prst="rect">
            <a:avLst/>
          </a:prstGeom>
          <a:solidFill>
            <a:schemeClr val="accent1"/>
          </a:solidFill>
          <a:ln w="9525" algn="ctr">
            <a:solidFill>
              <a:schemeClr val="tx1"/>
            </a:solidFill>
            <a:miter lim="800000"/>
            <a:headEnd/>
            <a:tailEnd/>
          </a:ln>
        </p:spPr>
        <p:txBody>
          <a:bodyPr anchor="ctr" anchorCtr="1">
            <a:noAutofit/>
          </a:bodyPr>
          <a:lstStyle/>
          <a:p>
            <a:pPr algn="ctr"/>
            <a:r>
              <a:rPr lang="fr-FR" sz="1800" dirty="0"/>
              <a:t>Atelier OVALE</a:t>
            </a:r>
          </a:p>
        </p:txBody>
      </p:sp>
      <p:sp>
        <p:nvSpPr>
          <p:cNvPr id="148" name="Rectangle 87"/>
          <p:cNvSpPr>
            <a:spLocks noChangeArrowheads="1"/>
          </p:cNvSpPr>
          <p:nvPr/>
        </p:nvSpPr>
        <p:spPr bwMode="auto">
          <a:xfrm rot="2898657">
            <a:off x="7942263" y="2032000"/>
            <a:ext cx="1447800" cy="815975"/>
          </a:xfrm>
          <a:prstGeom prst="rect">
            <a:avLst/>
          </a:prstGeom>
          <a:solidFill>
            <a:schemeClr val="accent1"/>
          </a:solidFill>
          <a:ln w="9525" algn="ctr">
            <a:solidFill>
              <a:schemeClr val="tx1"/>
            </a:solidFill>
            <a:miter lim="800000"/>
            <a:headEnd/>
            <a:tailEnd/>
          </a:ln>
        </p:spPr>
        <p:txBody>
          <a:bodyPr anchor="ctr" anchorCtr="1">
            <a:noAutofit/>
          </a:bodyPr>
          <a:lstStyle/>
          <a:p>
            <a:pPr algn="ctr"/>
            <a:r>
              <a:rPr lang="fr-FR" sz="1800" dirty="0"/>
              <a:t>Atelier TRIANGLE</a:t>
            </a:r>
          </a:p>
        </p:txBody>
      </p:sp>
      <p:sp>
        <p:nvSpPr>
          <p:cNvPr id="149" name="Rectangle 88"/>
          <p:cNvSpPr>
            <a:spLocks noChangeArrowheads="1"/>
          </p:cNvSpPr>
          <p:nvPr/>
        </p:nvSpPr>
        <p:spPr bwMode="auto">
          <a:xfrm>
            <a:off x="6166656" y="844550"/>
            <a:ext cx="1597808" cy="684213"/>
          </a:xfrm>
          <a:prstGeom prst="rect">
            <a:avLst/>
          </a:prstGeom>
          <a:solidFill>
            <a:schemeClr val="accent1"/>
          </a:solidFill>
          <a:ln w="9525" algn="ctr">
            <a:solidFill>
              <a:schemeClr val="tx1"/>
            </a:solidFill>
            <a:miter lim="800000"/>
            <a:headEnd/>
            <a:tailEnd/>
          </a:ln>
        </p:spPr>
        <p:txBody>
          <a:bodyPr anchor="ctr" anchorCtr="1">
            <a:noAutofit/>
          </a:bodyPr>
          <a:lstStyle/>
          <a:p>
            <a:pPr algn="ctr"/>
            <a:r>
              <a:rPr lang="fr-FR" sz="1800" dirty="0"/>
              <a:t>Atelier RECTANGLE</a:t>
            </a:r>
          </a:p>
        </p:txBody>
      </p:sp>
      <p:sp>
        <p:nvSpPr>
          <p:cNvPr id="150" name="Rectangle 89"/>
          <p:cNvSpPr>
            <a:spLocks noChangeArrowheads="1"/>
          </p:cNvSpPr>
          <p:nvPr/>
        </p:nvSpPr>
        <p:spPr bwMode="auto">
          <a:xfrm rot="-4115742">
            <a:off x="211932" y="1901031"/>
            <a:ext cx="1465262" cy="815975"/>
          </a:xfrm>
          <a:prstGeom prst="rect">
            <a:avLst/>
          </a:prstGeom>
          <a:solidFill>
            <a:schemeClr val="accent1"/>
          </a:solidFill>
          <a:ln w="9525" algn="ctr">
            <a:solidFill>
              <a:schemeClr val="tx1"/>
            </a:solidFill>
            <a:miter lim="800000"/>
            <a:headEnd/>
            <a:tailEnd/>
          </a:ln>
        </p:spPr>
        <p:txBody>
          <a:bodyPr lIns="54000" rIns="54000" anchor="ctr" anchorCtr="1">
            <a:noAutofit/>
          </a:bodyPr>
          <a:lstStyle/>
          <a:p>
            <a:pPr algn="ctr"/>
            <a:r>
              <a:rPr lang="fr-FR" sz="1800" dirty="0"/>
              <a:t>Atelier </a:t>
            </a:r>
            <a:r>
              <a:rPr lang="fr-FR" sz="1700" dirty="0"/>
              <a:t>ÉTOILE</a:t>
            </a:r>
          </a:p>
        </p:txBody>
      </p:sp>
      <p:sp>
        <p:nvSpPr>
          <p:cNvPr id="151" name="Rectangle 90"/>
          <p:cNvSpPr>
            <a:spLocks noChangeArrowheads="1"/>
          </p:cNvSpPr>
          <p:nvPr/>
        </p:nvSpPr>
        <p:spPr bwMode="auto">
          <a:xfrm rot="-7071481">
            <a:off x="172244" y="4102085"/>
            <a:ext cx="1465263" cy="815975"/>
          </a:xfrm>
          <a:prstGeom prst="rect">
            <a:avLst/>
          </a:prstGeom>
          <a:solidFill>
            <a:schemeClr val="accent1"/>
          </a:solidFill>
          <a:ln w="9525" algn="ctr">
            <a:solidFill>
              <a:schemeClr val="tx1"/>
            </a:solidFill>
            <a:miter lim="800000"/>
            <a:headEnd/>
            <a:tailEnd/>
          </a:ln>
        </p:spPr>
        <p:txBody>
          <a:bodyPr lIns="54000" rIns="54000" anchor="ctr" anchorCtr="1">
            <a:noAutofit/>
          </a:bodyPr>
          <a:lstStyle/>
          <a:p>
            <a:pPr algn="ctr"/>
            <a:r>
              <a:rPr lang="fr-FR" sz="1800" dirty="0"/>
              <a:t>Atelier</a:t>
            </a:r>
            <a:br>
              <a:rPr lang="fr-FR" sz="1800" dirty="0"/>
            </a:br>
            <a:r>
              <a:rPr lang="fr-FR" sz="1700" dirty="0"/>
              <a:t>CROIX</a:t>
            </a:r>
          </a:p>
        </p:txBody>
      </p:sp>
      <p:sp>
        <p:nvSpPr>
          <p:cNvPr id="152" name="AutoShape 94"/>
          <p:cNvSpPr>
            <a:spLocks noChangeArrowheads="1"/>
          </p:cNvSpPr>
          <p:nvPr/>
        </p:nvSpPr>
        <p:spPr bwMode="auto">
          <a:xfrm>
            <a:off x="1413769" y="3811651"/>
            <a:ext cx="519113" cy="488950"/>
          </a:xfrm>
          <a:prstGeom prst="plus">
            <a:avLst>
              <a:gd name="adj" fmla="val 29556"/>
            </a:avLst>
          </a:prstGeom>
          <a:solidFill>
            <a:schemeClr val="bg1"/>
          </a:solidFill>
          <a:ln w="38100">
            <a:solidFill>
              <a:schemeClr val="tx1"/>
            </a:solidFill>
            <a:miter lim="800000"/>
            <a:headEnd/>
            <a:tailEnd/>
          </a:ln>
        </p:spPr>
        <p:txBody>
          <a:bodyPr wrap="none" anchor="ctr">
            <a:noAutofit/>
          </a:bodyPr>
          <a:lstStyle/>
          <a:p>
            <a:pPr eaLnBrk="0" hangingPunct="0"/>
            <a:endParaRPr lang="fr-FR" sz="1400"/>
          </a:p>
        </p:txBody>
      </p:sp>
      <p:sp>
        <p:nvSpPr>
          <p:cNvPr id="153" name="AutoShape 95"/>
          <p:cNvSpPr>
            <a:spLocks noChangeArrowheads="1"/>
          </p:cNvSpPr>
          <p:nvPr/>
        </p:nvSpPr>
        <p:spPr bwMode="auto">
          <a:xfrm>
            <a:off x="7658457" y="2653829"/>
            <a:ext cx="500063" cy="404812"/>
          </a:xfrm>
          <a:prstGeom prst="triangle">
            <a:avLst>
              <a:gd name="adj" fmla="val 50000"/>
            </a:avLst>
          </a:prstGeom>
          <a:solidFill>
            <a:schemeClr val="bg1"/>
          </a:solidFill>
          <a:ln w="38100">
            <a:solidFill>
              <a:schemeClr val="tx1"/>
            </a:solidFill>
            <a:miter lim="800000"/>
            <a:headEnd/>
            <a:tailEnd/>
          </a:ln>
        </p:spPr>
        <p:txBody>
          <a:bodyPr wrap="none" anchor="ctr">
            <a:noAutofit/>
          </a:bodyPr>
          <a:lstStyle/>
          <a:p>
            <a:pPr eaLnBrk="0" hangingPunct="0"/>
            <a:endParaRPr lang="fr-FR" sz="1400"/>
          </a:p>
        </p:txBody>
      </p:sp>
      <p:sp>
        <p:nvSpPr>
          <p:cNvPr id="154" name="AutoShape 96"/>
          <p:cNvSpPr>
            <a:spLocks noChangeArrowheads="1"/>
          </p:cNvSpPr>
          <p:nvPr/>
        </p:nvSpPr>
        <p:spPr bwMode="auto">
          <a:xfrm>
            <a:off x="1551681" y="2320523"/>
            <a:ext cx="531813" cy="506413"/>
          </a:xfrm>
          <a:prstGeom prst="star5">
            <a:avLst/>
          </a:prstGeom>
          <a:solidFill>
            <a:schemeClr val="bg1"/>
          </a:solidFill>
          <a:ln w="38100">
            <a:solidFill>
              <a:schemeClr val="tx1"/>
            </a:solidFill>
            <a:miter lim="800000"/>
            <a:headEnd/>
            <a:tailEnd/>
          </a:ln>
          <a:effectLst/>
        </p:spPr>
        <p:txBody>
          <a:bodyPr wrap="none" anchor="ctr">
            <a:noAutofit/>
          </a:bodyPr>
          <a:lstStyle/>
          <a:p>
            <a:pPr eaLnBrk="0" hangingPunct="0">
              <a:defRPr/>
            </a:pPr>
            <a:endParaRPr lang="fr-FR" sz="1400"/>
          </a:p>
        </p:txBody>
      </p:sp>
      <p:sp>
        <p:nvSpPr>
          <p:cNvPr id="155" name="Oval 97"/>
          <p:cNvSpPr>
            <a:spLocks noChangeArrowheads="1"/>
          </p:cNvSpPr>
          <p:nvPr/>
        </p:nvSpPr>
        <p:spPr bwMode="auto">
          <a:xfrm>
            <a:off x="2496825" y="1696659"/>
            <a:ext cx="644525" cy="288925"/>
          </a:xfrm>
          <a:prstGeom prst="ellipse">
            <a:avLst/>
          </a:prstGeom>
          <a:solidFill>
            <a:schemeClr val="bg1"/>
          </a:solidFill>
          <a:ln w="38100">
            <a:solidFill>
              <a:schemeClr val="tx1"/>
            </a:solidFill>
            <a:round/>
            <a:headEnd/>
            <a:tailEnd/>
          </a:ln>
        </p:spPr>
        <p:txBody>
          <a:bodyPr wrap="none" anchor="ctr">
            <a:noAutofit/>
          </a:bodyPr>
          <a:lstStyle/>
          <a:p>
            <a:pPr eaLnBrk="0" hangingPunct="0"/>
            <a:endParaRPr lang="fr-FR" sz="1400"/>
          </a:p>
        </p:txBody>
      </p:sp>
      <p:sp>
        <p:nvSpPr>
          <p:cNvPr id="156" name="Rectangle 98"/>
          <p:cNvSpPr>
            <a:spLocks noChangeArrowheads="1"/>
          </p:cNvSpPr>
          <p:nvPr/>
        </p:nvSpPr>
        <p:spPr bwMode="auto">
          <a:xfrm>
            <a:off x="6684179" y="1679083"/>
            <a:ext cx="650875" cy="265113"/>
          </a:xfrm>
          <a:prstGeom prst="rect">
            <a:avLst/>
          </a:prstGeom>
          <a:solidFill>
            <a:schemeClr val="bg1"/>
          </a:solidFill>
          <a:ln w="38100">
            <a:solidFill>
              <a:schemeClr val="tx1"/>
            </a:solidFill>
            <a:miter lim="800000"/>
            <a:headEnd/>
            <a:tailEnd/>
          </a:ln>
        </p:spPr>
        <p:txBody>
          <a:bodyPr wrap="none" anchor="ctr">
            <a:noAutofit/>
          </a:bodyPr>
          <a:lstStyle/>
          <a:p>
            <a:pPr eaLnBrk="0" hangingPunct="0"/>
            <a:endParaRPr lang="fr-FR" sz="1400"/>
          </a:p>
        </p:txBody>
      </p:sp>
      <p:sp>
        <p:nvSpPr>
          <p:cNvPr id="157" name="AutoShape 99"/>
          <p:cNvSpPr>
            <a:spLocks noChangeArrowheads="1"/>
          </p:cNvSpPr>
          <p:nvPr/>
        </p:nvSpPr>
        <p:spPr bwMode="auto">
          <a:xfrm>
            <a:off x="7208793" y="3802488"/>
            <a:ext cx="755650" cy="492125"/>
          </a:xfrm>
          <a:prstGeom prst="wave">
            <a:avLst>
              <a:gd name="adj1" fmla="val 20644"/>
              <a:gd name="adj2" fmla="val 7681"/>
            </a:avLst>
          </a:prstGeom>
          <a:solidFill>
            <a:schemeClr val="bg1"/>
          </a:solidFill>
          <a:ln w="38100">
            <a:solidFill>
              <a:schemeClr val="tx1"/>
            </a:solidFill>
            <a:round/>
            <a:headEnd/>
            <a:tailEnd/>
          </a:ln>
        </p:spPr>
        <p:txBody>
          <a:bodyPr wrap="none" anchor="ctr">
            <a:noAutofit/>
          </a:bodyPr>
          <a:lstStyle/>
          <a:p>
            <a:pPr eaLnBrk="0" hangingPunct="0"/>
            <a:endParaRPr lang="fr-FR" sz="1400"/>
          </a:p>
        </p:txBody>
      </p:sp>
      <p:grpSp>
        <p:nvGrpSpPr>
          <p:cNvPr id="158" name="Group 114"/>
          <p:cNvGrpSpPr>
            <a:grpSpLocks/>
          </p:cNvGrpSpPr>
          <p:nvPr/>
        </p:nvGrpSpPr>
        <p:grpSpPr bwMode="auto">
          <a:xfrm rot="335960">
            <a:off x="361950" y="4917266"/>
            <a:ext cx="323850" cy="323850"/>
            <a:chOff x="2692" y="1712"/>
            <a:chExt cx="204" cy="204"/>
          </a:xfrm>
        </p:grpSpPr>
        <p:sp>
          <p:nvSpPr>
            <p:cNvPr id="159" name="Oval 112"/>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0" name="Freeform 113"/>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1" name="Group 118"/>
          <p:cNvGrpSpPr>
            <a:grpSpLocks/>
          </p:cNvGrpSpPr>
          <p:nvPr/>
        </p:nvGrpSpPr>
        <p:grpSpPr bwMode="auto">
          <a:xfrm rot="3901324">
            <a:off x="167532" y="2234777"/>
            <a:ext cx="323850" cy="323850"/>
            <a:chOff x="2692" y="1712"/>
            <a:chExt cx="204" cy="204"/>
          </a:xfrm>
        </p:grpSpPr>
        <p:sp>
          <p:nvSpPr>
            <p:cNvPr id="162" name="Oval 119"/>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3"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4" name="Group 124"/>
          <p:cNvGrpSpPr>
            <a:grpSpLocks/>
          </p:cNvGrpSpPr>
          <p:nvPr/>
        </p:nvGrpSpPr>
        <p:grpSpPr bwMode="auto">
          <a:xfrm rot="19703350" flipH="1">
            <a:off x="8719621" y="4573139"/>
            <a:ext cx="323850" cy="323850"/>
            <a:chOff x="2692" y="1712"/>
            <a:chExt cx="204" cy="204"/>
          </a:xfrm>
        </p:grpSpPr>
        <p:sp>
          <p:nvSpPr>
            <p:cNvPr id="165" name="Oval 125"/>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6" name="Freeform 126"/>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7" name="Group 130"/>
          <p:cNvGrpSpPr>
            <a:grpSpLocks/>
          </p:cNvGrpSpPr>
          <p:nvPr/>
        </p:nvGrpSpPr>
        <p:grpSpPr bwMode="auto">
          <a:xfrm rot="17020080" flipH="1">
            <a:off x="9053469" y="2072852"/>
            <a:ext cx="323850" cy="323850"/>
            <a:chOff x="2692" y="1712"/>
            <a:chExt cx="204" cy="204"/>
          </a:xfrm>
        </p:grpSpPr>
        <p:sp>
          <p:nvSpPr>
            <p:cNvPr id="168" name="Oval 131"/>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9" name="Freeform 132"/>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70" name="Group 136"/>
          <p:cNvGrpSpPr>
            <a:grpSpLocks/>
          </p:cNvGrpSpPr>
          <p:nvPr/>
        </p:nvGrpSpPr>
        <p:grpSpPr bwMode="auto">
          <a:xfrm rot="13618561" flipH="1">
            <a:off x="6625242" y="582613"/>
            <a:ext cx="323850" cy="323850"/>
            <a:chOff x="2692" y="1712"/>
            <a:chExt cx="204" cy="204"/>
          </a:xfrm>
        </p:grpSpPr>
        <p:sp>
          <p:nvSpPr>
            <p:cNvPr id="171"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72"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73" name="Group 142"/>
          <p:cNvGrpSpPr>
            <a:grpSpLocks/>
          </p:cNvGrpSpPr>
          <p:nvPr/>
        </p:nvGrpSpPr>
        <p:grpSpPr bwMode="auto">
          <a:xfrm rot="13618561" flipH="1">
            <a:off x="2246313" y="600075"/>
            <a:ext cx="323850" cy="323850"/>
            <a:chOff x="2692" y="1712"/>
            <a:chExt cx="204" cy="204"/>
          </a:xfrm>
        </p:grpSpPr>
        <p:sp>
          <p:nvSpPr>
            <p:cNvPr id="174" name="Oval 143"/>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75" name="Freeform 144"/>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pic>
        <p:nvPicPr>
          <p:cNvPr id="176" name="Picture 2" descr="INDU0569"/>
          <p:cNvPicPr>
            <a:picLocks noChangeAspect="1" noChangeArrowheads="1"/>
          </p:cNvPicPr>
          <p:nvPr/>
        </p:nvPicPr>
        <p:blipFill>
          <a:blip r:embed="rId4" cstate="print"/>
          <a:srcRect/>
          <a:stretch>
            <a:fillRect/>
          </a:stretch>
        </p:blipFill>
        <p:spPr bwMode="auto">
          <a:xfrm>
            <a:off x="3991912" y="690958"/>
            <a:ext cx="834087" cy="980790"/>
          </a:xfrm>
          <a:prstGeom prst="rect">
            <a:avLst/>
          </a:prstGeom>
          <a:noFill/>
          <a:ln w="9525">
            <a:noFill/>
            <a:miter lim="800000"/>
            <a:headEnd/>
            <a:tailEnd/>
          </a:ln>
        </p:spPr>
      </p:pic>
      <p:sp>
        <p:nvSpPr>
          <p:cNvPr id="177" name="Rectangle 176"/>
          <p:cNvSpPr/>
          <p:nvPr/>
        </p:nvSpPr>
        <p:spPr bwMode="auto">
          <a:xfrm>
            <a:off x="4749800" y="850900"/>
            <a:ext cx="1320800" cy="660400"/>
          </a:xfrm>
          <a:prstGeom prst="rect">
            <a:avLst/>
          </a:prstGeom>
          <a:noFill/>
          <a:ln w="9525" cap="flat" cmpd="sng" algn="ctr">
            <a:no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lang="fr-FR" sz="1600" dirty="0"/>
              <a:t>Magasin d’outillages</a:t>
            </a:r>
            <a:endParaRPr kumimoji="0" lang="fr-FR" sz="1600" i="0" u="none" strike="noStrike" cap="none" normalizeH="0" baseline="0" dirty="0">
              <a:ln>
                <a:noFill/>
              </a:ln>
              <a:solidFill>
                <a:schemeClr val="tx1"/>
              </a:solidFill>
              <a:effectLst/>
              <a:latin typeface="Arial" charset="0"/>
            </a:endParaRPr>
          </a:p>
        </p:txBody>
      </p:sp>
      <p:sp>
        <p:nvSpPr>
          <p:cNvPr id="178" name="Rectangle 174"/>
          <p:cNvSpPr>
            <a:spLocks noChangeArrowheads="1"/>
          </p:cNvSpPr>
          <p:nvPr/>
        </p:nvSpPr>
        <p:spPr bwMode="auto">
          <a:xfrm>
            <a:off x="3200807" y="5206191"/>
            <a:ext cx="1080000" cy="684000"/>
          </a:xfrm>
          <a:prstGeom prst="rect">
            <a:avLst/>
          </a:prstGeom>
          <a:solidFill>
            <a:srgbClr val="BDFFE4"/>
          </a:solidFill>
          <a:ln w="9525" algn="ctr">
            <a:solidFill>
              <a:schemeClr val="tx1"/>
            </a:solidFill>
            <a:miter lim="800000"/>
            <a:headEnd/>
            <a:tailEnd/>
          </a:ln>
        </p:spPr>
        <p:txBody>
          <a:bodyPr anchor="ctr" anchorCtr="1">
            <a:noAutofit/>
          </a:bodyPr>
          <a:lstStyle/>
          <a:p>
            <a:pPr algn="ctr"/>
            <a:r>
              <a:rPr lang="fr-FR" sz="1600" dirty="0"/>
              <a:t>Contrôle Qualité</a:t>
            </a:r>
          </a:p>
        </p:txBody>
      </p:sp>
      <p:grpSp>
        <p:nvGrpSpPr>
          <p:cNvPr id="179" name="Group 179"/>
          <p:cNvGrpSpPr>
            <a:grpSpLocks/>
          </p:cNvGrpSpPr>
          <p:nvPr/>
        </p:nvGrpSpPr>
        <p:grpSpPr bwMode="auto">
          <a:xfrm rot="2429671" flipH="1">
            <a:off x="3346015" y="5858763"/>
            <a:ext cx="359959" cy="343488"/>
            <a:chOff x="2692" y="1712"/>
            <a:chExt cx="204" cy="204"/>
          </a:xfrm>
        </p:grpSpPr>
        <p:sp>
          <p:nvSpPr>
            <p:cNvPr id="180" name="Oval 1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81" name="Freeform 1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sp>
        <p:nvSpPr>
          <p:cNvPr id="182" name="Rectangle 178"/>
          <p:cNvSpPr>
            <a:spLocks noChangeArrowheads="1"/>
          </p:cNvSpPr>
          <p:nvPr/>
        </p:nvSpPr>
        <p:spPr bwMode="auto">
          <a:xfrm>
            <a:off x="1801259" y="5206191"/>
            <a:ext cx="1260000" cy="684000"/>
          </a:xfrm>
          <a:prstGeom prst="rect">
            <a:avLst/>
          </a:prstGeom>
          <a:solidFill>
            <a:srgbClr val="BDFFE4"/>
          </a:solidFill>
          <a:ln w="9525" algn="ctr">
            <a:solidFill>
              <a:schemeClr val="tx1"/>
            </a:solidFill>
            <a:miter lim="800000"/>
            <a:headEnd/>
            <a:tailEnd/>
          </a:ln>
        </p:spPr>
        <p:txBody>
          <a:bodyPr lIns="18000" rIns="18000" anchor="ctr" anchorCtr="1">
            <a:noAutofit/>
          </a:bodyPr>
          <a:lstStyle/>
          <a:p>
            <a:pPr algn="ctr"/>
            <a:r>
              <a:rPr lang="fr-FR" sz="1600" dirty="0"/>
              <a:t>Lancement - Découpe</a:t>
            </a:r>
            <a:endParaRPr lang="fr-FR" sz="1400" dirty="0"/>
          </a:p>
        </p:txBody>
      </p:sp>
      <p:grpSp>
        <p:nvGrpSpPr>
          <p:cNvPr id="183" name="Group 179"/>
          <p:cNvGrpSpPr>
            <a:grpSpLocks/>
          </p:cNvGrpSpPr>
          <p:nvPr/>
        </p:nvGrpSpPr>
        <p:grpSpPr bwMode="auto">
          <a:xfrm rot="2429671" flipH="1">
            <a:off x="1891222" y="5870871"/>
            <a:ext cx="359959" cy="343488"/>
            <a:chOff x="2692" y="1712"/>
            <a:chExt cx="204" cy="204"/>
          </a:xfrm>
        </p:grpSpPr>
        <p:sp>
          <p:nvSpPr>
            <p:cNvPr id="184" name="Oval 1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85" name="Freeform 1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86" name="Group 118"/>
          <p:cNvGrpSpPr>
            <a:grpSpLocks/>
          </p:cNvGrpSpPr>
          <p:nvPr/>
        </p:nvGrpSpPr>
        <p:grpSpPr bwMode="auto">
          <a:xfrm rot="1343315">
            <a:off x="78630" y="4360419"/>
            <a:ext cx="323850" cy="323850"/>
            <a:chOff x="2692" y="1712"/>
            <a:chExt cx="204" cy="204"/>
          </a:xfrm>
        </p:grpSpPr>
        <p:sp>
          <p:nvSpPr>
            <p:cNvPr id="187"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88"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89" name="Group 118"/>
          <p:cNvGrpSpPr>
            <a:grpSpLocks/>
          </p:cNvGrpSpPr>
          <p:nvPr/>
        </p:nvGrpSpPr>
        <p:grpSpPr bwMode="auto">
          <a:xfrm rot="8332497">
            <a:off x="2847231" y="609177"/>
            <a:ext cx="323850" cy="323850"/>
            <a:chOff x="2692" y="1712"/>
            <a:chExt cx="204" cy="204"/>
          </a:xfrm>
        </p:grpSpPr>
        <p:sp>
          <p:nvSpPr>
            <p:cNvPr id="190"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91"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92" name="Group 118"/>
          <p:cNvGrpSpPr>
            <a:grpSpLocks/>
          </p:cNvGrpSpPr>
          <p:nvPr/>
        </p:nvGrpSpPr>
        <p:grpSpPr bwMode="auto">
          <a:xfrm rot="10800000">
            <a:off x="8676531" y="1637877"/>
            <a:ext cx="323850" cy="323850"/>
            <a:chOff x="2692" y="1712"/>
            <a:chExt cx="204" cy="204"/>
          </a:xfrm>
        </p:grpSpPr>
        <p:sp>
          <p:nvSpPr>
            <p:cNvPr id="193"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94"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95" name="Group 179"/>
          <p:cNvGrpSpPr>
            <a:grpSpLocks/>
          </p:cNvGrpSpPr>
          <p:nvPr/>
        </p:nvGrpSpPr>
        <p:grpSpPr bwMode="auto">
          <a:xfrm rot="2429671" flipH="1">
            <a:off x="3465055" y="3267014"/>
            <a:ext cx="359959" cy="343488"/>
            <a:chOff x="2692" y="1712"/>
            <a:chExt cx="204" cy="204"/>
          </a:xfrm>
        </p:grpSpPr>
        <p:sp>
          <p:nvSpPr>
            <p:cNvPr id="196" name="Oval 1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97" name="Freeform 1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98" name="Group 118"/>
          <p:cNvGrpSpPr>
            <a:grpSpLocks/>
          </p:cNvGrpSpPr>
          <p:nvPr/>
        </p:nvGrpSpPr>
        <p:grpSpPr bwMode="auto">
          <a:xfrm rot="13267503" flipV="1">
            <a:off x="3469533" y="3758777"/>
            <a:ext cx="323850" cy="323850"/>
            <a:chOff x="2692" y="1712"/>
            <a:chExt cx="204" cy="204"/>
          </a:xfrm>
        </p:grpSpPr>
        <p:sp>
          <p:nvSpPr>
            <p:cNvPr id="199"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00"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sp>
        <p:nvSpPr>
          <p:cNvPr id="201" name="Rectangle 200"/>
          <p:cNvSpPr/>
          <p:nvPr/>
        </p:nvSpPr>
        <p:spPr bwMode="auto">
          <a:xfrm>
            <a:off x="4038600" y="3314700"/>
            <a:ext cx="1689100" cy="355600"/>
          </a:xfrm>
          <a:prstGeom prst="rect">
            <a:avLst/>
          </a:prstGeom>
          <a:noFill/>
          <a:ln w="9525" cap="flat" cmpd="sng" algn="ctr">
            <a:no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lang="fr-FR" sz="1600" i="1" dirty="0"/>
              <a:t>Effectif minimum</a:t>
            </a:r>
            <a:endParaRPr kumimoji="0" lang="fr-FR" sz="1600" i="1" u="none" strike="noStrike" cap="none" normalizeH="0" baseline="0" dirty="0">
              <a:ln>
                <a:noFill/>
              </a:ln>
              <a:solidFill>
                <a:schemeClr val="tx1"/>
              </a:solidFill>
              <a:effectLst/>
              <a:latin typeface="Arial" charset="0"/>
            </a:endParaRPr>
          </a:p>
        </p:txBody>
      </p:sp>
      <p:sp>
        <p:nvSpPr>
          <p:cNvPr id="202" name="Rectangle 201"/>
          <p:cNvSpPr/>
          <p:nvPr/>
        </p:nvSpPr>
        <p:spPr bwMode="auto">
          <a:xfrm>
            <a:off x="4076700" y="3759200"/>
            <a:ext cx="1905000" cy="355600"/>
          </a:xfrm>
          <a:prstGeom prst="rect">
            <a:avLst/>
          </a:prstGeom>
          <a:noFill/>
          <a:ln w="9525" cap="flat" cmpd="sng" algn="ctr">
            <a:no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lang="fr-FR" sz="1600" i="1" dirty="0"/>
              <a:t>Effectif additionnel</a:t>
            </a:r>
            <a:endParaRPr kumimoji="0" lang="fr-FR" sz="1600" i="1" u="none" strike="noStrike" cap="none" normalizeH="0" baseline="0" dirty="0">
              <a:ln>
                <a:noFill/>
              </a:ln>
              <a:solidFill>
                <a:schemeClr val="tx1"/>
              </a:solidFill>
              <a:effectLst/>
              <a:latin typeface="Arial" charset="0"/>
            </a:endParaRPr>
          </a:p>
        </p:txBody>
      </p:sp>
      <p:grpSp>
        <p:nvGrpSpPr>
          <p:cNvPr id="203" name="Group 118"/>
          <p:cNvGrpSpPr>
            <a:grpSpLocks/>
          </p:cNvGrpSpPr>
          <p:nvPr/>
        </p:nvGrpSpPr>
        <p:grpSpPr bwMode="auto">
          <a:xfrm rot="9545043">
            <a:off x="1130175" y="1316065"/>
            <a:ext cx="323850" cy="323850"/>
            <a:chOff x="2692" y="1712"/>
            <a:chExt cx="204" cy="204"/>
          </a:xfrm>
        </p:grpSpPr>
        <p:sp>
          <p:nvSpPr>
            <p:cNvPr id="204"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05"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06" name="Group 118"/>
          <p:cNvGrpSpPr>
            <a:grpSpLocks/>
          </p:cNvGrpSpPr>
          <p:nvPr/>
        </p:nvGrpSpPr>
        <p:grpSpPr bwMode="auto">
          <a:xfrm rot="15633072">
            <a:off x="9108329" y="2920576"/>
            <a:ext cx="323850" cy="323850"/>
            <a:chOff x="2692" y="1712"/>
            <a:chExt cx="204" cy="204"/>
          </a:xfrm>
        </p:grpSpPr>
        <p:sp>
          <p:nvSpPr>
            <p:cNvPr id="207"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08"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09" name="Group 118"/>
          <p:cNvGrpSpPr>
            <a:grpSpLocks/>
          </p:cNvGrpSpPr>
          <p:nvPr/>
        </p:nvGrpSpPr>
        <p:grpSpPr bwMode="auto">
          <a:xfrm rot="13320954">
            <a:off x="8854330" y="4076276"/>
            <a:ext cx="323850" cy="323850"/>
            <a:chOff x="2692" y="1712"/>
            <a:chExt cx="204" cy="204"/>
          </a:xfrm>
        </p:grpSpPr>
        <p:sp>
          <p:nvSpPr>
            <p:cNvPr id="210"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11"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12" name="Group 118"/>
          <p:cNvGrpSpPr>
            <a:grpSpLocks/>
          </p:cNvGrpSpPr>
          <p:nvPr/>
        </p:nvGrpSpPr>
        <p:grpSpPr bwMode="auto">
          <a:xfrm rot="6340079">
            <a:off x="319930" y="3598419"/>
            <a:ext cx="323850" cy="323850"/>
            <a:chOff x="2692" y="1712"/>
            <a:chExt cx="204" cy="204"/>
          </a:xfrm>
        </p:grpSpPr>
        <p:sp>
          <p:nvSpPr>
            <p:cNvPr id="213"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14"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15" name="Group 118"/>
          <p:cNvGrpSpPr>
            <a:grpSpLocks/>
          </p:cNvGrpSpPr>
          <p:nvPr/>
        </p:nvGrpSpPr>
        <p:grpSpPr bwMode="auto">
          <a:xfrm rot="3901324">
            <a:off x="408830" y="1650579"/>
            <a:ext cx="323850" cy="323850"/>
            <a:chOff x="2692" y="1712"/>
            <a:chExt cx="204" cy="204"/>
          </a:xfrm>
        </p:grpSpPr>
        <p:sp>
          <p:nvSpPr>
            <p:cNvPr id="216"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17"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18" name="Group 118"/>
          <p:cNvGrpSpPr>
            <a:grpSpLocks/>
          </p:cNvGrpSpPr>
          <p:nvPr/>
        </p:nvGrpSpPr>
        <p:grpSpPr bwMode="auto">
          <a:xfrm rot="8053533">
            <a:off x="7216030" y="583778"/>
            <a:ext cx="323850" cy="323850"/>
            <a:chOff x="2692" y="1712"/>
            <a:chExt cx="204" cy="204"/>
          </a:xfrm>
        </p:grpSpPr>
        <p:sp>
          <p:nvSpPr>
            <p:cNvPr id="219"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20"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21" name="Group 118"/>
          <p:cNvGrpSpPr>
            <a:grpSpLocks/>
          </p:cNvGrpSpPr>
          <p:nvPr/>
        </p:nvGrpSpPr>
        <p:grpSpPr bwMode="auto">
          <a:xfrm rot="19859273">
            <a:off x="444375" y="2935313"/>
            <a:ext cx="323850" cy="323850"/>
            <a:chOff x="2692" y="1712"/>
            <a:chExt cx="204" cy="204"/>
          </a:xfrm>
        </p:grpSpPr>
        <p:sp>
          <p:nvSpPr>
            <p:cNvPr id="222"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23"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24" name="Group 118"/>
          <p:cNvGrpSpPr>
            <a:grpSpLocks/>
          </p:cNvGrpSpPr>
          <p:nvPr/>
        </p:nvGrpSpPr>
        <p:grpSpPr bwMode="auto">
          <a:xfrm rot="13546467" flipV="1">
            <a:off x="3939238" y="5865462"/>
            <a:ext cx="323850" cy="323850"/>
            <a:chOff x="2692" y="1712"/>
            <a:chExt cx="204" cy="204"/>
          </a:xfrm>
        </p:grpSpPr>
        <p:sp>
          <p:nvSpPr>
            <p:cNvPr id="225"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26"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27" name="Group 118"/>
          <p:cNvGrpSpPr>
            <a:grpSpLocks/>
          </p:cNvGrpSpPr>
          <p:nvPr/>
        </p:nvGrpSpPr>
        <p:grpSpPr bwMode="auto">
          <a:xfrm rot="13546467" flipV="1">
            <a:off x="2478922" y="5865461"/>
            <a:ext cx="323850" cy="323850"/>
            <a:chOff x="2692" y="1712"/>
            <a:chExt cx="204" cy="204"/>
          </a:xfrm>
        </p:grpSpPr>
        <p:sp>
          <p:nvSpPr>
            <p:cNvPr id="228"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29"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30" name="Group 118"/>
          <p:cNvGrpSpPr>
            <a:grpSpLocks/>
          </p:cNvGrpSpPr>
          <p:nvPr/>
        </p:nvGrpSpPr>
        <p:grpSpPr bwMode="auto">
          <a:xfrm rot="17140079">
            <a:off x="1153648" y="5077595"/>
            <a:ext cx="323850" cy="323850"/>
            <a:chOff x="2692" y="1712"/>
            <a:chExt cx="204" cy="204"/>
          </a:xfrm>
        </p:grpSpPr>
        <p:sp>
          <p:nvSpPr>
            <p:cNvPr id="231"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32"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33" name="Group 118"/>
          <p:cNvGrpSpPr>
            <a:grpSpLocks/>
          </p:cNvGrpSpPr>
          <p:nvPr/>
        </p:nvGrpSpPr>
        <p:grpSpPr bwMode="auto">
          <a:xfrm rot="13732497">
            <a:off x="3412006" y="1012589"/>
            <a:ext cx="323850" cy="323850"/>
            <a:chOff x="2692" y="1712"/>
            <a:chExt cx="204" cy="204"/>
          </a:xfrm>
        </p:grpSpPr>
        <p:sp>
          <p:nvSpPr>
            <p:cNvPr id="234"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35"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36" name="Group 118"/>
          <p:cNvGrpSpPr>
            <a:grpSpLocks/>
          </p:cNvGrpSpPr>
          <p:nvPr/>
        </p:nvGrpSpPr>
        <p:grpSpPr bwMode="auto">
          <a:xfrm rot="7867503" flipH="1">
            <a:off x="1758017" y="999142"/>
            <a:ext cx="323850" cy="323850"/>
            <a:chOff x="2692" y="1712"/>
            <a:chExt cx="204" cy="204"/>
          </a:xfrm>
        </p:grpSpPr>
        <p:sp>
          <p:nvSpPr>
            <p:cNvPr id="237"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38"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39" name="Group 118"/>
          <p:cNvGrpSpPr>
            <a:grpSpLocks/>
          </p:cNvGrpSpPr>
          <p:nvPr/>
        </p:nvGrpSpPr>
        <p:grpSpPr bwMode="auto">
          <a:xfrm rot="7867503" flipH="1">
            <a:off x="5930341" y="1012588"/>
            <a:ext cx="323850" cy="323850"/>
            <a:chOff x="2692" y="1712"/>
            <a:chExt cx="204" cy="204"/>
          </a:xfrm>
        </p:grpSpPr>
        <p:sp>
          <p:nvSpPr>
            <p:cNvPr id="240"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41"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42" name="Group 118"/>
          <p:cNvGrpSpPr>
            <a:grpSpLocks/>
          </p:cNvGrpSpPr>
          <p:nvPr/>
        </p:nvGrpSpPr>
        <p:grpSpPr bwMode="auto">
          <a:xfrm rot="13732497">
            <a:off x="7718801" y="1052930"/>
            <a:ext cx="323850" cy="323850"/>
            <a:chOff x="2692" y="1712"/>
            <a:chExt cx="204" cy="204"/>
          </a:xfrm>
        </p:grpSpPr>
        <p:sp>
          <p:nvSpPr>
            <p:cNvPr id="243"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44"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45" name="Group 118"/>
          <p:cNvGrpSpPr>
            <a:grpSpLocks/>
          </p:cNvGrpSpPr>
          <p:nvPr/>
        </p:nvGrpSpPr>
        <p:grpSpPr bwMode="auto">
          <a:xfrm rot="4833072">
            <a:off x="7978776" y="1643105"/>
            <a:ext cx="323850" cy="323850"/>
            <a:chOff x="2692" y="1712"/>
            <a:chExt cx="204" cy="204"/>
          </a:xfrm>
        </p:grpSpPr>
        <p:sp>
          <p:nvSpPr>
            <p:cNvPr id="246"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47"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48" name="Group 118"/>
          <p:cNvGrpSpPr>
            <a:grpSpLocks/>
          </p:cNvGrpSpPr>
          <p:nvPr/>
        </p:nvGrpSpPr>
        <p:grpSpPr bwMode="auto">
          <a:xfrm rot="8966734">
            <a:off x="8504706" y="3363580"/>
            <a:ext cx="323850" cy="323850"/>
            <a:chOff x="2692" y="1712"/>
            <a:chExt cx="204" cy="204"/>
          </a:xfrm>
        </p:grpSpPr>
        <p:sp>
          <p:nvSpPr>
            <p:cNvPr id="249"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50"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51" name="Group 118"/>
          <p:cNvGrpSpPr>
            <a:grpSpLocks/>
          </p:cNvGrpSpPr>
          <p:nvPr/>
        </p:nvGrpSpPr>
        <p:grpSpPr bwMode="auto">
          <a:xfrm rot="19766734">
            <a:off x="8047506" y="4982830"/>
            <a:ext cx="323850" cy="323850"/>
            <a:chOff x="2692" y="1712"/>
            <a:chExt cx="204" cy="204"/>
          </a:xfrm>
        </p:grpSpPr>
        <p:sp>
          <p:nvSpPr>
            <p:cNvPr id="252"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53"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54" name="Group 118"/>
          <p:cNvGrpSpPr>
            <a:grpSpLocks/>
          </p:cNvGrpSpPr>
          <p:nvPr/>
        </p:nvGrpSpPr>
        <p:grpSpPr bwMode="auto">
          <a:xfrm rot="7867503" flipH="1">
            <a:off x="1529417" y="5393343"/>
            <a:ext cx="323850" cy="323850"/>
            <a:chOff x="2692" y="1712"/>
            <a:chExt cx="204" cy="204"/>
          </a:xfrm>
        </p:grpSpPr>
        <p:sp>
          <p:nvSpPr>
            <p:cNvPr id="255"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56"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257" name="Group 118"/>
          <p:cNvGrpSpPr>
            <a:grpSpLocks/>
          </p:cNvGrpSpPr>
          <p:nvPr/>
        </p:nvGrpSpPr>
        <p:grpSpPr bwMode="auto">
          <a:xfrm rot="13732497">
            <a:off x="4199406" y="5432189"/>
            <a:ext cx="323850" cy="323850"/>
            <a:chOff x="2692" y="1712"/>
            <a:chExt cx="204" cy="204"/>
          </a:xfrm>
        </p:grpSpPr>
        <p:sp>
          <p:nvSpPr>
            <p:cNvPr id="258"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259"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E589C9F-7912-4332-8E48-18E7E6904B34}" type="slidenum">
              <a:rPr lang="fr-FR" altLang="fr-FR" smtClean="0">
                <a:latin typeface="Calibri" panose="020F0502020204030204" pitchFamily="34" charset="0"/>
              </a:rPr>
              <a:pPr>
                <a:spcBef>
                  <a:spcPct val="0"/>
                </a:spcBef>
                <a:buFontTx/>
                <a:buNone/>
              </a:pPr>
              <a:t>20</a:t>
            </a:fld>
            <a:endParaRPr lang="fr-FR" altLang="fr-FR" dirty="0">
              <a:latin typeface="Calibri" panose="020F0502020204030204" pitchFamily="34" charset="0"/>
            </a:endParaRPr>
          </a:p>
        </p:txBody>
      </p:sp>
      <p:sp>
        <p:nvSpPr>
          <p:cNvPr id="50179" name="Rectangle 2"/>
          <p:cNvSpPr>
            <a:spLocks noGrp="1" noChangeArrowheads="1"/>
          </p:cNvSpPr>
          <p:nvPr>
            <p:ph type="title"/>
          </p:nvPr>
        </p:nvSpPr>
        <p:spPr/>
        <p:txBody>
          <a:bodyPr/>
          <a:lstStyle/>
          <a:p>
            <a:pPr eaLnBrk="1" hangingPunct="1"/>
            <a:r>
              <a:rPr lang="fr-FR" altLang="fr-FR"/>
              <a:t>Aménagement de la salle (simulation n°2)</a:t>
            </a:r>
          </a:p>
        </p:txBody>
      </p:sp>
      <p:sp>
        <p:nvSpPr>
          <p:cNvPr id="50182" name="Espace réservé du pied de page 36"/>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50184" name="Rectangle 4"/>
          <p:cNvSpPr>
            <a:spLocks noChangeArrowheads="1"/>
          </p:cNvSpPr>
          <p:nvPr/>
        </p:nvSpPr>
        <p:spPr bwMode="auto">
          <a:xfrm>
            <a:off x="3835400" y="4772025"/>
            <a:ext cx="1597025" cy="1009650"/>
          </a:xfrm>
          <a:prstGeom prst="rect">
            <a:avLst/>
          </a:prstGeom>
          <a:solidFill>
            <a:srgbClr val="FFFF00"/>
          </a:solidFill>
          <a:ln w="6985">
            <a:solidFill>
              <a:srgbClr val="000000"/>
            </a:solidFill>
            <a:miter lim="800000"/>
            <a:headEnd/>
            <a:tailEnd/>
          </a:ln>
        </p:spPr>
        <p:txBody>
          <a:bodyPr lIns="54000" tIns="2628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600" dirty="0">
                <a:latin typeface="Calibri" panose="020F0502020204030204" pitchFamily="34" charset="0"/>
              </a:rPr>
              <a:t>Table de l’animateur</a:t>
            </a:r>
          </a:p>
        </p:txBody>
      </p:sp>
      <p:grpSp>
        <p:nvGrpSpPr>
          <p:cNvPr id="50185" name="Group 5"/>
          <p:cNvGrpSpPr>
            <a:grpSpLocks/>
          </p:cNvGrpSpPr>
          <p:nvPr/>
        </p:nvGrpSpPr>
        <p:grpSpPr bwMode="auto">
          <a:xfrm rot="5400000">
            <a:off x="4856163" y="4856163"/>
            <a:ext cx="568325" cy="441325"/>
            <a:chOff x="8881" y="7082"/>
            <a:chExt cx="897" cy="694"/>
          </a:xfrm>
        </p:grpSpPr>
        <p:sp>
          <p:nvSpPr>
            <p:cNvPr id="50267" name="Freeform 6"/>
            <p:cNvSpPr>
              <a:spLocks/>
            </p:cNvSpPr>
            <p:nvPr/>
          </p:nvSpPr>
          <p:spPr bwMode="auto">
            <a:xfrm>
              <a:off x="8967" y="7082"/>
              <a:ext cx="747" cy="694"/>
            </a:xfrm>
            <a:custGeom>
              <a:avLst/>
              <a:gdLst>
                <a:gd name="T0" fmla="*/ 42 w 747"/>
                <a:gd name="T1" fmla="*/ 0 h 694"/>
                <a:gd name="T2" fmla="*/ 704 w 747"/>
                <a:gd name="T3" fmla="*/ 0 h 694"/>
                <a:gd name="T4" fmla="*/ 715 w 747"/>
                <a:gd name="T5" fmla="*/ 0 h 694"/>
                <a:gd name="T6" fmla="*/ 725 w 747"/>
                <a:gd name="T7" fmla="*/ 0 h 694"/>
                <a:gd name="T8" fmla="*/ 736 w 747"/>
                <a:gd name="T9" fmla="*/ 11 h 694"/>
                <a:gd name="T10" fmla="*/ 747 w 747"/>
                <a:gd name="T11" fmla="*/ 22 h 694"/>
                <a:gd name="T12" fmla="*/ 747 w 747"/>
                <a:gd name="T13" fmla="*/ 32 h 694"/>
                <a:gd name="T14" fmla="*/ 747 w 747"/>
                <a:gd name="T15" fmla="*/ 43 h 694"/>
                <a:gd name="T16" fmla="*/ 747 w 747"/>
                <a:gd name="T17" fmla="*/ 651 h 694"/>
                <a:gd name="T18" fmla="*/ 747 w 747"/>
                <a:gd name="T19" fmla="*/ 662 h 694"/>
                <a:gd name="T20" fmla="*/ 747 w 747"/>
                <a:gd name="T21" fmla="*/ 673 h 694"/>
                <a:gd name="T22" fmla="*/ 736 w 747"/>
                <a:gd name="T23" fmla="*/ 683 h 694"/>
                <a:gd name="T24" fmla="*/ 725 w 747"/>
                <a:gd name="T25" fmla="*/ 694 h 694"/>
                <a:gd name="T26" fmla="*/ 715 w 747"/>
                <a:gd name="T27" fmla="*/ 694 h 694"/>
                <a:gd name="T28" fmla="*/ 704 w 747"/>
                <a:gd name="T29" fmla="*/ 694 h 694"/>
                <a:gd name="T30" fmla="*/ 42 w 747"/>
                <a:gd name="T31" fmla="*/ 694 h 694"/>
                <a:gd name="T32" fmla="*/ 32 w 747"/>
                <a:gd name="T33" fmla="*/ 694 h 694"/>
                <a:gd name="T34" fmla="*/ 21 w 747"/>
                <a:gd name="T35" fmla="*/ 683 h 694"/>
                <a:gd name="T36" fmla="*/ 10 w 747"/>
                <a:gd name="T37" fmla="*/ 673 h 694"/>
                <a:gd name="T38" fmla="*/ 10 w 747"/>
                <a:gd name="T39" fmla="*/ 662 h 694"/>
                <a:gd name="T40" fmla="*/ 0 w 747"/>
                <a:gd name="T41" fmla="*/ 651 h 694"/>
                <a:gd name="T42" fmla="*/ 0 w 747"/>
                <a:gd name="T43" fmla="*/ 43 h 694"/>
                <a:gd name="T44" fmla="*/ 10 w 747"/>
                <a:gd name="T45" fmla="*/ 32 h 694"/>
                <a:gd name="T46" fmla="*/ 10 w 747"/>
                <a:gd name="T47" fmla="*/ 22 h 694"/>
                <a:gd name="T48" fmla="*/ 21 w 747"/>
                <a:gd name="T49" fmla="*/ 11 h 694"/>
                <a:gd name="T50" fmla="*/ 32 w 747"/>
                <a:gd name="T51" fmla="*/ 0 h 694"/>
                <a:gd name="T52" fmla="*/ 42 w 747"/>
                <a:gd name="T53" fmla="*/ 0 h 6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47"/>
                <a:gd name="T82" fmla="*/ 0 h 694"/>
                <a:gd name="T83" fmla="*/ 747 w 747"/>
                <a:gd name="T84" fmla="*/ 694 h 6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47" h="694">
                  <a:moveTo>
                    <a:pt x="42" y="0"/>
                  </a:moveTo>
                  <a:lnTo>
                    <a:pt x="704" y="0"/>
                  </a:lnTo>
                  <a:lnTo>
                    <a:pt x="715" y="0"/>
                  </a:lnTo>
                  <a:lnTo>
                    <a:pt x="725" y="0"/>
                  </a:lnTo>
                  <a:lnTo>
                    <a:pt x="736" y="11"/>
                  </a:lnTo>
                  <a:lnTo>
                    <a:pt x="747" y="22"/>
                  </a:lnTo>
                  <a:lnTo>
                    <a:pt x="747" y="32"/>
                  </a:lnTo>
                  <a:lnTo>
                    <a:pt x="747" y="43"/>
                  </a:lnTo>
                  <a:lnTo>
                    <a:pt x="747" y="651"/>
                  </a:lnTo>
                  <a:lnTo>
                    <a:pt x="747" y="662"/>
                  </a:lnTo>
                  <a:lnTo>
                    <a:pt x="747" y="673"/>
                  </a:lnTo>
                  <a:lnTo>
                    <a:pt x="736" y="683"/>
                  </a:lnTo>
                  <a:lnTo>
                    <a:pt x="725" y="694"/>
                  </a:lnTo>
                  <a:lnTo>
                    <a:pt x="715" y="694"/>
                  </a:lnTo>
                  <a:lnTo>
                    <a:pt x="704" y="694"/>
                  </a:lnTo>
                  <a:lnTo>
                    <a:pt x="42" y="694"/>
                  </a:lnTo>
                  <a:lnTo>
                    <a:pt x="32" y="694"/>
                  </a:lnTo>
                  <a:lnTo>
                    <a:pt x="21" y="683"/>
                  </a:lnTo>
                  <a:lnTo>
                    <a:pt x="10" y="673"/>
                  </a:lnTo>
                  <a:lnTo>
                    <a:pt x="10" y="662"/>
                  </a:lnTo>
                  <a:lnTo>
                    <a:pt x="0" y="651"/>
                  </a:lnTo>
                  <a:lnTo>
                    <a:pt x="0" y="43"/>
                  </a:lnTo>
                  <a:lnTo>
                    <a:pt x="10" y="32"/>
                  </a:lnTo>
                  <a:lnTo>
                    <a:pt x="10" y="22"/>
                  </a:lnTo>
                  <a:lnTo>
                    <a:pt x="21" y="11"/>
                  </a:lnTo>
                  <a:lnTo>
                    <a:pt x="32" y="0"/>
                  </a:lnTo>
                  <a:lnTo>
                    <a:pt x="42" y="0"/>
                  </a:lnTo>
                  <a:close/>
                </a:path>
              </a:pathLst>
            </a:custGeom>
            <a:solidFill>
              <a:srgbClr val="E8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50268" name="Freeform 7"/>
            <p:cNvSpPr>
              <a:spLocks/>
            </p:cNvSpPr>
            <p:nvPr/>
          </p:nvSpPr>
          <p:spPr bwMode="auto">
            <a:xfrm>
              <a:off x="8967" y="7082"/>
              <a:ext cx="747" cy="694"/>
            </a:xfrm>
            <a:custGeom>
              <a:avLst/>
              <a:gdLst>
                <a:gd name="T0" fmla="*/ 42 w 747"/>
                <a:gd name="T1" fmla="*/ 0 h 694"/>
                <a:gd name="T2" fmla="*/ 704 w 747"/>
                <a:gd name="T3" fmla="*/ 0 h 694"/>
                <a:gd name="T4" fmla="*/ 715 w 747"/>
                <a:gd name="T5" fmla="*/ 0 h 694"/>
                <a:gd name="T6" fmla="*/ 725 w 747"/>
                <a:gd name="T7" fmla="*/ 0 h 694"/>
                <a:gd name="T8" fmla="*/ 736 w 747"/>
                <a:gd name="T9" fmla="*/ 11 h 694"/>
                <a:gd name="T10" fmla="*/ 747 w 747"/>
                <a:gd name="T11" fmla="*/ 22 h 694"/>
                <a:gd name="T12" fmla="*/ 747 w 747"/>
                <a:gd name="T13" fmla="*/ 32 h 694"/>
                <a:gd name="T14" fmla="*/ 747 w 747"/>
                <a:gd name="T15" fmla="*/ 43 h 694"/>
                <a:gd name="T16" fmla="*/ 747 w 747"/>
                <a:gd name="T17" fmla="*/ 651 h 694"/>
                <a:gd name="T18" fmla="*/ 747 w 747"/>
                <a:gd name="T19" fmla="*/ 662 h 694"/>
                <a:gd name="T20" fmla="*/ 747 w 747"/>
                <a:gd name="T21" fmla="*/ 673 h 694"/>
                <a:gd name="T22" fmla="*/ 736 w 747"/>
                <a:gd name="T23" fmla="*/ 683 h 694"/>
                <a:gd name="T24" fmla="*/ 725 w 747"/>
                <a:gd name="T25" fmla="*/ 694 h 694"/>
                <a:gd name="T26" fmla="*/ 715 w 747"/>
                <a:gd name="T27" fmla="*/ 694 h 694"/>
                <a:gd name="T28" fmla="*/ 704 w 747"/>
                <a:gd name="T29" fmla="*/ 694 h 694"/>
                <a:gd name="T30" fmla="*/ 42 w 747"/>
                <a:gd name="T31" fmla="*/ 694 h 694"/>
                <a:gd name="T32" fmla="*/ 32 w 747"/>
                <a:gd name="T33" fmla="*/ 694 h 694"/>
                <a:gd name="T34" fmla="*/ 21 w 747"/>
                <a:gd name="T35" fmla="*/ 683 h 694"/>
                <a:gd name="T36" fmla="*/ 10 w 747"/>
                <a:gd name="T37" fmla="*/ 673 h 694"/>
                <a:gd name="T38" fmla="*/ 10 w 747"/>
                <a:gd name="T39" fmla="*/ 662 h 694"/>
                <a:gd name="T40" fmla="*/ 0 w 747"/>
                <a:gd name="T41" fmla="*/ 651 h 694"/>
                <a:gd name="T42" fmla="*/ 0 w 747"/>
                <a:gd name="T43" fmla="*/ 43 h 694"/>
                <a:gd name="T44" fmla="*/ 10 w 747"/>
                <a:gd name="T45" fmla="*/ 32 h 694"/>
                <a:gd name="T46" fmla="*/ 10 w 747"/>
                <a:gd name="T47" fmla="*/ 22 h 694"/>
                <a:gd name="T48" fmla="*/ 21 w 747"/>
                <a:gd name="T49" fmla="*/ 11 h 694"/>
                <a:gd name="T50" fmla="*/ 32 w 747"/>
                <a:gd name="T51" fmla="*/ 0 h 694"/>
                <a:gd name="T52" fmla="*/ 42 w 747"/>
                <a:gd name="T53" fmla="*/ 0 h 69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47"/>
                <a:gd name="T82" fmla="*/ 0 h 694"/>
                <a:gd name="T83" fmla="*/ 747 w 747"/>
                <a:gd name="T84" fmla="*/ 694 h 69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47" h="694">
                  <a:moveTo>
                    <a:pt x="42" y="0"/>
                  </a:moveTo>
                  <a:lnTo>
                    <a:pt x="704" y="0"/>
                  </a:lnTo>
                  <a:lnTo>
                    <a:pt x="715" y="0"/>
                  </a:lnTo>
                  <a:lnTo>
                    <a:pt x="725" y="0"/>
                  </a:lnTo>
                  <a:lnTo>
                    <a:pt x="736" y="11"/>
                  </a:lnTo>
                  <a:lnTo>
                    <a:pt x="747" y="22"/>
                  </a:lnTo>
                  <a:lnTo>
                    <a:pt x="747" y="32"/>
                  </a:lnTo>
                  <a:lnTo>
                    <a:pt x="747" y="43"/>
                  </a:lnTo>
                  <a:lnTo>
                    <a:pt x="747" y="651"/>
                  </a:lnTo>
                  <a:lnTo>
                    <a:pt x="747" y="662"/>
                  </a:lnTo>
                  <a:lnTo>
                    <a:pt x="747" y="673"/>
                  </a:lnTo>
                  <a:lnTo>
                    <a:pt x="736" y="683"/>
                  </a:lnTo>
                  <a:lnTo>
                    <a:pt x="725" y="694"/>
                  </a:lnTo>
                  <a:lnTo>
                    <a:pt x="715" y="694"/>
                  </a:lnTo>
                  <a:lnTo>
                    <a:pt x="704" y="694"/>
                  </a:lnTo>
                  <a:lnTo>
                    <a:pt x="42" y="694"/>
                  </a:lnTo>
                  <a:lnTo>
                    <a:pt x="32" y="694"/>
                  </a:lnTo>
                  <a:lnTo>
                    <a:pt x="21" y="683"/>
                  </a:lnTo>
                  <a:lnTo>
                    <a:pt x="10" y="673"/>
                  </a:lnTo>
                  <a:lnTo>
                    <a:pt x="10" y="662"/>
                  </a:lnTo>
                  <a:lnTo>
                    <a:pt x="0" y="651"/>
                  </a:lnTo>
                  <a:lnTo>
                    <a:pt x="0" y="43"/>
                  </a:lnTo>
                  <a:lnTo>
                    <a:pt x="10" y="32"/>
                  </a:lnTo>
                  <a:lnTo>
                    <a:pt x="10" y="22"/>
                  </a:lnTo>
                  <a:lnTo>
                    <a:pt x="21" y="11"/>
                  </a:lnTo>
                  <a:lnTo>
                    <a:pt x="32" y="0"/>
                  </a:lnTo>
                  <a:lnTo>
                    <a:pt x="42" y="0"/>
                  </a:lnTo>
                </a:path>
              </a:pathLst>
            </a:custGeom>
            <a:noFill/>
            <a:ln w="698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sp>
          <p:nvSpPr>
            <p:cNvPr id="50269" name="Rectangle 8"/>
            <p:cNvSpPr>
              <a:spLocks noChangeArrowheads="1"/>
            </p:cNvSpPr>
            <p:nvPr/>
          </p:nvSpPr>
          <p:spPr bwMode="auto">
            <a:xfrm>
              <a:off x="9148" y="7178"/>
              <a:ext cx="395" cy="5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0" name="Rectangle 9"/>
            <p:cNvSpPr>
              <a:spLocks noChangeArrowheads="1"/>
            </p:cNvSpPr>
            <p:nvPr/>
          </p:nvSpPr>
          <p:spPr bwMode="auto">
            <a:xfrm>
              <a:off x="9148" y="7178"/>
              <a:ext cx="395" cy="513"/>
            </a:xfrm>
            <a:prstGeom prst="rect">
              <a:avLst/>
            </a:prstGeom>
            <a:noFill/>
            <a:ln w="698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1" name="Rectangle 10"/>
            <p:cNvSpPr>
              <a:spLocks noChangeArrowheads="1"/>
            </p:cNvSpPr>
            <p:nvPr/>
          </p:nvSpPr>
          <p:spPr bwMode="auto">
            <a:xfrm>
              <a:off x="8881" y="7541"/>
              <a:ext cx="118" cy="107"/>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2" name="Rectangle 11"/>
            <p:cNvSpPr>
              <a:spLocks noChangeArrowheads="1"/>
            </p:cNvSpPr>
            <p:nvPr/>
          </p:nvSpPr>
          <p:spPr bwMode="auto">
            <a:xfrm>
              <a:off x="8881" y="7541"/>
              <a:ext cx="118" cy="107"/>
            </a:xfrm>
            <a:prstGeom prst="rect">
              <a:avLst/>
            </a:prstGeom>
            <a:noFill/>
            <a:ln w="698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3" name="Rectangle 12"/>
            <p:cNvSpPr>
              <a:spLocks noChangeArrowheads="1"/>
            </p:cNvSpPr>
            <p:nvPr/>
          </p:nvSpPr>
          <p:spPr bwMode="auto">
            <a:xfrm>
              <a:off x="8956" y="7392"/>
              <a:ext cx="309" cy="203"/>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4" name="Rectangle 13"/>
            <p:cNvSpPr>
              <a:spLocks noChangeArrowheads="1"/>
            </p:cNvSpPr>
            <p:nvPr/>
          </p:nvSpPr>
          <p:spPr bwMode="auto">
            <a:xfrm>
              <a:off x="8956" y="7392"/>
              <a:ext cx="309" cy="203"/>
            </a:xfrm>
            <a:prstGeom prst="rect">
              <a:avLst/>
            </a:prstGeom>
            <a:noFill/>
            <a:ln w="698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5" name="Rectangle 14"/>
            <p:cNvSpPr>
              <a:spLocks noChangeArrowheads="1"/>
            </p:cNvSpPr>
            <p:nvPr/>
          </p:nvSpPr>
          <p:spPr bwMode="auto">
            <a:xfrm>
              <a:off x="8956" y="7392"/>
              <a:ext cx="309"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6" name="Rectangle 15"/>
            <p:cNvSpPr>
              <a:spLocks noChangeArrowheads="1"/>
            </p:cNvSpPr>
            <p:nvPr/>
          </p:nvSpPr>
          <p:spPr bwMode="auto">
            <a:xfrm>
              <a:off x="8956" y="7392"/>
              <a:ext cx="309" cy="43"/>
            </a:xfrm>
            <a:prstGeom prst="rect">
              <a:avLst/>
            </a:prstGeom>
            <a:noFill/>
            <a:ln w="698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77" name="Rectangle 16"/>
            <p:cNvSpPr>
              <a:spLocks noChangeArrowheads="1"/>
            </p:cNvSpPr>
            <p:nvPr/>
          </p:nvSpPr>
          <p:spPr bwMode="auto">
            <a:xfrm>
              <a:off x="9714" y="7210"/>
              <a:ext cx="64" cy="2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sp>
        <p:nvSpPr>
          <p:cNvPr id="50186" name="Rectangle 17"/>
          <p:cNvSpPr>
            <a:spLocks noChangeArrowheads="1"/>
          </p:cNvSpPr>
          <p:nvPr/>
        </p:nvSpPr>
        <p:spPr bwMode="auto">
          <a:xfrm>
            <a:off x="5534025" y="4989513"/>
            <a:ext cx="746679"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ct val="90000"/>
              </a:lnSpc>
              <a:spcBef>
                <a:spcPct val="50000"/>
              </a:spcBef>
              <a:buFontTx/>
              <a:buNone/>
            </a:pPr>
            <a:r>
              <a:rPr lang="en-US" altLang="fr-FR" sz="1400" i="1" dirty="0" err="1">
                <a:solidFill>
                  <a:srgbClr val="000000"/>
                </a:solidFill>
                <a:latin typeface="Calibri" panose="020F0502020204030204" pitchFamily="34" charset="0"/>
              </a:rPr>
              <a:t>Vidéo</a:t>
            </a:r>
            <a:r>
              <a:rPr lang="en-US" altLang="fr-FR" sz="1400" i="1" dirty="0">
                <a:solidFill>
                  <a:srgbClr val="000000"/>
                </a:solidFill>
                <a:latin typeface="Calibri" panose="020F0502020204030204" pitchFamily="34" charset="0"/>
              </a:rPr>
              <a:t>-</a:t>
            </a:r>
            <a:br>
              <a:rPr lang="en-US" altLang="fr-FR" sz="1400" i="1" dirty="0">
                <a:solidFill>
                  <a:srgbClr val="000000"/>
                </a:solidFill>
                <a:latin typeface="Calibri" panose="020F0502020204030204" pitchFamily="34" charset="0"/>
              </a:rPr>
            </a:br>
            <a:r>
              <a:rPr lang="en-US" altLang="fr-FR" sz="1400" i="1" dirty="0" err="1">
                <a:solidFill>
                  <a:srgbClr val="000000"/>
                </a:solidFill>
                <a:latin typeface="Calibri" panose="020F0502020204030204" pitchFamily="34" charset="0"/>
              </a:rPr>
              <a:t>projecteur</a:t>
            </a:r>
            <a:endParaRPr lang="fr-FR" altLang="fr-FR" sz="1800" i="1" dirty="0">
              <a:latin typeface="Calibri" panose="020F0502020204030204" pitchFamily="34" charset="0"/>
            </a:endParaRPr>
          </a:p>
        </p:txBody>
      </p:sp>
      <p:grpSp>
        <p:nvGrpSpPr>
          <p:cNvPr id="50187" name="Group 18"/>
          <p:cNvGrpSpPr>
            <a:grpSpLocks/>
          </p:cNvGrpSpPr>
          <p:nvPr/>
        </p:nvGrpSpPr>
        <p:grpSpPr bwMode="auto">
          <a:xfrm>
            <a:off x="3906838" y="5557876"/>
            <a:ext cx="2568575" cy="908014"/>
            <a:chOff x="2504" y="3326"/>
            <a:chExt cx="1618" cy="744"/>
          </a:xfrm>
        </p:grpSpPr>
        <p:grpSp>
          <p:nvGrpSpPr>
            <p:cNvPr id="50259" name="Group 19"/>
            <p:cNvGrpSpPr>
              <a:grpSpLocks/>
            </p:cNvGrpSpPr>
            <p:nvPr/>
          </p:nvGrpSpPr>
          <p:grpSpPr bwMode="auto">
            <a:xfrm>
              <a:off x="2504" y="3983"/>
              <a:ext cx="1618" cy="87"/>
              <a:chOff x="2216" y="4017"/>
              <a:chExt cx="1618" cy="87"/>
            </a:xfrm>
          </p:grpSpPr>
          <p:sp>
            <p:nvSpPr>
              <p:cNvPr id="50261" name="Rectangle 20"/>
              <p:cNvSpPr>
                <a:spLocks noChangeArrowheads="1"/>
              </p:cNvSpPr>
              <p:nvPr/>
            </p:nvSpPr>
            <p:spPr bwMode="auto">
              <a:xfrm>
                <a:off x="2330" y="4039"/>
                <a:ext cx="1386" cy="50"/>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62" name="Rectangle 21"/>
              <p:cNvSpPr>
                <a:spLocks noChangeArrowheads="1"/>
              </p:cNvSpPr>
              <p:nvPr/>
            </p:nvSpPr>
            <p:spPr bwMode="auto">
              <a:xfrm>
                <a:off x="2330" y="4039"/>
                <a:ext cx="1386" cy="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63" name="Freeform 22"/>
              <p:cNvSpPr>
                <a:spLocks/>
              </p:cNvSpPr>
              <p:nvPr/>
            </p:nvSpPr>
            <p:spPr bwMode="auto">
              <a:xfrm>
                <a:off x="2216" y="4017"/>
                <a:ext cx="118" cy="87"/>
              </a:xfrm>
              <a:custGeom>
                <a:avLst/>
                <a:gdLst>
                  <a:gd name="T0" fmla="*/ 0 w 296"/>
                  <a:gd name="T1" fmla="*/ 0 h 216"/>
                  <a:gd name="T2" fmla="*/ 0 w 296"/>
                  <a:gd name="T3" fmla="*/ 0 h 216"/>
                  <a:gd name="T4" fmla="*/ 0 w 296"/>
                  <a:gd name="T5" fmla="*/ 0 h 216"/>
                  <a:gd name="T6" fmla="*/ 0 w 296"/>
                  <a:gd name="T7" fmla="*/ 0 h 216"/>
                  <a:gd name="T8" fmla="*/ 0 w 296"/>
                  <a:gd name="T9" fmla="*/ 0 h 216"/>
                  <a:gd name="T10" fmla="*/ 0 w 296"/>
                  <a:gd name="T11" fmla="*/ 0 h 216"/>
                  <a:gd name="T12" fmla="*/ 0 w 296"/>
                  <a:gd name="T13" fmla="*/ 0 h 216"/>
                  <a:gd name="T14" fmla="*/ 0 w 296"/>
                  <a:gd name="T15" fmla="*/ 0 h 216"/>
                  <a:gd name="T16" fmla="*/ 0 w 296"/>
                  <a:gd name="T17" fmla="*/ 0 h 216"/>
                  <a:gd name="T18" fmla="*/ 0 w 296"/>
                  <a:gd name="T19" fmla="*/ 0 h 216"/>
                  <a:gd name="T20" fmla="*/ 0 w 296"/>
                  <a:gd name="T21" fmla="*/ 0 h 216"/>
                  <a:gd name="T22" fmla="*/ 0 w 296"/>
                  <a:gd name="T23" fmla="*/ 0 h 216"/>
                  <a:gd name="T24" fmla="*/ 0 w 296"/>
                  <a:gd name="T25" fmla="*/ 0 h 216"/>
                  <a:gd name="T26" fmla="*/ 0 w 296"/>
                  <a:gd name="T27" fmla="*/ 0 h 216"/>
                  <a:gd name="T28" fmla="*/ 0 w 296"/>
                  <a:gd name="T29" fmla="*/ 0 h 216"/>
                  <a:gd name="T30" fmla="*/ 0 w 296"/>
                  <a:gd name="T31" fmla="*/ 0 h 216"/>
                  <a:gd name="T32" fmla="*/ 0 w 296"/>
                  <a:gd name="T33" fmla="*/ 0 h 216"/>
                  <a:gd name="T34" fmla="*/ 0 w 296"/>
                  <a:gd name="T35" fmla="*/ 0 h 216"/>
                  <a:gd name="T36" fmla="*/ 0 w 296"/>
                  <a:gd name="T37" fmla="*/ 0 h 216"/>
                  <a:gd name="T38" fmla="*/ 0 w 296"/>
                  <a:gd name="T39" fmla="*/ 0 h 216"/>
                  <a:gd name="T40" fmla="*/ 0 w 296"/>
                  <a:gd name="T41" fmla="*/ 0 h 216"/>
                  <a:gd name="T42" fmla="*/ 0 w 296"/>
                  <a:gd name="T43" fmla="*/ 0 h 216"/>
                  <a:gd name="T44" fmla="*/ 0 w 296"/>
                  <a:gd name="T45" fmla="*/ 0 h 216"/>
                  <a:gd name="T46" fmla="*/ 0 w 296"/>
                  <a:gd name="T47" fmla="*/ 0 h 216"/>
                  <a:gd name="T48" fmla="*/ 0 w 296"/>
                  <a:gd name="T49" fmla="*/ 0 h 216"/>
                  <a:gd name="T50" fmla="*/ 0 w 296"/>
                  <a:gd name="T51" fmla="*/ 0 h 216"/>
                  <a:gd name="T52" fmla="*/ 0 w 296"/>
                  <a:gd name="T53" fmla="*/ 0 h 216"/>
                  <a:gd name="T54" fmla="*/ 0 w 296"/>
                  <a:gd name="T55" fmla="*/ 0 h 216"/>
                  <a:gd name="T56" fmla="*/ 0 w 296"/>
                  <a:gd name="T57" fmla="*/ 0 h 216"/>
                  <a:gd name="T58" fmla="*/ 0 w 296"/>
                  <a:gd name="T59" fmla="*/ 0 h 216"/>
                  <a:gd name="T60" fmla="*/ 0 w 296"/>
                  <a:gd name="T61" fmla="*/ 0 h 216"/>
                  <a:gd name="T62" fmla="*/ 0 w 296"/>
                  <a:gd name="T63" fmla="*/ 0 h 216"/>
                  <a:gd name="T64" fmla="*/ 0 w 296"/>
                  <a:gd name="T65" fmla="*/ 0 h 216"/>
                  <a:gd name="T66" fmla="*/ 0 w 296"/>
                  <a:gd name="T67" fmla="*/ 0 h 216"/>
                  <a:gd name="T68" fmla="*/ 0 w 296"/>
                  <a:gd name="T69" fmla="*/ 0 h 216"/>
                  <a:gd name="T70" fmla="*/ 0 w 296"/>
                  <a:gd name="T71" fmla="*/ 0 h 216"/>
                  <a:gd name="T72" fmla="*/ 0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4" y="9"/>
                    </a:lnTo>
                    <a:lnTo>
                      <a:pt x="275" y="9"/>
                    </a:lnTo>
                    <a:lnTo>
                      <a:pt x="285" y="9"/>
                    </a:lnTo>
                    <a:lnTo>
                      <a:pt x="285" y="18"/>
                    </a:lnTo>
                    <a:lnTo>
                      <a:pt x="296" y="18"/>
                    </a:lnTo>
                    <a:lnTo>
                      <a:pt x="296" y="27"/>
                    </a:lnTo>
                    <a:lnTo>
                      <a:pt x="296" y="36"/>
                    </a:lnTo>
                    <a:lnTo>
                      <a:pt x="296" y="189"/>
                    </a:lnTo>
                    <a:lnTo>
                      <a:pt x="296" y="198"/>
                    </a:lnTo>
                    <a:lnTo>
                      <a:pt x="285" y="207"/>
                    </a:lnTo>
                    <a:lnTo>
                      <a:pt x="275" y="216"/>
                    </a:lnTo>
                    <a:lnTo>
                      <a:pt x="264" y="216"/>
                    </a:lnTo>
                    <a:lnTo>
                      <a:pt x="254" y="216"/>
                    </a:lnTo>
                    <a:lnTo>
                      <a:pt x="43" y="216"/>
                    </a:lnTo>
                    <a:lnTo>
                      <a:pt x="32" y="216"/>
                    </a:lnTo>
                    <a:lnTo>
                      <a:pt x="21" y="216"/>
                    </a:lnTo>
                    <a:lnTo>
                      <a:pt x="11" y="207"/>
                    </a:lnTo>
                    <a:lnTo>
                      <a:pt x="0" y="198"/>
                    </a:lnTo>
                    <a:lnTo>
                      <a:pt x="0" y="189"/>
                    </a:lnTo>
                    <a:lnTo>
                      <a:pt x="0" y="36"/>
                    </a:lnTo>
                    <a:lnTo>
                      <a:pt x="0" y="27"/>
                    </a:lnTo>
                    <a:lnTo>
                      <a:pt x="0" y="18"/>
                    </a:lnTo>
                    <a:lnTo>
                      <a:pt x="11" y="18"/>
                    </a:lnTo>
                    <a:lnTo>
                      <a:pt x="11" y="9"/>
                    </a:lnTo>
                    <a:lnTo>
                      <a:pt x="21" y="9"/>
                    </a:lnTo>
                    <a:lnTo>
                      <a:pt x="32" y="9"/>
                    </a:lnTo>
                    <a:lnTo>
                      <a:pt x="43"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50264" name="Freeform 23"/>
              <p:cNvSpPr>
                <a:spLocks/>
              </p:cNvSpPr>
              <p:nvPr/>
            </p:nvSpPr>
            <p:spPr bwMode="auto">
              <a:xfrm>
                <a:off x="2216" y="4017"/>
                <a:ext cx="118" cy="87"/>
              </a:xfrm>
              <a:custGeom>
                <a:avLst/>
                <a:gdLst>
                  <a:gd name="T0" fmla="*/ 0 w 296"/>
                  <a:gd name="T1" fmla="*/ 0 h 216"/>
                  <a:gd name="T2" fmla="*/ 0 w 296"/>
                  <a:gd name="T3" fmla="*/ 0 h 216"/>
                  <a:gd name="T4" fmla="*/ 0 w 296"/>
                  <a:gd name="T5" fmla="*/ 0 h 216"/>
                  <a:gd name="T6" fmla="*/ 0 w 296"/>
                  <a:gd name="T7" fmla="*/ 0 h 216"/>
                  <a:gd name="T8" fmla="*/ 0 w 296"/>
                  <a:gd name="T9" fmla="*/ 0 h 216"/>
                  <a:gd name="T10" fmla="*/ 0 w 296"/>
                  <a:gd name="T11" fmla="*/ 0 h 216"/>
                  <a:gd name="T12" fmla="*/ 0 w 296"/>
                  <a:gd name="T13" fmla="*/ 0 h 216"/>
                  <a:gd name="T14" fmla="*/ 0 w 296"/>
                  <a:gd name="T15" fmla="*/ 0 h 216"/>
                  <a:gd name="T16" fmla="*/ 0 w 296"/>
                  <a:gd name="T17" fmla="*/ 0 h 216"/>
                  <a:gd name="T18" fmla="*/ 0 w 296"/>
                  <a:gd name="T19" fmla="*/ 0 h 216"/>
                  <a:gd name="T20" fmla="*/ 0 w 296"/>
                  <a:gd name="T21" fmla="*/ 0 h 216"/>
                  <a:gd name="T22" fmla="*/ 0 w 296"/>
                  <a:gd name="T23" fmla="*/ 0 h 216"/>
                  <a:gd name="T24" fmla="*/ 0 w 296"/>
                  <a:gd name="T25" fmla="*/ 0 h 216"/>
                  <a:gd name="T26" fmla="*/ 0 w 296"/>
                  <a:gd name="T27" fmla="*/ 0 h 216"/>
                  <a:gd name="T28" fmla="*/ 0 w 296"/>
                  <a:gd name="T29" fmla="*/ 0 h 216"/>
                  <a:gd name="T30" fmla="*/ 0 w 296"/>
                  <a:gd name="T31" fmla="*/ 0 h 216"/>
                  <a:gd name="T32" fmla="*/ 0 w 296"/>
                  <a:gd name="T33" fmla="*/ 0 h 216"/>
                  <a:gd name="T34" fmla="*/ 0 w 296"/>
                  <a:gd name="T35" fmla="*/ 0 h 216"/>
                  <a:gd name="T36" fmla="*/ 0 w 296"/>
                  <a:gd name="T37" fmla="*/ 0 h 216"/>
                  <a:gd name="T38" fmla="*/ 0 w 296"/>
                  <a:gd name="T39" fmla="*/ 0 h 216"/>
                  <a:gd name="T40" fmla="*/ 0 w 296"/>
                  <a:gd name="T41" fmla="*/ 0 h 216"/>
                  <a:gd name="T42" fmla="*/ 0 w 296"/>
                  <a:gd name="T43" fmla="*/ 0 h 216"/>
                  <a:gd name="T44" fmla="*/ 0 w 296"/>
                  <a:gd name="T45" fmla="*/ 0 h 216"/>
                  <a:gd name="T46" fmla="*/ 0 w 296"/>
                  <a:gd name="T47" fmla="*/ 0 h 216"/>
                  <a:gd name="T48" fmla="*/ 0 w 296"/>
                  <a:gd name="T49" fmla="*/ 0 h 216"/>
                  <a:gd name="T50" fmla="*/ 0 w 296"/>
                  <a:gd name="T51" fmla="*/ 0 h 216"/>
                  <a:gd name="T52" fmla="*/ 0 w 296"/>
                  <a:gd name="T53" fmla="*/ 0 h 216"/>
                  <a:gd name="T54" fmla="*/ 0 w 296"/>
                  <a:gd name="T55" fmla="*/ 0 h 216"/>
                  <a:gd name="T56" fmla="*/ 0 w 296"/>
                  <a:gd name="T57" fmla="*/ 0 h 216"/>
                  <a:gd name="T58" fmla="*/ 0 w 296"/>
                  <a:gd name="T59" fmla="*/ 0 h 216"/>
                  <a:gd name="T60" fmla="*/ 0 w 296"/>
                  <a:gd name="T61" fmla="*/ 0 h 216"/>
                  <a:gd name="T62" fmla="*/ 0 w 296"/>
                  <a:gd name="T63" fmla="*/ 0 h 216"/>
                  <a:gd name="T64" fmla="*/ 0 w 296"/>
                  <a:gd name="T65" fmla="*/ 0 h 216"/>
                  <a:gd name="T66" fmla="*/ 0 w 296"/>
                  <a:gd name="T67" fmla="*/ 0 h 216"/>
                  <a:gd name="T68" fmla="*/ 0 w 296"/>
                  <a:gd name="T69" fmla="*/ 0 h 216"/>
                  <a:gd name="T70" fmla="*/ 0 w 296"/>
                  <a:gd name="T71" fmla="*/ 0 h 216"/>
                  <a:gd name="T72" fmla="*/ 0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4" y="9"/>
                    </a:lnTo>
                    <a:lnTo>
                      <a:pt x="275" y="9"/>
                    </a:lnTo>
                    <a:lnTo>
                      <a:pt x="285" y="9"/>
                    </a:lnTo>
                    <a:lnTo>
                      <a:pt x="285" y="18"/>
                    </a:lnTo>
                    <a:lnTo>
                      <a:pt x="296" y="18"/>
                    </a:lnTo>
                    <a:lnTo>
                      <a:pt x="296" y="27"/>
                    </a:lnTo>
                    <a:lnTo>
                      <a:pt x="296" y="36"/>
                    </a:lnTo>
                    <a:lnTo>
                      <a:pt x="296" y="189"/>
                    </a:lnTo>
                    <a:lnTo>
                      <a:pt x="296" y="198"/>
                    </a:lnTo>
                    <a:lnTo>
                      <a:pt x="285" y="207"/>
                    </a:lnTo>
                    <a:lnTo>
                      <a:pt x="275" y="216"/>
                    </a:lnTo>
                    <a:lnTo>
                      <a:pt x="264" y="216"/>
                    </a:lnTo>
                    <a:lnTo>
                      <a:pt x="254" y="216"/>
                    </a:lnTo>
                    <a:lnTo>
                      <a:pt x="43" y="216"/>
                    </a:lnTo>
                    <a:lnTo>
                      <a:pt x="32" y="216"/>
                    </a:lnTo>
                    <a:lnTo>
                      <a:pt x="21" y="216"/>
                    </a:lnTo>
                    <a:lnTo>
                      <a:pt x="11" y="207"/>
                    </a:lnTo>
                    <a:lnTo>
                      <a:pt x="0" y="198"/>
                    </a:lnTo>
                    <a:lnTo>
                      <a:pt x="0" y="189"/>
                    </a:lnTo>
                    <a:lnTo>
                      <a:pt x="0" y="36"/>
                    </a:lnTo>
                    <a:lnTo>
                      <a:pt x="0" y="27"/>
                    </a:lnTo>
                    <a:lnTo>
                      <a:pt x="0" y="18"/>
                    </a:lnTo>
                    <a:lnTo>
                      <a:pt x="11" y="18"/>
                    </a:lnTo>
                    <a:lnTo>
                      <a:pt x="11" y="9"/>
                    </a:lnTo>
                    <a:lnTo>
                      <a:pt x="21" y="9"/>
                    </a:lnTo>
                    <a:lnTo>
                      <a:pt x="32" y="9"/>
                    </a:lnTo>
                    <a:lnTo>
                      <a:pt x="43"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sp>
            <p:nvSpPr>
              <p:cNvPr id="50265" name="Freeform 24"/>
              <p:cNvSpPr>
                <a:spLocks/>
              </p:cNvSpPr>
              <p:nvPr/>
            </p:nvSpPr>
            <p:spPr bwMode="auto">
              <a:xfrm>
                <a:off x="3716" y="4017"/>
                <a:ext cx="118" cy="87"/>
              </a:xfrm>
              <a:custGeom>
                <a:avLst/>
                <a:gdLst>
                  <a:gd name="T0" fmla="*/ 0 w 296"/>
                  <a:gd name="T1" fmla="*/ 0 h 216"/>
                  <a:gd name="T2" fmla="*/ 0 w 296"/>
                  <a:gd name="T3" fmla="*/ 0 h 216"/>
                  <a:gd name="T4" fmla="*/ 0 w 296"/>
                  <a:gd name="T5" fmla="*/ 0 h 216"/>
                  <a:gd name="T6" fmla="*/ 0 w 296"/>
                  <a:gd name="T7" fmla="*/ 0 h 216"/>
                  <a:gd name="T8" fmla="*/ 0 w 296"/>
                  <a:gd name="T9" fmla="*/ 0 h 216"/>
                  <a:gd name="T10" fmla="*/ 0 w 296"/>
                  <a:gd name="T11" fmla="*/ 0 h 216"/>
                  <a:gd name="T12" fmla="*/ 0 w 296"/>
                  <a:gd name="T13" fmla="*/ 0 h 216"/>
                  <a:gd name="T14" fmla="*/ 0 w 296"/>
                  <a:gd name="T15" fmla="*/ 0 h 216"/>
                  <a:gd name="T16" fmla="*/ 0 w 296"/>
                  <a:gd name="T17" fmla="*/ 0 h 216"/>
                  <a:gd name="T18" fmla="*/ 0 w 296"/>
                  <a:gd name="T19" fmla="*/ 0 h 216"/>
                  <a:gd name="T20" fmla="*/ 0 w 296"/>
                  <a:gd name="T21" fmla="*/ 0 h 216"/>
                  <a:gd name="T22" fmla="*/ 0 w 296"/>
                  <a:gd name="T23" fmla="*/ 0 h 216"/>
                  <a:gd name="T24" fmla="*/ 0 w 296"/>
                  <a:gd name="T25" fmla="*/ 0 h 216"/>
                  <a:gd name="T26" fmla="*/ 0 w 296"/>
                  <a:gd name="T27" fmla="*/ 0 h 216"/>
                  <a:gd name="T28" fmla="*/ 0 w 296"/>
                  <a:gd name="T29" fmla="*/ 0 h 216"/>
                  <a:gd name="T30" fmla="*/ 0 w 296"/>
                  <a:gd name="T31" fmla="*/ 0 h 216"/>
                  <a:gd name="T32" fmla="*/ 0 w 296"/>
                  <a:gd name="T33" fmla="*/ 0 h 216"/>
                  <a:gd name="T34" fmla="*/ 0 w 296"/>
                  <a:gd name="T35" fmla="*/ 0 h 216"/>
                  <a:gd name="T36" fmla="*/ 0 w 296"/>
                  <a:gd name="T37" fmla="*/ 0 h 216"/>
                  <a:gd name="T38" fmla="*/ 0 w 296"/>
                  <a:gd name="T39" fmla="*/ 0 h 216"/>
                  <a:gd name="T40" fmla="*/ 0 w 296"/>
                  <a:gd name="T41" fmla="*/ 0 h 216"/>
                  <a:gd name="T42" fmla="*/ 0 w 296"/>
                  <a:gd name="T43" fmla="*/ 0 h 216"/>
                  <a:gd name="T44" fmla="*/ 0 w 296"/>
                  <a:gd name="T45" fmla="*/ 0 h 216"/>
                  <a:gd name="T46" fmla="*/ 0 w 296"/>
                  <a:gd name="T47" fmla="*/ 0 h 216"/>
                  <a:gd name="T48" fmla="*/ 0 w 296"/>
                  <a:gd name="T49" fmla="*/ 0 h 216"/>
                  <a:gd name="T50" fmla="*/ 0 w 296"/>
                  <a:gd name="T51" fmla="*/ 0 h 216"/>
                  <a:gd name="T52" fmla="*/ 0 w 296"/>
                  <a:gd name="T53" fmla="*/ 0 h 216"/>
                  <a:gd name="T54" fmla="*/ 0 w 296"/>
                  <a:gd name="T55" fmla="*/ 0 h 216"/>
                  <a:gd name="T56" fmla="*/ 0 w 296"/>
                  <a:gd name="T57" fmla="*/ 0 h 216"/>
                  <a:gd name="T58" fmla="*/ 0 w 296"/>
                  <a:gd name="T59" fmla="*/ 0 h 216"/>
                  <a:gd name="T60" fmla="*/ 0 w 296"/>
                  <a:gd name="T61" fmla="*/ 0 h 216"/>
                  <a:gd name="T62" fmla="*/ 0 w 296"/>
                  <a:gd name="T63" fmla="*/ 0 h 216"/>
                  <a:gd name="T64" fmla="*/ 0 w 296"/>
                  <a:gd name="T65" fmla="*/ 0 h 216"/>
                  <a:gd name="T66" fmla="*/ 0 w 296"/>
                  <a:gd name="T67" fmla="*/ 0 h 216"/>
                  <a:gd name="T68" fmla="*/ 0 w 296"/>
                  <a:gd name="T69" fmla="*/ 0 h 216"/>
                  <a:gd name="T70" fmla="*/ 0 w 296"/>
                  <a:gd name="T71" fmla="*/ 0 h 216"/>
                  <a:gd name="T72" fmla="*/ 0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5" y="9"/>
                    </a:lnTo>
                    <a:lnTo>
                      <a:pt x="275" y="9"/>
                    </a:lnTo>
                    <a:lnTo>
                      <a:pt x="286" y="9"/>
                    </a:lnTo>
                    <a:lnTo>
                      <a:pt x="286" y="18"/>
                    </a:lnTo>
                    <a:lnTo>
                      <a:pt x="296" y="18"/>
                    </a:lnTo>
                    <a:lnTo>
                      <a:pt x="296" y="27"/>
                    </a:lnTo>
                    <a:lnTo>
                      <a:pt x="296" y="36"/>
                    </a:lnTo>
                    <a:lnTo>
                      <a:pt x="296" y="189"/>
                    </a:lnTo>
                    <a:lnTo>
                      <a:pt x="296" y="198"/>
                    </a:lnTo>
                    <a:lnTo>
                      <a:pt x="286" y="207"/>
                    </a:lnTo>
                    <a:lnTo>
                      <a:pt x="275" y="216"/>
                    </a:lnTo>
                    <a:lnTo>
                      <a:pt x="265" y="216"/>
                    </a:lnTo>
                    <a:lnTo>
                      <a:pt x="254" y="216"/>
                    </a:lnTo>
                    <a:lnTo>
                      <a:pt x="43" y="216"/>
                    </a:lnTo>
                    <a:lnTo>
                      <a:pt x="32" y="216"/>
                    </a:lnTo>
                    <a:lnTo>
                      <a:pt x="22" y="216"/>
                    </a:lnTo>
                    <a:lnTo>
                      <a:pt x="11" y="207"/>
                    </a:lnTo>
                    <a:lnTo>
                      <a:pt x="0" y="198"/>
                    </a:lnTo>
                    <a:lnTo>
                      <a:pt x="0" y="189"/>
                    </a:lnTo>
                    <a:lnTo>
                      <a:pt x="0" y="36"/>
                    </a:lnTo>
                    <a:lnTo>
                      <a:pt x="0" y="27"/>
                    </a:lnTo>
                    <a:lnTo>
                      <a:pt x="0" y="18"/>
                    </a:lnTo>
                    <a:lnTo>
                      <a:pt x="11" y="18"/>
                    </a:lnTo>
                    <a:lnTo>
                      <a:pt x="11" y="9"/>
                    </a:lnTo>
                    <a:lnTo>
                      <a:pt x="22" y="9"/>
                    </a:lnTo>
                    <a:lnTo>
                      <a:pt x="32" y="9"/>
                    </a:lnTo>
                    <a:lnTo>
                      <a:pt x="43" y="0"/>
                    </a:lnTo>
                    <a:close/>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50266" name="Freeform 25"/>
              <p:cNvSpPr>
                <a:spLocks/>
              </p:cNvSpPr>
              <p:nvPr/>
            </p:nvSpPr>
            <p:spPr bwMode="auto">
              <a:xfrm>
                <a:off x="3716" y="4017"/>
                <a:ext cx="118" cy="87"/>
              </a:xfrm>
              <a:custGeom>
                <a:avLst/>
                <a:gdLst>
                  <a:gd name="T0" fmla="*/ 0 w 296"/>
                  <a:gd name="T1" fmla="*/ 0 h 216"/>
                  <a:gd name="T2" fmla="*/ 0 w 296"/>
                  <a:gd name="T3" fmla="*/ 0 h 216"/>
                  <a:gd name="T4" fmla="*/ 0 w 296"/>
                  <a:gd name="T5" fmla="*/ 0 h 216"/>
                  <a:gd name="T6" fmla="*/ 0 w 296"/>
                  <a:gd name="T7" fmla="*/ 0 h 216"/>
                  <a:gd name="T8" fmla="*/ 0 w 296"/>
                  <a:gd name="T9" fmla="*/ 0 h 216"/>
                  <a:gd name="T10" fmla="*/ 0 w 296"/>
                  <a:gd name="T11" fmla="*/ 0 h 216"/>
                  <a:gd name="T12" fmla="*/ 0 w 296"/>
                  <a:gd name="T13" fmla="*/ 0 h 216"/>
                  <a:gd name="T14" fmla="*/ 0 w 296"/>
                  <a:gd name="T15" fmla="*/ 0 h 216"/>
                  <a:gd name="T16" fmla="*/ 0 w 296"/>
                  <a:gd name="T17" fmla="*/ 0 h 216"/>
                  <a:gd name="T18" fmla="*/ 0 w 296"/>
                  <a:gd name="T19" fmla="*/ 0 h 216"/>
                  <a:gd name="T20" fmla="*/ 0 w 296"/>
                  <a:gd name="T21" fmla="*/ 0 h 216"/>
                  <a:gd name="T22" fmla="*/ 0 w 296"/>
                  <a:gd name="T23" fmla="*/ 0 h 216"/>
                  <a:gd name="T24" fmla="*/ 0 w 296"/>
                  <a:gd name="T25" fmla="*/ 0 h 216"/>
                  <a:gd name="T26" fmla="*/ 0 w 296"/>
                  <a:gd name="T27" fmla="*/ 0 h 216"/>
                  <a:gd name="T28" fmla="*/ 0 w 296"/>
                  <a:gd name="T29" fmla="*/ 0 h 216"/>
                  <a:gd name="T30" fmla="*/ 0 w 296"/>
                  <a:gd name="T31" fmla="*/ 0 h 216"/>
                  <a:gd name="T32" fmla="*/ 0 w 296"/>
                  <a:gd name="T33" fmla="*/ 0 h 216"/>
                  <a:gd name="T34" fmla="*/ 0 w 296"/>
                  <a:gd name="T35" fmla="*/ 0 h 216"/>
                  <a:gd name="T36" fmla="*/ 0 w 296"/>
                  <a:gd name="T37" fmla="*/ 0 h 216"/>
                  <a:gd name="T38" fmla="*/ 0 w 296"/>
                  <a:gd name="T39" fmla="*/ 0 h 216"/>
                  <a:gd name="T40" fmla="*/ 0 w 296"/>
                  <a:gd name="T41" fmla="*/ 0 h 216"/>
                  <a:gd name="T42" fmla="*/ 0 w 296"/>
                  <a:gd name="T43" fmla="*/ 0 h 216"/>
                  <a:gd name="T44" fmla="*/ 0 w 296"/>
                  <a:gd name="T45" fmla="*/ 0 h 216"/>
                  <a:gd name="T46" fmla="*/ 0 w 296"/>
                  <a:gd name="T47" fmla="*/ 0 h 216"/>
                  <a:gd name="T48" fmla="*/ 0 w 296"/>
                  <a:gd name="T49" fmla="*/ 0 h 216"/>
                  <a:gd name="T50" fmla="*/ 0 w 296"/>
                  <a:gd name="T51" fmla="*/ 0 h 216"/>
                  <a:gd name="T52" fmla="*/ 0 w 296"/>
                  <a:gd name="T53" fmla="*/ 0 h 216"/>
                  <a:gd name="T54" fmla="*/ 0 w 296"/>
                  <a:gd name="T55" fmla="*/ 0 h 216"/>
                  <a:gd name="T56" fmla="*/ 0 w 296"/>
                  <a:gd name="T57" fmla="*/ 0 h 216"/>
                  <a:gd name="T58" fmla="*/ 0 w 296"/>
                  <a:gd name="T59" fmla="*/ 0 h 216"/>
                  <a:gd name="T60" fmla="*/ 0 w 296"/>
                  <a:gd name="T61" fmla="*/ 0 h 216"/>
                  <a:gd name="T62" fmla="*/ 0 w 296"/>
                  <a:gd name="T63" fmla="*/ 0 h 216"/>
                  <a:gd name="T64" fmla="*/ 0 w 296"/>
                  <a:gd name="T65" fmla="*/ 0 h 216"/>
                  <a:gd name="T66" fmla="*/ 0 w 296"/>
                  <a:gd name="T67" fmla="*/ 0 h 216"/>
                  <a:gd name="T68" fmla="*/ 0 w 296"/>
                  <a:gd name="T69" fmla="*/ 0 h 216"/>
                  <a:gd name="T70" fmla="*/ 0 w 296"/>
                  <a:gd name="T71" fmla="*/ 0 h 216"/>
                  <a:gd name="T72" fmla="*/ 0 w 296"/>
                  <a:gd name="T73" fmla="*/ 0 h 2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16"/>
                  <a:gd name="T113" fmla="*/ 296 w 296"/>
                  <a:gd name="T114" fmla="*/ 216 h 2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16">
                    <a:moveTo>
                      <a:pt x="43" y="0"/>
                    </a:moveTo>
                    <a:lnTo>
                      <a:pt x="254" y="0"/>
                    </a:lnTo>
                    <a:lnTo>
                      <a:pt x="265" y="9"/>
                    </a:lnTo>
                    <a:lnTo>
                      <a:pt x="275" y="9"/>
                    </a:lnTo>
                    <a:lnTo>
                      <a:pt x="286" y="9"/>
                    </a:lnTo>
                    <a:lnTo>
                      <a:pt x="286" y="18"/>
                    </a:lnTo>
                    <a:lnTo>
                      <a:pt x="296" y="18"/>
                    </a:lnTo>
                    <a:lnTo>
                      <a:pt x="296" y="27"/>
                    </a:lnTo>
                    <a:lnTo>
                      <a:pt x="296" y="36"/>
                    </a:lnTo>
                    <a:lnTo>
                      <a:pt x="296" y="189"/>
                    </a:lnTo>
                    <a:lnTo>
                      <a:pt x="296" y="198"/>
                    </a:lnTo>
                    <a:lnTo>
                      <a:pt x="286" y="207"/>
                    </a:lnTo>
                    <a:lnTo>
                      <a:pt x="275" y="216"/>
                    </a:lnTo>
                    <a:lnTo>
                      <a:pt x="265" y="216"/>
                    </a:lnTo>
                    <a:lnTo>
                      <a:pt x="254" y="216"/>
                    </a:lnTo>
                    <a:lnTo>
                      <a:pt x="43" y="216"/>
                    </a:lnTo>
                    <a:lnTo>
                      <a:pt x="32" y="216"/>
                    </a:lnTo>
                    <a:lnTo>
                      <a:pt x="22" y="216"/>
                    </a:lnTo>
                    <a:lnTo>
                      <a:pt x="11" y="207"/>
                    </a:lnTo>
                    <a:lnTo>
                      <a:pt x="0" y="198"/>
                    </a:lnTo>
                    <a:lnTo>
                      <a:pt x="0" y="189"/>
                    </a:lnTo>
                    <a:lnTo>
                      <a:pt x="0" y="36"/>
                    </a:lnTo>
                    <a:lnTo>
                      <a:pt x="0" y="27"/>
                    </a:lnTo>
                    <a:lnTo>
                      <a:pt x="0" y="18"/>
                    </a:lnTo>
                    <a:lnTo>
                      <a:pt x="11" y="18"/>
                    </a:lnTo>
                    <a:lnTo>
                      <a:pt x="11" y="9"/>
                    </a:lnTo>
                    <a:lnTo>
                      <a:pt x="22" y="9"/>
                    </a:lnTo>
                    <a:lnTo>
                      <a:pt x="32" y="9"/>
                    </a:lnTo>
                    <a:lnTo>
                      <a:pt x="43"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grpSp>
        <p:sp>
          <p:nvSpPr>
            <p:cNvPr id="50260" name="AutoShape 26"/>
            <p:cNvSpPr>
              <a:spLocks noChangeArrowheads="1"/>
            </p:cNvSpPr>
            <p:nvPr/>
          </p:nvSpPr>
          <p:spPr bwMode="auto">
            <a:xfrm flipV="1">
              <a:off x="2706" y="3326"/>
              <a:ext cx="1230" cy="55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884 w 21600"/>
                <a:gd name="T13" fmla="*/ 6873 h 21600"/>
                <a:gd name="T14" fmla="*/ 14716 w 21600"/>
                <a:gd name="T15" fmla="*/ 14727 h 21600"/>
              </a:gdLst>
              <a:ahLst/>
              <a:cxnLst>
                <a:cxn ang="T8">
                  <a:pos x="T0" y="T1"/>
                </a:cxn>
                <a:cxn ang="T9">
                  <a:pos x="T2" y="T3"/>
                </a:cxn>
                <a:cxn ang="T10">
                  <a:pos x="T4" y="T5"/>
                </a:cxn>
                <a:cxn ang="T11">
                  <a:pos x="T6" y="T7"/>
                </a:cxn>
              </a:cxnLst>
              <a:rect l="T12" t="T13" r="T14" b="T15"/>
              <a:pathLst>
                <a:path w="21600" h="21600">
                  <a:moveTo>
                    <a:pt x="0" y="0"/>
                  </a:moveTo>
                  <a:lnTo>
                    <a:pt x="10167" y="21600"/>
                  </a:lnTo>
                  <a:lnTo>
                    <a:pt x="11433" y="21600"/>
                  </a:lnTo>
                  <a:lnTo>
                    <a:pt x="21600" y="0"/>
                  </a:lnTo>
                  <a:lnTo>
                    <a:pt x="0" y="0"/>
                  </a:lnTo>
                  <a:close/>
                </a:path>
              </a:pathLst>
            </a:custGeom>
            <a:gradFill rotWithShape="1">
              <a:gsLst>
                <a:gs pos="0">
                  <a:schemeClr val="bg1">
                    <a:alpha val="28000"/>
                  </a:schemeClr>
                </a:gs>
                <a:gs pos="100000">
                  <a:schemeClr val="bg1">
                    <a:alpha val="29999"/>
                  </a:schemeClr>
                </a:gs>
              </a:gsLst>
              <a:lin ang="5400000" scaled="1"/>
            </a:gradFill>
            <a:ln w="9525" algn="ctr">
              <a:solidFill>
                <a:srgbClr val="C0C0C0"/>
              </a:solidFill>
              <a:miter lim="800000"/>
              <a:headEnd/>
              <a:tailEnd/>
            </a:ln>
          </p:spPr>
          <p:txBody>
            <a:bodyPr anchor="ctr">
              <a:spAutoFit/>
            </a:bodyPr>
            <a:lstStyle/>
            <a:p>
              <a:endParaRPr lang="fr-FR" dirty="0">
                <a:latin typeface="Calibri" panose="020F0502020204030204" pitchFamily="34" charset="0"/>
              </a:endParaRPr>
            </a:p>
          </p:txBody>
        </p:sp>
      </p:grpSp>
      <p:sp>
        <p:nvSpPr>
          <p:cNvPr id="50205" name="AutoShape 100"/>
          <p:cNvSpPr>
            <a:spLocks noChangeArrowheads="1"/>
          </p:cNvSpPr>
          <p:nvPr/>
        </p:nvSpPr>
        <p:spPr bwMode="auto">
          <a:xfrm>
            <a:off x="6526213" y="4560888"/>
            <a:ext cx="2571750" cy="1003300"/>
          </a:xfrm>
          <a:prstGeom prst="roundRect">
            <a:avLst>
              <a:gd name="adj" fmla="val 16667"/>
            </a:avLst>
          </a:prstGeom>
          <a:solidFill>
            <a:schemeClr val="bg1"/>
          </a:solidFill>
          <a:ln w="9525" algn="ctr">
            <a:solidFill>
              <a:schemeClr val="tx1"/>
            </a:solidFill>
            <a:round/>
            <a:headEnd/>
            <a:tailEnd/>
          </a:ln>
        </p:spPr>
        <p:txBody>
          <a:bodyPr lIns="54000" tIns="10800" rIns="54000" bIns="10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ct val="120000"/>
              </a:lnSpc>
              <a:spcBef>
                <a:spcPct val="0"/>
              </a:spcBef>
              <a:buFontTx/>
              <a:buNone/>
            </a:pPr>
            <a:r>
              <a:rPr lang="fr-FR" altLang="fr-FR" sz="1500" i="1" dirty="0">
                <a:latin typeface="Calibri" panose="020F0502020204030204" pitchFamily="34" charset="0"/>
              </a:rPr>
              <a:t>Chaque atelier est implanté dans le sens du flux (sens des aiguilles d’une montre)</a:t>
            </a:r>
          </a:p>
        </p:txBody>
      </p:sp>
      <p:grpSp>
        <p:nvGrpSpPr>
          <p:cNvPr id="50206" name="Groupe 106"/>
          <p:cNvGrpSpPr>
            <a:grpSpLocks/>
          </p:cNvGrpSpPr>
          <p:nvPr/>
        </p:nvGrpSpPr>
        <p:grpSpPr bwMode="auto">
          <a:xfrm rot="-5400000">
            <a:off x="6716713" y="5768975"/>
            <a:ext cx="668338" cy="668337"/>
            <a:chOff x="1046162" y="5781675"/>
            <a:chExt cx="668337" cy="668338"/>
          </a:xfrm>
        </p:grpSpPr>
        <p:sp>
          <p:nvSpPr>
            <p:cNvPr id="50241" name="AutoShape 170"/>
            <p:cNvSpPr>
              <a:spLocks noChangeArrowheads="1"/>
            </p:cNvSpPr>
            <p:nvPr/>
          </p:nvSpPr>
          <p:spPr bwMode="auto">
            <a:xfrm rot="5400000" flipH="1">
              <a:off x="1157287" y="5892800"/>
              <a:ext cx="446088" cy="446087"/>
            </a:xfrm>
            <a:prstGeom prst="rtTriangle">
              <a:avLst/>
            </a:prstGeom>
            <a:solidFill>
              <a:srgbClr val="FFFFFF"/>
            </a:solidFill>
            <a:ln w="38100" cmpd="dbl">
              <a:solidFill>
                <a:srgbClr val="000000"/>
              </a:solidFill>
              <a:miter lim="800000"/>
              <a:headEnd/>
              <a:tailEnd/>
            </a:ln>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50242" name="Line 171"/>
            <p:cNvSpPr>
              <a:spLocks noChangeShapeType="1"/>
            </p:cNvSpPr>
            <p:nvPr/>
          </p:nvSpPr>
          <p:spPr bwMode="auto">
            <a:xfrm rot="5400000" flipH="1">
              <a:off x="1046162" y="5781675"/>
              <a:ext cx="668338" cy="6683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dirty="0">
                <a:latin typeface="Calibri" panose="020F0502020204030204" pitchFamily="34" charset="0"/>
              </a:endParaRPr>
            </a:p>
          </p:txBody>
        </p:sp>
      </p:grpSp>
      <p:sp>
        <p:nvSpPr>
          <p:cNvPr id="50207" name="Rectangle 172"/>
          <p:cNvSpPr>
            <a:spLocks noChangeArrowheads="1"/>
          </p:cNvSpPr>
          <p:nvPr/>
        </p:nvSpPr>
        <p:spPr bwMode="auto">
          <a:xfrm>
            <a:off x="7339013" y="5851525"/>
            <a:ext cx="7604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ct val="90000"/>
              </a:lnSpc>
              <a:spcBef>
                <a:spcPct val="50000"/>
              </a:spcBef>
              <a:buFontTx/>
              <a:buNone/>
            </a:pPr>
            <a:r>
              <a:rPr lang="fr-FR" altLang="fr-FR" sz="1400" i="1" dirty="0">
                <a:solidFill>
                  <a:srgbClr val="000000"/>
                </a:solidFill>
                <a:latin typeface="Calibri" panose="020F0502020204030204" pitchFamily="34" charset="0"/>
              </a:rPr>
              <a:t>Tableau de papier</a:t>
            </a:r>
            <a:endParaRPr lang="fr-FR" altLang="fr-FR" sz="1800" i="1" dirty="0">
              <a:latin typeface="Calibri" panose="020F0502020204030204" pitchFamily="34" charset="0"/>
            </a:endParaRPr>
          </a:p>
        </p:txBody>
      </p:sp>
      <p:sp>
        <p:nvSpPr>
          <p:cNvPr id="50218" name="AutoShape 100"/>
          <p:cNvSpPr>
            <a:spLocks noChangeArrowheads="1"/>
          </p:cNvSpPr>
          <p:nvPr/>
        </p:nvSpPr>
        <p:spPr bwMode="auto">
          <a:xfrm>
            <a:off x="1484313" y="4881563"/>
            <a:ext cx="1944687" cy="1003300"/>
          </a:xfrm>
          <a:prstGeom prst="roundRect">
            <a:avLst>
              <a:gd name="adj" fmla="val 16667"/>
            </a:avLst>
          </a:prstGeom>
          <a:solidFill>
            <a:schemeClr val="bg1"/>
          </a:solidFill>
          <a:ln w="9525" algn="ctr">
            <a:solidFill>
              <a:schemeClr val="tx1"/>
            </a:solidFill>
            <a:round/>
            <a:headEnd/>
            <a:tailEnd/>
          </a:ln>
        </p:spPr>
        <p:txBody>
          <a:bodyPr lIns="36000" tIns="10800" rIns="36000" bIns="10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ct val="120000"/>
              </a:lnSpc>
              <a:spcBef>
                <a:spcPct val="0"/>
              </a:spcBef>
              <a:buFontTx/>
              <a:buNone/>
            </a:pPr>
            <a:r>
              <a:rPr lang="fr-FR" altLang="fr-FR" sz="1500" i="1" dirty="0">
                <a:latin typeface="Calibri" panose="020F0502020204030204" pitchFamily="34" charset="0"/>
              </a:rPr>
              <a:t>L’atelier</a:t>
            </a:r>
            <a:r>
              <a:rPr lang="fr-FR" altLang="fr-FR" sz="1500" b="1" i="1" dirty="0">
                <a:solidFill>
                  <a:srgbClr val="FF0000"/>
                </a:solidFill>
                <a:latin typeface="Calibri" panose="020F0502020204030204" pitchFamily="34" charset="0"/>
              </a:rPr>
              <a:t> 3 </a:t>
            </a:r>
            <a:r>
              <a:rPr lang="fr-FR" altLang="fr-FR" sz="1500" i="1" dirty="0">
                <a:latin typeface="Calibri" panose="020F0502020204030204" pitchFamily="34" charset="0"/>
              </a:rPr>
              <a:t>est un 3</a:t>
            </a:r>
            <a:r>
              <a:rPr lang="fr-FR" altLang="fr-FR" sz="1500" i="1" baseline="30000" dirty="0">
                <a:latin typeface="Calibri" panose="020F0502020204030204" pitchFamily="34" charset="0"/>
              </a:rPr>
              <a:t>ème</a:t>
            </a:r>
            <a:r>
              <a:rPr lang="fr-FR" altLang="fr-FR" sz="1500" i="1" dirty="0">
                <a:latin typeface="Calibri" panose="020F0502020204030204" pitchFamily="34" charset="0"/>
              </a:rPr>
              <a:t> atelier configuré comme l’atelier 1.</a:t>
            </a:r>
          </a:p>
        </p:txBody>
      </p:sp>
      <p:pic>
        <p:nvPicPr>
          <p:cNvPr id="5022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175" y="4829175"/>
            <a:ext cx="11303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224" name="Connecteur droit avec flèche 112"/>
          <p:cNvCxnSpPr>
            <a:cxnSpLocks noChangeShapeType="1"/>
            <a:stCxn id="50218" idx="1"/>
          </p:cNvCxnSpPr>
          <p:nvPr/>
        </p:nvCxnSpPr>
        <p:spPr bwMode="auto">
          <a:xfrm rot="10800000" flipV="1">
            <a:off x="1236663" y="5408613"/>
            <a:ext cx="24765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pic>
        <p:nvPicPr>
          <p:cNvPr id="102"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101" name="Rectangle 2"/>
          <p:cNvSpPr>
            <a:spLocks noChangeArrowheads="1"/>
          </p:cNvSpPr>
          <p:nvPr/>
        </p:nvSpPr>
        <p:spPr bwMode="auto">
          <a:xfrm>
            <a:off x="6288088" y="1122743"/>
            <a:ext cx="2152650" cy="3254493"/>
          </a:xfrm>
          <a:prstGeom prst="rect">
            <a:avLst/>
          </a:prstGeom>
          <a:solidFill>
            <a:srgbClr val="00FF99"/>
          </a:solidFill>
          <a:ln w="9525" algn="ctr">
            <a:solidFill>
              <a:schemeClr val="tx1"/>
            </a:solidFill>
            <a:miter lim="800000"/>
            <a:headEnd/>
            <a:tailEnd/>
          </a:ln>
        </p:spPr>
        <p:txBody>
          <a:bodyPr lIns="54000" tIns="144000" rIns="54000" anchor="t" anchorCtr="0">
            <a:noAutofit/>
          </a:bodyPr>
          <a:lstStyle/>
          <a:p>
            <a:pPr algn="ctr"/>
            <a:r>
              <a:rPr lang="fr-FR" sz="1800" dirty="0"/>
              <a:t>ATELIER 2</a:t>
            </a:r>
            <a:endParaRPr lang="fr-FR" sz="1700" dirty="0"/>
          </a:p>
        </p:txBody>
      </p:sp>
      <p:sp>
        <p:nvSpPr>
          <p:cNvPr id="103" name="Rectangle 34"/>
          <p:cNvSpPr>
            <a:spLocks noChangeArrowheads="1"/>
          </p:cNvSpPr>
          <p:nvPr/>
        </p:nvSpPr>
        <p:spPr bwMode="auto">
          <a:xfrm>
            <a:off x="1479550" y="1117981"/>
            <a:ext cx="2152650" cy="3254493"/>
          </a:xfrm>
          <a:prstGeom prst="rect">
            <a:avLst/>
          </a:prstGeom>
          <a:solidFill>
            <a:schemeClr val="accent1"/>
          </a:solidFill>
          <a:ln w="9525" algn="ctr">
            <a:solidFill>
              <a:schemeClr val="tx1"/>
            </a:solidFill>
            <a:miter lim="800000"/>
            <a:headEnd/>
            <a:tailEnd/>
          </a:ln>
        </p:spPr>
        <p:txBody>
          <a:bodyPr lIns="54000" tIns="72000" rIns="54000" anchor="t" anchorCtr="0">
            <a:noAutofit/>
          </a:bodyPr>
          <a:lstStyle/>
          <a:p>
            <a:pPr algn="ctr"/>
            <a:r>
              <a:rPr lang="fr-FR" sz="1800" dirty="0"/>
              <a:t>ATELIER 1</a:t>
            </a:r>
            <a:endParaRPr lang="fr-FR" sz="1700" dirty="0"/>
          </a:p>
        </p:txBody>
      </p:sp>
      <p:sp>
        <p:nvSpPr>
          <p:cNvPr id="104" name="AutoShape 35"/>
          <p:cNvSpPr>
            <a:spLocks noChangeArrowheads="1"/>
          </p:cNvSpPr>
          <p:nvPr/>
        </p:nvSpPr>
        <p:spPr bwMode="auto">
          <a:xfrm>
            <a:off x="1597025" y="1532319"/>
            <a:ext cx="519113" cy="488950"/>
          </a:xfrm>
          <a:prstGeom prst="plus">
            <a:avLst>
              <a:gd name="adj" fmla="val 29556"/>
            </a:avLst>
          </a:prstGeom>
          <a:solidFill>
            <a:schemeClr val="bg1"/>
          </a:solidFill>
          <a:ln w="38100">
            <a:solidFill>
              <a:schemeClr val="tx1"/>
            </a:solidFill>
            <a:miter lim="800000"/>
            <a:headEnd/>
            <a:tailEnd/>
          </a:ln>
        </p:spPr>
        <p:txBody>
          <a:bodyPr wrap="none" anchor="ctr">
            <a:noAutofit/>
          </a:bodyPr>
          <a:lstStyle/>
          <a:p>
            <a:pPr eaLnBrk="0" hangingPunct="0"/>
            <a:endParaRPr lang="fr-FR" sz="1400"/>
          </a:p>
        </p:txBody>
      </p:sp>
      <p:sp>
        <p:nvSpPr>
          <p:cNvPr id="105" name="AutoShape 36"/>
          <p:cNvSpPr>
            <a:spLocks noChangeArrowheads="1"/>
          </p:cNvSpPr>
          <p:nvPr/>
        </p:nvSpPr>
        <p:spPr bwMode="auto">
          <a:xfrm>
            <a:off x="2936875" y="1618839"/>
            <a:ext cx="500063" cy="404812"/>
          </a:xfrm>
          <a:prstGeom prst="triangle">
            <a:avLst>
              <a:gd name="adj" fmla="val 50000"/>
            </a:avLst>
          </a:prstGeom>
          <a:solidFill>
            <a:schemeClr val="bg1"/>
          </a:solidFill>
          <a:ln w="38100">
            <a:solidFill>
              <a:schemeClr val="tx1"/>
            </a:solidFill>
            <a:miter lim="800000"/>
            <a:headEnd/>
            <a:tailEnd/>
          </a:ln>
        </p:spPr>
        <p:txBody>
          <a:bodyPr wrap="none" anchor="ctr">
            <a:noAutofit/>
          </a:bodyPr>
          <a:lstStyle/>
          <a:p>
            <a:pPr eaLnBrk="0" hangingPunct="0"/>
            <a:endParaRPr lang="fr-FR" sz="1400"/>
          </a:p>
        </p:txBody>
      </p:sp>
      <p:sp>
        <p:nvSpPr>
          <p:cNvPr id="106" name="AutoShape 37"/>
          <p:cNvSpPr>
            <a:spLocks noChangeArrowheads="1"/>
          </p:cNvSpPr>
          <p:nvPr/>
        </p:nvSpPr>
        <p:spPr bwMode="auto">
          <a:xfrm>
            <a:off x="2995613" y="2984814"/>
            <a:ext cx="531812" cy="506413"/>
          </a:xfrm>
          <a:prstGeom prst="star5">
            <a:avLst/>
          </a:prstGeom>
          <a:solidFill>
            <a:schemeClr val="bg1"/>
          </a:solidFill>
          <a:ln w="38100">
            <a:solidFill>
              <a:schemeClr val="tx1"/>
            </a:solidFill>
            <a:miter lim="800000"/>
            <a:headEnd/>
            <a:tailEnd/>
          </a:ln>
          <a:effectLst/>
        </p:spPr>
        <p:txBody>
          <a:bodyPr wrap="none" anchor="ctr">
            <a:noAutofit/>
          </a:bodyPr>
          <a:lstStyle/>
          <a:p>
            <a:pPr eaLnBrk="0" hangingPunct="0">
              <a:defRPr/>
            </a:pPr>
            <a:endParaRPr lang="fr-FR" sz="1400"/>
          </a:p>
        </p:txBody>
      </p:sp>
      <p:sp>
        <p:nvSpPr>
          <p:cNvPr id="107" name="Oval 38"/>
          <p:cNvSpPr>
            <a:spLocks noChangeArrowheads="1"/>
          </p:cNvSpPr>
          <p:nvPr/>
        </p:nvSpPr>
        <p:spPr bwMode="auto">
          <a:xfrm rot="16200000">
            <a:off x="1417638" y="2730882"/>
            <a:ext cx="644525" cy="288925"/>
          </a:xfrm>
          <a:prstGeom prst="ellipse">
            <a:avLst/>
          </a:prstGeom>
          <a:solidFill>
            <a:schemeClr val="bg1"/>
          </a:solidFill>
          <a:ln w="38100">
            <a:solidFill>
              <a:schemeClr val="tx1"/>
            </a:solidFill>
            <a:round/>
            <a:headEnd/>
            <a:tailEnd/>
          </a:ln>
        </p:spPr>
        <p:txBody>
          <a:bodyPr vert="eaVert" wrap="none" anchor="ctr">
            <a:noAutofit/>
          </a:bodyPr>
          <a:lstStyle/>
          <a:p>
            <a:pPr eaLnBrk="0" hangingPunct="0"/>
            <a:endParaRPr lang="fr-FR" sz="1400"/>
          </a:p>
        </p:txBody>
      </p:sp>
      <p:sp>
        <p:nvSpPr>
          <p:cNvPr id="108" name="Rectangle 39"/>
          <p:cNvSpPr>
            <a:spLocks noChangeArrowheads="1"/>
          </p:cNvSpPr>
          <p:nvPr/>
        </p:nvSpPr>
        <p:spPr bwMode="auto">
          <a:xfrm rot="16200000">
            <a:off x="6282531" y="2761044"/>
            <a:ext cx="547688" cy="222250"/>
          </a:xfrm>
          <a:prstGeom prst="rect">
            <a:avLst/>
          </a:prstGeom>
          <a:solidFill>
            <a:schemeClr val="bg1"/>
          </a:solidFill>
          <a:ln w="38100">
            <a:solidFill>
              <a:schemeClr val="tx1"/>
            </a:solidFill>
            <a:miter lim="800000"/>
            <a:headEnd/>
            <a:tailEnd/>
          </a:ln>
        </p:spPr>
        <p:txBody>
          <a:bodyPr vert="eaVert" wrap="none" anchor="ctr">
            <a:noAutofit/>
          </a:bodyPr>
          <a:lstStyle/>
          <a:p>
            <a:pPr eaLnBrk="0" hangingPunct="0"/>
            <a:endParaRPr lang="fr-FR" sz="1400"/>
          </a:p>
        </p:txBody>
      </p:sp>
      <p:sp>
        <p:nvSpPr>
          <p:cNvPr id="109" name="AutoShape 40"/>
          <p:cNvSpPr>
            <a:spLocks noChangeArrowheads="1"/>
          </p:cNvSpPr>
          <p:nvPr/>
        </p:nvSpPr>
        <p:spPr bwMode="auto">
          <a:xfrm rot="16200000">
            <a:off x="7790591" y="1791430"/>
            <a:ext cx="624024" cy="406402"/>
          </a:xfrm>
          <a:prstGeom prst="wave">
            <a:avLst>
              <a:gd name="adj1" fmla="val 20644"/>
              <a:gd name="adj2" fmla="val 7681"/>
            </a:avLst>
          </a:prstGeom>
          <a:solidFill>
            <a:schemeClr val="bg1"/>
          </a:solidFill>
          <a:ln w="38100">
            <a:solidFill>
              <a:schemeClr val="tx1"/>
            </a:solidFill>
            <a:round/>
            <a:headEnd/>
            <a:tailEnd/>
          </a:ln>
        </p:spPr>
        <p:txBody>
          <a:bodyPr vert="eaVert" wrap="none" anchor="ctr">
            <a:noAutofit/>
          </a:bodyPr>
          <a:lstStyle/>
          <a:p>
            <a:pPr eaLnBrk="0" hangingPunct="0"/>
            <a:endParaRPr lang="fr-FR" sz="1400"/>
          </a:p>
        </p:txBody>
      </p:sp>
      <p:grpSp>
        <p:nvGrpSpPr>
          <p:cNvPr id="110" name="Group 41"/>
          <p:cNvGrpSpPr>
            <a:grpSpLocks/>
          </p:cNvGrpSpPr>
          <p:nvPr/>
        </p:nvGrpSpPr>
        <p:grpSpPr bwMode="auto">
          <a:xfrm rot="8218561" flipH="1">
            <a:off x="1146175" y="1645032"/>
            <a:ext cx="323850" cy="323850"/>
            <a:chOff x="2692" y="1712"/>
            <a:chExt cx="204" cy="204"/>
          </a:xfrm>
        </p:grpSpPr>
        <p:sp>
          <p:nvSpPr>
            <p:cNvPr id="111" name="Oval 42"/>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12" name="Freeform 43"/>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sp>
        <p:nvSpPr>
          <p:cNvPr id="113" name="AutoShape 47"/>
          <p:cNvSpPr>
            <a:spLocks noChangeArrowheads="1"/>
          </p:cNvSpPr>
          <p:nvPr/>
        </p:nvSpPr>
        <p:spPr bwMode="auto">
          <a:xfrm>
            <a:off x="7839075" y="3185530"/>
            <a:ext cx="500063" cy="404812"/>
          </a:xfrm>
          <a:prstGeom prst="triangle">
            <a:avLst>
              <a:gd name="adj" fmla="val 50000"/>
            </a:avLst>
          </a:prstGeom>
          <a:solidFill>
            <a:schemeClr val="bg1"/>
          </a:solidFill>
          <a:ln w="38100">
            <a:solidFill>
              <a:schemeClr val="tx1"/>
            </a:solidFill>
            <a:miter lim="800000"/>
            <a:headEnd/>
            <a:tailEnd/>
          </a:ln>
        </p:spPr>
        <p:txBody>
          <a:bodyPr wrap="none" anchor="ctr">
            <a:noAutofit/>
          </a:bodyPr>
          <a:lstStyle/>
          <a:p>
            <a:pPr eaLnBrk="0" hangingPunct="0"/>
            <a:endParaRPr lang="fr-FR" sz="1400"/>
          </a:p>
        </p:txBody>
      </p:sp>
      <p:sp>
        <p:nvSpPr>
          <p:cNvPr id="114" name="AutoShape 48"/>
          <p:cNvSpPr>
            <a:spLocks noChangeArrowheads="1"/>
          </p:cNvSpPr>
          <p:nvPr/>
        </p:nvSpPr>
        <p:spPr bwMode="auto">
          <a:xfrm>
            <a:off x="6419850" y="1429132"/>
            <a:ext cx="531813" cy="506412"/>
          </a:xfrm>
          <a:prstGeom prst="star5">
            <a:avLst/>
          </a:prstGeom>
          <a:solidFill>
            <a:schemeClr val="bg1"/>
          </a:solidFill>
          <a:ln w="38100">
            <a:solidFill>
              <a:schemeClr val="tx1"/>
            </a:solidFill>
            <a:miter lim="800000"/>
            <a:headEnd/>
            <a:tailEnd/>
          </a:ln>
          <a:effectLst/>
        </p:spPr>
        <p:txBody>
          <a:bodyPr wrap="none" anchor="ctr">
            <a:noAutofit/>
          </a:bodyPr>
          <a:lstStyle/>
          <a:p>
            <a:pPr eaLnBrk="0" hangingPunct="0">
              <a:defRPr/>
            </a:pPr>
            <a:endParaRPr lang="fr-FR" sz="1400"/>
          </a:p>
        </p:txBody>
      </p:sp>
      <p:grpSp>
        <p:nvGrpSpPr>
          <p:cNvPr id="115" name="Group 52"/>
          <p:cNvGrpSpPr>
            <a:grpSpLocks/>
          </p:cNvGrpSpPr>
          <p:nvPr/>
        </p:nvGrpSpPr>
        <p:grpSpPr bwMode="auto">
          <a:xfrm rot="8218561" flipH="1">
            <a:off x="1152525" y="2713420"/>
            <a:ext cx="323850" cy="323850"/>
            <a:chOff x="2692" y="1712"/>
            <a:chExt cx="204" cy="204"/>
          </a:xfrm>
        </p:grpSpPr>
        <p:sp>
          <p:nvSpPr>
            <p:cNvPr id="116" name="Oval 53"/>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17" name="Freeform 54"/>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18" name="Group 55"/>
          <p:cNvGrpSpPr>
            <a:grpSpLocks/>
          </p:cNvGrpSpPr>
          <p:nvPr/>
        </p:nvGrpSpPr>
        <p:grpSpPr bwMode="auto">
          <a:xfrm rot="8218561" flipH="1">
            <a:off x="5947928" y="1895857"/>
            <a:ext cx="323850" cy="323850"/>
            <a:chOff x="2692" y="1712"/>
            <a:chExt cx="204" cy="204"/>
          </a:xfrm>
        </p:grpSpPr>
        <p:sp>
          <p:nvSpPr>
            <p:cNvPr id="119" name="Oval 56"/>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20" name="Freeform 57"/>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21" name="Group 61"/>
          <p:cNvGrpSpPr>
            <a:grpSpLocks/>
          </p:cNvGrpSpPr>
          <p:nvPr/>
        </p:nvGrpSpPr>
        <p:grpSpPr bwMode="auto">
          <a:xfrm rot="8218561" flipH="1">
            <a:off x="5947928" y="2710243"/>
            <a:ext cx="323850" cy="323850"/>
            <a:chOff x="2692" y="1712"/>
            <a:chExt cx="204" cy="204"/>
          </a:xfrm>
        </p:grpSpPr>
        <p:sp>
          <p:nvSpPr>
            <p:cNvPr id="122" name="Oval 62"/>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23" name="Freeform 63"/>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24" name="Group 67"/>
          <p:cNvGrpSpPr>
            <a:grpSpLocks/>
          </p:cNvGrpSpPr>
          <p:nvPr/>
        </p:nvGrpSpPr>
        <p:grpSpPr bwMode="auto">
          <a:xfrm rot="-8218561">
            <a:off x="3690722" y="1459580"/>
            <a:ext cx="323850" cy="323850"/>
            <a:chOff x="2692" y="1712"/>
            <a:chExt cx="204" cy="204"/>
          </a:xfrm>
        </p:grpSpPr>
        <p:sp>
          <p:nvSpPr>
            <p:cNvPr id="125" name="Oval 68"/>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26" name="Freeform 69"/>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27" name="Group 76"/>
          <p:cNvGrpSpPr>
            <a:grpSpLocks/>
          </p:cNvGrpSpPr>
          <p:nvPr/>
        </p:nvGrpSpPr>
        <p:grpSpPr bwMode="auto">
          <a:xfrm rot="-8218561">
            <a:off x="3690722" y="2880988"/>
            <a:ext cx="323850" cy="323850"/>
            <a:chOff x="2692" y="1712"/>
            <a:chExt cx="204" cy="204"/>
          </a:xfrm>
        </p:grpSpPr>
        <p:sp>
          <p:nvSpPr>
            <p:cNvPr id="128" name="Oval 7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29" name="Freeform 7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30" name="Group 79"/>
          <p:cNvGrpSpPr>
            <a:grpSpLocks/>
          </p:cNvGrpSpPr>
          <p:nvPr/>
        </p:nvGrpSpPr>
        <p:grpSpPr bwMode="auto">
          <a:xfrm rot="-8218561">
            <a:off x="8444244" y="1816098"/>
            <a:ext cx="323850" cy="323850"/>
            <a:chOff x="2692" y="1712"/>
            <a:chExt cx="204" cy="204"/>
          </a:xfrm>
        </p:grpSpPr>
        <p:sp>
          <p:nvSpPr>
            <p:cNvPr id="131" name="Oval 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32" name="Freeform 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33" name="Group 88"/>
          <p:cNvGrpSpPr>
            <a:grpSpLocks/>
          </p:cNvGrpSpPr>
          <p:nvPr/>
        </p:nvGrpSpPr>
        <p:grpSpPr bwMode="auto">
          <a:xfrm rot="-8218561">
            <a:off x="8412495" y="2789283"/>
            <a:ext cx="323850" cy="323850"/>
            <a:chOff x="2692" y="1712"/>
            <a:chExt cx="204" cy="204"/>
          </a:xfrm>
        </p:grpSpPr>
        <p:sp>
          <p:nvSpPr>
            <p:cNvPr id="134" name="Oval 89"/>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35" name="Freeform 9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36" name="Group 118"/>
          <p:cNvGrpSpPr>
            <a:grpSpLocks/>
          </p:cNvGrpSpPr>
          <p:nvPr/>
        </p:nvGrpSpPr>
        <p:grpSpPr bwMode="auto">
          <a:xfrm rot="8319264" flipH="1">
            <a:off x="5947928" y="1373146"/>
            <a:ext cx="323850" cy="323850"/>
            <a:chOff x="2692" y="1712"/>
            <a:chExt cx="204" cy="204"/>
          </a:xfrm>
        </p:grpSpPr>
        <p:sp>
          <p:nvSpPr>
            <p:cNvPr id="137"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38"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pic>
        <p:nvPicPr>
          <p:cNvPr id="139" name="Picture 2" descr="INDU0569"/>
          <p:cNvPicPr>
            <a:picLocks noChangeAspect="1" noChangeArrowheads="1"/>
          </p:cNvPicPr>
          <p:nvPr/>
        </p:nvPicPr>
        <p:blipFill>
          <a:blip r:embed="rId5" cstate="print"/>
          <a:srcRect/>
          <a:stretch>
            <a:fillRect/>
          </a:stretch>
        </p:blipFill>
        <p:spPr bwMode="auto">
          <a:xfrm>
            <a:off x="2213912" y="2178827"/>
            <a:ext cx="654437" cy="769542"/>
          </a:xfrm>
          <a:prstGeom prst="rect">
            <a:avLst/>
          </a:prstGeom>
          <a:noFill/>
          <a:ln w="9525">
            <a:noFill/>
            <a:miter lim="800000"/>
            <a:headEnd/>
            <a:tailEnd/>
          </a:ln>
        </p:spPr>
      </p:pic>
      <p:pic>
        <p:nvPicPr>
          <p:cNvPr id="140" name="Picture 2" descr="INDU0569"/>
          <p:cNvPicPr>
            <a:picLocks noChangeAspect="1" noChangeArrowheads="1"/>
          </p:cNvPicPr>
          <p:nvPr/>
        </p:nvPicPr>
        <p:blipFill>
          <a:blip r:embed="rId5" cstate="print"/>
          <a:srcRect/>
          <a:stretch>
            <a:fillRect/>
          </a:stretch>
        </p:blipFill>
        <p:spPr bwMode="auto">
          <a:xfrm>
            <a:off x="6976412" y="2166127"/>
            <a:ext cx="654437" cy="769542"/>
          </a:xfrm>
          <a:prstGeom prst="rect">
            <a:avLst/>
          </a:prstGeom>
          <a:noFill/>
          <a:ln w="9525">
            <a:noFill/>
            <a:miter lim="800000"/>
            <a:headEnd/>
            <a:tailEnd/>
          </a:ln>
        </p:spPr>
      </p:pic>
      <p:sp>
        <p:nvSpPr>
          <p:cNvPr id="141" name="Rectangle 17"/>
          <p:cNvSpPr>
            <a:spLocks noChangeArrowheads="1"/>
          </p:cNvSpPr>
          <p:nvPr/>
        </p:nvSpPr>
        <p:spPr bwMode="auto">
          <a:xfrm rot="5400000">
            <a:off x="1319873" y="3641495"/>
            <a:ext cx="972000" cy="422360"/>
          </a:xfrm>
          <a:prstGeom prst="rect">
            <a:avLst/>
          </a:prstGeom>
          <a:solidFill>
            <a:schemeClr val="bg1"/>
          </a:solidFill>
          <a:ln w="9525">
            <a:noFill/>
            <a:miter lim="800000"/>
            <a:headEnd/>
            <a:tailEnd/>
          </a:ln>
        </p:spPr>
        <p:txBody>
          <a:bodyPr wrap="square" lIns="0" tIns="0" rIns="0" bIns="0">
            <a:noAutofit/>
          </a:bodyPr>
          <a:lstStyle/>
          <a:p>
            <a:pPr algn="ctr">
              <a:lnSpc>
                <a:spcPts val="1700"/>
              </a:lnSpc>
              <a:spcBef>
                <a:spcPct val="50000"/>
              </a:spcBef>
            </a:pPr>
            <a:r>
              <a:rPr lang="en-US" sz="1400" dirty="0" err="1">
                <a:solidFill>
                  <a:srgbClr val="000000"/>
                </a:solidFill>
              </a:rPr>
              <a:t>Lancement</a:t>
            </a:r>
            <a:r>
              <a:rPr lang="en-US" sz="1400" dirty="0">
                <a:solidFill>
                  <a:srgbClr val="000000"/>
                </a:solidFill>
              </a:rPr>
              <a:t> </a:t>
            </a:r>
            <a:r>
              <a:rPr lang="en-US" sz="1400" dirty="0" err="1">
                <a:solidFill>
                  <a:srgbClr val="000000"/>
                </a:solidFill>
              </a:rPr>
              <a:t>Découpe</a:t>
            </a:r>
            <a:endParaRPr lang="fr-FR" sz="1800" dirty="0"/>
          </a:p>
        </p:txBody>
      </p:sp>
      <p:sp>
        <p:nvSpPr>
          <p:cNvPr id="142" name="Rectangle 17"/>
          <p:cNvSpPr>
            <a:spLocks noChangeArrowheads="1"/>
          </p:cNvSpPr>
          <p:nvPr/>
        </p:nvSpPr>
        <p:spPr bwMode="auto">
          <a:xfrm rot="5400000">
            <a:off x="6107773" y="3641495"/>
            <a:ext cx="972000" cy="422360"/>
          </a:xfrm>
          <a:prstGeom prst="rect">
            <a:avLst/>
          </a:prstGeom>
          <a:solidFill>
            <a:schemeClr val="bg1"/>
          </a:solidFill>
          <a:ln w="9525">
            <a:noFill/>
            <a:miter lim="800000"/>
            <a:headEnd/>
            <a:tailEnd/>
          </a:ln>
        </p:spPr>
        <p:txBody>
          <a:bodyPr wrap="square" lIns="0" tIns="0" rIns="0" bIns="0">
            <a:noAutofit/>
          </a:bodyPr>
          <a:lstStyle/>
          <a:p>
            <a:pPr algn="ctr">
              <a:lnSpc>
                <a:spcPts val="1700"/>
              </a:lnSpc>
              <a:spcBef>
                <a:spcPct val="50000"/>
              </a:spcBef>
            </a:pPr>
            <a:r>
              <a:rPr lang="en-US" sz="1400" dirty="0" err="1">
                <a:solidFill>
                  <a:srgbClr val="000000"/>
                </a:solidFill>
              </a:rPr>
              <a:t>Lancement</a:t>
            </a:r>
            <a:r>
              <a:rPr lang="en-US" sz="1400" dirty="0">
                <a:solidFill>
                  <a:srgbClr val="000000"/>
                </a:solidFill>
              </a:rPr>
              <a:t> </a:t>
            </a:r>
            <a:r>
              <a:rPr lang="en-US" sz="1400" dirty="0" err="1">
                <a:solidFill>
                  <a:srgbClr val="000000"/>
                </a:solidFill>
              </a:rPr>
              <a:t>Découpe</a:t>
            </a:r>
            <a:endParaRPr lang="fr-FR" sz="1800" dirty="0"/>
          </a:p>
        </p:txBody>
      </p:sp>
      <p:grpSp>
        <p:nvGrpSpPr>
          <p:cNvPr id="143" name="Group 118"/>
          <p:cNvGrpSpPr>
            <a:grpSpLocks/>
          </p:cNvGrpSpPr>
          <p:nvPr/>
        </p:nvGrpSpPr>
        <p:grpSpPr bwMode="auto">
          <a:xfrm rot="8319264" flipH="1">
            <a:off x="5947928" y="3679617"/>
            <a:ext cx="323850" cy="323850"/>
            <a:chOff x="2692" y="1712"/>
            <a:chExt cx="204" cy="204"/>
          </a:xfrm>
        </p:grpSpPr>
        <p:sp>
          <p:nvSpPr>
            <p:cNvPr id="144"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45"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46" name="Group 118"/>
          <p:cNvGrpSpPr>
            <a:grpSpLocks/>
          </p:cNvGrpSpPr>
          <p:nvPr/>
        </p:nvGrpSpPr>
        <p:grpSpPr bwMode="auto">
          <a:xfrm rot="8319264" flipH="1">
            <a:off x="1171211" y="3665970"/>
            <a:ext cx="323850" cy="323850"/>
            <a:chOff x="2692" y="1712"/>
            <a:chExt cx="204" cy="204"/>
          </a:xfrm>
        </p:grpSpPr>
        <p:sp>
          <p:nvSpPr>
            <p:cNvPr id="147"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48"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49" name="Group 118"/>
          <p:cNvGrpSpPr>
            <a:grpSpLocks/>
          </p:cNvGrpSpPr>
          <p:nvPr/>
        </p:nvGrpSpPr>
        <p:grpSpPr bwMode="auto">
          <a:xfrm rot="13280736">
            <a:off x="3690722" y="3487601"/>
            <a:ext cx="323850" cy="323850"/>
            <a:chOff x="2692" y="1712"/>
            <a:chExt cx="204" cy="204"/>
          </a:xfrm>
        </p:grpSpPr>
        <p:sp>
          <p:nvSpPr>
            <p:cNvPr id="150"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51"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52" name="Group 118"/>
          <p:cNvGrpSpPr>
            <a:grpSpLocks/>
          </p:cNvGrpSpPr>
          <p:nvPr/>
        </p:nvGrpSpPr>
        <p:grpSpPr bwMode="auto">
          <a:xfrm rot="13280736">
            <a:off x="8431063" y="3446650"/>
            <a:ext cx="323850" cy="323850"/>
            <a:chOff x="2692" y="1712"/>
            <a:chExt cx="204" cy="204"/>
          </a:xfrm>
        </p:grpSpPr>
        <p:sp>
          <p:nvSpPr>
            <p:cNvPr id="153"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54"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55" name="Group 118"/>
          <p:cNvGrpSpPr>
            <a:grpSpLocks/>
          </p:cNvGrpSpPr>
          <p:nvPr/>
        </p:nvGrpSpPr>
        <p:grpSpPr bwMode="auto">
          <a:xfrm rot="13280736">
            <a:off x="3690722" y="2013637"/>
            <a:ext cx="323850" cy="323850"/>
            <a:chOff x="2692" y="1712"/>
            <a:chExt cx="204" cy="204"/>
          </a:xfrm>
        </p:grpSpPr>
        <p:sp>
          <p:nvSpPr>
            <p:cNvPr id="156"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57"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grpSp>
        <p:nvGrpSpPr>
          <p:cNvPr id="158" name="Group 179"/>
          <p:cNvGrpSpPr>
            <a:grpSpLocks/>
          </p:cNvGrpSpPr>
          <p:nvPr/>
        </p:nvGrpSpPr>
        <p:grpSpPr bwMode="auto">
          <a:xfrm rot="2429671" flipH="1">
            <a:off x="3645360" y="400802"/>
            <a:ext cx="359959" cy="343488"/>
            <a:chOff x="2692" y="1712"/>
            <a:chExt cx="204" cy="204"/>
          </a:xfrm>
        </p:grpSpPr>
        <p:sp>
          <p:nvSpPr>
            <p:cNvPr id="159" name="Oval 1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0" name="Freeform 1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1" name="Group 118"/>
          <p:cNvGrpSpPr>
            <a:grpSpLocks/>
          </p:cNvGrpSpPr>
          <p:nvPr/>
        </p:nvGrpSpPr>
        <p:grpSpPr bwMode="auto">
          <a:xfrm rot="13267503" flipV="1">
            <a:off x="6225614" y="410621"/>
            <a:ext cx="323850" cy="323850"/>
            <a:chOff x="2692" y="1712"/>
            <a:chExt cx="204" cy="204"/>
          </a:xfrm>
        </p:grpSpPr>
        <p:sp>
          <p:nvSpPr>
            <p:cNvPr id="162"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sp>
          <p:nvSpPr>
            <p:cNvPr id="163" name="Oval 119"/>
            <p:cNvSpPr>
              <a:spLocks noChangeArrowheads="1"/>
            </p:cNvSpPr>
            <p:nvPr/>
          </p:nvSpPr>
          <p:spPr bwMode="auto">
            <a:xfrm>
              <a:off x="2692" y="1783"/>
              <a:ext cx="133" cy="133"/>
            </a:xfrm>
            <a:prstGeom prst="ellipse">
              <a:avLst/>
            </a:prstGeom>
            <a:solidFill>
              <a:schemeClr val="bg1"/>
            </a:solidFill>
            <a:ln w="9525" algn="ctr">
              <a:solidFill>
                <a:schemeClr val="tx1"/>
              </a:solidFill>
              <a:round/>
              <a:headEnd/>
              <a:tailEnd/>
            </a:ln>
          </p:spPr>
          <p:txBody>
            <a:bodyPr wrap="none" anchor="ctr">
              <a:noAutofit/>
            </a:bodyPr>
            <a:lstStyle/>
            <a:p>
              <a:endParaRPr lang="fr-FR"/>
            </a:p>
          </p:txBody>
        </p:sp>
      </p:grpSp>
      <p:sp>
        <p:nvSpPr>
          <p:cNvPr id="164" name="Rectangle 163"/>
          <p:cNvSpPr/>
          <p:nvPr/>
        </p:nvSpPr>
        <p:spPr bwMode="auto">
          <a:xfrm>
            <a:off x="4141631" y="459141"/>
            <a:ext cx="1689100" cy="355600"/>
          </a:xfrm>
          <a:prstGeom prst="rect">
            <a:avLst/>
          </a:prstGeom>
          <a:noFill/>
          <a:ln w="9525" cap="flat" cmpd="sng" algn="ctr">
            <a:no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lang="fr-FR" sz="1600" i="1" dirty="0"/>
              <a:t>Effectif minimum</a:t>
            </a:r>
            <a:endParaRPr kumimoji="0" lang="fr-FR" sz="1600" i="1" u="none" strike="noStrike" cap="none" normalizeH="0" baseline="0" dirty="0">
              <a:ln>
                <a:noFill/>
              </a:ln>
              <a:solidFill>
                <a:schemeClr val="tx1"/>
              </a:solidFill>
              <a:effectLst/>
              <a:latin typeface="Arial" charset="0"/>
            </a:endParaRPr>
          </a:p>
        </p:txBody>
      </p:sp>
      <p:sp>
        <p:nvSpPr>
          <p:cNvPr id="165" name="Rectangle 164"/>
          <p:cNvSpPr/>
          <p:nvPr/>
        </p:nvSpPr>
        <p:spPr bwMode="auto">
          <a:xfrm>
            <a:off x="6665354" y="459141"/>
            <a:ext cx="1905000" cy="355600"/>
          </a:xfrm>
          <a:prstGeom prst="rect">
            <a:avLst/>
          </a:prstGeom>
          <a:noFill/>
          <a:ln w="9525" cap="flat" cmpd="sng" algn="ctr">
            <a:no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r>
              <a:rPr lang="fr-FR" sz="1600" i="1" dirty="0"/>
              <a:t>Effectif additionnel</a:t>
            </a:r>
            <a:endParaRPr kumimoji="0" lang="fr-FR" sz="1600" i="1" u="none" strike="noStrike" cap="none" normalizeH="0" baseline="0" dirty="0">
              <a:ln>
                <a:noFill/>
              </a:ln>
              <a:solidFill>
                <a:schemeClr val="tx1"/>
              </a:solidFill>
              <a:effectLst/>
              <a:latin typeface="Arial"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Titre 1"/>
          <p:cNvSpPr>
            <a:spLocks noGrp="1"/>
          </p:cNvSpPr>
          <p:nvPr>
            <p:ph type="title"/>
          </p:nvPr>
        </p:nvSpPr>
        <p:spPr/>
        <p:txBody>
          <a:bodyPr/>
          <a:lstStyle/>
          <a:p>
            <a:r>
              <a:rPr lang="fr-FR" altLang="fr-FR"/>
              <a:t>Variation du nombre d’OF selon le nombre de participants</a:t>
            </a:r>
          </a:p>
        </p:txBody>
      </p:sp>
      <p:sp>
        <p:nvSpPr>
          <p:cNvPr id="52227" name="Espace réservé du contenu 2"/>
          <p:cNvSpPr>
            <a:spLocks noGrp="1"/>
          </p:cNvSpPr>
          <p:nvPr>
            <p:ph idx="1"/>
          </p:nvPr>
        </p:nvSpPr>
        <p:spPr>
          <a:xfrm>
            <a:off x="307975" y="930275"/>
            <a:ext cx="9005888" cy="2251075"/>
          </a:xfrm>
        </p:spPr>
        <p:txBody>
          <a:bodyPr/>
          <a:lstStyle/>
          <a:p>
            <a:pPr>
              <a:buFontTx/>
              <a:buNone/>
            </a:pPr>
            <a:r>
              <a:rPr lang="fr-FR" altLang="fr-FR" sz="1600" u="sng"/>
              <a:t>Le rythme de production dépend du nombre de participants. </a:t>
            </a:r>
          </a:p>
          <a:p>
            <a:r>
              <a:rPr lang="fr-FR" altLang="fr-FR" sz="1600"/>
              <a:t>Pour stabiliser la durée de la simulation, il est souhaitable d’adapter la quantité de produits à fabriquer pendant la simulation au nombre de participants. La simulation dure alors entre 15 et 20 minutes.</a:t>
            </a:r>
          </a:p>
          <a:p>
            <a:pPr>
              <a:buFontTx/>
              <a:buNone/>
            </a:pPr>
            <a:r>
              <a:rPr lang="fr-FR" altLang="fr-FR" sz="1600" u="sng"/>
              <a:t>Simulation 1</a:t>
            </a:r>
          </a:p>
          <a:p>
            <a:r>
              <a:rPr lang="fr-FR" altLang="fr-FR" sz="1600"/>
              <a:t>Le fichier des OF en simulation 1 comporte 8 planches de 12 OF, soit 96 OF.</a:t>
            </a:r>
          </a:p>
          <a:p>
            <a:r>
              <a:rPr lang="fr-FR" altLang="fr-FR" sz="1600"/>
              <a:t>Le nombre de planches à mettre en jeu dépend de l’effectif :</a:t>
            </a:r>
          </a:p>
        </p:txBody>
      </p:sp>
      <p:sp>
        <p:nvSpPr>
          <p:cNvPr id="5222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5222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D921F23-BABF-4770-A8A7-C7449DE987A0}" type="slidenum">
              <a:rPr lang="fr-FR" altLang="fr-FR" smtClean="0">
                <a:latin typeface="Calibri" panose="020F0502020204030204" pitchFamily="34" charset="0"/>
              </a:rPr>
              <a:pPr>
                <a:spcBef>
                  <a:spcPct val="0"/>
                </a:spcBef>
                <a:buFontTx/>
                <a:buNone/>
              </a:pPr>
              <a:t>21</a:t>
            </a:fld>
            <a:endParaRPr lang="fr-FR" altLang="fr-FR" dirty="0">
              <a:latin typeface="Calibri" panose="020F0502020204030204" pitchFamily="34" charset="0"/>
            </a:endParaRPr>
          </a:p>
        </p:txBody>
      </p:sp>
      <p:graphicFrame>
        <p:nvGraphicFramePr>
          <p:cNvPr id="7" name="Group 171"/>
          <p:cNvGraphicFramePr>
            <a:graphicFrameLocks noGrp="1"/>
          </p:cNvGraphicFramePr>
          <p:nvPr/>
        </p:nvGraphicFramePr>
        <p:xfrm>
          <a:off x="592138" y="3348038"/>
          <a:ext cx="8483599" cy="584200"/>
        </p:xfrm>
        <a:graphic>
          <a:graphicData uri="http://schemas.openxmlformats.org/drawingml/2006/table">
            <a:tbl>
              <a:tblPr/>
              <a:tblGrid>
                <a:gridCol w="3734159">
                  <a:extLst>
                    <a:ext uri="{9D8B030D-6E8A-4147-A177-3AD203B41FA5}">
                      <a16:colId xmlns:a16="http://schemas.microsoft.com/office/drawing/2014/main" val="20000"/>
                    </a:ext>
                  </a:extLst>
                </a:gridCol>
                <a:gridCol w="949888">
                  <a:extLst>
                    <a:ext uri="{9D8B030D-6E8A-4147-A177-3AD203B41FA5}">
                      <a16:colId xmlns:a16="http://schemas.microsoft.com/office/drawing/2014/main" val="20001"/>
                    </a:ext>
                  </a:extLst>
                </a:gridCol>
                <a:gridCol w="949888">
                  <a:extLst>
                    <a:ext uri="{9D8B030D-6E8A-4147-A177-3AD203B41FA5}">
                      <a16:colId xmlns:a16="http://schemas.microsoft.com/office/drawing/2014/main" val="20002"/>
                    </a:ext>
                  </a:extLst>
                </a:gridCol>
                <a:gridCol w="949888">
                  <a:extLst>
                    <a:ext uri="{9D8B030D-6E8A-4147-A177-3AD203B41FA5}">
                      <a16:colId xmlns:a16="http://schemas.microsoft.com/office/drawing/2014/main" val="20003"/>
                    </a:ext>
                  </a:extLst>
                </a:gridCol>
                <a:gridCol w="949888">
                  <a:extLst>
                    <a:ext uri="{9D8B030D-6E8A-4147-A177-3AD203B41FA5}">
                      <a16:colId xmlns:a16="http://schemas.microsoft.com/office/drawing/2014/main" val="20004"/>
                    </a:ext>
                  </a:extLst>
                </a:gridCol>
                <a:gridCol w="949888">
                  <a:extLst>
                    <a:ext uri="{9D8B030D-6E8A-4147-A177-3AD203B41FA5}">
                      <a16:colId xmlns:a16="http://schemas.microsoft.com/office/drawing/2014/main" val="20005"/>
                    </a:ext>
                  </a:extLst>
                </a:gridCol>
              </a:tblGrid>
              <a:tr h="279905">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Effectif total </a:t>
                      </a: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sym typeface="Wingdings" pitchFamily="2" charset="2"/>
                        </a:rPr>
                        <a:t></a:t>
                      </a:r>
                    </a:p>
                  </a:txBody>
                  <a:tcPr marL="90000" marR="90000" marT="18004" marB="18004" anchor="ct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588" marR="0" lvl="0" indent="127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 à 10</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1588" marR="0" lvl="0" indent="127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11 à 13</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14 à 16</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16 et 17</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18 et +</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304295">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Nombre de planches à mettre en jeu</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4</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5</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6</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7</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1" i="0" u="none" strike="noStrike" kern="1200" cap="none" normalizeH="0" baseline="0" dirty="0">
                          <a:ln>
                            <a:noFill/>
                          </a:ln>
                          <a:solidFill>
                            <a:srgbClr val="0033CC"/>
                          </a:solidFill>
                          <a:effectLst/>
                          <a:latin typeface="Calibri" panose="020F0502020204030204" pitchFamily="34" charset="0"/>
                          <a:ea typeface="Times New Roman" pitchFamily="18" charset="0"/>
                          <a:cs typeface="Arial" charset="0"/>
                        </a:rPr>
                        <a:t>8</a:t>
                      </a:r>
                    </a:p>
                  </a:txBody>
                  <a:tcPr marL="90000" marR="90000" marT="18004" marB="180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 name="Espace réservé du contenu 2"/>
          <p:cNvSpPr txBox="1">
            <a:spLocks/>
          </p:cNvSpPr>
          <p:nvPr/>
        </p:nvSpPr>
        <p:spPr bwMode="auto">
          <a:xfrm>
            <a:off x="212725" y="4144963"/>
            <a:ext cx="9005888" cy="2406650"/>
          </a:xfrm>
          <a:prstGeom prst="rect">
            <a:avLst/>
          </a:prstGeom>
          <a:noFill/>
          <a:ln w="9525">
            <a:noFill/>
            <a:miter lim="800000"/>
            <a:headEnd/>
            <a:tailEnd/>
          </a:ln>
        </p:spPr>
        <p:txBody>
          <a:bodyPr/>
          <a:lstStyle/>
          <a:p>
            <a:pPr marL="342900" indent="-342900">
              <a:spcBef>
                <a:spcPct val="20000"/>
              </a:spcBef>
              <a:defRPr/>
            </a:pPr>
            <a:r>
              <a:rPr lang="fr-FR" sz="1600" u="sng" kern="0" dirty="0">
                <a:latin typeface="Calibri" panose="020F0502020204030204" pitchFamily="34" charset="0"/>
              </a:rPr>
              <a:t>Simulation 2</a:t>
            </a:r>
          </a:p>
          <a:p>
            <a:pPr marL="342900" indent="-342900">
              <a:spcBef>
                <a:spcPct val="20000"/>
              </a:spcBef>
              <a:buFontTx/>
              <a:buChar char="•"/>
              <a:defRPr/>
            </a:pPr>
            <a:r>
              <a:rPr lang="fr-FR" sz="1600" kern="0" dirty="0">
                <a:latin typeface="Calibri" panose="020F0502020204030204" pitchFamily="34" charset="0"/>
              </a:rPr>
              <a:t>Les participants sont organisés en 2 ou 3 ateliers produits.</a:t>
            </a:r>
          </a:p>
          <a:p>
            <a:pPr marL="342900" indent="-342900">
              <a:spcBef>
                <a:spcPct val="20000"/>
              </a:spcBef>
              <a:buFontTx/>
              <a:buChar char="•"/>
              <a:defRPr/>
            </a:pPr>
            <a:r>
              <a:rPr lang="fr-FR" sz="1600" kern="0" dirty="0">
                <a:latin typeface="Calibri" panose="020F0502020204030204" pitchFamily="34" charset="0"/>
              </a:rPr>
              <a:t>Le fichier OF simulation 2 comporte 4 planches de 12 OF, soit 48 OF qui sont répartis entre les 2 ateliers produits (chacun a donc 24 OF à fabriquer).</a:t>
            </a:r>
          </a:p>
          <a:p>
            <a:pPr marL="342900" indent="-342900">
              <a:spcBef>
                <a:spcPct val="20000"/>
              </a:spcBef>
              <a:buFontTx/>
              <a:buChar char="•"/>
              <a:defRPr/>
            </a:pPr>
            <a:r>
              <a:rPr lang="fr-FR" sz="1600" kern="0" dirty="0">
                <a:latin typeface="Calibri" panose="020F0502020204030204" pitchFamily="34" charset="0"/>
              </a:rPr>
              <a:t>Au-delà de 16 personnes on passe à 3 ateliers produits : il suffit de dupliquer les 2 planches de l’atelier produit n°1 pour alimenter l’atelier n°3.</a:t>
            </a:r>
          </a:p>
        </p:txBody>
      </p:sp>
      <p:pic>
        <p:nvPicPr>
          <p:cNvPr id="10"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Titre 1"/>
          <p:cNvSpPr>
            <a:spLocks noGrp="1"/>
          </p:cNvSpPr>
          <p:nvPr>
            <p:ph type="title"/>
          </p:nvPr>
        </p:nvSpPr>
        <p:spPr/>
        <p:txBody>
          <a:bodyPr/>
          <a:lstStyle/>
          <a:p>
            <a:r>
              <a:rPr lang="fr-FR" altLang="fr-FR"/>
              <a:t>Préparation du magasin</a:t>
            </a:r>
          </a:p>
        </p:txBody>
      </p:sp>
      <p:sp>
        <p:nvSpPr>
          <p:cNvPr id="54275" name="Espace réservé du contenu 2"/>
          <p:cNvSpPr>
            <a:spLocks noGrp="1"/>
          </p:cNvSpPr>
          <p:nvPr>
            <p:ph idx="1"/>
          </p:nvPr>
        </p:nvSpPr>
        <p:spPr>
          <a:xfrm>
            <a:off x="274321" y="489903"/>
            <a:ext cx="9315768" cy="2573337"/>
          </a:xfrm>
        </p:spPr>
        <p:txBody>
          <a:bodyPr/>
          <a:lstStyle/>
          <a:p>
            <a:r>
              <a:rPr lang="fr-FR" altLang="fr-FR" sz="1600" dirty="0"/>
              <a:t>Le magasin est constitué par la boîte de rangement dans laquelle sont placés les</a:t>
            </a:r>
            <a:br>
              <a:rPr lang="fr-FR" altLang="fr-FR" sz="1600" dirty="0"/>
            </a:br>
            <a:r>
              <a:rPr lang="fr-FR" altLang="fr-FR" sz="1600" dirty="0"/>
              <a:t>surligneurs au moment de la livraison de la mallette.</a:t>
            </a:r>
          </a:p>
          <a:p>
            <a:r>
              <a:rPr lang="fr-FR" altLang="fr-FR" sz="1600" dirty="0"/>
              <a:t>Avant la simulation, l’animateur place dans la boîte le nombre de surligneurs approprié</a:t>
            </a:r>
            <a:br>
              <a:rPr lang="fr-FR" altLang="fr-FR" sz="1600" dirty="0"/>
            </a:br>
            <a:r>
              <a:rPr lang="fr-FR" altLang="fr-FR" sz="1600" dirty="0"/>
              <a:t>(tableau ci-dessous). Le nombre de surligneurs est calculé pour créer une </a:t>
            </a:r>
            <a:r>
              <a:rPr lang="fr-FR" altLang="fr-FR" sz="1600" i="1" dirty="0"/>
              <a:t>légère</a:t>
            </a:r>
            <a:r>
              <a:rPr lang="fr-FR" altLang="fr-FR" sz="1600" dirty="0"/>
              <a:t> pénurie.</a:t>
            </a:r>
          </a:p>
          <a:p>
            <a:r>
              <a:rPr lang="fr-FR" altLang="fr-FR" sz="1600" dirty="0"/>
              <a:t>En plus des surligneurs qui fonctionnent, il place dans la boîte des surligneurs défectueux dont la pointe est coupée (marqués d’une encoche à l’extrémité arrière).</a:t>
            </a:r>
          </a:p>
          <a:p>
            <a:r>
              <a:rPr lang="fr-FR" altLang="fr-FR" sz="1600" dirty="0"/>
              <a:t>Il inverse également quelques bouchons de surligneurs.</a:t>
            </a:r>
          </a:p>
          <a:p>
            <a:r>
              <a:rPr lang="fr-FR" altLang="fr-FR" sz="1600" dirty="0"/>
              <a:t>Il met dans la boîte des objets variés qui ne servent à rien, sinon à créer du désordre, tels que d’autres feutres qui ne sont pas des surligneurs ou des objets divers</a:t>
            </a:r>
          </a:p>
        </p:txBody>
      </p:sp>
      <p:sp>
        <p:nvSpPr>
          <p:cNvPr id="5427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5427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1DB3144-D387-4828-9024-75B2375229E0}" type="slidenum">
              <a:rPr lang="fr-FR" altLang="fr-FR" smtClean="0">
                <a:latin typeface="Calibri" panose="020F0502020204030204" pitchFamily="34" charset="0"/>
              </a:rPr>
              <a:pPr>
                <a:spcBef>
                  <a:spcPct val="0"/>
                </a:spcBef>
                <a:buFontTx/>
                <a:buNone/>
              </a:pPr>
              <a:t>22</a:t>
            </a:fld>
            <a:endParaRPr lang="fr-FR" altLang="fr-FR" dirty="0">
              <a:latin typeface="Calibri" panose="020F0502020204030204" pitchFamily="34" charset="0"/>
            </a:endParaRPr>
          </a:p>
        </p:txBody>
      </p:sp>
      <p:graphicFrame>
        <p:nvGraphicFramePr>
          <p:cNvPr id="8" name="Group 171"/>
          <p:cNvGraphicFramePr>
            <a:graphicFrameLocks noGrp="1"/>
          </p:cNvGraphicFramePr>
          <p:nvPr>
            <p:extLst>
              <p:ext uri="{D42A27DB-BD31-4B8C-83A1-F6EECF244321}">
                <p14:modId xmlns:p14="http://schemas.microsoft.com/office/powerpoint/2010/main" val="2432266990"/>
              </p:ext>
            </p:extLst>
          </p:nvPr>
        </p:nvGraphicFramePr>
        <p:xfrm>
          <a:off x="200025" y="3048953"/>
          <a:ext cx="9096374" cy="3184525"/>
        </p:xfrm>
        <a:graphic>
          <a:graphicData uri="http://schemas.openxmlformats.org/drawingml/2006/table">
            <a:tbl>
              <a:tblPr/>
              <a:tblGrid>
                <a:gridCol w="2517776">
                  <a:extLst>
                    <a:ext uri="{9D8B030D-6E8A-4147-A177-3AD203B41FA5}">
                      <a16:colId xmlns:a16="http://schemas.microsoft.com/office/drawing/2014/main" val="20000"/>
                    </a:ext>
                  </a:extLst>
                </a:gridCol>
                <a:gridCol w="506046">
                  <a:extLst>
                    <a:ext uri="{9D8B030D-6E8A-4147-A177-3AD203B41FA5}">
                      <a16:colId xmlns:a16="http://schemas.microsoft.com/office/drawing/2014/main" val="20001"/>
                    </a:ext>
                  </a:extLst>
                </a:gridCol>
                <a:gridCol w="506046">
                  <a:extLst>
                    <a:ext uri="{9D8B030D-6E8A-4147-A177-3AD203B41FA5}">
                      <a16:colId xmlns:a16="http://schemas.microsoft.com/office/drawing/2014/main" val="20002"/>
                    </a:ext>
                  </a:extLst>
                </a:gridCol>
                <a:gridCol w="506046">
                  <a:extLst>
                    <a:ext uri="{9D8B030D-6E8A-4147-A177-3AD203B41FA5}">
                      <a16:colId xmlns:a16="http://schemas.microsoft.com/office/drawing/2014/main" val="20003"/>
                    </a:ext>
                  </a:extLst>
                </a:gridCol>
                <a:gridCol w="506046">
                  <a:extLst>
                    <a:ext uri="{9D8B030D-6E8A-4147-A177-3AD203B41FA5}">
                      <a16:colId xmlns:a16="http://schemas.microsoft.com/office/drawing/2014/main" val="20004"/>
                    </a:ext>
                  </a:extLst>
                </a:gridCol>
                <a:gridCol w="506046">
                  <a:extLst>
                    <a:ext uri="{9D8B030D-6E8A-4147-A177-3AD203B41FA5}">
                      <a16:colId xmlns:a16="http://schemas.microsoft.com/office/drawing/2014/main" val="20005"/>
                    </a:ext>
                  </a:extLst>
                </a:gridCol>
                <a:gridCol w="506046">
                  <a:extLst>
                    <a:ext uri="{9D8B030D-6E8A-4147-A177-3AD203B41FA5}">
                      <a16:colId xmlns:a16="http://schemas.microsoft.com/office/drawing/2014/main" val="20006"/>
                    </a:ext>
                  </a:extLst>
                </a:gridCol>
                <a:gridCol w="506046">
                  <a:extLst>
                    <a:ext uri="{9D8B030D-6E8A-4147-A177-3AD203B41FA5}">
                      <a16:colId xmlns:a16="http://schemas.microsoft.com/office/drawing/2014/main" val="20007"/>
                    </a:ext>
                  </a:extLst>
                </a:gridCol>
                <a:gridCol w="506046">
                  <a:extLst>
                    <a:ext uri="{9D8B030D-6E8A-4147-A177-3AD203B41FA5}">
                      <a16:colId xmlns:a16="http://schemas.microsoft.com/office/drawing/2014/main" val="20008"/>
                    </a:ext>
                  </a:extLst>
                </a:gridCol>
                <a:gridCol w="506046">
                  <a:extLst>
                    <a:ext uri="{9D8B030D-6E8A-4147-A177-3AD203B41FA5}">
                      <a16:colId xmlns:a16="http://schemas.microsoft.com/office/drawing/2014/main" val="20009"/>
                    </a:ext>
                  </a:extLst>
                </a:gridCol>
                <a:gridCol w="506046">
                  <a:extLst>
                    <a:ext uri="{9D8B030D-6E8A-4147-A177-3AD203B41FA5}">
                      <a16:colId xmlns:a16="http://schemas.microsoft.com/office/drawing/2014/main" val="20010"/>
                    </a:ext>
                  </a:extLst>
                </a:gridCol>
                <a:gridCol w="506046">
                  <a:extLst>
                    <a:ext uri="{9D8B030D-6E8A-4147-A177-3AD203B41FA5}">
                      <a16:colId xmlns:a16="http://schemas.microsoft.com/office/drawing/2014/main" val="20011"/>
                    </a:ext>
                  </a:extLst>
                </a:gridCol>
                <a:gridCol w="506046">
                  <a:extLst>
                    <a:ext uri="{9D8B030D-6E8A-4147-A177-3AD203B41FA5}">
                      <a16:colId xmlns:a16="http://schemas.microsoft.com/office/drawing/2014/main" val="20012"/>
                    </a:ext>
                  </a:extLst>
                </a:gridCol>
                <a:gridCol w="506046">
                  <a:extLst>
                    <a:ext uri="{9D8B030D-6E8A-4147-A177-3AD203B41FA5}">
                      <a16:colId xmlns:a16="http://schemas.microsoft.com/office/drawing/2014/main" val="20013"/>
                    </a:ext>
                  </a:extLst>
                </a:gridCol>
              </a:tblGrid>
              <a:tr h="279874">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Effectif total </a:t>
                      </a: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sym typeface="Wingdings" pitchFamily="2" charset="2"/>
                        </a:rPr>
                        <a:t></a:t>
                      </a:r>
                    </a:p>
                  </a:txBody>
                  <a:tcPr marL="90000" marR="90000" marT="18002" marB="18002" anchor="ctr" horzOverflow="overflow">
                    <a:lnL cap="flat">
                      <a:noFill/>
                    </a:lnL>
                    <a:lnR w="12700" cap="flat" cmpd="sng" algn="ctr">
                      <a:solidFill>
                        <a:schemeClr val="tx1"/>
                      </a:solidFill>
                      <a:prstDash val="solid"/>
                      <a:round/>
                      <a:headEnd type="none" w="med" len="med"/>
                      <a:tailEnd type="none" w="med" len="med"/>
                    </a:lnR>
                    <a:lnT cap="flat">
                      <a:noFill/>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90000" marR="90000"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0" marR="90000" marT="18002" marB="18002"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10</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17</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18</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19</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20</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279874">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defRPr/>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Postes de coloriage </a:t>
                      </a: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sym typeface="Wingdings" pitchFamily="2" charset="2"/>
                        </a:rPr>
                        <a:t></a:t>
                      </a:r>
                    </a:p>
                  </a:txBody>
                  <a:tcPr marL="90000" marR="90000" marT="18002" marB="18002" anchor="ctr" horzOverflow="overflow">
                    <a:lnL cap="flat">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a:t>
                      </a:r>
                    </a:p>
                  </a:txBody>
                  <a:tcPr marL="90000" marR="90000"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7</a:t>
                      </a:r>
                    </a:p>
                  </a:txBody>
                  <a:tcPr marL="90000" marR="90000" marT="18002" marB="18002"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10</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17</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304260">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BLEUS</a:t>
                      </a:r>
                    </a:p>
                  </a:txBody>
                  <a:tcPr marL="90000" marR="90000"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E3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7</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7</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9</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10</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10</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260">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JAUNES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260">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ROSES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B9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874">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VERTS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FFFB4"/>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3855">
                <a:tc gridSpan="14">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400" b="0"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En plus des feutres ci-dessus, rajouter dans le magasin des feutres secs (encoches à l’arrière)</a:t>
                      </a: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a typeface="Times New Roman" pitchFamily="18" charset="0"/>
                        <a:cs typeface="Arial" charset="0"/>
                      </a:endParaRPr>
                    </a:p>
                  </a:txBody>
                  <a:tcPr marL="90000" marR="90000" marT="18000" marB="1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9874">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 </a:t>
                      </a: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a:t>
                      </a: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Bleus coupés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9E3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9874">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 Feutres Jaunes coupés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260">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 Feutres Roses coupés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B9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260">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6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 Feutres Verts coupés</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8FFFB4"/>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90000" marR="90000" marT="18002" marB="1800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9" name="ZoneTexte 8"/>
          <p:cNvSpPr txBox="1"/>
          <p:nvPr/>
        </p:nvSpPr>
        <p:spPr>
          <a:xfrm>
            <a:off x="554800" y="6314440"/>
            <a:ext cx="7878824" cy="323165"/>
          </a:xfrm>
          <a:prstGeom prst="rect">
            <a:avLst/>
          </a:prstGeom>
          <a:noFill/>
        </p:spPr>
        <p:txBody>
          <a:bodyPr wrap="none">
            <a:spAutoFit/>
          </a:bodyPr>
          <a:lstStyle/>
          <a:p>
            <a:pPr algn="ctr" eaLnBrk="1" hangingPunct="1">
              <a:defRPr/>
            </a:pPr>
            <a:r>
              <a:rPr lang="fr-FR" sz="1500" u="sng" dirty="0">
                <a:latin typeface="Calibri" panose="020F0502020204030204" pitchFamily="34" charset="0"/>
              </a:rPr>
              <a:t>Remarque</a:t>
            </a:r>
            <a:r>
              <a:rPr lang="fr-FR" sz="1500" dirty="0">
                <a:latin typeface="Calibri" panose="020F0502020204030204" pitchFamily="34" charset="0"/>
              </a:rPr>
              <a:t> : pour la simulation 2 le magasin est préparé différemment (nous en reparlons plus loin)</a:t>
            </a:r>
          </a:p>
        </p:txBody>
      </p:sp>
      <p:pic>
        <p:nvPicPr>
          <p:cNvPr id="10"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5632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5632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7D1A0FE-4843-4DF4-874D-A76B002B7853}" type="slidenum">
              <a:rPr lang="fr-FR" altLang="fr-FR" smtClean="0">
                <a:latin typeface="Calibri" panose="020F0502020204030204" pitchFamily="34" charset="0"/>
              </a:rPr>
              <a:pPr>
                <a:spcBef>
                  <a:spcPct val="0"/>
                </a:spcBef>
                <a:buFontTx/>
                <a:buNone/>
              </a:pPr>
              <a:t>23</a:t>
            </a:fld>
            <a:endParaRPr lang="fr-FR" altLang="fr-FR" dirty="0">
              <a:latin typeface="Calibri" panose="020F0502020204030204" pitchFamily="34" charset="0"/>
            </a:endParaRPr>
          </a:p>
        </p:txBody>
      </p:sp>
      <p:sp>
        <p:nvSpPr>
          <p:cNvPr id="6" name="Rectangle 5"/>
          <p:cNvSpPr/>
          <p:nvPr/>
        </p:nvSpPr>
        <p:spPr>
          <a:xfrm>
            <a:off x="389105" y="1251363"/>
            <a:ext cx="8832168" cy="2677656"/>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Introduction</a:t>
            </a:r>
          </a:p>
          <a:p>
            <a:pPr algn="ctr" eaLnBrk="1" hangingPunct="1">
              <a:defRPr/>
            </a:pPr>
            <a:endParaRPr lang="fr-FR" sz="4400" b="1" dirty="0">
              <a:ln w="50800"/>
              <a:solidFill>
                <a:schemeClr val="bg1"/>
              </a:solidFill>
              <a:latin typeface="Calibri" panose="020F0502020204030204" pitchFamily="34" charset="0"/>
            </a:endParaRPr>
          </a:p>
          <a:p>
            <a:pPr algn="ctr" eaLnBrk="1" hangingPunct="1">
              <a:defRPr/>
            </a:pPr>
            <a:r>
              <a:rPr lang="fr-FR" sz="4800" b="1" dirty="0">
                <a:ln w="50800"/>
                <a:solidFill>
                  <a:schemeClr val="bg1"/>
                </a:solidFill>
                <a:latin typeface="Calibri" panose="020F0502020204030204" pitchFamily="34" charset="0"/>
              </a:rPr>
              <a:t>Présentation de l’entreprise</a:t>
            </a:r>
            <a:endParaRPr lang="fr-FR" sz="7200" b="1" dirty="0">
              <a:ln w="50800"/>
              <a:solidFill>
                <a:schemeClr val="bg1"/>
              </a:solidFill>
              <a:latin typeface="Calibri" panose="020F0502020204030204" pitchFamily="3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re 1"/>
          <p:cNvSpPr>
            <a:spLocks noGrp="1"/>
          </p:cNvSpPr>
          <p:nvPr>
            <p:ph type="title"/>
          </p:nvPr>
        </p:nvSpPr>
        <p:spPr/>
        <p:txBody>
          <a:bodyPr/>
          <a:lstStyle/>
          <a:p>
            <a:endParaRPr lang="fr-FR" altLang="fr-FR"/>
          </a:p>
        </p:txBody>
      </p:sp>
      <p:sp>
        <p:nvSpPr>
          <p:cNvPr id="5837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5837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ABC39F0-5B48-429B-A696-6FF21FF3A850}" type="slidenum">
              <a:rPr lang="fr-FR" altLang="fr-FR" smtClean="0">
                <a:latin typeface="Calibri" panose="020F0502020204030204" pitchFamily="34" charset="0"/>
              </a:rPr>
              <a:pPr>
                <a:spcBef>
                  <a:spcPct val="0"/>
                </a:spcBef>
                <a:buFontTx/>
                <a:buNone/>
              </a:pPr>
              <a:t>24</a:t>
            </a:fld>
            <a:endParaRPr lang="fr-FR" altLang="fr-FR" dirty="0">
              <a:latin typeface="Calibri" panose="020F0502020204030204" pitchFamily="34" charset="0"/>
            </a:endParaRPr>
          </a:p>
        </p:txBody>
      </p:sp>
      <p:grpSp>
        <p:nvGrpSpPr>
          <p:cNvPr id="58373" name="Groupe 8"/>
          <p:cNvGrpSpPr>
            <a:grpSpLocks/>
          </p:cNvGrpSpPr>
          <p:nvPr/>
        </p:nvGrpSpPr>
        <p:grpSpPr bwMode="auto">
          <a:xfrm>
            <a:off x="3282950" y="1317625"/>
            <a:ext cx="2647950" cy="2647950"/>
            <a:chOff x="2977357" y="1591469"/>
            <a:chExt cx="3657600" cy="3657600"/>
          </a:xfrm>
        </p:grpSpPr>
        <p:sp>
          <p:nvSpPr>
            <p:cNvPr id="58376" name="Oval 1031"/>
            <p:cNvSpPr>
              <a:spLocks noChangeArrowheads="1"/>
            </p:cNvSpPr>
            <p:nvPr/>
          </p:nvSpPr>
          <p:spPr bwMode="auto">
            <a:xfrm>
              <a:off x="2977357" y="1591469"/>
              <a:ext cx="3657600" cy="3657600"/>
            </a:xfrm>
            <a:prstGeom prst="ellipse">
              <a:avLst/>
            </a:prstGeom>
            <a:solidFill>
              <a:srgbClr val="3366FF"/>
            </a:solidFill>
            <a:ln w="381000">
              <a:solidFill>
                <a:srgbClr val="FF3300"/>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01675" indent="-179388">
                <a:spcBef>
                  <a:spcPct val="20000"/>
                </a:spcBef>
                <a:buChar char="–"/>
                <a:defRPr sz="1400">
                  <a:solidFill>
                    <a:schemeClr val="tx1"/>
                  </a:solidFill>
                  <a:latin typeface="Arial" panose="020B0604020202020204" pitchFamily="34" charset="0"/>
                </a:defRPr>
              </a:lvl2pPr>
              <a:lvl3pPr marL="1150938"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400" dirty="0">
                <a:latin typeface="Calibri" panose="020F0502020204030204" pitchFamily="34" charset="0"/>
              </a:endParaRPr>
            </a:p>
          </p:txBody>
        </p:sp>
        <p:pic>
          <p:nvPicPr>
            <p:cNvPr id="58377" name="Object 102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307" y="2113757"/>
              <a:ext cx="2743200"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8378" name="Line 1030"/>
            <p:cNvSpPr>
              <a:spLocks noChangeShapeType="1"/>
            </p:cNvSpPr>
            <p:nvPr/>
          </p:nvSpPr>
          <p:spPr bwMode="auto">
            <a:xfrm flipH="1">
              <a:off x="3282157" y="2323307"/>
              <a:ext cx="2971800" cy="2163762"/>
            </a:xfrm>
            <a:prstGeom prst="line">
              <a:avLst/>
            </a:prstGeom>
            <a:noFill/>
            <a:ln w="3810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fr-FR" dirty="0">
                <a:latin typeface="Calibri" panose="020F0502020204030204" pitchFamily="34" charset="0"/>
              </a:endParaRPr>
            </a:p>
          </p:txBody>
        </p:sp>
      </p:grpSp>
      <p:sp>
        <p:nvSpPr>
          <p:cNvPr id="58374" name="ZoneTexte 9"/>
          <p:cNvSpPr txBox="1">
            <a:spLocks noChangeArrowheads="1"/>
          </p:cNvSpPr>
          <p:nvPr/>
        </p:nvSpPr>
        <p:spPr bwMode="auto">
          <a:xfrm flipH="1">
            <a:off x="2414588" y="4405313"/>
            <a:ext cx="4762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dirty="0">
                <a:latin typeface="Calibri" panose="020F0502020204030204" pitchFamily="34" charset="0"/>
              </a:rPr>
              <a:t>Inutile de prendre des notes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re 1"/>
          <p:cNvSpPr>
            <a:spLocks noGrp="1"/>
          </p:cNvSpPr>
          <p:nvPr>
            <p:ph type="title"/>
          </p:nvPr>
        </p:nvSpPr>
        <p:spPr/>
        <p:txBody>
          <a:bodyPr/>
          <a:lstStyle/>
          <a:p>
            <a:r>
              <a:rPr lang="fr-FR" altLang="fr-FR"/>
              <a:t>L’entreprise</a:t>
            </a:r>
          </a:p>
        </p:txBody>
      </p:sp>
      <p:sp>
        <p:nvSpPr>
          <p:cNvPr id="6041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0F29FEF-F05F-44EB-B984-EF00BE689755}" type="slidenum">
              <a:rPr lang="fr-FR" altLang="fr-FR" smtClean="0">
                <a:latin typeface="Calibri" panose="020F0502020204030204" pitchFamily="34" charset="0"/>
              </a:rPr>
              <a:pPr>
                <a:spcBef>
                  <a:spcPct val="0"/>
                </a:spcBef>
                <a:buFontTx/>
                <a:buNone/>
              </a:pPr>
              <a:t>25</a:t>
            </a:fld>
            <a:endParaRPr lang="fr-FR" altLang="fr-FR" dirty="0">
              <a:latin typeface="Calibri" panose="020F0502020204030204" pitchFamily="34" charset="0"/>
            </a:endParaRPr>
          </a:p>
        </p:txBody>
      </p:sp>
      <p:sp>
        <p:nvSpPr>
          <p:cNvPr id="60420"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22" name="Picture 2"/>
          <p:cNvPicPr>
            <a:picLocks noChangeAspect="1" noChangeArrowheads="1"/>
          </p:cNvPicPr>
          <p:nvPr/>
        </p:nvPicPr>
        <p:blipFill>
          <a:blip r:embed="rId3">
            <a:extLst>
              <a:ext uri="{28A0092B-C50C-407E-A947-70E740481C1C}">
                <a14:useLocalDpi xmlns:a14="http://schemas.microsoft.com/office/drawing/2010/main" val="0"/>
              </a:ext>
            </a:extLst>
          </a:blip>
          <a:srcRect l="7172" r="7896" b="6445"/>
          <a:stretch>
            <a:fillRect/>
          </a:stretch>
        </p:blipFill>
        <p:spPr bwMode="auto">
          <a:xfrm>
            <a:off x="942975" y="2916238"/>
            <a:ext cx="2816225" cy="336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e 24"/>
          <p:cNvGrpSpPr>
            <a:grpSpLocks/>
          </p:cNvGrpSpPr>
          <p:nvPr/>
        </p:nvGrpSpPr>
        <p:grpSpPr bwMode="auto">
          <a:xfrm>
            <a:off x="2806700" y="571500"/>
            <a:ext cx="3529013" cy="1808163"/>
            <a:chOff x="0" y="584669"/>
            <a:chExt cx="3528811" cy="1808029"/>
          </a:xfrm>
        </p:grpSpPr>
        <p:pic>
          <p:nvPicPr>
            <p:cNvPr id="60429" name="Picture 58" descr="fiches info v5"/>
            <p:cNvPicPr>
              <a:picLocks noChangeAspect="1" noChangeArrowheads="1"/>
            </p:cNvPicPr>
            <p:nvPr/>
          </p:nvPicPr>
          <p:blipFill>
            <a:blip r:embed="rId4">
              <a:extLst>
                <a:ext uri="{28A0092B-C50C-407E-A947-70E740481C1C}">
                  <a14:useLocalDpi xmlns:a14="http://schemas.microsoft.com/office/drawing/2010/main" val="0"/>
                </a:ext>
              </a:extLst>
            </a:blip>
            <a:srcRect l="8269" t="40305" r="11366" b="14079"/>
            <a:stretch>
              <a:fillRect/>
            </a:stretch>
          </p:blipFill>
          <p:spPr bwMode="auto">
            <a:xfrm>
              <a:off x="0" y="841272"/>
              <a:ext cx="3528811" cy="155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30" name="ZoneTexte 116"/>
            <p:cNvSpPr txBox="1">
              <a:spLocks noChangeArrowheads="1"/>
            </p:cNvSpPr>
            <p:nvPr/>
          </p:nvSpPr>
          <p:spPr bwMode="auto">
            <a:xfrm>
              <a:off x="1577452" y="584669"/>
              <a:ext cx="10006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dirty="0">
                  <a:latin typeface="Calibri" panose="020F0502020204030204" pitchFamily="34" charset="0"/>
                  <a:cs typeface="Arial" panose="020B0604020202020204" pitchFamily="34" charset="0"/>
                </a:rPr>
                <a:t>PALEO</a:t>
              </a:r>
            </a:p>
          </p:txBody>
        </p:sp>
      </p:grpSp>
      <p:grpSp>
        <p:nvGrpSpPr>
          <p:cNvPr id="14" name="Groupe 13"/>
          <p:cNvGrpSpPr>
            <a:grpSpLocks/>
          </p:cNvGrpSpPr>
          <p:nvPr/>
        </p:nvGrpSpPr>
        <p:grpSpPr bwMode="auto">
          <a:xfrm>
            <a:off x="5068888" y="2565400"/>
            <a:ext cx="2817812" cy="3894138"/>
            <a:chOff x="5068888" y="2565804"/>
            <a:chExt cx="2817812" cy="3893735"/>
          </a:xfrm>
        </p:grpSpPr>
        <p:grpSp>
          <p:nvGrpSpPr>
            <p:cNvPr id="60425" name="Groupe 28"/>
            <p:cNvGrpSpPr>
              <a:grpSpLocks/>
            </p:cNvGrpSpPr>
            <p:nvPr/>
          </p:nvGrpSpPr>
          <p:grpSpPr bwMode="auto">
            <a:xfrm>
              <a:off x="5068888" y="2565804"/>
              <a:ext cx="2817812" cy="3893735"/>
              <a:chOff x="6262688" y="561692"/>
              <a:chExt cx="2220912" cy="3068921"/>
            </a:xfrm>
          </p:grpSpPr>
          <p:pic>
            <p:nvPicPr>
              <p:cNvPr id="6042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2688" y="1155351"/>
                <a:ext cx="2220912" cy="247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8" name="ZoneTexte 116"/>
              <p:cNvSpPr txBox="1">
                <a:spLocks noChangeArrowheads="1"/>
              </p:cNvSpPr>
              <p:nvPr/>
            </p:nvSpPr>
            <p:spPr bwMode="auto">
              <a:xfrm>
                <a:off x="7040198" y="561692"/>
                <a:ext cx="1000647" cy="36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i="1" dirty="0">
                    <a:solidFill>
                      <a:srgbClr val="FF0000"/>
                    </a:solidFill>
                    <a:latin typeface="Calibri" panose="020F0502020204030204" pitchFamily="34" charset="0"/>
                    <a:cs typeface="Arial" panose="020B0604020202020204" pitchFamily="34" charset="0"/>
                  </a:rPr>
                  <a:t>Pale</a:t>
                </a:r>
                <a:endParaRPr lang="fr-FR" altLang="fr-FR" sz="2000" i="1" dirty="0">
                  <a:solidFill>
                    <a:srgbClr val="FF0000"/>
                  </a:solidFill>
                  <a:latin typeface="Calibri" panose="020F0502020204030204" pitchFamily="34" charset="0"/>
                  <a:cs typeface="Arial" panose="020B0604020202020204" pitchFamily="34" charset="0"/>
                </a:endParaRPr>
              </a:p>
            </p:txBody>
          </p:sp>
        </p:grpSp>
        <p:cxnSp>
          <p:nvCxnSpPr>
            <p:cNvPr id="60426" name="Connecteur droit avec flèche 12"/>
            <p:cNvCxnSpPr>
              <a:cxnSpLocks noChangeShapeType="1"/>
            </p:cNvCxnSpPr>
            <p:nvPr/>
          </p:nvCxnSpPr>
          <p:spPr bwMode="auto">
            <a:xfrm rot="5400000">
              <a:off x="6154056" y="2975429"/>
              <a:ext cx="420918" cy="333830"/>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re 1"/>
          <p:cNvSpPr>
            <a:spLocks noGrp="1"/>
          </p:cNvSpPr>
          <p:nvPr>
            <p:ph type="title"/>
          </p:nvPr>
        </p:nvSpPr>
        <p:spPr/>
        <p:txBody>
          <a:bodyPr/>
          <a:lstStyle/>
          <a:p>
            <a:r>
              <a:rPr lang="fr-FR" altLang="fr-FR"/>
              <a:t>L’entreprise</a:t>
            </a:r>
          </a:p>
        </p:txBody>
      </p:sp>
      <p:sp>
        <p:nvSpPr>
          <p:cNvPr id="6246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7531A02-AA92-4C43-9991-A26473DE900C}" type="slidenum">
              <a:rPr lang="fr-FR" altLang="fr-FR" smtClean="0">
                <a:latin typeface="Calibri" panose="020F0502020204030204" pitchFamily="34" charset="0"/>
              </a:rPr>
              <a:pPr>
                <a:spcBef>
                  <a:spcPct val="0"/>
                </a:spcBef>
                <a:buFontTx/>
                <a:buNone/>
              </a:pPr>
              <a:t>26</a:t>
            </a:fld>
            <a:endParaRPr lang="fr-FR" altLang="fr-FR" dirty="0">
              <a:latin typeface="Calibri" panose="020F0502020204030204" pitchFamily="34" charset="0"/>
            </a:endParaRPr>
          </a:p>
        </p:txBody>
      </p:sp>
      <p:sp>
        <p:nvSpPr>
          <p:cNvPr id="62468"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33" name="Text Box 789"/>
          <p:cNvSpPr txBox="1">
            <a:spLocks noChangeArrowheads="1"/>
          </p:cNvSpPr>
          <p:nvPr/>
        </p:nvSpPr>
        <p:spPr bwMode="auto">
          <a:xfrm>
            <a:off x="889000" y="3914775"/>
            <a:ext cx="75692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ct val="150000"/>
              </a:lnSpc>
              <a:spcBef>
                <a:spcPct val="0"/>
              </a:spcBef>
              <a:buFontTx/>
              <a:buNone/>
            </a:pPr>
            <a:r>
              <a:rPr lang="fr-FR" altLang="fr-FR" sz="2000" dirty="0">
                <a:solidFill>
                  <a:srgbClr val="FF0000"/>
                </a:solidFill>
                <a:latin typeface="Calibri" panose="020F0502020204030204" pitchFamily="34" charset="0"/>
              </a:rPr>
              <a:t>5000</a:t>
            </a:r>
            <a:r>
              <a:rPr lang="fr-FR" altLang="fr-FR" sz="2000" dirty="0">
                <a:latin typeface="Calibri" panose="020F0502020204030204" pitchFamily="34" charset="0"/>
              </a:rPr>
              <a:t> pales par an.</a:t>
            </a:r>
          </a:p>
          <a:p>
            <a:pPr eaLnBrk="1" hangingPunct="1">
              <a:lnSpc>
                <a:spcPct val="150000"/>
              </a:lnSpc>
              <a:spcBef>
                <a:spcPct val="0"/>
              </a:spcBef>
              <a:buFontTx/>
              <a:buNone/>
            </a:pPr>
            <a:r>
              <a:rPr lang="fr-FR" altLang="fr-FR" sz="2000" dirty="0">
                <a:solidFill>
                  <a:srgbClr val="FF0000"/>
                </a:solidFill>
                <a:latin typeface="Calibri" panose="020F0502020204030204" pitchFamily="34" charset="0"/>
              </a:rPr>
              <a:t>16 %</a:t>
            </a:r>
            <a:r>
              <a:rPr lang="fr-FR" altLang="fr-FR" sz="2000" dirty="0">
                <a:latin typeface="Calibri" panose="020F0502020204030204" pitchFamily="34" charset="0"/>
              </a:rPr>
              <a:t> du marché mondial</a:t>
            </a:r>
          </a:p>
          <a:p>
            <a:pPr eaLnBrk="1" hangingPunct="1">
              <a:lnSpc>
                <a:spcPct val="150000"/>
              </a:lnSpc>
              <a:spcBef>
                <a:spcPct val="0"/>
              </a:spcBef>
              <a:buFontTx/>
              <a:buNone/>
            </a:pPr>
            <a:r>
              <a:rPr lang="fr-FR" altLang="fr-FR" sz="2000" dirty="0">
                <a:latin typeface="Calibri" panose="020F0502020204030204" pitchFamily="34" charset="0"/>
              </a:rPr>
              <a:t>L’entreprise exporte </a:t>
            </a:r>
            <a:r>
              <a:rPr lang="fr-FR" altLang="fr-FR" sz="2000" dirty="0">
                <a:solidFill>
                  <a:srgbClr val="FF0000"/>
                </a:solidFill>
                <a:latin typeface="Calibri" panose="020F0502020204030204" pitchFamily="34" charset="0"/>
              </a:rPr>
              <a:t>80 %</a:t>
            </a:r>
            <a:r>
              <a:rPr lang="fr-FR" altLang="fr-FR" sz="2000" dirty="0">
                <a:latin typeface="Calibri" panose="020F0502020204030204" pitchFamily="34" charset="0"/>
              </a:rPr>
              <a:t> de sa production dans le monde entier.</a:t>
            </a:r>
          </a:p>
          <a:p>
            <a:pPr eaLnBrk="1" hangingPunct="1">
              <a:lnSpc>
                <a:spcPct val="150000"/>
              </a:lnSpc>
              <a:spcBef>
                <a:spcPct val="0"/>
              </a:spcBef>
              <a:buFontTx/>
              <a:buNone/>
            </a:pPr>
            <a:r>
              <a:rPr lang="fr-FR" altLang="fr-FR" sz="2000" dirty="0">
                <a:latin typeface="Calibri" panose="020F0502020204030204" pitchFamily="34" charset="0"/>
              </a:rPr>
              <a:t>Le marché croît de </a:t>
            </a:r>
            <a:r>
              <a:rPr lang="fr-FR" altLang="fr-FR" sz="2000" dirty="0">
                <a:solidFill>
                  <a:srgbClr val="FF0000"/>
                </a:solidFill>
                <a:latin typeface="Calibri" panose="020F0502020204030204" pitchFamily="34" charset="0"/>
              </a:rPr>
              <a:t>20 %</a:t>
            </a:r>
            <a:r>
              <a:rPr lang="fr-FR" altLang="fr-FR" sz="2000" dirty="0">
                <a:latin typeface="Calibri" panose="020F0502020204030204" pitchFamily="34" charset="0"/>
              </a:rPr>
              <a:t> par an.</a:t>
            </a:r>
          </a:p>
          <a:p>
            <a:pPr eaLnBrk="1" hangingPunct="1">
              <a:lnSpc>
                <a:spcPct val="150000"/>
              </a:lnSpc>
              <a:spcBef>
                <a:spcPct val="0"/>
              </a:spcBef>
              <a:buFontTx/>
              <a:buNone/>
            </a:pPr>
            <a:r>
              <a:rPr lang="fr-FR" altLang="fr-FR" sz="2000" dirty="0">
                <a:latin typeface="Calibri" panose="020F0502020204030204" pitchFamily="34" charset="0"/>
              </a:rPr>
              <a:t>Effectifs : </a:t>
            </a:r>
            <a:r>
              <a:rPr lang="fr-FR" altLang="fr-FR" sz="2000" dirty="0">
                <a:solidFill>
                  <a:srgbClr val="FF0000"/>
                </a:solidFill>
                <a:latin typeface="Calibri" panose="020F0502020204030204" pitchFamily="34" charset="0"/>
              </a:rPr>
              <a:t>1400</a:t>
            </a:r>
            <a:r>
              <a:rPr lang="fr-FR" altLang="fr-FR" sz="2000" dirty="0">
                <a:latin typeface="Calibri" panose="020F0502020204030204" pitchFamily="34" charset="0"/>
              </a:rPr>
              <a:t> personnes</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325" y="496888"/>
            <a:ext cx="4918075"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re 1"/>
          <p:cNvSpPr>
            <a:spLocks noGrp="1"/>
          </p:cNvSpPr>
          <p:nvPr>
            <p:ph type="title"/>
          </p:nvPr>
        </p:nvSpPr>
        <p:spPr/>
        <p:txBody>
          <a:bodyPr/>
          <a:lstStyle/>
          <a:p>
            <a:r>
              <a:rPr lang="fr-FR" altLang="fr-FR"/>
              <a:t>Les performances</a:t>
            </a:r>
          </a:p>
        </p:txBody>
      </p:sp>
      <p:sp>
        <p:nvSpPr>
          <p:cNvPr id="6451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6451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10622D3-91A6-4279-97DE-6A4F8D08E68F}" type="slidenum">
              <a:rPr lang="fr-FR" altLang="fr-FR" smtClean="0">
                <a:latin typeface="Calibri" panose="020F0502020204030204" pitchFamily="34" charset="0"/>
              </a:rPr>
              <a:pPr>
                <a:spcBef>
                  <a:spcPct val="0"/>
                </a:spcBef>
                <a:buFontTx/>
                <a:buNone/>
              </a:pPr>
              <a:t>27</a:t>
            </a:fld>
            <a:endParaRPr lang="fr-FR" altLang="fr-FR" dirty="0">
              <a:latin typeface="Calibri" panose="020F0502020204030204" pitchFamily="34" charset="0"/>
            </a:endParaRPr>
          </a:p>
        </p:txBody>
      </p:sp>
      <p:sp>
        <p:nvSpPr>
          <p:cNvPr id="69" name="Rectangle 68"/>
          <p:cNvSpPr>
            <a:spLocks noChangeArrowheads="1"/>
          </p:cNvSpPr>
          <p:nvPr/>
        </p:nvSpPr>
        <p:spPr bwMode="auto">
          <a:xfrm>
            <a:off x="6702425" y="2470150"/>
            <a:ext cx="633413" cy="608013"/>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70 jrs.</a:t>
            </a:r>
          </a:p>
        </p:txBody>
      </p:sp>
      <p:grpSp>
        <p:nvGrpSpPr>
          <p:cNvPr id="127" name="Groupe 126"/>
          <p:cNvGrpSpPr>
            <a:grpSpLocks/>
          </p:cNvGrpSpPr>
          <p:nvPr/>
        </p:nvGrpSpPr>
        <p:grpSpPr bwMode="auto">
          <a:xfrm>
            <a:off x="5075931" y="604838"/>
            <a:ext cx="2516895" cy="2855984"/>
            <a:chOff x="5075578" y="604152"/>
            <a:chExt cx="2517661" cy="2856537"/>
          </a:xfrm>
        </p:grpSpPr>
        <p:sp>
          <p:nvSpPr>
            <p:cNvPr id="64565" name="ZoneTexte 65"/>
            <p:cNvSpPr txBox="1">
              <a:spLocks noChangeArrowheads="1"/>
            </p:cNvSpPr>
            <p:nvPr/>
          </p:nvSpPr>
          <p:spPr bwMode="auto">
            <a:xfrm>
              <a:off x="5943921" y="719803"/>
              <a:ext cx="975657" cy="3179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000099"/>
                  </a:solidFill>
                  <a:latin typeface="Calibri" panose="020F0502020204030204" pitchFamily="34" charset="0"/>
                  <a:cs typeface="Arial" panose="020B0604020202020204" pitchFamily="34" charset="0"/>
                </a:rPr>
                <a:t>DÉLAIS</a:t>
              </a:r>
            </a:p>
          </p:txBody>
        </p:sp>
        <p:sp>
          <p:nvSpPr>
            <p:cNvPr id="64566" name="ZoneTexte 77"/>
            <p:cNvSpPr txBox="1">
              <a:spLocks noChangeArrowheads="1"/>
            </p:cNvSpPr>
            <p:nvPr/>
          </p:nvSpPr>
          <p:spPr bwMode="auto">
            <a:xfrm>
              <a:off x="5518650" y="3091285"/>
              <a:ext cx="778271" cy="36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cs typeface="Arial" panose="020B0604020202020204" pitchFamily="34" charset="0"/>
                </a:rPr>
                <a:t>PALEO</a:t>
              </a:r>
            </a:p>
          </p:txBody>
        </p:sp>
        <p:sp>
          <p:nvSpPr>
            <p:cNvPr id="64567" name="ZoneTexte 78"/>
            <p:cNvSpPr txBox="1">
              <a:spLocks noChangeArrowheads="1"/>
            </p:cNvSpPr>
            <p:nvPr/>
          </p:nvSpPr>
          <p:spPr bwMode="auto">
            <a:xfrm>
              <a:off x="6390108" y="3100719"/>
              <a:ext cx="1203131" cy="338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cs typeface="Arial" panose="020B0604020202020204" pitchFamily="34" charset="0"/>
                </a:rPr>
                <a:t>Concurrents</a:t>
              </a:r>
              <a:endParaRPr lang="fr-FR" altLang="fr-FR" sz="1800" dirty="0">
                <a:latin typeface="Calibri" panose="020F0502020204030204" pitchFamily="34" charset="0"/>
                <a:cs typeface="Arial" panose="020B0604020202020204" pitchFamily="34" charset="0"/>
              </a:endParaRPr>
            </a:p>
          </p:txBody>
        </p:sp>
        <p:sp>
          <p:nvSpPr>
            <p:cNvPr id="64568" name="Rectangle 67"/>
            <p:cNvSpPr>
              <a:spLocks noChangeArrowheads="1"/>
            </p:cNvSpPr>
            <p:nvPr/>
          </p:nvSpPr>
          <p:spPr bwMode="auto">
            <a:xfrm>
              <a:off x="5634106" y="1733977"/>
              <a:ext cx="634177" cy="1344204"/>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85 jrs.</a:t>
              </a:r>
            </a:p>
          </p:txBody>
        </p:sp>
        <p:cxnSp>
          <p:nvCxnSpPr>
            <p:cNvPr id="64569" name="Connecteur droit 69"/>
            <p:cNvCxnSpPr>
              <a:cxnSpLocks noChangeShapeType="1"/>
            </p:cNvCxnSpPr>
            <p:nvPr/>
          </p:nvCxnSpPr>
          <p:spPr bwMode="auto">
            <a:xfrm rot="5400000" flipH="1" flipV="1">
              <a:off x="4383660" y="1937242"/>
              <a:ext cx="2294381"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70" name="Connecteur droit 70"/>
            <p:cNvCxnSpPr>
              <a:cxnSpLocks noChangeShapeType="1"/>
            </p:cNvCxnSpPr>
            <p:nvPr/>
          </p:nvCxnSpPr>
          <p:spPr bwMode="auto">
            <a:xfrm>
              <a:off x="5530849" y="3078181"/>
              <a:ext cx="175618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4571" name="ZoneTexte 71"/>
            <p:cNvSpPr txBox="1">
              <a:spLocks noChangeArrowheads="1"/>
            </p:cNvSpPr>
            <p:nvPr/>
          </p:nvSpPr>
          <p:spPr bwMode="auto">
            <a:xfrm>
              <a:off x="5208188" y="2856373"/>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60</a:t>
              </a:r>
            </a:p>
          </p:txBody>
        </p:sp>
        <p:sp>
          <p:nvSpPr>
            <p:cNvPr id="64572" name="ZoneTexte 72"/>
            <p:cNvSpPr txBox="1">
              <a:spLocks noChangeArrowheads="1"/>
            </p:cNvSpPr>
            <p:nvPr/>
          </p:nvSpPr>
          <p:spPr bwMode="auto">
            <a:xfrm>
              <a:off x="5208188" y="2356047"/>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70</a:t>
              </a:r>
            </a:p>
          </p:txBody>
        </p:sp>
        <p:sp>
          <p:nvSpPr>
            <p:cNvPr id="64573" name="ZoneTexte 73"/>
            <p:cNvSpPr txBox="1">
              <a:spLocks noChangeArrowheads="1"/>
            </p:cNvSpPr>
            <p:nvPr/>
          </p:nvSpPr>
          <p:spPr bwMode="auto">
            <a:xfrm>
              <a:off x="5208188" y="1855721"/>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80</a:t>
              </a:r>
            </a:p>
          </p:txBody>
        </p:sp>
        <p:sp>
          <p:nvSpPr>
            <p:cNvPr id="64574" name="ZoneTexte 74"/>
            <p:cNvSpPr txBox="1">
              <a:spLocks noChangeArrowheads="1"/>
            </p:cNvSpPr>
            <p:nvPr/>
          </p:nvSpPr>
          <p:spPr bwMode="auto">
            <a:xfrm>
              <a:off x="5208188" y="1355395"/>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90</a:t>
              </a:r>
            </a:p>
          </p:txBody>
        </p:sp>
        <p:sp>
          <p:nvSpPr>
            <p:cNvPr id="64575" name="ZoneTexte 75"/>
            <p:cNvSpPr txBox="1">
              <a:spLocks noChangeArrowheads="1"/>
            </p:cNvSpPr>
            <p:nvPr/>
          </p:nvSpPr>
          <p:spPr bwMode="auto">
            <a:xfrm>
              <a:off x="5140843" y="895119"/>
              <a:ext cx="420435"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100</a:t>
              </a:r>
            </a:p>
          </p:txBody>
        </p:sp>
        <p:sp>
          <p:nvSpPr>
            <p:cNvPr id="64576" name="ZoneTexte 76"/>
            <p:cNvSpPr txBox="1">
              <a:spLocks noChangeArrowheads="1"/>
            </p:cNvSpPr>
            <p:nvPr/>
          </p:nvSpPr>
          <p:spPr bwMode="auto">
            <a:xfrm>
              <a:off x="5075578" y="604152"/>
              <a:ext cx="395604"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Jours</a:t>
              </a:r>
            </a:p>
          </p:txBody>
        </p:sp>
      </p:grpSp>
      <p:sp>
        <p:nvSpPr>
          <p:cNvPr id="85" name="Rectangle 84"/>
          <p:cNvSpPr>
            <a:spLocks noChangeArrowheads="1"/>
          </p:cNvSpPr>
          <p:nvPr/>
        </p:nvSpPr>
        <p:spPr bwMode="auto">
          <a:xfrm>
            <a:off x="3521075" y="2212975"/>
            <a:ext cx="635000" cy="847725"/>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12 K€</a:t>
            </a:r>
          </a:p>
        </p:txBody>
      </p:sp>
      <p:grpSp>
        <p:nvGrpSpPr>
          <p:cNvPr id="126" name="Groupe 125"/>
          <p:cNvGrpSpPr>
            <a:grpSpLocks/>
          </p:cNvGrpSpPr>
          <p:nvPr/>
        </p:nvGrpSpPr>
        <p:grpSpPr bwMode="auto">
          <a:xfrm>
            <a:off x="2053841" y="542925"/>
            <a:ext cx="2358887" cy="2917739"/>
            <a:chOff x="2054076" y="543474"/>
            <a:chExt cx="2358391" cy="2917059"/>
          </a:xfrm>
        </p:grpSpPr>
        <p:sp>
          <p:nvSpPr>
            <p:cNvPr id="64552" name="ZoneTexte 80"/>
            <p:cNvSpPr txBox="1">
              <a:spLocks noChangeArrowheads="1"/>
            </p:cNvSpPr>
            <p:nvPr/>
          </p:nvSpPr>
          <p:spPr bwMode="auto">
            <a:xfrm>
              <a:off x="2897698" y="673522"/>
              <a:ext cx="975658" cy="3179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000099"/>
                  </a:solidFill>
                  <a:latin typeface="Calibri" panose="020F0502020204030204" pitchFamily="34" charset="0"/>
                  <a:cs typeface="Arial" panose="020B0604020202020204" pitchFamily="34" charset="0"/>
                </a:rPr>
                <a:t>COÛTS</a:t>
              </a:r>
            </a:p>
          </p:txBody>
        </p:sp>
        <p:sp>
          <p:nvSpPr>
            <p:cNvPr id="64553" name="ZoneTexte 81"/>
            <p:cNvSpPr txBox="1">
              <a:spLocks noChangeArrowheads="1"/>
            </p:cNvSpPr>
            <p:nvPr/>
          </p:nvSpPr>
          <p:spPr bwMode="auto">
            <a:xfrm>
              <a:off x="2338390" y="3091287"/>
              <a:ext cx="777870" cy="369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cs typeface="Arial" panose="020B0604020202020204" pitchFamily="34" charset="0"/>
                </a:rPr>
                <a:t>PALEO</a:t>
              </a:r>
            </a:p>
          </p:txBody>
        </p:sp>
        <p:sp>
          <p:nvSpPr>
            <p:cNvPr id="64554" name="ZoneTexte 30"/>
            <p:cNvSpPr txBox="1">
              <a:spLocks noChangeArrowheads="1"/>
            </p:cNvSpPr>
            <p:nvPr/>
          </p:nvSpPr>
          <p:spPr bwMode="auto">
            <a:xfrm>
              <a:off x="3209955" y="3091287"/>
              <a:ext cx="1202512" cy="3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cs typeface="Arial" panose="020B0604020202020204" pitchFamily="34" charset="0"/>
                </a:rPr>
                <a:t>Concurrents</a:t>
              </a:r>
              <a:endParaRPr lang="fr-FR" altLang="fr-FR" sz="1800" dirty="0">
                <a:latin typeface="Calibri" panose="020F0502020204030204" pitchFamily="34" charset="0"/>
                <a:cs typeface="Arial" panose="020B0604020202020204" pitchFamily="34" charset="0"/>
              </a:endParaRPr>
            </a:p>
          </p:txBody>
        </p:sp>
        <p:sp>
          <p:nvSpPr>
            <p:cNvPr id="64555" name="Rectangle 83"/>
            <p:cNvSpPr>
              <a:spLocks noChangeArrowheads="1"/>
            </p:cNvSpPr>
            <p:nvPr/>
          </p:nvSpPr>
          <p:spPr bwMode="auto">
            <a:xfrm>
              <a:off x="2453649" y="1392811"/>
              <a:ext cx="634177" cy="1667109"/>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14K€</a:t>
              </a:r>
            </a:p>
          </p:txBody>
        </p:sp>
        <p:cxnSp>
          <p:nvCxnSpPr>
            <p:cNvPr id="64556" name="Connecteur droit 85"/>
            <p:cNvCxnSpPr>
              <a:cxnSpLocks noChangeShapeType="1"/>
            </p:cNvCxnSpPr>
            <p:nvPr/>
          </p:nvCxnSpPr>
          <p:spPr bwMode="auto">
            <a:xfrm rot="5400000" flipH="1" flipV="1">
              <a:off x="1220412" y="1918979"/>
              <a:ext cx="2294381"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57" name="Connecteur droit 86"/>
            <p:cNvCxnSpPr>
              <a:cxnSpLocks noChangeShapeType="1"/>
            </p:cNvCxnSpPr>
            <p:nvPr/>
          </p:nvCxnSpPr>
          <p:spPr bwMode="auto">
            <a:xfrm>
              <a:off x="2350392" y="3059918"/>
              <a:ext cx="175618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4558" name="ZoneTexte 87"/>
            <p:cNvSpPr txBox="1">
              <a:spLocks noChangeArrowheads="1"/>
            </p:cNvSpPr>
            <p:nvPr/>
          </p:nvSpPr>
          <p:spPr bwMode="auto">
            <a:xfrm>
              <a:off x="2068709" y="2838109"/>
              <a:ext cx="376947" cy="27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10 </a:t>
              </a:r>
            </a:p>
          </p:txBody>
        </p:sp>
        <p:sp>
          <p:nvSpPr>
            <p:cNvPr id="64559" name="ZoneTexte 88"/>
            <p:cNvSpPr txBox="1">
              <a:spLocks noChangeArrowheads="1"/>
            </p:cNvSpPr>
            <p:nvPr/>
          </p:nvSpPr>
          <p:spPr bwMode="auto">
            <a:xfrm>
              <a:off x="2063958" y="2445859"/>
              <a:ext cx="3864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11 </a:t>
              </a:r>
            </a:p>
          </p:txBody>
        </p:sp>
        <p:sp>
          <p:nvSpPr>
            <p:cNvPr id="64560" name="ZoneTexte 89"/>
            <p:cNvSpPr txBox="1">
              <a:spLocks noChangeArrowheads="1"/>
            </p:cNvSpPr>
            <p:nvPr/>
          </p:nvSpPr>
          <p:spPr bwMode="auto">
            <a:xfrm>
              <a:off x="2068710" y="2053609"/>
              <a:ext cx="376947" cy="27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12 </a:t>
              </a:r>
            </a:p>
          </p:txBody>
        </p:sp>
        <p:sp>
          <p:nvSpPr>
            <p:cNvPr id="64561" name="ZoneTexte 90"/>
            <p:cNvSpPr txBox="1">
              <a:spLocks noChangeArrowheads="1"/>
            </p:cNvSpPr>
            <p:nvPr/>
          </p:nvSpPr>
          <p:spPr bwMode="auto">
            <a:xfrm>
              <a:off x="2068710" y="1661358"/>
              <a:ext cx="376947" cy="27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13 </a:t>
              </a:r>
            </a:p>
          </p:txBody>
        </p:sp>
        <p:sp>
          <p:nvSpPr>
            <p:cNvPr id="64562" name="ZoneTexte 91"/>
            <p:cNvSpPr txBox="1">
              <a:spLocks noChangeArrowheads="1"/>
            </p:cNvSpPr>
            <p:nvPr/>
          </p:nvSpPr>
          <p:spPr bwMode="auto">
            <a:xfrm>
              <a:off x="2054076" y="1269107"/>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14</a:t>
              </a:r>
            </a:p>
          </p:txBody>
        </p:sp>
        <p:sp>
          <p:nvSpPr>
            <p:cNvPr id="64563" name="ZoneTexte 92"/>
            <p:cNvSpPr txBox="1">
              <a:spLocks noChangeArrowheads="1"/>
            </p:cNvSpPr>
            <p:nvPr/>
          </p:nvSpPr>
          <p:spPr bwMode="auto">
            <a:xfrm>
              <a:off x="2068710" y="876856"/>
              <a:ext cx="376947" cy="27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15 </a:t>
              </a:r>
            </a:p>
          </p:txBody>
        </p:sp>
        <p:sp>
          <p:nvSpPr>
            <p:cNvPr id="64564" name="ZoneTexte 93"/>
            <p:cNvSpPr txBox="1">
              <a:spLocks noChangeArrowheads="1"/>
            </p:cNvSpPr>
            <p:nvPr/>
          </p:nvSpPr>
          <p:spPr bwMode="auto">
            <a:xfrm>
              <a:off x="2065747" y="543474"/>
              <a:ext cx="343292" cy="27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K€</a:t>
              </a:r>
            </a:p>
          </p:txBody>
        </p:sp>
      </p:grpSp>
      <p:sp>
        <p:nvSpPr>
          <p:cNvPr id="100" name="Rectangle 99"/>
          <p:cNvSpPr>
            <a:spLocks noChangeArrowheads="1"/>
          </p:cNvSpPr>
          <p:nvPr/>
        </p:nvSpPr>
        <p:spPr bwMode="auto">
          <a:xfrm>
            <a:off x="6769100" y="4737100"/>
            <a:ext cx="633413" cy="1357313"/>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16M€</a:t>
            </a:r>
          </a:p>
        </p:txBody>
      </p:sp>
      <p:grpSp>
        <p:nvGrpSpPr>
          <p:cNvPr id="129" name="Groupe 128"/>
          <p:cNvGrpSpPr>
            <a:grpSpLocks/>
          </p:cNvGrpSpPr>
          <p:nvPr/>
        </p:nvGrpSpPr>
        <p:grpSpPr bwMode="auto">
          <a:xfrm>
            <a:off x="5173664" y="3687763"/>
            <a:ext cx="2485952" cy="2806840"/>
            <a:chOff x="5172993" y="3687387"/>
            <a:chExt cx="2487144" cy="2807906"/>
          </a:xfrm>
        </p:grpSpPr>
        <p:sp>
          <p:nvSpPr>
            <p:cNvPr id="64538" name="ZoneTexte 95"/>
            <p:cNvSpPr txBox="1">
              <a:spLocks noChangeArrowheads="1"/>
            </p:cNvSpPr>
            <p:nvPr/>
          </p:nvSpPr>
          <p:spPr bwMode="auto">
            <a:xfrm>
              <a:off x="5585377" y="6125821"/>
              <a:ext cx="778407" cy="36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cs typeface="Arial" panose="020B0604020202020204" pitchFamily="34" charset="0"/>
                </a:rPr>
                <a:t>PALEO</a:t>
              </a:r>
            </a:p>
          </p:txBody>
        </p:sp>
        <p:sp>
          <p:nvSpPr>
            <p:cNvPr id="64539" name="ZoneTexte 96"/>
            <p:cNvSpPr txBox="1">
              <a:spLocks noChangeArrowheads="1"/>
            </p:cNvSpPr>
            <p:nvPr/>
          </p:nvSpPr>
          <p:spPr bwMode="auto">
            <a:xfrm>
              <a:off x="6456795" y="6125821"/>
              <a:ext cx="1203342" cy="338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cs typeface="Arial" panose="020B0604020202020204" pitchFamily="34" charset="0"/>
                </a:rPr>
                <a:t>Concurrents</a:t>
              </a:r>
              <a:endParaRPr lang="fr-FR" altLang="fr-FR" sz="1800" dirty="0">
                <a:latin typeface="Calibri" panose="020F0502020204030204" pitchFamily="34" charset="0"/>
                <a:cs typeface="Arial" panose="020B0604020202020204" pitchFamily="34" charset="0"/>
              </a:endParaRPr>
            </a:p>
          </p:txBody>
        </p:sp>
        <p:sp>
          <p:nvSpPr>
            <p:cNvPr id="64540" name="ZoneTexte 97"/>
            <p:cNvSpPr txBox="1">
              <a:spLocks noChangeArrowheads="1"/>
            </p:cNvSpPr>
            <p:nvPr/>
          </p:nvSpPr>
          <p:spPr bwMode="auto">
            <a:xfrm>
              <a:off x="6284345" y="3700159"/>
              <a:ext cx="975658" cy="3179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000099"/>
                  </a:solidFill>
                  <a:latin typeface="Calibri" panose="020F0502020204030204" pitchFamily="34" charset="0"/>
                  <a:cs typeface="Arial" panose="020B0604020202020204" pitchFamily="34" charset="0"/>
                </a:rPr>
                <a:t>STOCKS</a:t>
              </a:r>
            </a:p>
          </p:txBody>
        </p:sp>
        <p:sp>
          <p:nvSpPr>
            <p:cNvPr id="64541" name="Rectangle 98"/>
            <p:cNvSpPr>
              <a:spLocks noChangeArrowheads="1"/>
            </p:cNvSpPr>
            <p:nvPr/>
          </p:nvSpPr>
          <p:spPr bwMode="auto">
            <a:xfrm>
              <a:off x="5700898" y="4059999"/>
              <a:ext cx="634177" cy="2034299"/>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20M€</a:t>
              </a:r>
            </a:p>
          </p:txBody>
        </p:sp>
        <p:cxnSp>
          <p:nvCxnSpPr>
            <p:cNvPr id="64542" name="Connecteur droit 100"/>
            <p:cNvCxnSpPr>
              <a:cxnSpLocks noChangeShapeType="1"/>
            </p:cNvCxnSpPr>
            <p:nvPr/>
          </p:nvCxnSpPr>
          <p:spPr bwMode="auto">
            <a:xfrm rot="5400000" flipH="1" flipV="1">
              <a:off x="4500028" y="4994133"/>
              <a:ext cx="219523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43" name="Connecteur droit 101"/>
            <p:cNvCxnSpPr>
              <a:cxnSpLocks noChangeShapeType="1"/>
            </p:cNvCxnSpPr>
            <p:nvPr/>
          </p:nvCxnSpPr>
          <p:spPr bwMode="auto">
            <a:xfrm>
              <a:off x="5597641" y="6094298"/>
              <a:ext cx="175618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4544" name="ZoneTexte 102"/>
            <p:cNvSpPr txBox="1">
              <a:spLocks noChangeArrowheads="1"/>
            </p:cNvSpPr>
            <p:nvPr/>
          </p:nvSpPr>
          <p:spPr bwMode="auto">
            <a:xfrm>
              <a:off x="5388224" y="5841513"/>
              <a:ext cx="151324" cy="27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8</a:t>
              </a:r>
            </a:p>
          </p:txBody>
        </p:sp>
        <p:sp>
          <p:nvSpPr>
            <p:cNvPr id="64545" name="ZoneTexte 103"/>
            <p:cNvSpPr txBox="1">
              <a:spLocks noChangeArrowheads="1"/>
            </p:cNvSpPr>
            <p:nvPr/>
          </p:nvSpPr>
          <p:spPr bwMode="auto">
            <a:xfrm>
              <a:off x="5286595" y="5507966"/>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10</a:t>
              </a:r>
            </a:p>
          </p:txBody>
        </p:sp>
        <p:sp>
          <p:nvSpPr>
            <p:cNvPr id="64546" name="ZoneTexte 104"/>
            <p:cNvSpPr txBox="1">
              <a:spLocks noChangeArrowheads="1"/>
            </p:cNvSpPr>
            <p:nvPr/>
          </p:nvSpPr>
          <p:spPr bwMode="auto">
            <a:xfrm>
              <a:off x="5286596" y="5174413"/>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12</a:t>
              </a:r>
            </a:p>
          </p:txBody>
        </p:sp>
        <p:sp>
          <p:nvSpPr>
            <p:cNvPr id="64547" name="ZoneTexte 105"/>
            <p:cNvSpPr txBox="1">
              <a:spLocks noChangeArrowheads="1"/>
            </p:cNvSpPr>
            <p:nvPr/>
          </p:nvSpPr>
          <p:spPr bwMode="auto">
            <a:xfrm>
              <a:off x="5286596" y="4840862"/>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14</a:t>
              </a:r>
            </a:p>
          </p:txBody>
        </p:sp>
        <p:sp>
          <p:nvSpPr>
            <p:cNvPr id="64548" name="ZoneTexte 106"/>
            <p:cNvSpPr txBox="1">
              <a:spLocks noChangeArrowheads="1"/>
            </p:cNvSpPr>
            <p:nvPr/>
          </p:nvSpPr>
          <p:spPr bwMode="auto">
            <a:xfrm>
              <a:off x="5286596" y="4507311"/>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16</a:t>
              </a:r>
            </a:p>
          </p:txBody>
        </p:sp>
        <p:sp>
          <p:nvSpPr>
            <p:cNvPr id="64549" name="ZoneTexte 107"/>
            <p:cNvSpPr txBox="1">
              <a:spLocks noChangeArrowheads="1"/>
            </p:cNvSpPr>
            <p:nvPr/>
          </p:nvSpPr>
          <p:spPr bwMode="auto">
            <a:xfrm>
              <a:off x="5275283" y="3880258"/>
              <a:ext cx="377207" cy="27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20 </a:t>
              </a:r>
            </a:p>
          </p:txBody>
        </p:sp>
        <p:sp>
          <p:nvSpPr>
            <p:cNvPr id="64550" name="ZoneTexte 108"/>
            <p:cNvSpPr txBox="1">
              <a:spLocks noChangeArrowheads="1"/>
            </p:cNvSpPr>
            <p:nvPr/>
          </p:nvSpPr>
          <p:spPr bwMode="auto">
            <a:xfrm>
              <a:off x="5172993" y="3687387"/>
              <a:ext cx="3978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M€</a:t>
              </a:r>
            </a:p>
          </p:txBody>
        </p:sp>
        <p:sp>
          <p:nvSpPr>
            <p:cNvPr id="64551" name="ZoneTexte 109"/>
            <p:cNvSpPr txBox="1">
              <a:spLocks noChangeArrowheads="1"/>
            </p:cNvSpPr>
            <p:nvPr/>
          </p:nvSpPr>
          <p:spPr bwMode="auto">
            <a:xfrm>
              <a:off x="5286595" y="4173758"/>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18</a:t>
              </a:r>
            </a:p>
          </p:txBody>
        </p:sp>
      </p:grpSp>
      <p:sp>
        <p:nvSpPr>
          <p:cNvPr id="116" name="Rectangle 115"/>
          <p:cNvSpPr>
            <a:spLocks noChangeArrowheads="1"/>
          </p:cNvSpPr>
          <p:nvPr/>
        </p:nvSpPr>
        <p:spPr bwMode="auto">
          <a:xfrm>
            <a:off x="3536950" y="4613275"/>
            <a:ext cx="633413" cy="1465263"/>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70</a:t>
            </a:r>
          </a:p>
        </p:txBody>
      </p:sp>
      <p:grpSp>
        <p:nvGrpSpPr>
          <p:cNvPr id="128" name="Groupe 127"/>
          <p:cNvGrpSpPr>
            <a:grpSpLocks/>
          </p:cNvGrpSpPr>
          <p:nvPr/>
        </p:nvGrpSpPr>
        <p:grpSpPr bwMode="auto">
          <a:xfrm>
            <a:off x="1689068" y="3668713"/>
            <a:ext cx="2738238" cy="2778242"/>
            <a:chOff x="1688475" y="3667974"/>
            <a:chExt cx="2738879" cy="2779124"/>
          </a:xfrm>
        </p:grpSpPr>
        <p:sp>
          <p:nvSpPr>
            <p:cNvPr id="64526" name="ZoneTexte 111"/>
            <p:cNvSpPr txBox="1">
              <a:spLocks noChangeArrowheads="1"/>
            </p:cNvSpPr>
            <p:nvPr/>
          </p:nvSpPr>
          <p:spPr bwMode="auto">
            <a:xfrm>
              <a:off x="2877899" y="3667974"/>
              <a:ext cx="975658" cy="3255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000099"/>
                  </a:solidFill>
                  <a:latin typeface="Calibri" panose="020F0502020204030204" pitchFamily="34" charset="0"/>
                  <a:cs typeface="Arial" panose="020B0604020202020204" pitchFamily="34" charset="0"/>
                </a:rPr>
                <a:t>QUALITÉ</a:t>
              </a:r>
            </a:p>
          </p:txBody>
        </p:sp>
        <p:sp>
          <p:nvSpPr>
            <p:cNvPr id="64527" name="ZoneTexte 112"/>
            <p:cNvSpPr txBox="1">
              <a:spLocks noChangeArrowheads="1"/>
            </p:cNvSpPr>
            <p:nvPr/>
          </p:nvSpPr>
          <p:spPr bwMode="auto">
            <a:xfrm>
              <a:off x="2352836" y="6077649"/>
              <a:ext cx="778216" cy="369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cs typeface="Arial" panose="020B0604020202020204" pitchFamily="34" charset="0"/>
                </a:rPr>
                <a:t>PALEO</a:t>
              </a:r>
            </a:p>
          </p:txBody>
        </p:sp>
        <p:sp>
          <p:nvSpPr>
            <p:cNvPr id="64528" name="ZoneTexte 113"/>
            <p:cNvSpPr txBox="1">
              <a:spLocks noChangeArrowheads="1"/>
            </p:cNvSpPr>
            <p:nvPr/>
          </p:nvSpPr>
          <p:spPr bwMode="auto">
            <a:xfrm>
              <a:off x="3224307" y="6087306"/>
              <a:ext cx="1203047" cy="338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cs typeface="Arial" panose="020B0604020202020204" pitchFamily="34" charset="0"/>
                </a:rPr>
                <a:t>Concurrents</a:t>
              </a:r>
              <a:endParaRPr lang="fr-FR" altLang="fr-FR" sz="1800" dirty="0">
                <a:latin typeface="Calibri" panose="020F0502020204030204" pitchFamily="34" charset="0"/>
                <a:cs typeface="Arial" panose="020B0604020202020204" pitchFamily="34" charset="0"/>
              </a:endParaRPr>
            </a:p>
          </p:txBody>
        </p:sp>
        <p:sp>
          <p:nvSpPr>
            <p:cNvPr id="64529" name="Rectangle 114"/>
            <p:cNvSpPr>
              <a:spLocks noChangeArrowheads="1"/>
            </p:cNvSpPr>
            <p:nvPr/>
          </p:nvSpPr>
          <p:spPr bwMode="auto">
            <a:xfrm>
              <a:off x="2468268" y="5421008"/>
              <a:ext cx="634178" cy="657539"/>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800" dirty="0">
                  <a:latin typeface="Calibri" panose="020F0502020204030204" pitchFamily="34" charset="0"/>
                  <a:cs typeface="Arial" panose="020B0604020202020204" pitchFamily="34" charset="0"/>
                </a:rPr>
                <a:t>30</a:t>
              </a:r>
            </a:p>
          </p:txBody>
        </p:sp>
        <p:cxnSp>
          <p:nvCxnSpPr>
            <p:cNvPr id="64530" name="Connecteur droit 116"/>
            <p:cNvCxnSpPr>
              <a:cxnSpLocks noChangeShapeType="1"/>
            </p:cNvCxnSpPr>
            <p:nvPr/>
          </p:nvCxnSpPr>
          <p:spPr bwMode="auto">
            <a:xfrm rot="5400000" flipH="1" flipV="1">
              <a:off x="1316179" y="5016481"/>
              <a:ext cx="2097665"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531" name="Connecteur droit 117"/>
            <p:cNvCxnSpPr>
              <a:cxnSpLocks noChangeShapeType="1"/>
            </p:cNvCxnSpPr>
            <p:nvPr/>
          </p:nvCxnSpPr>
          <p:spPr bwMode="auto">
            <a:xfrm>
              <a:off x="2365011" y="6078549"/>
              <a:ext cx="180496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4532" name="ZoneTexte 118"/>
            <p:cNvSpPr txBox="1">
              <a:spLocks noChangeArrowheads="1"/>
            </p:cNvSpPr>
            <p:nvPr/>
          </p:nvSpPr>
          <p:spPr bwMode="auto">
            <a:xfrm>
              <a:off x="2131197" y="5851398"/>
              <a:ext cx="186560" cy="27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0 </a:t>
              </a:r>
            </a:p>
          </p:txBody>
        </p:sp>
        <p:sp>
          <p:nvSpPr>
            <p:cNvPr id="64533" name="ZoneTexte 119"/>
            <p:cNvSpPr txBox="1">
              <a:spLocks noChangeArrowheads="1"/>
            </p:cNvSpPr>
            <p:nvPr/>
          </p:nvSpPr>
          <p:spPr bwMode="auto">
            <a:xfrm>
              <a:off x="2047188" y="5449702"/>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20</a:t>
              </a:r>
            </a:p>
          </p:txBody>
        </p:sp>
        <p:sp>
          <p:nvSpPr>
            <p:cNvPr id="64534" name="ZoneTexte 120"/>
            <p:cNvSpPr txBox="1">
              <a:spLocks noChangeArrowheads="1"/>
            </p:cNvSpPr>
            <p:nvPr/>
          </p:nvSpPr>
          <p:spPr bwMode="auto">
            <a:xfrm>
              <a:off x="2047188" y="5048004"/>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40</a:t>
              </a:r>
            </a:p>
          </p:txBody>
        </p:sp>
        <p:sp>
          <p:nvSpPr>
            <p:cNvPr id="64535" name="ZoneTexte 121"/>
            <p:cNvSpPr txBox="1">
              <a:spLocks noChangeArrowheads="1"/>
            </p:cNvSpPr>
            <p:nvPr/>
          </p:nvSpPr>
          <p:spPr bwMode="auto">
            <a:xfrm>
              <a:off x="2047188" y="4646308"/>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60</a:t>
              </a:r>
            </a:p>
          </p:txBody>
        </p:sp>
        <p:sp>
          <p:nvSpPr>
            <p:cNvPr id="64536" name="ZoneTexte 122"/>
            <p:cNvSpPr txBox="1">
              <a:spLocks noChangeArrowheads="1"/>
            </p:cNvSpPr>
            <p:nvPr/>
          </p:nvSpPr>
          <p:spPr bwMode="auto">
            <a:xfrm>
              <a:off x="2047188" y="4244612"/>
              <a:ext cx="354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80</a:t>
              </a:r>
            </a:p>
          </p:txBody>
        </p:sp>
        <p:sp>
          <p:nvSpPr>
            <p:cNvPr id="64537" name="ZoneTexte 123"/>
            <p:cNvSpPr txBox="1">
              <a:spLocks noChangeArrowheads="1"/>
            </p:cNvSpPr>
            <p:nvPr/>
          </p:nvSpPr>
          <p:spPr bwMode="auto">
            <a:xfrm>
              <a:off x="1688475" y="3728659"/>
              <a:ext cx="793215" cy="3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900"/>
                </a:lnSpc>
                <a:spcBef>
                  <a:spcPct val="0"/>
                </a:spcBef>
                <a:buFontTx/>
                <a:buNone/>
              </a:pPr>
              <a:r>
                <a:rPr lang="fr-FR" altLang="fr-FR" sz="1200" dirty="0">
                  <a:latin typeface="Calibri" panose="020F0502020204030204" pitchFamily="34" charset="0"/>
                  <a:cs typeface="Arial" panose="020B0604020202020204" pitchFamily="34" charset="0"/>
                </a:rPr>
                <a:t>Satisfaction</a:t>
              </a:r>
              <a:br>
                <a:rPr lang="fr-FR" altLang="fr-FR" sz="1200" dirty="0">
                  <a:latin typeface="Calibri" panose="020F0502020204030204" pitchFamily="34" charset="0"/>
                  <a:cs typeface="Arial" panose="020B0604020202020204" pitchFamily="34" charset="0"/>
                </a:rPr>
              </a:br>
              <a:r>
                <a:rPr lang="fr-FR" altLang="fr-FR" sz="1200" dirty="0">
                  <a:latin typeface="Calibri" panose="020F0502020204030204" pitchFamily="34" charset="0"/>
                  <a:cs typeface="Arial" panose="020B0604020202020204" pitchFamily="34" charset="0"/>
                </a:rPr>
                <a:t>client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2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85" grpId="0" animBg="1"/>
      <p:bldP spid="100" grpId="0" animBg="1"/>
      <p:bldP spid="1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e 82"/>
          <p:cNvGrpSpPr>
            <a:grpSpLocks/>
          </p:cNvGrpSpPr>
          <p:nvPr/>
        </p:nvGrpSpPr>
        <p:grpSpPr bwMode="auto">
          <a:xfrm>
            <a:off x="1790489" y="4656138"/>
            <a:ext cx="2825964" cy="1848745"/>
            <a:chOff x="475332" y="4656534"/>
            <a:chExt cx="2825348" cy="1848088"/>
          </a:xfrm>
        </p:grpSpPr>
        <p:grpSp>
          <p:nvGrpSpPr>
            <p:cNvPr id="66621" name="Groupe 77"/>
            <p:cNvGrpSpPr>
              <a:grpSpLocks/>
            </p:cNvGrpSpPr>
            <p:nvPr/>
          </p:nvGrpSpPr>
          <p:grpSpPr bwMode="auto">
            <a:xfrm>
              <a:off x="475332" y="5489674"/>
              <a:ext cx="2825348" cy="1014948"/>
              <a:chOff x="475332" y="5489674"/>
              <a:chExt cx="2825348" cy="1014948"/>
            </a:xfrm>
          </p:grpSpPr>
          <p:sp>
            <p:nvSpPr>
              <p:cNvPr id="27" name="ZoneTexte 116"/>
              <p:cNvSpPr txBox="1">
                <a:spLocks noChangeArrowheads="1"/>
              </p:cNvSpPr>
              <p:nvPr/>
            </p:nvSpPr>
            <p:spPr bwMode="auto">
              <a:xfrm>
                <a:off x="1078451" y="5489674"/>
                <a:ext cx="1618897" cy="399908"/>
              </a:xfrm>
              <a:prstGeom prst="rect">
                <a:avLst/>
              </a:prstGeom>
              <a:solidFill>
                <a:srgbClr val="FFFF99"/>
              </a:solidFill>
              <a:ln w="9525">
                <a:solidFill>
                  <a:schemeClr val="bg1">
                    <a:lumMod val="65000"/>
                  </a:schemeClr>
                </a:solidFill>
                <a:miter lim="800000"/>
                <a:headEnd/>
                <a:tailEnd/>
              </a:ln>
            </p:spPr>
            <p:txBody>
              <a:bodyPr lIns="36000" rIns="36000">
                <a:spAutoFit/>
              </a:bodyPr>
              <a:lstStyle/>
              <a:p>
                <a:pPr algn="ctr" eaLnBrk="1" hangingPunct="1">
                  <a:defRPr/>
                </a:pPr>
                <a:r>
                  <a:rPr lang="fr-FR" sz="2000" dirty="0">
                    <a:latin typeface="Calibri" panose="020F0502020204030204" pitchFamily="34" charset="0"/>
                    <a:cs typeface="Arial" pitchFamily="34" charset="0"/>
                  </a:rPr>
                  <a:t>CONTROL</a:t>
                </a:r>
                <a:endParaRPr lang="fr-FR" sz="2000" b="1" dirty="0">
                  <a:latin typeface="Calibri" panose="020F0502020204030204" pitchFamily="34" charset="0"/>
                  <a:cs typeface="Arial" pitchFamily="34" charset="0"/>
                </a:endParaRPr>
              </a:p>
            </p:txBody>
          </p:sp>
          <p:sp>
            <p:nvSpPr>
              <p:cNvPr id="66630" name="ZoneTexte 146"/>
              <p:cNvSpPr txBox="1">
                <a:spLocks noChangeArrowheads="1"/>
              </p:cNvSpPr>
              <p:nvPr/>
            </p:nvSpPr>
            <p:spPr bwMode="auto">
              <a:xfrm>
                <a:off x="475332" y="5950180"/>
                <a:ext cx="2825348" cy="55444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latin typeface="Calibri" panose="020F0502020204030204" pitchFamily="34" charset="0"/>
                    <a:cs typeface="Arial" panose="020B0604020202020204" pitchFamily="34" charset="0"/>
                  </a:rPr>
                  <a:t>Contrôler les résultats et assurer leur pérennité</a:t>
                </a:r>
              </a:p>
            </p:txBody>
          </p:sp>
        </p:grpSp>
        <p:cxnSp>
          <p:nvCxnSpPr>
            <p:cNvPr id="66622" name="Connecteur droit avec flèche 38"/>
            <p:cNvCxnSpPr>
              <a:cxnSpLocks noChangeShapeType="1"/>
              <a:stCxn id="24" idx="2"/>
              <a:endCxn id="27" idx="0"/>
            </p:cNvCxnSpPr>
            <p:nvPr/>
          </p:nvCxnSpPr>
          <p:spPr bwMode="auto">
            <a:xfrm>
              <a:off x="1887899" y="4656534"/>
              <a:ext cx="0" cy="83314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cxnSp>
        <p:nvCxnSpPr>
          <p:cNvPr id="66595" name="Connecteur droit avec flèche 36"/>
          <p:cNvCxnSpPr>
            <a:cxnSpLocks noChangeShapeType="1"/>
            <a:stCxn id="22" idx="2"/>
            <a:endCxn id="24" idx="0"/>
          </p:cNvCxnSpPr>
          <p:nvPr/>
        </p:nvCxnSpPr>
        <p:spPr bwMode="auto">
          <a:xfrm rot="5400000">
            <a:off x="2838113" y="3890282"/>
            <a:ext cx="730475"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66597" name="Groupe 76"/>
          <p:cNvGrpSpPr>
            <a:grpSpLocks/>
          </p:cNvGrpSpPr>
          <p:nvPr/>
        </p:nvGrpSpPr>
        <p:grpSpPr bwMode="auto">
          <a:xfrm>
            <a:off x="1395201" y="4256087"/>
            <a:ext cx="3616298" cy="786801"/>
            <a:chOff x="79777" y="4256197"/>
            <a:chExt cx="3616458" cy="786772"/>
          </a:xfrm>
        </p:grpSpPr>
        <p:sp>
          <p:nvSpPr>
            <p:cNvPr id="24" name="ZoneTexte 116"/>
            <p:cNvSpPr txBox="1">
              <a:spLocks noChangeArrowheads="1"/>
            </p:cNvSpPr>
            <p:nvPr/>
          </p:nvSpPr>
          <p:spPr bwMode="auto">
            <a:xfrm>
              <a:off x="1078359" y="4256197"/>
              <a:ext cx="1619322" cy="400036"/>
            </a:xfrm>
            <a:prstGeom prst="rect">
              <a:avLst/>
            </a:prstGeom>
            <a:solidFill>
              <a:srgbClr val="FFFF99"/>
            </a:solidFill>
            <a:ln w="9525">
              <a:solidFill>
                <a:schemeClr val="bg1">
                  <a:lumMod val="65000"/>
                </a:schemeClr>
              </a:solidFill>
              <a:miter lim="800000"/>
              <a:headEnd/>
              <a:tailEnd/>
            </a:ln>
          </p:spPr>
          <p:txBody>
            <a:bodyPr lIns="36000" rIns="36000">
              <a:spAutoFit/>
            </a:bodyPr>
            <a:lstStyle/>
            <a:p>
              <a:pPr algn="ctr" eaLnBrk="1" hangingPunct="1">
                <a:defRPr/>
              </a:pPr>
              <a:r>
                <a:rPr lang="fr-FR" sz="2000" dirty="0">
                  <a:latin typeface="Calibri" panose="020F0502020204030204" pitchFamily="34" charset="0"/>
                  <a:cs typeface="Arial" pitchFamily="34" charset="0"/>
                </a:rPr>
                <a:t>IMPROVE</a:t>
              </a:r>
              <a:endParaRPr lang="fr-FR" sz="2000" b="1" dirty="0">
                <a:latin typeface="Calibri" panose="020F0502020204030204" pitchFamily="34" charset="0"/>
                <a:cs typeface="Arial" pitchFamily="34" charset="0"/>
              </a:endParaRPr>
            </a:p>
          </p:txBody>
        </p:sp>
        <p:sp>
          <p:nvSpPr>
            <p:cNvPr id="66599" name="ZoneTexte 146"/>
            <p:cNvSpPr txBox="1">
              <a:spLocks noChangeArrowheads="1"/>
            </p:cNvSpPr>
            <p:nvPr/>
          </p:nvSpPr>
          <p:spPr bwMode="auto">
            <a:xfrm>
              <a:off x="79777" y="4770469"/>
              <a:ext cx="3616458" cy="272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latin typeface="Calibri" panose="020F0502020204030204" pitchFamily="34" charset="0"/>
                  <a:cs typeface="Arial" panose="020B0604020202020204" pitchFamily="34" charset="0"/>
                </a:rPr>
                <a:t>Mettre en œuvre un plan d’action</a:t>
              </a:r>
            </a:p>
          </p:txBody>
        </p:sp>
      </p:grpSp>
      <p:grpSp>
        <p:nvGrpSpPr>
          <p:cNvPr id="81" name="Groupe 80"/>
          <p:cNvGrpSpPr>
            <a:grpSpLocks/>
          </p:cNvGrpSpPr>
          <p:nvPr/>
        </p:nvGrpSpPr>
        <p:grpSpPr bwMode="auto">
          <a:xfrm>
            <a:off x="1369801" y="2163763"/>
            <a:ext cx="3667045" cy="1764606"/>
            <a:chOff x="54346" y="2163593"/>
            <a:chExt cx="3667321" cy="1764778"/>
          </a:xfrm>
        </p:grpSpPr>
        <p:cxnSp>
          <p:nvCxnSpPr>
            <p:cNvPr id="66590" name="Connecteur droit avec flèche 35"/>
            <p:cNvCxnSpPr>
              <a:cxnSpLocks noChangeShapeType="1"/>
              <a:stCxn id="19" idx="2"/>
              <a:endCxn id="22" idx="0"/>
            </p:cNvCxnSpPr>
            <p:nvPr/>
          </p:nvCxnSpPr>
          <p:spPr bwMode="auto">
            <a:xfrm flipH="1">
              <a:off x="1888047" y="2163593"/>
              <a:ext cx="794" cy="962119"/>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66592" name="Groupe 75"/>
            <p:cNvGrpSpPr>
              <a:grpSpLocks/>
            </p:cNvGrpSpPr>
            <p:nvPr/>
          </p:nvGrpSpPr>
          <p:grpSpPr bwMode="auto">
            <a:xfrm>
              <a:off x="54346" y="3125712"/>
              <a:ext cx="3667321" cy="802659"/>
              <a:chOff x="54346" y="3125712"/>
              <a:chExt cx="3667321" cy="802659"/>
            </a:xfrm>
          </p:grpSpPr>
          <p:sp>
            <p:nvSpPr>
              <p:cNvPr id="22" name="ZoneTexte 116"/>
              <p:cNvSpPr txBox="1">
                <a:spLocks noChangeArrowheads="1"/>
              </p:cNvSpPr>
              <p:nvPr/>
            </p:nvSpPr>
            <p:spPr bwMode="auto">
              <a:xfrm>
                <a:off x="1078361" y="3125712"/>
                <a:ext cx="1619372" cy="400089"/>
              </a:xfrm>
              <a:prstGeom prst="rect">
                <a:avLst/>
              </a:prstGeom>
              <a:solidFill>
                <a:srgbClr val="FFFF99"/>
              </a:solidFill>
              <a:ln w="9525">
                <a:solidFill>
                  <a:schemeClr val="bg1">
                    <a:lumMod val="65000"/>
                  </a:schemeClr>
                </a:solidFill>
                <a:miter lim="800000"/>
                <a:headEnd/>
                <a:tailEnd/>
              </a:ln>
            </p:spPr>
            <p:txBody>
              <a:bodyPr lIns="36000" rIns="36000">
                <a:spAutoFit/>
              </a:bodyPr>
              <a:lstStyle/>
              <a:p>
                <a:pPr algn="ctr" eaLnBrk="1" hangingPunct="1">
                  <a:defRPr/>
                </a:pPr>
                <a:r>
                  <a:rPr lang="fr-FR" sz="2000" dirty="0">
                    <a:latin typeface="Calibri" panose="020F0502020204030204" pitchFamily="34" charset="0"/>
                    <a:cs typeface="Arial" pitchFamily="34" charset="0"/>
                  </a:rPr>
                  <a:t>ANALYSE</a:t>
                </a:r>
                <a:endParaRPr lang="fr-FR" sz="2000" b="1" dirty="0">
                  <a:latin typeface="Calibri" panose="020F0502020204030204" pitchFamily="34" charset="0"/>
                  <a:cs typeface="Arial" pitchFamily="34" charset="0"/>
                </a:endParaRPr>
              </a:p>
            </p:txBody>
          </p:sp>
          <p:sp>
            <p:nvSpPr>
              <p:cNvPr id="66594" name="ZoneTexte 146"/>
              <p:cNvSpPr txBox="1">
                <a:spLocks noChangeArrowheads="1"/>
              </p:cNvSpPr>
              <p:nvPr/>
            </p:nvSpPr>
            <p:spPr bwMode="auto">
              <a:xfrm>
                <a:off x="54346" y="3655834"/>
                <a:ext cx="3667321" cy="2725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latin typeface="Calibri" panose="020F0502020204030204" pitchFamily="34" charset="0"/>
                    <a:cs typeface="Arial" panose="020B0604020202020204" pitchFamily="34" charset="0"/>
                  </a:rPr>
                  <a:t>Comprendre l’origine des difficultés</a:t>
                </a:r>
              </a:p>
            </p:txBody>
          </p:sp>
        </p:grpSp>
      </p:grpSp>
      <p:grpSp>
        <p:nvGrpSpPr>
          <p:cNvPr id="80" name="Groupe 79"/>
          <p:cNvGrpSpPr>
            <a:grpSpLocks/>
          </p:cNvGrpSpPr>
          <p:nvPr/>
        </p:nvGrpSpPr>
        <p:grpSpPr bwMode="auto">
          <a:xfrm>
            <a:off x="1888914" y="941389"/>
            <a:ext cx="2630383" cy="1885263"/>
            <a:chOff x="572330" y="941295"/>
            <a:chExt cx="2631353" cy="1884625"/>
          </a:xfrm>
        </p:grpSpPr>
        <p:cxnSp>
          <p:nvCxnSpPr>
            <p:cNvPr id="66585" name="Connecteur droit avec flèche 34"/>
            <p:cNvCxnSpPr>
              <a:cxnSpLocks noChangeShapeType="1"/>
              <a:stCxn id="16" idx="2"/>
              <a:endCxn id="19" idx="0"/>
            </p:cNvCxnSpPr>
            <p:nvPr/>
          </p:nvCxnSpPr>
          <p:spPr bwMode="auto">
            <a:xfrm>
              <a:off x="1888059" y="941295"/>
              <a:ext cx="0" cy="82204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66587" name="Groupe 74"/>
            <p:cNvGrpSpPr>
              <a:grpSpLocks/>
            </p:cNvGrpSpPr>
            <p:nvPr/>
          </p:nvGrpSpPr>
          <p:grpSpPr bwMode="auto">
            <a:xfrm>
              <a:off x="572330" y="1763342"/>
              <a:ext cx="2631353" cy="1062578"/>
              <a:chOff x="572330" y="1763342"/>
              <a:chExt cx="2631353" cy="1062578"/>
            </a:xfrm>
          </p:grpSpPr>
          <p:sp>
            <p:nvSpPr>
              <p:cNvPr id="19" name="ZoneTexte 116"/>
              <p:cNvSpPr txBox="1">
                <a:spLocks noChangeArrowheads="1"/>
              </p:cNvSpPr>
              <p:nvPr/>
            </p:nvSpPr>
            <p:spPr bwMode="auto">
              <a:xfrm>
                <a:off x="1077341" y="1763342"/>
                <a:ext cx="1621435" cy="399914"/>
              </a:xfrm>
              <a:prstGeom prst="rect">
                <a:avLst/>
              </a:prstGeom>
              <a:solidFill>
                <a:srgbClr val="FFFF99"/>
              </a:solidFill>
              <a:ln w="9525">
                <a:solidFill>
                  <a:schemeClr val="bg1">
                    <a:lumMod val="65000"/>
                  </a:schemeClr>
                </a:solidFill>
                <a:miter lim="800000"/>
                <a:headEnd/>
                <a:tailEnd/>
              </a:ln>
            </p:spPr>
            <p:txBody>
              <a:bodyPr lIns="36000" rIns="36000">
                <a:spAutoFit/>
              </a:bodyPr>
              <a:lstStyle/>
              <a:p>
                <a:pPr algn="ctr" eaLnBrk="1" hangingPunct="1">
                  <a:defRPr/>
                </a:pPr>
                <a:r>
                  <a:rPr lang="fr-FR" sz="2000" dirty="0">
                    <a:latin typeface="Calibri" panose="020F0502020204030204" pitchFamily="34" charset="0"/>
                    <a:cs typeface="Arial" pitchFamily="34" charset="0"/>
                  </a:rPr>
                  <a:t>MEASURE</a:t>
                </a:r>
                <a:endParaRPr lang="fr-FR" sz="2000" b="1" dirty="0">
                  <a:latin typeface="Calibri" panose="020F0502020204030204" pitchFamily="34" charset="0"/>
                  <a:cs typeface="Arial" pitchFamily="34" charset="0"/>
                </a:endParaRPr>
              </a:p>
            </p:txBody>
          </p:sp>
          <p:sp>
            <p:nvSpPr>
              <p:cNvPr id="66589" name="ZoneTexte 146"/>
              <p:cNvSpPr txBox="1">
                <a:spLocks noChangeArrowheads="1"/>
              </p:cNvSpPr>
              <p:nvPr/>
            </p:nvSpPr>
            <p:spPr bwMode="auto">
              <a:xfrm>
                <a:off x="572330" y="2271469"/>
                <a:ext cx="2631353" cy="55445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latin typeface="Calibri" panose="020F0502020204030204" pitchFamily="34" charset="0"/>
                    <a:cs typeface="Arial" panose="020B0604020202020204" pitchFamily="34" charset="0"/>
                  </a:rPr>
                  <a:t>Évaluer de façon précise la situation actuelle</a:t>
                </a:r>
              </a:p>
            </p:txBody>
          </p:sp>
        </p:grpSp>
      </p:grpSp>
      <p:sp>
        <p:nvSpPr>
          <p:cNvPr id="66566" name="Titre 1"/>
          <p:cNvSpPr>
            <a:spLocks noGrp="1"/>
          </p:cNvSpPr>
          <p:nvPr>
            <p:ph type="title"/>
          </p:nvPr>
        </p:nvSpPr>
        <p:spPr/>
        <p:txBody>
          <a:bodyPr/>
          <a:lstStyle/>
          <a:p>
            <a:r>
              <a:rPr lang="fr-FR" altLang="fr-FR"/>
              <a:t>Le projet LEAN</a:t>
            </a:r>
          </a:p>
        </p:txBody>
      </p:sp>
      <p:sp>
        <p:nvSpPr>
          <p:cNvPr id="66567" name="Espace réservé du numéro de diapositive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a:spcBef>
                <a:spcPct val="0"/>
              </a:spcBef>
              <a:buFontTx/>
              <a:buNone/>
            </a:pPr>
            <a:fld id="{D5F7659B-624F-41F9-85CA-105FC82E775B}" type="slidenum">
              <a:rPr lang="fr-FR" altLang="fr-FR" smtClean="0">
                <a:latin typeface="Calibri" panose="020F0502020204030204" pitchFamily="34" charset="0"/>
              </a:rPr>
              <a:pPr algn="r">
                <a:spcBef>
                  <a:spcPct val="0"/>
                </a:spcBef>
                <a:buFontTx/>
                <a:buNone/>
              </a:pPr>
              <a:t>28</a:t>
            </a:fld>
            <a:endParaRPr lang="fr-FR" altLang="fr-FR" dirty="0">
              <a:latin typeface="Calibri" panose="020F0502020204030204" pitchFamily="34" charset="0"/>
            </a:endParaRPr>
          </a:p>
        </p:txBody>
      </p:sp>
      <p:sp>
        <p:nvSpPr>
          <p:cNvPr id="66568" name="Espace réservé du pied de page 29"/>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pSp>
        <p:nvGrpSpPr>
          <p:cNvPr id="66582" name="Groupe 73"/>
          <p:cNvGrpSpPr>
            <a:grpSpLocks/>
          </p:cNvGrpSpPr>
          <p:nvPr/>
        </p:nvGrpSpPr>
        <p:grpSpPr bwMode="auto">
          <a:xfrm>
            <a:off x="1304713" y="541338"/>
            <a:ext cx="3798404" cy="797499"/>
            <a:chOff x="-11628" y="541213"/>
            <a:chExt cx="3799268" cy="797254"/>
          </a:xfrm>
        </p:grpSpPr>
        <p:sp>
          <p:nvSpPr>
            <p:cNvPr id="16" name="ZoneTexte 116"/>
            <p:cNvSpPr txBox="1">
              <a:spLocks noChangeArrowheads="1"/>
            </p:cNvSpPr>
            <p:nvPr/>
          </p:nvSpPr>
          <p:spPr bwMode="auto">
            <a:xfrm>
              <a:off x="1077646" y="541213"/>
              <a:ext cx="1621206" cy="399927"/>
            </a:xfrm>
            <a:prstGeom prst="rect">
              <a:avLst/>
            </a:prstGeom>
            <a:solidFill>
              <a:srgbClr val="FFFF99"/>
            </a:solidFill>
            <a:ln w="9525">
              <a:solidFill>
                <a:schemeClr val="bg1">
                  <a:lumMod val="65000"/>
                </a:schemeClr>
              </a:solidFill>
              <a:miter lim="800000"/>
              <a:headEnd/>
              <a:tailEnd/>
            </a:ln>
          </p:spPr>
          <p:txBody>
            <a:bodyPr lIns="36000" rIns="36000">
              <a:spAutoFit/>
            </a:bodyPr>
            <a:lstStyle/>
            <a:p>
              <a:pPr algn="ctr" eaLnBrk="1" hangingPunct="1">
                <a:defRPr/>
              </a:pPr>
              <a:r>
                <a:rPr lang="fr-FR" sz="2000" dirty="0">
                  <a:latin typeface="Calibri" panose="020F0502020204030204" pitchFamily="34" charset="0"/>
                  <a:cs typeface="Arial" pitchFamily="34" charset="0"/>
                </a:rPr>
                <a:t>DEFINE</a:t>
              </a:r>
              <a:endParaRPr lang="fr-FR" sz="2000" b="1" dirty="0">
                <a:latin typeface="Calibri" panose="020F0502020204030204" pitchFamily="34" charset="0"/>
                <a:cs typeface="Arial" pitchFamily="34" charset="0"/>
              </a:endParaRPr>
            </a:p>
          </p:txBody>
        </p:sp>
        <p:sp>
          <p:nvSpPr>
            <p:cNvPr id="66584" name="ZoneTexte 146"/>
            <p:cNvSpPr txBox="1">
              <a:spLocks noChangeArrowheads="1"/>
            </p:cNvSpPr>
            <p:nvPr/>
          </p:nvSpPr>
          <p:spPr bwMode="auto">
            <a:xfrm>
              <a:off x="-11628" y="1066041"/>
              <a:ext cx="3799268" cy="2724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latin typeface="Calibri" panose="020F0502020204030204" pitchFamily="34" charset="0"/>
                  <a:cs typeface="Arial" panose="020B0604020202020204" pitchFamily="34" charset="0"/>
                </a:rPr>
                <a:t>Définir le projet et ses objectifs</a:t>
              </a:r>
            </a:p>
          </p:txBody>
        </p:sp>
      </p:grpSp>
      <p:grpSp>
        <p:nvGrpSpPr>
          <p:cNvPr id="93" name="Groupe 92"/>
          <p:cNvGrpSpPr>
            <a:grpSpLocks/>
          </p:cNvGrpSpPr>
          <p:nvPr/>
        </p:nvGrpSpPr>
        <p:grpSpPr bwMode="auto">
          <a:xfrm>
            <a:off x="5256259" y="1443038"/>
            <a:ext cx="2884488" cy="1709737"/>
            <a:chOff x="5331854" y="1442436"/>
            <a:chExt cx="2884868" cy="1709757"/>
          </a:xfrm>
        </p:grpSpPr>
        <p:grpSp>
          <p:nvGrpSpPr>
            <p:cNvPr id="66577" name="Groupe 85"/>
            <p:cNvGrpSpPr>
              <a:grpSpLocks/>
            </p:cNvGrpSpPr>
            <p:nvPr/>
          </p:nvGrpSpPr>
          <p:grpSpPr bwMode="auto">
            <a:xfrm>
              <a:off x="5975796" y="1442436"/>
              <a:ext cx="2240926" cy="1709757"/>
              <a:chOff x="6053070" y="1416676"/>
              <a:chExt cx="2240926" cy="1709757"/>
            </a:xfrm>
          </p:grpSpPr>
          <p:sp>
            <p:nvSpPr>
              <p:cNvPr id="66579" name="ZoneTexte 146"/>
              <p:cNvSpPr txBox="1">
                <a:spLocks noChangeArrowheads="1"/>
              </p:cNvSpPr>
              <p:nvPr/>
            </p:nvSpPr>
            <p:spPr bwMode="auto">
              <a:xfrm>
                <a:off x="6195990" y="2844304"/>
                <a:ext cx="2098006" cy="2821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solidFill>
                      <a:srgbClr val="0033CC"/>
                    </a:solidFill>
                    <a:latin typeface="Calibri" panose="020F0502020204030204" pitchFamily="34" charset="0"/>
                    <a:cs typeface="Arial" panose="020B0604020202020204" pitchFamily="34" charset="0"/>
                  </a:rPr>
                  <a:t>SIMULATION </a:t>
                </a:r>
                <a:r>
                  <a:rPr lang="fr-FR" altLang="fr-FR" sz="2000" b="1" dirty="0">
                    <a:solidFill>
                      <a:srgbClr val="FF0000"/>
                    </a:solidFill>
                    <a:latin typeface="Calibri" panose="020F0502020204030204" pitchFamily="34" charset="0"/>
                    <a:cs typeface="Arial" panose="020B0604020202020204" pitchFamily="34" charset="0"/>
                  </a:rPr>
                  <a:t>1</a:t>
                </a:r>
              </a:p>
            </p:txBody>
          </p:sp>
          <p:pic>
            <p:nvPicPr>
              <p:cNvPr id="66580" name="Picture 34" descr="TIP5e¦ütu-fin E¦üTU8"/>
              <p:cNvPicPr>
                <a:picLocks noChangeAspect="1" noChangeArrowheads="1"/>
              </p:cNvPicPr>
              <p:nvPr/>
            </p:nvPicPr>
            <p:blipFill>
              <a:blip r:embed="rId3">
                <a:extLst>
                  <a:ext uri="{28A0092B-C50C-407E-A947-70E740481C1C}">
                    <a14:useLocalDpi xmlns:a14="http://schemas.microsoft.com/office/drawing/2010/main" val="0"/>
                  </a:ext>
                </a:extLst>
              </a:blip>
              <a:srcRect t="27962" r="9444" b="14101"/>
              <a:stretch>
                <a:fillRect/>
              </a:stretch>
            </p:blipFill>
            <p:spPr bwMode="auto">
              <a:xfrm>
                <a:off x="6053070" y="1416676"/>
                <a:ext cx="2099257" cy="13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66578" name="Connecteur droit avec flèche 88"/>
            <p:cNvCxnSpPr>
              <a:cxnSpLocks noChangeShapeType="1"/>
            </p:cNvCxnSpPr>
            <p:nvPr/>
          </p:nvCxnSpPr>
          <p:spPr bwMode="auto">
            <a:xfrm rot="10800000">
              <a:off x="5331854" y="2292439"/>
              <a:ext cx="54091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92" name="Groupe 91"/>
          <p:cNvGrpSpPr>
            <a:grpSpLocks/>
          </p:cNvGrpSpPr>
          <p:nvPr/>
        </p:nvGrpSpPr>
        <p:grpSpPr bwMode="auto">
          <a:xfrm>
            <a:off x="5243559" y="4894263"/>
            <a:ext cx="2806700" cy="1684337"/>
            <a:chOff x="5499279" y="4713668"/>
            <a:chExt cx="2807594" cy="1683998"/>
          </a:xfrm>
        </p:grpSpPr>
        <p:grpSp>
          <p:nvGrpSpPr>
            <p:cNvPr id="66573" name="Groupe 86"/>
            <p:cNvGrpSpPr>
              <a:grpSpLocks/>
            </p:cNvGrpSpPr>
            <p:nvPr/>
          </p:nvGrpSpPr>
          <p:grpSpPr bwMode="auto">
            <a:xfrm>
              <a:off x="6065949" y="4713668"/>
              <a:ext cx="2240924" cy="1683998"/>
              <a:chOff x="6091707" y="4121240"/>
              <a:chExt cx="2240924" cy="1683998"/>
            </a:xfrm>
          </p:grpSpPr>
          <p:sp>
            <p:nvSpPr>
              <p:cNvPr id="66575" name="ZoneTexte 146"/>
              <p:cNvSpPr txBox="1">
                <a:spLocks noChangeArrowheads="1"/>
              </p:cNvSpPr>
              <p:nvPr/>
            </p:nvSpPr>
            <p:spPr bwMode="auto">
              <a:xfrm>
                <a:off x="6234625" y="5523109"/>
                <a:ext cx="2098006" cy="2821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800" dirty="0">
                    <a:solidFill>
                      <a:srgbClr val="0033CC"/>
                    </a:solidFill>
                    <a:latin typeface="Calibri" panose="020F0502020204030204" pitchFamily="34" charset="0"/>
                    <a:cs typeface="Arial" panose="020B0604020202020204" pitchFamily="34" charset="0"/>
                  </a:rPr>
                  <a:t>SIMULATION </a:t>
                </a:r>
                <a:r>
                  <a:rPr lang="fr-FR" altLang="fr-FR" sz="2000" b="1" dirty="0">
                    <a:solidFill>
                      <a:srgbClr val="FF0000"/>
                    </a:solidFill>
                    <a:latin typeface="Calibri" panose="020F0502020204030204" pitchFamily="34" charset="0"/>
                    <a:cs typeface="Arial" panose="020B0604020202020204" pitchFamily="34" charset="0"/>
                  </a:rPr>
                  <a:t>2</a:t>
                </a:r>
              </a:p>
            </p:txBody>
          </p:sp>
          <p:pic>
            <p:nvPicPr>
              <p:cNvPr id="66576" name="Picture 34" descr="TIP5e¦ütu-fin E¦üTU8"/>
              <p:cNvPicPr>
                <a:picLocks noChangeAspect="1" noChangeArrowheads="1"/>
              </p:cNvPicPr>
              <p:nvPr/>
            </p:nvPicPr>
            <p:blipFill>
              <a:blip r:embed="rId3">
                <a:extLst>
                  <a:ext uri="{28A0092B-C50C-407E-A947-70E740481C1C}">
                    <a14:useLocalDpi xmlns:a14="http://schemas.microsoft.com/office/drawing/2010/main" val="0"/>
                  </a:ext>
                </a:extLst>
              </a:blip>
              <a:srcRect t="27962" r="9444" b="14101"/>
              <a:stretch>
                <a:fillRect/>
              </a:stretch>
            </p:blipFill>
            <p:spPr bwMode="auto">
              <a:xfrm>
                <a:off x="6091707" y="4121240"/>
                <a:ext cx="2099257" cy="13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66574" name="Connecteur droit avec flèche 89"/>
            <p:cNvCxnSpPr>
              <a:cxnSpLocks noChangeShapeType="1"/>
            </p:cNvCxnSpPr>
            <p:nvPr/>
          </p:nvCxnSpPr>
          <p:spPr bwMode="auto">
            <a:xfrm rot="10800000">
              <a:off x="5499279" y="5473521"/>
              <a:ext cx="56667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e 71"/>
          <p:cNvGrpSpPr>
            <a:grpSpLocks/>
          </p:cNvGrpSpPr>
          <p:nvPr/>
        </p:nvGrpSpPr>
        <p:grpSpPr bwMode="auto">
          <a:xfrm>
            <a:off x="6743700" y="1608138"/>
            <a:ext cx="1695450" cy="3068658"/>
            <a:chOff x="6776830" y="3780538"/>
            <a:chExt cx="1696279" cy="3067956"/>
          </a:xfrm>
        </p:grpSpPr>
        <p:sp>
          <p:nvSpPr>
            <p:cNvPr id="73" name="Rectangle 72"/>
            <p:cNvSpPr/>
            <p:nvPr/>
          </p:nvSpPr>
          <p:spPr>
            <a:xfrm>
              <a:off x="6776830" y="3780538"/>
              <a:ext cx="1696279" cy="3060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8653" name="ZoneTexte 146"/>
            <p:cNvSpPr txBox="1">
              <a:spLocks noChangeArrowheads="1"/>
            </p:cNvSpPr>
            <p:nvPr/>
          </p:nvSpPr>
          <p:spPr bwMode="auto">
            <a:xfrm>
              <a:off x="6932614" y="6586687"/>
              <a:ext cx="1335086" cy="26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600" dirty="0">
                  <a:latin typeface="Calibri" panose="020F0502020204030204" pitchFamily="34" charset="0"/>
                </a:rPr>
                <a:t>Jaune</a:t>
              </a:r>
            </a:p>
          </p:txBody>
        </p:sp>
        <p:sp>
          <p:nvSpPr>
            <p:cNvPr id="68654" name="ZoneTexte 146"/>
            <p:cNvSpPr txBox="1">
              <a:spLocks noChangeArrowheads="1"/>
            </p:cNvSpPr>
            <p:nvPr/>
          </p:nvSpPr>
          <p:spPr bwMode="auto">
            <a:xfrm>
              <a:off x="6848475" y="3818718"/>
              <a:ext cx="1571625" cy="30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600" dirty="0">
                  <a:latin typeface="Calibri" panose="020F0502020204030204" pitchFamily="34" charset="0"/>
                </a:rPr>
                <a:t>OF 45</a:t>
              </a:r>
            </a:p>
          </p:txBody>
        </p:sp>
        <p:sp>
          <p:nvSpPr>
            <p:cNvPr id="76" name="Étoile à 5 branches 75"/>
            <p:cNvSpPr/>
            <p:nvPr/>
          </p:nvSpPr>
          <p:spPr bwMode="auto">
            <a:xfrm>
              <a:off x="7240607" y="4213826"/>
              <a:ext cx="721077" cy="684057"/>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77" name="Triangle isocèle 76"/>
            <p:cNvSpPr/>
            <p:nvPr/>
          </p:nvSpPr>
          <p:spPr bwMode="auto">
            <a:xfrm>
              <a:off x="7291431" y="6054905"/>
              <a:ext cx="617840" cy="468206"/>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78" name="AutoShape 34"/>
            <p:cNvSpPr>
              <a:spLocks noChangeArrowheads="1"/>
            </p:cNvSpPr>
            <p:nvPr/>
          </p:nvSpPr>
          <p:spPr bwMode="auto">
            <a:xfrm>
              <a:off x="7232666" y="5224833"/>
              <a:ext cx="735371" cy="477728"/>
            </a:xfrm>
            <a:prstGeom prst="wave">
              <a:avLst>
                <a:gd name="adj1" fmla="val 20644"/>
                <a:gd name="adj2" fmla="val 7681"/>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8658" name="ZoneTexte 146"/>
            <p:cNvSpPr txBox="1">
              <a:spLocks noChangeArrowheads="1"/>
            </p:cNvSpPr>
            <p:nvPr/>
          </p:nvSpPr>
          <p:spPr bwMode="auto">
            <a:xfrm>
              <a:off x="6932614" y="4948387"/>
              <a:ext cx="1335086" cy="26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600" dirty="0">
                  <a:latin typeface="Calibri" panose="020F0502020204030204" pitchFamily="34" charset="0"/>
                </a:rPr>
                <a:t>Vert</a:t>
              </a:r>
            </a:p>
          </p:txBody>
        </p:sp>
        <p:sp>
          <p:nvSpPr>
            <p:cNvPr id="68659" name="ZoneTexte 146"/>
            <p:cNvSpPr txBox="1">
              <a:spLocks noChangeArrowheads="1"/>
            </p:cNvSpPr>
            <p:nvPr/>
          </p:nvSpPr>
          <p:spPr bwMode="auto">
            <a:xfrm>
              <a:off x="6932614" y="5729437"/>
              <a:ext cx="1335086" cy="26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600" dirty="0">
                  <a:latin typeface="Calibri" panose="020F0502020204030204" pitchFamily="34" charset="0"/>
                </a:rPr>
                <a:t>Rose</a:t>
              </a:r>
            </a:p>
          </p:txBody>
        </p:sp>
      </p:grpSp>
      <p:sp>
        <p:nvSpPr>
          <p:cNvPr id="68611" name="Titre 1"/>
          <p:cNvSpPr>
            <a:spLocks noGrp="1"/>
          </p:cNvSpPr>
          <p:nvPr>
            <p:ph type="title"/>
          </p:nvPr>
        </p:nvSpPr>
        <p:spPr/>
        <p:txBody>
          <a:bodyPr/>
          <a:lstStyle/>
          <a:p>
            <a:r>
              <a:rPr lang="fr-FR" altLang="fr-FR"/>
              <a:t>Les produits</a:t>
            </a:r>
          </a:p>
        </p:txBody>
      </p:sp>
      <p:sp>
        <p:nvSpPr>
          <p:cNvPr id="6861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7AE95BD-42F3-4127-B049-07F7F79E4157}" type="slidenum">
              <a:rPr lang="fr-FR" altLang="fr-FR" smtClean="0">
                <a:latin typeface="Calibri" panose="020F0502020204030204" pitchFamily="34" charset="0"/>
              </a:rPr>
              <a:pPr>
                <a:spcBef>
                  <a:spcPct val="0"/>
                </a:spcBef>
                <a:buFontTx/>
                <a:buNone/>
              </a:pPr>
              <a:t>29</a:t>
            </a:fld>
            <a:endParaRPr lang="fr-FR" altLang="fr-FR" dirty="0">
              <a:latin typeface="Calibri" panose="020F0502020204030204" pitchFamily="34" charset="0"/>
            </a:endParaRPr>
          </a:p>
        </p:txBody>
      </p:sp>
      <p:grpSp>
        <p:nvGrpSpPr>
          <p:cNvPr id="3" name="Groupe 19"/>
          <p:cNvGrpSpPr>
            <a:grpSpLocks/>
          </p:cNvGrpSpPr>
          <p:nvPr/>
        </p:nvGrpSpPr>
        <p:grpSpPr bwMode="auto">
          <a:xfrm>
            <a:off x="3476625" y="1831975"/>
            <a:ext cx="1703388" cy="2422525"/>
            <a:chOff x="6845048" y="558420"/>
            <a:chExt cx="1702052" cy="2421406"/>
          </a:xfrm>
        </p:grpSpPr>
        <p:grpSp>
          <p:nvGrpSpPr>
            <p:cNvPr id="68622" name="Groupe 26"/>
            <p:cNvGrpSpPr>
              <a:grpSpLocks/>
            </p:cNvGrpSpPr>
            <p:nvPr/>
          </p:nvGrpSpPr>
          <p:grpSpPr bwMode="auto">
            <a:xfrm>
              <a:off x="7226048" y="558420"/>
              <a:ext cx="1321052" cy="2065806"/>
              <a:chOff x="3702424" y="1251643"/>
              <a:chExt cx="1892300" cy="2959100"/>
            </a:xfrm>
          </p:grpSpPr>
          <p:sp>
            <p:nvSpPr>
              <p:cNvPr id="42" name="Rectangle 41"/>
              <p:cNvSpPr/>
              <p:nvPr/>
            </p:nvSpPr>
            <p:spPr bwMode="auto">
              <a:xfrm>
                <a:off x="3701996" y="1251643"/>
                <a:ext cx="1892728" cy="2959335"/>
              </a:xfrm>
              <a:prstGeom prst="rect">
                <a:avLst/>
              </a:prstGeom>
              <a:solidFill>
                <a:schemeClr val="bg1"/>
              </a:solidFill>
              <a:ln w="9525" cap="flat" cmpd="sng" algn="ctr">
                <a:solidFill>
                  <a:schemeClr val="tx1"/>
                </a:solidFill>
                <a:prstDash val="solid"/>
                <a:round/>
                <a:headEnd type="none" w="med" len="med"/>
                <a:tailEnd type="triangle" w="med" len="med"/>
              </a:ln>
              <a:effectLst>
                <a:outerShdw blurRad="50800" dist="101600" dir="3000000" algn="l" rotWithShape="0">
                  <a:prstClr val="black">
                    <a:alpha val="52000"/>
                  </a:prstClr>
                </a:outerShdw>
              </a:effectLst>
            </p:spPr>
            <p:txBody>
              <a:bodyPr anchor="ctr"/>
              <a:lstStyle/>
              <a:p>
                <a:pPr algn="ctr" eaLnBrk="1" hangingPunct="1">
                  <a:defRPr/>
                </a:pPr>
                <a:endParaRPr lang="fr-FR" sz="1600" dirty="0">
                  <a:latin typeface="Calibri" panose="020F0502020204030204" pitchFamily="34" charset="0"/>
                </a:endParaRPr>
              </a:p>
            </p:txBody>
          </p:sp>
          <p:sp>
            <p:nvSpPr>
              <p:cNvPr id="68644" name="AutoShape 2083"/>
              <p:cNvSpPr>
                <a:spLocks noChangeArrowheads="1"/>
              </p:cNvSpPr>
              <p:nvPr/>
            </p:nvSpPr>
            <p:spPr bwMode="auto">
              <a:xfrm>
                <a:off x="4395273" y="1985533"/>
                <a:ext cx="523175" cy="492340"/>
              </a:xfrm>
              <a:prstGeom prst="plus">
                <a:avLst>
                  <a:gd name="adj" fmla="val 29556"/>
                </a:avLst>
              </a:prstGeom>
              <a:solidFill>
                <a:schemeClr val="bg1"/>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68645" name="AutoShape 2084"/>
              <p:cNvSpPr>
                <a:spLocks noChangeArrowheads="1"/>
              </p:cNvSpPr>
              <p:nvPr/>
            </p:nvSpPr>
            <p:spPr bwMode="auto">
              <a:xfrm>
                <a:off x="4344123" y="3494997"/>
                <a:ext cx="629785" cy="509904"/>
              </a:xfrm>
              <a:prstGeom prst="triangle">
                <a:avLst>
                  <a:gd name="adj" fmla="val 50000"/>
                </a:avLst>
              </a:prstGeom>
              <a:solidFill>
                <a:schemeClr val="bg1"/>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50" name="AutoShape 2085"/>
              <p:cNvSpPr>
                <a:spLocks noChangeArrowheads="1"/>
              </p:cNvSpPr>
              <p:nvPr/>
            </p:nvSpPr>
            <p:spPr bwMode="auto">
              <a:xfrm>
                <a:off x="4324574" y="2613120"/>
                <a:ext cx="668021" cy="636416"/>
              </a:xfrm>
              <a:prstGeom prst="star5">
                <a:avLst/>
              </a:prstGeom>
              <a:solidFill>
                <a:schemeClr val="bg1"/>
              </a:solidFill>
              <a:ln w="9525">
                <a:solidFill>
                  <a:schemeClr val="tx1"/>
                </a:solidFill>
                <a:miter lim="800000"/>
                <a:headEnd/>
                <a:tailEnd/>
              </a:ln>
              <a:effectLst/>
            </p:spPr>
            <p:txBody>
              <a:bodyPr wrap="none" anchor="ctr"/>
              <a:lstStyle/>
              <a:p>
                <a:pPr algn="ctr" eaLnBrk="1" hangingPunct="1">
                  <a:defRPr/>
                </a:pPr>
                <a:endParaRPr lang="fr-FR" sz="1400" dirty="0">
                  <a:latin typeface="Calibri" panose="020F0502020204030204" pitchFamily="34" charset="0"/>
                </a:endParaRPr>
              </a:p>
            </p:txBody>
          </p:sp>
          <p:sp>
            <p:nvSpPr>
              <p:cNvPr id="68647" name="Ellipse 50"/>
              <p:cNvSpPr>
                <a:spLocks noChangeArrowheads="1"/>
              </p:cNvSpPr>
              <p:nvPr/>
            </p:nvSpPr>
            <p:spPr bwMode="auto">
              <a:xfrm>
                <a:off x="4223123" y="1517951"/>
                <a:ext cx="869633" cy="272415"/>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68648" name="AutoShape 2084"/>
              <p:cNvSpPr>
                <a:spLocks noChangeArrowheads="1"/>
              </p:cNvSpPr>
              <p:nvPr/>
            </p:nvSpPr>
            <p:spPr bwMode="auto">
              <a:xfrm>
                <a:off x="4344123" y="3494818"/>
                <a:ext cx="629785" cy="509904"/>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53" name="AutoShape 2085"/>
              <p:cNvSpPr>
                <a:spLocks noChangeArrowheads="1"/>
              </p:cNvSpPr>
              <p:nvPr/>
            </p:nvSpPr>
            <p:spPr bwMode="auto">
              <a:xfrm>
                <a:off x="4338207" y="2626757"/>
                <a:ext cx="668021" cy="634142"/>
              </a:xfrm>
              <a:prstGeom prst="star5">
                <a:avLst/>
              </a:prstGeom>
              <a:solidFill>
                <a:srgbClr val="00B0F0"/>
              </a:solidFill>
              <a:ln w="9525">
                <a:solidFill>
                  <a:schemeClr val="tx1"/>
                </a:solidFill>
                <a:miter lim="800000"/>
                <a:headEnd/>
                <a:tailEnd/>
              </a:ln>
              <a:effectLst/>
            </p:spPr>
            <p:txBody>
              <a:bodyPr wrap="none" anchor="ctr"/>
              <a:lstStyle/>
              <a:p>
                <a:pPr algn="ctr" eaLnBrk="1" hangingPunct="1">
                  <a:defRPr/>
                </a:pPr>
                <a:endParaRPr lang="fr-FR" sz="1400" dirty="0">
                  <a:latin typeface="Calibri" panose="020F0502020204030204" pitchFamily="34" charset="0"/>
                </a:endParaRPr>
              </a:p>
            </p:txBody>
          </p:sp>
          <p:sp>
            <p:nvSpPr>
              <p:cNvPr id="68650" name="AutoShape 2083"/>
              <p:cNvSpPr>
                <a:spLocks noChangeArrowheads="1"/>
              </p:cNvSpPr>
              <p:nvPr/>
            </p:nvSpPr>
            <p:spPr bwMode="auto">
              <a:xfrm>
                <a:off x="4395273" y="1998233"/>
                <a:ext cx="523175" cy="492340"/>
              </a:xfrm>
              <a:prstGeom prst="plus">
                <a:avLst>
                  <a:gd name="adj" fmla="val 29556"/>
                </a:avLst>
              </a:prstGeom>
              <a:solidFill>
                <a:srgbClr val="79FF79"/>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68651" name="Ellipse 54"/>
              <p:cNvSpPr>
                <a:spLocks noChangeArrowheads="1"/>
              </p:cNvSpPr>
              <p:nvPr/>
            </p:nvSpPr>
            <p:spPr bwMode="auto">
              <a:xfrm>
                <a:off x="4223123" y="1517951"/>
                <a:ext cx="869633" cy="272415"/>
              </a:xfrm>
              <a:prstGeom prst="ellipse">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68623" name="Groupe 67"/>
            <p:cNvGrpSpPr>
              <a:grpSpLocks/>
            </p:cNvGrpSpPr>
            <p:nvPr/>
          </p:nvGrpSpPr>
          <p:grpSpPr bwMode="auto">
            <a:xfrm>
              <a:off x="7022848" y="723520"/>
              <a:ext cx="1321052" cy="2065806"/>
              <a:chOff x="3702424" y="1251643"/>
              <a:chExt cx="1892300" cy="2959100"/>
            </a:xfrm>
          </p:grpSpPr>
          <p:sp>
            <p:nvSpPr>
              <p:cNvPr id="33" name="Rectangle 32"/>
              <p:cNvSpPr/>
              <p:nvPr/>
            </p:nvSpPr>
            <p:spPr bwMode="auto">
              <a:xfrm>
                <a:off x="3702224" y="1251534"/>
                <a:ext cx="1892728" cy="2959335"/>
              </a:xfrm>
              <a:prstGeom prst="rect">
                <a:avLst/>
              </a:prstGeom>
              <a:solidFill>
                <a:schemeClr val="bg1"/>
              </a:solidFill>
              <a:ln w="9525" cap="flat" cmpd="sng" algn="ctr">
                <a:solidFill>
                  <a:schemeClr val="tx1"/>
                </a:solidFill>
                <a:prstDash val="solid"/>
                <a:round/>
                <a:headEnd type="none" w="med" len="med"/>
                <a:tailEnd type="triangle" w="med" len="med"/>
              </a:ln>
              <a:effectLst>
                <a:outerShdw blurRad="50800" dist="101600" dir="3000000" algn="l" rotWithShape="0">
                  <a:prstClr val="black">
                    <a:alpha val="52000"/>
                  </a:prstClr>
                </a:outerShdw>
              </a:effectLst>
            </p:spPr>
            <p:txBody>
              <a:bodyPr anchor="ctr"/>
              <a:lstStyle/>
              <a:p>
                <a:pPr algn="ctr" eaLnBrk="1" hangingPunct="1">
                  <a:defRPr/>
                </a:pPr>
                <a:endParaRPr lang="fr-FR" sz="1600" dirty="0">
                  <a:latin typeface="Calibri" panose="020F0502020204030204" pitchFamily="34" charset="0"/>
                </a:endParaRPr>
              </a:p>
            </p:txBody>
          </p:sp>
          <p:sp>
            <p:nvSpPr>
              <p:cNvPr id="68635" name="AutoShape 2083"/>
              <p:cNvSpPr>
                <a:spLocks noChangeArrowheads="1"/>
              </p:cNvSpPr>
              <p:nvPr/>
            </p:nvSpPr>
            <p:spPr bwMode="auto">
              <a:xfrm>
                <a:off x="4395273" y="1985533"/>
                <a:ext cx="523175" cy="492340"/>
              </a:xfrm>
              <a:prstGeom prst="plus">
                <a:avLst>
                  <a:gd name="adj" fmla="val 29556"/>
                </a:avLst>
              </a:prstGeom>
              <a:solidFill>
                <a:schemeClr val="bg1"/>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68636" name="AutoShape 2084"/>
              <p:cNvSpPr>
                <a:spLocks noChangeArrowheads="1"/>
              </p:cNvSpPr>
              <p:nvPr/>
            </p:nvSpPr>
            <p:spPr bwMode="auto">
              <a:xfrm>
                <a:off x="4344123" y="3494997"/>
                <a:ext cx="629785" cy="509904"/>
              </a:xfrm>
              <a:prstGeom prst="triangle">
                <a:avLst>
                  <a:gd name="adj" fmla="val 50000"/>
                </a:avLst>
              </a:prstGeom>
              <a:solidFill>
                <a:schemeClr val="bg1"/>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36" name="AutoShape 2085"/>
              <p:cNvSpPr>
                <a:spLocks noChangeArrowheads="1"/>
              </p:cNvSpPr>
              <p:nvPr/>
            </p:nvSpPr>
            <p:spPr bwMode="auto">
              <a:xfrm>
                <a:off x="4324801" y="2613011"/>
                <a:ext cx="668021" cy="636416"/>
              </a:xfrm>
              <a:prstGeom prst="star5">
                <a:avLst/>
              </a:prstGeom>
              <a:solidFill>
                <a:schemeClr val="bg1"/>
              </a:solidFill>
              <a:ln w="9525">
                <a:solidFill>
                  <a:schemeClr val="tx1"/>
                </a:solidFill>
                <a:miter lim="800000"/>
                <a:headEnd/>
                <a:tailEnd/>
              </a:ln>
              <a:effectLst/>
            </p:spPr>
            <p:txBody>
              <a:bodyPr wrap="none" anchor="ctr"/>
              <a:lstStyle/>
              <a:p>
                <a:pPr algn="ctr" eaLnBrk="1" hangingPunct="1">
                  <a:defRPr/>
                </a:pPr>
                <a:endParaRPr lang="fr-FR" sz="1400" dirty="0">
                  <a:latin typeface="Calibri" panose="020F0502020204030204" pitchFamily="34" charset="0"/>
                </a:endParaRPr>
              </a:p>
            </p:txBody>
          </p:sp>
          <p:sp>
            <p:nvSpPr>
              <p:cNvPr id="68638" name="Ellipse 36"/>
              <p:cNvSpPr>
                <a:spLocks noChangeArrowheads="1"/>
              </p:cNvSpPr>
              <p:nvPr/>
            </p:nvSpPr>
            <p:spPr bwMode="auto">
              <a:xfrm>
                <a:off x="4223123" y="1517951"/>
                <a:ext cx="869633" cy="272415"/>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68639" name="AutoShape 2084"/>
              <p:cNvSpPr>
                <a:spLocks noChangeArrowheads="1"/>
              </p:cNvSpPr>
              <p:nvPr/>
            </p:nvSpPr>
            <p:spPr bwMode="auto">
              <a:xfrm>
                <a:off x="4344123" y="3494818"/>
                <a:ext cx="629785" cy="509904"/>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39" name="AutoShape 2085"/>
              <p:cNvSpPr>
                <a:spLocks noChangeArrowheads="1"/>
              </p:cNvSpPr>
              <p:nvPr/>
            </p:nvSpPr>
            <p:spPr bwMode="auto">
              <a:xfrm>
                <a:off x="4338434" y="2626648"/>
                <a:ext cx="668021" cy="634142"/>
              </a:xfrm>
              <a:prstGeom prst="star5">
                <a:avLst/>
              </a:prstGeom>
              <a:solidFill>
                <a:srgbClr val="00B0F0"/>
              </a:solidFill>
              <a:ln w="9525">
                <a:solidFill>
                  <a:schemeClr val="tx1"/>
                </a:solidFill>
                <a:miter lim="800000"/>
                <a:headEnd/>
                <a:tailEnd/>
              </a:ln>
              <a:effectLst/>
            </p:spPr>
            <p:txBody>
              <a:bodyPr wrap="none" anchor="ctr"/>
              <a:lstStyle/>
              <a:p>
                <a:pPr algn="ctr" eaLnBrk="1" hangingPunct="1">
                  <a:defRPr/>
                </a:pPr>
                <a:endParaRPr lang="fr-FR" sz="1400" dirty="0">
                  <a:latin typeface="Calibri" panose="020F0502020204030204" pitchFamily="34" charset="0"/>
                </a:endParaRPr>
              </a:p>
            </p:txBody>
          </p:sp>
          <p:sp>
            <p:nvSpPr>
              <p:cNvPr id="68641" name="AutoShape 2083"/>
              <p:cNvSpPr>
                <a:spLocks noChangeArrowheads="1"/>
              </p:cNvSpPr>
              <p:nvPr/>
            </p:nvSpPr>
            <p:spPr bwMode="auto">
              <a:xfrm>
                <a:off x="4395273" y="1998233"/>
                <a:ext cx="523175" cy="492340"/>
              </a:xfrm>
              <a:prstGeom prst="plus">
                <a:avLst>
                  <a:gd name="adj" fmla="val 29556"/>
                </a:avLst>
              </a:prstGeom>
              <a:solidFill>
                <a:srgbClr val="79FF79"/>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68642" name="Ellipse 40"/>
              <p:cNvSpPr>
                <a:spLocks noChangeArrowheads="1"/>
              </p:cNvSpPr>
              <p:nvPr/>
            </p:nvSpPr>
            <p:spPr bwMode="auto">
              <a:xfrm>
                <a:off x="4223123" y="1517951"/>
                <a:ext cx="869633" cy="272415"/>
              </a:xfrm>
              <a:prstGeom prst="ellipse">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68624" name="Groupe 77"/>
            <p:cNvGrpSpPr>
              <a:grpSpLocks/>
            </p:cNvGrpSpPr>
            <p:nvPr/>
          </p:nvGrpSpPr>
          <p:grpSpPr bwMode="auto">
            <a:xfrm>
              <a:off x="6845048" y="914020"/>
              <a:ext cx="1321052" cy="2065806"/>
              <a:chOff x="3702424" y="1251643"/>
              <a:chExt cx="1892300" cy="2959100"/>
            </a:xfrm>
          </p:grpSpPr>
          <p:sp>
            <p:nvSpPr>
              <p:cNvPr id="24" name="Rectangle 23"/>
              <p:cNvSpPr/>
              <p:nvPr/>
            </p:nvSpPr>
            <p:spPr bwMode="auto">
              <a:xfrm>
                <a:off x="3702424" y="1251408"/>
                <a:ext cx="1892728" cy="2959335"/>
              </a:xfrm>
              <a:prstGeom prst="rect">
                <a:avLst/>
              </a:prstGeom>
              <a:solidFill>
                <a:schemeClr val="bg1"/>
              </a:solidFill>
              <a:ln w="9525" cap="flat" cmpd="sng" algn="ctr">
                <a:solidFill>
                  <a:schemeClr val="tx1"/>
                </a:solidFill>
                <a:prstDash val="solid"/>
                <a:round/>
                <a:headEnd type="none" w="med" len="med"/>
                <a:tailEnd type="triangle" w="med" len="med"/>
              </a:ln>
              <a:effectLst>
                <a:outerShdw blurRad="50800" dist="101600" dir="3000000" algn="l" rotWithShape="0">
                  <a:prstClr val="black">
                    <a:alpha val="52000"/>
                  </a:prstClr>
                </a:outerShdw>
              </a:effectLst>
            </p:spPr>
            <p:txBody>
              <a:bodyPr anchor="ctr"/>
              <a:lstStyle/>
              <a:p>
                <a:pPr algn="ctr" eaLnBrk="1" hangingPunct="1">
                  <a:defRPr/>
                </a:pPr>
                <a:endParaRPr lang="fr-FR" sz="1600" dirty="0">
                  <a:latin typeface="Calibri" panose="020F0502020204030204" pitchFamily="34" charset="0"/>
                </a:endParaRPr>
              </a:p>
            </p:txBody>
          </p:sp>
          <p:sp>
            <p:nvSpPr>
              <p:cNvPr id="68626" name="AutoShape 2083"/>
              <p:cNvSpPr>
                <a:spLocks noChangeArrowheads="1"/>
              </p:cNvSpPr>
              <p:nvPr/>
            </p:nvSpPr>
            <p:spPr bwMode="auto">
              <a:xfrm>
                <a:off x="4395273" y="1985533"/>
                <a:ext cx="523175" cy="492340"/>
              </a:xfrm>
              <a:prstGeom prst="plus">
                <a:avLst>
                  <a:gd name="adj" fmla="val 29556"/>
                </a:avLst>
              </a:prstGeom>
              <a:solidFill>
                <a:schemeClr val="bg1"/>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68627" name="AutoShape 2084"/>
              <p:cNvSpPr>
                <a:spLocks noChangeArrowheads="1"/>
              </p:cNvSpPr>
              <p:nvPr/>
            </p:nvSpPr>
            <p:spPr bwMode="auto">
              <a:xfrm>
                <a:off x="4344123" y="3494997"/>
                <a:ext cx="629785" cy="509904"/>
              </a:xfrm>
              <a:prstGeom prst="triangle">
                <a:avLst>
                  <a:gd name="adj" fmla="val 50000"/>
                </a:avLst>
              </a:prstGeom>
              <a:solidFill>
                <a:schemeClr val="bg1"/>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27" name="AutoShape 2085"/>
              <p:cNvSpPr>
                <a:spLocks noChangeArrowheads="1"/>
              </p:cNvSpPr>
              <p:nvPr/>
            </p:nvSpPr>
            <p:spPr bwMode="auto">
              <a:xfrm>
                <a:off x="4325002" y="2612885"/>
                <a:ext cx="668021" cy="636416"/>
              </a:xfrm>
              <a:prstGeom prst="star5">
                <a:avLst/>
              </a:prstGeom>
              <a:solidFill>
                <a:schemeClr val="bg1"/>
              </a:solidFill>
              <a:ln w="9525">
                <a:solidFill>
                  <a:schemeClr val="tx1"/>
                </a:solidFill>
                <a:miter lim="800000"/>
                <a:headEnd/>
                <a:tailEnd/>
              </a:ln>
              <a:effectLst/>
            </p:spPr>
            <p:txBody>
              <a:bodyPr wrap="none" anchor="ctr"/>
              <a:lstStyle/>
              <a:p>
                <a:pPr algn="ctr" eaLnBrk="1" hangingPunct="1">
                  <a:defRPr/>
                </a:pPr>
                <a:endParaRPr lang="fr-FR" sz="1400" dirty="0">
                  <a:latin typeface="Calibri" panose="020F0502020204030204" pitchFamily="34" charset="0"/>
                </a:endParaRPr>
              </a:p>
            </p:txBody>
          </p:sp>
          <p:sp>
            <p:nvSpPr>
              <p:cNvPr id="68629" name="Ellipse 27"/>
              <p:cNvSpPr>
                <a:spLocks noChangeArrowheads="1"/>
              </p:cNvSpPr>
              <p:nvPr/>
            </p:nvSpPr>
            <p:spPr bwMode="auto">
              <a:xfrm>
                <a:off x="4223123" y="1517951"/>
                <a:ext cx="869633" cy="272415"/>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68630" name="AutoShape 2084"/>
              <p:cNvSpPr>
                <a:spLocks noChangeArrowheads="1"/>
              </p:cNvSpPr>
              <p:nvPr/>
            </p:nvSpPr>
            <p:spPr bwMode="auto">
              <a:xfrm>
                <a:off x="4344123" y="3494818"/>
                <a:ext cx="629785" cy="509904"/>
              </a:xfrm>
              <a:prstGeom prst="triangle">
                <a:avLst>
                  <a:gd name="adj" fmla="val 50000"/>
                </a:avLst>
              </a:prstGeom>
              <a:solidFill>
                <a:srgbClr val="FF0000"/>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30" name="AutoShape 2085"/>
              <p:cNvSpPr>
                <a:spLocks noChangeArrowheads="1"/>
              </p:cNvSpPr>
              <p:nvPr/>
            </p:nvSpPr>
            <p:spPr bwMode="auto">
              <a:xfrm>
                <a:off x="4338635" y="2626522"/>
                <a:ext cx="668021" cy="634142"/>
              </a:xfrm>
              <a:prstGeom prst="star5">
                <a:avLst/>
              </a:prstGeom>
              <a:solidFill>
                <a:srgbClr val="00B0F0"/>
              </a:solidFill>
              <a:ln w="9525">
                <a:solidFill>
                  <a:schemeClr val="tx1"/>
                </a:solidFill>
                <a:miter lim="800000"/>
                <a:headEnd/>
                <a:tailEnd/>
              </a:ln>
              <a:effectLst/>
            </p:spPr>
            <p:txBody>
              <a:bodyPr wrap="none" anchor="ctr"/>
              <a:lstStyle/>
              <a:p>
                <a:pPr algn="ctr" eaLnBrk="1" hangingPunct="1">
                  <a:defRPr/>
                </a:pPr>
                <a:endParaRPr lang="fr-FR" sz="1400" dirty="0">
                  <a:latin typeface="Calibri" panose="020F0502020204030204" pitchFamily="34" charset="0"/>
                </a:endParaRPr>
              </a:p>
            </p:txBody>
          </p:sp>
          <p:sp>
            <p:nvSpPr>
              <p:cNvPr id="68632" name="AutoShape 2083"/>
              <p:cNvSpPr>
                <a:spLocks noChangeArrowheads="1"/>
              </p:cNvSpPr>
              <p:nvPr/>
            </p:nvSpPr>
            <p:spPr bwMode="auto">
              <a:xfrm>
                <a:off x="4395273" y="1998233"/>
                <a:ext cx="523175" cy="492340"/>
              </a:xfrm>
              <a:prstGeom prst="plus">
                <a:avLst>
                  <a:gd name="adj" fmla="val 29556"/>
                </a:avLst>
              </a:prstGeom>
              <a:solidFill>
                <a:srgbClr val="79FF79"/>
              </a:solidFill>
              <a:ln w="9525">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400" dirty="0">
                  <a:latin typeface="Calibri" panose="020F0502020204030204" pitchFamily="34" charset="0"/>
                </a:endParaRPr>
              </a:p>
            </p:txBody>
          </p:sp>
          <p:sp>
            <p:nvSpPr>
              <p:cNvPr id="68633" name="Ellipse 31"/>
              <p:cNvSpPr>
                <a:spLocks noChangeArrowheads="1"/>
              </p:cNvSpPr>
              <p:nvPr/>
            </p:nvSpPr>
            <p:spPr bwMode="auto">
              <a:xfrm>
                <a:off x="4223123" y="1517951"/>
                <a:ext cx="869633" cy="272415"/>
              </a:xfrm>
              <a:prstGeom prst="ellipse">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sp>
        <p:nvSpPr>
          <p:cNvPr id="66" name="Étoile à 5 branches 65"/>
          <p:cNvSpPr/>
          <p:nvPr/>
        </p:nvSpPr>
        <p:spPr bwMode="auto">
          <a:xfrm>
            <a:off x="7232650" y="2068513"/>
            <a:ext cx="669925" cy="636587"/>
          </a:xfrm>
          <a:prstGeom prst="star5">
            <a:avLst/>
          </a:prstGeom>
          <a:solidFill>
            <a:srgbClr val="00FF00"/>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7" name="Triangle isocèle 66"/>
          <p:cNvSpPr/>
          <p:nvPr/>
        </p:nvSpPr>
        <p:spPr bwMode="auto">
          <a:xfrm>
            <a:off x="7291388" y="3910013"/>
            <a:ext cx="576262" cy="431800"/>
          </a:xfrm>
          <a:prstGeom prst="triangle">
            <a:avLst/>
          </a:prstGeom>
          <a:solidFill>
            <a:srgbClr val="FFFF00"/>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8" name="AutoShape 34"/>
          <p:cNvSpPr>
            <a:spLocks noChangeArrowheads="1"/>
          </p:cNvSpPr>
          <p:nvPr/>
        </p:nvSpPr>
        <p:spPr bwMode="auto">
          <a:xfrm>
            <a:off x="7234238" y="3079750"/>
            <a:ext cx="684212" cy="431800"/>
          </a:xfrm>
          <a:prstGeom prst="wave">
            <a:avLst>
              <a:gd name="adj1" fmla="val 20644"/>
              <a:gd name="adj2" fmla="val 7681"/>
            </a:avLst>
          </a:prstGeom>
          <a:solidFill>
            <a:srgbClr val="FFCCFF"/>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8617"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pSp>
        <p:nvGrpSpPr>
          <p:cNvPr id="68618" name="Groupe 58"/>
          <p:cNvGrpSpPr>
            <a:grpSpLocks/>
          </p:cNvGrpSpPr>
          <p:nvPr/>
        </p:nvGrpSpPr>
        <p:grpSpPr bwMode="auto">
          <a:xfrm>
            <a:off x="1130300" y="1758950"/>
            <a:ext cx="1270000" cy="2924175"/>
            <a:chOff x="1956126" y="1695450"/>
            <a:chExt cx="1269584" cy="2923916"/>
          </a:xfrm>
        </p:grpSpPr>
        <p:sp>
          <p:nvSpPr>
            <p:cNvPr id="68620" name="Forme libre 56"/>
            <p:cNvSpPr>
              <a:spLocks/>
            </p:cNvSpPr>
            <p:nvPr/>
          </p:nvSpPr>
          <p:spPr bwMode="auto">
            <a:xfrm>
              <a:off x="2339182" y="1695450"/>
              <a:ext cx="330993" cy="2463800"/>
            </a:xfrm>
            <a:custGeom>
              <a:avLst/>
              <a:gdLst>
                <a:gd name="T0" fmla="*/ 16668 w 330993"/>
                <a:gd name="T1" fmla="*/ 2463800 h 2463800"/>
                <a:gd name="T2" fmla="*/ 111918 w 330993"/>
                <a:gd name="T3" fmla="*/ 2349500 h 2463800"/>
                <a:gd name="T4" fmla="*/ 0 w 330993"/>
                <a:gd name="T5" fmla="*/ 2234406 h 2463800"/>
                <a:gd name="T6" fmla="*/ 35718 w 330993"/>
                <a:gd name="T7" fmla="*/ 165100 h 2463800"/>
                <a:gd name="T8" fmla="*/ 150018 w 330993"/>
                <a:gd name="T9" fmla="*/ 0 h 2463800"/>
                <a:gd name="T10" fmla="*/ 264318 w 330993"/>
                <a:gd name="T11" fmla="*/ 165100 h 2463800"/>
                <a:gd name="T12" fmla="*/ 330993 w 330993"/>
                <a:gd name="T13" fmla="*/ 2207418 h 2463800"/>
                <a:gd name="T14" fmla="*/ 219868 w 330993"/>
                <a:gd name="T15" fmla="*/ 2343150 h 2463800"/>
                <a:gd name="T16" fmla="*/ 315118 w 330993"/>
                <a:gd name="T17" fmla="*/ 2463800 h 2463800"/>
                <a:gd name="T18" fmla="*/ 16668 w 330993"/>
                <a:gd name="T19" fmla="*/ 2463800 h 24638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0993" h="2463800">
                  <a:moveTo>
                    <a:pt x="16668" y="2463800"/>
                  </a:moveTo>
                  <a:lnTo>
                    <a:pt x="111918" y="2349500"/>
                  </a:lnTo>
                  <a:lnTo>
                    <a:pt x="0" y="2234406"/>
                  </a:lnTo>
                  <a:lnTo>
                    <a:pt x="35718" y="165100"/>
                  </a:lnTo>
                  <a:lnTo>
                    <a:pt x="150018" y="0"/>
                  </a:lnTo>
                  <a:lnTo>
                    <a:pt x="264318" y="165100"/>
                  </a:lnTo>
                  <a:lnTo>
                    <a:pt x="330993" y="2207418"/>
                  </a:lnTo>
                  <a:lnTo>
                    <a:pt x="219868" y="2343150"/>
                  </a:lnTo>
                  <a:lnTo>
                    <a:pt x="315118" y="2463800"/>
                  </a:lnTo>
                  <a:lnTo>
                    <a:pt x="16668" y="2463800"/>
                  </a:lnTo>
                  <a:close/>
                </a:path>
              </a:pathLst>
            </a:custGeom>
            <a:solidFill>
              <a:srgbClr val="FFFF99"/>
            </a:solidFill>
            <a:ln w="9525" cap="flat" cmpd="sng" algn="ctr">
              <a:solidFill>
                <a:schemeClr val="tx1"/>
              </a:solidFill>
              <a:prstDash val="solid"/>
              <a:round/>
              <a:headEnd type="none" w="med" len="med"/>
              <a:tailEnd type="triangle" w="med" len="med"/>
            </a:ln>
          </p:spPr>
          <p:txBody>
            <a:bodyPr anchor="ctr"/>
            <a:lstStyle/>
            <a:p>
              <a:endParaRPr lang="fr-FR" dirty="0">
                <a:latin typeface="Calibri" panose="020F0502020204030204" pitchFamily="34" charset="0"/>
              </a:endParaRPr>
            </a:p>
          </p:txBody>
        </p:sp>
        <p:sp>
          <p:nvSpPr>
            <p:cNvPr id="68621" name="ZoneTexte 116"/>
            <p:cNvSpPr txBox="1">
              <a:spLocks noChangeArrowheads="1"/>
            </p:cNvSpPr>
            <p:nvPr/>
          </p:nvSpPr>
          <p:spPr bwMode="auto">
            <a:xfrm>
              <a:off x="1956126" y="4219256"/>
              <a:ext cx="12695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cs typeface="Arial" panose="020B0604020202020204" pitchFamily="34" charset="0"/>
                </a:rPr>
                <a:t>Pale</a:t>
              </a:r>
              <a:endParaRPr lang="fr-FR" altLang="fr-FR" sz="1800" dirty="0">
                <a:latin typeface="Calibri" panose="020F0502020204030204" pitchFamily="34" charset="0"/>
                <a:cs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500"/>
                                  </p:stCondLst>
                                  <p:childTnLst>
                                    <p:set>
                                      <p:cBhvr>
                                        <p:cTn id="17" dur="1" fill="hold">
                                          <p:stCondLst>
                                            <p:cond delay="0"/>
                                          </p:stCondLst>
                                        </p:cTn>
                                        <p:tgtEl>
                                          <p:spTgt spid="68"/>
                                        </p:tgtEl>
                                        <p:attrNameLst>
                                          <p:attrName>style.visibility</p:attrName>
                                        </p:attrNameLst>
                                      </p:cBhvr>
                                      <p:to>
                                        <p:strVal val="visible"/>
                                      </p:to>
                                    </p:set>
                                  </p:childTnLst>
                                </p:cTn>
                              </p:par>
                            </p:childTnLst>
                          </p:cTn>
                        </p:par>
                        <p:par>
                          <p:cTn id="18" fill="hold" nodeType="afterGroup">
                            <p:stCondLst>
                              <p:cond delay="500"/>
                            </p:stCondLst>
                            <p:childTnLst>
                              <p:par>
                                <p:cTn id="19" presetID="1" presetClass="entr" presetSubtype="0" fill="hold" grpId="0" nodeType="afterEffect">
                                  <p:stCondLst>
                                    <p:cond delay="500"/>
                                  </p:stCondLst>
                                  <p:childTnLst>
                                    <p:set>
                                      <p:cBhvr>
                                        <p:cTn id="2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27E6A644-9985-4725-8E3A-CE2D170C3886}" type="slidenum">
              <a:rPr lang="fr-FR" altLang="fr-FR" smtClean="0">
                <a:latin typeface="Calibri" panose="020F0502020204030204" pitchFamily="34" charset="0"/>
              </a:rPr>
              <a:pPr>
                <a:spcBef>
                  <a:spcPct val="0"/>
                </a:spcBef>
                <a:buFontTx/>
                <a:buNone/>
              </a:pPr>
              <a:t>30</a:t>
            </a:fld>
            <a:endParaRPr lang="fr-FR" altLang="fr-FR" dirty="0">
              <a:latin typeface="Calibri" panose="020F0502020204030204" pitchFamily="34" charset="0"/>
            </a:endParaRPr>
          </a:p>
        </p:txBody>
      </p:sp>
      <p:sp>
        <p:nvSpPr>
          <p:cNvPr id="70659" name="Rectangle 2"/>
          <p:cNvSpPr>
            <a:spLocks noGrp="1" noChangeArrowheads="1"/>
          </p:cNvSpPr>
          <p:nvPr>
            <p:ph type="title"/>
          </p:nvPr>
        </p:nvSpPr>
        <p:spPr/>
        <p:txBody>
          <a:bodyPr/>
          <a:lstStyle/>
          <a:p>
            <a:pPr eaLnBrk="1" hangingPunct="1"/>
            <a:r>
              <a:rPr lang="fr-FR" altLang="fr-FR"/>
              <a:t>La production</a:t>
            </a:r>
          </a:p>
        </p:txBody>
      </p:sp>
      <p:sp>
        <p:nvSpPr>
          <p:cNvPr id="70660" name="Espace réservé du pied de page 36"/>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70662" name="Rectangle 85"/>
          <p:cNvSpPr>
            <a:spLocks noChangeArrowheads="1"/>
          </p:cNvSpPr>
          <p:nvPr/>
        </p:nvSpPr>
        <p:spPr bwMode="auto">
          <a:xfrm rot="6228673">
            <a:off x="7721601" y="3922712"/>
            <a:ext cx="1447800" cy="815975"/>
          </a:xfrm>
          <a:prstGeom prst="rect">
            <a:avLst/>
          </a:prstGeom>
          <a:solidFill>
            <a:schemeClr val="accent1"/>
          </a:solidFill>
          <a:ln w="9525" algn="ctr">
            <a:solidFill>
              <a:schemeClr val="tx1"/>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VAGUE</a:t>
            </a:r>
          </a:p>
        </p:txBody>
      </p:sp>
      <p:sp>
        <p:nvSpPr>
          <p:cNvPr id="70663" name="Rectangle 86"/>
          <p:cNvSpPr>
            <a:spLocks noChangeArrowheads="1"/>
          </p:cNvSpPr>
          <p:nvPr/>
        </p:nvSpPr>
        <p:spPr bwMode="auto">
          <a:xfrm>
            <a:off x="2025650" y="863600"/>
            <a:ext cx="1447800" cy="684213"/>
          </a:xfrm>
          <a:prstGeom prst="rect">
            <a:avLst/>
          </a:prstGeom>
          <a:solidFill>
            <a:schemeClr val="accent1"/>
          </a:solidFill>
          <a:ln w="9525" algn="ctr">
            <a:solidFill>
              <a:schemeClr val="tx1"/>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OVALE</a:t>
            </a:r>
          </a:p>
        </p:txBody>
      </p:sp>
      <p:sp>
        <p:nvSpPr>
          <p:cNvPr id="70664" name="Rectangle 87"/>
          <p:cNvSpPr>
            <a:spLocks noChangeArrowheads="1"/>
          </p:cNvSpPr>
          <p:nvPr/>
        </p:nvSpPr>
        <p:spPr bwMode="auto">
          <a:xfrm rot="2898657">
            <a:off x="7815263" y="1943100"/>
            <a:ext cx="1447800" cy="815975"/>
          </a:xfrm>
          <a:prstGeom prst="rect">
            <a:avLst/>
          </a:prstGeom>
          <a:solidFill>
            <a:schemeClr val="accent1"/>
          </a:solidFill>
          <a:ln w="9525" algn="ctr">
            <a:solidFill>
              <a:schemeClr val="tx1"/>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TRIANGLE</a:t>
            </a:r>
          </a:p>
        </p:txBody>
      </p:sp>
      <p:sp>
        <p:nvSpPr>
          <p:cNvPr id="70665" name="Rectangle 88"/>
          <p:cNvSpPr>
            <a:spLocks noChangeArrowheads="1"/>
          </p:cNvSpPr>
          <p:nvPr/>
        </p:nvSpPr>
        <p:spPr bwMode="auto">
          <a:xfrm>
            <a:off x="6002338" y="844550"/>
            <a:ext cx="1597025" cy="684213"/>
          </a:xfrm>
          <a:prstGeom prst="rect">
            <a:avLst/>
          </a:prstGeom>
          <a:solidFill>
            <a:schemeClr val="accent1"/>
          </a:solidFill>
          <a:ln w="9525" algn="ctr">
            <a:solidFill>
              <a:schemeClr val="tx1"/>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RECTANGLE</a:t>
            </a:r>
          </a:p>
        </p:txBody>
      </p:sp>
      <p:sp>
        <p:nvSpPr>
          <p:cNvPr id="70666" name="Rectangle 89"/>
          <p:cNvSpPr>
            <a:spLocks noChangeArrowheads="1"/>
          </p:cNvSpPr>
          <p:nvPr/>
        </p:nvSpPr>
        <p:spPr bwMode="auto">
          <a:xfrm rot="-4115742">
            <a:off x="211932" y="1901031"/>
            <a:ext cx="1465262" cy="815975"/>
          </a:xfrm>
          <a:prstGeom prst="rect">
            <a:avLst/>
          </a:prstGeom>
          <a:solidFill>
            <a:schemeClr val="accent1"/>
          </a:solidFill>
          <a:ln w="9525" algn="ctr">
            <a:solidFill>
              <a:schemeClr val="tx1"/>
            </a:solidFill>
            <a:miter lim="800000"/>
            <a:headEnd/>
            <a:tailEnd/>
          </a:ln>
        </p:spPr>
        <p:txBody>
          <a:bodyPr lIns="54000" rIns="54000"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a:t>
            </a:r>
          </a:p>
          <a:p>
            <a:pPr algn="ctr" eaLnBrk="1" hangingPunct="1">
              <a:spcBef>
                <a:spcPct val="0"/>
              </a:spcBef>
              <a:buFontTx/>
              <a:buNone/>
            </a:pPr>
            <a:r>
              <a:rPr lang="fr-FR" altLang="fr-FR" sz="1700" dirty="0">
                <a:latin typeface="Calibri" panose="020F0502020204030204" pitchFamily="34" charset="0"/>
              </a:rPr>
              <a:t>ÉTOILE</a:t>
            </a:r>
          </a:p>
        </p:txBody>
      </p:sp>
      <p:sp>
        <p:nvSpPr>
          <p:cNvPr id="70667" name="Rectangle 90"/>
          <p:cNvSpPr>
            <a:spLocks noChangeArrowheads="1"/>
          </p:cNvSpPr>
          <p:nvPr/>
        </p:nvSpPr>
        <p:spPr bwMode="auto">
          <a:xfrm rot="-7071481">
            <a:off x="172245" y="4034631"/>
            <a:ext cx="1465262" cy="815975"/>
          </a:xfrm>
          <a:prstGeom prst="rect">
            <a:avLst/>
          </a:prstGeom>
          <a:solidFill>
            <a:schemeClr val="accent1"/>
          </a:solidFill>
          <a:ln w="9525" algn="ctr">
            <a:solidFill>
              <a:schemeClr val="tx1"/>
            </a:solidFill>
            <a:miter lim="800000"/>
            <a:headEnd/>
            <a:tailEnd/>
          </a:ln>
        </p:spPr>
        <p:txBody>
          <a:bodyPr lIns="54000" rIns="54000"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a:t>
            </a:r>
            <a:br>
              <a:rPr lang="fr-FR" altLang="fr-FR" sz="1800" dirty="0">
                <a:latin typeface="Calibri" panose="020F0502020204030204" pitchFamily="34" charset="0"/>
              </a:rPr>
            </a:br>
            <a:r>
              <a:rPr lang="fr-FR" altLang="fr-FR" sz="1700" dirty="0">
                <a:latin typeface="Calibri" panose="020F0502020204030204" pitchFamily="34" charset="0"/>
              </a:rPr>
              <a:t>CROIX</a:t>
            </a:r>
          </a:p>
        </p:txBody>
      </p:sp>
      <p:sp>
        <p:nvSpPr>
          <p:cNvPr id="70668" name="AutoShape 94"/>
          <p:cNvSpPr>
            <a:spLocks noChangeArrowheads="1"/>
          </p:cNvSpPr>
          <p:nvPr/>
        </p:nvSpPr>
        <p:spPr bwMode="auto">
          <a:xfrm>
            <a:off x="1338263" y="3743325"/>
            <a:ext cx="519112" cy="488950"/>
          </a:xfrm>
          <a:prstGeom prst="plus">
            <a:avLst>
              <a:gd name="adj" fmla="val 29556"/>
            </a:avLst>
          </a:prstGeom>
          <a:solidFill>
            <a:schemeClr val="bg1"/>
          </a:solidFill>
          <a:ln w="38100">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70669" name="AutoShape 95"/>
          <p:cNvSpPr>
            <a:spLocks noChangeArrowheads="1"/>
          </p:cNvSpPr>
          <p:nvPr/>
        </p:nvSpPr>
        <p:spPr bwMode="auto">
          <a:xfrm>
            <a:off x="7531100" y="2565400"/>
            <a:ext cx="500063" cy="404813"/>
          </a:xfrm>
          <a:prstGeom prst="triangle">
            <a:avLst>
              <a:gd name="adj" fmla="val 50000"/>
            </a:avLst>
          </a:prstGeom>
          <a:solidFill>
            <a:schemeClr val="bg1"/>
          </a:solidFill>
          <a:ln w="38100">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141" name="AutoShape 96"/>
          <p:cNvSpPr>
            <a:spLocks noChangeArrowheads="1"/>
          </p:cNvSpPr>
          <p:nvPr/>
        </p:nvSpPr>
        <p:spPr bwMode="auto">
          <a:xfrm>
            <a:off x="1550988" y="2320925"/>
            <a:ext cx="531812" cy="506413"/>
          </a:xfrm>
          <a:prstGeom prst="star5">
            <a:avLst/>
          </a:prstGeom>
          <a:solidFill>
            <a:schemeClr val="bg1"/>
          </a:solidFill>
          <a:ln w="38100">
            <a:solidFill>
              <a:schemeClr val="tx1"/>
            </a:solidFill>
            <a:miter lim="800000"/>
            <a:headEnd/>
            <a:tailEnd/>
          </a:ln>
          <a:effectLst/>
        </p:spPr>
        <p:txBody>
          <a:bodyPr wrap="none" anchor="ctr"/>
          <a:lstStyle/>
          <a:p>
            <a:pPr algn="ctr">
              <a:defRPr/>
            </a:pPr>
            <a:endParaRPr lang="fr-FR" sz="1400" dirty="0">
              <a:latin typeface="Calibri" panose="020F0502020204030204" pitchFamily="34" charset="0"/>
            </a:endParaRPr>
          </a:p>
        </p:txBody>
      </p:sp>
      <p:sp>
        <p:nvSpPr>
          <p:cNvPr id="70671" name="Oval 97"/>
          <p:cNvSpPr>
            <a:spLocks noChangeArrowheads="1"/>
          </p:cNvSpPr>
          <p:nvPr/>
        </p:nvSpPr>
        <p:spPr bwMode="auto">
          <a:xfrm>
            <a:off x="2497138" y="1697038"/>
            <a:ext cx="644525" cy="288925"/>
          </a:xfrm>
          <a:prstGeom prst="ellipse">
            <a:avLst/>
          </a:prstGeom>
          <a:solidFill>
            <a:schemeClr val="bg1"/>
          </a:solidFill>
          <a:ln w="38100">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70672" name="Rectangle 98"/>
          <p:cNvSpPr>
            <a:spLocks noChangeArrowheads="1"/>
          </p:cNvSpPr>
          <p:nvPr/>
        </p:nvSpPr>
        <p:spPr bwMode="auto">
          <a:xfrm>
            <a:off x="6519863" y="1679575"/>
            <a:ext cx="650875" cy="265113"/>
          </a:xfrm>
          <a:prstGeom prst="rect">
            <a:avLst/>
          </a:prstGeom>
          <a:solidFill>
            <a:schemeClr val="bg1"/>
          </a:solidFill>
          <a:ln w="38100">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70673" name="AutoShape 99"/>
          <p:cNvSpPr>
            <a:spLocks noChangeArrowheads="1"/>
          </p:cNvSpPr>
          <p:nvPr/>
        </p:nvSpPr>
        <p:spPr bwMode="auto">
          <a:xfrm>
            <a:off x="7208838" y="3802063"/>
            <a:ext cx="755650" cy="492125"/>
          </a:xfrm>
          <a:prstGeom prst="wave">
            <a:avLst>
              <a:gd name="adj1" fmla="val 20644"/>
              <a:gd name="adj2" fmla="val 7681"/>
            </a:avLst>
          </a:prstGeom>
          <a:solidFill>
            <a:schemeClr val="bg1"/>
          </a:solidFill>
          <a:ln w="38100">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pic>
        <p:nvPicPr>
          <p:cNvPr id="70679" name="Picture 2" descr="INDU05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7163" y="474663"/>
            <a:ext cx="83343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80" name="Rectangle 186"/>
          <p:cNvSpPr>
            <a:spLocks noChangeArrowheads="1"/>
          </p:cNvSpPr>
          <p:nvPr/>
        </p:nvSpPr>
        <p:spPr bwMode="auto">
          <a:xfrm>
            <a:off x="4724400" y="635000"/>
            <a:ext cx="13208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600" dirty="0">
                <a:latin typeface="Calibri" panose="020F0502020204030204" pitchFamily="34" charset="0"/>
              </a:rPr>
              <a:t>Magasin d’outillages</a:t>
            </a:r>
          </a:p>
        </p:txBody>
      </p:sp>
      <p:sp>
        <p:nvSpPr>
          <p:cNvPr id="70681" name="Rectangle 174"/>
          <p:cNvSpPr>
            <a:spLocks noChangeArrowheads="1"/>
          </p:cNvSpPr>
          <p:nvPr/>
        </p:nvSpPr>
        <p:spPr bwMode="auto">
          <a:xfrm>
            <a:off x="5132388" y="4875213"/>
            <a:ext cx="1250950" cy="612775"/>
          </a:xfrm>
          <a:prstGeom prst="rect">
            <a:avLst/>
          </a:prstGeom>
          <a:solidFill>
            <a:srgbClr val="BDFFE4"/>
          </a:solidFill>
          <a:ln w="9525" algn="ctr">
            <a:solidFill>
              <a:schemeClr val="tx1"/>
            </a:solidFill>
            <a:miter lim="800000"/>
            <a:headEnd/>
            <a:tailEnd/>
          </a:ln>
        </p:spPr>
        <p:txBody>
          <a:bodyPr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Contrôle Qualité</a:t>
            </a:r>
          </a:p>
        </p:txBody>
      </p:sp>
      <p:sp>
        <p:nvSpPr>
          <p:cNvPr id="70683" name="Rectangle 178"/>
          <p:cNvSpPr>
            <a:spLocks noChangeArrowheads="1"/>
          </p:cNvSpPr>
          <p:nvPr/>
        </p:nvSpPr>
        <p:spPr bwMode="auto">
          <a:xfrm>
            <a:off x="3376613" y="4875213"/>
            <a:ext cx="1258887" cy="612775"/>
          </a:xfrm>
          <a:prstGeom prst="rect">
            <a:avLst/>
          </a:prstGeom>
          <a:solidFill>
            <a:srgbClr val="BDFFE4"/>
          </a:solidFill>
          <a:ln w="9525" algn="ctr">
            <a:solidFill>
              <a:schemeClr val="tx1"/>
            </a:solidFill>
            <a:miter lim="800000"/>
            <a:headEnd/>
            <a:tailEnd/>
          </a:ln>
        </p:spPr>
        <p:txBody>
          <a:bodyPr lIns="18000" rIns="18000" anchor="ctr" anchorCtr="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Lancement - Découpe</a:t>
            </a:r>
            <a:endParaRPr lang="fr-FR" altLang="fr-FR" sz="1400" dirty="0">
              <a:latin typeface="Calibri" panose="020F0502020204030204" pitchFamily="34" charset="0"/>
            </a:endParaRPr>
          </a:p>
        </p:txBody>
      </p:sp>
      <p:cxnSp>
        <p:nvCxnSpPr>
          <p:cNvPr id="119" name="Connecteur droit avec flèche 118"/>
          <p:cNvCxnSpPr>
            <a:cxnSpLocks noChangeShapeType="1"/>
          </p:cNvCxnSpPr>
          <p:nvPr/>
        </p:nvCxnSpPr>
        <p:spPr bwMode="auto">
          <a:xfrm rot="5400000">
            <a:off x="4929188" y="2805112"/>
            <a:ext cx="2832100" cy="1108075"/>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20" name="Connecteur droit avec flèche 119"/>
          <p:cNvCxnSpPr>
            <a:cxnSpLocks noChangeShapeType="1"/>
          </p:cNvCxnSpPr>
          <p:nvPr/>
        </p:nvCxnSpPr>
        <p:spPr bwMode="auto">
          <a:xfrm rot="10800000">
            <a:off x="1868488" y="4141788"/>
            <a:ext cx="2093912" cy="658812"/>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24" name="Connecteur droit avec flèche 123"/>
          <p:cNvCxnSpPr>
            <a:cxnSpLocks noChangeShapeType="1"/>
          </p:cNvCxnSpPr>
          <p:nvPr/>
        </p:nvCxnSpPr>
        <p:spPr bwMode="auto">
          <a:xfrm rot="5400000" flipH="1" flipV="1">
            <a:off x="1416844" y="2429669"/>
            <a:ext cx="1576387" cy="854075"/>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25" name="Connecteur droit avec flèche 124"/>
          <p:cNvCxnSpPr>
            <a:cxnSpLocks noChangeShapeType="1"/>
          </p:cNvCxnSpPr>
          <p:nvPr/>
        </p:nvCxnSpPr>
        <p:spPr bwMode="auto">
          <a:xfrm>
            <a:off x="3276600" y="1765300"/>
            <a:ext cx="3111500" cy="5080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26" name="Rectangle 178"/>
          <p:cNvSpPr>
            <a:spLocks noChangeArrowheads="1"/>
          </p:cNvSpPr>
          <p:nvPr/>
        </p:nvSpPr>
        <p:spPr bwMode="auto">
          <a:xfrm>
            <a:off x="3335338" y="6118225"/>
            <a:ext cx="1304925" cy="498475"/>
          </a:xfrm>
          <a:prstGeom prst="rect">
            <a:avLst/>
          </a:prstGeom>
          <a:solidFill>
            <a:schemeClr val="bg1">
              <a:lumMod val="85000"/>
            </a:schemeClr>
          </a:solidFill>
          <a:ln w="9525" algn="ctr">
            <a:solidFill>
              <a:schemeClr val="tx1"/>
            </a:solidFill>
            <a:miter lim="800000"/>
            <a:headEnd/>
            <a:tailEnd/>
          </a:ln>
        </p:spPr>
        <p:txBody>
          <a:bodyPr lIns="18000" rIns="18000" anchor="ctr" anchorCtr="1"/>
          <a:lstStyle/>
          <a:p>
            <a:pPr algn="ctr" eaLnBrk="1" hangingPunct="1">
              <a:defRPr/>
            </a:pPr>
            <a:r>
              <a:rPr lang="fr-FR" sz="1600" dirty="0">
                <a:latin typeface="Calibri" panose="020F0502020204030204" pitchFamily="34" charset="0"/>
              </a:rPr>
              <a:t>Client</a:t>
            </a:r>
            <a:endParaRPr lang="fr-FR" sz="1800" dirty="0">
              <a:latin typeface="Calibri" panose="020F0502020204030204" pitchFamily="34" charset="0"/>
            </a:endParaRPr>
          </a:p>
        </p:txBody>
      </p:sp>
      <p:cxnSp>
        <p:nvCxnSpPr>
          <p:cNvPr id="127" name="Connecteur droit avec flèche 126"/>
          <p:cNvCxnSpPr>
            <a:cxnSpLocks noChangeShapeType="1"/>
          </p:cNvCxnSpPr>
          <p:nvPr/>
        </p:nvCxnSpPr>
        <p:spPr bwMode="auto">
          <a:xfrm rot="16200000" flipV="1">
            <a:off x="3296444" y="5807869"/>
            <a:ext cx="468312" cy="0"/>
          </a:xfrm>
          <a:prstGeom prst="straightConnector1">
            <a:avLst/>
          </a:prstGeom>
          <a:noFill/>
          <a:ln w="19050" algn="ctr">
            <a:solidFill>
              <a:srgbClr val="0033CC"/>
            </a:solidFill>
            <a:round/>
            <a:headEnd/>
            <a:tailEnd type="arrow" w="med" len="med"/>
          </a:ln>
          <a:extLst>
            <a:ext uri="{909E8E84-426E-40DD-AFC4-6F175D3DCCD1}">
              <a14:hiddenFill xmlns:a14="http://schemas.microsoft.com/office/drawing/2010/main">
                <a:noFill/>
              </a14:hiddenFill>
            </a:ext>
          </a:extLst>
        </p:spPr>
      </p:cxnSp>
      <p:cxnSp>
        <p:nvCxnSpPr>
          <p:cNvPr id="65" name="Connecteur droit avec flèche 64"/>
          <p:cNvCxnSpPr>
            <a:cxnSpLocks noChangeShapeType="1"/>
          </p:cNvCxnSpPr>
          <p:nvPr/>
        </p:nvCxnSpPr>
        <p:spPr bwMode="auto">
          <a:xfrm rot="5400000">
            <a:off x="4236243" y="5822157"/>
            <a:ext cx="468313" cy="0"/>
          </a:xfrm>
          <a:prstGeom prst="straightConnector1">
            <a:avLst/>
          </a:prstGeom>
          <a:noFill/>
          <a:ln w="19050" algn="ctr">
            <a:solidFill>
              <a:srgbClr val="0033CC"/>
            </a:solidFill>
            <a:round/>
            <a:headEnd/>
            <a:tailEnd type="arrow" w="med" len="med"/>
          </a:ln>
          <a:extLst>
            <a:ext uri="{909E8E84-426E-40DD-AFC4-6F175D3DCCD1}">
              <a14:hiddenFill xmlns:a14="http://schemas.microsoft.com/office/drawing/2010/main">
                <a:noFill/>
              </a14:hiddenFill>
            </a:ext>
          </a:extLst>
        </p:spPr>
      </p:cxnSp>
      <p:cxnSp>
        <p:nvCxnSpPr>
          <p:cNvPr id="66" name="Connecteur droit avec flèche 65"/>
          <p:cNvCxnSpPr>
            <a:cxnSpLocks noChangeShapeType="1"/>
            <a:stCxn id="70681" idx="1"/>
            <a:endCxn id="70683" idx="3"/>
          </p:cNvCxnSpPr>
          <p:nvPr/>
        </p:nvCxnSpPr>
        <p:spPr bwMode="auto">
          <a:xfrm rot="10800000">
            <a:off x="4635500" y="5181600"/>
            <a:ext cx="496888" cy="1588"/>
          </a:xfrm>
          <a:prstGeom prst="straightConnector1">
            <a:avLst/>
          </a:prstGeom>
          <a:noFill/>
          <a:ln w="19050" algn="ctr">
            <a:solidFill>
              <a:srgbClr val="FF0000"/>
            </a:solidFill>
            <a:prstDash val="dash"/>
            <a:round/>
            <a:headEnd/>
            <a:tailEnd type="arrow" w="med" len="med"/>
          </a:ln>
          <a:extLst>
            <a:ext uri="{909E8E84-426E-40DD-AFC4-6F175D3DCCD1}">
              <a14:hiddenFill xmlns:a14="http://schemas.microsoft.com/office/drawing/2010/main">
                <a:noFill/>
              </a14:hiddenFill>
            </a:ext>
          </a:extLst>
        </p:spPr>
      </p:cxnSp>
      <p:grpSp>
        <p:nvGrpSpPr>
          <p:cNvPr id="70696" name="Groupe 78"/>
          <p:cNvGrpSpPr>
            <a:grpSpLocks/>
          </p:cNvGrpSpPr>
          <p:nvPr/>
        </p:nvGrpSpPr>
        <p:grpSpPr bwMode="auto">
          <a:xfrm>
            <a:off x="3960813" y="2070100"/>
            <a:ext cx="1341437" cy="2457450"/>
            <a:chOff x="3909529" y="2070099"/>
            <a:chExt cx="1342001" cy="2456886"/>
          </a:xfrm>
        </p:grpSpPr>
        <p:sp>
          <p:nvSpPr>
            <p:cNvPr id="71" name="Rectangle 70"/>
            <p:cNvSpPr/>
            <p:nvPr/>
          </p:nvSpPr>
          <p:spPr>
            <a:xfrm>
              <a:off x="3915882" y="2070099"/>
              <a:ext cx="1335648" cy="240768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0703" name="ZoneTexte 146"/>
            <p:cNvSpPr txBox="1">
              <a:spLocks noChangeArrowheads="1"/>
            </p:cNvSpPr>
            <p:nvPr/>
          </p:nvSpPr>
          <p:spPr bwMode="auto">
            <a:xfrm>
              <a:off x="4039242" y="4278391"/>
              <a:ext cx="1050642" cy="24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200" dirty="0">
                  <a:latin typeface="Calibri" panose="020F0502020204030204" pitchFamily="34" charset="0"/>
                </a:rPr>
                <a:t>Jaune</a:t>
              </a:r>
            </a:p>
          </p:txBody>
        </p:sp>
        <p:sp>
          <p:nvSpPr>
            <p:cNvPr id="70704" name="ZoneTexte 146"/>
            <p:cNvSpPr txBox="1">
              <a:spLocks noChangeArrowheads="1"/>
            </p:cNvSpPr>
            <p:nvPr/>
          </p:nvSpPr>
          <p:spPr bwMode="auto">
            <a:xfrm>
              <a:off x="3909529" y="2080511"/>
              <a:ext cx="1236786" cy="30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600" dirty="0">
                  <a:latin typeface="Calibri" panose="020F0502020204030204" pitchFamily="34" charset="0"/>
                </a:rPr>
                <a:t>OF 45</a:t>
              </a:r>
            </a:p>
          </p:txBody>
        </p:sp>
        <p:sp>
          <p:nvSpPr>
            <p:cNvPr id="74" name="Croix 73"/>
            <p:cNvSpPr/>
            <p:nvPr/>
          </p:nvSpPr>
          <p:spPr bwMode="auto">
            <a:xfrm>
              <a:off x="4281160" y="2449425"/>
              <a:ext cx="566975" cy="538038"/>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5" name="Rectangle 74"/>
            <p:cNvSpPr/>
            <p:nvPr/>
          </p:nvSpPr>
          <p:spPr bwMode="auto">
            <a:xfrm>
              <a:off x="4252573" y="3987359"/>
              <a:ext cx="624149" cy="27933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6" name="AutoShape 34"/>
            <p:cNvSpPr>
              <a:spLocks noChangeArrowheads="1"/>
            </p:cNvSpPr>
            <p:nvPr/>
          </p:nvSpPr>
          <p:spPr bwMode="auto">
            <a:xfrm>
              <a:off x="4189046" y="3295368"/>
              <a:ext cx="751203" cy="376152"/>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0708" name="ZoneTexte 146"/>
            <p:cNvSpPr txBox="1">
              <a:spLocks noChangeArrowheads="1"/>
            </p:cNvSpPr>
            <p:nvPr/>
          </p:nvSpPr>
          <p:spPr bwMode="auto">
            <a:xfrm>
              <a:off x="4039242" y="3027235"/>
              <a:ext cx="1050642" cy="24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200" dirty="0">
                  <a:latin typeface="Calibri" panose="020F0502020204030204" pitchFamily="34" charset="0"/>
                </a:rPr>
                <a:t>Vert</a:t>
              </a:r>
            </a:p>
          </p:txBody>
        </p:sp>
        <p:sp>
          <p:nvSpPr>
            <p:cNvPr id="70709" name="ZoneTexte 146"/>
            <p:cNvSpPr txBox="1">
              <a:spLocks noChangeArrowheads="1"/>
            </p:cNvSpPr>
            <p:nvPr/>
          </p:nvSpPr>
          <p:spPr bwMode="auto">
            <a:xfrm>
              <a:off x="4039242" y="3654580"/>
              <a:ext cx="1050642" cy="24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200" dirty="0">
                  <a:latin typeface="Calibri" panose="020F0502020204030204" pitchFamily="34" charset="0"/>
                </a:rPr>
                <a:t>Rose</a:t>
              </a:r>
            </a:p>
          </p:txBody>
        </p:sp>
      </p:grpSp>
      <p:grpSp>
        <p:nvGrpSpPr>
          <p:cNvPr id="85" name="Groupe 84"/>
          <p:cNvGrpSpPr>
            <a:grpSpLocks/>
          </p:cNvGrpSpPr>
          <p:nvPr/>
        </p:nvGrpSpPr>
        <p:grpSpPr bwMode="auto">
          <a:xfrm>
            <a:off x="8245475" y="527050"/>
            <a:ext cx="1258888" cy="1139825"/>
            <a:chOff x="8245559" y="526826"/>
            <a:chExt cx="1258088" cy="1140052"/>
          </a:xfrm>
        </p:grpSpPr>
        <p:sp>
          <p:nvSpPr>
            <p:cNvPr id="70700" name="ZoneTexte 79"/>
            <p:cNvSpPr txBox="1">
              <a:spLocks noChangeArrowheads="1"/>
            </p:cNvSpPr>
            <p:nvPr/>
          </p:nvSpPr>
          <p:spPr bwMode="auto">
            <a:xfrm>
              <a:off x="8245559" y="526826"/>
              <a:ext cx="12580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b="1" dirty="0">
                  <a:solidFill>
                    <a:srgbClr val="FF0000"/>
                  </a:solidFill>
                  <a:latin typeface="Calibri" panose="020F0502020204030204" pitchFamily="34" charset="0"/>
                </a:rPr>
                <a:t>2</a:t>
              </a:r>
              <a:r>
                <a:rPr lang="fr-FR" altLang="fr-FR" sz="2400" dirty="0">
                  <a:latin typeface="Calibri" panose="020F0502020204030204" pitchFamily="34" charset="0"/>
                </a:rPr>
                <a:t> </a:t>
              </a:r>
              <a:r>
                <a:rPr lang="fr-FR" altLang="fr-FR" sz="1800" dirty="0">
                  <a:latin typeface="Calibri" panose="020F0502020204030204" pitchFamily="34" charset="0"/>
                </a:rPr>
                <a:t>postes de travail</a:t>
              </a:r>
            </a:p>
          </p:txBody>
        </p:sp>
        <p:cxnSp>
          <p:nvCxnSpPr>
            <p:cNvPr id="70701" name="Connecteur droit avec flèche 81"/>
            <p:cNvCxnSpPr>
              <a:cxnSpLocks noChangeShapeType="1"/>
            </p:cNvCxnSpPr>
            <p:nvPr/>
          </p:nvCxnSpPr>
          <p:spPr bwMode="auto">
            <a:xfrm rot="5400000">
              <a:off x="8886825" y="1371602"/>
              <a:ext cx="390526" cy="200026"/>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grpSp>
      <p:pic>
        <p:nvPicPr>
          <p:cNvPr id="70698" name="Picture 32" descr="TIP5e¦ütu-fin E¦üTU1"/>
          <p:cNvPicPr>
            <a:picLocks noChangeAspect="1" noChangeArrowheads="1"/>
          </p:cNvPicPr>
          <p:nvPr/>
        </p:nvPicPr>
        <p:blipFill>
          <a:blip r:embed="rId4" cstate="print">
            <a:extLst>
              <a:ext uri="{28A0092B-C50C-407E-A947-70E740481C1C}">
                <a14:useLocalDpi xmlns:a14="http://schemas.microsoft.com/office/drawing/2010/main" val="0"/>
              </a:ext>
            </a:extLst>
          </a:blip>
          <a:srcRect l="8157" t="25005" r="23033" b="14983"/>
          <a:stretch>
            <a:fillRect/>
          </a:stretch>
        </p:blipFill>
        <p:spPr bwMode="auto">
          <a:xfrm>
            <a:off x="2549525" y="4837113"/>
            <a:ext cx="709613" cy="635000"/>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0699" name="Picture 46" descr="TIP3fab 7"/>
          <p:cNvPicPr>
            <a:picLocks noChangeAspect="1" noChangeArrowheads="1"/>
          </p:cNvPicPr>
          <p:nvPr/>
        </p:nvPicPr>
        <p:blipFill>
          <a:blip r:embed="rId5" cstate="print">
            <a:extLst>
              <a:ext uri="{28A0092B-C50C-407E-A947-70E740481C1C}">
                <a14:useLocalDpi xmlns:a14="http://schemas.microsoft.com/office/drawing/2010/main" val="0"/>
              </a:ext>
            </a:extLst>
          </a:blip>
          <a:srcRect l="6909" t="46571" r="26497" b="12415"/>
          <a:stretch>
            <a:fillRect/>
          </a:stretch>
        </p:blipFill>
        <p:spPr bwMode="auto">
          <a:xfrm>
            <a:off x="6527800" y="4972050"/>
            <a:ext cx="673100" cy="495300"/>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73" name="Group 114"/>
          <p:cNvGrpSpPr>
            <a:grpSpLocks/>
          </p:cNvGrpSpPr>
          <p:nvPr/>
        </p:nvGrpSpPr>
        <p:grpSpPr bwMode="auto">
          <a:xfrm rot="335960">
            <a:off x="361950" y="4849026"/>
            <a:ext cx="323850" cy="323850"/>
            <a:chOff x="2692" y="1712"/>
            <a:chExt cx="204" cy="204"/>
          </a:xfrm>
        </p:grpSpPr>
        <p:sp>
          <p:nvSpPr>
            <p:cNvPr id="77" name="Oval 112"/>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78" name="Freeform 113"/>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79" name="Group 118"/>
          <p:cNvGrpSpPr>
            <a:grpSpLocks/>
          </p:cNvGrpSpPr>
          <p:nvPr/>
        </p:nvGrpSpPr>
        <p:grpSpPr bwMode="auto">
          <a:xfrm rot="3901324">
            <a:off x="167532" y="2234777"/>
            <a:ext cx="323850" cy="323850"/>
            <a:chOff x="2692" y="1712"/>
            <a:chExt cx="204" cy="204"/>
          </a:xfrm>
        </p:grpSpPr>
        <p:sp>
          <p:nvSpPr>
            <p:cNvPr id="80" name="Oval 119"/>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81" name="Freeform 120"/>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82" name="Group 124"/>
          <p:cNvGrpSpPr>
            <a:grpSpLocks/>
          </p:cNvGrpSpPr>
          <p:nvPr/>
        </p:nvGrpSpPr>
        <p:grpSpPr bwMode="auto">
          <a:xfrm rot="19703350" flipH="1">
            <a:off x="8719621" y="4573139"/>
            <a:ext cx="323850" cy="323850"/>
            <a:chOff x="2692" y="1712"/>
            <a:chExt cx="204" cy="204"/>
          </a:xfrm>
        </p:grpSpPr>
        <p:sp>
          <p:nvSpPr>
            <p:cNvPr id="83" name="Oval 125"/>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84" name="Freeform 126"/>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86" name="Group 136"/>
          <p:cNvGrpSpPr>
            <a:grpSpLocks/>
          </p:cNvGrpSpPr>
          <p:nvPr/>
        </p:nvGrpSpPr>
        <p:grpSpPr bwMode="auto">
          <a:xfrm rot="13618561" flipH="1">
            <a:off x="6714142" y="582613"/>
            <a:ext cx="323850" cy="323850"/>
            <a:chOff x="2692" y="1712"/>
            <a:chExt cx="204" cy="204"/>
          </a:xfrm>
        </p:grpSpPr>
        <p:sp>
          <p:nvSpPr>
            <p:cNvPr id="87"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88"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89" name="Group 142"/>
          <p:cNvGrpSpPr>
            <a:grpSpLocks/>
          </p:cNvGrpSpPr>
          <p:nvPr/>
        </p:nvGrpSpPr>
        <p:grpSpPr bwMode="auto">
          <a:xfrm rot="13618561" flipH="1">
            <a:off x="2246313" y="600075"/>
            <a:ext cx="323850" cy="323850"/>
            <a:chOff x="2692" y="1712"/>
            <a:chExt cx="204" cy="204"/>
          </a:xfrm>
        </p:grpSpPr>
        <p:sp>
          <p:nvSpPr>
            <p:cNvPr id="90" name="Oval 143"/>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91" name="Freeform 144"/>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92" name="Group 179"/>
          <p:cNvGrpSpPr>
            <a:grpSpLocks/>
          </p:cNvGrpSpPr>
          <p:nvPr/>
        </p:nvGrpSpPr>
        <p:grpSpPr bwMode="auto">
          <a:xfrm rot="2429671" flipH="1">
            <a:off x="5598655" y="5413315"/>
            <a:ext cx="359959" cy="343488"/>
            <a:chOff x="2692" y="1712"/>
            <a:chExt cx="204" cy="204"/>
          </a:xfrm>
        </p:grpSpPr>
        <p:sp>
          <p:nvSpPr>
            <p:cNvPr id="93" name="Oval 1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94" name="Freeform 1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95" name="Group 179"/>
          <p:cNvGrpSpPr>
            <a:grpSpLocks/>
          </p:cNvGrpSpPr>
          <p:nvPr/>
        </p:nvGrpSpPr>
        <p:grpSpPr bwMode="auto">
          <a:xfrm rot="2429671" flipH="1">
            <a:off x="3804378" y="5439071"/>
            <a:ext cx="359959" cy="343488"/>
            <a:chOff x="2692" y="1712"/>
            <a:chExt cx="204" cy="204"/>
          </a:xfrm>
        </p:grpSpPr>
        <p:sp>
          <p:nvSpPr>
            <p:cNvPr id="96" name="Oval 180"/>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97" name="Freeform 181"/>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98" name="Group 136"/>
          <p:cNvGrpSpPr>
            <a:grpSpLocks/>
          </p:cNvGrpSpPr>
          <p:nvPr/>
        </p:nvGrpSpPr>
        <p:grpSpPr bwMode="auto">
          <a:xfrm rot="16363409" flipH="1">
            <a:off x="8542942" y="1484314"/>
            <a:ext cx="323850" cy="323850"/>
            <a:chOff x="2692" y="1712"/>
            <a:chExt cx="204" cy="204"/>
          </a:xfrm>
        </p:grpSpPr>
        <p:sp>
          <p:nvSpPr>
            <p:cNvPr id="99"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00"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01" name="Group 136"/>
          <p:cNvGrpSpPr>
            <a:grpSpLocks/>
          </p:cNvGrpSpPr>
          <p:nvPr/>
        </p:nvGrpSpPr>
        <p:grpSpPr bwMode="auto">
          <a:xfrm rot="16363409" flipH="1">
            <a:off x="9000142" y="1979615"/>
            <a:ext cx="323850" cy="323850"/>
            <a:chOff x="2692" y="1712"/>
            <a:chExt cx="204" cy="204"/>
          </a:xfrm>
        </p:grpSpPr>
        <p:sp>
          <p:nvSpPr>
            <p:cNvPr id="102"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03"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04" name="Group 142"/>
          <p:cNvGrpSpPr>
            <a:grpSpLocks/>
          </p:cNvGrpSpPr>
          <p:nvPr/>
        </p:nvGrpSpPr>
        <p:grpSpPr bwMode="auto">
          <a:xfrm rot="13618561" flipH="1">
            <a:off x="2881313" y="600076"/>
            <a:ext cx="323850" cy="323850"/>
            <a:chOff x="2692" y="1712"/>
            <a:chExt cx="204" cy="204"/>
          </a:xfrm>
        </p:grpSpPr>
        <p:sp>
          <p:nvSpPr>
            <p:cNvPr id="105" name="Oval 143"/>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06" name="Freeform 144"/>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120"/>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124"/>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nodeType="afterEffect">
                                  <p:stCondLst>
                                    <p:cond delay="500"/>
                                  </p:stCondLst>
                                  <p:childTnLst>
                                    <p:set>
                                      <p:cBhvr>
                                        <p:cTn id="15" dur="1" fill="hold">
                                          <p:stCondLst>
                                            <p:cond delay="0"/>
                                          </p:stCondLst>
                                        </p:cTn>
                                        <p:tgtEl>
                                          <p:spTgt spid="125"/>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nodeType="afterEffect">
                                  <p:stCondLst>
                                    <p:cond delay="500"/>
                                  </p:stCondLst>
                                  <p:childTnLst>
                                    <p:set>
                                      <p:cBhvr>
                                        <p:cTn id="18" dur="1" fill="hold">
                                          <p:stCondLst>
                                            <p:cond delay="0"/>
                                          </p:stCondLst>
                                        </p:cTn>
                                        <p:tgtEl>
                                          <p:spTgt spid="119"/>
                                        </p:tgtEl>
                                        <p:attrNameLst>
                                          <p:attrName>style.visibility</p:attrName>
                                        </p:attrNameLst>
                                      </p:cBhvr>
                                      <p:to>
                                        <p:strVal val="visible"/>
                                      </p:to>
                                    </p:set>
                                  </p:childTnLst>
                                </p:cTn>
                              </p:par>
                            </p:childTnLst>
                          </p:cTn>
                        </p:par>
                        <p:par>
                          <p:cTn id="19" fill="hold" nodeType="afterGroup">
                            <p:stCondLst>
                              <p:cond delay="2000"/>
                            </p:stCondLst>
                            <p:childTnLst>
                              <p:par>
                                <p:cTn id="20" presetID="1" presetClass="entr" presetSubtype="0" fill="hold" nodeType="afterEffect">
                                  <p:stCondLst>
                                    <p:cond delay="0"/>
                                  </p:stCondLst>
                                  <p:childTnLst>
                                    <p:set>
                                      <p:cBhvr>
                                        <p:cTn id="21" dur="1" fill="hold">
                                          <p:stCondLst>
                                            <p:cond delay="0"/>
                                          </p:stCondLst>
                                        </p:cTn>
                                        <p:tgtEl>
                                          <p:spTgt spid="66"/>
                                        </p:tgtEl>
                                        <p:attrNameLst>
                                          <p:attrName>style.visibility</p:attrName>
                                        </p:attrNameLst>
                                      </p:cBhvr>
                                      <p:to>
                                        <p:strVal val="visible"/>
                                      </p:to>
                                    </p:set>
                                  </p:childTnLst>
                                </p:cTn>
                              </p:par>
                            </p:childTnLst>
                          </p:cTn>
                        </p:par>
                        <p:par>
                          <p:cTn id="22" fill="hold" nodeType="afterGroup">
                            <p:stCondLst>
                              <p:cond delay="2000"/>
                            </p:stCondLst>
                            <p:childTnLst>
                              <p:par>
                                <p:cTn id="23" presetID="1" presetClass="entr" presetSubtype="0" fill="hold" nodeType="afterEffect">
                                  <p:stCondLst>
                                    <p:cond delay="50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549F66FE-9EAA-4E37-BE5F-B1A29B112CE0}" type="slidenum">
              <a:rPr lang="fr-FR" altLang="fr-FR" smtClean="0">
                <a:latin typeface="Calibri" panose="020F0502020204030204" pitchFamily="34" charset="0"/>
              </a:rPr>
              <a:pPr>
                <a:spcBef>
                  <a:spcPct val="0"/>
                </a:spcBef>
                <a:buFontTx/>
                <a:buNone/>
              </a:pPr>
              <a:t>31</a:t>
            </a:fld>
            <a:endParaRPr lang="fr-FR" altLang="fr-FR" dirty="0">
              <a:latin typeface="Calibri" panose="020F0502020204030204" pitchFamily="34" charset="0"/>
            </a:endParaRPr>
          </a:p>
        </p:txBody>
      </p:sp>
      <p:sp>
        <p:nvSpPr>
          <p:cNvPr id="72707" name="Rectangle 2"/>
          <p:cNvSpPr>
            <a:spLocks noGrp="1" noChangeArrowheads="1"/>
          </p:cNvSpPr>
          <p:nvPr>
            <p:ph type="title"/>
          </p:nvPr>
        </p:nvSpPr>
        <p:spPr/>
        <p:txBody>
          <a:bodyPr/>
          <a:lstStyle/>
          <a:p>
            <a:pPr eaLnBrk="1" hangingPunct="1"/>
            <a:r>
              <a:rPr lang="fr-FR" altLang="fr-FR"/>
              <a:t>Le magasin d’outillage</a:t>
            </a:r>
          </a:p>
        </p:txBody>
      </p:sp>
      <p:grpSp>
        <p:nvGrpSpPr>
          <p:cNvPr id="72708" name="Groupe 172"/>
          <p:cNvGrpSpPr>
            <a:grpSpLocks/>
          </p:cNvGrpSpPr>
          <p:nvPr/>
        </p:nvGrpSpPr>
        <p:grpSpPr bwMode="auto">
          <a:xfrm>
            <a:off x="304800" y="571500"/>
            <a:ext cx="1284288" cy="1284288"/>
            <a:chOff x="3606622" y="3200400"/>
            <a:chExt cx="1284130" cy="1284130"/>
          </a:xfrm>
        </p:grpSpPr>
        <p:pic>
          <p:nvPicPr>
            <p:cNvPr id="72713" name="Picture 2" descr="INDU05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4112" y="3345258"/>
              <a:ext cx="834087" cy="980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Ellipse 74"/>
            <p:cNvSpPr/>
            <p:nvPr/>
          </p:nvSpPr>
          <p:spPr bwMode="auto">
            <a:xfrm>
              <a:off x="3606622" y="3200400"/>
              <a:ext cx="1284130" cy="1284130"/>
            </a:xfrm>
            <a:prstGeom prst="ellipse">
              <a:avLst/>
            </a:prstGeom>
            <a:noFill/>
            <a:ln w="9525" cap="flat" cmpd="sng" algn="ctr">
              <a:solidFill>
                <a:schemeClr val="bg1">
                  <a:lumMod val="50000"/>
                </a:schemeClr>
              </a:solidFill>
              <a:prstDash val="lgDash"/>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grpSp>
      <p:sp>
        <p:nvSpPr>
          <p:cNvPr id="10" name="ZoneTexte 9"/>
          <p:cNvSpPr txBox="1">
            <a:spLocks noChangeArrowheads="1"/>
          </p:cNvSpPr>
          <p:nvPr/>
        </p:nvSpPr>
        <p:spPr bwMode="auto">
          <a:xfrm>
            <a:off x="76200" y="4000500"/>
            <a:ext cx="939641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ct val="150000"/>
              </a:lnSpc>
              <a:spcBef>
                <a:spcPct val="0"/>
              </a:spcBef>
            </a:pPr>
            <a:r>
              <a:rPr lang="fr-FR" altLang="fr-FR" sz="2000" dirty="0">
                <a:latin typeface="Calibri" panose="020F0502020204030204" pitchFamily="34" charset="0"/>
              </a:rPr>
              <a:t>Quand un </a:t>
            </a:r>
            <a:r>
              <a:rPr lang="fr-FR" altLang="fr-FR" sz="2000" dirty="0">
                <a:solidFill>
                  <a:srgbClr val="FF0000"/>
                </a:solidFill>
                <a:latin typeface="Calibri" panose="020F0502020204030204" pitchFamily="34" charset="0"/>
              </a:rPr>
              <a:t>surligneur</a:t>
            </a:r>
            <a:r>
              <a:rPr lang="fr-FR" altLang="fr-FR" sz="2000" dirty="0">
                <a:latin typeface="Calibri" panose="020F0502020204030204" pitchFamily="34" charset="0"/>
              </a:rPr>
              <a:t> n’est pas utilisé, il doit être rapporté au magasin d’outillage.</a:t>
            </a:r>
          </a:p>
          <a:p>
            <a:pPr eaLnBrk="1" hangingPunct="1">
              <a:lnSpc>
                <a:spcPct val="150000"/>
              </a:lnSpc>
              <a:spcBef>
                <a:spcPct val="0"/>
              </a:spcBef>
            </a:pPr>
            <a:endParaRPr lang="fr-FR" altLang="fr-FR" sz="2000" dirty="0">
              <a:latin typeface="Calibri" panose="020F0502020204030204" pitchFamily="34" charset="0"/>
            </a:endParaRPr>
          </a:p>
          <a:p>
            <a:pPr eaLnBrk="1" hangingPunct="1">
              <a:lnSpc>
                <a:spcPct val="150000"/>
              </a:lnSpc>
              <a:spcBef>
                <a:spcPct val="0"/>
              </a:spcBef>
            </a:pPr>
            <a:r>
              <a:rPr lang="fr-FR" altLang="fr-FR" sz="2000" dirty="0">
                <a:latin typeface="Calibri" panose="020F0502020204030204" pitchFamily="34" charset="0"/>
              </a:rPr>
              <a:t>C’est celui qui a utilisé le surligneur qui doit le rapporter </a:t>
            </a:r>
            <a:r>
              <a:rPr lang="fr-FR" altLang="fr-FR" sz="2000" dirty="0">
                <a:solidFill>
                  <a:srgbClr val="FF0000"/>
                </a:solidFill>
                <a:latin typeface="Calibri" panose="020F0502020204030204" pitchFamily="34" charset="0"/>
              </a:rPr>
              <a:t>personnellement</a:t>
            </a:r>
            <a:r>
              <a:rPr lang="fr-FR" altLang="fr-FR" sz="2000" dirty="0">
                <a:latin typeface="Calibri" panose="020F0502020204030204" pitchFamily="34" charset="0"/>
              </a:rPr>
              <a:t> au magasin d’outillage.</a:t>
            </a:r>
          </a:p>
        </p:txBody>
      </p:sp>
      <p:sp>
        <p:nvSpPr>
          <p:cNvPr id="72710"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72712" name="Image 1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86175" y="1212850"/>
            <a:ext cx="2239963"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re 1"/>
          <p:cNvSpPr>
            <a:spLocks noGrp="1"/>
          </p:cNvSpPr>
          <p:nvPr>
            <p:ph type="title"/>
          </p:nvPr>
        </p:nvSpPr>
        <p:spPr/>
        <p:txBody>
          <a:bodyPr/>
          <a:lstStyle/>
          <a:p>
            <a:r>
              <a:rPr lang="fr-FR" altLang="fr-FR"/>
              <a:t>Les déplacements</a:t>
            </a:r>
          </a:p>
        </p:txBody>
      </p:sp>
      <p:sp>
        <p:nvSpPr>
          <p:cNvPr id="3" name="Espace réservé du contenu 2"/>
          <p:cNvSpPr>
            <a:spLocks noGrp="1"/>
          </p:cNvSpPr>
          <p:nvPr>
            <p:ph idx="1"/>
          </p:nvPr>
        </p:nvSpPr>
        <p:spPr>
          <a:xfrm>
            <a:off x="236538" y="571500"/>
            <a:ext cx="8867775" cy="558800"/>
          </a:xfrm>
        </p:spPr>
        <p:txBody>
          <a:bodyPr/>
          <a:lstStyle/>
          <a:p>
            <a:r>
              <a:rPr lang="fr-FR" altLang="fr-FR" sz="2000"/>
              <a:t>Vous transportez </a:t>
            </a:r>
            <a:r>
              <a:rPr lang="fr-FR" altLang="fr-FR" sz="2000">
                <a:solidFill>
                  <a:srgbClr val="FF0000"/>
                </a:solidFill>
              </a:rPr>
              <a:t>vous-même</a:t>
            </a:r>
            <a:r>
              <a:rPr lang="fr-FR" altLang="fr-FR" sz="2000"/>
              <a:t> les produits de </a:t>
            </a:r>
            <a:r>
              <a:rPr lang="fr-FR" altLang="fr-FR" sz="2000">
                <a:solidFill>
                  <a:srgbClr val="FF0000"/>
                </a:solidFill>
              </a:rPr>
              <a:t>votre poste</a:t>
            </a:r>
            <a:r>
              <a:rPr lang="fr-FR" altLang="fr-FR" sz="2000"/>
              <a:t> au poste suivant</a:t>
            </a:r>
          </a:p>
        </p:txBody>
      </p:sp>
      <p:sp>
        <p:nvSpPr>
          <p:cNvPr id="7475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5D6D712-FFB9-4F6F-94BF-342D7D99FC3C}" type="slidenum">
              <a:rPr lang="fr-FR" altLang="fr-FR" smtClean="0">
                <a:latin typeface="Calibri" panose="020F0502020204030204" pitchFamily="34" charset="0"/>
              </a:rPr>
              <a:pPr>
                <a:spcBef>
                  <a:spcPct val="0"/>
                </a:spcBef>
                <a:buFontTx/>
                <a:buNone/>
              </a:pPr>
              <a:t>32</a:t>
            </a:fld>
            <a:endParaRPr lang="fr-FR" altLang="fr-FR" dirty="0">
              <a:latin typeface="Calibri" panose="020F0502020204030204" pitchFamily="34" charset="0"/>
            </a:endParaRPr>
          </a:p>
        </p:txBody>
      </p:sp>
      <p:grpSp>
        <p:nvGrpSpPr>
          <p:cNvPr id="4" name="Groupe 25"/>
          <p:cNvGrpSpPr>
            <a:grpSpLocks/>
          </p:cNvGrpSpPr>
          <p:nvPr/>
        </p:nvGrpSpPr>
        <p:grpSpPr bwMode="auto">
          <a:xfrm>
            <a:off x="4168775" y="1196975"/>
            <a:ext cx="1004888" cy="1685925"/>
            <a:chOff x="3698875" y="1312524"/>
            <a:chExt cx="1571625" cy="2636255"/>
          </a:xfrm>
        </p:grpSpPr>
        <p:sp>
          <p:nvSpPr>
            <p:cNvPr id="7" name="Rectangle 6"/>
            <p:cNvSpPr/>
            <p:nvPr/>
          </p:nvSpPr>
          <p:spPr>
            <a:xfrm>
              <a:off x="3793222" y="1347277"/>
              <a:ext cx="1258790" cy="260150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4768"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45</a:t>
              </a:r>
            </a:p>
          </p:txBody>
        </p:sp>
        <p:sp>
          <p:nvSpPr>
            <p:cNvPr id="9" name="Étoile à 5 branches 8"/>
            <p:cNvSpPr/>
            <p:nvPr/>
          </p:nvSpPr>
          <p:spPr bwMode="auto">
            <a:xfrm>
              <a:off x="4103575" y="1689841"/>
              <a:ext cx="720017" cy="685128"/>
            </a:xfrm>
            <a:prstGeom prst="star5">
              <a:avLst/>
            </a:prstGeom>
            <a:solidFill>
              <a:srgbClr val="00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0" name="Triangle isocèle 9"/>
            <p:cNvSpPr/>
            <p:nvPr/>
          </p:nvSpPr>
          <p:spPr bwMode="auto">
            <a:xfrm>
              <a:off x="4155714" y="3251240"/>
              <a:ext cx="615739" cy="466682"/>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1" name="AutoShape 34"/>
            <p:cNvSpPr>
              <a:spLocks noChangeArrowheads="1"/>
            </p:cNvSpPr>
            <p:nvPr/>
          </p:nvSpPr>
          <p:spPr bwMode="auto">
            <a:xfrm>
              <a:off x="4096126" y="2576041"/>
              <a:ext cx="734914" cy="479093"/>
            </a:xfrm>
            <a:prstGeom prst="wave">
              <a:avLst>
                <a:gd name="adj1" fmla="val 20644"/>
                <a:gd name="adj2" fmla="val 7681"/>
              </a:avLst>
            </a:prstGeom>
            <a:solidFill>
              <a:srgbClr val="FFCC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sp>
        <p:nvSpPr>
          <p:cNvPr id="25" name="Espace réservé du contenu 2"/>
          <p:cNvSpPr txBox="1">
            <a:spLocks/>
          </p:cNvSpPr>
          <p:nvPr/>
        </p:nvSpPr>
        <p:spPr bwMode="auto">
          <a:xfrm>
            <a:off x="287338" y="4076700"/>
            <a:ext cx="9161462" cy="2374900"/>
          </a:xfrm>
          <a:prstGeom prst="rect">
            <a:avLst/>
          </a:prstGeom>
          <a:noFill/>
          <a:ln w="9525">
            <a:noFill/>
            <a:miter lim="800000"/>
            <a:headEnd/>
            <a:tailEnd/>
          </a:ln>
        </p:spPr>
        <p:txBody>
          <a:bodyPr lIns="36000" rIns="36000"/>
          <a:lstStyle/>
          <a:p>
            <a:pPr marL="342900" indent="-342900">
              <a:spcBef>
                <a:spcPct val="20000"/>
              </a:spcBef>
              <a:buFontTx/>
              <a:buChar char="•"/>
              <a:defRPr/>
            </a:pPr>
            <a:r>
              <a:rPr lang="fr-FR" sz="2000" kern="0" dirty="0">
                <a:latin typeface="Calibri" panose="020F0502020204030204" pitchFamily="34" charset="0"/>
              </a:rPr>
              <a:t>Vous transportez le </a:t>
            </a:r>
            <a:r>
              <a:rPr lang="fr-FR" sz="2000" kern="0" dirty="0">
                <a:solidFill>
                  <a:srgbClr val="FF0000"/>
                </a:solidFill>
                <a:latin typeface="Calibri" panose="020F0502020204030204" pitchFamily="34" charset="0"/>
              </a:rPr>
              <a:t>nombre de produits</a:t>
            </a:r>
            <a:r>
              <a:rPr lang="fr-FR" sz="2000" kern="0" dirty="0">
                <a:latin typeface="Calibri" panose="020F0502020204030204" pitchFamily="34" charset="0"/>
              </a:rPr>
              <a:t> que vous voulez</a:t>
            </a:r>
          </a:p>
          <a:p>
            <a:pPr marL="342900" indent="-342900">
              <a:spcBef>
                <a:spcPct val="20000"/>
              </a:spcBef>
              <a:buFontTx/>
              <a:buChar char="•"/>
              <a:defRPr/>
            </a:pPr>
            <a:endParaRPr lang="fr-FR" sz="2000" kern="0" dirty="0">
              <a:latin typeface="Calibri" panose="020F0502020204030204" pitchFamily="34" charset="0"/>
            </a:endParaRPr>
          </a:p>
          <a:p>
            <a:pPr marL="342900" indent="-342900">
              <a:spcBef>
                <a:spcPct val="20000"/>
              </a:spcBef>
              <a:buFontTx/>
              <a:buChar char="•"/>
              <a:defRPr/>
            </a:pPr>
            <a:r>
              <a:rPr lang="fr-FR" sz="2000" kern="0" dirty="0">
                <a:latin typeface="Calibri" panose="020F0502020204030204" pitchFamily="34" charset="0"/>
              </a:rPr>
              <a:t>Comme les produits sont </a:t>
            </a:r>
            <a:r>
              <a:rPr lang="fr-FR" sz="2000" kern="0" dirty="0">
                <a:solidFill>
                  <a:srgbClr val="FF0000"/>
                </a:solidFill>
                <a:latin typeface="Calibri" panose="020F0502020204030204" pitchFamily="34" charset="0"/>
              </a:rPr>
              <a:t>fragiles</a:t>
            </a:r>
            <a:r>
              <a:rPr lang="fr-FR" sz="2000" kern="0" dirty="0">
                <a:latin typeface="Calibri" panose="020F0502020204030204" pitchFamily="34" charset="0"/>
              </a:rPr>
              <a:t>, vous marchez </a:t>
            </a:r>
            <a:r>
              <a:rPr lang="fr-FR" sz="2000" kern="0" dirty="0">
                <a:solidFill>
                  <a:srgbClr val="FF0000"/>
                </a:solidFill>
                <a:latin typeface="Calibri" panose="020F0502020204030204" pitchFamily="34" charset="0"/>
              </a:rPr>
              <a:t>lentement</a:t>
            </a:r>
            <a:r>
              <a:rPr lang="fr-FR" sz="2000" kern="0" dirty="0">
                <a:latin typeface="Calibri" panose="020F0502020204030204" pitchFamily="34" charset="0"/>
              </a:rPr>
              <a:t> : pas à pas</a:t>
            </a:r>
          </a:p>
          <a:p>
            <a:pPr marL="342900" indent="-342900">
              <a:spcBef>
                <a:spcPct val="20000"/>
              </a:spcBef>
              <a:buFontTx/>
              <a:buChar char="•"/>
              <a:defRPr/>
            </a:pPr>
            <a:endParaRPr lang="fr-FR" sz="2000" kern="0" dirty="0">
              <a:latin typeface="Calibri" panose="020F0502020204030204" pitchFamily="34" charset="0"/>
            </a:endParaRPr>
          </a:p>
          <a:p>
            <a:pPr marL="342900" indent="-342900">
              <a:spcBef>
                <a:spcPct val="20000"/>
              </a:spcBef>
              <a:buFontTx/>
              <a:buChar char="•"/>
              <a:defRPr/>
            </a:pPr>
            <a:r>
              <a:rPr lang="fr-FR" sz="2000" dirty="0">
                <a:latin typeface="Calibri" panose="020F0502020204030204" pitchFamily="34" charset="0"/>
              </a:rPr>
              <a:t>Vous ne pouvez pas changer </a:t>
            </a:r>
            <a:r>
              <a:rPr lang="fr-FR" sz="2000" dirty="0">
                <a:solidFill>
                  <a:srgbClr val="FF0000"/>
                </a:solidFill>
                <a:latin typeface="Calibri" panose="020F0502020204030204" pitchFamily="34" charset="0"/>
              </a:rPr>
              <a:t>de surligneur </a:t>
            </a:r>
            <a:r>
              <a:rPr lang="fr-FR" sz="2000" dirty="0">
                <a:latin typeface="Calibri" panose="020F0502020204030204" pitchFamily="34" charset="0"/>
              </a:rPr>
              <a:t>et transporter les </a:t>
            </a:r>
            <a:r>
              <a:rPr lang="fr-FR" sz="2000" dirty="0">
                <a:solidFill>
                  <a:srgbClr val="FF0000"/>
                </a:solidFill>
                <a:latin typeface="Calibri" panose="020F0502020204030204" pitchFamily="34" charset="0"/>
              </a:rPr>
              <a:t>pièces</a:t>
            </a:r>
            <a:r>
              <a:rPr lang="fr-FR" sz="2000" dirty="0">
                <a:latin typeface="Calibri" panose="020F0502020204030204" pitchFamily="34" charset="0"/>
              </a:rPr>
              <a:t> </a:t>
            </a:r>
            <a:r>
              <a:rPr lang="fr-FR" sz="2000" dirty="0">
                <a:solidFill>
                  <a:srgbClr val="FF0000"/>
                </a:solidFill>
                <a:latin typeface="Calibri" panose="020F0502020204030204" pitchFamily="34" charset="0"/>
              </a:rPr>
              <a:t>en même temps</a:t>
            </a:r>
            <a:r>
              <a:rPr lang="fr-FR" sz="2000" dirty="0">
                <a:latin typeface="Calibri" panose="020F0502020204030204" pitchFamily="34" charset="0"/>
              </a:rPr>
              <a:t>.</a:t>
            </a:r>
          </a:p>
          <a:p>
            <a:pPr marL="342900" indent="-342900">
              <a:spcBef>
                <a:spcPct val="20000"/>
              </a:spcBef>
              <a:defRPr/>
            </a:pPr>
            <a:endParaRPr lang="fr-FR" sz="2000" kern="0" dirty="0">
              <a:latin typeface="Calibri" panose="020F0502020204030204" pitchFamily="34" charset="0"/>
            </a:endParaRPr>
          </a:p>
        </p:txBody>
      </p:sp>
      <p:grpSp>
        <p:nvGrpSpPr>
          <p:cNvPr id="31" name="Groupe 30"/>
          <p:cNvGrpSpPr>
            <a:grpSpLocks/>
          </p:cNvGrpSpPr>
          <p:nvPr/>
        </p:nvGrpSpPr>
        <p:grpSpPr bwMode="auto">
          <a:xfrm>
            <a:off x="2516188" y="3035300"/>
            <a:ext cx="4130675" cy="506413"/>
            <a:chOff x="3316981" y="3136912"/>
            <a:chExt cx="4130339" cy="506413"/>
          </a:xfrm>
        </p:grpSpPr>
        <p:sp>
          <p:nvSpPr>
            <p:cNvPr id="17" name="AutoShape 96"/>
            <p:cNvSpPr>
              <a:spLocks noChangeArrowheads="1"/>
            </p:cNvSpPr>
            <p:nvPr/>
          </p:nvSpPr>
          <p:spPr bwMode="auto">
            <a:xfrm>
              <a:off x="3316981" y="3136912"/>
              <a:ext cx="531769" cy="506413"/>
            </a:xfrm>
            <a:prstGeom prst="star5">
              <a:avLst/>
            </a:prstGeom>
            <a:solidFill>
              <a:schemeClr val="bg1"/>
            </a:solidFill>
            <a:ln w="38100">
              <a:solidFill>
                <a:schemeClr val="tx1"/>
              </a:solidFill>
              <a:miter lim="800000"/>
              <a:headEnd/>
              <a:tailEnd/>
            </a:ln>
            <a:effectLst/>
          </p:spPr>
          <p:txBody>
            <a:bodyPr wrap="none" anchor="ctr"/>
            <a:lstStyle/>
            <a:p>
              <a:pPr algn="ctr">
                <a:defRPr/>
              </a:pPr>
              <a:endParaRPr lang="fr-FR" sz="1400" dirty="0">
                <a:latin typeface="Calibri" panose="020F0502020204030204" pitchFamily="34" charset="0"/>
              </a:endParaRPr>
            </a:p>
          </p:txBody>
        </p:sp>
        <p:sp>
          <p:nvSpPr>
            <p:cNvPr id="74763" name="AutoShape 99"/>
            <p:cNvSpPr>
              <a:spLocks noChangeArrowheads="1"/>
            </p:cNvSpPr>
            <p:nvPr/>
          </p:nvSpPr>
          <p:spPr bwMode="auto">
            <a:xfrm>
              <a:off x="5062493" y="3144056"/>
              <a:ext cx="755650" cy="492125"/>
            </a:xfrm>
            <a:prstGeom prst="wave">
              <a:avLst>
                <a:gd name="adj1" fmla="val 20644"/>
                <a:gd name="adj2" fmla="val 7681"/>
              </a:avLst>
            </a:prstGeom>
            <a:solidFill>
              <a:schemeClr val="bg1"/>
            </a:solidFill>
            <a:ln w="38100">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74764" name="Flèche droite 18"/>
            <p:cNvSpPr>
              <a:spLocks noChangeArrowheads="1"/>
            </p:cNvSpPr>
            <p:nvPr/>
          </p:nvSpPr>
          <p:spPr bwMode="auto">
            <a:xfrm>
              <a:off x="4356100" y="3256768"/>
              <a:ext cx="432308" cy="266700"/>
            </a:xfrm>
            <a:prstGeom prst="rightArrow">
              <a:avLst>
                <a:gd name="adj1" fmla="val 50000"/>
                <a:gd name="adj2" fmla="val 50002"/>
              </a:avLst>
            </a:prstGeom>
            <a:solidFill>
              <a:srgbClr val="FFFFAB"/>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4765" name="AutoShape 95"/>
            <p:cNvSpPr>
              <a:spLocks noChangeArrowheads="1"/>
            </p:cNvSpPr>
            <p:nvPr/>
          </p:nvSpPr>
          <p:spPr bwMode="auto">
            <a:xfrm>
              <a:off x="6947257" y="3187712"/>
              <a:ext cx="500063" cy="404812"/>
            </a:xfrm>
            <a:prstGeom prst="triangle">
              <a:avLst>
                <a:gd name="adj" fmla="val 50000"/>
              </a:avLst>
            </a:prstGeom>
            <a:solidFill>
              <a:schemeClr val="bg1"/>
            </a:solidFill>
            <a:ln w="38100">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74766" name="Flèche droite 22"/>
            <p:cNvSpPr>
              <a:spLocks noChangeArrowheads="1"/>
            </p:cNvSpPr>
            <p:nvPr/>
          </p:nvSpPr>
          <p:spPr bwMode="auto">
            <a:xfrm>
              <a:off x="6121400" y="3256768"/>
              <a:ext cx="432308" cy="266700"/>
            </a:xfrm>
            <a:prstGeom prst="rightArrow">
              <a:avLst>
                <a:gd name="adj1" fmla="val 50000"/>
                <a:gd name="adj2" fmla="val 50002"/>
              </a:avLst>
            </a:prstGeom>
            <a:solidFill>
              <a:srgbClr val="FFFFAB"/>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74760"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e 81"/>
          <p:cNvGrpSpPr>
            <a:grpSpLocks/>
          </p:cNvGrpSpPr>
          <p:nvPr/>
        </p:nvGrpSpPr>
        <p:grpSpPr bwMode="auto">
          <a:xfrm>
            <a:off x="4010025" y="708025"/>
            <a:ext cx="1701800" cy="1638300"/>
            <a:chOff x="4546600" y="1041400"/>
            <a:chExt cx="1701800" cy="1638300"/>
          </a:xfrm>
        </p:grpSpPr>
        <p:sp>
          <p:nvSpPr>
            <p:cNvPr id="76850" name="Rectangle 52"/>
            <p:cNvSpPr>
              <a:spLocks noChangeArrowheads="1"/>
            </p:cNvSpPr>
            <p:nvPr/>
          </p:nvSpPr>
          <p:spPr bwMode="auto">
            <a:xfrm>
              <a:off x="4546600" y="1041400"/>
              <a:ext cx="1701800" cy="1638300"/>
            </a:xfrm>
            <a:prstGeom prst="rect">
              <a:avLst/>
            </a:prstGeom>
            <a:solidFill>
              <a:srgbClr val="0066FF"/>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76851" name="Groupe 53"/>
            <p:cNvGrpSpPr>
              <a:grpSpLocks/>
            </p:cNvGrpSpPr>
            <p:nvPr/>
          </p:nvGrpSpPr>
          <p:grpSpPr bwMode="auto">
            <a:xfrm>
              <a:off x="4641850" y="1117600"/>
              <a:ext cx="444500" cy="1485900"/>
              <a:chOff x="2838450" y="1168400"/>
              <a:chExt cx="444500" cy="1485900"/>
            </a:xfrm>
          </p:grpSpPr>
          <p:sp>
            <p:nvSpPr>
              <p:cNvPr id="76856" name="Rectangle 54"/>
              <p:cNvSpPr>
                <a:spLocks noChangeArrowheads="1"/>
              </p:cNvSpPr>
              <p:nvPr/>
            </p:nvSpPr>
            <p:spPr bwMode="auto">
              <a:xfrm>
                <a:off x="2838450" y="11684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6857" name="Rectangle 55"/>
              <p:cNvSpPr>
                <a:spLocks noChangeArrowheads="1"/>
              </p:cNvSpPr>
              <p:nvPr/>
            </p:nvSpPr>
            <p:spPr bwMode="auto">
              <a:xfrm>
                <a:off x="2838450" y="19558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76852" name="Groupe 56"/>
            <p:cNvGrpSpPr>
              <a:grpSpLocks/>
            </p:cNvGrpSpPr>
            <p:nvPr/>
          </p:nvGrpSpPr>
          <p:grpSpPr bwMode="auto">
            <a:xfrm>
              <a:off x="5137150" y="1117600"/>
              <a:ext cx="444500" cy="1485900"/>
              <a:chOff x="2838450" y="1168400"/>
              <a:chExt cx="444500" cy="1485900"/>
            </a:xfrm>
          </p:grpSpPr>
          <p:sp>
            <p:nvSpPr>
              <p:cNvPr id="76854" name="Rectangle 57"/>
              <p:cNvSpPr>
                <a:spLocks noChangeArrowheads="1"/>
              </p:cNvSpPr>
              <p:nvPr/>
            </p:nvSpPr>
            <p:spPr bwMode="auto">
              <a:xfrm>
                <a:off x="2838450" y="11684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6855" name="Rectangle 58"/>
              <p:cNvSpPr>
                <a:spLocks noChangeArrowheads="1"/>
              </p:cNvSpPr>
              <p:nvPr/>
            </p:nvSpPr>
            <p:spPr bwMode="auto">
              <a:xfrm>
                <a:off x="2838450" y="19558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76853" name="AutoShape 99"/>
            <p:cNvSpPr>
              <a:spLocks noChangeArrowheads="1"/>
            </p:cNvSpPr>
            <p:nvPr/>
          </p:nvSpPr>
          <p:spPr bwMode="auto">
            <a:xfrm rot="5400000">
              <a:off x="5672093" y="1638301"/>
              <a:ext cx="532630" cy="346881"/>
            </a:xfrm>
            <a:prstGeom prst="wave">
              <a:avLst>
                <a:gd name="adj1" fmla="val 20644"/>
                <a:gd name="adj2" fmla="val 7681"/>
              </a:avLst>
            </a:prstGeom>
            <a:solidFill>
              <a:schemeClr val="bg1"/>
            </a:solidFill>
            <a:ln w="38100">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grpSp>
      <p:grpSp>
        <p:nvGrpSpPr>
          <p:cNvPr id="81" name="Groupe 80"/>
          <p:cNvGrpSpPr>
            <a:grpSpLocks/>
          </p:cNvGrpSpPr>
          <p:nvPr/>
        </p:nvGrpSpPr>
        <p:grpSpPr bwMode="auto">
          <a:xfrm>
            <a:off x="7610475" y="1736725"/>
            <a:ext cx="1701800" cy="1638300"/>
            <a:chOff x="7175500" y="1054100"/>
            <a:chExt cx="1701800" cy="1638300"/>
          </a:xfrm>
        </p:grpSpPr>
        <p:sp>
          <p:nvSpPr>
            <p:cNvPr id="76842" name="Rectangle 62"/>
            <p:cNvSpPr>
              <a:spLocks noChangeArrowheads="1"/>
            </p:cNvSpPr>
            <p:nvPr/>
          </p:nvSpPr>
          <p:spPr bwMode="auto">
            <a:xfrm>
              <a:off x="7175500" y="1054100"/>
              <a:ext cx="1701800" cy="1638300"/>
            </a:xfrm>
            <a:prstGeom prst="rect">
              <a:avLst/>
            </a:prstGeom>
            <a:solidFill>
              <a:srgbClr val="0066FF"/>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76843" name="Groupe 63"/>
            <p:cNvGrpSpPr>
              <a:grpSpLocks/>
            </p:cNvGrpSpPr>
            <p:nvPr/>
          </p:nvGrpSpPr>
          <p:grpSpPr bwMode="auto">
            <a:xfrm>
              <a:off x="7270750" y="1130300"/>
              <a:ext cx="444500" cy="1485900"/>
              <a:chOff x="2838450" y="1168400"/>
              <a:chExt cx="444500" cy="1485900"/>
            </a:xfrm>
          </p:grpSpPr>
          <p:sp>
            <p:nvSpPr>
              <p:cNvPr id="76848" name="Rectangle 64"/>
              <p:cNvSpPr>
                <a:spLocks noChangeArrowheads="1"/>
              </p:cNvSpPr>
              <p:nvPr/>
            </p:nvSpPr>
            <p:spPr bwMode="auto">
              <a:xfrm>
                <a:off x="2838450" y="11684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6849" name="Rectangle 65"/>
              <p:cNvSpPr>
                <a:spLocks noChangeArrowheads="1"/>
              </p:cNvSpPr>
              <p:nvPr/>
            </p:nvSpPr>
            <p:spPr bwMode="auto">
              <a:xfrm>
                <a:off x="2838450" y="19558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76844" name="Groupe 66"/>
            <p:cNvGrpSpPr>
              <a:grpSpLocks/>
            </p:cNvGrpSpPr>
            <p:nvPr/>
          </p:nvGrpSpPr>
          <p:grpSpPr bwMode="auto">
            <a:xfrm>
              <a:off x="7766050" y="1130300"/>
              <a:ext cx="444500" cy="1485900"/>
              <a:chOff x="2838450" y="1168400"/>
              <a:chExt cx="444500" cy="1485900"/>
            </a:xfrm>
          </p:grpSpPr>
          <p:sp>
            <p:nvSpPr>
              <p:cNvPr id="76846" name="Rectangle 67"/>
              <p:cNvSpPr>
                <a:spLocks noChangeArrowheads="1"/>
              </p:cNvSpPr>
              <p:nvPr/>
            </p:nvSpPr>
            <p:spPr bwMode="auto">
              <a:xfrm>
                <a:off x="2838450" y="11684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6847" name="Rectangle 68"/>
              <p:cNvSpPr>
                <a:spLocks noChangeArrowheads="1"/>
              </p:cNvSpPr>
              <p:nvPr/>
            </p:nvSpPr>
            <p:spPr bwMode="auto">
              <a:xfrm>
                <a:off x="2838450" y="19558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76845" name="AutoShape 95"/>
            <p:cNvSpPr>
              <a:spLocks noChangeArrowheads="1"/>
            </p:cNvSpPr>
            <p:nvPr/>
          </p:nvSpPr>
          <p:spPr bwMode="auto">
            <a:xfrm rot="5400000">
              <a:off x="8331557" y="1676413"/>
              <a:ext cx="500063" cy="404812"/>
            </a:xfrm>
            <a:prstGeom prst="triangle">
              <a:avLst>
                <a:gd name="adj" fmla="val 50000"/>
              </a:avLst>
            </a:prstGeom>
            <a:solidFill>
              <a:schemeClr val="bg1"/>
            </a:solidFill>
            <a:ln w="38100">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grpSp>
      <p:sp>
        <p:nvSpPr>
          <p:cNvPr id="76804" name="Titre 1"/>
          <p:cNvSpPr>
            <a:spLocks noGrp="1"/>
          </p:cNvSpPr>
          <p:nvPr>
            <p:ph type="title"/>
          </p:nvPr>
        </p:nvSpPr>
        <p:spPr/>
        <p:txBody>
          <a:bodyPr/>
          <a:lstStyle/>
          <a:p>
            <a:r>
              <a:rPr lang="fr-FR" altLang="fr-FR"/>
              <a:t>Les déplacements (suite)</a:t>
            </a:r>
          </a:p>
        </p:txBody>
      </p:sp>
      <p:sp>
        <p:nvSpPr>
          <p:cNvPr id="7680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7680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D9167E14-9F55-4C53-9A02-D43295F7BAD8}" type="slidenum">
              <a:rPr lang="fr-FR" altLang="fr-FR" smtClean="0">
                <a:latin typeface="Calibri" panose="020F0502020204030204" pitchFamily="34" charset="0"/>
              </a:rPr>
              <a:pPr>
                <a:spcBef>
                  <a:spcPct val="0"/>
                </a:spcBef>
                <a:buFontTx/>
                <a:buNone/>
              </a:pPr>
              <a:t>33</a:t>
            </a:fld>
            <a:endParaRPr lang="fr-FR" altLang="fr-FR" dirty="0">
              <a:latin typeface="Calibri" panose="020F0502020204030204" pitchFamily="34" charset="0"/>
            </a:endParaRPr>
          </a:p>
        </p:txBody>
      </p:sp>
      <p:grpSp>
        <p:nvGrpSpPr>
          <p:cNvPr id="76807" name="Groupe 40"/>
          <p:cNvGrpSpPr>
            <a:grpSpLocks/>
          </p:cNvGrpSpPr>
          <p:nvPr/>
        </p:nvGrpSpPr>
        <p:grpSpPr bwMode="auto">
          <a:xfrm>
            <a:off x="2305050" y="4202113"/>
            <a:ext cx="3254375" cy="1287462"/>
            <a:chOff x="3248877" y="2995593"/>
            <a:chExt cx="2987899" cy="1287169"/>
          </a:xfrm>
        </p:grpSpPr>
        <p:sp>
          <p:nvSpPr>
            <p:cNvPr id="76840" name="Rectangle 86"/>
            <p:cNvSpPr>
              <a:spLocks noChangeArrowheads="1"/>
            </p:cNvSpPr>
            <p:nvPr/>
          </p:nvSpPr>
          <p:spPr bwMode="auto">
            <a:xfrm>
              <a:off x="3248877" y="2995593"/>
              <a:ext cx="2987899" cy="1287169"/>
            </a:xfrm>
            <a:prstGeom prst="rect">
              <a:avLst/>
            </a:prstGeom>
            <a:solidFill>
              <a:schemeClr val="accent1"/>
            </a:solidFill>
            <a:ln w="9525" algn="ctr">
              <a:solidFill>
                <a:schemeClr val="tx1"/>
              </a:solidFill>
              <a:miter lim="800000"/>
              <a:headEnd/>
              <a:tailEnd/>
            </a:ln>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ÉTOILE</a:t>
              </a:r>
            </a:p>
          </p:txBody>
        </p:sp>
        <p:sp>
          <p:nvSpPr>
            <p:cNvPr id="7" name="AutoShape 96"/>
            <p:cNvSpPr>
              <a:spLocks noChangeArrowheads="1"/>
            </p:cNvSpPr>
            <p:nvPr/>
          </p:nvSpPr>
          <p:spPr bwMode="auto">
            <a:xfrm>
              <a:off x="4452782" y="3436818"/>
              <a:ext cx="652965" cy="622158"/>
            </a:xfrm>
            <a:prstGeom prst="star5">
              <a:avLst/>
            </a:prstGeom>
            <a:solidFill>
              <a:schemeClr val="bg1"/>
            </a:solidFill>
            <a:ln w="38100">
              <a:solidFill>
                <a:schemeClr val="tx1"/>
              </a:solidFill>
              <a:miter lim="800000"/>
              <a:headEnd/>
              <a:tailEnd/>
            </a:ln>
            <a:effectLst/>
          </p:spPr>
          <p:txBody>
            <a:bodyPr wrap="none" anchor="ctr"/>
            <a:lstStyle/>
            <a:p>
              <a:pPr algn="ctr">
                <a:defRPr/>
              </a:pPr>
              <a:endParaRPr lang="fr-FR" sz="1400" dirty="0">
                <a:latin typeface="Calibri" panose="020F0502020204030204" pitchFamily="34" charset="0"/>
              </a:endParaRPr>
            </a:p>
          </p:txBody>
        </p:sp>
      </p:grpSp>
      <p:cxnSp>
        <p:nvCxnSpPr>
          <p:cNvPr id="15" name="Connecteur droit avec flèche 14"/>
          <p:cNvCxnSpPr>
            <a:cxnSpLocks noChangeShapeType="1"/>
          </p:cNvCxnSpPr>
          <p:nvPr/>
        </p:nvCxnSpPr>
        <p:spPr bwMode="auto">
          <a:xfrm flipV="1">
            <a:off x="5588000" y="3033713"/>
            <a:ext cx="1916113" cy="58102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6" name="Connecteur droit avec flèche 35"/>
          <p:cNvCxnSpPr>
            <a:cxnSpLocks noChangeShapeType="1"/>
          </p:cNvCxnSpPr>
          <p:nvPr/>
        </p:nvCxnSpPr>
        <p:spPr bwMode="auto">
          <a:xfrm rot="5400000" flipH="1" flipV="1">
            <a:off x="3584575" y="2790826"/>
            <a:ext cx="1209675" cy="5905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37" name="Groupe 36"/>
          <p:cNvGrpSpPr>
            <a:grpSpLocks/>
          </p:cNvGrpSpPr>
          <p:nvPr/>
        </p:nvGrpSpPr>
        <p:grpSpPr bwMode="auto">
          <a:xfrm>
            <a:off x="416338" y="2690813"/>
            <a:ext cx="1805751" cy="952500"/>
            <a:chOff x="1272649" y="1879600"/>
            <a:chExt cx="1805036" cy="953296"/>
          </a:xfrm>
        </p:grpSpPr>
        <p:sp>
          <p:nvSpPr>
            <p:cNvPr id="76834" name="ZoneTexte 31"/>
            <p:cNvSpPr txBox="1">
              <a:spLocks noChangeArrowheads="1"/>
            </p:cNvSpPr>
            <p:nvPr/>
          </p:nvSpPr>
          <p:spPr bwMode="auto">
            <a:xfrm>
              <a:off x="1272649" y="1879600"/>
              <a:ext cx="1805036" cy="369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Zone de stockage</a:t>
              </a:r>
            </a:p>
          </p:txBody>
        </p:sp>
        <p:cxnSp>
          <p:nvCxnSpPr>
            <p:cNvPr id="76835" name="Connecteur droit avec flèche 34"/>
            <p:cNvCxnSpPr>
              <a:cxnSpLocks noChangeShapeType="1"/>
            </p:cNvCxnSpPr>
            <p:nvPr/>
          </p:nvCxnSpPr>
          <p:spPr bwMode="auto">
            <a:xfrm rot="5400000">
              <a:off x="1650999" y="2552700"/>
              <a:ext cx="558805"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60" name="Groupe 59"/>
          <p:cNvGrpSpPr>
            <a:grpSpLocks/>
          </p:cNvGrpSpPr>
          <p:nvPr/>
        </p:nvGrpSpPr>
        <p:grpSpPr bwMode="auto">
          <a:xfrm>
            <a:off x="439738" y="3987800"/>
            <a:ext cx="1701800" cy="1638300"/>
            <a:chOff x="439070" y="3987810"/>
            <a:chExt cx="1701800" cy="1638300"/>
          </a:xfrm>
        </p:grpSpPr>
        <p:sp>
          <p:nvSpPr>
            <p:cNvPr id="76826" name="Rectangle 33"/>
            <p:cNvSpPr>
              <a:spLocks noChangeArrowheads="1"/>
            </p:cNvSpPr>
            <p:nvPr/>
          </p:nvSpPr>
          <p:spPr bwMode="auto">
            <a:xfrm>
              <a:off x="439070" y="3987810"/>
              <a:ext cx="1701800" cy="1638300"/>
            </a:xfrm>
            <a:prstGeom prst="rect">
              <a:avLst/>
            </a:prstGeom>
            <a:solidFill>
              <a:srgbClr val="0066FF"/>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76827" name="Groupe 42"/>
            <p:cNvGrpSpPr>
              <a:grpSpLocks/>
            </p:cNvGrpSpPr>
            <p:nvPr/>
          </p:nvGrpSpPr>
          <p:grpSpPr bwMode="auto">
            <a:xfrm>
              <a:off x="534320" y="4064010"/>
              <a:ext cx="444500" cy="1485900"/>
              <a:chOff x="2838450" y="1168400"/>
              <a:chExt cx="444500" cy="1485900"/>
            </a:xfrm>
          </p:grpSpPr>
          <p:sp>
            <p:nvSpPr>
              <p:cNvPr id="76832" name="Rectangle 37"/>
              <p:cNvSpPr>
                <a:spLocks noChangeArrowheads="1"/>
              </p:cNvSpPr>
              <p:nvPr/>
            </p:nvSpPr>
            <p:spPr bwMode="auto">
              <a:xfrm>
                <a:off x="2838450" y="11684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6833" name="Rectangle 41"/>
              <p:cNvSpPr>
                <a:spLocks noChangeArrowheads="1"/>
              </p:cNvSpPr>
              <p:nvPr/>
            </p:nvSpPr>
            <p:spPr bwMode="auto">
              <a:xfrm>
                <a:off x="2838450" y="19558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76828" name="Groupe 43"/>
            <p:cNvGrpSpPr>
              <a:grpSpLocks/>
            </p:cNvGrpSpPr>
            <p:nvPr/>
          </p:nvGrpSpPr>
          <p:grpSpPr bwMode="auto">
            <a:xfrm>
              <a:off x="1029620" y="4064010"/>
              <a:ext cx="444500" cy="1485900"/>
              <a:chOff x="2838450" y="1168400"/>
              <a:chExt cx="444500" cy="1485900"/>
            </a:xfrm>
          </p:grpSpPr>
          <p:sp>
            <p:nvSpPr>
              <p:cNvPr id="76830" name="Rectangle 44"/>
              <p:cNvSpPr>
                <a:spLocks noChangeArrowheads="1"/>
              </p:cNvSpPr>
              <p:nvPr/>
            </p:nvSpPr>
            <p:spPr bwMode="auto">
              <a:xfrm>
                <a:off x="2838450" y="11684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76831" name="Rectangle 45"/>
              <p:cNvSpPr>
                <a:spLocks noChangeArrowheads="1"/>
              </p:cNvSpPr>
              <p:nvPr/>
            </p:nvSpPr>
            <p:spPr bwMode="auto">
              <a:xfrm>
                <a:off x="2838450" y="1955800"/>
                <a:ext cx="444500" cy="698500"/>
              </a:xfrm>
              <a:prstGeom prst="rect">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47" name="AutoShape 96"/>
            <p:cNvSpPr>
              <a:spLocks noChangeArrowheads="1"/>
            </p:cNvSpPr>
            <p:nvPr/>
          </p:nvSpPr>
          <p:spPr bwMode="auto">
            <a:xfrm>
              <a:off x="1543970" y="4546610"/>
              <a:ext cx="546100" cy="477838"/>
            </a:xfrm>
            <a:prstGeom prst="star5">
              <a:avLst/>
            </a:prstGeom>
            <a:solidFill>
              <a:schemeClr val="bg1"/>
            </a:solidFill>
            <a:ln w="38100">
              <a:solidFill>
                <a:schemeClr val="tx1"/>
              </a:solidFill>
              <a:miter lim="800000"/>
              <a:headEnd/>
              <a:tailEnd/>
            </a:ln>
            <a:effectLst/>
          </p:spPr>
          <p:txBody>
            <a:bodyPr wrap="none" anchor="ctr"/>
            <a:lstStyle/>
            <a:p>
              <a:pPr algn="ctr">
                <a:defRPr/>
              </a:pPr>
              <a:endParaRPr lang="fr-FR" sz="1400" dirty="0">
                <a:latin typeface="Calibri" panose="020F0502020204030204" pitchFamily="34" charset="0"/>
              </a:endParaRPr>
            </a:p>
          </p:txBody>
        </p:sp>
      </p:grpSp>
      <p:pic>
        <p:nvPicPr>
          <p:cNvPr id="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325" y="3209925"/>
            <a:ext cx="53181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Ellipse 84"/>
          <p:cNvSpPr>
            <a:spLocks noChangeArrowheads="1"/>
          </p:cNvSpPr>
          <p:nvPr/>
        </p:nvSpPr>
        <p:spPr bwMode="auto">
          <a:xfrm>
            <a:off x="6324600" y="4300538"/>
            <a:ext cx="2709863" cy="1712912"/>
          </a:xfrm>
          <a:prstGeom prst="ellipse">
            <a:avLst/>
          </a:prstGeom>
          <a:solidFill>
            <a:srgbClr val="FFFFCD"/>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Ne jamais déposer une pièce </a:t>
            </a:r>
            <a:r>
              <a:rPr lang="fr-FR" altLang="fr-FR" sz="1800" b="1" dirty="0">
                <a:solidFill>
                  <a:srgbClr val="FF0000"/>
                </a:solidFill>
                <a:latin typeface="Calibri" panose="020F0502020204030204" pitchFamily="34" charset="0"/>
              </a:rPr>
              <a:t>en dehors</a:t>
            </a:r>
            <a:r>
              <a:rPr lang="fr-FR" altLang="fr-FR" sz="1800" dirty="0">
                <a:latin typeface="Calibri" panose="020F0502020204030204" pitchFamily="34" charset="0"/>
              </a:rPr>
              <a:t> d’une zone de stockage</a:t>
            </a:r>
          </a:p>
        </p:txBody>
      </p:sp>
      <p:grpSp>
        <p:nvGrpSpPr>
          <p:cNvPr id="62" name="Groupe 61"/>
          <p:cNvGrpSpPr>
            <a:grpSpLocks/>
          </p:cNvGrpSpPr>
          <p:nvPr/>
        </p:nvGrpSpPr>
        <p:grpSpPr bwMode="auto">
          <a:xfrm>
            <a:off x="528638" y="4784725"/>
            <a:ext cx="463550" cy="828675"/>
            <a:chOff x="1181101" y="5292503"/>
            <a:chExt cx="464182" cy="828898"/>
          </a:xfrm>
        </p:grpSpPr>
        <p:pic>
          <p:nvPicPr>
            <p:cNvPr id="7682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1101" y="5292503"/>
              <a:ext cx="464182" cy="828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AutoShape 96"/>
            <p:cNvSpPr>
              <a:spLocks noChangeArrowheads="1"/>
            </p:cNvSpPr>
            <p:nvPr/>
          </p:nvSpPr>
          <p:spPr bwMode="auto">
            <a:xfrm>
              <a:off x="1262173" y="5370312"/>
              <a:ext cx="271833" cy="238189"/>
            </a:xfrm>
            <a:prstGeom prst="star5">
              <a:avLst/>
            </a:prstGeom>
            <a:solidFill>
              <a:schemeClr val="bg1"/>
            </a:solidFill>
            <a:ln w="3175">
              <a:solidFill>
                <a:schemeClr val="bg1">
                  <a:lumMod val="50000"/>
                </a:schemeClr>
              </a:solidFill>
              <a:miter lim="800000"/>
              <a:headEnd/>
              <a:tailEnd/>
            </a:ln>
            <a:effectLst/>
          </p:spPr>
          <p:txBody>
            <a:bodyPr wrap="none" anchor="ctr"/>
            <a:lstStyle/>
            <a:p>
              <a:pPr algn="ctr">
                <a:defRPr/>
              </a:pPr>
              <a:endParaRPr lang="fr-FR" sz="1400" dirty="0">
                <a:latin typeface="Calibri" panose="020F0502020204030204" pitchFamily="34" charset="0"/>
              </a:endParaRPr>
            </a:p>
          </p:txBody>
        </p:sp>
      </p:grpSp>
      <p:pic>
        <p:nvPicPr>
          <p:cNvPr id="8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8925" y="1504950"/>
            <a:ext cx="46355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 name="Group 142"/>
          <p:cNvGrpSpPr>
            <a:grpSpLocks/>
          </p:cNvGrpSpPr>
          <p:nvPr/>
        </p:nvGrpSpPr>
        <p:grpSpPr bwMode="auto">
          <a:xfrm rot="13618561" flipH="1">
            <a:off x="2860167" y="3899942"/>
            <a:ext cx="323850" cy="323850"/>
            <a:chOff x="2692" y="1712"/>
            <a:chExt cx="204" cy="204"/>
          </a:xfrm>
        </p:grpSpPr>
        <p:sp>
          <p:nvSpPr>
            <p:cNvPr id="58" name="Oval 143"/>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spAutoFit/>
            </a:bodyPr>
            <a:lstStyle/>
            <a:p>
              <a:endParaRPr lang="fr-FR"/>
            </a:p>
          </p:txBody>
        </p:sp>
        <p:sp>
          <p:nvSpPr>
            <p:cNvPr id="59" name="Freeform 144"/>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spAutoFit/>
            </a:bodyPr>
            <a:lstStyle/>
            <a:p>
              <a:endParaRPr lang="fr-FR"/>
            </a:p>
          </p:txBody>
        </p:sp>
      </p:grpSp>
      <p:grpSp>
        <p:nvGrpSpPr>
          <p:cNvPr id="61" name="Group 142"/>
          <p:cNvGrpSpPr>
            <a:grpSpLocks/>
          </p:cNvGrpSpPr>
          <p:nvPr/>
        </p:nvGrpSpPr>
        <p:grpSpPr bwMode="auto">
          <a:xfrm rot="13618561" flipH="1">
            <a:off x="4534419" y="3874184"/>
            <a:ext cx="323850" cy="323850"/>
            <a:chOff x="2692" y="1712"/>
            <a:chExt cx="204" cy="204"/>
          </a:xfrm>
        </p:grpSpPr>
        <p:sp>
          <p:nvSpPr>
            <p:cNvPr id="63" name="Oval 143"/>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spAutoFit/>
            </a:bodyPr>
            <a:lstStyle/>
            <a:p>
              <a:endParaRPr lang="fr-FR"/>
            </a:p>
          </p:txBody>
        </p:sp>
        <p:sp>
          <p:nvSpPr>
            <p:cNvPr id="64" name="Freeform 144"/>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spAutoFit/>
            </a:bodyPr>
            <a:lstStyle/>
            <a:p>
              <a:endParaRPr lang="fr-FR"/>
            </a:p>
          </p:txBody>
        </p:sp>
      </p:grpSp>
      <p:grpSp>
        <p:nvGrpSpPr>
          <p:cNvPr id="4" name="Groupe 3"/>
          <p:cNvGrpSpPr/>
          <p:nvPr/>
        </p:nvGrpSpPr>
        <p:grpSpPr>
          <a:xfrm>
            <a:off x="5054600" y="3241358"/>
            <a:ext cx="487363" cy="897686"/>
            <a:chOff x="5054600" y="3233738"/>
            <a:chExt cx="487363" cy="931862"/>
          </a:xfrm>
        </p:grpSpPr>
        <p:pic>
          <p:nvPicPr>
            <p:cNvPr id="1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4600" y="3233738"/>
              <a:ext cx="4873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roix 1"/>
            <p:cNvSpPr/>
            <p:nvPr/>
          </p:nvSpPr>
          <p:spPr bwMode="auto">
            <a:xfrm>
              <a:off x="5188487" y="3300601"/>
              <a:ext cx="203088" cy="203088"/>
            </a:xfrm>
            <a:prstGeom prst="plus">
              <a:avLst>
                <a:gd name="adj" fmla="val 29690"/>
              </a:avLst>
            </a:prstGeom>
            <a:solidFill>
              <a:srgbClr val="FFFF00"/>
            </a:solidFill>
            <a:ln w="635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grpSp>
        <p:nvGrpSpPr>
          <p:cNvPr id="3" name="Groupe 2"/>
          <p:cNvGrpSpPr/>
          <p:nvPr/>
        </p:nvGrpSpPr>
        <p:grpSpPr>
          <a:xfrm>
            <a:off x="1028700" y="4791075"/>
            <a:ext cx="465138" cy="822325"/>
            <a:chOff x="1028700" y="4791075"/>
            <a:chExt cx="465138" cy="822325"/>
          </a:xfrm>
        </p:grpSpPr>
        <p:grpSp>
          <p:nvGrpSpPr>
            <p:cNvPr id="79" name="Groupe 78"/>
            <p:cNvGrpSpPr>
              <a:grpSpLocks/>
            </p:cNvGrpSpPr>
            <p:nvPr/>
          </p:nvGrpSpPr>
          <p:grpSpPr bwMode="auto">
            <a:xfrm>
              <a:off x="1028700" y="4791075"/>
              <a:ext cx="465138" cy="822325"/>
              <a:chOff x="1681194" y="5298853"/>
              <a:chExt cx="465031" cy="822547"/>
            </a:xfrm>
          </p:grpSpPr>
          <p:pic>
            <p:nvPicPr>
              <p:cNvPr id="768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1194" y="5298853"/>
                <a:ext cx="465031" cy="822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AutoShape 96"/>
              <p:cNvSpPr>
                <a:spLocks noChangeArrowheads="1"/>
              </p:cNvSpPr>
              <p:nvPr/>
            </p:nvSpPr>
            <p:spPr bwMode="auto">
              <a:xfrm>
                <a:off x="1797055" y="5586269"/>
                <a:ext cx="249180" cy="217546"/>
              </a:xfrm>
              <a:prstGeom prst="star5">
                <a:avLst/>
              </a:prstGeom>
              <a:solidFill>
                <a:schemeClr val="bg1"/>
              </a:solidFill>
              <a:ln w="3175">
                <a:solidFill>
                  <a:schemeClr val="bg1">
                    <a:lumMod val="50000"/>
                  </a:schemeClr>
                </a:solidFill>
                <a:miter lim="800000"/>
                <a:headEnd/>
                <a:tailEnd/>
              </a:ln>
              <a:effectLst/>
            </p:spPr>
            <p:txBody>
              <a:bodyPr wrap="none" anchor="ctr"/>
              <a:lstStyle/>
              <a:p>
                <a:pPr algn="ctr">
                  <a:defRPr/>
                </a:pPr>
                <a:endParaRPr lang="fr-FR" sz="1400" dirty="0">
                  <a:latin typeface="Calibri" panose="020F0502020204030204" pitchFamily="34" charset="0"/>
                </a:endParaRPr>
              </a:p>
            </p:txBody>
          </p:sp>
        </p:grpSp>
        <p:sp>
          <p:nvSpPr>
            <p:cNvPr id="65" name="Croix 64"/>
            <p:cNvSpPr/>
            <p:nvPr/>
          </p:nvSpPr>
          <p:spPr bwMode="auto">
            <a:xfrm>
              <a:off x="1158743" y="4842281"/>
              <a:ext cx="203088" cy="203088"/>
            </a:xfrm>
            <a:prstGeom prst="plus">
              <a:avLst>
                <a:gd name="adj" fmla="val 29690"/>
              </a:avLst>
            </a:prstGeom>
            <a:solidFill>
              <a:srgbClr val="FFFF00"/>
            </a:solidFill>
            <a:ln w="635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grpSp>
        <p:nvGrpSpPr>
          <p:cNvPr id="66" name="Groupe 65"/>
          <p:cNvGrpSpPr/>
          <p:nvPr/>
        </p:nvGrpSpPr>
        <p:grpSpPr>
          <a:xfrm>
            <a:off x="7702697" y="2541807"/>
            <a:ext cx="487363" cy="897686"/>
            <a:chOff x="5054600" y="3233738"/>
            <a:chExt cx="487363" cy="931862"/>
          </a:xfrm>
        </p:grpSpPr>
        <p:pic>
          <p:nvPicPr>
            <p:cNvPr id="6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4600" y="3233738"/>
              <a:ext cx="4873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Croix 67"/>
            <p:cNvSpPr/>
            <p:nvPr/>
          </p:nvSpPr>
          <p:spPr bwMode="auto">
            <a:xfrm>
              <a:off x="5188487" y="3300601"/>
              <a:ext cx="203088" cy="203088"/>
            </a:xfrm>
            <a:prstGeom prst="plus">
              <a:avLst>
                <a:gd name="adj" fmla="val 29690"/>
              </a:avLst>
            </a:prstGeom>
            <a:solidFill>
              <a:srgbClr val="FFFF00"/>
            </a:solidFill>
            <a:ln w="6350"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2"/>
                                        </p:tgtEl>
                                        <p:attrNameLst>
                                          <p:attrName>style.visibility</p:attrName>
                                        </p:attrNameLst>
                                      </p:cBhvr>
                                      <p:to>
                                        <p:strVal val="visible"/>
                                      </p:to>
                                    </p:set>
                                  </p:childTnLst>
                                  <p:subTnLst>
                                    <p:set>
                                      <p:cBhvr override="childStyle">
                                        <p:cTn dur="1" fill="hold" display="0" masterRel="nextClick" afterEffect="1"/>
                                        <p:tgtEl>
                                          <p:spTgt spid="62"/>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3">
            <a:extLst>
              <a:ext uri="{28A0092B-C50C-407E-A947-70E740481C1C}">
                <a14:useLocalDpi xmlns:a14="http://schemas.microsoft.com/office/drawing/2010/main" val="0"/>
              </a:ext>
            </a:extLst>
          </a:blip>
          <a:srcRect l="50105" r="11749"/>
          <a:stretch>
            <a:fillRect/>
          </a:stretch>
        </p:blipFill>
        <p:spPr bwMode="auto">
          <a:xfrm>
            <a:off x="312738" y="1289050"/>
            <a:ext cx="3360737" cy="49561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grpSp>
        <p:nvGrpSpPr>
          <p:cNvPr id="45" name="Groupe 44"/>
          <p:cNvGrpSpPr>
            <a:grpSpLocks/>
          </p:cNvGrpSpPr>
          <p:nvPr/>
        </p:nvGrpSpPr>
        <p:grpSpPr bwMode="auto">
          <a:xfrm>
            <a:off x="4902200" y="2343150"/>
            <a:ext cx="4422775" cy="3033713"/>
            <a:chOff x="5079520" y="1454417"/>
            <a:chExt cx="4423357" cy="3033581"/>
          </a:xfrm>
        </p:grpSpPr>
        <p:sp>
          <p:nvSpPr>
            <p:cNvPr id="78865" name="Rectangle 19"/>
            <p:cNvSpPr>
              <a:spLocks noChangeArrowheads="1"/>
            </p:cNvSpPr>
            <p:nvPr/>
          </p:nvSpPr>
          <p:spPr bwMode="auto">
            <a:xfrm>
              <a:off x="5079520" y="3716360"/>
              <a:ext cx="292579" cy="27918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sp>
          <p:nvSpPr>
            <p:cNvPr id="78866" name="Rectangle 20"/>
            <p:cNvSpPr>
              <a:spLocks noChangeArrowheads="1"/>
            </p:cNvSpPr>
            <p:nvPr/>
          </p:nvSpPr>
          <p:spPr bwMode="auto">
            <a:xfrm>
              <a:off x="7359080" y="3708490"/>
              <a:ext cx="337119" cy="27918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grpSp>
          <p:nvGrpSpPr>
            <p:cNvPr id="78867" name="Groupe 42"/>
            <p:cNvGrpSpPr>
              <a:grpSpLocks/>
            </p:cNvGrpSpPr>
            <p:nvPr/>
          </p:nvGrpSpPr>
          <p:grpSpPr bwMode="auto">
            <a:xfrm>
              <a:off x="5408840" y="1454417"/>
              <a:ext cx="4094037" cy="3033581"/>
              <a:chOff x="5408840" y="1454417"/>
              <a:chExt cx="4094037" cy="3033581"/>
            </a:xfrm>
          </p:grpSpPr>
          <p:grpSp>
            <p:nvGrpSpPr>
              <p:cNvPr id="78868" name="Groupe 6"/>
              <p:cNvGrpSpPr>
                <a:grpSpLocks/>
              </p:cNvGrpSpPr>
              <p:nvPr/>
            </p:nvGrpSpPr>
            <p:grpSpPr bwMode="auto">
              <a:xfrm>
                <a:off x="5408840" y="3301118"/>
                <a:ext cx="1249030" cy="1186880"/>
                <a:chOff x="705758" y="6985555"/>
                <a:chExt cx="684892" cy="650813"/>
              </a:xfrm>
            </p:grpSpPr>
            <p:pic>
              <p:nvPicPr>
                <p:cNvPr id="78882" name="Picture 32" descr="TIP5e¦ütu-fin E¦üTU1"/>
                <p:cNvPicPr>
                  <a:picLocks noChangeAspect="1" noChangeArrowheads="1"/>
                </p:cNvPicPr>
                <p:nvPr/>
              </p:nvPicPr>
              <p:blipFill>
                <a:blip r:embed="rId4">
                  <a:extLst>
                    <a:ext uri="{28A0092B-C50C-407E-A947-70E740481C1C}">
                      <a14:useLocalDpi xmlns:a14="http://schemas.microsoft.com/office/drawing/2010/main" val="0"/>
                    </a:ext>
                  </a:extLst>
                </a:blip>
                <a:srcRect l="8157" t="25005" r="23033" b="14983"/>
                <a:stretch>
                  <a:fillRect/>
                </a:stretch>
              </p:blipFill>
              <p:spPr bwMode="auto">
                <a:xfrm>
                  <a:off x="705771" y="6985555"/>
                  <a:ext cx="646779" cy="57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83" name="ZoneTexte 8"/>
                <p:cNvSpPr txBox="1">
                  <a:spLocks noChangeArrowheads="1"/>
                </p:cNvSpPr>
                <p:nvPr/>
              </p:nvSpPr>
              <p:spPr bwMode="auto">
                <a:xfrm>
                  <a:off x="705758" y="7467602"/>
                  <a:ext cx="684892" cy="168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cs typeface="Arial" panose="020B0604020202020204" pitchFamily="34" charset="0"/>
                    </a:rPr>
                    <a:t>Lancement</a:t>
                  </a:r>
                </a:p>
              </p:txBody>
            </p:sp>
          </p:grpSp>
          <p:grpSp>
            <p:nvGrpSpPr>
              <p:cNvPr id="78869" name="Groupe 12"/>
              <p:cNvGrpSpPr>
                <a:grpSpLocks/>
              </p:cNvGrpSpPr>
              <p:nvPr/>
            </p:nvGrpSpPr>
            <p:grpSpPr bwMode="auto">
              <a:xfrm>
                <a:off x="6046877" y="2455464"/>
                <a:ext cx="3456000" cy="396000"/>
                <a:chOff x="1560723" y="6056540"/>
                <a:chExt cx="3942274" cy="526299"/>
              </a:xfrm>
            </p:grpSpPr>
            <p:sp>
              <p:nvSpPr>
                <p:cNvPr id="14" name="AutoShape 94"/>
                <p:cNvSpPr>
                  <a:spLocks noChangeArrowheads="1"/>
                </p:cNvSpPr>
                <p:nvPr/>
              </p:nvSpPr>
              <p:spPr bwMode="auto">
                <a:xfrm>
                  <a:off x="1560219" y="6129098"/>
                  <a:ext cx="481754" cy="453597"/>
                </a:xfrm>
                <a:prstGeom prst="plus">
                  <a:avLst>
                    <a:gd name="adj" fmla="val 29556"/>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cs typeface="Arial" pitchFamily="34" charset="0"/>
                  </a:endParaRPr>
                </a:p>
              </p:txBody>
            </p:sp>
            <p:sp>
              <p:nvSpPr>
                <p:cNvPr id="78877" name="AutoShape 99"/>
                <p:cNvSpPr>
                  <a:spLocks noChangeArrowheads="1"/>
                </p:cNvSpPr>
                <p:nvPr/>
              </p:nvSpPr>
              <p:spPr bwMode="auto">
                <a:xfrm>
                  <a:off x="4891764" y="6184767"/>
                  <a:ext cx="611233" cy="398072"/>
                </a:xfrm>
                <a:prstGeom prst="wave">
                  <a:avLst>
                    <a:gd name="adj1" fmla="val 20644"/>
                    <a:gd name="adj2" fmla="val 7681"/>
                  </a:avLst>
                </a:prstGeom>
                <a:solidFill>
                  <a:schemeClr val="bg1"/>
                </a:solidFill>
                <a:ln w="9525">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78878" name="Rectangle 15"/>
                <p:cNvSpPr>
                  <a:spLocks noChangeArrowheads="1"/>
                </p:cNvSpPr>
                <p:nvPr/>
              </p:nvSpPr>
              <p:spPr bwMode="auto">
                <a:xfrm>
                  <a:off x="3544207" y="6276521"/>
                  <a:ext cx="619125" cy="238125"/>
                </a:xfrm>
                <a:prstGeom prst="rect">
                  <a:avLst/>
                </a:prstGeom>
                <a:solidFill>
                  <a:schemeClr val="bg1"/>
                </a:solidFill>
                <a:ln w="9525" algn="ctr">
                  <a:solidFill>
                    <a:schemeClr val="tx1"/>
                  </a:solidFill>
                  <a:round/>
                  <a:headEnd/>
                  <a:tailEnd/>
                </a:ln>
              </p:spPr>
              <p:txBody>
                <a:bodyPr wrap="none"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sp>
              <p:nvSpPr>
                <p:cNvPr id="17" name="Étoile à 5 branches 16"/>
                <p:cNvSpPr/>
                <p:nvPr/>
              </p:nvSpPr>
              <p:spPr bwMode="auto">
                <a:xfrm>
                  <a:off x="2163317" y="6057367"/>
                  <a:ext cx="503488" cy="504231"/>
                </a:xfrm>
                <a:prstGeom prst="star5">
                  <a:avLst/>
                </a:prstGeom>
                <a:solidFill>
                  <a:schemeClr val="bg1"/>
                </a:solidFill>
                <a:ln w="9525" cap="flat" cmpd="sng" algn="ctr">
                  <a:solidFill>
                    <a:schemeClr val="tx1"/>
                  </a:solidFill>
                  <a:prstDash val="solid"/>
                  <a:round/>
                  <a:headEnd type="none" w="med" len="med"/>
                  <a:tailEnd type="none" w="med" len="med"/>
                </a:ln>
                <a:effectLst/>
              </p:spPr>
              <p:txBody>
                <a:bodyPr wrap="none" lIns="90000" tIns="46800" rIns="90000" bIns="46800">
                  <a:spAutoFit/>
                </a:bodyPr>
                <a:lstStyle/>
                <a:p>
                  <a:pPr>
                    <a:defRPr/>
                  </a:pPr>
                  <a:endParaRPr lang="fr-FR" sz="1200">
                    <a:latin typeface="Eras Medium ITC" pitchFamily="34" charset="0"/>
                  </a:endParaRPr>
                </a:p>
              </p:txBody>
            </p:sp>
            <p:sp>
              <p:nvSpPr>
                <p:cNvPr id="18" name="Triangle isocèle 17"/>
                <p:cNvSpPr/>
                <p:nvPr/>
              </p:nvSpPr>
              <p:spPr bwMode="auto">
                <a:xfrm>
                  <a:off x="4372867" y="6188172"/>
                  <a:ext cx="360411" cy="371317"/>
                </a:xfrm>
                <a:prstGeom prst="triangl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cs typeface="Arial" pitchFamily="34" charset="0"/>
                  </a:endParaRPr>
                </a:p>
              </p:txBody>
            </p:sp>
            <p:sp>
              <p:nvSpPr>
                <p:cNvPr id="78881" name="Ellipse 18"/>
                <p:cNvSpPr>
                  <a:spLocks noChangeArrowheads="1"/>
                </p:cNvSpPr>
                <p:nvPr/>
              </p:nvSpPr>
              <p:spPr bwMode="auto">
                <a:xfrm>
                  <a:off x="2811689" y="6303282"/>
                  <a:ext cx="561975" cy="219075"/>
                </a:xfrm>
                <a:prstGeom prst="ellipse">
                  <a:avLst/>
                </a:prstGeom>
                <a:solidFill>
                  <a:schemeClr val="bg1"/>
                </a:solidFill>
                <a:ln w="9525" algn="ctr">
                  <a:solidFill>
                    <a:schemeClr val="tx1"/>
                  </a:solidFill>
                  <a:round/>
                  <a:headEnd/>
                  <a:tailEnd/>
                </a:ln>
              </p:spPr>
              <p:txBody>
                <a:bodyPr wrap="none"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grpSp>
          <p:grpSp>
            <p:nvGrpSpPr>
              <p:cNvPr id="78870" name="Groupe 26"/>
              <p:cNvGrpSpPr>
                <a:grpSpLocks/>
              </p:cNvGrpSpPr>
              <p:nvPr/>
            </p:nvGrpSpPr>
            <p:grpSpPr bwMode="auto">
              <a:xfrm>
                <a:off x="7792888" y="3390760"/>
                <a:ext cx="1118556" cy="861968"/>
                <a:chOff x="858089" y="7734300"/>
                <a:chExt cx="613348" cy="472651"/>
              </a:xfrm>
            </p:grpSpPr>
            <p:pic>
              <p:nvPicPr>
                <p:cNvPr id="78874" name="Picture 46" descr="TIP3fab 7"/>
                <p:cNvPicPr>
                  <a:picLocks noChangeAspect="1" noChangeArrowheads="1"/>
                </p:cNvPicPr>
                <p:nvPr/>
              </p:nvPicPr>
              <p:blipFill>
                <a:blip r:embed="rId5">
                  <a:extLst>
                    <a:ext uri="{28A0092B-C50C-407E-A947-70E740481C1C}">
                      <a14:useLocalDpi xmlns:a14="http://schemas.microsoft.com/office/drawing/2010/main" val="0"/>
                    </a:ext>
                  </a:extLst>
                </a:blip>
                <a:srcRect l="6909" t="46571" r="26497" b="12415"/>
                <a:stretch>
                  <a:fillRect/>
                </a:stretch>
              </p:blipFill>
              <p:spPr bwMode="auto">
                <a:xfrm>
                  <a:off x="858089" y="7734300"/>
                  <a:ext cx="613348" cy="45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75" name="ZoneTexte 28"/>
                <p:cNvSpPr txBox="1">
                  <a:spLocks noChangeArrowheads="1"/>
                </p:cNvSpPr>
                <p:nvPr/>
              </p:nvSpPr>
              <p:spPr bwMode="auto">
                <a:xfrm>
                  <a:off x="867719" y="8038192"/>
                  <a:ext cx="446902" cy="168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cs typeface="Arial" panose="020B0604020202020204" pitchFamily="34" charset="0"/>
                    </a:rPr>
                    <a:t>Contrôle</a:t>
                  </a:r>
                </a:p>
              </p:txBody>
            </p:sp>
          </p:grpSp>
          <p:grpSp>
            <p:nvGrpSpPr>
              <p:cNvPr id="78871" name="Groupe 41"/>
              <p:cNvGrpSpPr>
                <a:grpSpLocks/>
              </p:cNvGrpSpPr>
              <p:nvPr/>
            </p:nvGrpSpPr>
            <p:grpSpPr bwMode="auto">
              <a:xfrm>
                <a:off x="6046787" y="1454417"/>
                <a:ext cx="2337360" cy="838021"/>
                <a:chOff x="6046787" y="1454417"/>
                <a:chExt cx="2337360" cy="838021"/>
              </a:xfrm>
            </p:grpSpPr>
            <p:sp>
              <p:nvSpPr>
                <p:cNvPr id="32" name="Espace réservé du contenu 2"/>
                <p:cNvSpPr txBox="1">
                  <a:spLocks/>
                </p:cNvSpPr>
                <p:nvPr/>
              </p:nvSpPr>
              <p:spPr bwMode="auto">
                <a:xfrm>
                  <a:off x="6046435" y="1454417"/>
                  <a:ext cx="2337108" cy="528615"/>
                </a:xfrm>
                <a:prstGeom prst="rect">
                  <a:avLst/>
                </a:prstGeom>
                <a:solidFill>
                  <a:schemeClr val="bg1"/>
                </a:solidFill>
                <a:ln w="9525">
                  <a:noFill/>
                  <a:miter lim="800000"/>
                  <a:headEnd/>
                  <a:tailEnd/>
                </a:ln>
              </p:spPr>
              <p:txBody>
                <a:bodyPr/>
                <a:lstStyle/>
                <a:p>
                  <a:pPr>
                    <a:lnSpc>
                      <a:spcPct val="150000"/>
                    </a:lnSpc>
                    <a:spcBef>
                      <a:spcPct val="20000"/>
                    </a:spcBef>
                    <a:defRPr/>
                  </a:pPr>
                  <a:r>
                    <a:rPr lang="fr-FR" sz="1800" kern="0" dirty="0">
                      <a:latin typeface="Calibri" panose="020F0502020204030204" pitchFamily="34" charset="0"/>
                    </a:rPr>
                    <a:t>Identifiez votre rôle</a:t>
                  </a:r>
                </a:p>
              </p:txBody>
            </p:sp>
            <p:cxnSp>
              <p:nvCxnSpPr>
                <p:cNvPr id="78873" name="Connecteur droit avec flèche 40"/>
                <p:cNvCxnSpPr>
                  <a:cxnSpLocks noChangeShapeType="1"/>
                </p:cNvCxnSpPr>
                <p:nvPr/>
              </p:nvCxnSpPr>
              <p:spPr bwMode="auto">
                <a:xfrm rot="16200000" flipH="1">
                  <a:off x="7053467" y="2130438"/>
                  <a:ext cx="324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grpSp>
      <p:sp>
        <p:nvSpPr>
          <p:cNvPr id="78852" name="Titre 1"/>
          <p:cNvSpPr>
            <a:spLocks noGrp="1"/>
          </p:cNvSpPr>
          <p:nvPr>
            <p:ph type="title"/>
          </p:nvPr>
        </p:nvSpPr>
        <p:spPr/>
        <p:txBody>
          <a:bodyPr/>
          <a:lstStyle/>
          <a:p>
            <a:r>
              <a:rPr lang="fr-FR" altLang="fr-FR"/>
              <a:t>Dossiers du participant</a:t>
            </a:r>
          </a:p>
        </p:txBody>
      </p:sp>
      <p:sp>
        <p:nvSpPr>
          <p:cNvPr id="7885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7885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591ADEC-8B03-4A08-9852-D89CA59B0723}" type="slidenum">
              <a:rPr lang="fr-FR" altLang="fr-FR" smtClean="0">
                <a:latin typeface="Calibri" panose="020F0502020204030204" pitchFamily="34" charset="0"/>
              </a:rPr>
              <a:pPr>
                <a:spcBef>
                  <a:spcPct val="0"/>
                </a:spcBef>
                <a:buFontTx/>
                <a:buNone/>
              </a:pPr>
              <a:t>34</a:t>
            </a:fld>
            <a:endParaRPr lang="fr-FR" altLang="fr-FR" dirty="0">
              <a:latin typeface="Calibri" panose="020F0502020204030204" pitchFamily="34" charset="0"/>
            </a:endParaRPr>
          </a:p>
        </p:txBody>
      </p:sp>
      <p:sp>
        <p:nvSpPr>
          <p:cNvPr id="30" name="Espace réservé du contenu 2"/>
          <p:cNvSpPr>
            <a:spLocks noGrp="1"/>
          </p:cNvSpPr>
          <p:nvPr>
            <p:ph idx="1"/>
          </p:nvPr>
        </p:nvSpPr>
        <p:spPr>
          <a:xfrm>
            <a:off x="231775" y="592138"/>
            <a:ext cx="4152900" cy="528637"/>
          </a:xfrm>
        </p:spPr>
        <p:txBody>
          <a:bodyPr/>
          <a:lstStyle/>
          <a:p>
            <a:pPr marL="0" indent="0">
              <a:lnSpc>
                <a:spcPct val="150000"/>
              </a:lnSpc>
              <a:buFontTx/>
              <a:buNone/>
            </a:pPr>
            <a:r>
              <a:rPr lang="fr-FR" altLang="fr-FR"/>
              <a:t>Recevez votre Dossier du participant</a:t>
            </a:r>
          </a:p>
        </p:txBody>
      </p:sp>
      <p:grpSp>
        <p:nvGrpSpPr>
          <p:cNvPr id="44" name="Groupe 43"/>
          <p:cNvGrpSpPr>
            <a:grpSpLocks/>
          </p:cNvGrpSpPr>
          <p:nvPr/>
        </p:nvGrpSpPr>
        <p:grpSpPr bwMode="auto">
          <a:xfrm>
            <a:off x="2530475" y="1250950"/>
            <a:ext cx="3727450" cy="592138"/>
            <a:chOff x="2144489" y="5215046"/>
            <a:chExt cx="3728279" cy="593323"/>
          </a:xfrm>
        </p:grpSpPr>
        <p:grpSp>
          <p:nvGrpSpPr>
            <p:cNvPr id="78861" name="Groupe 34"/>
            <p:cNvGrpSpPr>
              <a:grpSpLocks/>
            </p:cNvGrpSpPr>
            <p:nvPr/>
          </p:nvGrpSpPr>
          <p:grpSpPr bwMode="auto">
            <a:xfrm>
              <a:off x="3503055" y="5215046"/>
              <a:ext cx="2369713" cy="528929"/>
              <a:chOff x="3374265" y="5382473"/>
              <a:chExt cx="2369713" cy="528929"/>
            </a:xfrm>
          </p:grpSpPr>
          <p:sp>
            <p:nvSpPr>
              <p:cNvPr id="31" name="Espace réservé du contenu 2"/>
              <p:cNvSpPr txBox="1">
                <a:spLocks/>
              </p:cNvSpPr>
              <p:nvPr/>
            </p:nvSpPr>
            <p:spPr bwMode="auto">
              <a:xfrm>
                <a:off x="3716290" y="5382473"/>
                <a:ext cx="2027688" cy="529696"/>
              </a:xfrm>
              <a:prstGeom prst="rect">
                <a:avLst/>
              </a:prstGeom>
              <a:noFill/>
              <a:ln w="9525">
                <a:noFill/>
                <a:miter lim="800000"/>
                <a:headEnd/>
                <a:tailEnd/>
              </a:ln>
            </p:spPr>
            <p:txBody>
              <a:bodyPr/>
              <a:lstStyle/>
              <a:p>
                <a:pPr>
                  <a:lnSpc>
                    <a:spcPct val="150000"/>
                  </a:lnSpc>
                  <a:spcBef>
                    <a:spcPct val="20000"/>
                  </a:spcBef>
                  <a:defRPr/>
                </a:pPr>
                <a:r>
                  <a:rPr lang="fr-FR" sz="1800" kern="0" dirty="0">
                    <a:latin typeface="Calibri" panose="020F0502020204030204" pitchFamily="34" charset="0"/>
                  </a:rPr>
                  <a:t>Notez votre nom</a:t>
                </a:r>
              </a:p>
            </p:txBody>
          </p:sp>
          <p:cxnSp>
            <p:nvCxnSpPr>
              <p:cNvPr id="78864" name="Connecteur droit avec flèche 33"/>
              <p:cNvCxnSpPr>
                <a:cxnSpLocks noChangeShapeType="1"/>
                <a:stCxn id="31" idx="1"/>
              </p:cNvCxnSpPr>
              <p:nvPr/>
            </p:nvCxnSpPr>
            <p:spPr bwMode="auto">
              <a:xfrm rot="10800000" flipV="1">
                <a:off x="3374265" y="5666704"/>
                <a:ext cx="341446"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36" name="Espace réservé du contenu 2"/>
            <p:cNvSpPr txBox="1">
              <a:spLocks/>
            </p:cNvSpPr>
            <p:nvPr/>
          </p:nvSpPr>
          <p:spPr bwMode="auto">
            <a:xfrm>
              <a:off x="2144489" y="5278673"/>
              <a:ext cx="855853" cy="529696"/>
            </a:xfrm>
            <a:prstGeom prst="rect">
              <a:avLst/>
            </a:prstGeom>
            <a:noFill/>
            <a:ln w="9525">
              <a:noFill/>
              <a:miter lim="800000"/>
              <a:headEnd/>
              <a:tailEnd/>
            </a:ln>
          </p:spPr>
          <p:txBody>
            <a:bodyPr/>
            <a:lstStyle/>
            <a:p>
              <a:pPr>
                <a:lnSpc>
                  <a:spcPct val="150000"/>
                </a:lnSpc>
                <a:spcBef>
                  <a:spcPct val="20000"/>
                </a:spcBef>
                <a:defRPr/>
              </a:pPr>
              <a:r>
                <a:rPr lang="fr-FR" sz="1400" kern="0" dirty="0">
                  <a:solidFill>
                    <a:srgbClr val="FF0000"/>
                  </a:solidFill>
                  <a:latin typeface="Calibri" panose="020F0502020204030204" pitchFamily="34" charset="0"/>
                </a:rPr>
                <a:t>Nadia</a:t>
              </a:r>
            </a:p>
          </p:txBody>
        </p:sp>
      </p:grpSp>
      <p:grpSp>
        <p:nvGrpSpPr>
          <p:cNvPr id="47" name="Groupe 46"/>
          <p:cNvGrpSpPr>
            <a:grpSpLocks/>
          </p:cNvGrpSpPr>
          <p:nvPr/>
        </p:nvGrpSpPr>
        <p:grpSpPr bwMode="auto">
          <a:xfrm>
            <a:off x="4826000" y="3244850"/>
            <a:ext cx="3290888" cy="1674813"/>
            <a:chOff x="5003599" y="2355938"/>
            <a:chExt cx="3290396" cy="1675148"/>
          </a:xfrm>
        </p:grpSpPr>
        <p:sp>
          <p:nvSpPr>
            <p:cNvPr id="38" name="Espace réservé du contenu 2"/>
            <p:cNvSpPr txBox="1">
              <a:spLocks/>
            </p:cNvSpPr>
            <p:nvPr/>
          </p:nvSpPr>
          <p:spPr bwMode="auto">
            <a:xfrm>
              <a:off x="7874958" y="2355938"/>
              <a:ext cx="419037" cy="528744"/>
            </a:xfrm>
            <a:prstGeom prst="rect">
              <a:avLst/>
            </a:prstGeom>
            <a:noFill/>
            <a:ln w="9525">
              <a:noFill/>
              <a:miter lim="800000"/>
              <a:headEnd/>
              <a:tailEnd/>
            </a:ln>
          </p:spPr>
          <p:txBody>
            <a:bodyPr/>
            <a:lstStyle/>
            <a:p>
              <a:pPr>
                <a:lnSpc>
                  <a:spcPct val="150000"/>
                </a:lnSpc>
                <a:spcBef>
                  <a:spcPct val="20000"/>
                </a:spcBef>
                <a:defRPr/>
              </a:pPr>
              <a:r>
                <a:rPr lang="fr-FR" sz="2400" kern="0" dirty="0">
                  <a:solidFill>
                    <a:srgbClr val="FF0000"/>
                  </a:solidFill>
                  <a:latin typeface="Calibri" panose="020F0502020204030204" pitchFamily="34" charset="0"/>
                </a:rPr>
                <a:t>X</a:t>
              </a:r>
            </a:p>
          </p:txBody>
        </p:sp>
        <p:sp>
          <p:nvSpPr>
            <p:cNvPr id="46" name="Espace réservé du contenu 2"/>
            <p:cNvSpPr txBox="1">
              <a:spLocks/>
            </p:cNvSpPr>
            <p:nvPr/>
          </p:nvSpPr>
          <p:spPr bwMode="auto">
            <a:xfrm>
              <a:off x="5003599" y="3502342"/>
              <a:ext cx="419037" cy="528744"/>
            </a:xfrm>
            <a:prstGeom prst="rect">
              <a:avLst/>
            </a:prstGeom>
            <a:noFill/>
            <a:ln w="9525">
              <a:noFill/>
              <a:miter lim="800000"/>
              <a:headEnd/>
              <a:tailEnd/>
            </a:ln>
          </p:spPr>
          <p:txBody>
            <a:bodyPr/>
            <a:lstStyle/>
            <a:p>
              <a:pPr algn="ctr">
                <a:lnSpc>
                  <a:spcPct val="150000"/>
                </a:lnSpc>
                <a:spcBef>
                  <a:spcPct val="20000"/>
                </a:spcBef>
                <a:defRPr/>
              </a:pPr>
              <a:r>
                <a:rPr lang="fr-FR" sz="2400" kern="0" dirty="0">
                  <a:solidFill>
                    <a:srgbClr val="FF0000"/>
                  </a:solidFill>
                  <a:latin typeface="Calibri" panose="020F0502020204030204" pitchFamily="34" charset="0"/>
                </a:rPr>
                <a:t>X</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44"/>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45"/>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nodeType="afterEffect">
                                  <p:stCondLst>
                                    <p:cond delay="1000"/>
                                  </p:stCondLst>
                                  <p:childTnLst>
                                    <p:set>
                                      <p:cBhvr>
                                        <p:cTn id="1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re 1"/>
          <p:cNvSpPr>
            <a:spLocks noGrp="1"/>
          </p:cNvSpPr>
          <p:nvPr>
            <p:ph type="title"/>
          </p:nvPr>
        </p:nvSpPr>
        <p:spPr/>
        <p:txBody>
          <a:bodyPr/>
          <a:lstStyle/>
          <a:p>
            <a:r>
              <a:rPr lang="fr-FR" altLang="fr-FR"/>
              <a:t>Le choix des mesures</a:t>
            </a:r>
          </a:p>
        </p:txBody>
      </p:sp>
      <p:sp>
        <p:nvSpPr>
          <p:cNvPr id="8089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pSp>
        <p:nvGrpSpPr>
          <p:cNvPr id="41" name="Groupe 40"/>
          <p:cNvGrpSpPr>
            <a:grpSpLocks/>
          </p:cNvGrpSpPr>
          <p:nvPr/>
        </p:nvGrpSpPr>
        <p:grpSpPr bwMode="auto">
          <a:xfrm>
            <a:off x="3567113" y="3292475"/>
            <a:ext cx="4086225" cy="2720975"/>
            <a:chOff x="2484259" y="3000114"/>
            <a:chExt cx="5158444" cy="3434683"/>
          </a:xfrm>
        </p:grpSpPr>
        <p:sp>
          <p:nvSpPr>
            <p:cNvPr id="11" name="AutoShape 94"/>
            <p:cNvSpPr>
              <a:spLocks noChangeArrowheads="1"/>
            </p:cNvSpPr>
            <p:nvPr/>
          </p:nvSpPr>
          <p:spPr bwMode="auto">
            <a:xfrm>
              <a:off x="2594482" y="5038080"/>
              <a:ext cx="707433" cy="587142"/>
            </a:xfrm>
            <a:prstGeom prst="plus">
              <a:avLst>
                <a:gd name="adj" fmla="val 29556"/>
              </a:avLst>
            </a:prstGeom>
            <a:solidFill>
              <a:srgbClr val="FFFFC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cs typeface="Arial" pitchFamily="34" charset="0"/>
              </a:endParaRPr>
            </a:p>
          </p:txBody>
        </p:sp>
        <p:sp>
          <p:nvSpPr>
            <p:cNvPr id="80910" name="AutoShape 99"/>
            <p:cNvSpPr>
              <a:spLocks noChangeArrowheads="1"/>
            </p:cNvSpPr>
            <p:nvPr/>
          </p:nvSpPr>
          <p:spPr bwMode="auto">
            <a:xfrm>
              <a:off x="6743689" y="5040131"/>
              <a:ext cx="899014" cy="559832"/>
            </a:xfrm>
            <a:prstGeom prst="wave">
              <a:avLst>
                <a:gd name="adj1" fmla="val 20644"/>
                <a:gd name="adj2" fmla="val 7681"/>
              </a:avLst>
            </a:prstGeom>
            <a:solidFill>
              <a:srgbClr val="FFFFCD"/>
            </a:solidFill>
            <a:ln w="9525">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80911" name="Rectangle 12"/>
            <p:cNvSpPr>
              <a:spLocks noChangeArrowheads="1"/>
            </p:cNvSpPr>
            <p:nvPr/>
          </p:nvSpPr>
          <p:spPr bwMode="auto">
            <a:xfrm>
              <a:off x="5460208" y="3000114"/>
              <a:ext cx="910623" cy="334890"/>
            </a:xfrm>
            <a:prstGeom prst="rect">
              <a:avLst/>
            </a:prstGeom>
            <a:solidFill>
              <a:srgbClr val="FFFFCD"/>
            </a:solidFill>
            <a:ln w="9525" algn="ctr">
              <a:solidFill>
                <a:schemeClr val="tx1"/>
              </a:solidFill>
              <a:round/>
              <a:headEnd/>
              <a:tailEnd/>
            </a:ln>
          </p:spPr>
          <p:txBody>
            <a:bodyPr wrap="none"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sp>
          <p:nvSpPr>
            <p:cNvPr id="14" name="Étoile à 5 branches 13"/>
            <p:cNvSpPr/>
            <p:nvPr/>
          </p:nvSpPr>
          <p:spPr bwMode="auto">
            <a:xfrm>
              <a:off x="2484259" y="3697471"/>
              <a:ext cx="743505" cy="709380"/>
            </a:xfrm>
            <a:prstGeom prst="star5">
              <a:avLst/>
            </a:prstGeom>
            <a:solidFill>
              <a:srgbClr val="FFFFCD"/>
            </a:solidFill>
            <a:ln w="9525" cap="flat" cmpd="sng" algn="ctr">
              <a:solidFill>
                <a:schemeClr val="tx1"/>
              </a:solidFill>
              <a:prstDash val="solid"/>
              <a:round/>
              <a:headEnd type="none" w="med" len="med"/>
              <a:tailEnd type="none" w="med" len="med"/>
            </a:ln>
            <a:effectLst/>
          </p:spPr>
          <p:txBody>
            <a:bodyPr wrap="none" lIns="90000" tIns="46800" rIns="90000" bIns="46800">
              <a:spAutoFit/>
            </a:bodyPr>
            <a:lstStyle/>
            <a:p>
              <a:pPr>
                <a:defRPr/>
              </a:pPr>
              <a:endParaRPr lang="fr-FR" sz="1200">
                <a:latin typeface="Eras Medium ITC" pitchFamily="34" charset="0"/>
              </a:endParaRPr>
            </a:p>
          </p:txBody>
        </p:sp>
        <p:sp>
          <p:nvSpPr>
            <p:cNvPr id="15" name="Triangle isocèle 14"/>
            <p:cNvSpPr/>
            <p:nvPr/>
          </p:nvSpPr>
          <p:spPr bwMode="auto">
            <a:xfrm>
              <a:off x="6756910" y="3815702"/>
              <a:ext cx="531075" cy="523017"/>
            </a:xfrm>
            <a:prstGeom prst="triangle">
              <a:avLst/>
            </a:prstGeom>
            <a:solidFill>
              <a:srgbClr val="FFFFC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cs typeface="Arial" pitchFamily="34" charset="0"/>
              </a:endParaRPr>
            </a:p>
          </p:txBody>
        </p:sp>
        <p:sp>
          <p:nvSpPr>
            <p:cNvPr id="80914" name="Ellipse 15"/>
            <p:cNvSpPr>
              <a:spLocks noChangeArrowheads="1"/>
            </p:cNvSpPr>
            <p:nvPr/>
          </p:nvSpPr>
          <p:spPr bwMode="auto">
            <a:xfrm>
              <a:off x="3523103" y="3003588"/>
              <a:ext cx="826564" cy="308097"/>
            </a:xfrm>
            <a:prstGeom prst="ellipse">
              <a:avLst/>
            </a:prstGeom>
            <a:solidFill>
              <a:srgbClr val="FFFFCD"/>
            </a:solidFill>
            <a:ln w="9525" algn="ctr">
              <a:solidFill>
                <a:schemeClr val="tx1"/>
              </a:solidFill>
              <a:round/>
              <a:headEnd/>
              <a:tailEnd/>
            </a:ln>
          </p:spPr>
          <p:txBody>
            <a:bodyPr wrap="none"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pic>
          <p:nvPicPr>
            <p:cNvPr id="80915" name="Picture 32" descr="TIP5e¦ütu-fin E¦üTU1"/>
            <p:cNvPicPr>
              <a:picLocks noChangeAspect="1" noChangeArrowheads="1"/>
            </p:cNvPicPr>
            <p:nvPr/>
          </p:nvPicPr>
          <p:blipFill>
            <a:blip r:embed="rId3" cstate="print">
              <a:extLst>
                <a:ext uri="{28A0092B-C50C-407E-A947-70E740481C1C}">
                  <a14:useLocalDpi xmlns:a14="http://schemas.microsoft.com/office/drawing/2010/main" val="0"/>
                </a:ext>
              </a:extLst>
            </a:blip>
            <a:srcRect l="8157" t="25005" r="23033" b="14983"/>
            <a:stretch>
              <a:fillRect/>
            </a:stretch>
          </p:blipFill>
          <p:spPr bwMode="auto">
            <a:xfrm>
              <a:off x="3899293" y="5633450"/>
              <a:ext cx="895510" cy="801347"/>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80916" name="Picture 46" descr="TIP3fab 7"/>
            <p:cNvPicPr>
              <a:picLocks noChangeAspect="1" noChangeArrowheads="1"/>
            </p:cNvPicPr>
            <p:nvPr/>
          </p:nvPicPr>
          <p:blipFill>
            <a:blip r:embed="rId4" cstate="print">
              <a:extLst>
                <a:ext uri="{28A0092B-C50C-407E-A947-70E740481C1C}">
                  <a14:useLocalDpi xmlns:a14="http://schemas.microsoft.com/office/drawing/2010/main" val="0"/>
                </a:ext>
              </a:extLst>
            </a:blip>
            <a:srcRect l="6909" t="46571" r="26497" b="12415"/>
            <a:stretch>
              <a:fillRect/>
            </a:stretch>
          </p:blipFill>
          <p:spPr bwMode="auto">
            <a:xfrm>
              <a:off x="5166094" y="5804017"/>
              <a:ext cx="849222" cy="625288"/>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80917" name="Connecteur droit avec flèche 19"/>
            <p:cNvCxnSpPr>
              <a:cxnSpLocks noChangeShapeType="1"/>
            </p:cNvCxnSpPr>
            <p:nvPr/>
          </p:nvCxnSpPr>
          <p:spPr bwMode="auto">
            <a:xfrm rot="16200000" flipV="1">
              <a:off x="3130550" y="4705350"/>
              <a:ext cx="1079500" cy="685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0918" name="Connecteur droit avec flèche 20"/>
            <p:cNvCxnSpPr>
              <a:cxnSpLocks noChangeShapeType="1"/>
            </p:cNvCxnSpPr>
            <p:nvPr/>
          </p:nvCxnSpPr>
          <p:spPr bwMode="auto">
            <a:xfrm>
              <a:off x="5854700" y="3492500"/>
              <a:ext cx="901700" cy="6731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0919" name="Connecteur droit avec flèche 22"/>
            <p:cNvCxnSpPr>
              <a:cxnSpLocks noChangeShapeType="1"/>
            </p:cNvCxnSpPr>
            <p:nvPr/>
          </p:nvCxnSpPr>
          <p:spPr bwMode="auto">
            <a:xfrm flipV="1">
              <a:off x="3390900" y="3429000"/>
              <a:ext cx="2324100" cy="736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0920" name="Connecteur droit avec flèche 26"/>
            <p:cNvCxnSpPr>
              <a:cxnSpLocks noChangeShapeType="1"/>
            </p:cNvCxnSpPr>
            <p:nvPr/>
          </p:nvCxnSpPr>
          <p:spPr bwMode="auto">
            <a:xfrm rot="5400000">
              <a:off x="5670550" y="4565650"/>
              <a:ext cx="1282700" cy="1016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42" name="Groupe 41"/>
          <p:cNvGrpSpPr>
            <a:grpSpLocks/>
          </p:cNvGrpSpPr>
          <p:nvPr/>
        </p:nvGrpSpPr>
        <p:grpSpPr bwMode="auto">
          <a:xfrm>
            <a:off x="231775" y="3417265"/>
            <a:ext cx="2230438" cy="1177925"/>
            <a:chOff x="0" y="529820"/>
            <a:chExt cx="3528811" cy="1862878"/>
          </a:xfrm>
        </p:grpSpPr>
        <p:pic>
          <p:nvPicPr>
            <p:cNvPr id="80907" name="Picture 58" descr="fiches info v5"/>
            <p:cNvPicPr>
              <a:picLocks noChangeAspect="1" noChangeArrowheads="1"/>
            </p:cNvPicPr>
            <p:nvPr/>
          </p:nvPicPr>
          <p:blipFill>
            <a:blip r:embed="rId5">
              <a:extLst>
                <a:ext uri="{28A0092B-C50C-407E-A947-70E740481C1C}">
                  <a14:useLocalDpi xmlns:a14="http://schemas.microsoft.com/office/drawing/2010/main" val="0"/>
                </a:ext>
              </a:extLst>
            </a:blip>
            <a:srcRect l="8269" t="40305" r="11366" b="14079"/>
            <a:stretch>
              <a:fillRect/>
            </a:stretch>
          </p:blipFill>
          <p:spPr bwMode="auto">
            <a:xfrm>
              <a:off x="0" y="841272"/>
              <a:ext cx="3528811" cy="155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8" name="ZoneTexte 116"/>
            <p:cNvSpPr txBox="1">
              <a:spLocks noChangeArrowheads="1"/>
            </p:cNvSpPr>
            <p:nvPr/>
          </p:nvSpPr>
          <p:spPr bwMode="auto">
            <a:xfrm>
              <a:off x="849399" y="529820"/>
              <a:ext cx="2456753" cy="58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cs typeface="Arial" panose="020B0604020202020204" pitchFamily="34" charset="0"/>
                </a:rPr>
                <a:t>PALEO</a:t>
              </a:r>
            </a:p>
          </p:txBody>
        </p:sp>
      </p:grpSp>
      <p:sp>
        <p:nvSpPr>
          <p:cNvPr id="25"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591ADEC-8B03-4A08-9852-D89CA59B0723}" type="slidenum">
              <a:rPr lang="fr-FR" altLang="fr-FR" smtClean="0">
                <a:latin typeface="Calibri" panose="020F0502020204030204" pitchFamily="34" charset="0"/>
              </a:rPr>
              <a:pPr>
                <a:spcBef>
                  <a:spcPct val="0"/>
                </a:spcBef>
                <a:buFontTx/>
                <a:buNone/>
              </a:pPr>
              <a:t>35</a:t>
            </a:fld>
            <a:endParaRPr lang="fr-FR" altLang="fr-FR" dirty="0">
              <a:latin typeface="Calibri" panose="020F0502020204030204" pitchFamily="34" charset="0"/>
            </a:endParaRPr>
          </a:p>
        </p:txBody>
      </p:sp>
      <p:grpSp>
        <p:nvGrpSpPr>
          <p:cNvPr id="26" name="Groupe 25"/>
          <p:cNvGrpSpPr/>
          <p:nvPr/>
        </p:nvGrpSpPr>
        <p:grpSpPr>
          <a:xfrm>
            <a:off x="5316286" y="622339"/>
            <a:ext cx="1928477" cy="2147579"/>
            <a:chOff x="12295787" y="475271"/>
            <a:chExt cx="2606503" cy="2902638"/>
          </a:xfrm>
        </p:grpSpPr>
        <p:sp>
          <p:nvSpPr>
            <p:cNvPr id="27" name="Rectangle 26"/>
            <p:cNvSpPr>
              <a:spLocks noChangeArrowheads="1"/>
            </p:cNvSpPr>
            <p:nvPr/>
          </p:nvSpPr>
          <p:spPr bwMode="auto">
            <a:xfrm>
              <a:off x="13974082" y="2340583"/>
              <a:ext cx="633413" cy="608013"/>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70 jrs.</a:t>
              </a:r>
            </a:p>
          </p:txBody>
        </p:sp>
        <p:grpSp>
          <p:nvGrpSpPr>
            <p:cNvPr id="28" name="Groupe 27"/>
            <p:cNvGrpSpPr>
              <a:grpSpLocks/>
            </p:cNvGrpSpPr>
            <p:nvPr/>
          </p:nvGrpSpPr>
          <p:grpSpPr bwMode="auto">
            <a:xfrm>
              <a:off x="12295787" y="475271"/>
              <a:ext cx="2606503" cy="2902638"/>
              <a:chOff x="5023761" y="604152"/>
              <a:chExt cx="2607296" cy="2903200"/>
            </a:xfrm>
          </p:grpSpPr>
          <p:sp>
            <p:nvSpPr>
              <p:cNvPr id="29" name="ZoneTexte 65"/>
              <p:cNvSpPr txBox="1">
                <a:spLocks noChangeArrowheads="1"/>
              </p:cNvSpPr>
              <p:nvPr/>
            </p:nvSpPr>
            <p:spPr bwMode="auto">
              <a:xfrm>
                <a:off x="5943921" y="719803"/>
                <a:ext cx="975657" cy="3179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0099"/>
                    </a:solidFill>
                    <a:latin typeface="Calibri" panose="020F0502020204030204" pitchFamily="34" charset="0"/>
                    <a:cs typeface="Arial" panose="020B0604020202020204" pitchFamily="34" charset="0"/>
                  </a:rPr>
                  <a:t>DÉLAIS</a:t>
                </a:r>
              </a:p>
            </p:txBody>
          </p:sp>
          <p:sp>
            <p:nvSpPr>
              <p:cNvPr id="30" name="ZoneTexte 77"/>
              <p:cNvSpPr txBox="1">
                <a:spLocks noChangeArrowheads="1"/>
              </p:cNvSpPr>
              <p:nvPr/>
            </p:nvSpPr>
            <p:spPr bwMode="auto">
              <a:xfrm>
                <a:off x="5469784" y="3091284"/>
                <a:ext cx="876005" cy="41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cs typeface="Arial" panose="020B0604020202020204" pitchFamily="34" charset="0"/>
                  </a:rPr>
                  <a:t>PALEO</a:t>
                </a:r>
              </a:p>
            </p:txBody>
          </p:sp>
          <p:sp>
            <p:nvSpPr>
              <p:cNvPr id="31" name="ZoneTexte 78"/>
              <p:cNvSpPr txBox="1">
                <a:spLocks noChangeArrowheads="1"/>
              </p:cNvSpPr>
              <p:nvPr/>
            </p:nvSpPr>
            <p:spPr bwMode="auto">
              <a:xfrm>
                <a:off x="6352289" y="3100719"/>
                <a:ext cx="1278768" cy="37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Concurrents</a:t>
                </a:r>
                <a:endParaRPr lang="fr-FR" altLang="fr-FR" sz="1400" dirty="0">
                  <a:latin typeface="Calibri" panose="020F0502020204030204" pitchFamily="34" charset="0"/>
                  <a:cs typeface="Arial" panose="020B0604020202020204" pitchFamily="34" charset="0"/>
                </a:endParaRPr>
              </a:p>
            </p:txBody>
          </p:sp>
          <p:sp>
            <p:nvSpPr>
              <p:cNvPr id="32" name="Rectangle 67"/>
              <p:cNvSpPr>
                <a:spLocks noChangeArrowheads="1"/>
              </p:cNvSpPr>
              <p:nvPr/>
            </p:nvSpPr>
            <p:spPr bwMode="auto">
              <a:xfrm>
                <a:off x="5634106" y="1733977"/>
                <a:ext cx="634177" cy="1344204"/>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85 jrs.</a:t>
                </a:r>
              </a:p>
            </p:txBody>
          </p:sp>
          <p:cxnSp>
            <p:nvCxnSpPr>
              <p:cNvPr id="33" name="Connecteur droit 69"/>
              <p:cNvCxnSpPr>
                <a:cxnSpLocks noChangeShapeType="1"/>
              </p:cNvCxnSpPr>
              <p:nvPr/>
            </p:nvCxnSpPr>
            <p:spPr bwMode="auto">
              <a:xfrm rot="5400000" flipH="1" flipV="1">
                <a:off x="4383660" y="1937242"/>
                <a:ext cx="2294381"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Connecteur droit 70"/>
              <p:cNvCxnSpPr>
                <a:cxnSpLocks noChangeShapeType="1"/>
              </p:cNvCxnSpPr>
              <p:nvPr/>
            </p:nvCxnSpPr>
            <p:spPr bwMode="auto">
              <a:xfrm>
                <a:off x="5530849" y="3078181"/>
                <a:ext cx="175618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5" name="ZoneTexte 71"/>
              <p:cNvSpPr txBox="1">
                <a:spLocks noChangeArrowheads="1"/>
              </p:cNvSpPr>
              <p:nvPr/>
            </p:nvSpPr>
            <p:spPr bwMode="auto">
              <a:xfrm>
                <a:off x="5163121" y="2856373"/>
                <a:ext cx="444721" cy="35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60</a:t>
                </a:r>
              </a:p>
            </p:txBody>
          </p:sp>
          <p:sp>
            <p:nvSpPr>
              <p:cNvPr id="36" name="ZoneTexte 72"/>
              <p:cNvSpPr txBox="1">
                <a:spLocks noChangeArrowheads="1"/>
              </p:cNvSpPr>
              <p:nvPr/>
            </p:nvSpPr>
            <p:spPr bwMode="auto">
              <a:xfrm>
                <a:off x="5163121" y="2356047"/>
                <a:ext cx="444721" cy="35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70</a:t>
                </a:r>
              </a:p>
            </p:txBody>
          </p:sp>
          <p:sp>
            <p:nvSpPr>
              <p:cNvPr id="37" name="ZoneTexte 73"/>
              <p:cNvSpPr txBox="1">
                <a:spLocks noChangeArrowheads="1"/>
              </p:cNvSpPr>
              <p:nvPr/>
            </p:nvSpPr>
            <p:spPr bwMode="auto">
              <a:xfrm>
                <a:off x="5163121" y="1855721"/>
                <a:ext cx="444721" cy="35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80</a:t>
                </a:r>
              </a:p>
            </p:txBody>
          </p:sp>
          <p:sp>
            <p:nvSpPr>
              <p:cNvPr id="38" name="ZoneTexte 74"/>
              <p:cNvSpPr txBox="1">
                <a:spLocks noChangeArrowheads="1"/>
              </p:cNvSpPr>
              <p:nvPr/>
            </p:nvSpPr>
            <p:spPr bwMode="auto">
              <a:xfrm>
                <a:off x="5163121" y="1355396"/>
                <a:ext cx="444721" cy="35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90</a:t>
                </a:r>
              </a:p>
            </p:txBody>
          </p:sp>
          <p:sp>
            <p:nvSpPr>
              <p:cNvPr id="39" name="ZoneTexte 75"/>
              <p:cNvSpPr txBox="1">
                <a:spLocks noChangeArrowheads="1"/>
              </p:cNvSpPr>
              <p:nvPr/>
            </p:nvSpPr>
            <p:spPr bwMode="auto">
              <a:xfrm>
                <a:off x="5079937" y="895118"/>
                <a:ext cx="542248" cy="35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100</a:t>
                </a:r>
              </a:p>
            </p:txBody>
          </p:sp>
          <p:sp>
            <p:nvSpPr>
              <p:cNvPr id="40" name="ZoneTexte 76"/>
              <p:cNvSpPr txBox="1">
                <a:spLocks noChangeArrowheads="1"/>
              </p:cNvSpPr>
              <p:nvPr/>
            </p:nvSpPr>
            <p:spPr bwMode="auto">
              <a:xfrm>
                <a:off x="5023761" y="604152"/>
                <a:ext cx="499237" cy="35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Jours</a:t>
                </a:r>
              </a:p>
            </p:txBody>
          </p:sp>
        </p:grpSp>
      </p:grpSp>
      <p:grpSp>
        <p:nvGrpSpPr>
          <p:cNvPr id="43" name="Groupe 42"/>
          <p:cNvGrpSpPr/>
          <p:nvPr/>
        </p:nvGrpSpPr>
        <p:grpSpPr>
          <a:xfrm>
            <a:off x="1301750" y="576648"/>
            <a:ext cx="1806512" cy="2193270"/>
            <a:chOff x="9280537" y="413358"/>
            <a:chExt cx="2441657" cy="2964394"/>
          </a:xfrm>
        </p:grpSpPr>
        <p:sp>
          <p:nvSpPr>
            <p:cNvPr id="44" name="Rectangle 43"/>
            <p:cNvSpPr>
              <a:spLocks noChangeArrowheads="1"/>
            </p:cNvSpPr>
            <p:nvPr/>
          </p:nvSpPr>
          <p:spPr bwMode="auto">
            <a:xfrm>
              <a:off x="10792732" y="2083408"/>
              <a:ext cx="635000" cy="847725"/>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12 K€</a:t>
              </a:r>
            </a:p>
          </p:txBody>
        </p:sp>
        <p:grpSp>
          <p:nvGrpSpPr>
            <p:cNvPr id="45" name="Groupe 44"/>
            <p:cNvGrpSpPr>
              <a:grpSpLocks/>
            </p:cNvGrpSpPr>
            <p:nvPr/>
          </p:nvGrpSpPr>
          <p:grpSpPr bwMode="auto">
            <a:xfrm>
              <a:off x="9280537" y="413358"/>
              <a:ext cx="2441657" cy="2964394"/>
              <a:chOff x="2009124" y="543474"/>
              <a:chExt cx="2441143" cy="2963703"/>
            </a:xfrm>
          </p:grpSpPr>
          <p:sp>
            <p:nvSpPr>
              <p:cNvPr id="46" name="ZoneTexte 80"/>
              <p:cNvSpPr txBox="1">
                <a:spLocks noChangeArrowheads="1"/>
              </p:cNvSpPr>
              <p:nvPr/>
            </p:nvSpPr>
            <p:spPr bwMode="auto">
              <a:xfrm>
                <a:off x="2897698" y="673522"/>
                <a:ext cx="975658" cy="3179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0099"/>
                    </a:solidFill>
                    <a:latin typeface="Calibri" panose="020F0502020204030204" pitchFamily="34" charset="0"/>
                    <a:cs typeface="Arial" panose="020B0604020202020204" pitchFamily="34" charset="0"/>
                  </a:rPr>
                  <a:t>COÛTS</a:t>
                </a:r>
              </a:p>
            </p:txBody>
          </p:sp>
          <p:sp>
            <p:nvSpPr>
              <p:cNvPr id="47" name="ZoneTexte 81"/>
              <p:cNvSpPr txBox="1">
                <a:spLocks noChangeArrowheads="1"/>
              </p:cNvSpPr>
              <p:nvPr/>
            </p:nvSpPr>
            <p:spPr bwMode="auto">
              <a:xfrm>
                <a:off x="2289549" y="3091287"/>
                <a:ext cx="875554" cy="415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cs typeface="Arial" panose="020B0604020202020204" pitchFamily="34" charset="0"/>
                  </a:rPr>
                  <a:t>PALEO</a:t>
                </a:r>
              </a:p>
            </p:txBody>
          </p:sp>
          <p:sp>
            <p:nvSpPr>
              <p:cNvPr id="48" name="ZoneTexte 30"/>
              <p:cNvSpPr txBox="1">
                <a:spLocks noChangeArrowheads="1"/>
              </p:cNvSpPr>
              <p:nvPr/>
            </p:nvSpPr>
            <p:spPr bwMode="auto">
              <a:xfrm>
                <a:off x="3172157" y="3091287"/>
                <a:ext cx="1278110" cy="37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Concurrents</a:t>
                </a:r>
                <a:endParaRPr lang="fr-FR" altLang="fr-FR" sz="1400" dirty="0">
                  <a:latin typeface="Calibri" panose="020F0502020204030204" pitchFamily="34" charset="0"/>
                  <a:cs typeface="Arial" panose="020B0604020202020204" pitchFamily="34" charset="0"/>
                </a:endParaRPr>
              </a:p>
            </p:txBody>
          </p:sp>
          <p:sp>
            <p:nvSpPr>
              <p:cNvPr id="49" name="Rectangle 83"/>
              <p:cNvSpPr>
                <a:spLocks noChangeArrowheads="1"/>
              </p:cNvSpPr>
              <p:nvPr/>
            </p:nvSpPr>
            <p:spPr bwMode="auto">
              <a:xfrm>
                <a:off x="2453649" y="1392811"/>
                <a:ext cx="634177" cy="1667109"/>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14K€</a:t>
                </a:r>
              </a:p>
            </p:txBody>
          </p:sp>
          <p:cxnSp>
            <p:nvCxnSpPr>
              <p:cNvPr id="50" name="Connecteur droit 85"/>
              <p:cNvCxnSpPr>
                <a:cxnSpLocks noChangeShapeType="1"/>
              </p:cNvCxnSpPr>
              <p:nvPr/>
            </p:nvCxnSpPr>
            <p:spPr bwMode="auto">
              <a:xfrm rot="5400000" flipH="1" flipV="1">
                <a:off x="1220412" y="1918979"/>
                <a:ext cx="2294381"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 name="Connecteur droit 86"/>
              <p:cNvCxnSpPr>
                <a:cxnSpLocks noChangeShapeType="1"/>
              </p:cNvCxnSpPr>
              <p:nvPr/>
            </p:nvCxnSpPr>
            <p:spPr bwMode="auto">
              <a:xfrm>
                <a:off x="2350392" y="3059918"/>
                <a:ext cx="175618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2" name="ZoneTexte 87"/>
              <p:cNvSpPr txBox="1">
                <a:spLocks noChangeArrowheads="1"/>
              </p:cNvSpPr>
              <p:nvPr/>
            </p:nvSpPr>
            <p:spPr bwMode="auto">
              <a:xfrm>
                <a:off x="2013275" y="2838108"/>
                <a:ext cx="487816"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10 </a:t>
                </a:r>
              </a:p>
            </p:txBody>
          </p:sp>
          <p:sp>
            <p:nvSpPr>
              <p:cNvPr id="53" name="ZoneTexte 88"/>
              <p:cNvSpPr txBox="1">
                <a:spLocks noChangeArrowheads="1"/>
              </p:cNvSpPr>
              <p:nvPr/>
            </p:nvSpPr>
            <p:spPr bwMode="auto">
              <a:xfrm>
                <a:off x="2013278" y="2445859"/>
                <a:ext cx="487816"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11 </a:t>
                </a:r>
              </a:p>
            </p:txBody>
          </p:sp>
          <p:sp>
            <p:nvSpPr>
              <p:cNvPr id="54" name="ZoneTexte 89"/>
              <p:cNvSpPr txBox="1">
                <a:spLocks noChangeArrowheads="1"/>
              </p:cNvSpPr>
              <p:nvPr/>
            </p:nvSpPr>
            <p:spPr bwMode="auto">
              <a:xfrm>
                <a:off x="2013275" y="2053609"/>
                <a:ext cx="487816"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12 </a:t>
                </a:r>
              </a:p>
            </p:txBody>
          </p:sp>
          <p:sp>
            <p:nvSpPr>
              <p:cNvPr id="55" name="ZoneTexte 90"/>
              <p:cNvSpPr txBox="1">
                <a:spLocks noChangeArrowheads="1"/>
              </p:cNvSpPr>
              <p:nvPr/>
            </p:nvSpPr>
            <p:spPr bwMode="auto">
              <a:xfrm>
                <a:off x="2013275" y="1661358"/>
                <a:ext cx="487816"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13 </a:t>
                </a:r>
              </a:p>
            </p:txBody>
          </p:sp>
          <p:sp>
            <p:nvSpPr>
              <p:cNvPr id="56" name="ZoneTexte 91"/>
              <p:cNvSpPr txBox="1">
                <a:spLocks noChangeArrowheads="1"/>
              </p:cNvSpPr>
              <p:nvPr/>
            </p:nvSpPr>
            <p:spPr bwMode="auto">
              <a:xfrm>
                <a:off x="2009124" y="1269107"/>
                <a:ext cx="444492"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14</a:t>
                </a:r>
              </a:p>
            </p:txBody>
          </p:sp>
          <p:sp>
            <p:nvSpPr>
              <p:cNvPr id="57" name="ZoneTexte 92"/>
              <p:cNvSpPr txBox="1">
                <a:spLocks noChangeArrowheads="1"/>
              </p:cNvSpPr>
              <p:nvPr/>
            </p:nvSpPr>
            <p:spPr bwMode="auto">
              <a:xfrm>
                <a:off x="2013275" y="876856"/>
                <a:ext cx="487816"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15 </a:t>
                </a:r>
              </a:p>
            </p:txBody>
          </p:sp>
          <p:sp>
            <p:nvSpPr>
              <p:cNvPr id="58" name="ZoneTexte 93"/>
              <p:cNvSpPr txBox="1">
                <a:spLocks noChangeArrowheads="1"/>
              </p:cNvSpPr>
              <p:nvPr/>
            </p:nvSpPr>
            <p:spPr bwMode="auto">
              <a:xfrm>
                <a:off x="2014064" y="543474"/>
                <a:ext cx="446659" cy="35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K€</a:t>
                </a:r>
              </a:p>
            </p:txBody>
          </p:sp>
        </p:grpSp>
      </p:grpSp>
      <p:grpSp>
        <p:nvGrpSpPr>
          <p:cNvPr id="59" name="Groupe 58"/>
          <p:cNvGrpSpPr/>
          <p:nvPr/>
        </p:nvGrpSpPr>
        <p:grpSpPr>
          <a:xfrm>
            <a:off x="7285218" y="658698"/>
            <a:ext cx="1908655" cy="2111220"/>
            <a:chOff x="12389365" y="3558195"/>
            <a:chExt cx="2579712" cy="2853495"/>
          </a:xfrm>
        </p:grpSpPr>
        <p:sp>
          <p:nvSpPr>
            <p:cNvPr id="60" name="Rectangle 59"/>
            <p:cNvSpPr>
              <a:spLocks noChangeArrowheads="1"/>
            </p:cNvSpPr>
            <p:nvPr/>
          </p:nvSpPr>
          <p:spPr bwMode="auto">
            <a:xfrm>
              <a:off x="14040757" y="4607533"/>
              <a:ext cx="633413" cy="1357313"/>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16M€</a:t>
              </a:r>
            </a:p>
          </p:txBody>
        </p:sp>
        <p:grpSp>
          <p:nvGrpSpPr>
            <p:cNvPr id="61" name="Groupe 60"/>
            <p:cNvGrpSpPr>
              <a:grpSpLocks/>
            </p:cNvGrpSpPr>
            <p:nvPr/>
          </p:nvGrpSpPr>
          <p:grpSpPr bwMode="auto">
            <a:xfrm>
              <a:off x="12389365" y="3558195"/>
              <a:ext cx="2579712" cy="2853495"/>
              <a:chOff x="5117012" y="3687387"/>
              <a:chExt cx="2580950" cy="2854579"/>
            </a:xfrm>
          </p:grpSpPr>
          <p:sp>
            <p:nvSpPr>
              <p:cNvPr id="62" name="ZoneTexte 95"/>
              <p:cNvSpPr txBox="1">
                <a:spLocks noChangeArrowheads="1"/>
              </p:cNvSpPr>
              <p:nvPr/>
            </p:nvSpPr>
            <p:spPr bwMode="auto">
              <a:xfrm>
                <a:off x="5536501" y="6125821"/>
                <a:ext cx="876159" cy="416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cs typeface="Arial" panose="020B0604020202020204" pitchFamily="34" charset="0"/>
                  </a:rPr>
                  <a:t>PALEO</a:t>
                </a:r>
              </a:p>
            </p:txBody>
          </p:sp>
          <p:sp>
            <p:nvSpPr>
              <p:cNvPr id="63" name="ZoneTexte 96"/>
              <p:cNvSpPr txBox="1">
                <a:spLocks noChangeArrowheads="1"/>
              </p:cNvSpPr>
              <p:nvPr/>
            </p:nvSpPr>
            <p:spPr bwMode="auto">
              <a:xfrm>
                <a:off x="6418970" y="6125821"/>
                <a:ext cx="1278992" cy="37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Concurrents</a:t>
                </a:r>
                <a:endParaRPr lang="fr-FR" altLang="fr-FR" sz="1400" dirty="0">
                  <a:latin typeface="Calibri" panose="020F0502020204030204" pitchFamily="34" charset="0"/>
                  <a:cs typeface="Arial" panose="020B0604020202020204" pitchFamily="34" charset="0"/>
                </a:endParaRPr>
              </a:p>
            </p:txBody>
          </p:sp>
          <p:sp>
            <p:nvSpPr>
              <p:cNvPr id="64" name="ZoneTexte 97"/>
              <p:cNvSpPr txBox="1">
                <a:spLocks noChangeArrowheads="1"/>
              </p:cNvSpPr>
              <p:nvPr/>
            </p:nvSpPr>
            <p:spPr bwMode="auto">
              <a:xfrm>
                <a:off x="6284345" y="3700159"/>
                <a:ext cx="975658" cy="3179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0099"/>
                    </a:solidFill>
                    <a:latin typeface="Calibri" panose="020F0502020204030204" pitchFamily="34" charset="0"/>
                    <a:cs typeface="Arial" panose="020B0604020202020204" pitchFamily="34" charset="0"/>
                  </a:rPr>
                  <a:t>STOCKS</a:t>
                </a:r>
              </a:p>
            </p:txBody>
          </p:sp>
          <p:sp>
            <p:nvSpPr>
              <p:cNvPr id="65" name="Rectangle 98"/>
              <p:cNvSpPr>
                <a:spLocks noChangeArrowheads="1"/>
              </p:cNvSpPr>
              <p:nvPr/>
            </p:nvSpPr>
            <p:spPr bwMode="auto">
              <a:xfrm>
                <a:off x="5700898" y="4059999"/>
                <a:ext cx="634177" cy="2034299"/>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20M€</a:t>
                </a:r>
              </a:p>
            </p:txBody>
          </p:sp>
          <p:cxnSp>
            <p:nvCxnSpPr>
              <p:cNvPr id="66" name="Connecteur droit 100"/>
              <p:cNvCxnSpPr>
                <a:cxnSpLocks noChangeShapeType="1"/>
              </p:cNvCxnSpPr>
              <p:nvPr/>
            </p:nvCxnSpPr>
            <p:spPr bwMode="auto">
              <a:xfrm rot="5400000" flipH="1" flipV="1">
                <a:off x="4500028" y="4994133"/>
                <a:ext cx="219523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7" name="Connecteur droit 101"/>
              <p:cNvCxnSpPr>
                <a:cxnSpLocks noChangeShapeType="1"/>
              </p:cNvCxnSpPr>
              <p:nvPr/>
            </p:nvCxnSpPr>
            <p:spPr bwMode="auto">
              <a:xfrm>
                <a:off x="5597641" y="6094298"/>
                <a:ext cx="175618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8" name="ZoneTexte 102"/>
              <p:cNvSpPr txBox="1">
                <a:spLocks noChangeArrowheads="1"/>
              </p:cNvSpPr>
              <p:nvPr/>
            </p:nvSpPr>
            <p:spPr bwMode="auto">
              <a:xfrm>
                <a:off x="5365958" y="5841513"/>
                <a:ext cx="195856"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8</a:t>
                </a:r>
              </a:p>
            </p:txBody>
          </p:sp>
          <p:sp>
            <p:nvSpPr>
              <p:cNvPr id="69" name="ZoneTexte 103"/>
              <p:cNvSpPr txBox="1">
                <a:spLocks noChangeArrowheads="1"/>
              </p:cNvSpPr>
              <p:nvPr/>
            </p:nvSpPr>
            <p:spPr bwMode="auto">
              <a:xfrm>
                <a:off x="5241489" y="5507966"/>
                <a:ext cx="444799"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10</a:t>
                </a:r>
              </a:p>
            </p:txBody>
          </p:sp>
          <p:sp>
            <p:nvSpPr>
              <p:cNvPr id="70" name="ZoneTexte 104"/>
              <p:cNvSpPr txBox="1">
                <a:spLocks noChangeArrowheads="1"/>
              </p:cNvSpPr>
              <p:nvPr/>
            </p:nvSpPr>
            <p:spPr bwMode="auto">
              <a:xfrm>
                <a:off x="5241489" y="5174412"/>
                <a:ext cx="444799"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12</a:t>
                </a:r>
              </a:p>
            </p:txBody>
          </p:sp>
          <p:sp>
            <p:nvSpPr>
              <p:cNvPr id="71" name="ZoneTexte 105"/>
              <p:cNvSpPr txBox="1">
                <a:spLocks noChangeArrowheads="1"/>
              </p:cNvSpPr>
              <p:nvPr/>
            </p:nvSpPr>
            <p:spPr bwMode="auto">
              <a:xfrm>
                <a:off x="5241489" y="4840862"/>
                <a:ext cx="444799"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14</a:t>
                </a:r>
              </a:p>
            </p:txBody>
          </p:sp>
          <p:sp>
            <p:nvSpPr>
              <p:cNvPr id="72" name="ZoneTexte 106"/>
              <p:cNvSpPr txBox="1">
                <a:spLocks noChangeArrowheads="1"/>
              </p:cNvSpPr>
              <p:nvPr/>
            </p:nvSpPr>
            <p:spPr bwMode="auto">
              <a:xfrm>
                <a:off x="5241489" y="4507311"/>
                <a:ext cx="444799"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16</a:t>
                </a:r>
              </a:p>
            </p:txBody>
          </p:sp>
          <p:sp>
            <p:nvSpPr>
              <p:cNvPr id="73" name="ZoneTexte 107"/>
              <p:cNvSpPr txBox="1">
                <a:spLocks noChangeArrowheads="1"/>
              </p:cNvSpPr>
              <p:nvPr/>
            </p:nvSpPr>
            <p:spPr bwMode="auto">
              <a:xfrm>
                <a:off x="5219810" y="3880259"/>
                <a:ext cx="488153"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20 </a:t>
                </a:r>
              </a:p>
            </p:txBody>
          </p:sp>
          <p:sp>
            <p:nvSpPr>
              <p:cNvPr id="74" name="ZoneTexte 108"/>
              <p:cNvSpPr txBox="1">
                <a:spLocks noChangeArrowheads="1"/>
              </p:cNvSpPr>
              <p:nvPr/>
            </p:nvSpPr>
            <p:spPr bwMode="auto">
              <a:xfrm>
                <a:off x="5117012" y="3687387"/>
                <a:ext cx="509829"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M€</a:t>
                </a:r>
              </a:p>
            </p:txBody>
          </p:sp>
          <p:sp>
            <p:nvSpPr>
              <p:cNvPr id="75" name="ZoneTexte 109"/>
              <p:cNvSpPr txBox="1">
                <a:spLocks noChangeArrowheads="1"/>
              </p:cNvSpPr>
              <p:nvPr/>
            </p:nvSpPr>
            <p:spPr bwMode="auto">
              <a:xfrm>
                <a:off x="5241488" y="4173757"/>
                <a:ext cx="444799" cy="353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18</a:t>
                </a:r>
              </a:p>
            </p:txBody>
          </p:sp>
        </p:grpSp>
      </p:grpSp>
      <p:grpSp>
        <p:nvGrpSpPr>
          <p:cNvPr id="76" name="Groupe 75"/>
          <p:cNvGrpSpPr/>
          <p:nvPr/>
        </p:nvGrpSpPr>
        <p:grpSpPr>
          <a:xfrm>
            <a:off x="3148716" y="679857"/>
            <a:ext cx="2127116" cy="2090061"/>
            <a:chOff x="8861789" y="3539146"/>
            <a:chExt cx="2874981" cy="2824897"/>
          </a:xfrm>
        </p:grpSpPr>
        <p:sp>
          <p:nvSpPr>
            <p:cNvPr id="77" name="Rectangle 76"/>
            <p:cNvSpPr>
              <a:spLocks noChangeArrowheads="1"/>
            </p:cNvSpPr>
            <p:nvPr/>
          </p:nvSpPr>
          <p:spPr bwMode="auto">
            <a:xfrm>
              <a:off x="10808607" y="4483708"/>
              <a:ext cx="633413" cy="1465263"/>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70</a:t>
              </a:r>
            </a:p>
          </p:txBody>
        </p:sp>
        <p:grpSp>
          <p:nvGrpSpPr>
            <p:cNvPr id="78" name="Groupe 77"/>
            <p:cNvGrpSpPr>
              <a:grpSpLocks/>
            </p:cNvGrpSpPr>
            <p:nvPr/>
          </p:nvGrpSpPr>
          <p:grpSpPr bwMode="auto">
            <a:xfrm>
              <a:off x="8861789" y="3539146"/>
              <a:ext cx="2874981" cy="2824897"/>
              <a:chOff x="1589516" y="3667974"/>
              <a:chExt cx="2875654" cy="2825794"/>
            </a:xfrm>
          </p:grpSpPr>
          <p:sp>
            <p:nvSpPr>
              <p:cNvPr id="79" name="ZoneTexte 111"/>
              <p:cNvSpPr txBox="1">
                <a:spLocks noChangeArrowheads="1"/>
              </p:cNvSpPr>
              <p:nvPr/>
            </p:nvSpPr>
            <p:spPr bwMode="auto">
              <a:xfrm>
                <a:off x="2877899" y="3667974"/>
                <a:ext cx="975658" cy="3255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0099"/>
                    </a:solidFill>
                    <a:latin typeface="Calibri" panose="020F0502020204030204" pitchFamily="34" charset="0"/>
                    <a:cs typeface="Arial" panose="020B0604020202020204" pitchFamily="34" charset="0"/>
                  </a:rPr>
                  <a:t>QUALITÉ</a:t>
                </a:r>
              </a:p>
            </p:txBody>
          </p:sp>
          <p:sp>
            <p:nvSpPr>
              <p:cNvPr id="80" name="ZoneTexte 112"/>
              <p:cNvSpPr txBox="1">
                <a:spLocks noChangeArrowheads="1"/>
              </p:cNvSpPr>
              <p:nvPr/>
            </p:nvSpPr>
            <p:spPr bwMode="auto">
              <a:xfrm>
                <a:off x="2303972" y="6077649"/>
                <a:ext cx="875944" cy="416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cs typeface="Arial" panose="020B0604020202020204" pitchFamily="34" charset="0"/>
                  </a:rPr>
                  <a:t>PALEO</a:t>
                </a:r>
              </a:p>
            </p:txBody>
          </p:sp>
          <p:sp>
            <p:nvSpPr>
              <p:cNvPr id="81" name="ZoneTexte 113"/>
              <p:cNvSpPr txBox="1">
                <a:spLocks noChangeArrowheads="1"/>
              </p:cNvSpPr>
              <p:nvPr/>
            </p:nvSpPr>
            <p:spPr bwMode="auto">
              <a:xfrm>
                <a:off x="3186492" y="6087306"/>
                <a:ext cx="1278678" cy="374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cs typeface="Arial" panose="020B0604020202020204" pitchFamily="34" charset="0"/>
                  </a:rPr>
                  <a:t>Concurrents</a:t>
                </a:r>
                <a:endParaRPr lang="fr-FR" altLang="fr-FR" sz="1400" dirty="0">
                  <a:latin typeface="Calibri" panose="020F0502020204030204" pitchFamily="34" charset="0"/>
                  <a:cs typeface="Arial" panose="020B0604020202020204" pitchFamily="34" charset="0"/>
                </a:endParaRPr>
              </a:p>
            </p:txBody>
          </p:sp>
          <p:sp>
            <p:nvSpPr>
              <p:cNvPr id="82" name="Rectangle 114"/>
              <p:cNvSpPr>
                <a:spLocks noChangeArrowheads="1"/>
              </p:cNvSpPr>
              <p:nvPr/>
            </p:nvSpPr>
            <p:spPr bwMode="auto">
              <a:xfrm>
                <a:off x="2468268" y="5421008"/>
                <a:ext cx="634178" cy="657539"/>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400" dirty="0">
                    <a:latin typeface="Calibri" panose="020F0502020204030204" pitchFamily="34" charset="0"/>
                    <a:cs typeface="Arial" panose="020B0604020202020204" pitchFamily="34" charset="0"/>
                  </a:rPr>
                  <a:t>30</a:t>
                </a:r>
              </a:p>
            </p:txBody>
          </p:sp>
          <p:cxnSp>
            <p:nvCxnSpPr>
              <p:cNvPr id="83" name="Connecteur droit 116"/>
              <p:cNvCxnSpPr>
                <a:cxnSpLocks noChangeShapeType="1"/>
              </p:cNvCxnSpPr>
              <p:nvPr/>
            </p:nvCxnSpPr>
            <p:spPr bwMode="auto">
              <a:xfrm rot="5400000" flipH="1" flipV="1">
                <a:off x="1316179" y="5016481"/>
                <a:ext cx="2097665"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4" name="Connecteur droit 117"/>
              <p:cNvCxnSpPr>
                <a:cxnSpLocks noChangeShapeType="1"/>
              </p:cNvCxnSpPr>
              <p:nvPr/>
            </p:nvCxnSpPr>
            <p:spPr bwMode="auto">
              <a:xfrm>
                <a:off x="2365011" y="6078549"/>
                <a:ext cx="180496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85" name="ZoneTexte 118"/>
              <p:cNvSpPr txBox="1">
                <a:spLocks noChangeArrowheads="1"/>
              </p:cNvSpPr>
              <p:nvPr/>
            </p:nvSpPr>
            <p:spPr bwMode="auto">
              <a:xfrm>
                <a:off x="2104903" y="5851399"/>
                <a:ext cx="239150" cy="35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0 </a:t>
                </a:r>
              </a:p>
            </p:txBody>
          </p:sp>
          <p:sp>
            <p:nvSpPr>
              <p:cNvPr id="86" name="ZoneTexte 119"/>
              <p:cNvSpPr txBox="1">
                <a:spLocks noChangeArrowheads="1"/>
              </p:cNvSpPr>
              <p:nvPr/>
            </p:nvSpPr>
            <p:spPr bwMode="auto">
              <a:xfrm>
                <a:off x="2002135" y="5449701"/>
                <a:ext cx="444690" cy="35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20</a:t>
                </a:r>
              </a:p>
            </p:txBody>
          </p:sp>
          <p:sp>
            <p:nvSpPr>
              <p:cNvPr id="87" name="ZoneTexte 120"/>
              <p:cNvSpPr txBox="1">
                <a:spLocks noChangeArrowheads="1"/>
              </p:cNvSpPr>
              <p:nvPr/>
            </p:nvSpPr>
            <p:spPr bwMode="auto">
              <a:xfrm>
                <a:off x="2002135" y="5048004"/>
                <a:ext cx="444690" cy="35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40</a:t>
                </a:r>
              </a:p>
            </p:txBody>
          </p:sp>
          <p:sp>
            <p:nvSpPr>
              <p:cNvPr id="88" name="ZoneTexte 121"/>
              <p:cNvSpPr txBox="1">
                <a:spLocks noChangeArrowheads="1"/>
              </p:cNvSpPr>
              <p:nvPr/>
            </p:nvSpPr>
            <p:spPr bwMode="auto">
              <a:xfrm>
                <a:off x="2002135" y="4646308"/>
                <a:ext cx="444690" cy="35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60</a:t>
                </a:r>
              </a:p>
            </p:txBody>
          </p:sp>
          <p:sp>
            <p:nvSpPr>
              <p:cNvPr id="89" name="ZoneTexte 122"/>
              <p:cNvSpPr txBox="1">
                <a:spLocks noChangeArrowheads="1"/>
              </p:cNvSpPr>
              <p:nvPr/>
            </p:nvSpPr>
            <p:spPr bwMode="auto">
              <a:xfrm>
                <a:off x="2002135" y="4244612"/>
                <a:ext cx="444690" cy="35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050" dirty="0">
                    <a:latin typeface="Calibri" panose="020F0502020204030204" pitchFamily="34" charset="0"/>
                    <a:cs typeface="Arial" panose="020B0604020202020204" pitchFamily="34" charset="0"/>
                  </a:rPr>
                  <a:t>80</a:t>
                </a:r>
              </a:p>
            </p:txBody>
          </p:sp>
          <p:sp>
            <p:nvSpPr>
              <p:cNvPr id="90" name="ZoneTexte 123"/>
              <p:cNvSpPr txBox="1">
                <a:spLocks noChangeArrowheads="1"/>
              </p:cNvSpPr>
              <p:nvPr/>
            </p:nvSpPr>
            <p:spPr bwMode="auto">
              <a:xfrm>
                <a:off x="1589516" y="3677731"/>
                <a:ext cx="991134" cy="436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900"/>
                  </a:lnSpc>
                  <a:spcBef>
                    <a:spcPct val="0"/>
                  </a:spcBef>
                  <a:buFontTx/>
                  <a:buNone/>
                </a:pPr>
                <a:r>
                  <a:rPr lang="fr-FR" altLang="fr-FR" sz="1050" dirty="0">
                    <a:latin typeface="Calibri" panose="020F0502020204030204" pitchFamily="34" charset="0"/>
                    <a:cs typeface="Arial" panose="020B0604020202020204" pitchFamily="34" charset="0"/>
                  </a:rPr>
                  <a:t>Satisfaction</a:t>
                </a:r>
                <a:br>
                  <a:rPr lang="fr-FR" altLang="fr-FR" sz="1050" dirty="0">
                    <a:latin typeface="Calibri" panose="020F0502020204030204" pitchFamily="34" charset="0"/>
                    <a:cs typeface="Arial" panose="020B0604020202020204" pitchFamily="34" charset="0"/>
                  </a:rPr>
                </a:br>
                <a:r>
                  <a:rPr lang="fr-FR" altLang="fr-FR" sz="1050" dirty="0">
                    <a:latin typeface="Calibri" panose="020F0502020204030204" pitchFamily="34" charset="0"/>
                    <a:cs typeface="Arial" panose="020B0604020202020204" pitchFamily="34" charset="0"/>
                  </a:rPr>
                  <a:t>client</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8738" y="579438"/>
            <a:ext cx="409575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itre 1"/>
          <p:cNvSpPr>
            <a:spLocks noGrp="1"/>
          </p:cNvSpPr>
          <p:nvPr>
            <p:ph type="title"/>
          </p:nvPr>
        </p:nvSpPr>
        <p:spPr/>
        <p:txBody>
          <a:bodyPr/>
          <a:lstStyle/>
          <a:p>
            <a:r>
              <a:rPr lang="fr-FR" altLang="fr-FR"/>
              <a:t>La mesure de la production</a:t>
            </a:r>
          </a:p>
        </p:txBody>
      </p:sp>
      <p:sp>
        <p:nvSpPr>
          <p:cNvPr id="8294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9414CD4-ABA4-4087-9DCF-A6F6E4399E4A}" type="slidenum">
              <a:rPr lang="fr-FR" altLang="fr-FR" smtClean="0">
                <a:latin typeface="Calibri" panose="020F0502020204030204" pitchFamily="34" charset="0"/>
              </a:rPr>
              <a:pPr>
                <a:spcBef>
                  <a:spcPct val="0"/>
                </a:spcBef>
                <a:buFontTx/>
                <a:buNone/>
              </a:pPr>
              <a:t>36</a:t>
            </a:fld>
            <a:endParaRPr lang="fr-FR" altLang="fr-FR" dirty="0">
              <a:latin typeface="Calibri" panose="020F0502020204030204" pitchFamily="34" charset="0"/>
            </a:endParaRPr>
          </a:p>
        </p:txBody>
      </p:sp>
      <p:sp>
        <p:nvSpPr>
          <p:cNvPr id="49" name="Rectangle 48"/>
          <p:cNvSpPr>
            <a:spLocks noChangeArrowheads="1"/>
          </p:cNvSpPr>
          <p:nvPr/>
        </p:nvSpPr>
        <p:spPr bwMode="auto">
          <a:xfrm>
            <a:off x="2782888" y="722313"/>
            <a:ext cx="360362" cy="288925"/>
          </a:xfrm>
          <a:prstGeom prst="rect">
            <a:avLst/>
          </a:prstGeom>
          <a:solidFill>
            <a:srgbClr val="FFB9FF">
              <a:alpha val="67058"/>
            </a:srgbClr>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50" name="Rectangle 49"/>
          <p:cNvSpPr>
            <a:spLocks noChangeArrowheads="1"/>
          </p:cNvSpPr>
          <p:nvPr/>
        </p:nvSpPr>
        <p:spPr bwMode="auto">
          <a:xfrm>
            <a:off x="3914775" y="722313"/>
            <a:ext cx="360363" cy="288925"/>
          </a:xfrm>
          <a:prstGeom prst="rect">
            <a:avLst/>
          </a:prstGeom>
          <a:solidFill>
            <a:srgbClr val="FFFF00">
              <a:alpha val="72940"/>
            </a:srgbClr>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51" name="Rectangle 50"/>
          <p:cNvSpPr>
            <a:spLocks noChangeArrowheads="1"/>
          </p:cNvSpPr>
          <p:nvPr/>
        </p:nvSpPr>
        <p:spPr bwMode="auto">
          <a:xfrm>
            <a:off x="4291013" y="722313"/>
            <a:ext cx="360362" cy="288925"/>
          </a:xfrm>
          <a:prstGeom prst="rect">
            <a:avLst/>
          </a:prstGeom>
          <a:solidFill>
            <a:srgbClr val="00B0F0">
              <a:alpha val="61176"/>
            </a:srgbClr>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52" name="Rectangle 51"/>
          <p:cNvSpPr>
            <a:spLocks noChangeArrowheads="1"/>
          </p:cNvSpPr>
          <p:nvPr/>
        </p:nvSpPr>
        <p:spPr bwMode="auto">
          <a:xfrm>
            <a:off x="3160713" y="722313"/>
            <a:ext cx="358775" cy="288925"/>
          </a:xfrm>
          <a:prstGeom prst="rect">
            <a:avLst/>
          </a:prstGeom>
          <a:solidFill>
            <a:srgbClr val="FFB9FF">
              <a:alpha val="67058"/>
            </a:srgbClr>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53" name="Rectangle 52"/>
          <p:cNvSpPr>
            <a:spLocks noChangeArrowheads="1"/>
          </p:cNvSpPr>
          <p:nvPr/>
        </p:nvSpPr>
        <p:spPr bwMode="auto">
          <a:xfrm>
            <a:off x="3536950" y="722313"/>
            <a:ext cx="360363" cy="288925"/>
          </a:xfrm>
          <a:prstGeom prst="rect">
            <a:avLst/>
          </a:prstGeom>
          <a:solidFill>
            <a:srgbClr val="FFB9FF">
              <a:alpha val="67058"/>
            </a:srgbClr>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54" name="Rectangle 53"/>
          <p:cNvSpPr>
            <a:spLocks noChangeArrowheads="1"/>
          </p:cNvSpPr>
          <p:nvPr/>
        </p:nvSpPr>
        <p:spPr bwMode="auto">
          <a:xfrm>
            <a:off x="4668838" y="722313"/>
            <a:ext cx="360362" cy="288925"/>
          </a:xfrm>
          <a:prstGeom prst="rect">
            <a:avLst/>
          </a:prstGeom>
          <a:solidFill>
            <a:srgbClr val="00B0F0">
              <a:alpha val="61176"/>
            </a:srgbClr>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aphicFrame>
        <p:nvGraphicFramePr>
          <p:cNvPr id="12" name="Tableau 11"/>
          <p:cNvGraphicFramePr>
            <a:graphicFrameLocks noGrp="1"/>
          </p:cNvGraphicFramePr>
          <p:nvPr>
            <p:extLst>
              <p:ext uri="{D42A27DB-BD31-4B8C-83A1-F6EECF244321}">
                <p14:modId xmlns:p14="http://schemas.microsoft.com/office/powerpoint/2010/main" val="2678964985"/>
              </p:ext>
            </p:extLst>
          </p:nvPr>
        </p:nvGraphicFramePr>
        <p:xfrm>
          <a:off x="2600325" y="5924550"/>
          <a:ext cx="4097339" cy="712274"/>
        </p:xfrm>
        <a:graphic>
          <a:graphicData uri="http://schemas.openxmlformats.org/drawingml/2006/table">
            <a:tbl>
              <a:tblPr firstRow="1" bandRow="1">
                <a:tableStyleId>{5C22544A-7EE6-4342-B048-85BDC9FD1C3A}</a:tableStyleId>
              </a:tblPr>
              <a:tblGrid>
                <a:gridCol w="1683867">
                  <a:extLst>
                    <a:ext uri="{9D8B030D-6E8A-4147-A177-3AD203B41FA5}">
                      <a16:colId xmlns:a16="http://schemas.microsoft.com/office/drawing/2014/main" val="20000"/>
                    </a:ext>
                  </a:extLst>
                </a:gridCol>
                <a:gridCol w="482597">
                  <a:extLst>
                    <a:ext uri="{9D8B030D-6E8A-4147-A177-3AD203B41FA5}">
                      <a16:colId xmlns:a16="http://schemas.microsoft.com/office/drawing/2014/main" val="20001"/>
                    </a:ext>
                  </a:extLst>
                </a:gridCol>
                <a:gridCol w="1465894">
                  <a:extLst>
                    <a:ext uri="{9D8B030D-6E8A-4147-A177-3AD203B41FA5}">
                      <a16:colId xmlns:a16="http://schemas.microsoft.com/office/drawing/2014/main" val="20002"/>
                    </a:ext>
                  </a:extLst>
                </a:gridCol>
                <a:gridCol w="464981">
                  <a:extLst>
                    <a:ext uri="{9D8B030D-6E8A-4147-A177-3AD203B41FA5}">
                      <a16:colId xmlns:a16="http://schemas.microsoft.com/office/drawing/2014/main" val="20003"/>
                    </a:ext>
                  </a:extLst>
                </a:gridCol>
              </a:tblGrid>
              <a:tr h="500063">
                <a:tc>
                  <a:txBody>
                    <a:bodyPr/>
                    <a:lstStyle/>
                    <a:p>
                      <a:pPr marL="0" algn="r" defTabSz="914400" rtl="0" eaLnBrk="1" latinLnBrk="0" hangingPunct="1"/>
                      <a:r>
                        <a:rPr lang="fr-FR" sz="1400" b="0" kern="1200" dirty="0">
                          <a:solidFill>
                            <a:schemeClr val="tx1"/>
                          </a:solidFill>
                          <a:latin typeface="Calibri" panose="020F0502020204030204" pitchFamily="34" charset="0"/>
                          <a:ea typeface="+mn-ea"/>
                          <a:cs typeface="Arial" pitchFamily="34" charset="0"/>
                        </a:rPr>
                        <a:t>Nombre de changements de couleurs</a:t>
                      </a:r>
                    </a:p>
                  </a:txBody>
                  <a:tcPr marL="36005" marR="108016" marT="36097" marB="36097"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fr-FR" sz="1400" b="0" dirty="0">
                        <a:solidFill>
                          <a:schemeClr val="tx1"/>
                        </a:solidFill>
                        <a:latin typeface="Calibri" panose="020F0502020204030204" pitchFamily="34" charset="0"/>
                        <a:cs typeface="Arial" pitchFamily="34" charset="0"/>
                      </a:endParaRPr>
                    </a:p>
                  </a:txBody>
                  <a:tcPr marL="36005" marR="108016" marT="36097" marB="36097"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r"/>
                      <a:r>
                        <a:rPr lang="fr-FR" sz="1400" b="0" dirty="0">
                          <a:solidFill>
                            <a:schemeClr val="tx1"/>
                          </a:solidFill>
                          <a:latin typeface="Calibri" panose="020F0502020204030204" pitchFamily="34" charset="0"/>
                          <a:cs typeface="Arial" pitchFamily="34" charset="0"/>
                        </a:rPr>
                        <a:t>Taille de la série moyenne</a:t>
                      </a:r>
                    </a:p>
                  </a:txBody>
                  <a:tcPr marL="36005" marR="108016" marT="36097" marB="36097"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1600" b="0" dirty="0">
                        <a:solidFill>
                          <a:schemeClr val="tx1"/>
                        </a:solidFill>
                        <a:latin typeface="Calibri" panose="020F0502020204030204" pitchFamily="34" charset="0"/>
                        <a:cs typeface="Arial" pitchFamily="34" charset="0"/>
                      </a:endParaRPr>
                    </a:p>
                  </a:txBody>
                  <a:tcPr marL="36005" marR="108016" marT="36097" marB="36097"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13" name="ZoneTexte 12"/>
          <p:cNvSpPr txBox="1">
            <a:spLocks noChangeArrowheads="1"/>
          </p:cNvSpPr>
          <p:nvPr/>
        </p:nvSpPr>
        <p:spPr bwMode="auto">
          <a:xfrm>
            <a:off x="4359275" y="6002338"/>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3</a:t>
            </a:r>
          </a:p>
        </p:txBody>
      </p:sp>
      <p:sp>
        <p:nvSpPr>
          <p:cNvPr id="14" name="ZoneTexte 13"/>
          <p:cNvSpPr txBox="1">
            <a:spLocks noChangeArrowheads="1"/>
          </p:cNvSpPr>
          <p:nvPr/>
        </p:nvSpPr>
        <p:spPr bwMode="auto">
          <a:xfrm>
            <a:off x="6303963" y="597535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2</a:t>
            </a:r>
          </a:p>
        </p:txBody>
      </p:sp>
      <p:sp>
        <p:nvSpPr>
          <p:cNvPr id="82971"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53"/>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50"/>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51"/>
                                        </p:tgtEl>
                                        <p:attrNameLst>
                                          <p:attrName>style.visibility</p:attrName>
                                        </p:attrNameLst>
                                      </p:cBhvr>
                                      <p:to>
                                        <p:strVal val="visible"/>
                                      </p:to>
                                    </p:set>
                                  </p:childTnLst>
                                </p:cTn>
                              </p:par>
                            </p:childTnLst>
                          </p:cTn>
                        </p:par>
                        <p:par>
                          <p:cTn id="19" fill="hold" nodeType="afterGroup">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5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3" grpId="0" animBg="1"/>
      <p:bldP spid="54" grpId="0" animBg="1"/>
      <p:bldP spid="13"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3" y="628650"/>
            <a:ext cx="89281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itre 1"/>
          <p:cNvSpPr>
            <a:spLocks noGrp="1"/>
          </p:cNvSpPr>
          <p:nvPr>
            <p:ph type="title"/>
          </p:nvPr>
        </p:nvSpPr>
        <p:spPr/>
        <p:txBody>
          <a:bodyPr/>
          <a:lstStyle/>
          <a:p>
            <a:r>
              <a:rPr lang="fr-FR" altLang="fr-FR"/>
              <a:t>La mesure de la qualité</a:t>
            </a:r>
          </a:p>
        </p:txBody>
      </p:sp>
      <p:sp>
        <p:nvSpPr>
          <p:cNvPr id="8499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9B38B9E-FB4A-4654-8B2A-294805661490}" type="slidenum">
              <a:rPr lang="fr-FR" altLang="fr-FR" smtClean="0">
                <a:latin typeface="Calibri" panose="020F0502020204030204" pitchFamily="34" charset="0"/>
              </a:rPr>
              <a:pPr>
                <a:spcBef>
                  <a:spcPct val="0"/>
                </a:spcBef>
                <a:buFontTx/>
                <a:buNone/>
              </a:pPr>
              <a:t>37</a:t>
            </a:fld>
            <a:endParaRPr lang="fr-FR" altLang="fr-FR" dirty="0">
              <a:latin typeface="Calibri" panose="020F0502020204030204" pitchFamily="34" charset="0"/>
            </a:endParaRPr>
          </a:p>
        </p:txBody>
      </p:sp>
      <p:sp>
        <p:nvSpPr>
          <p:cNvPr id="24" name="ZoneTexte 23"/>
          <p:cNvSpPr txBox="1">
            <a:spLocks noChangeArrowheads="1"/>
          </p:cNvSpPr>
          <p:nvPr/>
        </p:nvSpPr>
        <p:spPr bwMode="auto">
          <a:xfrm>
            <a:off x="5641975" y="4333875"/>
            <a:ext cx="731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rPr>
              <a:t>9%</a:t>
            </a:r>
          </a:p>
        </p:txBody>
      </p:sp>
      <p:sp>
        <p:nvSpPr>
          <p:cNvPr id="25" name="ZoneTexte 24"/>
          <p:cNvSpPr txBox="1">
            <a:spLocks noChangeArrowheads="1"/>
          </p:cNvSpPr>
          <p:nvPr/>
        </p:nvSpPr>
        <p:spPr bwMode="auto">
          <a:xfrm>
            <a:off x="8078788" y="4332288"/>
            <a:ext cx="731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rPr>
              <a:t>16%</a:t>
            </a:r>
          </a:p>
        </p:txBody>
      </p:sp>
      <p:sp>
        <p:nvSpPr>
          <p:cNvPr id="29" name="ZoneTexte 28"/>
          <p:cNvSpPr txBox="1">
            <a:spLocks noChangeArrowheads="1"/>
          </p:cNvSpPr>
          <p:nvPr/>
        </p:nvSpPr>
        <p:spPr bwMode="auto">
          <a:xfrm>
            <a:off x="4278313" y="1571625"/>
            <a:ext cx="1566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rPr>
              <a:t>20 m. 15 s.</a:t>
            </a:r>
          </a:p>
        </p:txBody>
      </p:sp>
      <p:sp>
        <p:nvSpPr>
          <p:cNvPr id="35" name="ZoneTexte 34"/>
          <p:cNvSpPr txBox="1">
            <a:spLocks noChangeArrowheads="1"/>
          </p:cNvSpPr>
          <p:nvPr/>
        </p:nvSpPr>
        <p:spPr bwMode="auto">
          <a:xfrm>
            <a:off x="5618163" y="3432175"/>
            <a:ext cx="731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latin typeface="Calibri" panose="020F0502020204030204" pitchFamily="34" charset="0"/>
              </a:rPr>
              <a:t>21</a:t>
            </a:r>
          </a:p>
        </p:txBody>
      </p:sp>
      <p:sp>
        <p:nvSpPr>
          <p:cNvPr id="36" name="ZoneTexte 35"/>
          <p:cNvSpPr txBox="1">
            <a:spLocks noChangeArrowheads="1"/>
          </p:cNvSpPr>
          <p:nvPr/>
        </p:nvSpPr>
        <p:spPr bwMode="auto">
          <a:xfrm>
            <a:off x="8108950" y="3470275"/>
            <a:ext cx="731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latin typeface="Calibri" panose="020F0502020204030204" pitchFamily="34" charset="0"/>
              </a:rPr>
              <a:t>48</a:t>
            </a:r>
          </a:p>
        </p:txBody>
      </p:sp>
      <p:sp>
        <p:nvSpPr>
          <p:cNvPr id="58" name="ZoneTexte 57"/>
          <p:cNvSpPr txBox="1">
            <a:spLocks noChangeArrowheads="1"/>
          </p:cNvSpPr>
          <p:nvPr/>
        </p:nvSpPr>
        <p:spPr bwMode="auto">
          <a:xfrm>
            <a:off x="2320925" y="3413125"/>
            <a:ext cx="731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latin typeface="Calibri" panose="020F0502020204030204" pitchFamily="34" charset="0"/>
              </a:rPr>
              <a:t>12</a:t>
            </a:r>
          </a:p>
        </p:txBody>
      </p:sp>
      <p:sp>
        <p:nvSpPr>
          <p:cNvPr id="61" name="ZoneTexte 60"/>
          <p:cNvSpPr txBox="1">
            <a:spLocks noChangeArrowheads="1"/>
          </p:cNvSpPr>
          <p:nvPr/>
        </p:nvSpPr>
        <p:spPr bwMode="auto">
          <a:xfrm>
            <a:off x="5618163" y="3890963"/>
            <a:ext cx="731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rPr>
              <a:t>2</a:t>
            </a:r>
          </a:p>
        </p:txBody>
      </p:sp>
      <p:sp>
        <p:nvSpPr>
          <p:cNvPr id="62" name="ZoneTexte 61"/>
          <p:cNvSpPr txBox="1">
            <a:spLocks noChangeArrowheads="1"/>
          </p:cNvSpPr>
          <p:nvPr/>
        </p:nvSpPr>
        <p:spPr bwMode="auto">
          <a:xfrm>
            <a:off x="8081963" y="3902075"/>
            <a:ext cx="731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rPr>
              <a:t>8</a:t>
            </a:r>
          </a:p>
        </p:txBody>
      </p:sp>
      <p:sp>
        <p:nvSpPr>
          <p:cNvPr id="68" name="ZoneTexte 67"/>
          <p:cNvSpPr txBox="1">
            <a:spLocks noChangeArrowheads="1"/>
          </p:cNvSpPr>
          <p:nvPr/>
        </p:nvSpPr>
        <p:spPr bwMode="auto">
          <a:xfrm>
            <a:off x="5618163" y="4862513"/>
            <a:ext cx="731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009242"/>
                </a:solidFill>
                <a:latin typeface="Calibri" panose="020F0502020204030204" pitchFamily="34" charset="0"/>
              </a:rPr>
              <a:t>19</a:t>
            </a:r>
          </a:p>
        </p:txBody>
      </p:sp>
      <p:sp>
        <p:nvSpPr>
          <p:cNvPr id="69" name="ZoneTexte 68"/>
          <p:cNvSpPr txBox="1">
            <a:spLocks noChangeArrowheads="1"/>
          </p:cNvSpPr>
          <p:nvPr/>
        </p:nvSpPr>
        <p:spPr bwMode="auto">
          <a:xfrm>
            <a:off x="8108950" y="4837113"/>
            <a:ext cx="731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009242"/>
                </a:solidFill>
                <a:latin typeface="Calibri" panose="020F0502020204030204" pitchFamily="34" charset="0"/>
              </a:rPr>
              <a:t>40</a:t>
            </a:r>
          </a:p>
        </p:txBody>
      </p:sp>
      <p:sp>
        <p:nvSpPr>
          <p:cNvPr id="85008"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9" grpId="0"/>
      <p:bldP spid="35" grpId="0"/>
      <p:bldP spid="36" grpId="0"/>
      <p:bldP spid="58" grpId="0"/>
      <p:bldP spid="61" grpId="0"/>
      <p:bldP spid="62" grpId="0"/>
      <p:bldP spid="68" grpId="0"/>
      <p:bldP spid="6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888" y="1249363"/>
            <a:ext cx="2760662" cy="511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Titre 1"/>
          <p:cNvSpPr>
            <a:spLocks noGrp="1"/>
          </p:cNvSpPr>
          <p:nvPr>
            <p:ph type="title"/>
          </p:nvPr>
        </p:nvSpPr>
        <p:spPr/>
        <p:txBody>
          <a:bodyPr/>
          <a:lstStyle/>
          <a:p>
            <a:r>
              <a:rPr lang="fr-FR" altLang="fr-FR"/>
              <a:t>La mesure des délais</a:t>
            </a:r>
          </a:p>
        </p:txBody>
      </p:sp>
      <p:sp>
        <p:nvSpPr>
          <p:cNvPr id="8704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87045" name="Espace réservé du numéro de diapositive 4"/>
          <p:cNvSpPr>
            <a:spLocks noGrp="1"/>
          </p:cNvSpPr>
          <p:nvPr>
            <p:ph type="sldNum" sz="quarter" idx="11"/>
          </p:nvPr>
        </p:nvSpPr>
        <p:spPr bwMode="auto">
          <a:xfrm>
            <a:off x="7835900" y="6548438"/>
            <a:ext cx="1776413"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2D1D07D8-E3D1-4991-92AA-572649D47673}" type="slidenum">
              <a:rPr lang="fr-FR" altLang="fr-FR" smtClean="0">
                <a:latin typeface="Calibri" panose="020F0502020204030204" pitchFamily="34" charset="0"/>
              </a:rPr>
              <a:pPr>
                <a:spcBef>
                  <a:spcPct val="0"/>
                </a:spcBef>
                <a:buFontTx/>
                <a:buNone/>
              </a:pPr>
              <a:t>38</a:t>
            </a:fld>
            <a:endParaRPr lang="fr-FR" altLang="fr-FR" dirty="0">
              <a:latin typeface="Calibri" panose="020F0502020204030204" pitchFamily="34" charset="0"/>
            </a:endParaRPr>
          </a:p>
        </p:txBody>
      </p:sp>
      <p:grpSp>
        <p:nvGrpSpPr>
          <p:cNvPr id="91" name="Groupe 90"/>
          <p:cNvGrpSpPr>
            <a:grpSpLocks/>
          </p:cNvGrpSpPr>
          <p:nvPr/>
        </p:nvGrpSpPr>
        <p:grpSpPr bwMode="auto">
          <a:xfrm>
            <a:off x="1560609" y="1436688"/>
            <a:ext cx="876103" cy="400110"/>
            <a:chOff x="1127466" y="965200"/>
            <a:chExt cx="876201" cy="400170"/>
          </a:xfrm>
        </p:grpSpPr>
        <p:sp>
          <p:nvSpPr>
            <p:cNvPr id="87072" name="ZoneTexte 78"/>
            <p:cNvSpPr txBox="1">
              <a:spLocks noChangeArrowheads="1"/>
            </p:cNvSpPr>
            <p:nvPr/>
          </p:nvSpPr>
          <p:spPr bwMode="auto">
            <a:xfrm>
              <a:off x="1127466" y="9652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12</a:t>
              </a:r>
            </a:p>
          </p:txBody>
        </p:sp>
        <p:sp>
          <p:nvSpPr>
            <p:cNvPr id="87073" name="ZoneTexte 84"/>
            <p:cNvSpPr txBox="1">
              <a:spLocks noChangeArrowheads="1"/>
            </p:cNvSpPr>
            <p:nvPr/>
          </p:nvSpPr>
          <p:spPr bwMode="auto">
            <a:xfrm>
              <a:off x="1559266" y="9652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10</a:t>
              </a:r>
            </a:p>
          </p:txBody>
        </p:sp>
      </p:grpSp>
      <p:grpSp>
        <p:nvGrpSpPr>
          <p:cNvPr id="92" name="Groupe 91"/>
          <p:cNvGrpSpPr>
            <a:grpSpLocks/>
          </p:cNvGrpSpPr>
          <p:nvPr/>
        </p:nvGrpSpPr>
        <p:grpSpPr bwMode="auto">
          <a:xfrm>
            <a:off x="1586009" y="2224088"/>
            <a:ext cx="876103" cy="400110"/>
            <a:chOff x="1152866" y="1752600"/>
            <a:chExt cx="876201" cy="400170"/>
          </a:xfrm>
        </p:grpSpPr>
        <p:sp>
          <p:nvSpPr>
            <p:cNvPr id="87070" name="ZoneTexte 79"/>
            <p:cNvSpPr txBox="1">
              <a:spLocks noChangeArrowheads="1"/>
            </p:cNvSpPr>
            <p:nvPr/>
          </p:nvSpPr>
          <p:spPr bwMode="auto">
            <a:xfrm>
              <a:off x="1152866" y="17526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12</a:t>
              </a:r>
            </a:p>
          </p:txBody>
        </p:sp>
        <p:sp>
          <p:nvSpPr>
            <p:cNvPr id="87071" name="ZoneTexte 85"/>
            <p:cNvSpPr txBox="1">
              <a:spLocks noChangeArrowheads="1"/>
            </p:cNvSpPr>
            <p:nvPr/>
          </p:nvSpPr>
          <p:spPr bwMode="auto">
            <a:xfrm>
              <a:off x="1584666" y="17526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40</a:t>
              </a:r>
            </a:p>
          </p:txBody>
        </p:sp>
      </p:grpSp>
      <p:grpSp>
        <p:nvGrpSpPr>
          <p:cNvPr id="93" name="Groupe 92"/>
          <p:cNvGrpSpPr>
            <a:grpSpLocks/>
          </p:cNvGrpSpPr>
          <p:nvPr/>
        </p:nvGrpSpPr>
        <p:grpSpPr bwMode="auto">
          <a:xfrm>
            <a:off x="1560609" y="3062288"/>
            <a:ext cx="876103" cy="400110"/>
            <a:chOff x="1127466" y="2590800"/>
            <a:chExt cx="876201" cy="400170"/>
          </a:xfrm>
        </p:grpSpPr>
        <p:sp>
          <p:nvSpPr>
            <p:cNvPr id="87068" name="ZoneTexte 80"/>
            <p:cNvSpPr txBox="1">
              <a:spLocks noChangeArrowheads="1"/>
            </p:cNvSpPr>
            <p:nvPr/>
          </p:nvSpPr>
          <p:spPr bwMode="auto">
            <a:xfrm>
              <a:off x="1127466" y="25908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13</a:t>
              </a:r>
            </a:p>
          </p:txBody>
        </p:sp>
        <p:sp>
          <p:nvSpPr>
            <p:cNvPr id="87069" name="ZoneTexte 86"/>
            <p:cNvSpPr txBox="1">
              <a:spLocks noChangeArrowheads="1"/>
            </p:cNvSpPr>
            <p:nvPr/>
          </p:nvSpPr>
          <p:spPr bwMode="auto">
            <a:xfrm>
              <a:off x="1559266" y="25908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10</a:t>
              </a:r>
            </a:p>
          </p:txBody>
        </p:sp>
      </p:grpSp>
      <p:grpSp>
        <p:nvGrpSpPr>
          <p:cNvPr id="94" name="Groupe 93"/>
          <p:cNvGrpSpPr>
            <a:grpSpLocks/>
          </p:cNvGrpSpPr>
          <p:nvPr/>
        </p:nvGrpSpPr>
        <p:grpSpPr bwMode="auto">
          <a:xfrm>
            <a:off x="1573309" y="3995738"/>
            <a:ext cx="876103" cy="400110"/>
            <a:chOff x="1140166" y="3429000"/>
            <a:chExt cx="876201" cy="400170"/>
          </a:xfrm>
        </p:grpSpPr>
        <p:sp>
          <p:nvSpPr>
            <p:cNvPr id="87066" name="ZoneTexte 81"/>
            <p:cNvSpPr txBox="1">
              <a:spLocks noChangeArrowheads="1"/>
            </p:cNvSpPr>
            <p:nvPr/>
          </p:nvSpPr>
          <p:spPr bwMode="auto">
            <a:xfrm>
              <a:off x="1140166" y="34290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15</a:t>
              </a:r>
            </a:p>
          </p:txBody>
        </p:sp>
        <p:sp>
          <p:nvSpPr>
            <p:cNvPr id="87067" name="ZoneTexte 87"/>
            <p:cNvSpPr txBox="1">
              <a:spLocks noChangeArrowheads="1"/>
            </p:cNvSpPr>
            <p:nvPr/>
          </p:nvSpPr>
          <p:spPr bwMode="auto">
            <a:xfrm>
              <a:off x="1571966" y="34290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30</a:t>
              </a:r>
            </a:p>
          </p:txBody>
        </p:sp>
      </p:grpSp>
      <p:grpSp>
        <p:nvGrpSpPr>
          <p:cNvPr id="95" name="Groupe 94"/>
          <p:cNvGrpSpPr>
            <a:grpSpLocks/>
          </p:cNvGrpSpPr>
          <p:nvPr/>
        </p:nvGrpSpPr>
        <p:grpSpPr bwMode="auto">
          <a:xfrm>
            <a:off x="1598709" y="4967288"/>
            <a:ext cx="876102" cy="400110"/>
            <a:chOff x="1165566" y="4495800"/>
            <a:chExt cx="876200" cy="400170"/>
          </a:xfrm>
        </p:grpSpPr>
        <p:sp>
          <p:nvSpPr>
            <p:cNvPr id="87064" name="ZoneTexte 82"/>
            <p:cNvSpPr txBox="1">
              <a:spLocks noChangeArrowheads="1"/>
            </p:cNvSpPr>
            <p:nvPr/>
          </p:nvSpPr>
          <p:spPr bwMode="auto">
            <a:xfrm>
              <a:off x="1165566" y="44958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16</a:t>
              </a:r>
            </a:p>
          </p:txBody>
        </p:sp>
        <p:sp>
          <p:nvSpPr>
            <p:cNvPr id="87065" name="ZoneTexte 88"/>
            <p:cNvSpPr txBox="1">
              <a:spLocks noChangeArrowheads="1"/>
            </p:cNvSpPr>
            <p:nvPr/>
          </p:nvSpPr>
          <p:spPr bwMode="auto">
            <a:xfrm>
              <a:off x="1597365" y="44958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10</a:t>
              </a:r>
            </a:p>
          </p:txBody>
        </p:sp>
      </p:grpSp>
      <p:grpSp>
        <p:nvGrpSpPr>
          <p:cNvPr id="96" name="Groupe 95"/>
          <p:cNvGrpSpPr>
            <a:grpSpLocks/>
          </p:cNvGrpSpPr>
          <p:nvPr/>
        </p:nvGrpSpPr>
        <p:grpSpPr bwMode="auto">
          <a:xfrm>
            <a:off x="1573309" y="5805488"/>
            <a:ext cx="876103" cy="400110"/>
            <a:chOff x="1140166" y="5334000"/>
            <a:chExt cx="876201" cy="400170"/>
          </a:xfrm>
        </p:grpSpPr>
        <p:sp>
          <p:nvSpPr>
            <p:cNvPr id="87062" name="ZoneTexte 83"/>
            <p:cNvSpPr txBox="1">
              <a:spLocks noChangeArrowheads="1"/>
            </p:cNvSpPr>
            <p:nvPr/>
          </p:nvSpPr>
          <p:spPr bwMode="auto">
            <a:xfrm>
              <a:off x="1140166" y="53340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19</a:t>
              </a:r>
            </a:p>
          </p:txBody>
        </p:sp>
        <p:sp>
          <p:nvSpPr>
            <p:cNvPr id="87063" name="ZoneTexte 89"/>
            <p:cNvSpPr txBox="1">
              <a:spLocks noChangeArrowheads="1"/>
            </p:cNvSpPr>
            <p:nvPr/>
          </p:nvSpPr>
          <p:spPr bwMode="auto">
            <a:xfrm>
              <a:off x="1571966" y="5334000"/>
              <a:ext cx="444401"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50</a:t>
              </a:r>
            </a:p>
          </p:txBody>
        </p:sp>
      </p:grpSp>
      <p:sp>
        <p:nvSpPr>
          <p:cNvPr id="103" name="ZoneTexte 102"/>
          <p:cNvSpPr txBox="1">
            <a:spLocks noChangeArrowheads="1"/>
          </p:cNvSpPr>
          <p:nvPr/>
        </p:nvSpPr>
        <p:spPr bwMode="auto">
          <a:xfrm>
            <a:off x="1791583" y="511175"/>
            <a:ext cx="1236483" cy="58477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3200" b="1" dirty="0">
                <a:solidFill>
                  <a:schemeClr val="bg1"/>
                </a:solidFill>
                <a:latin typeface="Calibri" panose="020F0502020204030204" pitchFamily="34" charset="0"/>
                <a:cs typeface="Arial" panose="020B0604020202020204" pitchFamily="34" charset="0"/>
              </a:rPr>
              <a:t>12 min</a:t>
            </a:r>
          </a:p>
        </p:txBody>
      </p:sp>
      <p:sp>
        <p:nvSpPr>
          <p:cNvPr id="104" name="ZoneTexte 103"/>
          <p:cNvSpPr txBox="1">
            <a:spLocks noChangeArrowheads="1"/>
          </p:cNvSpPr>
          <p:nvPr/>
        </p:nvSpPr>
        <p:spPr bwMode="auto">
          <a:xfrm>
            <a:off x="3163888" y="512763"/>
            <a:ext cx="830262" cy="5683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3600" dirty="0">
                <a:latin typeface="Calibri" panose="020F0502020204030204" pitchFamily="34" charset="0"/>
                <a:cs typeface="Arial" panose="020B0604020202020204" pitchFamily="34" charset="0"/>
              </a:rPr>
              <a:t>10</a:t>
            </a:r>
          </a:p>
        </p:txBody>
      </p:sp>
      <p:sp>
        <p:nvSpPr>
          <p:cNvPr id="105" name="ZoneTexte 104"/>
          <p:cNvSpPr txBox="1">
            <a:spLocks noChangeArrowheads="1"/>
          </p:cNvSpPr>
          <p:nvPr/>
        </p:nvSpPr>
        <p:spPr bwMode="auto">
          <a:xfrm>
            <a:off x="4278313" y="1203325"/>
            <a:ext cx="3022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800" dirty="0">
                <a:latin typeface="Calibri" panose="020F0502020204030204" pitchFamily="34" charset="0"/>
              </a:rPr>
              <a:t>Le Lancement note l’heure de début et l’heure de fin</a:t>
            </a:r>
          </a:p>
        </p:txBody>
      </p:sp>
      <p:sp>
        <p:nvSpPr>
          <p:cNvPr id="110" name="ZoneTexte 109"/>
          <p:cNvSpPr txBox="1">
            <a:spLocks noChangeArrowheads="1"/>
          </p:cNvSpPr>
          <p:nvPr/>
        </p:nvSpPr>
        <p:spPr bwMode="auto">
          <a:xfrm>
            <a:off x="4714875" y="4056063"/>
            <a:ext cx="688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7’40</a:t>
            </a:r>
          </a:p>
        </p:txBody>
      </p:sp>
      <p:sp>
        <p:nvSpPr>
          <p:cNvPr id="35" name="Ellipse 34"/>
          <p:cNvSpPr>
            <a:spLocks noChangeArrowheads="1"/>
          </p:cNvSpPr>
          <p:nvPr/>
        </p:nvSpPr>
        <p:spPr bwMode="auto">
          <a:xfrm>
            <a:off x="3384550" y="1323975"/>
            <a:ext cx="709613" cy="709613"/>
          </a:xfrm>
          <a:prstGeom prst="ellipse">
            <a:avLst/>
          </a:prstGeom>
          <a:solidFill>
            <a:srgbClr val="FF0000">
              <a:alpha val="69803"/>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33" name="Ellipse 32"/>
          <p:cNvSpPr>
            <a:spLocks noChangeArrowheads="1"/>
          </p:cNvSpPr>
          <p:nvPr/>
        </p:nvSpPr>
        <p:spPr bwMode="auto">
          <a:xfrm>
            <a:off x="6418263" y="1646238"/>
            <a:ext cx="2914650" cy="1958975"/>
          </a:xfrm>
          <a:prstGeom prst="ellipse">
            <a:avLst/>
          </a:prstGeom>
          <a:solidFill>
            <a:srgbClr val="FFFFCD"/>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L’OF traceur n’est </a:t>
            </a:r>
            <a:r>
              <a:rPr lang="fr-FR" altLang="fr-FR" sz="1800" b="1" dirty="0">
                <a:solidFill>
                  <a:srgbClr val="FF0000"/>
                </a:solidFill>
                <a:latin typeface="Calibri" panose="020F0502020204030204" pitchFamily="34" charset="0"/>
              </a:rPr>
              <a:t>pas prioritaire</a:t>
            </a:r>
            <a:r>
              <a:rPr lang="fr-FR" altLang="fr-FR" sz="1800" dirty="0">
                <a:latin typeface="Calibri" panose="020F0502020204030204" pitchFamily="34" charset="0"/>
              </a:rPr>
              <a:t>.</a:t>
            </a:r>
            <a:br>
              <a:rPr lang="fr-FR" altLang="fr-FR" sz="1800" dirty="0">
                <a:latin typeface="Calibri" panose="020F0502020204030204" pitchFamily="34" charset="0"/>
              </a:rPr>
            </a:br>
            <a:r>
              <a:rPr lang="fr-FR" altLang="fr-FR" sz="1800" dirty="0">
                <a:latin typeface="Calibri" panose="020F0502020204030204" pitchFamily="34" charset="0"/>
              </a:rPr>
              <a:t>Il attend son tour dans la file d’attente</a:t>
            </a:r>
          </a:p>
        </p:txBody>
      </p:sp>
      <p:sp>
        <p:nvSpPr>
          <p:cNvPr id="34" name="ZoneTexte 33"/>
          <p:cNvSpPr txBox="1">
            <a:spLocks noChangeArrowheads="1"/>
          </p:cNvSpPr>
          <p:nvPr/>
        </p:nvSpPr>
        <p:spPr bwMode="auto">
          <a:xfrm>
            <a:off x="4673600" y="3673475"/>
            <a:ext cx="839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800" dirty="0">
                <a:latin typeface="Calibri" panose="020F0502020204030204" pitchFamily="34" charset="0"/>
              </a:rPr>
              <a:t>Durée</a:t>
            </a:r>
          </a:p>
        </p:txBody>
      </p:sp>
      <p:sp>
        <p:nvSpPr>
          <p:cNvPr id="31" name="Ellipse 30"/>
          <p:cNvSpPr>
            <a:spLocks noChangeArrowheads="1"/>
          </p:cNvSpPr>
          <p:nvPr/>
        </p:nvSpPr>
        <p:spPr bwMode="auto">
          <a:xfrm>
            <a:off x="5872163" y="3729038"/>
            <a:ext cx="2914650" cy="1084262"/>
          </a:xfrm>
          <a:prstGeom prst="ellipse">
            <a:avLst/>
          </a:prstGeom>
          <a:solidFill>
            <a:srgbClr val="FFFFCD"/>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C’est le </a:t>
            </a:r>
            <a:r>
              <a:rPr lang="fr-FR" altLang="fr-FR" sz="1800" dirty="0">
                <a:solidFill>
                  <a:srgbClr val="FF0000"/>
                </a:solidFill>
                <a:latin typeface="Calibri" panose="020F0502020204030204" pitchFamily="34" charset="0"/>
              </a:rPr>
              <a:t>début</a:t>
            </a:r>
            <a:r>
              <a:rPr lang="fr-FR" altLang="fr-FR" sz="1800" dirty="0">
                <a:latin typeface="Calibri" panose="020F0502020204030204" pitchFamily="34" charset="0"/>
              </a:rPr>
              <a:t> du coloriage que l’on inscrit</a:t>
            </a:r>
          </a:p>
        </p:txBody>
      </p:sp>
      <p:sp>
        <p:nvSpPr>
          <p:cNvPr id="36" name="Ellipse 35"/>
          <p:cNvSpPr>
            <a:spLocks noChangeArrowheads="1"/>
          </p:cNvSpPr>
          <p:nvPr/>
        </p:nvSpPr>
        <p:spPr bwMode="auto">
          <a:xfrm>
            <a:off x="5008563" y="5049838"/>
            <a:ext cx="2763837" cy="1325562"/>
          </a:xfrm>
          <a:prstGeom prst="ellipse">
            <a:avLst/>
          </a:prstGeom>
          <a:solidFill>
            <a:srgbClr val="FFFFCD"/>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C’est sur l’</a:t>
            </a:r>
            <a:r>
              <a:rPr lang="fr-FR" altLang="fr-FR" sz="1800" dirty="0">
                <a:solidFill>
                  <a:srgbClr val="FF0000"/>
                </a:solidFill>
                <a:latin typeface="Calibri" panose="020F0502020204030204" pitchFamily="34" charset="0"/>
              </a:rPr>
              <a:t>OF</a:t>
            </a:r>
            <a:r>
              <a:rPr lang="fr-FR" altLang="fr-FR" sz="1800" dirty="0">
                <a:latin typeface="Calibri" panose="020F0502020204030204" pitchFamily="34" charset="0"/>
              </a:rPr>
              <a:t> lui-même que l’on note l’heure, non sur le Dossier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nodeType="afterEffect">
                                  <p:stCondLst>
                                    <p:cond delay="500"/>
                                  </p:stCondLst>
                                  <p:childTnLst>
                                    <p:set>
                                      <p:cBhvr>
                                        <p:cTn id="21" dur="1" fill="hold">
                                          <p:stCondLst>
                                            <p:cond delay="0"/>
                                          </p:stCondLst>
                                        </p:cTn>
                                        <p:tgtEl>
                                          <p:spTgt spid="92"/>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nodeType="afterEffect">
                                  <p:stCondLst>
                                    <p:cond delay="500"/>
                                  </p:stCondLst>
                                  <p:childTnLst>
                                    <p:set>
                                      <p:cBhvr>
                                        <p:cTn id="24" dur="1" fill="hold">
                                          <p:stCondLst>
                                            <p:cond delay="0"/>
                                          </p:stCondLst>
                                        </p:cTn>
                                        <p:tgtEl>
                                          <p:spTgt spid="93"/>
                                        </p:tgtEl>
                                        <p:attrNameLst>
                                          <p:attrName>style.visibility</p:attrName>
                                        </p:attrNameLst>
                                      </p:cBhvr>
                                      <p:to>
                                        <p:strVal val="visible"/>
                                      </p:to>
                                    </p:set>
                                  </p:childTnLst>
                                </p:cTn>
                              </p:par>
                            </p:childTnLst>
                          </p:cTn>
                        </p:par>
                        <p:par>
                          <p:cTn id="25" fill="hold" nodeType="afterGroup">
                            <p:stCondLst>
                              <p:cond delay="1000"/>
                            </p:stCondLst>
                            <p:childTnLst>
                              <p:par>
                                <p:cTn id="26" presetID="1" presetClass="entr" presetSubtype="0" fill="hold" nodeType="afterEffect">
                                  <p:stCondLst>
                                    <p:cond delay="500"/>
                                  </p:stCondLst>
                                  <p:childTnLst>
                                    <p:set>
                                      <p:cBhvr>
                                        <p:cTn id="27" dur="1" fill="hold">
                                          <p:stCondLst>
                                            <p:cond delay="0"/>
                                          </p:stCondLst>
                                        </p:cTn>
                                        <p:tgtEl>
                                          <p:spTgt spid="94"/>
                                        </p:tgtEl>
                                        <p:attrNameLst>
                                          <p:attrName>style.visibility</p:attrName>
                                        </p:attrNameLst>
                                      </p:cBhvr>
                                      <p:to>
                                        <p:strVal val="visible"/>
                                      </p:to>
                                    </p:set>
                                  </p:childTnLst>
                                </p:cTn>
                              </p:par>
                            </p:childTnLst>
                          </p:cTn>
                        </p:par>
                        <p:par>
                          <p:cTn id="28" fill="hold" nodeType="afterGroup">
                            <p:stCondLst>
                              <p:cond delay="1500"/>
                            </p:stCondLst>
                            <p:childTnLst>
                              <p:par>
                                <p:cTn id="29" presetID="1" presetClass="entr" presetSubtype="0" fill="hold" nodeType="afterEffect">
                                  <p:stCondLst>
                                    <p:cond delay="500"/>
                                  </p:stCondLst>
                                  <p:childTnLst>
                                    <p:set>
                                      <p:cBhvr>
                                        <p:cTn id="30" dur="1" fill="hold">
                                          <p:stCondLst>
                                            <p:cond delay="0"/>
                                          </p:stCondLst>
                                        </p:cTn>
                                        <p:tgtEl>
                                          <p:spTgt spid="95"/>
                                        </p:tgtEl>
                                        <p:attrNameLst>
                                          <p:attrName>style.visibility</p:attrName>
                                        </p:attrNameLst>
                                      </p:cBhvr>
                                      <p:to>
                                        <p:strVal val="visible"/>
                                      </p:to>
                                    </p:set>
                                  </p:childTnLst>
                                </p:cTn>
                              </p:par>
                            </p:childTnLst>
                          </p:cTn>
                        </p:par>
                        <p:par>
                          <p:cTn id="31" fill="hold" nodeType="afterGroup">
                            <p:stCondLst>
                              <p:cond delay="2000"/>
                            </p:stCondLst>
                            <p:childTnLst>
                              <p:par>
                                <p:cTn id="32" presetID="1" presetClass="entr" presetSubtype="0" fill="hold" nodeType="afterEffect">
                                  <p:stCondLst>
                                    <p:cond delay="500"/>
                                  </p:stCondLst>
                                  <p:childTnLst>
                                    <p:set>
                                      <p:cBhvr>
                                        <p:cTn id="33" dur="1" fill="hold">
                                          <p:stCondLst>
                                            <p:cond delay="0"/>
                                          </p:stCondLst>
                                        </p:cTn>
                                        <p:tgtEl>
                                          <p:spTgt spid="96"/>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1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4" grpId="0" animBg="1"/>
      <p:bldP spid="105" grpId="0"/>
      <p:bldP spid="110" grpId="0"/>
      <p:bldP spid="35" grpId="0" animBg="1"/>
      <p:bldP spid="33" grpId="0" animBg="1"/>
      <p:bldP spid="34" grpId="0"/>
      <p:bldP spid="31" grpId="0" animBg="1"/>
      <p:bldP spid="3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ZoneTexte 1"/>
          <p:cNvSpPr txBox="1">
            <a:spLocks noChangeArrowheads="1"/>
          </p:cNvSpPr>
          <p:nvPr/>
        </p:nvSpPr>
        <p:spPr bwMode="auto">
          <a:xfrm rot="5400000">
            <a:off x="4914106" y="3274219"/>
            <a:ext cx="3554413" cy="2847975"/>
          </a:xfrm>
          <a:prstGeom prst="rect">
            <a:avLst/>
          </a:prstGeom>
          <a:solidFill>
            <a:schemeClr val="bg1">
              <a:lumMod val="95000"/>
            </a:schemeClr>
          </a:solidFill>
          <a:ln w="9525">
            <a:noFill/>
            <a:miter lim="800000"/>
            <a:headEnd/>
            <a:tailEnd/>
          </a:ln>
        </p:spPr>
        <p:txBody>
          <a:bodyPr anchor="ctr"/>
          <a:lstStyle/>
          <a:p>
            <a:pPr algn="ctr" eaLnBrk="1" hangingPunct="1">
              <a:lnSpc>
                <a:spcPct val="150000"/>
              </a:lnSpc>
              <a:defRPr/>
            </a:pPr>
            <a:r>
              <a:rPr lang="fr-FR" sz="1400" dirty="0">
                <a:latin typeface="Calibri" panose="020F0502020204030204" pitchFamily="34" charset="0"/>
                <a:cs typeface="Arial" charset="0"/>
              </a:rPr>
              <a:t>VERSO DE LA ZONE DE STOCKAGE</a:t>
            </a:r>
          </a:p>
          <a:p>
            <a:pPr algn="ctr" eaLnBrk="1" hangingPunct="1">
              <a:lnSpc>
                <a:spcPct val="150000"/>
              </a:lnSpc>
              <a:defRPr/>
            </a:pPr>
            <a:r>
              <a:rPr lang="fr-FR" sz="1400" dirty="0">
                <a:latin typeface="Calibri" panose="020F0502020204030204" pitchFamily="34" charset="0"/>
                <a:cs typeface="Arial" charset="0"/>
              </a:rPr>
              <a:t>Si vous avez besoin d’une Zone de stockage,</a:t>
            </a:r>
            <a:br>
              <a:rPr lang="fr-FR" sz="1400" dirty="0">
                <a:latin typeface="Calibri" panose="020F0502020204030204" pitchFamily="34" charset="0"/>
                <a:cs typeface="Arial" charset="0"/>
              </a:rPr>
            </a:br>
            <a:r>
              <a:rPr lang="fr-FR" sz="1400" dirty="0">
                <a:latin typeface="Calibri" panose="020F0502020204030204" pitchFamily="34" charset="0"/>
                <a:cs typeface="Arial" charset="0"/>
              </a:rPr>
              <a:t>retournez cette carte</a:t>
            </a:r>
            <a:br>
              <a:rPr lang="fr-FR" sz="1400" dirty="0">
                <a:latin typeface="Calibri" panose="020F0502020204030204" pitchFamily="34" charset="0"/>
                <a:cs typeface="Arial" charset="0"/>
              </a:rPr>
            </a:br>
            <a:r>
              <a:rPr lang="fr-FR" sz="1400" dirty="0">
                <a:latin typeface="Calibri" panose="020F0502020204030204" pitchFamily="34" charset="0"/>
                <a:cs typeface="Arial" charset="0"/>
              </a:rPr>
              <a:t>En fin de production, le nombre de cartes retournées permettra de connaître le stock maximum.</a:t>
            </a:r>
          </a:p>
        </p:txBody>
      </p:sp>
      <p:grpSp>
        <p:nvGrpSpPr>
          <p:cNvPr id="40" name="Groupe 39"/>
          <p:cNvGrpSpPr>
            <a:grpSpLocks/>
          </p:cNvGrpSpPr>
          <p:nvPr/>
        </p:nvGrpSpPr>
        <p:grpSpPr bwMode="auto">
          <a:xfrm>
            <a:off x="1965325" y="2933700"/>
            <a:ext cx="2838450" cy="3521075"/>
            <a:chOff x="4940489" y="2947916"/>
            <a:chExt cx="2838734" cy="3521123"/>
          </a:xfrm>
        </p:grpSpPr>
        <p:sp>
          <p:nvSpPr>
            <p:cNvPr id="89137" name="Rectangle 38"/>
            <p:cNvSpPr>
              <a:spLocks noChangeArrowheads="1"/>
            </p:cNvSpPr>
            <p:nvPr/>
          </p:nvSpPr>
          <p:spPr bwMode="auto">
            <a:xfrm>
              <a:off x="4940489" y="2947916"/>
              <a:ext cx="2838734" cy="3521123"/>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8913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809" y="3002508"/>
              <a:ext cx="2539160" cy="3439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9092" name="Titre 1"/>
          <p:cNvSpPr>
            <a:spLocks noGrp="1"/>
          </p:cNvSpPr>
          <p:nvPr>
            <p:ph type="title"/>
          </p:nvPr>
        </p:nvSpPr>
        <p:spPr/>
        <p:txBody>
          <a:bodyPr/>
          <a:lstStyle/>
          <a:p>
            <a:r>
              <a:rPr lang="fr-FR" altLang="fr-FR"/>
              <a:t>La mesure des stocks</a:t>
            </a:r>
          </a:p>
        </p:txBody>
      </p:sp>
      <p:sp>
        <p:nvSpPr>
          <p:cNvPr id="8909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8909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39</a:t>
            </a:fld>
            <a:endParaRPr lang="fr-FR" altLang="fr-FR" dirty="0">
              <a:latin typeface="Calibri" panose="020F0502020204030204" pitchFamily="34" charset="0"/>
            </a:endParaRPr>
          </a:p>
        </p:txBody>
      </p:sp>
      <p:pic>
        <p:nvPicPr>
          <p:cNvPr id="4659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8" y="606425"/>
            <a:ext cx="9018587" cy="218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ZoneTexte 21"/>
          <p:cNvSpPr txBox="1">
            <a:spLocks noChangeArrowheads="1"/>
          </p:cNvSpPr>
          <p:nvPr/>
        </p:nvSpPr>
        <p:spPr bwMode="auto">
          <a:xfrm>
            <a:off x="2109788" y="2016125"/>
            <a:ext cx="731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b="1" dirty="0">
                <a:solidFill>
                  <a:srgbClr val="FF0000"/>
                </a:solidFill>
                <a:latin typeface="Calibri" panose="020F0502020204030204" pitchFamily="34" charset="0"/>
              </a:rPr>
              <a:t>4</a:t>
            </a:r>
          </a:p>
        </p:txBody>
      </p:sp>
      <p:grpSp>
        <p:nvGrpSpPr>
          <p:cNvPr id="23" name="Groupe 25"/>
          <p:cNvGrpSpPr>
            <a:grpSpLocks/>
          </p:cNvGrpSpPr>
          <p:nvPr/>
        </p:nvGrpSpPr>
        <p:grpSpPr bwMode="auto">
          <a:xfrm>
            <a:off x="2954338" y="4772025"/>
            <a:ext cx="1004887" cy="1684338"/>
            <a:chOff x="3698875" y="1312524"/>
            <a:chExt cx="1571625" cy="2636255"/>
          </a:xfrm>
        </p:grpSpPr>
        <p:sp>
          <p:nvSpPr>
            <p:cNvPr id="24" name="Rectangle 23"/>
            <p:cNvSpPr/>
            <p:nvPr/>
          </p:nvSpPr>
          <p:spPr>
            <a:xfrm>
              <a:off x="3793222" y="1347310"/>
              <a:ext cx="1258790" cy="2601469"/>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89133"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45</a:t>
              </a:r>
            </a:p>
          </p:txBody>
        </p:sp>
        <p:sp>
          <p:nvSpPr>
            <p:cNvPr id="26" name="Étoile à 5 branches 25"/>
            <p:cNvSpPr/>
            <p:nvPr/>
          </p:nvSpPr>
          <p:spPr bwMode="auto">
            <a:xfrm>
              <a:off x="4103574" y="1690197"/>
              <a:ext cx="720018" cy="685774"/>
            </a:xfrm>
            <a:prstGeom prst="star5">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7" name="Triangle isocèle 26"/>
            <p:cNvSpPr/>
            <p:nvPr/>
          </p:nvSpPr>
          <p:spPr bwMode="auto">
            <a:xfrm>
              <a:off x="4155714" y="3250581"/>
              <a:ext cx="615740" cy="467121"/>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8" name="AutoShape 34"/>
            <p:cNvSpPr>
              <a:spLocks noChangeArrowheads="1"/>
            </p:cNvSpPr>
            <p:nvPr/>
          </p:nvSpPr>
          <p:spPr bwMode="auto">
            <a:xfrm>
              <a:off x="4160680" y="2577231"/>
              <a:ext cx="561118" cy="477060"/>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47" name="Groupe 25"/>
          <p:cNvGrpSpPr>
            <a:grpSpLocks/>
          </p:cNvGrpSpPr>
          <p:nvPr/>
        </p:nvGrpSpPr>
        <p:grpSpPr bwMode="auto">
          <a:xfrm>
            <a:off x="2068513" y="4762500"/>
            <a:ext cx="1004887" cy="1685925"/>
            <a:chOff x="3698875" y="1312524"/>
            <a:chExt cx="1571625" cy="2636255"/>
          </a:xfrm>
        </p:grpSpPr>
        <p:sp>
          <p:nvSpPr>
            <p:cNvPr id="48" name="Rectangle 47"/>
            <p:cNvSpPr/>
            <p:nvPr/>
          </p:nvSpPr>
          <p:spPr>
            <a:xfrm>
              <a:off x="3793222" y="1347277"/>
              <a:ext cx="1258790" cy="260150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89128"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47</a:t>
              </a:r>
            </a:p>
          </p:txBody>
        </p:sp>
        <p:sp>
          <p:nvSpPr>
            <p:cNvPr id="50" name="Étoile à 5 branches 49"/>
            <p:cNvSpPr/>
            <p:nvPr/>
          </p:nvSpPr>
          <p:spPr bwMode="auto">
            <a:xfrm>
              <a:off x="4103574" y="1689841"/>
              <a:ext cx="720018" cy="685128"/>
            </a:xfrm>
            <a:prstGeom prst="star5">
              <a:avLst/>
            </a:prstGeom>
            <a:solidFill>
              <a:srgbClr val="92D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1" name="Triangle isocèle 50"/>
            <p:cNvSpPr/>
            <p:nvPr/>
          </p:nvSpPr>
          <p:spPr bwMode="auto">
            <a:xfrm>
              <a:off x="4155714" y="3251240"/>
              <a:ext cx="615740" cy="466682"/>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2" name="AutoShape 34"/>
            <p:cNvSpPr>
              <a:spLocks noChangeArrowheads="1"/>
            </p:cNvSpPr>
            <p:nvPr/>
          </p:nvSpPr>
          <p:spPr bwMode="auto">
            <a:xfrm>
              <a:off x="4160680" y="2576041"/>
              <a:ext cx="561118" cy="479093"/>
            </a:xfrm>
            <a:prstGeom prst="plus">
              <a:avLst/>
            </a:prstGeom>
            <a:solidFill>
              <a:srgbClr val="FFCC99"/>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53" name="Groupe 25"/>
          <p:cNvGrpSpPr>
            <a:grpSpLocks/>
          </p:cNvGrpSpPr>
          <p:nvPr/>
        </p:nvGrpSpPr>
        <p:grpSpPr bwMode="auto">
          <a:xfrm>
            <a:off x="2941638" y="2971800"/>
            <a:ext cx="1004887" cy="1685925"/>
            <a:chOff x="3698875" y="1312524"/>
            <a:chExt cx="1571625" cy="2636255"/>
          </a:xfrm>
        </p:grpSpPr>
        <p:sp>
          <p:nvSpPr>
            <p:cNvPr id="54" name="Rectangle 53"/>
            <p:cNvSpPr/>
            <p:nvPr/>
          </p:nvSpPr>
          <p:spPr>
            <a:xfrm>
              <a:off x="3793222" y="1347277"/>
              <a:ext cx="1258790" cy="260150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89123"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48</a:t>
              </a:r>
            </a:p>
          </p:txBody>
        </p:sp>
        <p:sp>
          <p:nvSpPr>
            <p:cNvPr id="56" name="Étoile à 5 branches 55"/>
            <p:cNvSpPr/>
            <p:nvPr/>
          </p:nvSpPr>
          <p:spPr bwMode="auto">
            <a:xfrm>
              <a:off x="4103574" y="1689841"/>
              <a:ext cx="720018" cy="685128"/>
            </a:xfrm>
            <a:prstGeom prst="star5">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7" name="Rectangle 56"/>
            <p:cNvSpPr/>
            <p:nvPr/>
          </p:nvSpPr>
          <p:spPr bwMode="auto">
            <a:xfrm>
              <a:off x="4155714" y="3345569"/>
              <a:ext cx="615740" cy="37235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8" name="AutoShape 34"/>
            <p:cNvSpPr>
              <a:spLocks noChangeArrowheads="1"/>
            </p:cNvSpPr>
            <p:nvPr/>
          </p:nvSpPr>
          <p:spPr bwMode="auto">
            <a:xfrm>
              <a:off x="4160680" y="2576041"/>
              <a:ext cx="561118" cy="479093"/>
            </a:xfrm>
            <a:prstGeom prst="plus">
              <a:avLst/>
            </a:prstGeom>
            <a:solidFill>
              <a:srgbClr val="92D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59" name="Groupe 25"/>
          <p:cNvGrpSpPr>
            <a:grpSpLocks/>
          </p:cNvGrpSpPr>
          <p:nvPr/>
        </p:nvGrpSpPr>
        <p:grpSpPr bwMode="auto">
          <a:xfrm>
            <a:off x="2060575" y="2987675"/>
            <a:ext cx="1004888" cy="1685925"/>
            <a:chOff x="3698875" y="1312524"/>
            <a:chExt cx="1571625" cy="2636255"/>
          </a:xfrm>
        </p:grpSpPr>
        <p:sp>
          <p:nvSpPr>
            <p:cNvPr id="60" name="Rectangle 59"/>
            <p:cNvSpPr/>
            <p:nvPr/>
          </p:nvSpPr>
          <p:spPr>
            <a:xfrm>
              <a:off x="3793222" y="1347277"/>
              <a:ext cx="1258790" cy="260150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89118"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50</a:t>
              </a:r>
            </a:p>
          </p:txBody>
        </p:sp>
        <p:sp>
          <p:nvSpPr>
            <p:cNvPr id="62" name="Organigramme : Bande perforée 61"/>
            <p:cNvSpPr/>
            <p:nvPr/>
          </p:nvSpPr>
          <p:spPr bwMode="auto">
            <a:xfrm>
              <a:off x="4103575" y="1818923"/>
              <a:ext cx="720017" cy="352494"/>
            </a:xfrm>
            <a:prstGeom prst="flowChartPunchedTape">
              <a:avLst/>
            </a:prstGeom>
            <a:solidFill>
              <a:srgbClr val="0066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3" name="Triangle isocèle 62"/>
            <p:cNvSpPr/>
            <p:nvPr/>
          </p:nvSpPr>
          <p:spPr bwMode="auto">
            <a:xfrm>
              <a:off x="4155714" y="3251240"/>
              <a:ext cx="615739" cy="466682"/>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4" name="AutoShape 34"/>
            <p:cNvSpPr>
              <a:spLocks noChangeArrowheads="1"/>
            </p:cNvSpPr>
            <p:nvPr/>
          </p:nvSpPr>
          <p:spPr bwMode="auto">
            <a:xfrm>
              <a:off x="4160679" y="2576041"/>
              <a:ext cx="561117" cy="479093"/>
            </a:xfrm>
            <a:prstGeom prst="plus">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41" name="Groupe 40"/>
          <p:cNvGrpSpPr>
            <a:grpSpLocks/>
          </p:cNvGrpSpPr>
          <p:nvPr/>
        </p:nvGrpSpPr>
        <p:grpSpPr bwMode="auto">
          <a:xfrm>
            <a:off x="5281613" y="2947988"/>
            <a:ext cx="2838450" cy="3521075"/>
            <a:chOff x="4940489" y="2947916"/>
            <a:chExt cx="2838734" cy="3521123"/>
          </a:xfrm>
        </p:grpSpPr>
        <p:sp>
          <p:nvSpPr>
            <p:cNvPr id="89115" name="Rectangle 41"/>
            <p:cNvSpPr>
              <a:spLocks noChangeArrowheads="1"/>
            </p:cNvSpPr>
            <p:nvPr/>
          </p:nvSpPr>
          <p:spPr bwMode="auto">
            <a:xfrm>
              <a:off x="4940489" y="2947916"/>
              <a:ext cx="2838734" cy="3521123"/>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8911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809" y="3002508"/>
              <a:ext cx="2539160" cy="3439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 name="Groupe 25"/>
          <p:cNvGrpSpPr>
            <a:grpSpLocks/>
          </p:cNvGrpSpPr>
          <p:nvPr/>
        </p:nvGrpSpPr>
        <p:grpSpPr bwMode="auto">
          <a:xfrm>
            <a:off x="5389563" y="3005138"/>
            <a:ext cx="1004887" cy="1685925"/>
            <a:chOff x="3698875" y="1312524"/>
            <a:chExt cx="1571625" cy="2636255"/>
          </a:xfrm>
        </p:grpSpPr>
        <p:sp>
          <p:nvSpPr>
            <p:cNvPr id="45" name="Rectangle 44"/>
            <p:cNvSpPr/>
            <p:nvPr/>
          </p:nvSpPr>
          <p:spPr>
            <a:xfrm>
              <a:off x="3793222" y="1347277"/>
              <a:ext cx="1258790" cy="260150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89111"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47</a:t>
              </a:r>
            </a:p>
          </p:txBody>
        </p:sp>
        <p:sp>
          <p:nvSpPr>
            <p:cNvPr id="65" name="Étoile à 5 branches 64"/>
            <p:cNvSpPr/>
            <p:nvPr/>
          </p:nvSpPr>
          <p:spPr bwMode="auto">
            <a:xfrm>
              <a:off x="4103574" y="1689841"/>
              <a:ext cx="720018" cy="685128"/>
            </a:xfrm>
            <a:prstGeom prst="star5">
              <a:avLst/>
            </a:prstGeom>
            <a:solidFill>
              <a:srgbClr val="92D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6" name="Triangle isocèle 65"/>
            <p:cNvSpPr/>
            <p:nvPr/>
          </p:nvSpPr>
          <p:spPr bwMode="auto">
            <a:xfrm>
              <a:off x="4155714" y="3251238"/>
              <a:ext cx="615740" cy="466682"/>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7" name="AutoShape 34"/>
            <p:cNvSpPr>
              <a:spLocks noChangeArrowheads="1"/>
            </p:cNvSpPr>
            <p:nvPr/>
          </p:nvSpPr>
          <p:spPr bwMode="auto">
            <a:xfrm>
              <a:off x="4160680" y="2576039"/>
              <a:ext cx="561118" cy="479094"/>
            </a:xfrm>
            <a:prstGeom prst="plus">
              <a:avLst/>
            </a:prstGeom>
            <a:solidFill>
              <a:srgbClr val="FFCC99"/>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74" name="Groupe 25"/>
          <p:cNvGrpSpPr>
            <a:grpSpLocks/>
          </p:cNvGrpSpPr>
          <p:nvPr/>
        </p:nvGrpSpPr>
        <p:grpSpPr bwMode="auto">
          <a:xfrm>
            <a:off x="5380038" y="4768850"/>
            <a:ext cx="1004887" cy="1685925"/>
            <a:chOff x="3698875" y="1312524"/>
            <a:chExt cx="1571625" cy="2636255"/>
          </a:xfrm>
        </p:grpSpPr>
        <p:sp>
          <p:nvSpPr>
            <p:cNvPr id="75" name="Rectangle 74"/>
            <p:cNvSpPr/>
            <p:nvPr/>
          </p:nvSpPr>
          <p:spPr>
            <a:xfrm>
              <a:off x="3793222" y="1347277"/>
              <a:ext cx="1258790" cy="260150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89106" name="ZoneTexte 146"/>
            <p:cNvSpPr txBox="1">
              <a:spLocks noChangeArrowheads="1"/>
            </p:cNvSpPr>
            <p:nvPr/>
          </p:nvSpPr>
          <p:spPr bwMode="auto">
            <a:xfrm>
              <a:off x="3698875" y="1312524"/>
              <a:ext cx="1571625" cy="44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48</a:t>
              </a:r>
            </a:p>
          </p:txBody>
        </p:sp>
        <p:sp>
          <p:nvSpPr>
            <p:cNvPr id="77" name="Étoile à 5 branches 76"/>
            <p:cNvSpPr/>
            <p:nvPr/>
          </p:nvSpPr>
          <p:spPr bwMode="auto">
            <a:xfrm>
              <a:off x="4103574" y="1689841"/>
              <a:ext cx="720018" cy="685128"/>
            </a:xfrm>
            <a:prstGeom prst="star5">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8" name="Rectangle 77"/>
            <p:cNvSpPr/>
            <p:nvPr/>
          </p:nvSpPr>
          <p:spPr bwMode="auto">
            <a:xfrm>
              <a:off x="4155714" y="3345569"/>
              <a:ext cx="615740" cy="37235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9" name="AutoShape 34"/>
            <p:cNvSpPr>
              <a:spLocks noChangeArrowheads="1"/>
            </p:cNvSpPr>
            <p:nvPr/>
          </p:nvSpPr>
          <p:spPr bwMode="auto">
            <a:xfrm>
              <a:off x="4160680" y="2576041"/>
              <a:ext cx="561118" cy="479093"/>
            </a:xfrm>
            <a:prstGeom prst="plus">
              <a:avLst/>
            </a:prstGeom>
            <a:solidFill>
              <a:srgbClr val="92D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59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re 1"/>
          <p:cNvSpPr>
            <a:spLocks noGrp="1"/>
          </p:cNvSpPr>
          <p:nvPr>
            <p:ph type="title"/>
          </p:nvPr>
        </p:nvSpPr>
        <p:spPr/>
        <p:txBody>
          <a:bodyPr/>
          <a:lstStyle/>
          <a:p>
            <a:r>
              <a:rPr lang="fr-FR" altLang="fr-FR"/>
              <a:t>Recevez le matériel nécessaire à la simulation</a:t>
            </a:r>
          </a:p>
        </p:txBody>
      </p:sp>
      <p:sp>
        <p:nvSpPr>
          <p:cNvPr id="9113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9114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D94726FA-A77F-4724-B098-E24795064D1D}" type="slidenum">
              <a:rPr lang="fr-FR" altLang="fr-FR" smtClean="0">
                <a:latin typeface="Calibri" panose="020F0502020204030204" pitchFamily="34" charset="0"/>
              </a:rPr>
              <a:pPr>
                <a:spcBef>
                  <a:spcPct val="0"/>
                </a:spcBef>
                <a:buFontTx/>
                <a:buNone/>
              </a:pPr>
              <a:t>40</a:t>
            </a:fld>
            <a:endParaRPr lang="fr-FR" altLang="fr-FR" dirty="0">
              <a:latin typeface="Calibri" panose="020F0502020204030204" pitchFamily="34" charset="0"/>
            </a:endParaRPr>
          </a:p>
        </p:txBody>
      </p:sp>
      <p:grpSp>
        <p:nvGrpSpPr>
          <p:cNvPr id="22" name="Groupe 39"/>
          <p:cNvGrpSpPr>
            <a:grpSpLocks/>
          </p:cNvGrpSpPr>
          <p:nvPr/>
        </p:nvGrpSpPr>
        <p:grpSpPr bwMode="auto">
          <a:xfrm>
            <a:off x="3303588" y="985838"/>
            <a:ext cx="1150937" cy="2022475"/>
            <a:chOff x="5342506" y="635460"/>
            <a:chExt cx="1001755" cy="1760246"/>
          </a:xfrm>
        </p:grpSpPr>
        <p:grpSp>
          <p:nvGrpSpPr>
            <p:cNvPr id="91173" name="Groupe 37"/>
            <p:cNvGrpSpPr>
              <a:grpSpLocks/>
            </p:cNvGrpSpPr>
            <p:nvPr/>
          </p:nvGrpSpPr>
          <p:grpSpPr bwMode="auto">
            <a:xfrm>
              <a:off x="5482734" y="635460"/>
              <a:ext cx="772935" cy="1190649"/>
              <a:chOff x="5572886" y="841522"/>
              <a:chExt cx="772935" cy="1190649"/>
            </a:xfrm>
          </p:grpSpPr>
          <p:pic>
            <p:nvPicPr>
              <p:cNvPr id="911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4186" y="841522"/>
                <a:ext cx="531635" cy="949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7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2586" y="955822"/>
                <a:ext cx="531635" cy="949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886" y="1082822"/>
                <a:ext cx="531635" cy="949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174" name="ZoneTexte 36"/>
            <p:cNvSpPr txBox="1">
              <a:spLocks noChangeArrowheads="1"/>
            </p:cNvSpPr>
            <p:nvPr/>
          </p:nvSpPr>
          <p:spPr bwMode="auto">
            <a:xfrm>
              <a:off x="5342506" y="1833598"/>
              <a:ext cx="1001755" cy="56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OF</a:t>
              </a:r>
            </a:p>
            <a:p>
              <a:pPr algn="ctr" eaLnBrk="1" hangingPunct="1">
                <a:spcBef>
                  <a:spcPct val="0"/>
                </a:spcBef>
                <a:buFontTx/>
                <a:buNone/>
              </a:pPr>
              <a:r>
                <a:rPr lang="fr-FR" altLang="fr-FR" sz="1800" dirty="0">
                  <a:latin typeface="Calibri" panose="020F0502020204030204" pitchFamily="34" charset="0"/>
                </a:rPr>
                <a:t>en-cours</a:t>
              </a:r>
            </a:p>
          </p:txBody>
        </p:sp>
      </p:grpSp>
      <p:grpSp>
        <p:nvGrpSpPr>
          <p:cNvPr id="63" name="Groupe 62"/>
          <p:cNvGrpSpPr>
            <a:grpSpLocks/>
          </p:cNvGrpSpPr>
          <p:nvPr/>
        </p:nvGrpSpPr>
        <p:grpSpPr bwMode="auto">
          <a:xfrm>
            <a:off x="4989513" y="1257300"/>
            <a:ext cx="2032000" cy="1341438"/>
            <a:chOff x="6346408" y="2568438"/>
            <a:chExt cx="2032572" cy="1341793"/>
          </a:xfrm>
        </p:grpSpPr>
        <p:pic>
          <p:nvPicPr>
            <p:cNvPr id="9117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8112475">
              <a:off x="6801150" y="2568438"/>
              <a:ext cx="1000286" cy="1119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72" name="ZoneTexte 59"/>
            <p:cNvSpPr txBox="1">
              <a:spLocks noChangeArrowheads="1"/>
            </p:cNvSpPr>
            <p:nvPr/>
          </p:nvSpPr>
          <p:spPr bwMode="auto">
            <a:xfrm>
              <a:off x="6346408" y="3263900"/>
              <a:ext cx="20325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des surligneurs</a:t>
              </a:r>
              <a:br>
                <a:rPr lang="fr-FR" altLang="fr-FR" sz="1800" dirty="0">
                  <a:latin typeface="Calibri" panose="020F0502020204030204" pitchFamily="34" charset="0"/>
                </a:rPr>
              </a:br>
              <a:r>
                <a:rPr lang="fr-FR" altLang="fr-FR" sz="1800" dirty="0">
                  <a:latin typeface="Calibri" panose="020F0502020204030204" pitchFamily="34" charset="0"/>
                </a:rPr>
                <a:t> pour commencer</a:t>
              </a:r>
            </a:p>
          </p:txBody>
        </p:sp>
      </p:grpSp>
      <p:sp>
        <p:nvSpPr>
          <p:cNvPr id="56" name="ZoneTexte 55"/>
          <p:cNvSpPr txBox="1">
            <a:spLocks noChangeArrowheads="1"/>
          </p:cNvSpPr>
          <p:nvPr/>
        </p:nvSpPr>
        <p:spPr bwMode="auto">
          <a:xfrm>
            <a:off x="665163" y="2524125"/>
            <a:ext cx="2309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Zones de stockage</a:t>
            </a:r>
          </a:p>
        </p:txBody>
      </p:sp>
      <p:grpSp>
        <p:nvGrpSpPr>
          <p:cNvPr id="49" name="Groupe 48"/>
          <p:cNvGrpSpPr>
            <a:grpSpLocks/>
          </p:cNvGrpSpPr>
          <p:nvPr/>
        </p:nvGrpSpPr>
        <p:grpSpPr bwMode="auto">
          <a:xfrm>
            <a:off x="982663" y="620713"/>
            <a:ext cx="1514475" cy="1879600"/>
            <a:chOff x="982639" y="768607"/>
            <a:chExt cx="1514901" cy="1879060"/>
          </a:xfrm>
        </p:grpSpPr>
        <p:sp>
          <p:nvSpPr>
            <p:cNvPr id="91169" name="Rectangle 34"/>
            <p:cNvSpPr>
              <a:spLocks noChangeArrowheads="1"/>
            </p:cNvSpPr>
            <p:nvPr/>
          </p:nvSpPr>
          <p:spPr bwMode="auto">
            <a:xfrm>
              <a:off x="982639" y="768607"/>
              <a:ext cx="1514901" cy="1879060"/>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91170" name="Pictur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2324" y="797740"/>
              <a:ext cx="1355032" cy="1835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3" name="Groupe 52"/>
          <p:cNvGrpSpPr>
            <a:grpSpLocks/>
          </p:cNvGrpSpPr>
          <p:nvPr/>
        </p:nvGrpSpPr>
        <p:grpSpPr bwMode="auto">
          <a:xfrm>
            <a:off x="5391150" y="3513138"/>
            <a:ext cx="4284663" cy="2998787"/>
            <a:chOff x="5391733" y="3512449"/>
            <a:chExt cx="4284696" cy="2999535"/>
          </a:xfrm>
        </p:grpSpPr>
        <p:grpSp>
          <p:nvGrpSpPr>
            <p:cNvPr id="91158" name="Groupe 47"/>
            <p:cNvGrpSpPr>
              <a:grpSpLocks/>
            </p:cNvGrpSpPr>
            <p:nvPr/>
          </p:nvGrpSpPr>
          <p:grpSpPr bwMode="auto">
            <a:xfrm>
              <a:off x="5391733" y="3767123"/>
              <a:ext cx="4284696" cy="2505349"/>
              <a:chOff x="5297604" y="3794017"/>
              <a:chExt cx="4284696" cy="2505349"/>
            </a:xfrm>
          </p:grpSpPr>
          <p:sp>
            <p:nvSpPr>
              <p:cNvPr id="91163" name="ZoneTexte 65"/>
              <p:cNvSpPr txBox="1">
                <a:spLocks noChangeArrowheads="1"/>
              </p:cNvSpPr>
              <p:nvPr/>
            </p:nvSpPr>
            <p:spPr bwMode="auto">
              <a:xfrm>
                <a:off x="5392422" y="5068547"/>
                <a:ext cx="16771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Fiche de rôle</a:t>
                </a:r>
              </a:p>
            </p:txBody>
          </p:sp>
          <p:pic>
            <p:nvPicPr>
              <p:cNvPr id="91164" name="Picture 46" descr="TIP3fab 7"/>
              <p:cNvPicPr>
                <a:picLocks noChangeAspect="1" noChangeArrowheads="1"/>
              </p:cNvPicPr>
              <p:nvPr/>
            </p:nvPicPr>
            <p:blipFill>
              <a:blip r:embed="rId6">
                <a:extLst>
                  <a:ext uri="{28A0092B-C50C-407E-A947-70E740481C1C}">
                    <a14:useLocalDpi xmlns:a14="http://schemas.microsoft.com/office/drawing/2010/main" val="0"/>
                  </a:ext>
                </a:extLst>
              </a:blip>
              <a:srcRect l="6909" t="46571" r="26497" b="12415"/>
              <a:stretch>
                <a:fillRect/>
              </a:stretch>
            </p:blipFill>
            <p:spPr bwMode="auto">
              <a:xfrm>
                <a:off x="6892430" y="5676553"/>
                <a:ext cx="845861" cy="622813"/>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91165" name="Groupe 44"/>
              <p:cNvGrpSpPr>
                <a:grpSpLocks/>
              </p:cNvGrpSpPr>
              <p:nvPr/>
            </p:nvGrpSpPr>
            <p:grpSpPr bwMode="auto">
              <a:xfrm>
                <a:off x="5297604" y="3794017"/>
                <a:ext cx="1937982" cy="1244273"/>
                <a:chOff x="5434084" y="3794017"/>
                <a:chExt cx="1937982" cy="1244273"/>
              </a:xfrm>
            </p:grpSpPr>
            <p:sp>
              <p:nvSpPr>
                <p:cNvPr id="91167" name="Rectangle 76"/>
                <p:cNvSpPr>
                  <a:spLocks noChangeArrowheads="1"/>
                </p:cNvSpPr>
                <p:nvPr/>
              </p:nvSpPr>
              <p:spPr bwMode="auto">
                <a:xfrm>
                  <a:off x="5434084" y="3794017"/>
                  <a:ext cx="1937982" cy="1244273"/>
                </a:xfrm>
                <a:prstGeom prst="rect">
                  <a:avLst/>
                </a:prstGeom>
                <a:solidFill>
                  <a:srgbClr val="FFFFB7"/>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91168" name="Picture 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50993" y="3875965"/>
                  <a:ext cx="1628978" cy="1143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166" name="ZoneTexte 45"/>
              <p:cNvSpPr txBox="1">
                <a:spLocks noChangeArrowheads="1"/>
              </p:cNvSpPr>
              <p:nvPr/>
            </p:nvSpPr>
            <p:spPr bwMode="auto">
              <a:xfrm>
                <a:off x="7301552" y="5027603"/>
                <a:ext cx="22807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Zone de stockage avant contrôle</a:t>
                </a:r>
              </a:p>
            </p:txBody>
          </p:sp>
        </p:grpSp>
        <p:grpSp>
          <p:nvGrpSpPr>
            <p:cNvPr id="91159" name="Groupe 49"/>
            <p:cNvGrpSpPr>
              <a:grpSpLocks/>
            </p:cNvGrpSpPr>
            <p:nvPr/>
          </p:nvGrpSpPr>
          <p:grpSpPr bwMode="auto">
            <a:xfrm>
              <a:off x="7501551" y="3512449"/>
              <a:ext cx="1879060" cy="1514901"/>
              <a:chOff x="7407422" y="3165852"/>
              <a:chExt cx="1879060" cy="1514901"/>
            </a:xfrm>
          </p:grpSpPr>
          <p:sp>
            <p:nvSpPr>
              <p:cNvPr id="91161" name="Rectangle 41"/>
              <p:cNvSpPr>
                <a:spLocks noChangeArrowheads="1"/>
              </p:cNvSpPr>
              <p:nvPr/>
            </p:nvSpPr>
            <p:spPr bwMode="auto">
              <a:xfrm rot="5400000">
                <a:off x="7589501" y="2983773"/>
                <a:ext cx="1514901" cy="1879060"/>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91162" name="Picture 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5400000">
                <a:off x="7707468" y="3077479"/>
                <a:ext cx="1296000" cy="181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160" name="ZoneTexte 38"/>
            <p:cNvSpPr txBox="1">
              <a:spLocks noChangeArrowheads="1"/>
            </p:cNvSpPr>
            <p:nvPr/>
          </p:nvSpPr>
          <p:spPr bwMode="auto">
            <a:xfrm>
              <a:off x="5976516" y="6142652"/>
              <a:ext cx="2634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Contrôle Qualité</a:t>
              </a:r>
            </a:p>
          </p:txBody>
        </p:sp>
      </p:grpSp>
      <p:grpSp>
        <p:nvGrpSpPr>
          <p:cNvPr id="52" name="Groupe 51"/>
          <p:cNvGrpSpPr>
            <a:grpSpLocks/>
          </p:cNvGrpSpPr>
          <p:nvPr/>
        </p:nvGrpSpPr>
        <p:grpSpPr bwMode="auto">
          <a:xfrm>
            <a:off x="292100" y="3414713"/>
            <a:ext cx="4097338" cy="3073400"/>
            <a:chOff x="291482" y="3415476"/>
            <a:chExt cx="4098668" cy="3073349"/>
          </a:xfrm>
        </p:grpSpPr>
        <p:pic>
          <p:nvPicPr>
            <p:cNvPr id="91149" name="Picture 5"/>
            <p:cNvPicPr>
              <a:picLocks noChangeAspect="1" noChangeArrowheads="1"/>
            </p:cNvPicPr>
            <p:nvPr/>
          </p:nvPicPr>
          <p:blipFill>
            <a:blip r:embed="rId9">
              <a:lum contrast="30000"/>
              <a:extLst>
                <a:ext uri="{28A0092B-C50C-407E-A947-70E740481C1C}">
                  <a14:useLocalDpi xmlns:a14="http://schemas.microsoft.com/office/drawing/2010/main" val="0"/>
                </a:ext>
              </a:extLst>
            </a:blip>
            <a:srcRect/>
            <a:stretch>
              <a:fillRect/>
            </a:stretch>
          </p:blipFill>
          <p:spPr bwMode="auto">
            <a:xfrm>
              <a:off x="294925" y="5077183"/>
              <a:ext cx="790181" cy="97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50" name="Picture 32" descr="TIP5e¦ütu-fin E¦üTU1"/>
            <p:cNvPicPr>
              <a:picLocks noChangeAspect="1" noChangeArrowheads="1"/>
            </p:cNvPicPr>
            <p:nvPr/>
          </p:nvPicPr>
          <p:blipFill>
            <a:blip r:embed="rId10">
              <a:extLst>
                <a:ext uri="{28A0092B-C50C-407E-A947-70E740481C1C}">
                  <a14:useLocalDpi xmlns:a14="http://schemas.microsoft.com/office/drawing/2010/main" val="0"/>
                </a:ext>
              </a:extLst>
            </a:blip>
            <a:srcRect l="8157" t="25005" r="23033" b="14983"/>
            <a:stretch>
              <a:fillRect/>
            </a:stretch>
          </p:blipFill>
          <p:spPr bwMode="auto">
            <a:xfrm>
              <a:off x="1859437" y="5414904"/>
              <a:ext cx="1002974" cy="897511"/>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1151" name="ZoneTexte 75"/>
            <p:cNvSpPr txBox="1">
              <a:spLocks noChangeArrowheads="1"/>
            </p:cNvSpPr>
            <p:nvPr/>
          </p:nvSpPr>
          <p:spPr bwMode="auto">
            <a:xfrm>
              <a:off x="440878" y="4716718"/>
              <a:ext cx="16771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Fiche de rôle</a:t>
              </a:r>
            </a:p>
          </p:txBody>
        </p:sp>
        <p:grpSp>
          <p:nvGrpSpPr>
            <p:cNvPr id="91152" name="Groupe 39"/>
            <p:cNvGrpSpPr>
              <a:grpSpLocks/>
            </p:cNvGrpSpPr>
            <p:nvPr/>
          </p:nvGrpSpPr>
          <p:grpSpPr bwMode="auto">
            <a:xfrm>
              <a:off x="291482" y="3455833"/>
              <a:ext cx="1937982" cy="1244273"/>
              <a:chOff x="1653654" y="3657539"/>
              <a:chExt cx="1937982" cy="1244273"/>
            </a:xfrm>
          </p:grpSpPr>
          <p:sp>
            <p:nvSpPr>
              <p:cNvPr id="91156" name="Rectangle 32"/>
              <p:cNvSpPr>
                <a:spLocks noChangeArrowheads="1"/>
              </p:cNvSpPr>
              <p:nvPr/>
            </p:nvSpPr>
            <p:spPr bwMode="auto">
              <a:xfrm>
                <a:off x="1653654" y="3657539"/>
                <a:ext cx="1937982" cy="1244273"/>
              </a:xfrm>
              <a:prstGeom prst="rect">
                <a:avLst/>
              </a:prstGeom>
              <a:solidFill>
                <a:srgbClr val="FFFFB7"/>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91157" name="Picture 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675378" y="3710528"/>
                <a:ext cx="1913979" cy="1182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153" name="ZoneTexte 37"/>
            <p:cNvSpPr txBox="1">
              <a:spLocks noChangeArrowheads="1"/>
            </p:cNvSpPr>
            <p:nvPr/>
          </p:nvSpPr>
          <p:spPr bwMode="auto">
            <a:xfrm>
              <a:off x="1125862" y="6119493"/>
              <a:ext cx="26340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Lancement - Découpe</a:t>
              </a:r>
            </a:p>
          </p:txBody>
        </p:sp>
        <p:pic>
          <p:nvPicPr>
            <p:cNvPr id="91154" name="Picture 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446150" y="3415476"/>
              <a:ext cx="1944000" cy="13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5" name="ZoneTexte 42"/>
            <p:cNvSpPr txBox="1">
              <a:spLocks noChangeArrowheads="1"/>
            </p:cNvSpPr>
            <p:nvPr/>
          </p:nvSpPr>
          <p:spPr bwMode="auto">
            <a:xfrm>
              <a:off x="2552066" y="4730165"/>
              <a:ext cx="17913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Planches d’OF</a:t>
              </a:r>
            </a:p>
          </p:txBody>
        </p:sp>
      </p:grpSp>
      <p:sp>
        <p:nvSpPr>
          <p:cNvPr id="51" name="Rectangle à coins arrondis 50"/>
          <p:cNvSpPr>
            <a:spLocks noChangeArrowheads="1"/>
          </p:cNvSpPr>
          <p:nvPr/>
        </p:nvSpPr>
        <p:spPr bwMode="auto">
          <a:xfrm>
            <a:off x="7086600" y="820738"/>
            <a:ext cx="2309813" cy="1274762"/>
          </a:xfrm>
          <a:prstGeom prst="roundRect">
            <a:avLst>
              <a:gd name="adj" fmla="val 16667"/>
            </a:avLst>
          </a:prstGeom>
          <a:solidFill>
            <a:srgbClr val="FFFFB7"/>
          </a:solidFill>
          <a:ln w="9525" algn="ctr">
            <a:solidFill>
              <a:schemeClr val="tx1"/>
            </a:solidFill>
            <a:round/>
            <a:headEnd/>
            <a:tailEnd type="triangle" w="med" len="med"/>
          </a:ln>
        </p:spPr>
        <p:txBody>
          <a:bodyPr lIns="0" tIns="36000" rIns="0" bIns="360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Enlevez de votre table </a:t>
            </a:r>
            <a:r>
              <a:rPr lang="fr-FR" altLang="fr-FR" sz="1600" b="1" dirty="0">
                <a:solidFill>
                  <a:srgbClr val="FF0000"/>
                </a:solidFill>
                <a:latin typeface="Calibri" panose="020F0502020204030204" pitchFamily="34" charset="0"/>
              </a:rPr>
              <a:t>tout ce qui n’est pas indispensable</a:t>
            </a:r>
            <a:r>
              <a:rPr lang="fr-FR" altLang="fr-FR" sz="1600" dirty="0">
                <a:latin typeface="Calibri" panose="020F0502020204030204" pitchFamily="34" charset="0"/>
              </a:rPr>
              <a:t> à la simulation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1"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Titre 1"/>
          <p:cNvSpPr>
            <a:spLocks noGrp="1"/>
          </p:cNvSpPr>
          <p:nvPr>
            <p:ph type="title"/>
          </p:nvPr>
        </p:nvSpPr>
        <p:spPr/>
        <p:txBody>
          <a:bodyPr/>
          <a:lstStyle/>
          <a:p>
            <a:r>
              <a:rPr lang="fr-FR" altLang="fr-FR"/>
              <a:t>Informations relatives aux OF</a:t>
            </a:r>
          </a:p>
        </p:txBody>
      </p:sp>
      <p:sp>
        <p:nvSpPr>
          <p:cNvPr id="93187" name="Espace réservé du contenu 8"/>
          <p:cNvSpPr>
            <a:spLocks noGrp="1"/>
          </p:cNvSpPr>
          <p:nvPr>
            <p:ph idx="1"/>
          </p:nvPr>
        </p:nvSpPr>
        <p:spPr>
          <a:xfrm>
            <a:off x="236538" y="1042988"/>
            <a:ext cx="9137650" cy="5067300"/>
          </a:xfrm>
        </p:spPr>
        <p:txBody>
          <a:bodyPr/>
          <a:lstStyle/>
          <a:p>
            <a:r>
              <a:rPr lang="fr-FR" altLang="fr-FR"/>
              <a:t>À voir en format Commentaires </a:t>
            </a:r>
          </a:p>
        </p:txBody>
      </p:sp>
      <p:sp>
        <p:nvSpPr>
          <p:cNvPr id="9318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9"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41</a:t>
            </a:fld>
            <a:endParaRPr lang="fr-FR" altLang="fr-FR" dirty="0">
              <a:latin typeface="Calibri" panose="020F0502020204030204"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9728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9728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B67821A-E43D-43F5-855C-7D301FDCCFFB}" type="slidenum">
              <a:rPr lang="fr-FR" altLang="fr-FR" smtClean="0">
                <a:latin typeface="Calibri" panose="020F0502020204030204" pitchFamily="34" charset="0"/>
              </a:rPr>
              <a:pPr>
                <a:spcBef>
                  <a:spcPct val="0"/>
                </a:spcBef>
                <a:buFontTx/>
                <a:buNone/>
              </a:pPr>
              <a:t>42</a:t>
            </a:fld>
            <a:endParaRPr lang="fr-FR" altLang="fr-FR" dirty="0">
              <a:latin typeface="Calibri" panose="020F0502020204030204" pitchFamily="34" charset="0"/>
            </a:endParaRPr>
          </a:p>
        </p:txBody>
      </p:sp>
      <p:sp>
        <p:nvSpPr>
          <p:cNvPr id="8" name="Rectangle 7"/>
          <p:cNvSpPr/>
          <p:nvPr/>
        </p:nvSpPr>
        <p:spPr>
          <a:xfrm>
            <a:off x="1323130" y="1997925"/>
            <a:ext cx="7164048" cy="1200329"/>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1. Simulation 1</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ZoneTexte 3"/>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0 min</a:t>
            </a:r>
          </a:p>
        </p:txBody>
      </p:sp>
      <p:sp>
        <p:nvSpPr>
          <p:cNvPr id="7" name="ZoneTexte 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9" name="ZoneTexte 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1" name="ZoneTexte 1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3" name="ZoneTexte 1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5" name="ZoneTexte 1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55" name="ZoneTexte 154"/>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 min</a:t>
            </a:r>
          </a:p>
        </p:txBody>
      </p:sp>
      <p:sp>
        <p:nvSpPr>
          <p:cNvPr id="168" name="ZoneTexte 16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69" name="ZoneTexte 16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70" name="ZoneTexte 16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71" name="ZoneTexte 17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72" name="ZoneTexte 17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74" name="ZoneTexte 173"/>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 min</a:t>
            </a:r>
          </a:p>
        </p:txBody>
      </p:sp>
      <p:sp>
        <p:nvSpPr>
          <p:cNvPr id="175" name="ZoneTexte 17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76" name="ZoneTexte 17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77" name="ZoneTexte 17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78" name="ZoneTexte 17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79" name="ZoneTexte 17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81" name="ZoneTexte 180"/>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3 min</a:t>
            </a:r>
          </a:p>
        </p:txBody>
      </p:sp>
      <p:sp>
        <p:nvSpPr>
          <p:cNvPr id="182" name="ZoneTexte 18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83" name="ZoneTexte 18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84" name="ZoneTexte 18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85" name="ZoneTexte 18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86" name="ZoneTexte 18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88" name="ZoneTexte 187"/>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4 min</a:t>
            </a:r>
          </a:p>
        </p:txBody>
      </p:sp>
      <p:sp>
        <p:nvSpPr>
          <p:cNvPr id="189" name="ZoneTexte 18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90" name="ZoneTexte 18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91" name="ZoneTexte 19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92" name="ZoneTexte 19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93" name="ZoneTexte 19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95" name="ZoneTexte 194"/>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5 min</a:t>
            </a:r>
          </a:p>
        </p:txBody>
      </p:sp>
      <p:sp>
        <p:nvSpPr>
          <p:cNvPr id="196" name="ZoneTexte 19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97" name="ZoneTexte 19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98" name="ZoneTexte 19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99" name="ZoneTexte 19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00" name="ZoneTexte 19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02" name="ZoneTexte 201"/>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6 min</a:t>
            </a:r>
          </a:p>
        </p:txBody>
      </p:sp>
      <p:sp>
        <p:nvSpPr>
          <p:cNvPr id="203" name="ZoneTexte 20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04" name="ZoneTexte 20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05" name="ZoneTexte 20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06" name="ZoneTexte 20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07" name="ZoneTexte 20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09" name="ZoneTexte 208"/>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7 min</a:t>
            </a:r>
          </a:p>
        </p:txBody>
      </p:sp>
      <p:sp>
        <p:nvSpPr>
          <p:cNvPr id="210" name="ZoneTexte 20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11" name="ZoneTexte 21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12" name="ZoneTexte 21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13" name="ZoneTexte 21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14" name="ZoneTexte 21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16" name="ZoneTexte 215"/>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8 min</a:t>
            </a:r>
          </a:p>
        </p:txBody>
      </p:sp>
      <p:sp>
        <p:nvSpPr>
          <p:cNvPr id="217" name="ZoneTexte 21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18" name="ZoneTexte 21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19" name="ZoneTexte 21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20" name="ZoneTexte 21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21" name="ZoneTexte 22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23" name="ZoneTexte 222"/>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9 min</a:t>
            </a:r>
          </a:p>
        </p:txBody>
      </p:sp>
      <p:sp>
        <p:nvSpPr>
          <p:cNvPr id="224" name="ZoneTexte 22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25" name="ZoneTexte 22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26" name="ZoneTexte 22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27" name="ZoneTexte 22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28" name="ZoneTexte 22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30" name="ZoneTexte 229"/>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10 min</a:t>
            </a:r>
          </a:p>
        </p:txBody>
      </p:sp>
      <p:sp>
        <p:nvSpPr>
          <p:cNvPr id="231" name="ZoneTexte 23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32" name="ZoneTexte 23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33" name="ZoneTexte 23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34" name="ZoneTexte 23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35" name="ZoneTexte 23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37" name="ZoneTexte 236"/>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11 min</a:t>
            </a:r>
          </a:p>
        </p:txBody>
      </p:sp>
      <p:sp>
        <p:nvSpPr>
          <p:cNvPr id="238" name="ZoneTexte 23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39" name="ZoneTexte 23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40" name="ZoneTexte 23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41" name="ZoneTexte 24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42" name="ZoneTexte 24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44" name="ZoneTexte 243"/>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12 min</a:t>
            </a:r>
          </a:p>
        </p:txBody>
      </p:sp>
      <p:sp>
        <p:nvSpPr>
          <p:cNvPr id="245" name="ZoneTexte 24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46" name="ZoneTexte 24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47" name="ZoneTexte 24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48" name="ZoneTexte 24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49" name="ZoneTexte 24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51" name="ZoneTexte 250"/>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13 min</a:t>
            </a:r>
          </a:p>
        </p:txBody>
      </p:sp>
      <p:sp>
        <p:nvSpPr>
          <p:cNvPr id="252" name="ZoneTexte 25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53" name="ZoneTexte 25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54" name="ZoneTexte 25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55" name="ZoneTexte 25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56" name="ZoneTexte 25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58" name="ZoneTexte 257"/>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14 min</a:t>
            </a:r>
          </a:p>
        </p:txBody>
      </p:sp>
      <p:sp>
        <p:nvSpPr>
          <p:cNvPr id="259" name="ZoneTexte 25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60" name="ZoneTexte 25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61" name="ZoneTexte 26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62" name="ZoneTexte 26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63" name="ZoneTexte 26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65" name="ZoneTexte 264"/>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15 min</a:t>
            </a:r>
          </a:p>
        </p:txBody>
      </p:sp>
      <p:sp>
        <p:nvSpPr>
          <p:cNvPr id="266" name="ZoneTexte 26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67" name="ZoneTexte 26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68" name="ZoneTexte 26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69" name="ZoneTexte 26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70" name="ZoneTexte 26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72" name="ZoneTexte 271"/>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16 min</a:t>
            </a:r>
          </a:p>
        </p:txBody>
      </p:sp>
      <p:sp>
        <p:nvSpPr>
          <p:cNvPr id="273" name="ZoneTexte 27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74" name="ZoneTexte 27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75" name="ZoneTexte 27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76" name="ZoneTexte 27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77" name="ZoneTexte 27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79" name="ZoneTexte 278"/>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17 min</a:t>
            </a:r>
          </a:p>
        </p:txBody>
      </p:sp>
      <p:sp>
        <p:nvSpPr>
          <p:cNvPr id="280" name="ZoneTexte 27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81" name="ZoneTexte 28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82" name="ZoneTexte 28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83" name="ZoneTexte 28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84" name="ZoneTexte 28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86" name="ZoneTexte 285"/>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18 min</a:t>
            </a:r>
          </a:p>
        </p:txBody>
      </p:sp>
      <p:sp>
        <p:nvSpPr>
          <p:cNvPr id="287" name="ZoneTexte 28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88" name="ZoneTexte 28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89" name="ZoneTexte 28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90" name="ZoneTexte 28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91" name="ZoneTexte 29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93" name="ZoneTexte 292"/>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19 min</a:t>
            </a:r>
          </a:p>
        </p:txBody>
      </p:sp>
      <p:sp>
        <p:nvSpPr>
          <p:cNvPr id="294" name="ZoneTexte 29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95" name="ZoneTexte 29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96" name="ZoneTexte 29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97" name="ZoneTexte 29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98" name="ZoneTexte 29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00" name="ZoneTexte 299"/>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20 min</a:t>
            </a:r>
          </a:p>
        </p:txBody>
      </p:sp>
      <p:sp>
        <p:nvSpPr>
          <p:cNvPr id="301" name="ZoneTexte 30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02" name="ZoneTexte 30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03" name="ZoneTexte 30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04" name="ZoneTexte 30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05" name="ZoneTexte 30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07" name="ZoneTexte 306"/>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21 min</a:t>
            </a:r>
          </a:p>
        </p:txBody>
      </p:sp>
      <p:sp>
        <p:nvSpPr>
          <p:cNvPr id="308" name="ZoneTexte 30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09" name="ZoneTexte 30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10" name="ZoneTexte 30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11" name="ZoneTexte 31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12" name="ZoneTexte 31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14" name="ZoneTexte 313"/>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22 min</a:t>
            </a:r>
          </a:p>
        </p:txBody>
      </p:sp>
      <p:sp>
        <p:nvSpPr>
          <p:cNvPr id="315" name="ZoneTexte 31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16" name="ZoneTexte 31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17" name="ZoneTexte 31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18" name="ZoneTexte 31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19" name="ZoneTexte 31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21" name="ZoneTexte 320"/>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23 min</a:t>
            </a:r>
          </a:p>
        </p:txBody>
      </p:sp>
      <p:sp>
        <p:nvSpPr>
          <p:cNvPr id="322" name="ZoneTexte 32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23" name="ZoneTexte 32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24" name="ZoneTexte 32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25" name="ZoneTexte 32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26" name="ZoneTexte 32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28" name="ZoneTexte 327"/>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24 min</a:t>
            </a:r>
          </a:p>
        </p:txBody>
      </p:sp>
      <p:sp>
        <p:nvSpPr>
          <p:cNvPr id="329" name="ZoneTexte 32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30" name="ZoneTexte 32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31" name="ZoneTexte 33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32" name="ZoneTexte 33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33" name="ZoneTexte 33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34" name="ZoneTexte 333"/>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25 min</a:t>
            </a:r>
          </a:p>
        </p:txBody>
      </p:sp>
      <p:sp>
        <p:nvSpPr>
          <p:cNvPr id="335" name="ZoneTexte 33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36" name="ZoneTexte 33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37" name="ZoneTexte 33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38" name="ZoneTexte 33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39" name="ZoneTexte 33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40" name="ZoneTexte 339"/>
          <p:cNvSpPr txBox="1">
            <a:spLocks noChangeArrowheads="1"/>
          </p:cNvSpPr>
          <p:nvPr/>
        </p:nvSpPr>
        <p:spPr bwMode="auto">
          <a:xfrm>
            <a:off x="3210757" y="2174875"/>
            <a:ext cx="1411211"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26min</a:t>
            </a:r>
          </a:p>
        </p:txBody>
      </p:sp>
      <p:sp>
        <p:nvSpPr>
          <p:cNvPr id="341" name="ZoneTexte 34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42" name="ZoneTexte 34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43" name="ZoneTexte 34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44" name="ZoneTexte 34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45" name="ZoneTexte 34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46" name="ZoneTexte 345"/>
          <p:cNvSpPr txBox="1">
            <a:spLocks noChangeArrowheads="1"/>
          </p:cNvSpPr>
          <p:nvPr/>
        </p:nvSpPr>
        <p:spPr bwMode="auto">
          <a:xfrm>
            <a:off x="3210757" y="2174875"/>
            <a:ext cx="1411211"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27min</a:t>
            </a:r>
          </a:p>
        </p:txBody>
      </p:sp>
      <p:sp>
        <p:nvSpPr>
          <p:cNvPr id="347" name="ZoneTexte 34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48" name="ZoneTexte 34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49" name="ZoneTexte 34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50" name="ZoneTexte 34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51" name="ZoneTexte 35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52" name="ZoneTexte 351"/>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28 min</a:t>
            </a:r>
          </a:p>
        </p:txBody>
      </p:sp>
      <p:sp>
        <p:nvSpPr>
          <p:cNvPr id="353" name="ZoneTexte 35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54" name="ZoneTexte 35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55" name="ZoneTexte 35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56" name="ZoneTexte 35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57" name="ZoneTexte 35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58" name="ZoneTexte 357"/>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29 min</a:t>
            </a:r>
          </a:p>
        </p:txBody>
      </p:sp>
      <p:sp>
        <p:nvSpPr>
          <p:cNvPr id="359" name="ZoneTexte 35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60" name="ZoneTexte 35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61" name="ZoneTexte 36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62" name="ZoneTexte 36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63" name="ZoneTexte 36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99510" name="ZoneTexte 186"/>
          <p:cNvSpPr txBox="1">
            <a:spLocks noChangeArrowheads="1"/>
          </p:cNvSpPr>
          <p:nvPr/>
        </p:nvSpPr>
        <p:spPr bwMode="auto">
          <a:xfrm>
            <a:off x="2700113" y="1042988"/>
            <a:ext cx="40580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i="1" dirty="0">
                <a:latin typeface="Calibri" panose="020F0502020204030204" pitchFamily="34" charset="0"/>
              </a:rPr>
              <a:t>Cliquez pour lancer le chronométrage</a:t>
            </a:r>
          </a:p>
        </p:txBody>
      </p:sp>
      <p:sp>
        <p:nvSpPr>
          <p:cNvPr id="99512"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87"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43</a:t>
            </a:fld>
            <a:endParaRPr lang="fr-FR" altLang="fr-FR"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0"/>
                                  </p:stCondLst>
                                  <p:childTnLst>
                                    <p:set>
                                      <p:cBhvr>
                                        <p:cTn id="9"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par>
                          <p:cTn id="10" fill="hold" nodeType="afterGroup">
                            <p:stCondLst>
                              <p:cond delay="10000"/>
                            </p:stCondLst>
                            <p:childTnLst>
                              <p:par>
                                <p:cTn id="11" presetID="1" presetClass="entr" presetSubtype="0" fill="hold" grpId="0" nodeType="afterEffect">
                                  <p:stCondLst>
                                    <p:cond delay="10000"/>
                                  </p:stCondLst>
                                  <p:childTnLst>
                                    <p:set>
                                      <p:cBhvr>
                                        <p:cTn id="1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par>
                          <p:cTn id="13" fill="hold" nodeType="afterGroup">
                            <p:stCondLst>
                              <p:cond delay="20000"/>
                            </p:stCondLst>
                            <p:childTnLst>
                              <p:par>
                                <p:cTn id="14" presetID="1" presetClass="entr" presetSubtype="0" fill="hold" grpId="0" nodeType="afterEffect">
                                  <p:stCondLst>
                                    <p:cond delay="10000"/>
                                  </p:stCondLst>
                                  <p:childTnLst>
                                    <p:set>
                                      <p:cBhvr>
                                        <p:cTn id="15"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par>
                          <p:cTn id="16" fill="hold" nodeType="afterGroup">
                            <p:stCondLst>
                              <p:cond delay="30000"/>
                            </p:stCondLst>
                            <p:childTnLst>
                              <p:par>
                                <p:cTn id="17" presetID="1" presetClass="entr" presetSubtype="0" fill="hold" grpId="0" nodeType="afterEffect">
                                  <p:stCondLst>
                                    <p:cond delay="10000"/>
                                  </p:stCondLst>
                                  <p:childTnLst>
                                    <p:set>
                                      <p:cBhvr>
                                        <p:cTn id="18"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19" fill="hold" nodeType="afterGroup">
                            <p:stCondLst>
                              <p:cond delay="40000"/>
                            </p:stCondLst>
                            <p:childTnLst>
                              <p:par>
                                <p:cTn id="20" presetID="1" presetClass="entr" presetSubtype="0" fill="hold" grpId="0" nodeType="afterEffect">
                                  <p:stCondLst>
                                    <p:cond delay="10000"/>
                                  </p:stCondLst>
                                  <p:childTnLst>
                                    <p:set>
                                      <p:cBhvr>
                                        <p:cTn id="21"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par>
                          <p:cTn id="22" fill="hold" nodeType="afterGroup">
                            <p:stCondLst>
                              <p:cond delay="50000"/>
                            </p:stCondLst>
                            <p:childTnLst>
                              <p:par>
                                <p:cTn id="23" presetID="1" presetClass="entr" presetSubtype="0" fill="hold" grpId="0" nodeType="afterEffect">
                                  <p:stCondLst>
                                    <p:cond delay="10000"/>
                                  </p:stCondLst>
                                  <p:childTnLst>
                                    <p:set>
                                      <p:cBhvr>
                                        <p:cTn id="24" dur="1" fill="hold">
                                          <p:stCondLst>
                                            <p:cond delay="0"/>
                                          </p:stCondLst>
                                        </p:cTn>
                                        <p:tgtEl>
                                          <p:spTgt spid="155"/>
                                        </p:tgtEl>
                                        <p:attrNameLst>
                                          <p:attrName>style.visibility</p:attrName>
                                        </p:attrNameLst>
                                      </p:cBhvr>
                                      <p:to>
                                        <p:strVal val="visible"/>
                                      </p:to>
                                    </p:set>
                                  </p:childTnLst>
                                </p:cTn>
                              </p:par>
                            </p:childTnLst>
                          </p:cTn>
                        </p:par>
                        <p:par>
                          <p:cTn id="25" fill="hold" nodeType="afterGroup">
                            <p:stCondLst>
                              <p:cond delay="60000"/>
                            </p:stCondLst>
                            <p:childTnLst>
                              <p:par>
                                <p:cTn id="26" presetID="1" presetClass="entr" presetSubtype="0" fill="hold" grpId="0" nodeType="afterEffect">
                                  <p:stCondLst>
                                    <p:cond delay="10000"/>
                                  </p:stCondLst>
                                  <p:childTnLst>
                                    <p:set>
                                      <p:cBhvr>
                                        <p:cTn id="27" dur="1" fill="hold">
                                          <p:stCondLst>
                                            <p:cond delay="0"/>
                                          </p:stCondLst>
                                        </p:cTn>
                                        <p:tgtEl>
                                          <p:spTgt spid="168"/>
                                        </p:tgtEl>
                                        <p:attrNameLst>
                                          <p:attrName>style.visibility</p:attrName>
                                        </p:attrNameLst>
                                      </p:cBhvr>
                                      <p:to>
                                        <p:strVal val="visible"/>
                                      </p:to>
                                    </p:set>
                                  </p:childTnLst>
                                  <p:subTnLst>
                                    <p:set>
                                      <p:cBhvr override="childStyle">
                                        <p:cTn dur="1" fill="hold" display="0" masterRel="nextClick" afterEffect="1"/>
                                        <p:tgtEl>
                                          <p:spTgt spid="168"/>
                                        </p:tgtEl>
                                        <p:attrNameLst>
                                          <p:attrName>style.visibility</p:attrName>
                                        </p:attrNameLst>
                                      </p:cBhvr>
                                      <p:to>
                                        <p:strVal val="hidden"/>
                                      </p:to>
                                    </p:set>
                                  </p:subTnLst>
                                </p:cTn>
                              </p:par>
                            </p:childTnLst>
                          </p:cTn>
                        </p:par>
                        <p:par>
                          <p:cTn id="28" fill="hold" nodeType="afterGroup">
                            <p:stCondLst>
                              <p:cond delay="70000"/>
                            </p:stCondLst>
                            <p:childTnLst>
                              <p:par>
                                <p:cTn id="29" presetID="1" presetClass="entr" presetSubtype="0" fill="hold" grpId="0" nodeType="afterEffect">
                                  <p:stCondLst>
                                    <p:cond delay="10000"/>
                                  </p:stCondLst>
                                  <p:childTnLst>
                                    <p:set>
                                      <p:cBhvr>
                                        <p:cTn id="30" dur="1" fill="hold">
                                          <p:stCondLst>
                                            <p:cond delay="0"/>
                                          </p:stCondLst>
                                        </p:cTn>
                                        <p:tgtEl>
                                          <p:spTgt spid="169"/>
                                        </p:tgtEl>
                                        <p:attrNameLst>
                                          <p:attrName>style.visibility</p:attrName>
                                        </p:attrNameLst>
                                      </p:cBhvr>
                                      <p:to>
                                        <p:strVal val="visible"/>
                                      </p:to>
                                    </p:set>
                                  </p:childTnLst>
                                  <p:subTnLst>
                                    <p:set>
                                      <p:cBhvr override="childStyle">
                                        <p:cTn dur="1" fill="hold" display="0" masterRel="nextClick" afterEffect="1"/>
                                        <p:tgtEl>
                                          <p:spTgt spid="169"/>
                                        </p:tgtEl>
                                        <p:attrNameLst>
                                          <p:attrName>style.visibility</p:attrName>
                                        </p:attrNameLst>
                                      </p:cBhvr>
                                      <p:to>
                                        <p:strVal val="hidden"/>
                                      </p:to>
                                    </p:set>
                                  </p:subTnLst>
                                </p:cTn>
                              </p:par>
                            </p:childTnLst>
                          </p:cTn>
                        </p:par>
                        <p:par>
                          <p:cTn id="31" fill="hold" nodeType="afterGroup">
                            <p:stCondLst>
                              <p:cond delay="80000"/>
                            </p:stCondLst>
                            <p:childTnLst>
                              <p:par>
                                <p:cTn id="32" presetID="1" presetClass="entr" presetSubtype="0" fill="hold" grpId="0" nodeType="afterEffect">
                                  <p:stCondLst>
                                    <p:cond delay="10000"/>
                                  </p:stCondLst>
                                  <p:childTnLst>
                                    <p:set>
                                      <p:cBhvr>
                                        <p:cTn id="33" dur="1" fill="hold">
                                          <p:stCondLst>
                                            <p:cond delay="0"/>
                                          </p:stCondLst>
                                        </p:cTn>
                                        <p:tgtEl>
                                          <p:spTgt spid="170"/>
                                        </p:tgtEl>
                                        <p:attrNameLst>
                                          <p:attrName>style.visibility</p:attrName>
                                        </p:attrNameLst>
                                      </p:cBhvr>
                                      <p:to>
                                        <p:strVal val="visible"/>
                                      </p:to>
                                    </p:set>
                                  </p:childTnLst>
                                  <p:subTnLst>
                                    <p:set>
                                      <p:cBhvr override="childStyle">
                                        <p:cTn dur="1" fill="hold" display="0" masterRel="nextClick" afterEffect="1"/>
                                        <p:tgtEl>
                                          <p:spTgt spid="170"/>
                                        </p:tgtEl>
                                        <p:attrNameLst>
                                          <p:attrName>style.visibility</p:attrName>
                                        </p:attrNameLst>
                                      </p:cBhvr>
                                      <p:to>
                                        <p:strVal val="hidden"/>
                                      </p:to>
                                    </p:set>
                                  </p:subTnLst>
                                </p:cTn>
                              </p:par>
                            </p:childTnLst>
                          </p:cTn>
                        </p:par>
                        <p:par>
                          <p:cTn id="34" fill="hold" nodeType="afterGroup">
                            <p:stCondLst>
                              <p:cond delay="90000"/>
                            </p:stCondLst>
                            <p:childTnLst>
                              <p:par>
                                <p:cTn id="35" presetID="1" presetClass="entr" presetSubtype="0" fill="hold" grpId="0" nodeType="afterEffect">
                                  <p:stCondLst>
                                    <p:cond delay="10000"/>
                                  </p:stCondLst>
                                  <p:childTnLst>
                                    <p:set>
                                      <p:cBhvr>
                                        <p:cTn id="36" dur="1" fill="hold">
                                          <p:stCondLst>
                                            <p:cond delay="0"/>
                                          </p:stCondLst>
                                        </p:cTn>
                                        <p:tgtEl>
                                          <p:spTgt spid="171"/>
                                        </p:tgtEl>
                                        <p:attrNameLst>
                                          <p:attrName>style.visibility</p:attrName>
                                        </p:attrNameLst>
                                      </p:cBhvr>
                                      <p:to>
                                        <p:strVal val="visible"/>
                                      </p:to>
                                    </p:set>
                                  </p:childTnLst>
                                  <p:subTnLst>
                                    <p:set>
                                      <p:cBhvr override="childStyle">
                                        <p:cTn dur="1" fill="hold" display="0" masterRel="nextClick" afterEffect="1"/>
                                        <p:tgtEl>
                                          <p:spTgt spid="171"/>
                                        </p:tgtEl>
                                        <p:attrNameLst>
                                          <p:attrName>style.visibility</p:attrName>
                                        </p:attrNameLst>
                                      </p:cBhvr>
                                      <p:to>
                                        <p:strVal val="hidden"/>
                                      </p:to>
                                    </p:set>
                                  </p:subTnLst>
                                </p:cTn>
                              </p:par>
                            </p:childTnLst>
                          </p:cTn>
                        </p:par>
                        <p:par>
                          <p:cTn id="37" fill="hold" nodeType="afterGroup">
                            <p:stCondLst>
                              <p:cond delay="100000"/>
                            </p:stCondLst>
                            <p:childTnLst>
                              <p:par>
                                <p:cTn id="38" presetID="1" presetClass="entr" presetSubtype="0" fill="hold" grpId="0" nodeType="afterEffect">
                                  <p:stCondLst>
                                    <p:cond delay="10000"/>
                                  </p:stCondLst>
                                  <p:childTnLst>
                                    <p:set>
                                      <p:cBhvr>
                                        <p:cTn id="39" dur="1" fill="hold">
                                          <p:stCondLst>
                                            <p:cond delay="0"/>
                                          </p:stCondLst>
                                        </p:cTn>
                                        <p:tgtEl>
                                          <p:spTgt spid="172"/>
                                        </p:tgtEl>
                                        <p:attrNameLst>
                                          <p:attrName>style.visibility</p:attrName>
                                        </p:attrNameLst>
                                      </p:cBhvr>
                                      <p:to>
                                        <p:strVal val="visible"/>
                                      </p:to>
                                    </p:se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par>
                          <p:cTn id="40" fill="hold" nodeType="afterGroup">
                            <p:stCondLst>
                              <p:cond delay="110000"/>
                            </p:stCondLst>
                            <p:childTnLst>
                              <p:par>
                                <p:cTn id="41" presetID="1" presetClass="entr" presetSubtype="0" fill="hold" grpId="0" nodeType="afterEffect">
                                  <p:stCondLst>
                                    <p:cond delay="10000"/>
                                  </p:stCondLst>
                                  <p:childTnLst>
                                    <p:set>
                                      <p:cBhvr>
                                        <p:cTn id="42" dur="1" fill="hold">
                                          <p:stCondLst>
                                            <p:cond delay="0"/>
                                          </p:stCondLst>
                                        </p:cTn>
                                        <p:tgtEl>
                                          <p:spTgt spid="174"/>
                                        </p:tgtEl>
                                        <p:attrNameLst>
                                          <p:attrName>style.visibility</p:attrName>
                                        </p:attrNameLst>
                                      </p:cBhvr>
                                      <p:to>
                                        <p:strVal val="visible"/>
                                      </p:to>
                                    </p:set>
                                  </p:childTnLst>
                                </p:cTn>
                              </p:par>
                            </p:childTnLst>
                          </p:cTn>
                        </p:par>
                        <p:par>
                          <p:cTn id="43" fill="hold" nodeType="afterGroup">
                            <p:stCondLst>
                              <p:cond delay="120000"/>
                            </p:stCondLst>
                            <p:childTnLst>
                              <p:par>
                                <p:cTn id="44" presetID="1" presetClass="entr" presetSubtype="0" fill="hold" grpId="0" nodeType="afterEffect">
                                  <p:stCondLst>
                                    <p:cond delay="10000"/>
                                  </p:stCondLst>
                                  <p:childTnLst>
                                    <p:set>
                                      <p:cBhvr>
                                        <p:cTn id="45" dur="1" fill="hold">
                                          <p:stCondLst>
                                            <p:cond delay="0"/>
                                          </p:stCondLst>
                                        </p:cTn>
                                        <p:tgtEl>
                                          <p:spTgt spid="175"/>
                                        </p:tgtEl>
                                        <p:attrNameLst>
                                          <p:attrName>style.visibility</p:attrName>
                                        </p:attrNameLst>
                                      </p:cBhvr>
                                      <p:to>
                                        <p:strVal val="visible"/>
                                      </p:to>
                                    </p:set>
                                  </p:childTnLst>
                                  <p:subTnLst>
                                    <p:set>
                                      <p:cBhvr override="childStyle">
                                        <p:cTn dur="1" fill="hold" display="0" masterRel="nextClick" afterEffect="1"/>
                                        <p:tgtEl>
                                          <p:spTgt spid="175"/>
                                        </p:tgtEl>
                                        <p:attrNameLst>
                                          <p:attrName>style.visibility</p:attrName>
                                        </p:attrNameLst>
                                      </p:cBhvr>
                                      <p:to>
                                        <p:strVal val="hidden"/>
                                      </p:to>
                                    </p:set>
                                  </p:subTnLst>
                                </p:cTn>
                              </p:par>
                            </p:childTnLst>
                          </p:cTn>
                        </p:par>
                        <p:par>
                          <p:cTn id="46" fill="hold" nodeType="afterGroup">
                            <p:stCondLst>
                              <p:cond delay="130000"/>
                            </p:stCondLst>
                            <p:childTnLst>
                              <p:par>
                                <p:cTn id="47" presetID="1" presetClass="entr" presetSubtype="0" fill="hold" grpId="0" nodeType="afterEffect">
                                  <p:stCondLst>
                                    <p:cond delay="10000"/>
                                  </p:stCondLst>
                                  <p:childTnLst>
                                    <p:set>
                                      <p:cBhvr>
                                        <p:cTn id="48" dur="1" fill="hold">
                                          <p:stCondLst>
                                            <p:cond delay="0"/>
                                          </p:stCondLst>
                                        </p:cTn>
                                        <p:tgtEl>
                                          <p:spTgt spid="176"/>
                                        </p:tgtEl>
                                        <p:attrNameLst>
                                          <p:attrName>style.visibility</p:attrName>
                                        </p:attrNameLst>
                                      </p:cBhvr>
                                      <p:to>
                                        <p:strVal val="visible"/>
                                      </p:to>
                                    </p:set>
                                  </p:childTnLst>
                                  <p:subTnLst>
                                    <p:set>
                                      <p:cBhvr override="childStyle">
                                        <p:cTn dur="1" fill="hold" display="0" masterRel="nextClick" afterEffect="1"/>
                                        <p:tgtEl>
                                          <p:spTgt spid="176"/>
                                        </p:tgtEl>
                                        <p:attrNameLst>
                                          <p:attrName>style.visibility</p:attrName>
                                        </p:attrNameLst>
                                      </p:cBhvr>
                                      <p:to>
                                        <p:strVal val="hidden"/>
                                      </p:to>
                                    </p:set>
                                  </p:subTnLst>
                                </p:cTn>
                              </p:par>
                            </p:childTnLst>
                          </p:cTn>
                        </p:par>
                        <p:par>
                          <p:cTn id="49" fill="hold" nodeType="afterGroup">
                            <p:stCondLst>
                              <p:cond delay="140000"/>
                            </p:stCondLst>
                            <p:childTnLst>
                              <p:par>
                                <p:cTn id="50" presetID="1" presetClass="entr" presetSubtype="0" fill="hold" grpId="0" nodeType="afterEffect">
                                  <p:stCondLst>
                                    <p:cond delay="10000"/>
                                  </p:stCondLst>
                                  <p:childTnLst>
                                    <p:set>
                                      <p:cBhvr>
                                        <p:cTn id="51" dur="1" fill="hold">
                                          <p:stCondLst>
                                            <p:cond delay="0"/>
                                          </p:stCondLst>
                                        </p:cTn>
                                        <p:tgtEl>
                                          <p:spTgt spid="177"/>
                                        </p:tgtEl>
                                        <p:attrNameLst>
                                          <p:attrName>style.visibility</p:attrName>
                                        </p:attrNameLst>
                                      </p:cBhvr>
                                      <p:to>
                                        <p:strVal val="visible"/>
                                      </p:to>
                                    </p:set>
                                  </p:childTnLst>
                                  <p:subTnLst>
                                    <p:set>
                                      <p:cBhvr override="childStyle">
                                        <p:cTn dur="1" fill="hold" display="0" masterRel="nextClick" afterEffect="1"/>
                                        <p:tgtEl>
                                          <p:spTgt spid="177"/>
                                        </p:tgtEl>
                                        <p:attrNameLst>
                                          <p:attrName>style.visibility</p:attrName>
                                        </p:attrNameLst>
                                      </p:cBhvr>
                                      <p:to>
                                        <p:strVal val="hidden"/>
                                      </p:to>
                                    </p:set>
                                  </p:subTnLst>
                                </p:cTn>
                              </p:par>
                            </p:childTnLst>
                          </p:cTn>
                        </p:par>
                        <p:par>
                          <p:cTn id="52" fill="hold" nodeType="afterGroup">
                            <p:stCondLst>
                              <p:cond delay="150000"/>
                            </p:stCondLst>
                            <p:childTnLst>
                              <p:par>
                                <p:cTn id="53" presetID="1" presetClass="entr" presetSubtype="0" fill="hold" grpId="0" nodeType="afterEffect">
                                  <p:stCondLst>
                                    <p:cond delay="10000"/>
                                  </p:stCondLst>
                                  <p:childTnLst>
                                    <p:set>
                                      <p:cBhvr>
                                        <p:cTn id="54" dur="1" fill="hold">
                                          <p:stCondLst>
                                            <p:cond delay="0"/>
                                          </p:stCondLst>
                                        </p:cTn>
                                        <p:tgtEl>
                                          <p:spTgt spid="178"/>
                                        </p:tgtEl>
                                        <p:attrNameLst>
                                          <p:attrName>style.visibility</p:attrName>
                                        </p:attrNameLst>
                                      </p:cBhvr>
                                      <p:to>
                                        <p:strVal val="visible"/>
                                      </p:to>
                                    </p:se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par>
                          <p:cTn id="55" fill="hold" nodeType="afterGroup">
                            <p:stCondLst>
                              <p:cond delay="160000"/>
                            </p:stCondLst>
                            <p:childTnLst>
                              <p:par>
                                <p:cTn id="56" presetID="1" presetClass="entr" presetSubtype="0" fill="hold" grpId="0" nodeType="afterEffect">
                                  <p:stCondLst>
                                    <p:cond delay="10000"/>
                                  </p:stCondLst>
                                  <p:childTnLst>
                                    <p:set>
                                      <p:cBhvr>
                                        <p:cTn id="57" dur="1" fill="hold">
                                          <p:stCondLst>
                                            <p:cond delay="0"/>
                                          </p:stCondLst>
                                        </p:cTn>
                                        <p:tgtEl>
                                          <p:spTgt spid="179"/>
                                        </p:tgtEl>
                                        <p:attrNameLst>
                                          <p:attrName>style.visibility</p:attrName>
                                        </p:attrNameLst>
                                      </p:cBhvr>
                                      <p:to>
                                        <p:strVal val="visible"/>
                                      </p:to>
                                    </p:se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par>
                          <p:cTn id="58" fill="hold" nodeType="afterGroup">
                            <p:stCondLst>
                              <p:cond delay="170000"/>
                            </p:stCondLst>
                            <p:childTnLst>
                              <p:par>
                                <p:cTn id="59" presetID="1" presetClass="entr" presetSubtype="0" fill="hold" grpId="0" nodeType="afterEffect">
                                  <p:stCondLst>
                                    <p:cond delay="10000"/>
                                  </p:stCondLst>
                                  <p:childTnLst>
                                    <p:set>
                                      <p:cBhvr>
                                        <p:cTn id="60" dur="1" fill="hold">
                                          <p:stCondLst>
                                            <p:cond delay="0"/>
                                          </p:stCondLst>
                                        </p:cTn>
                                        <p:tgtEl>
                                          <p:spTgt spid="181"/>
                                        </p:tgtEl>
                                        <p:attrNameLst>
                                          <p:attrName>style.visibility</p:attrName>
                                        </p:attrNameLst>
                                      </p:cBhvr>
                                      <p:to>
                                        <p:strVal val="visible"/>
                                      </p:to>
                                    </p:set>
                                  </p:childTnLst>
                                </p:cTn>
                              </p:par>
                            </p:childTnLst>
                          </p:cTn>
                        </p:par>
                        <p:par>
                          <p:cTn id="61" fill="hold" nodeType="afterGroup">
                            <p:stCondLst>
                              <p:cond delay="180000"/>
                            </p:stCondLst>
                            <p:childTnLst>
                              <p:par>
                                <p:cTn id="62" presetID="1" presetClass="entr" presetSubtype="0" fill="hold" grpId="0" nodeType="afterEffect">
                                  <p:stCondLst>
                                    <p:cond delay="10000"/>
                                  </p:stCondLst>
                                  <p:childTnLst>
                                    <p:set>
                                      <p:cBhvr>
                                        <p:cTn id="63" dur="1" fill="hold">
                                          <p:stCondLst>
                                            <p:cond delay="0"/>
                                          </p:stCondLst>
                                        </p:cTn>
                                        <p:tgtEl>
                                          <p:spTgt spid="182"/>
                                        </p:tgtEl>
                                        <p:attrNameLst>
                                          <p:attrName>style.visibility</p:attrName>
                                        </p:attrNameLst>
                                      </p:cBhvr>
                                      <p:to>
                                        <p:strVal val="visible"/>
                                      </p:to>
                                    </p:set>
                                  </p:childTnLst>
                                  <p:subTnLst>
                                    <p:set>
                                      <p:cBhvr override="childStyle">
                                        <p:cTn dur="1" fill="hold" display="0" masterRel="nextClick" afterEffect="1"/>
                                        <p:tgtEl>
                                          <p:spTgt spid="182"/>
                                        </p:tgtEl>
                                        <p:attrNameLst>
                                          <p:attrName>style.visibility</p:attrName>
                                        </p:attrNameLst>
                                      </p:cBhvr>
                                      <p:to>
                                        <p:strVal val="hidden"/>
                                      </p:to>
                                    </p:set>
                                  </p:subTnLst>
                                </p:cTn>
                              </p:par>
                            </p:childTnLst>
                          </p:cTn>
                        </p:par>
                        <p:par>
                          <p:cTn id="64" fill="hold" nodeType="afterGroup">
                            <p:stCondLst>
                              <p:cond delay="190000"/>
                            </p:stCondLst>
                            <p:childTnLst>
                              <p:par>
                                <p:cTn id="65" presetID="1" presetClass="entr" presetSubtype="0" fill="hold" grpId="0" nodeType="afterEffect">
                                  <p:stCondLst>
                                    <p:cond delay="10000"/>
                                  </p:stCondLst>
                                  <p:childTnLst>
                                    <p:set>
                                      <p:cBhvr>
                                        <p:cTn id="66" dur="1" fill="hold">
                                          <p:stCondLst>
                                            <p:cond delay="0"/>
                                          </p:stCondLst>
                                        </p:cTn>
                                        <p:tgtEl>
                                          <p:spTgt spid="183"/>
                                        </p:tgtEl>
                                        <p:attrNameLst>
                                          <p:attrName>style.visibility</p:attrName>
                                        </p:attrNameLst>
                                      </p:cBhvr>
                                      <p:to>
                                        <p:strVal val="visible"/>
                                      </p:to>
                                    </p:set>
                                  </p:childTnLst>
                                  <p:subTnLst>
                                    <p:set>
                                      <p:cBhvr override="childStyle">
                                        <p:cTn dur="1" fill="hold" display="0" masterRel="nextClick" afterEffect="1"/>
                                        <p:tgtEl>
                                          <p:spTgt spid="183"/>
                                        </p:tgtEl>
                                        <p:attrNameLst>
                                          <p:attrName>style.visibility</p:attrName>
                                        </p:attrNameLst>
                                      </p:cBhvr>
                                      <p:to>
                                        <p:strVal val="hidden"/>
                                      </p:to>
                                    </p:set>
                                  </p:subTnLst>
                                </p:cTn>
                              </p:par>
                            </p:childTnLst>
                          </p:cTn>
                        </p:par>
                        <p:par>
                          <p:cTn id="67" fill="hold" nodeType="afterGroup">
                            <p:stCondLst>
                              <p:cond delay="200000"/>
                            </p:stCondLst>
                            <p:childTnLst>
                              <p:par>
                                <p:cTn id="68" presetID="1" presetClass="entr" presetSubtype="0" fill="hold" grpId="0" nodeType="afterEffect">
                                  <p:stCondLst>
                                    <p:cond delay="10000"/>
                                  </p:stCondLst>
                                  <p:childTnLst>
                                    <p:set>
                                      <p:cBhvr>
                                        <p:cTn id="69" dur="1" fill="hold">
                                          <p:stCondLst>
                                            <p:cond delay="0"/>
                                          </p:stCondLst>
                                        </p:cTn>
                                        <p:tgtEl>
                                          <p:spTgt spid="184"/>
                                        </p:tgtEl>
                                        <p:attrNameLst>
                                          <p:attrName>style.visibility</p:attrName>
                                        </p:attrNameLst>
                                      </p:cBhvr>
                                      <p:to>
                                        <p:strVal val="visible"/>
                                      </p:to>
                                    </p:set>
                                  </p:childTnLst>
                                  <p:subTnLst>
                                    <p:set>
                                      <p:cBhvr override="childStyle">
                                        <p:cTn dur="1" fill="hold" display="0" masterRel="nextClick" afterEffect="1"/>
                                        <p:tgtEl>
                                          <p:spTgt spid="184"/>
                                        </p:tgtEl>
                                        <p:attrNameLst>
                                          <p:attrName>style.visibility</p:attrName>
                                        </p:attrNameLst>
                                      </p:cBhvr>
                                      <p:to>
                                        <p:strVal val="hidden"/>
                                      </p:to>
                                    </p:set>
                                  </p:subTnLst>
                                </p:cTn>
                              </p:par>
                            </p:childTnLst>
                          </p:cTn>
                        </p:par>
                        <p:par>
                          <p:cTn id="70" fill="hold" nodeType="afterGroup">
                            <p:stCondLst>
                              <p:cond delay="210000"/>
                            </p:stCondLst>
                            <p:childTnLst>
                              <p:par>
                                <p:cTn id="71" presetID="1" presetClass="entr" presetSubtype="0" fill="hold" grpId="0" nodeType="afterEffect">
                                  <p:stCondLst>
                                    <p:cond delay="10000"/>
                                  </p:stCondLst>
                                  <p:childTnLst>
                                    <p:set>
                                      <p:cBhvr>
                                        <p:cTn id="72" dur="1" fill="hold">
                                          <p:stCondLst>
                                            <p:cond delay="0"/>
                                          </p:stCondLst>
                                        </p:cTn>
                                        <p:tgtEl>
                                          <p:spTgt spid="185"/>
                                        </p:tgtEl>
                                        <p:attrNameLst>
                                          <p:attrName>style.visibility</p:attrName>
                                        </p:attrNameLst>
                                      </p:cBhvr>
                                      <p:to>
                                        <p:strVal val="visible"/>
                                      </p:to>
                                    </p:set>
                                  </p:childTnLst>
                                  <p:subTnLst>
                                    <p:set>
                                      <p:cBhvr override="childStyle">
                                        <p:cTn dur="1" fill="hold" display="0" masterRel="nextClick" afterEffect="1"/>
                                        <p:tgtEl>
                                          <p:spTgt spid="185"/>
                                        </p:tgtEl>
                                        <p:attrNameLst>
                                          <p:attrName>style.visibility</p:attrName>
                                        </p:attrNameLst>
                                      </p:cBhvr>
                                      <p:to>
                                        <p:strVal val="hidden"/>
                                      </p:to>
                                    </p:set>
                                  </p:subTnLst>
                                </p:cTn>
                              </p:par>
                            </p:childTnLst>
                          </p:cTn>
                        </p:par>
                        <p:par>
                          <p:cTn id="73" fill="hold" nodeType="afterGroup">
                            <p:stCondLst>
                              <p:cond delay="220000"/>
                            </p:stCondLst>
                            <p:childTnLst>
                              <p:par>
                                <p:cTn id="74" presetID="1" presetClass="entr" presetSubtype="0" fill="hold" grpId="0" nodeType="afterEffect">
                                  <p:stCondLst>
                                    <p:cond delay="10000"/>
                                  </p:stCondLst>
                                  <p:childTnLst>
                                    <p:set>
                                      <p:cBhvr>
                                        <p:cTn id="75" dur="1" fill="hold">
                                          <p:stCondLst>
                                            <p:cond delay="0"/>
                                          </p:stCondLst>
                                        </p:cTn>
                                        <p:tgtEl>
                                          <p:spTgt spid="186"/>
                                        </p:tgtEl>
                                        <p:attrNameLst>
                                          <p:attrName>style.visibility</p:attrName>
                                        </p:attrNameLst>
                                      </p:cBhvr>
                                      <p:to>
                                        <p:strVal val="visible"/>
                                      </p:to>
                                    </p:set>
                                  </p:childTnLst>
                                  <p:subTnLst>
                                    <p:set>
                                      <p:cBhvr override="childStyle">
                                        <p:cTn dur="1" fill="hold" display="0" masterRel="nextClick" afterEffect="1"/>
                                        <p:tgtEl>
                                          <p:spTgt spid="186"/>
                                        </p:tgtEl>
                                        <p:attrNameLst>
                                          <p:attrName>style.visibility</p:attrName>
                                        </p:attrNameLst>
                                      </p:cBhvr>
                                      <p:to>
                                        <p:strVal val="hidden"/>
                                      </p:to>
                                    </p:set>
                                  </p:subTnLst>
                                </p:cTn>
                              </p:par>
                            </p:childTnLst>
                          </p:cTn>
                        </p:par>
                        <p:par>
                          <p:cTn id="76" fill="hold" nodeType="afterGroup">
                            <p:stCondLst>
                              <p:cond delay="230000"/>
                            </p:stCondLst>
                            <p:childTnLst>
                              <p:par>
                                <p:cTn id="77" presetID="1" presetClass="entr" presetSubtype="0" fill="hold" grpId="0" nodeType="afterEffect">
                                  <p:stCondLst>
                                    <p:cond delay="10000"/>
                                  </p:stCondLst>
                                  <p:childTnLst>
                                    <p:set>
                                      <p:cBhvr>
                                        <p:cTn id="78" dur="1" fill="hold">
                                          <p:stCondLst>
                                            <p:cond delay="0"/>
                                          </p:stCondLst>
                                        </p:cTn>
                                        <p:tgtEl>
                                          <p:spTgt spid="188"/>
                                        </p:tgtEl>
                                        <p:attrNameLst>
                                          <p:attrName>style.visibility</p:attrName>
                                        </p:attrNameLst>
                                      </p:cBhvr>
                                      <p:to>
                                        <p:strVal val="visible"/>
                                      </p:to>
                                    </p:set>
                                  </p:childTnLst>
                                </p:cTn>
                              </p:par>
                            </p:childTnLst>
                          </p:cTn>
                        </p:par>
                        <p:par>
                          <p:cTn id="79" fill="hold" nodeType="afterGroup">
                            <p:stCondLst>
                              <p:cond delay="240000"/>
                            </p:stCondLst>
                            <p:childTnLst>
                              <p:par>
                                <p:cTn id="80" presetID="1" presetClass="entr" presetSubtype="0" fill="hold" grpId="0" nodeType="afterEffect">
                                  <p:stCondLst>
                                    <p:cond delay="10000"/>
                                  </p:stCondLst>
                                  <p:childTnLst>
                                    <p:set>
                                      <p:cBhvr>
                                        <p:cTn id="81" dur="1" fill="hold">
                                          <p:stCondLst>
                                            <p:cond delay="0"/>
                                          </p:stCondLst>
                                        </p:cTn>
                                        <p:tgtEl>
                                          <p:spTgt spid="189"/>
                                        </p:tgtEl>
                                        <p:attrNameLst>
                                          <p:attrName>style.visibility</p:attrName>
                                        </p:attrNameLst>
                                      </p:cBhvr>
                                      <p:to>
                                        <p:strVal val="visible"/>
                                      </p:to>
                                    </p:set>
                                  </p:childTnLst>
                                  <p:subTnLst>
                                    <p:set>
                                      <p:cBhvr override="childStyle">
                                        <p:cTn dur="1" fill="hold" display="0" masterRel="nextClick" afterEffect="1"/>
                                        <p:tgtEl>
                                          <p:spTgt spid="189"/>
                                        </p:tgtEl>
                                        <p:attrNameLst>
                                          <p:attrName>style.visibility</p:attrName>
                                        </p:attrNameLst>
                                      </p:cBhvr>
                                      <p:to>
                                        <p:strVal val="hidden"/>
                                      </p:to>
                                    </p:set>
                                  </p:subTnLst>
                                </p:cTn>
                              </p:par>
                            </p:childTnLst>
                          </p:cTn>
                        </p:par>
                        <p:par>
                          <p:cTn id="82" fill="hold" nodeType="afterGroup">
                            <p:stCondLst>
                              <p:cond delay="250000"/>
                            </p:stCondLst>
                            <p:childTnLst>
                              <p:par>
                                <p:cTn id="83" presetID="1" presetClass="entr" presetSubtype="0" fill="hold" grpId="0" nodeType="afterEffect">
                                  <p:stCondLst>
                                    <p:cond delay="10000"/>
                                  </p:stCondLst>
                                  <p:childTnLst>
                                    <p:set>
                                      <p:cBhvr>
                                        <p:cTn id="84" dur="1" fill="hold">
                                          <p:stCondLst>
                                            <p:cond delay="0"/>
                                          </p:stCondLst>
                                        </p:cTn>
                                        <p:tgtEl>
                                          <p:spTgt spid="190"/>
                                        </p:tgtEl>
                                        <p:attrNameLst>
                                          <p:attrName>style.visibility</p:attrName>
                                        </p:attrNameLst>
                                      </p:cBhvr>
                                      <p:to>
                                        <p:strVal val="visible"/>
                                      </p:to>
                                    </p:set>
                                  </p:childTnLst>
                                  <p:subTnLst>
                                    <p:set>
                                      <p:cBhvr override="childStyle">
                                        <p:cTn dur="1" fill="hold" display="0" masterRel="nextClick" afterEffect="1"/>
                                        <p:tgtEl>
                                          <p:spTgt spid="190"/>
                                        </p:tgtEl>
                                        <p:attrNameLst>
                                          <p:attrName>style.visibility</p:attrName>
                                        </p:attrNameLst>
                                      </p:cBhvr>
                                      <p:to>
                                        <p:strVal val="hidden"/>
                                      </p:to>
                                    </p:set>
                                  </p:subTnLst>
                                </p:cTn>
                              </p:par>
                            </p:childTnLst>
                          </p:cTn>
                        </p:par>
                        <p:par>
                          <p:cTn id="85" fill="hold" nodeType="afterGroup">
                            <p:stCondLst>
                              <p:cond delay="260000"/>
                            </p:stCondLst>
                            <p:childTnLst>
                              <p:par>
                                <p:cTn id="86" presetID="1" presetClass="entr" presetSubtype="0" fill="hold" grpId="0" nodeType="afterEffect">
                                  <p:stCondLst>
                                    <p:cond delay="10000"/>
                                  </p:stCondLst>
                                  <p:childTnLst>
                                    <p:set>
                                      <p:cBhvr>
                                        <p:cTn id="87" dur="1" fill="hold">
                                          <p:stCondLst>
                                            <p:cond delay="0"/>
                                          </p:stCondLst>
                                        </p:cTn>
                                        <p:tgtEl>
                                          <p:spTgt spid="191"/>
                                        </p:tgtEl>
                                        <p:attrNameLst>
                                          <p:attrName>style.visibility</p:attrName>
                                        </p:attrNameLst>
                                      </p:cBhvr>
                                      <p:to>
                                        <p:strVal val="visible"/>
                                      </p:to>
                                    </p:set>
                                  </p:childTnLst>
                                  <p:subTnLst>
                                    <p:set>
                                      <p:cBhvr override="childStyle">
                                        <p:cTn dur="1" fill="hold" display="0" masterRel="nextClick" afterEffect="1"/>
                                        <p:tgtEl>
                                          <p:spTgt spid="191"/>
                                        </p:tgtEl>
                                        <p:attrNameLst>
                                          <p:attrName>style.visibility</p:attrName>
                                        </p:attrNameLst>
                                      </p:cBhvr>
                                      <p:to>
                                        <p:strVal val="hidden"/>
                                      </p:to>
                                    </p:set>
                                  </p:subTnLst>
                                </p:cTn>
                              </p:par>
                            </p:childTnLst>
                          </p:cTn>
                        </p:par>
                        <p:par>
                          <p:cTn id="88" fill="hold" nodeType="afterGroup">
                            <p:stCondLst>
                              <p:cond delay="270000"/>
                            </p:stCondLst>
                            <p:childTnLst>
                              <p:par>
                                <p:cTn id="89" presetID="1" presetClass="entr" presetSubtype="0" fill="hold" grpId="0" nodeType="afterEffect">
                                  <p:stCondLst>
                                    <p:cond delay="10000"/>
                                  </p:stCondLst>
                                  <p:childTnLst>
                                    <p:set>
                                      <p:cBhvr>
                                        <p:cTn id="90" dur="1" fill="hold">
                                          <p:stCondLst>
                                            <p:cond delay="0"/>
                                          </p:stCondLst>
                                        </p:cTn>
                                        <p:tgtEl>
                                          <p:spTgt spid="192"/>
                                        </p:tgtEl>
                                        <p:attrNameLst>
                                          <p:attrName>style.visibility</p:attrName>
                                        </p:attrNameLst>
                                      </p:cBhvr>
                                      <p:to>
                                        <p:strVal val="visible"/>
                                      </p:to>
                                    </p:set>
                                  </p:childTnLst>
                                  <p:subTnLst>
                                    <p:set>
                                      <p:cBhvr override="childStyle">
                                        <p:cTn dur="1" fill="hold" display="0" masterRel="nextClick" afterEffect="1"/>
                                        <p:tgtEl>
                                          <p:spTgt spid="192"/>
                                        </p:tgtEl>
                                        <p:attrNameLst>
                                          <p:attrName>style.visibility</p:attrName>
                                        </p:attrNameLst>
                                      </p:cBhvr>
                                      <p:to>
                                        <p:strVal val="hidden"/>
                                      </p:to>
                                    </p:set>
                                  </p:subTnLst>
                                </p:cTn>
                              </p:par>
                            </p:childTnLst>
                          </p:cTn>
                        </p:par>
                        <p:par>
                          <p:cTn id="91" fill="hold" nodeType="afterGroup">
                            <p:stCondLst>
                              <p:cond delay="280000"/>
                            </p:stCondLst>
                            <p:childTnLst>
                              <p:par>
                                <p:cTn id="92" presetID="1" presetClass="entr" presetSubtype="0" fill="hold" grpId="0" nodeType="afterEffect">
                                  <p:stCondLst>
                                    <p:cond delay="10000"/>
                                  </p:stCondLst>
                                  <p:childTnLst>
                                    <p:set>
                                      <p:cBhvr>
                                        <p:cTn id="93" dur="1" fill="hold">
                                          <p:stCondLst>
                                            <p:cond delay="0"/>
                                          </p:stCondLst>
                                        </p:cTn>
                                        <p:tgtEl>
                                          <p:spTgt spid="193"/>
                                        </p:tgtEl>
                                        <p:attrNameLst>
                                          <p:attrName>style.visibility</p:attrName>
                                        </p:attrNameLst>
                                      </p:cBhvr>
                                      <p:to>
                                        <p:strVal val="visible"/>
                                      </p:to>
                                    </p:set>
                                  </p:childTnLst>
                                  <p:subTnLst>
                                    <p:set>
                                      <p:cBhvr override="childStyle">
                                        <p:cTn dur="1" fill="hold" display="0" masterRel="nextClick" afterEffect="1"/>
                                        <p:tgtEl>
                                          <p:spTgt spid="193"/>
                                        </p:tgtEl>
                                        <p:attrNameLst>
                                          <p:attrName>style.visibility</p:attrName>
                                        </p:attrNameLst>
                                      </p:cBhvr>
                                      <p:to>
                                        <p:strVal val="hidden"/>
                                      </p:to>
                                    </p:set>
                                  </p:subTnLst>
                                </p:cTn>
                              </p:par>
                            </p:childTnLst>
                          </p:cTn>
                        </p:par>
                        <p:par>
                          <p:cTn id="94" fill="hold" nodeType="afterGroup">
                            <p:stCondLst>
                              <p:cond delay="290000"/>
                            </p:stCondLst>
                            <p:childTnLst>
                              <p:par>
                                <p:cTn id="95" presetID="1" presetClass="entr" presetSubtype="0" fill="hold" grpId="0" nodeType="afterEffect">
                                  <p:stCondLst>
                                    <p:cond delay="10000"/>
                                  </p:stCondLst>
                                  <p:childTnLst>
                                    <p:set>
                                      <p:cBhvr>
                                        <p:cTn id="96" dur="1" fill="hold">
                                          <p:stCondLst>
                                            <p:cond delay="0"/>
                                          </p:stCondLst>
                                        </p:cTn>
                                        <p:tgtEl>
                                          <p:spTgt spid="195"/>
                                        </p:tgtEl>
                                        <p:attrNameLst>
                                          <p:attrName>style.visibility</p:attrName>
                                        </p:attrNameLst>
                                      </p:cBhvr>
                                      <p:to>
                                        <p:strVal val="visible"/>
                                      </p:to>
                                    </p:set>
                                  </p:childTnLst>
                                </p:cTn>
                              </p:par>
                            </p:childTnLst>
                          </p:cTn>
                        </p:par>
                        <p:par>
                          <p:cTn id="97" fill="hold" nodeType="afterGroup">
                            <p:stCondLst>
                              <p:cond delay="300000"/>
                            </p:stCondLst>
                            <p:childTnLst>
                              <p:par>
                                <p:cTn id="98" presetID="1" presetClass="entr" presetSubtype="0" fill="hold" grpId="0" nodeType="afterEffect">
                                  <p:stCondLst>
                                    <p:cond delay="10000"/>
                                  </p:stCondLst>
                                  <p:childTnLst>
                                    <p:set>
                                      <p:cBhvr>
                                        <p:cTn id="99" dur="1" fill="hold">
                                          <p:stCondLst>
                                            <p:cond delay="0"/>
                                          </p:stCondLst>
                                        </p:cTn>
                                        <p:tgtEl>
                                          <p:spTgt spid="196"/>
                                        </p:tgtEl>
                                        <p:attrNameLst>
                                          <p:attrName>style.visibility</p:attrName>
                                        </p:attrNameLst>
                                      </p:cBhvr>
                                      <p:to>
                                        <p:strVal val="visible"/>
                                      </p:to>
                                    </p:set>
                                  </p:childTnLst>
                                  <p:subTnLst>
                                    <p:set>
                                      <p:cBhvr override="childStyle">
                                        <p:cTn dur="1" fill="hold" display="0" masterRel="nextClick" afterEffect="1"/>
                                        <p:tgtEl>
                                          <p:spTgt spid="196"/>
                                        </p:tgtEl>
                                        <p:attrNameLst>
                                          <p:attrName>style.visibility</p:attrName>
                                        </p:attrNameLst>
                                      </p:cBhvr>
                                      <p:to>
                                        <p:strVal val="hidden"/>
                                      </p:to>
                                    </p:set>
                                  </p:subTnLst>
                                </p:cTn>
                              </p:par>
                            </p:childTnLst>
                          </p:cTn>
                        </p:par>
                        <p:par>
                          <p:cTn id="100" fill="hold" nodeType="afterGroup">
                            <p:stCondLst>
                              <p:cond delay="310000"/>
                            </p:stCondLst>
                            <p:childTnLst>
                              <p:par>
                                <p:cTn id="101" presetID="1" presetClass="entr" presetSubtype="0" fill="hold" grpId="0" nodeType="afterEffect">
                                  <p:stCondLst>
                                    <p:cond delay="10000"/>
                                  </p:stCondLst>
                                  <p:childTnLst>
                                    <p:set>
                                      <p:cBhvr>
                                        <p:cTn id="102" dur="1" fill="hold">
                                          <p:stCondLst>
                                            <p:cond delay="0"/>
                                          </p:stCondLst>
                                        </p:cTn>
                                        <p:tgtEl>
                                          <p:spTgt spid="197"/>
                                        </p:tgtEl>
                                        <p:attrNameLst>
                                          <p:attrName>style.visibility</p:attrName>
                                        </p:attrNameLst>
                                      </p:cBhvr>
                                      <p:to>
                                        <p:strVal val="visible"/>
                                      </p:to>
                                    </p:set>
                                  </p:childTnLst>
                                  <p:subTnLst>
                                    <p:set>
                                      <p:cBhvr override="childStyle">
                                        <p:cTn dur="1" fill="hold" display="0" masterRel="nextClick" afterEffect="1"/>
                                        <p:tgtEl>
                                          <p:spTgt spid="197"/>
                                        </p:tgtEl>
                                        <p:attrNameLst>
                                          <p:attrName>style.visibility</p:attrName>
                                        </p:attrNameLst>
                                      </p:cBhvr>
                                      <p:to>
                                        <p:strVal val="hidden"/>
                                      </p:to>
                                    </p:set>
                                  </p:subTnLst>
                                </p:cTn>
                              </p:par>
                            </p:childTnLst>
                          </p:cTn>
                        </p:par>
                        <p:par>
                          <p:cTn id="103" fill="hold" nodeType="afterGroup">
                            <p:stCondLst>
                              <p:cond delay="320000"/>
                            </p:stCondLst>
                            <p:childTnLst>
                              <p:par>
                                <p:cTn id="104" presetID="1" presetClass="entr" presetSubtype="0" fill="hold" grpId="0" nodeType="afterEffect">
                                  <p:stCondLst>
                                    <p:cond delay="10000"/>
                                  </p:stCondLst>
                                  <p:childTnLst>
                                    <p:set>
                                      <p:cBhvr>
                                        <p:cTn id="105" dur="1" fill="hold">
                                          <p:stCondLst>
                                            <p:cond delay="0"/>
                                          </p:stCondLst>
                                        </p:cTn>
                                        <p:tgtEl>
                                          <p:spTgt spid="198"/>
                                        </p:tgtEl>
                                        <p:attrNameLst>
                                          <p:attrName>style.visibility</p:attrName>
                                        </p:attrNameLst>
                                      </p:cBhvr>
                                      <p:to>
                                        <p:strVal val="visible"/>
                                      </p:to>
                                    </p:set>
                                  </p:childTnLst>
                                  <p:subTnLst>
                                    <p:set>
                                      <p:cBhvr override="childStyle">
                                        <p:cTn dur="1" fill="hold" display="0" masterRel="nextClick" afterEffect="1"/>
                                        <p:tgtEl>
                                          <p:spTgt spid="198"/>
                                        </p:tgtEl>
                                        <p:attrNameLst>
                                          <p:attrName>style.visibility</p:attrName>
                                        </p:attrNameLst>
                                      </p:cBhvr>
                                      <p:to>
                                        <p:strVal val="hidden"/>
                                      </p:to>
                                    </p:set>
                                  </p:subTnLst>
                                </p:cTn>
                              </p:par>
                            </p:childTnLst>
                          </p:cTn>
                        </p:par>
                        <p:par>
                          <p:cTn id="106" fill="hold" nodeType="afterGroup">
                            <p:stCondLst>
                              <p:cond delay="330000"/>
                            </p:stCondLst>
                            <p:childTnLst>
                              <p:par>
                                <p:cTn id="107" presetID="1" presetClass="entr" presetSubtype="0" fill="hold" grpId="0" nodeType="afterEffect">
                                  <p:stCondLst>
                                    <p:cond delay="10000"/>
                                  </p:stCondLst>
                                  <p:childTnLst>
                                    <p:set>
                                      <p:cBhvr>
                                        <p:cTn id="108" dur="1" fill="hold">
                                          <p:stCondLst>
                                            <p:cond delay="0"/>
                                          </p:stCondLst>
                                        </p:cTn>
                                        <p:tgtEl>
                                          <p:spTgt spid="199"/>
                                        </p:tgtEl>
                                        <p:attrNameLst>
                                          <p:attrName>style.visibility</p:attrName>
                                        </p:attrNameLst>
                                      </p:cBhvr>
                                      <p:to>
                                        <p:strVal val="visible"/>
                                      </p:to>
                                    </p:set>
                                  </p:childTnLst>
                                  <p:subTnLst>
                                    <p:set>
                                      <p:cBhvr override="childStyle">
                                        <p:cTn dur="1" fill="hold" display="0" masterRel="nextClick" afterEffect="1"/>
                                        <p:tgtEl>
                                          <p:spTgt spid="199"/>
                                        </p:tgtEl>
                                        <p:attrNameLst>
                                          <p:attrName>style.visibility</p:attrName>
                                        </p:attrNameLst>
                                      </p:cBhvr>
                                      <p:to>
                                        <p:strVal val="hidden"/>
                                      </p:to>
                                    </p:set>
                                  </p:subTnLst>
                                </p:cTn>
                              </p:par>
                            </p:childTnLst>
                          </p:cTn>
                        </p:par>
                        <p:par>
                          <p:cTn id="109" fill="hold" nodeType="afterGroup">
                            <p:stCondLst>
                              <p:cond delay="340000"/>
                            </p:stCondLst>
                            <p:childTnLst>
                              <p:par>
                                <p:cTn id="110" presetID="1" presetClass="entr" presetSubtype="0" fill="hold" grpId="0" nodeType="afterEffect">
                                  <p:stCondLst>
                                    <p:cond delay="10000"/>
                                  </p:stCondLst>
                                  <p:childTnLst>
                                    <p:set>
                                      <p:cBhvr>
                                        <p:cTn id="111" dur="1" fill="hold">
                                          <p:stCondLst>
                                            <p:cond delay="0"/>
                                          </p:stCondLst>
                                        </p:cTn>
                                        <p:tgtEl>
                                          <p:spTgt spid="200"/>
                                        </p:tgtEl>
                                        <p:attrNameLst>
                                          <p:attrName>style.visibility</p:attrName>
                                        </p:attrNameLst>
                                      </p:cBhvr>
                                      <p:to>
                                        <p:strVal val="visible"/>
                                      </p:to>
                                    </p:set>
                                  </p:childTnLst>
                                  <p:subTnLst>
                                    <p:set>
                                      <p:cBhvr override="childStyle">
                                        <p:cTn dur="1" fill="hold" display="0" masterRel="nextClick" afterEffect="1"/>
                                        <p:tgtEl>
                                          <p:spTgt spid="200"/>
                                        </p:tgtEl>
                                        <p:attrNameLst>
                                          <p:attrName>style.visibility</p:attrName>
                                        </p:attrNameLst>
                                      </p:cBhvr>
                                      <p:to>
                                        <p:strVal val="hidden"/>
                                      </p:to>
                                    </p:set>
                                  </p:subTnLst>
                                </p:cTn>
                              </p:par>
                            </p:childTnLst>
                          </p:cTn>
                        </p:par>
                        <p:par>
                          <p:cTn id="112" fill="hold" nodeType="afterGroup">
                            <p:stCondLst>
                              <p:cond delay="350000"/>
                            </p:stCondLst>
                            <p:childTnLst>
                              <p:par>
                                <p:cTn id="113" presetID="1" presetClass="entr" presetSubtype="0" fill="hold" grpId="0" nodeType="afterEffect">
                                  <p:stCondLst>
                                    <p:cond delay="10000"/>
                                  </p:stCondLst>
                                  <p:childTnLst>
                                    <p:set>
                                      <p:cBhvr>
                                        <p:cTn id="114" dur="1" fill="hold">
                                          <p:stCondLst>
                                            <p:cond delay="0"/>
                                          </p:stCondLst>
                                        </p:cTn>
                                        <p:tgtEl>
                                          <p:spTgt spid="202"/>
                                        </p:tgtEl>
                                        <p:attrNameLst>
                                          <p:attrName>style.visibility</p:attrName>
                                        </p:attrNameLst>
                                      </p:cBhvr>
                                      <p:to>
                                        <p:strVal val="visible"/>
                                      </p:to>
                                    </p:set>
                                  </p:childTnLst>
                                </p:cTn>
                              </p:par>
                            </p:childTnLst>
                          </p:cTn>
                        </p:par>
                        <p:par>
                          <p:cTn id="115" fill="hold" nodeType="afterGroup">
                            <p:stCondLst>
                              <p:cond delay="360000"/>
                            </p:stCondLst>
                            <p:childTnLst>
                              <p:par>
                                <p:cTn id="116" presetID="1" presetClass="entr" presetSubtype="0" fill="hold" grpId="0" nodeType="afterEffect">
                                  <p:stCondLst>
                                    <p:cond delay="10000"/>
                                  </p:stCondLst>
                                  <p:childTnLst>
                                    <p:set>
                                      <p:cBhvr>
                                        <p:cTn id="117" dur="1" fill="hold">
                                          <p:stCondLst>
                                            <p:cond delay="0"/>
                                          </p:stCondLst>
                                        </p:cTn>
                                        <p:tgtEl>
                                          <p:spTgt spid="203"/>
                                        </p:tgtEl>
                                        <p:attrNameLst>
                                          <p:attrName>style.visibility</p:attrName>
                                        </p:attrNameLst>
                                      </p:cBhvr>
                                      <p:to>
                                        <p:strVal val="visible"/>
                                      </p:to>
                                    </p:set>
                                  </p:childTnLst>
                                  <p:subTnLst>
                                    <p:set>
                                      <p:cBhvr override="childStyle">
                                        <p:cTn dur="1" fill="hold" display="0" masterRel="nextClick" afterEffect="1"/>
                                        <p:tgtEl>
                                          <p:spTgt spid="203"/>
                                        </p:tgtEl>
                                        <p:attrNameLst>
                                          <p:attrName>style.visibility</p:attrName>
                                        </p:attrNameLst>
                                      </p:cBhvr>
                                      <p:to>
                                        <p:strVal val="hidden"/>
                                      </p:to>
                                    </p:set>
                                  </p:subTnLst>
                                </p:cTn>
                              </p:par>
                            </p:childTnLst>
                          </p:cTn>
                        </p:par>
                        <p:par>
                          <p:cTn id="118" fill="hold" nodeType="afterGroup">
                            <p:stCondLst>
                              <p:cond delay="370000"/>
                            </p:stCondLst>
                            <p:childTnLst>
                              <p:par>
                                <p:cTn id="119" presetID="1" presetClass="entr" presetSubtype="0" fill="hold" grpId="0" nodeType="afterEffect">
                                  <p:stCondLst>
                                    <p:cond delay="10000"/>
                                  </p:stCondLst>
                                  <p:childTnLst>
                                    <p:set>
                                      <p:cBhvr>
                                        <p:cTn id="120" dur="1" fill="hold">
                                          <p:stCondLst>
                                            <p:cond delay="0"/>
                                          </p:stCondLst>
                                        </p:cTn>
                                        <p:tgtEl>
                                          <p:spTgt spid="204"/>
                                        </p:tgtEl>
                                        <p:attrNameLst>
                                          <p:attrName>style.visibility</p:attrName>
                                        </p:attrNameLst>
                                      </p:cBhvr>
                                      <p:to>
                                        <p:strVal val="visible"/>
                                      </p:to>
                                    </p:set>
                                  </p:childTnLst>
                                  <p:subTnLst>
                                    <p:set>
                                      <p:cBhvr override="childStyle">
                                        <p:cTn dur="1" fill="hold" display="0" masterRel="nextClick" afterEffect="1"/>
                                        <p:tgtEl>
                                          <p:spTgt spid="204"/>
                                        </p:tgtEl>
                                        <p:attrNameLst>
                                          <p:attrName>style.visibility</p:attrName>
                                        </p:attrNameLst>
                                      </p:cBhvr>
                                      <p:to>
                                        <p:strVal val="hidden"/>
                                      </p:to>
                                    </p:set>
                                  </p:subTnLst>
                                </p:cTn>
                              </p:par>
                            </p:childTnLst>
                          </p:cTn>
                        </p:par>
                        <p:par>
                          <p:cTn id="121" fill="hold" nodeType="afterGroup">
                            <p:stCondLst>
                              <p:cond delay="380000"/>
                            </p:stCondLst>
                            <p:childTnLst>
                              <p:par>
                                <p:cTn id="122" presetID="1" presetClass="entr" presetSubtype="0" fill="hold" grpId="0" nodeType="afterEffect">
                                  <p:stCondLst>
                                    <p:cond delay="10000"/>
                                  </p:stCondLst>
                                  <p:childTnLst>
                                    <p:set>
                                      <p:cBhvr>
                                        <p:cTn id="123" dur="1" fill="hold">
                                          <p:stCondLst>
                                            <p:cond delay="0"/>
                                          </p:stCondLst>
                                        </p:cTn>
                                        <p:tgtEl>
                                          <p:spTgt spid="205"/>
                                        </p:tgtEl>
                                        <p:attrNameLst>
                                          <p:attrName>style.visibility</p:attrName>
                                        </p:attrNameLst>
                                      </p:cBhvr>
                                      <p:to>
                                        <p:strVal val="visible"/>
                                      </p:to>
                                    </p:set>
                                  </p:childTnLst>
                                  <p:subTnLst>
                                    <p:set>
                                      <p:cBhvr override="childStyle">
                                        <p:cTn dur="1" fill="hold" display="0" masterRel="nextClick" afterEffect="1"/>
                                        <p:tgtEl>
                                          <p:spTgt spid="205"/>
                                        </p:tgtEl>
                                        <p:attrNameLst>
                                          <p:attrName>style.visibility</p:attrName>
                                        </p:attrNameLst>
                                      </p:cBhvr>
                                      <p:to>
                                        <p:strVal val="hidden"/>
                                      </p:to>
                                    </p:set>
                                  </p:subTnLst>
                                </p:cTn>
                              </p:par>
                            </p:childTnLst>
                          </p:cTn>
                        </p:par>
                        <p:par>
                          <p:cTn id="124" fill="hold" nodeType="afterGroup">
                            <p:stCondLst>
                              <p:cond delay="390000"/>
                            </p:stCondLst>
                            <p:childTnLst>
                              <p:par>
                                <p:cTn id="125" presetID="1" presetClass="entr" presetSubtype="0" fill="hold" grpId="0" nodeType="afterEffect">
                                  <p:stCondLst>
                                    <p:cond delay="10000"/>
                                  </p:stCondLst>
                                  <p:childTnLst>
                                    <p:set>
                                      <p:cBhvr>
                                        <p:cTn id="126" dur="1" fill="hold">
                                          <p:stCondLst>
                                            <p:cond delay="0"/>
                                          </p:stCondLst>
                                        </p:cTn>
                                        <p:tgtEl>
                                          <p:spTgt spid="206"/>
                                        </p:tgtEl>
                                        <p:attrNameLst>
                                          <p:attrName>style.visibility</p:attrName>
                                        </p:attrNameLst>
                                      </p:cBhvr>
                                      <p:to>
                                        <p:strVal val="visible"/>
                                      </p:to>
                                    </p:set>
                                  </p:childTnLst>
                                  <p:subTnLst>
                                    <p:set>
                                      <p:cBhvr override="childStyle">
                                        <p:cTn dur="1" fill="hold" display="0" masterRel="nextClick" afterEffect="1"/>
                                        <p:tgtEl>
                                          <p:spTgt spid="206"/>
                                        </p:tgtEl>
                                        <p:attrNameLst>
                                          <p:attrName>style.visibility</p:attrName>
                                        </p:attrNameLst>
                                      </p:cBhvr>
                                      <p:to>
                                        <p:strVal val="hidden"/>
                                      </p:to>
                                    </p:set>
                                  </p:subTnLst>
                                </p:cTn>
                              </p:par>
                            </p:childTnLst>
                          </p:cTn>
                        </p:par>
                        <p:par>
                          <p:cTn id="127" fill="hold" nodeType="afterGroup">
                            <p:stCondLst>
                              <p:cond delay="400000"/>
                            </p:stCondLst>
                            <p:childTnLst>
                              <p:par>
                                <p:cTn id="128" presetID="1" presetClass="entr" presetSubtype="0" fill="hold" grpId="0" nodeType="afterEffect">
                                  <p:stCondLst>
                                    <p:cond delay="10000"/>
                                  </p:stCondLst>
                                  <p:childTnLst>
                                    <p:set>
                                      <p:cBhvr>
                                        <p:cTn id="129" dur="1" fill="hold">
                                          <p:stCondLst>
                                            <p:cond delay="0"/>
                                          </p:stCondLst>
                                        </p:cTn>
                                        <p:tgtEl>
                                          <p:spTgt spid="207"/>
                                        </p:tgtEl>
                                        <p:attrNameLst>
                                          <p:attrName>style.visibility</p:attrName>
                                        </p:attrNameLst>
                                      </p:cBhvr>
                                      <p:to>
                                        <p:strVal val="visible"/>
                                      </p:to>
                                    </p:set>
                                  </p:childTnLst>
                                  <p:subTnLst>
                                    <p:set>
                                      <p:cBhvr override="childStyle">
                                        <p:cTn dur="1" fill="hold" display="0" masterRel="nextClick" afterEffect="1"/>
                                        <p:tgtEl>
                                          <p:spTgt spid="207"/>
                                        </p:tgtEl>
                                        <p:attrNameLst>
                                          <p:attrName>style.visibility</p:attrName>
                                        </p:attrNameLst>
                                      </p:cBhvr>
                                      <p:to>
                                        <p:strVal val="hidden"/>
                                      </p:to>
                                    </p:set>
                                  </p:subTnLst>
                                </p:cTn>
                              </p:par>
                            </p:childTnLst>
                          </p:cTn>
                        </p:par>
                        <p:par>
                          <p:cTn id="130" fill="hold" nodeType="afterGroup">
                            <p:stCondLst>
                              <p:cond delay="410000"/>
                            </p:stCondLst>
                            <p:childTnLst>
                              <p:par>
                                <p:cTn id="131" presetID="1" presetClass="entr" presetSubtype="0" fill="hold" grpId="0" nodeType="afterEffect">
                                  <p:stCondLst>
                                    <p:cond delay="10000"/>
                                  </p:stCondLst>
                                  <p:childTnLst>
                                    <p:set>
                                      <p:cBhvr>
                                        <p:cTn id="132" dur="1" fill="hold">
                                          <p:stCondLst>
                                            <p:cond delay="0"/>
                                          </p:stCondLst>
                                        </p:cTn>
                                        <p:tgtEl>
                                          <p:spTgt spid="209"/>
                                        </p:tgtEl>
                                        <p:attrNameLst>
                                          <p:attrName>style.visibility</p:attrName>
                                        </p:attrNameLst>
                                      </p:cBhvr>
                                      <p:to>
                                        <p:strVal val="visible"/>
                                      </p:to>
                                    </p:set>
                                  </p:childTnLst>
                                </p:cTn>
                              </p:par>
                            </p:childTnLst>
                          </p:cTn>
                        </p:par>
                        <p:par>
                          <p:cTn id="133" fill="hold" nodeType="afterGroup">
                            <p:stCondLst>
                              <p:cond delay="420000"/>
                            </p:stCondLst>
                            <p:childTnLst>
                              <p:par>
                                <p:cTn id="134" presetID="1" presetClass="entr" presetSubtype="0" fill="hold" grpId="0" nodeType="afterEffect">
                                  <p:stCondLst>
                                    <p:cond delay="10000"/>
                                  </p:stCondLst>
                                  <p:childTnLst>
                                    <p:set>
                                      <p:cBhvr>
                                        <p:cTn id="135" dur="1" fill="hold">
                                          <p:stCondLst>
                                            <p:cond delay="0"/>
                                          </p:stCondLst>
                                        </p:cTn>
                                        <p:tgtEl>
                                          <p:spTgt spid="210"/>
                                        </p:tgtEl>
                                        <p:attrNameLst>
                                          <p:attrName>style.visibility</p:attrName>
                                        </p:attrNameLst>
                                      </p:cBhvr>
                                      <p:to>
                                        <p:strVal val="visible"/>
                                      </p:to>
                                    </p:set>
                                  </p:childTnLst>
                                  <p:subTnLst>
                                    <p:set>
                                      <p:cBhvr override="childStyle">
                                        <p:cTn dur="1" fill="hold" display="0" masterRel="nextClick" afterEffect="1"/>
                                        <p:tgtEl>
                                          <p:spTgt spid="210"/>
                                        </p:tgtEl>
                                        <p:attrNameLst>
                                          <p:attrName>style.visibility</p:attrName>
                                        </p:attrNameLst>
                                      </p:cBhvr>
                                      <p:to>
                                        <p:strVal val="hidden"/>
                                      </p:to>
                                    </p:set>
                                  </p:subTnLst>
                                </p:cTn>
                              </p:par>
                            </p:childTnLst>
                          </p:cTn>
                        </p:par>
                        <p:par>
                          <p:cTn id="136" fill="hold" nodeType="afterGroup">
                            <p:stCondLst>
                              <p:cond delay="430000"/>
                            </p:stCondLst>
                            <p:childTnLst>
                              <p:par>
                                <p:cTn id="137" presetID="1" presetClass="entr" presetSubtype="0" fill="hold" grpId="0" nodeType="afterEffect">
                                  <p:stCondLst>
                                    <p:cond delay="10000"/>
                                  </p:stCondLst>
                                  <p:childTnLst>
                                    <p:set>
                                      <p:cBhvr>
                                        <p:cTn id="138" dur="1" fill="hold">
                                          <p:stCondLst>
                                            <p:cond delay="0"/>
                                          </p:stCondLst>
                                        </p:cTn>
                                        <p:tgtEl>
                                          <p:spTgt spid="211"/>
                                        </p:tgtEl>
                                        <p:attrNameLst>
                                          <p:attrName>style.visibility</p:attrName>
                                        </p:attrNameLst>
                                      </p:cBhvr>
                                      <p:to>
                                        <p:strVal val="visible"/>
                                      </p:to>
                                    </p:set>
                                  </p:childTnLst>
                                  <p:subTnLst>
                                    <p:set>
                                      <p:cBhvr override="childStyle">
                                        <p:cTn dur="1" fill="hold" display="0" masterRel="nextClick" afterEffect="1"/>
                                        <p:tgtEl>
                                          <p:spTgt spid="211"/>
                                        </p:tgtEl>
                                        <p:attrNameLst>
                                          <p:attrName>style.visibility</p:attrName>
                                        </p:attrNameLst>
                                      </p:cBhvr>
                                      <p:to>
                                        <p:strVal val="hidden"/>
                                      </p:to>
                                    </p:set>
                                  </p:subTnLst>
                                </p:cTn>
                              </p:par>
                            </p:childTnLst>
                          </p:cTn>
                        </p:par>
                        <p:par>
                          <p:cTn id="139" fill="hold" nodeType="afterGroup">
                            <p:stCondLst>
                              <p:cond delay="440000"/>
                            </p:stCondLst>
                            <p:childTnLst>
                              <p:par>
                                <p:cTn id="140" presetID="1" presetClass="entr" presetSubtype="0" fill="hold" grpId="0" nodeType="afterEffect">
                                  <p:stCondLst>
                                    <p:cond delay="10000"/>
                                  </p:stCondLst>
                                  <p:childTnLst>
                                    <p:set>
                                      <p:cBhvr>
                                        <p:cTn id="141" dur="1" fill="hold">
                                          <p:stCondLst>
                                            <p:cond delay="0"/>
                                          </p:stCondLst>
                                        </p:cTn>
                                        <p:tgtEl>
                                          <p:spTgt spid="212"/>
                                        </p:tgtEl>
                                        <p:attrNameLst>
                                          <p:attrName>style.visibility</p:attrName>
                                        </p:attrNameLst>
                                      </p:cBhvr>
                                      <p:to>
                                        <p:strVal val="visible"/>
                                      </p:to>
                                    </p:set>
                                  </p:childTnLst>
                                  <p:subTnLst>
                                    <p:set>
                                      <p:cBhvr override="childStyle">
                                        <p:cTn dur="1" fill="hold" display="0" masterRel="nextClick" afterEffect="1"/>
                                        <p:tgtEl>
                                          <p:spTgt spid="212"/>
                                        </p:tgtEl>
                                        <p:attrNameLst>
                                          <p:attrName>style.visibility</p:attrName>
                                        </p:attrNameLst>
                                      </p:cBhvr>
                                      <p:to>
                                        <p:strVal val="hidden"/>
                                      </p:to>
                                    </p:set>
                                  </p:subTnLst>
                                </p:cTn>
                              </p:par>
                            </p:childTnLst>
                          </p:cTn>
                        </p:par>
                        <p:par>
                          <p:cTn id="142" fill="hold" nodeType="afterGroup">
                            <p:stCondLst>
                              <p:cond delay="450000"/>
                            </p:stCondLst>
                            <p:childTnLst>
                              <p:par>
                                <p:cTn id="143" presetID="1" presetClass="entr" presetSubtype="0" fill="hold" grpId="0" nodeType="afterEffect">
                                  <p:stCondLst>
                                    <p:cond delay="10000"/>
                                  </p:stCondLst>
                                  <p:childTnLst>
                                    <p:set>
                                      <p:cBhvr>
                                        <p:cTn id="144" dur="1" fill="hold">
                                          <p:stCondLst>
                                            <p:cond delay="0"/>
                                          </p:stCondLst>
                                        </p:cTn>
                                        <p:tgtEl>
                                          <p:spTgt spid="213"/>
                                        </p:tgtEl>
                                        <p:attrNameLst>
                                          <p:attrName>style.visibility</p:attrName>
                                        </p:attrNameLst>
                                      </p:cBhvr>
                                      <p:to>
                                        <p:strVal val="visible"/>
                                      </p:to>
                                    </p:set>
                                  </p:childTnLst>
                                  <p:subTnLst>
                                    <p:set>
                                      <p:cBhvr override="childStyle">
                                        <p:cTn dur="1" fill="hold" display="0" masterRel="nextClick" afterEffect="1"/>
                                        <p:tgtEl>
                                          <p:spTgt spid="213"/>
                                        </p:tgtEl>
                                        <p:attrNameLst>
                                          <p:attrName>style.visibility</p:attrName>
                                        </p:attrNameLst>
                                      </p:cBhvr>
                                      <p:to>
                                        <p:strVal val="hidden"/>
                                      </p:to>
                                    </p:set>
                                  </p:subTnLst>
                                </p:cTn>
                              </p:par>
                            </p:childTnLst>
                          </p:cTn>
                        </p:par>
                        <p:par>
                          <p:cTn id="145" fill="hold" nodeType="afterGroup">
                            <p:stCondLst>
                              <p:cond delay="460000"/>
                            </p:stCondLst>
                            <p:childTnLst>
                              <p:par>
                                <p:cTn id="146" presetID="1" presetClass="entr" presetSubtype="0" fill="hold" grpId="0" nodeType="afterEffect">
                                  <p:stCondLst>
                                    <p:cond delay="10000"/>
                                  </p:stCondLst>
                                  <p:childTnLst>
                                    <p:set>
                                      <p:cBhvr>
                                        <p:cTn id="147" dur="1" fill="hold">
                                          <p:stCondLst>
                                            <p:cond delay="0"/>
                                          </p:stCondLst>
                                        </p:cTn>
                                        <p:tgtEl>
                                          <p:spTgt spid="214"/>
                                        </p:tgtEl>
                                        <p:attrNameLst>
                                          <p:attrName>style.visibility</p:attrName>
                                        </p:attrNameLst>
                                      </p:cBhvr>
                                      <p:to>
                                        <p:strVal val="visible"/>
                                      </p:to>
                                    </p:set>
                                  </p:childTnLst>
                                  <p:subTnLst>
                                    <p:set>
                                      <p:cBhvr override="childStyle">
                                        <p:cTn dur="1" fill="hold" display="0" masterRel="nextClick" afterEffect="1"/>
                                        <p:tgtEl>
                                          <p:spTgt spid="214"/>
                                        </p:tgtEl>
                                        <p:attrNameLst>
                                          <p:attrName>style.visibility</p:attrName>
                                        </p:attrNameLst>
                                      </p:cBhvr>
                                      <p:to>
                                        <p:strVal val="hidden"/>
                                      </p:to>
                                    </p:set>
                                  </p:subTnLst>
                                </p:cTn>
                              </p:par>
                            </p:childTnLst>
                          </p:cTn>
                        </p:par>
                        <p:par>
                          <p:cTn id="148" fill="hold" nodeType="afterGroup">
                            <p:stCondLst>
                              <p:cond delay="470000"/>
                            </p:stCondLst>
                            <p:childTnLst>
                              <p:par>
                                <p:cTn id="149" presetID="1" presetClass="entr" presetSubtype="0" fill="hold" grpId="0" nodeType="afterEffect">
                                  <p:stCondLst>
                                    <p:cond delay="10000"/>
                                  </p:stCondLst>
                                  <p:childTnLst>
                                    <p:set>
                                      <p:cBhvr>
                                        <p:cTn id="150" dur="1" fill="hold">
                                          <p:stCondLst>
                                            <p:cond delay="0"/>
                                          </p:stCondLst>
                                        </p:cTn>
                                        <p:tgtEl>
                                          <p:spTgt spid="216"/>
                                        </p:tgtEl>
                                        <p:attrNameLst>
                                          <p:attrName>style.visibility</p:attrName>
                                        </p:attrNameLst>
                                      </p:cBhvr>
                                      <p:to>
                                        <p:strVal val="visible"/>
                                      </p:to>
                                    </p:set>
                                  </p:childTnLst>
                                </p:cTn>
                              </p:par>
                            </p:childTnLst>
                          </p:cTn>
                        </p:par>
                        <p:par>
                          <p:cTn id="151" fill="hold" nodeType="afterGroup">
                            <p:stCondLst>
                              <p:cond delay="480000"/>
                            </p:stCondLst>
                            <p:childTnLst>
                              <p:par>
                                <p:cTn id="152" presetID="1" presetClass="entr" presetSubtype="0" fill="hold" grpId="0" nodeType="afterEffect">
                                  <p:stCondLst>
                                    <p:cond delay="10000"/>
                                  </p:stCondLst>
                                  <p:childTnLst>
                                    <p:set>
                                      <p:cBhvr>
                                        <p:cTn id="153" dur="1" fill="hold">
                                          <p:stCondLst>
                                            <p:cond delay="0"/>
                                          </p:stCondLst>
                                        </p:cTn>
                                        <p:tgtEl>
                                          <p:spTgt spid="217"/>
                                        </p:tgtEl>
                                        <p:attrNameLst>
                                          <p:attrName>style.visibility</p:attrName>
                                        </p:attrNameLst>
                                      </p:cBhvr>
                                      <p:to>
                                        <p:strVal val="visible"/>
                                      </p:to>
                                    </p:set>
                                  </p:childTnLst>
                                  <p:subTnLst>
                                    <p:set>
                                      <p:cBhvr override="childStyle">
                                        <p:cTn dur="1" fill="hold" display="0" masterRel="nextClick" afterEffect="1"/>
                                        <p:tgtEl>
                                          <p:spTgt spid="217"/>
                                        </p:tgtEl>
                                        <p:attrNameLst>
                                          <p:attrName>style.visibility</p:attrName>
                                        </p:attrNameLst>
                                      </p:cBhvr>
                                      <p:to>
                                        <p:strVal val="hidden"/>
                                      </p:to>
                                    </p:set>
                                  </p:subTnLst>
                                </p:cTn>
                              </p:par>
                            </p:childTnLst>
                          </p:cTn>
                        </p:par>
                        <p:par>
                          <p:cTn id="154" fill="hold" nodeType="afterGroup">
                            <p:stCondLst>
                              <p:cond delay="490000"/>
                            </p:stCondLst>
                            <p:childTnLst>
                              <p:par>
                                <p:cTn id="155" presetID="1" presetClass="entr" presetSubtype="0" fill="hold" grpId="0" nodeType="afterEffect">
                                  <p:stCondLst>
                                    <p:cond delay="10000"/>
                                  </p:stCondLst>
                                  <p:childTnLst>
                                    <p:set>
                                      <p:cBhvr>
                                        <p:cTn id="156" dur="1" fill="hold">
                                          <p:stCondLst>
                                            <p:cond delay="0"/>
                                          </p:stCondLst>
                                        </p:cTn>
                                        <p:tgtEl>
                                          <p:spTgt spid="218"/>
                                        </p:tgtEl>
                                        <p:attrNameLst>
                                          <p:attrName>style.visibility</p:attrName>
                                        </p:attrNameLst>
                                      </p:cBhvr>
                                      <p:to>
                                        <p:strVal val="visible"/>
                                      </p:to>
                                    </p:set>
                                  </p:childTnLst>
                                  <p:subTnLst>
                                    <p:set>
                                      <p:cBhvr override="childStyle">
                                        <p:cTn dur="1" fill="hold" display="0" masterRel="nextClick" afterEffect="1"/>
                                        <p:tgtEl>
                                          <p:spTgt spid="218"/>
                                        </p:tgtEl>
                                        <p:attrNameLst>
                                          <p:attrName>style.visibility</p:attrName>
                                        </p:attrNameLst>
                                      </p:cBhvr>
                                      <p:to>
                                        <p:strVal val="hidden"/>
                                      </p:to>
                                    </p:set>
                                  </p:subTnLst>
                                </p:cTn>
                              </p:par>
                            </p:childTnLst>
                          </p:cTn>
                        </p:par>
                        <p:par>
                          <p:cTn id="157" fill="hold" nodeType="afterGroup">
                            <p:stCondLst>
                              <p:cond delay="500000"/>
                            </p:stCondLst>
                            <p:childTnLst>
                              <p:par>
                                <p:cTn id="158" presetID="1" presetClass="entr" presetSubtype="0" fill="hold" grpId="0" nodeType="afterEffect">
                                  <p:stCondLst>
                                    <p:cond delay="10000"/>
                                  </p:stCondLst>
                                  <p:childTnLst>
                                    <p:set>
                                      <p:cBhvr>
                                        <p:cTn id="159" dur="1" fill="hold">
                                          <p:stCondLst>
                                            <p:cond delay="0"/>
                                          </p:stCondLst>
                                        </p:cTn>
                                        <p:tgtEl>
                                          <p:spTgt spid="219"/>
                                        </p:tgtEl>
                                        <p:attrNameLst>
                                          <p:attrName>style.visibility</p:attrName>
                                        </p:attrNameLst>
                                      </p:cBhvr>
                                      <p:to>
                                        <p:strVal val="visible"/>
                                      </p:to>
                                    </p:set>
                                  </p:childTnLst>
                                  <p:subTnLst>
                                    <p:set>
                                      <p:cBhvr override="childStyle">
                                        <p:cTn dur="1" fill="hold" display="0" masterRel="nextClick" afterEffect="1"/>
                                        <p:tgtEl>
                                          <p:spTgt spid="219"/>
                                        </p:tgtEl>
                                        <p:attrNameLst>
                                          <p:attrName>style.visibility</p:attrName>
                                        </p:attrNameLst>
                                      </p:cBhvr>
                                      <p:to>
                                        <p:strVal val="hidden"/>
                                      </p:to>
                                    </p:set>
                                  </p:subTnLst>
                                </p:cTn>
                              </p:par>
                            </p:childTnLst>
                          </p:cTn>
                        </p:par>
                        <p:par>
                          <p:cTn id="160" fill="hold" nodeType="afterGroup">
                            <p:stCondLst>
                              <p:cond delay="510000"/>
                            </p:stCondLst>
                            <p:childTnLst>
                              <p:par>
                                <p:cTn id="161" presetID="1" presetClass="entr" presetSubtype="0" fill="hold" grpId="0" nodeType="afterEffect">
                                  <p:stCondLst>
                                    <p:cond delay="10000"/>
                                  </p:stCondLst>
                                  <p:childTnLst>
                                    <p:set>
                                      <p:cBhvr>
                                        <p:cTn id="162" dur="1" fill="hold">
                                          <p:stCondLst>
                                            <p:cond delay="0"/>
                                          </p:stCondLst>
                                        </p:cTn>
                                        <p:tgtEl>
                                          <p:spTgt spid="220"/>
                                        </p:tgtEl>
                                        <p:attrNameLst>
                                          <p:attrName>style.visibility</p:attrName>
                                        </p:attrNameLst>
                                      </p:cBhvr>
                                      <p:to>
                                        <p:strVal val="visible"/>
                                      </p:to>
                                    </p:set>
                                  </p:childTnLst>
                                  <p:subTnLst>
                                    <p:set>
                                      <p:cBhvr override="childStyle">
                                        <p:cTn dur="1" fill="hold" display="0" masterRel="nextClick" afterEffect="1"/>
                                        <p:tgtEl>
                                          <p:spTgt spid="220"/>
                                        </p:tgtEl>
                                        <p:attrNameLst>
                                          <p:attrName>style.visibility</p:attrName>
                                        </p:attrNameLst>
                                      </p:cBhvr>
                                      <p:to>
                                        <p:strVal val="hidden"/>
                                      </p:to>
                                    </p:set>
                                  </p:subTnLst>
                                </p:cTn>
                              </p:par>
                            </p:childTnLst>
                          </p:cTn>
                        </p:par>
                        <p:par>
                          <p:cTn id="163" fill="hold" nodeType="afterGroup">
                            <p:stCondLst>
                              <p:cond delay="520000"/>
                            </p:stCondLst>
                            <p:childTnLst>
                              <p:par>
                                <p:cTn id="164" presetID="1" presetClass="entr" presetSubtype="0" fill="hold" grpId="0" nodeType="afterEffect">
                                  <p:stCondLst>
                                    <p:cond delay="10000"/>
                                  </p:stCondLst>
                                  <p:childTnLst>
                                    <p:set>
                                      <p:cBhvr>
                                        <p:cTn id="165" dur="1" fill="hold">
                                          <p:stCondLst>
                                            <p:cond delay="0"/>
                                          </p:stCondLst>
                                        </p:cTn>
                                        <p:tgtEl>
                                          <p:spTgt spid="221"/>
                                        </p:tgtEl>
                                        <p:attrNameLst>
                                          <p:attrName>style.visibility</p:attrName>
                                        </p:attrNameLst>
                                      </p:cBhvr>
                                      <p:to>
                                        <p:strVal val="visible"/>
                                      </p:to>
                                    </p:set>
                                  </p:childTnLst>
                                  <p:subTnLst>
                                    <p:set>
                                      <p:cBhvr override="childStyle">
                                        <p:cTn dur="1" fill="hold" display="0" masterRel="nextClick" afterEffect="1"/>
                                        <p:tgtEl>
                                          <p:spTgt spid="221"/>
                                        </p:tgtEl>
                                        <p:attrNameLst>
                                          <p:attrName>style.visibility</p:attrName>
                                        </p:attrNameLst>
                                      </p:cBhvr>
                                      <p:to>
                                        <p:strVal val="hidden"/>
                                      </p:to>
                                    </p:set>
                                  </p:subTnLst>
                                </p:cTn>
                              </p:par>
                            </p:childTnLst>
                          </p:cTn>
                        </p:par>
                        <p:par>
                          <p:cTn id="166" fill="hold" nodeType="afterGroup">
                            <p:stCondLst>
                              <p:cond delay="530000"/>
                            </p:stCondLst>
                            <p:childTnLst>
                              <p:par>
                                <p:cTn id="167" presetID="1" presetClass="entr" presetSubtype="0" fill="hold" grpId="0" nodeType="afterEffect">
                                  <p:stCondLst>
                                    <p:cond delay="10000"/>
                                  </p:stCondLst>
                                  <p:childTnLst>
                                    <p:set>
                                      <p:cBhvr>
                                        <p:cTn id="168" dur="1" fill="hold">
                                          <p:stCondLst>
                                            <p:cond delay="0"/>
                                          </p:stCondLst>
                                        </p:cTn>
                                        <p:tgtEl>
                                          <p:spTgt spid="223"/>
                                        </p:tgtEl>
                                        <p:attrNameLst>
                                          <p:attrName>style.visibility</p:attrName>
                                        </p:attrNameLst>
                                      </p:cBhvr>
                                      <p:to>
                                        <p:strVal val="visible"/>
                                      </p:to>
                                    </p:set>
                                  </p:childTnLst>
                                </p:cTn>
                              </p:par>
                            </p:childTnLst>
                          </p:cTn>
                        </p:par>
                        <p:par>
                          <p:cTn id="169" fill="hold" nodeType="afterGroup">
                            <p:stCondLst>
                              <p:cond delay="540000"/>
                            </p:stCondLst>
                            <p:childTnLst>
                              <p:par>
                                <p:cTn id="170" presetID="1" presetClass="entr" presetSubtype="0" fill="hold" grpId="0" nodeType="afterEffect">
                                  <p:stCondLst>
                                    <p:cond delay="10000"/>
                                  </p:stCondLst>
                                  <p:childTnLst>
                                    <p:set>
                                      <p:cBhvr>
                                        <p:cTn id="171" dur="1" fill="hold">
                                          <p:stCondLst>
                                            <p:cond delay="0"/>
                                          </p:stCondLst>
                                        </p:cTn>
                                        <p:tgtEl>
                                          <p:spTgt spid="224"/>
                                        </p:tgtEl>
                                        <p:attrNameLst>
                                          <p:attrName>style.visibility</p:attrName>
                                        </p:attrNameLst>
                                      </p:cBhvr>
                                      <p:to>
                                        <p:strVal val="visible"/>
                                      </p:to>
                                    </p:set>
                                  </p:childTnLst>
                                  <p:subTnLst>
                                    <p:set>
                                      <p:cBhvr override="childStyle">
                                        <p:cTn dur="1" fill="hold" display="0" masterRel="nextClick" afterEffect="1"/>
                                        <p:tgtEl>
                                          <p:spTgt spid="224"/>
                                        </p:tgtEl>
                                        <p:attrNameLst>
                                          <p:attrName>style.visibility</p:attrName>
                                        </p:attrNameLst>
                                      </p:cBhvr>
                                      <p:to>
                                        <p:strVal val="hidden"/>
                                      </p:to>
                                    </p:set>
                                  </p:subTnLst>
                                </p:cTn>
                              </p:par>
                            </p:childTnLst>
                          </p:cTn>
                        </p:par>
                        <p:par>
                          <p:cTn id="172" fill="hold" nodeType="afterGroup">
                            <p:stCondLst>
                              <p:cond delay="550000"/>
                            </p:stCondLst>
                            <p:childTnLst>
                              <p:par>
                                <p:cTn id="173" presetID="1" presetClass="entr" presetSubtype="0" fill="hold" grpId="0" nodeType="afterEffect">
                                  <p:stCondLst>
                                    <p:cond delay="10000"/>
                                  </p:stCondLst>
                                  <p:childTnLst>
                                    <p:set>
                                      <p:cBhvr>
                                        <p:cTn id="174" dur="1" fill="hold">
                                          <p:stCondLst>
                                            <p:cond delay="0"/>
                                          </p:stCondLst>
                                        </p:cTn>
                                        <p:tgtEl>
                                          <p:spTgt spid="225"/>
                                        </p:tgtEl>
                                        <p:attrNameLst>
                                          <p:attrName>style.visibility</p:attrName>
                                        </p:attrNameLst>
                                      </p:cBhvr>
                                      <p:to>
                                        <p:strVal val="visible"/>
                                      </p:to>
                                    </p:set>
                                  </p:childTnLst>
                                  <p:subTnLst>
                                    <p:set>
                                      <p:cBhvr override="childStyle">
                                        <p:cTn dur="1" fill="hold" display="0" masterRel="nextClick" afterEffect="1"/>
                                        <p:tgtEl>
                                          <p:spTgt spid="225"/>
                                        </p:tgtEl>
                                        <p:attrNameLst>
                                          <p:attrName>style.visibility</p:attrName>
                                        </p:attrNameLst>
                                      </p:cBhvr>
                                      <p:to>
                                        <p:strVal val="hidden"/>
                                      </p:to>
                                    </p:set>
                                  </p:subTnLst>
                                </p:cTn>
                              </p:par>
                            </p:childTnLst>
                          </p:cTn>
                        </p:par>
                        <p:par>
                          <p:cTn id="175" fill="hold" nodeType="afterGroup">
                            <p:stCondLst>
                              <p:cond delay="560000"/>
                            </p:stCondLst>
                            <p:childTnLst>
                              <p:par>
                                <p:cTn id="176" presetID="1" presetClass="entr" presetSubtype="0" fill="hold" grpId="0" nodeType="afterEffect">
                                  <p:stCondLst>
                                    <p:cond delay="10000"/>
                                  </p:stCondLst>
                                  <p:childTnLst>
                                    <p:set>
                                      <p:cBhvr>
                                        <p:cTn id="177" dur="1" fill="hold">
                                          <p:stCondLst>
                                            <p:cond delay="0"/>
                                          </p:stCondLst>
                                        </p:cTn>
                                        <p:tgtEl>
                                          <p:spTgt spid="226"/>
                                        </p:tgtEl>
                                        <p:attrNameLst>
                                          <p:attrName>style.visibility</p:attrName>
                                        </p:attrNameLst>
                                      </p:cBhvr>
                                      <p:to>
                                        <p:strVal val="visible"/>
                                      </p:to>
                                    </p:set>
                                  </p:childTnLst>
                                  <p:subTnLst>
                                    <p:set>
                                      <p:cBhvr override="childStyle">
                                        <p:cTn dur="1" fill="hold" display="0" masterRel="nextClick" afterEffect="1"/>
                                        <p:tgtEl>
                                          <p:spTgt spid="226"/>
                                        </p:tgtEl>
                                        <p:attrNameLst>
                                          <p:attrName>style.visibility</p:attrName>
                                        </p:attrNameLst>
                                      </p:cBhvr>
                                      <p:to>
                                        <p:strVal val="hidden"/>
                                      </p:to>
                                    </p:set>
                                  </p:subTnLst>
                                </p:cTn>
                              </p:par>
                            </p:childTnLst>
                          </p:cTn>
                        </p:par>
                        <p:par>
                          <p:cTn id="178" fill="hold" nodeType="afterGroup">
                            <p:stCondLst>
                              <p:cond delay="570000"/>
                            </p:stCondLst>
                            <p:childTnLst>
                              <p:par>
                                <p:cTn id="179" presetID="1" presetClass="entr" presetSubtype="0" fill="hold" grpId="0" nodeType="afterEffect">
                                  <p:stCondLst>
                                    <p:cond delay="10000"/>
                                  </p:stCondLst>
                                  <p:childTnLst>
                                    <p:set>
                                      <p:cBhvr>
                                        <p:cTn id="180" dur="1" fill="hold">
                                          <p:stCondLst>
                                            <p:cond delay="0"/>
                                          </p:stCondLst>
                                        </p:cTn>
                                        <p:tgtEl>
                                          <p:spTgt spid="227"/>
                                        </p:tgtEl>
                                        <p:attrNameLst>
                                          <p:attrName>style.visibility</p:attrName>
                                        </p:attrNameLst>
                                      </p:cBhvr>
                                      <p:to>
                                        <p:strVal val="visible"/>
                                      </p:to>
                                    </p:set>
                                  </p:childTnLst>
                                  <p:subTnLst>
                                    <p:set>
                                      <p:cBhvr override="childStyle">
                                        <p:cTn dur="1" fill="hold" display="0" masterRel="nextClick" afterEffect="1"/>
                                        <p:tgtEl>
                                          <p:spTgt spid="227"/>
                                        </p:tgtEl>
                                        <p:attrNameLst>
                                          <p:attrName>style.visibility</p:attrName>
                                        </p:attrNameLst>
                                      </p:cBhvr>
                                      <p:to>
                                        <p:strVal val="hidden"/>
                                      </p:to>
                                    </p:set>
                                  </p:subTnLst>
                                </p:cTn>
                              </p:par>
                            </p:childTnLst>
                          </p:cTn>
                        </p:par>
                        <p:par>
                          <p:cTn id="181" fill="hold" nodeType="afterGroup">
                            <p:stCondLst>
                              <p:cond delay="580000"/>
                            </p:stCondLst>
                            <p:childTnLst>
                              <p:par>
                                <p:cTn id="182" presetID="1" presetClass="entr" presetSubtype="0" fill="hold" grpId="0" nodeType="afterEffect">
                                  <p:stCondLst>
                                    <p:cond delay="10000"/>
                                  </p:stCondLst>
                                  <p:childTnLst>
                                    <p:set>
                                      <p:cBhvr>
                                        <p:cTn id="183" dur="1" fill="hold">
                                          <p:stCondLst>
                                            <p:cond delay="0"/>
                                          </p:stCondLst>
                                        </p:cTn>
                                        <p:tgtEl>
                                          <p:spTgt spid="228"/>
                                        </p:tgtEl>
                                        <p:attrNameLst>
                                          <p:attrName>style.visibility</p:attrName>
                                        </p:attrNameLst>
                                      </p:cBhvr>
                                      <p:to>
                                        <p:strVal val="visible"/>
                                      </p:to>
                                    </p:set>
                                  </p:childTnLst>
                                  <p:subTnLst>
                                    <p:set>
                                      <p:cBhvr override="childStyle">
                                        <p:cTn dur="1" fill="hold" display="0" masterRel="nextClick" afterEffect="1"/>
                                        <p:tgtEl>
                                          <p:spTgt spid="228"/>
                                        </p:tgtEl>
                                        <p:attrNameLst>
                                          <p:attrName>style.visibility</p:attrName>
                                        </p:attrNameLst>
                                      </p:cBhvr>
                                      <p:to>
                                        <p:strVal val="hidden"/>
                                      </p:to>
                                    </p:set>
                                  </p:subTnLst>
                                </p:cTn>
                              </p:par>
                            </p:childTnLst>
                          </p:cTn>
                        </p:par>
                        <p:par>
                          <p:cTn id="184" fill="hold" nodeType="afterGroup">
                            <p:stCondLst>
                              <p:cond delay="590000"/>
                            </p:stCondLst>
                            <p:childTnLst>
                              <p:par>
                                <p:cTn id="185" presetID="1" presetClass="entr" presetSubtype="0" fill="hold" grpId="0" nodeType="afterEffect">
                                  <p:stCondLst>
                                    <p:cond delay="10000"/>
                                  </p:stCondLst>
                                  <p:childTnLst>
                                    <p:set>
                                      <p:cBhvr>
                                        <p:cTn id="186" dur="1" fill="hold">
                                          <p:stCondLst>
                                            <p:cond delay="0"/>
                                          </p:stCondLst>
                                        </p:cTn>
                                        <p:tgtEl>
                                          <p:spTgt spid="230"/>
                                        </p:tgtEl>
                                        <p:attrNameLst>
                                          <p:attrName>style.visibility</p:attrName>
                                        </p:attrNameLst>
                                      </p:cBhvr>
                                      <p:to>
                                        <p:strVal val="visible"/>
                                      </p:to>
                                    </p:set>
                                  </p:childTnLst>
                                </p:cTn>
                              </p:par>
                            </p:childTnLst>
                          </p:cTn>
                        </p:par>
                        <p:par>
                          <p:cTn id="187" fill="hold" nodeType="afterGroup">
                            <p:stCondLst>
                              <p:cond delay="600000"/>
                            </p:stCondLst>
                            <p:childTnLst>
                              <p:par>
                                <p:cTn id="188" presetID="1" presetClass="entr" presetSubtype="0" fill="hold" grpId="0" nodeType="afterEffect">
                                  <p:stCondLst>
                                    <p:cond delay="10000"/>
                                  </p:stCondLst>
                                  <p:childTnLst>
                                    <p:set>
                                      <p:cBhvr>
                                        <p:cTn id="189" dur="1" fill="hold">
                                          <p:stCondLst>
                                            <p:cond delay="0"/>
                                          </p:stCondLst>
                                        </p:cTn>
                                        <p:tgtEl>
                                          <p:spTgt spid="231"/>
                                        </p:tgtEl>
                                        <p:attrNameLst>
                                          <p:attrName>style.visibility</p:attrName>
                                        </p:attrNameLst>
                                      </p:cBhvr>
                                      <p:to>
                                        <p:strVal val="visible"/>
                                      </p:to>
                                    </p:set>
                                  </p:childTnLst>
                                  <p:subTnLst>
                                    <p:set>
                                      <p:cBhvr override="childStyle">
                                        <p:cTn dur="1" fill="hold" display="0" masterRel="nextClick" afterEffect="1"/>
                                        <p:tgtEl>
                                          <p:spTgt spid="231"/>
                                        </p:tgtEl>
                                        <p:attrNameLst>
                                          <p:attrName>style.visibility</p:attrName>
                                        </p:attrNameLst>
                                      </p:cBhvr>
                                      <p:to>
                                        <p:strVal val="hidden"/>
                                      </p:to>
                                    </p:set>
                                  </p:subTnLst>
                                </p:cTn>
                              </p:par>
                            </p:childTnLst>
                          </p:cTn>
                        </p:par>
                        <p:par>
                          <p:cTn id="190" fill="hold" nodeType="afterGroup">
                            <p:stCondLst>
                              <p:cond delay="610000"/>
                            </p:stCondLst>
                            <p:childTnLst>
                              <p:par>
                                <p:cTn id="191" presetID="1" presetClass="entr" presetSubtype="0" fill="hold" grpId="0" nodeType="afterEffect">
                                  <p:stCondLst>
                                    <p:cond delay="10000"/>
                                  </p:stCondLst>
                                  <p:childTnLst>
                                    <p:set>
                                      <p:cBhvr>
                                        <p:cTn id="192" dur="1" fill="hold">
                                          <p:stCondLst>
                                            <p:cond delay="0"/>
                                          </p:stCondLst>
                                        </p:cTn>
                                        <p:tgtEl>
                                          <p:spTgt spid="232"/>
                                        </p:tgtEl>
                                        <p:attrNameLst>
                                          <p:attrName>style.visibility</p:attrName>
                                        </p:attrNameLst>
                                      </p:cBhvr>
                                      <p:to>
                                        <p:strVal val="visible"/>
                                      </p:to>
                                    </p:set>
                                  </p:childTnLst>
                                  <p:subTnLst>
                                    <p:set>
                                      <p:cBhvr override="childStyle">
                                        <p:cTn dur="1" fill="hold" display="0" masterRel="nextClick" afterEffect="1"/>
                                        <p:tgtEl>
                                          <p:spTgt spid="232"/>
                                        </p:tgtEl>
                                        <p:attrNameLst>
                                          <p:attrName>style.visibility</p:attrName>
                                        </p:attrNameLst>
                                      </p:cBhvr>
                                      <p:to>
                                        <p:strVal val="hidden"/>
                                      </p:to>
                                    </p:set>
                                  </p:subTnLst>
                                </p:cTn>
                              </p:par>
                            </p:childTnLst>
                          </p:cTn>
                        </p:par>
                        <p:par>
                          <p:cTn id="193" fill="hold" nodeType="afterGroup">
                            <p:stCondLst>
                              <p:cond delay="620000"/>
                            </p:stCondLst>
                            <p:childTnLst>
                              <p:par>
                                <p:cTn id="194" presetID="1" presetClass="entr" presetSubtype="0" fill="hold" grpId="0" nodeType="afterEffect">
                                  <p:stCondLst>
                                    <p:cond delay="10000"/>
                                  </p:stCondLst>
                                  <p:childTnLst>
                                    <p:set>
                                      <p:cBhvr>
                                        <p:cTn id="195" dur="1" fill="hold">
                                          <p:stCondLst>
                                            <p:cond delay="0"/>
                                          </p:stCondLst>
                                        </p:cTn>
                                        <p:tgtEl>
                                          <p:spTgt spid="233"/>
                                        </p:tgtEl>
                                        <p:attrNameLst>
                                          <p:attrName>style.visibility</p:attrName>
                                        </p:attrNameLst>
                                      </p:cBhvr>
                                      <p:to>
                                        <p:strVal val="visible"/>
                                      </p:to>
                                    </p:set>
                                  </p:childTnLst>
                                  <p:subTnLst>
                                    <p:set>
                                      <p:cBhvr override="childStyle">
                                        <p:cTn dur="1" fill="hold" display="0" masterRel="nextClick" afterEffect="1"/>
                                        <p:tgtEl>
                                          <p:spTgt spid="233"/>
                                        </p:tgtEl>
                                        <p:attrNameLst>
                                          <p:attrName>style.visibility</p:attrName>
                                        </p:attrNameLst>
                                      </p:cBhvr>
                                      <p:to>
                                        <p:strVal val="hidden"/>
                                      </p:to>
                                    </p:set>
                                  </p:subTnLst>
                                </p:cTn>
                              </p:par>
                            </p:childTnLst>
                          </p:cTn>
                        </p:par>
                        <p:par>
                          <p:cTn id="196" fill="hold" nodeType="afterGroup">
                            <p:stCondLst>
                              <p:cond delay="630000"/>
                            </p:stCondLst>
                            <p:childTnLst>
                              <p:par>
                                <p:cTn id="197" presetID="1" presetClass="entr" presetSubtype="0" fill="hold" grpId="0" nodeType="afterEffect">
                                  <p:stCondLst>
                                    <p:cond delay="10000"/>
                                  </p:stCondLst>
                                  <p:childTnLst>
                                    <p:set>
                                      <p:cBhvr>
                                        <p:cTn id="198" dur="1" fill="hold">
                                          <p:stCondLst>
                                            <p:cond delay="0"/>
                                          </p:stCondLst>
                                        </p:cTn>
                                        <p:tgtEl>
                                          <p:spTgt spid="234"/>
                                        </p:tgtEl>
                                        <p:attrNameLst>
                                          <p:attrName>style.visibility</p:attrName>
                                        </p:attrNameLst>
                                      </p:cBhvr>
                                      <p:to>
                                        <p:strVal val="visible"/>
                                      </p:to>
                                    </p:set>
                                  </p:childTnLst>
                                  <p:subTnLst>
                                    <p:set>
                                      <p:cBhvr override="childStyle">
                                        <p:cTn dur="1" fill="hold" display="0" masterRel="nextClick" afterEffect="1"/>
                                        <p:tgtEl>
                                          <p:spTgt spid="234"/>
                                        </p:tgtEl>
                                        <p:attrNameLst>
                                          <p:attrName>style.visibility</p:attrName>
                                        </p:attrNameLst>
                                      </p:cBhvr>
                                      <p:to>
                                        <p:strVal val="hidden"/>
                                      </p:to>
                                    </p:set>
                                  </p:subTnLst>
                                </p:cTn>
                              </p:par>
                            </p:childTnLst>
                          </p:cTn>
                        </p:par>
                        <p:par>
                          <p:cTn id="199" fill="hold" nodeType="afterGroup">
                            <p:stCondLst>
                              <p:cond delay="640000"/>
                            </p:stCondLst>
                            <p:childTnLst>
                              <p:par>
                                <p:cTn id="200" presetID="1" presetClass="entr" presetSubtype="0" fill="hold" grpId="0" nodeType="afterEffect">
                                  <p:stCondLst>
                                    <p:cond delay="10000"/>
                                  </p:stCondLst>
                                  <p:childTnLst>
                                    <p:set>
                                      <p:cBhvr>
                                        <p:cTn id="201" dur="1" fill="hold">
                                          <p:stCondLst>
                                            <p:cond delay="0"/>
                                          </p:stCondLst>
                                        </p:cTn>
                                        <p:tgtEl>
                                          <p:spTgt spid="235"/>
                                        </p:tgtEl>
                                        <p:attrNameLst>
                                          <p:attrName>style.visibility</p:attrName>
                                        </p:attrNameLst>
                                      </p:cBhvr>
                                      <p:to>
                                        <p:strVal val="visible"/>
                                      </p:to>
                                    </p:set>
                                  </p:childTnLst>
                                  <p:subTnLst>
                                    <p:set>
                                      <p:cBhvr override="childStyle">
                                        <p:cTn dur="1" fill="hold" display="0" masterRel="nextClick" afterEffect="1"/>
                                        <p:tgtEl>
                                          <p:spTgt spid="235"/>
                                        </p:tgtEl>
                                        <p:attrNameLst>
                                          <p:attrName>style.visibility</p:attrName>
                                        </p:attrNameLst>
                                      </p:cBhvr>
                                      <p:to>
                                        <p:strVal val="hidden"/>
                                      </p:to>
                                    </p:set>
                                  </p:subTnLst>
                                </p:cTn>
                              </p:par>
                            </p:childTnLst>
                          </p:cTn>
                        </p:par>
                        <p:par>
                          <p:cTn id="202" fill="hold" nodeType="afterGroup">
                            <p:stCondLst>
                              <p:cond delay="650000"/>
                            </p:stCondLst>
                            <p:childTnLst>
                              <p:par>
                                <p:cTn id="203" presetID="1" presetClass="entr" presetSubtype="0" fill="hold" grpId="0" nodeType="afterEffect">
                                  <p:stCondLst>
                                    <p:cond delay="10000"/>
                                  </p:stCondLst>
                                  <p:childTnLst>
                                    <p:set>
                                      <p:cBhvr>
                                        <p:cTn id="204" dur="1" fill="hold">
                                          <p:stCondLst>
                                            <p:cond delay="0"/>
                                          </p:stCondLst>
                                        </p:cTn>
                                        <p:tgtEl>
                                          <p:spTgt spid="237"/>
                                        </p:tgtEl>
                                        <p:attrNameLst>
                                          <p:attrName>style.visibility</p:attrName>
                                        </p:attrNameLst>
                                      </p:cBhvr>
                                      <p:to>
                                        <p:strVal val="visible"/>
                                      </p:to>
                                    </p:set>
                                  </p:childTnLst>
                                </p:cTn>
                              </p:par>
                            </p:childTnLst>
                          </p:cTn>
                        </p:par>
                        <p:par>
                          <p:cTn id="205" fill="hold" nodeType="afterGroup">
                            <p:stCondLst>
                              <p:cond delay="660000"/>
                            </p:stCondLst>
                            <p:childTnLst>
                              <p:par>
                                <p:cTn id="206" presetID="1" presetClass="entr" presetSubtype="0" fill="hold" grpId="0" nodeType="afterEffect">
                                  <p:stCondLst>
                                    <p:cond delay="10000"/>
                                  </p:stCondLst>
                                  <p:childTnLst>
                                    <p:set>
                                      <p:cBhvr>
                                        <p:cTn id="207" dur="1" fill="hold">
                                          <p:stCondLst>
                                            <p:cond delay="0"/>
                                          </p:stCondLst>
                                        </p:cTn>
                                        <p:tgtEl>
                                          <p:spTgt spid="238"/>
                                        </p:tgtEl>
                                        <p:attrNameLst>
                                          <p:attrName>style.visibility</p:attrName>
                                        </p:attrNameLst>
                                      </p:cBhvr>
                                      <p:to>
                                        <p:strVal val="visible"/>
                                      </p:to>
                                    </p:set>
                                  </p:childTnLst>
                                  <p:subTnLst>
                                    <p:set>
                                      <p:cBhvr override="childStyle">
                                        <p:cTn dur="1" fill="hold" display="0" masterRel="nextClick" afterEffect="1"/>
                                        <p:tgtEl>
                                          <p:spTgt spid="238"/>
                                        </p:tgtEl>
                                        <p:attrNameLst>
                                          <p:attrName>style.visibility</p:attrName>
                                        </p:attrNameLst>
                                      </p:cBhvr>
                                      <p:to>
                                        <p:strVal val="hidden"/>
                                      </p:to>
                                    </p:set>
                                  </p:subTnLst>
                                </p:cTn>
                              </p:par>
                            </p:childTnLst>
                          </p:cTn>
                        </p:par>
                        <p:par>
                          <p:cTn id="208" fill="hold" nodeType="afterGroup">
                            <p:stCondLst>
                              <p:cond delay="670000"/>
                            </p:stCondLst>
                            <p:childTnLst>
                              <p:par>
                                <p:cTn id="209" presetID="1" presetClass="entr" presetSubtype="0" fill="hold" grpId="0" nodeType="afterEffect">
                                  <p:stCondLst>
                                    <p:cond delay="10000"/>
                                  </p:stCondLst>
                                  <p:childTnLst>
                                    <p:set>
                                      <p:cBhvr>
                                        <p:cTn id="210" dur="1" fill="hold">
                                          <p:stCondLst>
                                            <p:cond delay="0"/>
                                          </p:stCondLst>
                                        </p:cTn>
                                        <p:tgtEl>
                                          <p:spTgt spid="239"/>
                                        </p:tgtEl>
                                        <p:attrNameLst>
                                          <p:attrName>style.visibility</p:attrName>
                                        </p:attrNameLst>
                                      </p:cBhvr>
                                      <p:to>
                                        <p:strVal val="visible"/>
                                      </p:to>
                                    </p:set>
                                  </p:childTnLst>
                                  <p:subTnLst>
                                    <p:set>
                                      <p:cBhvr override="childStyle">
                                        <p:cTn dur="1" fill="hold" display="0" masterRel="nextClick" afterEffect="1"/>
                                        <p:tgtEl>
                                          <p:spTgt spid="239"/>
                                        </p:tgtEl>
                                        <p:attrNameLst>
                                          <p:attrName>style.visibility</p:attrName>
                                        </p:attrNameLst>
                                      </p:cBhvr>
                                      <p:to>
                                        <p:strVal val="hidden"/>
                                      </p:to>
                                    </p:set>
                                  </p:subTnLst>
                                </p:cTn>
                              </p:par>
                            </p:childTnLst>
                          </p:cTn>
                        </p:par>
                        <p:par>
                          <p:cTn id="211" fill="hold" nodeType="afterGroup">
                            <p:stCondLst>
                              <p:cond delay="680000"/>
                            </p:stCondLst>
                            <p:childTnLst>
                              <p:par>
                                <p:cTn id="212" presetID="1" presetClass="entr" presetSubtype="0" fill="hold" grpId="0" nodeType="afterEffect">
                                  <p:stCondLst>
                                    <p:cond delay="10000"/>
                                  </p:stCondLst>
                                  <p:childTnLst>
                                    <p:set>
                                      <p:cBhvr>
                                        <p:cTn id="213" dur="1" fill="hold">
                                          <p:stCondLst>
                                            <p:cond delay="0"/>
                                          </p:stCondLst>
                                        </p:cTn>
                                        <p:tgtEl>
                                          <p:spTgt spid="240"/>
                                        </p:tgtEl>
                                        <p:attrNameLst>
                                          <p:attrName>style.visibility</p:attrName>
                                        </p:attrNameLst>
                                      </p:cBhvr>
                                      <p:to>
                                        <p:strVal val="visible"/>
                                      </p:to>
                                    </p:set>
                                  </p:childTnLst>
                                  <p:subTnLst>
                                    <p:set>
                                      <p:cBhvr override="childStyle">
                                        <p:cTn dur="1" fill="hold" display="0" masterRel="nextClick" afterEffect="1"/>
                                        <p:tgtEl>
                                          <p:spTgt spid="240"/>
                                        </p:tgtEl>
                                        <p:attrNameLst>
                                          <p:attrName>style.visibility</p:attrName>
                                        </p:attrNameLst>
                                      </p:cBhvr>
                                      <p:to>
                                        <p:strVal val="hidden"/>
                                      </p:to>
                                    </p:set>
                                  </p:subTnLst>
                                </p:cTn>
                              </p:par>
                            </p:childTnLst>
                          </p:cTn>
                        </p:par>
                        <p:par>
                          <p:cTn id="214" fill="hold" nodeType="afterGroup">
                            <p:stCondLst>
                              <p:cond delay="690000"/>
                            </p:stCondLst>
                            <p:childTnLst>
                              <p:par>
                                <p:cTn id="215" presetID="1" presetClass="entr" presetSubtype="0" fill="hold" grpId="0" nodeType="afterEffect">
                                  <p:stCondLst>
                                    <p:cond delay="10000"/>
                                  </p:stCondLst>
                                  <p:childTnLst>
                                    <p:set>
                                      <p:cBhvr>
                                        <p:cTn id="216" dur="1" fill="hold">
                                          <p:stCondLst>
                                            <p:cond delay="0"/>
                                          </p:stCondLst>
                                        </p:cTn>
                                        <p:tgtEl>
                                          <p:spTgt spid="241"/>
                                        </p:tgtEl>
                                        <p:attrNameLst>
                                          <p:attrName>style.visibility</p:attrName>
                                        </p:attrNameLst>
                                      </p:cBhvr>
                                      <p:to>
                                        <p:strVal val="visible"/>
                                      </p:to>
                                    </p:set>
                                  </p:childTnLst>
                                  <p:subTnLst>
                                    <p:set>
                                      <p:cBhvr override="childStyle">
                                        <p:cTn dur="1" fill="hold" display="0" masterRel="nextClick" afterEffect="1"/>
                                        <p:tgtEl>
                                          <p:spTgt spid="241"/>
                                        </p:tgtEl>
                                        <p:attrNameLst>
                                          <p:attrName>style.visibility</p:attrName>
                                        </p:attrNameLst>
                                      </p:cBhvr>
                                      <p:to>
                                        <p:strVal val="hidden"/>
                                      </p:to>
                                    </p:set>
                                  </p:subTnLst>
                                </p:cTn>
                              </p:par>
                            </p:childTnLst>
                          </p:cTn>
                        </p:par>
                        <p:par>
                          <p:cTn id="217" fill="hold" nodeType="afterGroup">
                            <p:stCondLst>
                              <p:cond delay="700000"/>
                            </p:stCondLst>
                            <p:childTnLst>
                              <p:par>
                                <p:cTn id="218" presetID="1" presetClass="entr" presetSubtype="0" fill="hold" grpId="0" nodeType="afterEffect">
                                  <p:stCondLst>
                                    <p:cond delay="10000"/>
                                  </p:stCondLst>
                                  <p:childTnLst>
                                    <p:set>
                                      <p:cBhvr>
                                        <p:cTn id="219" dur="1" fill="hold">
                                          <p:stCondLst>
                                            <p:cond delay="0"/>
                                          </p:stCondLst>
                                        </p:cTn>
                                        <p:tgtEl>
                                          <p:spTgt spid="242"/>
                                        </p:tgtEl>
                                        <p:attrNameLst>
                                          <p:attrName>style.visibility</p:attrName>
                                        </p:attrNameLst>
                                      </p:cBhvr>
                                      <p:to>
                                        <p:strVal val="visible"/>
                                      </p:to>
                                    </p:set>
                                  </p:childTnLst>
                                  <p:subTnLst>
                                    <p:set>
                                      <p:cBhvr override="childStyle">
                                        <p:cTn dur="1" fill="hold" display="0" masterRel="nextClick" afterEffect="1"/>
                                        <p:tgtEl>
                                          <p:spTgt spid="242"/>
                                        </p:tgtEl>
                                        <p:attrNameLst>
                                          <p:attrName>style.visibility</p:attrName>
                                        </p:attrNameLst>
                                      </p:cBhvr>
                                      <p:to>
                                        <p:strVal val="hidden"/>
                                      </p:to>
                                    </p:set>
                                  </p:subTnLst>
                                </p:cTn>
                              </p:par>
                            </p:childTnLst>
                          </p:cTn>
                        </p:par>
                        <p:par>
                          <p:cTn id="220" fill="hold" nodeType="afterGroup">
                            <p:stCondLst>
                              <p:cond delay="710000"/>
                            </p:stCondLst>
                            <p:childTnLst>
                              <p:par>
                                <p:cTn id="221" presetID="1" presetClass="entr" presetSubtype="0" fill="hold" grpId="0" nodeType="afterEffect">
                                  <p:stCondLst>
                                    <p:cond delay="10000"/>
                                  </p:stCondLst>
                                  <p:childTnLst>
                                    <p:set>
                                      <p:cBhvr>
                                        <p:cTn id="222" dur="1" fill="hold">
                                          <p:stCondLst>
                                            <p:cond delay="0"/>
                                          </p:stCondLst>
                                        </p:cTn>
                                        <p:tgtEl>
                                          <p:spTgt spid="244"/>
                                        </p:tgtEl>
                                        <p:attrNameLst>
                                          <p:attrName>style.visibility</p:attrName>
                                        </p:attrNameLst>
                                      </p:cBhvr>
                                      <p:to>
                                        <p:strVal val="visible"/>
                                      </p:to>
                                    </p:set>
                                  </p:childTnLst>
                                </p:cTn>
                              </p:par>
                            </p:childTnLst>
                          </p:cTn>
                        </p:par>
                        <p:par>
                          <p:cTn id="223" fill="hold" nodeType="afterGroup">
                            <p:stCondLst>
                              <p:cond delay="720000"/>
                            </p:stCondLst>
                            <p:childTnLst>
                              <p:par>
                                <p:cTn id="224" presetID="1" presetClass="entr" presetSubtype="0" fill="hold" grpId="0" nodeType="afterEffect">
                                  <p:stCondLst>
                                    <p:cond delay="10000"/>
                                  </p:stCondLst>
                                  <p:childTnLst>
                                    <p:set>
                                      <p:cBhvr>
                                        <p:cTn id="225" dur="1" fill="hold">
                                          <p:stCondLst>
                                            <p:cond delay="0"/>
                                          </p:stCondLst>
                                        </p:cTn>
                                        <p:tgtEl>
                                          <p:spTgt spid="245"/>
                                        </p:tgtEl>
                                        <p:attrNameLst>
                                          <p:attrName>style.visibility</p:attrName>
                                        </p:attrNameLst>
                                      </p:cBhvr>
                                      <p:to>
                                        <p:strVal val="visible"/>
                                      </p:to>
                                    </p:set>
                                  </p:childTnLst>
                                  <p:subTnLst>
                                    <p:set>
                                      <p:cBhvr override="childStyle">
                                        <p:cTn dur="1" fill="hold" display="0" masterRel="nextClick" afterEffect="1"/>
                                        <p:tgtEl>
                                          <p:spTgt spid="245"/>
                                        </p:tgtEl>
                                        <p:attrNameLst>
                                          <p:attrName>style.visibility</p:attrName>
                                        </p:attrNameLst>
                                      </p:cBhvr>
                                      <p:to>
                                        <p:strVal val="hidden"/>
                                      </p:to>
                                    </p:set>
                                  </p:subTnLst>
                                </p:cTn>
                              </p:par>
                            </p:childTnLst>
                          </p:cTn>
                        </p:par>
                        <p:par>
                          <p:cTn id="226" fill="hold" nodeType="afterGroup">
                            <p:stCondLst>
                              <p:cond delay="730000"/>
                            </p:stCondLst>
                            <p:childTnLst>
                              <p:par>
                                <p:cTn id="227" presetID="1" presetClass="entr" presetSubtype="0" fill="hold" grpId="0" nodeType="afterEffect">
                                  <p:stCondLst>
                                    <p:cond delay="10000"/>
                                  </p:stCondLst>
                                  <p:childTnLst>
                                    <p:set>
                                      <p:cBhvr>
                                        <p:cTn id="228" dur="1" fill="hold">
                                          <p:stCondLst>
                                            <p:cond delay="0"/>
                                          </p:stCondLst>
                                        </p:cTn>
                                        <p:tgtEl>
                                          <p:spTgt spid="246"/>
                                        </p:tgtEl>
                                        <p:attrNameLst>
                                          <p:attrName>style.visibility</p:attrName>
                                        </p:attrNameLst>
                                      </p:cBhvr>
                                      <p:to>
                                        <p:strVal val="visible"/>
                                      </p:to>
                                    </p:set>
                                  </p:childTnLst>
                                  <p:subTnLst>
                                    <p:set>
                                      <p:cBhvr override="childStyle">
                                        <p:cTn dur="1" fill="hold" display="0" masterRel="nextClick" afterEffect="1"/>
                                        <p:tgtEl>
                                          <p:spTgt spid="246"/>
                                        </p:tgtEl>
                                        <p:attrNameLst>
                                          <p:attrName>style.visibility</p:attrName>
                                        </p:attrNameLst>
                                      </p:cBhvr>
                                      <p:to>
                                        <p:strVal val="hidden"/>
                                      </p:to>
                                    </p:set>
                                  </p:subTnLst>
                                </p:cTn>
                              </p:par>
                            </p:childTnLst>
                          </p:cTn>
                        </p:par>
                        <p:par>
                          <p:cTn id="229" fill="hold" nodeType="afterGroup">
                            <p:stCondLst>
                              <p:cond delay="740000"/>
                            </p:stCondLst>
                            <p:childTnLst>
                              <p:par>
                                <p:cTn id="230" presetID="1" presetClass="entr" presetSubtype="0" fill="hold" grpId="0" nodeType="afterEffect">
                                  <p:stCondLst>
                                    <p:cond delay="10000"/>
                                  </p:stCondLst>
                                  <p:childTnLst>
                                    <p:set>
                                      <p:cBhvr>
                                        <p:cTn id="231" dur="1" fill="hold">
                                          <p:stCondLst>
                                            <p:cond delay="0"/>
                                          </p:stCondLst>
                                        </p:cTn>
                                        <p:tgtEl>
                                          <p:spTgt spid="247"/>
                                        </p:tgtEl>
                                        <p:attrNameLst>
                                          <p:attrName>style.visibility</p:attrName>
                                        </p:attrNameLst>
                                      </p:cBhvr>
                                      <p:to>
                                        <p:strVal val="visible"/>
                                      </p:to>
                                    </p:set>
                                  </p:childTnLst>
                                  <p:subTnLst>
                                    <p:set>
                                      <p:cBhvr override="childStyle">
                                        <p:cTn dur="1" fill="hold" display="0" masterRel="nextClick" afterEffect="1"/>
                                        <p:tgtEl>
                                          <p:spTgt spid="247"/>
                                        </p:tgtEl>
                                        <p:attrNameLst>
                                          <p:attrName>style.visibility</p:attrName>
                                        </p:attrNameLst>
                                      </p:cBhvr>
                                      <p:to>
                                        <p:strVal val="hidden"/>
                                      </p:to>
                                    </p:set>
                                  </p:subTnLst>
                                </p:cTn>
                              </p:par>
                            </p:childTnLst>
                          </p:cTn>
                        </p:par>
                        <p:par>
                          <p:cTn id="232" fill="hold" nodeType="afterGroup">
                            <p:stCondLst>
                              <p:cond delay="750000"/>
                            </p:stCondLst>
                            <p:childTnLst>
                              <p:par>
                                <p:cTn id="233" presetID="1" presetClass="entr" presetSubtype="0" fill="hold" grpId="0" nodeType="afterEffect">
                                  <p:stCondLst>
                                    <p:cond delay="10000"/>
                                  </p:stCondLst>
                                  <p:childTnLst>
                                    <p:set>
                                      <p:cBhvr>
                                        <p:cTn id="234" dur="1" fill="hold">
                                          <p:stCondLst>
                                            <p:cond delay="0"/>
                                          </p:stCondLst>
                                        </p:cTn>
                                        <p:tgtEl>
                                          <p:spTgt spid="248"/>
                                        </p:tgtEl>
                                        <p:attrNameLst>
                                          <p:attrName>style.visibility</p:attrName>
                                        </p:attrNameLst>
                                      </p:cBhvr>
                                      <p:to>
                                        <p:strVal val="visible"/>
                                      </p:to>
                                    </p:set>
                                  </p:childTnLst>
                                  <p:subTnLst>
                                    <p:set>
                                      <p:cBhvr override="childStyle">
                                        <p:cTn dur="1" fill="hold" display="0" masterRel="nextClick" afterEffect="1"/>
                                        <p:tgtEl>
                                          <p:spTgt spid="248"/>
                                        </p:tgtEl>
                                        <p:attrNameLst>
                                          <p:attrName>style.visibility</p:attrName>
                                        </p:attrNameLst>
                                      </p:cBhvr>
                                      <p:to>
                                        <p:strVal val="hidden"/>
                                      </p:to>
                                    </p:set>
                                  </p:subTnLst>
                                </p:cTn>
                              </p:par>
                            </p:childTnLst>
                          </p:cTn>
                        </p:par>
                        <p:par>
                          <p:cTn id="235" fill="hold" nodeType="afterGroup">
                            <p:stCondLst>
                              <p:cond delay="760000"/>
                            </p:stCondLst>
                            <p:childTnLst>
                              <p:par>
                                <p:cTn id="236" presetID="1" presetClass="entr" presetSubtype="0" fill="hold" grpId="0" nodeType="afterEffect">
                                  <p:stCondLst>
                                    <p:cond delay="10000"/>
                                  </p:stCondLst>
                                  <p:childTnLst>
                                    <p:set>
                                      <p:cBhvr>
                                        <p:cTn id="237" dur="1" fill="hold">
                                          <p:stCondLst>
                                            <p:cond delay="0"/>
                                          </p:stCondLst>
                                        </p:cTn>
                                        <p:tgtEl>
                                          <p:spTgt spid="249"/>
                                        </p:tgtEl>
                                        <p:attrNameLst>
                                          <p:attrName>style.visibility</p:attrName>
                                        </p:attrNameLst>
                                      </p:cBhvr>
                                      <p:to>
                                        <p:strVal val="visible"/>
                                      </p:to>
                                    </p:set>
                                  </p:childTnLst>
                                  <p:subTnLst>
                                    <p:set>
                                      <p:cBhvr override="childStyle">
                                        <p:cTn dur="1" fill="hold" display="0" masterRel="nextClick" afterEffect="1"/>
                                        <p:tgtEl>
                                          <p:spTgt spid="249"/>
                                        </p:tgtEl>
                                        <p:attrNameLst>
                                          <p:attrName>style.visibility</p:attrName>
                                        </p:attrNameLst>
                                      </p:cBhvr>
                                      <p:to>
                                        <p:strVal val="hidden"/>
                                      </p:to>
                                    </p:set>
                                  </p:subTnLst>
                                </p:cTn>
                              </p:par>
                            </p:childTnLst>
                          </p:cTn>
                        </p:par>
                        <p:par>
                          <p:cTn id="238" fill="hold" nodeType="afterGroup">
                            <p:stCondLst>
                              <p:cond delay="770000"/>
                            </p:stCondLst>
                            <p:childTnLst>
                              <p:par>
                                <p:cTn id="239" presetID="1" presetClass="entr" presetSubtype="0" fill="hold" grpId="0" nodeType="afterEffect">
                                  <p:stCondLst>
                                    <p:cond delay="10000"/>
                                  </p:stCondLst>
                                  <p:childTnLst>
                                    <p:set>
                                      <p:cBhvr>
                                        <p:cTn id="240" dur="1" fill="hold">
                                          <p:stCondLst>
                                            <p:cond delay="0"/>
                                          </p:stCondLst>
                                        </p:cTn>
                                        <p:tgtEl>
                                          <p:spTgt spid="251"/>
                                        </p:tgtEl>
                                        <p:attrNameLst>
                                          <p:attrName>style.visibility</p:attrName>
                                        </p:attrNameLst>
                                      </p:cBhvr>
                                      <p:to>
                                        <p:strVal val="visible"/>
                                      </p:to>
                                    </p:set>
                                  </p:childTnLst>
                                </p:cTn>
                              </p:par>
                            </p:childTnLst>
                          </p:cTn>
                        </p:par>
                        <p:par>
                          <p:cTn id="241" fill="hold" nodeType="afterGroup">
                            <p:stCondLst>
                              <p:cond delay="780000"/>
                            </p:stCondLst>
                            <p:childTnLst>
                              <p:par>
                                <p:cTn id="242" presetID="1" presetClass="entr" presetSubtype="0" fill="hold" grpId="0" nodeType="afterEffect">
                                  <p:stCondLst>
                                    <p:cond delay="10000"/>
                                  </p:stCondLst>
                                  <p:childTnLst>
                                    <p:set>
                                      <p:cBhvr>
                                        <p:cTn id="243" dur="1" fill="hold">
                                          <p:stCondLst>
                                            <p:cond delay="0"/>
                                          </p:stCondLst>
                                        </p:cTn>
                                        <p:tgtEl>
                                          <p:spTgt spid="252"/>
                                        </p:tgtEl>
                                        <p:attrNameLst>
                                          <p:attrName>style.visibility</p:attrName>
                                        </p:attrNameLst>
                                      </p:cBhvr>
                                      <p:to>
                                        <p:strVal val="visible"/>
                                      </p:to>
                                    </p:set>
                                  </p:childTnLst>
                                  <p:subTnLst>
                                    <p:set>
                                      <p:cBhvr override="childStyle">
                                        <p:cTn dur="1" fill="hold" display="0" masterRel="nextClick" afterEffect="1"/>
                                        <p:tgtEl>
                                          <p:spTgt spid="252"/>
                                        </p:tgtEl>
                                        <p:attrNameLst>
                                          <p:attrName>style.visibility</p:attrName>
                                        </p:attrNameLst>
                                      </p:cBhvr>
                                      <p:to>
                                        <p:strVal val="hidden"/>
                                      </p:to>
                                    </p:set>
                                  </p:subTnLst>
                                </p:cTn>
                              </p:par>
                            </p:childTnLst>
                          </p:cTn>
                        </p:par>
                        <p:par>
                          <p:cTn id="244" fill="hold" nodeType="afterGroup">
                            <p:stCondLst>
                              <p:cond delay="790000"/>
                            </p:stCondLst>
                            <p:childTnLst>
                              <p:par>
                                <p:cTn id="245" presetID="1" presetClass="entr" presetSubtype="0" fill="hold" grpId="0" nodeType="afterEffect">
                                  <p:stCondLst>
                                    <p:cond delay="10000"/>
                                  </p:stCondLst>
                                  <p:childTnLst>
                                    <p:set>
                                      <p:cBhvr>
                                        <p:cTn id="246" dur="1" fill="hold">
                                          <p:stCondLst>
                                            <p:cond delay="0"/>
                                          </p:stCondLst>
                                        </p:cTn>
                                        <p:tgtEl>
                                          <p:spTgt spid="253"/>
                                        </p:tgtEl>
                                        <p:attrNameLst>
                                          <p:attrName>style.visibility</p:attrName>
                                        </p:attrNameLst>
                                      </p:cBhvr>
                                      <p:to>
                                        <p:strVal val="visible"/>
                                      </p:to>
                                    </p:set>
                                  </p:childTnLst>
                                  <p:subTnLst>
                                    <p:set>
                                      <p:cBhvr override="childStyle">
                                        <p:cTn dur="1" fill="hold" display="0" masterRel="nextClick" afterEffect="1"/>
                                        <p:tgtEl>
                                          <p:spTgt spid="253"/>
                                        </p:tgtEl>
                                        <p:attrNameLst>
                                          <p:attrName>style.visibility</p:attrName>
                                        </p:attrNameLst>
                                      </p:cBhvr>
                                      <p:to>
                                        <p:strVal val="hidden"/>
                                      </p:to>
                                    </p:set>
                                  </p:subTnLst>
                                </p:cTn>
                              </p:par>
                            </p:childTnLst>
                          </p:cTn>
                        </p:par>
                        <p:par>
                          <p:cTn id="247" fill="hold" nodeType="afterGroup">
                            <p:stCondLst>
                              <p:cond delay="800000"/>
                            </p:stCondLst>
                            <p:childTnLst>
                              <p:par>
                                <p:cTn id="248" presetID="1" presetClass="entr" presetSubtype="0" fill="hold" grpId="0" nodeType="afterEffect">
                                  <p:stCondLst>
                                    <p:cond delay="10000"/>
                                  </p:stCondLst>
                                  <p:childTnLst>
                                    <p:set>
                                      <p:cBhvr>
                                        <p:cTn id="249" dur="1" fill="hold">
                                          <p:stCondLst>
                                            <p:cond delay="0"/>
                                          </p:stCondLst>
                                        </p:cTn>
                                        <p:tgtEl>
                                          <p:spTgt spid="254"/>
                                        </p:tgtEl>
                                        <p:attrNameLst>
                                          <p:attrName>style.visibility</p:attrName>
                                        </p:attrNameLst>
                                      </p:cBhvr>
                                      <p:to>
                                        <p:strVal val="visible"/>
                                      </p:to>
                                    </p:set>
                                  </p:childTnLst>
                                  <p:subTnLst>
                                    <p:set>
                                      <p:cBhvr override="childStyle">
                                        <p:cTn dur="1" fill="hold" display="0" masterRel="nextClick" afterEffect="1"/>
                                        <p:tgtEl>
                                          <p:spTgt spid="254"/>
                                        </p:tgtEl>
                                        <p:attrNameLst>
                                          <p:attrName>style.visibility</p:attrName>
                                        </p:attrNameLst>
                                      </p:cBhvr>
                                      <p:to>
                                        <p:strVal val="hidden"/>
                                      </p:to>
                                    </p:set>
                                  </p:subTnLst>
                                </p:cTn>
                              </p:par>
                            </p:childTnLst>
                          </p:cTn>
                        </p:par>
                        <p:par>
                          <p:cTn id="250" fill="hold" nodeType="afterGroup">
                            <p:stCondLst>
                              <p:cond delay="810000"/>
                            </p:stCondLst>
                            <p:childTnLst>
                              <p:par>
                                <p:cTn id="251" presetID="1" presetClass="entr" presetSubtype="0" fill="hold" grpId="0" nodeType="afterEffect">
                                  <p:stCondLst>
                                    <p:cond delay="10000"/>
                                  </p:stCondLst>
                                  <p:childTnLst>
                                    <p:set>
                                      <p:cBhvr>
                                        <p:cTn id="252" dur="1" fill="hold">
                                          <p:stCondLst>
                                            <p:cond delay="0"/>
                                          </p:stCondLst>
                                        </p:cTn>
                                        <p:tgtEl>
                                          <p:spTgt spid="255"/>
                                        </p:tgtEl>
                                        <p:attrNameLst>
                                          <p:attrName>style.visibility</p:attrName>
                                        </p:attrNameLst>
                                      </p:cBhvr>
                                      <p:to>
                                        <p:strVal val="visible"/>
                                      </p:to>
                                    </p:set>
                                  </p:childTnLst>
                                  <p:subTnLst>
                                    <p:set>
                                      <p:cBhvr override="childStyle">
                                        <p:cTn dur="1" fill="hold" display="0" masterRel="nextClick" afterEffect="1"/>
                                        <p:tgtEl>
                                          <p:spTgt spid="255"/>
                                        </p:tgtEl>
                                        <p:attrNameLst>
                                          <p:attrName>style.visibility</p:attrName>
                                        </p:attrNameLst>
                                      </p:cBhvr>
                                      <p:to>
                                        <p:strVal val="hidden"/>
                                      </p:to>
                                    </p:set>
                                  </p:subTnLst>
                                </p:cTn>
                              </p:par>
                            </p:childTnLst>
                          </p:cTn>
                        </p:par>
                        <p:par>
                          <p:cTn id="253" fill="hold" nodeType="afterGroup">
                            <p:stCondLst>
                              <p:cond delay="820000"/>
                            </p:stCondLst>
                            <p:childTnLst>
                              <p:par>
                                <p:cTn id="254" presetID="1" presetClass="entr" presetSubtype="0" fill="hold" grpId="0" nodeType="afterEffect">
                                  <p:stCondLst>
                                    <p:cond delay="10000"/>
                                  </p:stCondLst>
                                  <p:childTnLst>
                                    <p:set>
                                      <p:cBhvr>
                                        <p:cTn id="255" dur="1" fill="hold">
                                          <p:stCondLst>
                                            <p:cond delay="0"/>
                                          </p:stCondLst>
                                        </p:cTn>
                                        <p:tgtEl>
                                          <p:spTgt spid="256"/>
                                        </p:tgtEl>
                                        <p:attrNameLst>
                                          <p:attrName>style.visibility</p:attrName>
                                        </p:attrNameLst>
                                      </p:cBhvr>
                                      <p:to>
                                        <p:strVal val="visible"/>
                                      </p:to>
                                    </p:set>
                                  </p:childTnLst>
                                  <p:subTnLst>
                                    <p:set>
                                      <p:cBhvr override="childStyle">
                                        <p:cTn dur="1" fill="hold" display="0" masterRel="nextClick" afterEffect="1"/>
                                        <p:tgtEl>
                                          <p:spTgt spid="256"/>
                                        </p:tgtEl>
                                        <p:attrNameLst>
                                          <p:attrName>style.visibility</p:attrName>
                                        </p:attrNameLst>
                                      </p:cBhvr>
                                      <p:to>
                                        <p:strVal val="hidden"/>
                                      </p:to>
                                    </p:set>
                                  </p:subTnLst>
                                </p:cTn>
                              </p:par>
                            </p:childTnLst>
                          </p:cTn>
                        </p:par>
                        <p:par>
                          <p:cTn id="256" fill="hold" nodeType="afterGroup">
                            <p:stCondLst>
                              <p:cond delay="830000"/>
                            </p:stCondLst>
                            <p:childTnLst>
                              <p:par>
                                <p:cTn id="257" presetID="1" presetClass="entr" presetSubtype="0" fill="hold" grpId="0" nodeType="afterEffect">
                                  <p:stCondLst>
                                    <p:cond delay="10000"/>
                                  </p:stCondLst>
                                  <p:childTnLst>
                                    <p:set>
                                      <p:cBhvr>
                                        <p:cTn id="258" dur="1" fill="hold">
                                          <p:stCondLst>
                                            <p:cond delay="0"/>
                                          </p:stCondLst>
                                        </p:cTn>
                                        <p:tgtEl>
                                          <p:spTgt spid="258"/>
                                        </p:tgtEl>
                                        <p:attrNameLst>
                                          <p:attrName>style.visibility</p:attrName>
                                        </p:attrNameLst>
                                      </p:cBhvr>
                                      <p:to>
                                        <p:strVal val="visible"/>
                                      </p:to>
                                    </p:set>
                                  </p:childTnLst>
                                </p:cTn>
                              </p:par>
                            </p:childTnLst>
                          </p:cTn>
                        </p:par>
                        <p:par>
                          <p:cTn id="259" fill="hold" nodeType="afterGroup">
                            <p:stCondLst>
                              <p:cond delay="840000"/>
                            </p:stCondLst>
                            <p:childTnLst>
                              <p:par>
                                <p:cTn id="260" presetID="1" presetClass="entr" presetSubtype="0" fill="hold" grpId="0" nodeType="afterEffect">
                                  <p:stCondLst>
                                    <p:cond delay="10000"/>
                                  </p:stCondLst>
                                  <p:childTnLst>
                                    <p:set>
                                      <p:cBhvr>
                                        <p:cTn id="261" dur="1" fill="hold">
                                          <p:stCondLst>
                                            <p:cond delay="0"/>
                                          </p:stCondLst>
                                        </p:cTn>
                                        <p:tgtEl>
                                          <p:spTgt spid="259"/>
                                        </p:tgtEl>
                                        <p:attrNameLst>
                                          <p:attrName>style.visibility</p:attrName>
                                        </p:attrNameLst>
                                      </p:cBhvr>
                                      <p:to>
                                        <p:strVal val="visible"/>
                                      </p:to>
                                    </p:set>
                                  </p:childTnLst>
                                  <p:subTnLst>
                                    <p:set>
                                      <p:cBhvr override="childStyle">
                                        <p:cTn dur="1" fill="hold" display="0" masterRel="nextClick" afterEffect="1"/>
                                        <p:tgtEl>
                                          <p:spTgt spid="259"/>
                                        </p:tgtEl>
                                        <p:attrNameLst>
                                          <p:attrName>style.visibility</p:attrName>
                                        </p:attrNameLst>
                                      </p:cBhvr>
                                      <p:to>
                                        <p:strVal val="hidden"/>
                                      </p:to>
                                    </p:set>
                                  </p:subTnLst>
                                </p:cTn>
                              </p:par>
                            </p:childTnLst>
                          </p:cTn>
                        </p:par>
                        <p:par>
                          <p:cTn id="262" fill="hold" nodeType="afterGroup">
                            <p:stCondLst>
                              <p:cond delay="850000"/>
                            </p:stCondLst>
                            <p:childTnLst>
                              <p:par>
                                <p:cTn id="263" presetID="1" presetClass="entr" presetSubtype="0" fill="hold" grpId="0" nodeType="afterEffect">
                                  <p:stCondLst>
                                    <p:cond delay="10000"/>
                                  </p:stCondLst>
                                  <p:childTnLst>
                                    <p:set>
                                      <p:cBhvr>
                                        <p:cTn id="264" dur="1" fill="hold">
                                          <p:stCondLst>
                                            <p:cond delay="0"/>
                                          </p:stCondLst>
                                        </p:cTn>
                                        <p:tgtEl>
                                          <p:spTgt spid="260"/>
                                        </p:tgtEl>
                                        <p:attrNameLst>
                                          <p:attrName>style.visibility</p:attrName>
                                        </p:attrNameLst>
                                      </p:cBhvr>
                                      <p:to>
                                        <p:strVal val="visible"/>
                                      </p:to>
                                    </p:set>
                                  </p:childTnLst>
                                  <p:subTnLst>
                                    <p:set>
                                      <p:cBhvr override="childStyle">
                                        <p:cTn dur="1" fill="hold" display="0" masterRel="nextClick" afterEffect="1"/>
                                        <p:tgtEl>
                                          <p:spTgt spid="260"/>
                                        </p:tgtEl>
                                        <p:attrNameLst>
                                          <p:attrName>style.visibility</p:attrName>
                                        </p:attrNameLst>
                                      </p:cBhvr>
                                      <p:to>
                                        <p:strVal val="hidden"/>
                                      </p:to>
                                    </p:set>
                                  </p:subTnLst>
                                </p:cTn>
                              </p:par>
                            </p:childTnLst>
                          </p:cTn>
                        </p:par>
                        <p:par>
                          <p:cTn id="265" fill="hold" nodeType="afterGroup">
                            <p:stCondLst>
                              <p:cond delay="860000"/>
                            </p:stCondLst>
                            <p:childTnLst>
                              <p:par>
                                <p:cTn id="266" presetID="1" presetClass="entr" presetSubtype="0" fill="hold" grpId="0" nodeType="afterEffect">
                                  <p:stCondLst>
                                    <p:cond delay="10000"/>
                                  </p:stCondLst>
                                  <p:childTnLst>
                                    <p:set>
                                      <p:cBhvr>
                                        <p:cTn id="267" dur="1" fill="hold">
                                          <p:stCondLst>
                                            <p:cond delay="0"/>
                                          </p:stCondLst>
                                        </p:cTn>
                                        <p:tgtEl>
                                          <p:spTgt spid="261"/>
                                        </p:tgtEl>
                                        <p:attrNameLst>
                                          <p:attrName>style.visibility</p:attrName>
                                        </p:attrNameLst>
                                      </p:cBhvr>
                                      <p:to>
                                        <p:strVal val="visible"/>
                                      </p:to>
                                    </p:set>
                                  </p:childTnLst>
                                  <p:subTnLst>
                                    <p:set>
                                      <p:cBhvr override="childStyle">
                                        <p:cTn dur="1" fill="hold" display="0" masterRel="nextClick" afterEffect="1"/>
                                        <p:tgtEl>
                                          <p:spTgt spid="261"/>
                                        </p:tgtEl>
                                        <p:attrNameLst>
                                          <p:attrName>style.visibility</p:attrName>
                                        </p:attrNameLst>
                                      </p:cBhvr>
                                      <p:to>
                                        <p:strVal val="hidden"/>
                                      </p:to>
                                    </p:set>
                                  </p:subTnLst>
                                </p:cTn>
                              </p:par>
                            </p:childTnLst>
                          </p:cTn>
                        </p:par>
                        <p:par>
                          <p:cTn id="268" fill="hold" nodeType="afterGroup">
                            <p:stCondLst>
                              <p:cond delay="870000"/>
                            </p:stCondLst>
                            <p:childTnLst>
                              <p:par>
                                <p:cTn id="269" presetID="1" presetClass="entr" presetSubtype="0" fill="hold" grpId="0" nodeType="afterEffect">
                                  <p:stCondLst>
                                    <p:cond delay="10000"/>
                                  </p:stCondLst>
                                  <p:childTnLst>
                                    <p:set>
                                      <p:cBhvr>
                                        <p:cTn id="270" dur="1" fill="hold">
                                          <p:stCondLst>
                                            <p:cond delay="0"/>
                                          </p:stCondLst>
                                        </p:cTn>
                                        <p:tgtEl>
                                          <p:spTgt spid="262"/>
                                        </p:tgtEl>
                                        <p:attrNameLst>
                                          <p:attrName>style.visibility</p:attrName>
                                        </p:attrNameLst>
                                      </p:cBhvr>
                                      <p:to>
                                        <p:strVal val="visible"/>
                                      </p:to>
                                    </p:set>
                                  </p:childTnLst>
                                  <p:subTnLst>
                                    <p:set>
                                      <p:cBhvr override="childStyle">
                                        <p:cTn dur="1" fill="hold" display="0" masterRel="nextClick" afterEffect="1"/>
                                        <p:tgtEl>
                                          <p:spTgt spid="262"/>
                                        </p:tgtEl>
                                        <p:attrNameLst>
                                          <p:attrName>style.visibility</p:attrName>
                                        </p:attrNameLst>
                                      </p:cBhvr>
                                      <p:to>
                                        <p:strVal val="hidden"/>
                                      </p:to>
                                    </p:set>
                                  </p:subTnLst>
                                </p:cTn>
                              </p:par>
                            </p:childTnLst>
                          </p:cTn>
                        </p:par>
                        <p:par>
                          <p:cTn id="271" fill="hold" nodeType="afterGroup">
                            <p:stCondLst>
                              <p:cond delay="880000"/>
                            </p:stCondLst>
                            <p:childTnLst>
                              <p:par>
                                <p:cTn id="272" presetID="1" presetClass="entr" presetSubtype="0" fill="hold" grpId="0" nodeType="afterEffect">
                                  <p:stCondLst>
                                    <p:cond delay="10000"/>
                                  </p:stCondLst>
                                  <p:childTnLst>
                                    <p:set>
                                      <p:cBhvr>
                                        <p:cTn id="273" dur="1" fill="hold">
                                          <p:stCondLst>
                                            <p:cond delay="0"/>
                                          </p:stCondLst>
                                        </p:cTn>
                                        <p:tgtEl>
                                          <p:spTgt spid="263"/>
                                        </p:tgtEl>
                                        <p:attrNameLst>
                                          <p:attrName>style.visibility</p:attrName>
                                        </p:attrNameLst>
                                      </p:cBhvr>
                                      <p:to>
                                        <p:strVal val="visible"/>
                                      </p:to>
                                    </p:set>
                                  </p:childTnLst>
                                  <p:subTnLst>
                                    <p:set>
                                      <p:cBhvr override="childStyle">
                                        <p:cTn dur="1" fill="hold" display="0" masterRel="nextClick" afterEffect="1"/>
                                        <p:tgtEl>
                                          <p:spTgt spid="263"/>
                                        </p:tgtEl>
                                        <p:attrNameLst>
                                          <p:attrName>style.visibility</p:attrName>
                                        </p:attrNameLst>
                                      </p:cBhvr>
                                      <p:to>
                                        <p:strVal val="hidden"/>
                                      </p:to>
                                    </p:set>
                                  </p:subTnLst>
                                </p:cTn>
                              </p:par>
                            </p:childTnLst>
                          </p:cTn>
                        </p:par>
                        <p:par>
                          <p:cTn id="274" fill="hold" nodeType="afterGroup">
                            <p:stCondLst>
                              <p:cond delay="890000"/>
                            </p:stCondLst>
                            <p:childTnLst>
                              <p:par>
                                <p:cTn id="275" presetID="1" presetClass="entr" presetSubtype="0" fill="hold" grpId="0" nodeType="afterEffect">
                                  <p:stCondLst>
                                    <p:cond delay="10000"/>
                                  </p:stCondLst>
                                  <p:childTnLst>
                                    <p:set>
                                      <p:cBhvr>
                                        <p:cTn id="276" dur="1" fill="hold">
                                          <p:stCondLst>
                                            <p:cond delay="0"/>
                                          </p:stCondLst>
                                        </p:cTn>
                                        <p:tgtEl>
                                          <p:spTgt spid="265"/>
                                        </p:tgtEl>
                                        <p:attrNameLst>
                                          <p:attrName>style.visibility</p:attrName>
                                        </p:attrNameLst>
                                      </p:cBhvr>
                                      <p:to>
                                        <p:strVal val="visible"/>
                                      </p:to>
                                    </p:set>
                                  </p:childTnLst>
                                </p:cTn>
                              </p:par>
                            </p:childTnLst>
                          </p:cTn>
                        </p:par>
                        <p:par>
                          <p:cTn id="277" fill="hold" nodeType="afterGroup">
                            <p:stCondLst>
                              <p:cond delay="900000"/>
                            </p:stCondLst>
                            <p:childTnLst>
                              <p:par>
                                <p:cTn id="278" presetID="1" presetClass="entr" presetSubtype="0" fill="hold" grpId="0" nodeType="afterEffect">
                                  <p:stCondLst>
                                    <p:cond delay="10000"/>
                                  </p:stCondLst>
                                  <p:childTnLst>
                                    <p:set>
                                      <p:cBhvr>
                                        <p:cTn id="279" dur="1" fill="hold">
                                          <p:stCondLst>
                                            <p:cond delay="0"/>
                                          </p:stCondLst>
                                        </p:cTn>
                                        <p:tgtEl>
                                          <p:spTgt spid="266"/>
                                        </p:tgtEl>
                                        <p:attrNameLst>
                                          <p:attrName>style.visibility</p:attrName>
                                        </p:attrNameLst>
                                      </p:cBhvr>
                                      <p:to>
                                        <p:strVal val="visible"/>
                                      </p:to>
                                    </p:set>
                                  </p:childTnLst>
                                  <p:subTnLst>
                                    <p:set>
                                      <p:cBhvr override="childStyle">
                                        <p:cTn dur="1" fill="hold" display="0" masterRel="nextClick" afterEffect="1"/>
                                        <p:tgtEl>
                                          <p:spTgt spid="266"/>
                                        </p:tgtEl>
                                        <p:attrNameLst>
                                          <p:attrName>style.visibility</p:attrName>
                                        </p:attrNameLst>
                                      </p:cBhvr>
                                      <p:to>
                                        <p:strVal val="hidden"/>
                                      </p:to>
                                    </p:set>
                                  </p:subTnLst>
                                </p:cTn>
                              </p:par>
                            </p:childTnLst>
                          </p:cTn>
                        </p:par>
                        <p:par>
                          <p:cTn id="280" fill="hold" nodeType="afterGroup">
                            <p:stCondLst>
                              <p:cond delay="910000"/>
                            </p:stCondLst>
                            <p:childTnLst>
                              <p:par>
                                <p:cTn id="281" presetID="1" presetClass="entr" presetSubtype="0" fill="hold" grpId="0" nodeType="afterEffect">
                                  <p:stCondLst>
                                    <p:cond delay="10000"/>
                                  </p:stCondLst>
                                  <p:childTnLst>
                                    <p:set>
                                      <p:cBhvr>
                                        <p:cTn id="282" dur="1" fill="hold">
                                          <p:stCondLst>
                                            <p:cond delay="0"/>
                                          </p:stCondLst>
                                        </p:cTn>
                                        <p:tgtEl>
                                          <p:spTgt spid="267"/>
                                        </p:tgtEl>
                                        <p:attrNameLst>
                                          <p:attrName>style.visibility</p:attrName>
                                        </p:attrNameLst>
                                      </p:cBhvr>
                                      <p:to>
                                        <p:strVal val="visible"/>
                                      </p:to>
                                    </p:set>
                                  </p:childTnLst>
                                  <p:subTnLst>
                                    <p:set>
                                      <p:cBhvr override="childStyle">
                                        <p:cTn dur="1" fill="hold" display="0" masterRel="nextClick" afterEffect="1"/>
                                        <p:tgtEl>
                                          <p:spTgt spid="267"/>
                                        </p:tgtEl>
                                        <p:attrNameLst>
                                          <p:attrName>style.visibility</p:attrName>
                                        </p:attrNameLst>
                                      </p:cBhvr>
                                      <p:to>
                                        <p:strVal val="hidden"/>
                                      </p:to>
                                    </p:set>
                                  </p:subTnLst>
                                </p:cTn>
                              </p:par>
                            </p:childTnLst>
                          </p:cTn>
                        </p:par>
                        <p:par>
                          <p:cTn id="283" fill="hold" nodeType="afterGroup">
                            <p:stCondLst>
                              <p:cond delay="920000"/>
                            </p:stCondLst>
                            <p:childTnLst>
                              <p:par>
                                <p:cTn id="284" presetID="1" presetClass="entr" presetSubtype="0" fill="hold" grpId="0" nodeType="afterEffect">
                                  <p:stCondLst>
                                    <p:cond delay="10000"/>
                                  </p:stCondLst>
                                  <p:childTnLst>
                                    <p:set>
                                      <p:cBhvr>
                                        <p:cTn id="285" dur="1" fill="hold">
                                          <p:stCondLst>
                                            <p:cond delay="0"/>
                                          </p:stCondLst>
                                        </p:cTn>
                                        <p:tgtEl>
                                          <p:spTgt spid="268"/>
                                        </p:tgtEl>
                                        <p:attrNameLst>
                                          <p:attrName>style.visibility</p:attrName>
                                        </p:attrNameLst>
                                      </p:cBhvr>
                                      <p:to>
                                        <p:strVal val="visible"/>
                                      </p:to>
                                    </p:set>
                                  </p:childTnLst>
                                  <p:subTnLst>
                                    <p:set>
                                      <p:cBhvr override="childStyle">
                                        <p:cTn dur="1" fill="hold" display="0" masterRel="nextClick" afterEffect="1"/>
                                        <p:tgtEl>
                                          <p:spTgt spid="268"/>
                                        </p:tgtEl>
                                        <p:attrNameLst>
                                          <p:attrName>style.visibility</p:attrName>
                                        </p:attrNameLst>
                                      </p:cBhvr>
                                      <p:to>
                                        <p:strVal val="hidden"/>
                                      </p:to>
                                    </p:set>
                                  </p:subTnLst>
                                </p:cTn>
                              </p:par>
                            </p:childTnLst>
                          </p:cTn>
                        </p:par>
                        <p:par>
                          <p:cTn id="286" fill="hold" nodeType="afterGroup">
                            <p:stCondLst>
                              <p:cond delay="930000"/>
                            </p:stCondLst>
                            <p:childTnLst>
                              <p:par>
                                <p:cTn id="287" presetID="1" presetClass="entr" presetSubtype="0" fill="hold" grpId="0" nodeType="afterEffect">
                                  <p:stCondLst>
                                    <p:cond delay="10000"/>
                                  </p:stCondLst>
                                  <p:childTnLst>
                                    <p:set>
                                      <p:cBhvr>
                                        <p:cTn id="288" dur="1" fill="hold">
                                          <p:stCondLst>
                                            <p:cond delay="0"/>
                                          </p:stCondLst>
                                        </p:cTn>
                                        <p:tgtEl>
                                          <p:spTgt spid="269"/>
                                        </p:tgtEl>
                                        <p:attrNameLst>
                                          <p:attrName>style.visibility</p:attrName>
                                        </p:attrNameLst>
                                      </p:cBhvr>
                                      <p:to>
                                        <p:strVal val="visible"/>
                                      </p:to>
                                    </p:set>
                                  </p:childTnLst>
                                  <p:subTnLst>
                                    <p:set>
                                      <p:cBhvr override="childStyle">
                                        <p:cTn dur="1" fill="hold" display="0" masterRel="nextClick" afterEffect="1"/>
                                        <p:tgtEl>
                                          <p:spTgt spid="269"/>
                                        </p:tgtEl>
                                        <p:attrNameLst>
                                          <p:attrName>style.visibility</p:attrName>
                                        </p:attrNameLst>
                                      </p:cBhvr>
                                      <p:to>
                                        <p:strVal val="hidden"/>
                                      </p:to>
                                    </p:set>
                                  </p:subTnLst>
                                </p:cTn>
                              </p:par>
                            </p:childTnLst>
                          </p:cTn>
                        </p:par>
                        <p:par>
                          <p:cTn id="289" fill="hold" nodeType="afterGroup">
                            <p:stCondLst>
                              <p:cond delay="940000"/>
                            </p:stCondLst>
                            <p:childTnLst>
                              <p:par>
                                <p:cTn id="290" presetID="1" presetClass="entr" presetSubtype="0" fill="hold" grpId="0" nodeType="afterEffect">
                                  <p:stCondLst>
                                    <p:cond delay="10000"/>
                                  </p:stCondLst>
                                  <p:childTnLst>
                                    <p:set>
                                      <p:cBhvr>
                                        <p:cTn id="291" dur="1" fill="hold">
                                          <p:stCondLst>
                                            <p:cond delay="0"/>
                                          </p:stCondLst>
                                        </p:cTn>
                                        <p:tgtEl>
                                          <p:spTgt spid="270"/>
                                        </p:tgtEl>
                                        <p:attrNameLst>
                                          <p:attrName>style.visibility</p:attrName>
                                        </p:attrNameLst>
                                      </p:cBhvr>
                                      <p:to>
                                        <p:strVal val="visible"/>
                                      </p:to>
                                    </p:set>
                                  </p:childTnLst>
                                  <p:subTnLst>
                                    <p:set>
                                      <p:cBhvr override="childStyle">
                                        <p:cTn dur="1" fill="hold" display="0" masterRel="nextClick" afterEffect="1"/>
                                        <p:tgtEl>
                                          <p:spTgt spid="270"/>
                                        </p:tgtEl>
                                        <p:attrNameLst>
                                          <p:attrName>style.visibility</p:attrName>
                                        </p:attrNameLst>
                                      </p:cBhvr>
                                      <p:to>
                                        <p:strVal val="hidden"/>
                                      </p:to>
                                    </p:set>
                                  </p:subTnLst>
                                </p:cTn>
                              </p:par>
                            </p:childTnLst>
                          </p:cTn>
                        </p:par>
                        <p:par>
                          <p:cTn id="292" fill="hold" nodeType="afterGroup">
                            <p:stCondLst>
                              <p:cond delay="950000"/>
                            </p:stCondLst>
                            <p:childTnLst>
                              <p:par>
                                <p:cTn id="293" presetID="1" presetClass="entr" presetSubtype="0" fill="hold" grpId="0" nodeType="afterEffect">
                                  <p:stCondLst>
                                    <p:cond delay="10000"/>
                                  </p:stCondLst>
                                  <p:childTnLst>
                                    <p:set>
                                      <p:cBhvr>
                                        <p:cTn id="294" dur="1" fill="hold">
                                          <p:stCondLst>
                                            <p:cond delay="0"/>
                                          </p:stCondLst>
                                        </p:cTn>
                                        <p:tgtEl>
                                          <p:spTgt spid="272"/>
                                        </p:tgtEl>
                                        <p:attrNameLst>
                                          <p:attrName>style.visibility</p:attrName>
                                        </p:attrNameLst>
                                      </p:cBhvr>
                                      <p:to>
                                        <p:strVal val="visible"/>
                                      </p:to>
                                    </p:set>
                                  </p:childTnLst>
                                </p:cTn>
                              </p:par>
                            </p:childTnLst>
                          </p:cTn>
                        </p:par>
                        <p:par>
                          <p:cTn id="295" fill="hold" nodeType="afterGroup">
                            <p:stCondLst>
                              <p:cond delay="960000"/>
                            </p:stCondLst>
                            <p:childTnLst>
                              <p:par>
                                <p:cTn id="296" presetID="1" presetClass="entr" presetSubtype="0" fill="hold" grpId="0" nodeType="afterEffect">
                                  <p:stCondLst>
                                    <p:cond delay="10000"/>
                                  </p:stCondLst>
                                  <p:childTnLst>
                                    <p:set>
                                      <p:cBhvr>
                                        <p:cTn id="297" dur="1" fill="hold">
                                          <p:stCondLst>
                                            <p:cond delay="0"/>
                                          </p:stCondLst>
                                        </p:cTn>
                                        <p:tgtEl>
                                          <p:spTgt spid="273"/>
                                        </p:tgtEl>
                                        <p:attrNameLst>
                                          <p:attrName>style.visibility</p:attrName>
                                        </p:attrNameLst>
                                      </p:cBhvr>
                                      <p:to>
                                        <p:strVal val="visible"/>
                                      </p:to>
                                    </p:set>
                                  </p:childTnLst>
                                  <p:subTnLst>
                                    <p:set>
                                      <p:cBhvr override="childStyle">
                                        <p:cTn dur="1" fill="hold" display="0" masterRel="nextClick" afterEffect="1"/>
                                        <p:tgtEl>
                                          <p:spTgt spid="273"/>
                                        </p:tgtEl>
                                        <p:attrNameLst>
                                          <p:attrName>style.visibility</p:attrName>
                                        </p:attrNameLst>
                                      </p:cBhvr>
                                      <p:to>
                                        <p:strVal val="hidden"/>
                                      </p:to>
                                    </p:set>
                                  </p:subTnLst>
                                </p:cTn>
                              </p:par>
                            </p:childTnLst>
                          </p:cTn>
                        </p:par>
                        <p:par>
                          <p:cTn id="298" fill="hold" nodeType="afterGroup">
                            <p:stCondLst>
                              <p:cond delay="970000"/>
                            </p:stCondLst>
                            <p:childTnLst>
                              <p:par>
                                <p:cTn id="299" presetID="1" presetClass="entr" presetSubtype="0" fill="hold" grpId="0" nodeType="afterEffect">
                                  <p:stCondLst>
                                    <p:cond delay="10000"/>
                                  </p:stCondLst>
                                  <p:childTnLst>
                                    <p:set>
                                      <p:cBhvr>
                                        <p:cTn id="300" dur="1" fill="hold">
                                          <p:stCondLst>
                                            <p:cond delay="0"/>
                                          </p:stCondLst>
                                        </p:cTn>
                                        <p:tgtEl>
                                          <p:spTgt spid="274"/>
                                        </p:tgtEl>
                                        <p:attrNameLst>
                                          <p:attrName>style.visibility</p:attrName>
                                        </p:attrNameLst>
                                      </p:cBhvr>
                                      <p:to>
                                        <p:strVal val="visible"/>
                                      </p:to>
                                    </p:set>
                                  </p:childTnLst>
                                  <p:subTnLst>
                                    <p:set>
                                      <p:cBhvr override="childStyle">
                                        <p:cTn dur="1" fill="hold" display="0" masterRel="nextClick" afterEffect="1"/>
                                        <p:tgtEl>
                                          <p:spTgt spid="274"/>
                                        </p:tgtEl>
                                        <p:attrNameLst>
                                          <p:attrName>style.visibility</p:attrName>
                                        </p:attrNameLst>
                                      </p:cBhvr>
                                      <p:to>
                                        <p:strVal val="hidden"/>
                                      </p:to>
                                    </p:set>
                                  </p:subTnLst>
                                </p:cTn>
                              </p:par>
                            </p:childTnLst>
                          </p:cTn>
                        </p:par>
                        <p:par>
                          <p:cTn id="301" fill="hold" nodeType="afterGroup">
                            <p:stCondLst>
                              <p:cond delay="980000"/>
                            </p:stCondLst>
                            <p:childTnLst>
                              <p:par>
                                <p:cTn id="302" presetID="1" presetClass="entr" presetSubtype="0" fill="hold" grpId="0" nodeType="afterEffect">
                                  <p:stCondLst>
                                    <p:cond delay="10000"/>
                                  </p:stCondLst>
                                  <p:childTnLst>
                                    <p:set>
                                      <p:cBhvr>
                                        <p:cTn id="303" dur="1" fill="hold">
                                          <p:stCondLst>
                                            <p:cond delay="0"/>
                                          </p:stCondLst>
                                        </p:cTn>
                                        <p:tgtEl>
                                          <p:spTgt spid="275"/>
                                        </p:tgtEl>
                                        <p:attrNameLst>
                                          <p:attrName>style.visibility</p:attrName>
                                        </p:attrNameLst>
                                      </p:cBhvr>
                                      <p:to>
                                        <p:strVal val="visible"/>
                                      </p:to>
                                    </p:set>
                                  </p:childTnLst>
                                  <p:subTnLst>
                                    <p:set>
                                      <p:cBhvr override="childStyle">
                                        <p:cTn dur="1" fill="hold" display="0" masterRel="nextClick" afterEffect="1"/>
                                        <p:tgtEl>
                                          <p:spTgt spid="275"/>
                                        </p:tgtEl>
                                        <p:attrNameLst>
                                          <p:attrName>style.visibility</p:attrName>
                                        </p:attrNameLst>
                                      </p:cBhvr>
                                      <p:to>
                                        <p:strVal val="hidden"/>
                                      </p:to>
                                    </p:set>
                                  </p:subTnLst>
                                </p:cTn>
                              </p:par>
                            </p:childTnLst>
                          </p:cTn>
                        </p:par>
                        <p:par>
                          <p:cTn id="304" fill="hold" nodeType="afterGroup">
                            <p:stCondLst>
                              <p:cond delay="990000"/>
                            </p:stCondLst>
                            <p:childTnLst>
                              <p:par>
                                <p:cTn id="305" presetID="1" presetClass="entr" presetSubtype="0" fill="hold" grpId="0" nodeType="afterEffect">
                                  <p:stCondLst>
                                    <p:cond delay="10000"/>
                                  </p:stCondLst>
                                  <p:childTnLst>
                                    <p:set>
                                      <p:cBhvr>
                                        <p:cTn id="306" dur="1" fill="hold">
                                          <p:stCondLst>
                                            <p:cond delay="0"/>
                                          </p:stCondLst>
                                        </p:cTn>
                                        <p:tgtEl>
                                          <p:spTgt spid="276"/>
                                        </p:tgtEl>
                                        <p:attrNameLst>
                                          <p:attrName>style.visibility</p:attrName>
                                        </p:attrNameLst>
                                      </p:cBhvr>
                                      <p:to>
                                        <p:strVal val="visible"/>
                                      </p:to>
                                    </p:set>
                                  </p:childTnLst>
                                  <p:subTnLst>
                                    <p:set>
                                      <p:cBhvr override="childStyle">
                                        <p:cTn dur="1" fill="hold" display="0" masterRel="nextClick" afterEffect="1"/>
                                        <p:tgtEl>
                                          <p:spTgt spid="276"/>
                                        </p:tgtEl>
                                        <p:attrNameLst>
                                          <p:attrName>style.visibility</p:attrName>
                                        </p:attrNameLst>
                                      </p:cBhvr>
                                      <p:to>
                                        <p:strVal val="hidden"/>
                                      </p:to>
                                    </p:set>
                                  </p:subTnLst>
                                </p:cTn>
                              </p:par>
                            </p:childTnLst>
                          </p:cTn>
                        </p:par>
                        <p:par>
                          <p:cTn id="307" fill="hold" nodeType="afterGroup">
                            <p:stCondLst>
                              <p:cond delay="1000000"/>
                            </p:stCondLst>
                            <p:childTnLst>
                              <p:par>
                                <p:cTn id="308" presetID="1" presetClass="entr" presetSubtype="0" fill="hold" grpId="0" nodeType="afterEffect">
                                  <p:stCondLst>
                                    <p:cond delay="10000"/>
                                  </p:stCondLst>
                                  <p:childTnLst>
                                    <p:set>
                                      <p:cBhvr>
                                        <p:cTn id="309" dur="1" fill="hold">
                                          <p:stCondLst>
                                            <p:cond delay="0"/>
                                          </p:stCondLst>
                                        </p:cTn>
                                        <p:tgtEl>
                                          <p:spTgt spid="277"/>
                                        </p:tgtEl>
                                        <p:attrNameLst>
                                          <p:attrName>style.visibility</p:attrName>
                                        </p:attrNameLst>
                                      </p:cBhvr>
                                      <p:to>
                                        <p:strVal val="visible"/>
                                      </p:to>
                                    </p:set>
                                  </p:childTnLst>
                                  <p:subTnLst>
                                    <p:set>
                                      <p:cBhvr override="childStyle">
                                        <p:cTn dur="1" fill="hold" display="0" masterRel="nextClick" afterEffect="1"/>
                                        <p:tgtEl>
                                          <p:spTgt spid="277"/>
                                        </p:tgtEl>
                                        <p:attrNameLst>
                                          <p:attrName>style.visibility</p:attrName>
                                        </p:attrNameLst>
                                      </p:cBhvr>
                                      <p:to>
                                        <p:strVal val="hidden"/>
                                      </p:to>
                                    </p:set>
                                  </p:subTnLst>
                                </p:cTn>
                              </p:par>
                            </p:childTnLst>
                          </p:cTn>
                        </p:par>
                        <p:par>
                          <p:cTn id="310" fill="hold" nodeType="afterGroup">
                            <p:stCondLst>
                              <p:cond delay="1010000"/>
                            </p:stCondLst>
                            <p:childTnLst>
                              <p:par>
                                <p:cTn id="311" presetID="1" presetClass="entr" presetSubtype="0" fill="hold" grpId="0" nodeType="afterEffect">
                                  <p:stCondLst>
                                    <p:cond delay="10000"/>
                                  </p:stCondLst>
                                  <p:childTnLst>
                                    <p:set>
                                      <p:cBhvr>
                                        <p:cTn id="312" dur="1" fill="hold">
                                          <p:stCondLst>
                                            <p:cond delay="0"/>
                                          </p:stCondLst>
                                        </p:cTn>
                                        <p:tgtEl>
                                          <p:spTgt spid="279"/>
                                        </p:tgtEl>
                                        <p:attrNameLst>
                                          <p:attrName>style.visibility</p:attrName>
                                        </p:attrNameLst>
                                      </p:cBhvr>
                                      <p:to>
                                        <p:strVal val="visible"/>
                                      </p:to>
                                    </p:set>
                                  </p:childTnLst>
                                </p:cTn>
                              </p:par>
                            </p:childTnLst>
                          </p:cTn>
                        </p:par>
                        <p:par>
                          <p:cTn id="313" fill="hold" nodeType="afterGroup">
                            <p:stCondLst>
                              <p:cond delay="1020000"/>
                            </p:stCondLst>
                            <p:childTnLst>
                              <p:par>
                                <p:cTn id="314" presetID="1" presetClass="entr" presetSubtype="0" fill="hold" grpId="0" nodeType="afterEffect">
                                  <p:stCondLst>
                                    <p:cond delay="10000"/>
                                  </p:stCondLst>
                                  <p:childTnLst>
                                    <p:set>
                                      <p:cBhvr>
                                        <p:cTn id="315" dur="1" fill="hold">
                                          <p:stCondLst>
                                            <p:cond delay="0"/>
                                          </p:stCondLst>
                                        </p:cTn>
                                        <p:tgtEl>
                                          <p:spTgt spid="280"/>
                                        </p:tgtEl>
                                        <p:attrNameLst>
                                          <p:attrName>style.visibility</p:attrName>
                                        </p:attrNameLst>
                                      </p:cBhvr>
                                      <p:to>
                                        <p:strVal val="visible"/>
                                      </p:to>
                                    </p:set>
                                  </p:childTnLst>
                                  <p:subTnLst>
                                    <p:set>
                                      <p:cBhvr override="childStyle">
                                        <p:cTn dur="1" fill="hold" display="0" masterRel="nextClick" afterEffect="1"/>
                                        <p:tgtEl>
                                          <p:spTgt spid="280"/>
                                        </p:tgtEl>
                                        <p:attrNameLst>
                                          <p:attrName>style.visibility</p:attrName>
                                        </p:attrNameLst>
                                      </p:cBhvr>
                                      <p:to>
                                        <p:strVal val="hidden"/>
                                      </p:to>
                                    </p:set>
                                  </p:subTnLst>
                                </p:cTn>
                              </p:par>
                            </p:childTnLst>
                          </p:cTn>
                        </p:par>
                        <p:par>
                          <p:cTn id="316" fill="hold" nodeType="afterGroup">
                            <p:stCondLst>
                              <p:cond delay="1030000"/>
                            </p:stCondLst>
                            <p:childTnLst>
                              <p:par>
                                <p:cTn id="317" presetID="1" presetClass="entr" presetSubtype="0" fill="hold" grpId="0" nodeType="afterEffect">
                                  <p:stCondLst>
                                    <p:cond delay="10000"/>
                                  </p:stCondLst>
                                  <p:childTnLst>
                                    <p:set>
                                      <p:cBhvr>
                                        <p:cTn id="318" dur="1" fill="hold">
                                          <p:stCondLst>
                                            <p:cond delay="0"/>
                                          </p:stCondLst>
                                        </p:cTn>
                                        <p:tgtEl>
                                          <p:spTgt spid="281"/>
                                        </p:tgtEl>
                                        <p:attrNameLst>
                                          <p:attrName>style.visibility</p:attrName>
                                        </p:attrNameLst>
                                      </p:cBhvr>
                                      <p:to>
                                        <p:strVal val="visible"/>
                                      </p:to>
                                    </p:set>
                                  </p:childTnLst>
                                  <p:subTnLst>
                                    <p:set>
                                      <p:cBhvr override="childStyle">
                                        <p:cTn dur="1" fill="hold" display="0" masterRel="nextClick" afterEffect="1"/>
                                        <p:tgtEl>
                                          <p:spTgt spid="281"/>
                                        </p:tgtEl>
                                        <p:attrNameLst>
                                          <p:attrName>style.visibility</p:attrName>
                                        </p:attrNameLst>
                                      </p:cBhvr>
                                      <p:to>
                                        <p:strVal val="hidden"/>
                                      </p:to>
                                    </p:set>
                                  </p:subTnLst>
                                </p:cTn>
                              </p:par>
                            </p:childTnLst>
                          </p:cTn>
                        </p:par>
                        <p:par>
                          <p:cTn id="319" fill="hold" nodeType="afterGroup">
                            <p:stCondLst>
                              <p:cond delay="1040000"/>
                            </p:stCondLst>
                            <p:childTnLst>
                              <p:par>
                                <p:cTn id="320" presetID="1" presetClass="entr" presetSubtype="0" fill="hold" grpId="0" nodeType="afterEffect">
                                  <p:stCondLst>
                                    <p:cond delay="10000"/>
                                  </p:stCondLst>
                                  <p:childTnLst>
                                    <p:set>
                                      <p:cBhvr>
                                        <p:cTn id="321" dur="1" fill="hold">
                                          <p:stCondLst>
                                            <p:cond delay="0"/>
                                          </p:stCondLst>
                                        </p:cTn>
                                        <p:tgtEl>
                                          <p:spTgt spid="282"/>
                                        </p:tgtEl>
                                        <p:attrNameLst>
                                          <p:attrName>style.visibility</p:attrName>
                                        </p:attrNameLst>
                                      </p:cBhvr>
                                      <p:to>
                                        <p:strVal val="visible"/>
                                      </p:to>
                                    </p:set>
                                  </p:childTnLst>
                                  <p:subTnLst>
                                    <p:set>
                                      <p:cBhvr override="childStyle">
                                        <p:cTn dur="1" fill="hold" display="0" masterRel="nextClick" afterEffect="1"/>
                                        <p:tgtEl>
                                          <p:spTgt spid="282"/>
                                        </p:tgtEl>
                                        <p:attrNameLst>
                                          <p:attrName>style.visibility</p:attrName>
                                        </p:attrNameLst>
                                      </p:cBhvr>
                                      <p:to>
                                        <p:strVal val="hidden"/>
                                      </p:to>
                                    </p:set>
                                  </p:subTnLst>
                                </p:cTn>
                              </p:par>
                            </p:childTnLst>
                          </p:cTn>
                        </p:par>
                        <p:par>
                          <p:cTn id="322" fill="hold" nodeType="afterGroup">
                            <p:stCondLst>
                              <p:cond delay="1050000"/>
                            </p:stCondLst>
                            <p:childTnLst>
                              <p:par>
                                <p:cTn id="323" presetID="1" presetClass="entr" presetSubtype="0" fill="hold" grpId="0" nodeType="afterEffect">
                                  <p:stCondLst>
                                    <p:cond delay="10000"/>
                                  </p:stCondLst>
                                  <p:childTnLst>
                                    <p:set>
                                      <p:cBhvr>
                                        <p:cTn id="324" dur="1" fill="hold">
                                          <p:stCondLst>
                                            <p:cond delay="0"/>
                                          </p:stCondLst>
                                        </p:cTn>
                                        <p:tgtEl>
                                          <p:spTgt spid="283"/>
                                        </p:tgtEl>
                                        <p:attrNameLst>
                                          <p:attrName>style.visibility</p:attrName>
                                        </p:attrNameLst>
                                      </p:cBhvr>
                                      <p:to>
                                        <p:strVal val="visible"/>
                                      </p:to>
                                    </p:set>
                                  </p:childTnLst>
                                  <p:subTnLst>
                                    <p:set>
                                      <p:cBhvr override="childStyle">
                                        <p:cTn dur="1" fill="hold" display="0" masterRel="nextClick" afterEffect="1"/>
                                        <p:tgtEl>
                                          <p:spTgt spid="283"/>
                                        </p:tgtEl>
                                        <p:attrNameLst>
                                          <p:attrName>style.visibility</p:attrName>
                                        </p:attrNameLst>
                                      </p:cBhvr>
                                      <p:to>
                                        <p:strVal val="hidden"/>
                                      </p:to>
                                    </p:set>
                                  </p:subTnLst>
                                </p:cTn>
                              </p:par>
                            </p:childTnLst>
                          </p:cTn>
                        </p:par>
                        <p:par>
                          <p:cTn id="325" fill="hold" nodeType="afterGroup">
                            <p:stCondLst>
                              <p:cond delay="1060000"/>
                            </p:stCondLst>
                            <p:childTnLst>
                              <p:par>
                                <p:cTn id="326" presetID="1" presetClass="entr" presetSubtype="0" fill="hold" grpId="0" nodeType="afterEffect">
                                  <p:stCondLst>
                                    <p:cond delay="10000"/>
                                  </p:stCondLst>
                                  <p:childTnLst>
                                    <p:set>
                                      <p:cBhvr>
                                        <p:cTn id="327" dur="1" fill="hold">
                                          <p:stCondLst>
                                            <p:cond delay="0"/>
                                          </p:stCondLst>
                                        </p:cTn>
                                        <p:tgtEl>
                                          <p:spTgt spid="284"/>
                                        </p:tgtEl>
                                        <p:attrNameLst>
                                          <p:attrName>style.visibility</p:attrName>
                                        </p:attrNameLst>
                                      </p:cBhvr>
                                      <p:to>
                                        <p:strVal val="visible"/>
                                      </p:to>
                                    </p:set>
                                  </p:childTnLst>
                                  <p:subTnLst>
                                    <p:set>
                                      <p:cBhvr override="childStyle">
                                        <p:cTn dur="1" fill="hold" display="0" masterRel="nextClick" afterEffect="1"/>
                                        <p:tgtEl>
                                          <p:spTgt spid="284"/>
                                        </p:tgtEl>
                                        <p:attrNameLst>
                                          <p:attrName>style.visibility</p:attrName>
                                        </p:attrNameLst>
                                      </p:cBhvr>
                                      <p:to>
                                        <p:strVal val="hidden"/>
                                      </p:to>
                                    </p:set>
                                  </p:subTnLst>
                                </p:cTn>
                              </p:par>
                            </p:childTnLst>
                          </p:cTn>
                        </p:par>
                        <p:par>
                          <p:cTn id="328" fill="hold" nodeType="afterGroup">
                            <p:stCondLst>
                              <p:cond delay="1070000"/>
                            </p:stCondLst>
                            <p:childTnLst>
                              <p:par>
                                <p:cTn id="329" presetID="1" presetClass="entr" presetSubtype="0" fill="hold" grpId="0" nodeType="afterEffect">
                                  <p:stCondLst>
                                    <p:cond delay="10000"/>
                                  </p:stCondLst>
                                  <p:childTnLst>
                                    <p:set>
                                      <p:cBhvr>
                                        <p:cTn id="330" dur="1" fill="hold">
                                          <p:stCondLst>
                                            <p:cond delay="0"/>
                                          </p:stCondLst>
                                        </p:cTn>
                                        <p:tgtEl>
                                          <p:spTgt spid="286"/>
                                        </p:tgtEl>
                                        <p:attrNameLst>
                                          <p:attrName>style.visibility</p:attrName>
                                        </p:attrNameLst>
                                      </p:cBhvr>
                                      <p:to>
                                        <p:strVal val="visible"/>
                                      </p:to>
                                    </p:set>
                                  </p:childTnLst>
                                </p:cTn>
                              </p:par>
                            </p:childTnLst>
                          </p:cTn>
                        </p:par>
                        <p:par>
                          <p:cTn id="331" fill="hold" nodeType="afterGroup">
                            <p:stCondLst>
                              <p:cond delay="1080000"/>
                            </p:stCondLst>
                            <p:childTnLst>
                              <p:par>
                                <p:cTn id="332" presetID="1" presetClass="entr" presetSubtype="0" fill="hold" grpId="0" nodeType="afterEffect">
                                  <p:stCondLst>
                                    <p:cond delay="10000"/>
                                  </p:stCondLst>
                                  <p:childTnLst>
                                    <p:set>
                                      <p:cBhvr>
                                        <p:cTn id="333" dur="1" fill="hold">
                                          <p:stCondLst>
                                            <p:cond delay="0"/>
                                          </p:stCondLst>
                                        </p:cTn>
                                        <p:tgtEl>
                                          <p:spTgt spid="287"/>
                                        </p:tgtEl>
                                        <p:attrNameLst>
                                          <p:attrName>style.visibility</p:attrName>
                                        </p:attrNameLst>
                                      </p:cBhvr>
                                      <p:to>
                                        <p:strVal val="visible"/>
                                      </p:to>
                                    </p:set>
                                  </p:childTnLst>
                                  <p:subTnLst>
                                    <p:set>
                                      <p:cBhvr override="childStyle">
                                        <p:cTn dur="1" fill="hold" display="0" masterRel="nextClick" afterEffect="1"/>
                                        <p:tgtEl>
                                          <p:spTgt spid="287"/>
                                        </p:tgtEl>
                                        <p:attrNameLst>
                                          <p:attrName>style.visibility</p:attrName>
                                        </p:attrNameLst>
                                      </p:cBhvr>
                                      <p:to>
                                        <p:strVal val="hidden"/>
                                      </p:to>
                                    </p:set>
                                  </p:subTnLst>
                                </p:cTn>
                              </p:par>
                            </p:childTnLst>
                          </p:cTn>
                        </p:par>
                        <p:par>
                          <p:cTn id="334" fill="hold" nodeType="afterGroup">
                            <p:stCondLst>
                              <p:cond delay="1090000"/>
                            </p:stCondLst>
                            <p:childTnLst>
                              <p:par>
                                <p:cTn id="335" presetID="1" presetClass="entr" presetSubtype="0" fill="hold" grpId="0" nodeType="afterEffect">
                                  <p:stCondLst>
                                    <p:cond delay="10000"/>
                                  </p:stCondLst>
                                  <p:childTnLst>
                                    <p:set>
                                      <p:cBhvr>
                                        <p:cTn id="336" dur="1" fill="hold">
                                          <p:stCondLst>
                                            <p:cond delay="0"/>
                                          </p:stCondLst>
                                        </p:cTn>
                                        <p:tgtEl>
                                          <p:spTgt spid="288"/>
                                        </p:tgtEl>
                                        <p:attrNameLst>
                                          <p:attrName>style.visibility</p:attrName>
                                        </p:attrNameLst>
                                      </p:cBhvr>
                                      <p:to>
                                        <p:strVal val="visible"/>
                                      </p:to>
                                    </p:set>
                                  </p:childTnLst>
                                  <p:subTnLst>
                                    <p:set>
                                      <p:cBhvr override="childStyle">
                                        <p:cTn dur="1" fill="hold" display="0" masterRel="nextClick" afterEffect="1"/>
                                        <p:tgtEl>
                                          <p:spTgt spid="288"/>
                                        </p:tgtEl>
                                        <p:attrNameLst>
                                          <p:attrName>style.visibility</p:attrName>
                                        </p:attrNameLst>
                                      </p:cBhvr>
                                      <p:to>
                                        <p:strVal val="hidden"/>
                                      </p:to>
                                    </p:set>
                                  </p:subTnLst>
                                </p:cTn>
                              </p:par>
                            </p:childTnLst>
                          </p:cTn>
                        </p:par>
                        <p:par>
                          <p:cTn id="337" fill="hold" nodeType="afterGroup">
                            <p:stCondLst>
                              <p:cond delay="1100000"/>
                            </p:stCondLst>
                            <p:childTnLst>
                              <p:par>
                                <p:cTn id="338" presetID="1" presetClass="entr" presetSubtype="0" fill="hold" grpId="0" nodeType="afterEffect">
                                  <p:stCondLst>
                                    <p:cond delay="10000"/>
                                  </p:stCondLst>
                                  <p:childTnLst>
                                    <p:set>
                                      <p:cBhvr>
                                        <p:cTn id="339" dur="1" fill="hold">
                                          <p:stCondLst>
                                            <p:cond delay="0"/>
                                          </p:stCondLst>
                                        </p:cTn>
                                        <p:tgtEl>
                                          <p:spTgt spid="289"/>
                                        </p:tgtEl>
                                        <p:attrNameLst>
                                          <p:attrName>style.visibility</p:attrName>
                                        </p:attrNameLst>
                                      </p:cBhvr>
                                      <p:to>
                                        <p:strVal val="visible"/>
                                      </p:to>
                                    </p:set>
                                  </p:childTnLst>
                                  <p:subTnLst>
                                    <p:set>
                                      <p:cBhvr override="childStyle">
                                        <p:cTn dur="1" fill="hold" display="0" masterRel="nextClick" afterEffect="1"/>
                                        <p:tgtEl>
                                          <p:spTgt spid="289"/>
                                        </p:tgtEl>
                                        <p:attrNameLst>
                                          <p:attrName>style.visibility</p:attrName>
                                        </p:attrNameLst>
                                      </p:cBhvr>
                                      <p:to>
                                        <p:strVal val="hidden"/>
                                      </p:to>
                                    </p:set>
                                  </p:subTnLst>
                                </p:cTn>
                              </p:par>
                            </p:childTnLst>
                          </p:cTn>
                        </p:par>
                        <p:par>
                          <p:cTn id="340" fill="hold" nodeType="afterGroup">
                            <p:stCondLst>
                              <p:cond delay="1110000"/>
                            </p:stCondLst>
                            <p:childTnLst>
                              <p:par>
                                <p:cTn id="341" presetID="1" presetClass="entr" presetSubtype="0" fill="hold" grpId="0" nodeType="afterEffect">
                                  <p:stCondLst>
                                    <p:cond delay="10000"/>
                                  </p:stCondLst>
                                  <p:childTnLst>
                                    <p:set>
                                      <p:cBhvr>
                                        <p:cTn id="342" dur="1" fill="hold">
                                          <p:stCondLst>
                                            <p:cond delay="0"/>
                                          </p:stCondLst>
                                        </p:cTn>
                                        <p:tgtEl>
                                          <p:spTgt spid="290"/>
                                        </p:tgtEl>
                                        <p:attrNameLst>
                                          <p:attrName>style.visibility</p:attrName>
                                        </p:attrNameLst>
                                      </p:cBhvr>
                                      <p:to>
                                        <p:strVal val="visible"/>
                                      </p:to>
                                    </p:set>
                                  </p:childTnLst>
                                  <p:subTnLst>
                                    <p:set>
                                      <p:cBhvr override="childStyle">
                                        <p:cTn dur="1" fill="hold" display="0" masterRel="nextClick" afterEffect="1"/>
                                        <p:tgtEl>
                                          <p:spTgt spid="290"/>
                                        </p:tgtEl>
                                        <p:attrNameLst>
                                          <p:attrName>style.visibility</p:attrName>
                                        </p:attrNameLst>
                                      </p:cBhvr>
                                      <p:to>
                                        <p:strVal val="hidden"/>
                                      </p:to>
                                    </p:set>
                                  </p:subTnLst>
                                </p:cTn>
                              </p:par>
                            </p:childTnLst>
                          </p:cTn>
                        </p:par>
                        <p:par>
                          <p:cTn id="343" fill="hold" nodeType="afterGroup">
                            <p:stCondLst>
                              <p:cond delay="1120000"/>
                            </p:stCondLst>
                            <p:childTnLst>
                              <p:par>
                                <p:cTn id="344" presetID="1" presetClass="entr" presetSubtype="0" fill="hold" grpId="0" nodeType="afterEffect">
                                  <p:stCondLst>
                                    <p:cond delay="10000"/>
                                  </p:stCondLst>
                                  <p:childTnLst>
                                    <p:set>
                                      <p:cBhvr>
                                        <p:cTn id="345" dur="1" fill="hold">
                                          <p:stCondLst>
                                            <p:cond delay="0"/>
                                          </p:stCondLst>
                                        </p:cTn>
                                        <p:tgtEl>
                                          <p:spTgt spid="291"/>
                                        </p:tgtEl>
                                        <p:attrNameLst>
                                          <p:attrName>style.visibility</p:attrName>
                                        </p:attrNameLst>
                                      </p:cBhvr>
                                      <p:to>
                                        <p:strVal val="visible"/>
                                      </p:to>
                                    </p:set>
                                  </p:childTnLst>
                                  <p:subTnLst>
                                    <p:set>
                                      <p:cBhvr override="childStyle">
                                        <p:cTn dur="1" fill="hold" display="0" masterRel="nextClick" afterEffect="1"/>
                                        <p:tgtEl>
                                          <p:spTgt spid="291"/>
                                        </p:tgtEl>
                                        <p:attrNameLst>
                                          <p:attrName>style.visibility</p:attrName>
                                        </p:attrNameLst>
                                      </p:cBhvr>
                                      <p:to>
                                        <p:strVal val="hidden"/>
                                      </p:to>
                                    </p:set>
                                  </p:subTnLst>
                                </p:cTn>
                              </p:par>
                            </p:childTnLst>
                          </p:cTn>
                        </p:par>
                        <p:par>
                          <p:cTn id="346" fill="hold" nodeType="afterGroup">
                            <p:stCondLst>
                              <p:cond delay="1130000"/>
                            </p:stCondLst>
                            <p:childTnLst>
                              <p:par>
                                <p:cTn id="347" presetID="1" presetClass="entr" presetSubtype="0" fill="hold" grpId="0" nodeType="afterEffect">
                                  <p:stCondLst>
                                    <p:cond delay="10000"/>
                                  </p:stCondLst>
                                  <p:childTnLst>
                                    <p:set>
                                      <p:cBhvr>
                                        <p:cTn id="348" dur="1" fill="hold">
                                          <p:stCondLst>
                                            <p:cond delay="0"/>
                                          </p:stCondLst>
                                        </p:cTn>
                                        <p:tgtEl>
                                          <p:spTgt spid="293"/>
                                        </p:tgtEl>
                                        <p:attrNameLst>
                                          <p:attrName>style.visibility</p:attrName>
                                        </p:attrNameLst>
                                      </p:cBhvr>
                                      <p:to>
                                        <p:strVal val="visible"/>
                                      </p:to>
                                    </p:set>
                                  </p:childTnLst>
                                </p:cTn>
                              </p:par>
                            </p:childTnLst>
                          </p:cTn>
                        </p:par>
                        <p:par>
                          <p:cTn id="349" fill="hold" nodeType="afterGroup">
                            <p:stCondLst>
                              <p:cond delay="1140000"/>
                            </p:stCondLst>
                            <p:childTnLst>
                              <p:par>
                                <p:cTn id="350" presetID="1" presetClass="entr" presetSubtype="0" fill="hold" grpId="0" nodeType="afterEffect">
                                  <p:stCondLst>
                                    <p:cond delay="10000"/>
                                  </p:stCondLst>
                                  <p:childTnLst>
                                    <p:set>
                                      <p:cBhvr>
                                        <p:cTn id="351" dur="1" fill="hold">
                                          <p:stCondLst>
                                            <p:cond delay="0"/>
                                          </p:stCondLst>
                                        </p:cTn>
                                        <p:tgtEl>
                                          <p:spTgt spid="294"/>
                                        </p:tgtEl>
                                        <p:attrNameLst>
                                          <p:attrName>style.visibility</p:attrName>
                                        </p:attrNameLst>
                                      </p:cBhvr>
                                      <p:to>
                                        <p:strVal val="visible"/>
                                      </p:to>
                                    </p:set>
                                  </p:childTnLst>
                                  <p:subTnLst>
                                    <p:set>
                                      <p:cBhvr override="childStyle">
                                        <p:cTn dur="1" fill="hold" display="0" masterRel="nextClick" afterEffect="1"/>
                                        <p:tgtEl>
                                          <p:spTgt spid="294"/>
                                        </p:tgtEl>
                                        <p:attrNameLst>
                                          <p:attrName>style.visibility</p:attrName>
                                        </p:attrNameLst>
                                      </p:cBhvr>
                                      <p:to>
                                        <p:strVal val="hidden"/>
                                      </p:to>
                                    </p:set>
                                  </p:subTnLst>
                                </p:cTn>
                              </p:par>
                            </p:childTnLst>
                          </p:cTn>
                        </p:par>
                        <p:par>
                          <p:cTn id="352" fill="hold" nodeType="afterGroup">
                            <p:stCondLst>
                              <p:cond delay="1150000"/>
                            </p:stCondLst>
                            <p:childTnLst>
                              <p:par>
                                <p:cTn id="353" presetID="1" presetClass="entr" presetSubtype="0" fill="hold" grpId="0" nodeType="afterEffect">
                                  <p:stCondLst>
                                    <p:cond delay="10000"/>
                                  </p:stCondLst>
                                  <p:childTnLst>
                                    <p:set>
                                      <p:cBhvr>
                                        <p:cTn id="354" dur="1" fill="hold">
                                          <p:stCondLst>
                                            <p:cond delay="0"/>
                                          </p:stCondLst>
                                        </p:cTn>
                                        <p:tgtEl>
                                          <p:spTgt spid="295"/>
                                        </p:tgtEl>
                                        <p:attrNameLst>
                                          <p:attrName>style.visibility</p:attrName>
                                        </p:attrNameLst>
                                      </p:cBhvr>
                                      <p:to>
                                        <p:strVal val="visible"/>
                                      </p:to>
                                    </p:set>
                                  </p:childTnLst>
                                  <p:subTnLst>
                                    <p:set>
                                      <p:cBhvr override="childStyle">
                                        <p:cTn dur="1" fill="hold" display="0" masterRel="nextClick" afterEffect="1"/>
                                        <p:tgtEl>
                                          <p:spTgt spid="295"/>
                                        </p:tgtEl>
                                        <p:attrNameLst>
                                          <p:attrName>style.visibility</p:attrName>
                                        </p:attrNameLst>
                                      </p:cBhvr>
                                      <p:to>
                                        <p:strVal val="hidden"/>
                                      </p:to>
                                    </p:set>
                                  </p:subTnLst>
                                </p:cTn>
                              </p:par>
                            </p:childTnLst>
                          </p:cTn>
                        </p:par>
                        <p:par>
                          <p:cTn id="355" fill="hold" nodeType="afterGroup">
                            <p:stCondLst>
                              <p:cond delay="1160000"/>
                            </p:stCondLst>
                            <p:childTnLst>
                              <p:par>
                                <p:cTn id="356" presetID="1" presetClass="entr" presetSubtype="0" fill="hold" grpId="0" nodeType="afterEffect">
                                  <p:stCondLst>
                                    <p:cond delay="10000"/>
                                  </p:stCondLst>
                                  <p:childTnLst>
                                    <p:set>
                                      <p:cBhvr>
                                        <p:cTn id="357" dur="1" fill="hold">
                                          <p:stCondLst>
                                            <p:cond delay="0"/>
                                          </p:stCondLst>
                                        </p:cTn>
                                        <p:tgtEl>
                                          <p:spTgt spid="296"/>
                                        </p:tgtEl>
                                        <p:attrNameLst>
                                          <p:attrName>style.visibility</p:attrName>
                                        </p:attrNameLst>
                                      </p:cBhvr>
                                      <p:to>
                                        <p:strVal val="visible"/>
                                      </p:to>
                                    </p:set>
                                  </p:childTnLst>
                                  <p:subTnLst>
                                    <p:set>
                                      <p:cBhvr override="childStyle">
                                        <p:cTn dur="1" fill="hold" display="0" masterRel="nextClick" afterEffect="1"/>
                                        <p:tgtEl>
                                          <p:spTgt spid="296"/>
                                        </p:tgtEl>
                                        <p:attrNameLst>
                                          <p:attrName>style.visibility</p:attrName>
                                        </p:attrNameLst>
                                      </p:cBhvr>
                                      <p:to>
                                        <p:strVal val="hidden"/>
                                      </p:to>
                                    </p:set>
                                  </p:subTnLst>
                                </p:cTn>
                              </p:par>
                            </p:childTnLst>
                          </p:cTn>
                        </p:par>
                        <p:par>
                          <p:cTn id="358" fill="hold" nodeType="afterGroup">
                            <p:stCondLst>
                              <p:cond delay="1170000"/>
                            </p:stCondLst>
                            <p:childTnLst>
                              <p:par>
                                <p:cTn id="359" presetID="1" presetClass="entr" presetSubtype="0" fill="hold" grpId="0" nodeType="afterEffect">
                                  <p:stCondLst>
                                    <p:cond delay="10000"/>
                                  </p:stCondLst>
                                  <p:childTnLst>
                                    <p:set>
                                      <p:cBhvr>
                                        <p:cTn id="360" dur="1" fill="hold">
                                          <p:stCondLst>
                                            <p:cond delay="0"/>
                                          </p:stCondLst>
                                        </p:cTn>
                                        <p:tgtEl>
                                          <p:spTgt spid="297"/>
                                        </p:tgtEl>
                                        <p:attrNameLst>
                                          <p:attrName>style.visibility</p:attrName>
                                        </p:attrNameLst>
                                      </p:cBhvr>
                                      <p:to>
                                        <p:strVal val="visible"/>
                                      </p:to>
                                    </p:set>
                                  </p:childTnLst>
                                  <p:subTnLst>
                                    <p:set>
                                      <p:cBhvr override="childStyle">
                                        <p:cTn dur="1" fill="hold" display="0" masterRel="nextClick" afterEffect="1"/>
                                        <p:tgtEl>
                                          <p:spTgt spid="297"/>
                                        </p:tgtEl>
                                        <p:attrNameLst>
                                          <p:attrName>style.visibility</p:attrName>
                                        </p:attrNameLst>
                                      </p:cBhvr>
                                      <p:to>
                                        <p:strVal val="hidden"/>
                                      </p:to>
                                    </p:set>
                                  </p:subTnLst>
                                </p:cTn>
                              </p:par>
                            </p:childTnLst>
                          </p:cTn>
                        </p:par>
                        <p:par>
                          <p:cTn id="361" fill="hold" nodeType="afterGroup">
                            <p:stCondLst>
                              <p:cond delay="1180000"/>
                            </p:stCondLst>
                            <p:childTnLst>
                              <p:par>
                                <p:cTn id="362" presetID="1" presetClass="entr" presetSubtype="0" fill="hold" grpId="0" nodeType="afterEffect">
                                  <p:stCondLst>
                                    <p:cond delay="10000"/>
                                  </p:stCondLst>
                                  <p:childTnLst>
                                    <p:set>
                                      <p:cBhvr>
                                        <p:cTn id="363" dur="1" fill="hold">
                                          <p:stCondLst>
                                            <p:cond delay="0"/>
                                          </p:stCondLst>
                                        </p:cTn>
                                        <p:tgtEl>
                                          <p:spTgt spid="298"/>
                                        </p:tgtEl>
                                        <p:attrNameLst>
                                          <p:attrName>style.visibility</p:attrName>
                                        </p:attrNameLst>
                                      </p:cBhvr>
                                      <p:to>
                                        <p:strVal val="visible"/>
                                      </p:to>
                                    </p:set>
                                  </p:childTnLst>
                                  <p:subTnLst>
                                    <p:set>
                                      <p:cBhvr override="childStyle">
                                        <p:cTn dur="1" fill="hold" display="0" masterRel="nextClick" afterEffect="1"/>
                                        <p:tgtEl>
                                          <p:spTgt spid="298"/>
                                        </p:tgtEl>
                                        <p:attrNameLst>
                                          <p:attrName>style.visibility</p:attrName>
                                        </p:attrNameLst>
                                      </p:cBhvr>
                                      <p:to>
                                        <p:strVal val="hidden"/>
                                      </p:to>
                                    </p:set>
                                  </p:subTnLst>
                                </p:cTn>
                              </p:par>
                            </p:childTnLst>
                          </p:cTn>
                        </p:par>
                        <p:par>
                          <p:cTn id="364" fill="hold" nodeType="afterGroup">
                            <p:stCondLst>
                              <p:cond delay="1190000"/>
                            </p:stCondLst>
                            <p:childTnLst>
                              <p:par>
                                <p:cTn id="365" presetID="1" presetClass="entr" presetSubtype="0" fill="hold" grpId="0" nodeType="afterEffect">
                                  <p:stCondLst>
                                    <p:cond delay="10000"/>
                                  </p:stCondLst>
                                  <p:childTnLst>
                                    <p:set>
                                      <p:cBhvr>
                                        <p:cTn id="366" dur="1" fill="hold">
                                          <p:stCondLst>
                                            <p:cond delay="0"/>
                                          </p:stCondLst>
                                        </p:cTn>
                                        <p:tgtEl>
                                          <p:spTgt spid="300"/>
                                        </p:tgtEl>
                                        <p:attrNameLst>
                                          <p:attrName>style.visibility</p:attrName>
                                        </p:attrNameLst>
                                      </p:cBhvr>
                                      <p:to>
                                        <p:strVal val="visible"/>
                                      </p:to>
                                    </p:set>
                                  </p:childTnLst>
                                </p:cTn>
                              </p:par>
                            </p:childTnLst>
                          </p:cTn>
                        </p:par>
                        <p:par>
                          <p:cTn id="367" fill="hold" nodeType="afterGroup">
                            <p:stCondLst>
                              <p:cond delay="1200000"/>
                            </p:stCondLst>
                            <p:childTnLst>
                              <p:par>
                                <p:cTn id="368" presetID="1" presetClass="entr" presetSubtype="0" fill="hold" grpId="0" nodeType="afterEffect">
                                  <p:stCondLst>
                                    <p:cond delay="10000"/>
                                  </p:stCondLst>
                                  <p:childTnLst>
                                    <p:set>
                                      <p:cBhvr>
                                        <p:cTn id="369" dur="1" fill="hold">
                                          <p:stCondLst>
                                            <p:cond delay="0"/>
                                          </p:stCondLst>
                                        </p:cTn>
                                        <p:tgtEl>
                                          <p:spTgt spid="301"/>
                                        </p:tgtEl>
                                        <p:attrNameLst>
                                          <p:attrName>style.visibility</p:attrName>
                                        </p:attrNameLst>
                                      </p:cBhvr>
                                      <p:to>
                                        <p:strVal val="visible"/>
                                      </p:to>
                                    </p:set>
                                  </p:childTnLst>
                                  <p:subTnLst>
                                    <p:set>
                                      <p:cBhvr override="childStyle">
                                        <p:cTn dur="1" fill="hold" display="0" masterRel="nextClick" afterEffect="1"/>
                                        <p:tgtEl>
                                          <p:spTgt spid="301"/>
                                        </p:tgtEl>
                                        <p:attrNameLst>
                                          <p:attrName>style.visibility</p:attrName>
                                        </p:attrNameLst>
                                      </p:cBhvr>
                                      <p:to>
                                        <p:strVal val="hidden"/>
                                      </p:to>
                                    </p:set>
                                  </p:subTnLst>
                                </p:cTn>
                              </p:par>
                            </p:childTnLst>
                          </p:cTn>
                        </p:par>
                        <p:par>
                          <p:cTn id="370" fill="hold" nodeType="afterGroup">
                            <p:stCondLst>
                              <p:cond delay="1210000"/>
                            </p:stCondLst>
                            <p:childTnLst>
                              <p:par>
                                <p:cTn id="371" presetID="1" presetClass="entr" presetSubtype="0" fill="hold" grpId="0" nodeType="afterEffect">
                                  <p:stCondLst>
                                    <p:cond delay="10000"/>
                                  </p:stCondLst>
                                  <p:childTnLst>
                                    <p:set>
                                      <p:cBhvr>
                                        <p:cTn id="372" dur="1" fill="hold">
                                          <p:stCondLst>
                                            <p:cond delay="0"/>
                                          </p:stCondLst>
                                        </p:cTn>
                                        <p:tgtEl>
                                          <p:spTgt spid="302"/>
                                        </p:tgtEl>
                                        <p:attrNameLst>
                                          <p:attrName>style.visibility</p:attrName>
                                        </p:attrNameLst>
                                      </p:cBhvr>
                                      <p:to>
                                        <p:strVal val="visible"/>
                                      </p:to>
                                    </p:set>
                                  </p:childTnLst>
                                  <p:subTnLst>
                                    <p:set>
                                      <p:cBhvr override="childStyle">
                                        <p:cTn dur="1" fill="hold" display="0" masterRel="nextClick" afterEffect="1"/>
                                        <p:tgtEl>
                                          <p:spTgt spid="302"/>
                                        </p:tgtEl>
                                        <p:attrNameLst>
                                          <p:attrName>style.visibility</p:attrName>
                                        </p:attrNameLst>
                                      </p:cBhvr>
                                      <p:to>
                                        <p:strVal val="hidden"/>
                                      </p:to>
                                    </p:set>
                                  </p:subTnLst>
                                </p:cTn>
                              </p:par>
                            </p:childTnLst>
                          </p:cTn>
                        </p:par>
                        <p:par>
                          <p:cTn id="373" fill="hold" nodeType="afterGroup">
                            <p:stCondLst>
                              <p:cond delay="1220000"/>
                            </p:stCondLst>
                            <p:childTnLst>
                              <p:par>
                                <p:cTn id="374" presetID="1" presetClass="entr" presetSubtype="0" fill="hold" grpId="0" nodeType="afterEffect">
                                  <p:stCondLst>
                                    <p:cond delay="10000"/>
                                  </p:stCondLst>
                                  <p:childTnLst>
                                    <p:set>
                                      <p:cBhvr>
                                        <p:cTn id="375" dur="1" fill="hold">
                                          <p:stCondLst>
                                            <p:cond delay="0"/>
                                          </p:stCondLst>
                                        </p:cTn>
                                        <p:tgtEl>
                                          <p:spTgt spid="303"/>
                                        </p:tgtEl>
                                        <p:attrNameLst>
                                          <p:attrName>style.visibility</p:attrName>
                                        </p:attrNameLst>
                                      </p:cBhvr>
                                      <p:to>
                                        <p:strVal val="visible"/>
                                      </p:to>
                                    </p:set>
                                  </p:childTnLst>
                                  <p:subTnLst>
                                    <p:set>
                                      <p:cBhvr override="childStyle">
                                        <p:cTn dur="1" fill="hold" display="0" masterRel="nextClick" afterEffect="1"/>
                                        <p:tgtEl>
                                          <p:spTgt spid="303"/>
                                        </p:tgtEl>
                                        <p:attrNameLst>
                                          <p:attrName>style.visibility</p:attrName>
                                        </p:attrNameLst>
                                      </p:cBhvr>
                                      <p:to>
                                        <p:strVal val="hidden"/>
                                      </p:to>
                                    </p:set>
                                  </p:subTnLst>
                                </p:cTn>
                              </p:par>
                            </p:childTnLst>
                          </p:cTn>
                        </p:par>
                        <p:par>
                          <p:cTn id="376" fill="hold" nodeType="afterGroup">
                            <p:stCondLst>
                              <p:cond delay="1230000"/>
                            </p:stCondLst>
                            <p:childTnLst>
                              <p:par>
                                <p:cTn id="377" presetID="1" presetClass="entr" presetSubtype="0" fill="hold" grpId="0" nodeType="afterEffect">
                                  <p:stCondLst>
                                    <p:cond delay="10000"/>
                                  </p:stCondLst>
                                  <p:childTnLst>
                                    <p:set>
                                      <p:cBhvr>
                                        <p:cTn id="378" dur="1" fill="hold">
                                          <p:stCondLst>
                                            <p:cond delay="0"/>
                                          </p:stCondLst>
                                        </p:cTn>
                                        <p:tgtEl>
                                          <p:spTgt spid="304"/>
                                        </p:tgtEl>
                                        <p:attrNameLst>
                                          <p:attrName>style.visibility</p:attrName>
                                        </p:attrNameLst>
                                      </p:cBhvr>
                                      <p:to>
                                        <p:strVal val="visible"/>
                                      </p:to>
                                    </p:set>
                                  </p:childTnLst>
                                  <p:subTnLst>
                                    <p:set>
                                      <p:cBhvr override="childStyle">
                                        <p:cTn dur="1" fill="hold" display="0" masterRel="nextClick" afterEffect="1"/>
                                        <p:tgtEl>
                                          <p:spTgt spid="304"/>
                                        </p:tgtEl>
                                        <p:attrNameLst>
                                          <p:attrName>style.visibility</p:attrName>
                                        </p:attrNameLst>
                                      </p:cBhvr>
                                      <p:to>
                                        <p:strVal val="hidden"/>
                                      </p:to>
                                    </p:set>
                                  </p:subTnLst>
                                </p:cTn>
                              </p:par>
                            </p:childTnLst>
                          </p:cTn>
                        </p:par>
                        <p:par>
                          <p:cTn id="379" fill="hold" nodeType="afterGroup">
                            <p:stCondLst>
                              <p:cond delay="1240000"/>
                            </p:stCondLst>
                            <p:childTnLst>
                              <p:par>
                                <p:cTn id="380" presetID="1" presetClass="entr" presetSubtype="0" fill="hold" grpId="0" nodeType="afterEffect">
                                  <p:stCondLst>
                                    <p:cond delay="10000"/>
                                  </p:stCondLst>
                                  <p:childTnLst>
                                    <p:set>
                                      <p:cBhvr>
                                        <p:cTn id="381" dur="1" fill="hold">
                                          <p:stCondLst>
                                            <p:cond delay="0"/>
                                          </p:stCondLst>
                                        </p:cTn>
                                        <p:tgtEl>
                                          <p:spTgt spid="305"/>
                                        </p:tgtEl>
                                        <p:attrNameLst>
                                          <p:attrName>style.visibility</p:attrName>
                                        </p:attrNameLst>
                                      </p:cBhvr>
                                      <p:to>
                                        <p:strVal val="visible"/>
                                      </p:to>
                                    </p:set>
                                  </p:childTnLst>
                                  <p:subTnLst>
                                    <p:set>
                                      <p:cBhvr override="childStyle">
                                        <p:cTn dur="1" fill="hold" display="0" masterRel="nextClick" afterEffect="1"/>
                                        <p:tgtEl>
                                          <p:spTgt spid="305"/>
                                        </p:tgtEl>
                                        <p:attrNameLst>
                                          <p:attrName>style.visibility</p:attrName>
                                        </p:attrNameLst>
                                      </p:cBhvr>
                                      <p:to>
                                        <p:strVal val="hidden"/>
                                      </p:to>
                                    </p:set>
                                  </p:subTnLst>
                                </p:cTn>
                              </p:par>
                            </p:childTnLst>
                          </p:cTn>
                        </p:par>
                        <p:par>
                          <p:cTn id="382" fill="hold" nodeType="afterGroup">
                            <p:stCondLst>
                              <p:cond delay="1250000"/>
                            </p:stCondLst>
                            <p:childTnLst>
                              <p:par>
                                <p:cTn id="383" presetID="1" presetClass="entr" presetSubtype="0" fill="hold" grpId="0" nodeType="afterEffect">
                                  <p:stCondLst>
                                    <p:cond delay="10000"/>
                                  </p:stCondLst>
                                  <p:childTnLst>
                                    <p:set>
                                      <p:cBhvr>
                                        <p:cTn id="384" dur="1" fill="hold">
                                          <p:stCondLst>
                                            <p:cond delay="0"/>
                                          </p:stCondLst>
                                        </p:cTn>
                                        <p:tgtEl>
                                          <p:spTgt spid="307"/>
                                        </p:tgtEl>
                                        <p:attrNameLst>
                                          <p:attrName>style.visibility</p:attrName>
                                        </p:attrNameLst>
                                      </p:cBhvr>
                                      <p:to>
                                        <p:strVal val="visible"/>
                                      </p:to>
                                    </p:set>
                                  </p:childTnLst>
                                </p:cTn>
                              </p:par>
                            </p:childTnLst>
                          </p:cTn>
                        </p:par>
                        <p:par>
                          <p:cTn id="385" fill="hold" nodeType="afterGroup">
                            <p:stCondLst>
                              <p:cond delay="1260000"/>
                            </p:stCondLst>
                            <p:childTnLst>
                              <p:par>
                                <p:cTn id="386" presetID="1" presetClass="entr" presetSubtype="0" fill="hold" grpId="0" nodeType="afterEffect">
                                  <p:stCondLst>
                                    <p:cond delay="10000"/>
                                  </p:stCondLst>
                                  <p:childTnLst>
                                    <p:set>
                                      <p:cBhvr>
                                        <p:cTn id="387" dur="1" fill="hold">
                                          <p:stCondLst>
                                            <p:cond delay="0"/>
                                          </p:stCondLst>
                                        </p:cTn>
                                        <p:tgtEl>
                                          <p:spTgt spid="308"/>
                                        </p:tgtEl>
                                        <p:attrNameLst>
                                          <p:attrName>style.visibility</p:attrName>
                                        </p:attrNameLst>
                                      </p:cBhvr>
                                      <p:to>
                                        <p:strVal val="visible"/>
                                      </p:to>
                                    </p:set>
                                  </p:childTnLst>
                                  <p:subTnLst>
                                    <p:set>
                                      <p:cBhvr override="childStyle">
                                        <p:cTn dur="1" fill="hold" display="0" masterRel="nextClick" afterEffect="1"/>
                                        <p:tgtEl>
                                          <p:spTgt spid="308"/>
                                        </p:tgtEl>
                                        <p:attrNameLst>
                                          <p:attrName>style.visibility</p:attrName>
                                        </p:attrNameLst>
                                      </p:cBhvr>
                                      <p:to>
                                        <p:strVal val="hidden"/>
                                      </p:to>
                                    </p:set>
                                  </p:subTnLst>
                                </p:cTn>
                              </p:par>
                            </p:childTnLst>
                          </p:cTn>
                        </p:par>
                        <p:par>
                          <p:cTn id="388" fill="hold" nodeType="afterGroup">
                            <p:stCondLst>
                              <p:cond delay="1270000"/>
                            </p:stCondLst>
                            <p:childTnLst>
                              <p:par>
                                <p:cTn id="389" presetID="1" presetClass="entr" presetSubtype="0" fill="hold" grpId="0" nodeType="afterEffect">
                                  <p:stCondLst>
                                    <p:cond delay="10000"/>
                                  </p:stCondLst>
                                  <p:childTnLst>
                                    <p:set>
                                      <p:cBhvr>
                                        <p:cTn id="390" dur="1" fill="hold">
                                          <p:stCondLst>
                                            <p:cond delay="0"/>
                                          </p:stCondLst>
                                        </p:cTn>
                                        <p:tgtEl>
                                          <p:spTgt spid="309"/>
                                        </p:tgtEl>
                                        <p:attrNameLst>
                                          <p:attrName>style.visibility</p:attrName>
                                        </p:attrNameLst>
                                      </p:cBhvr>
                                      <p:to>
                                        <p:strVal val="visible"/>
                                      </p:to>
                                    </p:set>
                                  </p:childTnLst>
                                  <p:subTnLst>
                                    <p:set>
                                      <p:cBhvr override="childStyle">
                                        <p:cTn dur="1" fill="hold" display="0" masterRel="nextClick" afterEffect="1"/>
                                        <p:tgtEl>
                                          <p:spTgt spid="309"/>
                                        </p:tgtEl>
                                        <p:attrNameLst>
                                          <p:attrName>style.visibility</p:attrName>
                                        </p:attrNameLst>
                                      </p:cBhvr>
                                      <p:to>
                                        <p:strVal val="hidden"/>
                                      </p:to>
                                    </p:set>
                                  </p:subTnLst>
                                </p:cTn>
                              </p:par>
                            </p:childTnLst>
                          </p:cTn>
                        </p:par>
                        <p:par>
                          <p:cTn id="391" fill="hold" nodeType="afterGroup">
                            <p:stCondLst>
                              <p:cond delay="1280000"/>
                            </p:stCondLst>
                            <p:childTnLst>
                              <p:par>
                                <p:cTn id="392" presetID="1" presetClass="entr" presetSubtype="0" fill="hold" grpId="0" nodeType="afterEffect">
                                  <p:stCondLst>
                                    <p:cond delay="10000"/>
                                  </p:stCondLst>
                                  <p:childTnLst>
                                    <p:set>
                                      <p:cBhvr>
                                        <p:cTn id="393" dur="1" fill="hold">
                                          <p:stCondLst>
                                            <p:cond delay="0"/>
                                          </p:stCondLst>
                                        </p:cTn>
                                        <p:tgtEl>
                                          <p:spTgt spid="310"/>
                                        </p:tgtEl>
                                        <p:attrNameLst>
                                          <p:attrName>style.visibility</p:attrName>
                                        </p:attrNameLst>
                                      </p:cBhvr>
                                      <p:to>
                                        <p:strVal val="visible"/>
                                      </p:to>
                                    </p:set>
                                  </p:childTnLst>
                                  <p:subTnLst>
                                    <p:set>
                                      <p:cBhvr override="childStyle">
                                        <p:cTn dur="1" fill="hold" display="0" masterRel="nextClick" afterEffect="1"/>
                                        <p:tgtEl>
                                          <p:spTgt spid="310"/>
                                        </p:tgtEl>
                                        <p:attrNameLst>
                                          <p:attrName>style.visibility</p:attrName>
                                        </p:attrNameLst>
                                      </p:cBhvr>
                                      <p:to>
                                        <p:strVal val="hidden"/>
                                      </p:to>
                                    </p:set>
                                  </p:subTnLst>
                                </p:cTn>
                              </p:par>
                            </p:childTnLst>
                          </p:cTn>
                        </p:par>
                        <p:par>
                          <p:cTn id="394" fill="hold" nodeType="afterGroup">
                            <p:stCondLst>
                              <p:cond delay="1290000"/>
                            </p:stCondLst>
                            <p:childTnLst>
                              <p:par>
                                <p:cTn id="395" presetID="1" presetClass="entr" presetSubtype="0" fill="hold" grpId="0" nodeType="afterEffect">
                                  <p:stCondLst>
                                    <p:cond delay="10000"/>
                                  </p:stCondLst>
                                  <p:childTnLst>
                                    <p:set>
                                      <p:cBhvr>
                                        <p:cTn id="396" dur="1" fill="hold">
                                          <p:stCondLst>
                                            <p:cond delay="0"/>
                                          </p:stCondLst>
                                        </p:cTn>
                                        <p:tgtEl>
                                          <p:spTgt spid="311"/>
                                        </p:tgtEl>
                                        <p:attrNameLst>
                                          <p:attrName>style.visibility</p:attrName>
                                        </p:attrNameLst>
                                      </p:cBhvr>
                                      <p:to>
                                        <p:strVal val="visible"/>
                                      </p:to>
                                    </p:set>
                                  </p:childTnLst>
                                  <p:subTnLst>
                                    <p:set>
                                      <p:cBhvr override="childStyle">
                                        <p:cTn dur="1" fill="hold" display="0" masterRel="nextClick" afterEffect="1"/>
                                        <p:tgtEl>
                                          <p:spTgt spid="311"/>
                                        </p:tgtEl>
                                        <p:attrNameLst>
                                          <p:attrName>style.visibility</p:attrName>
                                        </p:attrNameLst>
                                      </p:cBhvr>
                                      <p:to>
                                        <p:strVal val="hidden"/>
                                      </p:to>
                                    </p:set>
                                  </p:subTnLst>
                                </p:cTn>
                              </p:par>
                            </p:childTnLst>
                          </p:cTn>
                        </p:par>
                        <p:par>
                          <p:cTn id="397" fill="hold" nodeType="afterGroup">
                            <p:stCondLst>
                              <p:cond delay="1300000"/>
                            </p:stCondLst>
                            <p:childTnLst>
                              <p:par>
                                <p:cTn id="398" presetID="1" presetClass="entr" presetSubtype="0" fill="hold" grpId="0" nodeType="afterEffect">
                                  <p:stCondLst>
                                    <p:cond delay="10000"/>
                                  </p:stCondLst>
                                  <p:childTnLst>
                                    <p:set>
                                      <p:cBhvr>
                                        <p:cTn id="399" dur="1" fill="hold">
                                          <p:stCondLst>
                                            <p:cond delay="0"/>
                                          </p:stCondLst>
                                        </p:cTn>
                                        <p:tgtEl>
                                          <p:spTgt spid="312"/>
                                        </p:tgtEl>
                                        <p:attrNameLst>
                                          <p:attrName>style.visibility</p:attrName>
                                        </p:attrNameLst>
                                      </p:cBhvr>
                                      <p:to>
                                        <p:strVal val="visible"/>
                                      </p:to>
                                    </p:set>
                                  </p:childTnLst>
                                  <p:subTnLst>
                                    <p:set>
                                      <p:cBhvr override="childStyle">
                                        <p:cTn dur="1" fill="hold" display="0" masterRel="nextClick" afterEffect="1"/>
                                        <p:tgtEl>
                                          <p:spTgt spid="312"/>
                                        </p:tgtEl>
                                        <p:attrNameLst>
                                          <p:attrName>style.visibility</p:attrName>
                                        </p:attrNameLst>
                                      </p:cBhvr>
                                      <p:to>
                                        <p:strVal val="hidden"/>
                                      </p:to>
                                    </p:set>
                                  </p:subTnLst>
                                </p:cTn>
                              </p:par>
                            </p:childTnLst>
                          </p:cTn>
                        </p:par>
                        <p:par>
                          <p:cTn id="400" fill="hold" nodeType="afterGroup">
                            <p:stCondLst>
                              <p:cond delay="1310000"/>
                            </p:stCondLst>
                            <p:childTnLst>
                              <p:par>
                                <p:cTn id="401" presetID="1" presetClass="entr" presetSubtype="0" fill="hold" grpId="0" nodeType="afterEffect">
                                  <p:stCondLst>
                                    <p:cond delay="10000"/>
                                  </p:stCondLst>
                                  <p:childTnLst>
                                    <p:set>
                                      <p:cBhvr>
                                        <p:cTn id="402" dur="1" fill="hold">
                                          <p:stCondLst>
                                            <p:cond delay="0"/>
                                          </p:stCondLst>
                                        </p:cTn>
                                        <p:tgtEl>
                                          <p:spTgt spid="314"/>
                                        </p:tgtEl>
                                        <p:attrNameLst>
                                          <p:attrName>style.visibility</p:attrName>
                                        </p:attrNameLst>
                                      </p:cBhvr>
                                      <p:to>
                                        <p:strVal val="visible"/>
                                      </p:to>
                                    </p:set>
                                  </p:childTnLst>
                                </p:cTn>
                              </p:par>
                            </p:childTnLst>
                          </p:cTn>
                        </p:par>
                        <p:par>
                          <p:cTn id="403" fill="hold" nodeType="afterGroup">
                            <p:stCondLst>
                              <p:cond delay="1320000"/>
                            </p:stCondLst>
                            <p:childTnLst>
                              <p:par>
                                <p:cTn id="404" presetID="1" presetClass="entr" presetSubtype="0" fill="hold" grpId="0" nodeType="afterEffect">
                                  <p:stCondLst>
                                    <p:cond delay="10000"/>
                                  </p:stCondLst>
                                  <p:childTnLst>
                                    <p:set>
                                      <p:cBhvr>
                                        <p:cTn id="405" dur="1" fill="hold">
                                          <p:stCondLst>
                                            <p:cond delay="0"/>
                                          </p:stCondLst>
                                        </p:cTn>
                                        <p:tgtEl>
                                          <p:spTgt spid="315"/>
                                        </p:tgtEl>
                                        <p:attrNameLst>
                                          <p:attrName>style.visibility</p:attrName>
                                        </p:attrNameLst>
                                      </p:cBhvr>
                                      <p:to>
                                        <p:strVal val="visible"/>
                                      </p:to>
                                    </p:set>
                                  </p:childTnLst>
                                  <p:subTnLst>
                                    <p:set>
                                      <p:cBhvr override="childStyle">
                                        <p:cTn dur="1" fill="hold" display="0" masterRel="nextClick" afterEffect="1"/>
                                        <p:tgtEl>
                                          <p:spTgt spid="315"/>
                                        </p:tgtEl>
                                        <p:attrNameLst>
                                          <p:attrName>style.visibility</p:attrName>
                                        </p:attrNameLst>
                                      </p:cBhvr>
                                      <p:to>
                                        <p:strVal val="hidden"/>
                                      </p:to>
                                    </p:set>
                                  </p:subTnLst>
                                </p:cTn>
                              </p:par>
                            </p:childTnLst>
                          </p:cTn>
                        </p:par>
                        <p:par>
                          <p:cTn id="406" fill="hold" nodeType="afterGroup">
                            <p:stCondLst>
                              <p:cond delay="1330000"/>
                            </p:stCondLst>
                            <p:childTnLst>
                              <p:par>
                                <p:cTn id="407" presetID="1" presetClass="entr" presetSubtype="0" fill="hold" grpId="0" nodeType="afterEffect">
                                  <p:stCondLst>
                                    <p:cond delay="10000"/>
                                  </p:stCondLst>
                                  <p:childTnLst>
                                    <p:set>
                                      <p:cBhvr>
                                        <p:cTn id="408" dur="1" fill="hold">
                                          <p:stCondLst>
                                            <p:cond delay="0"/>
                                          </p:stCondLst>
                                        </p:cTn>
                                        <p:tgtEl>
                                          <p:spTgt spid="316"/>
                                        </p:tgtEl>
                                        <p:attrNameLst>
                                          <p:attrName>style.visibility</p:attrName>
                                        </p:attrNameLst>
                                      </p:cBhvr>
                                      <p:to>
                                        <p:strVal val="visible"/>
                                      </p:to>
                                    </p:set>
                                  </p:childTnLst>
                                  <p:subTnLst>
                                    <p:set>
                                      <p:cBhvr override="childStyle">
                                        <p:cTn dur="1" fill="hold" display="0" masterRel="nextClick" afterEffect="1"/>
                                        <p:tgtEl>
                                          <p:spTgt spid="316"/>
                                        </p:tgtEl>
                                        <p:attrNameLst>
                                          <p:attrName>style.visibility</p:attrName>
                                        </p:attrNameLst>
                                      </p:cBhvr>
                                      <p:to>
                                        <p:strVal val="hidden"/>
                                      </p:to>
                                    </p:set>
                                  </p:subTnLst>
                                </p:cTn>
                              </p:par>
                            </p:childTnLst>
                          </p:cTn>
                        </p:par>
                        <p:par>
                          <p:cTn id="409" fill="hold" nodeType="afterGroup">
                            <p:stCondLst>
                              <p:cond delay="1340000"/>
                            </p:stCondLst>
                            <p:childTnLst>
                              <p:par>
                                <p:cTn id="410" presetID="1" presetClass="entr" presetSubtype="0" fill="hold" grpId="0" nodeType="afterEffect">
                                  <p:stCondLst>
                                    <p:cond delay="10000"/>
                                  </p:stCondLst>
                                  <p:childTnLst>
                                    <p:set>
                                      <p:cBhvr>
                                        <p:cTn id="411" dur="1" fill="hold">
                                          <p:stCondLst>
                                            <p:cond delay="0"/>
                                          </p:stCondLst>
                                        </p:cTn>
                                        <p:tgtEl>
                                          <p:spTgt spid="317"/>
                                        </p:tgtEl>
                                        <p:attrNameLst>
                                          <p:attrName>style.visibility</p:attrName>
                                        </p:attrNameLst>
                                      </p:cBhvr>
                                      <p:to>
                                        <p:strVal val="visible"/>
                                      </p:to>
                                    </p:set>
                                  </p:childTnLst>
                                  <p:subTnLst>
                                    <p:set>
                                      <p:cBhvr override="childStyle">
                                        <p:cTn dur="1" fill="hold" display="0" masterRel="nextClick" afterEffect="1"/>
                                        <p:tgtEl>
                                          <p:spTgt spid="317"/>
                                        </p:tgtEl>
                                        <p:attrNameLst>
                                          <p:attrName>style.visibility</p:attrName>
                                        </p:attrNameLst>
                                      </p:cBhvr>
                                      <p:to>
                                        <p:strVal val="hidden"/>
                                      </p:to>
                                    </p:set>
                                  </p:subTnLst>
                                </p:cTn>
                              </p:par>
                            </p:childTnLst>
                          </p:cTn>
                        </p:par>
                        <p:par>
                          <p:cTn id="412" fill="hold" nodeType="afterGroup">
                            <p:stCondLst>
                              <p:cond delay="1350000"/>
                            </p:stCondLst>
                            <p:childTnLst>
                              <p:par>
                                <p:cTn id="413" presetID="1" presetClass="entr" presetSubtype="0" fill="hold" grpId="0" nodeType="afterEffect">
                                  <p:stCondLst>
                                    <p:cond delay="10000"/>
                                  </p:stCondLst>
                                  <p:childTnLst>
                                    <p:set>
                                      <p:cBhvr>
                                        <p:cTn id="414" dur="1" fill="hold">
                                          <p:stCondLst>
                                            <p:cond delay="0"/>
                                          </p:stCondLst>
                                        </p:cTn>
                                        <p:tgtEl>
                                          <p:spTgt spid="318"/>
                                        </p:tgtEl>
                                        <p:attrNameLst>
                                          <p:attrName>style.visibility</p:attrName>
                                        </p:attrNameLst>
                                      </p:cBhvr>
                                      <p:to>
                                        <p:strVal val="visible"/>
                                      </p:to>
                                    </p:set>
                                  </p:childTnLst>
                                  <p:subTnLst>
                                    <p:set>
                                      <p:cBhvr override="childStyle">
                                        <p:cTn dur="1" fill="hold" display="0" masterRel="nextClick" afterEffect="1"/>
                                        <p:tgtEl>
                                          <p:spTgt spid="318"/>
                                        </p:tgtEl>
                                        <p:attrNameLst>
                                          <p:attrName>style.visibility</p:attrName>
                                        </p:attrNameLst>
                                      </p:cBhvr>
                                      <p:to>
                                        <p:strVal val="hidden"/>
                                      </p:to>
                                    </p:set>
                                  </p:subTnLst>
                                </p:cTn>
                              </p:par>
                            </p:childTnLst>
                          </p:cTn>
                        </p:par>
                        <p:par>
                          <p:cTn id="415" fill="hold" nodeType="afterGroup">
                            <p:stCondLst>
                              <p:cond delay="1360000"/>
                            </p:stCondLst>
                            <p:childTnLst>
                              <p:par>
                                <p:cTn id="416" presetID="1" presetClass="entr" presetSubtype="0" fill="hold" grpId="0" nodeType="afterEffect">
                                  <p:stCondLst>
                                    <p:cond delay="10000"/>
                                  </p:stCondLst>
                                  <p:childTnLst>
                                    <p:set>
                                      <p:cBhvr>
                                        <p:cTn id="417" dur="1" fill="hold">
                                          <p:stCondLst>
                                            <p:cond delay="0"/>
                                          </p:stCondLst>
                                        </p:cTn>
                                        <p:tgtEl>
                                          <p:spTgt spid="319"/>
                                        </p:tgtEl>
                                        <p:attrNameLst>
                                          <p:attrName>style.visibility</p:attrName>
                                        </p:attrNameLst>
                                      </p:cBhvr>
                                      <p:to>
                                        <p:strVal val="visible"/>
                                      </p:to>
                                    </p:set>
                                  </p:childTnLst>
                                  <p:subTnLst>
                                    <p:set>
                                      <p:cBhvr override="childStyle">
                                        <p:cTn dur="1" fill="hold" display="0" masterRel="nextClick" afterEffect="1"/>
                                        <p:tgtEl>
                                          <p:spTgt spid="319"/>
                                        </p:tgtEl>
                                        <p:attrNameLst>
                                          <p:attrName>style.visibility</p:attrName>
                                        </p:attrNameLst>
                                      </p:cBhvr>
                                      <p:to>
                                        <p:strVal val="hidden"/>
                                      </p:to>
                                    </p:set>
                                  </p:subTnLst>
                                </p:cTn>
                              </p:par>
                            </p:childTnLst>
                          </p:cTn>
                        </p:par>
                        <p:par>
                          <p:cTn id="418" fill="hold" nodeType="afterGroup">
                            <p:stCondLst>
                              <p:cond delay="1370000"/>
                            </p:stCondLst>
                            <p:childTnLst>
                              <p:par>
                                <p:cTn id="419" presetID="1" presetClass="entr" presetSubtype="0" fill="hold" grpId="0" nodeType="afterEffect">
                                  <p:stCondLst>
                                    <p:cond delay="10000"/>
                                  </p:stCondLst>
                                  <p:childTnLst>
                                    <p:set>
                                      <p:cBhvr>
                                        <p:cTn id="420" dur="1" fill="hold">
                                          <p:stCondLst>
                                            <p:cond delay="0"/>
                                          </p:stCondLst>
                                        </p:cTn>
                                        <p:tgtEl>
                                          <p:spTgt spid="321"/>
                                        </p:tgtEl>
                                        <p:attrNameLst>
                                          <p:attrName>style.visibility</p:attrName>
                                        </p:attrNameLst>
                                      </p:cBhvr>
                                      <p:to>
                                        <p:strVal val="visible"/>
                                      </p:to>
                                    </p:set>
                                  </p:childTnLst>
                                </p:cTn>
                              </p:par>
                            </p:childTnLst>
                          </p:cTn>
                        </p:par>
                        <p:par>
                          <p:cTn id="421" fill="hold" nodeType="afterGroup">
                            <p:stCondLst>
                              <p:cond delay="1380000"/>
                            </p:stCondLst>
                            <p:childTnLst>
                              <p:par>
                                <p:cTn id="422" presetID="1" presetClass="entr" presetSubtype="0" fill="hold" grpId="0" nodeType="afterEffect">
                                  <p:stCondLst>
                                    <p:cond delay="10000"/>
                                  </p:stCondLst>
                                  <p:childTnLst>
                                    <p:set>
                                      <p:cBhvr>
                                        <p:cTn id="423" dur="1" fill="hold">
                                          <p:stCondLst>
                                            <p:cond delay="0"/>
                                          </p:stCondLst>
                                        </p:cTn>
                                        <p:tgtEl>
                                          <p:spTgt spid="322"/>
                                        </p:tgtEl>
                                        <p:attrNameLst>
                                          <p:attrName>style.visibility</p:attrName>
                                        </p:attrNameLst>
                                      </p:cBhvr>
                                      <p:to>
                                        <p:strVal val="visible"/>
                                      </p:to>
                                    </p:set>
                                  </p:childTnLst>
                                  <p:subTnLst>
                                    <p:set>
                                      <p:cBhvr override="childStyle">
                                        <p:cTn dur="1" fill="hold" display="0" masterRel="nextClick" afterEffect="1"/>
                                        <p:tgtEl>
                                          <p:spTgt spid="322"/>
                                        </p:tgtEl>
                                        <p:attrNameLst>
                                          <p:attrName>style.visibility</p:attrName>
                                        </p:attrNameLst>
                                      </p:cBhvr>
                                      <p:to>
                                        <p:strVal val="hidden"/>
                                      </p:to>
                                    </p:set>
                                  </p:subTnLst>
                                </p:cTn>
                              </p:par>
                            </p:childTnLst>
                          </p:cTn>
                        </p:par>
                        <p:par>
                          <p:cTn id="424" fill="hold" nodeType="afterGroup">
                            <p:stCondLst>
                              <p:cond delay="1390000"/>
                            </p:stCondLst>
                            <p:childTnLst>
                              <p:par>
                                <p:cTn id="425" presetID="1" presetClass="entr" presetSubtype="0" fill="hold" grpId="0" nodeType="afterEffect">
                                  <p:stCondLst>
                                    <p:cond delay="10000"/>
                                  </p:stCondLst>
                                  <p:childTnLst>
                                    <p:set>
                                      <p:cBhvr>
                                        <p:cTn id="426" dur="1" fill="hold">
                                          <p:stCondLst>
                                            <p:cond delay="0"/>
                                          </p:stCondLst>
                                        </p:cTn>
                                        <p:tgtEl>
                                          <p:spTgt spid="323"/>
                                        </p:tgtEl>
                                        <p:attrNameLst>
                                          <p:attrName>style.visibility</p:attrName>
                                        </p:attrNameLst>
                                      </p:cBhvr>
                                      <p:to>
                                        <p:strVal val="visible"/>
                                      </p:to>
                                    </p:set>
                                  </p:childTnLst>
                                  <p:subTnLst>
                                    <p:set>
                                      <p:cBhvr override="childStyle">
                                        <p:cTn dur="1" fill="hold" display="0" masterRel="nextClick" afterEffect="1"/>
                                        <p:tgtEl>
                                          <p:spTgt spid="323"/>
                                        </p:tgtEl>
                                        <p:attrNameLst>
                                          <p:attrName>style.visibility</p:attrName>
                                        </p:attrNameLst>
                                      </p:cBhvr>
                                      <p:to>
                                        <p:strVal val="hidden"/>
                                      </p:to>
                                    </p:set>
                                  </p:subTnLst>
                                </p:cTn>
                              </p:par>
                            </p:childTnLst>
                          </p:cTn>
                        </p:par>
                        <p:par>
                          <p:cTn id="427" fill="hold" nodeType="afterGroup">
                            <p:stCondLst>
                              <p:cond delay="1400000"/>
                            </p:stCondLst>
                            <p:childTnLst>
                              <p:par>
                                <p:cTn id="428" presetID="1" presetClass="entr" presetSubtype="0" fill="hold" grpId="0" nodeType="afterEffect">
                                  <p:stCondLst>
                                    <p:cond delay="10000"/>
                                  </p:stCondLst>
                                  <p:childTnLst>
                                    <p:set>
                                      <p:cBhvr>
                                        <p:cTn id="429" dur="1" fill="hold">
                                          <p:stCondLst>
                                            <p:cond delay="0"/>
                                          </p:stCondLst>
                                        </p:cTn>
                                        <p:tgtEl>
                                          <p:spTgt spid="324"/>
                                        </p:tgtEl>
                                        <p:attrNameLst>
                                          <p:attrName>style.visibility</p:attrName>
                                        </p:attrNameLst>
                                      </p:cBhvr>
                                      <p:to>
                                        <p:strVal val="visible"/>
                                      </p:to>
                                    </p:set>
                                  </p:childTnLst>
                                  <p:subTnLst>
                                    <p:set>
                                      <p:cBhvr override="childStyle">
                                        <p:cTn dur="1" fill="hold" display="0" masterRel="nextClick" afterEffect="1"/>
                                        <p:tgtEl>
                                          <p:spTgt spid="324"/>
                                        </p:tgtEl>
                                        <p:attrNameLst>
                                          <p:attrName>style.visibility</p:attrName>
                                        </p:attrNameLst>
                                      </p:cBhvr>
                                      <p:to>
                                        <p:strVal val="hidden"/>
                                      </p:to>
                                    </p:set>
                                  </p:subTnLst>
                                </p:cTn>
                              </p:par>
                            </p:childTnLst>
                          </p:cTn>
                        </p:par>
                        <p:par>
                          <p:cTn id="430" fill="hold" nodeType="afterGroup">
                            <p:stCondLst>
                              <p:cond delay="1410000"/>
                            </p:stCondLst>
                            <p:childTnLst>
                              <p:par>
                                <p:cTn id="431" presetID="1" presetClass="entr" presetSubtype="0" fill="hold" grpId="0" nodeType="afterEffect">
                                  <p:stCondLst>
                                    <p:cond delay="10000"/>
                                  </p:stCondLst>
                                  <p:childTnLst>
                                    <p:set>
                                      <p:cBhvr>
                                        <p:cTn id="432" dur="1" fill="hold">
                                          <p:stCondLst>
                                            <p:cond delay="0"/>
                                          </p:stCondLst>
                                        </p:cTn>
                                        <p:tgtEl>
                                          <p:spTgt spid="325"/>
                                        </p:tgtEl>
                                        <p:attrNameLst>
                                          <p:attrName>style.visibility</p:attrName>
                                        </p:attrNameLst>
                                      </p:cBhvr>
                                      <p:to>
                                        <p:strVal val="visible"/>
                                      </p:to>
                                    </p:set>
                                  </p:childTnLst>
                                  <p:subTnLst>
                                    <p:set>
                                      <p:cBhvr override="childStyle">
                                        <p:cTn dur="1" fill="hold" display="0" masterRel="nextClick" afterEffect="1"/>
                                        <p:tgtEl>
                                          <p:spTgt spid="325"/>
                                        </p:tgtEl>
                                        <p:attrNameLst>
                                          <p:attrName>style.visibility</p:attrName>
                                        </p:attrNameLst>
                                      </p:cBhvr>
                                      <p:to>
                                        <p:strVal val="hidden"/>
                                      </p:to>
                                    </p:set>
                                  </p:subTnLst>
                                </p:cTn>
                              </p:par>
                            </p:childTnLst>
                          </p:cTn>
                        </p:par>
                        <p:par>
                          <p:cTn id="433" fill="hold" nodeType="afterGroup">
                            <p:stCondLst>
                              <p:cond delay="1420000"/>
                            </p:stCondLst>
                            <p:childTnLst>
                              <p:par>
                                <p:cTn id="434" presetID="1" presetClass="entr" presetSubtype="0" fill="hold" grpId="0" nodeType="afterEffect">
                                  <p:stCondLst>
                                    <p:cond delay="10000"/>
                                  </p:stCondLst>
                                  <p:childTnLst>
                                    <p:set>
                                      <p:cBhvr>
                                        <p:cTn id="435" dur="1" fill="hold">
                                          <p:stCondLst>
                                            <p:cond delay="0"/>
                                          </p:stCondLst>
                                        </p:cTn>
                                        <p:tgtEl>
                                          <p:spTgt spid="326"/>
                                        </p:tgtEl>
                                        <p:attrNameLst>
                                          <p:attrName>style.visibility</p:attrName>
                                        </p:attrNameLst>
                                      </p:cBhvr>
                                      <p:to>
                                        <p:strVal val="visible"/>
                                      </p:to>
                                    </p:set>
                                  </p:childTnLst>
                                  <p:subTnLst>
                                    <p:set>
                                      <p:cBhvr override="childStyle">
                                        <p:cTn dur="1" fill="hold" display="0" masterRel="nextClick" afterEffect="1"/>
                                        <p:tgtEl>
                                          <p:spTgt spid="326"/>
                                        </p:tgtEl>
                                        <p:attrNameLst>
                                          <p:attrName>style.visibility</p:attrName>
                                        </p:attrNameLst>
                                      </p:cBhvr>
                                      <p:to>
                                        <p:strVal val="hidden"/>
                                      </p:to>
                                    </p:set>
                                  </p:subTnLst>
                                </p:cTn>
                              </p:par>
                            </p:childTnLst>
                          </p:cTn>
                        </p:par>
                        <p:par>
                          <p:cTn id="436" fill="hold" nodeType="afterGroup">
                            <p:stCondLst>
                              <p:cond delay="1430000"/>
                            </p:stCondLst>
                            <p:childTnLst>
                              <p:par>
                                <p:cTn id="437" presetID="1" presetClass="entr" presetSubtype="0" fill="hold" grpId="0" nodeType="afterEffect">
                                  <p:stCondLst>
                                    <p:cond delay="10000"/>
                                  </p:stCondLst>
                                  <p:childTnLst>
                                    <p:set>
                                      <p:cBhvr>
                                        <p:cTn id="438" dur="1" fill="hold">
                                          <p:stCondLst>
                                            <p:cond delay="0"/>
                                          </p:stCondLst>
                                        </p:cTn>
                                        <p:tgtEl>
                                          <p:spTgt spid="328"/>
                                        </p:tgtEl>
                                        <p:attrNameLst>
                                          <p:attrName>style.visibility</p:attrName>
                                        </p:attrNameLst>
                                      </p:cBhvr>
                                      <p:to>
                                        <p:strVal val="visible"/>
                                      </p:to>
                                    </p:set>
                                  </p:childTnLst>
                                </p:cTn>
                              </p:par>
                            </p:childTnLst>
                          </p:cTn>
                        </p:par>
                        <p:par>
                          <p:cTn id="439" fill="hold" nodeType="afterGroup">
                            <p:stCondLst>
                              <p:cond delay="1440000"/>
                            </p:stCondLst>
                            <p:childTnLst>
                              <p:par>
                                <p:cTn id="440" presetID="1" presetClass="entr" presetSubtype="0" fill="hold" grpId="0" nodeType="afterEffect">
                                  <p:stCondLst>
                                    <p:cond delay="10000"/>
                                  </p:stCondLst>
                                  <p:childTnLst>
                                    <p:set>
                                      <p:cBhvr>
                                        <p:cTn id="441" dur="1" fill="hold">
                                          <p:stCondLst>
                                            <p:cond delay="0"/>
                                          </p:stCondLst>
                                        </p:cTn>
                                        <p:tgtEl>
                                          <p:spTgt spid="329"/>
                                        </p:tgtEl>
                                        <p:attrNameLst>
                                          <p:attrName>style.visibility</p:attrName>
                                        </p:attrNameLst>
                                      </p:cBhvr>
                                      <p:to>
                                        <p:strVal val="visible"/>
                                      </p:to>
                                    </p:set>
                                  </p:childTnLst>
                                  <p:subTnLst>
                                    <p:set>
                                      <p:cBhvr override="childStyle">
                                        <p:cTn dur="1" fill="hold" display="0" masterRel="nextClick" afterEffect="1"/>
                                        <p:tgtEl>
                                          <p:spTgt spid="329"/>
                                        </p:tgtEl>
                                        <p:attrNameLst>
                                          <p:attrName>style.visibility</p:attrName>
                                        </p:attrNameLst>
                                      </p:cBhvr>
                                      <p:to>
                                        <p:strVal val="hidden"/>
                                      </p:to>
                                    </p:set>
                                  </p:subTnLst>
                                </p:cTn>
                              </p:par>
                            </p:childTnLst>
                          </p:cTn>
                        </p:par>
                        <p:par>
                          <p:cTn id="442" fill="hold" nodeType="afterGroup">
                            <p:stCondLst>
                              <p:cond delay="1450000"/>
                            </p:stCondLst>
                            <p:childTnLst>
                              <p:par>
                                <p:cTn id="443" presetID="1" presetClass="entr" presetSubtype="0" fill="hold" grpId="0" nodeType="afterEffect">
                                  <p:stCondLst>
                                    <p:cond delay="10000"/>
                                  </p:stCondLst>
                                  <p:childTnLst>
                                    <p:set>
                                      <p:cBhvr>
                                        <p:cTn id="444" dur="1" fill="hold">
                                          <p:stCondLst>
                                            <p:cond delay="0"/>
                                          </p:stCondLst>
                                        </p:cTn>
                                        <p:tgtEl>
                                          <p:spTgt spid="330"/>
                                        </p:tgtEl>
                                        <p:attrNameLst>
                                          <p:attrName>style.visibility</p:attrName>
                                        </p:attrNameLst>
                                      </p:cBhvr>
                                      <p:to>
                                        <p:strVal val="visible"/>
                                      </p:to>
                                    </p:set>
                                  </p:childTnLst>
                                  <p:subTnLst>
                                    <p:set>
                                      <p:cBhvr override="childStyle">
                                        <p:cTn dur="1" fill="hold" display="0" masterRel="nextClick" afterEffect="1"/>
                                        <p:tgtEl>
                                          <p:spTgt spid="330"/>
                                        </p:tgtEl>
                                        <p:attrNameLst>
                                          <p:attrName>style.visibility</p:attrName>
                                        </p:attrNameLst>
                                      </p:cBhvr>
                                      <p:to>
                                        <p:strVal val="hidden"/>
                                      </p:to>
                                    </p:set>
                                  </p:subTnLst>
                                </p:cTn>
                              </p:par>
                            </p:childTnLst>
                          </p:cTn>
                        </p:par>
                        <p:par>
                          <p:cTn id="445" fill="hold" nodeType="afterGroup">
                            <p:stCondLst>
                              <p:cond delay="1460000"/>
                            </p:stCondLst>
                            <p:childTnLst>
                              <p:par>
                                <p:cTn id="446" presetID="1" presetClass="entr" presetSubtype="0" fill="hold" grpId="0" nodeType="afterEffect">
                                  <p:stCondLst>
                                    <p:cond delay="10000"/>
                                  </p:stCondLst>
                                  <p:childTnLst>
                                    <p:set>
                                      <p:cBhvr>
                                        <p:cTn id="447" dur="1" fill="hold">
                                          <p:stCondLst>
                                            <p:cond delay="0"/>
                                          </p:stCondLst>
                                        </p:cTn>
                                        <p:tgtEl>
                                          <p:spTgt spid="331"/>
                                        </p:tgtEl>
                                        <p:attrNameLst>
                                          <p:attrName>style.visibility</p:attrName>
                                        </p:attrNameLst>
                                      </p:cBhvr>
                                      <p:to>
                                        <p:strVal val="visible"/>
                                      </p:to>
                                    </p:set>
                                  </p:childTnLst>
                                  <p:subTnLst>
                                    <p:set>
                                      <p:cBhvr override="childStyle">
                                        <p:cTn dur="1" fill="hold" display="0" masterRel="nextClick" afterEffect="1"/>
                                        <p:tgtEl>
                                          <p:spTgt spid="331"/>
                                        </p:tgtEl>
                                        <p:attrNameLst>
                                          <p:attrName>style.visibility</p:attrName>
                                        </p:attrNameLst>
                                      </p:cBhvr>
                                      <p:to>
                                        <p:strVal val="hidden"/>
                                      </p:to>
                                    </p:set>
                                  </p:subTnLst>
                                </p:cTn>
                              </p:par>
                            </p:childTnLst>
                          </p:cTn>
                        </p:par>
                        <p:par>
                          <p:cTn id="448" fill="hold" nodeType="afterGroup">
                            <p:stCondLst>
                              <p:cond delay="1470000"/>
                            </p:stCondLst>
                            <p:childTnLst>
                              <p:par>
                                <p:cTn id="449" presetID="1" presetClass="entr" presetSubtype="0" fill="hold" grpId="0" nodeType="afterEffect">
                                  <p:stCondLst>
                                    <p:cond delay="10000"/>
                                  </p:stCondLst>
                                  <p:childTnLst>
                                    <p:set>
                                      <p:cBhvr>
                                        <p:cTn id="450" dur="1" fill="hold">
                                          <p:stCondLst>
                                            <p:cond delay="0"/>
                                          </p:stCondLst>
                                        </p:cTn>
                                        <p:tgtEl>
                                          <p:spTgt spid="332"/>
                                        </p:tgtEl>
                                        <p:attrNameLst>
                                          <p:attrName>style.visibility</p:attrName>
                                        </p:attrNameLst>
                                      </p:cBhvr>
                                      <p:to>
                                        <p:strVal val="visible"/>
                                      </p:to>
                                    </p:set>
                                  </p:childTnLst>
                                  <p:subTnLst>
                                    <p:set>
                                      <p:cBhvr override="childStyle">
                                        <p:cTn dur="1" fill="hold" display="0" masterRel="nextClick" afterEffect="1"/>
                                        <p:tgtEl>
                                          <p:spTgt spid="332"/>
                                        </p:tgtEl>
                                        <p:attrNameLst>
                                          <p:attrName>style.visibility</p:attrName>
                                        </p:attrNameLst>
                                      </p:cBhvr>
                                      <p:to>
                                        <p:strVal val="hidden"/>
                                      </p:to>
                                    </p:set>
                                  </p:subTnLst>
                                </p:cTn>
                              </p:par>
                            </p:childTnLst>
                          </p:cTn>
                        </p:par>
                        <p:par>
                          <p:cTn id="451" fill="hold" nodeType="afterGroup">
                            <p:stCondLst>
                              <p:cond delay="1480000"/>
                            </p:stCondLst>
                            <p:childTnLst>
                              <p:par>
                                <p:cTn id="452" presetID="1" presetClass="entr" presetSubtype="0" fill="hold" grpId="0" nodeType="afterEffect">
                                  <p:stCondLst>
                                    <p:cond delay="10000"/>
                                  </p:stCondLst>
                                  <p:childTnLst>
                                    <p:set>
                                      <p:cBhvr>
                                        <p:cTn id="453" dur="1" fill="hold">
                                          <p:stCondLst>
                                            <p:cond delay="0"/>
                                          </p:stCondLst>
                                        </p:cTn>
                                        <p:tgtEl>
                                          <p:spTgt spid="333"/>
                                        </p:tgtEl>
                                        <p:attrNameLst>
                                          <p:attrName>style.visibility</p:attrName>
                                        </p:attrNameLst>
                                      </p:cBhvr>
                                      <p:to>
                                        <p:strVal val="visible"/>
                                      </p:to>
                                    </p:set>
                                  </p:childTnLst>
                                  <p:subTnLst>
                                    <p:set>
                                      <p:cBhvr override="childStyle">
                                        <p:cTn dur="1" fill="hold" display="0" masterRel="nextClick" afterEffect="1"/>
                                        <p:tgtEl>
                                          <p:spTgt spid="333"/>
                                        </p:tgtEl>
                                        <p:attrNameLst>
                                          <p:attrName>style.visibility</p:attrName>
                                        </p:attrNameLst>
                                      </p:cBhvr>
                                      <p:to>
                                        <p:strVal val="hidden"/>
                                      </p:to>
                                    </p:set>
                                  </p:subTnLst>
                                </p:cTn>
                              </p:par>
                            </p:childTnLst>
                          </p:cTn>
                        </p:par>
                        <p:par>
                          <p:cTn id="454" fill="hold" nodeType="afterGroup">
                            <p:stCondLst>
                              <p:cond delay="1490000"/>
                            </p:stCondLst>
                            <p:childTnLst>
                              <p:par>
                                <p:cTn id="455" presetID="1" presetClass="entr" presetSubtype="0" fill="hold" grpId="0" nodeType="afterEffect">
                                  <p:stCondLst>
                                    <p:cond delay="10000"/>
                                  </p:stCondLst>
                                  <p:childTnLst>
                                    <p:set>
                                      <p:cBhvr>
                                        <p:cTn id="456" dur="1" fill="hold">
                                          <p:stCondLst>
                                            <p:cond delay="0"/>
                                          </p:stCondLst>
                                        </p:cTn>
                                        <p:tgtEl>
                                          <p:spTgt spid="334"/>
                                        </p:tgtEl>
                                        <p:attrNameLst>
                                          <p:attrName>style.visibility</p:attrName>
                                        </p:attrNameLst>
                                      </p:cBhvr>
                                      <p:to>
                                        <p:strVal val="visible"/>
                                      </p:to>
                                    </p:set>
                                  </p:childTnLst>
                                </p:cTn>
                              </p:par>
                            </p:childTnLst>
                          </p:cTn>
                        </p:par>
                        <p:par>
                          <p:cTn id="457" fill="hold" nodeType="afterGroup">
                            <p:stCondLst>
                              <p:cond delay="1500000"/>
                            </p:stCondLst>
                            <p:childTnLst>
                              <p:par>
                                <p:cTn id="458" presetID="1" presetClass="entr" presetSubtype="0" fill="hold" grpId="0" nodeType="afterEffect">
                                  <p:stCondLst>
                                    <p:cond delay="10000"/>
                                  </p:stCondLst>
                                  <p:childTnLst>
                                    <p:set>
                                      <p:cBhvr>
                                        <p:cTn id="459" dur="1" fill="hold">
                                          <p:stCondLst>
                                            <p:cond delay="0"/>
                                          </p:stCondLst>
                                        </p:cTn>
                                        <p:tgtEl>
                                          <p:spTgt spid="335"/>
                                        </p:tgtEl>
                                        <p:attrNameLst>
                                          <p:attrName>style.visibility</p:attrName>
                                        </p:attrNameLst>
                                      </p:cBhvr>
                                      <p:to>
                                        <p:strVal val="visible"/>
                                      </p:to>
                                    </p:set>
                                  </p:childTnLst>
                                  <p:subTnLst>
                                    <p:set>
                                      <p:cBhvr override="childStyle">
                                        <p:cTn dur="1" fill="hold" display="0" masterRel="nextClick" afterEffect="1"/>
                                        <p:tgtEl>
                                          <p:spTgt spid="335"/>
                                        </p:tgtEl>
                                        <p:attrNameLst>
                                          <p:attrName>style.visibility</p:attrName>
                                        </p:attrNameLst>
                                      </p:cBhvr>
                                      <p:to>
                                        <p:strVal val="hidden"/>
                                      </p:to>
                                    </p:set>
                                  </p:subTnLst>
                                </p:cTn>
                              </p:par>
                            </p:childTnLst>
                          </p:cTn>
                        </p:par>
                        <p:par>
                          <p:cTn id="460" fill="hold" nodeType="afterGroup">
                            <p:stCondLst>
                              <p:cond delay="1510000"/>
                            </p:stCondLst>
                            <p:childTnLst>
                              <p:par>
                                <p:cTn id="461" presetID="1" presetClass="entr" presetSubtype="0" fill="hold" grpId="0" nodeType="afterEffect">
                                  <p:stCondLst>
                                    <p:cond delay="10000"/>
                                  </p:stCondLst>
                                  <p:childTnLst>
                                    <p:set>
                                      <p:cBhvr>
                                        <p:cTn id="462" dur="1" fill="hold">
                                          <p:stCondLst>
                                            <p:cond delay="0"/>
                                          </p:stCondLst>
                                        </p:cTn>
                                        <p:tgtEl>
                                          <p:spTgt spid="336"/>
                                        </p:tgtEl>
                                        <p:attrNameLst>
                                          <p:attrName>style.visibility</p:attrName>
                                        </p:attrNameLst>
                                      </p:cBhvr>
                                      <p:to>
                                        <p:strVal val="visible"/>
                                      </p:to>
                                    </p:set>
                                  </p:childTnLst>
                                  <p:subTnLst>
                                    <p:set>
                                      <p:cBhvr override="childStyle">
                                        <p:cTn dur="1" fill="hold" display="0" masterRel="nextClick" afterEffect="1"/>
                                        <p:tgtEl>
                                          <p:spTgt spid="336"/>
                                        </p:tgtEl>
                                        <p:attrNameLst>
                                          <p:attrName>style.visibility</p:attrName>
                                        </p:attrNameLst>
                                      </p:cBhvr>
                                      <p:to>
                                        <p:strVal val="hidden"/>
                                      </p:to>
                                    </p:set>
                                  </p:subTnLst>
                                </p:cTn>
                              </p:par>
                            </p:childTnLst>
                          </p:cTn>
                        </p:par>
                        <p:par>
                          <p:cTn id="463" fill="hold" nodeType="afterGroup">
                            <p:stCondLst>
                              <p:cond delay="1520000"/>
                            </p:stCondLst>
                            <p:childTnLst>
                              <p:par>
                                <p:cTn id="464" presetID="1" presetClass="entr" presetSubtype="0" fill="hold" grpId="0" nodeType="afterEffect">
                                  <p:stCondLst>
                                    <p:cond delay="10000"/>
                                  </p:stCondLst>
                                  <p:childTnLst>
                                    <p:set>
                                      <p:cBhvr>
                                        <p:cTn id="465" dur="1" fill="hold">
                                          <p:stCondLst>
                                            <p:cond delay="0"/>
                                          </p:stCondLst>
                                        </p:cTn>
                                        <p:tgtEl>
                                          <p:spTgt spid="337"/>
                                        </p:tgtEl>
                                        <p:attrNameLst>
                                          <p:attrName>style.visibility</p:attrName>
                                        </p:attrNameLst>
                                      </p:cBhvr>
                                      <p:to>
                                        <p:strVal val="visible"/>
                                      </p:to>
                                    </p:set>
                                  </p:childTnLst>
                                  <p:subTnLst>
                                    <p:set>
                                      <p:cBhvr override="childStyle">
                                        <p:cTn dur="1" fill="hold" display="0" masterRel="nextClick" afterEffect="1"/>
                                        <p:tgtEl>
                                          <p:spTgt spid="337"/>
                                        </p:tgtEl>
                                        <p:attrNameLst>
                                          <p:attrName>style.visibility</p:attrName>
                                        </p:attrNameLst>
                                      </p:cBhvr>
                                      <p:to>
                                        <p:strVal val="hidden"/>
                                      </p:to>
                                    </p:set>
                                  </p:subTnLst>
                                </p:cTn>
                              </p:par>
                            </p:childTnLst>
                          </p:cTn>
                        </p:par>
                        <p:par>
                          <p:cTn id="466" fill="hold" nodeType="afterGroup">
                            <p:stCondLst>
                              <p:cond delay="1530000"/>
                            </p:stCondLst>
                            <p:childTnLst>
                              <p:par>
                                <p:cTn id="467" presetID="1" presetClass="entr" presetSubtype="0" fill="hold" grpId="0" nodeType="afterEffect">
                                  <p:stCondLst>
                                    <p:cond delay="10000"/>
                                  </p:stCondLst>
                                  <p:childTnLst>
                                    <p:set>
                                      <p:cBhvr>
                                        <p:cTn id="468" dur="1" fill="hold">
                                          <p:stCondLst>
                                            <p:cond delay="0"/>
                                          </p:stCondLst>
                                        </p:cTn>
                                        <p:tgtEl>
                                          <p:spTgt spid="338"/>
                                        </p:tgtEl>
                                        <p:attrNameLst>
                                          <p:attrName>style.visibility</p:attrName>
                                        </p:attrNameLst>
                                      </p:cBhvr>
                                      <p:to>
                                        <p:strVal val="visible"/>
                                      </p:to>
                                    </p:set>
                                  </p:childTnLst>
                                  <p:subTnLst>
                                    <p:set>
                                      <p:cBhvr override="childStyle">
                                        <p:cTn dur="1" fill="hold" display="0" masterRel="nextClick" afterEffect="1"/>
                                        <p:tgtEl>
                                          <p:spTgt spid="338"/>
                                        </p:tgtEl>
                                        <p:attrNameLst>
                                          <p:attrName>style.visibility</p:attrName>
                                        </p:attrNameLst>
                                      </p:cBhvr>
                                      <p:to>
                                        <p:strVal val="hidden"/>
                                      </p:to>
                                    </p:set>
                                  </p:subTnLst>
                                </p:cTn>
                              </p:par>
                            </p:childTnLst>
                          </p:cTn>
                        </p:par>
                        <p:par>
                          <p:cTn id="469" fill="hold" nodeType="afterGroup">
                            <p:stCondLst>
                              <p:cond delay="1540000"/>
                            </p:stCondLst>
                            <p:childTnLst>
                              <p:par>
                                <p:cTn id="470" presetID="1" presetClass="entr" presetSubtype="0" fill="hold" grpId="0" nodeType="afterEffect">
                                  <p:stCondLst>
                                    <p:cond delay="10000"/>
                                  </p:stCondLst>
                                  <p:childTnLst>
                                    <p:set>
                                      <p:cBhvr>
                                        <p:cTn id="471" dur="1" fill="hold">
                                          <p:stCondLst>
                                            <p:cond delay="0"/>
                                          </p:stCondLst>
                                        </p:cTn>
                                        <p:tgtEl>
                                          <p:spTgt spid="339"/>
                                        </p:tgtEl>
                                        <p:attrNameLst>
                                          <p:attrName>style.visibility</p:attrName>
                                        </p:attrNameLst>
                                      </p:cBhvr>
                                      <p:to>
                                        <p:strVal val="visible"/>
                                      </p:to>
                                    </p:set>
                                  </p:childTnLst>
                                  <p:subTnLst>
                                    <p:set>
                                      <p:cBhvr override="childStyle">
                                        <p:cTn dur="1" fill="hold" display="0" masterRel="nextClick" afterEffect="1"/>
                                        <p:tgtEl>
                                          <p:spTgt spid="339"/>
                                        </p:tgtEl>
                                        <p:attrNameLst>
                                          <p:attrName>style.visibility</p:attrName>
                                        </p:attrNameLst>
                                      </p:cBhvr>
                                      <p:to>
                                        <p:strVal val="hidden"/>
                                      </p:to>
                                    </p:set>
                                  </p:subTnLst>
                                </p:cTn>
                              </p:par>
                            </p:childTnLst>
                          </p:cTn>
                        </p:par>
                        <p:par>
                          <p:cTn id="472" fill="hold" nodeType="afterGroup">
                            <p:stCondLst>
                              <p:cond delay="1550000"/>
                            </p:stCondLst>
                            <p:childTnLst>
                              <p:par>
                                <p:cTn id="473" presetID="1" presetClass="entr" presetSubtype="0" fill="hold" grpId="0" nodeType="afterEffect">
                                  <p:stCondLst>
                                    <p:cond delay="10000"/>
                                  </p:stCondLst>
                                  <p:childTnLst>
                                    <p:set>
                                      <p:cBhvr>
                                        <p:cTn id="474" dur="1" fill="hold">
                                          <p:stCondLst>
                                            <p:cond delay="0"/>
                                          </p:stCondLst>
                                        </p:cTn>
                                        <p:tgtEl>
                                          <p:spTgt spid="340"/>
                                        </p:tgtEl>
                                        <p:attrNameLst>
                                          <p:attrName>style.visibility</p:attrName>
                                        </p:attrNameLst>
                                      </p:cBhvr>
                                      <p:to>
                                        <p:strVal val="visible"/>
                                      </p:to>
                                    </p:set>
                                  </p:childTnLst>
                                </p:cTn>
                              </p:par>
                            </p:childTnLst>
                          </p:cTn>
                        </p:par>
                        <p:par>
                          <p:cTn id="475" fill="hold" nodeType="afterGroup">
                            <p:stCondLst>
                              <p:cond delay="1560000"/>
                            </p:stCondLst>
                            <p:childTnLst>
                              <p:par>
                                <p:cTn id="476" presetID="1" presetClass="entr" presetSubtype="0" fill="hold" grpId="0" nodeType="afterEffect">
                                  <p:stCondLst>
                                    <p:cond delay="10000"/>
                                  </p:stCondLst>
                                  <p:childTnLst>
                                    <p:set>
                                      <p:cBhvr>
                                        <p:cTn id="477" dur="1" fill="hold">
                                          <p:stCondLst>
                                            <p:cond delay="0"/>
                                          </p:stCondLst>
                                        </p:cTn>
                                        <p:tgtEl>
                                          <p:spTgt spid="341"/>
                                        </p:tgtEl>
                                        <p:attrNameLst>
                                          <p:attrName>style.visibility</p:attrName>
                                        </p:attrNameLst>
                                      </p:cBhvr>
                                      <p:to>
                                        <p:strVal val="visible"/>
                                      </p:to>
                                    </p:set>
                                  </p:childTnLst>
                                  <p:subTnLst>
                                    <p:set>
                                      <p:cBhvr override="childStyle">
                                        <p:cTn dur="1" fill="hold" display="0" masterRel="nextClick" afterEffect="1"/>
                                        <p:tgtEl>
                                          <p:spTgt spid="341"/>
                                        </p:tgtEl>
                                        <p:attrNameLst>
                                          <p:attrName>style.visibility</p:attrName>
                                        </p:attrNameLst>
                                      </p:cBhvr>
                                      <p:to>
                                        <p:strVal val="hidden"/>
                                      </p:to>
                                    </p:set>
                                  </p:subTnLst>
                                </p:cTn>
                              </p:par>
                            </p:childTnLst>
                          </p:cTn>
                        </p:par>
                        <p:par>
                          <p:cTn id="478" fill="hold" nodeType="afterGroup">
                            <p:stCondLst>
                              <p:cond delay="1570000"/>
                            </p:stCondLst>
                            <p:childTnLst>
                              <p:par>
                                <p:cTn id="479" presetID="1" presetClass="entr" presetSubtype="0" fill="hold" grpId="0" nodeType="afterEffect">
                                  <p:stCondLst>
                                    <p:cond delay="10000"/>
                                  </p:stCondLst>
                                  <p:childTnLst>
                                    <p:set>
                                      <p:cBhvr>
                                        <p:cTn id="480" dur="1" fill="hold">
                                          <p:stCondLst>
                                            <p:cond delay="0"/>
                                          </p:stCondLst>
                                        </p:cTn>
                                        <p:tgtEl>
                                          <p:spTgt spid="342"/>
                                        </p:tgtEl>
                                        <p:attrNameLst>
                                          <p:attrName>style.visibility</p:attrName>
                                        </p:attrNameLst>
                                      </p:cBhvr>
                                      <p:to>
                                        <p:strVal val="visible"/>
                                      </p:to>
                                    </p:set>
                                  </p:childTnLst>
                                  <p:subTnLst>
                                    <p:set>
                                      <p:cBhvr override="childStyle">
                                        <p:cTn dur="1" fill="hold" display="0" masterRel="nextClick" afterEffect="1"/>
                                        <p:tgtEl>
                                          <p:spTgt spid="342"/>
                                        </p:tgtEl>
                                        <p:attrNameLst>
                                          <p:attrName>style.visibility</p:attrName>
                                        </p:attrNameLst>
                                      </p:cBhvr>
                                      <p:to>
                                        <p:strVal val="hidden"/>
                                      </p:to>
                                    </p:set>
                                  </p:subTnLst>
                                </p:cTn>
                              </p:par>
                            </p:childTnLst>
                          </p:cTn>
                        </p:par>
                        <p:par>
                          <p:cTn id="481" fill="hold" nodeType="afterGroup">
                            <p:stCondLst>
                              <p:cond delay="1580000"/>
                            </p:stCondLst>
                            <p:childTnLst>
                              <p:par>
                                <p:cTn id="482" presetID="1" presetClass="entr" presetSubtype="0" fill="hold" grpId="0" nodeType="afterEffect">
                                  <p:stCondLst>
                                    <p:cond delay="10000"/>
                                  </p:stCondLst>
                                  <p:childTnLst>
                                    <p:set>
                                      <p:cBhvr>
                                        <p:cTn id="483" dur="1" fill="hold">
                                          <p:stCondLst>
                                            <p:cond delay="0"/>
                                          </p:stCondLst>
                                        </p:cTn>
                                        <p:tgtEl>
                                          <p:spTgt spid="343"/>
                                        </p:tgtEl>
                                        <p:attrNameLst>
                                          <p:attrName>style.visibility</p:attrName>
                                        </p:attrNameLst>
                                      </p:cBhvr>
                                      <p:to>
                                        <p:strVal val="visible"/>
                                      </p:to>
                                    </p:set>
                                  </p:childTnLst>
                                  <p:subTnLst>
                                    <p:set>
                                      <p:cBhvr override="childStyle">
                                        <p:cTn dur="1" fill="hold" display="0" masterRel="nextClick" afterEffect="1"/>
                                        <p:tgtEl>
                                          <p:spTgt spid="343"/>
                                        </p:tgtEl>
                                        <p:attrNameLst>
                                          <p:attrName>style.visibility</p:attrName>
                                        </p:attrNameLst>
                                      </p:cBhvr>
                                      <p:to>
                                        <p:strVal val="hidden"/>
                                      </p:to>
                                    </p:set>
                                  </p:subTnLst>
                                </p:cTn>
                              </p:par>
                            </p:childTnLst>
                          </p:cTn>
                        </p:par>
                        <p:par>
                          <p:cTn id="484" fill="hold" nodeType="afterGroup">
                            <p:stCondLst>
                              <p:cond delay="1590000"/>
                            </p:stCondLst>
                            <p:childTnLst>
                              <p:par>
                                <p:cTn id="485" presetID="1" presetClass="entr" presetSubtype="0" fill="hold" grpId="0" nodeType="afterEffect">
                                  <p:stCondLst>
                                    <p:cond delay="10000"/>
                                  </p:stCondLst>
                                  <p:childTnLst>
                                    <p:set>
                                      <p:cBhvr>
                                        <p:cTn id="486" dur="1" fill="hold">
                                          <p:stCondLst>
                                            <p:cond delay="0"/>
                                          </p:stCondLst>
                                        </p:cTn>
                                        <p:tgtEl>
                                          <p:spTgt spid="344"/>
                                        </p:tgtEl>
                                        <p:attrNameLst>
                                          <p:attrName>style.visibility</p:attrName>
                                        </p:attrNameLst>
                                      </p:cBhvr>
                                      <p:to>
                                        <p:strVal val="visible"/>
                                      </p:to>
                                    </p:set>
                                  </p:childTnLst>
                                  <p:subTnLst>
                                    <p:set>
                                      <p:cBhvr override="childStyle">
                                        <p:cTn dur="1" fill="hold" display="0" masterRel="nextClick" afterEffect="1"/>
                                        <p:tgtEl>
                                          <p:spTgt spid="344"/>
                                        </p:tgtEl>
                                        <p:attrNameLst>
                                          <p:attrName>style.visibility</p:attrName>
                                        </p:attrNameLst>
                                      </p:cBhvr>
                                      <p:to>
                                        <p:strVal val="hidden"/>
                                      </p:to>
                                    </p:set>
                                  </p:subTnLst>
                                </p:cTn>
                              </p:par>
                            </p:childTnLst>
                          </p:cTn>
                        </p:par>
                        <p:par>
                          <p:cTn id="487" fill="hold" nodeType="afterGroup">
                            <p:stCondLst>
                              <p:cond delay="1600000"/>
                            </p:stCondLst>
                            <p:childTnLst>
                              <p:par>
                                <p:cTn id="488" presetID="1" presetClass="entr" presetSubtype="0" fill="hold" grpId="0" nodeType="afterEffect">
                                  <p:stCondLst>
                                    <p:cond delay="10000"/>
                                  </p:stCondLst>
                                  <p:childTnLst>
                                    <p:set>
                                      <p:cBhvr>
                                        <p:cTn id="489" dur="1" fill="hold">
                                          <p:stCondLst>
                                            <p:cond delay="0"/>
                                          </p:stCondLst>
                                        </p:cTn>
                                        <p:tgtEl>
                                          <p:spTgt spid="345"/>
                                        </p:tgtEl>
                                        <p:attrNameLst>
                                          <p:attrName>style.visibility</p:attrName>
                                        </p:attrNameLst>
                                      </p:cBhvr>
                                      <p:to>
                                        <p:strVal val="visible"/>
                                      </p:to>
                                    </p:set>
                                  </p:childTnLst>
                                  <p:subTnLst>
                                    <p:set>
                                      <p:cBhvr override="childStyle">
                                        <p:cTn dur="1" fill="hold" display="0" masterRel="nextClick" afterEffect="1"/>
                                        <p:tgtEl>
                                          <p:spTgt spid="345"/>
                                        </p:tgtEl>
                                        <p:attrNameLst>
                                          <p:attrName>style.visibility</p:attrName>
                                        </p:attrNameLst>
                                      </p:cBhvr>
                                      <p:to>
                                        <p:strVal val="hidden"/>
                                      </p:to>
                                    </p:set>
                                  </p:subTnLst>
                                </p:cTn>
                              </p:par>
                            </p:childTnLst>
                          </p:cTn>
                        </p:par>
                        <p:par>
                          <p:cTn id="490" fill="hold" nodeType="afterGroup">
                            <p:stCondLst>
                              <p:cond delay="1610000"/>
                            </p:stCondLst>
                            <p:childTnLst>
                              <p:par>
                                <p:cTn id="491" presetID="1" presetClass="entr" presetSubtype="0" fill="hold" grpId="0" nodeType="afterEffect">
                                  <p:stCondLst>
                                    <p:cond delay="10000"/>
                                  </p:stCondLst>
                                  <p:childTnLst>
                                    <p:set>
                                      <p:cBhvr>
                                        <p:cTn id="492" dur="1" fill="hold">
                                          <p:stCondLst>
                                            <p:cond delay="0"/>
                                          </p:stCondLst>
                                        </p:cTn>
                                        <p:tgtEl>
                                          <p:spTgt spid="346"/>
                                        </p:tgtEl>
                                        <p:attrNameLst>
                                          <p:attrName>style.visibility</p:attrName>
                                        </p:attrNameLst>
                                      </p:cBhvr>
                                      <p:to>
                                        <p:strVal val="visible"/>
                                      </p:to>
                                    </p:set>
                                  </p:childTnLst>
                                </p:cTn>
                              </p:par>
                            </p:childTnLst>
                          </p:cTn>
                        </p:par>
                        <p:par>
                          <p:cTn id="493" fill="hold" nodeType="afterGroup">
                            <p:stCondLst>
                              <p:cond delay="1620000"/>
                            </p:stCondLst>
                            <p:childTnLst>
                              <p:par>
                                <p:cTn id="494" presetID="1" presetClass="entr" presetSubtype="0" fill="hold" grpId="0" nodeType="afterEffect">
                                  <p:stCondLst>
                                    <p:cond delay="10000"/>
                                  </p:stCondLst>
                                  <p:childTnLst>
                                    <p:set>
                                      <p:cBhvr>
                                        <p:cTn id="495" dur="1" fill="hold">
                                          <p:stCondLst>
                                            <p:cond delay="0"/>
                                          </p:stCondLst>
                                        </p:cTn>
                                        <p:tgtEl>
                                          <p:spTgt spid="347"/>
                                        </p:tgtEl>
                                        <p:attrNameLst>
                                          <p:attrName>style.visibility</p:attrName>
                                        </p:attrNameLst>
                                      </p:cBhvr>
                                      <p:to>
                                        <p:strVal val="visible"/>
                                      </p:to>
                                    </p:set>
                                  </p:childTnLst>
                                  <p:subTnLst>
                                    <p:set>
                                      <p:cBhvr override="childStyle">
                                        <p:cTn dur="1" fill="hold" display="0" masterRel="nextClick" afterEffect="1"/>
                                        <p:tgtEl>
                                          <p:spTgt spid="347"/>
                                        </p:tgtEl>
                                        <p:attrNameLst>
                                          <p:attrName>style.visibility</p:attrName>
                                        </p:attrNameLst>
                                      </p:cBhvr>
                                      <p:to>
                                        <p:strVal val="hidden"/>
                                      </p:to>
                                    </p:set>
                                  </p:subTnLst>
                                </p:cTn>
                              </p:par>
                            </p:childTnLst>
                          </p:cTn>
                        </p:par>
                        <p:par>
                          <p:cTn id="496" fill="hold" nodeType="afterGroup">
                            <p:stCondLst>
                              <p:cond delay="1630000"/>
                            </p:stCondLst>
                            <p:childTnLst>
                              <p:par>
                                <p:cTn id="497" presetID="1" presetClass="entr" presetSubtype="0" fill="hold" grpId="0" nodeType="afterEffect">
                                  <p:stCondLst>
                                    <p:cond delay="10000"/>
                                  </p:stCondLst>
                                  <p:childTnLst>
                                    <p:set>
                                      <p:cBhvr>
                                        <p:cTn id="498" dur="1" fill="hold">
                                          <p:stCondLst>
                                            <p:cond delay="0"/>
                                          </p:stCondLst>
                                        </p:cTn>
                                        <p:tgtEl>
                                          <p:spTgt spid="348"/>
                                        </p:tgtEl>
                                        <p:attrNameLst>
                                          <p:attrName>style.visibility</p:attrName>
                                        </p:attrNameLst>
                                      </p:cBhvr>
                                      <p:to>
                                        <p:strVal val="visible"/>
                                      </p:to>
                                    </p:set>
                                  </p:childTnLst>
                                  <p:subTnLst>
                                    <p:set>
                                      <p:cBhvr override="childStyle">
                                        <p:cTn dur="1" fill="hold" display="0" masterRel="nextClick" afterEffect="1"/>
                                        <p:tgtEl>
                                          <p:spTgt spid="348"/>
                                        </p:tgtEl>
                                        <p:attrNameLst>
                                          <p:attrName>style.visibility</p:attrName>
                                        </p:attrNameLst>
                                      </p:cBhvr>
                                      <p:to>
                                        <p:strVal val="hidden"/>
                                      </p:to>
                                    </p:set>
                                  </p:subTnLst>
                                </p:cTn>
                              </p:par>
                            </p:childTnLst>
                          </p:cTn>
                        </p:par>
                        <p:par>
                          <p:cTn id="499" fill="hold" nodeType="afterGroup">
                            <p:stCondLst>
                              <p:cond delay="1640000"/>
                            </p:stCondLst>
                            <p:childTnLst>
                              <p:par>
                                <p:cTn id="500" presetID="1" presetClass="entr" presetSubtype="0" fill="hold" grpId="0" nodeType="afterEffect">
                                  <p:stCondLst>
                                    <p:cond delay="10000"/>
                                  </p:stCondLst>
                                  <p:childTnLst>
                                    <p:set>
                                      <p:cBhvr>
                                        <p:cTn id="501" dur="1" fill="hold">
                                          <p:stCondLst>
                                            <p:cond delay="0"/>
                                          </p:stCondLst>
                                        </p:cTn>
                                        <p:tgtEl>
                                          <p:spTgt spid="349"/>
                                        </p:tgtEl>
                                        <p:attrNameLst>
                                          <p:attrName>style.visibility</p:attrName>
                                        </p:attrNameLst>
                                      </p:cBhvr>
                                      <p:to>
                                        <p:strVal val="visible"/>
                                      </p:to>
                                    </p:set>
                                  </p:childTnLst>
                                  <p:subTnLst>
                                    <p:set>
                                      <p:cBhvr override="childStyle">
                                        <p:cTn dur="1" fill="hold" display="0" masterRel="nextClick" afterEffect="1"/>
                                        <p:tgtEl>
                                          <p:spTgt spid="349"/>
                                        </p:tgtEl>
                                        <p:attrNameLst>
                                          <p:attrName>style.visibility</p:attrName>
                                        </p:attrNameLst>
                                      </p:cBhvr>
                                      <p:to>
                                        <p:strVal val="hidden"/>
                                      </p:to>
                                    </p:set>
                                  </p:subTnLst>
                                </p:cTn>
                              </p:par>
                            </p:childTnLst>
                          </p:cTn>
                        </p:par>
                        <p:par>
                          <p:cTn id="502" fill="hold" nodeType="afterGroup">
                            <p:stCondLst>
                              <p:cond delay="1650000"/>
                            </p:stCondLst>
                            <p:childTnLst>
                              <p:par>
                                <p:cTn id="503" presetID="1" presetClass="entr" presetSubtype="0" fill="hold" grpId="0" nodeType="afterEffect">
                                  <p:stCondLst>
                                    <p:cond delay="10000"/>
                                  </p:stCondLst>
                                  <p:childTnLst>
                                    <p:set>
                                      <p:cBhvr>
                                        <p:cTn id="504" dur="1" fill="hold">
                                          <p:stCondLst>
                                            <p:cond delay="0"/>
                                          </p:stCondLst>
                                        </p:cTn>
                                        <p:tgtEl>
                                          <p:spTgt spid="350"/>
                                        </p:tgtEl>
                                        <p:attrNameLst>
                                          <p:attrName>style.visibility</p:attrName>
                                        </p:attrNameLst>
                                      </p:cBhvr>
                                      <p:to>
                                        <p:strVal val="visible"/>
                                      </p:to>
                                    </p:set>
                                  </p:childTnLst>
                                  <p:subTnLst>
                                    <p:set>
                                      <p:cBhvr override="childStyle">
                                        <p:cTn dur="1" fill="hold" display="0" masterRel="nextClick" afterEffect="1"/>
                                        <p:tgtEl>
                                          <p:spTgt spid="350"/>
                                        </p:tgtEl>
                                        <p:attrNameLst>
                                          <p:attrName>style.visibility</p:attrName>
                                        </p:attrNameLst>
                                      </p:cBhvr>
                                      <p:to>
                                        <p:strVal val="hidden"/>
                                      </p:to>
                                    </p:set>
                                  </p:subTnLst>
                                </p:cTn>
                              </p:par>
                            </p:childTnLst>
                          </p:cTn>
                        </p:par>
                        <p:par>
                          <p:cTn id="505" fill="hold" nodeType="afterGroup">
                            <p:stCondLst>
                              <p:cond delay="1660000"/>
                            </p:stCondLst>
                            <p:childTnLst>
                              <p:par>
                                <p:cTn id="506" presetID="1" presetClass="entr" presetSubtype="0" fill="hold" grpId="0" nodeType="afterEffect">
                                  <p:stCondLst>
                                    <p:cond delay="10000"/>
                                  </p:stCondLst>
                                  <p:childTnLst>
                                    <p:set>
                                      <p:cBhvr>
                                        <p:cTn id="507" dur="1" fill="hold">
                                          <p:stCondLst>
                                            <p:cond delay="0"/>
                                          </p:stCondLst>
                                        </p:cTn>
                                        <p:tgtEl>
                                          <p:spTgt spid="351"/>
                                        </p:tgtEl>
                                        <p:attrNameLst>
                                          <p:attrName>style.visibility</p:attrName>
                                        </p:attrNameLst>
                                      </p:cBhvr>
                                      <p:to>
                                        <p:strVal val="visible"/>
                                      </p:to>
                                    </p:set>
                                  </p:childTnLst>
                                  <p:subTnLst>
                                    <p:set>
                                      <p:cBhvr override="childStyle">
                                        <p:cTn dur="1" fill="hold" display="0" masterRel="nextClick" afterEffect="1"/>
                                        <p:tgtEl>
                                          <p:spTgt spid="351"/>
                                        </p:tgtEl>
                                        <p:attrNameLst>
                                          <p:attrName>style.visibility</p:attrName>
                                        </p:attrNameLst>
                                      </p:cBhvr>
                                      <p:to>
                                        <p:strVal val="hidden"/>
                                      </p:to>
                                    </p:set>
                                  </p:subTnLst>
                                </p:cTn>
                              </p:par>
                            </p:childTnLst>
                          </p:cTn>
                        </p:par>
                        <p:par>
                          <p:cTn id="508" fill="hold" nodeType="afterGroup">
                            <p:stCondLst>
                              <p:cond delay="1670000"/>
                            </p:stCondLst>
                            <p:childTnLst>
                              <p:par>
                                <p:cTn id="509" presetID="1" presetClass="entr" presetSubtype="0" fill="hold" grpId="0" nodeType="afterEffect">
                                  <p:stCondLst>
                                    <p:cond delay="10000"/>
                                  </p:stCondLst>
                                  <p:childTnLst>
                                    <p:set>
                                      <p:cBhvr>
                                        <p:cTn id="510" dur="1" fill="hold">
                                          <p:stCondLst>
                                            <p:cond delay="0"/>
                                          </p:stCondLst>
                                        </p:cTn>
                                        <p:tgtEl>
                                          <p:spTgt spid="352"/>
                                        </p:tgtEl>
                                        <p:attrNameLst>
                                          <p:attrName>style.visibility</p:attrName>
                                        </p:attrNameLst>
                                      </p:cBhvr>
                                      <p:to>
                                        <p:strVal val="visible"/>
                                      </p:to>
                                    </p:set>
                                  </p:childTnLst>
                                </p:cTn>
                              </p:par>
                            </p:childTnLst>
                          </p:cTn>
                        </p:par>
                        <p:par>
                          <p:cTn id="511" fill="hold" nodeType="afterGroup">
                            <p:stCondLst>
                              <p:cond delay="1680000"/>
                            </p:stCondLst>
                            <p:childTnLst>
                              <p:par>
                                <p:cTn id="512" presetID="1" presetClass="entr" presetSubtype="0" fill="hold" grpId="0" nodeType="afterEffect">
                                  <p:stCondLst>
                                    <p:cond delay="10000"/>
                                  </p:stCondLst>
                                  <p:childTnLst>
                                    <p:set>
                                      <p:cBhvr>
                                        <p:cTn id="513" dur="1" fill="hold">
                                          <p:stCondLst>
                                            <p:cond delay="0"/>
                                          </p:stCondLst>
                                        </p:cTn>
                                        <p:tgtEl>
                                          <p:spTgt spid="353"/>
                                        </p:tgtEl>
                                        <p:attrNameLst>
                                          <p:attrName>style.visibility</p:attrName>
                                        </p:attrNameLst>
                                      </p:cBhvr>
                                      <p:to>
                                        <p:strVal val="visible"/>
                                      </p:to>
                                    </p:set>
                                  </p:childTnLst>
                                  <p:subTnLst>
                                    <p:set>
                                      <p:cBhvr override="childStyle">
                                        <p:cTn dur="1" fill="hold" display="0" masterRel="nextClick" afterEffect="1"/>
                                        <p:tgtEl>
                                          <p:spTgt spid="353"/>
                                        </p:tgtEl>
                                        <p:attrNameLst>
                                          <p:attrName>style.visibility</p:attrName>
                                        </p:attrNameLst>
                                      </p:cBhvr>
                                      <p:to>
                                        <p:strVal val="hidden"/>
                                      </p:to>
                                    </p:set>
                                  </p:subTnLst>
                                </p:cTn>
                              </p:par>
                            </p:childTnLst>
                          </p:cTn>
                        </p:par>
                        <p:par>
                          <p:cTn id="514" fill="hold" nodeType="afterGroup">
                            <p:stCondLst>
                              <p:cond delay="1690000"/>
                            </p:stCondLst>
                            <p:childTnLst>
                              <p:par>
                                <p:cTn id="515" presetID="1" presetClass="entr" presetSubtype="0" fill="hold" grpId="0" nodeType="afterEffect">
                                  <p:stCondLst>
                                    <p:cond delay="10000"/>
                                  </p:stCondLst>
                                  <p:childTnLst>
                                    <p:set>
                                      <p:cBhvr>
                                        <p:cTn id="516" dur="1" fill="hold">
                                          <p:stCondLst>
                                            <p:cond delay="0"/>
                                          </p:stCondLst>
                                        </p:cTn>
                                        <p:tgtEl>
                                          <p:spTgt spid="354"/>
                                        </p:tgtEl>
                                        <p:attrNameLst>
                                          <p:attrName>style.visibility</p:attrName>
                                        </p:attrNameLst>
                                      </p:cBhvr>
                                      <p:to>
                                        <p:strVal val="visible"/>
                                      </p:to>
                                    </p:set>
                                  </p:childTnLst>
                                  <p:subTnLst>
                                    <p:set>
                                      <p:cBhvr override="childStyle">
                                        <p:cTn dur="1" fill="hold" display="0" masterRel="nextClick" afterEffect="1"/>
                                        <p:tgtEl>
                                          <p:spTgt spid="354"/>
                                        </p:tgtEl>
                                        <p:attrNameLst>
                                          <p:attrName>style.visibility</p:attrName>
                                        </p:attrNameLst>
                                      </p:cBhvr>
                                      <p:to>
                                        <p:strVal val="hidden"/>
                                      </p:to>
                                    </p:set>
                                  </p:subTnLst>
                                </p:cTn>
                              </p:par>
                            </p:childTnLst>
                          </p:cTn>
                        </p:par>
                        <p:par>
                          <p:cTn id="517" fill="hold" nodeType="afterGroup">
                            <p:stCondLst>
                              <p:cond delay="1700000"/>
                            </p:stCondLst>
                            <p:childTnLst>
                              <p:par>
                                <p:cTn id="518" presetID="1" presetClass="entr" presetSubtype="0" fill="hold" grpId="0" nodeType="afterEffect">
                                  <p:stCondLst>
                                    <p:cond delay="10000"/>
                                  </p:stCondLst>
                                  <p:childTnLst>
                                    <p:set>
                                      <p:cBhvr>
                                        <p:cTn id="519" dur="1" fill="hold">
                                          <p:stCondLst>
                                            <p:cond delay="0"/>
                                          </p:stCondLst>
                                        </p:cTn>
                                        <p:tgtEl>
                                          <p:spTgt spid="355"/>
                                        </p:tgtEl>
                                        <p:attrNameLst>
                                          <p:attrName>style.visibility</p:attrName>
                                        </p:attrNameLst>
                                      </p:cBhvr>
                                      <p:to>
                                        <p:strVal val="visible"/>
                                      </p:to>
                                    </p:set>
                                  </p:childTnLst>
                                  <p:subTnLst>
                                    <p:set>
                                      <p:cBhvr override="childStyle">
                                        <p:cTn dur="1" fill="hold" display="0" masterRel="nextClick" afterEffect="1"/>
                                        <p:tgtEl>
                                          <p:spTgt spid="355"/>
                                        </p:tgtEl>
                                        <p:attrNameLst>
                                          <p:attrName>style.visibility</p:attrName>
                                        </p:attrNameLst>
                                      </p:cBhvr>
                                      <p:to>
                                        <p:strVal val="hidden"/>
                                      </p:to>
                                    </p:set>
                                  </p:subTnLst>
                                </p:cTn>
                              </p:par>
                            </p:childTnLst>
                          </p:cTn>
                        </p:par>
                        <p:par>
                          <p:cTn id="520" fill="hold" nodeType="afterGroup">
                            <p:stCondLst>
                              <p:cond delay="1710000"/>
                            </p:stCondLst>
                            <p:childTnLst>
                              <p:par>
                                <p:cTn id="521" presetID="1" presetClass="entr" presetSubtype="0" fill="hold" grpId="0" nodeType="afterEffect">
                                  <p:stCondLst>
                                    <p:cond delay="10000"/>
                                  </p:stCondLst>
                                  <p:childTnLst>
                                    <p:set>
                                      <p:cBhvr>
                                        <p:cTn id="522" dur="1" fill="hold">
                                          <p:stCondLst>
                                            <p:cond delay="0"/>
                                          </p:stCondLst>
                                        </p:cTn>
                                        <p:tgtEl>
                                          <p:spTgt spid="356"/>
                                        </p:tgtEl>
                                        <p:attrNameLst>
                                          <p:attrName>style.visibility</p:attrName>
                                        </p:attrNameLst>
                                      </p:cBhvr>
                                      <p:to>
                                        <p:strVal val="visible"/>
                                      </p:to>
                                    </p:set>
                                  </p:childTnLst>
                                  <p:subTnLst>
                                    <p:set>
                                      <p:cBhvr override="childStyle">
                                        <p:cTn dur="1" fill="hold" display="0" masterRel="nextClick" afterEffect="1"/>
                                        <p:tgtEl>
                                          <p:spTgt spid="356"/>
                                        </p:tgtEl>
                                        <p:attrNameLst>
                                          <p:attrName>style.visibility</p:attrName>
                                        </p:attrNameLst>
                                      </p:cBhvr>
                                      <p:to>
                                        <p:strVal val="hidden"/>
                                      </p:to>
                                    </p:set>
                                  </p:subTnLst>
                                </p:cTn>
                              </p:par>
                            </p:childTnLst>
                          </p:cTn>
                        </p:par>
                        <p:par>
                          <p:cTn id="523" fill="hold" nodeType="afterGroup">
                            <p:stCondLst>
                              <p:cond delay="1720000"/>
                            </p:stCondLst>
                            <p:childTnLst>
                              <p:par>
                                <p:cTn id="524" presetID="1" presetClass="entr" presetSubtype="0" fill="hold" grpId="0" nodeType="afterEffect">
                                  <p:stCondLst>
                                    <p:cond delay="10000"/>
                                  </p:stCondLst>
                                  <p:childTnLst>
                                    <p:set>
                                      <p:cBhvr>
                                        <p:cTn id="525" dur="1" fill="hold">
                                          <p:stCondLst>
                                            <p:cond delay="0"/>
                                          </p:stCondLst>
                                        </p:cTn>
                                        <p:tgtEl>
                                          <p:spTgt spid="357"/>
                                        </p:tgtEl>
                                        <p:attrNameLst>
                                          <p:attrName>style.visibility</p:attrName>
                                        </p:attrNameLst>
                                      </p:cBhvr>
                                      <p:to>
                                        <p:strVal val="visible"/>
                                      </p:to>
                                    </p:set>
                                  </p:childTnLst>
                                  <p:subTnLst>
                                    <p:set>
                                      <p:cBhvr override="childStyle">
                                        <p:cTn dur="1" fill="hold" display="0" masterRel="nextClick" afterEffect="1"/>
                                        <p:tgtEl>
                                          <p:spTgt spid="357"/>
                                        </p:tgtEl>
                                        <p:attrNameLst>
                                          <p:attrName>style.visibility</p:attrName>
                                        </p:attrNameLst>
                                      </p:cBhvr>
                                      <p:to>
                                        <p:strVal val="hidden"/>
                                      </p:to>
                                    </p:set>
                                  </p:subTnLst>
                                </p:cTn>
                              </p:par>
                            </p:childTnLst>
                          </p:cTn>
                        </p:par>
                        <p:par>
                          <p:cTn id="526" fill="hold" nodeType="afterGroup">
                            <p:stCondLst>
                              <p:cond delay="1730000"/>
                            </p:stCondLst>
                            <p:childTnLst>
                              <p:par>
                                <p:cTn id="527" presetID="1" presetClass="entr" presetSubtype="0" fill="hold" grpId="0" nodeType="afterEffect">
                                  <p:stCondLst>
                                    <p:cond delay="10000"/>
                                  </p:stCondLst>
                                  <p:childTnLst>
                                    <p:set>
                                      <p:cBhvr>
                                        <p:cTn id="528" dur="1" fill="hold">
                                          <p:stCondLst>
                                            <p:cond delay="0"/>
                                          </p:stCondLst>
                                        </p:cTn>
                                        <p:tgtEl>
                                          <p:spTgt spid="358"/>
                                        </p:tgtEl>
                                        <p:attrNameLst>
                                          <p:attrName>style.visibility</p:attrName>
                                        </p:attrNameLst>
                                      </p:cBhvr>
                                      <p:to>
                                        <p:strVal val="visible"/>
                                      </p:to>
                                    </p:set>
                                  </p:childTnLst>
                                </p:cTn>
                              </p:par>
                            </p:childTnLst>
                          </p:cTn>
                        </p:par>
                        <p:par>
                          <p:cTn id="529" fill="hold" nodeType="afterGroup">
                            <p:stCondLst>
                              <p:cond delay="1740000"/>
                            </p:stCondLst>
                            <p:childTnLst>
                              <p:par>
                                <p:cTn id="530" presetID="1" presetClass="entr" presetSubtype="0" fill="hold" grpId="0" nodeType="afterEffect">
                                  <p:stCondLst>
                                    <p:cond delay="10000"/>
                                  </p:stCondLst>
                                  <p:childTnLst>
                                    <p:set>
                                      <p:cBhvr>
                                        <p:cTn id="531" dur="1" fill="hold">
                                          <p:stCondLst>
                                            <p:cond delay="0"/>
                                          </p:stCondLst>
                                        </p:cTn>
                                        <p:tgtEl>
                                          <p:spTgt spid="359"/>
                                        </p:tgtEl>
                                        <p:attrNameLst>
                                          <p:attrName>style.visibility</p:attrName>
                                        </p:attrNameLst>
                                      </p:cBhvr>
                                      <p:to>
                                        <p:strVal val="visible"/>
                                      </p:to>
                                    </p:set>
                                  </p:childTnLst>
                                  <p:subTnLst>
                                    <p:set>
                                      <p:cBhvr override="childStyle">
                                        <p:cTn dur="1" fill="hold" display="0" masterRel="nextClick" afterEffect="1"/>
                                        <p:tgtEl>
                                          <p:spTgt spid="359"/>
                                        </p:tgtEl>
                                        <p:attrNameLst>
                                          <p:attrName>style.visibility</p:attrName>
                                        </p:attrNameLst>
                                      </p:cBhvr>
                                      <p:to>
                                        <p:strVal val="hidden"/>
                                      </p:to>
                                    </p:set>
                                  </p:subTnLst>
                                </p:cTn>
                              </p:par>
                            </p:childTnLst>
                          </p:cTn>
                        </p:par>
                        <p:par>
                          <p:cTn id="532" fill="hold" nodeType="afterGroup">
                            <p:stCondLst>
                              <p:cond delay="1750000"/>
                            </p:stCondLst>
                            <p:childTnLst>
                              <p:par>
                                <p:cTn id="533" presetID="1" presetClass="entr" presetSubtype="0" fill="hold" grpId="0" nodeType="afterEffect">
                                  <p:stCondLst>
                                    <p:cond delay="10000"/>
                                  </p:stCondLst>
                                  <p:childTnLst>
                                    <p:set>
                                      <p:cBhvr>
                                        <p:cTn id="534" dur="1" fill="hold">
                                          <p:stCondLst>
                                            <p:cond delay="0"/>
                                          </p:stCondLst>
                                        </p:cTn>
                                        <p:tgtEl>
                                          <p:spTgt spid="360"/>
                                        </p:tgtEl>
                                        <p:attrNameLst>
                                          <p:attrName>style.visibility</p:attrName>
                                        </p:attrNameLst>
                                      </p:cBhvr>
                                      <p:to>
                                        <p:strVal val="visible"/>
                                      </p:to>
                                    </p:set>
                                  </p:childTnLst>
                                  <p:subTnLst>
                                    <p:set>
                                      <p:cBhvr override="childStyle">
                                        <p:cTn dur="1" fill="hold" display="0" masterRel="nextClick" afterEffect="1"/>
                                        <p:tgtEl>
                                          <p:spTgt spid="360"/>
                                        </p:tgtEl>
                                        <p:attrNameLst>
                                          <p:attrName>style.visibility</p:attrName>
                                        </p:attrNameLst>
                                      </p:cBhvr>
                                      <p:to>
                                        <p:strVal val="hidden"/>
                                      </p:to>
                                    </p:set>
                                  </p:subTnLst>
                                </p:cTn>
                              </p:par>
                            </p:childTnLst>
                          </p:cTn>
                        </p:par>
                        <p:par>
                          <p:cTn id="535" fill="hold" nodeType="afterGroup">
                            <p:stCondLst>
                              <p:cond delay="1760000"/>
                            </p:stCondLst>
                            <p:childTnLst>
                              <p:par>
                                <p:cTn id="536" presetID="1" presetClass="entr" presetSubtype="0" fill="hold" grpId="0" nodeType="afterEffect">
                                  <p:stCondLst>
                                    <p:cond delay="10000"/>
                                  </p:stCondLst>
                                  <p:childTnLst>
                                    <p:set>
                                      <p:cBhvr>
                                        <p:cTn id="537" dur="1" fill="hold">
                                          <p:stCondLst>
                                            <p:cond delay="0"/>
                                          </p:stCondLst>
                                        </p:cTn>
                                        <p:tgtEl>
                                          <p:spTgt spid="361"/>
                                        </p:tgtEl>
                                        <p:attrNameLst>
                                          <p:attrName>style.visibility</p:attrName>
                                        </p:attrNameLst>
                                      </p:cBhvr>
                                      <p:to>
                                        <p:strVal val="visible"/>
                                      </p:to>
                                    </p:set>
                                  </p:childTnLst>
                                  <p:subTnLst>
                                    <p:set>
                                      <p:cBhvr override="childStyle">
                                        <p:cTn dur="1" fill="hold" display="0" masterRel="nextClick" afterEffect="1"/>
                                        <p:tgtEl>
                                          <p:spTgt spid="361"/>
                                        </p:tgtEl>
                                        <p:attrNameLst>
                                          <p:attrName>style.visibility</p:attrName>
                                        </p:attrNameLst>
                                      </p:cBhvr>
                                      <p:to>
                                        <p:strVal val="hidden"/>
                                      </p:to>
                                    </p:set>
                                  </p:subTnLst>
                                </p:cTn>
                              </p:par>
                            </p:childTnLst>
                          </p:cTn>
                        </p:par>
                        <p:par>
                          <p:cTn id="538" fill="hold" nodeType="afterGroup">
                            <p:stCondLst>
                              <p:cond delay="1770000"/>
                            </p:stCondLst>
                            <p:childTnLst>
                              <p:par>
                                <p:cTn id="539" presetID="1" presetClass="entr" presetSubtype="0" fill="hold" grpId="0" nodeType="afterEffect">
                                  <p:stCondLst>
                                    <p:cond delay="10000"/>
                                  </p:stCondLst>
                                  <p:childTnLst>
                                    <p:set>
                                      <p:cBhvr>
                                        <p:cTn id="540" dur="1" fill="hold">
                                          <p:stCondLst>
                                            <p:cond delay="0"/>
                                          </p:stCondLst>
                                        </p:cTn>
                                        <p:tgtEl>
                                          <p:spTgt spid="362"/>
                                        </p:tgtEl>
                                        <p:attrNameLst>
                                          <p:attrName>style.visibility</p:attrName>
                                        </p:attrNameLst>
                                      </p:cBhvr>
                                      <p:to>
                                        <p:strVal val="visible"/>
                                      </p:to>
                                    </p:set>
                                  </p:childTnLst>
                                  <p:subTnLst>
                                    <p:set>
                                      <p:cBhvr override="childStyle">
                                        <p:cTn dur="1" fill="hold" display="0" masterRel="nextClick" afterEffect="1"/>
                                        <p:tgtEl>
                                          <p:spTgt spid="362"/>
                                        </p:tgtEl>
                                        <p:attrNameLst>
                                          <p:attrName>style.visibility</p:attrName>
                                        </p:attrNameLst>
                                      </p:cBhvr>
                                      <p:to>
                                        <p:strVal val="hidden"/>
                                      </p:to>
                                    </p:set>
                                  </p:subTnLst>
                                </p:cTn>
                              </p:par>
                            </p:childTnLst>
                          </p:cTn>
                        </p:par>
                        <p:par>
                          <p:cTn id="541" fill="hold" nodeType="afterGroup">
                            <p:stCondLst>
                              <p:cond delay="1780000"/>
                            </p:stCondLst>
                            <p:childTnLst>
                              <p:par>
                                <p:cTn id="542" presetID="1" presetClass="entr" presetSubtype="0" fill="hold" grpId="0" nodeType="afterEffect">
                                  <p:stCondLst>
                                    <p:cond delay="10000"/>
                                  </p:stCondLst>
                                  <p:childTnLst>
                                    <p:set>
                                      <p:cBhvr>
                                        <p:cTn id="543" dur="1" fill="hold">
                                          <p:stCondLst>
                                            <p:cond delay="0"/>
                                          </p:stCondLst>
                                        </p:cTn>
                                        <p:tgtEl>
                                          <p:spTgt spid="363"/>
                                        </p:tgtEl>
                                        <p:attrNameLst>
                                          <p:attrName>style.visibility</p:attrName>
                                        </p:attrNameLst>
                                      </p:cBhvr>
                                      <p:to>
                                        <p:strVal val="visible"/>
                                      </p:to>
                                    </p:set>
                                  </p:childTnLst>
                                  <p:subTnLst>
                                    <p:set>
                                      <p:cBhvr override="childStyle">
                                        <p:cTn dur="1" fill="hold" display="0" masterRel="nextClick" afterEffect="1"/>
                                        <p:tgtEl>
                                          <p:spTgt spid="36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P spid="15" grpId="0" animBg="1"/>
      <p:bldP spid="155" grpId="0" animBg="1"/>
      <p:bldP spid="168" grpId="0" animBg="1"/>
      <p:bldP spid="169" grpId="0" animBg="1"/>
      <p:bldP spid="170" grpId="0" animBg="1"/>
      <p:bldP spid="171" grpId="0" animBg="1"/>
      <p:bldP spid="172" grpId="0" animBg="1"/>
      <p:bldP spid="174" grpId="0" animBg="1"/>
      <p:bldP spid="175" grpId="0" animBg="1"/>
      <p:bldP spid="176" grpId="0" animBg="1"/>
      <p:bldP spid="177" grpId="0" animBg="1"/>
      <p:bldP spid="178" grpId="0" animBg="1"/>
      <p:bldP spid="179" grpId="0" animBg="1"/>
      <p:bldP spid="181" grpId="0" animBg="1"/>
      <p:bldP spid="182" grpId="0" animBg="1"/>
      <p:bldP spid="183" grpId="0" animBg="1"/>
      <p:bldP spid="184" grpId="0" animBg="1"/>
      <p:bldP spid="185" grpId="0" animBg="1"/>
      <p:bldP spid="186" grpId="0" animBg="1"/>
      <p:bldP spid="188" grpId="0" animBg="1"/>
      <p:bldP spid="189" grpId="0" animBg="1"/>
      <p:bldP spid="190" grpId="0" animBg="1"/>
      <p:bldP spid="191" grpId="0" animBg="1"/>
      <p:bldP spid="192" grpId="0" animBg="1"/>
      <p:bldP spid="193" grpId="0" animBg="1"/>
      <p:bldP spid="195" grpId="0" animBg="1"/>
      <p:bldP spid="196" grpId="0" animBg="1"/>
      <p:bldP spid="197" grpId="0" animBg="1"/>
      <p:bldP spid="198" grpId="0" animBg="1"/>
      <p:bldP spid="199" grpId="0" animBg="1"/>
      <p:bldP spid="200" grpId="0" animBg="1"/>
      <p:bldP spid="202" grpId="0" animBg="1"/>
      <p:bldP spid="203" grpId="0" animBg="1"/>
      <p:bldP spid="204" grpId="0" animBg="1"/>
      <p:bldP spid="205" grpId="0" animBg="1"/>
      <p:bldP spid="206" grpId="0" animBg="1"/>
      <p:bldP spid="207" grpId="0" animBg="1"/>
      <p:bldP spid="209" grpId="0" animBg="1"/>
      <p:bldP spid="210" grpId="0" animBg="1"/>
      <p:bldP spid="211" grpId="0" animBg="1"/>
      <p:bldP spid="212" grpId="0" animBg="1"/>
      <p:bldP spid="213" grpId="0" animBg="1"/>
      <p:bldP spid="214" grpId="0" animBg="1"/>
      <p:bldP spid="216" grpId="0" animBg="1"/>
      <p:bldP spid="217" grpId="0" animBg="1"/>
      <p:bldP spid="218" grpId="0" animBg="1"/>
      <p:bldP spid="219" grpId="0" animBg="1"/>
      <p:bldP spid="220" grpId="0" animBg="1"/>
      <p:bldP spid="221" grpId="0" animBg="1"/>
      <p:bldP spid="223" grpId="0" animBg="1"/>
      <p:bldP spid="224" grpId="0" animBg="1"/>
      <p:bldP spid="225" grpId="0" animBg="1"/>
      <p:bldP spid="226" grpId="0" animBg="1"/>
      <p:bldP spid="227" grpId="0" animBg="1"/>
      <p:bldP spid="228" grpId="0" animBg="1"/>
      <p:bldP spid="230" grpId="0" animBg="1"/>
      <p:bldP spid="231" grpId="0" animBg="1"/>
      <p:bldP spid="232" grpId="0" animBg="1"/>
      <p:bldP spid="233" grpId="0" animBg="1"/>
      <p:bldP spid="234" grpId="0" animBg="1"/>
      <p:bldP spid="235" grpId="0" animBg="1"/>
      <p:bldP spid="237" grpId="0" animBg="1"/>
      <p:bldP spid="238" grpId="0" animBg="1"/>
      <p:bldP spid="239" grpId="0" animBg="1"/>
      <p:bldP spid="240" grpId="0" animBg="1"/>
      <p:bldP spid="241" grpId="0" animBg="1"/>
      <p:bldP spid="242" grpId="0" animBg="1"/>
      <p:bldP spid="244" grpId="0" animBg="1"/>
      <p:bldP spid="245" grpId="0" animBg="1"/>
      <p:bldP spid="246" grpId="0" animBg="1"/>
      <p:bldP spid="247" grpId="0" animBg="1"/>
      <p:bldP spid="248" grpId="0" animBg="1"/>
      <p:bldP spid="249" grpId="0" animBg="1"/>
      <p:bldP spid="251" grpId="0" animBg="1"/>
      <p:bldP spid="252" grpId="0" animBg="1"/>
      <p:bldP spid="253" grpId="0" animBg="1"/>
      <p:bldP spid="254" grpId="0" animBg="1"/>
      <p:bldP spid="255" grpId="0" animBg="1"/>
      <p:bldP spid="256" grpId="0" animBg="1"/>
      <p:bldP spid="258" grpId="0" animBg="1"/>
      <p:bldP spid="259" grpId="0" animBg="1"/>
      <p:bldP spid="260" grpId="0" animBg="1"/>
      <p:bldP spid="261" grpId="0" animBg="1"/>
      <p:bldP spid="262" grpId="0" animBg="1"/>
      <p:bldP spid="263" grpId="0" animBg="1"/>
      <p:bldP spid="265" grpId="0" animBg="1"/>
      <p:bldP spid="266" grpId="0" animBg="1"/>
      <p:bldP spid="267" grpId="0" animBg="1"/>
      <p:bldP spid="268" grpId="0" animBg="1"/>
      <p:bldP spid="269" grpId="0" animBg="1"/>
      <p:bldP spid="270" grpId="0" animBg="1"/>
      <p:bldP spid="272" grpId="0" animBg="1"/>
      <p:bldP spid="273" grpId="0" animBg="1"/>
      <p:bldP spid="274" grpId="0" animBg="1"/>
      <p:bldP spid="275" grpId="0" animBg="1"/>
      <p:bldP spid="276" grpId="0" animBg="1"/>
      <p:bldP spid="277" grpId="0" animBg="1"/>
      <p:bldP spid="279" grpId="0" animBg="1"/>
      <p:bldP spid="280" grpId="0" animBg="1"/>
      <p:bldP spid="281" grpId="0" animBg="1"/>
      <p:bldP spid="282" grpId="0" animBg="1"/>
      <p:bldP spid="283" grpId="0" animBg="1"/>
      <p:bldP spid="284" grpId="0" animBg="1"/>
      <p:bldP spid="286" grpId="0" animBg="1"/>
      <p:bldP spid="287" grpId="0" animBg="1"/>
      <p:bldP spid="288" grpId="0" animBg="1"/>
      <p:bldP spid="289" grpId="0" animBg="1"/>
      <p:bldP spid="290" grpId="0" animBg="1"/>
      <p:bldP spid="291" grpId="0" animBg="1"/>
      <p:bldP spid="293" grpId="0" animBg="1"/>
      <p:bldP spid="294" grpId="0" animBg="1"/>
      <p:bldP spid="295" grpId="0" animBg="1"/>
      <p:bldP spid="296" grpId="0" animBg="1"/>
      <p:bldP spid="297" grpId="0" animBg="1"/>
      <p:bldP spid="298" grpId="0" animBg="1"/>
      <p:bldP spid="300" grpId="0" animBg="1"/>
      <p:bldP spid="301" grpId="0" animBg="1"/>
      <p:bldP spid="302" grpId="0" animBg="1"/>
      <p:bldP spid="303" grpId="0" animBg="1"/>
      <p:bldP spid="304" grpId="0" animBg="1"/>
      <p:bldP spid="305" grpId="0" animBg="1"/>
      <p:bldP spid="307" grpId="0" animBg="1"/>
      <p:bldP spid="308" grpId="0" animBg="1"/>
      <p:bldP spid="309" grpId="0" animBg="1"/>
      <p:bldP spid="310" grpId="0" animBg="1"/>
      <p:bldP spid="311" grpId="0" animBg="1"/>
      <p:bldP spid="312" grpId="0" animBg="1"/>
      <p:bldP spid="314" grpId="0" animBg="1"/>
      <p:bldP spid="315" grpId="0" animBg="1"/>
      <p:bldP spid="316" grpId="0" animBg="1"/>
      <p:bldP spid="317" grpId="0" animBg="1"/>
      <p:bldP spid="318" grpId="0" animBg="1"/>
      <p:bldP spid="319" grpId="0" animBg="1"/>
      <p:bldP spid="321" grpId="0" animBg="1"/>
      <p:bldP spid="322" grpId="0" animBg="1"/>
      <p:bldP spid="323" grpId="0" animBg="1"/>
      <p:bldP spid="324" grpId="0" animBg="1"/>
      <p:bldP spid="325" grpId="0" animBg="1"/>
      <p:bldP spid="326" grpId="0" animBg="1"/>
      <p:bldP spid="328" grpId="0" animBg="1"/>
      <p:bldP spid="329" grpId="0" animBg="1"/>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P spid="343" grpId="0" animBg="1"/>
      <p:bldP spid="344" grpId="0" animBg="1"/>
      <p:bldP spid="345" grpId="0" animBg="1"/>
      <p:bldP spid="346" grpId="0" animBg="1"/>
      <p:bldP spid="347" grpId="0" animBg="1"/>
      <p:bldP spid="348" grpId="0" animBg="1"/>
      <p:bldP spid="349" grpId="0" animBg="1"/>
      <p:bldP spid="350" grpId="0" animBg="1"/>
      <p:bldP spid="351" grpId="0" animBg="1"/>
      <p:bldP spid="352" grpId="0" animBg="1"/>
      <p:bldP spid="353" grpId="0" animBg="1"/>
      <p:bldP spid="354" grpId="0" animBg="1"/>
      <p:bldP spid="355" grpId="0" animBg="1"/>
      <p:bldP spid="356" grpId="0" animBg="1"/>
      <p:bldP spid="357" grpId="0" animBg="1"/>
      <p:bldP spid="358" grpId="0" animBg="1"/>
      <p:bldP spid="359" grpId="0" animBg="1"/>
      <p:bldP spid="360" grpId="0" animBg="1"/>
      <p:bldP spid="361" grpId="0" animBg="1"/>
      <p:bldP spid="362" grpId="0" animBg="1"/>
      <p:bldP spid="363"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53A13F65-6E1F-4B3B-B54F-8703D4DB4867}" type="slidenum">
              <a:rPr lang="fr-FR" altLang="fr-FR" smtClean="0">
                <a:latin typeface="Calibri" panose="020F0502020204030204" pitchFamily="34" charset="0"/>
              </a:rPr>
              <a:pPr>
                <a:spcBef>
                  <a:spcPct val="0"/>
                </a:spcBef>
                <a:buFontTx/>
                <a:buNone/>
              </a:pPr>
              <a:t>44</a:t>
            </a:fld>
            <a:endParaRPr lang="fr-FR" altLang="fr-FR" dirty="0">
              <a:latin typeface="Calibri" panose="020F0502020204030204" pitchFamily="34" charset="0"/>
            </a:endParaRPr>
          </a:p>
        </p:txBody>
      </p:sp>
      <p:sp>
        <p:nvSpPr>
          <p:cNvPr id="101379" name="Rectangle 2"/>
          <p:cNvSpPr>
            <a:spLocks noGrp="1" noChangeArrowheads="1"/>
          </p:cNvSpPr>
          <p:nvPr>
            <p:ph type="title"/>
          </p:nvPr>
        </p:nvSpPr>
        <p:spPr/>
        <p:txBody>
          <a:bodyPr/>
          <a:lstStyle/>
          <a:p>
            <a:pPr eaLnBrk="1" hangingPunct="1"/>
            <a:r>
              <a:rPr lang="fr-FR" altLang="fr-FR"/>
              <a:t>Pendant la simulation</a:t>
            </a:r>
          </a:p>
        </p:txBody>
      </p:sp>
      <p:sp>
        <p:nvSpPr>
          <p:cNvPr id="101380" name="Rectangle 3"/>
          <p:cNvSpPr>
            <a:spLocks noGrp="1" noChangeArrowheads="1"/>
          </p:cNvSpPr>
          <p:nvPr>
            <p:ph type="body" idx="1"/>
          </p:nvPr>
        </p:nvSpPr>
        <p:spPr>
          <a:xfrm>
            <a:off x="254000" y="962025"/>
            <a:ext cx="9234488" cy="5616575"/>
          </a:xfrm>
        </p:spPr>
        <p:txBody>
          <a:bodyPr/>
          <a:lstStyle/>
          <a:p>
            <a:pPr>
              <a:lnSpc>
                <a:spcPct val="110000"/>
              </a:lnSpc>
              <a:buFontTx/>
              <a:buNone/>
            </a:pPr>
            <a:r>
              <a:rPr lang="fr-FR" altLang="fr-FR" sz="1600" u="sng"/>
              <a:t>Contrôle des règles</a:t>
            </a:r>
          </a:p>
          <a:p>
            <a:pPr>
              <a:lnSpc>
                <a:spcPct val="110000"/>
              </a:lnSpc>
            </a:pPr>
            <a:r>
              <a:rPr lang="fr-FR" altLang="fr-FR" sz="1600"/>
              <a:t>L’animateur passe parmi les participants : il s’assure qu’ils</a:t>
            </a:r>
            <a:r>
              <a:rPr lang="fr-FR" altLang="fr-FR" sz="1600">
                <a:solidFill>
                  <a:srgbClr val="FF0000"/>
                </a:solidFill>
              </a:rPr>
              <a:t> </a:t>
            </a:r>
            <a:r>
              <a:rPr lang="fr-FR" altLang="fr-FR" sz="1600"/>
              <a:t>respectent les règles indiquées. Il vérifie en particulier qu’ils « pointent » bien la production, et que l’OF traceur est mis à jour. Il rappelle que l’OF traceur ne doit pas passer en priorité dans la file d’attente.</a:t>
            </a:r>
          </a:p>
          <a:p>
            <a:pPr>
              <a:lnSpc>
                <a:spcPct val="110000"/>
              </a:lnSpc>
              <a:buFontTx/>
              <a:buNone/>
            </a:pPr>
            <a:r>
              <a:rPr lang="fr-FR" altLang="fr-FR" sz="1600" u="sng"/>
              <a:t>Rythme de lancement</a:t>
            </a:r>
          </a:p>
          <a:p>
            <a:pPr>
              <a:lnSpc>
                <a:spcPct val="110000"/>
              </a:lnSpc>
            </a:pPr>
            <a:r>
              <a:rPr lang="fr-FR" altLang="fr-FR" sz="1600"/>
              <a:t>Au début de la production le poste de lancement a souvent du mal à assurer l’approvisionnement de l’atelier. Dans certains cas il découpe trop lentement, avec trop de soin. Ou bien après avoir découpé il a du mal à savoir quoi faire des OF, à quel poste il faut les livrer.</a:t>
            </a:r>
          </a:p>
          <a:p>
            <a:pPr>
              <a:lnSpc>
                <a:spcPct val="110000"/>
              </a:lnSpc>
            </a:pPr>
            <a:r>
              <a:rPr lang="fr-FR" altLang="fr-FR" sz="1600"/>
              <a:t>Pour éviter que le Lancement soit « goulet » l’animateur doit l’inciter à couper plus rapidement, sans nécessairement détourer chaque OF avec précision. Une solution consiste à découper une première planche avant que la partie ne commence. L’animateur peut aussi donner lui-même un coup de main à la découpe, c’est-à-dire aider le poste en coupant lui-même une planche, ou bien porter lui-même une partie des OF aux postes. </a:t>
            </a:r>
          </a:p>
          <a:p>
            <a:pPr>
              <a:lnSpc>
                <a:spcPct val="110000"/>
              </a:lnSpc>
              <a:buFontTx/>
              <a:buNone/>
            </a:pPr>
            <a:r>
              <a:rPr lang="fr-FR" altLang="fr-FR" sz="1600" u="sng"/>
              <a:t>Contrôle qualité</a:t>
            </a:r>
          </a:p>
          <a:p>
            <a:pPr>
              <a:lnSpc>
                <a:spcPct val="110000"/>
              </a:lnSpc>
            </a:pPr>
            <a:r>
              <a:rPr lang="fr-FR" altLang="fr-FR" sz="1600"/>
              <a:t>L’animateur doit passer quelques instants avec le Contrôle pour l’aider à décider si les produits sont conformes ou non conformes. Il profitera de cette occasion pour indiquer au Contrôle que « dans le passé, environ 1 ou 2 produits sur 10 ont été rejetés ». Sous-entendu, c’est également la proportion à laquelle on peut s’attendre dans la simulation.</a:t>
            </a:r>
          </a:p>
          <a:p>
            <a:pPr>
              <a:lnSpc>
                <a:spcPct val="110000"/>
              </a:lnSpc>
            </a:pPr>
            <a:endParaRPr lang="fr-FR" altLang="fr-FR" sz="1600"/>
          </a:p>
          <a:p>
            <a:pPr eaLnBrk="1" hangingPunct="1">
              <a:lnSpc>
                <a:spcPct val="120000"/>
              </a:lnSpc>
              <a:buFontTx/>
              <a:buNone/>
            </a:pPr>
            <a:endParaRPr lang="fr-FR" altLang="fr-FR" sz="1600"/>
          </a:p>
        </p:txBody>
      </p:sp>
      <p:sp>
        <p:nvSpPr>
          <p:cNvPr id="101383"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42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0BFBBA9-C9AC-4E46-A812-8A19953A5580}" type="slidenum">
              <a:rPr lang="fr-FR" altLang="fr-FR" smtClean="0">
                <a:latin typeface="Calibri" panose="020F0502020204030204" pitchFamily="34" charset="0"/>
              </a:rPr>
              <a:pPr>
                <a:spcBef>
                  <a:spcPct val="0"/>
                </a:spcBef>
                <a:buFontTx/>
                <a:buNone/>
              </a:pPr>
              <a:t>45</a:t>
            </a:fld>
            <a:endParaRPr lang="fr-FR" altLang="fr-FR" dirty="0">
              <a:latin typeface="Calibri" panose="020F0502020204030204" pitchFamily="34" charset="0"/>
            </a:endParaRPr>
          </a:p>
        </p:txBody>
      </p:sp>
      <p:sp>
        <p:nvSpPr>
          <p:cNvPr id="103427" name="Rectangle 2"/>
          <p:cNvSpPr>
            <a:spLocks noGrp="1" noChangeArrowheads="1"/>
          </p:cNvSpPr>
          <p:nvPr>
            <p:ph type="title"/>
          </p:nvPr>
        </p:nvSpPr>
        <p:spPr/>
        <p:txBody>
          <a:bodyPr/>
          <a:lstStyle/>
          <a:p>
            <a:pPr eaLnBrk="1" hangingPunct="1"/>
            <a:r>
              <a:rPr lang="fr-FR" altLang="fr-FR"/>
              <a:t>Après la simulation</a:t>
            </a:r>
          </a:p>
        </p:txBody>
      </p:sp>
      <p:sp>
        <p:nvSpPr>
          <p:cNvPr id="22533" name="Rectangle 3"/>
          <p:cNvSpPr>
            <a:spLocks noGrp="1" noChangeArrowheads="1"/>
          </p:cNvSpPr>
          <p:nvPr>
            <p:ph type="body" idx="1"/>
          </p:nvPr>
        </p:nvSpPr>
        <p:spPr>
          <a:xfrm>
            <a:off x="236538" y="1165225"/>
            <a:ext cx="9137650" cy="4945063"/>
          </a:xfrm>
        </p:spPr>
        <p:txBody>
          <a:bodyPr/>
          <a:lstStyle/>
          <a:p>
            <a:pPr eaLnBrk="1" hangingPunct="1">
              <a:lnSpc>
                <a:spcPct val="120000"/>
              </a:lnSpc>
              <a:buFontTx/>
              <a:buNone/>
              <a:defRPr/>
            </a:pPr>
            <a:r>
              <a:rPr lang="fr-FR" dirty="0"/>
              <a:t>L’animateur demande à l’ensemble des participants :</a:t>
            </a:r>
          </a:p>
          <a:p>
            <a:pPr eaLnBrk="1" hangingPunct="1">
              <a:lnSpc>
                <a:spcPct val="120000"/>
              </a:lnSpc>
              <a:defRPr/>
            </a:pPr>
            <a:r>
              <a:rPr lang="fr-FR" dirty="0"/>
              <a:t>Quelles ont été les difficultés que vous venez de rencontrer au cours de cette production ? En quoi peuvent-elles affecter les performances de l’entreprise ? (coûts, qualité, délais, stocks) </a:t>
            </a:r>
          </a:p>
          <a:p>
            <a:pPr marL="0" indent="17463" eaLnBrk="1" hangingPunct="1">
              <a:lnSpc>
                <a:spcPct val="120000"/>
              </a:lnSpc>
              <a:buFontTx/>
              <a:buNone/>
              <a:defRPr/>
            </a:pPr>
            <a:r>
              <a:rPr lang="fr-FR" dirty="0"/>
              <a:t>L’animateur note les réponses au tableau de papier : pertes de temps pour déplacements ou changement de surligneur, goulets d’étranglement, surligneurs qui ne fonctionnent pas, manque de charge, etc.</a:t>
            </a:r>
          </a:p>
          <a:p>
            <a:pPr marL="0" indent="17463" eaLnBrk="1" hangingPunct="1">
              <a:lnSpc>
                <a:spcPct val="120000"/>
              </a:lnSpc>
              <a:buFontTx/>
              <a:buNone/>
              <a:defRPr/>
            </a:pPr>
            <a:r>
              <a:rPr lang="fr-FR" dirty="0"/>
              <a:t>Après 5 minutes d’échange il annonce que « la Direction a bien noté ces remarques, et qu’elle demande de les confirmer par des mesures ».</a:t>
            </a:r>
          </a:p>
        </p:txBody>
      </p:sp>
      <p:sp>
        <p:nvSpPr>
          <p:cNvPr id="103431"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10" name="Rectangle 9"/>
          <p:cNvSpPr/>
          <p:nvPr/>
        </p:nvSpPr>
        <p:spPr bwMode="auto">
          <a:xfrm>
            <a:off x="4194175" y="3062288"/>
            <a:ext cx="1452563" cy="1411287"/>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
        <p:nvSpPr>
          <p:cNvPr id="10547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0547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566EFFC-7265-43E2-A413-1C84AFAA983E}" type="slidenum">
              <a:rPr lang="fr-FR" altLang="fr-FR" smtClean="0">
                <a:latin typeface="Calibri" panose="020F0502020204030204" pitchFamily="34" charset="0"/>
              </a:rPr>
              <a:pPr>
                <a:spcBef>
                  <a:spcPct val="0"/>
                </a:spcBef>
                <a:buFontTx/>
                <a:buNone/>
              </a:pPr>
              <a:t>46</a:t>
            </a:fld>
            <a:endParaRPr lang="fr-FR" altLang="fr-FR" dirty="0">
              <a:latin typeface="Calibri" panose="020F0502020204030204" pitchFamily="34" charset="0"/>
            </a:endParaRPr>
          </a:p>
        </p:txBody>
      </p:sp>
      <p:sp>
        <p:nvSpPr>
          <p:cNvPr id="6" name="Rectangle 5"/>
          <p:cNvSpPr/>
          <p:nvPr/>
        </p:nvSpPr>
        <p:spPr>
          <a:xfrm>
            <a:off x="372034" y="1396504"/>
            <a:ext cx="8924366" cy="1200329"/>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2. La mesure</a:t>
            </a:r>
          </a:p>
        </p:txBody>
      </p:sp>
      <p:pic>
        <p:nvPicPr>
          <p:cNvPr id="105479" name="Picture 38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9138" y="3209925"/>
            <a:ext cx="855662"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522" name="Titre 1"/>
          <p:cNvSpPr>
            <a:spLocks noGrp="1"/>
          </p:cNvSpPr>
          <p:nvPr>
            <p:ph type="title"/>
          </p:nvPr>
        </p:nvSpPr>
        <p:spPr/>
        <p:txBody>
          <a:bodyPr/>
          <a:lstStyle/>
          <a:p>
            <a:r>
              <a:rPr lang="fr-FR" altLang="fr-FR"/>
              <a:t>Mise à jour du tableau de bord</a:t>
            </a:r>
          </a:p>
        </p:txBody>
      </p:sp>
      <p:sp>
        <p:nvSpPr>
          <p:cNvPr id="10752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0752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5279C3E-565F-415B-BD9F-8FE4F2ADA27D}" type="slidenum">
              <a:rPr lang="fr-FR" altLang="fr-FR" smtClean="0">
                <a:latin typeface="Calibri" panose="020F0502020204030204" pitchFamily="34" charset="0"/>
              </a:rPr>
              <a:pPr>
                <a:spcBef>
                  <a:spcPct val="0"/>
                </a:spcBef>
                <a:buFontTx/>
                <a:buNone/>
              </a:pPr>
              <a:t>47</a:t>
            </a:fld>
            <a:endParaRPr lang="fr-FR" altLang="fr-FR" dirty="0">
              <a:latin typeface="Calibri" panose="020F0502020204030204" pitchFamily="34" charset="0"/>
            </a:endParaRPr>
          </a:p>
        </p:txBody>
      </p:sp>
      <p:sp>
        <p:nvSpPr>
          <p:cNvPr id="8" name="Rectangle 3"/>
          <p:cNvSpPr txBox="1">
            <a:spLocks noChangeArrowheads="1"/>
          </p:cNvSpPr>
          <p:nvPr/>
        </p:nvSpPr>
        <p:spPr bwMode="auto">
          <a:xfrm>
            <a:off x="296863" y="1165225"/>
            <a:ext cx="9028112" cy="5273675"/>
          </a:xfrm>
          <a:prstGeom prst="rect">
            <a:avLst/>
          </a:prstGeom>
          <a:noFill/>
          <a:ln w="9525">
            <a:noFill/>
            <a:miter lim="800000"/>
            <a:headEnd/>
            <a:tailEnd/>
          </a:ln>
        </p:spPr>
        <p:txBody>
          <a:bodyPr/>
          <a:lstStyle/>
          <a:p>
            <a:pPr indent="17463" eaLnBrk="1" hangingPunct="1">
              <a:lnSpc>
                <a:spcPct val="120000"/>
              </a:lnSpc>
              <a:spcBef>
                <a:spcPct val="20000"/>
              </a:spcBef>
              <a:defRPr/>
            </a:pPr>
            <a:r>
              <a:rPr lang="fr-FR" sz="1600" kern="0" dirty="0">
                <a:latin typeface="Calibri" panose="020F0502020204030204" pitchFamily="34" charset="0"/>
              </a:rPr>
              <a:t>L’animateur rentre les valeurs mesurées dans le Tableau de bord.</a:t>
            </a:r>
          </a:p>
          <a:p>
            <a:pPr indent="17463" eaLnBrk="1" hangingPunct="1">
              <a:lnSpc>
                <a:spcPct val="120000"/>
              </a:lnSpc>
              <a:spcBef>
                <a:spcPct val="20000"/>
              </a:spcBef>
              <a:defRPr/>
            </a:pPr>
            <a:r>
              <a:rPr lang="fr-FR" sz="1600" kern="0" dirty="0">
                <a:latin typeface="Calibri" panose="020F0502020204030204" pitchFamily="34" charset="0"/>
              </a:rPr>
              <a:t>Il aura ainsi la possibilité de projeter les graphiques pour commenter les résultats.</a:t>
            </a:r>
          </a:p>
          <a:p>
            <a:pPr indent="17463" eaLnBrk="1" hangingPunct="1">
              <a:lnSpc>
                <a:spcPct val="120000"/>
              </a:lnSpc>
              <a:spcBef>
                <a:spcPct val="20000"/>
              </a:spcBef>
              <a:defRPr/>
            </a:pPr>
            <a:r>
              <a:rPr lang="fr-FR" sz="1600" kern="0" dirty="0">
                <a:latin typeface="Calibri" panose="020F0502020204030204" pitchFamily="34" charset="0"/>
              </a:rPr>
              <a:t>Sur chaque diapo qui suit nous avons positionné un lien Hypertexte qui renvoie</a:t>
            </a:r>
            <a:br>
              <a:rPr lang="fr-FR" sz="1600" kern="0" dirty="0">
                <a:latin typeface="Calibri" panose="020F0502020204030204" pitchFamily="34" charset="0"/>
              </a:rPr>
            </a:br>
            <a:r>
              <a:rPr lang="fr-FR" sz="1600" kern="0" dirty="0">
                <a:latin typeface="Calibri" panose="020F0502020204030204" pitchFamily="34" charset="0"/>
              </a:rPr>
              <a:t>vers le tableau de bord Excel (sommaire).</a:t>
            </a:r>
          </a:p>
          <a:p>
            <a:pPr indent="17463" eaLnBrk="1" hangingPunct="1">
              <a:lnSpc>
                <a:spcPct val="120000"/>
              </a:lnSpc>
              <a:spcBef>
                <a:spcPct val="20000"/>
              </a:spcBef>
              <a:defRPr/>
            </a:pPr>
            <a:r>
              <a:rPr lang="fr-FR" sz="1600" kern="0" dirty="0">
                <a:latin typeface="Calibri" panose="020F0502020204030204" pitchFamily="34" charset="0"/>
              </a:rPr>
              <a:t>Une fois dans le sommaire, choisir l’onglet approprié (ici : Données Simulation 1)</a:t>
            </a:r>
          </a:p>
          <a:p>
            <a:pPr indent="17463" eaLnBrk="1" hangingPunct="1">
              <a:lnSpc>
                <a:spcPct val="120000"/>
              </a:lnSpc>
              <a:spcBef>
                <a:spcPct val="20000"/>
              </a:spcBef>
              <a:defRPr/>
            </a:pPr>
            <a:r>
              <a:rPr lang="fr-FR" sz="1600" kern="0" dirty="0">
                <a:latin typeface="Calibri" panose="020F0502020204030204" pitchFamily="34" charset="0"/>
              </a:rPr>
              <a:t>Pour revenir à Powerpoint, faire passer le fichier Excel à l’arrière du bureau.</a:t>
            </a:r>
          </a:p>
          <a:p>
            <a:pPr indent="17463" eaLnBrk="1" hangingPunct="1">
              <a:lnSpc>
                <a:spcPct val="120000"/>
              </a:lnSpc>
              <a:spcBef>
                <a:spcPct val="20000"/>
              </a:spcBef>
              <a:defRPr/>
            </a:pPr>
            <a:r>
              <a:rPr lang="fr-FR" sz="1600" u="sng" kern="0" dirty="0">
                <a:latin typeface="Calibri" panose="020F0502020204030204" pitchFamily="34" charset="0"/>
              </a:rPr>
              <a:t>Sauvegarde du fichier Excel</a:t>
            </a:r>
          </a:p>
          <a:p>
            <a:pPr indent="17463" eaLnBrk="1" hangingPunct="1">
              <a:lnSpc>
                <a:spcPct val="120000"/>
              </a:lnSpc>
              <a:spcBef>
                <a:spcPct val="20000"/>
              </a:spcBef>
              <a:defRPr/>
            </a:pPr>
            <a:r>
              <a:rPr lang="fr-FR" sz="1600" kern="0" dirty="0">
                <a:latin typeface="Calibri" panose="020F0502020204030204" pitchFamily="34" charset="0"/>
              </a:rPr>
              <a:t>Si l’animateur souhaite sauvegarder le fichier Excel Tableau de bord avec les valeurs mesurées au cours de la séance (soit parce qu’il interrompt la séance, soit parce qu’il veut de toute façon conserver un historique de la simulation), il a deux possibilités :</a:t>
            </a:r>
          </a:p>
          <a:p>
            <a:pPr marL="180975" indent="-180975" eaLnBrk="1" hangingPunct="1">
              <a:lnSpc>
                <a:spcPct val="120000"/>
              </a:lnSpc>
              <a:spcBef>
                <a:spcPct val="20000"/>
              </a:spcBef>
              <a:buFont typeface="Arial" pitchFamily="34" charset="0"/>
              <a:buChar char="•"/>
              <a:defRPr/>
            </a:pPr>
            <a:r>
              <a:rPr lang="fr-FR" sz="1600" kern="0" dirty="0">
                <a:latin typeface="Calibri" panose="020F0502020204030204" pitchFamily="34" charset="0"/>
              </a:rPr>
              <a:t>Soit il change son nom. Dans ce cas le lien hypertexte ne fonctionne plus. Il faut appeler le tableau de bord sans passer par le lien Hypertexte, ce qui ne présente aucune difficulté.</a:t>
            </a:r>
          </a:p>
          <a:p>
            <a:pPr marL="180975" indent="-180975" eaLnBrk="1" hangingPunct="1">
              <a:lnSpc>
                <a:spcPct val="120000"/>
              </a:lnSpc>
              <a:spcBef>
                <a:spcPct val="20000"/>
              </a:spcBef>
              <a:buFont typeface="Arial" pitchFamily="34" charset="0"/>
              <a:buChar char="•"/>
              <a:defRPr/>
            </a:pPr>
            <a:r>
              <a:rPr lang="fr-FR" sz="1600" kern="0" dirty="0">
                <a:latin typeface="Calibri" panose="020F0502020204030204" pitchFamily="34" charset="0"/>
              </a:rPr>
              <a:t>Soit il conserve le nom Tableau de bord jusqu’à la fin de la séance et il change son nom en fin de séance. Mais dans ce cas, s’il a fait des sauvegardes intermédiaires sous le nom Tableau de bord il doit effacer les données pour revenir à 0, ou bien reprendre une copie du fichier Tableau de bord (vide) qu’il aura pris soin avant la séance de ranger dans un autre répertoire.</a:t>
            </a:r>
          </a:p>
        </p:txBody>
      </p:sp>
      <p:pic>
        <p:nvPicPr>
          <p:cNvPr id="9"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pic>
        <p:nvPicPr>
          <p:cNvPr id="10" name="Picture 1">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1195" y="1894513"/>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re 1"/>
          <p:cNvSpPr>
            <a:spLocks noGrp="1"/>
          </p:cNvSpPr>
          <p:nvPr>
            <p:ph type="title"/>
          </p:nvPr>
        </p:nvSpPr>
        <p:spPr/>
        <p:txBody>
          <a:bodyPr/>
          <a:lstStyle/>
          <a:p>
            <a:r>
              <a:rPr lang="fr-FR" altLang="fr-FR"/>
              <a:t>Mise à jour : quantités, qualité</a:t>
            </a:r>
          </a:p>
        </p:txBody>
      </p:sp>
      <p:sp>
        <p:nvSpPr>
          <p:cNvPr id="10957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0957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3B4E8C6-A322-4932-A488-D57575BC60ED}" type="slidenum">
              <a:rPr lang="fr-FR" altLang="fr-FR" smtClean="0">
                <a:latin typeface="Calibri" panose="020F0502020204030204" pitchFamily="34" charset="0"/>
              </a:rPr>
              <a:pPr>
                <a:spcBef>
                  <a:spcPct val="0"/>
                </a:spcBef>
                <a:buFontTx/>
                <a:buNone/>
              </a:pPr>
              <a:t>48</a:t>
            </a:fld>
            <a:endParaRPr lang="fr-FR" altLang="fr-FR" dirty="0">
              <a:latin typeface="Calibri" panose="020F0502020204030204" pitchFamily="34" charset="0"/>
            </a:endParaRPr>
          </a:p>
        </p:txBody>
      </p:sp>
      <p:pic>
        <p:nvPicPr>
          <p:cNvPr id="10957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3" y="603250"/>
            <a:ext cx="8928100" cy="501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re 1"/>
          <p:cNvSpPr>
            <a:spLocks noGrp="1"/>
          </p:cNvSpPr>
          <p:nvPr>
            <p:ph type="title"/>
          </p:nvPr>
        </p:nvSpPr>
        <p:spPr/>
        <p:txBody>
          <a:bodyPr/>
          <a:lstStyle/>
          <a:p>
            <a:r>
              <a:rPr lang="fr-FR" altLang="fr-FR"/>
              <a:t>Mise à jour : productivité, délais, stocks</a:t>
            </a:r>
          </a:p>
        </p:txBody>
      </p:sp>
      <p:sp>
        <p:nvSpPr>
          <p:cNvPr id="11161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1162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286A3342-0BE5-49BE-982C-33F1A06BB07F}" type="slidenum">
              <a:rPr lang="fr-FR" altLang="fr-FR" smtClean="0">
                <a:latin typeface="Calibri" panose="020F0502020204030204" pitchFamily="34" charset="0"/>
              </a:rPr>
              <a:pPr>
                <a:spcBef>
                  <a:spcPct val="0"/>
                </a:spcBef>
                <a:buFontTx/>
                <a:buNone/>
              </a:pPr>
              <a:t>49</a:t>
            </a:fld>
            <a:endParaRPr lang="fr-FR" altLang="fr-FR" dirty="0">
              <a:latin typeface="Calibri" panose="020F0502020204030204" pitchFamily="34" charset="0"/>
            </a:endParaRP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4946650"/>
            <a:ext cx="6653212"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2"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125" y="511175"/>
            <a:ext cx="3286125"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9588" y="542925"/>
            <a:ext cx="271462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
            <a:hlinkClick r:id="rId6" action="ppaction://hlinkfile"/>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8358" y="5667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re 1"/>
          <p:cNvSpPr>
            <a:spLocks noGrp="1"/>
          </p:cNvSpPr>
          <p:nvPr>
            <p:ph type="title"/>
          </p:nvPr>
        </p:nvSpPr>
        <p:spPr/>
        <p:txBody>
          <a:bodyPr/>
          <a:lstStyle/>
          <a:p>
            <a:r>
              <a:rPr lang="fr-FR" altLang="fr-FR"/>
              <a:t>Mise à jour des indicateurs</a:t>
            </a:r>
          </a:p>
        </p:txBody>
      </p:sp>
      <p:sp>
        <p:nvSpPr>
          <p:cNvPr id="11366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1366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2BFC7692-638A-4746-AD68-D6153801A42A}" type="slidenum">
              <a:rPr lang="fr-FR" altLang="fr-FR" smtClean="0">
                <a:latin typeface="Calibri" panose="020F0502020204030204" pitchFamily="34" charset="0"/>
              </a:rPr>
              <a:pPr>
                <a:spcBef>
                  <a:spcPct val="0"/>
                </a:spcBef>
                <a:buFontTx/>
                <a:buNone/>
              </a:pPr>
              <a:t>50</a:t>
            </a:fld>
            <a:endParaRPr lang="fr-FR" altLang="fr-FR" dirty="0">
              <a:latin typeface="Calibri" panose="020F0502020204030204" pitchFamily="34" charset="0"/>
            </a:endParaRPr>
          </a:p>
        </p:txBody>
      </p:sp>
      <p:grpSp>
        <p:nvGrpSpPr>
          <p:cNvPr id="113669" name="Groupe 610"/>
          <p:cNvGrpSpPr>
            <a:grpSpLocks/>
          </p:cNvGrpSpPr>
          <p:nvPr/>
        </p:nvGrpSpPr>
        <p:grpSpPr bwMode="auto">
          <a:xfrm>
            <a:off x="1421420" y="879475"/>
            <a:ext cx="6543068" cy="5683250"/>
            <a:chOff x="247997" y="880194"/>
            <a:chExt cx="6542876" cy="5683281"/>
          </a:xfrm>
        </p:grpSpPr>
        <p:cxnSp>
          <p:nvCxnSpPr>
            <p:cNvPr id="467" name="Connecteur droit 466"/>
            <p:cNvCxnSpPr/>
            <p:nvPr/>
          </p:nvCxnSpPr>
          <p:spPr bwMode="auto">
            <a:xfrm>
              <a:off x="853797" y="4663228"/>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68" name="Connecteur droit 467"/>
            <p:cNvCxnSpPr/>
            <p:nvPr/>
          </p:nvCxnSpPr>
          <p:spPr bwMode="auto">
            <a:xfrm>
              <a:off x="853797" y="4498127"/>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69" name="Connecteur droit 468"/>
            <p:cNvCxnSpPr/>
            <p:nvPr/>
          </p:nvCxnSpPr>
          <p:spPr bwMode="auto">
            <a:xfrm>
              <a:off x="853797" y="4993429"/>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0" name="Connecteur droit 469"/>
            <p:cNvCxnSpPr/>
            <p:nvPr/>
          </p:nvCxnSpPr>
          <p:spPr bwMode="auto">
            <a:xfrm>
              <a:off x="853797" y="4828329"/>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1" name="Connecteur droit 470"/>
            <p:cNvCxnSpPr/>
            <p:nvPr/>
          </p:nvCxnSpPr>
          <p:spPr bwMode="auto">
            <a:xfrm>
              <a:off x="853797" y="5323631"/>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2" name="Connecteur droit 471"/>
            <p:cNvCxnSpPr/>
            <p:nvPr/>
          </p:nvCxnSpPr>
          <p:spPr bwMode="auto">
            <a:xfrm>
              <a:off x="853797" y="5158530"/>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3" name="Connecteur droit 472"/>
            <p:cNvCxnSpPr/>
            <p:nvPr/>
          </p:nvCxnSpPr>
          <p:spPr bwMode="auto">
            <a:xfrm>
              <a:off x="853797" y="5653833"/>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4" name="Connecteur droit 473"/>
            <p:cNvCxnSpPr/>
            <p:nvPr/>
          </p:nvCxnSpPr>
          <p:spPr bwMode="auto">
            <a:xfrm>
              <a:off x="853797" y="5488732"/>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5" name="Connecteur droit 474"/>
            <p:cNvCxnSpPr/>
            <p:nvPr/>
          </p:nvCxnSpPr>
          <p:spPr bwMode="auto">
            <a:xfrm>
              <a:off x="853797" y="5984035"/>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76" name="Connecteur droit 475"/>
            <p:cNvCxnSpPr/>
            <p:nvPr/>
          </p:nvCxnSpPr>
          <p:spPr bwMode="auto">
            <a:xfrm>
              <a:off x="853797" y="5818934"/>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113686" name="ZoneTexte 476"/>
            <p:cNvSpPr txBox="1">
              <a:spLocks noChangeArrowheads="1"/>
            </p:cNvSpPr>
            <p:nvPr/>
          </p:nvSpPr>
          <p:spPr bwMode="auto">
            <a:xfrm>
              <a:off x="1779822" y="4043904"/>
              <a:ext cx="720000"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QUALITÉ</a:t>
              </a:r>
            </a:p>
          </p:txBody>
        </p:sp>
        <p:sp>
          <p:nvSpPr>
            <p:cNvPr id="478" name="ZoneTexte 477"/>
            <p:cNvSpPr txBox="1"/>
            <p:nvPr/>
          </p:nvSpPr>
          <p:spPr>
            <a:xfrm>
              <a:off x="895457" y="6207873"/>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sp>
          <p:nvSpPr>
            <p:cNvPr id="113688" name="Rectangle 478"/>
            <p:cNvSpPr>
              <a:spLocks noChangeArrowheads="1"/>
            </p:cNvSpPr>
            <p:nvPr/>
          </p:nvSpPr>
          <p:spPr bwMode="auto">
            <a:xfrm>
              <a:off x="924832" y="5640609"/>
              <a:ext cx="468000" cy="523875"/>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30</a:t>
              </a:r>
            </a:p>
          </p:txBody>
        </p:sp>
        <p:sp>
          <p:nvSpPr>
            <p:cNvPr id="113689" name="Rectangle 479"/>
            <p:cNvSpPr>
              <a:spLocks noChangeArrowheads="1"/>
            </p:cNvSpPr>
            <p:nvPr/>
          </p:nvSpPr>
          <p:spPr bwMode="auto">
            <a:xfrm>
              <a:off x="1582057" y="4992910"/>
              <a:ext cx="468000" cy="1171575"/>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70</a:t>
              </a:r>
            </a:p>
          </p:txBody>
        </p:sp>
        <p:cxnSp>
          <p:nvCxnSpPr>
            <p:cNvPr id="113690" name="Connecteur droit 480"/>
            <p:cNvCxnSpPr>
              <a:cxnSpLocks noChangeShapeType="1"/>
            </p:cNvCxnSpPr>
            <p:nvPr/>
          </p:nvCxnSpPr>
          <p:spPr bwMode="auto">
            <a:xfrm rot="5400000" flipH="1" flipV="1">
              <a:off x="-87367" y="5233585"/>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3691" name="Connecteur droit 481"/>
            <p:cNvCxnSpPr>
              <a:cxnSpLocks noChangeShapeType="1"/>
            </p:cNvCxnSpPr>
            <p:nvPr/>
          </p:nvCxnSpPr>
          <p:spPr bwMode="auto">
            <a:xfrm>
              <a:off x="848632" y="6164485"/>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483" name="ZoneTexte 482"/>
            <p:cNvSpPr txBox="1"/>
            <p:nvPr/>
          </p:nvSpPr>
          <p:spPr>
            <a:xfrm>
              <a:off x="457485" y="5984035"/>
              <a:ext cx="156054" cy="230833"/>
            </a:xfrm>
            <a:prstGeom prst="rect">
              <a:avLst/>
            </a:prstGeom>
            <a:solidFill>
              <a:schemeClr val="bg1">
                <a:lumMod val="65000"/>
              </a:schemeClr>
            </a:solidFill>
          </p:spPr>
          <p:txBody>
            <a:bodyPr wrap="none" lIns="36000" rIns="36000">
              <a:spAutoFit/>
            </a:bodyPr>
            <a:lstStyle/>
            <a:p>
              <a:pPr algn="ctr" eaLnBrk="1" hangingPunct="1">
                <a:defRPr/>
              </a:pPr>
              <a:r>
                <a:rPr lang="fr-FR" sz="900" b="1" dirty="0">
                  <a:solidFill>
                    <a:schemeClr val="bg1"/>
                  </a:solidFill>
                  <a:latin typeface="Calibri" panose="020F0502020204030204" pitchFamily="34" charset="0"/>
                  <a:cs typeface="Arial" pitchFamily="34" charset="0"/>
                </a:rPr>
                <a:t>0 </a:t>
              </a:r>
            </a:p>
          </p:txBody>
        </p:sp>
        <p:sp>
          <p:nvSpPr>
            <p:cNvPr id="484" name="ZoneTexte 483"/>
            <p:cNvSpPr txBox="1"/>
            <p:nvPr/>
          </p:nvSpPr>
          <p:spPr>
            <a:xfrm>
              <a:off x="356901" y="5663358"/>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20</a:t>
              </a:r>
            </a:p>
          </p:txBody>
        </p:sp>
        <p:sp>
          <p:nvSpPr>
            <p:cNvPr id="485" name="ZoneTexte 484"/>
            <p:cNvSpPr txBox="1"/>
            <p:nvPr/>
          </p:nvSpPr>
          <p:spPr>
            <a:xfrm>
              <a:off x="356901" y="5342681"/>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40</a:t>
              </a:r>
            </a:p>
          </p:txBody>
        </p:sp>
        <p:sp>
          <p:nvSpPr>
            <p:cNvPr id="486" name="ZoneTexte 485"/>
            <p:cNvSpPr txBox="1"/>
            <p:nvPr/>
          </p:nvSpPr>
          <p:spPr>
            <a:xfrm>
              <a:off x="356901" y="5023592"/>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60</a:t>
              </a:r>
            </a:p>
          </p:txBody>
        </p:sp>
        <p:sp>
          <p:nvSpPr>
            <p:cNvPr id="487" name="ZoneTexte 486"/>
            <p:cNvSpPr txBox="1"/>
            <p:nvPr/>
          </p:nvSpPr>
          <p:spPr>
            <a:xfrm>
              <a:off x="356901" y="4702915"/>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80</a:t>
              </a:r>
            </a:p>
          </p:txBody>
        </p:sp>
        <p:sp>
          <p:nvSpPr>
            <p:cNvPr id="488" name="ZoneTexte 487"/>
            <p:cNvSpPr txBox="1"/>
            <p:nvPr/>
          </p:nvSpPr>
          <p:spPr>
            <a:xfrm>
              <a:off x="266807" y="4383826"/>
              <a:ext cx="383427"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100 </a:t>
              </a:r>
            </a:p>
          </p:txBody>
        </p:sp>
        <p:sp>
          <p:nvSpPr>
            <p:cNvPr id="113698" name="ZoneTexte 488"/>
            <p:cNvSpPr txBox="1">
              <a:spLocks noChangeArrowheads="1"/>
            </p:cNvSpPr>
            <p:nvPr/>
          </p:nvSpPr>
          <p:spPr bwMode="auto">
            <a:xfrm>
              <a:off x="596394" y="5983510"/>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113699" name="ZoneTexte 489"/>
            <p:cNvSpPr txBox="1">
              <a:spLocks noChangeArrowheads="1"/>
            </p:cNvSpPr>
            <p:nvPr/>
          </p:nvSpPr>
          <p:spPr bwMode="auto">
            <a:xfrm>
              <a:off x="596394" y="5663470"/>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16</a:t>
              </a:r>
            </a:p>
          </p:txBody>
        </p:sp>
        <p:sp>
          <p:nvSpPr>
            <p:cNvPr id="113700" name="ZoneTexte 490"/>
            <p:cNvSpPr txBox="1">
              <a:spLocks noChangeArrowheads="1"/>
            </p:cNvSpPr>
            <p:nvPr/>
          </p:nvSpPr>
          <p:spPr bwMode="auto">
            <a:xfrm>
              <a:off x="596394" y="5343430"/>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12</a:t>
              </a:r>
            </a:p>
          </p:txBody>
        </p:sp>
        <p:sp>
          <p:nvSpPr>
            <p:cNvPr id="113701" name="ZoneTexte 491"/>
            <p:cNvSpPr txBox="1">
              <a:spLocks noChangeArrowheads="1"/>
            </p:cNvSpPr>
            <p:nvPr/>
          </p:nvSpPr>
          <p:spPr bwMode="auto">
            <a:xfrm>
              <a:off x="647683" y="5023390"/>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8</a:t>
              </a:r>
            </a:p>
          </p:txBody>
        </p:sp>
        <p:sp>
          <p:nvSpPr>
            <p:cNvPr id="113702" name="ZoneTexte 492"/>
            <p:cNvSpPr txBox="1">
              <a:spLocks noChangeArrowheads="1"/>
            </p:cNvSpPr>
            <p:nvPr/>
          </p:nvSpPr>
          <p:spPr bwMode="auto">
            <a:xfrm>
              <a:off x="647683" y="4703350"/>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4</a:t>
              </a:r>
            </a:p>
          </p:txBody>
        </p:sp>
        <p:sp>
          <p:nvSpPr>
            <p:cNvPr id="113703" name="ZoneTexte 493"/>
            <p:cNvSpPr txBox="1">
              <a:spLocks noChangeArrowheads="1"/>
            </p:cNvSpPr>
            <p:nvPr/>
          </p:nvSpPr>
          <p:spPr bwMode="auto">
            <a:xfrm>
              <a:off x="647683" y="4383310"/>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113704" name="ZoneTexte 494"/>
            <p:cNvSpPr txBox="1">
              <a:spLocks noChangeArrowheads="1"/>
            </p:cNvSpPr>
            <p:nvPr/>
          </p:nvSpPr>
          <p:spPr bwMode="auto">
            <a:xfrm>
              <a:off x="911158" y="4110801"/>
              <a:ext cx="7245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 non conformes</a:t>
              </a:r>
            </a:p>
          </p:txBody>
        </p:sp>
        <p:sp>
          <p:nvSpPr>
            <p:cNvPr id="496" name="ZoneTexte 495"/>
            <p:cNvSpPr txBox="1"/>
            <p:nvPr/>
          </p:nvSpPr>
          <p:spPr>
            <a:xfrm>
              <a:off x="247997" y="3927752"/>
              <a:ext cx="636941" cy="324771"/>
            </a:xfrm>
            <a:prstGeom prst="rect">
              <a:avLst/>
            </a:prstGeom>
            <a:solidFill>
              <a:schemeClr val="bg1">
                <a:lumMod val="65000"/>
              </a:schemeClr>
            </a:solidFill>
          </p:spPr>
          <p:txBody>
            <a:bodyPr wrap="none" lIns="36000" rIns="36000" anchor="ctr">
              <a:spAutoFit/>
            </a:bodyPr>
            <a:lstStyle/>
            <a:p>
              <a:pPr algn="ctr" eaLnBrk="1" hangingPunct="1">
                <a:lnSpc>
                  <a:spcPts val="900"/>
                </a:lnSpc>
                <a:defRPr/>
              </a:pPr>
              <a:r>
                <a:rPr lang="fr-FR" sz="900" b="1" dirty="0">
                  <a:solidFill>
                    <a:schemeClr val="bg1"/>
                  </a:solidFill>
                  <a:latin typeface="Calibri" panose="020F0502020204030204" pitchFamily="34" charset="0"/>
                  <a:cs typeface="Arial" pitchFamily="34" charset="0"/>
                </a:rPr>
                <a:t>Satisfaction</a:t>
              </a:r>
              <a:br>
                <a:rPr lang="fr-FR" sz="900" b="1" dirty="0">
                  <a:solidFill>
                    <a:schemeClr val="bg1"/>
                  </a:solidFill>
                  <a:latin typeface="Calibri" panose="020F0502020204030204" pitchFamily="34" charset="0"/>
                  <a:cs typeface="Arial" pitchFamily="34" charset="0"/>
                </a:rPr>
              </a:br>
              <a:r>
                <a:rPr lang="fr-FR" sz="900" b="1" dirty="0">
                  <a:solidFill>
                    <a:schemeClr val="bg1"/>
                  </a:solidFill>
                  <a:latin typeface="Calibri" panose="020F0502020204030204" pitchFamily="34" charset="0"/>
                  <a:cs typeface="Arial" pitchFamily="34" charset="0"/>
                </a:rPr>
                <a:t>client</a:t>
              </a:r>
            </a:p>
          </p:txBody>
        </p:sp>
        <p:sp>
          <p:nvSpPr>
            <p:cNvPr id="497" name="ZoneTexte 496"/>
            <p:cNvSpPr txBox="1"/>
            <p:nvPr/>
          </p:nvSpPr>
          <p:spPr>
            <a:xfrm>
              <a:off x="4157674" y="6198348"/>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cxnSp>
          <p:nvCxnSpPr>
            <p:cNvPr id="498" name="Connecteur droit 497"/>
            <p:cNvCxnSpPr/>
            <p:nvPr/>
          </p:nvCxnSpPr>
          <p:spPr bwMode="auto">
            <a:xfrm>
              <a:off x="4116013" y="4766415"/>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99" name="Connecteur droit 498"/>
            <p:cNvCxnSpPr/>
            <p:nvPr/>
          </p:nvCxnSpPr>
          <p:spPr bwMode="auto">
            <a:xfrm>
              <a:off x="4116013" y="4488602"/>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00" name="Connecteur droit 499"/>
            <p:cNvCxnSpPr/>
            <p:nvPr/>
          </p:nvCxnSpPr>
          <p:spPr bwMode="auto">
            <a:xfrm>
              <a:off x="4116013" y="5044230"/>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01" name="Connecteur droit 500"/>
            <p:cNvCxnSpPr/>
            <p:nvPr/>
          </p:nvCxnSpPr>
          <p:spPr bwMode="auto">
            <a:xfrm>
              <a:off x="4116013" y="5322043"/>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02" name="Connecteur droit 501"/>
            <p:cNvCxnSpPr/>
            <p:nvPr/>
          </p:nvCxnSpPr>
          <p:spPr bwMode="auto">
            <a:xfrm>
              <a:off x="4116013" y="5599858"/>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03" name="Connecteur droit 502"/>
            <p:cNvCxnSpPr/>
            <p:nvPr/>
          </p:nvCxnSpPr>
          <p:spPr bwMode="auto">
            <a:xfrm>
              <a:off x="4116013" y="5877671"/>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113713" name="ZoneTexte 503"/>
            <p:cNvSpPr txBox="1">
              <a:spLocks noChangeArrowheads="1"/>
            </p:cNvSpPr>
            <p:nvPr/>
          </p:nvSpPr>
          <p:spPr bwMode="auto">
            <a:xfrm>
              <a:off x="5070303" y="4043904"/>
              <a:ext cx="720000"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STOCKS</a:t>
              </a:r>
            </a:p>
          </p:txBody>
        </p:sp>
        <p:sp>
          <p:nvSpPr>
            <p:cNvPr id="113714" name="Rectangle 504"/>
            <p:cNvSpPr>
              <a:spLocks noChangeArrowheads="1"/>
            </p:cNvSpPr>
            <p:nvPr/>
          </p:nvSpPr>
          <p:spPr bwMode="auto">
            <a:xfrm>
              <a:off x="4186738" y="4494434"/>
              <a:ext cx="468000" cy="1656000"/>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20 M€</a:t>
              </a:r>
            </a:p>
          </p:txBody>
        </p:sp>
        <p:sp>
          <p:nvSpPr>
            <p:cNvPr id="113715" name="Rectangle 505"/>
            <p:cNvSpPr>
              <a:spLocks noChangeArrowheads="1"/>
            </p:cNvSpPr>
            <p:nvPr/>
          </p:nvSpPr>
          <p:spPr bwMode="auto">
            <a:xfrm>
              <a:off x="4843963" y="5036820"/>
              <a:ext cx="468000" cy="1118139"/>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16 M€</a:t>
              </a:r>
            </a:p>
          </p:txBody>
        </p:sp>
        <p:cxnSp>
          <p:nvCxnSpPr>
            <p:cNvPr id="113716" name="Connecteur droit 506"/>
            <p:cNvCxnSpPr>
              <a:cxnSpLocks noChangeShapeType="1"/>
            </p:cNvCxnSpPr>
            <p:nvPr/>
          </p:nvCxnSpPr>
          <p:spPr bwMode="auto">
            <a:xfrm rot="5400000" flipH="1" flipV="1">
              <a:off x="3174539" y="5224060"/>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3717" name="Connecteur droit 507"/>
            <p:cNvCxnSpPr>
              <a:cxnSpLocks noChangeShapeType="1"/>
            </p:cNvCxnSpPr>
            <p:nvPr/>
          </p:nvCxnSpPr>
          <p:spPr bwMode="auto">
            <a:xfrm>
              <a:off x="4110538" y="6154960"/>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09" name="ZoneTexte 508"/>
            <p:cNvSpPr txBox="1"/>
            <p:nvPr/>
          </p:nvSpPr>
          <p:spPr>
            <a:xfrm>
              <a:off x="3633428" y="6026897"/>
              <a:ext cx="252406" cy="231776"/>
            </a:xfrm>
            <a:prstGeom prst="rect">
              <a:avLst/>
            </a:prstGeom>
            <a:solidFill>
              <a:schemeClr val="bg1">
                <a:lumMod val="65000"/>
              </a:schemeClr>
            </a:solidFill>
          </p:spPr>
          <p:txBody>
            <a:bodyPr lIns="36000" rIns="36000">
              <a:spAutoFit/>
            </a:bodyPr>
            <a:lstStyle/>
            <a:p>
              <a:pPr algn="ctr" eaLnBrk="1" hangingPunct="1">
                <a:defRPr/>
              </a:pPr>
              <a:r>
                <a:rPr lang="fr-FR" sz="900" b="1" dirty="0">
                  <a:solidFill>
                    <a:schemeClr val="bg1"/>
                  </a:solidFill>
                  <a:latin typeface="Calibri" panose="020F0502020204030204" pitchFamily="34" charset="0"/>
                  <a:cs typeface="Arial" pitchFamily="34" charset="0"/>
                </a:rPr>
                <a:t>8</a:t>
              </a:r>
            </a:p>
          </p:txBody>
        </p:sp>
        <p:sp>
          <p:nvSpPr>
            <p:cNvPr id="510" name="ZoneTexte 509"/>
            <p:cNvSpPr txBox="1"/>
            <p:nvPr/>
          </p:nvSpPr>
          <p:spPr>
            <a:xfrm>
              <a:off x="3609594" y="5752259"/>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a:t>
              </a:r>
            </a:p>
          </p:txBody>
        </p:sp>
        <p:sp>
          <p:nvSpPr>
            <p:cNvPr id="511" name="ZoneTexte 510"/>
            <p:cNvSpPr txBox="1"/>
            <p:nvPr/>
          </p:nvSpPr>
          <p:spPr>
            <a:xfrm>
              <a:off x="3609594" y="5476032"/>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12</a:t>
              </a:r>
            </a:p>
          </p:txBody>
        </p:sp>
        <p:sp>
          <p:nvSpPr>
            <p:cNvPr id="512" name="ZoneTexte 511"/>
            <p:cNvSpPr txBox="1"/>
            <p:nvPr/>
          </p:nvSpPr>
          <p:spPr>
            <a:xfrm>
              <a:off x="3609594" y="4648940"/>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18</a:t>
              </a:r>
            </a:p>
          </p:txBody>
        </p:sp>
        <p:sp>
          <p:nvSpPr>
            <p:cNvPr id="513" name="ZoneTexte 512"/>
            <p:cNvSpPr txBox="1"/>
            <p:nvPr/>
          </p:nvSpPr>
          <p:spPr>
            <a:xfrm>
              <a:off x="3609594" y="4374301"/>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20</a:t>
              </a:r>
            </a:p>
          </p:txBody>
        </p:sp>
        <p:sp>
          <p:nvSpPr>
            <p:cNvPr id="113723" name="ZoneTexte 513"/>
            <p:cNvSpPr txBox="1">
              <a:spLocks noChangeArrowheads="1"/>
            </p:cNvSpPr>
            <p:nvPr/>
          </p:nvSpPr>
          <p:spPr bwMode="auto">
            <a:xfrm>
              <a:off x="3909589" y="6012085"/>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113724" name="ZoneTexte 514"/>
            <p:cNvSpPr txBox="1">
              <a:spLocks noChangeArrowheads="1"/>
            </p:cNvSpPr>
            <p:nvPr/>
          </p:nvSpPr>
          <p:spPr bwMode="auto">
            <a:xfrm>
              <a:off x="3909589" y="5745385"/>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13725" name="ZoneTexte 515"/>
            <p:cNvSpPr txBox="1">
              <a:spLocks noChangeArrowheads="1"/>
            </p:cNvSpPr>
            <p:nvPr/>
          </p:nvSpPr>
          <p:spPr bwMode="auto">
            <a:xfrm>
              <a:off x="3858301" y="547868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113726" name="ZoneTexte 516"/>
            <p:cNvSpPr txBox="1">
              <a:spLocks noChangeArrowheads="1"/>
            </p:cNvSpPr>
            <p:nvPr/>
          </p:nvSpPr>
          <p:spPr bwMode="auto">
            <a:xfrm>
              <a:off x="3858301" y="521198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113727" name="ZoneTexte 517"/>
            <p:cNvSpPr txBox="1">
              <a:spLocks noChangeArrowheads="1"/>
            </p:cNvSpPr>
            <p:nvPr/>
          </p:nvSpPr>
          <p:spPr bwMode="auto">
            <a:xfrm>
              <a:off x="3858301" y="493004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113728" name="ZoneTexte 518"/>
            <p:cNvSpPr txBox="1">
              <a:spLocks noChangeArrowheads="1"/>
            </p:cNvSpPr>
            <p:nvPr/>
          </p:nvSpPr>
          <p:spPr bwMode="auto">
            <a:xfrm>
              <a:off x="3858301" y="437378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30</a:t>
              </a:r>
            </a:p>
          </p:txBody>
        </p:sp>
        <p:sp>
          <p:nvSpPr>
            <p:cNvPr id="113729" name="ZoneTexte 519"/>
            <p:cNvSpPr txBox="1">
              <a:spLocks noChangeArrowheads="1"/>
            </p:cNvSpPr>
            <p:nvPr/>
          </p:nvSpPr>
          <p:spPr bwMode="auto">
            <a:xfrm>
              <a:off x="4125619" y="4194259"/>
              <a:ext cx="63306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Quantité</a:t>
              </a:r>
            </a:p>
          </p:txBody>
        </p:sp>
        <p:sp>
          <p:nvSpPr>
            <p:cNvPr id="521" name="ZoneTexte 520"/>
            <p:cNvSpPr txBox="1"/>
            <p:nvPr/>
          </p:nvSpPr>
          <p:spPr>
            <a:xfrm>
              <a:off x="3569929" y="4069499"/>
              <a:ext cx="344478" cy="230188"/>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M€</a:t>
              </a:r>
            </a:p>
          </p:txBody>
        </p:sp>
        <p:sp>
          <p:nvSpPr>
            <p:cNvPr id="522" name="ZoneTexte 521"/>
            <p:cNvSpPr txBox="1"/>
            <p:nvPr/>
          </p:nvSpPr>
          <p:spPr>
            <a:xfrm>
              <a:off x="2476174" y="4261587"/>
              <a:ext cx="617519" cy="246064"/>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113732" name="Rectangle 522"/>
            <p:cNvSpPr>
              <a:spLocks noChangeArrowheads="1"/>
            </p:cNvSpPr>
            <p:nvPr/>
          </p:nvSpPr>
          <p:spPr bwMode="auto">
            <a:xfrm>
              <a:off x="2328528"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733" name="Rectangle 523"/>
            <p:cNvSpPr>
              <a:spLocks noChangeArrowheads="1"/>
            </p:cNvSpPr>
            <p:nvPr/>
          </p:nvSpPr>
          <p:spPr bwMode="auto">
            <a:xfrm>
              <a:off x="2690478" y="4496247"/>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734" name="Rectangle 524"/>
            <p:cNvSpPr>
              <a:spLocks noChangeArrowheads="1"/>
            </p:cNvSpPr>
            <p:nvPr/>
          </p:nvSpPr>
          <p:spPr bwMode="auto">
            <a:xfrm>
              <a:off x="3052428"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735" name="ZoneTexte 525"/>
            <p:cNvSpPr txBox="1">
              <a:spLocks noChangeArrowheads="1"/>
            </p:cNvSpPr>
            <p:nvPr/>
          </p:nvSpPr>
          <p:spPr bwMode="auto">
            <a:xfrm>
              <a:off x="2032392" y="6178754"/>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113736" name="ZoneTexte 526"/>
            <p:cNvSpPr txBox="1">
              <a:spLocks noChangeArrowheads="1"/>
            </p:cNvSpPr>
            <p:nvPr/>
          </p:nvSpPr>
          <p:spPr bwMode="auto">
            <a:xfrm>
              <a:off x="2794392" y="6169229"/>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sp>
          <p:nvSpPr>
            <p:cNvPr id="528" name="ZoneTexte 527"/>
            <p:cNvSpPr txBox="1"/>
            <p:nvPr/>
          </p:nvSpPr>
          <p:spPr>
            <a:xfrm>
              <a:off x="5743154" y="4271112"/>
              <a:ext cx="617519" cy="246064"/>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113738" name="Rectangle 528"/>
            <p:cNvSpPr>
              <a:spLocks noChangeArrowheads="1"/>
            </p:cNvSpPr>
            <p:nvPr/>
          </p:nvSpPr>
          <p:spPr bwMode="auto">
            <a:xfrm>
              <a:off x="5594244"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739" name="Rectangle 529"/>
            <p:cNvSpPr>
              <a:spLocks noChangeArrowheads="1"/>
            </p:cNvSpPr>
            <p:nvPr/>
          </p:nvSpPr>
          <p:spPr bwMode="auto">
            <a:xfrm>
              <a:off x="5956194" y="4496247"/>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740" name="Rectangle 530"/>
            <p:cNvSpPr>
              <a:spLocks noChangeArrowheads="1"/>
            </p:cNvSpPr>
            <p:nvPr/>
          </p:nvSpPr>
          <p:spPr bwMode="auto">
            <a:xfrm>
              <a:off x="6318144"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741" name="ZoneTexte 531"/>
            <p:cNvSpPr txBox="1">
              <a:spLocks noChangeArrowheads="1"/>
            </p:cNvSpPr>
            <p:nvPr/>
          </p:nvSpPr>
          <p:spPr bwMode="auto">
            <a:xfrm>
              <a:off x="5298108" y="6159704"/>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113742" name="ZoneTexte 532"/>
            <p:cNvSpPr txBox="1">
              <a:spLocks noChangeArrowheads="1"/>
            </p:cNvSpPr>
            <p:nvPr/>
          </p:nvSpPr>
          <p:spPr bwMode="auto">
            <a:xfrm>
              <a:off x="6060108" y="6159704"/>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cxnSp>
          <p:nvCxnSpPr>
            <p:cNvPr id="534" name="Connecteur droit 533"/>
            <p:cNvCxnSpPr/>
            <p:nvPr/>
          </p:nvCxnSpPr>
          <p:spPr bwMode="auto">
            <a:xfrm>
              <a:off x="4109664" y="1512022"/>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35" name="Connecteur droit 534"/>
            <p:cNvCxnSpPr/>
            <p:nvPr/>
          </p:nvCxnSpPr>
          <p:spPr bwMode="auto">
            <a:xfrm>
              <a:off x="4109664" y="1719987"/>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36" name="Connecteur droit 535"/>
            <p:cNvCxnSpPr/>
            <p:nvPr/>
          </p:nvCxnSpPr>
          <p:spPr bwMode="auto">
            <a:xfrm>
              <a:off x="4109664" y="2137501"/>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37" name="Connecteur droit 536"/>
            <p:cNvCxnSpPr/>
            <p:nvPr/>
          </p:nvCxnSpPr>
          <p:spPr bwMode="auto">
            <a:xfrm>
              <a:off x="4109664" y="1927950"/>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38" name="Connecteur droit 537"/>
            <p:cNvCxnSpPr/>
            <p:nvPr/>
          </p:nvCxnSpPr>
          <p:spPr bwMode="auto">
            <a:xfrm>
              <a:off x="4109664" y="2553428"/>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39" name="Connecteur droit 538"/>
            <p:cNvCxnSpPr/>
            <p:nvPr/>
          </p:nvCxnSpPr>
          <p:spPr bwMode="auto">
            <a:xfrm>
              <a:off x="4109664" y="2345465"/>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40" name="Connecteur droit 539"/>
            <p:cNvCxnSpPr/>
            <p:nvPr/>
          </p:nvCxnSpPr>
          <p:spPr bwMode="auto">
            <a:xfrm>
              <a:off x="4109664" y="2970943"/>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41" name="Connecteur droit 540"/>
            <p:cNvCxnSpPr/>
            <p:nvPr/>
          </p:nvCxnSpPr>
          <p:spPr bwMode="auto">
            <a:xfrm>
              <a:off x="4109664" y="2761392"/>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113751" name="ZoneTexte 541"/>
            <p:cNvSpPr txBox="1">
              <a:spLocks noChangeArrowheads="1"/>
            </p:cNvSpPr>
            <p:nvPr/>
          </p:nvSpPr>
          <p:spPr bwMode="auto">
            <a:xfrm>
              <a:off x="4950288" y="938252"/>
              <a:ext cx="720000"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DÉLAIS</a:t>
              </a:r>
            </a:p>
          </p:txBody>
        </p:sp>
        <p:sp>
          <p:nvSpPr>
            <p:cNvPr id="543" name="ZoneTexte 542"/>
            <p:cNvSpPr txBox="1"/>
            <p:nvPr/>
          </p:nvSpPr>
          <p:spPr>
            <a:xfrm>
              <a:off x="4151324" y="3209070"/>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sp>
          <p:nvSpPr>
            <p:cNvPr id="113753" name="Rectangle 543"/>
            <p:cNvSpPr>
              <a:spLocks noChangeArrowheads="1"/>
            </p:cNvSpPr>
            <p:nvPr/>
          </p:nvSpPr>
          <p:spPr bwMode="auto">
            <a:xfrm>
              <a:off x="4181023" y="2133600"/>
              <a:ext cx="468000" cy="1045248"/>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85 jrs.</a:t>
              </a:r>
            </a:p>
          </p:txBody>
        </p:sp>
        <p:sp>
          <p:nvSpPr>
            <p:cNvPr id="113754" name="Rectangle 544"/>
            <p:cNvSpPr>
              <a:spLocks noChangeArrowheads="1"/>
            </p:cNvSpPr>
            <p:nvPr/>
          </p:nvSpPr>
          <p:spPr bwMode="auto">
            <a:xfrm>
              <a:off x="4838248" y="2766060"/>
              <a:ext cx="468000" cy="412788"/>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70 jrs.</a:t>
              </a:r>
            </a:p>
          </p:txBody>
        </p:sp>
        <p:cxnSp>
          <p:nvCxnSpPr>
            <p:cNvPr id="113755" name="Connecteur droit 545"/>
            <p:cNvCxnSpPr>
              <a:cxnSpLocks noChangeShapeType="1"/>
            </p:cNvCxnSpPr>
            <p:nvPr/>
          </p:nvCxnSpPr>
          <p:spPr bwMode="auto">
            <a:xfrm rot="5400000" flipH="1" flipV="1">
              <a:off x="3168824" y="2247948"/>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3756" name="Connecteur droit 546"/>
            <p:cNvCxnSpPr>
              <a:cxnSpLocks noChangeShapeType="1"/>
            </p:cNvCxnSpPr>
            <p:nvPr/>
          </p:nvCxnSpPr>
          <p:spPr bwMode="auto">
            <a:xfrm>
              <a:off x="4104823" y="3178848"/>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48" name="ZoneTexte 547"/>
            <p:cNvSpPr txBox="1"/>
            <p:nvPr/>
          </p:nvSpPr>
          <p:spPr>
            <a:xfrm>
              <a:off x="3631817" y="3013806"/>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60</a:t>
              </a:r>
            </a:p>
          </p:txBody>
        </p:sp>
        <p:sp>
          <p:nvSpPr>
            <p:cNvPr id="549" name="ZoneTexte 548"/>
            <p:cNvSpPr txBox="1"/>
            <p:nvPr/>
          </p:nvSpPr>
          <p:spPr>
            <a:xfrm>
              <a:off x="3631817" y="2601053"/>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70</a:t>
              </a:r>
            </a:p>
          </p:txBody>
        </p:sp>
        <p:sp>
          <p:nvSpPr>
            <p:cNvPr id="550" name="ZoneTexte 549"/>
            <p:cNvSpPr txBox="1"/>
            <p:nvPr/>
          </p:nvSpPr>
          <p:spPr>
            <a:xfrm>
              <a:off x="3631817" y="2197826"/>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80</a:t>
              </a:r>
            </a:p>
          </p:txBody>
        </p:sp>
        <p:sp>
          <p:nvSpPr>
            <p:cNvPr id="551" name="ZoneTexte 550"/>
            <p:cNvSpPr txBox="1"/>
            <p:nvPr/>
          </p:nvSpPr>
          <p:spPr>
            <a:xfrm>
              <a:off x="3631817" y="1794599"/>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90</a:t>
              </a:r>
            </a:p>
          </p:txBody>
        </p:sp>
        <p:sp>
          <p:nvSpPr>
            <p:cNvPr id="552" name="ZoneTexte 551"/>
            <p:cNvSpPr txBox="1"/>
            <p:nvPr/>
          </p:nvSpPr>
          <p:spPr>
            <a:xfrm>
              <a:off x="3602964" y="1397722"/>
              <a:ext cx="357781"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100</a:t>
              </a:r>
            </a:p>
          </p:txBody>
        </p:sp>
        <p:sp>
          <p:nvSpPr>
            <p:cNvPr id="113762" name="ZoneTexte 552"/>
            <p:cNvSpPr txBox="1">
              <a:spLocks noChangeArrowheads="1"/>
            </p:cNvSpPr>
            <p:nvPr/>
          </p:nvSpPr>
          <p:spPr bwMode="auto">
            <a:xfrm>
              <a:off x="3911159" y="299787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113763" name="ZoneTexte 553"/>
            <p:cNvSpPr txBox="1">
              <a:spLocks noChangeArrowheads="1"/>
            </p:cNvSpPr>
            <p:nvPr/>
          </p:nvSpPr>
          <p:spPr bwMode="auto">
            <a:xfrm>
              <a:off x="3911159" y="25978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a:t>
              </a:r>
            </a:p>
          </p:txBody>
        </p:sp>
        <p:sp>
          <p:nvSpPr>
            <p:cNvPr id="113764" name="ZoneTexte 554"/>
            <p:cNvSpPr txBox="1">
              <a:spLocks noChangeArrowheads="1"/>
            </p:cNvSpPr>
            <p:nvPr/>
          </p:nvSpPr>
          <p:spPr bwMode="auto">
            <a:xfrm>
              <a:off x="3911159" y="219777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4</a:t>
              </a:r>
            </a:p>
          </p:txBody>
        </p:sp>
        <p:sp>
          <p:nvSpPr>
            <p:cNvPr id="113765" name="ZoneTexte 555"/>
            <p:cNvSpPr txBox="1">
              <a:spLocks noChangeArrowheads="1"/>
            </p:cNvSpPr>
            <p:nvPr/>
          </p:nvSpPr>
          <p:spPr bwMode="auto">
            <a:xfrm>
              <a:off x="3911159" y="17977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6</a:t>
              </a:r>
            </a:p>
          </p:txBody>
        </p:sp>
        <p:sp>
          <p:nvSpPr>
            <p:cNvPr id="113766" name="ZoneTexte 556"/>
            <p:cNvSpPr txBox="1">
              <a:spLocks noChangeArrowheads="1"/>
            </p:cNvSpPr>
            <p:nvPr/>
          </p:nvSpPr>
          <p:spPr bwMode="auto">
            <a:xfrm>
              <a:off x="3900379" y="139767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8</a:t>
              </a:r>
            </a:p>
          </p:txBody>
        </p:sp>
        <p:sp>
          <p:nvSpPr>
            <p:cNvPr id="558" name="ZoneTexte 557"/>
            <p:cNvSpPr txBox="1"/>
            <p:nvPr/>
          </p:nvSpPr>
          <p:spPr>
            <a:xfrm>
              <a:off x="3619141" y="1092920"/>
              <a:ext cx="323841" cy="230189"/>
            </a:xfrm>
            <a:prstGeom prst="rect">
              <a:avLst/>
            </a:prstGeom>
            <a:solidFill>
              <a:schemeClr val="bg1">
                <a:lumMod val="65000"/>
              </a:schemeClr>
            </a:solidFill>
          </p:spPr>
          <p:txBody>
            <a:bodyPr wrap="none" lIns="36000" rIns="36000">
              <a:spAutoFit/>
            </a:bodyPr>
            <a:lstStyle/>
            <a:p>
              <a:pPr algn="ctr" eaLnBrk="1" hangingPunct="1">
                <a:defRPr/>
              </a:pPr>
              <a:r>
                <a:rPr lang="fr-FR" sz="900" b="1" dirty="0">
                  <a:solidFill>
                    <a:schemeClr val="bg1"/>
                  </a:solidFill>
                  <a:latin typeface="Calibri" panose="020F0502020204030204" pitchFamily="34" charset="0"/>
                  <a:cs typeface="Arial" pitchFamily="34" charset="0"/>
                </a:rPr>
                <a:t>jours</a:t>
              </a:r>
            </a:p>
          </p:txBody>
        </p:sp>
        <p:sp>
          <p:nvSpPr>
            <p:cNvPr id="113768" name="ZoneTexte 558"/>
            <p:cNvSpPr txBox="1">
              <a:spLocks noChangeArrowheads="1"/>
            </p:cNvSpPr>
            <p:nvPr/>
          </p:nvSpPr>
          <p:spPr bwMode="auto">
            <a:xfrm>
              <a:off x="4128978" y="1193838"/>
              <a:ext cx="58862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Minutes</a:t>
              </a:r>
            </a:p>
          </p:txBody>
        </p:sp>
        <p:sp>
          <p:nvSpPr>
            <p:cNvPr id="113769" name="Freeform 129"/>
            <p:cNvSpPr>
              <a:spLocks/>
            </p:cNvSpPr>
            <p:nvPr/>
          </p:nvSpPr>
          <p:spPr bwMode="auto">
            <a:xfrm>
              <a:off x="3354937" y="2820242"/>
              <a:ext cx="34733" cy="34733"/>
            </a:xfrm>
            <a:custGeom>
              <a:avLst/>
              <a:gdLst>
                <a:gd name="T0" fmla="*/ 2147483646 w 156"/>
                <a:gd name="T1" fmla="*/ 2147483646 h 156"/>
                <a:gd name="T2" fmla="*/ 2147483646 w 156"/>
                <a:gd name="T3" fmla="*/ 2147483646 h 156"/>
                <a:gd name="T4" fmla="*/ 2147483646 w 156"/>
                <a:gd name="T5" fmla="*/ 2147483646 h 156"/>
                <a:gd name="T6" fmla="*/ 2147483646 w 156"/>
                <a:gd name="T7" fmla="*/ 2147483646 h 156"/>
                <a:gd name="T8" fmla="*/ 2147483646 w 156"/>
                <a:gd name="T9" fmla="*/ 2147483646 h 156"/>
                <a:gd name="T10" fmla="*/ 2147483646 w 156"/>
                <a:gd name="T11" fmla="*/ 2147483646 h 156"/>
                <a:gd name="T12" fmla="*/ 2147483646 w 156"/>
                <a:gd name="T13" fmla="*/ 2147483646 h 156"/>
                <a:gd name="T14" fmla="*/ 2147483646 w 156"/>
                <a:gd name="T15" fmla="*/ 2147483646 h 156"/>
                <a:gd name="T16" fmla="*/ 0 w 156"/>
                <a:gd name="T17" fmla="*/ 2147483646 h 156"/>
                <a:gd name="T18" fmla="*/ 2147483646 w 156"/>
                <a:gd name="T19" fmla="*/ 2147483646 h 156"/>
                <a:gd name="T20" fmla="*/ 2147483646 w 156"/>
                <a:gd name="T21" fmla="*/ 2147483646 h 156"/>
                <a:gd name="T22" fmla="*/ 2147483646 w 156"/>
                <a:gd name="T23" fmla="*/ 2147483646 h 156"/>
                <a:gd name="T24" fmla="*/ 2147483646 w 156"/>
                <a:gd name="T25" fmla="*/ 2147483646 h 156"/>
                <a:gd name="T26" fmla="*/ 2147483646 w 156"/>
                <a:gd name="T27" fmla="*/ 2147483646 h 156"/>
                <a:gd name="T28" fmla="*/ 2147483646 w 156"/>
                <a:gd name="T29" fmla="*/ 2147483646 h 156"/>
                <a:gd name="T30" fmla="*/ 2147483646 w 156"/>
                <a:gd name="T31" fmla="*/ 2147483646 h 156"/>
                <a:gd name="T32" fmla="*/ 2147483646 w 156"/>
                <a:gd name="T33" fmla="*/ 0 h 156"/>
                <a:gd name="T34" fmla="*/ 2147483646 w 156"/>
                <a:gd name="T35" fmla="*/ 2147483646 h 156"/>
                <a:gd name="T36" fmla="*/ 2147483646 w 156"/>
                <a:gd name="T37" fmla="*/ 2147483646 h 156"/>
                <a:gd name="T38" fmla="*/ 2147483646 w 156"/>
                <a:gd name="T39" fmla="*/ 2147483646 h 156"/>
                <a:gd name="T40" fmla="*/ 2147483646 w 156"/>
                <a:gd name="T41" fmla="*/ 2147483646 h 156"/>
                <a:gd name="T42" fmla="*/ 2147483646 w 156"/>
                <a:gd name="T43" fmla="*/ 2147483646 h 156"/>
                <a:gd name="T44" fmla="*/ 2147483646 w 156"/>
                <a:gd name="T45" fmla="*/ 2147483646 h 156"/>
                <a:gd name="T46" fmla="*/ 2147483646 w 156"/>
                <a:gd name="T47" fmla="*/ 2147483646 h 156"/>
                <a:gd name="T48" fmla="*/ 2147483646 w 156"/>
                <a:gd name="T49" fmla="*/ 2147483646 h 156"/>
                <a:gd name="T50" fmla="*/ 2147483646 w 156"/>
                <a:gd name="T51" fmla="*/ 2147483646 h 156"/>
                <a:gd name="T52" fmla="*/ 2147483646 w 156"/>
                <a:gd name="T53" fmla="*/ 2147483646 h 156"/>
                <a:gd name="T54" fmla="*/ 2147483646 w 156"/>
                <a:gd name="T55" fmla="*/ 2147483646 h 156"/>
                <a:gd name="T56" fmla="*/ 2147483646 w 156"/>
                <a:gd name="T57" fmla="*/ 2147483646 h 156"/>
                <a:gd name="T58" fmla="*/ 2147483646 w 156"/>
                <a:gd name="T59" fmla="*/ 2147483646 h 156"/>
                <a:gd name="T60" fmla="*/ 2147483646 w 156"/>
                <a:gd name="T61" fmla="*/ 2147483646 h 156"/>
                <a:gd name="T62" fmla="*/ 2147483646 w 156"/>
                <a:gd name="T63" fmla="*/ 2147483646 h 156"/>
                <a:gd name="T64" fmla="*/ 2147483646 w 156"/>
                <a:gd name="T65" fmla="*/ 2147483646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cxnSp>
          <p:nvCxnSpPr>
            <p:cNvPr id="561" name="Connecteur droit 560"/>
            <p:cNvCxnSpPr/>
            <p:nvPr/>
          </p:nvCxnSpPr>
          <p:spPr bwMode="auto">
            <a:xfrm>
              <a:off x="841097" y="1658073"/>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2" name="Connecteur droit 561"/>
            <p:cNvCxnSpPr/>
            <p:nvPr/>
          </p:nvCxnSpPr>
          <p:spPr bwMode="auto">
            <a:xfrm>
              <a:off x="841097" y="1492972"/>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3" name="Connecteur droit 562"/>
            <p:cNvCxnSpPr/>
            <p:nvPr/>
          </p:nvCxnSpPr>
          <p:spPr bwMode="auto">
            <a:xfrm>
              <a:off x="841097" y="1988275"/>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4" name="Connecteur droit 563"/>
            <p:cNvCxnSpPr/>
            <p:nvPr/>
          </p:nvCxnSpPr>
          <p:spPr bwMode="auto">
            <a:xfrm>
              <a:off x="841097" y="1823174"/>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5" name="Connecteur droit 564"/>
            <p:cNvCxnSpPr/>
            <p:nvPr/>
          </p:nvCxnSpPr>
          <p:spPr bwMode="auto">
            <a:xfrm>
              <a:off x="841097" y="2318477"/>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6" name="Connecteur droit 565"/>
            <p:cNvCxnSpPr/>
            <p:nvPr/>
          </p:nvCxnSpPr>
          <p:spPr bwMode="auto">
            <a:xfrm>
              <a:off x="841097" y="2153376"/>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7" name="Connecteur droit 566"/>
            <p:cNvCxnSpPr/>
            <p:nvPr/>
          </p:nvCxnSpPr>
          <p:spPr bwMode="auto">
            <a:xfrm>
              <a:off x="841097" y="2648679"/>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8" name="Connecteur droit 567"/>
            <p:cNvCxnSpPr/>
            <p:nvPr/>
          </p:nvCxnSpPr>
          <p:spPr bwMode="auto">
            <a:xfrm>
              <a:off x="841097" y="2483578"/>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69" name="Connecteur droit 568"/>
            <p:cNvCxnSpPr/>
            <p:nvPr/>
          </p:nvCxnSpPr>
          <p:spPr bwMode="auto">
            <a:xfrm>
              <a:off x="841097" y="2978880"/>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570" name="Connecteur droit 569"/>
            <p:cNvCxnSpPr/>
            <p:nvPr/>
          </p:nvCxnSpPr>
          <p:spPr bwMode="auto">
            <a:xfrm>
              <a:off x="841097" y="2813780"/>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113780" name="ZoneTexte 570"/>
            <p:cNvSpPr txBox="1">
              <a:spLocks noChangeArrowheads="1"/>
            </p:cNvSpPr>
            <p:nvPr/>
          </p:nvSpPr>
          <p:spPr bwMode="auto">
            <a:xfrm>
              <a:off x="1942797" y="880196"/>
              <a:ext cx="761326"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COÛTS</a:t>
              </a:r>
            </a:p>
          </p:txBody>
        </p:sp>
        <p:sp>
          <p:nvSpPr>
            <p:cNvPr id="572" name="ZoneTexte 571"/>
            <p:cNvSpPr txBox="1"/>
            <p:nvPr/>
          </p:nvSpPr>
          <p:spPr>
            <a:xfrm>
              <a:off x="900220" y="3145569"/>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sp>
          <p:nvSpPr>
            <p:cNvPr id="573" name="ZoneTexte 572"/>
            <p:cNvSpPr txBox="1"/>
            <p:nvPr/>
          </p:nvSpPr>
          <p:spPr>
            <a:xfrm>
              <a:off x="1482252" y="2264502"/>
              <a:ext cx="824241"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574" name="ZoneTexte 573"/>
            <p:cNvSpPr txBox="1"/>
            <p:nvPr/>
          </p:nvSpPr>
          <p:spPr>
            <a:xfrm>
              <a:off x="2485699" y="1258021"/>
              <a:ext cx="617519" cy="246064"/>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113784" name="Rectangle 574"/>
            <p:cNvSpPr>
              <a:spLocks noChangeArrowheads="1"/>
            </p:cNvSpPr>
            <p:nvPr/>
          </p:nvSpPr>
          <p:spPr bwMode="auto">
            <a:xfrm>
              <a:off x="916303" y="1813560"/>
              <a:ext cx="494862" cy="1346238"/>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14K€</a:t>
              </a:r>
            </a:p>
          </p:txBody>
        </p:sp>
        <p:sp>
          <p:nvSpPr>
            <p:cNvPr id="113785" name="Rectangle 575"/>
            <p:cNvSpPr>
              <a:spLocks noChangeArrowheads="1"/>
            </p:cNvSpPr>
            <p:nvPr/>
          </p:nvSpPr>
          <p:spPr bwMode="auto">
            <a:xfrm>
              <a:off x="1611250" y="2484120"/>
              <a:ext cx="466106" cy="680506"/>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12 K€</a:t>
              </a:r>
            </a:p>
          </p:txBody>
        </p:sp>
        <p:cxnSp>
          <p:nvCxnSpPr>
            <p:cNvPr id="113786" name="Connecteur droit 576"/>
            <p:cNvCxnSpPr>
              <a:cxnSpLocks noChangeShapeType="1"/>
            </p:cNvCxnSpPr>
            <p:nvPr/>
          </p:nvCxnSpPr>
          <p:spPr bwMode="auto">
            <a:xfrm rot="5400000" flipH="1" flipV="1">
              <a:off x="-100270" y="2228898"/>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78" name="ZoneTexte 577"/>
            <p:cNvSpPr txBox="1"/>
            <p:nvPr/>
          </p:nvSpPr>
          <p:spPr>
            <a:xfrm>
              <a:off x="291692" y="2978880"/>
              <a:ext cx="325720"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 </a:t>
              </a:r>
            </a:p>
          </p:txBody>
        </p:sp>
        <p:sp>
          <p:nvSpPr>
            <p:cNvPr id="579" name="ZoneTexte 578"/>
            <p:cNvSpPr txBox="1"/>
            <p:nvPr/>
          </p:nvSpPr>
          <p:spPr>
            <a:xfrm>
              <a:off x="304514" y="2658204"/>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11</a:t>
              </a:r>
            </a:p>
          </p:txBody>
        </p:sp>
        <p:sp>
          <p:nvSpPr>
            <p:cNvPr id="580" name="ZoneTexte 579"/>
            <p:cNvSpPr txBox="1"/>
            <p:nvPr/>
          </p:nvSpPr>
          <p:spPr>
            <a:xfrm>
              <a:off x="304514" y="2339115"/>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12</a:t>
              </a:r>
            </a:p>
          </p:txBody>
        </p:sp>
        <p:sp>
          <p:nvSpPr>
            <p:cNvPr id="581" name="ZoneTexte 580"/>
            <p:cNvSpPr txBox="1"/>
            <p:nvPr/>
          </p:nvSpPr>
          <p:spPr>
            <a:xfrm>
              <a:off x="304514" y="2018438"/>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13</a:t>
              </a:r>
            </a:p>
          </p:txBody>
        </p:sp>
        <p:sp>
          <p:nvSpPr>
            <p:cNvPr id="582" name="ZoneTexte 581"/>
            <p:cNvSpPr txBox="1"/>
            <p:nvPr/>
          </p:nvSpPr>
          <p:spPr>
            <a:xfrm>
              <a:off x="304514" y="1699348"/>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14</a:t>
              </a:r>
            </a:p>
          </p:txBody>
        </p:sp>
        <p:sp>
          <p:nvSpPr>
            <p:cNvPr id="583" name="ZoneTexte 582"/>
            <p:cNvSpPr txBox="1"/>
            <p:nvPr/>
          </p:nvSpPr>
          <p:spPr>
            <a:xfrm>
              <a:off x="304514" y="1378672"/>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15</a:t>
              </a:r>
            </a:p>
          </p:txBody>
        </p:sp>
        <p:sp>
          <p:nvSpPr>
            <p:cNvPr id="113793" name="ZoneTexte 583"/>
            <p:cNvSpPr txBox="1">
              <a:spLocks noChangeArrowheads="1"/>
            </p:cNvSpPr>
            <p:nvPr/>
          </p:nvSpPr>
          <p:spPr bwMode="auto">
            <a:xfrm>
              <a:off x="657413" y="2978823"/>
              <a:ext cx="242367"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113794" name="ZoneTexte 584"/>
            <p:cNvSpPr txBox="1">
              <a:spLocks noChangeArrowheads="1"/>
            </p:cNvSpPr>
            <p:nvPr/>
          </p:nvSpPr>
          <p:spPr bwMode="auto">
            <a:xfrm>
              <a:off x="647064" y="265878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a:t>
              </a:r>
            </a:p>
          </p:txBody>
        </p:sp>
        <p:sp>
          <p:nvSpPr>
            <p:cNvPr id="113795" name="ZoneTexte 585"/>
            <p:cNvSpPr txBox="1">
              <a:spLocks noChangeArrowheads="1"/>
            </p:cNvSpPr>
            <p:nvPr/>
          </p:nvSpPr>
          <p:spPr bwMode="auto">
            <a:xfrm>
              <a:off x="647064" y="233874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a:t>
              </a:r>
            </a:p>
          </p:txBody>
        </p:sp>
        <p:sp>
          <p:nvSpPr>
            <p:cNvPr id="113796" name="ZoneTexte 586"/>
            <p:cNvSpPr txBox="1">
              <a:spLocks noChangeArrowheads="1"/>
            </p:cNvSpPr>
            <p:nvPr/>
          </p:nvSpPr>
          <p:spPr bwMode="auto">
            <a:xfrm>
              <a:off x="647064" y="201870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3</a:t>
              </a:r>
            </a:p>
          </p:txBody>
        </p:sp>
        <p:sp>
          <p:nvSpPr>
            <p:cNvPr id="113797" name="ZoneTexte 587"/>
            <p:cNvSpPr txBox="1">
              <a:spLocks noChangeArrowheads="1"/>
            </p:cNvSpPr>
            <p:nvPr/>
          </p:nvSpPr>
          <p:spPr bwMode="auto">
            <a:xfrm>
              <a:off x="647064" y="16986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4</a:t>
              </a:r>
            </a:p>
          </p:txBody>
        </p:sp>
        <p:sp>
          <p:nvSpPr>
            <p:cNvPr id="113798" name="ZoneTexte 588"/>
            <p:cNvSpPr txBox="1">
              <a:spLocks noChangeArrowheads="1"/>
            </p:cNvSpPr>
            <p:nvPr/>
          </p:nvSpPr>
          <p:spPr bwMode="auto">
            <a:xfrm>
              <a:off x="647844" y="13786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13799" name="Rectangle 589"/>
            <p:cNvSpPr>
              <a:spLocks noChangeArrowheads="1"/>
            </p:cNvSpPr>
            <p:nvPr/>
          </p:nvSpPr>
          <p:spPr bwMode="auto">
            <a:xfrm>
              <a:off x="2338053" y="149292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800" name="ZoneTexte 590"/>
            <p:cNvSpPr txBox="1">
              <a:spLocks noChangeArrowheads="1"/>
            </p:cNvSpPr>
            <p:nvPr/>
          </p:nvSpPr>
          <p:spPr bwMode="auto">
            <a:xfrm>
              <a:off x="765830" y="1064297"/>
              <a:ext cx="8416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min. x </a:t>
              </a:r>
              <a:r>
                <a:rPr lang="fr-FR" altLang="fr-FR" sz="900" dirty="0" err="1">
                  <a:latin typeface="Calibri" panose="020F0502020204030204" pitchFamily="34" charset="0"/>
                  <a:cs typeface="Arial" panose="020B0604020202020204" pitchFamily="34" charset="0"/>
                </a:rPr>
                <a:t>hom</a:t>
              </a:r>
              <a:r>
                <a:rPr lang="fr-FR" altLang="fr-FR" sz="900" dirty="0">
                  <a:latin typeface="Calibri" panose="020F0502020204030204" pitchFamily="34" charset="0"/>
                  <a:cs typeface="Arial" panose="020B0604020202020204" pitchFamily="34" charset="0"/>
                </a:rPr>
                <a:t>.</a:t>
              </a:r>
              <a:br>
                <a:rPr lang="fr-FR" altLang="fr-FR" sz="900" dirty="0">
                  <a:latin typeface="Calibri" panose="020F0502020204030204" pitchFamily="34" charset="0"/>
                  <a:cs typeface="Arial" panose="020B0604020202020204" pitchFamily="34" charset="0"/>
                </a:rPr>
              </a:br>
              <a:r>
                <a:rPr lang="fr-FR" altLang="fr-FR" sz="900" dirty="0">
                  <a:latin typeface="Calibri" panose="020F0502020204030204" pitchFamily="34" charset="0"/>
                  <a:cs typeface="Arial" panose="020B0604020202020204" pitchFamily="34" charset="0"/>
                </a:rPr>
                <a:t>/ produit</a:t>
              </a:r>
            </a:p>
          </p:txBody>
        </p:sp>
        <p:sp>
          <p:nvSpPr>
            <p:cNvPr id="592" name="ZoneTexte 591"/>
            <p:cNvSpPr txBox="1"/>
            <p:nvPr/>
          </p:nvSpPr>
          <p:spPr>
            <a:xfrm>
              <a:off x="307667" y="1051645"/>
              <a:ext cx="304882"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K€</a:t>
              </a:r>
            </a:p>
          </p:txBody>
        </p:sp>
        <p:sp>
          <p:nvSpPr>
            <p:cNvPr id="113802" name="Rectangle 592"/>
            <p:cNvSpPr>
              <a:spLocks noChangeArrowheads="1"/>
            </p:cNvSpPr>
            <p:nvPr/>
          </p:nvSpPr>
          <p:spPr bwMode="auto">
            <a:xfrm>
              <a:off x="2700003" y="1492923"/>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803" name="Rectangle 593"/>
            <p:cNvSpPr>
              <a:spLocks noChangeArrowheads="1"/>
            </p:cNvSpPr>
            <p:nvPr/>
          </p:nvSpPr>
          <p:spPr bwMode="auto">
            <a:xfrm>
              <a:off x="3061953" y="149292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cxnSp>
          <p:nvCxnSpPr>
            <p:cNvPr id="113804" name="Connecteur droit 594"/>
            <p:cNvCxnSpPr>
              <a:cxnSpLocks noChangeShapeType="1"/>
            </p:cNvCxnSpPr>
            <p:nvPr/>
          </p:nvCxnSpPr>
          <p:spPr bwMode="auto">
            <a:xfrm>
              <a:off x="835729" y="3159798"/>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13805" name="ZoneTexte 595"/>
            <p:cNvSpPr txBox="1">
              <a:spLocks noChangeArrowheads="1"/>
            </p:cNvSpPr>
            <p:nvPr/>
          </p:nvSpPr>
          <p:spPr bwMode="auto">
            <a:xfrm>
              <a:off x="2041917" y="314368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113806" name="ZoneTexte 596"/>
            <p:cNvSpPr txBox="1">
              <a:spLocks noChangeArrowheads="1"/>
            </p:cNvSpPr>
            <p:nvPr/>
          </p:nvSpPr>
          <p:spPr bwMode="auto">
            <a:xfrm>
              <a:off x="2803917" y="314368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sp>
          <p:nvSpPr>
            <p:cNvPr id="598" name="ZoneTexte 597"/>
            <p:cNvSpPr txBox="1"/>
            <p:nvPr/>
          </p:nvSpPr>
          <p:spPr>
            <a:xfrm>
              <a:off x="5752678" y="1286596"/>
              <a:ext cx="617519" cy="246064"/>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113808" name="Rectangle 598"/>
            <p:cNvSpPr>
              <a:spLocks noChangeArrowheads="1"/>
            </p:cNvSpPr>
            <p:nvPr/>
          </p:nvSpPr>
          <p:spPr bwMode="auto">
            <a:xfrm>
              <a:off x="5603769" y="151197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809" name="Rectangle 599"/>
            <p:cNvSpPr>
              <a:spLocks noChangeArrowheads="1"/>
            </p:cNvSpPr>
            <p:nvPr/>
          </p:nvSpPr>
          <p:spPr bwMode="auto">
            <a:xfrm>
              <a:off x="5965719" y="1511973"/>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810" name="Rectangle 600"/>
            <p:cNvSpPr>
              <a:spLocks noChangeArrowheads="1"/>
            </p:cNvSpPr>
            <p:nvPr/>
          </p:nvSpPr>
          <p:spPr bwMode="auto">
            <a:xfrm>
              <a:off x="6327669" y="151197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113811" name="ZoneTexte 601"/>
            <p:cNvSpPr txBox="1">
              <a:spLocks noChangeArrowheads="1"/>
            </p:cNvSpPr>
            <p:nvPr/>
          </p:nvSpPr>
          <p:spPr bwMode="auto">
            <a:xfrm>
              <a:off x="5307633" y="316273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113812" name="ZoneTexte 602"/>
            <p:cNvSpPr txBox="1">
              <a:spLocks noChangeArrowheads="1"/>
            </p:cNvSpPr>
            <p:nvPr/>
          </p:nvSpPr>
          <p:spPr bwMode="auto">
            <a:xfrm>
              <a:off x="6069633" y="316273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sp>
          <p:nvSpPr>
            <p:cNvPr id="604" name="ZoneTexte 603"/>
            <p:cNvSpPr txBox="1"/>
            <p:nvPr/>
          </p:nvSpPr>
          <p:spPr>
            <a:xfrm>
              <a:off x="4696051" y="2523266"/>
              <a:ext cx="824240"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605" name="ZoneTexte 604"/>
            <p:cNvSpPr txBox="1"/>
            <p:nvPr/>
          </p:nvSpPr>
          <p:spPr>
            <a:xfrm>
              <a:off x="839509" y="880194"/>
              <a:ext cx="761978" cy="258764"/>
            </a:xfrm>
            <a:prstGeom prst="rect">
              <a:avLst/>
            </a:prstGeom>
            <a:solidFill>
              <a:schemeClr val="bg1"/>
            </a:solidFill>
            <a:ln>
              <a:noFill/>
            </a:ln>
          </p:spPr>
          <p:txBody>
            <a:bodyPr wrap="none" anchor="ctr"/>
            <a:lstStyle/>
            <a:p>
              <a:pPr algn="ctr" eaLnBrk="1" hangingPunct="1">
                <a:defRPr/>
              </a:pPr>
              <a:r>
                <a:rPr lang="fr-FR" sz="1050" dirty="0">
                  <a:latin typeface="Calibri" panose="020F0502020204030204" pitchFamily="34" charset="0"/>
                  <a:cs typeface="Arial" pitchFamily="34" charset="0"/>
                </a:rPr>
                <a:t>PRODUCTIVITÉ</a:t>
              </a:r>
            </a:p>
          </p:txBody>
        </p:sp>
        <p:sp>
          <p:nvSpPr>
            <p:cNvPr id="606" name="ZoneTexte 605"/>
            <p:cNvSpPr txBox="1"/>
            <p:nvPr/>
          </p:nvSpPr>
          <p:spPr>
            <a:xfrm>
              <a:off x="1413198" y="4771178"/>
              <a:ext cx="824240"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607" name="ZoneTexte 606"/>
            <p:cNvSpPr txBox="1"/>
            <p:nvPr/>
          </p:nvSpPr>
          <p:spPr>
            <a:xfrm>
              <a:off x="4735738" y="4794990"/>
              <a:ext cx="824240"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113817" name="ZoneTexte 607"/>
            <p:cNvSpPr txBox="1">
              <a:spLocks noChangeArrowheads="1"/>
            </p:cNvSpPr>
            <p:nvPr/>
          </p:nvSpPr>
          <p:spPr bwMode="auto">
            <a:xfrm>
              <a:off x="3858301" y="464810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25</a:t>
              </a:r>
            </a:p>
          </p:txBody>
        </p:sp>
        <p:sp>
          <p:nvSpPr>
            <p:cNvPr id="609" name="ZoneTexte 608"/>
            <p:cNvSpPr txBox="1"/>
            <p:nvPr/>
          </p:nvSpPr>
          <p:spPr>
            <a:xfrm>
              <a:off x="3609594" y="4925166"/>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16</a:t>
              </a:r>
            </a:p>
          </p:txBody>
        </p:sp>
        <p:sp>
          <p:nvSpPr>
            <p:cNvPr id="610" name="ZoneTexte 609"/>
            <p:cNvSpPr txBox="1"/>
            <p:nvPr/>
          </p:nvSpPr>
          <p:spPr>
            <a:xfrm>
              <a:off x="3609594" y="5199806"/>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14</a:t>
              </a:r>
            </a:p>
          </p:txBody>
        </p:sp>
      </p:grpSp>
      <p:grpSp>
        <p:nvGrpSpPr>
          <p:cNvPr id="612" name="Groupe 611"/>
          <p:cNvGrpSpPr>
            <a:grpSpLocks/>
          </p:cNvGrpSpPr>
          <p:nvPr/>
        </p:nvGrpSpPr>
        <p:grpSpPr bwMode="auto">
          <a:xfrm>
            <a:off x="3506788" y="1727200"/>
            <a:ext cx="3498850" cy="4457700"/>
            <a:chOff x="3506571" y="1726880"/>
            <a:chExt cx="3499523" cy="4458716"/>
          </a:xfrm>
        </p:grpSpPr>
        <p:sp>
          <p:nvSpPr>
            <p:cNvPr id="113672" name="Rectangle 314"/>
            <p:cNvSpPr>
              <a:spLocks noChangeArrowheads="1"/>
            </p:cNvSpPr>
            <p:nvPr/>
          </p:nvSpPr>
          <p:spPr bwMode="auto">
            <a:xfrm>
              <a:off x="3519450" y="1726880"/>
              <a:ext cx="216000" cy="1440000"/>
            </a:xfrm>
            <a:prstGeom prst="rect">
              <a:avLst/>
            </a:prstGeom>
            <a:solidFill>
              <a:srgbClr val="0033CC"/>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13673" name="Rectangle 318"/>
            <p:cNvSpPr>
              <a:spLocks noChangeArrowheads="1"/>
            </p:cNvSpPr>
            <p:nvPr/>
          </p:nvSpPr>
          <p:spPr bwMode="auto">
            <a:xfrm>
              <a:off x="6790094" y="2035492"/>
              <a:ext cx="216000" cy="1152000"/>
            </a:xfrm>
            <a:prstGeom prst="rect">
              <a:avLst/>
            </a:prstGeom>
            <a:solidFill>
              <a:srgbClr val="0033CC"/>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13674" name="Rectangle 319"/>
            <p:cNvSpPr>
              <a:spLocks noChangeArrowheads="1"/>
            </p:cNvSpPr>
            <p:nvPr/>
          </p:nvSpPr>
          <p:spPr bwMode="auto">
            <a:xfrm>
              <a:off x="3506571" y="5681596"/>
              <a:ext cx="216000" cy="504000"/>
            </a:xfrm>
            <a:prstGeom prst="rect">
              <a:avLst/>
            </a:prstGeom>
            <a:solidFill>
              <a:srgbClr val="0033CC"/>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13675" name="Rectangle 320"/>
            <p:cNvSpPr>
              <a:spLocks noChangeArrowheads="1"/>
            </p:cNvSpPr>
            <p:nvPr/>
          </p:nvSpPr>
          <p:spPr bwMode="auto">
            <a:xfrm>
              <a:off x="6776267" y="4732183"/>
              <a:ext cx="216000" cy="1440000"/>
            </a:xfrm>
            <a:prstGeom prst="rect">
              <a:avLst/>
            </a:prstGeom>
            <a:solidFill>
              <a:srgbClr val="0033CC"/>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pic>
        <p:nvPicPr>
          <p:cNvPr id="157" name="Picture 1">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1195" y="5455253"/>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5714" name="Titre 1"/>
          <p:cNvSpPr>
            <a:spLocks noGrp="1"/>
          </p:cNvSpPr>
          <p:nvPr>
            <p:ph type="title"/>
          </p:nvPr>
        </p:nvSpPr>
        <p:spPr/>
        <p:txBody>
          <a:bodyPr/>
          <a:lstStyle/>
          <a:p>
            <a:r>
              <a:rPr lang="fr-FR" altLang="fr-FR"/>
              <a:t>Commentaires sur les résultats des mesures</a:t>
            </a:r>
          </a:p>
        </p:txBody>
      </p:sp>
      <p:sp>
        <p:nvSpPr>
          <p:cNvPr id="11571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1571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3CC266F-108C-438B-A4FB-42B874B9C0F4}" type="slidenum">
              <a:rPr lang="fr-FR" altLang="fr-FR" smtClean="0">
                <a:latin typeface="Calibri" panose="020F0502020204030204" pitchFamily="34" charset="0"/>
              </a:rPr>
              <a:pPr>
                <a:spcBef>
                  <a:spcPct val="0"/>
                </a:spcBef>
                <a:buFontTx/>
                <a:buNone/>
              </a:pPr>
              <a:t>51</a:t>
            </a:fld>
            <a:endParaRPr lang="fr-FR" altLang="fr-FR" dirty="0">
              <a:latin typeface="Calibri" panose="020F0502020204030204" pitchFamily="34" charset="0"/>
            </a:endParaRPr>
          </a:p>
        </p:txBody>
      </p:sp>
      <p:sp>
        <p:nvSpPr>
          <p:cNvPr id="8" name="Rectangle 3"/>
          <p:cNvSpPr txBox="1">
            <a:spLocks noChangeArrowheads="1"/>
          </p:cNvSpPr>
          <p:nvPr/>
        </p:nvSpPr>
        <p:spPr bwMode="auto">
          <a:xfrm>
            <a:off x="335280" y="520065"/>
            <a:ext cx="9277033" cy="6035675"/>
          </a:xfrm>
          <a:prstGeom prst="rect">
            <a:avLst/>
          </a:prstGeom>
          <a:noFill/>
          <a:ln w="9525">
            <a:noFill/>
            <a:miter lim="800000"/>
            <a:headEnd/>
            <a:tailEnd/>
          </a:ln>
        </p:spPr>
        <p:txBody>
          <a:bodyPr/>
          <a:lstStyle/>
          <a:p>
            <a:pPr indent="17463" eaLnBrk="1" hangingPunct="1">
              <a:lnSpc>
                <a:spcPct val="110000"/>
              </a:lnSpc>
              <a:spcBef>
                <a:spcPct val="20000"/>
              </a:spcBef>
              <a:defRPr/>
            </a:pPr>
            <a:r>
              <a:rPr lang="fr-FR" sz="1400" u="sng" kern="0" dirty="0">
                <a:latin typeface="Calibri" panose="020F0502020204030204" pitchFamily="34" charset="0"/>
              </a:rPr>
              <a:t>Résultats Qualité</a:t>
            </a:r>
          </a:p>
          <a:p>
            <a:pPr indent="17463" eaLnBrk="1" hangingPunct="1">
              <a:lnSpc>
                <a:spcPct val="110000"/>
              </a:lnSpc>
              <a:spcBef>
                <a:spcPct val="20000"/>
              </a:spcBef>
              <a:defRPr/>
            </a:pPr>
            <a:r>
              <a:rPr lang="fr-FR" sz="1400" kern="0" dirty="0">
                <a:latin typeface="Calibri" panose="020F0502020204030204" pitchFamily="34" charset="0"/>
              </a:rPr>
              <a:t>Quand le Contrôle annonce le nombre de non-conformes par atelier, les ateliers concernés réagissent</a:t>
            </a:r>
            <a:br>
              <a:rPr lang="fr-FR" sz="1400" kern="0" dirty="0">
                <a:latin typeface="Calibri" panose="020F0502020204030204" pitchFamily="34" charset="0"/>
              </a:rPr>
            </a:br>
            <a:r>
              <a:rPr lang="fr-FR" sz="1400" kern="0" dirty="0">
                <a:latin typeface="Calibri" panose="020F0502020204030204" pitchFamily="34" charset="0"/>
              </a:rPr>
              <a:t>souvent en protestant : </a:t>
            </a:r>
            <a:r>
              <a:rPr lang="fr-FR" sz="1400" i="1" kern="0" dirty="0">
                <a:latin typeface="Calibri" panose="020F0502020204030204" pitchFamily="34" charset="0"/>
              </a:rPr>
              <a:t>ils n’avaient pas le sentiment d’avoir fait de la mauvaise qualité, ou bien ils ne connaissaient pas les critères qui définissent la qualité</a:t>
            </a:r>
            <a:r>
              <a:rPr lang="fr-FR" sz="1400" kern="0" dirty="0">
                <a:latin typeface="Calibri" panose="020F0502020204030204" pitchFamily="34" charset="0"/>
              </a:rPr>
              <a:t>. </a:t>
            </a:r>
          </a:p>
          <a:p>
            <a:pPr indent="17463" eaLnBrk="1" hangingPunct="1">
              <a:lnSpc>
                <a:spcPct val="110000"/>
              </a:lnSpc>
              <a:spcBef>
                <a:spcPct val="20000"/>
              </a:spcBef>
              <a:defRPr/>
            </a:pPr>
            <a:r>
              <a:rPr lang="fr-FR" sz="1400" kern="0" dirty="0">
                <a:latin typeface="Calibri" panose="020F0502020204030204" pitchFamily="34" charset="0"/>
              </a:rPr>
              <a:t>L’animateur soulignera que ces points feront partie d’un Projet qualité qui sera lancé dans un moment.</a:t>
            </a:r>
          </a:p>
          <a:p>
            <a:pPr indent="17463" eaLnBrk="1" hangingPunct="1">
              <a:lnSpc>
                <a:spcPct val="110000"/>
              </a:lnSpc>
              <a:spcBef>
                <a:spcPct val="20000"/>
              </a:spcBef>
              <a:defRPr/>
            </a:pPr>
            <a:r>
              <a:rPr lang="fr-FR" sz="1400" u="sng" kern="0" dirty="0">
                <a:latin typeface="Calibri" panose="020F0502020204030204" pitchFamily="34" charset="0"/>
              </a:rPr>
              <a:t>Résultats Productivité</a:t>
            </a:r>
          </a:p>
          <a:p>
            <a:pPr indent="17463" eaLnBrk="1" hangingPunct="1">
              <a:lnSpc>
                <a:spcPct val="110000"/>
              </a:lnSpc>
              <a:spcBef>
                <a:spcPct val="20000"/>
              </a:spcBef>
              <a:defRPr/>
            </a:pPr>
            <a:r>
              <a:rPr lang="fr-FR" sz="1400" kern="0" dirty="0">
                <a:latin typeface="Calibri" panose="020F0502020204030204" pitchFamily="34" charset="0"/>
              </a:rPr>
              <a:t>Dans la plupart des cas ou aboutit à un résultat de l’ordre de 3 ou 4 minutes-hommes par produit. L’animateur demandera au groupe s’il pense que c’est une bonne valeur. La réponse est non : si quelqu’un faisait à lui seul un produit complet, il mettrait moins d’une minute (l’animateur peut indiquer à cette occasion que les OF comportent 2, 3 ou 4 figures et que la moyenne est de 3). On peut en effet considérer qu’un coloriage ne dépasse pas 15 secondes, ce qui fait au total moins d’une minute.</a:t>
            </a:r>
          </a:p>
          <a:p>
            <a:pPr indent="17463" eaLnBrk="1" hangingPunct="1">
              <a:lnSpc>
                <a:spcPct val="110000"/>
              </a:lnSpc>
              <a:spcBef>
                <a:spcPct val="20000"/>
              </a:spcBef>
              <a:defRPr/>
            </a:pPr>
            <a:r>
              <a:rPr lang="fr-FR" sz="1400" kern="0" dirty="0">
                <a:latin typeface="Calibri" panose="020F0502020204030204" pitchFamily="34" charset="0"/>
              </a:rPr>
              <a:t>L’écart entre 1 min. et 3 ou 4 min. représente des pertes de temps. L’animateur peut indiquer que ce type de calcul (heures produites / heures consommées) donne souvent dans les entreprises des résultats sensiblement inférieurs à 1 (même si dans ce jeu l’écart est volontairement amplifié).</a:t>
            </a:r>
          </a:p>
          <a:p>
            <a:pPr indent="17463" eaLnBrk="1" hangingPunct="1">
              <a:lnSpc>
                <a:spcPct val="110000"/>
              </a:lnSpc>
              <a:spcBef>
                <a:spcPct val="20000"/>
              </a:spcBef>
              <a:defRPr/>
            </a:pPr>
            <a:r>
              <a:rPr lang="fr-FR" sz="1400" u="sng" kern="0" dirty="0">
                <a:latin typeface="Calibri" panose="020F0502020204030204" pitchFamily="34" charset="0"/>
              </a:rPr>
              <a:t>Résultats Délais</a:t>
            </a:r>
          </a:p>
          <a:p>
            <a:pPr indent="17463" eaLnBrk="1" hangingPunct="1">
              <a:lnSpc>
                <a:spcPct val="110000"/>
              </a:lnSpc>
              <a:spcBef>
                <a:spcPct val="20000"/>
              </a:spcBef>
              <a:defRPr/>
            </a:pPr>
            <a:r>
              <a:rPr lang="fr-FR" sz="1400" kern="0" dirty="0">
                <a:latin typeface="Calibri" panose="020F0502020204030204" pitchFamily="34" charset="0"/>
              </a:rPr>
              <a:t>Le délai de l’OF traceur est très difficile à prévoir, en particulier parce que les OF en général ne sont pas toujours traités selon l’ordre d’arrivée dans l’atelier. En moyenne, on obtient un délai compris entre 4 et 8 minutes. L’animateur soulignera que moins d’une minute correspond à du travail, le reste à de l’attente.</a:t>
            </a:r>
          </a:p>
          <a:p>
            <a:pPr indent="17463" eaLnBrk="1" hangingPunct="1">
              <a:lnSpc>
                <a:spcPct val="110000"/>
              </a:lnSpc>
              <a:spcBef>
                <a:spcPct val="20000"/>
              </a:spcBef>
              <a:defRPr/>
            </a:pPr>
            <a:r>
              <a:rPr lang="fr-FR" sz="1400" u="sng" kern="0" dirty="0">
                <a:latin typeface="Calibri" panose="020F0502020204030204" pitchFamily="34" charset="0"/>
              </a:rPr>
              <a:t>Résultats Stocks</a:t>
            </a:r>
          </a:p>
          <a:p>
            <a:pPr indent="17463" eaLnBrk="1" hangingPunct="1">
              <a:lnSpc>
                <a:spcPct val="110000"/>
              </a:lnSpc>
              <a:spcBef>
                <a:spcPct val="20000"/>
              </a:spcBef>
              <a:defRPr/>
            </a:pPr>
            <a:r>
              <a:rPr lang="fr-FR" sz="1400" kern="0" dirty="0">
                <a:latin typeface="Calibri" panose="020F0502020204030204" pitchFamily="34" charset="0"/>
              </a:rPr>
              <a:t>Le résultat Stocks dépend de la façon dont les participants ont été affectés aux ateliers. Si les ateliers naturellement goulets (Étoile et Triangle) ont été « fortement goulets » (parce qu’ils ont été composés d’un nombre de postes proche de celui des autres postes), le stock augmente. Il baisse dans le cas contraire. En moyenne, on obtient une valeur comprise entre 25 et 40 unités. Le stock dépend également du rythme de lancement : plus on « pousse » la production en lançant rapidement, plus le stock est élevé.</a:t>
            </a:r>
          </a:p>
        </p:txBody>
      </p:sp>
      <p:pic>
        <p:nvPicPr>
          <p:cNvPr id="9"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10" name="Rectangle 9"/>
          <p:cNvSpPr/>
          <p:nvPr/>
        </p:nvSpPr>
        <p:spPr bwMode="auto">
          <a:xfrm>
            <a:off x="4194175" y="3062288"/>
            <a:ext cx="1452563" cy="1411287"/>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
        <p:nvSpPr>
          <p:cNvPr id="11776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1776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03F7110-0FC8-474F-AEB9-FEFC3A8807E3}" type="slidenum">
              <a:rPr lang="fr-FR" altLang="fr-FR" smtClean="0">
                <a:latin typeface="Calibri" panose="020F0502020204030204" pitchFamily="34" charset="0"/>
              </a:rPr>
              <a:pPr>
                <a:spcBef>
                  <a:spcPct val="0"/>
                </a:spcBef>
                <a:buFontTx/>
                <a:buNone/>
              </a:pPr>
              <a:t>52</a:t>
            </a:fld>
            <a:endParaRPr lang="fr-FR" altLang="fr-FR" dirty="0">
              <a:latin typeface="Calibri" panose="020F0502020204030204" pitchFamily="34" charset="0"/>
            </a:endParaRPr>
          </a:p>
        </p:txBody>
      </p:sp>
      <p:sp>
        <p:nvSpPr>
          <p:cNvPr id="6" name="Rectangle 5"/>
          <p:cNvSpPr/>
          <p:nvPr/>
        </p:nvSpPr>
        <p:spPr>
          <a:xfrm>
            <a:off x="372034" y="1396504"/>
            <a:ext cx="8924366" cy="1200329"/>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3. L’analyse</a:t>
            </a:r>
          </a:p>
        </p:txBody>
      </p:sp>
      <p:graphicFrame>
        <p:nvGraphicFramePr>
          <p:cNvPr id="117767" name="Object 119"/>
          <p:cNvGraphicFramePr>
            <a:graphicFrameLocks noChangeAspect="1"/>
          </p:cNvGraphicFramePr>
          <p:nvPr/>
        </p:nvGraphicFramePr>
        <p:xfrm>
          <a:off x="4491038" y="3382963"/>
          <a:ext cx="1009650" cy="1389062"/>
        </p:xfrm>
        <a:graphic>
          <a:graphicData uri="http://schemas.openxmlformats.org/presentationml/2006/ole">
            <mc:AlternateContent xmlns:mc="http://schemas.openxmlformats.org/markup-compatibility/2006">
              <mc:Choice xmlns:v="urn:schemas-microsoft-com:vml" Requires="v">
                <p:oleObj name="Clip" r:id="rId3" imgW="2309813" imgH="3176588" progId="">
                  <p:embed/>
                </p:oleObj>
              </mc:Choice>
              <mc:Fallback>
                <p:oleObj name="Clip" r:id="rId3" imgW="2309813" imgH="3176588" progId="">
                  <p:embed/>
                  <p:pic>
                    <p:nvPicPr>
                      <p:cNvPr id="117767" name="Object 1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1038" y="3382963"/>
                        <a:ext cx="1009650" cy="138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re 1"/>
          <p:cNvSpPr>
            <a:spLocks noGrp="1"/>
          </p:cNvSpPr>
          <p:nvPr>
            <p:ph type="title"/>
          </p:nvPr>
        </p:nvSpPr>
        <p:spPr/>
        <p:txBody>
          <a:bodyPr/>
          <a:lstStyle/>
          <a:p>
            <a:r>
              <a:rPr lang="fr-FR" altLang="fr-FR"/>
              <a:t>Répartition des rôles</a:t>
            </a:r>
          </a:p>
        </p:txBody>
      </p:sp>
      <p:sp>
        <p:nvSpPr>
          <p:cNvPr id="119811" name="Espace réservé du numéro de diapositive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a:spcBef>
                <a:spcPct val="0"/>
              </a:spcBef>
              <a:buFontTx/>
              <a:buNone/>
            </a:pPr>
            <a:fld id="{087DB198-B835-4F44-B649-9BAE2AFF8FA1}" type="slidenum">
              <a:rPr lang="fr-FR" altLang="fr-FR" smtClean="0">
                <a:latin typeface="Calibri" panose="020F0502020204030204" pitchFamily="34" charset="0"/>
              </a:rPr>
              <a:pPr algn="r">
                <a:spcBef>
                  <a:spcPct val="0"/>
                </a:spcBef>
                <a:buFontTx/>
                <a:buNone/>
              </a:pPr>
              <a:t>53</a:t>
            </a:fld>
            <a:endParaRPr lang="fr-FR" altLang="fr-FR" dirty="0">
              <a:latin typeface="Calibri" panose="020F0502020204030204" pitchFamily="34" charset="0"/>
            </a:endParaRPr>
          </a:p>
        </p:txBody>
      </p:sp>
      <p:sp>
        <p:nvSpPr>
          <p:cNvPr id="119812" name="Espace réservé du pied de page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pSp>
        <p:nvGrpSpPr>
          <p:cNvPr id="119813" name="Groupe 20"/>
          <p:cNvGrpSpPr>
            <a:grpSpLocks/>
          </p:cNvGrpSpPr>
          <p:nvPr/>
        </p:nvGrpSpPr>
        <p:grpSpPr bwMode="auto">
          <a:xfrm>
            <a:off x="1392238" y="1031875"/>
            <a:ext cx="6862762" cy="3883025"/>
            <a:chOff x="2141618" y="1234814"/>
            <a:chExt cx="4956294" cy="2804690"/>
          </a:xfrm>
        </p:grpSpPr>
        <p:sp>
          <p:nvSpPr>
            <p:cNvPr id="5" name="AutoShape 94"/>
            <p:cNvSpPr>
              <a:spLocks noChangeArrowheads="1"/>
            </p:cNvSpPr>
            <p:nvPr/>
          </p:nvSpPr>
          <p:spPr bwMode="auto">
            <a:xfrm>
              <a:off x="2141618" y="2992619"/>
              <a:ext cx="512483" cy="423111"/>
            </a:xfrm>
            <a:prstGeom prst="plus">
              <a:avLst>
                <a:gd name="adj" fmla="val 29556"/>
              </a:avLst>
            </a:prstGeom>
            <a:solidFill>
              <a:srgbClr val="FFFFC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cs typeface="Arial" pitchFamily="34" charset="0"/>
              </a:endParaRPr>
            </a:p>
          </p:txBody>
        </p:sp>
        <p:sp>
          <p:nvSpPr>
            <p:cNvPr id="119818" name="AutoShape 99"/>
            <p:cNvSpPr>
              <a:spLocks noChangeArrowheads="1"/>
            </p:cNvSpPr>
            <p:nvPr/>
          </p:nvSpPr>
          <p:spPr bwMode="auto">
            <a:xfrm>
              <a:off x="6448602" y="3001730"/>
              <a:ext cx="649310" cy="404337"/>
            </a:xfrm>
            <a:prstGeom prst="wave">
              <a:avLst>
                <a:gd name="adj1" fmla="val 20644"/>
                <a:gd name="adj2" fmla="val 7681"/>
              </a:avLst>
            </a:prstGeom>
            <a:solidFill>
              <a:srgbClr val="FFFFCD"/>
            </a:solidFill>
            <a:ln w="9525">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119819" name="Rectangle 6"/>
            <p:cNvSpPr>
              <a:spLocks noChangeArrowheads="1"/>
            </p:cNvSpPr>
            <p:nvPr/>
          </p:nvSpPr>
          <p:spPr bwMode="auto">
            <a:xfrm>
              <a:off x="4987912" y="1234814"/>
              <a:ext cx="657694" cy="241873"/>
            </a:xfrm>
            <a:prstGeom prst="rect">
              <a:avLst/>
            </a:prstGeom>
            <a:solidFill>
              <a:srgbClr val="FFFFCD"/>
            </a:solidFill>
            <a:ln w="9525" algn="ctr">
              <a:solidFill>
                <a:schemeClr val="tx1"/>
              </a:solidFill>
              <a:round/>
              <a:headEnd/>
              <a:tailEnd/>
            </a:ln>
          </p:spPr>
          <p:txBody>
            <a:bodyPr wrap="none"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sp>
          <p:nvSpPr>
            <p:cNvPr id="8" name="Étoile à 5 branches 7"/>
            <p:cNvSpPr/>
            <p:nvPr/>
          </p:nvSpPr>
          <p:spPr bwMode="auto">
            <a:xfrm>
              <a:off x="2260853" y="1820749"/>
              <a:ext cx="536559" cy="512549"/>
            </a:xfrm>
            <a:prstGeom prst="star5">
              <a:avLst/>
            </a:prstGeom>
            <a:solidFill>
              <a:srgbClr val="FFFFCD"/>
            </a:solidFill>
            <a:ln w="9525" cap="flat" cmpd="sng" algn="ctr">
              <a:solidFill>
                <a:schemeClr val="tx1"/>
              </a:solidFill>
              <a:prstDash val="solid"/>
              <a:round/>
              <a:headEnd type="none" w="med" len="med"/>
              <a:tailEnd type="none" w="med" len="med"/>
            </a:ln>
            <a:effectLst/>
          </p:spPr>
          <p:txBody>
            <a:bodyPr wrap="none" lIns="90000" tIns="46800" rIns="90000" bIns="46800">
              <a:spAutoFit/>
            </a:bodyPr>
            <a:lstStyle/>
            <a:p>
              <a:pPr>
                <a:defRPr/>
              </a:pPr>
              <a:endParaRPr lang="fr-FR" sz="1200">
                <a:latin typeface="Eras Medium ITC" pitchFamily="34" charset="0"/>
              </a:endParaRPr>
            </a:p>
          </p:txBody>
        </p:sp>
        <p:sp>
          <p:nvSpPr>
            <p:cNvPr id="9" name="Triangle isocèle 8"/>
            <p:cNvSpPr/>
            <p:nvPr/>
          </p:nvSpPr>
          <p:spPr bwMode="auto">
            <a:xfrm>
              <a:off x="6346959" y="1925093"/>
              <a:ext cx="382929" cy="378392"/>
            </a:xfrm>
            <a:prstGeom prst="triangle">
              <a:avLst/>
            </a:prstGeom>
            <a:solidFill>
              <a:srgbClr val="FFFFC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cs typeface="Arial" pitchFamily="34" charset="0"/>
              </a:endParaRPr>
            </a:p>
          </p:txBody>
        </p:sp>
        <p:sp>
          <p:nvSpPr>
            <p:cNvPr id="119822" name="Ellipse 9"/>
            <p:cNvSpPr>
              <a:spLocks noChangeArrowheads="1"/>
            </p:cNvSpPr>
            <p:nvPr/>
          </p:nvSpPr>
          <p:spPr bwMode="auto">
            <a:xfrm>
              <a:off x="3542982" y="1237323"/>
              <a:ext cx="596983" cy="222522"/>
            </a:xfrm>
            <a:prstGeom prst="ellipse">
              <a:avLst/>
            </a:prstGeom>
            <a:solidFill>
              <a:srgbClr val="FFFFCD"/>
            </a:solidFill>
            <a:ln w="9525" algn="ctr">
              <a:solidFill>
                <a:schemeClr val="tx1"/>
              </a:solidFill>
              <a:round/>
              <a:headEnd/>
              <a:tailEnd/>
            </a:ln>
          </p:spPr>
          <p:txBody>
            <a:bodyPr wrap="none" lIns="90000" tIns="46800" rIns="90000" bIns="468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endParaRPr lang="fr-FR" altLang="fr-FR" sz="1200">
                <a:latin typeface="Eras Medium ITC" panose="020B0602030504020804" pitchFamily="34" charset="0"/>
              </a:endParaRPr>
            </a:p>
          </p:txBody>
        </p:sp>
        <p:pic>
          <p:nvPicPr>
            <p:cNvPr id="119823" name="Picture 32" descr="TIP5e¦ütu-fin E¦üTU1"/>
            <p:cNvPicPr>
              <a:picLocks noChangeAspect="1" noChangeArrowheads="1"/>
            </p:cNvPicPr>
            <p:nvPr/>
          </p:nvPicPr>
          <p:blipFill>
            <a:blip r:embed="rId3">
              <a:extLst>
                <a:ext uri="{28A0092B-C50C-407E-A947-70E740481C1C}">
                  <a14:useLocalDpi xmlns:a14="http://schemas.microsoft.com/office/drawing/2010/main" val="0"/>
                </a:ext>
              </a:extLst>
            </a:blip>
            <a:srcRect l="8157" t="25005" r="23033" b="14983"/>
            <a:stretch>
              <a:fillRect/>
            </a:stretch>
          </p:blipFill>
          <p:spPr bwMode="auto">
            <a:xfrm>
              <a:off x="3697981" y="3460734"/>
              <a:ext cx="646779" cy="578770"/>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19824" name="Picture 46" descr="TIP3fab 7"/>
            <p:cNvPicPr>
              <a:picLocks noChangeAspect="1" noChangeArrowheads="1"/>
            </p:cNvPicPr>
            <p:nvPr/>
          </p:nvPicPr>
          <p:blipFill>
            <a:blip r:embed="rId4">
              <a:extLst>
                <a:ext uri="{28A0092B-C50C-407E-A947-70E740481C1C}">
                  <a14:useLocalDpi xmlns:a14="http://schemas.microsoft.com/office/drawing/2010/main" val="0"/>
                </a:ext>
              </a:extLst>
            </a:blip>
            <a:srcRect l="6909" t="46571" r="26497" b="12415"/>
            <a:stretch>
              <a:fillRect/>
            </a:stretch>
          </p:blipFill>
          <p:spPr bwMode="auto">
            <a:xfrm>
              <a:off x="4958375" y="3563605"/>
              <a:ext cx="613348" cy="451612"/>
            </a:xfrm>
            <a:prstGeom prst="rect">
              <a:avLst/>
            </a:prstGeom>
            <a:solidFill>
              <a:srgbClr val="FFFFCD"/>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7" name="Ellipse 16"/>
          <p:cNvSpPr>
            <a:spLocks noChangeArrowheads="1"/>
          </p:cNvSpPr>
          <p:nvPr/>
        </p:nvSpPr>
        <p:spPr bwMode="auto">
          <a:xfrm rot="1313373">
            <a:off x="863600" y="2921000"/>
            <a:ext cx="3937000" cy="2540000"/>
          </a:xfrm>
          <a:prstGeom prst="ellipse">
            <a:avLst/>
          </a:prstGeom>
          <a:noFill/>
          <a:ln w="1905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 name="Ellipse 19"/>
          <p:cNvSpPr>
            <a:spLocks noChangeArrowheads="1"/>
          </p:cNvSpPr>
          <p:nvPr/>
        </p:nvSpPr>
        <p:spPr bwMode="auto">
          <a:xfrm rot="20286627" flipH="1">
            <a:off x="4864100" y="2959100"/>
            <a:ext cx="3937000" cy="2540000"/>
          </a:xfrm>
          <a:prstGeom prst="ellipse">
            <a:avLst/>
          </a:prstGeom>
          <a:noFill/>
          <a:ln w="1905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858" name="Titre 1"/>
          <p:cNvSpPr>
            <a:spLocks noGrp="1"/>
          </p:cNvSpPr>
          <p:nvPr>
            <p:ph type="title"/>
          </p:nvPr>
        </p:nvSpPr>
        <p:spPr/>
        <p:txBody>
          <a:bodyPr/>
          <a:lstStyle/>
          <a:p>
            <a:r>
              <a:rPr lang="fr-FR" altLang="fr-FR"/>
              <a:t>Le calcul du TRG et du Takt Time</a:t>
            </a:r>
          </a:p>
        </p:txBody>
      </p:sp>
      <p:sp>
        <p:nvSpPr>
          <p:cNvPr id="12185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2186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1755E626-CE96-498E-8189-FBD5FA5FD70D}" type="slidenum">
              <a:rPr lang="fr-FR" altLang="fr-FR" smtClean="0">
                <a:latin typeface="Calibri" panose="020F0502020204030204" pitchFamily="34" charset="0"/>
              </a:rPr>
              <a:pPr>
                <a:spcBef>
                  <a:spcPct val="0"/>
                </a:spcBef>
                <a:buFontTx/>
                <a:buNone/>
              </a:pPr>
              <a:t>54</a:t>
            </a:fld>
            <a:endParaRPr lang="fr-FR" altLang="fr-FR" dirty="0">
              <a:latin typeface="Calibri" panose="020F0502020204030204" pitchFamily="34" charset="0"/>
            </a:endParaRPr>
          </a:p>
        </p:txBody>
      </p:sp>
      <p:sp>
        <p:nvSpPr>
          <p:cNvPr id="8" name="Rectangle 3"/>
          <p:cNvSpPr txBox="1">
            <a:spLocks noChangeArrowheads="1"/>
          </p:cNvSpPr>
          <p:nvPr/>
        </p:nvSpPr>
        <p:spPr bwMode="auto">
          <a:xfrm>
            <a:off x="647700" y="1165225"/>
            <a:ext cx="8677275" cy="5273675"/>
          </a:xfrm>
          <a:prstGeom prst="rect">
            <a:avLst/>
          </a:prstGeom>
          <a:noFill/>
          <a:ln w="9525">
            <a:noFill/>
            <a:miter lim="800000"/>
            <a:headEnd/>
            <a:tailEnd/>
          </a:ln>
        </p:spPr>
        <p:txBody>
          <a:bodyPr/>
          <a:lstStyle/>
          <a:p>
            <a:pPr indent="17463" eaLnBrk="1" hangingPunct="1">
              <a:lnSpc>
                <a:spcPct val="120000"/>
              </a:lnSpc>
              <a:spcBef>
                <a:spcPct val="20000"/>
              </a:spcBef>
              <a:defRPr/>
            </a:pPr>
            <a:r>
              <a:rPr lang="fr-FR" sz="1600" kern="0" dirty="0">
                <a:latin typeface="Calibri" panose="020F0502020204030204" pitchFamily="34" charset="0"/>
              </a:rPr>
              <a:t>Ce sont deux indicateurs importants pour comprendre les processus de l’entreprise. </a:t>
            </a:r>
          </a:p>
          <a:p>
            <a:pPr indent="17463" eaLnBrk="1" hangingPunct="1">
              <a:lnSpc>
                <a:spcPct val="120000"/>
              </a:lnSpc>
              <a:spcBef>
                <a:spcPct val="20000"/>
              </a:spcBef>
              <a:defRPr/>
            </a:pPr>
            <a:r>
              <a:rPr lang="fr-FR" sz="1600" kern="0" dirty="0">
                <a:latin typeface="Calibri" panose="020F0502020204030204" pitchFamily="34" charset="0"/>
              </a:rPr>
              <a:t>S’agissant d’indicateurs qui permettent d’approfondir le fonctionnement de ces processus nous les avons rangés dans la phase d’ANALYSE.</a:t>
            </a:r>
          </a:p>
          <a:p>
            <a:pPr indent="17463" eaLnBrk="1" hangingPunct="1">
              <a:lnSpc>
                <a:spcPct val="120000"/>
              </a:lnSpc>
              <a:spcBef>
                <a:spcPct val="20000"/>
              </a:spcBef>
              <a:defRPr/>
            </a:pPr>
            <a:r>
              <a:rPr lang="fr-FR" sz="1600" u="sng" kern="0" dirty="0">
                <a:latin typeface="Calibri" panose="020F0502020204030204" pitchFamily="34" charset="0"/>
              </a:rPr>
              <a:t>Remarque : TRG ou TRS ?</a:t>
            </a:r>
          </a:p>
          <a:p>
            <a:pPr marL="180975" indent="-180975" eaLnBrk="1" hangingPunct="1">
              <a:lnSpc>
                <a:spcPct val="120000"/>
              </a:lnSpc>
              <a:spcBef>
                <a:spcPct val="20000"/>
              </a:spcBef>
              <a:buFont typeface="Arial" pitchFamily="34" charset="0"/>
              <a:buChar char="•"/>
              <a:defRPr/>
            </a:pPr>
            <a:r>
              <a:rPr lang="fr-FR" sz="1600" kern="0" dirty="0">
                <a:latin typeface="Calibri" panose="020F0502020204030204" pitchFamily="34" charset="0"/>
              </a:rPr>
              <a:t>Le TRG est défini comme le rapport du </a:t>
            </a:r>
            <a:r>
              <a:rPr lang="fr-FR" sz="1600" kern="0" dirty="0">
                <a:solidFill>
                  <a:srgbClr val="FF0000"/>
                </a:solidFill>
                <a:latin typeface="Calibri" panose="020F0502020204030204" pitchFamily="34" charset="0"/>
              </a:rPr>
              <a:t>Temps utile</a:t>
            </a:r>
            <a:r>
              <a:rPr lang="fr-FR" sz="1600" kern="0" dirty="0">
                <a:latin typeface="Calibri" panose="020F0502020204030204" pitchFamily="34" charset="0"/>
              </a:rPr>
              <a:t> (temps nécessaire pour fabriquer les pièces bonnes d’après le temps gamme) et le </a:t>
            </a:r>
            <a:r>
              <a:rPr lang="fr-FR" sz="1600" kern="0" dirty="0">
                <a:solidFill>
                  <a:srgbClr val="FF0000"/>
                </a:solidFill>
                <a:latin typeface="Calibri" panose="020F0502020204030204" pitchFamily="34" charset="0"/>
              </a:rPr>
              <a:t>Temps d’ouverture</a:t>
            </a:r>
            <a:r>
              <a:rPr lang="fr-FR" sz="1600" kern="0" dirty="0">
                <a:latin typeface="Calibri" panose="020F0502020204030204" pitchFamily="34" charset="0"/>
              </a:rPr>
              <a:t>.</a:t>
            </a:r>
          </a:p>
          <a:p>
            <a:pPr marL="180975" indent="-180975" eaLnBrk="1" hangingPunct="1">
              <a:lnSpc>
                <a:spcPct val="120000"/>
              </a:lnSpc>
              <a:spcBef>
                <a:spcPct val="20000"/>
              </a:spcBef>
              <a:buFont typeface="Arial" pitchFamily="34" charset="0"/>
              <a:buChar char="•"/>
              <a:defRPr/>
            </a:pPr>
            <a:r>
              <a:rPr lang="fr-FR" sz="1600" kern="0" dirty="0">
                <a:latin typeface="Calibri" panose="020F0502020204030204" pitchFamily="34" charset="0"/>
              </a:rPr>
              <a:t>Le TRS est défini comme le rapport du </a:t>
            </a:r>
            <a:r>
              <a:rPr lang="fr-FR" sz="1600" kern="0" dirty="0">
                <a:solidFill>
                  <a:srgbClr val="FF0000"/>
                </a:solidFill>
                <a:latin typeface="Calibri" panose="020F0502020204030204" pitchFamily="34" charset="0"/>
              </a:rPr>
              <a:t>Temps utile</a:t>
            </a:r>
            <a:r>
              <a:rPr lang="fr-FR" sz="1600" kern="0" dirty="0">
                <a:latin typeface="Calibri" panose="020F0502020204030204" pitchFamily="34" charset="0"/>
              </a:rPr>
              <a:t> et le </a:t>
            </a:r>
            <a:r>
              <a:rPr lang="fr-FR" sz="1600" kern="0" dirty="0">
                <a:solidFill>
                  <a:srgbClr val="FF0000"/>
                </a:solidFill>
                <a:latin typeface="Calibri" panose="020F0502020204030204" pitchFamily="34" charset="0"/>
              </a:rPr>
              <a:t>Temps requis</a:t>
            </a:r>
            <a:r>
              <a:rPr lang="fr-FR" sz="1600" kern="0" dirty="0">
                <a:latin typeface="Calibri" panose="020F0502020204030204" pitchFamily="34" charset="0"/>
              </a:rPr>
              <a:t>. Le temps requis est le temps d’ouverture </a:t>
            </a:r>
            <a:r>
              <a:rPr lang="fr-FR" sz="1600" kern="0" dirty="0">
                <a:solidFill>
                  <a:srgbClr val="FF0000"/>
                </a:solidFill>
                <a:latin typeface="Calibri" panose="020F0502020204030204" pitchFamily="34" charset="0"/>
              </a:rPr>
              <a:t>moins les arrêts</a:t>
            </a:r>
            <a:r>
              <a:rPr lang="fr-FR" sz="1600" kern="0" dirty="0">
                <a:latin typeface="Calibri" panose="020F0502020204030204" pitchFamily="34" charset="0"/>
              </a:rPr>
              <a:t> pendant lesquels la machine n’est pas « requise » : arrêts prévus au planning, gros travaux d’entretien, etc.</a:t>
            </a:r>
          </a:p>
          <a:p>
            <a:pPr indent="17463" eaLnBrk="1" hangingPunct="1">
              <a:lnSpc>
                <a:spcPct val="120000"/>
              </a:lnSpc>
              <a:spcBef>
                <a:spcPct val="20000"/>
              </a:spcBef>
              <a:defRPr/>
            </a:pPr>
            <a:r>
              <a:rPr lang="fr-FR" sz="1600" kern="0" dirty="0">
                <a:latin typeface="Calibri" panose="020F0502020204030204" pitchFamily="34" charset="0"/>
              </a:rPr>
              <a:t>Dans cette simulation les temps d’ouverture et les temps requis sont les mêmes. Le TRG est donc égal au TRS. Nous avons préféré utiliser le  terme TRG car la notion de Temps d’ouverture est plus simple à expliquer que celle de temps requis. L’animateur qui souhaite souligner la nuance pourra commenter ce point aux participants.</a:t>
            </a:r>
          </a:p>
          <a:p>
            <a:pPr indent="17463" eaLnBrk="1" hangingPunct="1">
              <a:lnSpc>
                <a:spcPct val="120000"/>
              </a:lnSpc>
              <a:spcBef>
                <a:spcPct val="20000"/>
              </a:spcBef>
              <a:defRPr/>
            </a:pPr>
            <a:endParaRPr lang="fr-FR" sz="1600" kern="0" dirty="0">
              <a:latin typeface="Calibri" panose="020F0502020204030204" pitchFamily="34" charset="0"/>
            </a:endParaRPr>
          </a:p>
        </p:txBody>
      </p:sp>
      <p:pic>
        <p:nvPicPr>
          <p:cNvPr id="9"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re 1"/>
          <p:cNvSpPr>
            <a:spLocks noGrp="1"/>
          </p:cNvSpPr>
          <p:nvPr>
            <p:ph type="title"/>
          </p:nvPr>
        </p:nvSpPr>
        <p:spPr/>
        <p:txBody>
          <a:bodyPr/>
          <a:lstStyle/>
          <a:p>
            <a:r>
              <a:rPr lang="fr-FR" altLang="fr-FR"/>
              <a:t>Définition du TRG</a:t>
            </a:r>
          </a:p>
        </p:txBody>
      </p:sp>
      <p:sp>
        <p:nvSpPr>
          <p:cNvPr id="12390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0124C5D-5A7D-44BC-B456-946CAF322575}" type="slidenum">
              <a:rPr lang="fr-FR" altLang="fr-FR" smtClean="0">
                <a:latin typeface="Calibri" panose="020F0502020204030204" pitchFamily="34" charset="0"/>
              </a:rPr>
              <a:pPr>
                <a:spcBef>
                  <a:spcPct val="0"/>
                </a:spcBef>
                <a:buFontTx/>
                <a:buNone/>
              </a:pPr>
              <a:t>55</a:t>
            </a:fld>
            <a:endParaRPr lang="fr-FR" altLang="fr-FR" dirty="0">
              <a:latin typeface="Calibri" panose="020F0502020204030204" pitchFamily="34" charset="0"/>
            </a:endParaRPr>
          </a:p>
        </p:txBody>
      </p:sp>
      <p:grpSp>
        <p:nvGrpSpPr>
          <p:cNvPr id="3" name="Groupe 30"/>
          <p:cNvGrpSpPr>
            <a:grpSpLocks/>
          </p:cNvGrpSpPr>
          <p:nvPr/>
        </p:nvGrpSpPr>
        <p:grpSpPr bwMode="auto">
          <a:xfrm>
            <a:off x="366711" y="1045176"/>
            <a:ext cx="2749552" cy="2115537"/>
            <a:chOff x="210929" y="678921"/>
            <a:chExt cx="3319671" cy="2553982"/>
          </a:xfrm>
        </p:grpSpPr>
        <p:pic>
          <p:nvPicPr>
            <p:cNvPr id="123955" name="Picture 37" descr="TIP5e¦ütu-fin E¦üTU12"/>
            <p:cNvPicPr>
              <a:picLocks noChangeAspect="1" noChangeArrowheads="1"/>
            </p:cNvPicPr>
            <p:nvPr/>
          </p:nvPicPr>
          <p:blipFill>
            <a:blip r:embed="rId3">
              <a:extLst>
                <a:ext uri="{28A0092B-C50C-407E-A947-70E740481C1C}">
                  <a14:useLocalDpi xmlns:a14="http://schemas.microsoft.com/office/drawing/2010/main" val="0"/>
                </a:ext>
              </a:extLst>
            </a:blip>
            <a:srcRect l="10245" t="6528" r="38445" b="51732"/>
            <a:stretch>
              <a:fillRect/>
            </a:stretch>
          </p:blipFill>
          <p:spPr bwMode="auto">
            <a:xfrm>
              <a:off x="1665856" y="1120761"/>
              <a:ext cx="1864744" cy="1556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956" name="Groupe 70"/>
            <p:cNvGrpSpPr>
              <a:grpSpLocks/>
            </p:cNvGrpSpPr>
            <p:nvPr/>
          </p:nvGrpSpPr>
          <p:grpSpPr bwMode="auto">
            <a:xfrm>
              <a:off x="210929" y="678921"/>
              <a:ext cx="1483501" cy="2553982"/>
              <a:chOff x="6776830" y="3772667"/>
              <a:chExt cx="1697054" cy="2921635"/>
            </a:xfrm>
          </p:grpSpPr>
          <p:sp>
            <p:nvSpPr>
              <p:cNvPr id="19" name="Rectangle 18"/>
              <p:cNvSpPr/>
              <p:nvPr/>
            </p:nvSpPr>
            <p:spPr>
              <a:xfrm>
                <a:off x="6776830" y="3780607"/>
                <a:ext cx="1697054" cy="281942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23958" name="ZoneTexte 146"/>
              <p:cNvSpPr txBox="1">
                <a:spLocks noChangeArrowheads="1"/>
              </p:cNvSpPr>
              <p:nvPr/>
            </p:nvSpPr>
            <p:spPr bwMode="auto">
              <a:xfrm>
                <a:off x="6932614" y="6354240"/>
                <a:ext cx="1335087" cy="34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200" dirty="0">
                    <a:latin typeface="Calibri" panose="020F0502020204030204" pitchFamily="34" charset="0"/>
                  </a:rPr>
                  <a:t>Jaune</a:t>
                </a:r>
              </a:p>
            </p:txBody>
          </p:sp>
          <p:sp>
            <p:nvSpPr>
              <p:cNvPr id="123959" name="ZoneTexte 146"/>
              <p:cNvSpPr txBox="1">
                <a:spLocks noChangeArrowheads="1"/>
              </p:cNvSpPr>
              <p:nvPr/>
            </p:nvSpPr>
            <p:spPr bwMode="auto">
              <a:xfrm>
                <a:off x="6848474" y="3772667"/>
                <a:ext cx="1571626" cy="395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200" dirty="0">
                    <a:latin typeface="Calibri" panose="020F0502020204030204" pitchFamily="34" charset="0"/>
                  </a:rPr>
                  <a:t>OF 45</a:t>
                </a:r>
              </a:p>
            </p:txBody>
          </p:sp>
          <p:sp>
            <p:nvSpPr>
              <p:cNvPr id="22" name="Étoile à 5 branches 21"/>
              <p:cNvSpPr/>
              <p:nvPr/>
            </p:nvSpPr>
            <p:spPr bwMode="auto">
              <a:xfrm>
                <a:off x="7241656" y="4127005"/>
                <a:ext cx="719165" cy="684028"/>
              </a:xfrm>
              <a:prstGeom prst="star5">
                <a:avLst/>
              </a:prstGeom>
              <a:solidFill>
                <a:srgbClr val="00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3" name="Triangle isocèle 22"/>
              <p:cNvSpPr/>
              <p:nvPr/>
            </p:nvSpPr>
            <p:spPr bwMode="auto">
              <a:xfrm>
                <a:off x="7292085" y="5821728"/>
                <a:ext cx="618306" cy="469173"/>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4" name="AutoShape 34"/>
              <p:cNvSpPr>
                <a:spLocks noChangeArrowheads="1"/>
              </p:cNvSpPr>
              <p:nvPr/>
            </p:nvSpPr>
            <p:spPr bwMode="auto">
              <a:xfrm>
                <a:off x="7232886" y="5109199"/>
                <a:ext cx="734512" cy="477942"/>
              </a:xfrm>
              <a:prstGeom prst="wave">
                <a:avLst>
                  <a:gd name="adj1" fmla="val 20644"/>
                  <a:gd name="adj2" fmla="val 7681"/>
                </a:avLst>
              </a:prstGeom>
              <a:solidFill>
                <a:srgbClr val="FFCC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23963" name="ZoneTexte 146"/>
              <p:cNvSpPr txBox="1">
                <a:spLocks noChangeArrowheads="1"/>
              </p:cNvSpPr>
              <p:nvPr/>
            </p:nvSpPr>
            <p:spPr bwMode="auto">
              <a:xfrm>
                <a:off x="6932614" y="4832162"/>
                <a:ext cx="1335087" cy="34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200" dirty="0">
                    <a:latin typeface="Calibri" panose="020F0502020204030204" pitchFamily="34" charset="0"/>
                  </a:rPr>
                  <a:t>Vert</a:t>
                </a:r>
              </a:p>
            </p:txBody>
          </p:sp>
          <p:sp>
            <p:nvSpPr>
              <p:cNvPr id="123964" name="ZoneTexte 146"/>
              <p:cNvSpPr txBox="1">
                <a:spLocks noChangeArrowheads="1"/>
              </p:cNvSpPr>
              <p:nvPr/>
            </p:nvSpPr>
            <p:spPr bwMode="auto">
              <a:xfrm>
                <a:off x="6932614" y="5613211"/>
                <a:ext cx="1335087" cy="34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sz="1200" dirty="0">
                    <a:latin typeface="Calibri" panose="020F0502020204030204" pitchFamily="34" charset="0"/>
                  </a:rPr>
                  <a:t>Rose</a:t>
                </a:r>
              </a:p>
            </p:txBody>
          </p:sp>
        </p:grpSp>
      </p:grpSp>
      <p:sp>
        <p:nvSpPr>
          <p:cNvPr id="28" name="ZoneTexte 27"/>
          <p:cNvSpPr txBox="1">
            <a:spLocks noChangeArrowheads="1"/>
          </p:cNvSpPr>
          <p:nvPr/>
        </p:nvSpPr>
        <p:spPr bwMode="auto">
          <a:xfrm>
            <a:off x="7197725" y="3567113"/>
            <a:ext cx="1587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dirty="0">
                <a:solidFill>
                  <a:srgbClr val="FF0000"/>
                </a:solidFill>
                <a:latin typeface="Calibri" panose="020F0502020204030204" pitchFamily="34" charset="0"/>
              </a:rPr>
              <a:t>20 min.</a:t>
            </a:r>
            <a:endParaRPr lang="fr-FR" altLang="fr-FR" sz="2400" dirty="0">
              <a:latin typeface="Calibri" panose="020F0502020204030204" pitchFamily="34" charset="0"/>
            </a:endParaRPr>
          </a:p>
        </p:txBody>
      </p:sp>
      <p:sp>
        <p:nvSpPr>
          <p:cNvPr id="30" name="Double flèche verticale 29"/>
          <p:cNvSpPr>
            <a:spLocks noChangeArrowheads="1"/>
          </p:cNvSpPr>
          <p:nvPr/>
        </p:nvSpPr>
        <p:spPr bwMode="auto">
          <a:xfrm>
            <a:off x="7754938" y="2509838"/>
            <a:ext cx="330200" cy="825500"/>
          </a:xfrm>
          <a:prstGeom prst="upDownArrow">
            <a:avLst>
              <a:gd name="adj1" fmla="val 50000"/>
              <a:gd name="adj2"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 name="ZoneTexte 26"/>
          <p:cNvSpPr txBox="1">
            <a:spLocks noChangeArrowheads="1"/>
          </p:cNvSpPr>
          <p:nvPr/>
        </p:nvSpPr>
        <p:spPr bwMode="auto">
          <a:xfrm>
            <a:off x="3673475" y="1725613"/>
            <a:ext cx="4957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dirty="0">
                <a:solidFill>
                  <a:srgbClr val="FF0000"/>
                </a:solidFill>
                <a:latin typeface="Calibri" panose="020F0502020204030204" pitchFamily="34" charset="0"/>
              </a:rPr>
              <a:t>20</a:t>
            </a:r>
            <a:r>
              <a:rPr lang="fr-FR" altLang="fr-FR" sz="2400" dirty="0">
                <a:latin typeface="Calibri" panose="020F0502020204030204" pitchFamily="34" charset="0"/>
              </a:rPr>
              <a:t> pièces x </a:t>
            </a:r>
            <a:r>
              <a:rPr lang="fr-FR" altLang="fr-FR" sz="2400" dirty="0">
                <a:solidFill>
                  <a:srgbClr val="FF0000"/>
                </a:solidFill>
                <a:latin typeface="Calibri" panose="020F0502020204030204" pitchFamily="34" charset="0"/>
              </a:rPr>
              <a:t>12 s.</a:t>
            </a:r>
            <a:r>
              <a:rPr lang="fr-FR" altLang="fr-FR" sz="2400" dirty="0">
                <a:latin typeface="Calibri" panose="020F0502020204030204" pitchFamily="34" charset="0"/>
              </a:rPr>
              <a:t> = </a:t>
            </a:r>
            <a:r>
              <a:rPr lang="fr-FR" altLang="fr-FR" sz="2400" dirty="0">
                <a:solidFill>
                  <a:srgbClr val="FF0000"/>
                </a:solidFill>
                <a:latin typeface="Calibri" panose="020F0502020204030204" pitchFamily="34" charset="0"/>
              </a:rPr>
              <a:t>240 s</a:t>
            </a:r>
            <a:r>
              <a:rPr lang="fr-FR" altLang="fr-FR" sz="2400" dirty="0">
                <a:latin typeface="Calibri" panose="020F0502020204030204" pitchFamily="34" charset="0"/>
              </a:rPr>
              <a:t> = </a:t>
            </a:r>
            <a:r>
              <a:rPr lang="fr-FR" altLang="fr-FR" sz="2400" dirty="0">
                <a:solidFill>
                  <a:srgbClr val="FF0000"/>
                </a:solidFill>
                <a:latin typeface="Calibri" panose="020F0502020204030204" pitchFamily="34" charset="0"/>
              </a:rPr>
              <a:t>4 min</a:t>
            </a:r>
            <a:r>
              <a:rPr lang="fr-FR" altLang="fr-FR" sz="2400" dirty="0">
                <a:latin typeface="Calibri" panose="020F0502020204030204" pitchFamily="34" charset="0"/>
              </a:rPr>
              <a:t>.</a:t>
            </a:r>
          </a:p>
        </p:txBody>
      </p:sp>
      <p:grpSp>
        <p:nvGrpSpPr>
          <p:cNvPr id="11" name="Groupe 56"/>
          <p:cNvGrpSpPr>
            <a:grpSpLocks/>
          </p:cNvGrpSpPr>
          <p:nvPr/>
        </p:nvGrpSpPr>
        <p:grpSpPr bwMode="auto">
          <a:xfrm>
            <a:off x="5260975" y="1065213"/>
            <a:ext cx="2038350" cy="660400"/>
            <a:chOff x="5466965" y="495301"/>
            <a:chExt cx="2038736" cy="661192"/>
          </a:xfrm>
        </p:grpSpPr>
        <p:sp>
          <p:nvSpPr>
            <p:cNvPr id="123953" name="ZoneTexte 42"/>
            <p:cNvSpPr txBox="1">
              <a:spLocks noChangeArrowheads="1"/>
            </p:cNvSpPr>
            <p:nvPr/>
          </p:nvSpPr>
          <p:spPr bwMode="auto">
            <a:xfrm>
              <a:off x="5466965" y="495301"/>
              <a:ext cx="2038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Temps gamme</a:t>
              </a:r>
            </a:p>
          </p:txBody>
        </p:sp>
        <p:cxnSp>
          <p:nvCxnSpPr>
            <p:cNvPr id="123954" name="Connecteur droit avec flèche 44"/>
            <p:cNvCxnSpPr>
              <a:cxnSpLocks noChangeShapeType="1"/>
            </p:cNvCxnSpPr>
            <p:nvPr/>
          </p:nvCxnSpPr>
          <p:spPr bwMode="auto">
            <a:xfrm rot="5400000">
              <a:off x="5721189" y="987455"/>
              <a:ext cx="336489"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12" name="Groupe 55"/>
          <p:cNvGrpSpPr>
            <a:grpSpLocks/>
          </p:cNvGrpSpPr>
          <p:nvPr/>
        </p:nvGrpSpPr>
        <p:grpSpPr bwMode="auto">
          <a:xfrm>
            <a:off x="3165475" y="1065213"/>
            <a:ext cx="2038350" cy="660400"/>
            <a:chOff x="3371465" y="495301"/>
            <a:chExt cx="2038736" cy="661192"/>
          </a:xfrm>
        </p:grpSpPr>
        <p:sp>
          <p:nvSpPr>
            <p:cNvPr id="123951" name="ZoneTexte 53"/>
            <p:cNvSpPr txBox="1">
              <a:spLocks noChangeArrowheads="1"/>
            </p:cNvSpPr>
            <p:nvPr/>
          </p:nvSpPr>
          <p:spPr bwMode="auto">
            <a:xfrm>
              <a:off x="3371465" y="495301"/>
              <a:ext cx="2038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Pièces </a:t>
              </a:r>
              <a:r>
                <a:rPr lang="fr-FR" altLang="fr-FR" sz="2000" dirty="0">
                  <a:solidFill>
                    <a:srgbClr val="FF0000"/>
                  </a:solidFill>
                  <a:latin typeface="Calibri" panose="020F0502020204030204" pitchFamily="34" charset="0"/>
                </a:rPr>
                <a:t>bonnes</a:t>
              </a:r>
            </a:p>
          </p:txBody>
        </p:sp>
        <p:cxnSp>
          <p:nvCxnSpPr>
            <p:cNvPr id="123952" name="Connecteur droit avec flèche 54"/>
            <p:cNvCxnSpPr>
              <a:cxnSpLocks noChangeShapeType="1"/>
            </p:cNvCxnSpPr>
            <p:nvPr/>
          </p:nvCxnSpPr>
          <p:spPr bwMode="auto">
            <a:xfrm rot="5400000">
              <a:off x="4565489" y="987455"/>
              <a:ext cx="336489"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13" name="Group 126"/>
          <p:cNvGrpSpPr>
            <a:grpSpLocks/>
          </p:cNvGrpSpPr>
          <p:nvPr/>
        </p:nvGrpSpPr>
        <p:grpSpPr bwMode="auto">
          <a:xfrm>
            <a:off x="8747125" y="1689100"/>
            <a:ext cx="503238" cy="503238"/>
            <a:chOff x="3185" y="1783"/>
            <a:chExt cx="341" cy="341"/>
          </a:xfrm>
        </p:grpSpPr>
        <p:sp>
          <p:nvSpPr>
            <p:cNvPr id="123937" name="Oval 127"/>
            <p:cNvSpPr>
              <a:spLocks noChangeArrowheads="1"/>
            </p:cNvSpPr>
            <p:nvPr/>
          </p:nvSpPr>
          <p:spPr bwMode="auto">
            <a:xfrm>
              <a:off x="3185" y="1783"/>
              <a:ext cx="341" cy="341"/>
            </a:xfrm>
            <a:prstGeom prst="ellipse">
              <a:avLst/>
            </a:prstGeom>
            <a:solidFill>
              <a:srgbClr val="FFFF00"/>
            </a:solidFill>
            <a:ln w="6350">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nvGrpSpPr>
            <p:cNvPr id="123938" name="Group 128"/>
            <p:cNvGrpSpPr>
              <a:grpSpLocks/>
            </p:cNvGrpSpPr>
            <p:nvPr/>
          </p:nvGrpSpPr>
          <p:grpSpPr bwMode="auto">
            <a:xfrm>
              <a:off x="3264" y="1864"/>
              <a:ext cx="47" cy="47"/>
              <a:chOff x="4074" y="1990"/>
              <a:chExt cx="31" cy="31"/>
            </a:xfrm>
          </p:grpSpPr>
          <p:sp>
            <p:nvSpPr>
              <p:cNvPr id="123947" name="Freeform 129"/>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48" name="Freeform 130"/>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sp>
            <p:nvSpPr>
              <p:cNvPr id="123949" name="Freeform 131"/>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50" name="Freeform 132"/>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grpSp>
        <p:grpSp>
          <p:nvGrpSpPr>
            <p:cNvPr id="123939" name="Group 133"/>
            <p:cNvGrpSpPr>
              <a:grpSpLocks/>
            </p:cNvGrpSpPr>
            <p:nvPr/>
          </p:nvGrpSpPr>
          <p:grpSpPr bwMode="auto">
            <a:xfrm>
              <a:off x="3264" y="1964"/>
              <a:ext cx="217" cy="83"/>
              <a:chOff x="2998" y="2085"/>
              <a:chExt cx="240" cy="83"/>
            </a:xfrm>
          </p:grpSpPr>
          <p:sp>
            <p:nvSpPr>
              <p:cNvPr id="123945" name="Freeform 134"/>
              <p:cNvSpPr>
                <a:spLocks/>
              </p:cNvSpPr>
              <p:nvPr/>
            </p:nvSpPr>
            <p:spPr bwMode="auto">
              <a:xfrm>
                <a:off x="2998" y="2085"/>
                <a:ext cx="124" cy="82"/>
              </a:xfrm>
              <a:custGeom>
                <a:avLst/>
                <a:gdLst>
                  <a:gd name="T0" fmla="*/ 0 w 124"/>
                  <a:gd name="T1" fmla="*/ 0 h 82"/>
                  <a:gd name="T2" fmla="*/ 7 w 124"/>
                  <a:gd name="T3" fmla="*/ 21 h 82"/>
                  <a:gd name="T4" fmla="*/ 28 w 124"/>
                  <a:gd name="T5" fmla="*/ 46 h 82"/>
                  <a:gd name="T6" fmla="*/ 55 w 124"/>
                  <a:gd name="T7" fmla="*/ 66 h 82"/>
                  <a:gd name="T8" fmla="*/ 82 w 124"/>
                  <a:gd name="T9" fmla="*/ 78 h 82"/>
                  <a:gd name="T10" fmla="*/ 100 w 124"/>
                  <a:gd name="T11" fmla="*/ 81 h 82"/>
                  <a:gd name="T12" fmla="*/ 124 w 124"/>
                  <a:gd name="T13" fmla="*/ 82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4" h="82">
                    <a:moveTo>
                      <a:pt x="0" y="0"/>
                    </a:moveTo>
                    <a:cubicBezTo>
                      <a:pt x="1" y="6"/>
                      <a:pt x="2" y="13"/>
                      <a:pt x="7" y="21"/>
                    </a:cubicBezTo>
                    <a:cubicBezTo>
                      <a:pt x="12" y="29"/>
                      <a:pt x="20" y="39"/>
                      <a:pt x="28" y="46"/>
                    </a:cubicBezTo>
                    <a:cubicBezTo>
                      <a:pt x="36" y="53"/>
                      <a:pt x="46" y="61"/>
                      <a:pt x="55" y="66"/>
                    </a:cubicBezTo>
                    <a:cubicBezTo>
                      <a:pt x="64" y="71"/>
                      <a:pt x="75" y="76"/>
                      <a:pt x="82" y="78"/>
                    </a:cubicBezTo>
                    <a:cubicBezTo>
                      <a:pt x="89" y="80"/>
                      <a:pt x="93" y="80"/>
                      <a:pt x="100" y="81"/>
                    </a:cubicBezTo>
                    <a:cubicBezTo>
                      <a:pt x="107" y="82"/>
                      <a:pt x="119" y="82"/>
                      <a:pt x="124" y="82"/>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FR" dirty="0">
                  <a:latin typeface="Calibri" panose="020F0502020204030204" pitchFamily="34" charset="0"/>
                </a:endParaRPr>
              </a:p>
            </p:txBody>
          </p:sp>
          <p:sp>
            <p:nvSpPr>
              <p:cNvPr id="123946" name="Freeform 135"/>
              <p:cNvSpPr>
                <a:spLocks/>
              </p:cNvSpPr>
              <p:nvPr/>
            </p:nvSpPr>
            <p:spPr bwMode="auto">
              <a:xfrm>
                <a:off x="3114" y="2085"/>
                <a:ext cx="124" cy="83"/>
              </a:xfrm>
              <a:custGeom>
                <a:avLst/>
                <a:gdLst>
                  <a:gd name="T0" fmla="*/ 124 w 124"/>
                  <a:gd name="T1" fmla="*/ 0 h 83"/>
                  <a:gd name="T2" fmla="*/ 117 w 124"/>
                  <a:gd name="T3" fmla="*/ 21 h 83"/>
                  <a:gd name="T4" fmla="*/ 96 w 124"/>
                  <a:gd name="T5" fmla="*/ 46 h 83"/>
                  <a:gd name="T6" fmla="*/ 69 w 124"/>
                  <a:gd name="T7" fmla="*/ 66 h 83"/>
                  <a:gd name="T8" fmla="*/ 42 w 124"/>
                  <a:gd name="T9" fmla="*/ 78 h 83"/>
                  <a:gd name="T10" fmla="*/ 24 w 124"/>
                  <a:gd name="T11" fmla="*/ 81 h 83"/>
                  <a:gd name="T12" fmla="*/ 0 w 124"/>
                  <a:gd name="T13" fmla="*/ 83 h 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4" h="83">
                    <a:moveTo>
                      <a:pt x="124" y="0"/>
                    </a:moveTo>
                    <a:cubicBezTo>
                      <a:pt x="123" y="6"/>
                      <a:pt x="122" y="13"/>
                      <a:pt x="117" y="21"/>
                    </a:cubicBezTo>
                    <a:cubicBezTo>
                      <a:pt x="112" y="29"/>
                      <a:pt x="104" y="39"/>
                      <a:pt x="96" y="46"/>
                    </a:cubicBezTo>
                    <a:cubicBezTo>
                      <a:pt x="88" y="53"/>
                      <a:pt x="78" y="61"/>
                      <a:pt x="69" y="66"/>
                    </a:cubicBezTo>
                    <a:cubicBezTo>
                      <a:pt x="60" y="71"/>
                      <a:pt x="49" y="76"/>
                      <a:pt x="42" y="78"/>
                    </a:cubicBezTo>
                    <a:cubicBezTo>
                      <a:pt x="35" y="80"/>
                      <a:pt x="31" y="80"/>
                      <a:pt x="24" y="81"/>
                    </a:cubicBezTo>
                    <a:cubicBezTo>
                      <a:pt x="17" y="82"/>
                      <a:pt x="5" y="83"/>
                      <a:pt x="0" y="83"/>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FR" dirty="0">
                  <a:latin typeface="Calibri" panose="020F0502020204030204" pitchFamily="34" charset="0"/>
                </a:endParaRPr>
              </a:p>
            </p:txBody>
          </p:sp>
        </p:grpSp>
        <p:grpSp>
          <p:nvGrpSpPr>
            <p:cNvPr id="123940" name="Group 136"/>
            <p:cNvGrpSpPr>
              <a:grpSpLocks/>
            </p:cNvGrpSpPr>
            <p:nvPr/>
          </p:nvGrpSpPr>
          <p:grpSpPr bwMode="auto">
            <a:xfrm>
              <a:off x="3390" y="1862"/>
              <a:ext cx="47" cy="47"/>
              <a:chOff x="4074" y="1990"/>
              <a:chExt cx="31" cy="31"/>
            </a:xfrm>
          </p:grpSpPr>
          <p:sp>
            <p:nvSpPr>
              <p:cNvPr id="123941" name="Freeform 137"/>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42" name="Freeform 138"/>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sp>
            <p:nvSpPr>
              <p:cNvPr id="123943" name="Freeform 139"/>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44" name="Freeform 140"/>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grpSp>
      </p:grpSp>
      <p:grpSp>
        <p:nvGrpSpPr>
          <p:cNvPr id="17" name="Group 141"/>
          <p:cNvGrpSpPr>
            <a:grpSpLocks/>
          </p:cNvGrpSpPr>
          <p:nvPr/>
        </p:nvGrpSpPr>
        <p:grpSpPr bwMode="auto">
          <a:xfrm>
            <a:off x="8721725" y="3408363"/>
            <a:ext cx="563563" cy="565150"/>
            <a:chOff x="3205" y="2163"/>
            <a:chExt cx="341" cy="341"/>
          </a:xfrm>
        </p:grpSpPr>
        <p:sp>
          <p:nvSpPr>
            <p:cNvPr id="123923" name="Oval 142"/>
            <p:cNvSpPr>
              <a:spLocks noChangeArrowheads="1"/>
            </p:cNvSpPr>
            <p:nvPr/>
          </p:nvSpPr>
          <p:spPr bwMode="auto">
            <a:xfrm>
              <a:off x="3205" y="2163"/>
              <a:ext cx="341" cy="341"/>
            </a:xfrm>
            <a:prstGeom prst="ellipse">
              <a:avLst/>
            </a:prstGeom>
            <a:solidFill>
              <a:srgbClr val="FFFF00"/>
            </a:solidFill>
            <a:ln w="6350">
              <a:solidFill>
                <a:schemeClr val="tx1"/>
              </a:solidFill>
              <a:round/>
              <a:headEnd/>
              <a:tailEnd/>
            </a:ln>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nvGrpSpPr>
            <p:cNvPr id="123924" name="Group 143"/>
            <p:cNvGrpSpPr>
              <a:grpSpLocks/>
            </p:cNvGrpSpPr>
            <p:nvPr/>
          </p:nvGrpSpPr>
          <p:grpSpPr bwMode="auto">
            <a:xfrm flipV="1">
              <a:off x="3284" y="2344"/>
              <a:ext cx="217" cy="83"/>
              <a:chOff x="2998" y="2085"/>
              <a:chExt cx="240" cy="83"/>
            </a:xfrm>
          </p:grpSpPr>
          <p:sp>
            <p:nvSpPr>
              <p:cNvPr id="123935" name="Freeform 144"/>
              <p:cNvSpPr>
                <a:spLocks/>
              </p:cNvSpPr>
              <p:nvPr/>
            </p:nvSpPr>
            <p:spPr bwMode="auto">
              <a:xfrm>
                <a:off x="2998" y="2085"/>
                <a:ext cx="124" cy="82"/>
              </a:xfrm>
              <a:custGeom>
                <a:avLst/>
                <a:gdLst>
                  <a:gd name="T0" fmla="*/ 0 w 124"/>
                  <a:gd name="T1" fmla="*/ 0 h 82"/>
                  <a:gd name="T2" fmla="*/ 7 w 124"/>
                  <a:gd name="T3" fmla="*/ 21 h 82"/>
                  <a:gd name="T4" fmla="*/ 28 w 124"/>
                  <a:gd name="T5" fmla="*/ 46 h 82"/>
                  <a:gd name="T6" fmla="*/ 55 w 124"/>
                  <a:gd name="T7" fmla="*/ 66 h 82"/>
                  <a:gd name="T8" fmla="*/ 82 w 124"/>
                  <a:gd name="T9" fmla="*/ 78 h 82"/>
                  <a:gd name="T10" fmla="*/ 100 w 124"/>
                  <a:gd name="T11" fmla="*/ 81 h 82"/>
                  <a:gd name="T12" fmla="*/ 124 w 124"/>
                  <a:gd name="T13" fmla="*/ 82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4" h="82">
                    <a:moveTo>
                      <a:pt x="0" y="0"/>
                    </a:moveTo>
                    <a:cubicBezTo>
                      <a:pt x="1" y="6"/>
                      <a:pt x="2" y="13"/>
                      <a:pt x="7" y="21"/>
                    </a:cubicBezTo>
                    <a:cubicBezTo>
                      <a:pt x="12" y="29"/>
                      <a:pt x="20" y="39"/>
                      <a:pt x="28" y="46"/>
                    </a:cubicBezTo>
                    <a:cubicBezTo>
                      <a:pt x="36" y="53"/>
                      <a:pt x="46" y="61"/>
                      <a:pt x="55" y="66"/>
                    </a:cubicBezTo>
                    <a:cubicBezTo>
                      <a:pt x="64" y="71"/>
                      <a:pt x="75" y="76"/>
                      <a:pt x="82" y="78"/>
                    </a:cubicBezTo>
                    <a:cubicBezTo>
                      <a:pt x="89" y="80"/>
                      <a:pt x="93" y="80"/>
                      <a:pt x="100" y="81"/>
                    </a:cubicBezTo>
                    <a:cubicBezTo>
                      <a:pt x="107" y="82"/>
                      <a:pt x="119" y="82"/>
                      <a:pt x="124" y="82"/>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FR" dirty="0">
                  <a:latin typeface="Calibri" panose="020F0502020204030204" pitchFamily="34" charset="0"/>
                </a:endParaRPr>
              </a:p>
            </p:txBody>
          </p:sp>
          <p:sp>
            <p:nvSpPr>
              <p:cNvPr id="123936" name="Freeform 145"/>
              <p:cNvSpPr>
                <a:spLocks/>
              </p:cNvSpPr>
              <p:nvPr/>
            </p:nvSpPr>
            <p:spPr bwMode="auto">
              <a:xfrm>
                <a:off x="3114" y="2085"/>
                <a:ext cx="124" cy="83"/>
              </a:xfrm>
              <a:custGeom>
                <a:avLst/>
                <a:gdLst>
                  <a:gd name="T0" fmla="*/ 124 w 124"/>
                  <a:gd name="T1" fmla="*/ 0 h 83"/>
                  <a:gd name="T2" fmla="*/ 117 w 124"/>
                  <a:gd name="T3" fmla="*/ 21 h 83"/>
                  <a:gd name="T4" fmla="*/ 96 w 124"/>
                  <a:gd name="T5" fmla="*/ 46 h 83"/>
                  <a:gd name="T6" fmla="*/ 69 w 124"/>
                  <a:gd name="T7" fmla="*/ 66 h 83"/>
                  <a:gd name="T8" fmla="*/ 42 w 124"/>
                  <a:gd name="T9" fmla="*/ 78 h 83"/>
                  <a:gd name="T10" fmla="*/ 24 w 124"/>
                  <a:gd name="T11" fmla="*/ 81 h 83"/>
                  <a:gd name="T12" fmla="*/ 0 w 124"/>
                  <a:gd name="T13" fmla="*/ 83 h 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4" h="83">
                    <a:moveTo>
                      <a:pt x="124" y="0"/>
                    </a:moveTo>
                    <a:cubicBezTo>
                      <a:pt x="123" y="6"/>
                      <a:pt x="122" y="13"/>
                      <a:pt x="117" y="21"/>
                    </a:cubicBezTo>
                    <a:cubicBezTo>
                      <a:pt x="112" y="29"/>
                      <a:pt x="104" y="39"/>
                      <a:pt x="96" y="46"/>
                    </a:cubicBezTo>
                    <a:cubicBezTo>
                      <a:pt x="88" y="53"/>
                      <a:pt x="78" y="61"/>
                      <a:pt x="69" y="66"/>
                    </a:cubicBezTo>
                    <a:cubicBezTo>
                      <a:pt x="60" y="71"/>
                      <a:pt x="49" y="76"/>
                      <a:pt x="42" y="78"/>
                    </a:cubicBezTo>
                    <a:cubicBezTo>
                      <a:pt x="35" y="80"/>
                      <a:pt x="31" y="80"/>
                      <a:pt x="24" y="81"/>
                    </a:cubicBezTo>
                    <a:cubicBezTo>
                      <a:pt x="17" y="82"/>
                      <a:pt x="5" y="83"/>
                      <a:pt x="0" y="83"/>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FR" dirty="0">
                  <a:latin typeface="Calibri" panose="020F0502020204030204" pitchFamily="34" charset="0"/>
                </a:endParaRPr>
              </a:p>
            </p:txBody>
          </p:sp>
        </p:grpSp>
        <p:grpSp>
          <p:nvGrpSpPr>
            <p:cNvPr id="123925" name="Group 146"/>
            <p:cNvGrpSpPr>
              <a:grpSpLocks/>
            </p:cNvGrpSpPr>
            <p:nvPr/>
          </p:nvGrpSpPr>
          <p:grpSpPr bwMode="auto">
            <a:xfrm>
              <a:off x="3300" y="2236"/>
              <a:ext cx="47" cy="47"/>
              <a:chOff x="4074" y="1990"/>
              <a:chExt cx="31" cy="31"/>
            </a:xfrm>
          </p:grpSpPr>
          <p:sp>
            <p:nvSpPr>
              <p:cNvPr id="123931" name="Freeform 147"/>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32" name="Freeform 148"/>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sp>
            <p:nvSpPr>
              <p:cNvPr id="123933" name="Freeform 149"/>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34" name="Freeform 150"/>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grpSp>
        <p:grpSp>
          <p:nvGrpSpPr>
            <p:cNvPr id="123926" name="Group 151"/>
            <p:cNvGrpSpPr>
              <a:grpSpLocks/>
            </p:cNvGrpSpPr>
            <p:nvPr/>
          </p:nvGrpSpPr>
          <p:grpSpPr bwMode="auto">
            <a:xfrm>
              <a:off x="3392" y="2235"/>
              <a:ext cx="47" cy="47"/>
              <a:chOff x="4074" y="1990"/>
              <a:chExt cx="31" cy="31"/>
            </a:xfrm>
          </p:grpSpPr>
          <p:sp>
            <p:nvSpPr>
              <p:cNvPr id="123927" name="Freeform 152"/>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28" name="Freeform 153"/>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sp>
            <p:nvSpPr>
              <p:cNvPr id="123929" name="Freeform 154"/>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sp>
            <p:nvSpPr>
              <p:cNvPr id="123930" name="Freeform 155"/>
              <p:cNvSpPr>
                <a:spLocks/>
              </p:cNvSpPr>
              <p:nvPr/>
            </p:nvSpPr>
            <p:spPr bwMode="auto">
              <a:xfrm>
                <a:off x="4074" y="1990"/>
                <a:ext cx="31" cy="31"/>
              </a:xfrm>
              <a:custGeom>
                <a:avLst/>
                <a:gdLst>
                  <a:gd name="T0" fmla="*/ 0 w 156"/>
                  <a:gd name="T1" fmla="*/ 0 h 156"/>
                  <a:gd name="T2" fmla="*/ 0 w 156"/>
                  <a:gd name="T3" fmla="*/ 0 h 156"/>
                  <a:gd name="T4" fmla="*/ 0 w 156"/>
                  <a:gd name="T5" fmla="*/ 0 h 156"/>
                  <a:gd name="T6" fmla="*/ 0 w 156"/>
                  <a:gd name="T7" fmla="*/ 0 h 156"/>
                  <a:gd name="T8" fmla="*/ 0 w 156"/>
                  <a:gd name="T9" fmla="*/ 0 h 156"/>
                  <a:gd name="T10" fmla="*/ 0 w 156"/>
                  <a:gd name="T11" fmla="*/ 0 h 156"/>
                  <a:gd name="T12" fmla="*/ 0 w 156"/>
                  <a:gd name="T13" fmla="*/ 0 h 156"/>
                  <a:gd name="T14" fmla="*/ 0 w 156"/>
                  <a:gd name="T15" fmla="*/ 0 h 156"/>
                  <a:gd name="T16" fmla="*/ 0 w 156"/>
                  <a:gd name="T17" fmla="*/ 0 h 156"/>
                  <a:gd name="T18" fmla="*/ 0 w 156"/>
                  <a:gd name="T19" fmla="*/ 0 h 156"/>
                  <a:gd name="T20" fmla="*/ 0 w 156"/>
                  <a:gd name="T21" fmla="*/ 0 h 156"/>
                  <a:gd name="T22" fmla="*/ 0 w 156"/>
                  <a:gd name="T23" fmla="*/ 0 h 156"/>
                  <a:gd name="T24" fmla="*/ 0 w 156"/>
                  <a:gd name="T25" fmla="*/ 0 h 156"/>
                  <a:gd name="T26" fmla="*/ 0 w 156"/>
                  <a:gd name="T27" fmla="*/ 0 h 156"/>
                  <a:gd name="T28" fmla="*/ 0 w 156"/>
                  <a:gd name="T29" fmla="*/ 0 h 156"/>
                  <a:gd name="T30" fmla="*/ 0 w 156"/>
                  <a:gd name="T31" fmla="*/ 0 h 156"/>
                  <a:gd name="T32" fmla="*/ 0 w 156"/>
                  <a:gd name="T33" fmla="*/ 0 h 156"/>
                  <a:gd name="T34" fmla="*/ 0 w 156"/>
                  <a:gd name="T35" fmla="*/ 0 h 156"/>
                  <a:gd name="T36" fmla="*/ 0 w 156"/>
                  <a:gd name="T37" fmla="*/ 0 h 156"/>
                  <a:gd name="T38" fmla="*/ 0 w 156"/>
                  <a:gd name="T39" fmla="*/ 0 h 156"/>
                  <a:gd name="T40" fmla="*/ 0 w 156"/>
                  <a:gd name="T41" fmla="*/ 0 h 156"/>
                  <a:gd name="T42" fmla="*/ 0 w 156"/>
                  <a:gd name="T43" fmla="*/ 0 h 156"/>
                  <a:gd name="T44" fmla="*/ 0 w 156"/>
                  <a:gd name="T45" fmla="*/ 0 h 156"/>
                  <a:gd name="T46" fmla="*/ 0 w 156"/>
                  <a:gd name="T47" fmla="*/ 0 h 156"/>
                  <a:gd name="T48" fmla="*/ 0 w 156"/>
                  <a:gd name="T49" fmla="*/ 0 h 156"/>
                  <a:gd name="T50" fmla="*/ 0 w 156"/>
                  <a:gd name="T51" fmla="*/ 0 h 156"/>
                  <a:gd name="T52" fmla="*/ 0 w 156"/>
                  <a:gd name="T53" fmla="*/ 0 h 156"/>
                  <a:gd name="T54" fmla="*/ 0 w 156"/>
                  <a:gd name="T55" fmla="*/ 0 h 156"/>
                  <a:gd name="T56" fmla="*/ 0 w 156"/>
                  <a:gd name="T57" fmla="*/ 0 h 156"/>
                  <a:gd name="T58" fmla="*/ 0 w 156"/>
                  <a:gd name="T59" fmla="*/ 0 h 156"/>
                  <a:gd name="T60" fmla="*/ 0 w 156"/>
                  <a:gd name="T61" fmla="*/ 0 h 156"/>
                  <a:gd name="T62" fmla="*/ 0 w 156"/>
                  <a:gd name="T63" fmla="*/ 0 h 156"/>
                  <a:gd name="T64" fmla="*/ 0 w 156"/>
                  <a:gd name="T65" fmla="*/ 0 h 156"/>
                  <a:gd name="T66" fmla="*/ 0 w 156"/>
                  <a:gd name="T67" fmla="*/ 0 h 156"/>
                  <a:gd name="T68" fmla="*/ 0 w 156"/>
                  <a:gd name="T69" fmla="*/ 0 h 1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6" h="156">
                    <a:moveTo>
                      <a:pt x="78" y="78"/>
                    </a:moveTo>
                    <a:lnTo>
                      <a:pt x="144" y="38"/>
                    </a:lnTo>
                    <a:lnTo>
                      <a:pt x="150" y="47"/>
                    </a:lnTo>
                    <a:lnTo>
                      <a:pt x="153" y="57"/>
                    </a:lnTo>
                    <a:lnTo>
                      <a:pt x="155" y="68"/>
                    </a:lnTo>
                    <a:lnTo>
                      <a:pt x="156" y="78"/>
                    </a:lnTo>
                    <a:lnTo>
                      <a:pt x="155" y="94"/>
                    </a:lnTo>
                    <a:lnTo>
                      <a:pt x="150" y="108"/>
                    </a:lnTo>
                    <a:lnTo>
                      <a:pt x="142" y="122"/>
                    </a:lnTo>
                    <a:lnTo>
                      <a:pt x="133" y="133"/>
                    </a:lnTo>
                    <a:lnTo>
                      <a:pt x="121" y="142"/>
                    </a:lnTo>
                    <a:lnTo>
                      <a:pt x="108" y="150"/>
                    </a:lnTo>
                    <a:lnTo>
                      <a:pt x="94" y="155"/>
                    </a:lnTo>
                    <a:lnTo>
                      <a:pt x="78" y="156"/>
                    </a:ln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79" y="0"/>
                    </a:lnTo>
                    <a:lnTo>
                      <a:pt x="80" y="0"/>
                    </a:lnTo>
                    <a:lnTo>
                      <a:pt x="82" y="0"/>
                    </a:lnTo>
                    <a:lnTo>
                      <a:pt x="84" y="0"/>
                    </a:lnTo>
                    <a:lnTo>
                      <a:pt x="78" y="7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fr-FR" dirty="0">
                  <a:latin typeface="Calibri" panose="020F0502020204030204" pitchFamily="34" charset="0"/>
                </a:endParaRPr>
              </a:p>
            </p:txBody>
          </p:sp>
        </p:grpSp>
      </p:grpSp>
      <p:sp>
        <p:nvSpPr>
          <p:cNvPr id="84" name="ZoneTexte 83"/>
          <p:cNvSpPr txBox="1">
            <a:spLocks noChangeArrowheads="1"/>
          </p:cNvSpPr>
          <p:nvPr/>
        </p:nvSpPr>
        <p:spPr bwMode="auto">
          <a:xfrm flipH="1">
            <a:off x="8445500" y="1255713"/>
            <a:ext cx="1039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cs typeface="Arial" panose="020B0604020202020204" pitchFamily="34" charset="0"/>
              </a:rPr>
              <a:t>Idéal</a:t>
            </a:r>
          </a:p>
        </p:txBody>
      </p:sp>
      <p:sp>
        <p:nvSpPr>
          <p:cNvPr id="85" name="ZoneTexte 84"/>
          <p:cNvSpPr txBox="1">
            <a:spLocks noChangeArrowheads="1"/>
          </p:cNvSpPr>
          <p:nvPr/>
        </p:nvSpPr>
        <p:spPr bwMode="auto">
          <a:xfrm flipH="1">
            <a:off x="8470900" y="2944813"/>
            <a:ext cx="1039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cs typeface="Arial" panose="020B0604020202020204" pitchFamily="34" charset="0"/>
              </a:rPr>
              <a:t>Réalité</a:t>
            </a:r>
          </a:p>
        </p:txBody>
      </p:sp>
      <p:sp>
        <p:nvSpPr>
          <p:cNvPr id="12391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93" name="ZoneTexte 92"/>
          <p:cNvSpPr txBox="1">
            <a:spLocks noChangeArrowheads="1"/>
          </p:cNvSpPr>
          <p:nvPr/>
        </p:nvSpPr>
        <p:spPr bwMode="auto">
          <a:xfrm>
            <a:off x="4826000" y="3617913"/>
            <a:ext cx="2473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Temps d’ouverture</a:t>
            </a:r>
          </a:p>
        </p:txBody>
      </p:sp>
      <p:sp>
        <p:nvSpPr>
          <p:cNvPr id="94" name="ZoneTexte 93"/>
          <p:cNvSpPr txBox="1">
            <a:spLocks noChangeArrowheads="1"/>
          </p:cNvSpPr>
          <p:nvPr/>
        </p:nvSpPr>
        <p:spPr bwMode="auto">
          <a:xfrm>
            <a:off x="4275138" y="4556125"/>
            <a:ext cx="3644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dirty="0">
                <a:solidFill>
                  <a:srgbClr val="FF0000"/>
                </a:solidFill>
                <a:latin typeface="Calibri" panose="020F0502020204030204" pitchFamily="34" charset="0"/>
              </a:rPr>
              <a:t>4 min / 20 min = 20 %</a:t>
            </a:r>
            <a:endParaRPr lang="fr-FR" altLang="fr-FR" sz="2400" dirty="0">
              <a:latin typeface="Calibri" panose="020F0502020204030204" pitchFamily="34" charset="0"/>
            </a:endParaRPr>
          </a:p>
        </p:txBody>
      </p:sp>
      <p:sp>
        <p:nvSpPr>
          <p:cNvPr id="95" name="ZoneTexte 94"/>
          <p:cNvSpPr txBox="1">
            <a:spLocks noChangeArrowheads="1"/>
          </p:cNvSpPr>
          <p:nvPr/>
        </p:nvSpPr>
        <p:spPr bwMode="auto">
          <a:xfrm>
            <a:off x="3087688" y="4606925"/>
            <a:ext cx="1446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TRG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animBg="1"/>
      <p:bldP spid="27" grpId="0"/>
      <p:bldP spid="84" grpId="0"/>
      <p:bldP spid="85" grpId="0"/>
      <p:bldP spid="93" grpId="0"/>
      <p:bldP spid="94" grpId="0"/>
      <p:bldP spid="9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re 1"/>
          <p:cNvSpPr>
            <a:spLocks noGrp="1"/>
          </p:cNvSpPr>
          <p:nvPr>
            <p:ph type="title"/>
          </p:nvPr>
        </p:nvSpPr>
        <p:spPr/>
        <p:txBody>
          <a:bodyPr/>
          <a:lstStyle/>
          <a:p>
            <a:r>
              <a:rPr lang="fr-FR" altLang="fr-FR"/>
              <a:t>Calcul du TRG</a:t>
            </a:r>
          </a:p>
        </p:txBody>
      </p:sp>
      <p:sp>
        <p:nvSpPr>
          <p:cNvPr id="12595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A5AD147-AB0B-4E29-BCE2-2D05BA946AB0}" type="slidenum">
              <a:rPr lang="fr-FR" altLang="fr-FR" smtClean="0">
                <a:latin typeface="Calibri" panose="020F0502020204030204" pitchFamily="34" charset="0"/>
              </a:rPr>
              <a:pPr>
                <a:spcBef>
                  <a:spcPct val="0"/>
                </a:spcBef>
                <a:buFontTx/>
                <a:buNone/>
              </a:pPr>
              <a:t>56</a:t>
            </a:fld>
            <a:endParaRPr lang="fr-FR" altLang="fr-FR" dirty="0">
              <a:latin typeface="Calibri" panose="020F0502020204030204" pitchFamily="34" charset="0"/>
            </a:endParaRPr>
          </a:p>
        </p:txBody>
      </p:sp>
      <p:sp>
        <p:nvSpPr>
          <p:cNvPr id="12595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1259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776288"/>
            <a:ext cx="9601200"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re 1"/>
          <p:cNvSpPr>
            <a:spLocks noGrp="1"/>
          </p:cNvSpPr>
          <p:nvPr>
            <p:ph type="title"/>
          </p:nvPr>
        </p:nvSpPr>
        <p:spPr/>
        <p:txBody>
          <a:bodyPr/>
          <a:lstStyle/>
          <a:p>
            <a:r>
              <a:rPr lang="fr-FR" altLang="fr-FR"/>
              <a:t>Recevez le matériel nécessaire à la mesure des temps gammes</a:t>
            </a:r>
          </a:p>
        </p:txBody>
      </p:sp>
      <p:sp>
        <p:nvSpPr>
          <p:cNvPr id="12800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12800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5288" y="2230438"/>
            <a:ext cx="976312"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2800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6963" y="1435100"/>
            <a:ext cx="17907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57</a:t>
            </a:fld>
            <a:endParaRPr lang="fr-FR" altLang="fr-FR" dirty="0">
              <a:latin typeface="Calibri" panose="020F0502020204030204" pitchFamily="34"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0050" name="Titre 1"/>
          <p:cNvSpPr>
            <a:spLocks noGrp="1"/>
          </p:cNvSpPr>
          <p:nvPr>
            <p:ph type="title"/>
          </p:nvPr>
        </p:nvSpPr>
        <p:spPr/>
        <p:txBody>
          <a:bodyPr/>
          <a:lstStyle/>
          <a:p>
            <a:r>
              <a:rPr lang="fr-FR" altLang="fr-FR"/>
              <a:t>Debriefing du TRG</a:t>
            </a:r>
          </a:p>
        </p:txBody>
      </p:sp>
      <p:sp>
        <p:nvSpPr>
          <p:cNvPr id="130051" name="Espace réservé du contenu 2"/>
          <p:cNvSpPr>
            <a:spLocks noGrp="1"/>
          </p:cNvSpPr>
          <p:nvPr>
            <p:ph idx="1"/>
          </p:nvPr>
        </p:nvSpPr>
        <p:spPr>
          <a:xfrm>
            <a:off x="125413" y="3376613"/>
            <a:ext cx="9207500" cy="3140075"/>
          </a:xfrm>
        </p:spPr>
        <p:txBody>
          <a:bodyPr/>
          <a:lstStyle/>
          <a:p>
            <a:pPr marL="0" indent="12700">
              <a:buFontTx/>
              <a:buNone/>
            </a:pPr>
            <a:r>
              <a:rPr lang="fr-FR" altLang="fr-FR" sz="1500"/>
              <a:t>L’animateur projette le graphique du TRG issu du fichier Excel (le graphique ci-dessus n’est qu’un exemple qui ne doit pas être projeté). Il demande aux participants ce qu’ils pensent du résultat. Il est faible (comme était faible la productivité). D’où viennent les pertes ?</a:t>
            </a:r>
          </a:p>
          <a:p>
            <a:pPr marL="0" indent="12700">
              <a:buFontTx/>
              <a:buAutoNum type="arabicPeriod"/>
            </a:pPr>
            <a:r>
              <a:rPr lang="fr-FR" altLang="fr-FR" sz="1500"/>
              <a:t>Des arrêts identifiés : attente pour manque de pièces, transport, changement de série. On peut se demander : faut-il faire des séries plus longues ? Cela améliorerait le TRG, mais en retardant certains OF (les couleurs peu fréquentes devraient attendre leur tour).</a:t>
            </a:r>
          </a:p>
          <a:p>
            <a:pPr marL="0" indent="12700">
              <a:buFontTx/>
              <a:buAutoNum type="arabicPeriod"/>
            </a:pPr>
            <a:r>
              <a:rPr lang="fr-FR" altLang="fr-FR" sz="1500"/>
              <a:t>Des écarts de cadence : difficultés avec les surligneurs, attente au magasin d’outillage, autres petites pertes de temps au poste de travail.</a:t>
            </a:r>
          </a:p>
          <a:p>
            <a:pPr marL="0" indent="12700">
              <a:buFontTx/>
              <a:buAutoNum type="arabicPeriod"/>
            </a:pPr>
            <a:r>
              <a:rPr lang="fr-FR" altLang="fr-FR" sz="1500"/>
              <a:t>Des produits non conformes, qui sont déduits dans le calcul du TRG de la quantité produite.</a:t>
            </a:r>
          </a:p>
          <a:p>
            <a:pPr marL="0" indent="12700">
              <a:buFontTx/>
              <a:buNone/>
            </a:pPr>
            <a:r>
              <a:rPr lang="fr-FR" altLang="fr-FR" sz="1500"/>
              <a:t>On note que certains postes ont un meilleur TRG que les autres : ce sont les postes goulets Triangle et Étoile, car ils ont eu moins d’arrêt pour manque d’approvisionnement.</a:t>
            </a:r>
          </a:p>
          <a:p>
            <a:pPr marL="0" indent="12700">
              <a:buFontTx/>
              <a:buNone/>
            </a:pPr>
            <a:r>
              <a:rPr lang="fr-FR" altLang="fr-FR" sz="1500" u="sng"/>
              <a:t>Remarque</a:t>
            </a:r>
            <a:r>
              <a:rPr lang="fr-FR" altLang="fr-FR" sz="1500"/>
              <a:t> : le groupe Projet Productivité fera un calcul plus détaillé du TRG (voir chapitre Améliorations).</a:t>
            </a:r>
          </a:p>
        </p:txBody>
      </p:sp>
      <p:sp>
        <p:nvSpPr>
          <p:cNvPr id="13005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3005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F321724-DC75-4326-BE2F-760B3F604E72}" type="slidenum">
              <a:rPr lang="fr-FR" altLang="fr-FR" smtClean="0">
                <a:latin typeface="Calibri" panose="020F0502020204030204" pitchFamily="34" charset="0"/>
              </a:rPr>
              <a:pPr>
                <a:spcBef>
                  <a:spcPct val="0"/>
                </a:spcBef>
                <a:buFontTx/>
                <a:buNone/>
              </a:pPr>
              <a:t>58</a:t>
            </a:fld>
            <a:endParaRPr lang="fr-FR" altLang="fr-FR" dirty="0">
              <a:latin typeface="Calibri" panose="020F0502020204030204" pitchFamily="34" charset="0"/>
            </a:endParaRPr>
          </a:p>
        </p:txBody>
      </p:sp>
      <p:pic>
        <p:nvPicPr>
          <p:cNvPr id="13005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002" t="1649" r="15798" b="2239"/>
          <a:stretch/>
        </p:blipFill>
        <p:spPr bwMode="auto">
          <a:xfrm>
            <a:off x="2841466" y="635001"/>
            <a:ext cx="3929380" cy="2590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pic>
        <p:nvPicPr>
          <p:cNvPr id="11" name="Picture 1">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7558" y="2331192"/>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re 1"/>
          <p:cNvSpPr>
            <a:spLocks noGrp="1"/>
          </p:cNvSpPr>
          <p:nvPr>
            <p:ph type="title"/>
          </p:nvPr>
        </p:nvSpPr>
        <p:spPr/>
        <p:txBody>
          <a:bodyPr/>
          <a:lstStyle/>
          <a:p>
            <a:r>
              <a:rPr lang="fr-FR" altLang="fr-FR"/>
              <a:t>Calcul du Takt Time (exemple du Triangle)</a:t>
            </a:r>
          </a:p>
        </p:txBody>
      </p:sp>
      <p:sp>
        <p:nvSpPr>
          <p:cNvPr id="13209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17094123-655D-43CA-8F76-CF614E635F94}" type="slidenum">
              <a:rPr lang="fr-FR" altLang="fr-FR" smtClean="0">
                <a:latin typeface="Calibri" panose="020F0502020204030204" pitchFamily="34" charset="0"/>
              </a:rPr>
              <a:pPr>
                <a:spcBef>
                  <a:spcPct val="0"/>
                </a:spcBef>
                <a:buFontTx/>
                <a:buNone/>
              </a:pPr>
              <a:t>59</a:t>
            </a:fld>
            <a:endParaRPr lang="fr-FR" altLang="fr-FR" dirty="0">
              <a:latin typeface="Calibri" panose="020F0502020204030204" pitchFamily="34" charset="0"/>
            </a:endParaRPr>
          </a:p>
        </p:txBody>
      </p:sp>
      <p:grpSp>
        <p:nvGrpSpPr>
          <p:cNvPr id="3" name="Groupe 148"/>
          <p:cNvGrpSpPr>
            <a:grpSpLocks/>
          </p:cNvGrpSpPr>
          <p:nvPr/>
        </p:nvGrpSpPr>
        <p:grpSpPr bwMode="auto">
          <a:xfrm>
            <a:off x="76200" y="1003300"/>
            <a:ext cx="2667000" cy="2786063"/>
            <a:chOff x="6337300" y="558800"/>
            <a:chExt cx="2927489" cy="2785924"/>
          </a:xfrm>
        </p:grpSpPr>
        <p:pic>
          <p:nvPicPr>
            <p:cNvPr id="132129" name="Picture 61" descr="fiches info v7"/>
            <p:cNvPicPr>
              <a:picLocks noChangeAspect="1" noChangeArrowheads="1"/>
            </p:cNvPicPr>
            <p:nvPr/>
          </p:nvPicPr>
          <p:blipFill>
            <a:blip r:embed="rId3">
              <a:extLst>
                <a:ext uri="{28A0092B-C50C-407E-A947-70E740481C1C}">
                  <a14:useLocalDpi xmlns:a14="http://schemas.microsoft.com/office/drawing/2010/main" val="0"/>
                </a:ext>
              </a:extLst>
            </a:blip>
            <a:srcRect l="18002" r="28107"/>
            <a:stretch>
              <a:fillRect/>
            </a:stretch>
          </p:blipFill>
          <p:spPr bwMode="auto">
            <a:xfrm>
              <a:off x="8005015" y="1223824"/>
              <a:ext cx="1085002"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2130" name="Groupe 70"/>
            <p:cNvGrpSpPr>
              <a:grpSpLocks/>
            </p:cNvGrpSpPr>
            <p:nvPr/>
          </p:nvGrpSpPr>
          <p:grpSpPr bwMode="auto">
            <a:xfrm>
              <a:off x="6701494" y="1231628"/>
              <a:ext cx="1249409" cy="2098809"/>
              <a:chOff x="6778001" y="3771552"/>
              <a:chExt cx="1695431" cy="2848057"/>
            </a:xfrm>
          </p:grpSpPr>
          <p:sp>
            <p:nvSpPr>
              <p:cNvPr id="37" name="Rectangle 36"/>
              <p:cNvSpPr/>
              <p:nvPr/>
            </p:nvSpPr>
            <p:spPr>
              <a:xfrm>
                <a:off x="6778001" y="3780492"/>
                <a:ext cx="1695431" cy="281973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8" name="ZoneTexte 146"/>
              <p:cNvSpPr txBox="1">
                <a:spLocks noChangeArrowheads="1"/>
              </p:cNvSpPr>
              <p:nvPr/>
            </p:nvSpPr>
            <p:spPr bwMode="auto">
              <a:xfrm>
                <a:off x="6934066" y="6285723"/>
                <a:ext cx="1333645" cy="333886"/>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Jaune</a:t>
                </a:r>
              </a:p>
            </p:txBody>
          </p:sp>
          <p:sp>
            <p:nvSpPr>
              <p:cNvPr id="132134" name="ZoneTexte 146"/>
              <p:cNvSpPr txBox="1">
                <a:spLocks noChangeArrowheads="1"/>
              </p:cNvSpPr>
              <p:nvPr/>
            </p:nvSpPr>
            <p:spPr bwMode="auto">
              <a:xfrm>
                <a:off x="6848475" y="3771552"/>
                <a:ext cx="1571625" cy="39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400" dirty="0">
                    <a:latin typeface="Calibri" panose="020F0502020204030204" pitchFamily="34" charset="0"/>
                  </a:rPr>
                  <a:t>OF 45</a:t>
                </a:r>
              </a:p>
            </p:txBody>
          </p:sp>
          <p:sp>
            <p:nvSpPr>
              <p:cNvPr id="40" name="Étoile à 5 branches 39"/>
              <p:cNvSpPr/>
              <p:nvPr/>
            </p:nvSpPr>
            <p:spPr bwMode="auto">
              <a:xfrm>
                <a:off x="7241466" y="4125150"/>
                <a:ext cx="721208" cy="685007"/>
              </a:xfrm>
              <a:prstGeom prst="star5">
                <a:avLst/>
              </a:prstGeom>
              <a:solidFill>
                <a:srgbClr val="00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1" name="Triangle isocèle 40"/>
              <p:cNvSpPr/>
              <p:nvPr/>
            </p:nvSpPr>
            <p:spPr bwMode="auto">
              <a:xfrm>
                <a:off x="7291122" y="5822588"/>
                <a:ext cx="619530" cy="467443"/>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2" name="AutoShape 34"/>
              <p:cNvSpPr>
                <a:spLocks noChangeArrowheads="1"/>
              </p:cNvSpPr>
              <p:nvPr/>
            </p:nvSpPr>
            <p:spPr bwMode="auto">
              <a:xfrm>
                <a:off x="7234372" y="5107424"/>
                <a:ext cx="733032" cy="478212"/>
              </a:xfrm>
              <a:prstGeom prst="wave">
                <a:avLst>
                  <a:gd name="adj1" fmla="val 20644"/>
                  <a:gd name="adj2" fmla="val 7681"/>
                </a:avLst>
              </a:prstGeom>
              <a:solidFill>
                <a:srgbClr val="FFCC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3" name="ZoneTexte 146"/>
              <p:cNvSpPr txBox="1">
                <a:spLocks noChangeArrowheads="1"/>
              </p:cNvSpPr>
              <p:nvPr/>
            </p:nvSpPr>
            <p:spPr bwMode="auto">
              <a:xfrm>
                <a:off x="6934066" y="4779999"/>
                <a:ext cx="1333645" cy="333888"/>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Vert</a:t>
                </a:r>
              </a:p>
            </p:txBody>
          </p:sp>
          <p:sp>
            <p:nvSpPr>
              <p:cNvPr id="44" name="ZoneTexte 146"/>
              <p:cNvSpPr txBox="1">
                <a:spLocks noChangeArrowheads="1"/>
              </p:cNvSpPr>
              <p:nvPr/>
            </p:nvSpPr>
            <p:spPr bwMode="auto">
              <a:xfrm>
                <a:off x="6934066" y="5561942"/>
                <a:ext cx="1333645" cy="333886"/>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Rose</a:t>
                </a:r>
              </a:p>
            </p:txBody>
          </p:sp>
        </p:grpSp>
        <p:sp>
          <p:nvSpPr>
            <p:cNvPr id="132131" name="ZoneTexte 44"/>
            <p:cNvSpPr txBox="1">
              <a:spLocks noChangeArrowheads="1"/>
            </p:cNvSpPr>
            <p:nvPr/>
          </p:nvSpPr>
          <p:spPr bwMode="auto">
            <a:xfrm>
              <a:off x="6337300" y="558800"/>
              <a:ext cx="29274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400 000</a:t>
              </a:r>
              <a:r>
                <a:rPr lang="fr-FR" altLang="fr-FR" sz="1800" dirty="0">
                  <a:latin typeface="Calibri" panose="020F0502020204030204" pitchFamily="34" charset="0"/>
                </a:rPr>
                <a:t> produits / an</a:t>
              </a:r>
            </a:p>
          </p:txBody>
        </p:sp>
      </p:grpSp>
      <p:grpSp>
        <p:nvGrpSpPr>
          <p:cNvPr id="9" name="Groupe 167"/>
          <p:cNvGrpSpPr>
            <a:grpSpLocks/>
          </p:cNvGrpSpPr>
          <p:nvPr/>
        </p:nvGrpSpPr>
        <p:grpSpPr bwMode="auto">
          <a:xfrm>
            <a:off x="7391400" y="1028700"/>
            <a:ext cx="1498600" cy="1674813"/>
            <a:chOff x="393700" y="355600"/>
            <a:chExt cx="1498600" cy="1674467"/>
          </a:xfrm>
        </p:grpSpPr>
        <p:sp>
          <p:nvSpPr>
            <p:cNvPr id="132127" name="ZoneTexte 144"/>
            <p:cNvSpPr txBox="1">
              <a:spLocks noChangeArrowheads="1"/>
            </p:cNvSpPr>
            <p:nvPr/>
          </p:nvSpPr>
          <p:spPr bwMode="auto">
            <a:xfrm>
              <a:off x="393700" y="355600"/>
              <a:ext cx="1498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2000 </a:t>
              </a:r>
              <a:r>
                <a:rPr lang="fr-FR" altLang="fr-FR" sz="1800" dirty="0">
                  <a:latin typeface="Calibri" panose="020F0502020204030204" pitchFamily="34" charset="0"/>
                </a:rPr>
                <a:t>heures par an</a:t>
              </a:r>
            </a:p>
          </p:txBody>
        </p:sp>
        <p:pic>
          <p:nvPicPr>
            <p:cNvPr id="132128" name="Picture 103"/>
            <p:cNvPicPr>
              <a:picLocks noChangeAspect="1" noChangeArrowheads="1"/>
            </p:cNvPicPr>
            <p:nvPr/>
          </p:nvPicPr>
          <p:blipFill>
            <a:blip r:embed="rId4" cstate="print">
              <a:extLst>
                <a:ext uri="{28A0092B-C50C-407E-A947-70E740481C1C}">
                  <a14:useLocalDpi xmlns:a14="http://schemas.microsoft.com/office/drawing/2010/main" val="0"/>
                </a:ext>
              </a:extLst>
            </a:blip>
            <a:srcRect l="-5811" t="-5928" r="-10092" b="-7800"/>
            <a:stretch>
              <a:fillRect/>
            </a:stretch>
          </p:blipFill>
          <p:spPr bwMode="auto">
            <a:xfrm>
              <a:off x="684213" y="1063625"/>
              <a:ext cx="1004887" cy="966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e 150"/>
          <p:cNvGrpSpPr>
            <a:grpSpLocks/>
          </p:cNvGrpSpPr>
          <p:nvPr/>
        </p:nvGrpSpPr>
        <p:grpSpPr bwMode="auto">
          <a:xfrm>
            <a:off x="3263900" y="1003300"/>
            <a:ext cx="3402013" cy="2682875"/>
            <a:chOff x="139700" y="571500"/>
            <a:chExt cx="3401445" cy="2682598"/>
          </a:xfrm>
        </p:grpSpPr>
        <p:sp>
          <p:nvSpPr>
            <p:cNvPr id="132114" name="ZoneTexte 45"/>
            <p:cNvSpPr txBox="1">
              <a:spLocks noChangeArrowheads="1"/>
            </p:cNvSpPr>
            <p:nvPr/>
          </p:nvSpPr>
          <p:spPr bwMode="auto">
            <a:xfrm>
              <a:off x="511477" y="571500"/>
              <a:ext cx="30296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200 000</a:t>
              </a:r>
              <a:r>
                <a:rPr lang="fr-FR" altLang="fr-FR" sz="1800" dirty="0">
                  <a:latin typeface="Calibri" panose="020F0502020204030204" pitchFamily="34" charset="0"/>
                </a:rPr>
                <a:t> triangles / an</a:t>
              </a:r>
            </a:p>
          </p:txBody>
        </p:sp>
        <p:grpSp>
          <p:nvGrpSpPr>
            <p:cNvPr id="132115" name="Groupe 61"/>
            <p:cNvGrpSpPr>
              <a:grpSpLocks/>
            </p:cNvGrpSpPr>
            <p:nvPr/>
          </p:nvGrpSpPr>
          <p:grpSpPr bwMode="auto">
            <a:xfrm>
              <a:off x="139700" y="1277496"/>
              <a:ext cx="1864744" cy="1556357"/>
              <a:chOff x="1030856" y="1506096"/>
              <a:chExt cx="1864744" cy="1556357"/>
            </a:xfrm>
          </p:grpSpPr>
          <p:pic>
            <p:nvPicPr>
              <p:cNvPr id="132125" name="Picture 37" descr="TIP5e¦ütu-fin E¦üTU12"/>
              <p:cNvPicPr>
                <a:picLocks noChangeAspect="1" noChangeArrowheads="1"/>
              </p:cNvPicPr>
              <p:nvPr/>
            </p:nvPicPr>
            <p:blipFill>
              <a:blip r:embed="rId5">
                <a:extLst>
                  <a:ext uri="{28A0092B-C50C-407E-A947-70E740481C1C}">
                    <a14:useLocalDpi xmlns:a14="http://schemas.microsoft.com/office/drawing/2010/main" val="0"/>
                  </a:ext>
                </a:extLst>
              </a:blip>
              <a:srcRect l="10245" t="6528" r="38445" b="51732"/>
              <a:stretch>
                <a:fillRect/>
              </a:stretch>
            </p:blipFill>
            <p:spPr bwMode="auto">
              <a:xfrm>
                <a:off x="1030856" y="1506096"/>
                <a:ext cx="1864744" cy="1556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riangle isocèle 46"/>
              <p:cNvSpPr/>
              <p:nvPr/>
            </p:nvSpPr>
            <p:spPr bwMode="auto">
              <a:xfrm>
                <a:off x="1626070" y="1881076"/>
                <a:ext cx="953928" cy="722237"/>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endParaRPr>
              </a:p>
            </p:txBody>
          </p:sp>
        </p:grpSp>
        <p:grpSp>
          <p:nvGrpSpPr>
            <p:cNvPr id="132116" name="Groupe 70"/>
            <p:cNvGrpSpPr>
              <a:grpSpLocks/>
            </p:cNvGrpSpPr>
            <p:nvPr/>
          </p:nvGrpSpPr>
          <p:grpSpPr bwMode="auto">
            <a:xfrm>
              <a:off x="2076126" y="1155434"/>
              <a:ext cx="1249154" cy="2098664"/>
              <a:chOff x="6777443" y="3978368"/>
              <a:chExt cx="1695085" cy="2847862"/>
            </a:xfrm>
          </p:grpSpPr>
          <p:sp>
            <p:nvSpPr>
              <p:cNvPr id="49" name="Rectangle 48"/>
              <p:cNvSpPr/>
              <p:nvPr/>
            </p:nvSpPr>
            <p:spPr>
              <a:xfrm>
                <a:off x="6777443" y="3987263"/>
                <a:ext cx="1695085" cy="281958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0" name="ZoneTexte 146"/>
              <p:cNvSpPr txBox="1">
                <a:spLocks noChangeArrowheads="1"/>
              </p:cNvSpPr>
              <p:nvPr/>
            </p:nvSpPr>
            <p:spPr bwMode="auto">
              <a:xfrm>
                <a:off x="6932521" y="6492361"/>
                <a:ext cx="1335390" cy="333869"/>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Jaune</a:t>
                </a:r>
              </a:p>
            </p:txBody>
          </p:sp>
          <p:sp>
            <p:nvSpPr>
              <p:cNvPr id="132119" name="ZoneTexte 146"/>
              <p:cNvSpPr txBox="1">
                <a:spLocks noChangeArrowheads="1"/>
              </p:cNvSpPr>
              <p:nvPr/>
            </p:nvSpPr>
            <p:spPr bwMode="auto">
              <a:xfrm>
                <a:off x="6848475" y="3978368"/>
                <a:ext cx="1571625" cy="39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400" dirty="0">
                    <a:latin typeface="Calibri" panose="020F0502020204030204" pitchFamily="34" charset="0"/>
                  </a:rPr>
                  <a:t>OF 45</a:t>
                </a:r>
              </a:p>
            </p:txBody>
          </p:sp>
          <p:sp>
            <p:nvSpPr>
              <p:cNvPr id="52" name="Étoile à 5 branches 51"/>
              <p:cNvSpPr/>
              <p:nvPr/>
            </p:nvSpPr>
            <p:spPr bwMode="auto">
              <a:xfrm>
                <a:off x="7240523" y="4331903"/>
                <a:ext cx="721541" cy="684971"/>
              </a:xfrm>
              <a:prstGeom prst="star5">
                <a:avLst/>
              </a:prstGeom>
              <a:solidFill>
                <a:srgbClr val="00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3" name="Triangle isocèle 52"/>
              <p:cNvSpPr/>
              <p:nvPr/>
            </p:nvSpPr>
            <p:spPr bwMode="auto">
              <a:xfrm>
                <a:off x="7292215" y="6029251"/>
                <a:ext cx="616003" cy="467418"/>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4" name="AutoShape 34"/>
              <p:cNvSpPr>
                <a:spLocks noChangeArrowheads="1"/>
              </p:cNvSpPr>
              <p:nvPr/>
            </p:nvSpPr>
            <p:spPr bwMode="auto">
              <a:xfrm>
                <a:off x="7231907" y="5314125"/>
                <a:ext cx="734464" cy="478187"/>
              </a:xfrm>
              <a:prstGeom prst="wave">
                <a:avLst>
                  <a:gd name="adj1" fmla="val 20644"/>
                  <a:gd name="adj2" fmla="val 7681"/>
                </a:avLst>
              </a:prstGeom>
              <a:solidFill>
                <a:srgbClr val="FFCC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5" name="ZoneTexte 146"/>
              <p:cNvSpPr txBox="1">
                <a:spLocks noChangeArrowheads="1"/>
              </p:cNvSpPr>
              <p:nvPr/>
            </p:nvSpPr>
            <p:spPr bwMode="auto">
              <a:xfrm>
                <a:off x="6932521" y="4986717"/>
                <a:ext cx="1335390" cy="333870"/>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Vert</a:t>
                </a:r>
              </a:p>
            </p:txBody>
          </p:sp>
          <p:sp>
            <p:nvSpPr>
              <p:cNvPr id="56" name="ZoneTexte 146"/>
              <p:cNvSpPr txBox="1">
                <a:spLocks noChangeArrowheads="1"/>
              </p:cNvSpPr>
              <p:nvPr/>
            </p:nvSpPr>
            <p:spPr bwMode="auto">
              <a:xfrm>
                <a:off x="6932521" y="5768619"/>
                <a:ext cx="1335390" cy="333869"/>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Rose</a:t>
                </a:r>
              </a:p>
            </p:txBody>
          </p:sp>
        </p:grpSp>
      </p:grpSp>
      <p:grpSp>
        <p:nvGrpSpPr>
          <p:cNvPr id="18" name="Groupe 168"/>
          <p:cNvGrpSpPr>
            <a:grpSpLocks/>
          </p:cNvGrpSpPr>
          <p:nvPr/>
        </p:nvGrpSpPr>
        <p:grpSpPr bwMode="auto">
          <a:xfrm>
            <a:off x="7248525" y="3043238"/>
            <a:ext cx="1781175" cy="654050"/>
            <a:chOff x="302114" y="2078600"/>
            <a:chExt cx="1780686" cy="653567"/>
          </a:xfrm>
        </p:grpSpPr>
        <p:sp>
          <p:nvSpPr>
            <p:cNvPr id="132112" name="ZoneTexte 146"/>
            <p:cNvSpPr txBox="1">
              <a:spLocks noChangeArrowheads="1"/>
            </p:cNvSpPr>
            <p:nvPr/>
          </p:nvSpPr>
          <p:spPr bwMode="auto">
            <a:xfrm>
              <a:off x="302114" y="2362835"/>
              <a:ext cx="1780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cs typeface="Arial" panose="020B0604020202020204" pitchFamily="34" charset="0"/>
                </a:rPr>
                <a:t>7 200 000</a:t>
              </a:r>
              <a:r>
                <a:rPr lang="fr-FR" altLang="fr-FR" sz="1800" dirty="0">
                  <a:latin typeface="Calibri" panose="020F0502020204030204" pitchFamily="34" charset="0"/>
                  <a:cs typeface="Arial" panose="020B0604020202020204" pitchFamily="34" charset="0"/>
                </a:rPr>
                <a:t> sec.</a:t>
              </a:r>
            </a:p>
          </p:txBody>
        </p:sp>
        <p:sp>
          <p:nvSpPr>
            <p:cNvPr id="132113" name="Flèche gauche 160"/>
            <p:cNvSpPr>
              <a:spLocks noChangeArrowheads="1"/>
            </p:cNvSpPr>
            <p:nvPr/>
          </p:nvSpPr>
          <p:spPr bwMode="auto">
            <a:xfrm rot="-5400000">
              <a:off x="1029744" y="2060600"/>
              <a:ext cx="288000" cy="324000"/>
            </a:xfrm>
            <a:prstGeom prst="leftArrow">
              <a:avLst>
                <a:gd name="adj1" fmla="val 50000"/>
                <a:gd name="adj2"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0" name="Groupe 154"/>
          <p:cNvGrpSpPr>
            <a:grpSpLocks/>
          </p:cNvGrpSpPr>
          <p:nvPr/>
        </p:nvGrpSpPr>
        <p:grpSpPr bwMode="auto">
          <a:xfrm>
            <a:off x="3714750" y="4635500"/>
            <a:ext cx="3079750" cy="915988"/>
            <a:chOff x="627933" y="3136900"/>
            <a:chExt cx="3080468" cy="915432"/>
          </a:xfrm>
        </p:grpSpPr>
        <p:sp>
          <p:nvSpPr>
            <p:cNvPr id="132110" name="ZoneTexte 57"/>
            <p:cNvSpPr txBox="1">
              <a:spLocks noChangeArrowheads="1"/>
            </p:cNvSpPr>
            <p:nvPr/>
          </p:nvSpPr>
          <p:spPr bwMode="auto">
            <a:xfrm>
              <a:off x="678733" y="3136900"/>
              <a:ext cx="30296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1</a:t>
              </a:r>
              <a:r>
                <a:rPr lang="fr-FR" altLang="fr-FR" sz="1800" dirty="0">
                  <a:latin typeface="Calibri" panose="020F0502020204030204" pitchFamily="34" charset="0"/>
                </a:rPr>
                <a:t> triangle en </a:t>
              </a:r>
              <a:r>
                <a:rPr lang="fr-FR" altLang="fr-FR" sz="1800" dirty="0">
                  <a:solidFill>
                    <a:srgbClr val="FF0000"/>
                  </a:solidFill>
                  <a:latin typeface="Calibri" panose="020F0502020204030204" pitchFamily="34" charset="0"/>
                </a:rPr>
                <a:t>36</a:t>
              </a:r>
              <a:r>
                <a:rPr lang="fr-FR" altLang="fr-FR" sz="1800" dirty="0">
                  <a:solidFill>
                    <a:srgbClr val="0033CC"/>
                  </a:solidFill>
                  <a:latin typeface="Calibri" panose="020F0502020204030204" pitchFamily="34" charset="0"/>
                </a:rPr>
                <a:t> </a:t>
              </a:r>
              <a:r>
                <a:rPr lang="fr-FR" altLang="fr-FR" sz="1800" dirty="0">
                  <a:latin typeface="Calibri" panose="020F0502020204030204" pitchFamily="34" charset="0"/>
                </a:rPr>
                <a:t>secondes</a:t>
              </a:r>
            </a:p>
          </p:txBody>
        </p:sp>
        <p:sp>
          <p:nvSpPr>
            <p:cNvPr id="132111" name="ZoneTexte 58"/>
            <p:cNvSpPr txBox="1">
              <a:spLocks noChangeArrowheads="1"/>
            </p:cNvSpPr>
            <p:nvPr/>
          </p:nvSpPr>
          <p:spPr bwMode="auto">
            <a:xfrm>
              <a:off x="627933" y="3683000"/>
              <a:ext cx="30296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TAKT TIME = </a:t>
              </a:r>
              <a:r>
                <a:rPr lang="fr-FR" altLang="fr-FR" sz="1800" dirty="0">
                  <a:solidFill>
                    <a:srgbClr val="FF0000"/>
                  </a:solidFill>
                  <a:latin typeface="Calibri" panose="020F0502020204030204" pitchFamily="34" charset="0"/>
                </a:rPr>
                <a:t>36</a:t>
              </a:r>
              <a:r>
                <a:rPr lang="fr-FR" altLang="fr-FR" sz="1800" dirty="0">
                  <a:solidFill>
                    <a:srgbClr val="0033CC"/>
                  </a:solidFill>
                  <a:latin typeface="Calibri" panose="020F0502020204030204" pitchFamily="34" charset="0"/>
                </a:rPr>
                <a:t> </a:t>
              </a:r>
              <a:r>
                <a:rPr lang="fr-FR" altLang="fr-FR" sz="1800" dirty="0">
                  <a:latin typeface="Calibri" panose="020F0502020204030204" pitchFamily="34" charset="0"/>
                </a:rPr>
                <a:t>secondes</a:t>
              </a:r>
            </a:p>
          </p:txBody>
        </p:sp>
      </p:grpSp>
      <p:sp>
        <p:nvSpPr>
          <p:cNvPr id="132105" name="Espace réservé du pied de page 29"/>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57" name="Flèche vers le bas 56"/>
          <p:cNvSpPr>
            <a:spLocks noChangeArrowheads="1"/>
          </p:cNvSpPr>
          <p:nvPr/>
        </p:nvSpPr>
        <p:spPr bwMode="auto">
          <a:xfrm rot="2686537">
            <a:off x="6565900" y="3835400"/>
            <a:ext cx="317500" cy="571500"/>
          </a:xfrm>
          <a:prstGeom prst="downArrow">
            <a:avLst>
              <a:gd name="adj1" fmla="val 50000"/>
              <a:gd name="adj2"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62" name="Flèche droite 61"/>
          <p:cNvSpPr>
            <a:spLocks noChangeArrowheads="1"/>
          </p:cNvSpPr>
          <p:nvPr/>
        </p:nvSpPr>
        <p:spPr bwMode="auto">
          <a:xfrm>
            <a:off x="2882900" y="2463800"/>
            <a:ext cx="419100" cy="317500"/>
          </a:xfrm>
          <a:prstGeom prst="rightArrow">
            <a:avLst>
              <a:gd name="adj1" fmla="val 50000"/>
              <a:gd name="adj2" fmla="val 50001"/>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63" name="Flèche droite 62"/>
          <p:cNvSpPr>
            <a:spLocks noChangeArrowheads="1"/>
          </p:cNvSpPr>
          <p:nvPr/>
        </p:nvSpPr>
        <p:spPr bwMode="auto">
          <a:xfrm>
            <a:off x="6832600" y="2413000"/>
            <a:ext cx="419100" cy="317500"/>
          </a:xfrm>
          <a:prstGeom prst="rightArrow">
            <a:avLst>
              <a:gd name="adj1" fmla="val 50000"/>
              <a:gd name="adj2" fmla="val 50001"/>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2" grpId="0" animBg="1"/>
      <p:bldP spid="6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re 1"/>
          <p:cNvSpPr>
            <a:spLocks noGrp="1"/>
          </p:cNvSpPr>
          <p:nvPr>
            <p:ph type="title"/>
          </p:nvPr>
        </p:nvSpPr>
        <p:spPr/>
        <p:txBody>
          <a:bodyPr/>
          <a:lstStyle/>
          <a:p>
            <a:r>
              <a:rPr lang="fr-FR" altLang="fr-FR"/>
              <a:t>La détermination du temps de cycle (exemple du Triangle)</a:t>
            </a:r>
          </a:p>
        </p:txBody>
      </p:sp>
      <p:sp>
        <p:nvSpPr>
          <p:cNvPr id="13414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3414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CF2C39E-BEC6-4802-BF49-032E27E7F034}" type="slidenum">
              <a:rPr lang="fr-FR" altLang="fr-FR" smtClean="0">
                <a:latin typeface="Calibri" panose="020F0502020204030204" pitchFamily="34" charset="0"/>
              </a:rPr>
              <a:pPr>
                <a:spcBef>
                  <a:spcPct val="0"/>
                </a:spcBef>
                <a:buFontTx/>
                <a:buNone/>
              </a:pPr>
              <a:t>60</a:t>
            </a:fld>
            <a:endParaRPr lang="fr-FR" altLang="fr-FR" dirty="0">
              <a:latin typeface="Calibri" panose="020F0502020204030204" pitchFamily="34" charset="0"/>
            </a:endParaRPr>
          </a:p>
        </p:txBody>
      </p:sp>
      <p:grpSp>
        <p:nvGrpSpPr>
          <p:cNvPr id="125" name="Groupe 124"/>
          <p:cNvGrpSpPr>
            <a:grpSpLocks/>
          </p:cNvGrpSpPr>
          <p:nvPr/>
        </p:nvGrpSpPr>
        <p:grpSpPr bwMode="auto">
          <a:xfrm>
            <a:off x="4789488" y="3226641"/>
            <a:ext cx="4560887" cy="1571625"/>
            <a:chOff x="3341617" y="2770950"/>
            <a:chExt cx="4560437" cy="1571229"/>
          </a:xfrm>
        </p:grpSpPr>
        <p:grpSp>
          <p:nvGrpSpPr>
            <p:cNvPr id="134177" name="Groupe 113"/>
            <p:cNvGrpSpPr>
              <a:grpSpLocks/>
            </p:cNvGrpSpPr>
            <p:nvPr/>
          </p:nvGrpSpPr>
          <p:grpSpPr bwMode="auto">
            <a:xfrm>
              <a:off x="5189823" y="2770950"/>
              <a:ext cx="2712231" cy="1571229"/>
              <a:chOff x="3934229" y="2070526"/>
              <a:chExt cx="3567894" cy="2066925"/>
            </a:xfrm>
          </p:grpSpPr>
          <p:pic>
            <p:nvPicPr>
              <p:cNvPr id="1341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229" y="2070526"/>
                <a:ext cx="12477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8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259" y="2070526"/>
                <a:ext cx="12477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8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4289" y="2070526"/>
                <a:ext cx="12477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8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319" y="2070526"/>
                <a:ext cx="12477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348" y="2070526"/>
                <a:ext cx="12477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4178" name="ZoneTexte 114"/>
            <p:cNvSpPr txBox="1">
              <a:spLocks noChangeArrowheads="1"/>
            </p:cNvSpPr>
            <p:nvPr/>
          </p:nvSpPr>
          <p:spPr bwMode="auto">
            <a:xfrm>
              <a:off x="3341617" y="3214061"/>
              <a:ext cx="1498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33CC"/>
                  </a:solidFill>
                  <a:latin typeface="Calibri" panose="020F0502020204030204" pitchFamily="34" charset="0"/>
                </a:rPr>
                <a:t>Production</a:t>
              </a:r>
            </a:p>
            <a:p>
              <a:pPr algn="ctr" eaLnBrk="1" hangingPunct="1">
                <a:spcBef>
                  <a:spcPct val="0"/>
                </a:spcBef>
                <a:buFontTx/>
                <a:buNone/>
              </a:pPr>
              <a:r>
                <a:rPr lang="fr-FR" altLang="fr-FR" sz="1800" b="1" dirty="0">
                  <a:solidFill>
                    <a:srgbClr val="0033CC"/>
                  </a:solidFill>
                  <a:latin typeface="Calibri" panose="020F0502020204030204" pitchFamily="34" charset="0"/>
                </a:rPr>
                <a:t>10 </a:t>
              </a:r>
              <a:r>
                <a:rPr lang="fr-FR" altLang="fr-FR" sz="1800" dirty="0">
                  <a:latin typeface="Calibri" panose="020F0502020204030204" pitchFamily="34" charset="0"/>
                </a:rPr>
                <a:t>pièces</a:t>
              </a:r>
            </a:p>
          </p:txBody>
        </p:sp>
      </p:grpSp>
      <p:grpSp>
        <p:nvGrpSpPr>
          <p:cNvPr id="126" name="Groupe 125"/>
          <p:cNvGrpSpPr>
            <a:grpSpLocks/>
          </p:cNvGrpSpPr>
          <p:nvPr/>
        </p:nvGrpSpPr>
        <p:grpSpPr bwMode="auto">
          <a:xfrm>
            <a:off x="3565525" y="4605338"/>
            <a:ext cx="4173538" cy="1804987"/>
            <a:chOff x="2117622" y="4135284"/>
            <a:chExt cx="4173996" cy="1805697"/>
          </a:xfrm>
        </p:grpSpPr>
        <p:sp>
          <p:nvSpPr>
            <p:cNvPr id="134175" name="ZoneTexte 8"/>
            <p:cNvSpPr txBox="1">
              <a:spLocks noChangeArrowheads="1"/>
            </p:cNvSpPr>
            <p:nvPr/>
          </p:nvSpPr>
          <p:spPr bwMode="auto">
            <a:xfrm>
              <a:off x="2117622" y="5017651"/>
              <a:ext cx="417399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Temps de Cycle :</a:t>
              </a:r>
            </a:p>
            <a:p>
              <a:pPr algn="ctr" eaLnBrk="1" hangingPunct="1">
                <a:spcBef>
                  <a:spcPct val="0"/>
                </a:spcBef>
                <a:buFontTx/>
                <a:buNone/>
              </a:pPr>
              <a:endParaRPr lang="fr-FR" altLang="fr-FR" sz="1800" dirty="0">
                <a:latin typeface="Calibri" panose="020F0502020204030204" pitchFamily="34" charset="0"/>
              </a:endParaRPr>
            </a:p>
            <a:p>
              <a:pPr algn="ctr" eaLnBrk="1" hangingPunct="1">
                <a:spcBef>
                  <a:spcPct val="0"/>
                </a:spcBef>
                <a:buFontTx/>
                <a:buNone/>
              </a:pPr>
              <a:r>
                <a:rPr lang="fr-FR" altLang="fr-FR" sz="1800" b="1" dirty="0">
                  <a:solidFill>
                    <a:srgbClr val="0033CC"/>
                  </a:solidFill>
                  <a:latin typeface="Calibri" panose="020F0502020204030204" pitchFamily="34" charset="0"/>
                </a:rPr>
                <a:t>15 </a:t>
              </a:r>
              <a:r>
                <a:rPr lang="fr-FR" altLang="fr-FR" sz="1800" dirty="0">
                  <a:latin typeface="Calibri" panose="020F0502020204030204" pitchFamily="34" charset="0"/>
                </a:rPr>
                <a:t>minutes / </a:t>
              </a:r>
              <a:r>
                <a:rPr lang="fr-FR" altLang="fr-FR" sz="1800" b="1" dirty="0">
                  <a:solidFill>
                    <a:srgbClr val="0033CC"/>
                  </a:solidFill>
                  <a:latin typeface="Calibri" panose="020F0502020204030204" pitchFamily="34" charset="0"/>
                </a:rPr>
                <a:t>10 </a:t>
              </a:r>
              <a:r>
                <a:rPr lang="fr-FR" altLang="fr-FR" sz="1800" dirty="0">
                  <a:latin typeface="Calibri" panose="020F0502020204030204" pitchFamily="34" charset="0"/>
                </a:rPr>
                <a:t>pièces = </a:t>
              </a:r>
              <a:r>
                <a:rPr lang="fr-FR" altLang="fr-FR" sz="1800" b="1" dirty="0">
                  <a:solidFill>
                    <a:srgbClr val="0033CC"/>
                  </a:solidFill>
                  <a:latin typeface="Calibri" panose="020F0502020204030204" pitchFamily="34" charset="0"/>
                </a:rPr>
                <a:t>1,5</a:t>
              </a:r>
              <a:r>
                <a:rPr lang="fr-FR" altLang="fr-FR" sz="1800" dirty="0">
                  <a:latin typeface="Calibri" panose="020F0502020204030204" pitchFamily="34" charset="0"/>
                </a:rPr>
                <a:t> min. </a:t>
              </a:r>
            </a:p>
          </p:txBody>
        </p:sp>
        <p:sp>
          <p:nvSpPr>
            <p:cNvPr id="134176" name="Flèche vers le bas 115"/>
            <p:cNvSpPr>
              <a:spLocks noChangeArrowheads="1"/>
            </p:cNvSpPr>
            <p:nvPr/>
          </p:nvSpPr>
          <p:spPr bwMode="auto">
            <a:xfrm>
              <a:off x="3998794" y="4135284"/>
              <a:ext cx="286602" cy="627797"/>
            </a:xfrm>
            <a:prstGeom prst="downArrow">
              <a:avLst>
                <a:gd name="adj1" fmla="val 50000"/>
                <a:gd name="adj2" fmla="val 49996"/>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123" name="Groupe 122"/>
          <p:cNvGrpSpPr>
            <a:grpSpLocks/>
          </p:cNvGrpSpPr>
          <p:nvPr/>
        </p:nvGrpSpPr>
        <p:grpSpPr bwMode="auto">
          <a:xfrm>
            <a:off x="4197350" y="1049338"/>
            <a:ext cx="3665538" cy="966787"/>
            <a:chOff x="2695438" y="426931"/>
            <a:chExt cx="3665935" cy="966442"/>
          </a:xfrm>
        </p:grpSpPr>
        <p:sp>
          <p:nvSpPr>
            <p:cNvPr id="134173" name="ZoneTexte 116"/>
            <p:cNvSpPr txBox="1">
              <a:spLocks noChangeArrowheads="1"/>
            </p:cNvSpPr>
            <p:nvPr/>
          </p:nvSpPr>
          <p:spPr bwMode="auto">
            <a:xfrm>
              <a:off x="2695438" y="511805"/>
              <a:ext cx="26817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33CC"/>
                  </a:solidFill>
                  <a:latin typeface="Calibri" panose="020F0502020204030204" pitchFamily="34" charset="0"/>
                </a:rPr>
                <a:t>Temps d’ouverture</a:t>
              </a:r>
              <a:br>
                <a:rPr lang="fr-FR" altLang="fr-FR" sz="1800" b="1" dirty="0">
                  <a:solidFill>
                    <a:srgbClr val="0033CC"/>
                  </a:solidFill>
                  <a:latin typeface="Calibri" panose="020F0502020204030204" pitchFamily="34" charset="0"/>
                </a:rPr>
              </a:br>
              <a:r>
                <a:rPr lang="fr-FR" altLang="fr-FR" sz="1800" b="1" dirty="0">
                  <a:solidFill>
                    <a:srgbClr val="0033CC"/>
                  </a:solidFill>
                  <a:latin typeface="Calibri" panose="020F0502020204030204" pitchFamily="34" charset="0"/>
                </a:rPr>
                <a:t>20 </a:t>
              </a:r>
              <a:r>
                <a:rPr lang="fr-FR" altLang="fr-FR" sz="1800" dirty="0">
                  <a:latin typeface="Calibri" panose="020F0502020204030204" pitchFamily="34" charset="0"/>
                </a:rPr>
                <a:t>minutes</a:t>
              </a:r>
            </a:p>
          </p:txBody>
        </p:sp>
        <p:pic>
          <p:nvPicPr>
            <p:cNvPr id="134174" name="Picture 103"/>
            <p:cNvPicPr>
              <a:picLocks noChangeAspect="1" noChangeArrowheads="1"/>
            </p:cNvPicPr>
            <p:nvPr/>
          </p:nvPicPr>
          <p:blipFill>
            <a:blip r:embed="rId4" cstate="print">
              <a:extLst>
                <a:ext uri="{28A0092B-C50C-407E-A947-70E740481C1C}">
                  <a14:useLocalDpi xmlns:a14="http://schemas.microsoft.com/office/drawing/2010/main" val="0"/>
                </a:ext>
              </a:extLst>
            </a:blip>
            <a:srcRect l="-5811" t="-5928" r="-10092" b="-7800"/>
            <a:stretch>
              <a:fillRect/>
            </a:stretch>
          </p:blipFill>
          <p:spPr bwMode="auto">
            <a:xfrm>
              <a:off x="5356486" y="426931"/>
              <a:ext cx="1004887" cy="966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4" name="Groupe 123"/>
          <p:cNvGrpSpPr>
            <a:grpSpLocks/>
          </p:cNvGrpSpPr>
          <p:nvPr/>
        </p:nvGrpSpPr>
        <p:grpSpPr bwMode="auto">
          <a:xfrm>
            <a:off x="4157663" y="1811338"/>
            <a:ext cx="3741737" cy="1300162"/>
            <a:chOff x="2736381" y="1201003"/>
            <a:chExt cx="3743082" cy="1301632"/>
          </a:xfrm>
        </p:grpSpPr>
        <p:sp>
          <p:nvSpPr>
            <p:cNvPr id="134168" name="ZoneTexte 118"/>
            <p:cNvSpPr txBox="1">
              <a:spLocks noChangeArrowheads="1"/>
            </p:cNvSpPr>
            <p:nvPr/>
          </p:nvSpPr>
          <p:spPr bwMode="auto">
            <a:xfrm>
              <a:off x="2736381" y="1731197"/>
              <a:ext cx="26817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33CC"/>
                  </a:solidFill>
                  <a:latin typeface="Calibri" panose="020F0502020204030204" pitchFamily="34" charset="0"/>
                </a:rPr>
                <a:t>Temps de charge</a:t>
              </a:r>
              <a:br>
                <a:rPr lang="fr-FR" altLang="fr-FR" sz="1800" b="1" dirty="0">
                  <a:solidFill>
                    <a:srgbClr val="0033CC"/>
                  </a:solidFill>
                  <a:latin typeface="Calibri" panose="020F0502020204030204" pitchFamily="34" charset="0"/>
                </a:rPr>
              </a:br>
              <a:r>
                <a:rPr lang="fr-FR" altLang="fr-FR" sz="1800" b="1" dirty="0">
                  <a:solidFill>
                    <a:srgbClr val="0033CC"/>
                  </a:solidFill>
                  <a:latin typeface="Calibri" panose="020F0502020204030204" pitchFamily="34" charset="0"/>
                </a:rPr>
                <a:t>15 </a:t>
              </a:r>
              <a:r>
                <a:rPr lang="fr-FR" altLang="fr-FR" sz="1800" dirty="0">
                  <a:latin typeface="Calibri" panose="020F0502020204030204" pitchFamily="34" charset="0"/>
                </a:rPr>
                <a:t>minutes</a:t>
              </a:r>
            </a:p>
          </p:txBody>
        </p:sp>
        <p:grpSp>
          <p:nvGrpSpPr>
            <p:cNvPr id="134169" name="Groupe 120"/>
            <p:cNvGrpSpPr>
              <a:grpSpLocks/>
            </p:cNvGrpSpPr>
            <p:nvPr/>
          </p:nvGrpSpPr>
          <p:grpSpPr bwMode="auto">
            <a:xfrm>
              <a:off x="5474576" y="1536193"/>
              <a:ext cx="1004887" cy="966442"/>
              <a:chOff x="5474576" y="1399713"/>
              <a:chExt cx="1004887" cy="966442"/>
            </a:xfrm>
          </p:grpSpPr>
          <p:pic>
            <p:nvPicPr>
              <p:cNvPr id="134171" name="Picture 103"/>
              <p:cNvPicPr>
                <a:picLocks noChangeAspect="1" noChangeArrowheads="1"/>
              </p:cNvPicPr>
              <p:nvPr/>
            </p:nvPicPr>
            <p:blipFill>
              <a:blip r:embed="rId4" cstate="print">
                <a:extLst>
                  <a:ext uri="{28A0092B-C50C-407E-A947-70E740481C1C}">
                    <a14:useLocalDpi xmlns:a14="http://schemas.microsoft.com/office/drawing/2010/main" val="0"/>
                  </a:ext>
                </a:extLst>
              </a:blip>
              <a:srcRect l="-5811" t="-5928" r="-10092" b="-7800"/>
              <a:stretch>
                <a:fillRect/>
              </a:stretch>
            </p:blipFill>
            <p:spPr bwMode="auto">
              <a:xfrm>
                <a:off x="5474576" y="1399713"/>
                <a:ext cx="1004887" cy="966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 name="Secteurs 119"/>
              <p:cNvSpPr/>
              <p:nvPr/>
            </p:nvSpPr>
            <p:spPr bwMode="auto">
              <a:xfrm rot="12490158">
                <a:off x="5545678" y="1433240"/>
                <a:ext cx="751158" cy="832790"/>
              </a:xfrm>
              <a:prstGeom prst="pie">
                <a:avLst>
                  <a:gd name="adj1" fmla="val 19016532"/>
                  <a:gd name="adj2" fmla="val 3796019"/>
                </a:avLst>
              </a:prstGeom>
              <a:solidFill>
                <a:schemeClr val="bg1">
                  <a:lumMod val="7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grpSp>
        <p:sp>
          <p:nvSpPr>
            <p:cNvPr id="134170" name="Flèche vers le bas 121"/>
            <p:cNvSpPr>
              <a:spLocks noChangeArrowheads="1"/>
            </p:cNvSpPr>
            <p:nvPr/>
          </p:nvSpPr>
          <p:spPr bwMode="auto">
            <a:xfrm>
              <a:off x="3985146" y="1201003"/>
              <a:ext cx="259307" cy="464035"/>
            </a:xfrm>
            <a:prstGeom prst="downArrow">
              <a:avLst>
                <a:gd name="adj1" fmla="val 50000"/>
                <a:gd name="adj2" fmla="val 49999"/>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27" name="ZoneTexte 26"/>
          <p:cNvSpPr txBox="1">
            <a:spLocks noChangeArrowheads="1"/>
          </p:cNvSpPr>
          <p:nvPr/>
        </p:nvSpPr>
        <p:spPr bwMode="auto">
          <a:xfrm>
            <a:off x="7351713" y="4778375"/>
            <a:ext cx="20335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On compte </a:t>
            </a:r>
            <a:r>
              <a:rPr lang="fr-FR" altLang="fr-FR" sz="1800" dirty="0">
                <a:solidFill>
                  <a:srgbClr val="FF0000"/>
                </a:solidFill>
                <a:latin typeface="Calibri" panose="020F0502020204030204" pitchFamily="34" charset="0"/>
              </a:rPr>
              <a:t>toutes</a:t>
            </a:r>
            <a:r>
              <a:rPr lang="fr-FR" altLang="fr-FR" sz="1800" dirty="0">
                <a:latin typeface="Calibri" panose="020F0502020204030204" pitchFamily="34" charset="0"/>
              </a:rPr>
              <a:t> les</a:t>
            </a:r>
            <a:r>
              <a:rPr lang="fr-FR" altLang="fr-FR" sz="1800" b="1" dirty="0">
                <a:solidFill>
                  <a:srgbClr val="0033CC"/>
                </a:solidFill>
                <a:latin typeface="Calibri" panose="020F0502020204030204" pitchFamily="34" charset="0"/>
              </a:rPr>
              <a:t> </a:t>
            </a:r>
            <a:r>
              <a:rPr lang="fr-FR" altLang="fr-FR" sz="1800" dirty="0">
                <a:latin typeface="Calibri" panose="020F0502020204030204" pitchFamily="34" charset="0"/>
              </a:rPr>
              <a:t>pièces (bonnes ou non)</a:t>
            </a:r>
          </a:p>
        </p:txBody>
      </p:sp>
      <p:pic>
        <p:nvPicPr>
          <p:cNvPr id="134154" name="Picture 37" descr="TIP5e¦ütu-fin E¦üTU12"/>
          <p:cNvPicPr>
            <a:picLocks noChangeAspect="1" noChangeArrowheads="1"/>
          </p:cNvPicPr>
          <p:nvPr/>
        </p:nvPicPr>
        <p:blipFill>
          <a:blip r:embed="rId5">
            <a:extLst>
              <a:ext uri="{28A0092B-C50C-407E-A947-70E740481C1C}">
                <a14:useLocalDpi xmlns:a14="http://schemas.microsoft.com/office/drawing/2010/main" val="0"/>
              </a:ext>
            </a:extLst>
          </a:blip>
          <a:srcRect l="10245" t="6528" r="38445" b="51732"/>
          <a:stretch>
            <a:fillRect/>
          </a:stretch>
        </p:blipFill>
        <p:spPr bwMode="auto">
          <a:xfrm>
            <a:off x="736600" y="3074988"/>
            <a:ext cx="16891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5" name="ZoneTexte 45"/>
          <p:cNvSpPr txBox="1">
            <a:spLocks noChangeArrowheads="1"/>
          </p:cNvSpPr>
          <p:nvPr/>
        </p:nvSpPr>
        <p:spPr bwMode="auto">
          <a:xfrm>
            <a:off x="128588" y="1206500"/>
            <a:ext cx="3414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800" dirty="0">
                <a:latin typeface="Calibri" panose="020F0502020204030204" pitchFamily="34" charset="0"/>
              </a:rPr>
              <a:t>Temps </a:t>
            </a:r>
            <a:r>
              <a:rPr lang="fr-FR" altLang="fr-FR" sz="1800" dirty="0">
                <a:solidFill>
                  <a:srgbClr val="FF0000"/>
                </a:solidFill>
                <a:latin typeface="Calibri" panose="020F0502020204030204" pitchFamily="34" charset="0"/>
              </a:rPr>
              <a:t>observé </a:t>
            </a:r>
            <a:r>
              <a:rPr lang="fr-FR" altLang="fr-FR" sz="1800" dirty="0">
                <a:latin typeface="Calibri" panose="020F0502020204030204" pitchFamily="34" charset="0"/>
              </a:rPr>
              <a:t>entre</a:t>
            </a:r>
            <a:r>
              <a:rPr lang="fr-FR" altLang="fr-FR" sz="1800" dirty="0">
                <a:solidFill>
                  <a:srgbClr val="FF0000"/>
                </a:solidFill>
                <a:latin typeface="Calibri" panose="020F0502020204030204" pitchFamily="34" charset="0"/>
              </a:rPr>
              <a:t> 2 </a:t>
            </a:r>
            <a:r>
              <a:rPr lang="fr-FR" altLang="fr-FR" sz="1800" dirty="0">
                <a:latin typeface="Calibri" panose="020F0502020204030204" pitchFamily="34" charset="0"/>
              </a:rPr>
              <a:t>pièces</a:t>
            </a:r>
          </a:p>
        </p:txBody>
      </p:sp>
      <p:sp>
        <p:nvSpPr>
          <p:cNvPr id="48" name="ZoneTexte 47"/>
          <p:cNvSpPr txBox="1"/>
          <p:nvPr/>
        </p:nvSpPr>
        <p:spPr>
          <a:xfrm>
            <a:off x="700088" y="609600"/>
            <a:ext cx="1890712" cy="369888"/>
          </a:xfrm>
          <a:prstGeom prst="rect">
            <a:avLst/>
          </a:prstGeom>
          <a:solidFill>
            <a:srgbClr val="FFFFB7"/>
          </a:solidFill>
          <a:ln>
            <a:solidFill>
              <a:schemeClr val="bg1">
                <a:lumMod val="65000"/>
              </a:schemeClr>
            </a:solidFill>
          </a:ln>
        </p:spPr>
        <p:txBody>
          <a:bodyPr>
            <a:spAutoFit/>
          </a:bodyPr>
          <a:lstStyle/>
          <a:p>
            <a:pPr algn="ctr" eaLnBrk="1" hangingPunct="1">
              <a:defRPr/>
            </a:pPr>
            <a:r>
              <a:rPr lang="fr-FR" sz="1800" dirty="0">
                <a:latin typeface="Calibri" panose="020F0502020204030204" pitchFamily="34" charset="0"/>
              </a:rPr>
              <a:t>DÉFINITION</a:t>
            </a:r>
          </a:p>
        </p:txBody>
      </p:sp>
      <p:grpSp>
        <p:nvGrpSpPr>
          <p:cNvPr id="134157" name="Groupe 58"/>
          <p:cNvGrpSpPr>
            <a:grpSpLocks/>
          </p:cNvGrpSpPr>
          <p:nvPr/>
        </p:nvGrpSpPr>
        <p:grpSpPr bwMode="auto">
          <a:xfrm>
            <a:off x="279400" y="1830388"/>
            <a:ext cx="2730500" cy="1193800"/>
            <a:chOff x="165101" y="3290542"/>
            <a:chExt cx="2730500" cy="1194752"/>
          </a:xfrm>
        </p:grpSpPr>
        <p:sp>
          <p:nvSpPr>
            <p:cNvPr id="134160" name="Flèche droite 51"/>
            <p:cNvSpPr>
              <a:spLocks noChangeArrowheads="1"/>
            </p:cNvSpPr>
            <p:nvPr/>
          </p:nvSpPr>
          <p:spPr bwMode="auto">
            <a:xfrm>
              <a:off x="1384300" y="3917950"/>
              <a:ext cx="419100" cy="317500"/>
            </a:xfrm>
            <a:prstGeom prst="rightArrow">
              <a:avLst>
                <a:gd name="adj1" fmla="val 50000"/>
                <a:gd name="adj2" fmla="val 50001"/>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134161" name="Groupe 54"/>
            <p:cNvGrpSpPr>
              <a:grpSpLocks/>
            </p:cNvGrpSpPr>
            <p:nvPr/>
          </p:nvGrpSpPr>
          <p:grpSpPr bwMode="auto">
            <a:xfrm>
              <a:off x="165101" y="3714179"/>
              <a:ext cx="876300" cy="771115"/>
              <a:chOff x="165101" y="3714179"/>
              <a:chExt cx="876300" cy="771115"/>
            </a:xfrm>
          </p:grpSpPr>
          <p:sp>
            <p:nvSpPr>
              <p:cNvPr id="50" name="Triangle isocèle 49"/>
              <p:cNvSpPr/>
              <p:nvPr/>
            </p:nvSpPr>
            <p:spPr bwMode="auto">
              <a:xfrm>
                <a:off x="282576" y="3714742"/>
                <a:ext cx="606425" cy="444854"/>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endParaRPr>
              </a:p>
            </p:txBody>
          </p:sp>
          <p:sp>
            <p:nvSpPr>
              <p:cNvPr id="134167" name="ZoneTexte 52"/>
              <p:cNvSpPr txBox="1">
                <a:spLocks noChangeArrowheads="1"/>
              </p:cNvSpPr>
              <p:nvPr/>
            </p:nvSpPr>
            <p:spPr bwMode="auto">
              <a:xfrm>
                <a:off x="165101" y="4146740"/>
                <a:ext cx="876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i="1" dirty="0">
                    <a:latin typeface="Calibri" panose="020F0502020204030204" pitchFamily="34" charset="0"/>
                  </a:rPr>
                  <a:t>pièce a</a:t>
                </a:r>
              </a:p>
            </p:txBody>
          </p:sp>
        </p:grpSp>
        <p:grpSp>
          <p:nvGrpSpPr>
            <p:cNvPr id="134162" name="Groupe 55"/>
            <p:cNvGrpSpPr>
              <a:grpSpLocks/>
            </p:cNvGrpSpPr>
            <p:nvPr/>
          </p:nvGrpSpPr>
          <p:grpSpPr bwMode="auto">
            <a:xfrm>
              <a:off x="2019301" y="3714179"/>
              <a:ext cx="876300" cy="771115"/>
              <a:chOff x="2019301" y="3714179"/>
              <a:chExt cx="876300" cy="771115"/>
            </a:xfrm>
          </p:grpSpPr>
          <p:sp>
            <p:nvSpPr>
              <p:cNvPr id="51" name="Triangle isocèle 50"/>
              <p:cNvSpPr/>
              <p:nvPr/>
            </p:nvSpPr>
            <p:spPr bwMode="auto">
              <a:xfrm>
                <a:off x="2136776" y="3714742"/>
                <a:ext cx="606425" cy="444854"/>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endParaRPr>
              </a:p>
            </p:txBody>
          </p:sp>
          <p:sp>
            <p:nvSpPr>
              <p:cNvPr id="134165" name="ZoneTexte 53"/>
              <p:cNvSpPr txBox="1">
                <a:spLocks noChangeArrowheads="1"/>
              </p:cNvSpPr>
              <p:nvPr/>
            </p:nvSpPr>
            <p:spPr bwMode="auto">
              <a:xfrm>
                <a:off x="2019301" y="4146740"/>
                <a:ext cx="876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i="1" dirty="0">
                    <a:latin typeface="Calibri" panose="020F0502020204030204" pitchFamily="34" charset="0"/>
                  </a:rPr>
                  <a:t>pièce b</a:t>
                </a:r>
              </a:p>
            </p:txBody>
          </p:sp>
        </p:grpSp>
        <p:pic>
          <p:nvPicPr>
            <p:cNvPr id="134163" name="Picture 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81180" y="3290542"/>
              <a:ext cx="35017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60" name="ZoneTexte 59"/>
          <p:cNvSpPr txBox="1"/>
          <p:nvPr/>
        </p:nvSpPr>
        <p:spPr>
          <a:xfrm>
            <a:off x="4624388" y="635000"/>
            <a:ext cx="1890712" cy="369888"/>
          </a:xfrm>
          <a:prstGeom prst="rect">
            <a:avLst/>
          </a:prstGeom>
          <a:solidFill>
            <a:srgbClr val="FFFFB7"/>
          </a:solidFill>
          <a:ln>
            <a:solidFill>
              <a:schemeClr val="bg1">
                <a:lumMod val="65000"/>
              </a:schemeClr>
            </a:solidFill>
          </a:ln>
        </p:spPr>
        <p:txBody>
          <a:bodyPr>
            <a:spAutoFit/>
          </a:bodyPr>
          <a:lstStyle/>
          <a:p>
            <a:pPr algn="ctr" eaLnBrk="1" hangingPunct="1">
              <a:defRPr/>
            </a:pPr>
            <a:r>
              <a:rPr lang="fr-FR" sz="1800" dirty="0">
                <a:latin typeface="Calibri" panose="020F0502020204030204" pitchFamily="34" charset="0"/>
              </a:rPr>
              <a:t>CALCUL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re 1"/>
          <p:cNvSpPr>
            <a:spLocks noGrp="1"/>
          </p:cNvSpPr>
          <p:nvPr>
            <p:ph type="title"/>
          </p:nvPr>
        </p:nvSpPr>
        <p:spPr/>
        <p:txBody>
          <a:bodyPr/>
          <a:lstStyle/>
          <a:p>
            <a:r>
              <a:rPr lang="fr-FR" altLang="fr-FR"/>
              <a:t>Le calcul du takt time</a:t>
            </a:r>
          </a:p>
        </p:txBody>
      </p:sp>
      <p:sp>
        <p:nvSpPr>
          <p:cNvPr id="13619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3619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25D063A4-115B-4AAA-AF71-7D5187303E51}" type="slidenum">
              <a:rPr lang="fr-FR" altLang="fr-FR" smtClean="0">
                <a:latin typeface="Calibri" panose="020F0502020204030204" pitchFamily="34" charset="0"/>
              </a:rPr>
              <a:pPr>
                <a:spcBef>
                  <a:spcPct val="0"/>
                </a:spcBef>
                <a:buFontTx/>
                <a:buNone/>
              </a:pPr>
              <a:t>61</a:t>
            </a:fld>
            <a:endParaRPr lang="fr-FR" altLang="fr-FR" dirty="0">
              <a:latin typeface="Calibri" panose="020F0502020204030204" pitchFamily="34" charset="0"/>
            </a:endParaRPr>
          </a:p>
        </p:txBody>
      </p:sp>
      <p:graphicFrame>
        <p:nvGraphicFramePr>
          <p:cNvPr id="15" name="Tableau 14"/>
          <p:cNvGraphicFramePr>
            <a:graphicFrameLocks noGrp="1"/>
          </p:cNvGraphicFramePr>
          <p:nvPr>
            <p:extLst>
              <p:ext uri="{D42A27DB-BD31-4B8C-83A1-F6EECF244321}">
                <p14:modId xmlns:p14="http://schemas.microsoft.com/office/powerpoint/2010/main" val="41991838"/>
              </p:ext>
            </p:extLst>
          </p:nvPr>
        </p:nvGraphicFramePr>
        <p:xfrm>
          <a:off x="273050" y="717550"/>
          <a:ext cx="4598988" cy="3465513"/>
        </p:xfrm>
        <a:graphic>
          <a:graphicData uri="http://schemas.openxmlformats.org/drawingml/2006/table">
            <a:tbl>
              <a:tblPr firstRow="1" bandRow="1">
                <a:tableStyleId>{5C22544A-7EE6-4342-B048-85BDC9FD1C3A}</a:tableStyleId>
              </a:tblPr>
              <a:tblGrid>
                <a:gridCol w="1074041">
                  <a:extLst>
                    <a:ext uri="{9D8B030D-6E8A-4147-A177-3AD203B41FA5}">
                      <a16:colId xmlns:a16="http://schemas.microsoft.com/office/drawing/2014/main" val="20000"/>
                    </a:ext>
                  </a:extLst>
                </a:gridCol>
                <a:gridCol w="2394322">
                  <a:extLst>
                    <a:ext uri="{9D8B030D-6E8A-4147-A177-3AD203B41FA5}">
                      <a16:colId xmlns:a16="http://schemas.microsoft.com/office/drawing/2014/main" val="20001"/>
                    </a:ext>
                  </a:extLst>
                </a:gridCol>
                <a:gridCol w="1130625">
                  <a:extLst>
                    <a:ext uri="{9D8B030D-6E8A-4147-A177-3AD203B41FA5}">
                      <a16:colId xmlns:a16="http://schemas.microsoft.com/office/drawing/2014/main" val="20002"/>
                    </a:ext>
                  </a:extLst>
                </a:gridCol>
              </a:tblGrid>
              <a:tr h="662085">
                <a:tc gridSpan="2">
                  <a:txBody>
                    <a:bodyPr/>
                    <a:lstStyle/>
                    <a:p>
                      <a:pPr marL="0" marR="0" indent="0" algn="r" defTabSz="948873" rtl="0" eaLnBrk="1" fontAlgn="auto" latinLnBrk="0" hangingPunct="1">
                        <a:lnSpc>
                          <a:spcPct val="100000"/>
                        </a:lnSpc>
                        <a:spcBef>
                          <a:spcPts val="0"/>
                        </a:spcBef>
                        <a:spcAft>
                          <a:spcPts val="0"/>
                        </a:spcAft>
                        <a:buClrTx/>
                        <a:buSzTx/>
                        <a:buFontTx/>
                        <a:buNone/>
                        <a:tabLst/>
                        <a:defRPr/>
                      </a:pPr>
                      <a:r>
                        <a:rPr lang="fr-FR" sz="1800" b="0" dirty="0">
                          <a:solidFill>
                            <a:schemeClr val="tx1"/>
                          </a:solidFill>
                          <a:latin typeface="Calibri" panose="020F0502020204030204" pitchFamily="34" charset="0"/>
                          <a:cs typeface="Arial" pitchFamily="34" charset="0"/>
                        </a:rPr>
                        <a:t>Nombre de produits vendus / an</a:t>
                      </a:r>
                      <a:br>
                        <a:rPr lang="fr-FR" sz="1800" b="0" dirty="0">
                          <a:solidFill>
                            <a:schemeClr val="tx1"/>
                          </a:solidFill>
                          <a:latin typeface="Calibri" panose="020F0502020204030204" pitchFamily="34" charset="0"/>
                          <a:cs typeface="Arial" pitchFamily="34" charset="0"/>
                        </a:rPr>
                      </a:br>
                      <a:r>
                        <a:rPr lang="fr-FR" sz="1600" b="0" dirty="0">
                          <a:solidFill>
                            <a:schemeClr val="tx1"/>
                          </a:solidFill>
                          <a:latin typeface="Calibri" panose="020F0502020204030204" pitchFamily="34" charset="0"/>
                          <a:cs typeface="Arial" pitchFamily="34" charset="0"/>
                        </a:rPr>
                        <a:t>(demandez au</a:t>
                      </a:r>
                      <a:r>
                        <a:rPr lang="fr-FR" sz="1600" b="0" baseline="0" dirty="0">
                          <a:solidFill>
                            <a:schemeClr val="tx1"/>
                          </a:solidFill>
                          <a:latin typeface="Calibri" panose="020F0502020204030204" pitchFamily="34" charset="0"/>
                          <a:cs typeface="Arial" pitchFamily="34" charset="0"/>
                        </a:rPr>
                        <a:t> Service commercial)</a:t>
                      </a:r>
                      <a:endParaRPr lang="fr-FR" sz="1800" b="0" dirty="0">
                        <a:solidFill>
                          <a:schemeClr val="tx1"/>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r" defTabSz="948873" rtl="0" eaLnBrk="1" fontAlgn="auto" latinLnBrk="0" hangingPunct="1">
                        <a:lnSpc>
                          <a:spcPct val="100000"/>
                        </a:lnSpc>
                        <a:spcBef>
                          <a:spcPts val="0"/>
                        </a:spcBef>
                        <a:spcAft>
                          <a:spcPts val="0"/>
                        </a:spcAft>
                        <a:buClrTx/>
                        <a:buSzTx/>
                        <a:buFontTx/>
                        <a:buNone/>
                        <a:tabLst/>
                        <a:defRPr/>
                      </a:pPr>
                      <a:endParaRPr lang="fr-FR" sz="1100" b="0" dirty="0">
                        <a:solidFill>
                          <a:schemeClr val="tx1"/>
                        </a:solidFill>
                        <a:latin typeface="Arial" pitchFamily="34" charset="0"/>
                        <a:cs typeface="Arial" pitchFamily="34" charset="0"/>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fr-FR" sz="2400" b="0" dirty="0">
                        <a:solidFill>
                          <a:schemeClr val="tx1"/>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28294">
                <a:tc>
                  <a:txBody>
                    <a:bodyPr/>
                    <a:lstStyle/>
                    <a:p>
                      <a:pPr algn="ctr"/>
                      <a:r>
                        <a:rPr lang="fr-FR" sz="2000" b="0" dirty="0">
                          <a:solidFill>
                            <a:schemeClr val="tx1"/>
                          </a:solidFill>
                          <a:latin typeface="Calibri" panose="020F0502020204030204" pitchFamily="34" charset="0"/>
                          <a:cs typeface="Arial" pitchFamily="34" charset="0"/>
                        </a:rPr>
                        <a:t>a</a:t>
                      </a:r>
                    </a:p>
                  </a:txBody>
                  <a:tcPr marL="35998" marR="71995"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fr-FR" sz="1800" b="0" dirty="0">
                          <a:solidFill>
                            <a:schemeClr val="tx1"/>
                          </a:solidFill>
                          <a:latin typeface="Calibri" panose="020F0502020204030204" pitchFamily="34" charset="0"/>
                          <a:cs typeface="Arial" pitchFamily="34" charset="0"/>
                        </a:rPr>
                        <a:t>Nombre d’opérations à réaliser / an</a:t>
                      </a: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fr-FR" sz="2400" b="0" dirty="0">
                        <a:solidFill>
                          <a:schemeClr val="tx1"/>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28294">
                <a:tc>
                  <a:txBody>
                    <a:bodyPr/>
                    <a:lstStyle/>
                    <a:p>
                      <a:pPr algn="ctr"/>
                      <a:r>
                        <a:rPr lang="fr-FR" sz="2000" b="0" dirty="0">
                          <a:solidFill>
                            <a:schemeClr val="tx1"/>
                          </a:solidFill>
                          <a:latin typeface="Calibri" panose="020F0502020204030204" pitchFamily="34" charset="0"/>
                          <a:cs typeface="Arial" pitchFamily="34" charset="0"/>
                        </a:rPr>
                        <a:t>b</a:t>
                      </a:r>
                    </a:p>
                  </a:txBody>
                  <a:tcPr marL="35998" marR="71995"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fr-FR" sz="1800" b="0" dirty="0">
                          <a:solidFill>
                            <a:schemeClr val="tx1"/>
                          </a:solidFill>
                          <a:latin typeface="Calibri" panose="020F0502020204030204" pitchFamily="34" charset="0"/>
                          <a:cs typeface="Arial" pitchFamily="34" charset="0"/>
                        </a:rPr>
                        <a:t>Temps de travail</a:t>
                      </a:r>
                      <a:r>
                        <a:rPr lang="fr-FR" sz="1800" b="0" baseline="0" dirty="0">
                          <a:solidFill>
                            <a:schemeClr val="tx1"/>
                          </a:solidFill>
                          <a:latin typeface="Calibri" panose="020F0502020204030204" pitchFamily="34" charset="0"/>
                          <a:cs typeface="Arial" pitchFamily="34" charset="0"/>
                        </a:rPr>
                        <a:t> / an</a:t>
                      </a:r>
                      <a:endParaRPr lang="fr-FR" sz="1800" b="0" dirty="0">
                        <a:solidFill>
                          <a:schemeClr val="tx1"/>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2000" b="0" dirty="0">
                          <a:solidFill>
                            <a:schemeClr val="tx1"/>
                          </a:solidFill>
                          <a:latin typeface="Calibri" panose="020F0502020204030204" pitchFamily="34" charset="0"/>
                          <a:cs typeface="Arial" pitchFamily="34" charset="0"/>
                        </a:rPr>
                        <a:t>2000 h.</a:t>
                      </a:r>
                      <a:endParaRPr lang="fr-FR" sz="1800" b="0" dirty="0">
                        <a:solidFill>
                          <a:schemeClr val="tx1"/>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41536">
                <a:tc>
                  <a:txBody>
                    <a:bodyPr/>
                    <a:lstStyle/>
                    <a:p>
                      <a:pPr algn="ctr"/>
                      <a:r>
                        <a:rPr lang="fr-FR" sz="2000" b="0" dirty="0">
                          <a:solidFill>
                            <a:schemeClr val="tx1"/>
                          </a:solidFill>
                          <a:latin typeface="Calibri" panose="020F0502020204030204" pitchFamily="34" charset="0"/>
                          <a:cs typeface="Arial" pitchFamily="34" charset="0"/>
                        </a:rPr>
                        <a:t>c = b x </a:t>
                      </a:r>
                      <a:br>
                        <a:rPr lang="fr-FR" sz="2000" b="0" dirty="0">
                          <a:solidFill>
                            <a:schemeClr val="tx1"/>
                          </a:solidFill>
                          <a:latin typeface="Calibri" panose="020F0502020204030204" pitchFamily="34" charset="0"/>
                          <a:cs typeface="Arial" pitchFamily="34" charset="0"/>
                        </a:rPr>
                      </a:br>
                      <a:r>
                        <a:rPr lang="fr-FR" sz="2000" b="0" baseline="0" dirty="0">
                          <a:solidFill>
                            <a:schemeClr val="tx1"/>
                          </a:solidFill>
                          <a:latin typeface="Calibri" panose="020F0502020204030204" pitchFamily="34" charset="0"/>
                          <a:cs typeface="Arial" pitchFamily="34" charset="0"/>
                        </a:rPr>
                        <a:t>3 600</a:t>
                      </a:r>
                      <a:endParaRPr lang="fr-FR" sz="2000" b="0" dirty="0">
                        <a:solidFill>
                          <a:schemeClr val="tx1"/>
                        </a:solidFill>
                        <a:latin typeface="Calibri" panose="020F0502020204030204" pitchFamily="34" charset="0"/>
                        <a:cs typeface="Arial" pitchFamily="34" charset="0"/>
                      </a:endParaRPr>
                    </a:p>
                  </a:txBody>
                  <a:tcPr marL="35998" marR="71995"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fr-FR" sz="1800" b="0" dirty="0">
                          <a:solidFill>
                            <a:schemeClr val="tx1"/>
                          </a:solidFill>
                          <a:latin typeface="Calibri" panose="020F0502020204030204" pitchFamily="34" charset="0"/>
                          <a:cs typeface="Arial" pitchFamily="34" charset="0"/>
                        </a:rPr>
                        <a:t>Secondes travaillées / an</a:t>
                      </a: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fr-FR" sz="2400" b="0" dirty="0">
                        <a:solidFill>
                          <a:schemeClr val="tx1"/>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05304">
                <a:tc>
                  <a:txBody>
                    <a:bodyPr/>
                    <a:lstStyle/>
                    <a:p>
                      <a:pPr algn="ctr"/>
                      <a:r>
                        <a:rPr lang="fr-FR" sz="2000" b="1" baseline="0" dirty="0">
                          <a:solidFill>
                            <a:srgbClr val="FF0000"/>
                          </a:solidFill>
                          <a:latin typeface="Calibri" panose="020F0502020204030204" pitchFamily="34" charset="0"/>
                          <a:cs typeface="Arial" pitchFamily="34" charset="0"/>
                        </a:rPr>
                        <a:t>c / a</a:t>
                      </a:r>
                      <a:endParaRPr lang="fr-FR" sz="2000" b="1" dirty="0">
                        <a:solidFill>
                          <a:srgbClr val="FF0000"/>
                        </a:solidFill>
                        <a:latin typeface="Calibri" panose="020F0502020204030204" pitchFamily="34" charset="0"/>
                        <a:cs typeface="Arial" pitchFamily="34" charset="0"/>
                      </a:endParaRPr>
                    </a:p>
                  </a:txBody>
                  <a:tcPr marL="35998" marR="71995"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fr-FR" sz="2400" b="1" dirty="0">
                          <a:solidFill>
                            <a:srgbClr val="FF0000"/>
                          </a:solidFill>
                          <a:latin typeface="Calibri" panose="020F0502020204030204" pitchFamily="34" charset="0"/>
                          <a:cs typeface="Arial" pitchFamily="34" charset="0"/>
                        </a:rPr>
                        <a:t>Takt Time</a:t>
                      </a: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fr-FR" sz="2400" b="1" dirty="0">
                        <a:solidFill>
                          <a:srgbClr val="FF0000"/>
                        </a:solidFill>
                        <a:latin typeface="Calibri" panose="020F0502020204030204" pitchFamily="34" charset="0"/>
                        <a:cs typeface="Arial" pitchFamily="34" charset="0"/>
                      </a:endParaRPr>
                    </a:p>
                  </a:txBody>
                  <a:tcPr marL="35998" marR="35998" marT="45710" marB="457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pSp>
        <p:nvGrpSpPr>
          <p:cNvPr id="136222" name="Groupe 16"/>
          <p:cNvGrpSpPr>
            <a:grpSpLocks/>
          </p:cNvGrpSpPr>
          <p:nvPr/>
        </p:nvGrpSpPr>
        <p:grpSpPr bwMode="auto">
          <a:xfrm>
            <a:off x="5103813" y="498475"/>
            <a:ext cx="4454525" cy="3246410"/>
            <a:chOff x="3228975" y="742904"/>
            <a:chExt cx="3419475" cy="2491961"/>
          </a:xfrm>
        </p:grpSpPr>
        <p:sp>
          <p:nvSpPr>
            <p:cNvPr id="136250" name="ZoneTexte 65"/>
            <p:cNvSpPr txBox="1">
              <a:spLocks noChangeArrowheads="1"/>
            </p:cNvSpPr>
            <p:nvPr/>
          </p:nvSpPr>
          <p:spPr bwMode="auto">
            <a:xfrm>
              <a:off x="3737654" y="742904"/>
              <a:ext cx="2412000" cy="200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100" dirty="0">
                  <a:latin typeface="Calibri" panose="020F0502020204030204" pitchFamily="34" charset="0"/>
                  <a:cs typeface="Arial" panose="020B0604020202020204" pitchFamily="34" charset="0"/>
                </a:rPr>
                <a:t>GAMMES DE FABRICATION</a:t>
              </a:r>
              <a:r>
                <a:rPr lang="fr-FR" altLang="fr-FR" sz="1100" b="1" dirty="0">
                  <a:latin typeface="Calibri" panose="020F0502020204030204" pitchFamily="34" charset="0"/>
                  <a:cs typeface="Arial" panose="020B0604020202020204" pitchFamily="34" charset="0"/>
                </a:rPr>
                <a:t> </a:t>
              </a:r>
            </a:p>
          </p:txBody>
        </p:sp>
        <p:grpSp>
          <p:nvGrpSpPr>
            <p:cNvPr id="136251" name="Groupe 40"/>
            <p:cNvGrpSpPr>
              <a:grpSpLocks/>
            </p:cNvGrpSpPr>
            <p:nvPr/>
          </p:nvGrpSpPr>
          <p:grpSpPr bwMode="auto">
            <a:xfrm>
              <a:off x="3228975" y="1003975"/>
              <a:ext cx="3419475" cy="2230890"/>
              <a:chOff x="3214687" y="1003974"/>
              <a:chExt cx="3471863" cy="2265064"/>
            </a:xfrm>
          </p:grpSpPr>
          <p:sp>
            <p:nvSpPr>
              <p:cNvPr id="136252" name="ZoneTexte 65"/>
              <p:cNvSpPr txBox="1">
                <a:spLocks noChangeArrowheads="1"/>
              </p:cNvSpPr>
              <p:nvPr/>
            </p:nvSpPr>
            <p:spPr bwMode="auto">
              <a:xfrm>
                <a:off x="3253371" y="3089136"/>
                <a:ext cx="3347454" cy="17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i="1" dirty="0">
                    <a:latin typeface="Calibri" panose="020F0502020204030204" pitchFamily="34" charset="0"/>
                    <a:cs typeface="Arial" panose="020B0604020202020204" pitchFamily="34" charset="0"/>
                  </a:rPr>
                  <a:t>Les ventes sont réparties également entre ces 10 gammes</a:t>
                </a:r>
                <a:r>
                  <a:rPr lang="fr-FR" altLang="fr-FR" sz="900" b="1" i="1" dirty="0">
                    <a:latin typeface="Calibri" panose="020F0502020204030204" pitchFamily="34" charset="0"/>
                    <a:cs typeface="Arial" panose="020B0604020202020204" pitchFamily="34" charset="0"/>
                  </a:rPr>
                  <a:t> </a:t>
                </a:r>
              </a:p>
            </p:txBody>
          </p:sp>
          <p:pic>
            <p:nvPicPr>
              <p:cNvPr id="1362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7" y="1003974"/>
                <a:ext cx="3471863" cy="2093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aphicFrame>
        <p:nvGraphicFramePr>
          <p:cNvPr id="22" name="Tableau 21"/>
          <p:cNvGraphicFramePr>
            <a:graphicFrameLocks noGrp="1"/>
          </p:cNvGraphicFramePr>
          <p:nvPr/>
        </p:nvGraphicFramePr>
        <p:xfrm>
          <a:off x="2019300" y="5006975"/>
          <a:ext cx="7056439" cy="857250"/>
        </p:xfrm>
        <a:graphic>
          <a:graphicData uri="http://schemas.openxmlformats.org/drawingml/2006/table">
            <a:tbl>
              <a:tblPr firstRow="1" bandRow="1">
                <a:tableStyleId>{5C22544A-7EE6-4342-B048-85BDC9FD1C3A}</a:tableStyleId>
              </a:tblPr>
              <a:tblGrid>
                <a:gridCol w="1417873">
                  <a:extLst>
                    <a:ext uri="{9D8B030D-6E8A-4147-A177-3AD203B41FA5}">
                      <a16:colId xmlns:a16="http://schemas.microsoft.com/office/drawing/2014/main" val="20000"/>
                    </a:ext>
                  </a:extLst>
                </a:gridCol>
                <a:gridCol w="939761">
                  <a:extLst>
                    <a:ext uri="{9D8B030D-6E8A-4147-A177-3AD203B41FA5}">
                      <a16:colId xmlns:a16="http://schemas.microsoft.com/office/drawing/2014/main" val="20001"/>
                    </a:ext>
                  </a:extLst>
                </a:gridCol>
                <a:gridCol w="939761">
                  <a:extLst>
                    <a:ext uri="{9D8B030D-6E8A-4147-A177-3AD203B41FA5}">
                      <a16:colId xmlns:a16="http://schemas.microsoft.com/office/drawing/2014/main" val="20002"/>
                    </a:ext>
                  </a:extLst>
                </a:gridCol>
                <a:gridCol w="939761">
                  <a:extLst>
                    <a:ext uri="{9D8B030D-6E8A-4147-A177-3AD203B41FA5}">
                      <a16:colId xmlns:a16="http://schemas.microsoft.com/office/drawing/2014/main" val="20003"/>
                    </a:ext>
                  </a:extLst>
                </a:gridCol>
                <a:gridCol w="939761">
                  <a:extLst>
                    <a:ext uri="{9D8B030D-6E8A-4147-A177-3AD203B41FA5}">
                      <a16:colId xmlns:a16="http://schemas.microsoft.com/office/drawing/2014/main" val="20004"/>
                    </a:ext>
                  </a:extLst>
                </a:gridCol>
                <a:gridCol w="939761">
                  <a:extLst>
                    <a:ext uri="{9D8B030D-6E8A-4147-A177-3AD203B41FA5}">
                      <a16:colId xmlns:a16="http://schemas.microsoft.com/office/drawing/2014/main" val="20005"/>
                    </a:ext>
                  </a:extLst>
                </a:gridCol>
                <a:gridCol w="939761">
                  <a:extLst>
                    <a:ext uri="{9D8B030D-6E8A-4147-A177-3AD203B41FA5}">
                      <a16:colId xmlns:a16="http://schemas.microsoft.com/office/drawing/2014/main" val="20006"/>
                    </a:ext>
                  </a:extLst>
                </a:gridCol>
              </a:tblGrid>
              <a:tr h="857250">
                <a:tc>
                  <a:txBody>
                    <a:bodyPr/>
                    <a:lstStyle/>
                    <a:p>
                      <a:pPr marL="0" algn="ctr" defTabSz="914400" rtl="0" eaLnBrk="1" latinLnBrk="0" hangingPunct="1"/>
                      <a:r>
                        <a:rPr lang="fr-FR" sz="2000" b="0" kern="1200" dirty="0">
                          <a:solidFill>
                            <a:schemeClr val="tx1"/>
                          </a:solidFill>
                          <a:latin typeface="Calibri" panose="020F0502020204030204" pitchFamily="34" charset="0"/>
                          <a:ea typeface="+mn-ea"/>
                          <a:cs typeface="Arial" pitchFamily="34" charset="0"/>
                        </a:rPr>
                        <a:t>Takt time</a:t>
                      </a: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fr-FR" sz="1000" b="0" dirty="0">
                        <a:solidFill>
                          <a:schemeClr val="tx1"/>
                        </a:solidFill>
                        <a:latin typeface="Calibri" panose="020F0502020204030204" pitchFamily="34" charset="0"/>
                      </a:endParaRP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1200" dirty="0">
                        <a:latin typeface="Calibri" panose="020F0502020204030204" pitchFamily="34" charset="0"/>
                      </a:endParaRP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1800" dirty="0">
                        <a:latin typeface="Calibri" panose="020F0502020204030204" pitchFamily="34" charset="0"/>
                      </a:endParaRP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1800" dirty="0">
                        <a:latin typeface="Calibri" panose="020F0502020204030204" pitchFamily="34" charset="0"/>
                      </a:endParaRP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1800" dirty="0">
                        <a:latin typeface="Calibri" panose="020F0502020204030204" pitchFamily="34" charset="0"/>
                      </a:endParaRP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1800" dirty="0">
                        <a:latin typeface="Calibri" panose="020F0502020204030204" pitchFamily="34" charset="0"/>
                      </a:endParaRPr>
                    </a:p>
                  </a:txBody>
                  <a:tcPr marL="36003" marR="36003" marT="36020" marB="360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pSp>
        <p:nvGrpSpPr>
          <p:cNvPr id="136241" name="Groupe 22"/>
          <p:cNvGrpSpPr>
            <a:grpSpLocks/>
          </p:cNvGrpSpPr>
          <p:nvPr/>
        </p:nvGrpSpPr>
        <p:grpSpPr bwMode="auto">
          <a:xfrm>
            <a:off x="3530600" y="4360863"/>
            <a:ext cx="5337175" cy="527050"/>
            <a:chOff x="3017135" y="2409825"/>
            <a:chExt cx="3174115" cy="301073"/>
          </a:xfrm>
        </p:grpSpPr>
        <p:sp>
          <p:nvSpPr>
            <p:cNvPr id="24" name="Rectangle 23"/>
            <p:cNvSpPr/>
            <p:nvPr/>
          </p:nvSpPr>
          <p:spPr bwMode="auto">
            <a:xfrm>
              <a:off x="4719375" y="2525901"/>
              <a:ext cx="332329" cy="126051"/>
            </a:xfrm>
            <a:prstGeom prst="rect">
              <a:avLst/>
            </a:prstGeom>
            <a:solidFill>
              <a:srgbClr val="FFFF5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5" name="AutoShape 34"/>
            <p:cNvSpPr>
              <a:spLocks noChangeArrowheads="1"/>
            </p:cNvSpPr>
            <p:nvPr/>
          </p:nvSpPr>
          <p:spPr bwMode="auto">
            <a:xfrm>
              <a:off x="5852313" y="2484186"/>
              <a:ext cx="338937" cy="209481"/>
            </a:xfrm>
            <a:prstGeom prst="wave">
              <a:avLst>
                <a:gd name="adj1" fmla="val 20644"/>
                <a:gd name="adj2" fmla="val 7681"/>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6" name="Ellipse 25"/>
            <p:cNvSpPr/>
            <p:nvPr/>
          </p:nvSpPr>
          <p:spPr bwMode="auto">
            <a:xfrm>
              <a:off x="4069824" y="2519553"/>
              <a:ext cx="390864" cy="138748"/>
            </a:xfrm>
            <a:prstGeom prst="ellipse">
              <a:avLst/>
            </a:prstGeom>
            <a:solidFill>
              <a:srgbClr val="33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7" name="Croix 26"/>
            <p:cNvSpPr/>
            <p:nvPr/>
          </p:nvSpPr>
          <p:spPr bwMode="auto">
            <a:xfrm>
              <a:off x="3017135" y="2451540"/>
              <a:ext cx="270017" cy="252103"/>
            </a:xfrm>
            <a:prstGeom prst="plus">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8" name="Étoile à 5 branches 27"/>
            <p:cNvSpPr/>
            <p:nvPr/>
          </p:nvSpPr>
          <p:spPr bwMode="auto">
            <a:xfrm>
              <a:off x="3550560" y="2409825"/>
              <a:ext cx="334217" cy="301073"/>
            </a:xfrm>
            <a:prstGeom prst="star5">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9" name="Triangle isocèle 28"/>
            <p:cNvSpPr/>
            <p:nvPr/>
          </p:nvSpPr>
          <p:spPr bwMode="auto">
            <a:xfrm>
              <a:off x="5293397" y="2486000"/>
              <a:ext cx="285123" cy="205854"/>
            </a:xfrm>
            <a:prstGeom prst="triangle">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pic>
        <p:nvPicPr>
          <p:cNvPr id="21" name="Picture 1">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re 1"/>
          <p:cNvSpPr>
            <a:spLocks noGrp="1"/>
          </p:cNvSpPr>
          <p:nvPr>
            <p:ph type="title"/>
          </p:nvPr>
        </p:nvSpPr>
        <p:spPr/>
        <p:txBody>
          <a:bodyPr/>
          <a:lstStyle/>
          <a:p>
            <a:r>
              <a:rPr lang="fr-FR" altLang="fr-FR"/>
              <a:t>La demande commerciale</a:t>
            </a:r>
          </a:p>
        </p:txBody>
      </p:sp>
      <p:sp>
        <p:nvSpPr>
          <p:cNvPr id="138243" name="Espace réservé du contenu 2"/>
          <p:cNvSpPr>
            <a:spLocks noGrp="1"/>
          </p:cNvSpPr>
          <p:nvPr>
            <p:ph idx="1"/>
          </p:nvPr>
        </p:nvSpPr>
        <p:spPr>
          <a:xfrm>
            <a:off x="673102" y="741680"/>
            <a:ext cx="7931150" cy="1951990"/>
          </a:xfrm>
        </p:spPr>
        <p:txBody>
          <a:bodyPr/>
          <a:lstStyle/>
          <a:p>
            <a:pPr marL="0" indent="12700">
              <a:lnSpc>
                <a:spcPct val="120000"/>
              </a:lnSpc>
              <a:buFontTx/>
              <a:buNone/>
            </a:pPr>
            <a:r>
              <a:rPr lang="fr-FR" altLang="fr-FR" sz="1600" dirty="0"/>
              <a:t>Puisque le cycle de production dépend du nombre de participants (on produit plus vite dans un atelier qui comporte trois postes de travail qu’un seul), il faut définir une demande commerciale qui dépend également du nombre de participants. L’objectif de cet ajustement est de ne pas avoir des écarts trop importants entre le </a:t>
            </a:r>
            <a:r>
              <a:rPr lang="fr-FR" altLang="fr-FR" sz="1600" dirty="0" err="1"/>
              <a:t>takt</a:t>
            </a:r>
            <a:r>
              <a:rPr lang="fr-FR" altLang="fr-FR" sz="1600" dirty="0"/>
              <a:t> time et le temps de cycle. Le tableau ci-dessous indique les valeurs à utiliser (voir également dans le Tableau de bord Excel) :</a:t>
            </a:r>
          </a:p>
        </p:txBody>
      </p:sp>
      <p:sp>
        <p:nvSpPr>
          <p:cNvPr id="13824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3824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718C830-F86D-4472-AB99-58EBB53062BF}" type="slidenum">
              <a:rPr lang="fr-FR" altLang="fr-FR" smtClean="0">
                <a:latin typeface="Calibri" panose="020F0502020204030204" pitchFamily="34" charset="0"/>
              </a:rPr>
              <a:pPr>
                <a:spcBef>
                  <a:spcPct val="0"/>
                </a:spcBef>
                <a:buFontTx/>
                <a:buNone/>
              </a:pPr>
              <a:t>62</a:t>
            </a:fld>
            <a:endParaRPr lang="fr-FR" altLang="fr-FR" dirty="0">
              <a:latin typeface="Calibri" panose="020F0502020204030204" pitchFamily="34" charset="0"/>
            </a:endParaRPr>
          </a:p>
        </p:txBody>
      </p:sp>
      <p:graphicFrame>
        <p:nvGraphicFramePr>
          <p:cNvPr id="7" name="Tableau 6"/>
          <p:cNvGraphicFramePr>
            <a:graphicFrameLocks noGrp="1"/>
          </p:cNvGraphicFramePr>
          <p:nvPr>
            <p:extLst>
              <p:ext uri="{D42A27DB-BD31-4B8C-83A1-F6EECF244321}">
                <p14:modId xmlns:p14="http://schemas.microsoft.com/office/powerpoint/2010/main" val="2196961216"/>
              </p:ext>
            </p:extLst>
          </p:nvPr>
        </p:nvGraphicFramePr>
        <p:xfrm>
          <a:off x="727075" y="2963545"/>
          <a:ext cx="8289927" cy="587376"/>
        </p:xfrm>
        <a:graphic>
          <a:graphicData uri="http://schemas.openxmlformats.org/drawingml/2006/table">
            <a:tbl>
              <a:tblPr/>
              <a:tblGrid>
                <a:gridCol w="2018587">
                  <a:extLst>
                    <a:ext uri="{9D8B030D-6E8A-4147-A177-3AD203B41FA5}">
                      <a16:colId xmlns:a16="http://schemas.microsoft.com/office/drawing/2014/main" val="20000"/>
                    </a:ext>
                  </a:extLst>
                </a:gridCol>
                <a:gridCol w="1567835">
                  <a:extLst>
                    <a:ext uri="{9D8B030D-6E8A-4147-A177-3AD203B41FA5}">
                      <a16:colId xmlns:a16="http://schemas.microsoft.com/office/drawing/2014/main" val="20001"/>
                    </a:ext>
                  </a:extLst>
                </a:gridCol>
                <a:gridCol w="1567835">
                  <a:extLst>
                    <a:ext uri="{9D8B030D-6E8A-4147-A177-3AD203B41FA5}">
                      <a16:colId xmlns:a16="http://schemas.microsoft.com/office/drawing/2014/main" val="20002"/>
                    </a:ext>
                  </a:extLst>
                </a:gridCol>
                <a:gridCol w="1567835">
                  <a:extLst>
                    <a:ext uri="{9D8B030D-6E8A-4147-A177-3AD203B41FA5}">
                      <a16:colId xmlns:a16="http://schemas.microsoft.com/office/drawing/2014/main" val="20003"/>
                    </a:ext>
                  </a:extLst>
                </a:gridCol>
                <a:gridCol w="1567835">
                  <a:extLst>
                    <a:ext uri="{9D8B030D-6E8A-4147-A177-3AD203B41FA5}">
                      <a16:colId xmlns:a16="http://schemas.microsoft.com/office/drawing/2014/main" val="20004"/>
                    </a:ext>
                  </a:extLst>
                </a:gridCol>
              </a:tblGrid>
              <a:tr h="293688">
                <a:tc>
                  <a:txBody>
                    <a:bodyPr/>
                    <a:lstStyle/>
                    <a:p>
                      <a:pPr algn="ctr" fontAlgn="b"/>
                      <a:r>
                        <a:rPr lang="fr-FR" sz="1800" b="0" i="0" u="none" strike="noStrike" dirty="0">
                          <a:solidFill>
                            <a:srgbClr val="000000"/>
                          </a:solidFill>
                          <a:latin typeface="Calibri" panose="020F0502020204030204" pitchFamily="34" charset="0"/>
                        </a:rPr>
                        <a:t>Effectif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800" b="0" i="0" u="none" strike="noStrike" dirty="0">
                          <a:solidFill>
                            <a:srgbClr val="000000"/>
                          </a:solidFill>
                          <a:latin typeface="Calibri" panose="020F0502020204030204" pitchFamily="34" charset="0"/>
                        </a:rPr>
                        <a:t>8 à 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800" b="0" i="0" u="none" strike="noStrike" dirty="0">
                          <a:solidFill>
                            <a:srgbClr val="000000"/>
                          </a:solidFill>
                          <a:latin typeface="Calibri" panose="020F0502020204030204" pitchFamily="34" charset="0"/>
                        </a:rPr>
                        <a:t>11 à 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800" b="0" i="0" u="none" strike="noStrike" dirty="0">
                          <a:solidFill>
                            <a:srgbClr val="000000"/>
                          </a:solidFill>
                          <a:latin typeface="Calibri" panose="020F0502020204030204" pitchFamily="34" charset="0"/>
                        </a:rPr>
                        <a:t>14 à 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800" b="0" i="0" u="none" strike="noStrike" dirty="0">
                          <a:solidFill>
                            <a:srgbClr val="000000"/>
                          </a:solidFill>
                          <a:latin typeface="Calibri" panose="020F0502020204030204" pitchFamily="34" charset="0"/>
                        </a:rPr>
                        <a:t>17 à 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3688">
                <a:tc>
                  <a:txBody>
                    <a:bodyPr/>
                    <a:lstStyle/>
                    <a:p>
                      <a:pPr algn="ctr" fontAlgn="b"/>
                      <a:r>
                        <a:rPr lang="fr-FR" sz="1800" b="0" i="0" u="none" strike="noStrike" dirty="0">
                          <a:solidFill>
                            <a:srgbClr val="000000"/>
                          </a:solidFill>
                          <a:latin typeface="Calibri" panose="020F0502020204030204" pitchFamily="34" charset="0"/>
                        </a:rPr>
                        <a:t>Ventes / 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5F1"/>
                    </a:solidFill>
                  </a:tcPr>
                </a:tc>
                <a:tc>
                  <a:txBody>
                    <a:bodyPr/>
                    <a:lstStyle/>
                    <a:p>
                      <a:pPr algn="ctr" fontAlgn="b"/>
                      <a:r>
                        <a:rPr lang="fr-FR" sz="1800" b="0" i="0" u="none" strike="noStrike" dirty="0">
                          <a:solidFill>
                            <a:srgbClr val="000000"/>
                          </a:solidFill>
                          <a:latin typeface="Calibri" panose="020F0502020204030204" pitchFamily="34" charset="0"/>
                        </a:rPr>
                        <a:t>600 000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800" b="0" i="0" u="none" strike="noStrike" dirty="0">
                          <a:solidFill>
                            <a:srgbClr val="000000"/>
                          </a:solidFill>
                          <a:latin typeface="Calibri" panose="020F0502020204030204" pitchFamily="34" charset="0"/>
                        </a:rPr>
                        <a:t>800 000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800" b="0" i="0" u="none" strike="noStrike" dirty="0">
                          <a:solidFill>
                            <a:srgbClr val="000000"/>
                          </a:solidFill>
                          <a:latin typeface="Calibri" panose="020F0502020204030204" pitchFamily="34" charset="0"/>
                        </a:rPr>
                        <a:t>1 000 000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800" b="0" i="0" u="none" strike="noStrike" dirty="0">
                          <a:solidFill>
                            <a:srgbClr val="000000"/>
                          </a:solidFill>
                          <a:latin typeface="Calibri" panose="020F0502020204030204" pitchFamily="34" charset="0"/>
                        </a:rPr>
                        <a:t>1 200 000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8" name="Tableau 7"/>
          <p:cNvGraphicFramePr>
            <a:graphicFrameLocks noGrp="1"/>
          </p:cNvGraphicFramePr>
          <p:nvPr>
            <p:extLst>
              <p:ext uri="{D42A27DB-BD31-4B8C-83A1-F6EECF244321}">
                <p14:modId xmlns:p14="http://schemas.microsoft.com/office/powerpoint/2010/main" val="864385351"/>
              </p:ext>
            </p:extLst>
          </p:nvPr>
        </p:nvGraphicFramePr>
        <p:xfrm>
          <a:off x="939800" y="4344670"/>
          <a:ext cx="7056439" cy="1884365"/>
        </p:xfrm>
        <a:graphic>
          <a:graphicData uri="http://schemas.openxmlformats.org/drawingml/2006/table">
            <a:tbl>
              <a:tblPr firstRow="1" bandRow="1">
                <a:tableStyleId>{5C22544A-7EE6-4342-B048-85BDC9FD1C3A}</a:tableStyleId>
              </a:tblPr>
              <a:tblGrid>
                <a:gridCol w="1417873">
                  <a:extLst>
                    <a:ext uri="{9D8B030D-6E8A-4147-A177-3AD203B41FA5}">
                      <a16:colId xmlns:a16="http://schemas.microsoft.com/office/drawing/2014/main" val="20000"/>
                    </a:ext>
                  </a:extLst>
                </a:gridCol>
                <a:gridCol w="939761">
                  <a:extLst>
                    <a:ext uri="{9D8B030D-6E8A-4147-A177-3AD203B41FA5}">
                      <a16:colId xmlns:a16="http://schemas.microsoft.com/office/drawing/2014/main" val="20001"/>
                    </a:ext>
                  </a:extLst>
                </a:gridCol>
                <a:gridCol w="939761">
                  <a:extLst>
                    <a:ext uri="{9D8B030D-6E8A-4147-A177-3AD203B41FA5}">
                      <a16:colId xmlns:a16="http://schemas.microsoft.com/office/drawing/2014/main" val="20002"/>
                    </a:ext>
                  </a:extLst>
                </a:gridCol>
                <a:gridCol w="939761">
                  <a:extLst>
                    <a:ext uri="{9D8B030D-6E8A-4147-A177-3AD203B41FA5}">
                      <a16:colId xmlns:a16="http://schemas.microsoft.com/office/drawing/2014/main" val="20003"/>
                    </a:ext>
                  </a:extLst>
                </a:gridCol>
                <a:gridCol w="939761">
                  <a:extLst>
                    <a:ext uri="{9D8B030D-6E8A-4147-A177-3AD203B41FA5}">
                      <a16:colId xmlns:a16="http://schemas.microsoft.com/office/drawing/2014/main" val="20004"/>
                    </a:ext>
                  </a:extLst>
                </a:gridCol>
                <a:gridCol w="939761">
                  <a:extLst>
                    <a:ext uri="{9D8B030D-6E8A-4147-A177-3AD203B41FA5}">
                      <a16:colId xmlns:a16="http://schemas.microsoft.com/office/drawing/2014/main" val="20005"/>
                    </a:ext>
                  </a:extLst>
                </a:gridCol>
                <a:gridCol w="939761">
                  <a:extLst>
                    <a:ext uri="{9D8B030D-6E8A-4147-A177-3AD203B41FA5}">
                      <a16:colId xmlns:a16="http://schemas.microsoft.com/office/drawing/2014/main" val="20006"/>
                    </a:ext>
                  </a:extLst>
                </a:gridCol>
              </a:tblGrid>
              <a:tr h="376873">
                <a:tc>
                  <a:txBody>
                    <a:bodyPr/>
                    <a:lstStyle/>
                    <a:p>
                      <a:pPr marL="0" algn="ctr" defTabSz="914400" rtl="0" eaLnBrk="1" latinLnBrk="0" hangingPunct="1"/>
                      <a:r>
                        <a:rPr lang="fr-FR" sz="2000" b="0" kern="1200" dirty="0">
                          <a:solidFill>
                            <a:schemeClr val="tx1"/>
                          </a:solidFill>
                          <a:latin typeface="Calibri" panose="020F0502020204030204" pitchFamily="34" charset="0"/>
                          <a:ea typeface="+mn-ea"/>
                          <a:cs typeface="Arial" pitchFamily="34" charset="0"/>
                        </a:rPr>
                        <a:t>8 à 10</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30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15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40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30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15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40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6873">
                <a:tc>
                  <a:txBody>
                    <a:bodyPr/>
                    <a:lstStyle/>
                    <a:p>
                      <a:pPr marL="0" algn="ctr" defTabSz="914400" rtl="0" eaLnBrk="1" latinLnBrk="0" hangingPunct="1"/>
                      <a:r>
                        <a:rPr lang="fr-FR" sz="2000" b="0" kern="1200" dirty="0">
                          <a:solidFill>
                            <a:schemeClr val="tx1"/>
                          </a:solidFill>
                          <a:latin typeface="Calibri" panose="020F0502020204030204" pitchFamily="34" charset="0"/>
                          <a:ea typeface="+mn-ea"/>
                          <a:cs typeface="Arial" pitchFamily="34" charset="0"/>
                        </a:rPr>
                        <a:t>11 à 13</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23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11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30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23s.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11</a:t>
                      </a:r>
                      <a:r>
                        <a:rPr lang="fr-FR" sz="1800" b="0" baseline="0" dirty="0">
                          <a:solidFill>
                            <a:schemeClr val="tx1"/>
                          </a:solidFill>
                          <a:latin typeface="Calibri" panose="020F0502020204030204" pitchFamily="34" charset="0"/>
                        </a:rPr>
                        <a:t> s.</a:t>
                      </a:r>
                      <a:endParaRPr lang="fr-FR" sz="1800" b="0" dirty="0">
                        <a:solidFill>
                          <a:schemeClr val="tx1"/>
                        </a:solidFill>
                        <a:latin typeface="Calibri" panose="020F0502020204030204" pitchFamily="34" charset="0"/>
                      </a:endParaRP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30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6873">
                <a:tc>
                  <a:txBody>
                    <a:bodyPr/>
                    <a:lstStyle/>
                    <a:p>
                      <a:pPr marL="0" algn="ctr" defTabSz="914400" rtl="0" eaLnBrk="1" latinLnBrk="0" hangingPunct="1"/>
                      <a:r>
                        <a:rPr lang="fr-FR" sz="2000" b="0" kern="1200" dirty="0">
                          <a:solidFill>
                            <a:schemeClr val="tx1"/>
                          </a:solidFill>
                          <a:latin typeface="Calibri" panose="020F0502020204030204" pitchFamily="34" charset="0"/>
                          <a:ea typeface="+mn-ea"/>
                          <a:cs typeface="Arial" pitchFamily="34" charset="0"/>
                        </a:rPr>
                        <a:t>14 à 16</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18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9</a:t>
                      </a:r>
                      <a:r>
                        <a:rPr lang="fr-FR" sz="1800" b="0" baseline="0" dirty="0">
                          <a:solidFill>
                            <a:schemeClr val="tx1"/>
                          </a:solidFill>
                          <a:latin typeface="Calibri" panose="020F0502020204030204" pitchFamily="34" charset="0"/>
                        </a:rPr>
                        <a:t> </a:t>
                      </a:r>
                      <a:r>
                        <a:rPr lang="fr-FR" sz="1800" b="0" dirty="0">
                          <a:solidFill>
                            <a:schemeClr val="tx1"/>
                          </a:solidFill>
                          <a:latin typeface="Calibri" panose="020F0502020204030204" pitchFamily="34" charset="0"/>
                        </a:rPr>
                        <a:t>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24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18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9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24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6873">
                <a:tc>
                  <a:txBody>
                    <a:bodyPr/>
                    <a:lstStyle/>
                    <a:p>
                      <a:pPr marL="0" algn="ctr" defTabSz="914400" rtl="0" eaLnBrk="1" latinLnBrk="0" hangingPunct="1"/>
                      <a:r>
                        <a:rPr lang="fr-FR" sz="2000" b="0" kern="1200" dirty="0">
                          <a:solidFill>
                            <a:schemeClr val="tx1"/>
                          </a:solidFill>
                          <a:latin typeface="Calibri" panose="020F0502020204030204" pitchFamily="34" charset="0"/>
                          <a:ea typeface="+mn-ea"/>
                          <a:cs typeface="Arial" pitchFamily="34" charset="0"/>
                        </a:rPr>
                        <a:t>17 à 20</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15</a:t>
                      </a:r>
                      <a:r>
                        <a:rPr lang="fr-FR" sz="1800" b="0" baseline="0" dirty="0">
                          <a:solidFill>
                            <a:schemeClr val="tx1"/>
                          </a:solidFill>
                          <a:latin typeface="Calibri" panose="020F0502020204030204" pitchFamily="34" charset="0"/>
                        </a:rPr>
                        <a:t> </a:t>
                      </a:r>
                      <a:r>
                        <a:rPr lang="fr-FR" sz="1800" b="0" dirty="0">
                          <a:solidFill>
                            <a:schemeClr val="tx1"/>
                          </a:solidFill>
                          <a:latin typeface="Calibri" panose="020F0502020204030204" pitchFamily="34" charset="0"/>
                        </a:rPr>
                        <a:t>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8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20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15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8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FR" sz="1800" b="0" dirty="0">
                          <a:solidFill>
                            <a:schemeClr val="tx1"/>
                          </a:solidFill>
                          <a:latin typeface="Calibri" panose="020F0502020204030204" pitchFamily="34" charset="0"/>
                        </a:rPr>
                        <a:t>20 s.</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6873">
                <a:tc>
                  <a:txBody>
                    <a:bodyPr/>
                    <a:lstStyle/>
                    <a:p>
                      <a:pPr marL="0" algn="ctr" defTabSz="914400" rtl="0" eaLnBrk="1" latinLnBrk="0" hangingPunct="1"/>
                      <a:r>
                        <a:rPr lang="fr-FR" sz="2000" b="0" kern="1200" dirty="0">
                          <a:solidFill>
                            <a:schemeClr val="tx1"/>
                          </a:solidFill>
                          <a:latin typeface="Calibri" panose="020F0502020204030204" pitchFamily="34" charset="0"/>
                          <a:ea typeface="+mn-ea"/>
                          <a:cs typeface="Arial" pitchFamily="34" charset="0"/>
                        </a:rPr>
                        <a:t>Effectif</a:t>
                      </a: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tc gridSpan="6">
                  <a:txBody>
                    <a:bodyPr/>
                    <a:lstStyle/>
                    <a:p>
                      <a:pPr algn="ctr"/>
                      <a:r>
                        <a:rPr lang="fr-FR" sz="1800" b="0" dirty="0">
                          <a:solidFill>
                            <a:schemeClr val="tx1"/>
                          </a:solidFill>
                          <a:latin typeface="Calibri" panose="020F0502020204030204" pitchFamily="34" charset="0"/>
                        </a:rPr>
                        <a:t>Valeurs du</a:t>
                      </a:r>
                      <a:r>
                        <a:rPr lang="fr-FR" sz="1800" b="0" baseline="0" dirty="0">
                          <a:solidFill>
                            <a:schemeClr val="tx1"/>
                          </a:solidFill>
                          <a:latin typeface="Calibri" panose="020F0502020204030204" pitchFamily="34" charset="0"/>
                        </a:rPr>
                        <a:t> takt time</a:t>
                      </a:r>
                      <a:endParaRPr lang="fr-FR" sz="1800" b="0" dirty="0">
                        <a:solidFill>
                          <a:schemeClr val="tx1"/>
                        </a:solidFill>
                        <a:latin typeface="Calibri" panose="020F0502020204030204" pitchFamily="34" charset="0"/>
                      </a:endParaRPr>
                    </a:p>
                  </a:txBody>
                  <a:tcPr marL="36003" marR="36003" marT="35988" marB="35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tc hMerge="1">
                  <a:txBody>
                    <a:bodyPr/>
                    <a:lstStyle/>
                    <a:p>
                      <a:pPr algn="ctr"/>
                      <a:endParaRPr lang="fr-FR" sz="18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8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8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8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fr-FR" sz="1800" b="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pSp>
        <p:nvGrpSpPr>
          <p:cNvPr id="138312" name="Groupe 8"/>
          <p:cNvGrpSpPr>
            <a:grpSpLocks/>
          </p:cNvGrpSpPr>
          <p:nvPr/>
        </p:nvGrpSpPr>
        <p:grpSpPr bwMode="auto">
          <a:xfrm>
            <a:off x="2540000" y="3817620"/>
            <a:ext cx="5337175" cy="457200"/>
            <a:chOff x="3017135" y="2409825"/>
            <a:chExt cx="3174115" cy="301073"/>
          </a:xfrm>
        </p:grpSpPr>
        <p:sp>
          <p:nvSpPr>
            <p:cNvPr id="10" name="Rectangle 9"/>
            <p:cNvSpPr/>
            <p:nvPr/>
          </p:nvSpPr>
          <p:spPr bwMode="auto">
            <a:xfrm>
              <a:off x="4719375" y="2525864"/>
              <a:ext cx="332329" cy="125447"/>
            </a:xfrm>
            <a:prstGeom prst="rect">
              <a:avLst/>
            </a:prstGeom>
            <a:solidFill>
              <a:srgbClr val="FFFF5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1" name="AutoShape 34"/>
            <p:cNvSpPr>
              <a:spLocks noChangeArrowheads="1"/>
            </p:cNvSpPr>
            <p:nvPr/>
          </p:nvSpPr>
          <p:spPr bwMode="auto">
            <a:xfrm>
              <a:off x="5852313" y="2484048"/>
              <a:ext cx="338937" cy="210124"/>
            </a:xfrm>
            <a:prstGeom prst="wave">
              <a:avLst>
                <a:gd name="adj1" fmla="val 20644"/>
                <a:gd name="adj2" fmla="val 7681"/>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2" name="Ellipse 11"/>
            <p:cNvSpPr/>
            <p:nvPr/>
          </p:nvSpPr>
          <p:spPr bwMode="auto">
            <a:xfrm>
              <a:off x="4069824" y="2519592"/>
              <a:ext cx="390864" cy="137992"/>
            </a:xfrm>
            <a:prstGeom prst="ellipse">
              <a:avLst/>
            </a:prstGeom>
            <a:solidFill>
              <a:srgbClr val="33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3" name="Croix 12"/>
            <p:cNvSpPr/>
            <p:nvPr/>
          </p:nvSpPr>
          <p:spPr bwMode="auto">
            <a:xfrm>
              <a:off x="3017135" y="2451641"/>
              <a:ext cx="270017" cy="251940"/>
            </a:xfrm>
            <a:prstGeom prst="plus">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4" name="Étoile à 5 branches 13"/>
            <p:cNvSpPr/>
            <p:nvPr/>
          </p:nvSpPr>
          <p:spPr bwMode="auto">
            <a:xfrm>
              <a:off x="3550560" y="2409825"/>
              <a:ext cx="334217" cy="301073"/>
            </a:xfrm>
            <a:prstGeom prst="star5">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5" name="Triangle isocèle 14"/>
            <p:cNvSpPr/>
            <p:nvPr/>
          </p:nvSpPr>
          <p:spPr bwMode="auto">
            <a:xfrm>
              <a:off x="5293397" y="2486139"/>
              <a:ext cx="285123" cy="205942"/>
            </a:xfrm>
            <a:prstGeom prst="triangle">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pic>
        <p:nvPicPr>
          <p:cNvPr id="17"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re 1"/>
          <p:cNvSpPr>
            <a:spLocks noGrp="1"/>
          </p:cNvSpPr>
          <p:nvPr>
            <p:ph type="title"/>
          </p:nvPr>
        </p:nvSpPr>
        <p:spPr/>
        <p:txBody>
          <a:bodyPr/>
          <a:lstStyle/>
          <a:p>
            <a:r>
              <a:rPr lang="fr-FR" altLang="fr-FR"/>
              <a:t>Combien d’opérations dans 100 produits finis ? </a:t>
            </a:r>
          </a:p>
        </p:txBody>
      </p:sp>
      <p:sp>
        <p:nvSpPr>
          <p:cNvPr id="14029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029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496C27C-14A9-4BCD-9212-35358C42A8E3}" type="slidenum">
              <a:rPr lang="fr-FR" altLang="fr-FR" smtClean="0">
                <a:latin typeface="Calibri" panose="020F0502020204030204" pitchFamily="34" charset="0"/>
              </a:rPr>
              <a:pPr>
                <a:spcBef>
                  <a:spcPct val="0"/>
                </a:spcBef>
                <a:buFontTx/>
                <a:buNone/>
              </a:pPr>
              <a:t>63</a:t>
            </a:fld>
            <a:endParaRPr lang="fr-FR" altLang="fr-FR" dirty="0">
              <a:latin typeface="Calibri" panose="020F0502020204030204" pitchFamily="34" charset="0"/>
            </a:endParaRPr>
          </a:p>
        </p:txBody>
      </p:sp>
      <p:pic>
        <p:nvPicPr>
          <p:cNvPr id="140293" name="Picture 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363" y="744538"/>
            <a:ext cx="72390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4" name="ZoneTexte 9"/>
          <p:cNvSpPr txBox="1">
            <a:spLocks noChangeArrowheads="1"/>
          </p:cNvSpPr>
          <p:nvPr/>
        </p:nvSpPr>
        <p:spPr bwMode="auto">
          <a:xfrm>
            <a:off x="1977000" y="5867400"/>
            <a:ext cx="5655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Les ventes sont réparties également entre ces 10 gammes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re 1"/>
          <p:cNvSpPr>
            <a:spLocks noGrp="1"/>
          </p:cNvSpPr>
          <p:nvPr>
            <p:ph type="title"/>
          </p:nvPr>
        </p:nvSpPr>
        <p:spPr/>
        <p:txBody>
          <a:bodyPr/>
          <a:lstStyle/>
          <a:p>
            <a:r>
              <a:rPr lang="fr-FR" altLang="fr-FR"/>
              <a:t>Le calcul du temps de cycle</a:t>
            </a:r>
          </a:p>
        </p:txBody>
      </p:sp>
      <p:sp>
        <p:nvSpPr>
          <p:cNvPr id="14233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234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BAA9D96-B756-407F-B3AE-EC75A57A4C62}" type="slidenum">
              <a:rPr lang="fr-FR" altLang="fr-FR" smtClean="0">
                <a:latin typeface="Calibri" panose="020F0502020204030204" pitchFamily="34" charset="0"/>
              </a:rPr>
              <a:pPr>
                <a:spcBef>
                  <a:spcPct val="0"/>
                </a:spcBef>
                <a:buFontTx/>
                <a:buNone/>
              </a:pPr>
              <a:t>64</a:t>
            </a:fld>
            <a:endParaRPr lang="fr-FR" altLang="fr-FR" dirty="0">
              <a:latin typeface="Calibri" panose="020F0502020204030204" pitchFamily="34" charset="0"/>
            </a:endParaRPr>
          </a:p>
        </p:txBody>
      </p:sp>
      <p:grpSp>
        <p:nvGrpSpPr>
          <p:cNvPr id="12" name="Groupe 11"/>
          <p:cNvGrpSpPr>
            <a:grpSpLocks/>
          </p:cNvGrpSpPr>
          <p:nvPr/>
        </p:nvGrpSpPr>
        <p:grpSpPr bwMode="auto">
          <a:xfrm>
            <a:off x="3524250" y="1174750"/>
            <a:ext cx="5337175" cy="528638"/>
            <a:chOff x="3017135" y="2409825"/>
            <a:chExt cx="3174115" cy="301073"/>
          </a:xfrm>
        </p:grpSpPr>
        <p:sp>
          <p:nvSpPr>
            <p:cNvPr id="13" name="Rectangle 12"/>
            <p:cNvSpPr/>
            <p:nvPr/>
          </p:nvSpPr>
          <p:spPr bwMode="auto">
            <a:xfrm>
              <a:off x="4719375" y="2526457"/>
              <a:ext cx="332329" cy="124769"/>
            </a:xfrm>
            <a:prstGeom prst="rect">
              <a:avLst/>
            </a:prstGeom>
            <a:solidFill>
              <a:srgbClr val="FFFF5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4" name="AutoShape 34"/>
            <p:cNvSpPr>
              <a:spLocks noChangeArrowheads="1"/>
            </p:cNvSpPr>
            <p:nvPr/>
          </p:nvSpPr>
          <p:spPr bwMode="auto">
            <a:xfrm>
              <a:off x="5852313" y="2483963"/>
              <a:ext cx="338937" cy="209756"/>
            </a:xfrm>
            <a:prstGeom prst="wave">
              <a:avLst>
                <a:gd name="adj1" fmla="val 20644"/>
                <a:gd name="adj2" fmla="val 7681"/>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6" name="Ellipse 15"/>
            <p:cNvSpPr/>
            <p:nvPr/>
          </p:nvSpPr>
          <p:spPr bwMode="auto">
            <a:xfrm>
              <a:off x="4069824" y="2520128"/>
              <a:ext cx="390864" cy="138331"/>
            </a:xfrm>
            <a:prstGeom prst="ellipse">
              <a:avLst/>
            </a:prstGeom>
            <a:solidFill>
              <a:srgbClr val="33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7" name="Croix 16"/>
            <p:cNvSpPr/>
            <p:nvPr/>
          </p:nvSpPr>
          <p:spPr bwMode="auto">
            <a:xfrm>
              <a:off x="3017135" y="2451415"/>
              <a:ext cx="270017" cy="252250"/>
            </a:xfrm>
            <a:prstGeom prst="plus">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9" name="Étoile à 5 branches 18"/>
            <p:cNvSpPr/>
            <p:nvPr/>
          </p:nvSpPr>
          <p:spPr bwMode="auto">
            <a:xfrm>
              <a:off x="3550560" y="2409825"/>
              <a:ext cx="334217" cy="301073"/>
            </a:xfrm>
            <a:prstGeom prst="star5">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2" name="Triangle isocèle 21"/>
            <p:cNvSpPr/>
            <p:nvPr/>
          </p:nvSpPr>
          <p:spPr bwMode="auto">
            <a:xfrm>
              <a:off x="5293397" y="2485771"/>
              <a:ext cx="285123" cy="206140"/>
            </a:xfrm>
            <a:prstGeom prst="triangle">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sp>
        <p:nvSpPr>
          <p:cNvPr id="23" name="Ellipse 22"/>
          <p:cNvSpPr>
            <a:spLocks noChangeArrowheads="1"/>
          </p:cNvSpPr>
          <p:nvPr/>
        </p:nvSpPr>
        <p:spPr bwMode="auto">
          <a:xfrm>
            <a:off x="1292225" y="3757613"/>
            <a:ext cx="2019300" cy="641350"/>
          </a:xfrm>
          <a:prstGeom prst="ellipse">
            <a:avLst/>
          </a:prstGeom>
          <a:noFill/>
          <a:ln w="1905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 name="Titre 1"/>
          <p:cNvSpPr txBox="1">
            <a:spLocks/>
          </p:cNvSpPr>
          <p:nvPr/>
        </p:nvSpPr>
        <p:spPr bwMode="auto">
          <a:xfrm>
            <a:off x="619125" y="606425"/>
            <a:ext cx="8650288" cy="419100"/>
          </a:xfrm>
          <a:prstGeom prst="rect">
            <a:avLst/>
          </a:prstGeom>
          <a:noFill/>
          <a:ln w="9525">
            <a:noFill/>
            <a:miter lim="800000"/>
            <a:headEnd/>
            <a:tailEnd/>
          </a:ln>
        </p:spPr>
        <p:txBody>
          <a:bodyPr anchor="ctr"/>
          <a:lstStyle/>
          <a:p>
            <a:pPr algn="ctr">
              <a:defRPr/>
            </a:pPr>
            <a:r>
              <a:rPr lang="fr-FR" sz="1800" b="1" kern="0" dirty="0">
                <a:solidFill>
                  <a:srgbClr val="0033CC"/>
                </a:solidFill>
                <a:latin typeface="Calibri" panose="020F0502020204030204" pitchFamily="34" charset="0"/>
                <a:ea typeface="+mj-ea"/>
                <a:cs typeface="+mj-cs"/>
              </a:rPr>
              <a:t>Attention : ce calcul concerne l’atelier dans son ensemble (et non le poste)</a:t>
            </a:r>
          </a:p>
        </p:txBody>
      </p:sp>
      <p:graphicFrame>
        <p:nvGraphicFramePr>
          <p:cNvPr id="20" name="Tableau 19"/>
          <p:cNvGraphicFramePr>
            <a:graphicFrameLocks noGrp="1"/>
          </p:cNvGraphicFramePr>
          <p:nvPr/>
        </p:nvGraphicFramePr>
        <p:xfrm>
          <a:off x="404813" y="1838325"/>
          <a:ext cx="8591549" cy="3833814"/>
        </p:xfrm>
        <a:graphic>
          <a:graphicData uri="http://schemas.openxmlformats.org/drawingml/2006/table">
            <a:tbl>
              <a:tblPr firstRow="1" bandRow="1">
                <a:tableStyleId>{5C22544A-7EE6-4342-B048-85BDC9FD1C3A}</a:tableStyleId>
              </a:tblPr>
              <a:tblGrid>
                <a:gridCol w="1155373">
                  <a:extLst>
                    <a:ext uri="{9D8B030D-6E8A-4147-A177-3AD203B41FA5}">
                      <a16:colId xmlns:a16="http://schemas.microsoft.com/office/drawing/2014/main" val="20000"/>
                    </a:ext>
                  </a:extLst>
                </a:gridCol>
                <a:gridCol w="1831390">
                  <a:extLst>
                    <a:ext uri="{9D8B030D-6E8A-4147-A177-3AD203B41FA5}">
                      <a16:colId xmlns:a16="http://schemas.microsoft.com/office/drawing/2014/main" val="20001"/>
                    </a:ext>
                  </a:extLst>
                </a:gridCol>
                <a:gridCol w="934131">
                  <a:extLst>
                    <a:ext uri="{9D8B030D-6E8A-4147-A177-3AD203B41FA5}">
                      <a16:colId xmlns:a16="http://schemas.microsoft.com/office/drawing/2014/main" val="20002"/>
                    </a:ext>
                  </a:extLst>
                </a:gridCol>
                <a:gridCol w="934131">
                  <a:extLst>
                    <a:ext uri="{9D8B030D-6E8A-4147-A177-3AD203B41FA5}">
                      <a16:colId xmlns:a16="http://schemas.microsoft.com/office/drawing/2014/main" val="20003"/>
                    </a:ext>
                  </a:extLst>
                </a:gridCol>
                <a:gridCol w="934131">
                  <a:extLst>
                    <a:ext uri="{9D8B030D-6E8A-4147-A177-3AD203B41FA5}">
                      <a16:colId xmlns:a16="http://schemas.microsoft.com/office/drawing/2014/main" val="20004"/>
                    </a:ext>
                  </a:extLst>
                </a:gridCol>
                <a:gridCol w="934131">
                  <a:extLst>
                    <a:ext uri="{9D8B030D-6E8A-4147-A177-3AD203B41FA5}">
                      <a16:colId xmlns:a16="http://schemas.microsoft.com/office/drawing/2014/main" val="20005"/>
                    </a:ext>
                  </a:extLst>
                </a:gridCol>
                <a:gridCol w="934131">
                  <a:extLst>
                    <a:ext uri="{9D8B030D-6E8A-4147-A177-3AD203B41FA5}">
                      <a16:colId xmlns:a16="http://schemas.microsoft.com/office/drawing/2014/main" val="20006"/>
                    </a:ext>
                  </a:extLst>
                </a:gridCol>
                <a:gridCol w="934131">
                  <a:extLst>
                    <a:ext uri="{9D8B030D-6E8A-4147-A177-3AD203B41FA5}">
                      <a16:colId xmlns:a16="http://schemas.microsoft.com/office/drawing/2014/main" val="20007"/>
                    </a:ext>
                  </a:extLst>
                </a:gridCol>
              </a:tblGrid>
              <a:tr h="638969">
                <a:tc>
                  <a:txBody>
                    <a:bodyPr/>
                    <a:lstStyle/>
                    <a:p>
                      <a:pPr marL="0" algn="r" defTabSz="914400" rtl="0" eaLnBrk="1" latinLnBrk="0" hangingPunct="1">
                        <a:lnSpc>
                          <a:spcPts val="2000"/>
                        </a:lnSpc>
                      </a:pPr>
                      <a:r>
                        <a:rPr lang="fr-FR" sz="1400" b="1" kern="1200" dirty="0">
                          <a:solidFill>
                            <a:srgbClr val="0033CC"/>
                          </a:solidFill>
                          <a:latin typeface="Calibri" panose="020F0502020204030204" pitchFamily="34" charset="0"/>
                          <a:ea typeface="+mn-ea"/>
                          <a:cs typeface="Arial" pitchFamily="34" charset="0"/>
                        </a:rPr>
                        <a:t>a</a:t>
                      </a:r>
                    </a:p>
                  </a:txBody>
                  <a:tcPr marL="56571" marR="113141" marT="56558" marB="5655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lnSpc>
                          <a:spcPts val="2000"/>
                        </a:lnSpc>
                      </a:pPr>
                      <a:r>
                        <a:rPr lang="fr-FR" sz="1700" b="0" kern="1200" dirty="0">
                          <a:solidFill>
                            <a:schemeClr val="tx1"/>
                          </a:solidFill>
                          <a:latin typeface="Calibri" panose="020F0502020204030204" pitchFamily="34" charset="0"/>
                          <a:ea typeface="+mn-ea"/>
                          <a:cs typeface="Arial" pitchFamily="34" charset="0"/>
                        </a:rPr>
                        <a:t>Production de votre atelier</a:t>
                      </a: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pPr>
                      <a:endParaRPr lang="fr-FR" sz="1600" b="0" dirty="0">
                        <a:solidFill>
                          <a:schemeClr val="tx1"/>
                        </a:solidFill>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19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38969">
                <a:tc>
                  <a:txBody>
                    <a:bodyPr/>
                    <a:lstStyle/>
                    <a:p>
                      <a:pPr marL="0" algn="r" defTabSz="914400" rtl="0" eaLnBrk="1" latinLnBrk="0" hangingPunct="1">
                        <a:lnSpc>
                          <a:spcPts val="2000"/>
                        </a:lnSpc>
                      </a:pPr>
                      <a:r>
                        <a:rPr lang="fr-FR" sz="1400" b="1" kern="1200" dirty="0">
                          <a:solidFill>
                            <a:srgbClr val="0033CC"/>
                          </a:solidFill>
                          <a:latin typeface="Calibri" panose="020F0502020204030204" pitchFamily="34" charset="0"/>
                          <a:ea typeface="+mn-ea"/>
                          <a:cs typeface="Arial" pitchFamily="34" charset="0"/>
                        </a:rPr>
                        <a:t>b</a:t>
                      </a:r>
                    </a:p>
                  </a:txBody>
                  <a:tcPr marL="56571" marR="113141" marT="56558" marB="5655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lnSpc>
                          <a:spcPts val="2000"/>
                        </a:lnSpc>
                      </a:pPr>
                      <a:r>
                        <a:rPr lang="fr-FR" sz="1700" b="0" kern="1200" dirty="0">
                          <a:solidFill>
                            <a:schemeClr val="tx1"/>
                          </a:solidFill>
                          <a:latin typeface="Calibri" panose="020F0502020204030204" pitchFamily="34" charset="0"/>
                          <a:ea typeface="+mn-ea"/>
                          <a:cs typeface="Arial" pitchFamily="34" charset="0"/>
                        </a:rPr>
                        <a:t>Tps. d’ouverture </a:t>
                      </a:r>
                      <a:r>
                        <a:rPr lang="fr-FR" sz="1400" b="0" kern="1200" dirty="0">
                          <a:solidFill>
                            <a:schemeClr val="tx1"/>
                          </a:solidFill>
                          <a:latin typeface="Calibri" panose="020F0502020204030204" pitchFamily="34" charset="0"/>
                          <a:ea typeface="+mn-ea"/>
                          <a:cs typeface="Arial" pitchFamily="34" charset="0"/>
                        </a:rPr>
                        <a:t>(min. + 1 déc.)</a:t>
                      </a:r>
                      <a:endParaRPr lang="fr-FR" sz="1700" b="0" kern="1200" dirty="0">
                        <a:solidFill>
                          <a:schemeClr val="tx1"/>
                        </a:solidFill>
                        <a:latin typeface="Calibri" panose="020F0502020204030204" pitchFamily="34" charset="0"/>
                        <a:ea typeface="+mn-ea"/>
                        <a:cs typeface="Arial"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pPr>
                      <a:endParaRPr lang="fr-FR" sz="1600" b="0" dirty="0">
                        <a:solidFill>
                          <a:schemeClr val="tx1"/>
                        </a:solidFill>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19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38969">
                <a:tc>
                  <a:txBody>
                    <a:bodyPr/>
                    <a:lstStyle/>
                    <a:p>
                      <a:pPr marL="0" algn="r" defTabSz="914400" rtl="0" eaLnBrk="1" latinLnBrk="0" hangingPunct="1">
                        <a:lnSpc>
                          <a:spcPts val="2000"/>
                        </a:lnSpc>
                      </a:pPr>
                      <a:r>
                        <a:rPr lang="fr-FR" sz="1400" b="1" kern="1200" dirty="0">
                          <a:solidFill>
                            <a:srgbClr val="0033CC"/>
                          </a:solidFill>
                          <a:latin typeface="Calibri" panose="020F0502020204030204" pitchFamily="34" charset="0"/>
                          <a:ea typeface="+mn-ea"/>
                          <a:cs typeface="Arial" pitchFamily="34" charset="0"/>
                        </a:rPr>
                        <a:t>c %</a:t>
                      </a:r>
                    </a:p>
                  </a:txBody>
                  <a:tcPr marL="56571" marR="113141" marT="56558" marB="5655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lnSpc>
                          <a:spcPts val="2000"/>
                        </a:lnSpc>
                      </a:pPr>
                      <a:r>
                        <a:rPr lang="fr-FR" sz="1700" b="0" kern="1200" dirty="0">
                          <a:solidFill>
                            <a:srgbClr val="FF0000"/>
                          </a:solidFill>
                          <a:latin typeface="Calibri" panose="020F0502020204030204" pitchFamily="34" charset="0"/>
                          <a:ea typeface="+mn-ea"/>
                          <a:cs typeface="Arial" pitchFamily="34" charset="0"/>
                        </a:rPr>
                        <a:t>Taux de charge</a:t>
                      </a: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pPr>
                      <a:endParaRPr lang="fr-FR" sz="1600" b="0" dirty="0">
                        <a:solidFill>
                          <a:schemeClr val="tx1"/>
                        </a:solidFill>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19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38969">
                <a:tc>
                  <a:txBody>
                    <a:bodyPr/>
                    <a:lstStyle/>
                    <a:p>
                      <a:pPr marL="0" algn="r" defTabSz="914400" rtl="0" eaLnBrk="1" latinLnBrk="0" hangingPunct="1">
                        <a:lnSpc>
                          <a:spcPts val="2000"/>
                        </a:lnSpc>
                      </a:pPr>
                      <a:r>
                        <a:rPr lang="fr-FR" sz="1400" b="1" kern="1200" dirty="0">
                          <a:solidFill>
                            <a:srgbClr val="0033CC"/>
                          </a:solidFill>
                          <a:latin typeface="Calibri" panose="020F0502020204030204" pitchFamily="34" charset="0"/>
                          <a:ea typeface="+mn-ea"/>
                          <a:cs typeface="Arial" pitchFamily="34" charset="0"/>
                        </a:rPr>
                        <a:t>d = b x c %</a:t>
                      </a:r>
                    </a:p>
                  </a:txBody>
                  <a:tcPr marL="56571" marR="113141" marT="56558" marB="5655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lnSpc>
                          <a:spcPts val="2000"/>
                        </a:lnSpc>
                      </a:pPr>
                      <a:r>
                        <a:rPr lang="fr-FR" sz="1700" b="0" kern="1200" dirty="0">
                          <a:solidFill>
                            <a:schemeClr val="tx1"/>
                          </a:solidFill>
                          <a:latin typeface="Calibri" panose="020F0502020204030204" pitchFamily="34" charset="0"/>
                          <a:ea typeface="+mn-ea"/>
                          <a:cs typeface="Arial" pitchFamily="34" charset="0"/>
                        </a:rPr>
                        <a:t>Tps. de charge</a:t>
                      </a:r>
                      <a:br>
                        <a:rPr lang="fr-FR" sz="1700" b="0" kern="1200" dirty="0">
                          <a:solidFill>
                            <a:schemeClr val="tx1"/>
                          </a:solidFill>
                          <a:latin typeface="Calibri" panose="020F0502020204030204" pitchFamily="34" charset="0"/>
                          <a:ea typeface="+mn-ea"/>
                          <a:cs typeface="Arial" pitchFamily="34" charset="0"/>
                        </a:rPr>
                      </a:br>
                      <a:r>
                        <a:rPr lang="fr-FR" sz="1400" b="0" kern="1200" dirty="0">
                          <a:solidFill>
                            <a:schemeClr val="tx1"/>
                          </a:solidFill>
                          <a:latin typeface="Calibri" panose="020F0502020204030204" pitchFamily="34" charset="0"/>
                          <a:ea typeface="+mn-ea"/>
                          <a:cs typeface="Arial" pitchFamily="34" charset="0"/>
                        </a:rPr>
                        <a:t>(min. + 1 déc.</a:t>
                      </a:r>
                      <a:r>
                        <a:rPr lang="fr-FR" sz="1700" b="0" kern="1200" dirty="0">
                          <a:solidFill>
                            <a:schemeClr val="tx1"/>
                          </a:solidFill>
                          <a:latin typeface="Calibri" panose="020F0502020204030204" pitchFamily="34" charset="0"/>
                          <a:ea typeface="+mn-ea"/>
                          <a:cs typeface="Arial" pitchFamily="34" charset="0"/>
                        </a:rPr>
                        <a:t>)</a:t>
                      </a: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pPr>
                      <a:endParaRPr lang="fr-FR" sz="1600" b="0" dirty="0">
                        <a:solidFill>
                          <a:schemeClr val="tx1"/>
                        </a:solidFill>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19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8969">
                <a:tc>
                  <a:txBody>
                    <a:bodyPr/>
                    <a:lstStyle/>
                    <a:p>
                      <a:pPr marL="0" algn="r" defTabSz="914400" rtl="0" eaLnBrk="1" latinLnBrk="0" hangingPunct="1">
                        <a:lnSpc>
                          <a:spcPts val="2000"/>
                        </a:lnSpc>
                      </a:pPr>
                      <a:r>
                        <a:rPr lang="fr-FR" sz="1400" b="1" kern="1200" dirty="0">
                          <a:solidFill>
                            <a:srgbClr val="0033CC"/>
                          </a:solidFill>
                          <a:latin typeface="Calibri" panose="020F0502020204030204" pitchFamily="34" charset="0"/>
                          <a:ea typeface="+mn-ea"/>
                          <a:cs typeface="Arial" pitchFamily="34" charset="0"/>
                        </a:rPr>
                        <a:t>e = d x 60</a:t>
                      </a:r>
                    </a:p>
                  </a:txBody>
                  <a:tcPr marL="56571" marR="113141" marT="56558" marB="5655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lnSpc>
                          <a:spcPts val="2000"/>
                        </a:lnSpc>
                      </a:pPr>
                      <a:r>
                        <a:rPr lang="fr-FR" sz="1700" b="0" kern="1200" dirty="0">
                          <a:solidFill>
                            <a:schemeClr val="tx1"/>
                          </a:solidFill>
                          <a:latin typeface="Calibri" panose="020F0502020204030204" pitchFamily="34" charset="0"/>
                          <a:ea typeface="+mn-ea"/>
                          <a:cs typeface="Arial" pitchFamily="34" charset="0"/>
                        </a:rPr>
                        <a:t>Tps. de charge</a:t>
                      </a:r>
                      <a:r>
                        <a:rPr lang="fr-FR" sz="1400" b="0" kern="1200" dirty="0">
                          <a:solidFill>
                            <a:schemeClr val="tx1"/>
                          </a:solidFill>
                          <a:latin typeface="Calibri" panose="020F0502020204030204" pitchFamily="34" charset="0"/>
                          <a:ea typeface="+mn-ea"/>
                          <a:cs typeface="Arial" pitchFamily="34" charset="0"/>
                        </a:rPr>
                        <a:t> (sec.)</a:t>
                      </a: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gn="ctr">
                        <a:lnSpc>
                          <a:spcPts val="2000"/>
                        </a:lnSpc>
                      </a:pPr>
                      <a:endParaRPr lang="fr-FR" sz="1600" b="0" dirty="0">
                        <a:solidFill>
                          <a:schemeClr val="tx1"/>
                        </a:solidFill>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19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38969">
                <a:tc>
                  <a:txBody>
                    <a:bodyPr/>
                    <a:lstStyle/>
                    <a:p>
                      <a:pPr marL="0" algn="r" defTabSz="914400" rtl="0" eaLnBrk="1" latinLnBrk="0" hangingPunct="1">
                        <a:lnSpc>
                          <a:spcPts val="2000"/>
                        </a:lnSpc>
                      </a:pPr>
                      <a:r>
                        <a:rPr lang="fr-FR" sz="1400" b="1" kern="1200" dirty="0">
                          <a:solidFill>
                            <a:srgbClr val="0033CC"/>
                          </a:solidFill>
                          <a:latin typeface="Calibri" panose="020F0502020204030204" pitchFamily="34" charset="0"/>
                          <a:ea typeface="+mn-ea"/>
                          <a:cs typeface="Arial" pitchFamily="34" charset="0"/>
                        </a:rPr>
                        <a:t>= e / a</a:t>
                      </a:r>
                    </a:p>
                  </a:txBody>
                  <a:tcPr marL="56571" marR="113141" marT="56558" marB="56558" anchor="ctr">
                    <a:lnL w="12700" cap="flat" cmpd="sng" algn="ctr">
                      <a:noFill/>
                      <a:prstDash val="solid"/>
                      <a:round/>
                      <a:headEnd type="none" w="med" len="med"/>
                      <a:tailEnd type="none" w="med" len="med"/>
                    </a:lnL>
                    <a:lnR w="19050" cap="flat" cmpd="sng" algn="ctr">
                      <a:solidFill>
                        <a:srgbClr val="0033CC"/>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lnSpc>
                          <a:spcPts val="2000"/>
                        </a:lnSpc>
                      </a:pPr>
                      <a:r>
                        <a:rPr lang="fr-FR" sz="1700" b="0" kern="1200" dirty="0">
                          <a:solidFill>
                            <a:schemeClr val="tx1"/>
                          </a:solidFill>
                          <a:latin typeface="Calibri" panose="020F0502020204030204" pitchFamily="34" charset="0"/>
                          <a:ea typeface="+mn-ea"/>
                          <a:cs typeface="Arial" pitchFamily="34" charset="0"/>
                        </a:rPr>
                        <a:t>Tps. de cycle </a:t>
                      </a:r>
                      <a:r>
                        <a:rPr lang="fr-FR" sz="1400" b="0" kern="1200" dirty="0">
                          <a:solidFill>
                            <a:schemeClr val="tx1"/>
                          </a:solidFill>
                          <a:latin typeface="Calibri" panose="020F0502020204030204" pitchFamily="34" charset="0"/>
                          <a:ea typeface="+mn-ea"/>
                          <a:cs typeface="Arial" pitchFamily="34" charset="0"/>
                        </a:rPr>
                        <a:t>(sec.)</a:t>
                      </a:r>
                    </a:p>
                  </a:txBody>
                  <a:tcPr marL="56571" marR="56571" marT="56558" marB="56558" anchor="ctr">
                    <a:lnL w="19050" cap="flat" cmpd="sng" algn="ctr">
                      <a:solidFill>
                        <a:srgbClr val="0033CC"/>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gn="ctr">
                        <a:lnSpc>
                          <a:spcPts val="2000"/>
                        </a:lnSpc>
                      </a:pPr>
                      <a:endParaRPr lang="fr-FR" sz="1600" b="0" dirty="0">
                        <a:solidFill>
                          <a:schemeClr val="tx1"/>
                        </a:solidFill>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19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tc>
                  <a:txBody>
                    <a:bodyPr/>
                    <a:lstStyle/>
                    <a:p>
                      <a:pPr>
                        <a:lnSpc>
                          <a:spcPts val="2000"/>
                        </a:lnSpc>
                      </a:pPr>
                      <a:endParaRPr lang="fr-FR" sz="2800" dirty="0">
                        <a:latin typeface="Calibri" panose="020F0502020204030204" pitchFamily="34" charset="0"/>
                      </a:endParaRPr>
                    </a:p>
                  </a:txBody>
                  <a:tcPr marL="56571" marR="56571" marT="56558" marB="56558" anchor="ctr">
                    <a:lnL w="12700" cap="flat" cmpd="sng" algn="ctr">
                      <a:solidFill>
                        <a:schemeClr val="tx1"/>
                      </a:solidFill>
                      <a:prstDash val="solid"/>
                      <a:round/>
                      <a:headEnd type="none" w="med" len="med"/>
                      <a:tailEnd type="none" w="med" len="med"/>
                    </a:lnL>
                    <a:lnR w="19050" cap="flat" cmpd="sng" algn="ctr">
                      <a:solidFill>
                        <a:srgbClr val="0033CC"/>
                      </a:solidFill>
                      <a:prstDash val="solid"/>
                      <a:round/>
                      <a:headEnd type="none" w="med" len="med"/>
                      <a:tailEnd type="none" w="med" len="med"/>
                    </a:lnR>
                    <a:lnT w="19050" cap="flat" cmpd="sng" algn="ctr">
                      <a:solidFill>
                        <a:srgbClr val="0033CC"/>
                      </a:solidFill>
                      <a:prstDash val="solid"/>
                      <a:round/>
                      <a:headEnd type="none" w="med" len="med"/>
                      <a:tailEnd type="none" w="med" len="med"/>
                    </a:lnT>
                    <a:lnB w="19050" cap="flat" cmpd="sng" algn="ctr">
                      <a:solidFill>
                        <a:srgbClr val="0033C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24" name="Picture 1">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438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438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549CC52-70A3-46C5-90E4-231196D18264}" type="slidenum">
              <a:rPr lang="fr-FR" altLang="fr-FR" smtClean="0">
                <a:latin typeface="Calibri" panose="020F0502020204030204" pitchFamily="34" charset="0"/>
              </a:rPr>
              <a:pPr>
                <a:spcBef>
                  <a:spcPct val="0"/>
                </a:spcBef>
                <a:buFontTx/>
                <a:buNone/>
              </a:pPr>
              <a:t>65</a:t>
            </a:fld>
            <a:endParaRPr lang="fr-FR" altLang="fr-FR" dirty="0">
              <a:latin typeface="Calibri" panose="020F0502020204030204" pitchFamily="34" charset="0"/>
            </a:endParaRPr>
          </a:p>
        </p:txBody>
      </p:sp>
      <p:sp>
        <p:nvSpPr>
          <p:cNvPr id="6" name="Titre 1"/>
          <p:cNvSpPr txBox="1">
            <a:spLocks/>
          </p:cNvSpPr>
          <p:nvPr/>
        </p:nvSpPr>
        <p:spPr bwMode="auto">
          <a:xfrm>
            <a:off x="498475" y="0"/>
            <a:ext cx="8650288" cy="419100"/>
          </a:xfrm>
          <a:prstGeom prst="rect">
            <a:avLst/>
          </a:prstGeom>
          <a:noFill/>
          <a:ln w="9525">
            <a:noFill/>
            <a:miter lim="800000"/>
            <a:headEnd/>
            <a:tailEnd/>
          </a:ln>
        </p:spPr>
        <p:txBody>
          <a:bodyPr anchor="ctr"/>
          <a:lstStyle/>
          <a:p>
            <a:pPr algn="ctr">
              <a:defRPr/>
            </a:pPr>
            <a:r>
              <a:rPr lang="fr-FR" sz="2000" b="1" kern="0" dirty="0">
                <a:solidFill>
                  <a:schemeClr val="bg1"/>
                </a:solidFill>
                <a:latin typeface="Calibri" panose="020F0502020204030204" pitchFamily="34" charset="0"/>
                <a:ea typeface="+mj-ea"/>
                <a:cs typeface="+mj-cs"/>
              </a:rPr>
              <a:t>Debriefing du Takt time</a:t>
            </a:r>
          </a:p>
        </p:txBody>
      </p:sp>
      <p:pic>
        <p:nvPicPr>
          <p:cNvPr id="14439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988" y="442913"/>
            <a:ext cx="5214937" cy="2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Espace réservé du contenu 2"/>
          <p:cNvSpPr>
            <a:spLocks noGrp="1"/>
          </p:cNvSpPr>
          <p:nvPr>
            <p:ph idx="1"/>
          </p:nvPr>
        </p:nvSpPr>
        <p:spPr>
          <a:xfrm>
            <a:off x="177800" y="3390900"/>
            <a:ext cx="9194800" cy="3124200"/>
          </a:xfrm>
        </p:spPr>
        <p:txBody>
          <a:bodyPr/>
          <a:lstStyle/>
          <a:p>
            <a:pPr marL="0" indent="12700">
              <a:buFontTx/>
              <a:buNone/>
              <a:defRPr/>
            </a:pPr>
            <a:r>
              <a:rPr lang="fr-FR" sz="1500" dirty="0"/>
              <a:t>Après avoir rentré les résultats dans le Tableau de bord, l’animateur projette les résultats (le graphique ci-dessus n’est qu’un exemple). Il demande aux participants ce qu’ils en pensent. Le graphique montre que : </a:t>
            </a:r>
          </a:p>
          <a:p>
            <a:pPr marL="177800" indent="-177800">
              <a:defRPr/>
            </a:pPr>
            <a:r>
              <a:rPr lang="fr-FR" sz="1500" dirty="0"/>
              <a:t>Certains postes auront du mal à satisfaire la demande (ici  étoile, triangle) car leur rythme de production est inférieur au rythme de la demande.</a:t>
            </a:r>
          </a:p>
          <a:p>
            <a:pPr marL="177800" indent="-177800">
              <a:defRPr/>
            </a:pPr>
            <a:r>
              <a:rPr lang="fr-FR" sz="1500" dirty="0"/>
              <a:t>D’autres travaillent plus vite que la demande (croix, ovale, rectangle, vague).</a:t>
            </a:r>
          </a:p>
          <a:p>
            <a:pPr marL="177800" indent="-177800">
              <a:defRPr/>
            </a:pPr>
            <a:r>
              <a:rPr lang="fr-FR" sz="1500" dirty="0"/>
              <a:t>Du fait de la différence des écarts Takt time / Cycle d’un poste à l’autre, on a des déséquilibres au sein même du processus. Les postes moins chargés qui sont en entrée du processus (croix, ovale, rectangle) « poussent » le flux vers les goulets (étoile, triangle). Le poste vague, qui est plutôt en fin de processus, manque de travail.</a:t>
            </a:r>
          </a:p>
          <a:p>
            <a:pPr marL="0" indent="0">
              <a:buFontTx/>
              <a:buNone/>
              <a:defRPr/>
            </a:pPr>
            <a:r>
              <a:rPr lang="fr-FR" sz="1500" dirty="0"/>
              <a:t>Précisions que le constat ci-dessus n’est valable qu’en référence au graphique présenté. Dans la réalité du jeu, on peut aboutir à d’autres conclusions (par exemple si on a placé plus de monde en étoile le poste peut ne plus être un goulet). L’important est que les participants comprennent le principe de la méthode.</a:t>
            </a:r>
          </a:p>
          <a:p>
            <a:pPr>
              <a:defRPr/>
            </a:pPr>
            <a:endParaRPr lang="fr-FR" sz="1500" dirty="0"/>
          </a:p>
        </p:txBody>
      </p:sp>
      <p:pic>
        <p:nvPicPr>
          <p:cNvPr id="9"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14643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643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E4F2E81-241B-49AD-B5DE-107FF00DD03C}" type="slidenum">
              <a:rPr lang="fr-FR" altLang="fr-FR" smtClean="0">
                <a:latin typeface="Calibri" panose="020F0502020204030204" pitchFamily="34" charset="0"/>
              </a:rPr>
              <a:pPr>
                <a:spcBef>
                  <a:spcPct val="0"/>
                </a:spcBef>
                <a:buFontTx/>
                <a:buNone/>
              </a:pPr>
              <a:t>66</a:t>
            </a:fld>
            <a:endParaRPr lang="fr-FR" altLang="fr-FR" dirty="0">
              <a:latin typeface="Calibri" panose="020F0502020204030204" pitchFamily="34" charset="0"/>
            </a:endParaRPr>
          </a:p>
        </p:txBody>
      </p:sp>
      <p:sp>
        <p:nvSpPr>
          <p:cNvPr id="6" name="Rectangle 5"/>
          <p:cNvSpPr/>
          <p:nvPr/>
        </p:nvSpPr>
        <p:spPr>
          <a:xfrm>
            <a:off x="372034" y="1980704"/>
            <a:ext cx="8924366" cy="1200329"/>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4. Les améliorations</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482" name="Titre 1"/>
          <p:cNvSpPr>
            <a:spLocks noGrp="1"/>
          </p:cNvSpPr>
          <p:nvPr>
            <p:ph type="title"/>
          </p:nvPr>
        </p:nvSpPr>
        <p:spPr/>
        <p:txBody>
          <a:bodyPr/>
          <a:lstStyle/>
          <a:p>
            <a:r>
              <a:rPr lang="fr-FR" altLang="fr-FR"/>
              <a:t>Mise en place des équipes projet</a:t>
            </a:r>
          </a:p>
        </p:txBody>
      </p:sp>
      <p:sp>
        <p:nvSpPr>
          <p:cNvPr id="53" name="Espace réservé du contenu 52"/>
          <p:cNvSpPr>
            <a:spLocks noGrp="1"/>
          </p:cNvSpPr>
          <p:nvPr>
            <p:ph idx="1"/>
          </p:nvPr>
        </p:nvSpPr>
        <p:spPr>
          <a:xfrm>
            <a:off x="3913188" y="793750"/>
            <a:ext cx="5699125" cy="3843338"/>
          </a:xfrm>
        </p:spPr>
        <p:txBody>
          <a:bodyPr/>
          <a:lstStyle/>
          <a:p>
            <a:r>
              <a:rPr lang="fr-FR" altLang="fr-FR" sz="2000"/>
              <a:t>Vous vous répartissez en </a:t>
            </a:r>
            <a:r>
              <a:rPr lang="fr-FR" altLang="fr-FR" sz="2000">
                <a:solidFill>
                  <a:srgbClr val="FF0000"/>
                </a:solidFill>
              </a:rPr>
              <a:t>4 équipes</a:t>
            </a:r>
            <a:r>
              <a:rPr lang="fr-FR" altLang="fr-FR" sz="2000"/>
              <a:t> pour préparer 4 projets d’amélioration</a:t>
            </a:r>
          </a:p>
          <a:p>
            <a:endParaRPr lang="fr-FR" altLang="fr-FR" sz="2000">
              <a:solidFill>
                <a:srgbClr val="FF0000"/>
              </a:solidFill>
            </a:endParaRPr>
          </a:p>
          <a:p>
            <a:r>
              <a:rPr lang="fr-FR" altLang="fr-FR" sz="2000"/>
              <a:t>Vous recevez une </a:t>
            </a:r>
            <a:r>
              <a:rPr lang="fr-FR" altLang="fr-FR" sz="2000">
                <a:solidFill>
                  <a:srgbClr val="FF0000"/>
                </a:solidFill>
              </a:rPr>
              <a:t>Fiche de mission</a:t>
            </a:r>
            <a:r>
              <a:rPr lang="fr-FR" altLang="fr-FR" sz="2000"/>
              <a:t> ainsi que des </a:t>
            </a:r>
            <a:r>
              <a:rPr lang="fr-FR" altLang="fr-FR" sz="2000">
                <a:solidFill>
                  <a:srgbClr val="FF0000"/>
                </a:solidFill>
              </a:rPr>
              <a:t>Supports d’analyse</a:t>
            </a:r>
            <a:r>
              <a:rPr lang="fr-FR" altLang="fr-FR" sz="2000"/>
              <a:t>.</a:t>
            </a:r>
          </a:p>
          <a:p>
            <a:endParaRPr lang="fr-FR" altLang="fr-FR" sz="2000"/>
          </a:p>
          <a:p>
            <a:r>
              <a:rPr lang="fr-FR" altLang="fr-FR" sz="2000">
                <a:solidFill>
                  <a:srgbClr val="000000"/>
                </a:solidFill>
              </a:rPr>
              <a:t>Vous échangez entre les 4 équipes pour coordonner vos actions.</a:t>
            </a:r>
          </a:p>
          <a:p>
            <a:endParaRPr lang="fr-FR" altLang="fr-FR" sz="2000"/>
          </a:p>
          <a:p>
            <a:r>
              <a:rPr lang="fr-FR" altLang="fr-FR" sz="2000">
                <a:solidFill>
                  <a:srgbClr val="000000"/>
                </a:solidFill>
              </a:rPr>
              <a:t>Une fois votre projet prêt, vous le </a:t>
            </a:r>
            <a:r>
              <a:rPr lang="fr-FR" altLang="fr-FR" sz="2000">
                <a:solidFill>
                  <a:srgbClr val="FF0000"/>
                </a:solidFill>
              </a:rPr>
              <a:t>présentez </a:t>
            </a:r>
            <a:r>
              <a:rPr lang="fr-FR" altLang="fr-FR" sz="2000">
                <a:solidFill>
                  <a:srgbClr val="000000"/>
                </a:solidFill>
              </a:rPr>
              <a:t>à l’ensemble du groupe.</a:t>
            </a:r>
          </a:p>
          <a:p>
            <a:endParaRPr lang="fr-FR" altLang="fr-FR" sz="2000">
              <a:solidFill>
                <a:srgbClr val="000000"/>
              </a:solidFill>
            </a:endParaRPr>
          </a:p>
        </p:txBody>
      </p:sp>
      <p:sp>
        <p:nvSpPr>
          <p:cNvPr id="14848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848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69B87CF-0C75-4643-BE82-A0268FEAE82B}" type="slidenum">
              <a:rPr lang="fr-FR" altLang="fr-FR" smtClean="0">
                <a:latin typeface="Calibri" panose="020F0502020204030204" pitchFamily="34" charset="0"/>
              </a:rPr>
              <a:pPr>
                <a:spcBef>
                  <a:spcPct val="0"/>
                </a:spcBef>
                <a:buFontTx/>
                <a:buNone/>
              </a:pPr>
              <a:t>67</a:t>
            </a:fld>
            <a:endParaRPr lang="fr-FR" altLang="fr-FR" dirty="0">
              <a:latin typeface="Calibri" panose="020F0502020204030204" pitchFamily="34" charset="0"/>
            </a:endParaRPr>
          </a:p>
        </p:txBody>
      </p:sp>
      <p:pic>
        <p:nvPicPr>
          <p:cNvPr id="148486" name="Picture 34" descr="TIP5e¦ütu-fin E¦üTU8"/>
          <p:cNvPicPr>
            <a:picLocks noChangeAspect="1" noChangeArrowheads="1"/>
          </p:cNvPicPr>
          <p:nvPr/>
        </p:nvPicPr>
        <p:blipFill>
          <a:blip r:embed="rId3">
            <a:extLst>
              <a:ext uri="{28A0092B-C50C-407E-A947-70E740481C1C}">
                <a14:useLocalDpi xmlns:a14="http://schemas.microsoft.com/office/drawing/2010/main" val="0"/>
              </a:ext>
            </a:extLst>
          </a:blip>
          <a:srcRect t="27962" r="9444" b="14101"/>
          <a:stretch>
            <a:fillRect/>
          </a:stretch>
        </p:blipFill>
        <p:spPr bwMode="auto">
          <a:xfrm>
            <a:off x="73025" y="2035175"/>
            <a:ext cx="160178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487" name="Picture 34" descr="TIP5e¦ütu-fin E¦üTU8"/>
          <p:cNvPicPr>
            <a:picLocks noChangeAspect="1" noChangeArrowheads="1"/>
          </p:cNvPicPr>
          <p:nvPr/>
        </p:nvPicPr>
        <p:blipFill>
          <a:blip r:embed="rId3">
            <a:extLst>
              <a:ext uri="{28A0092B-C50C-407E-A947-70E740481C1C}">
                <a14:useLocalDpi xmlns:a14="http://schemas.microsoft.com/office/drawing/2010/main" val="0"/>
              </a:ext>
            </a:extLst>
          </a:blip>
          <a:srcRect t="27962" r="9444" b="14101"/>
          <a:stretch>
            <a:fillRect/>
          </a:stretch>
        </p:blipFill>
        <p:spPr bwMode="auto">
          <a:xfrm>
            <a:off x="73025" y="3465513"/>
            <a:ext cx="1601788"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8488" name="Picture 34" descr="TIP5e¦ütu-fin E¦üTU8"/>
          <p:cNvPicPr>
            <a:picLocks noChangeAspect="1" noChangeArrowheads="1"/>
          </p:cNvPicPr>
          <p:nvPr/>
        </p:nvPicPr>
        <p:blipFill>
          <a:blip r:embed="rId3">
            <a:extLst>
              <a:ext uri="{28A0092B-C50C-407E-A947-70E740481C1C}">
                <a14:useLocalDpi xmlns:a14="http://schemas.microsoft.com/office/drawing/2010/main" val="0"/>
              </a:ext>
            </a:extLst>
          </a:blip>
          <a:srcRect t="27962" r="9444" b="14101"/>
          <a:stretch>
            <a:fillRect/>
          </a:stretch>
        </p:blipFill>
        <p:spPr bwMode="auto">
          <a:xfrm>
            <a:off x="73025" y="596900"/>
            <a:ext cx="160178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9" name="ZoneTexte 146"/>
          <p:cNvSpPr txBox="1">
            <a:spLocks noChangeArrowheads="1"/>
          </p:cNvSpPr>
          <p:nvPr/>
        </p:nvSpPr>
        <p:spPr bwMode="auto">
          <a:xfrm>
            <a:off x="103188" y="3040564"/>
            <a:ext cx="1541462" cy="264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600" b="1" dirty="0">
                <a:solidFill>
                  <a:srgbClr val="0033CC"/>
                </a:solidFill>
                <a:latin typeface="Calibri" panose="020F0502020204030204" pitchFamily="34" charset="0"/>
                <a:cs typeface="Arial" panose="020B0604020202020204" pitchFamily="34" charset="0"/>
              </a:rPr>
              <a:t>Projet 2</a:t>
            </a:r>
            <a:endParaRPr lang="fr-FR" altLang="fr-FR" sz="1800" b="1" dirty="0">
              <a:solidFill>
                <a:srgbClr val="FF0000"/>
              </a:solidFill>
              <a:latin typeface="Calibri" panose="020F0502020204030204" pitchFamily="34" charset="0"/>
              <a:cs typeface="Arial" panose="020B0604020202020204" pitchFamily="34" charset="0"/>
            </a:endParaRPr>
          </a:p>
        </p:txBody>
      </p:sp>
      <p:sp>
        <p:nvSpPr>
          <p:cNvPr id="148490" name="ZoneTexte 146"/>
          <p:cNvSpPr txBox="1">
            <a:spLocks noChangeArrowheads="1"/>
          </p:cNvSpPr>
          <p:nvPr/>
        </p:nvSpPr>
        <p:spPr bwMode="auto">
          <a:xfrm>
            <a:off x="103188" y="4484395"/>
            <a:ext cx="1541462" cy="264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600" b="1" dirty="0">
                <a:solidFill>
                  <a:srgbClr val="FF0000"/>
                </a:solidFill>
                <a:latin typeface="Calibri" panose="020F0502020204030204" pitchFamily="34" charset="0"/>
                <a:cs typeface="Arial" panose="020B0604020202020204" pitchFamily="34" charset="0"/>
              </a:rPr>
              <a:t>Projet 3</a:t>
            </a:r>
            <a:endParaRPr lang="fr-FR" altLang="fr-FR" sz="1800" b="1" dirty="0">
              <a:solidFill>
                <a:srgbClr val="FF0000"/>
              </a:solidFill>
              <a:latin typeface="Calibri" panose="020F0502020204030204" pitchFamily="34" charset="0"/>
              <a:cs typeface="Arial" panose="020B0604020202020204" pitchFamily="34" charset="0"/>
            </a:endParaRPr>
          </a:p>
        </p:txBody>
      </p:sp>
      <p:pic>
        <p:nvPicPr>
          <p:cNvPr id="148491" name="Picture 34" descr="TIP5e¦ütu-fin E¦üTU8"/>
          <p:cNvPicPr>
            <a:picLocks noChangeAspect="1" noChangeArrowheads="1"/>
          </p:cNvPicPr>
          <p:nvPr/>
        </p:nvPicPr>
        <p:blipFill>
          <a:blip r:embed="rId3">
            <a:extLst>
              <a:ext uri="{28A0092B-C50C-407E-A947-70E740481C1C}">
                <a14:useLocalDpi xmlns:a14="http://schemas.microsoft.com/office/drawing/2010/main" val="0"/>
              </a:ext>
            </a:extLst>
          </a:blip>
          <a:srcRect t="27962" r="9444" b="14101"/>
          <a:stretch>
            <a:fillRect/>
          </a:stretch>
        </p:blipFill>
        <p:spPr bwMode="auto">
          <a:xfrm>
            <a:off x="73025" y="4922838"/>
            <a:ext cx="1601788"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92" name="ZoneTexte 146"/>
          <p:cNvSpPr txBox="1">
            <a:spLocks noChangeArrowheads="1"/>
          </p:cNvSpPr>
          <p:nvPr/>
        </p:nvSpPr>
        <p:spPr bwMode="auto">
          <a:xfrm>
            <a:off x="103188" y="5941720"/>
            <a:ext cx="1541462" cy="264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600" b="1" dirty="0">
                <a:solidFill>
                  <a:srgbClr val="00B050"/>
                </a:solidFill>
                <a:latin typeface="Calibri" panose="020F0502020204030204" pitchFamily="34" charset="0"/>
                <a:cs typeface="Arial" panose="020B0604020202020204" pitchFamily="34" charset="0"/>
              </a:rPr>
              <a:t>Projet 4</a:t>
            </a:r>
            <a:endParaRPr lang="fr-FR" altLang="fr-FR" sz="1800" b="1" dirty="0">
              <a:solidFill>
                <a:srgbClr val="00B050"/>
              </a:solidFill>
              <a:latin typeface="Calibri" panose="020F0502020204030204" pitchFamily="34" charset="0"/>
              <a:cs typeface="Arial" panose="020B0604020202020204" pitchFamily="34" charset="0"/>
            </a:endParaRPr>
          </a:p>
        </p:txBody>
      </p:sp>
      <p:sp>
        <p:nvSpPr>
          <p:cNvPr id="148493" name="ZoneTexte 146"/>
          <p:cNvSpPr txBox="1">
            <a:spLocks noChangeArrowheads="1"/>
          </p:cNvSpPr>
          <p:nvPr/>
        </p:nvSpPr>
        <p:spPr bwMode="auto">
          <a:xfrm>
            <a:off x="103188" y="1614989"/>
            <a:ext cx="1541462" cy="2641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200"/>
              </a:lnSpc>
              <a:spcBef>
                <a:spcPct val="0"/>
              </a:spcBef>
              <a:buFontTx/>
              <a:buNone/>
            </a:pPr>
            <a:r>
              <a:rPr lang="fr-FR" altLang="fr-FR" sz="1600" b="1" dirty="0">
                <a:solidFill>
                  <a:srgbClr val="00B050"/>
                </a:solidFill>
                <a:latin typeface="Calibri" panose="020F0502020204030204" pitchFamily="34" charset="0"/>
                <a:cs typeface="Arial" panose="020B0604020202020204" pitchFamily="34" charset="0"/>
              </a:rPr>
              <a:t>Projet 1</a:t>
            </a:r>
            <a:endParaRPr lang="fr-FR" altLang="fr-FR" sz="1800" b="1" dirty="0">
              <a:solidFill>
                <a:srgbClr val="00B050"/>
              </a:solidFill>
              <a:latin typeface="Calibri" panose="020F0502020204030204" pitchFamily="34" charset="0"/>
              <a:cs typeface="Arial" panose="020B0604020202020204" pitchFamily="34" charset="0"/>
            </a:endParaRPr>
          </a:p>
        </p:txBody>
      </p:sp>
      <p:sp>
        <p:nvSpPr>
          <p:cNvPr id="148494" name="ZoneTexte 146"/>
          <p:cNvSpPr txBox="1">
            <a:spLocks noChangeArrowheads="1"/>
          </p:cNvSpPr>
          <p:nvPr/>
        </p:nvSpPr>
        <p:spPr bwMode="auto">
          <a:xfrm>
            <a:off x="1762125" y="1010412"/>
            <a:ext cx="1931988" cy="33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ts val="2800"/>
              </a:lnSpc>
              <a:spcBef>
                <a:spcPct val="0"/>
              </a:spcBef>
              <a:buFontTx/>
              <a:buNone/>
            </a:pPr>
            <a:r>
              <a:rPr lang="fr-FR" altLang="fr-FR" sz="2000" dirty="0">
                <a:solidFill>
                  <a:srgbClr val="0033CC"/>
                </a:solidFill>
                <a:latin typeface="Calibri" panose="020F0502020204030204" pitchFamily="34" charset="0"/>
                <a:cs typeface="Arial" panose="020B0604020202020204" pitchFamily="34" charset="0"/>
              </a:rPr>
              <a:t>Productivité</a:t>
            </a:r>
            <a:endParaRPr lang="fr-FR" altLang="fr-FR" sz="2400" dirty="0">
              <a:solidFill>
                <a:srgbClr val="0033CC"/>
              </a:solidFill>
              <a:latin typeface="Calibri" panose="020F0502020204030204" pitchFamily="34" charset="0"/>
              <a:cs typeface="Arial" panose="020B0604020202020204" pitchFamily="34" charset="0"/>
            </a:endParaRPr>
          </a:p>
        </p:txBody>
      </p:sp>
      <p:sp>
        <p:nvSpPr>
          <p:cNvPr id="148495" name="ZoneTexte 146"/>
          <p:cNvSpPr txBox="1">
            <a:spLocks noChangeArrowheads="1"/>
          </p:cNvSpPr>
          <p:nvPr/>
        </p:nvSpPr>
        <p:spPr bwMode="auto">
          <a:xfrm>
            <a:off x="1762125" y="2351055"/>
            <a:ext cx="974725" cy="33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ts val="2800"/>
              </a:lnSpc>
              <a:spcBef>
                <a:spcPct val="0"/>
              </a:spcBef>
              <a:buFontTx/>
              <a:buNone/>
            </a:pPr>
            <a:r>
              <a:rPr lang="fr-FR" altLang="fr-FR" sz="2000" dirty="0">
                <a:solidFill>
                  <a:srgbClr val="0033CC"/>
                </a:solidFill>
                <a:latin typeface="Calibri" panose="020F0502020204030204" pitchFamily="34" charset="0"/>
                <a:cs typeface="Arial" panose="020B0604020202020204" pitchFamily="34" charset="0"/>
              </a:rPr>
              <a:t>Flux</a:t>
            </a:r>
            <a:endParaRPr lang="fr-FR" altLang="fr-FR" sz="2400" dirty="0">
              <a:solidFill>
                <a:srgbClr val="0033CC"/>
              </a:solidFill>
              <a:latin typeface="Calibri" panose="020F0502020204030204" pitchFamily="34" charset="0"/>
              <a:cs typeface="Arial" panose="020B0604020202020204" pitchFamily="34" charset="0"/>
            </a:endParaRPr>
          </a:p>
        </p:txBody>
      </p:sp>
      <p:sp>
        <p:nvSpPr>
          <p:cNvPr id="148496" name="ZoneTexte 146"/>
          <p:cNvSpPr txBox="1">
            <a:spLocks noChangeArrowheads="1"/>
          </p:cNvSpPr>
          <p:nvPr/>
        </p:nvSpPr>
        <p:spPr bwMode="auto">
          <a:xfrm>
            <a:off x="1762125" y="5095875"/>
            <a:ext cx="1704644"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ts val="2800"/>
              </a:lnSpc>
              <a:spcBef>
                <a:spcPct val="0"/>
              </a:spcBef>
              <a:buFontTx/>
              <a:buNone/>
            </a:pPr>
            <a:r>
              <a:rPr lang="fr-FR" altLang="fr-FR" sz="2000" dirty="0">
                <a:solidFill>
                  <a:srgbClr val="0033CC"/>
                </a:solidFill>
                <a:latin typeface="Calibri" panose="020F0502020204030204" pitchFamily="34" charset="0"/>
                <a:cs typeface="Arial" panose="020B0604020202020204" pitchFamily="34" charset="0"/>
              </a:rPr>
              <a:t>Qualité</a:t>
            </a:r>
          </a:p>
          <a:p>
            <a:pPr eaLnBrk="1" hangingPunct="1">
              <a:lnSpc>
                <a:spcPts val="2800"/>
              </a:lnSpc>
              <a:spcBef>
                <a:spcPct val="0"/>
              </a:spcBef>
              <a:buFontTx/>
              <a:buNone/>
            </a:pPr>
            <a:r>
              <a:rPr lang="fr-FR" altLang="fr-FR" sz="2000" dirty="0">
                <a:solidFill>
                  <a:srgbClr val="0033CC"/>
                </a:solidFill>
                <a:latin typeface="Calibri" panose="020F0502020204030204" pitchFamily="34" charset="0"/>
                <a:cs typeface="Arial" panose="020B0604020202020204" pitchFamily="34" charset="0"/>
              </a:rPr>
              <a:t>Motivation</a:t>
            </a:r>
            <a:endParaRPr lang="fr-FR" altLang="fr-FR" sz="2400" dirty="0">
              <a:solidFill>
                <a:srgbClr val="0033CC"/>
              </a:solidFill>
              <a:latin typeface="Calibri" panose="020F0502020204030204" pitchFamily="34" charset="0"/>
              <a:cs typeface="Arial" panose="020B0604020202020204" pitchFamily="34" charset="0"/>
            </a:endParaRPr>
          </a:p>
        </p:txBody>
      </p:sp>
      <p:sp>
        <p:nvSpPr>
          <p:cNvPr id="148497" name="ZoneTexte 146"/>
          <p:cNvSpPr txBox="1">
            <a:spLocks noChangeArrowheads="1"/>
          </p:cNvSpPr>
          <p:nvPr/>
        </p:nvSpPr>
        <p:spPr bwMode="auto">
          <a:xfrm>
            <a:off x="1762125" y="3890930"/>
            <a:ext cx="2178050" cy="33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ts val="2800"/>
              </a:lnSpc>
              <a:spcBef>
                <a:spcPct val="0"/>
              </a:spcBef>
              <a:buFontTx/>
              <a:buNone/>
            </a:pPr>
            <a:r>
              <a:rPr lang="fr-FR" altLang="fr-FR" sz="2000" dirty="0">
                <a:solidFill>
                  <a:srgbClr val="0033CC"/>
                </a:solidFill>
                <a:latin typeface="Calibri" panose="020F0502020204030204" pitchFamily="34" charset="0"/>
                <a:cs typeface="Arial" panose="020B0604020202020204" pitchFamily="34" charset="0"/>
              </a:rPr>
              <a:t>Réimplantation</a:t>
            </a:r>
            <a:endParaRPr lang="fr-FR" altLang="fr-FR" sz="2400" dirty="0">
              <a:solidFill>
                <a:srgbClr val="0033CC"/>
              </a:solidFill>
              <a:latin typeface="Calibri" panose="020F0502020204030204" pitchFamily="34" charset="0"/>
              <a:cs typeface="Arial" panose="020B0604020202020204" pitchFamily="34" charset="0"/>
            </a:endParaRPr>
          </a:p>
        </p:txBody>
      </p:sp>
      <p:grpSp>
        <p:nvGrpSpPr>
          <p:cNvPr id="62" name="Group 110"/>
          <p:cNvGrpSpPr>
            <a:grpSpLocks/>
          </p:cNvGrpSpPr>
          <p:nvPr/>
        </p:nvGrpSpPr>
        <p:grpSpPr bwMode="auto">
          <a:xfrm>
            <a:off x="6226175" y="4725989"/>
            <a:ext cx="1087438" cy="1897064"/>
            <a:chOff x="2096" y="2268"/>
            <a:chExt cx="685" cy="1195"/>
          </a:xfrm>
        </p:grpSpPr>
        <p:pic>
          <p:nvPicPr>
            <p:cNvPr id="148500" name="Picture 111"/>
            <p:cNvPicPr>
              <a:picLocks noChangeAspect="1" noChangeArrowheads="1"/>
            </p:cNvPicPr>
            <p:nvPr/>
          </p:nvPicPr>
          <p:blipFill>
            <a:blip r:embed="rId4" cstate="print">
              <a:extLst>
                <a:ext uri="{28A0092B-C50C-407E-A947-70E740481C1C}">
                  <a14:useLocalDpi xmlns:a14="http://schemas.microsoft.com/office/drawing/2010/main" val="0"/>
                </a:ext>
              </a:extLst>
            </a:blip>
            <a:srcRect l="33940"/>
            <a:stretch>
              <a:fillRect/>
            </a:stretch>
          </p:blipFill>
          <p:spPr bwMode="auto">
            <a:xfrm>
              <a:off x="2164" y="2287"/>
              <a:ext cx="617" cy="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501" name="Rectangle 112"/>
            <p:cNvSpPr>
              <a:spLocks noChangeArrowheads="1"/>
            </p:cNvSpPr>
            <p:nvPr/>
          </p:nvSpPr>
          <p:spPr bwMode="auto">
            <a:xfrm>
              <a:off x="2138" y="2380"/>
              <a:ext cx="116" cy="15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48502" name="Rectangle 113"/>
            <p:cNvSpPr>
              <a:spLocks noChangeArrowheads="1"/>
            </p:cNvSpPr>
            <p:nvPr/>
          </p:nvSpPr>
          <p:spPr bwMode="auto">
            <a:xfrm>
              <a:off x="2176" y="2268"/>
              <a:ext cx="96" cy="15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48503" name="Rectangle 114"/>
            <p:cNvSpPr>
              <a:spLocks noChangeArrowheads="1"/>
            </p:cNvSpPr>
            <p:nvPr/>
          </p:nvSpPr>
          <p:spPr bwMode="auto">
            <a:xfrm>
              <a:off x="2156" y="2564"/>
              <a:ext cx="160" cy="15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48504" name="Line 115"/>
            <p:cNvSpPr>
              <a:spLocks noChangeShapeType="1"/>
            </p:cNvSpPr>
            <p:nvPr/>
          </p:nvSpPr>
          <p:spPr bwMode="auto">
            <a:xfrm flipV="1">
              <a:off x="2224" y="2384"/>
              <a:ext cx="24" cy="36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fr-FR" dirty="0">
                <a:latin typeface="Calibri" panose="020F0502020204030204" pitchFamily="34" charset="0"/>
              </a:endParaRPr>
            </a:p>
          </p:txBody>
        </p:sp>
        <p:sp>
          <p:nvSpPr>
            <p:cNvPr id="148505" name="Rectangle 116"/>
            <p:cNvSpPr>
              <a:spLocks noChangeArrowheads="1"/>
            </p:cNvSpPr>
            <p:nvPr/>
          </p:nvSpPr>
          <p:spPr bwMode="auto">
            <a:xfrm>
              <a:off x="2096" y="3308"/>
              <a:ext cx="96" cy="15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0530" name="Titre 1"/>
          <p:cNvSpPr>
            <a:spLocks noGrp="1"/>
          </p:cNvSpPr>
          <p:nvPr>
            <p:ph type="title"/>
          </p:nvPr>
        </p:nvSpPr>
        <p:spPr>
          <a:xfrm>
            <a:off x="511175" y="0"/>
            <a:ext cx="8650288" cy="419100"/>
          </a:xfrm>
        </p:spPr>
        <p:txBody>
          <a:bodyPr/>
          <a:lstStyle/>
          <a:p>
            <a:r>
              <a:rPr lang="fr-FR" altLang="fr-FR"/>
              <a:t>La Fiche de mission</a:t>
            </a:r>
          </a:p>
        </p:txBody>
      </p:sp>
      <p:sp>
        <p:nvSpPr>
          <p:cNvPr id="15053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E997D67-F237-4EF1-8DE3-7A5FB5F24D0C}" type="slidenum">
              <a:rPr lang="fr-FR" altLang="fr-FR" smtClean="0">
                <a:latin typeface="Calibri" panose="020F0502020204030204" pitchFamily="34" charset="0"/>
              </a:rPr>
              <a:pPr>
                <a:spcBef>
                  <a:spcPct val="0"/>
                </a:spcBef>
                <a:buFontTx/>
                <a:buNone/>
              </a:pPr>
              <a:t>68</a:t>
            </a:fld>
            <a:endParaRPr lang="fr-FR" altLang="fr-FR" dirty="0">
              <a:latin typeface="Calibri" panose="020F0502020204030204" pitchFamily="34" charset="0"/>
            </a:endParaRPr>
          </a:p>
        </p:txBody>
      </p:sp>
      <p:pic>
        <p:nvPicPr>
          <p:cNvPr id="15053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0" y="547688"/>
            <a:ext cx="4284663" cy="629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égende encadrée 1 5"/>
          <p:cNvSpPr/>
          <p:nvPr/>
        </p:nvSpPr>
        <p:spPr bwMode="auto">
          <a:xfrm>
            <a:off x="1158875" y="1214438"/>
            <a:ext cx="2089150" cy="611187"/>
          </a:xfrm>
          <a:prstGeom prst="borderCallout1">
            <a:avLst>
              <a:gd name="adj1" fmla="val 44838"/>
              <a:gd name="adj2" fmla="val 100584"/>
              <a:gd name="adj3" fmla="val 8149"/>
              <a:gd name="adj4" fmla="val 142795"/>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2000" kern="0" dirty="0">
                <a:solidFill>
                  <a:srgbClr val="000000"/>
                </a:solidFill>
                <a:latin typeface="Calibri" panose="020F0502020204030204" pitchFamily="34" charset="0"/>
                <a:cs typeface="Arial" pitchFamily="34" charset="0"/>
              </a:rPr>
              <a:t>La mission</a:t>
            </a:r>
          </a:p>
        </p:txBody>
      </p:sp>
      <p:sp>
        <p:nvSpPr>
          <p:cNvPr id="8" name="Légende encadrée 1 7"/>
          <p:cNvSpPr/>
          <p:nvPr/>
        </p:nvSpPr>
        <p:spPr bwMode="auto">
          <a:xfrm>
            <a:off x="1158875" y="2882900"/>
            <a:ext cx="2089150" cy="612775"/>
          </a:xfrm>
          <a:prstGeom prst="borderCallout1">
            <a:avLst>
              <a:gd name="adj1" fmla="val 40094"/>
              <a:gd name="adj2" fmla="val 101186"/>
              <a:gd name="adj3" fmla="val -25054"/>
              <a:gd name="adj4" fmla="val 147007"/>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2000" kern="0" dirty="0">
                <a:solidFill>
                  <a:srgbClr val="000000"/>
                </a:solidFill>
                <a:latin typeface="Calibri" panose="020F0502020204030204" pitchFamily="34" charset="0"/>
                <a:cs typeface="Arial" pitchFamily="34" charset="0"/>
              </a:rPr>
              <a:t>Les supports</a:t>
            </a:r>
          </a:p>
        </p:txBody>
      </p:sp>
      <p:sp>
        <p:nvSpPr>
          <p:cNvPr id="9" name="Légende encadrée 1 8"/>
          <p:cNvSpPr/>
          <p:nvPr/>
        </p:nvSpPr>
        <p:spPr bwMode="auto">
          <a:xfrm>
            <a:off x="1158875" y="4335463"/>
            <a:ext cx="2089150" cy="611187"/>
          </a:xfrm>
          <a:prstGeom prst="borderCallout1">
            <a:avLst>
              <a:gd name="adj1" fmla="val 51953"/>
              <a:gd name="adj2" fmla="val 102991"/>
              <a:gd name="adj3" fmla="val 138588"/>
              <a:gd name="adj4" fmla="val 147609"/>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2000" kern="0" dirty="0">
                <a:solidFill>
                  <a:srgbClr val="000000"/>
                </a:solidFill>
                <a:latin typeface="Calibri" panose="020F0502020204030204" pitchFamily="34" charset="0"/>
                <a:cs typeface="Arial" pitchFamily="34" charset="0"/>
              </a:rPr>
              <a:t>Les échanges</a:t>
            </a:r>
          </a:p>
        </p:txBody>
      </p:sp>
      <p:sp>
        <p:nvSpPr>
          <p:cNvPr id="10" name="Légende encadrée 1 9"/>
          <p:cNvSpPr/>
          <p:nvPr/>
        </p:nvSpPr>
        <p:spPr bwMode="auto">
          <a:xfrm>
            <a:off x="1158875" y="5699125"/>
            <a:ext cx="2089150" cy="612775"/>
          </a:xfrm>
          <a:prstGeom prst="borderCallout1">
            <a:avLst>
              <a:gd name="adj1" fmla="val 54324"/>
              <a:gd name="adj2" fmla="val 99983"/>
              <a:gd name="adj3" fmla="val 95899"/>
              <a:gd name="adj4" fmla="val 145202"/>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2000" kern="0" dirty="0">
                <a:solidFill>
                  <a:srgbClr val="000000"/>
                </a:solidFill>
                <a:latin typeface="Calibri" panose="020F0502020204030204" pitchFamily="34" charset="0"/>
                <a:cs typeface="Arial" pitchFamily="34" charset="0"/>
              </a:rPr>
              <a:t>La  </a:t>
            </a:r>
            <a:r>
              <a:rPr lang="fr-FR" sz="2000" kern="0" dirty="0" err="1">
                <a:solidFill>
                  <a:srgbClr val="000000"/>
                </a:solidFill>
                <a:latin typeface="Calibri" panose="020F0502020204030204" pitchFamily="34" charset="0"/>
                <a:cs typeface="Arial" pitchFamily="34" charset="0"/>
              </a:rPr>
              <a:t>présentation</a:t>
            </a:r>
            <a:endParaRPr lang="fr-FR" sz="2000" kern="0" dirty="0">
              <a:solidFill>
                <a:srgbClr val="000000"/>
              </a:solidFill>
              <a:latin typeface="Calibri" panose="020F0502020204030204" pitchFamily="34" charset="0"/>
              <a:cs typeface="Arial" pitchFamily="34" charset="0"/>
            </a:endParaRPr>
          </a:p>
        </p:txBody>
      </p:sp>
      <p:sp>
        <p:nvSpPr>
          <p:cNvPr id="150538"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3">
            <a:extLst>
              <a:ext uri="{28A0092B-C50C-407E-A947-70E740481C1C}">
                <a14:useLocalDpi xmlns:a14="http://schemas.microsoft.com/office/drawing/2010/main" val="0"/>
              </a:ext>
            </a:extLst>
          </a:blip>
          <a:srcRect l="34575" t="8949" r="34607" b="51953"/>
          <a:stretch>
            <a:fillRect/>
          </a:stretch>
        </p:blipFill>
        <p:spPr bwMode="auto">
          <a:xfrm>
            <a:off x="36513" y="2401888"/>
            <a:ext cx="2012950" cy="1436687"/>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52579" name="Titre 1"/>
          <p:cNvSpPr>
            <a:spLocks noGrp="1"/>
          </p:cNvSpPr>
          <p:nvPr>
            <p:ph type="title"/>
          </p:nvPr>
        </p:nvSpPr>
        <p:spPr/>
        <p:txBody>
          <a:bodyPr/>
          <a:lstStyle/>
          <a:p>
            <a:r>
              <a:rPr lang="fr-FR" altLang="fr-FR"/>
              <a:t>Recevez votre Fiche de mission et vos supports d’analyse</a:t>
            </a:r>
          </a:p>
        </p:txBody>
      </p:sp>
      <p:sp>
        <p:nvSpPr>
          <p:cNvPr id="152580"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52581" name="ZoneTexte 6"/>
          <p:cNvSpPr txBox="1">
            <a:spLocks noChangeArrowheads="1"/>
          </p:cNvSpPr>
          <p:nvPr/>
        </p:nvSpPr>
        <p:spPr bwMode="auto">
          <a:xfrm flipH="1">
            <a:off x="-66675" y="3935413"/>
            <a:ext cx="214153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700"/>
              </a:lnSpc>
              <a:spcBef>
                <a:spcPct val="0"/>
              </a:spcBef>
              <a:buFontTx/>
              <a:buNone/>
            </a:pPr>
            <a:r>
              <a:rPr lang="fr-FR" altLang="fr-FR" sz="1600" dirty="0">
                <a:solidFill>
                  <a:srgbClr val="FF0000"/>
                </a:solidFill>
                <a:latin typeface="Calibri" panose="020F0502020204030204" pitchFamily="34" charset="0"/>
              </a:rPr>
              <a:t>2 feuilles</a:t>
            </a:r>
          </a:p>
          <a:p>
            <a:pPr algn="ctr" eaLnBrk="1" hangingPunct="1">
              <a:lnSpc>
                <a:spcPts val="1700"/>
              </a:lnSpc>
              <a:spcBef>
                <a:spcPct val="0"/>
              </a:spcBef>
              <a:buFontTx/>
              <a:buNone/>
            </a:pPr>
            <a:r>
              <a:rPr lang="fr-FR" altLang="fr-FR" sz="1600" dirty="0">
                <a:solidFill>
                  <a:srgbClr val="FF0000"/>
                </a:solidFill>
                <a:latin typeface="Calibri" panose="020F0502020204030204" pitchFamily="34" charset="0"/>
              </a:rPr>
              <a:t>Équipe Productivité</a:t>
            </a:r>
          </a:p>
        </p:txBody>
      </p:sp>
      <p:sp>
        <p:nvSpPr>
          <p:cNvPr id="152582" name="ZoneTexte 8"/>
          <p:cNvSpPr txBox="1">
            <a:spLocks noChangeArrowheads="1"/>
          </p:cNvSpPr>
          <p:nvPr/>
        </p:nvSpPr>
        <p:spPr bwMode="auto">
          <a:xfrm flipH="1">
            <a:off x="4829175" y="3709988"/>
            <a:ext cx="237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FF0000"/>
                </a:solidFill>
                <a:latin typeface="Calibri" panose="020F0502020204030204" pitchFamily="34" charset="0"/>
              </a:rPr>
              <a:t>Plateau Implantation</a:t>
            </a:r>
          </a:p>
        </p:txBody>
      </p:sp>
      <p:sp>
        <p:nvSpPr>
          <p:cNvPr id="152583" name="ZoneTexte 11"/>
          <p:cNvSpPr txBox="1">
            <a:spLocks noChangeArrowheads="1"/>
          </p:cNvSpPr>
          <p:nvPr/>
        </p:nvSpPr>
        <p:spPr bwMode="auto">
          <a:xfrm flipH="1">
            <a:off x="7543800" y="3681413"/>
            <a:ext cx="188753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700"/>
              </a:lnSpc>
              <a:spcBef>
                <a:spcPct val="0"/>
              </a:spcBef>
              <a:buFontTx/>
              <a:buNone/>
            </a:pPr>
            <a:r>
              <a:rPr lang="fr-FR" altLang="fr-FR" sz="1600" dirty="0">
                <a:solidFill>
                  <a:srgbClr val="FF0000"/>
                </a:solidFill>
                <a:latin typeface="Calibri" panose="020F0502020204030204" pitchFamily="34" charset="0"/>
              </a:rPr>
              <a:t>2 feuilles</a:t>
            </a:r>
          </a:p>
          <a:p>
            <a:pPr algn="ctr" eaLnBrk="1" hangingPunct="1">
              <a:lnSpc>
                <a:spcPts val="1700"/>
              </a:lnSpc>
              <a:spcBef>
                <a:spcPct val="0"/>
              </a:spcBef>
              <a:buFontTx/>
              <a:buNone/>
            </a:pPr>
            <a:r>
              <a:rPr lang="fr-FR" altLang="fr-FR" sz="1600" dirty="0">
                <a:solidFill>
                  <a:srgbClr val="FF0000"/>
                </a:solidFill>
                <a:latin typeface="Calibri" panose="020F0502020204030204" pitchFamily="34" charset="0"/>
              </a:rPr>
              <a:t>Équipe Qualité</a:t>
            </a:r>
          </a:p>
        </p:txBody>
      </p:sp>
      <p:sp>
        <p:nvSpPr>
          <p:cNvPr id="152584" name="ZoneTexte 14"/>
          <p:cNvSpPr txBox="1">
            <a:spLocks noChangeArrowheads="1"/>
          </p:cNvSpPr>
          <p:nvPr/>
        </p:nvSpPr>
        <p:spPr bwMode="auto">
          <a:xfrm flipH="1">
            <a:off x="8312150" y="5756275"/>
            <a:ext cx="1271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1600" dirty="0">
                <a:solidFill>
                  <a:srgbClr val="FF0000"/>
                </a:solidFill>
                <a:latin typeface="Calibri" panose="020F0502020204030204" pitchFamily="34" charset="0"/>
              </a:rPr>
              <a:t>Enquête de motivation</a:t>
            </a:r>
          </a:p>
        </p:txBody>
      </p:sp>
      <p:sp>
        <p:nvSpPr>
          <p:cNvPr id="152585" name="ZoneTexte 146"/>
          <p:cNvSpPr txBox="1">
            <a:spLocks noChangeArrowheads="1"/>
          </p:cNvSpPr>
          <p:nvPr/>
        </p:nvSpPr>
        <p:spPr bwMode="auto">
          <a:xfrm>
            <a:off x="174625" y="508889"/>
            <a:ext cx="1931988" cy="32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800"/>
              </a:lnSpc>
              <a:spcBef>
                <a:spcPct val="0"/>
              </a:spcBef>
              <a:buFontTx/>
              <a:buNone/>
            </a:pPr>
            <a:r>
              <a:rPr lang="fr-FR" altLang="fr-FR" sz="1800" b="1" dirty="0">
                <a:solidFill>
                  <a:srgbClr val="00863D"/>
                </a:solidFill>
                <a:latin typeface="Calibri" panose="020F0502020204030204" pitchFamily="34" charset="0"/>
                <a:cs typeface="Arial" panose="020B0604020202020204" pitchFamily="34" charset="0"/>
              </a:rPr>
              <a:t>Productivité</a:t>
            </a:r>
            <a:endParaRPr lang="fr-FR" altLang="fr-FR" sz="2000" b="1" dirty="0">
              <a:solidFill>
                <a:srgbClr val="00863D"/>
              </a:solidFill>
              <a:latin typeface="Calibri" panose="020F0502020204030204" pitchFamily="34" charset="0"/>
              <a:cs typeface="Arial" panose="020B0604020202020204" pitchFamily="34" charset="0"/>
            </a:endParaRPr>
          </a:p>
        </p:txBody>
      </p:sp>
      <p:sp>
        <p:nvSpPr>
          <p:cNvPr id="152586" name="ZoneTexte 146"/>
          <p:cNvSpPr txBox="1">
            <a:spLocks noChangeArrowheads="1"/>
          </p:cNvSpPr>
          <p:nvPr/>
        </p:nvSpPr>
        <p:spPr bwMode="auto">
          <a:xfrm>
            <a:off x="2967038" y="508889"/>
            <a:ext cx="973137" cy="32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800"/>
              </a:lnSpc>
              <a:spcBef>
                <a:spcPct val="0"/>
              </a:spcBef>
              <a:buFontTx/>
              <a:buNone/>
            </a:pPr>
            <a:r>
              <a:rPr lang="fr-FR" altLang="fr-FR" sz="1800" b="1" dirty="0">
                <a:solidFill>
                  <a:srgbClr val="00863D"/>
                </a:solidFill>
                <a:latin typeface="Calibri" panose="020F0502020204030204" pitchFamily="34" charset="0"/>
                <a:cs typeface="Arial" panose="020B0604020202020204" pitchFamily="34" charset="0"/>
              </a:rPr>
              <a:t>Flux</a:t>
            </a:r>
            <a:endParaRPr lang="fr-FR" altLang="fr-FR" sz="2000" b="1" dirty="0">
              <a:solidFill>
                <a:srgbClr val="00863D"/>
              </a:solidFill>
              <a:latin typeface="Calibri" panose="020F0502020204030204" pitchFamily="34" charset="0"/>
              <a:cs typeface="Arial" panose="020B0604020202020204" pitchFamily="34" charset="0"/>
            </a:endParaRPr>
          </a:p>
        </p:txBody>
      </p:sp>
      <p:sp>
        <p:nvSpPr>
          <p:cNvPr id="152587" name="ZoneTexte 146"/>
          <p:cNvSpPr txBox="1">
            <a:spLocks noChangeArrowheads="1"/>
          </p:cNvSpPr>
          <p:nvPr/>
        </p:nvSpPr>
        <p:spPr bwMode="auto">
          <a:xfrm>
            <a:off x="7342188" y="522383"/>
            <a:ext cx="2136775" cy="32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800"/>
              </a:lnSpc>
              <a:spcBef>
                <a:spcPct val="0"/>
              </a:spcBef>
              <a:buFontTx/>
              <a:buNone/>
            </a:pPr>
            <a:r>
              <a:rPr lang="fr-FR" altLang="fr-FR" sz="1800" b="1" dirty="0">
                <a:solidFill>
                  <a:srgbClr val="00863D"/>
                </a:solidFill>
                <a:latin typeface="Calibri" panose="020F0502020204030204" pitchFamily="34" charset="0"/>
                <a:cs typeface="Arial" panose="020B0604020202020204" pitchFamily="34" charset="0"/>
              </a:rPr>
              <a:t>Qualité - RH</a:t>
            </a:r>
            <a:endParaRPr lang="fr-FR" altLang="fr-FR" sz="2000" b="1" dirty="0">
              <a:solidFill>
                <a:srgbClr val="00863D"/>
              </a:solidFill>
              <a:latin typeface="Calibri" panose="020F0502020204030204" pitchFamily="34" charset="0"/>
              <a:cs typeface="Arial" panose="020B0604020202020204" pitchFamily="34" charset="0"/>
            </a:endParaRPr>
          </a:p>
        </p:txBody>
      </p:sp>
      <p:sp>
        <p:nvSpPr>
          <p:cNvPr id="152588" name="ZoneTexte 146"/>
          <p:cNvSpPr txBox="1">
            <a:spLocks noChangeArrowheads="1"/>
          </p:cNvSpPr>
          <p:nvPr/>
        </p:nvSpPr>
        <p:spPr bwMode="auto">
          <a:xfrm>
            <a:off x="5016500" y="508889"/>
            <a:ext cx="2178050" cy="32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0" rIns="36000" bIns="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800"/>
              </a:lnSpc>
              <a:spcBef>
                <a:spcPct val="0"/>
              </a:spcBef>
              <a:buFontTx/>
              <a:buNone/>
            </a:pPr>
            <a:r>
              <a:rPr lang="fr-FR" altLang="fr-FR" sz="1800" b="1" dirty="0">
                <a:solidFill>
                  <a:srgbClr val="00863D"/>
                </a:solidFill>
                <a:latin typeface="Calibri" panose="020F0502020204030204" pitchFamily="34" charset="0"/>
                <a:cs typeface="Arial" panose="020B0604020202020204" pitchFamily="34" charset="0"/>
              </a:rPr>
              <a:t>Réimplantation</a:t>
            </a:r>
            <a:endParaRPr lang="fr-FR" altLang="fr-FR" sz="2000" b="1" dirty="0">
              <a:solidFill>
                <a:srgbClr val="00863D"/>
              </a:solidFill>
              <a:latin typeface="Calibri" panose="020F0502020204030204" pitchFamily="34" charset="0"/>
              <a:cs typeface="Arial" panose="020B0604020202020204" pitchFamily="34" charset="0"/>
            </a:endParaRPr>
          </a:p>
        </p:txBody>
      </p:sp>
      <p:sp>
        <p:nvSpPr>
          <p:cNvPr id="152589" name="ZoneTexte 27"/>
          <p:cNvSpPr txBox="1">
            <a:spLocks noChangeArrowheads="1"/>
          </p:cNvSpPr>
          <p:nvPr/>
        </p:nvSpPr>
        <p:spPr bwMode="auto">
          <a:xfrm flipH="1">
            <a:off x="2695575" y="3730625"/>
            <a:ext cx="1566863"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700"/>
              </a:lnSpc>
              <a:spcBef>
                <a:spcPct val="0"/>
              </a:spcBef>
              <a:buFontTx/>
              <a:buNone/>
            </a:pPr>
            <a:r>
              <a:rPr lang="fr-FR" altLang="fr-FR" sz="1600" dirty="0">
                <a:solidFill>
                  <a:srgbClr val="FF0000"/>
                </a:solidFill>
                <a:latin typeface="Calibri" panose="020F0502020204030204" pitchFamily="34" charset="0"/>
              </a:rPr>
              <a:t>3 feuilles</a:t>
            </a:r>
          </a:p>
          <a:p>
            <a:pPr algn="ctr" eaLnBrk="1" hangingPunct="1">
              <a:lnSpc>
                <a:spcPts val="1700"/>
              </a:lnSpc>
              <a:spcBef>
                <a:spcPct val="0"/>
              </a:spcBef>
              <a:buFontTx/>
              <a:buNone/>
            </a:pPr>
            <a:r>
              <a:rPr lang="fr-FR" altLang="fr-FR" sz="1600" dirty="0">
                <a:solidFill>
                  <a:srgbClr val="FF0000"/>
                </a:solidFill>
                <a:latin typeface="Calibri" panose="020F0502020204030204" pitchFamily="34" charset="0"/>
              </a:rPr>
              <a:t>Équipe flux</a:t>
            </a:r>
          </a:p>
        </p:txBody>
      </p:sp>
      <p:grpSp>
        <p:nvGrpSpPr>
          <p:cNvPr id="152590" name="Groupe 32"/>
          <p:cNvGrpSpPr>
            <a:grpSpLocks/>
          </p:cNvGrpSpPr>
          <p:nvPr/>
        </p:nvGrpSpPr>
        <p:grpSpPr bwMode="auto">
          <a:xfrm>
            <a:off x="161925" y="1001713"/>
            <a:ext cx="1757363" cy="1293812"/>
            <a:chOff x="229495" y="1174188"/>
            <a:chExt cx="1881693" cy="1384652"/>
          </a:xfrm>
        </p:grpSpPr>
        <p:sp>
          <p:nvSpPr>
            <p:cNvPr id="152665" name="ZoneTexte 5"/>
            <p:cNvSpPr txBox="1">
              <a:spLocks noChangeArrowheads="1"/>
            </p:cNvSpPr>
            <p:nvPr/>
          </p:nvSpPr>
          <p:spPr bwMode="auto">
            <a:xfrm flipH="1">
              <a:off x="229495" y="2196355"/>
              <a:ext cx="1881693" cy="36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9242"/>
                  </a:solidFill>
                  <a:latin typeface="Calibri" panose="020F0502020204030204" pitchFamily="34" charset="0"/>
                </a:rPr>
                <a:t>Fiche de mission</a:t>
              </a:r>
            </a:p>
          </p:txBody>
        </p:sp>
        <p:pic>
          <p:nvPicPr>
            <p:cNvPr id="15266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770" y="1174188"/>
              <a:ext cx="1499160" cy="106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591" name="Groupe 47"/>
          <p:cNvGrpSpPr>
            <a:grpSpLocks/>
          </p:cNvGrpSpPr>
          <p:nvPr/>
        </p:nvGrpSpPr>
        <p:grpSpPr bwMode="auto">
          <a:xfrm>
            <a:off x="2595563" y="1001713"/>
            <a:ext cx="1757362" cy="1293812"/>
            <a:chOff x="229495" y="1174188"/>
            <a:chExt cx="1881693" cy="1384652"/>
          </a:xfrm>
        </p:grpSpPr>
        <p:sp>
          <p:nvSpPr>
            <p:cNvPr id="152663" name="ZoneTexte 48"/>
            <p:cNvSpPr txBox="1">
              <a:spLocks noChangeArrowheads="1"/>
            </p:cNvSpPr>
            <p:nvPr/>
          </p:nvSpPr>
          <p:spPr bwMode="auto">
            <a:xfrm flipH="1">
              <a:off x="229495" y="2196355"/>
              <a:ext cx="1881693" cy="36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9242"/>
                  </a:solidFill>
                  <a:latin typeface="Calibri" panose="020F0502020204030204" pitchFamily="34" charset="0"/>
                </a:rPr>
                <a:t>Fiche de mission</a:t>
              </a:r>
            </a:p>
          </p:txBody>
        </p:sp>
        <p:pic>
          <p:nvPicPr>
            <p:cNvPr id="15266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770" y="1174188"/>
              <a:ext cx="1499160" cy="106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592" name="Groupe 50"/>
          <p:cNvGrpSpPr>
            <a:grpSpLocks/>
          </p:cNvGrpSpPr>
          <p:nvPr/>
        </p:nvGrpSpPr>
        <p:grpSpPr bwMode="auto">
          <a:xfrm>
            <a:off x="5245100" y="1001713"/>
            <a:ext cx="1757363" cy="1293812"/>
            <a:chOff x="229495" y="1174188"/>
            <a:chExt cx="1881693" cy="1384652"/>
          </a:xfrm>
        </p:grpSpPr>
        <p:sp>
          <p:nvSpPr>
            <p:cNvPr id="152661" name="ZoneTexte 51"/>
            <p:cNvSpPr txBox="1">
              <a:spLocks noChangeArrowheads="1"/>
            </p:cNvSpPr>
            <p:nvPr/>
          </p:nvSpPr>
          <p:spPr bwMode="auto">
            <a:xfrm flipH="1">
              <a:off x="229495" y="2196355"/>
              <a:ext cx="1881693" cy="36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9242"/>
                  </a:solidFill>
                  <a:latin typeface="Calibri" panose="020F0502020204030204" pitchFamily="34" charset="0"/>
                </a:rPr>
                <a:t>Fiche de mission</a:t>
              </a:r>
            </a:p>
          </p:txBody>
        </p:sp>
        <p:pic>
          <p:nvPicPr>
            <p:cNvPr id="15266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770" y="1174188"/>
              <a:ext cx="1499160" cy="106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593" name="Groupe 53"/>
          <p:cNvGrpSpPr>
            <a:grpSpLocks/>
          </p:cNvGrpSpPr>
          <p:nvPr/>
        </p:nvGrpSpPr>
        <p:grpSpPr bwMode="auto">
          <a:xfrm>
            <a:off x="7491413" y="1001713"/>
            <a:ext cx="1757362" cy="1293812"/>
            <a:chOff x="229495" y="1174188"/>
            <a:chExt cx="1881693" cy="1384652"/>
          </a:xfrm>
        </p:grpSpPr>
        <p:sp>
          <p:nvSpPr>
            <p:cNvPr id="152659" name="ZoneTexte 54"/>
            <p:cNvSpPr txBox="1">
              <a:spLocks noChangeArrowheads="1"/>
            </p:cNvSpPr>
            <p:nvPr/>
          </p:nvSpPr>
          <p:spPr bwMode="auto">
            <a:xfrm flipH="1">
              <a:off x="229495" y="2196355"/>
              <a:ext cx="1881693" cy="36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009242"/>
                  </a:solidFill>
                  <a:latin typeface="Calibri" panose="020F0502020204030204" pitchFamily="34" charset="0"/>
                </a:rPr>
                <a:t>Fiche de mission</a:t>
              </a:r>
            </a:p>
          </p:txBody>
        </p:sp>
        <p:pic>
          <p:nvPicPr>
            <p:cNvPr id="15266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770" y="1174188"/>
              <a:ext cx="1499160" cy="106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594" name="Groupe 77"/>
          <p:cNvGrpSpPr>
            <a:grpSpLocks/>
          </p:cNvGrpSpPr>
          <p:nvPr/>
        </p:nvGrpSpPr>
        <p:grpSpPr bwMode="auto">
          <a:xfrm>
            <a:off x="3549650" y="4957763"/>
            <a:ext cx="1130300" cy="1089025"/>
            <a:chOff x="2944118" y="5186361"/>
            <a:chExt cx="1130341" cy="1088756"/>
          </a:xfrm>
        </p:grpSpPr>
        <p:sp>
          <p:nvSpPr>
            <p:cNvPr id="152655" name="ZoneTexte 29"/>
            <p:cNvSpPr txBox="1">
              <a:spLocks noChangeArrowheads="1"/>
            </p:cNvSpPr>
            <p:nvPr/>
          </p:nvSpPr>
          <p:spPr bwMode="auto">
            <a:xfrm flipH="1">
              <a:off x="2944118" y="5690342"/>
              <a:ext cx="11303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Scotch mural</a:t>
              </a:r>
            </a:p>
          </p:txBody>
        </p:sp>
        <p:grpSp>
          <p:nvGrpSpPr>
            <p:cNvPr id="152656" name="Groupe 65"/>
            <p:cNvGrpSpPr>
              <a:grpSpLocks/>
            </p:cNvGrpSpPr>
            <p:nvPr/>
          </p:nvGrpSpPr>
          <p:grpSpPr bwMode="auto">
            <a:xfrm>
              <a:off x="3257550" y="5186361"/>
              <a:ext cx="561975" cy="561975"/>
              <a:chOff x="3257550" y="5205412"/>
              <a:chExt cx="685800" cy="685800"/>
            </a:xfrm>
          </p:grpSpPr>
          <p:sp>
            <p:nvSpPr>
              <p:cNvPr id="152657" name="Ellipse 63"/>
              <p:cNvSpPr>
                <a:spLocks noChangeArrowheads="1"/>
              </p:cNvSpPr>
              <p:nvPr/>
            </p:nvSpPr>
            <p:spPr bwMode="auto">
              <a:xfrm>
                <a:off x="3257550" y="5205412"/>
                <a:ext cx="685800" cy="685800"/>
              </a:xfrm>
              <a:prstGeom prst="ellipse">
                <a:avLst/>
              </a:prstGeom>
              <a:solidFill>
                <a:srgbClr val="FFFFB7"/>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58" name="Ellipse 64"/>
              <p:cNvSpPr>
                <a:spLocks noChangeArrowheads="1"/>
              </p:cNvSpPr>
              <p:nvPr/>
            </p:nvSpPr>
            <p:spPr bwMode="auto">
              <a:xfrm>
                <a:off x="3386138" y="5334000"/>
                <a:ext cx="428625" cy="428625"/>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sp>
        <p:nvSpPr>
          <p:cNvPr id="152595" name="ZoneTexte 9"/>
          <p:cNvSpPr txBox="1">
            <a:spLocks noChangeArrowheads="1"/>
          </p:cNvSpPr>
          <p:nvPr/>
        </p:nvSpPr>
        <p:spPr bwMode="auto">
          <a:xfrm flipH="1">
            <a:off x="5421313" y="4683125"/>
            <a:ext cx="106997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500"/>
              </a:lnSpc>
              <a:spcBef>
                <a:spcPct val="0"/>
              </a:spcBef>
              <a:buFontTx/>
              <a:buNone/>
            </a:pPr>
            <a:r>
              <a:rPr lang="fr-FR" altLang="fr-FR" sz="1300" dirty="0">
                <a:solidFill>
                  <a:srgbClr val="FF0000"/>
                </a:solidFill>
                <a:latin typeface="Calibri" panose="020F0502020204030204" pitchFamily="34" charset="0"/>
              </a:rPr>
              <a:t>Tickets</a:t>
            </a:r>
            <a:br>
              <a:rPr lang="fr-FR" altLang="fr-FR" sz="1300" dirty="0">
                <a:solidFill>
                  <a:srgbClr val="FF0000"/>
                </a:solidFill>
                <a:latin typeface="Calibri" panose="020F0502020204030204" pitchFamily="34" charset="0"/>
              </a:rPr>
            </a:br>
            <a:r>
              <a:rPr lang="fr-FR" altLang="fr-FR" sz="1300" dirty="0">
                <a:solidFill>
                  <a:srgbClr val="FF0000"/>
                </a:solidFill>
                <a:latin typeface="Calibri" panose="020F0502020204030204" pitchFamily="34" charset="0"/>
              </a:rPr>
              <a:t>de gamme</a:t>
            </a:r>
          </a:p>
        </p:txBody>
      </p:sp>
      <p:grpSp>
        <p:nvGrpSpPr>
          <p:cNvPr id="152596" name="Groupe 69"/>
          <p:cNvGrpSpPr>
            <a:grpSpLocks/>
          </p:cNvGrpSpPr>
          <p:nvPr/>
        </p:nvGrpSpPr>
        <p:grpSpPr bwMode="auto">
          <a:xfrm>
            <a:off x="5649913" y="4089400"/>
            <a:ext cx="722312" cy="571500"/>
            <a:chOff x="457200" y="304800"/>
            <a:chExt cx="1397000" cy="1104900"/>
          </a:xfrm>
        </p:grpSpPr>
        <p:sp>
          <p:nvSpPr>
            <p:cNvPr id="68" name="AutoShape 35"/>
            <p:cNvSpPr>
              <a:spLocks noChangeArrowheads="1"/>
            </p:cNvSpPr>
            <p:nvPr/>
          </p:nvSpPr>
          <p:spPr bwMode="auto">
            <a:xfrm>
              <a:off x="764233" y="559542"/>
              <a:ext cx="828990" cy="712047"/>
            </a:xfrm>
            <a:prstGeom prst="plus">
              <a:avLst>
                <a:gd name="adj" fmla="val 29556"/>
              </a:avLst>
            </a:prstGeom>
            <a:solidFill>
              <a:schemeClr val="bg1">
                <a:lumMod val="85000"/>
              </a:schemeClr>
            </a:solidFill>
            <a:ln w="38100">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9" name="Rectangle 68"/>
            <p:cNvSpPr/>
            <p:nvPr/>
          </p:nvSpPr>
          <p:spPr>
            <a:xfrm>
              <a:off x="457200" y="304800"/>
              <a:ext cx="1397000" cy="11049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grpSp>
        <p:nvGrpSpPr>
          <p:cNvPr id="152597" name="Groupe 66"/>
          <p:cNvGrpSpPr>
            <a:grpSpLocks/>
          </p:cNvGrpSpPr>
          <p:nvPr/>
        </p:nvGrpSpPr>
        <p:grpSpPr bwMode="auto">
          <a:xfrm>
            <a:off x="7369175" y="4386263"/>
            <a:ext cx="1066800" cy="933450"/>
            <a:chOff x="7400925" y="4146552"/>
            <a:chExt cx="1066800" cy="933325"/>
          </a:xfrm>
        </p:grpSpPr>
        <p:sp>
          <p:nvSpPr>
            <p:cNvPr id="152651" name="ZoneTexte 12"/>
            <p:cNvSpPr txBox="1">
              <a:spLocks noChangeArrowheads="1"/>
            </p:cNvSpPr>
            <p:nvPr/>
          </p:nvSpPr>
          <p:spPr bwMode="auto">
            <a:xfrm flipH="1">
              <a:off x="7400925" y="4756712"/>
              <a:ext cx="10668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500" dirty="0">
                  <a:solidFill>
                    <a:srgbClr val="FF0000"/>
                  </a:solidFill>
                  <a:latin typeface="Calibri" panose="020F0502020204030204" pitchFamily="34" charset="0"/>
                </a:rPr>
                <a:t>Interviews</a:t>
              </a:r>
            </a:p>
          </p:txBody>
        </p:sp>
        <p:pic>
          <p:nvPicPr>
            <p:cNvPr id="152652"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48551" y="4146552"/>
              <a:ext cx="981073" cy="920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52598"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53450" y="4400550"/>
            <a:ext cx="1008063"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2599" name="Connecteur droit 83"/>
          <p:cNvCxnSpPr>
            <a:cxnSpLocks noChangeShapeType="1"/>
          </p:cNvCxnSpPr>
          <p:nvPr/>
        </p:nvCxnSpPr>
        <p:spPr bwMode="auto">
          <a:xfrm rot="5400000">
            <a:off x="-866775" y="3636963"/>
            <a:ext cx="599440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52600" name="Connecteur droit 84"/>
          <p:cNvCxnSpPr>
            <a:cxnSpLocks noChangeShapeType="1"/>
          </p:cNvCxnSpPr>
          <p:nvPr/>
        </p:nvCxnSpPr>
        <p:spPr bwMode="auto">
          <a:xfrm rot="5400000">
            <a:off x="1730375" y="3636963"/>
            <a:ext cx="599440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52601" name="Connecteur droit 85"/>
          <p:cNvCxnSpPr>
            <a:cxnSpLocks noChangeShapeType="1"/>
          </p:cNvCxnSpPr>
          <p:nvPr/>
        </p:nvCxnSpPr>
        <p:spPr bwMode="auto">
          <a:xfrm rot="5400000">
            <a:off x="4348163" y="3636963"/>
            <a:ext cx="599440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grpSp>
        <p:nvGrpSpPr>
          <p:cNvPr id="152602" name="Groupe 79"/>
          <p:cNvGrpSpPr>
            <a:grpSpLocks/>
          </p:cNvGrpSpPr>
          <p:nvPr/>
        </p:nvGrpSpPr>
        <p:grpSpPr bwMode="auto">
          <a:xfrm>
            <a:off x="4899025" y="5614988"/>
            <a:ext cx="1111250" cy="1087437"/>
            <a:chOff x="4885858" y="4940300"/>
            <a:chExt cx="1111529" cy="1087547"/>
          </a:xfrm>
        </p:grpSpPr>
        <p:pic>
          <p:nvPicPr>
            <p:cNvPr id="152649"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85858" y="4940300"/>
              <a:ext cx="987951"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650" name="ZoneTexte 17"/>
            <p:cNvSpPr txBox="1">
              <a:spLocks noChangeArrowheads="1"/>
            </p:cNvSpPr>
            <p:nvPr/>
          </p:nvSpPr>
          <p:spPr bwMode="auto">
            <a:xfrm flipH="1">
              <a:off x="4953147" y="5443072"/>
              <a:ext cx="10442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Mètre ruban</a:t>
              </a:r>
            </a:p>
          </p:txBody>
        </p:sp>
      </p:grpSp>
      <p:grpSp>
        <p:nvGrpSpPr>
          <p:cNvPr id="152603" name="Groupe 80"/>
          <p:cNvGrpSpPr>
            <a:grpSpLocks/>
          </p:cNvGrpSpPr>
          <p:nvPr/>
        </p:nvGrpSpPr>
        <p:grpSpPr bwMode="auto">
          <a:xfrm>
            <a:off x="5853113" y="5220794"/>
            <a:ext cx="1149350" cy="1538453"/>
            <a:chOff x="5970495" y="5293110"/>
            <a:chExt cx="1148975" cy="1537831"/>
          </a:xfrm>
        </p:grpSpPr>
        <p:grpSp>
          <p:nvGrpSpPr>
            <p:cNvPr id="152641" name="Group 110"/>
            <p:cNvGrpSpPr>
              <a:grpSpLocks/>
            </p:cNvGrpSpPr>
            <p:nvPr/>
          </p:nvGrpSpPr>
          <p:grpSpPr bwMode="auto">
            <a:xfrm>
              <a:off x="6268570" y="5293110"/>
              <a:ext cx="850900" cy="1537831"/>
              <a:chOff x="2096" y="2247"/>
              <a:chExt cx="685" cy="1238"/>
            </a:xfrm>
          </p:grpSpPr>
          <p:pic>
            <p:nvPicPr>
              <p:cNvPr id="152643" name="Picture 111"/>
              <p:cNvPicPr>
                <a:picLocks noChangeAspect="1" noChangeArrowheads="1"/>
              </p:cNvPicPr>
              <p:nvPr/>
            </p:nvPicPr>
            <p:blipFill>
              <a:blip r:embed="rId8" cstate="print">
                <a:extLst>
                  <a:ext uri="{28A0092B-C50C-407E-A947-70E740481C1C}">
                    <a14:useLocalDpi xmlns:a14="http://schemas.microsoft.com/office/drawing/2010/main" val="0"/>
                  </a:ext>
                </a:extLst>
              </a:blip>
              <a:srcRect l="33940"/>
              <a:stretch>
                <a:fillRect/>
              </a:stretch>
            </p:blipFill>
            <p:spPr bwMode="auto">
              <a:xfrm>
                <a:off x="2164" y="2287"/>
                <a:ext cx="617" cy="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644" name="Rectangle 112"/>
              <p:cNvSpPr>
                <a:spLocks noChangeArrowheads="1"/>
              </p:cNvSpPr>
              <p:nvPr/>
            </p:nvSpPr>
            <p:spPr bwMode="auto">
              <a:xfrm>
                <a:off x="2122" y="2359"/>
                <a:ext cx="149" cy="19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52645" name="Rectangle 113"/>
              <p:cNvSpPr>
                <a:spLocks noChangeArrowheads="1"/>
              </p:cNvSpPr>
              <p:nvPr/>
            </p:nvSpPr>
            <p:spPr bwMode="auto">
              <a:xfrm>
                <a:off x="2176" y="2247"/>
                <a:ext cx="96" cy="19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52646" name="Rectangle 114"/>
              <p:cNvSpPr>
                <a:spLocks noChangeArrowheads="1"/>
              </p:cNvSpPr>
              <p:nvPr/>
            </p:nvSpPr>
            <p:spPr bwMode="auto">
              <a:xfrm>
                <a:off x="2156" y="2543"/>
                <a:ext cx="160" cy="19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52647" name="Line 115"/>
              <p:cNvSpPr>
                <a:spLocks noChangeShapeType="1"/>
              </p:cNvSpPr>
              <p:nvPr/>
            </p:nvSpPr>
            <p:spPr bwMode="auto">
              <a:xfrm flipV="1">
                <a:off x="2224" y="2384"/>
                <a:ext cx="24" cy="36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fr-FR" dirty="0">
                  <a:latin typeface="Calibri" panose="020F0502020204030204" pitchFamily="34" charset="0"/>
                </a:endParaRPr>
              </a:p>
            </p:txBody>
          </p:sp>
          <p:sp>
            <p:nvSpPr>
              <p:cNvPr id="152648" name="Rectangle 116"/>
              <p:cNvSpPr>
                <a:spLocks noChangeArrowheads="1"/>
              </p:cNvSpPr>
              <p:nvPr/>
            </p:nvSpPr>
            <p:spPr bwMode="auto">
              <a:xfrm>
                <a:off x="2096" y="3287"/>
                <a:ext cx="96" cy="19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sp>
          <p:nvSpPr>
            <p:cNvPr id="152642" name="ZoneTexte 19"/>
            <p:cNvSpPr txBox="1">
              <a:spLocks noChangeArrowheads="1"/>
            </p:cNvSpPr>
            <p:nvPr/>
          </p:nvSpPr>
          <p:spPr bwMode="auto">
            <a:xfrm flipH="1">
              <a:off x="5970495" y="5467047"/>
              <a:ext cx="1143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1600" dirty="0">
                  <a:latin typeface="Calibri" panose="020F0502020204030204" pitchFamily="34" charset="0"/>
                </a:rPr>
                <a:t>Tableau</a:t>
              </a:r>
              <a:br>
                <a:rPr lang="fr-FR" altLang="fr-FR" sz="1600" dirty="0">
                  <a:latin typeface="Calibri" panose="020F0502020204030204" pitchFamily="34" charset="0"/>
                </a:rPr>
              </a:br>
              <a:r>
                <a:rPr lang="fr-FR" altLang="fr-FR" sz="1600" dirty="0">
                  <a:latin typeface="Calibri" panose="020F0502020204030204" pitchFamily="34" charset="0"/>
                </a:rPr>
                <a:t>de papier</a:t>
              </a:r>
            </a:p>
          </p:txBody>
        </p:sp>
      </p:grpSp>
      <p:grpSp>
        <p:nvGrpSpPr>
          <p:cNvPr id="152604" name="Groupe 86"/>
          <p:cNvGrpSpPr>
            <a:grpSpLocks/>
          </p:cNvGrpSpPr>
          <p:nvPr/>
        </p:nvGrpSpPr>
        <p:grpSpPr bwMode="auto">
          <a:xfrm>
            <a:off x="3111500" y="4359275"/>
            <a:ext cx="779463" cy="579438"/>
            <a:chOff x="8368552" y="4331447"/>
            <a:chExt cx="779929" cy="580278"/>
          </a:xfrm>
        </p:grpSpPr>
        <p:sp>
          <p:nvSpPr>
            <p:cNvPr id="152639" name="Carré corné 87"/>
            <p:cNvSpPr>
              <a:spLocks noChangeArrowheads="1"/>
            </p:cNvSpPr>
            <p:nvPr/>
          </p:nvSpPr>
          <p:spPr bwMode="auto">
            <a:xfrm flipH="1">
              <a:off x="8441763" y="4331447"/>
              <a:ext cx="619311" cy="580278"/>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40" name="ZoneTexte 88"/>
            <p:cNvSpPr txBox="1">
              <a:spLocks noChangeArrowheads="1"/>
            </p:cNvSpPr>
            <p:nvPr/>
          </p:nvSpPr>
          <p:spPr bwMode="auto">
            <a:xfrm>
              <a:off x="8368552" y="4446497"/>
              <a:ext cx="7799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1500" dirty="0">
                  <a:latin typeface="Calibri" panose="020F0502020204030204" pitchFamily="34" charset="0"/>
                </a:rPr>
                <a:t>Post-it</a:t>
              </a:r>
            </a:p>
          </p:txBody>
        </p:sp>
      </p:grpSp>
      <p:grpSp>
        <p:nvGrpSpPr>
          <p:cNvPr id="152605" name="Groupe 98"/>
          <p:cNvGrpSpPr>
            <a:grpSpLocks/>
          </p:cNvGrpSpPr>
          <p:nvPr/>
        </p:nvGrpSpPr>
        <p:grpSpPr bwMode="auto">
          <a:xfrm>
            <a:off x="4724400" y="4121150"/>
            <a:ext cx="877888" cy="1641475"/>
            <a:chOff x="4827429" y="4121240"/>
            <a:chExt cx="877911" cy="1641823"/>
          </a:xfrm>
        </p:grpSpPr>
        <p:pic>
          <p:nvPicPr>
            <p:cNvPr id="152637" name="Picture 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63354" y="4121240"/>
              <a:ext cx="666970" cy="969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638" name="ZoneTexte 81"/>
            <p:cNvSpPr txBox="1">
              <a:spLocks noChangeArrowheads="1"/>
            </p:cNvSpPr>
            <p:nvPr/>
          </p:nvSpPr>
          <p:spPr bwMode="auto">
            <a:xfrm flipH="1">
              <a:off x="4827429" y="5093649"/>
              <a:ext cx="877911" cy="669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500"/>
                </a:lnSpc>
                <a:spcBef>
                  <a:spcPct val="0"/>
                </a:spcBef>
                <a:buFontTx/>
                <a:buNone/>
              </a:pPr>
              <a:r>
                <a:rPr lang="fr-FR" altLang="fr-FR" sz="1400" dirty="0">
                  <a:solidFill>
                    <a:srgbClr val="FF0000"/>
                  </a:solidFill>
                  <a:latin typeface="Calibri" panose="020F0502020204030204" pitchFamily="34" charset="0"/>
                </a:rPr>
                <a:t>Analyse des trajets</a:t>
              </a:r>
            </a:p>
          </p:txBody>
        </p:sp>
      </p:grpSp>
      <p:grpSp>
        <p:nvGrpSpPr>
          <p:cNvPr id="152606" name="Groupe 97"/>
          <p:cNvGrpSpPr>
            <a:grpSpLocks/>
          </p:cNvGrpSpPr>
          <p:nvPr/>
        </p:nvGrpSpPr>
        <p:grpSpPr bwMode="auto">
          <a:xfrm>
            <a:off x="2314575" y="5108575"/>
            <a:ext cx="1074738" cy="923925"/>
            <a:chOff x="2314909" y="5108250"/>
            <a:chExt cx="1073750" cy="924738"/>
          </a:xfrm>
        </p:grpSpPr>
        <p:sp>
          <p:nvSpPr>
            <p:cNvPr id="152629" name="ZoneTexte 28"/>
            <p:cNvSpPr txBox="1">
              <a:spLocks noChangeArrowheads="1"/>
            </p:cNvSpPr>
            <p:nvPr/>
          </p:nvSpPr>
          <p:spPr bwMode="auto">
            <a:xfrm flipH="1">
              <a:off x="2314909" y="5694434"/>
              <a:ext cx="10737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Feutres</a:t>
              </a:r>
            </a:p>
          </p:txBody>
        </p:sp>
        <p:grpSp>
          <p:nvGrpSpPr>
            <p:cNvPr id="152630" name="Groupe 90"/>
            <p:cNvGrpSpPr>
              <a:grpSpLocks/>
            </p:cNvGrpSpPr>
            <p:nvPr/>
          </p:nvGrpSpPr>
          <p:grpSpPr bwMode="auto">
            <a:xfrm>
              <a:off x="2407931" y="5108250"/>
              <a:ext cx="815309" cy="544245"/>
              <a:chOff x="3979210" y="6428430"/>
              <a:chExt cx="815309" cy="544245"/>
            </a:xfrm>
          </p:grpSpPr>
          <p:sp>
            <p:nvSpPr>
              <p:cNvPr id="152631" name="Rectangle 91"/>
              <p:cNvSpPr>
                <a:spLocks noChangeArrowheads="1"/>
              </p:cNvSpPr>
              <p:nvPr/>
            </p:nvSpPr>
            <p:spPr bwMode="auto">
              <a:xfrm>
                <a:off x="3979210" y="6428430"/>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32" name="Rectangle 92"/>
              <p:cNvSpPr>
                <a:spLocks noChangeArrowheads="1"/>
              </p:cNvSpPr>
              <p:nvPr/>
            </p:nvSpPr>
            <p:spPr bwMode="auto">
              <a:xfrm>
                <a:off x="4682042" y="6453750"/>
                <a:ext cx="104857" cy="72241"/>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33" name="Rectangle 93"/>
              <p:cNvSpPr>
                <a:spLocks noChangeArrowheads="1"/>
              </p:cNvSpPr>
              <p:nvPr/>
            </p:nvSpPr>
            <p:spPr bwMode="auto">
              <a:xfrm>
                <a:off x="3979210" y="6631001"/>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34" name="Rectangle 94"/>
              <p:cNvSpPr>
                <a:spLocks noChangeArrowheads="1"/>
              </p:cNvSpPr>
              <p:nvPr/>
            </p:nvSpPr>
            <p:spPr bwMode="auto">
              <a:xfrm>
                <a:off x="4682042" y="6656321"/>
                <a:ext cx="104857" cy="72241"/>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35" name="Rectangle 95"/>
              <p:cNvSpPr>
                <a:spLocks noChangeArrowheads="1"/>
              </p:cNvSpPr>
              <p:nvPr/>
            </p:nvSpPr>
            <p:spPr bwMode="auto">
              <a:xfrm>
                <a:off x="3986830" y="6829121"/>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36" name="Rectangle 96"/>
              <p:cNvSpPr>
                <a:spLocks noChangeArrowheads="1"/>
              </p:cNvSpPr>
              <p:nvPr/>
            </p:nvSpPr>
            <p:spPr bwMode="auto">
              <a:xfrm>
                <a:off x="4689662" y="6854441"/>
                <a:ext cx="104857" cy="72241"/>
              </a:xfrm>
              <a:prstGeom prst="rect">
                <a:avLst/>
              </a:prstGeom>
              <a:solidFill>
                <a:srgbClr val="00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grpSp>
        <p:nvGrpSpPr>
          <p:cNvPr id="152607" name="Groupe 105"/>
          <p:cNvGrpSpPr>
            <a:grpSpLocks/>
          </p:cNvGrpSpPr>
          <p:nvPr/>
        </p:nvGrpSpPr>
        <p:grpSpPr bwMode="auto">
          <a:xfrm>
            <a:off x="7464425" y="5592763"/>
            <a:ext cx="808038" cy="346075"/>
            <a:chOff x="7464026" y="5592344"/>
            <a:chExt cx="807689" cy="346125"/>
          </a:xfrm>
        </p:grpSpPr>
        <p:sp>
          <p:nvSpPr>
            <p:cNvPr id="152625" name="Rectangle 99"/>
            <p:cNvSpPr>
              <a:spLocks noChangeArrowheads="1"/>
            </p:cNvSpPr>
            <p:nvPr/>
          </p:nvSpPr>
          <p:spPr bwMode="auto">
            <a:xfrm>
              <a:off x="7464026" y="5592344"/>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26" name="Rectangle 100"/>
            <p:cNvSpPr>
              <a:spLocks noChangeArrowheads="1"/>
            </p:cNvSpPr>
            <p:nvPr/>
          </p:nvSpPr>
          <p:spPr bwMode="auto">
            <a:xfrm>
              <a:off x="8166858" y="5617664"/>
              <a:ext cx="104857" cy="72241"/>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27" name="Rectangle 101"/>
            <p:cNvSpPr>
              <a:spLocks noChangeArrowheads="1"/>
            </p:cNvSpPr>
            <p:nvPr/>
          </p:nvSpPr>
          <p:spPr bwMode="auto">
            <a:xfrm>
              <a:off x="7464026" y="5794915"/>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28" name="Rectangle 102"/>
            <p:cNvSpPr>
              <a:spLocks noChangeArrowheads="1"/>
            </p:cNvSpPr>
            <p:nvPr/>
          </p:nvSpPr>
          <p:spPr bwMode="auto">
            <a:xfrm>
              <a:off x="8166858" y="5820235"/>
              <a:ext cx="104857" cy="72241"/>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152609" name="ZoneTexte 103"/>
          <p:cNvSpPr txBox="1">
            <a:spLocks noChangeArrowheads="1"/>
          </p:cNvSpPr>
          <p:nvPr/>
        </p:nvSpPr>
        <p:spPr bwMode="auto">
          <a:xfrm flipH="1">
            <a:off x="6323013" y="4683125"/>
            <a:ext cx="108267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500"/>
              </a:lnSpc>
              <a:spcBef>
                <a:spcPct val="0"/>
              </a:spcBef>
              <a:buFontTx/>
              <a:buNone/>
            </a:pPr>
            <a:r>
              <a:rPr lang="fr-FR" altLang="fr-FR" sz="1300" dirty="0">
                <a:solidFill>
                  <a:srgbClr val="FF0000"/>
                </a:solidFill>
                <a:latin typeface="Calibri" panose="020F0502020204030204" pitchFamily="34" charset="0"/>
              </a:rPr>
              <a:t>Tickets</a:t>
            </a:r>
            <a:br>
              <a:rPr lang="fr-FR" altLang="fr-FR" sz="1300" dirty="0">
                <a:solidFill>
                  <a:srgbClr val="FF0000"/>
                </a:solidFill>
                <a:latin typeface="Calibri" panose="020F0502020204030204" pitchFamily="34" charset="0"/>
              </a:rPr>
            </a:br>
            <a:r>
              <a:rPr lang="fr-FR" altLang="fr-FR" sz="1300" dirty="0">
                <a:solidFill>
                  <a:srgbClr val="FF0000"/>
                </a:solidFill>
                <a:latin typeface="Calibri" panose="020F0502020204030204" pitchFamily="34" charset="0"/>
              </a:rPr>
              <a:t>implantation</a:t>
            </a:r>
          </a:p>
        </p:txBody>
      </p:sp>
      <p:grpSp>
        <p:nvGrpSpPr>
          <p:cNvPr id="152610" name="Groupe 104"/>
          <p:cNvGrpSpPr>
            <a:grpSpLocks/>
          </p:cNvGrpSpPr>
          <p:nvPr/>
        </p:nvGrpSpPr>
        <p:grpSpPr bwMode="auto">
          <a:xfrm>
            <a:off x="6500813" y="4089400"/>
            <a:ext cx="722312" cy="571500"/>
            <a:chOff x="457200" y="304800"/>
            <a:chExt cx="1397000" cy="1104900"/>
          </a:xfrm>
        </p:grpSpPr>
        <p:sp>
          <p:nvSpPr>
            <p:cNvPr id="152623" name="AutoShape 35"/>
            <p:cNvSpPr>
              <a:spLocks noChangeArrowheads="1"/>
            </p:cNvSpPr>
            <p:nvPr/>
          </p:nvSpPr>
          <p:spPr bwMode="auto">
            <a:xfrm>
              <a:off x="763588" y="558007"/>
              <a:ext cx="828675" cy="714375"/>
            </a:xfrm>
            <a:prstGeom prst="triangle">
              <a:avLst>
                <a:gd name="adj" fmla="val 50000"/>
              </a:avLst>
            </a:prstGeom>
            <a:solidFill>
              <a:srgbClr val="FFFF00"/>
            </a:solidFill>
            <a:ln w="38100">
              <a:solidFill>
                <a:schemeClr val="tx1"/>
              </a:solidFill>
              <a:miter lim="800000"/>
              <a:headEnd/>
              <a:tailEnd/>
            </a:ln>
          </p:spPr>
          <p:txBody>
            <a:bodyPr wrap="none" anchor="ctr"/>
            <a:lstStyle>
              <a:lvl1pPr>
                <a:spcBef>
                  <a:spcPct val="20000"/>
                </a:spcBef>
                <a:buChar char="•"/>
                <a:defRPr>
                  <a:solidFill>
                    <a:schemeClr val="tx1"/>
                  </a:solidFill>
                  <a:latin typeface="Arial" panose="020B0604020202020204" pitchFamily="34" charset="0"/>
                </a:defRPr>
              </a:lvl1pPr>
              <a:lvl2pPr marL="701675" indent="-179388">
                <a:spcBef>
                  <a:spcPct val="20000"/>
                </a:spcBef>
                <a:buChar char="–"/>
                <a:defRPr sz="1400">
                  <a:solidFill>
                    <a:schemeClr val="tx1"/>
                  </a:solidFill>
                  <a:latin typeface="Arial" panose="020B0604020202020204" pitchFamily="34" charset="0"/>
                </a:defRPr>
              </a:lvl2pPr>
              <a:lvl3pPr marL="1150938"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400" dirty="0">
                <a:latin typeface="Calibri" panose="020F0502020204030204" pitchFamily="34" charset="0"/>
              </a:endParaRPr>
            </a:p>
          </p:txBody>
        </p:sp>
        <p:sp>
          <p:nvSpPr>
            <p:cNvPr id="109" name="Rectangle 108"/>
            <p:cNvSpPr/>
            <p:nvPr/>
          </p:nvSpPr>
          <p:spPr>
            <a:xfrm>
              <a:off x="457200" y="304800"/>
              <a:ext cx="1397000" cy="11049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grpSp>
        <p:nvGrpSpPr>
          <p:cNvPr id="152611" name="Groupe 89"/>
          <p:cNvGrpSpPr>
            <a:grpSpLocks/>
          </p:cNvGrpSpPr>
          <p:nvPr/>
        </p:nvGrpSpPr>
        <p:grpSpPr bwMode="auto">
          <a:xfrm>
            <a:off x="344488" y="4476750"/>
            <a:ext cx="1073150" cy="925513"/>
            <a:chOff x="2314909" y="5108250"/>
            <a:chExt cx="1073750" cy="924738"/>
          </a:xfrm>
        </p:grpSpPr>
        <p:sp>
          <p:nvSpPr>
            <p:cNvPr id="152615" name="ZoneTexte 109"/>
            <p:cNvSpPr txBox="1">
              <a:spLocks noChangeArrowheads="1"/>
            </p:cNvSpPr>
            <p:nvPr/>
          </p:nvSpPr>
          <p:spPr bwMode="auto">
            <a:xfrm flipH="1">
              <a:off x="2314909" y="5694434"/>
              <a:ext cx="10737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Feutres</a:t>
              </a:r>
            </a:p>
          </p:txBody>
        </p:sp>
        <p:grpSp>
          <p:nvGrpSpPr>
            <p:cNvPr id="152616" name="Groupe 110"/>
            <p:cNvGrpSpPr>
              <a:grpSpLocks/>
            </p:cNvGrpSpPr>
            <p:nvPr/>
          </p:nvGrpSpPr>
          <p:grpSpPr bwMode="auto">
            <a:xfrm>
              <a:off x="2407931" y="5108250"/>
              <a:ext cx="815309" cy="544245"/>
              <a:chOff x="3979210" y="6428430"/>
              <a:chExt cx="815309" cy="544245"/>
            </a:xfrm>
          </p:grpSpPr>
          <p:sp>
            <p:nvSpPr>
              <p:cNvPr id="152617" name="Rectangle 111"/>
              <p:cNvSpPr>
                <a:spLocks noChangeArrowheads="1"/>
              </p:cNvSpPr>
              <p:nvPr/>
            </p:nvSpPr>
            <p:spPr bwMode="auto">
              <a:xfrm>
                <a:off x="3979210" y="6428430"/>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18" name="Rectangle 112"/>
              <p:cNvSpPr>
                <a:spLocks noChangeArrowheads="1"/>
              </p:cNvSpPr>
              <p:nvPr/>
            </p:nvSpPr>
            <p:spPr bwMode="auto">
              <a:xfrm>
                <a:off x="4682042" y="6453750"/>
                <a:ext cx="104857" cy="72241"/>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19" name="Rectangle 113"/>
              <p:cNvSpPr>
                <a:spLocks noChangeArrowheads="1"/>
              </p:cNvSpPr>
              <p:nvPr/>
            </p:nvSpPr>
            <p:spPr bwMode="auto">
              <a:xfrm>
                <a:off x="3979210" y="6631001"/>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20" name="Rectangle 114"/>
              <p:cNvSpPr>
                <a:spLocks noChangeArrowheads="1"/>
              </p:cNvSpPr>
              <p:nvPr/>
            </p:nvSpPr>
            <p:spPr bwMode="auto">
              <a:xfrm>
                <a:off x="4682042" y="6656321"/>
                <a:ext cx="104857" cy="72241"/>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21" name="Rectangle 115"/>
              <p:cNvSpPr>
                <a:spLocks noChangeArrowheads="1"/>
              </p:cNvSpPr>
              <p:nvPr/>
            </p:nvSpPr>
            <p:spPr bwMode="auto">
              <a:xfrm>
                <a:off x="3986830" y="6829121"/>
                <a:ext cx="705008" cy="14355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2622" name="Rectangle 116"/>
              <p:cNvSpPr>
                <a:spLocks noChangeArrowheads="1"/>
              </p:cNvSpPr>
              <p:nvPr/>
            </p:nvSpPr>
            <p:spPr bwMode="auto">
              <a:xfrm>
                <a:off x="4689662" y="6854441"/>
                <a:ext cx="104857" cy="72241"/>
              </a:xfrm>
              <a:prstGeom prst="rect">
                <a:avLst/>
              </a:prstGeom>
              <a:solidFill>
                <a:srgbClr val="00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pic>
        <p:nvPicPr>
          <p:cNvPr id="152612" name="Picture 2"/>
          <p:cNvPicPr>
            <a:picLocks noChangeAspect="1" noChangeArrowheads="1"/>
          </p:cNvPicPr>
          <p:nvPr/>
        </p:nvPicPr>
        <p:blipFill>
          <a:blip r:embed="rId10">
            <a:extLst>
              <a:ext uri="{28A0092B-C50C-407E-A947-70E740481C1C}">
                <a14:useLocalDpi xmlns:a14="http://schemas.microsoft.com/office/drawing/2010/main" val="0"/>
              </a:ext>
            </a:extLst>
          </a:blip>
          <a:srcRect l="20790" t="9264" r="60571" b="67557"/>
          <a:stretch>
            <a:fillRect/>
          </a:stretch>
        </p:blipFill>
        <p:spPr bwMode="auto">
          <a:xfrm>
            <a:off x="2595563" y="2393950"/>
            <a:ext cx="1916112" cy="1339850"/>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52613" name="Picture 2"/>
          <p:cNvPicPr>
            <a:picLocks noChangeAspect="1" noChangeArrowheads="1"/>
          </p:cNvPicPr>
          <p:nvPr/>
        </p:nvPicPr>
        <p:blipFill>
          <a:blip r:embed="rId11">
            <a:extLst>
              <a:ext uri="{28A0092B-C50C-407E-A947-70E740481C1C}">
                <a14:useLocalDpi xmlns:a14="http://schemas.microsoft.com/office/drawing/2010/main" val="0"/>
              </a:ext>
            </a:extLst>
          </a:blip>
          <a:srcRect l="60637" t="36600" r="20665" b="40321"/>
          <a:stretch>
            <a:fillRect/>
          </a:stretch>
        </p:blipFill>
        <p:spPr bwMode="auto">
          <a:xfrm>
            <a:off x="7566025" y="2309813"/>
            <a:ext cx="1973263" cy="1371600"/>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 name="Image 1"/>
          <p:cNvPicPr>
            <a:picLocks noChangeAspect="1"/>
          </p:cNvPicPr>
          <p:nvPr/>
        </p:nvPicPr>
        <p:blipFill>
          <a:blip r:embed="rId12"/>
          <a:stretch>
            <a:fillRect/>
          </a:stretch>
        </p:blipFill>
        <p:spPr>
          <a:xfrm>
            <a:off x="5139509" y="2470097"/>
            <a:ext cx="1832791" cy="1264025"/>
          </a:xfrm>
          <a:prstGeom prst="rect">
            <a:avLst/>
          </a:prstGeom>
        </p:spPr>
      </p:pic>
      <p:sp>
        <p:nvSpPr>
          <p:cNvPr id="91"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69</a:t>
            </a:fld>
            <a:endParaRPr lang="fr-FR" altLang="fr-FR" dirty="0">
              <a:latin typeface="Calibri" panose="020F0502020204030204" pitchFamily="34"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4626" name="Titre 1"/>
          <p:cNvSpPr>
            <a:spLocks noGrp="1"/>
          </p:cNvSpPr>
          <p:nvPr>
            <p:ph type="title"/>
          </p:nvPr>
        </p:nvSpPr>
        <p:spPr/>
        <p:txBody>
          <a:bodyPr/>
          <a:lstStyle/>
          <a:p>
            <a:r>
              <a:rPr lang="fr-FR" altLang="fr-FR"/>
              <a:t>L'équipe PRODUCTIVITÉ (1/4)</a:t>
            </a:r>
          </a:p>
        </p:txBody>
      </p:sp>
      <p:sp>
        <p:nvSpPr>
          <p:cNvPr id="15462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5462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3E4688E-AB49-45A4-8FAA-6DC83635898A}" type="slidenum">
              <a:rPr lang="fr-FR" altLang="fr-FR" smtClean="0">
                <a:latin typeface="Calibri" panose="020F0502020204030204" pitchFamily="34" charset="0"/>
              </a:rPr>
              <a:pPr>
                <a:spcBef>
                  <a:spcPct val="0"/>
                </a:spcBef>
                <a:buFontTx/>
                <a:buNone/>
              </a:pPr>
              <a:t>70</a:t>
            </a:fld>
            <a:endParaRPr lang="fr-FR" altLang="fr-FR" dirty="0">
              <a:latin typeface="Calibri" panose="020F0502020204030204" pitchFamily="34" charset="0"/>
            </a:endParaRPr>
          </a:p>
        </p:txBody>
      </p:sp>
      <p:graphicFrame>
        <p:nvGraphicFramePr>
          <p:cNvPr id="7" name="Tableau 6"/>
          <p:cNvGraphicFramePr>
            <a:graphicFrameLocks noGrp="1"/>
          </p:cNvGraphicFramePr>
          <p:nvPr/>
        </p:nvGraphicFramePr>
        <p:xfrm>
          <a:off x="1637434" y="1814439"/>
          <a:ext cx="7798666" cy="2706440"/>
        </p:xfrm>
        <a:graphic>
          <a:graphicData uri="http://schemas.openxmlformats.org/drawingml/2006/table">
            <a:tbl>
              <a:tblPr/>
              <a:tblGrid>
                <a:gridCol w="2285762">
                  <a:extLst>
                    <a:ext uri="{9D8B030D-6E8A-4147-A177-3AD203B41FA5}">
                      <a16:colId xmlns:a16="http://schemas.microsoft.com/office/drawing/2014/main" val="20000"/>
                    </a:ext>
                  </a:extLst>
                </a:gridCol>
                <a:gridCol w="2121805">
                  <a:extLst>
                    <a:ext uri="{9D8B030D-6E8A-4147-A177-3AD203B41FA5}">
                      <a16:colId xmlns:a16="http://schemas.microsoft.com/office/drawing/2014/main" val="20001"/>
                    </a:ext>
                  </a:extLst>
                </a:gridCol>
                <a:gridCol w="761095">
                  <a:extLst>
                    <a:ext uri="{9D8B030D-6E8A-4147-A177-3AD203B41FA5}">
                      <a16:colId xmlns:a16="http://schemas.microsoft.com/office/drawing/2014/main" val="20002"/>
                    </a:ext>
                  </a:extLst>
                </a:gridCol>
                <a:gridCol w="420204">
                  <a:extLst>
                    <a:ext uri="{9D8B030D-6E8A-4147-A177-3AD203B41FA5}">
                      <a16:colId xmlns:a16="http://schemas.microsoft.com/office/drawing/2014/main" val="20003"/>
                    </a:ext>
                  </a:extLst>
                </a:gridCol>
                <a:gridCol w="2667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482600">
                  <a:extLst>
                    <a:ext uri="{9D8B030D-6E8A-4147-A177-3AD203B41FA5}">
                      <a16:colId xmlns:a16="http://schemas.microsoft.com/office/drawing/2014/main" val="20006"/>
                    </a:ext>
                  </a:extLst>
                </a:gridCol>
                <a:gridCol w="584200">
                  <a:extLst>
                    <a:ext uri="{9D8B030D-6E8A-4147-A177-3AD203B41FA5}">
                      <a16:colId xmlns:a16="http://schemas.microsoft.com/office/drawing/2014/main" val="20007"/>
                    </a:ext>
                  </a:extLst>
                </a:gridCol>
                <a:gridCol w="368300">
                  <a:extLst>
                    <a:ext uri="{9D8B030D-6E8A-4147-A177-3AD203B41FA5}">
                      <a16:colId xmlns:a16="http://schemas.microsoft.com/office/drawing/2014/main" val="20008"/>
                    </a:ext>
                  </a:extLst>
                </a:gridCol>
              </a:tblGrid>
              <a:tr h="1333499">
                <a:tc gridSpan="2">
                  <a:txBody>
                    <a:bodyPr/>
                    <a:lstStyle/>
                    <a:p>
                      <a:pPr algn="r" rtl="0" fontAlgn="ctr"/>
                      <a:endParaRPr lang="fr-FR" sz="1400" b="0" i="0" u="none" strike="noStrike" dirty="0">
                        <a:solidFill>
                          <a:srgbClr val="000000"/>
                        </a:solidFill>
                        <a:latin typeface="Calibri" panose="020F0502020204030204" pitchFamily="34" charset="0"/>
                        <a:cs typeface="Arial" pitchFamily="34" charset="0"/>
                      </a:endParaRPr>
                    </a:p>
                  </a:txBody>
                  <a:tcPr marL="13411" marR="120698" marT="13411"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Valeur ajoutée</a:t>
                      </a:r>
                    </a:p>
                  </a:txBody>
                  <a:tcPr marL="13411" marR="13411" marT="13411"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FF8F"/>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Attente</a:t>
                      </a:r>
                    </a:p>
                  </a:txBody>
                  <a:tcPr marL="13411" marR="13411" marT="13411"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fr-FR" sz="1400" b="1" i="0" u="none" strike="noStrike" dirty="0">
                          <a:solidFill>
                            <a:schemeClr val="bg1"/>
                          </a:solidFill>
                          <a:latin typeface="Calibri" panose="020F0502020204030204" pitchFamily="34" charset="0"/>
                          <a:cs typeface="Arial" pitchFamily="34" charset="0"/>
                        </a:rPr>
                        <a:t>Transports et Déplacements</a:t>
                      </a:r>
                    </a:p>
                  </a:txBody>
                  <a:tcPr marL="13411" marR="13411" marT="13411" marB="0" vert="vert27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A000"/>
                    </a:solidFill>
                  </a:tcPr>
                </a:tc>
                <a:tc>
                  <a:txBody>
                    <a:bodyPr/>
                    <a:lstStyle/>
                    <a:p>
                      <a:pPr algn="ctr" fontAlgn="b"/>
                      <a:r>
                        <a:rPr lang="fr-FR" sz="1400" b="1" i="0" u="none" strike="noStrike" dirty="0">
                          <a:solidFill>
                            <a:schemeClr val="bg1"/>
                          </a:solidFill>
                          <a:latin typeface="Calibri" panose="020F0502020204030204" pitchFamily="34" charset="0"/>
                          <a:cs typeface="Arial" pitchFamily="34" charset="0"/>
                        </a:rPr>
                        <a:t>Rebuts, Reprises</a:t>
                      </a:r>
                    </a:p>
                  </a:txBody>
                  <a:tcPr marL="13411" marR="13411" marT="13411"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Opération superflue</a:t>
                      </a:r>
                    </a:p>
                  </a:txBody>
                  <a:tcPr marL="13411" marR="13411" marT="13411"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Surproduction</a:t>
                      </a:r>
                    </a:p>
                  </a:txBody>
                  <a:tcPr marL="13411" marR="13411" marT="13411"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CFA"/>
                    </a:solidFill>
                  </a:tcPr>
                </a:tc>
                <a:extLst>
                  <a:ext uri="{0D108BD9-81ED-4DB2-BD59-A6C34878D82A}">
                    <a16:rowId xmlns:a16="http://schemas.microsoft.com/office/drawing/2014/main" val="10000"/>
                  </a:ext>
                </a:extLst>
              </a:tr>
              <a:tr h="457647">
                <a:tc>
                  <a:txBody>
                    <a:bodyPr/>
                    <a:lstStyle/>
                    <a:p>
                      <a:endParaRPr lang="fr-FR" sz="1200" dirty="0">
                        <a:latin typeface="Calibri" panose="020F0502020204030204" pitchFamily="34" charset="0"/>
                      </a:endParaRPr>
                    </a:p>
                  </a:txBody>
                  <a:tcPr marL="13411" marR="120698" marT="13411"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indent="0" algn="r" defTabSz="2026094" rtl="0" eaLnBrk="1" fontAlgn="ctr" latinLnBrk="0" hangingPunct="1">
                        <a:lnSpc>
                          <a:spcPct val="100000"/>
                        </a:lnSpc>
                        <a:spcBef>
                          <a:spcPts val="0"/>
                        </a:spcBef>
                        <a:spcAft>
                          <a:spcPts val="0"/>
                        </a:spcAft>
                        <a:buClrTx/>
                        <a:buSzTx/>
                        <a:buFontTx/>
                        <a:buNone/>
                        <a:tabLst/>
                        <a:defRPr/>
                      </a:pPr>
                      <a:r>
                        <a:rPr lang="fr-FR" sz="1400" b="0" i="0" u="none" strike="noStrike" dirty="0">
                          <a:solidFill>
                            <a:srgbClr val="FF0000"/>
                          </a:solidFill>
                          <a:latin typeface="Calibri" panose="020F0502020204030204" pitchFamily="34" charset="0"/>
                          <a:cs typeface="Arial" pitchFamily="34" charset="0"/>
                        </a:rPr>
                        <a:t>1. </a:t>
                      </a:r>
                      <a:r>
                        <a:rPr lang="fr-FR" sz="1400" b="0" i="0" u="none" strike="noStrike" dirty="0">
                          <a:solidFill>
                            <a:srgbClr val="000000"/>
                          </a:solidFill>
                          <a:latin typeface="Calibri" panose="020F0502020204030204" pitchFamily="34" charset="0"/>
                          <a:cs typeface="Arial" pitchFamily="34" charset="0"/>
                        </a:rPr>
                        <a:t>CHANGEMENTS DE SÉRIE</a:t>
                      </a:r>
                    </a:p>
                  </a:txBody>
                  <a:tcPr marL="13411" marR="120698" marT="13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ctr" fontAlgn="b"/>
                      <a:endParaRPr lang="fr-FR" sz="1400" b="0" i="0" u="none" strike="noStrike" dirty="0">
                        <a:solidFill>
                          <a:srgbClr val="000000"/>
                        </a:solidFill>
                        <a:latin typeface="Arial"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endParaRPr lang="fr-FR" sz="1200" b="0" i="0" u="none" strike="noStrike" dirty="0">
                        <a:solidFill>
                          <a:srgbClr val="000000"/>
                        </a:solidFill>
                        <a:latin typeface="Calibri" panose="020F0502020204030204" pitchFamily="34" charset="0"/>
                        <a:cs typeface="Arial" pitchFamily="34" charset="0"/>
                      </a:endParaRPr>
                    </a:p>
                  </a:txBody>
                  <a:tcPr marL="13411" marR="13411" marT="13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200" b="0" i="0" u="none" strike="noStrike" dirty="0">
                        <a:solidFill>
                          <a:srgbClr val="000000"/>
                        </a:solidFill>
                        <a:latin typeface="Calibri" panose="020F0502020204030204" pitchFamily="34" charset="0"/>
                        <a:cs typeface="Arial" pitchFamily="34" charset="0"/>
                      </a:endParaRPr>
                    </a:p>
                  </a:txBody>
                  <a:tcPr marL="13411" marR="13411" marT="13411"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200" b="1" i="0" u="none" strike="noStrike" dirty="0">
                        <a:solidFill>
                          <a:schemeClr val="bg1"/>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200" b="1" i="0" u="none" strike="noStrike" dirty="0">
                        <a:solidFill>
                          <a:schemeClr val="bg1"/>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2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2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647">
                <a:tc>
                  <a:txBody>
                    <a:bodyPr/>
                    <a:lstStyle/>
                    <a:p>
                      <a:pPr marL="0" marR="0" indent="0" algn="r" defTabSz="2026094" rtl="0" eaLnBrk="1" fontAlgn="ctr" latinLnBrk="0" hangingPunct="1">
                        <a:lnSpc>
                          <a:spcPct val="100000"/>
                        </a:lnSpc>
                        <a:spcBef>
                          <a:spcPts val="0"/>
                        </a:spcBef>
                        <a:spcAft>
                          <a:spcPts val="0"/>
                        </a:spcAft>
                        <a:buClrTx/>
                        <a:buSzTx/>
                        <a:buFontTx/>
                        <a:buNone/>
                        <a:tabLst/>
                        <a:defRPr/>
                      </a:pPr>
                      <a:endParaRPr lang="fr-FR" sz="1200" b="0" i="0" u="none" strike="noStrike" dirty="0">
                        <a:solidFill>
                          <a:srgbClr val="000000"/>
                        </a:solidFill>
                        <a:latin typeface="Calibri" panose="020F0502020204030204" pitchFamily="34" charset="0"/>
                        <a:cs typeface="Arial" pitchFamily="34" charset="0"/>
                      </a:endParaRPr>
                    </a:p>
                  </a:txBody>
                  <a:tcPr marL="13411" marR="120698" marT="13411"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indent="0" algn="r" defTabSz="2026094" rtl="0" eaLnBrk="1" fontAlgn="ctr" latinLnBrk="0" hangingPunct="1">
                        <a:lnSpc>
                          <a:spcPct val="100000"/>
                        </a:lnSpc>
                        <a:spcBef>
                          <a:spcPts val="0"/>
                        </a:spcBef>
                        <a:spcAft>
                          <a:spcPts val="0"/>
                        </a:spcAft>
                        <a:buClrTx/>
                        <a:buSzTx/>
                        <a:buFontTx/>
                        <a:buNone/>
                        <a:tabLst/>
                        <a:defRPr/>
                      </a:pPr>
                      <a:r>
                        <a:rPr lang="fr-FR" sz="1400" b="0" i="0" u="none" strike="noStrike" dirty="0">
                          <a:solidFill>
                            <a:srgbClr val="FF0000"/>
                          </a:solidFill>
                          <a:latin typeface="Calibri" panose="020F0502020204030204" pitchFamily="34" charset="0"/>
                          <a:cs typeface="Arial" pitchFamily="34" charset="0"/>
                        </a:rPr>
                        <a:t>2. </a:t>
                      </a:r>
                      <a:r>
                        <a:rPr lang="fr-FR" sz="1400" b="0" i="0" u="none" strike="noStrike" dirty="0">
                          <a:solidFill>
                            <a:srgbClr val="000000"/>
                          </a:solidFill>
                          <a:latin typeface="Calibri" panose="020F0502020204030204" pitchFamily="34" charset="0"/>
                          <a:cs typeface="Arial" pitchFamily="34" charset="0"/>
                        </a:rPr>
                        <a:t>TRANSPORT DES PRODUITS</a:t>
                      </a:r>
                    </a:p>
                  </a:txBody>
                  <a:tcPr marL="13411" marR="120698" marT="13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ctr" fontAlgn="b"/>
                      <a:endParaRPr lang="fr-FR" sz="1400" b="0" i="0" u="none" strike="noStrike" dirty="0">
                        <a:solidFill>
                          <a:srgbClr val="000000"/>
                        </a:solidFill>
                        <a:latin typeface="Arial"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endParaRPr lang="fr-FR" sz="1600" b="0" i="0" u="none" strike="noStrike" dirty="0">
                        <a:solidFill>
                          <a:srgbClr val="000000"/>
                        </a:solidFill>
                        <a:latin typeface="Calibri" panose="020F0502020204030204" pitchFamily="34" charset="0"/>
                        <a:cs typeface="Arial" pitchFamily="34" charset="0"/>
                      </a:endParaRPr>
                    </a:p>
                  </a:txBody>
                  <a:tcPr marL="13411" marR="13411" marT="13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600" b="0" i="0" u="none" strike="noStrike" dirty="0">
                        <a:solidFill>
                          <a:srgbClr val="000000"/>
                        </a:solidFill>
                        <a:latin typeface="Calibri" panose="020F0502020204030204" pitchFamily="34" charset="0"/>
                        <a:cs typeface="Arial" pitchFamily="34" charset="0"/>
                      </a:endParaRPr>
                    </a:p>
                  </a:txBody>
                  <a:tcPr marL="13411" marR="13411" marT="13411"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1" i="0" u="none" strike="noStrike" dirty="0">
                        <a:solidFill>
                          <a:schemeClr val="bg1"/>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1" i="0" u="none" strike="noStrike" dirty="0">
                        <a:solidFill>
                          <a:schemeClr val="bg1"/>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647">
                <a:tc>
                  <a:txBody>
                    <a:bodyPr/>
                    <a:lstStyle/>
                    <a:p>
                      <a:pPr marL="0" marR="0" indent="0" algn="r" defTabSz="2026094" rtl="0" eaLnBrk="1" fontAlgn="ctr" latinLnBrk="0" hangingPunct="1">
                        <a:lnSpc>
                          <a:spcPct val="100000"/>
                        </a:lnSpc>
                        <a:spcBef>
                          <a:spcPts val="0"/>
                        </a:spcBef>
                        <a:spcAft>
                          <a:spcPts val="0"/>
                        </a:spcAft>
                        <a:buClrTx/>
                        <a:buSzTx/>
                        <a:buFontTx/>
                        <a:buNone/>
                        <a:tabLst/>
                        <a:defRPr/>
                      </a:pPr>
                      <a:endParaRPr lang="fr-FR" sz="1200" b="0" i="0" u="none" strike="noStrike" dirty="0">
                        <a:solidFill>
                          <a:srgbClr val="000000"/>
                        </a:solidFill>
                        <a:latin typeface="Calibri" panose="020F0502020204030204" pitchFamily="34" charset="0"/>
                        <a:cs typeface="Arial" pitchFamily="34" charset="0"/>
                      </a:endParaRPr>
                    </a:p>
                  </a:txBody>
                  <a:tcPr marL="13411" marR="120698" marT="13411"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indent="0" algn="r" defTabSz="2026094" rtl="0" eaLnBrk="1" fontAlgn="ctr" latinLnBrk="0" hangingPunct="1">
                        <a:lnSpc>
                          <a:spcPct val="100000"/>
                        </a:lnSpc>
                        <a:spcBef>
                          <a:spcPts val="0"/>
                        </a:spcBef>
                        <a:spcAft>
                          <a:spcPts val="0"/>
                        </a:spcAft>
                        <a:buClrTx/>
                        <a:buSzTx/>
                        <a:buFontTx/>
                        <a:buNone/>
                        <a:tabLst/>
                        <a:defRPr/>
                      </a:pPr>
                      <a:r>
                        <a:rPr lang="fr-FR" sz="1400" b="0" i="0" u="none" strike="noStrike" dirty="0">
                          <a:solidFill>
                            <a:srgbClr val="FF0000"/>
                          </a:solidFill>
                          <a:latin typeface="Calibri" panose="020F0502020204030204" pitchFamily="34" charset="0"/>
                          <a:cs typeface="Arial" pitchFamily="34" charset="0"/>
                        </a:rPr>
                        <a:t>3.</a:t>
                      </a:r>
                      <a:r>
                        <a:rPr lang="fr-FR" sz="1400" b="0" i="0" u="none" strike="noStrike" dirty="0">
                          <a:solidFill>
                            <a:srgbClr val="000000"/>
                          </a:solidFill>
                          <a:latin typeface="Calibri" panose="020F0502020204030204" pitchFamily="34" charset="0"/>
                          <a:cs typeface="Arial" pitchFamily="34" charset="0"/>
                        </a:rPr>
                        <a:t> MANQUE CHARGE</a:t>
                      </a:r>
                    </a:p>
                  </a:txBody>
                  <a:tcPr marL="13411" marR="120698" marT="13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fontAlgn="b"/>
                      <a:endParaRPr lang="fr-FR" sz="1400" b="0" i="0" u="none" strike="noStrike" dirty="0">
                        <a:solidFill>
                          <a:srgbClr val="000000"/>
                        </a:solidFill>
                        <a:latin typeface="Arial"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fontAlgn="b"/>
                      <a:endParaRPr lang="fr-FR" sz="1600" b="0" i="0" u="none" strike="noStrike" dirty="0">
                        <a:solidFill>
                          <a:srgbClr val="000000"/>
                        </a:solidFill>
                        <a:latin typeface="Calibri" panose="020F0502020204030204" pitchFamily="34" charset="0"/>
                        <a:cs typeface="Arial" pitchFamily="34" charset="0"/>
                      </a:endParaRPr>
                    </a:p>
                  </a:txBody>
                  <a:tcPr marL="13411" marR="13411" marT="13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600" b="0" i="0" u="none" strike="noStrike" dirty="0">
                        <a:solidFill>
                          <a:srgbClr val="000000"/>
                        </a:solidFill>
                        <a:latin typeface="Calibri" panose="020F0502020204030204" pitchFamily="34" charset="0"/>
                        <a:cs typeface="Arial" pitchFamily="34" charset="0"/>
                      </a:endParaRPr>
                    </a:p>
                  </a:txBody>
                  <a:tcPr marL="13411" marR="13411" marT="13411"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1" i="0" u="none" strike="noStrike" dirty="0">
                        <a:solidFill>
                          <a:schemeClr val="bg1"/>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1" i="0" u="none" strike="noStrike" dirty="0">
                        <a:solidFill>
                          <a:schemeClr val="bg1"/>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grpSp>
        <p:nvGrpSpPr>
          <p:cNvPr id="154632" name="Groupe 324"/>
          <p:cNvGrpSpPr>
            <a:grpSpLocks/>
          </p:cNvGrpSpPr>
          <p:nvPr/>
        </p:nvGrpSpPr>
        <p:grpSpPr bwMode="auto">
          <a:xfrm>
            <a:off x="98872" y="1150938"/>
            <a:ext cx="5963352" cy="685662"/>
            <a:chOff x="2288248" y="1322837"/>
            <a:chExt cx="7014024" cy="685251"/>
          </a:xfrm>
        </p:grpSpPr>
        <p:sp>
          <p:nvSpPr>
            <p:cNvPr id="154687" name="ZoneTexte 117"/>
            <p:cNvSpPr txBox="1">
              <a:spLocks noChangeArrowheads="1"/>
            </p:cNvSpPr>
            <p:nvPr/>
          </p:nvSpPr>
          <p:spPr bwMode="auto">
            <a:xfrm>
              <a:off x="3591154" y="1777394"/>
              <a:ext cx="285079"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54688" name="ZoneTexte 118"/>
            <p:cNvSpPr txBox="1">
              <a:spLocks noChangeArrowheads="1"/>
            </p:cNvSpPr>
            <p:nvPr/>
          </p:nvSpPr>
          <p:spPr bwMode="auto">
            <a:xfrm>
              <a:off x="4888127"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154689" name="ZoneTexte 119"/>
            <p:cNvSpPr txBox="1">
              <a:spLocks noChangeArrowheads="1"/>
            </p:cNvSpPr>
            <p:nvPr/>
          </p:nvSpPr>
          <p:spPr bwMode="auto">
            <a:xfrm>
              <a:off x="6233126"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154690" name="ZoneTexte 120"/>
            <p:cNvSpPr txBox="1">
              <a:spLocks noChangeArrowheads="1"/>
            </p:cNvSpPr>
            <p:nvPr/>
          </p:nvSpPr>
          <p:spPr bwMode="auto">
            <a:xfrm>
              <a:off x="7628926"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154691" name="ZoneTexte 121"/>
            <p:cNvSpPr txBox="1">
              <a:spLocks noChangeArrowheads="1"/>
            </p:cNvSpPr>
            <p:nvPr/>
          </p:nvSpPr>
          <p:spPr bwMode="auto">
            <a:xfrm>
              <a:off x="8949319"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25</a:t>
              </a:r>
              <a:endParaRPr lang="fr-FR" altLang="fr-FR" sz="1100" dirty="0">
                <a:latin typeface="Calibri" panose="020F0502020204030204" pitchFamily="34" charset="0"/>
                <a:cs typeface="Arial" panose="020B0604020202020204" pitchFamily="34" charset="0"/>
              </a:endParaRPr>
            </a:p>
          </p:txBody>
        </p:sp>
        <p:grpSp>
          <p:nvGrpSpPr>
            <p:cNvPr id="154692" name="Groupe 156"/>
            <p:cNvGrpSpPr>
              <a:grpSpLocks/>
            </p:cNvGrpSpPr>
            <p:nvPr/>
          </p:nvGrpSpPr>
          <p:grpSpPr bwMode="auto">
            <a:xfrm>
              <a:off x="2398086" y="1322837"/>
              <a:ext cx="6695416" cy="498882"/>
              <a:chOff x="1696210" y="1552188"/>
              <a:chExt cx="3708000" cy="433386"/>
            </a:xfrm>
          </p:grpSpPr>
          <p:sp>
            <p:nvSpPr>
              <p:cNvPr id="17" name="Rectangle 16"/>
              <p:cNvSpPr/>
              <p:nvPr/>
            </p:nvSpPr>
            <p:spPr bwMode="auto">
              <a:xfrm>
                <a:off x="1696100" y="1553566"/>
                <a:ext cx="3708199" cy="43139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cs typeface="Arial" pitchFamily="34" charset="0"/>
                </a:endParaRPr>
              </a:p>
            </p:txBody>
          </p:sp>
          <p:cxnSp>
            <p:nvCxnSpPr>
              <p:cNvPr id="18" name="Connecteur droit 17"/>
              <p:cNvCxnSpPr/>
              <p:nvPr/>
            </p:nvCxnSpPr>
            <p:spPr bwMode="auto">
              <a:xfrm rot="5400000">
                <a:off x="1620002"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bwMode="auto">
              <a:xfrm rot="5400000">
                <a:off x="1768909"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bwMode="auto">
              <a:xfrm rot="5400000">
                <a:off x="191678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bwMode="auto">
              <a:xfrm rot="5400000">
                <a:off x="2066724"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bwMode="auto">
              <a:xfrm rot="5400000">
                <a:off x="2215631"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bwMode="auto">
              <a:xfrm rot="5400000">
                <a:off x="2364538"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bwMode="auto">
              <a:xfrm rot="5400000">
                <a:off x="2513445"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bwMode="auto">
              <a:xfrm rot="5400000">
                <a:off x="2663386"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bwMode="auto">
              <a:xfrm rot="5400000">
                <a:off x="2811259"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bwMode="auto">
              <a:xfrm rot="5400000">
                <a:off x="2960166"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bwMode="auto">
              <a:xfrm rot="5400000">
                <a:off x="310907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bwMode="auto">
              <a:xfrm rot="5400000">
                <a:off x="3259014"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bwMode="auto">
              <a:xfrm rot="5400000">
                <a:off x="3407921"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necteur droit 30"/>
              <p:cNvCxnSpPr/>
              <p:nvPr/>
            </p:nvCxnSpPr>
            <p:spPr bwMode="auto">
              <a:xfrm rot="5400000">
                <a:off x="3556828"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bwMode="auto">
              <a:xfrm rot="5400000">
                <a:off x="3704701"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bwMode="auto">
              <a:xfrm rot="5400000">
                <a:off x="3853608"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bwMode="auto">
              <a:xfrm rot="5400000">
                <a:off x="4003549"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bwMode="auto">
              <a:xfrm rot="5400000">
                <a:off x="4152456"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bwMode="auto">
              <a:xfrm rot="5400000">
                <a:off x="430136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bwMode="auto">
              <a:xfrm rot="5400000">
                <a:off x="4449236"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p:nvCxnSpPr>
            <p:spPr bwMode="auto">
              <a:xfrm rot="5400000">
                <a:off x="459814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bwMode="auto">
              <a:xfrm rot="5400000">
                <a:off x="4748084"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bwMode="auto">
              <a:xfrm rot="5400000">
                <a:off x="4896991"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bwMode="auto">
              <a:xfrm rot="5400000">
                <a:off x="5045899"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4693" name="ZoneTexte 117"/>
            <p:cNvSpPr txBox="1">
              <a:spLocks noChangeArrowheads="1"/>
            </p:cNvSpPr>
            <p:nvPr/>
          </p:nvSpPr>
          <p:spPr bwMode="auto">
            <a:xfrm>
              <a:off x="2288248" y="1777394"/>
              <a:ext cx="285079"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grpSp>
      <p:sp>
        <p:nvSpPr>
          <p:cNvPr id="43" name="ZoneTexte 42"/>
          <p:cNvSpPr txBox="1">
            <a:spLocks noChangeArrowheads="1"/>
          </p:cNvSpPr>
          <p:nvPr/>
        </p:nvSpPr>
        <p:spPr bwMode="auto">
          <a:xfrm>
            <a:off x="7538836" y="3230563"/>
            <a:ext cx="4459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cs typeface="Arial" panose="020B0604020202020204" pitchFamily="34" charset="0"/>
              </a:rPr>
              <a:t>2,4</a:t>
            </a:r>
          </a:p>
        </p:txBody>
      </p:sp>
      <p:sp>
        <p:nvSpPr>
          <p:cNvPr id="44" name="ZoneTexte 43"/>
          <p:cNvSpPr txBox="1">
            <a:spLocks noChangeArrowheads="1"/>
          </p:cNvSpPr>
          <p:nvPr/>
        </p:nvSpPr>
        <p:spPr bwMode="auto">
          <a:xfrm>
            <a:off x="7538836" y="3681413"/>
            <a:ext cx="4459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cs typeface="Arial" panose="020B0604020202020204" pitchFamily="34" charset="0"/>
              </a:rPr>
              <a:t>1,9</a:t>
            </a:r>
          </a:p>
        </p:txBody>
      </p:sp>
      <p:sp>
        <p:nvSpPr>
          <p:cNvPr id="45" name="ZoneTexte 44"/>
          <p:cNvSpPr txBox="1">
            <a:spLocks noChangeArrowheads="1"/>
          </p:cNvSpPr>
          <p:nvPr/>
        </p:nvSpPr>
        <p:spPr bwMode="auto">
          <a:xfrm>
            <a:off x="7190846" y="4144963"/>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cs typeface="Arial" panose="020B0604020202020204" pitchFamily="34" charset="0"/>
              </a:rPr>
              <a:t>3</a:t>
            </a:r>
          </a:p>
        </p:txBody>
      </p:sp>
      <p:sp>
        <p:nvSpPr>
          <p:cNvPr id="46" name="ZoneTexte 45"/>
          <p:cNvSpPr txBox="1">
            <a:spLocks noChangeArrowheads="1"/>
          </p:cNvSpPr>
          <p:nvPr/>
        </p:nvSpPr>
        <p:spPr bwMode="auto">
          <a:xfrm>
            <a:off x="1419225" y="581025"/>
            <a:ext cx="2428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cs typeface="Arial" panose="020B0604020202020204" pitchFamily="34" charset="0"/>
              </a:rPr>
              <a:t>1.</a:t>
            </a:r>
            <a:r>
              <a:rPr lang="fr-FR" altLang="fr-FR" sz="1800" dirty="0">
                <a:latin typeface="Calibri" panose="020F0502020204030204" pitchFamily="34" charset="0"/>
                <a:cs typeface="Arial" panose="020B0604020202020204" pitchFamily="34" charset="0"/>
              </a:rPr>
              <a:t> Temps d’ouverture</a:t>
            </a:r>
          </a:p>
        </p:txBody>
      </p:sp>
      <p:sp>
        <p:nvSpPr>
          <p:cNvPr id="49" name="Rectangle 48"/>
          <p:cNvSpPr/>
          <p:nvPr/>
        </p:nvSpPr>
        <p:spPr>
          <a:xfrm>
            <a:off x="3930650" y="539750"/>
            <a:ext cx="900113" cy="42703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50" name="ZoneTexte 49"/>
          <p:cNvSpPr txBox="1">
            <a:spLocks noChangeArrowheads="1"/>
          </p:cNvSpPr>
          <p:nvPr/>
        </p:nvSpPr>
        <p:spPr bwMode="auto">
          <a:xfrm>
            <a:off x="4006690" y="598488"/>
            <a:ext cx="8210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cs typeface="Arial" panose="020B0604020202020204" pitchFamily="34" charset="0"/>
              </a:rPr>
              <a:t>18 min.</a:t>
            </a:r>
          </a:p>
        </p:txBody>
      </p:sp>
      <p:sp>
        <p:nvSpPr>
          <p:cNvPr id="54" name="Légende encadrée 1 53"/>
          <p:cNvSpPr/>
          <p:nvPr/>
        </p:nvSpPr>
        <p:spPr bwMode="auto">
          <a:xfrm>
            <a:off x="5757595" y="1238250"/>
            <a:ext cx="3668712" cy="409575"/>
          </a:xfrm>
          <a:prstGeom prst="borderCallout1">
            <a:avLst>
              <a:gd name="adj1" fmla="val 49434"/>
              <a:gd name="adj2" fmla="val -1576"/>
              <a:gd name="adj3" fmla="val -117425"/>
              <a:gd name="adj4" fmla="val -23896"/>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1. Reportez ici le temps d’ouverture</a:t>
            </a:r>
          </a:p>
        </p:txBody>
      </p:sp>
      <p:sp>
        <p:nvSpPr>
          <p:cNvPr id="56" name="Rectangle 55"/>
          <p:cNvSpPr/>
          <p:nvPr/>
        </p:nvSpPr>
        <p:spPr bwMode="auto">
          <a:xfrm>
            <a:off x="1147763" y="1847850"/>
            <a:ext cx="4818062" cy="430213"/>
          </a:xfrm>
          <a:prstGeom prst="rect">
            <a:avLst/>
          </a:prstGeom>
          <a:noFill/>
          <a:ln w="9525" cap="flat" cmpd="sng" algn="ctr">
            <a:no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Choisissez un </a:t>
            </a:r>
            <a:r>
              <a:rPr lang="fr-FR" sz="1600" b="1" kern="0" dirty="0">
                <a:solidFill>
                  <a:srgbClr val="FF0000"/>
                </a:solidFill>
                <a:latin typeface="Calibri" panose="020F0502020204030204" pitchFamily="34" charset="0"/>
                <a:cs typeface="Arial" pitchFamily="34" charset="0"/>
              </a:rPr>
              <a:t>poste de travail</a:t>
            </a:r>
            <a:r>
              <a:rPr lang="fr-FR" sz="1600" kern="0" dirty="0">
                <a:solidFill>
                  <a:srgbClr val="000000"/>
                </a:solidFill>
                <a:latin typeface="Calibri" panose="020F0502020204030204" pitchFamily="34" charset="0"/>
                <a:cs typeface="Arial" pitchFamily="34" charset="0"/>
              </a:rPr>
              <a:t> à titre </a:t>
            </a:r>
            <a:r>
              <a:rPr lang="fr-FR" sz="1600" b="1" kern="0" dirty="0">
                <a:solidFill>
                  <a:srgbClr val="FF0000"/>
                </a:solidFill>
                <a:latin typeface="Calibri" panose="020F0502020204030204" pitchFamily="34" charset="0"/>
                <a:cs typeface="Arial" pitchFamily="34" charset="0"/>
              </a:rPr>
              <a:t>d’exemple </a:t>
            </a:r>
            <a:r>
              <a:rPr lang="fr-FR" sz="1600" kern="0" dirty="0">
                <a:solidFill>
                  <a:srgbClr val="000000"/>
                </a:solidFill>
                <a:latin typeface="Calibri" panose="020F0502020204030204" pitchFamily="34" charset="0"/>
                <a:cs typeface="Arial" pitchFamily="34" charset="0"/>
              </a:rPr>
              <a:t>et mesurez les</a:t>
            </a:r>
            <a:r>
              <a:rPr lang="fr-FR" sz="1600" b="1" kern="0" dirty="0">
                <a:solidFill>
                  <a:srgbClr val="FF0000"/>
                </a:solidFill>
                <a:latin typeface="Calibri" panose="020F0502020204030204" pitchFamily="34" charset="0"/>
                <a:cs typeface="Arial" pitchFamily="34" charset="0"/>
              </a:rPr>
              <a:t> Arrêts Identifiés</a:t>
            </a:r>
          </a:p>
        </p:txBody>
      </p:sp>
      <p:sp>
        <p:nvSpPr>
          <p:cNvPr id="57" name="Rectangle 56"/>
          <p:cNvSpPr>
            <a:spLocks noChangeArrowheads="1"/>
          </p:cNvSpPr>
          <p:nvPr/>
        </p:nvSpPr>
        <p:spPr bwMode="auto">
          <a:xfrm>
            <a:off x="190500" y="1152525"/>
            <a:ext cx="4103688" cy="495300"/>
          </a:xfrm>
          <a:prstGeom prst="rect">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59" name="Légende encadrée 1 58"/>
          <p:cNvSpPr/>
          <p:nvPr/>
        </p:nvSpPr>
        <p:spPr bwMode="auto">
          <a:xfrm>
            <a:off x="266700" y="2465388"/>
            <a:ext cx="3048000" cy="884237"/>
          </a:xfrm>
          <a:prstGeom prst="borderCallout1">
            <a:avLst>
              <a:gd name="adj1" fmla="val 33069"/>
              <a:gd name="adj2" fmla="val 101302"/>
              <a:gd name="adj3" fmla="val 107605"/>
              <a:gd name="adj4" fmla="val 125092"/>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2. Multipliez le nombre de changements par le temps d’un changement (chrono)</a:t>
            </a:r>
          </a:p>
        </p:txBody>
      </p:sp>
      <p:pic>
        <p:nvPicPr>
          <p:cNvPr id="15464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6163" y="2387600"/>
            <a:ext cx="455612"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 name="Légende encadrée 1 60"/>
          <p:cNvSpPr/>
          <p:nvPr/>
        </p:nvSpPr>
        <p:spPr bwMode="auto">
          <a:xfrm>
            <a:off x="323850" y="3475038"/>
            <a:ext cx="3048000" cy="885825"/>
          </a:xfrm>
          <a:prstGeom prst="borderCallout1">
            <a:avLst>
              <a:gd name="adj1" fmla="val 33069"/>
              <a:gd name="adj2" fmla="val 101302"/>
              <a:gd name="adj3" fmla="val 29941"/>
              <a:gd name="adj4" fmla="val 113835"/>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3. Multipliez le nombre de transport entre les postes par le temps d’un transport (chrono)</a:t>
            </a:r>
          </a:p>
        </p:txBody>
      </p:sp>
      <p:sp>
        <p:nvSpPr>
          <p:cNvPr id="62" name="Légende encadrée 1 61"/>
          <p:cNvSpPr/>
          <p:nvPr/>
        </p:nvSpPr>
        <p:spPr bwMode="auto">
          <a:xfrm>
            <a:off x="295275" y="4478338"/>
            <a:ext cx="3048000" cy="885825"/>
          </a:xfrm>
          <a:prstGeom prst="borderCallout1">
            <a:avLst>
              <a:gd name="adj1" fmla="val 33069"/>
              <a:gd name="adj2" fmla="val 101302"/>
              <a:gd name="adj3" fmla="val -5391"/>
              <a:gd name="adj4" fmla="val 130378"/>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4. Multipliez le % de manque de charge du poste par le temps d’ouverture</a:t>
            </a:r>
          </a:p>
        </p:txBody>
      </p:sp>
      <p:sp>
        <p:nvSpPr>
          <p:cNvPr id="63" name="Légende encadrée 1 62"/>
          <p:cNvSpPr/>
          <p:nvPr/>
        </p:nvSpPr>
        <p:spPr bwMode="auto">
          <a:xfrm>
            <a:off x="3797826" y="4697413"/>
            <a:ext cx="2755900" cy="711200"/>
          </a:xfrm>
          <a:prstGeom prst="borderCallout1">
            <a:avLst>
              <a:gd name="adj1" fmla="val 33069"/>
              <a:gd name="adj2" fmla="val 101302"/>
              <a:gd name="adj3" fmla="val -43142"/>
              <a:gd name="adj4" fmla="val 120926"/>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Total des arrêts identifiés : </a:t>
            </a:r>
          </a:p>
          <a:p>
            <a:pPr algn="ctr">
              <a:defRPr/>
            </a:pPr>
            <a:r>
              <a:rPr lang="fr-FR" sz="1800" b="1" kern="0" dirty="0">
                <a:solidFill>
                  <a:srgbClr val="FF0000"/>
                </a:solidFill>
                <a:latin typeface="Calibri" panose="020F0502020204030204" pitchFamily="34" charset="0"/>
                <a:cs typeface="Arial" pitchFamily="34" charset="0"/>
              </a:rPr>
              <a:t>7,3 min.</a:t>
            </a:r>
          </a:p>
        </p:txBody>
      </p:sp>
      <p:sp>
        <p:nvSpPr>
          <p:cNvPr id="64" name="Ellipse 63"/>
          <p:cNvSpPr>
            <a:spLocks noChangeArrowheads="1"/>
          </p:cNvSpPr>
          <p:nvPr/>
        </p:nvSpPr>
        <p:spPr bwMode="auto">
          <a:xfrm>
            <a:off x="7069667" y="3111500"/>
            <a:ext cx="1044568" cy="1701800"/>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154648" name="Groupe 324"/>
          <p:cNvGrpSpPr>
            <a:grpSpLocks/>
          </p:cNvGrpSpPr>
          <p:nvPr/>
        </p:nvGrpSpPr>
        <p:grpSpPr bwMode="auto">
          <a:xfrm>
            <a:off x="156022" y="6032500"/>
            <a:ext cx="5963352" cy="685662"/>
            <a:chOff x="2288248" y="1322837"/>
            <a:chExt cx="7014024" cy="685251"/>
          </a:xfrm>
        </p:grpSpPr>
        <p:sp>
          <p:nvSpPr>
            <p:cNvPr id="154655" name="ZoneTexte 117"/>
            <p:cNvSpPr txBox="1">
              <a:spLocks noChangeArrowheads="1"/>
            </p:cNvSpPr>
            <p:nvPr/>
          </p:nvSpPr>
          <p:spPr bwMode="auto">
            <a:xfrm>
              <a:off x="3591154" y="1777394"/>
              <a:ext cx="285079"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54656" name="ZoneTexte 118"/>
            <p:cNvSpPr txBox="1">
              <a:spLocks noChangeArrowheads="1"/>
            </p:cNvSpPr>
            <p:nvPr/>
          </p:nvSpPr>
          <p:spPr bwMode="auto">
            <a:xfrm>
              <a:off x="4888127"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154657" name="ZoneTexte 119"/>
            <p:cNvSpPr txBox="1">
              <a:spLocks noChangeArrowheads="1"/>
            </p:cNvSpPr>
            <p:nvPr/>
          </p:nvSpPr>
          <p:spPr bwMode="auto">
            <a:xfrm>
              <a:off x="6233126"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154658" name="ZoneTexte 120"/>
            <p:cNvSpPr txBox="1">
              <a:spLocks noChangeArrowheads="1"/>
            </p:cNvSpPr>
            <p:nvPr/>
          </p:nvSpPr>
          <p:spPr bwMode="auto">
            <a:xfrm>
              <a:off x="7628926"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154659" name="ZoneTexte 121"/>
            <p:cNvSpPr txBox="1">
              <a:spLocks noChangeArrowheads="1"/>
            </p:cNvSpPr>
            <p:nvPr/>
          </p:nvSpPr>
          <p:spPr bwMode="auto">
            <a:xfrm>
              <a:off x="8949319" y="1777394"/>
              <a:ext cx="352953"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25</a:t>
              </a:r>
              <a:endParaRPr lang="fr-FR" altLang="fr-FR" sz="1100" dirty="0">
                <a:latin typeface="Calibri" panose="020F0502020204030204" pitchFamily="34" charset="0"/>
                <a:cs typeface="Arial" panose="020B0604020202020204" pitchFamily="34" charset="0"/>
              </a:endParaRPr>
            </a:p>
          </p:txBody>
        </p:sp>
        <p:grpSp>
          <p:nvGrpSpPr>
            <p:cNvPr id="154660" name="Groupe 156"/>
            <p:cNvGrpSpPr>
              <a:grpSpLocks/>
            </p:cNvGrpSpPr>
            <p:nvPr/>
          </p:nvGrpSpPr>
          <p:grpSpPr bwMode="auto">
            <a:xfrm>
              <a:off x="2398086" y="1322837"/>
              <a:ext cx="6695416" cy="498882"/>
              <a:chOff x="1696210" y="1552188"/>
              <a:chExt cx="3708000" cy="433386"/>
            </a:xfrm>
          </p:grpSpPr>
          <p:sp>
            <p:nvSpPr>
              <p:cNvPr id="73" name="Rectangle 72"/>
              <p:cNvSpPr/>
              <p:nvPr/>
            </p:nvSpPr>
            <p:spPr bwMode="auto">
              <a:xfrm>
                <a:off x="1696100" y="1553567"/>
                <a:ext cx="3708199" cy="43139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cs typeface="Arial" pitchFamily="34" charset="0"/>
                </a:endParaRPr>
              </a:p>
            </p:txBody>
          </p:sp>
          <p:cxnSp>
            <p:nvCxnSpPr>
              <p:cNvPr id="74" name="Connecteur droit 73"/>
              <p:cNvCxnSpPr/>
              <p:nvPr/>
            </p:nvCxnSpPr>
            <p:spPr bwMode="auto">
              <a:xfrm rot="5400000">
                <a:off x="1620002"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necteur droit 74"/>
              <p:cNvCxnSpPr/>
              <p:nvPr/>
            </p:nvCxnSpPr>
            <p:spPr bwMode="auto">
              <a:xfrm rot="5400000">
                <a:off x="1768909"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eur droit 75"/>
              <p:cNvCxnSpPr/>
              <p:nvPr/>
            </p:nvCxnSpPr>
            <p:spPr bwMode="auto">
              <a:xfrm rot="5400000">
                <a:off x="1916783"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Connecteur droit 76"/>
              <p:cNvCxnSpPr/>
              <p:nvPr/>
            </p:nvCxnSpPr>
            <p:spPr bwMode="auto">
              <a:xfrm rot="5400000">
                <a:off x="2066723"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Connecteur droit 77"/>
              <p:cNvCxnSpPr/>
              <p:nvPr/>
            </p:nvCxnSpPr>
            <p:spPr bwMode="auto">
              <a:xfrm rot="5400000">
                <a:off x="2215630" y="1767886"/>
                <a:ext cx="4313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Connecteur droit 78"/>
              <p:cNvCxnSpPr/>
              <p:nvPr/>
            </p:nvCxnSpPr>
            <p:spPr bwMode="auto">
              <a:xfrm rot="5400000">
                <a:off x="2364537"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eur droit 79"/>
              <p:cNvCxnSpPr/>
              <p:nvPr/>
            </p:nvCxnSpPr>
            <p:spPr bwMode="auto">
              <a:xfrm rot="5400000">
                <a:off x="2513444"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necteur droit 80"/>
              <p:cNvCxnSpPr/>
              <p:nvPr/>
            </p:nvCxnSpPr>
            <p:spPr bwMode="auto">
              <a:xfrm rot="5400000">
                <a:off x="2663386"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Connecteur droit 81"/>
              <p:cNvCxnSpPr/>
              <p:nvPr/>
            </p:nvCxnSpPr>
            <p:spPr bwMode="auto">
              <a:xfrm rot="5400000">
                <a:off x="2811259"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p:cNvCxnSpPr/>
              <p:nvPr/>
            </p:nvCxnSpPr>
            <p:spPr bwMode="auto">
              <a:xfrm rot="5400000">
                <a:off x="2960166" y="1767886"/>
                <a:ext cx="4313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Connecteur droit 83"/>
              <p:cNvCxnSpPr/>
              <p:nvPr/>
            </p:nvCxnSpPr>
            <p:spPr bwMode="auto">
              <a:xfrm rot="5400000">
                <a:off x="3109073"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necteur droit 84"/>
              <p:cNvCxnSpPr/>
              <p:nvPr/>
            </p:nvCxnSpPr>
            <p:spPr bwMode="auto">
              <a:xfrm rot="5400000">
                <a:off x="3259014"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Connecteur droit 85"/>
              <p:cNvCxnSpPr/>
              <p:nvPr/>
            </p:nvCxnSpPr>
            <p:spPr bwMode="auto">
              <a:xfrm rot="5400000">
                <a:off x="3407921"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p:cNvCxnSpPr/>
              <p:nvPr/>
            </p:nvCxnSpPr>
            <p:spPr bwMode="auto">
              <a:xfrm rot="5400000">
                <a:off x="3556828"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Connecteur droit 87"/>
              <p:cNvCxnSpPr/>
              <p:nvPr/>
            </p:nvCxnSpPr>
            <p:spPr bwMode="auto">
              <a:xfrm rot="5400000">
                <a:off x="3704701" y="1767886"/>
                <a:ext cx="4313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necteur droit 88"/>
              <p:cNvCxnSpPr/>
              <p:nvPr/>
            </p:nvCxnSpPr>
            <p:spPr bwMode="auto">
              <a:xfrm rot="5400000">
                <a:off x="3853608"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Connecteur droit 89"/>
              <p:cNvCxnSpPr/>
              <p:nvPr/>
            </p:nvCxnSpPr>
            <p:spPr bwMode="auto">
              <a:xfrm rot="5400000">
                <a:off x="4003549"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Connecteur droit 90"/>
              <p:cNvCxnSpPr/>
              <p:nvPr/>
            </p:nvCxnSpPr>
            <p:spPr bwMode="auto">
              <a:xfrm rot="5400000">
                <a:off x="4152456"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Connecteur droit 91"/>
              <p:cNvCxnSpPr/>
              <p:nvPr/>
            </p:nvCxnSpPr>
            <p:spPr bwMode="auto">
              <a:xfrm rot="5400000">
                <a:off x="4301363"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Connecteur droit 92"/>
              <p:cNvCxnSpPr/>
              <p:nvPr/>
            </p:nvCxnSpPr>
            <p:spPr bwMode="auto">
              <a:xfrm rot="5400000">
                <a:off x="4449236" y="1767886"/>
                <a:ext cx="4313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eur droit 93"/>
              <p:cNvCxnSpPr/>
              <p:nvPr/>
            </p:nvCxnSpPr>
            <p:spPr bwMode="auto">
              <a:xfrm rot="5400000">
                <a:off x="4598143"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Connecteur droit 94"/>
              <p:cNvCxnSpPr/>
              <p:nvPr/>
            </p:nvCxnSpPr>
            <p:spPr bwMode="auto">
              <a:xfrm rot="5400000">
                <a:off x="4748084"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Connecteur droit 95"/>
              <p:cNvCxnSpPr/>
              <p:nvPr/>
            </p:nvCxnSpPr>
            <p:spPr bwMode="auto">
              <a:xfrm rot="5400000">
                <a:off x="4896991"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Connecteur droit 96"/>
              <p:cNvCxnSpPr/>
              <p:nvPr/>
            </p:nvCxnSpPr>
            <p:spPr bwMode="auto">
              <a:xfrm rot="5400000">
                <a:off x="5045898" y="1767886"/>
                <a:ext cx="43139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4661" name="ZoneTexte 117"/>
            <p:cNvSpPr txBox="1">
              <a:spLocks noChangeArrowheads="1"/>
            </p:cNvSpPr>
            <p:nvPr/>
          </p:nvSpPr>
          <p:spPr bwMode="auto">
            <a:xfrm>
              <a:off x="2288248" y="1777394"/>
              <a:ext cx="285079"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grpSp>
      <p:sp>
        <p:nvSpPr>
          <p:cNvPr id="98" name="Rectangle 97"/>
          <p:cNvSpPr>
            <a:spLocks noChangeArrowheads="1"/>
          </p:cNvSpPr>
          <p:nvPr/>
        </p:nvSpPr>
        <p:spPr bwMode="auto">
          <a:xfrm>
            <a:off x="247650" y="6032500"/>
            <a:ext cx="2400300" cy="495300"/>
          </a:xfrm>
          <a:prstGeom prst="rect">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99" name="Légende encadrée 1 98"/>
          <p:cNvSpPr/>
          <p:nvPr/>
        </p:nvSpPr>
        <p:spPr bwMode="auto">
          <a:xfrm>
            <a:off x="6457950" y="5724525"/>
            <a:ext cx="1597025" cy="554038"/>
          </a:xfrm>
          <a:prstGeom prst="borderCallout1">
            <a:avLst>
              <a:gd name="adj1" fmla="val 51479"/>
              <a:gd name="adj2" fmla="val -2136"/>
              <a:gd name="adj3" fmla="val 62437"/>
              <a:gd name="adj4" fmla="val -9958"/>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5. Mettez à jour le graphique</a:t>
            </a:r>
          </a:p>
        </p:txBody>
      </p:sp>
      <p:sp>
        <p:nvSpPr>
          <p:cNvPr id="154651" name="ZoneTexte 99"/>
          <p:cNvSpPr txBox="1">
            <a:spLocks noChangeArrowheads="1"/>
          </p:cNvSpPr>
          <p:nvPr/>
        </p:nvSpPr>
        <p:spPr bwMode="auto">
          <a:xfrm>
            <a:off x="190500" y="5535613"/>
            <a:ext cx="3521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cs typeface="Arial" panose="020B0604020202020204" pitchFamily="34" charset="0"/>
              </a:rPr>
              <a:t>2.</a:t>
            </a:r>
            <a:r>
              <a:rPr lang="fr-FR" altLang="fr-FR" sz="1800" dirty="0">
                <a:latin typeface="Calibri" panose="020F0502020204030204" pitchFamily="34" charset="0"/>
                <a:cs typeface="Arial" panose="020B0604020202020204" pitchFamily="34" charset="0"/>
              </a:rPr>
              <a:t> Temps brut de fonctionnement</a:t>
            </a:r>
          </a:p>
        </p:txBody>
      </p:sp>
      <p:sp>
        <p:nvSpPr>
          <p:cNvPr id="101" name="Rectangle 100"/>
          <p:cNvSpPr/>
          <p:nvPr/>
        </p:nvSpPr>
        <p:spPr>
          <a:xfrm>
            <a:off x="3794125" y="5494338"/>
            <a:ext cx="900113" cy="42703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02" name="ZoneTexte 101"/>
          <p:cNvSpPr txBox="1">
            <a:spLocks noChangeArrowheads="1"/>
          </p:cNvSpPr>
          <p:nvPr/>
        </p:nvSpPr>
        <p:spPr bwMode="auto">
          <a:xfrm>
            <a:off x="3791617" y="5553075"/>
            <a:ext cx="9781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cs typeface="Arial" panose="020B0604020202020204" pitchFamily="34" charset="0"/>
              </a:rPr>
              <a:t>10,7 min.</a:t>
            </a:r>
          </a:p>
        </p:txBody>
      </p:sp>
      <p:sp>
        <p:nvSpPr>
          <p:cNvPr id="103" name="Flèche droite 102"/>
          <p:cNvSpPr>
            <a:spLocks noChangeArrowheads="1"/>
          </p:cNvSpPr>
          <p:nvPr/>
        </p:nvSpPr>
        <p:spPr bwMode="auto">
          <a:xfrm>
            <a:off x="682625" y="1930400"/>
            <a:ext cx="406400" cy="290513"/>
          </a:xfrm>
          <a:prstGeom prst="rightArrow">
            <a:avLst>
              <a:gd name="adj1" fmla="val 50000"/>
              <a:gd name="adj2" fmla="val 49959"/>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100"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9" grpId="0" animBg="1"/>
      <p:bldP spid="50" grpId="0"/>
      <p:bldP spid="54" grpId="0" animBg="1"/>
      <p:bldP spid="56" grpId="0"/>
      <p:bldP spid="57" grpId="0" animBg="1"/>
      <p:bldP spid="59" grpId="0" animBg="1"/>
      <p:bldP spid="61" grpId="0" animBg="1"/>
      <p:bldP spid="62" grpId="0" animBg="1"/>
      <p:bldP spid="63" grpId="0" animBg="1"/>
      <p:bldP spid="64" grpId="0" animBg="1"/>
      <p:bldP spid="98" grpId="0" animBg="1"/>
      <p:bldP spid="99" grpId="0" animBg="1"/>
      <p:bldP spid="102" grpId="0"/>
      <p:bldP spid="103"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674" name="Titre 1"/>
          <p:cNvSpPr>
            <a:spLocks noGrp="1"/>
          </p:cNvSpPr>
          <p:nvPr>
            <p:ph type="title"/>
          </p:nvPr>
        </p:nvSpPr>
        <p:spPr/>
        <p:txBody>
          <a:bodyPr/>
          <a:lstStyle/>
          <a:p>
            <a:r>
              <a:rPr lang="fr-FR" altLang="fr-FR"/>
              <a:t>L'équipe PRODUCTIVITÉ (2/4)</a:t>
            </a:r>
          </a:p>
        </p:txBody>
      </p:sp>
      <p:sp>
        <p:nvSpPr>
          <p:cNvPr id="156676" name="ZoneTexte 167"/>
          <p:cNvSpPr txBox="1">
            <a:spLocks noChangeArrowheads="1"/>
          </p:cNvSpPr>
          <p:nvPr/>
        </p:nvSpPr>
        <p:spPr bwMode="auto">
          <a:xfrm>
            <a:off x="1050925" y="660400"/>
            <a:ext cx="21209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2000" b="1" dirty="0">
                <a:solidFill>
                  <a:srgbClr val="FF0000"/>
                </a:solidFill>
                <a:latin typeface="Calibri" panose="020F0502020204030204" pitchFamily="34" charset="0"/>
                <a:cs typeface="Arial" panose="020B0604020202020204" pitchFamily="34" charset="0"/>
              </a:rPr>
              <a:t>2. </a:t>
            </a:r>
            <a:r>
              <a:rPr lang="fr-FR" altLang="fr-FR" sz="1800" dirty="0">
                <a:latin typeface="Calibri" panose="020F0502020204030204" pitchFamily="34" charset="0"/>
                <a:cs typeface="Arial" panose="020B0604020202020204" pitchFamily="34" charset="0"/>
              </a:rPr>
              <a:t>Temps brut de fonctionnement</a:t>
            </a:r>
          </a:p>
        </p:txBody>
      </p:sp>
      <p:sp>
        <p:nvSpPr>
          <p:cNvPr id="170" name="ZoneTexte 169"/>
          <p:cNvSpPr txBox="1">
            <a:spLocks noChangeArrowheads="1"/>
          </p:cNvSpPr>
          <p:nvPr/>
        </p:nvSpPr>
        <p:spPr bwMode="auto">
          <a:xfrm>
            <a:off x="1062038" y="3111500"/>
            <a:ext cx="1784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1800" dirty="0">
                <a:latin typeface="Calibri" panose="020F0502020204030204" pitchFamily="34" charset="0"/>
                <a:cs typeface="Arial" panose="020B0604020202020204" pitchFamily="34" charset="0"/>
              </a:rPr>
              <a:t>Écart de performance</a:t>
            </a:r>
          </a:p>
        </p:txBody>
      </p:sp>
      <p:sp>
        <p:nvSpPr>
          <p:cNvPr id="171" name="Hexagone 170"/>
          <p:cNvSpPr/>
          <p:nvPr/>
        </p:nvSpPr>
        <p:spPr>
          <a:xfrm>
            <a:off x="2955925" y="3152775"/>
            <a:ext cx="1223963" cy="590550"/>
          </a:xfrm>
          <a:prstGeom prst="hexagon">
            <a:avLst>
              <a:gd name="adj" fmla="val 14247"/>
              <a:gd name="vf" fmla="val 115470"/>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72" name="Rectangle 171"/>
          <p:cNvSpPr/>
          <p:nvPr/>
        </p:nvSpPr>
        <p:spPr>
          <a:xfrm>
            <a:off x="3181350" y="711200"/>
            <a:ext cx="1246188" cy="5905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56680" name="ZoneTexte 172"/>
          <p:cNvSpPr txBox="1">
            <a:spLocks noChangeArrowheads="1"/>
          </p:cNvSpPr>
          <p:nvPr/>
        </p:nvSpPr>
        <p:spPr bwMode="auto">
          <a:xfrm>
            <a:off x="3258538" y="866775"/>
            <a:ext cx="10759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10,7 min.</a:t>
            </a:r>
          </a:p>
        </p:txBody>
      </p:sp>
      <p:sp>
        <p:nvSpPr>
          <p:cNvPr id="174" name="Rectangle 173"/>
          <p:cNvSpPr/>
          <p:nvPr/>
        </p:nvSpPr>
        <p:spPr>
          <a:xfrm>
            <a:off x="2957513" y="4891088"/>
            <a:ext cx="1165225" cy="5905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75" name="ZoneTexte 174"/>
          <p:cNvSpPr txBox="1">
            <a:spLocks noChangeArrowheads="1"/>
          </p:cNvSpPr>
          <p:nvPr/>
        </p:nvSpPr>
        <p:spPr bwMode="auto">
          <a:xfrm>
            <a:off x="3096386" y="5003800"/>
            <a:ext cx="958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4,3 min.</a:t>
            </a:r>
          </a:p>
        </p:txBody>
      </p:sp>
      <p:sp>
        <p:nvSpPr>
          <p:cNvPr id="156683" name="ZoneTexte 175"/>
          <p:cNvSpPr txBox="1">
            <a:spLocks noChangeArrowheads="1"/>
          </p:cNvSpPr>
          <p:nvPr/>
        </p:nvSpPr>
        <p:spPr bwMode="auto">
          <a:xfrm>
            <a:off x="787400" y="4824413"/>
            <a:ext cx="199231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2000" b="1" dirty="0">
                <a:solidFill>
                  <a:srgbClr val="FF0000"/>
                </a:solidFill>
                <a:latin typeface="Calibri" panose="020F0502020204030204" pitchFamily="34" charset="0"/>
                <a:cs typeface="Arial" panose="020B0604020202020204" pitchFamily="34" charset="0"/>
              </a:rPr>
              <a:t>3. </a:t>
            </a:r>
            <a:r>
              <a:rPr lang="fr-FR" altLang="fr-FR" sz="1800" dirty="0">
                <a:latin typeface="Calibri" panose="020F0502020204030204" pitchFamily="34" charset="0"/>
                <a:cs typeface="Arial" panose="020B0604020202020204" pitchFamily="34" charset="0"/>
              </a:rPr>
              <a:t>Temps net de fonctionnement</a:t>
            </a:r>
          </a:p>
        </p:txBody>
      </p:sp>
      <p:sp>
        <p:nvSpPr>
          <p:cNvPr id="183" name="ZoneTexte 182"/>
          <p:cNvSpPr txBox="1">
            <a:spLocks noChangeArrowheads="1"/>
          </p:cNvSpPr>
          <p:nvPr/>
        </p:nvSpPr>
        <p:spPr bwMode="auto">
          <a:xfrm>
            <a:off x="3088448" y="3279775"/>
            <a:ext cx="958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6,4 min.</a:t>
            </a:r>
          </a:p>
        </p:txBody>
      </p:sp>
      <p:grpSp>
        <p:nvGrpSpPr>
          <p:cNvPr id="156685" name="Groupe 324"/>
          <p:cNvGrpSpPr>
            <a:grpSpLocks/>
          </p:cNvGrpSpPr>
          <p:nvPr/>
        </p:nvGrpSpPr>
        <p:grpSpPr bwMode="auto">
          <a:xfrm>
            <a:off x="1027113" y="1541463"/>
            <a:ext cx="6969070" cy="685800"/>
            <a:chOff x="2306394" y="1322837"/>
            <a:chExt cx="6969449" cy="685389"/>
          </a:xfrm>
        </p:grpSpPr>
        <p:sp>
          <p:nvSpPr>
            <p:cNvPr id="156717" name="ZoneTexte 117"/>
            <p:cNvSpPr txBox="1">
              <a:spLocks noChangeArrowheads="1"/>
            </p:cNvSpPr>
            <p:nvPr/>
          </p:nvSpPr>
          <p:spPr bwMode="auto">
            <a:xfrm>
              <a:off x="3609300" y="1777394"/>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56718" name="ZoneTexte 118"/>
            <p:cNvSpPr txBox="1">
              <a:spLocks noChangeArrowheads="1"/>
            </p:cNvSpPr>
            <p:nvPr/>
          </p:nvSpPr>
          <p:spPr bwMode="auto">
            <a:xfrm>
              <a:off x="4914554" y="1777394"/>
              <a:ext cx="300098"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156719" name="ZoneTexte 119"/>
            <p:cNvSpPr txBox="1">
              <a:spLocks noChangeArrowheads="1"/>
            </p:cNvSpPr>
            <p:nvPr/>
          </p:nvSpPr>
          <p:spPr bwMode="auto">
            <a:xfrm>
              <a:off x="6259554" y="1777394"/>
              <a:ext cx="300098"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156720" name="ZoneTexte 120"/>
            <p:cNvSpPr txBox="1">
              <a:spLocks noChangeArrowheads="1"/>
            </p:cNvSpPr>
            <p:nvPr/>
          </p:nvSpPr>
          <p:spPr bwMode="auto">
            <a:xfrm>
              <a:off x="7655354" y="1777394"/>
              <a:ext cx="300098"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156721" name="ZoneTexte 121"/>
            <p:cNvSpPr txBox="1">
              <a:spLocks noChangeArrowheads="1"/>
            </p:cNvSpPr>
            <p:nvPr/>
          </p:nvSpPr>
          <p:spPr bwMode="auto">
            <a:xfrm>
              <a:off x="8975745" y="1777394"/>
              <a:ext cx="300098"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25</a:t>
              </a:r>
              <a:endParaRPr lang="fr-FR" altLang="fr-FR" sz="1100" dirty="0">
                <a:latin typeface="Calibri" panose="020F0502020204030204" pitchFamily="34" charset="0"/>
                <a:cs typeface="Arial" panose="020B0604020202020204" pitchFamily="34" charset="0"/>
              </a:endParaRPr>
            </a:p>
          </p:txBody>
        </p:sp>
        <p:grpSp>
          <p:nvGrpSpPr>
            <p:cNvPr id="156722" name="Groupe 156"/>
            <p:cNvGrpSpPr>
              <a:grpSpLocks/>
            </p:cNvGrpSpPr>
            <p:nvPr/>
          </p:nvGrpSpPr>
          <p:grpSpPr bwMode="auto">
            <a:xfrm>
              <a:off x="2398086" y="1322837"/>
              <a:ext cx="6695416" cy="498882"/>
              <a:chOff x="1696210" y="1552188"/>
              <a:chExt cx="3708000" cy="433386"/>
            </a:xfrm>
          </p:grpSpPr>
          <p:sp>
            <p:nvSpPr>
              <p:cNvPr id="192" name="Rectangle 191"/>
              <p:cNvSpPr/>
              <p:nvPr/>
            </p:nvSpPr>
            <p:spPr bwMode="auto">
              <a:xfrm>
                <a:off x="1696425" y="1553566"/>
                <a:ext cx="3707687" cy="43139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cs typeface="Arial" pitchFamily="34" charset="0"/>
                </a:endParaRPr>
              </a:p>
            </p:txBody>
          </p:sp>
          <p:cxnSp>
            <p:nvCxnSpPr>
              <p:cNvPr id="193" name="Connecteur droit 192"/>
              <p:cNvCxnSpPr/>
              <p:nvPr/>
            </p:nvCxnSpPr>
            <p:spPr bwMode="auto">
              <a:xfrm rot="5400000">
                <a:off x="1620524"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Connecteur droit 193"/>
              <p:cNvCxnSpPr/>
              <p:nvPr/>
            </p:nvCxnSpPr>
            <p:spPr bwMode="auto">
              <a:xfrm rot="5400000">
                <a:off x="1769992"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Connecteur droit 194"/>
              <p:cNvCxnSpPr/>
              <p:nvPr/>
            </p:nvCxnSpPr>
            <p:spPr bwMode="auto">
              <a:xfrm rot="5400000">
                <a:off x="191682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Connecteur droit 195"/>
              <p:cNvCxnSpPr/>
              <p:nvPr/>
            </p:nvCxnSpPr>
            <p:spPr bwMode="auto">
              <a:xfrm rot="5400000">
                <a:off x="2066291"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Connecteur droit 196"/>
              <p:cNvCxnSpPr/>
              <p:nvPr/>
            </p:nvCxnSpPr>
            <p:spPr bwMode="auto">
              <a:xfrm rot="5400000">
                <a:off x="2215759"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Connecteur droit 197"/>
              <p:cNvCxnSpPr/>
              <p:nvPr/>
            </p:nvCxnSpPr>
            <p:spPr bwMode="auto">
              <a:xfrm rot="5400000">
                <a:off x="2365227"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Connecteur droit 198"/>
              <p:cNvCxnSpPr/>
              <p:nvPr/>
            </p:nvCxnSpPr>
            <p:spPr bwMode="auto">
              <a:xfrm rot="5400000">
                <a:off x="2513815"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Connecteur droit 199"/>
              <p:cNvCxnSpPr/>
              <p:nvPr/>
            </p:nvCxnSpPr>
            <p:spPr bwMode="auto">
              <a:xfrm rot="5400000">
                <a:off x="266328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Connecteur droit 200"/>
              <p:cNvCxnSpPr/>
              <p:nvPr/>
            </p:nvCxnSpPr>
            <p:spPr bwMode="auto">
              <a:xfrm rot="5400000">
                <a:off x="281099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Connecteur droit 201"/>
              <p:cNvCxnSpPr/>
              <p:nvPr/>
            </p:nvCxnSpPr>
            <p:spPr bwMode="auto">
              <a:xfrm rot="5400000">
                <a:off x="2960461"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Connecteur droit 202"/>
              <p:cNvCxnSpPr/>
              <p:nvPr/>
            </p:nvCxnSpPr>
            <p:spPr bwMode="auto">
              <a:xfrm rot="5400000">
                <a:off x="3109050"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Connecteur droit 203"/>
              <p:cNvCxnSpPr/>
              <p:nvPr/>
            </p:nvCxnSpPr>
            <p:spPr bwMode="auto">
              <a:xfrm rot="5400000">
                <a:off x="3258518"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Connecteur droit 204"/>
              <p:cNvCxnSpPr/>
              <p:nvPr/>
            </p:nvCxnSpPr>
            <p:spPr bwMode="auto">
              <a:xfrm rot="5400000">
                <a:off x="3407986"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Connecteur droit 205"/>
              <p:cNvCxnSpPr/>
              <p:nvPr/>
            </p:nvCxnSpPr>
            <p:spPr bwMode="auto">
              <a:xfrm rot="5400000">
                <a:off x="3556575"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Connecteur droit 206"/>
              <p:cNvCxnSpPr/>
              <p:nvPr/>
            </p:nvCxnSpPr>
            <p:spPr bwMode="auto">
              <a:xfrm rot="5400000">
                <a:off x="3704285"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Connecteur droit 207"/>
              <p:cNvCxnSpPr/>
              <p:nvPr/>
            </p:nvCxnSpPr>
            <p:spPr bwMode="auto">
              <a:xfrm rot="5400000">
                <a:off x="3853753"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Connecteur droit 208"/>
              <p:cNvCxnSpPr/>
              <p:nvPr/>
            </p:nvCxnSpPr>
            <p:spPr bwMode="auto">
              <a:xfrm rot="5400000">
                <a:off x="4003221"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Connecteur droit 209"/>
              <p:cNvCxnSpPr/>
              <p:nvPr/>
            </p:nvCxnSpPr>
            <p:spPr bwMode="auto">
              <a:xfrm rot="5400000">
                <a:off x="4152689"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Connecteur droit 210"/>
              <p:cNvCxnSpPr/>
              <p:nvPr/>
            </p:nvCxnSpPr>
            <p:spPr bwMode="auto">
              <a:xfrm rot="5400000">
                <a:off x="4301278"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Connecteur droit 211"/>
              <p:cNvCxnSpPr/>
              <p:nvPr/>
            </p:nvCxnSpPr>
            <p:spPr bwMode="auto">
              <a:xfrm rot="5400000">
                <a:off x="4448987" y="1767886"/>
                <a:ext cx="43139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Connecteur droit 212"/>
              <p:cNvCxnSpPr/>
              <p:nvPr/>
            </p:nvCxnSpPr>
            <p:spPr bwMode="auto">
              <a:xfrm rot="5400000">
                <a:off x="4598456"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Connecteur droit 213"/>
              <p:cNvCxnSpPr/>
              <p:nvPr/>
            </p:nvCxnSpPr>
            <p:spPr bwMode="auto">
              <a:xfrm rot="5400000">
                <a:off x="4747924"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Connecteur droit 214"/>
              <p:cNvCxnSpPr/>
              <p:nvPr/>
            </p:nvCxnSpPr>
            <p:spPr bwMode="auto">
              <a:xfrm rot="5400000">
                <a:off x="4896512"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Connecteur droit 215"/>
              <p:cNvCxnSpPr/>
              <p:nvPr/>
            </p:nvCxnSpPr>
            <p:spPr bwMode="auto">
              <a:xfrm rot="5400000">
                <a:off x="5045980" y="1767886"/>
                <a:ext cx="431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6723" name="ZoneTexte 117"/>
            <p:cNvSpPr txBox="1">
              <a:spLocks noChangeArrowheads="1"/>
            </p:cNvSpPr>
            <p:nvPr/>
          </p:nvSpPr>
          <p:spPr bwMode="auto">
            <a:xfrm>
              <a:off x="2306394" y="1777394"/>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grpSp>
      <p:grpSp>
        <p:nvGrpSpPr>
          <p:cNvPr id="156686" name="Groupe 216"/>
          <p:cNvGrpSpPr>
            <a:grpSpLocks/>
          </p:cNvGrpSpPr>
          <p:nvPr/>
        </p:nvGrpSpPr>
        <p:grpSpPr bwMode="auto">
          <a:xfrm>
            <a:off x="1027113" y="5913438"/>
            <a:ext cx="5649828" cy="685800"/>
            <a:chOff x="227020" y="11228837"/>
            <a:chExt cx="5649029" cy="685389"/>
          </a:xfrm>
        </p:grpSpPr>
        <p:sp>
          <p:nvSpPr>
            <p:cNvPr id="156692" name="ZoneTexte 117"/>
            <p:cNvSpPr txBox="1">
              <a:spLocks noChangeArrowheads="1"/>
            </p:cNvSpPr>
            <p:nvPr/>
          </p:nvSpPr>
          <p:spPr bwMode="auto">
            <a:xfrm>
              <a:off x="1529926" y="11683394"/>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56693" name="ZoneTexte 118"/>
            <p:cNvSpPr txBox="1">
              <a:spLocks noChangeArrowheads="1"/>
            </p:cNvSpPr>
            <p:nvPr/>
          </p:nvSpPr>
          <p:spPr bwMode="auto">
            <a:xfrm>
              <a:off x="2835209" y="11683394"/>
              <a:ext cx="300040"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156694" name="ZoneTexte 119"/>
            <p:cNvSpPr txBox="1">
              <a:spLocks noChangeArrowheads="1"/>
            </p:cNvSpPr>
            <p:nvPr/>
          </p:nvSpPr>
          <p:spPr bwMode="auto">
            <a:xfrm>
              <a:off x="4180209" y="11683394"/>
              <a:ext cx="300040"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156695" name="ZoneTexte 120"/>
            <p:cNvSpPr txBox="1">
              <a:spLocks noChangeArrowheads="1"/>
            </p:cNvSpPr>
            <p:nvPr/>
          </p:nvSpPr>
          <p:spPr bwMode="auto">
            <a:xfrm>
              <a:off x="5576009" y="11683394"/>
              <a:ext cx="300040" cy="230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222" name="Rectangle 221"/>
            <p:cNvSpPr/>
            <p:nvPr/>
          </p:nvSpPr>
          <p:spPr bwMode="auto">
            <a:xfrm>
              <a:off x="319082" y="11230423"/>
              <a:ext cx="5369752" cy="49659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cs typeface="Arial" pitchFamily="34" charset="0"/>
              </a:endParaRPr>
            </a:p>
          </p:txBody>
        </p:sp>
        <p:cxnSp>
          <p:nvCxnSpPr>
            <p:cNvPr id="223" name="Connecteur droit 222"/>
            <p:cNvCxnSpPr/>
            <p:nvPr/>
          </p:nvCxnSpPr>
          <p:spPr bwMode="auto">
            <a:xfrm rot="5400000">
              <a:off x="323163"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Connecteur droit 223"/>
            <p:cNvCxnSpPr/>
            <p:nvPr/>
          </p:nvCxnSpPr>
          <p:spPr bwMode="auto">
            <a:xfrm rot="5400000">
              <a:off x="591413"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Connecteur droit 224"/>
            <p:cNvCxnSpPr/>
            <p:nvPr/>
          </p:nvCxnSpPr>
          <p:spPr bwMode="auto">
            <a:xfrm rot="5400000">
              <a:off x="858076"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Connecteur droit 225"/>
            <p:cNvCxnSpPr/>
            <p:nvPr/>
          </p:nvCxnSpPr>
          <p:spPr bwMode="auto">
            <a:xfrm rot="5400000">
              <a:off x="1127912"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Connecteur droit 226"/>
            <p:cNvCxnSpPr/>
            <p:nvPr/>
          </p:nvCxnSpPr>
          <p:spPr bwMode="auto">
            <a:xfrm rot="5400000">
              <a:off x="1397749" y="11477132"/>
              <a:ext cx="4965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Connecteur droit 227"/>
            <p:cNvCxnSpPr/>
            <p:nvPr/>
          </p:nvCxnSpPr>
          <p:spPr bwMode="auto">
            <a:xfrm rot="5400000">
              <a:off x="1667586"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Connecteur droit 228"/>
            <p:cNvCxnSpPr/>
            <p:nvPr/>
          </p:nvCxnSpPr>
          <p:spPr bwMode="auto">
            <a:xfrm rot="5400000">
              <a:off x="1935835"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Connecteur droit 229"/>
            <p:cNvCxnSpPr/>
            <p:nvPr/>
          </p:nvCxnSpPr>
          <p:spPr bwMode="auto">
            <a:xfrm rot="5400000">
              <a:off x="2205672"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Connecteur droit 230"/>
            <p:cNvCxnSpPr/>
            <p:nvPr/>
          </p:nvCxnSpPr>
          <p:spPr bwMode="auto">
            <a:xfrm rot="5400000">
              <a:off x="2472334"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Connecteur droit 231"/>
            <p:cNvCxnSpPr/>
            <p:nvPr/>
          </p:nvCxnSpPr>
          <p:spPr bwMode="auto">
            <a:xfrm rot="5400000">
              <a:off x="2742171" y="11477132"/>
              <a:ext cx="4965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Connecteur droit 232"/>
            <p:cNvCxnSpPr/>
            <p:nvPr/>
          </p:nvCxnSpPr>
          <p:spPr bwMode="auto">
            <a:xfrm rot="5400000">
              <a:off x="3012008"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Connecteur droit 233"/>
            <p:cNvCxnSpPr/>
            <p:nvPr/>
          </p:nvCxnSpPr>
          <p:spPr bwMode="auto">
            <a:xfrm rot="5400000">
              <a:off x="3280258"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Connecteur droit 234"/>
            <p:cNvCxnSpPr/>
            <p:nvPr/>
          </p:nvCxnSpPr>
          <p:spPr bwMode="auto">
            <a:xfrm rot="5400000">
              <a:off x="3550095"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Connecteur droit 235"/>
            <p:cNvCxnSpPr/>
            <p:nvPr/>
          </p:nvCxnSpPr>
          <p:spPr bwMode="auto">
            <a:xfrm rot="5400000">
              <a:off x="3819932"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Connecteur droit 236"/>
            <p:cNvCxnSpPr/>
            <p:nvPr/>
          </p:nvCxnSpPr>
          <p:spPr bwMode="auto">
            <a:xfrm rot="5400000">
              <a:off x="4086594" y="11477132"/>
              <a:ext cx="4965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Connecteur droit 237"/>
            <p:cNvCxnSpPr/>
            <p:nvPr/>
          </p:nvCxnSpPr>
          <p:spPr bwMode="auto">
            <a:xfrm rot="5400000">
              <a:off x="4356431"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Connecteur droit 238"/>
            <p:cNvCxnSpPr/>
            <p:nvPr/>
          </p:nvCxnSpPr>
          <p:spPr bwMode="auto">
            <a:xfrm rot="5400000">
              <a:off x="4624680"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Connecteur droit 239"/>
            <p:cNvCxnSpPr/>
            <p:nvPr/>
          </p:nvCxnSpPr>
          <p:spPr bwMode="auto">
            <a:xfrm rot="5400000">
              <a:off x="4894517"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Connecteur droit 240"/>
            <p:cNvCxnSpPr/>
            <p:nvPr/>
          </p:nvCxnSpPr>
          <p:spPr bwMode="auto">
            <a:xfrm rot="5400000">
              <a:off x="5164353" y="11477132"/>
              <a:ext cx="49658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56716" name="ZoneTexte 117"/>
            <p:cNvSpPr txBox="1">
              <a:spLocks noChangeArrowheads="1"/>
            </p:cNvSpPr>
            <p:nvPr/>
          </p:nvSpPr>
          <p:spPr bwMode="auto">
            <a:xfrm>
              <a:off x="227020" y="11683394"/>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grpSp>
      <p:sp>
        <p:nvSpPr>
          <p:cNvPr id="246" name="Légende encadrée 1 245"/>
          <p:cNvSpPr/>
          <p:nvPr/>
        </p:nvSpPr>
        <p:spPr bwMode="auto">
          <a:xfrm>
            <a:off x="5072063" y="4068763"/>
            <a:ext cx="3552825" cy="830262"/>
          </a:xfrm>
          <a:prstGeom prst="borderCallout1">
            <a:avLst>
              <a:gd name="adj1" fmla="val 48486"/>
              <a:gd name="adj2" fmla="val -340"/>
              <a:gd name="adj3" fmla="val 113323"/>
              <a:gd name="adj4" fmla="val -29921"/>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800" kern="0" dirty="0">
                <a:solidFill>
                  <a:srgbClr val="FF0000"/>
                </a:solidFill>
                <a:latin typeface="Calibri" panose="020F0502020204030204" pitchFamily="34" charset="0"/>
                <a:cs typeface="Arial" pitchFamily="34" charset="0"/>
              </a:rPr>
              <a:t>Production</a:t>
            </a:r>
            <a:r>
              <a:rPr lang="fr-FR" sz="1800" kern="0" dirty="0">
                <a:solidFill>
                  <a:srgbClr val="000000"/>
                </a:solidFill>
                <a:latin typeface="Calibri" panose="020F0502020204030204" pitchFamily="34" charset="0"/>
                <a:cs typeface="Arial" pitchFamily="34" charset="0"/>
              </a:rPr>
              <a:t> du poste (bonne ou mauvaise) x </a:t>
            </a:r>
            <a:r>
              <a:rPr lang="fr-FR" sz="1800" kern="0" dirty="0">
                <a:solidFill>
                  <a:srgbClr val="FF0000"/>
                </a:solidFill>
                <a:latin typeface="Calibri" panose="020F0502020204030204" pitchFamily="34" charset="0"/>
                <a:cs typeface="Arial" pitchFamily="34" charset="0"/>
              </a:rPr>
              <a:t>Temps gamme</a:t>
            </a:r>
          </a:p>
        </p:txBody>
      </p:sp>
      <p:sp>
        <p:nvSpPr>
          <p:cNvPr id="156688" name="Rectangle 246"/>
          <p:cNvSpPr>
            <a:spLocks noChangeArrowheads="1"/>
          </p:cNvSpPr>
          <p:nvPr/>
        </p:nvSpPr>
        <p:spPr bwMode="auto">
          <a:xfrm>
            <a:off x="1120775" y="1543050"/>
            <a:ext cx="2795588" cy="495300"/>
          </a:xfrm>
          <a:prstGeom prst="rect">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48" name="Rectangle 247"/>
          <p:cNvSpPr>
            <a:spLocks noChangeArrowheads="1"/>
          </p:cNvSpPr>
          <p:nvPr/>
        </p:nvSpPr>
        <p:spPr bwMode="auto">
          <a:xfrm>
            <a:off x="1120775" y="5910263"/>
            <a:ext cx="1239838" cy="495300"/>
          </a:xfrm>
          <a:prstGeom prst="rect">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49" name="Légende encadrée 1 248"/>
          <p:cNvSpPr/>
          <p:nvPr/>
        </p:nvSpPr>
        <p:spPr bwMode="auto">
          <a:xfrm>
            <a:off x="5086350" y="2513013"/>
            <a:ext cx="2146300" cy="1049337"/>
          </a:xfrm>
          <a:prstGeom prst="borderCallout1">
            <a:avLst>
              <a:gd name="adj1" fmla="val 48486"/>
              <a:gd name="adj2" fmla="val -340"/>
              <a:gd name="adj3" fmla="val 87302"/>
              <a:gd name="adj4" fmla="val -46448"/>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800" kern="0" dirty="0">
                <a:solidFill>
                  <a:srgbClr val="000000"/>
                </a:solidFill>
                <a:latin typeface="Calibri" panose="020F0502020204030204" pitchFamily="34" charset="0"/>
                <a:cs typeface="Arial" pitchFamily="34" charset="0"/>
              </a:rPr>
              <a:t>Différence entre le </a:t>
            </a:r>
            <a:r>
              <a:rPr lang="fr-FR" sz="1800" kern="0" dirty="0">
                <a:solidFill>
                  <a:srgbClr val="FF0000"/>
                </a:solidFill>
                <a:latin typeface="Calibri" panose="020F0502020204030204" pitchFamily="34" charset="0"/>
                <a:cs typeface="Arial" pitchFamily="34" charset="0"/>
              </a:rPr>
              <a:t>Temps brut</a:t>
            </a:r>
            <a:r>
              <a:rPr lang="fr-FR" sz="1800" kern="0" dirty="0">
                <a:solidFill>
                  <a:srgbClr val="000000"/>
                </a:solidFill>
                <a:latin typeface="Calibri" panose="020F0502020204030204" pitchFamily="34" charset="0"/>
                <a:cs typeface="Arial" pitchFamily="34" charset="0"/>
              </a:rPr>
              <a:t> et le </a:t>
            </a:r>
            <a:r>
              <a:rPr lang="fr-FR" sz="1800" kern="0" dirty="0">
                <a:solidFill>
                  <a:srgbClr val="FF0000"/>
                </a:solidFill>
                <a:latin typeface="Calibri" panose="020F0502020204030204" pitchFamily="34" charset="0"/>
                <a:cs typeface="Arial" pitchFamily="34" charset="0"/>
              </a:rPr>
              <a:t>Temps net</a:t>
            </a:r>
          </a:p>
        </p:txBody>
      </p:sp>
      <p:sp>
        <p:nvSpPr>
          <p:cNvPr id="156691"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77"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78"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71</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P spid="175" grpId="0"/>
      <p:bldP spid="183" grpId="0"/>
      <p:bldP spid="246" grpId="0" animBg="1"/>
      <p:bldP spid="248" grpId="0" animBg="1"/>
      <p:bldP spid="249"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8722" name="Titre 1"/>
          <p:cNvSpPr>
            <a:spLocks noGrp="1"/>
          </p:cNvSpPr>
          <p:nvPr>
            <p:ph type="title"/>
          </p:nvPr>
        </p:nvSpPr>
        <p:spPr/>
        <p:txBody>
          <a:bodyPr/>
          <a:lstStyle/>
          <a:p>
            <a:r>
              <a:rPr lang="fr-FR" altLang="fr-FR"/>
              <a:t>L'équipe PRODUCTIVITÉ (3/4)</a:t>
            </a:r>
          </a:p>
        </p:txBody>
      </p:sp>
      <p:graphicFrame>
        <p:nvGraphicFramePr>
          <p:cNvPr id="4" name="Tableau 3"/>
          <p:cNvGraphicFramePr>
            <a:graphicFrameLocks noGrp="1"/>
          </p:cNvGraphicFramePr>
          <p:nvPr/>
        </p:nvGraphicFramePr>
        <p:xfrm>
          <a:off x="3048000" y="1117600"/>
          <a:ext cx="6437313" cy="4927602"/>
        </p:xfrm>
        <a:graphic>
          <a:graphicData uri="http://schemas.openxmlformats.org/drawingml/2006/table">
            <a:tbl>
              <a:tblPr/>
              <a:tblGrid>
                <a:gridCol w="1026468">
                  <a:extLst>
                    <a:ext uri="{9D8B030D-6E8A-4147-A177-3AD203B41FA5}">
                      <a16:colId xmlns:a16="http://schemas.microsoft.com/office/drawing/2014/main" val="20000"/>
                    </a:ext>
                  </a:extLst>
                </a:gridCol>
                <a:gridCol w="1919827">
                  <a:extLst>
                    <a:ext uri="{9D8B030D-6E8A-4147-A177-3AD203B41FA5}">
                      <a16:colId xmlns:a16="http://schemas.microsoft.com/office/drawing/2014/main" val="20001"/>
                    </a:ext>
                  </a:extLst>
                </a:gridCol>
                <a:gridCol w="457184">
                  <a:extLst>
                    <a:ext uri="{9D8B030D-6E8A-4147-A177-3AD203B41FA5}">
                      <a16:colId xmlns:a16="http://schemas.microsoft.com/office/drawing/2014/main" val="20002"/>
                    </a:ext>
                  </a:extLst>
                </a:gridCol>
                <a:gridCol w="505639">
                  <a:extLst>
                    <a:ext uri="{9D8B030D-6E8A-4147-A177-3AD203B41FA5}">
                      <a16:colId xmlns:a16="http://schemas.microsoft.com/office/drawing/2014/main" val="20003"/>
                    </a:ext>
                  </a:extLst>
                </a:gridCol>
                <a:gridCol w="505639">
                  <a:extLst>
                    <a:ext uri="{9D8B030D-6E8A-4147-A177-3AD203B41FA5}">
                      <a16:colId xmlns:a16="http://schemas.microsoft.com/office/drawing/2014/main" val="20004"/>
                    </a:ext>
                  </a:extLst>
                </a:gridCol>
                <a:gridCol w="505639">
                  <a:extLst>
                    <a:ext uri="{9D8B030D-6E8A-4147-A177-3AD203B41FA5}">
                      <a16:colId xmlns:a16="http://schemas.microsoft.com/office/drawing/2014/main" val="20005"/>
                    </a:ext>
                  </a:extLst>
                </a:gridCol>
                <a:gridCol w="505639">
                  <a:extLst>
                    <a:ext uri="{9D8B030D-6E8A-4147-A177-3AD203B41FA5}">
                      <a16:colId xmlns:a16="http://schemas.microsoft.com/office/drawing/2014/main" val="20006"/>
                    </a:ext>
                  </a:extLst>
                </a:gridCol>
                <a:gridCol w="505639">
                  <a:extLst>
                    <a:ext uri="{9D8B030D-6E8A-4147-A177-3AD203B41FA5}">
                      <a16:colId xmlns:a16="http://schemas.microsoft.com/office/drawing/2014/main" val="20007"/>
                    </a:ext>
                  </a:extLst>
                </a:gridCol>
                <a:gridCol w="505639">
                  <a:extLst>
                    <a:ext uri="{9D8B030D-6E8A-4147-A177-3AD203B41FA5}">
                      <a16:colId xmlns:a16="http://schemas.microsoft.com/office/drawing/2014/main" val="20008"/>
                    </a:ext>
                  </a:extLst>
                </a:gridCol>
              </a:tblGrid>
              <a:tr h="410450">
                <a:tc>
                  <a:txBody>
                    <a:bodyPr/>
                    <a:lstStyle/>
                    <a:p>
                      <a:pPr algn="r" rtl="0" fontAlgn="ctr"/>
                      <a:endParaRPr lang="fr-FR" sz="1400" b="0" i="0" u="none" strike="noStrike" dirty="0">
                        <a:solidFill>
                          <a:srgbClr val="000000"/>
                        </a:solidFill>
                        <a:latin typeface="Calibri" panose="020F0502020204030204" pitchFamily="34" charset="0"/>
                        <a:cs typeface="Arial" pitchFamily="34" charset="0"/>
                      </a:endParaRPr>
                    </a:p>
                  </a:txBody>
                  <a:tcPr marL="13411" marR="120694" marT="1341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fr-FR" sz="1400" b="0" i="0" u="none" strike="noStrike" dirty="0">
                        <a:solidFill>
                          <a:srgbClr val="000000"/>
                        </a:solidFill>
                        <a:latin typeface="Calibri" panose="020F0502020204030204" pitchFamily="34" charset="0"/>
                        <a:cs typeface="Arial" pitchFamily="34" charset="0"/>
                      </a:endParaRPr>
                    </a:p>
                  </a:txBody>
                  <a:tcPr marL="13411" marR="120694" marT="13412"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VA</a:t>
                      </a: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FF8F"/>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Att.</a:t>
                      </a: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fr-FR" sz="1400" b="1" i="0" u="none" strike="noStrike" dirty="0" err="1">
                          <a:solidFill>
                            <a:schemeClr val="bg1"/>
                          </a:solidFill>
                          <a:latin typeface="Calibri" panose="020F0502020204030204" pitchFamily="34" charset="0"/>
                          <a:cs typeface="Arial" pitchFamily="34" charset="0"/>
                        </a:rPr>
                        <a:t>Tran</a:t>
                      </a:r>
                      <a:r>
                        <a:rPr lang="fr-FR" sz="1400" b="1" i="0" u="none" strike="noStrike" dirty="0">
                          <a:solidFill>
                            <a:schemeClr val="bg1"/>
                          </a:solidFill>
                          <a:latin typeface="Calibri" panose="020F0502020204030204" pitchFamily="34" charset="0"/>
                          <a:cs typeface="Arial" pitchFamily="34" charset="0"/>
                        </a:rPr>
                        <a:t>.</a:t>
                      </a: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A000"/>
                    </a:solidFill>
                  </a:tcPr>
                </a:tc>
                <a:tc>
                  <a:txBody>
                    <a:bodyPr/>
                    <a:lstStyle/>
                    <a:p>
                      <a:pPr algn="ctr" fontAlgn="b"/>
                      <a:r>
                        <a:rPr lang="fr-FR" sz="1400" b="1" i="0" u="none" strike="noStrike" dirty="0">
                          <a:solidFill>
                            <a:schemeClr val="bg1"/>
                          </a:solidFill>
                          <a:latin typeface="Calibri" panose="020F0502020204030204" pitchFamily="34" charset="0"/>
                          <a:cs typeface="Arial" pitchFamily="34" charset="0"/>
                        </a:rPr>
                        <a:t>R&amp;R</a:t>
                      </a: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Sup.</a:t>
                      </a: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Sur.</a:t>
                      </a: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CFA"/>
                    </a:solidFill>
                  </a:tcPr>
                </a:tc>
                <a:extLst>
                  <a:ext uri="{0D108BD9-81ED-4DB2-BD59-A6C34878D82A}">
                    <a16:rowId xmlns:a16="http://schemas.microsoft.com/office/drawing/2014/main" val="10000"/>
                  </a:ext>
                </a:extLst>
              </a:tr>
              <a:tr h="605438">
                <a:tc gridSpan="2">
                  <a:txBody>
                    <a:bodyPr/>
                    <a:lstStyle/>
                    <a:p>
                      <a:pPr algn="r" rtl="0" fontAlgn="ctr"/>
                      <a:r>
                        <a:rPr lang="fr-FR" sz="1600" b="0" i="0" u="none" strike="noStrike" dirty="0">
                          <a:solidFill>
                            <a:srgbClr val="000000"/>
                          </a:solidFill>
                          <a:latin typeface="Calibri" panose="020F0502020204030204" pitchFamily="34" charset="0"/>
                          <a:cs typeface="Arial" pitchFamily="34" charset="0"/>
                        </a:rPr>
                        <a:t>Attendre au magasin d’outillages avant d’être servi </a:t>
                      </a: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12%</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44981">
                <a:tc gridSpan="2">
                  <a:txBody>
                    <a:bodyPr/>
                    <a:lstStyle/>
                    <a:p>
                      <a:pPr algn="r" rtl="0" fontAlgn="ctr"/>
                      <a:r>
                        <a:rPr lang="fr-FR" sz="1600" b="0" i="0" u="none" strike="noStrike" dirty="0">
                          <a:solidFill>
                            <a:srgbClr val="000000"/>
                          </a:solidFill>
                          <a:latin typeface="Calibri" panose="020F0502020204030204" pitchFamily="34" charset="0"/>
                          <a:cs typeface="Arial" pitchFamily="34" charset="0"/>
                        </a:rPr>
                        <a:t>Démonter un produit </a:t>
                      </a:r>
                      <a:r>
                        <a:rPr lang="fr-FR" sz="1600" b="0" i="0" u="none" strike="noStrike" baseline="0" dirty="0">
                          <a:solidFill>
                            <a:srgbClr val="000000"/>
                          </a:solidFill>
                          <a:latin typeface="Calibri" panose="020F0502020204030204" pitchFamily="34" charset="0"/>
                          <a:cs typeface="Arial" pitchFamily="34" charset="0"/>
                        </a:rPr>
                        <a:t>refusé par le client (production excédentaire)</a:t>
                      </a:r>
                      <a:endParaRPr lang="fr-FR" sz="1600" b="0" i="0" u="none" strike="noStrike" dirty="0">
                        <a:solidFill>
                          <a:srgbClr val="000000"/>
                        </a:solidFill>
                        <a:latin typeface="Calibri" panose="020F0502020204030204" pitchFamily="34" charset="0"/>
                        <a:cs typeface="Arial" pitchFamily="34" charset="0"/>
                      </a:endParaRP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8%</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5438">
                <a:tc gridSpan="2">
                  <a:txBody>
                    <a:bodyPr/>
                    <a:lstStyle/>
                    <a:p>
                      <a:pPr marL="0" marR="0" indent="0" algn="r" defTabSz="2026094" rtl="0" eaLnBrk="1" fontAlgn="ctr" latinLnBrk="0" hangingPunct="1">
                        <a:lnSpc>
                          <a:spcPct val="100000"/>
                        </a:lnSpc>
                        <a:spcBef>
                          <a:spcPts val="0"/>
                        </a:spcBef>
                        <a:spcAft>
                          <a:spcPts val="0"/>
                        </a:spcAft>
                        <a:buClrTx/>
                        <a:buSzTx/>
                        <a:buFontTx/>
                        <a:buNone/>
                        <a:tabLst/>
                        <a:defRPr/>
                      </a:pPr>
                      <a:r>
                        <a:rPr lang="fr-FR" sz="1600" b="0" i="0" u="none" strike="noStrike" dirty="0">
                          <a:solidFill>
                            <a:srgbClr val="000000"/>
                          </a:solidFill>
                          <a:latin typeface="Calibri" panose="020F0502020204030204" pitchFamily="34" charset="0"/>
                          <a:cs typeface="Arial" pitchFamily="34" charset="0"/>
                        </a:rPr>
                        <a:t>Retoucher un coloriage non conforme</a:t>
                      </a: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10%</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44981">
                <a:tc gridSpan="2">
                  <a:txBody>
                    <a:bodyPr/>
                    <a:lstStyle/>
                    <a:p>
                      <a:pPr algn="r" rtl="0" fontAlgn="ctr"/>
                      <a:r>
                        <a:rPr lang="fr-FR" sz="1600" b="0" i="0" u="none" strike="noStrike" dirty="0">
                          <a:solidFill>
                            <a:srgbClr val="000000"/>
                          </a:solidFill>
                          <a:latin typeface="Calibri" panose="020F0502020204030204" pitchFamily="34" charset="0"/>
                          <a:cs typeface="Arial" pitchFamily="34" charset="0"/>
                        </a:rPr>
                        <a:t>Attendre la réponse du contrôleur concernant un produit non conforme</a:t>
                      </a: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5%</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5438">
                <a:tc gridSpan="2">
                  <a:txBody>
                    <a:bodyPr/>
                    <a:lstStyle/>
                    <a:p>
                      <a:pPr marL="0" marR="0" indent="0" algn="r" defTabSz="2026094" rtl="0" eaLnBrk="1" fontAlgn="ctr" latinLnBrk="0" hangingPunct="1">
                        <a:lnSpc>
                          <a:spcPct val="100000"/>
                        </a:lnSpc>
                        <a:spcBef>
                          <a:spcPts val="0"/>
                        </a:spcBef>
                        <a:spcAft>
                          <a:spcPts val="0"/>
                        </a:spcAft>
                        <a:buClrTx/>
                        <a:buSzTx/>
                        <a:buFontTx/>
                        <a:buNone/>
                        <a:tabLst/>
                        <a:defRPr/>
                      </a:pPr>
                      <a:r>
                        <a:rPr lang="fr-FR" sz="1600" b="0" i="0" u="none" strike="noStrike" dirty="0">
                          <a:solidFill>
                            <a:schemeClr val="tx1"/>
                          </a:solidFill>
                          <a:latin typeface="Calibri" panose="020F0502020204030204" pitchFamily="34" charset="0"/>
                          <a:cs typeface="Arial" pitchFamily="34" charset="0"/>
                        </a:rPr>
                        <a:t>Transporter des palettes</a:t>
                      </a:r>
                      <a:r>
                        <a:rPr lang="fr-FR" sz="1600" b="0" i="0" u="none" strike="noStrike" baseline="0" dirty="0">
                          <a:solidFill>
                            <a:schemeClr val="tx1"/>
                          </a:solidFill>
                          <a:latin typeface="Calibri" panose="020F0502020204030204" pitchFamily="34" charset="0"/>
                          <a:cs typeface="Arial" pitchFamily="34" charset="0"/>
                        </a:rPr>
                        <a:t> vides</a:t>
                      </a:r>
                      <a:endParaRPr lang="fr-FR" sz="1600" b="0" i="0" u="none" strike="noStrike" dirty="0">
                        <a:solidFill>
                          <a:schemeClr val="tx1"/>
                        </a:solidFill>
                        <a:latin typeface="Calibri" panose="020F0502020204030204" pitchFamily="34" charset="0"/>
                        <a:cs typeface="Arial" pitchFamily="34" charset="0"/>
                      </a:endParaRP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8%</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5438">
                <a:tc gridSpan="2">
                  <a:txBody>
                    <a:bodyPr/>
                    <a:lstStyle/>
                    <a:p>
                      <a:pPr algn="r" rtl="0" fontAlgn="ctr"/>
                      <a:r>
                        <a:rPr lang="fr-FR" sz="1600" b="0" i="0" u="none" strike="noStrike" dirty="0">
                          <a:solidFill>
                            <a:schemeClr val="tx1"/>
                          </a:solidFill>
                          <a:latin typeface="Calibri" panose="020F0502020204030204" pitchFamily="34" charset="0"/>
                          <a:cs typeface="Arial" pitchFamily="34" charset="0"/>
                        </a:rPr>
                        <a:t>Changer de</a:t>
                      </a:r>
                      <a:r>
                        <a:rPr lang="fr-FR" sz="1600" b="0" i="0" u="none" strike="noStrike" baseline="0" dirty="0">
                          <a:solidFill>
                            <a:schemeClr val="tx1"/>
                          </a:solidFill>
                          <a:latin typeface="Calibri" panose="020F0502020204030204" pitchFamily="34" charset="0"/>
                          <a:cs typeface="Arial" pitchFamily="34" charset="0"/>
                        </a:rPr>
                        <a:t> surligneur car sa couleur n’est pas la bonne </a:t>
                      </a:r>
                      <a:endParaRPr lang="fr-FR" sz="1600" b="0" i="0" u="none" strike="noStrike" dirty="0">
                        <a:solidFill>
                          <a:schemeClr val="tx1"/>
                        </a:solidFill>
                        <a:latin typeface="Calibri" panose="020F0502020204030204" pitchFamily="34" charset="0"/>
                        <a:cs typeface="Arial" pitchFamily="34" charset="0"/>
                      </a:endParaRP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5%</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605438">
                <a:tc gridSpan="2">
                  <a:txBody>
                    <a:bodyPr/>
                    <a:lstStyle/>
                    <a:p>
                      <a:pPr algn="r" rtl="0" fontAlgn="ctr"/>
                      <a:r>
                        <a:rPr lang="fr-FR" sz="1600" b="0" i="0" u="none" strike="noStrike" dirty="0">
                          <a:solidFill>
                            <a:srgbClr val="000000"/>
                          </a:solidFill>
                          <a:latin typeface="Calibri" panose="020F0502020204030204" pitchFamily="34" charset="0"/>
                          <a:cs typeface="Arial" pitchFamily="34" charset="0"/>
                        </a:rPr>
                        <a:t>Ralentir la production parce que la machine chauffe</a:t>
                      </a:r>
                    </a:p>
                  </a:txBody>
                  <a:tcPr marL="13411" marR="120694"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rgbClr val="000000"/>
                          </a:solidFill>
                          <a:latin typeface="Calibri" panose="020F0502020204030204" pitchFamily="34" charset="0"/>
                          <a:cs typeface="Arial" pitchFamily="34" charset="0"/>
                        </a:rPr>
                        <a:t>3%</a:t>
                      </a:r>
                    </a:p>
                  </a:txBody>
                  <a:tcPr marL="13411" marR="13411" marT="134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1" marR="13411" marT="134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ZoneTexte 4"/>
          <p:cNvSpPr txBox="1">
            <a:spLocks noChangeArrowheads="1"/>
          </p:cNvSpPr>
          <p:nvPr/>
        </p:nvSpPr>
        <p:spPr bwMode="auto">
          <a:xfrm>
            <a:off x="6937258" y="1633538"/>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0,8 m.</a:t>
            </a:r>
          </a:p>
        </p:txBody>
      </p:sp>
      <p:sp>
        <p:nvSpPr>
          <p:cNvPr id="7" name="ZoneTexte 6"/>
          <p:cNvSpPr txBox="1">
            <a:spLocks noChangeArrowheads="1"/>
          </p:cNvSpPr>
          <p:nvPr/>
        </p:nvSpPr>
        <p:spPr bwMode="auto">
          <a:xfrm>
            <a:off x="6873758" y="3619500"/>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0,3 m.</a:t>
            </a:r>
          </a:p>
        </p:txBody>
      </p:sp>
      <p:sp>
        <p:nvSpPr>
          <p:cNvPr id="8" name="ZoneTexte 7"/>
          <p:cNvSpPr txBox="1">
            <a:spLocks noChangeArrowheads="1"/>
          </p:cNvSpPr>
          <p:nvPr/>
        </p:nvSpPr>
        <p:spPr bwMode="auto">
          <a:xfrm>
            <a:off x="6905508" y="5597525"/>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0,2 m.</a:t>
            </a:r>
          </a:p>
        </p:txBody>
      </p:sp>
      <p:sp>
        <p:nvSpPr>
          <p:cNvPr id="10" name="ZoneTexte 9"/>
          <p:cNvSpPr txBox="1">
            <a:spLocks noChangeArrowheads="1"/>
          </p:cNvSpPr>
          <p:nvPr/>
        </p:nvSpPr>
        <p:spPr bwMode="auto">
          <a:xfrm>
            <a:off x="7419858" y="4413250"/>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0,5 m.</a:t>
            </a:r>
          </a:p>
        </p:txBody>
      </p:sp>
      <p:sp>
        <p:nvSpPr>
          <p:cNvPr id="12" name="ZoneTexte 11"/>
          <p:cNvSpPr txBox="1">
            <a:spLocks noChangeArrowheads="1"/>
          </p:cNvSpPr>
          <p:nvPr/>
        </p:nvSpPr>
        <p:spPr bwMode="auto">
          <a:xfrm>
            <a:off x="7915158" y="3021013"/>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0,6 m.</a:t>
            </a:r>
          </a:p>
        </p:txBody>
      </p:sp>
      <p:sp>
        <p:nvSpPr>
          <p:cNvPr id="13" name="ZoneTexte 12"/>
          <p:cNvSpPr txBox="1">
            <a:spLocks noChangeArrowheads="1"/>
          </p:cNvSpPr>
          <p:nvPr/>
        </p:nvSpPr>
        <p:spPr bwMode="auto">
          <a:xfrm>
            <a:off x="7896108" y="5011738"/>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0,3 m.</a:t>
            </a:r>
          </a:p>
        </p:txBody>
      </p:sp>
      <p:sp>
        <p:nvSpPr>
          <p:cNvPr id="20" name="ZoneTexte 19"/>
          <p:cNvSpPr txBox="1">
            <a:spLocks noChangeArrowheads="1"/>
          </p:cNvSpPr>
          <p:nvPr/>
        </p:nvSpPr>
        <p:spPr bwMode="auto">
          <a:xfrm>
            <a:off x="8942271" y="2393950"/>
            <a:ext cx="647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cs typeface="Arial" panose="020B0604020202020204" pitchFamily="34" charset="0"/>
              </a:rPr>
              <a:t>0,5 m.</a:t>
            </a:r>
          </a:p>
        </p:txBody>
      </p:sp>
      <p:sp>
        <p:nvSpPr>
          <p:cNvPr id="158818" name="ZoneTexte 25"/>
          <p:cNvSpPr txBox="1">
            <a:spLocks noChangeArrowheads="1"/>
          </p:cNvSpPr>
          <p:nvPr/>
        </p:nvSpPr>
        <p:spPr bwMode="auto">
          <a:xfrm>
            <a:off x="1252538" y="598488"/>
            <a:ext cx="1784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1800" dirty="0">
                <a:latin typeface="Calibri" panose="020F0502020204030204" pitchFamily="34" charset="0"/>
                <a:cs typeface="Arial" panose="020B0604020202020204" pitchFamily="34" charset="0"/>
              </a:rPr>
              <a:t>Écart de performance</a:t>
            </a:r>
          </a:p>
        </p:txBody>
      </p:sp>
      <p:sp>
        <p:nvSpPr>
          <p:cNvPr id="27" name="Hexagone 26"/>
          <p:cNvSpPr/>
          <p:nvPr/>
        </p:nvSpPr>
        <p:spPr>
          <a:xfrm>
            <a:off x="3162300" y="639763"/>
            <a:ext cx="1192213" cy="590550"/>
          </a:xfrm>
          <a:prstGeom prst="hexagon">
            <a:avLst>
              <a:gd name="adj" fmla="val 14247"/>
              <a:gd name="vf" fmla="val 115470"/>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58820" name="ZoneTexte 27"/>
          <p:cNvSpPr txBox="1">
            <a:spLocks noChangeArrowheads="1"/>
          </p:cNvSpPr>
          <p:nvPr/>
        </p:nvSpPr>
        <p:spPr bwMode="auto">
          <a:xfrm>
            <a:off x="3278948" y="766763"/>
            <a:ext cx="958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6,4 min.</a:t>
            </a:r>
          </a:p>
        </p:txBody>
      </p:sp>
      <p:sp>
        <p:nvSpPr>
          <p:cNvPr id="29" name="Légende encadrée 1 28"/>
          <p:cNvSpPr/>
          <p:nvPr/>
        </p:nvSpPr>
        <p:spPr bwMode="auto">
          <a:xfrm>
            <a:off x="234950" y="2679700"/>
            <a:ext cx="2508250" cy="1790700"/>
          </a:xfrm>
          <a:prstGeom prst="borderCallout1">
            <a:avLst>
              <a:gd name="adj1" fmla="val -3573"/>
              <a:gd name="adj2" fmla="val 52304"/>
              <a:gd name="adj3" fmla="val -78721"/>
              <a:gd name="adj4" fmla="val 129262"/>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800" kern="0" dirty="0">
                <a:solidFill>
                  <a:srgbClr val="000000"/>
                </a:solidFill>
                <a:latin typeface="Calibri" panose="020F0502020204030204" pitchFamily="34" charset="0"/>
                <a:cs typeface="Arial" pitchFamily="34" charset="0"/>
              </a:rPr>
              <a:t>Répartissez l’écart de performance en fonction des </a:t>
            </a:r>
            <a:r>
              <a:rPr lang="fr-FR" sz="2000" b="1" kern="0" dirty="0">
                <a:solidFill>
                  <a:srgbClr val="000000"/>
                </a:solidFill>
                <a:latin typeface="Calibri" panose="020F0502020204030204" pitchFamily="34" charset="0"/>
                <a:cs typeface="Arial" pitchFamily="34" charset="0"/>
              </a:rPr>
              <a:t>% </a:t>
            </a:r>
            <a:r>
              <a:rPr lang="fr-FR" sz="1800" kern="0" dirty="0">
                <a:solidFill>
                  <a:srgbClr val="000000"/>
                </a:solidFill>
                <a:latin typeface="Calibri" panose="020F0502020204030204" pitchFamily="34" charset="0"/>
                <a:cs typeface="Arial" pitchFamily="34" charset="0"/>
              </a:rPr>
              <a:t>et positionnez le résultat dans la </a:t>
            </a:r>
            <a:r>
              <a:rPr lang="fr-FR" sz="1800" kern="0" dirty="0">
                <a:solidFill>
                  <a:srgbClr val="FF0000"/>
                </a:solidFill>
                <a:latin typeface="Calibri" panose="020F0502020204030204" pitchFamily="34" charset="0"/>
                <a:cs typeface="Arial" pitchFamily="34" charset="0"/>
              </a:rPr>
              <a:t>colonne</a:t>
            </a:r>
            <a:r>
              <a:rPr lang="fr-FR" sz="1800" kern="0" dirty="0">
                <a:solidFill>
                  <a:srgbClr val="000000"/>
                </a:solidFill>
                <a:latin typeface="Calibri" panose="020F0502020204030204" pitchFamily="34" charset="0"/>
                <a:cs typeface="Arial" pitchFamily="34" charset="0"/>
              </a:rPr>
              <a:t> appropriée</a:t>
            </a:r>
            <a:endParaRPr lang="fr-FR" sz="1800" kern="0" dirty="0">
              <a:solidFill>
                <a:srgbClr val="FF0000"/>
              </a:solidFill>
              <a:latin typeface="Calibri" panose="020F0502020204030204" pitchFamily="34" charset="0"/>
              <a:cs typeface="Arial" pitchFamily="34" charset="0"/>
            </a:endParaRPr>
          </a:p>
        </p:txBody>
      </p:sp>
      <p:sp>
        <p:nvSpPr>
          <p:cNvPr id="30" name="Ellipse 29"/>
          <p:cNvSpPr>
            <a:spLocks noChangeArrowheads="1"/>
          </p:cNvSpPr>
          <p:nvPr/>
        </p:nvSpPr>
        <p:spPr bwMode="auto">
          <a:xfrm>
            <a:off x="5778500" y="1397000"/>
            <a:ext cx="863600" cy="4762500"/>
          </a:xfrm>
          <a:prstGeom prst="ellipse">
            <a:avLst/>
          </a:prstGeom>
          <a:noFill/>
          <a:ln w="9525"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58823"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1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19"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72</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2" grpId="0"/>
      <p:bldP spid="13" grpId="0"/>
      <p:bldP spid="20" grpId="0"/>
      <p:bldP spid="29" grpId="0" animBg="1"/>
      <p:bldP spid="30"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0770" name="Titre 1"/>
          <p:cNvSpPr>
            <a:spLocks noGrp="1"/>
          </p:cNvSpPr>
          <p:nvPr>
            <p:ph type="title"/>
          </p:nvPr>
        </p:nvSpPr>
        <p:spPr/>
        <p:txBody>
          <a:bodyPr/>
          <a:lstStyle/>
          <a:p>
            <a:r>
              <a:rPr lang="fr-FR" altLang="fr-FR"/>
              <a:t>L'équipe PRODUCTIVITÉ (4/4)</a:t>
            </a:r>
          </a:p>
        </p:txBody>
      </p:sp>
      <p:grpSp>
        <p:nvGrpSpPr>
          <p:cNvPr id="160772" name="Groupe 16"/>
          <p:cNvGrpSpPr>
            <a:grpSpLocks/>
          </p:cNvGrpSpPr>
          <p:nvPr/>
        </p:nvGrpSpPr>
        <p:grpSpPr bwMode="auto">
          <a:xfrm>
            <a:off x="385782" y="2476499"/>
            <a:ext cx="4249670" cy="628807"/>
            <a:chOff x="230214" y="13590384"/>
            <a:chExt cx="4250069" cy="718206"/>
          </a:xfrm>
        </p:grpSpPr>
        <p:sp>
          <p:nvSpPr>
            <p:cNvPr id="160909" name="ZoneTexte 117"/>
            <p:cNvSpPr txBox="1">
              <a:spLocks noChangeArrowheads="1"/>
            </p:cNvSpPr>
            <p:nvPr/>
          </p:nvSpPr>
          <p:spPr bwMode="auto">
            <a:xfrm>
              <a:off x="1533121" y="14044940"/>
              <a:ext cx="242397" cy="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160910" name="ZoneTexte 118"/>
            <p:cNvSpPr txBox="1">
              <a:spLocks noChangeArrowheads="1"/>
            </p:cNvSpPr>
            <p:nvPr/>
          </p:nvSpPr>
          <p:spPr bwMode="auto">
            <a:xfrm>
              <a:off x="2835174" y="14044940"/>
              <a:ext cx="300110" cy="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160911" name="ZoneTexte 119"/>
            <p:cNvSpPr txBox="1">
              <a:spLocks noChangeArrowheads="1"/>
            </p:cNvSpPr>
            <p:nvPr/>
          </p:nvSpPr>
          <p:spPr bwMode="auto">
            <a:xfrm>
              <a:off x="4180173" y="14044940"/>
              <a:ext cx="300110" cy="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22" name="Rectangle 21"/>
            <p:cNvSpPr/>
            <p:nvPr/>
          </p:nvSpPr>
          <p:spPr bwMode="auto">
            <a:xfrm>
              <a:off x="319104" y="13592197"/>
              <a:ext cx="4050092" cy="49681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cs typeface="Arial" pitchFamily="34" charset="0"/>
              </a:endParaRPr>
            </a:p>
          </p:txBody>
        </p:sp>
        <p:cxnSp>
          <p:nvCxnSpPr>
            <p:cNvPr id="23" name="Connecteur droit 22"/>
            <p:cNvCxnSpPr/>
            <p:nvPr/>
          </p:nvCxnSpPr>
          <p:spPr bwMode="auto">
            <a:xfrm rot="5400000">
              <a:off x="323131"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bwMode="auto">
            <a:xfrm rot="5400000">
              <a:off x="591444"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bwMode="auto">
            <a:xfrm rot="5400000">
              <a:off x="858169"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necteur droit 30"/>
            <p:cNvCxnSpPr/>
            <p:nvPr/>
          </p:nvCxnSpPr>
          <p:spPr bwMode="auto">
            <a:xfrm rot="5400000">
              <a:off x="1128069"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bwMode="auto">
            <a:xfrm rot="5400000">
              <a:off x="1397970" y="13838792"/>
              <a:ext cx="4968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bwMode="auto">
            <a:xfrm rot="5400000">
              <a:off x="1666282"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bwMode="auto">
            <a:xfrm rot="5400000">
              <a:off x="1936182"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bwMode="auto">
            <a:xfrm rot="5400000">
              <a:off x="2206082"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bwMode="auto">
            <a:xfrm rot="5400000">
              <a:off x="2472808"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bwMode="auto">
            <a:xfrm rot="5400000">
              <a:off x="2741121" y="13838792"/>
              <a:ext cx="4968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p:nvCxnSpPr>
          <p:spPr bwMode="auto">
            <a:xfrm rot="5400000">
              <a:off x="3011021"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bwMode="auto">
            <a:xfrm rot="5400000">
              <a:off x="3280921"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bwMode="auto">
            <a:xfrm rot="5400000">
              <a:off x="3550822"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bwMode="auto">
            <a:xfrm rot="5400000">
              <a:off x="3819134" y="13838792"/>
              <a:ext cx="4968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60927" name="ZoneTexte 117"/>
            <p:cNvSpPr txBox="1">
              <a:spLocks noChangeArrowheads="1"/>
            </p:cNvSpPr>
            <p:nvPr/>
          </p:nvSpPr>
          <p:spPr bwMode="auto">
            <a:xfrm>
              <a:off x="230214" y="14044940"/>
              <a:ext cx="242397" cy="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grpSp>
      <p:graphicFrame>
        <p:nvGraphicFramePr>
          <p:cNvPr id="44" name="Tableau 43"/>
          <p:cNvGraphicFramePr>
            <a:graphicFrameLocks noGrp="1"/>
          </p:cNvGraphicFramePr>
          <p:nvPr/>
        </p:nvGraphicFramePr>
        <p:xfrm>
          <a:off x="652463" y="541338"/>
          <a:ext cx="8607426" cy="879475"/>
        </p:xfrm>
        <a:graphic>
          <a:graphicData uri="http://schemas.openxmlformats.org/drawingml/2006/table">
            <a:tbl>
              <a:tblPr/>
              <a:tblGrid>
                <a:gridCol w="2851227">
                  <a:extLst>
                    <a:ext uri="{9D8B030D-6E8A-4147-A177-3AD203B41FA5}">
                      <a16:colId xmlns:a16="http://schemas.microsoft.com/office/drawing/2014/main" val="20000"/>
                    </a:ext>
                  </a:extLst>
                </a:gridCol>
                <a:gridCol w="1835331">
                  <a:extLst>
                    <a:ext uri="{9D8B030D-6E8A-4147-A177-3AD203B41FA5}">
                      <a16:colId xmlns:a16="http://schemas.microsoft.com/office/drawing/2014/main" val="20001"/>
                    </a:ext>
                  </a:extLst>
                </a:gridCol>
                <a:gridCol w="570758">
                  <a:extLst>
                    <a:ext uri="{9D8B030D-6E8A-4147-A177-3AD203B41FA5}">
                      <a16:colId xmlns:a16="http://schemas.microsoft.com/office/drawing/2014/main" val="20002"/>
                    </a:ext>
                  </a:extLst>
                </a:gridCol>
                <a:gridCol w="512942">
                  <a:extLst>
                    <a:ext uri="{9D8B030D-6E8A-4147-A177-3AD203B41FA5}">
                      <a16:colId xmlns:a16="http://schemas.microsoft.com/office/drawing/2014/main" val="20003"/>
                    </a:ext>
                  </a:extLst>
                </a:gridCol>
                <a:gridCol w="512942">
                  <a:extLst>
                    <a:ext uri="{9D8B030D-6E8A-4147-A177-3AD203B41FA5}">
                      <a16:colId xmlns:a16="http://schemas.microsoft.com/office/drawing/2014/main" val="20004"/>
                    </a:ext>
                  </a:extLst>
                </a:gridCol>
                <a:gridCol w="512942">
                  <a:extLst>
                    <a:ext uri="{9D8B030D-6E8A-4147-A177-3AD203B41FA5}">
                      <a16:colId xmlns:a16="http://schemas.microsoft.com/office/drawing/2014/main" val="20005"/>
                    </a:ext>
                  </a:extLst>
                </a:gridCol>
                <a:gridCol w="664594">
                  <a:extLst>
                    <a:ext uri="{9D8B030D-6E8A-4147-A177-3AD203B41FA5}">
                      <a16:colId xmlns:a16="http://schemas.microsoft.com/office/drawing/2014/main" val="20006"/>
                    </a:ext>
                  </a:extLst>
                </a:gridCol>
                <a:gridCol w="566088">
                  <a:extLst>
                    <a:ext uri="{9D8B030D-6E8A-4147-A177-3AD203B41FA5}">
                      <a16:colId xmlns:a16="http://schemas.microsoft.com/office/drawing/2014/main" val="20007"/>
                    </a:ext>
                  </a:extLst>
                </a:gridCol>
                <a:gridCol w="580602">
                  <a:extLst>
                    <a:ext uri="{9D8B030D-6E8A-4147-A177-3AD203B41FA5}">
                      <a16:colId xmlns:a16="http://schemas.microsoft.com/office/drawing/2014/main" val="20008"/>
                    </a:ext>
                  </a:extLst>
                </a:gridCol>
              </a:tblGrid>
              <a:tr h="464078">
                <a:tc>
                  <a:txBody>
                    <a:bodyPr/>
                    <a:lstStyle/>
                    <a:p>
                      <a:pPr algn="r" rtl="0" fontAlgn="ctr"/>
                      <a:endParaRPr lang="fr-FR" sz="1400" b="0" i="0" u="none" strike="noStrike" dirty="0">
                        <a:solidFill>
                          <a:srgbClr val="000000"/>
                        </a:solidFill>
                        <a:latin typeface="Calibri" panose="020F0502020204030204" pitchFamily="34" charset="0"/>
                        <a:cs typeface="Arial" pitchFamily="34" charset="0"/>
                      </a:endParaRPr>
                    </a:p>
                  </a:txBody>
                  <a:tcPr marL="13412" marR="120705" marT="1340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fr-FR" sz="1400" b="0" i="0" u="none" strike="noStrike" dirty="0">
                        <a:solidFill>
                          <a:srgbClr val="000000"/>
                        </a:solidFill>
                        <a:latin typeface="Calibri" panose="020F0502020204030204" pitchFamily="34" charset="0"/>
                        <a:cs typeface="Arial" pitchFamily="34" charset="0"/>
                      </a:endParaRPr>
                    </a:p>
                  </a:txBody>
                  <a:tcPr marL="13412" marR="120705" marT="13407"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VA</a:t>
                      </a:r>
                    </a:p>
                  </a:txBody>
                  <a:tcPr marL="13412" marR="13412" marT="134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FF8F"/>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Att.</a:t>
                      </a:r>
                    </a:p>
                  </a:txBody>
                  <a:tcPr marL="13412" marR="13412" marT="134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fr-FR" sz="1400" b="1" i="0" u="none" strike="noStrike" dirty="0" err="1">
                          <a:solidFill>
                            <a:schemeClr val="bg1"/>
                          </a:solidFill>
                          <a:latin typeface="Calibri" panose="020F0502020204030204" pitchFamily="34" charset="0"/>
                          <a:cs typeface="Arial" pitchFamily="34" charset="0"/>
                        </a:rPr>
                        <a:t>Tran</a:t>
                      </a:r>
                      <a:r>
                        <a:rPr lang="fr-FR" sz="1400" b="1" i="0" u="none" strike="noStrike" dirty="0">
                          <a:solidFill>
                            <a:schemeClr val="bg1"/>
                          </a:solidFill>
                          <a:latin typeface="Calibri" panose="020F0502020204030204" pitchFamily="34" charset="0"/>
                          <a:cs typeface="Arial" pitchFamily="34" charset="0"/>
                        </a:rPr>
                        <a:t>.</a:t>
                      </a:r>
                    </a:p>
                  </a:txBody>
                  <a:tcPr marL="13412" marR="13412" marT="13407"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A000"/>
                    </a:solidFill>
                  </a:tcPr>
                </a:tc>
                <a:tc>
                  <a:txBody>
                    <a:bodyPr/>
                    <a:lstStyle/>
                    <a:p>
                      <a:pPr algn="ctr" fontAlgn="b"/>
                      <a:r>
                        <a:rPr lang="fr-FR" sz="1400" b="1" i="0" u="none" strike="noStrike" dirty="0">
                          <a:solidFill>
                            <a:schemeClr val="bg1"/>
                          </a:solidFill>
                          <a:latin typeface="Calibri" panose="020F0502020204030204" pitchFamily="34" charset="0"/>
                          <a:cs typeface="Arial" pitchFamily="34" charset="0"/>
                        </a:rPr>
                        <a:t>R&amp;R</a:t>
                      </a: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Sup.</a:t>
                      </a: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Sur.</a:t>
                      </a: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CFA"/>
                    </a:solidFill>
                  </a:tcPr>
                </a:tc>
                <a:extLst>
                  <a:ext uri="{0D108BD9-81ED-4DB2-BD59-A6C34878D82A}">
                    <a16:rowId xmlns:a16="http://schemas.microsoft.com/office/drawing/2014/main" val="10000"/>
                  </a:ext>
                </a:extLst>
              </a:tr>
              <a:tr h="415397">
                <a:tc gridSpan="3">
                  <a:txBody>
                    <a:bodyPr/>
                    <a:lstStyle/>
                    <a:p>
                      <a:pPr algn="r" rtl="0" fontAlgn="ctr"/>
                      <a:r>
                        <a:rPr lang="fr-FR" sz="1800" b="0" i="0" u="none" strike="noStrike" dirty="0">
                          <a:solidFill>
                            <a:srgbClr val="000000"/>
                          </a:solidFill>
                          <a:latin typeface="Calibri" panose="020F0502020204030204" pitchFamily="34" charset="0"/>
                          <a:cs typeface="Arial" pitchFamily="34" charset="0"/>
                        </a:rPr>
                        <a:t>Temps perdu à faire des produits </a:t>
                      </a:r>
                      <a:r>
                        <a:rPr lang="fr-FR" sz="1800" b="1" i="0" u="none" strike="noStrike" dirty="0">
                          <a:solidFill>
                            <a:srgbClr val="FF0000"/>
                          </a:solidFill>
                          <a:latin typeface="Calibri" panose="020F0502020204030204" pitchFamily="34" charset="0"/>
                          <a:cs typeface="Arial" pitchFamily="34" charset="0"/>
                        </a:rPr>
                        <a:t>non conformes</a:t>
                      </a:r>
                    </a:p>
                  </a:txBody>
                  <a:tcPr marL="13412" marR="120705" marT="13407"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r" rtl="0" fontAlgn="ctr"/>
                      <a:endParaRPr lang="fr-FR" sz="1400" b="0" i="0" u="none" strike="noStrike" dirty="0">
                        <a:solidFill>
                          <a:srgbClr val="000000"/>
                        </a:solidFill>
                        <a:latin typeface="Arial" pitchFamily="34" charset="0"/>
                        <a:cs typeface="Arial" pitchFamily="34" charset="0"/>
                      </a:endParaRPr>
                    </a:p>
                  </a:txBody>
                  <a:tcPr marL="13411" marR="120698" marT="134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pPr algn="ctr" fontAlgn="b"/>
                      <a:endParaRPr lang="fr-FR" sz="1400" b="0" i="0" u="none" strike="noStrike" dirty="0">
                        <a:solidFill>
                          <a:srgbClr val="000000"/>
                        </a:solidFill>
                        <a:latin typeface="Arial" pitchFamily="34" charset="0"/>
                        <a:cs typeface="Arial" pitchFamily="34" charset="0"/>
                      </a:endParaRPr>
                    </a:p>
                  </a:txBody>
                  <a:tcPr marL="13411" marR="13411" marT="1341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2" marR="13412" marT="134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45" name="Tableau 44"/>
          <p:cNvGraphicFramePr>
            <a:graphicFrameLocks noGrp="1"/>
          </p:cNvGraphicFramePr>
          <p:nvPr/>
        </p:nvGraphicFramePr>
        <p:xfrm>
          <a:off x="769938" y="3113088"/>
          <a:ext cx="7604125" cy="1212849"/>
        </p:xfrm>
        <a:graphic>
          <a:graphicData uri="http://schemas.openxmlformats.org/drawingml/2006/table">
            <a:tbl>
              <a:tblPr/>
              <a:tblGrid>
                <a:gridCol w="3047455">
                  <a:extLst>
                    <a:ext uri="{9D8B030D-6E8A-4147-A177-3AD203B41FA5}">
                      <a16:colId xmlns:a16="http://schemas.microsoft.com/office/drawing/2014/main" val="20000"/>
                    </a:ext>
                  </a:extLst>
                </a:gridCol>
                <a:gridCol w="759445">
                  <a:extLst>
                    <a:ext uri="{9D8B030D-6E8A-4147-A177-3AD203B41FA5}">
                      <a16:colId xmlns:a16="http://schemas.microsoft.com/office/drawing/2014/main" val="20001"/>
                    </a:ext>
                  </a:extLst>
                </a:gridCol>
                <a:gridCol w="759445">
                  <a:extLst>
                    <a:ext uri="{9D8B030D-6E8A-4147-A177-3AD203B41FA5}">
                      <a16:colId xmlns:a16="http://schemas.microsoft.com/office/drawing/2014/main" val="20002"/>
                    </a:ext>
                  </a:extLst>
                </a:gridCol>
                <a:gridCol w="759445">
                  <a:extLst>
                    <a:ext uri="{9D8B030D-6E8A-4147-A177-3AD203B41FA5}">
                      <a16:colId xmlns:a16="http://schemas.microsoft.com/office/drawing/2014/main" val="20003"/>
                    </a:ext>
                  </a:extLst>
                </a:gridCol>
                <a:gridCol w="759445">
                  <a:extLst>
                    <a:ext uri="{9D8B030D-6E8A-4147-A177-3AD203B41FA5}">
                      <a16:colId xmlns:a16="http://schemas.microsoft.com/office/drawing/2014/main" val="20004"/>
                    </a:ext>
                  </a:extLst>
                </a:gridCol>
                <a:gridCol w="759445">
                  <a:extLst>
                    <a:ext uri="{9D8B030D-6E8A-4147-A177-3AD203B41FA5}">
                      <a16:colId xmlns:a16="http://schemas.microsoft.com/office/drawing/2014/main" val="20005"/>
                    </a:ext>
                  </a:extLst>
                </a:gridCol>
                <a:gridCol w="759445">
                  <a:extLst>
                    <a:ext uri="{9D8B030D-6E8A-4147-A177-3AD203B41FA5}">
                      <a16:colId xmlns:a16="http://schemas.microsoft.com/office/drawing/2014/main" val="20006"/>
                    </a:ext>
                  </a:extLst>
                </a:gridCol>
              </a:tblGrid>
              <a:tr h="411517">
                <a:tc>
                  <a:txBody>
                    <a:bodyPr/>
                    <a:lstStyle/>
                    <a:p>
                      <a:pPr algn="r" rtl="0" fontAlgn="ctr"/>
                      <a:endParaRPr lang="fr-FR" sz="1400" b="0" i="0" u="none" strike="noStrike" dirty="0">
                        <a:solidFill>
                          <a:srgbClr val="000000"/>
                        </a:solidFill>
                        <a:latin typeface="Calibri" panose="020F0502020204030204" pitchFamily="34" charset="0"/>
                        <a:cs typeface="Arial" pitchFamily="34" charset="0"/>
                      </a:endParaRPr>
                    </a:p>
                  </a:txBody>
                  <a:tcPr marL="13409" marR="120676" marT="13405"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VA</a:t>
                      </a:r>
                    </a:p>
                  </a:txBody>
                  <a:tcPr marL="13409" marR="13409"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FF8F"/>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Att.</a:t>
                      </a:r>
                    </a:p>
                  </a:txBody>
                  <a:tcPr marL="13409" marR="13409"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fr-FR" sz="1400" b="1" i="0" u="none" strike="noStrike" dirty="0" err="1">
                          <a:solidFill>
                            <a:schemeClr val="bg1"/>
                          </a:solidFill>
                          <a:latin typeface="Calibri" panose="020F0502020204030204" pitchFamily="34" charset="0"/>
                          <a:cs typeface="Arial" pitchFamily="34" charset="0"/>
                        </a:rPr>
                        <a:t>Tran</a:t>
                      </a:r>
                      <a:r>
                        <a:rPr lang="fr-FR" sz="1400" b="1" i="0" u="none" strike="noStrike" dirty="0">
                          <a:solidFill>
                            <a:schemeClr val="bg1"/>
                          </a:solidFill>
                          <a:latin typeface="Calibri" panose="020F0502020204030204" pitchFamily="34" charset="0"/>
                          <a:cs typeface="Arial" pitchFamily="34" charset="0"/>
                        </a:rPr>
                        <a:t>.</a:t>
                      </a:r>
                    </a:p>
                  </a:txBody>
                  <a:tcPr marL="13409" marR="13409" marT="134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A000"/>
                    </a:solidFill>
                  </a:tcPr>
                </a:tc>
                <a:tc>
                  <a:txBody>
                    <a:bodyPr/>
                    <a:lstStyle/>
                    <a:p>
                      <a:pPr algn="ctr" fontAlgn="b"/>
                      <a:r>
                        <a:rPr lang="fr-FR" sz="1400" b="1" i="0" u="none" strike="noStrike" dirty="0">
                          <a:solidFill>
                            <a:schemeClr val="bg1"/>
                          </a:solidFill>
                          <a:latin typeface="Calibri" panose="020F0502020204030204" pitchFamily="34" charset="0"/>
                          <a:cs typeface="Arial" pitchFamily="34" charset="0"/>
                        </a:rPr>
                        <a:t>R&amp;R</a:t>
                      </a: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FR" sz="1400" b="0" i="0" u="none" strike="noStrike" dirty="0" err="1">
                          <a:solidFill>
                            <a:srgbClr val="000000"/>
                          </a:solidFill>
                          <a:latin typeface="Calibri" panose="020F0502020204030204" pitchFamily="34" charset="0"/>
                          <a:cs typeface="Arial" pitchFamily="34" charset="0"/>
                        </a:rPr>
                        <a:t>SupN</a:t>
                      </a:r>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400" b="0" i="0" u="none" strike="noStrike" dirty="0">
                          <a:solidFill>
                            <a:srgbClr val="000000"/>
                          </a:solidFill>
                          <a:latin typeface="Calibri" panose="020F0502020204030204" pitchFamily="34" charset="0"/>
                          <a:cs typeface="Arial" pitchFamily="34" charset="0"/>
                        </a:rPr>
                        <a:t>Sur.</a:t>
                      </a: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CFA"/>
                    </a:solidFill>
                  </a:tcPr>
                </a:tc>
                <a:extLst>
                  <a:ext uri="{0D108BD9-81ED-4DB2-BD59-A6C34878D82A}">
                    <a16:rowId xmlns:a16="http://schemas.microsoft.com/office/drawing/2014/main" val="10000"/>
                  </a:ext>
                </a:extLst>
              </a:tr>
              <a:tr h="411517">
                <a:tc>
                  <a:txBody>
                    <a:bodyPr/>
                    <a:lstStyle/>
                    <a:p>
                      <a:pPr marL="0" marR="0" indent="0" algn="r" defTabSz="2026094" rtl="0" eaLnBrk="1" fontAlgn="ctr" latinLnBrk="0" hangingPunct="1">
                        <a:lnSpc>
                          <a:spcPct val="100000"/>
                        </a:lnSpc>
                        <a:spcBef>
                          <a:spcPts val="0"/>
                        </a:spcBef>
                        <a:spcAft>
                          <a:spcPts val="0"/>
                        </a:spcAft>
                        <a:buClrTx/>
                        <a:buSzTx/>
                        <a:buFontTx/>
                        <a:buNone/>
                        <a:tabLst/>
                        <a:defRPr/>
                      </a:pPr>
                      <a:r>
                        <a:rPr lang="fr-FR" sz="1800" b="0" i="0" u="none" strike="noStrike" baseline="0" dirty="0">
                          <a:solidFill>
                            <a:schemeClr val="tx1"/>
                          </a:solidFill>
                          <a:latin typeface="Calibri" panose="020F0502020204030204" pitchFamily="34" charset="0"/>
                          <a:cs typeface="Arial" pitchFamily="34" charset="0"/>
                        </a:rPr>
                        <a:t>Répartition des temps (total)</a:t>
                      </a:r>
                      <a:endParaRPr lang="fr-FR" sz="1800" b="0" i="0" u="none" strike="noStrike" dirty="0">
                        <a:solidFill>
                          <a:schemeClr val="tx1"/>
                        </a:solidFill>
                        <a:latin typeface="Calibri" panose="020F0502020204030204" pitchFamily="34" charset="0"/>
                        <a:cs typeface="Arial" pitchFamily="34" charset="0"/>
                      </a:endParaRPr>
                    </a:p>
                  </a:txBody>
                  <a:tcPr marL="13409" marR="120676"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1" i="0" u="none" strike="noStrike" dirty="0">
                        <a:solidFill>
                          <a:schemeClr val="bg1"/>
                        </a:solidFill>
                        <a:latin typeface="Calibri" panose="020F0502020204030204" pitchFamily="34" charset="0"/>
                        <a:cs typeface="Arial" pitchFamily="34" charset="0"/>
                      </a:endParaRPr>
                    </a:p>
                  </a:txBody>
                  <a:tcPr marL="13409" marR="13409" marT="134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1" i="0" u="none" strike="noStrike" dirty="0">
                        <a:solidFill>
                          <a:schemeClr val="bg1"/>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9815">
                <a:tc>
                  <a:txBody>
                    <a:bodyPr/>
                    <a:lstStyle/>
                    <a:p>
                      <a:pPr algn="r" rtl="0" fontAlgn="ctr"/>
                      <a:r>
                        <a:rPr lang="fr-FR" sz="1800" b="0" i="0" u="none" strike="noStrike" baseline="0" dirty="0">
                          <a:solidFill>
                            <a:schemeClr val="tx1"/>
                          </a:solidFill>
                          <a:latin typeface="Calibri" panose="020F0502020204030204" pitchFamily="34" charset="0"/>
                          <a:cs typeface="Arial" pitchFamily="34" charset="0"/>
                        </a:rPr>
                        <a:t>% du temps d’ouverture</a:t>
                      </a:r>
                      <a:endParaRPr lang="fr-FR" sz="1800" b="0" i="0" u="none" strike="noStrike" dirty="0">
                        <a:solidFill>
                          <a:schemeClr val="tx1"/>
                        </a:solidFill>
                        <a:latin typeface="Calibri" panose="020F0502020204030204" pitchFamily="34" charset="0"/>
                        <a:cs typeface="Arial" pitchFamily="34" charset="0"/>
                      </a:endParaRPr>
                    </a:p>
                  </a:txBody>
                  <a:tcPr marL="13409" marR="120676"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09" marR="13409" marT="13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6" name="ZoneTexte 45"/>
          <p:cNvSpPr txBox="1">
            <a:spLocks noChangeArrowheads="1"/>
          </p:cNvSpPr>
          <p:nvPr/>
        </p:nvSpPr>
        <p:spPr bwMode="auto">
          <a:xfrm>
            <a:off x="7416841" y="1052513"/>
            <a:ext cx="779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0,9 m.</a:t>
            </a:r>
          </a:p>
        </p:txBody>
      </p:sp>
      <p:sp>
        <p:nvSpPr>
          <p:cNvPr id="47" name="ZoneTexte 46"/>
          <p:cNvSpPr txBox="1">
            <a:spLocks noChangeArrowheads="1"/>
          </p:cNvSpPr>
          <p:nvPr/>
        </p:nvSpPr>
        <p:spPr bwMode="auto">
          <a:xfrm>
            <a:off x="3893384" y="3581400"/>
            <a:ext cx="7793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3,4 m.</a:t>
            </a:r>
          </a:p>
        </p:txBody>
      </p:sp>
      <p:sp>
        <p:nvSpPr>
          <p:cNvPr id="48" name="ZoneTexte 47"/>
          <p:cNvSpPr txBox="1">
            <a:spLocks noChangeArrowheads="1"/>
          </p:cNvSpPr>
          <p:nvPr/>
        </p:nvSpPr>
        <p:spPr bwMode="auto">
          <a:xfrm>
            <a:off x="4641891" y="3581400"/>
            <a:ext cx="779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5,1 m.</a:t>
            </a:r>
          </a:p>
        </p:txBody>
      </p:sp>
      <p:sp>
        <p:nvSpPr>
          <p:cNvPr id="49" name="ZoneTexte 48"/>
          <p:cNvSpPr txBox="1">
            <a:spLocks noChangeArrowheads="1"/>
          </p:cNvSpPr>
          <p:nvPr/>
        </p:nvSpPr>
        <p:spPr bwMode="auto">
          <a:xfrm>
            <a:off x="5377159" y="3581400"/>
            <a:ext cx="7264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5,1m.</a:t>
            </a:r>
          </a:p>
        </p:txBody>
      </p:sp>
      <p:sp>
        <p:nvSpPr>
          <p:cNvPr id="50" name="ZoneTexte 49"/>
          <p:cNvSpPr txBox="1">
            <a:spLocks noChangeArrowheads="1"/>
          </p:cNvSpPr>
          <p:nvPr/>
        </p:nvSpPr>
        <p:spPr bwMode="auto">
          <a:xfrm>
            <a:off x="6149222" y="3581400"/>
            <a:ext cx="7793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3,1 m.</a:t>
            </a:r>
          </a:p>
        </p:txBody>
      </p:sp>
      <p:sp>
        <p:nvSpPr>
          <p:cNvPr id="51" name="ZoneTexte 50"/>
          <p:cNvSpPr txBox="1">
            <a:spLocks noChangeArrowheads="1"/>
          </p:cNvSpPr>
          <p:nvPr/>
        </p:nvSpPr>
        <p:spPr bwMode="auto">
          <a:xfrm>
            <a:off x="6907254" y="3581400"/>
            <a:ext cx="779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0,7 m.</a:t>
            </a:r>
          </a:p>
        </p:txBody>
      </p:sp>
      <p:sp>
        <p:nvSpPr>
          <p:cNvPr id="52" name="ZoneTexte 51"/>
          <p:cNvSpPr txBox="1">
            <a:spLocks noChangeArrowheads="1"/>
          </p:cNvSpPr>
          <p:nvPr/>
        </p:nvSpPr>
        <p:spPr bwMode="auto">
          <a:xfrm>
            <a:off x="7653379" y="3581400"/>
            <a:ext cx="779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0,8 m.</a:t>
            </a:r>
          </a:p>
        </p:txBody>
      </p:sp>
      <p:sp>
        <p:nvSpPr>
          <p:cNvPr id="53" name="ZoneTexte 52"/>
          <p:cNvSpPr txBox="1">
            <a:spLocks noChangeArrowheads="1"/>
          </p:cNvSpPr>
          <p:nvPr/>
        </p:nvSpPr>
        <p:spPr bwMode="auto">
          <a:xfrm>
            <a:off x="3976071" y="4005263"/>
            <a:ext cx="58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18%</a:t>
            </a:r>
          </a:p>
        </p:txBody>
      </p:sp>
      <p:sp>
        <p:nvSpPr>
          <p:cNvPr id="54" name="ZoneTexte 53"/>
          <p:cNvSpPr txBox="1">
            <a:spLocks noChangeArrowheads="1"/>
          </p:cNvSpPr>
          <p:nvPr/>
        </p:nvSpPr>
        <p:spPr bwMode="auto">
          <a:xfrm>
            <a:off x="4707115" y="4005263"/>
            <a:ext cx="58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28%</a:t>
            </a:r>
          </a:p>
        </p:txBody>
      </p:sp>
      <p:sp>
        <p:nvSpPr>
          <p:cNvPr id="55" name="ZoneTexte 54"/>
          <p:cNvSpPr txBox="1">
            <a:spLocks noChangeArrowheads="1"/>
          </p:cNvSpPr>
          <p:nvPr/>
        </p:nvSpPr>
        <p:spPr bwMode="auto">
          <a:xfrm>
            <a:off x="5554046" y="4005263"/>
            <a:ext cx="58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28%</a:t>
            </a:r>
          </a:p>
        </p:txBody>
      </p:sp>
      <p:sp>
        <p:nvSpPr>
          <p:cNvPr id="56" name="ZoneTexte 55"/>
          <p:cNvSpPr txBox="1">
            <a:spLocks noChangeArrowheads="1"/>
          </p:cNvSpPr>
          <p:nvPr/>
        </p:nvSpPr>
        <p:spPr bwMode="auto">
          <a:xfrm>
            <a:off x="6260484" y="4005263"/>
            <a:ext cx="58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17%</a:t>
            </a:r>
          </a:p>
        </p:txBody>
      </p:sp>
      <p:sp>
        <p:nvSpPr>
          <p:cNvPr id="57" name="ZoneTexte 56"/>
          <p:cNvSpPr txBox="1">
            <a:spLocks noChangeArrowheads="1"/>
          </p:cNvSpPr>
          <p:nvPr/>
        </p:nvSpPr>
        <p:spPr bwMode="auto">
          <a:xfrm>
            <a:off x="7114331" y="4005263"/>
            <a:ext cx="47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4%</a:t>
            </a:r>
          </a:p>
        </p:txBody>
      </p:sp>
      <p:sp>
        <p:nvSpPr>
          <p:cNvPr id="58" name="ZoneTexte 57"/>
          <p:cNvSpPr txBox="1">
            <a:spLocks noChangeArrowheads="1"/>
          </p:cNvSpPr>
          <p:nvPr/>
        </p:nvSpPr>
        <p:spPr bwMode="auto">
          <a:xfrm>
            <a:off x="7839025" y="4005263"/>
            <a:ext cx="47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5%</a:t>
            </a:r>
          </a:p>
        </p:txBody>
      </p:sp>
      <p:sp>
        <p:nvSpPr>
          <p:cNvPr id="160856" name="ZoneTexte 59"/>
          <p:cNvSpPr txBox="1">
            <a:spLocks noChangeArrowheads="1"/>
          </p:cNvSpPr>
          <p:nvPr/>
        </p:nvSpPr>
        <p:spPr bwMode="auto">
          <a:xfrm>
            <a:off x="175486" y="1624013"/>
            <a:ext cx="15159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cs typeface="Arial" panose="020B0604020202020204" pitchFamily="34" charset="0"/>
              </a:rPr>
              <a:t>4. </a:t>
            </a:r>
            <a:r>
              <a:rPr lang="fr-FR" altLang="fr-FR" sz="1800" dirty="0">
                <a:latin typeface="Calibri" panose="020F0502020204030204" pitchFamily="34" charset="0"/>
                <a:cs typeface="Arial" panose="020B0604020202020204" pitchFamily="34" charset="0"/>
              </a:rPr>
              <a:t>Temps utile</a:t>
            </a:r>
          </a:p>
        </p:txBody>
      </p:sp>
      <p:sp>
        <p:nvSpPr>
          <p:cNvPr id="62" name="Rectangle 61"/>
          <p:cNvSpPr/>
          <p:nvPr/>
        </p:nvSpPr>
        <p:spPr>
          <a:xfrm>
            <a:off x="4800600" y="2465388"/>
            <a:ext cx="900113" cy="48577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7" name="Rectangle 66"/>
          <p:cNvSpPr/>
          <p:nvPr/>
        </p:nvSpPr>
        <p:spPr>
          <a:xfrm>
            <a:off x="1779588" y="1565275"/>
            <a:ext cx="1050925" cy="50323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8" name="ZoneTexte 67"/>
          <p:cNvSpPr txBox="1">
            <a:spLocks noChangeArrowheads="1"/>
          </p:cNvSpPr>
          <p:nvPr/>
        </p:nvSpPr>
        <p:spPr bwMode="auto">
          <a:xfrm>
            <a:off x="1817236" y="1587500"/>
            <a:ext cx="10454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cs typeface="Arial" panose="020B0604020202020204" pitchFamily="34" charset="0"/>
              </a:rPr>
              <a:t>3,4 min.</a:t>
            </a:r>
          </a:p>
        </p:txBody>
      </p:sp>
      <p:sp>
        <p:nvSpPr>
          <p:cNvPr id="69" name="ZoneTexte 68"/>
          <p:cNvSpPr txBox="1">
            <a:spLocks noChangeArrowheads="1"/>
          </p:cNvSpPr>
          <p:nvPr/>
        </p:nvSpPr>
        <p:spPr bwMode="auto">
          <a:xfrm>
            <a:off x="5008523" y="2530475"/>
            <a:ext cx="6319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cs typeface="Arial" panose="020B0604020202020204" pitchFamily="34" charset="0"/>
              </a:rPr>
              <a:t>20%</a:t>
            </a:r>
          </a:p>
        </p:txBody>
      </p:sp>
      <p:sp>
        <p:nvSpPr>
          <p:cNvPr id="70" name="Rectangle 69"/>
          <p:cNvSpPr>
            <a:spLocks noChangeArrowheads="1"/>
          </p:cNvSpPr>
          <p:nvPr/>
        </p:nvSpPr>
        <p:spPr bwMode="auto">
          <a:xfrm>
            <a:off x="493713" y="2481263"/>
            <a:ext cx="900112" cy="436562"/>
          </a:xfrm>
          <a:prstGeom prst="rect">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16086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27188" y="5194300"/>
            <a:ext cx="166687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 name="Tableau 70"/>
          <p:cNvGraphicFramePr>
            <a:graphicFrameLocks noGrp="1"/>
          </p:cNvGraphicFramePr>
          <p:nvPr/>
        </p:nvGraphicFramePr>
        <p:xfrm>
          <a:off x="3937000" y="4525963"/>
          <a:ext cx="4637087" cy="2152650"/>
        </p:xfrm>
        <a:graphic>
          <a:graphicData uri="http://schemas.openxmlformats.org/drawingml/2006/table">
            <a:tbl>
              <a:tblPr/>
              <a:tblGrid>
                <a:gridCol w="491916">
                  <a:extLst>
                    <a:ext uri="{9D8B030D-6E8A-4147-A177-3AD203B41FA5}">
                      <a16:colId xmlns:a16="http://schemas.microsoft.com/office/drawing/2014/main" val="20000"/>
                    </a:ext>
                  </a:extLst>
                </a:gridCol>
                <a:gridCol w="462370">
                  <a:extLst>
                    <a:ext uri="{9D8B030D-6E8A-4147-A177-3AD203B41FA5}">
                      <a16:colId xmlns:a16="http://schemas.microsoft.com/office/drawing/2014/main" val="20001"/>
                    </a:ext>
                  </a:extLst>
                </a:gridCol>
                <a:gridCol w="1451648">
                  <a:extLst>
                    <a:ext uri="{9D8B030D-6E8A-4147-A177-3AD203B41FA5}">
                      <a16:colId xmlns:a16="http://schemas.microsoft.com/office/drawing/2014/main" val="20002"/>
                    </a:ext>
                  </a:extLst>
                </a:gridCol>
                <a:gridCol w="1291966">
                  <a:extLst>
                    <a:ext uri="{9D8B030D-6E8A-4147-A177-3AD203B41FA5}">
                      <a16:colId xmlns:a16="http://schemas.microsoft.com/office/drawing/2014/main" val="20003"/>
                    </a:ext>
                  </a:extLst>
                </a:gridCol>
                <a:gridCol w="939187">
                  <a:extLst>
                    <a:ext uri="{9D8B030D-6E8A-4147-A177-3AD203B41FA5}">
                      <a16:colId xmlns:a16="http://schemas.microsoft.com/office/drawing/2014/main" val="20004"/>
                    </a:ext>
                  </a:extLst>
                </a:gridCol>
              </a:tblGrid>
              <a:tr h="545738">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2026094" rtl="0" eaLnBrk="1" fontAlgn="b" latinLnBrk="0" hangingPunct="1">
                        <a:lnSpc>
                          <a:spcPct val="100000"/>
                        </a:lnSpc>
                        <a:spcBef>
                          <a:spcPts val="0"/>
                        </a:spcBef>
                        <a:spcAft>
                          <a:spcPts val="0"/>
                        </a:spcAft>
                        <a:buClrTx/>
                        <a:buSzTx/>
                        <a:buFontTx/>
                        <a:buNone/>
                        <a:tabLst/>
                        <a:defRPr/>
                      </a:pPr>
                      <a:r>
                        <a:rPr lang="fr-FR" sz="1600" b="0" i="0" u="none" strike="noStrike" dirty="0">
                          <a:solidFill>
                            <a:srgbClr val="000000"/>
                          </a:solidFill>
                          <a:latin typeface="Calibri" panose="020F0502020204030204" pitchFamily="34" charset="0"/>
                          <a:cs typeface="Arial" pitchFamily="34" charset="0"/>
                        </a:rPr>
                        <a:t>Productivité actuelle</a:t>
                      </a: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fr-FR" sz="1600" b="0" i="0" u="none" strike="noStrike" dirty="0">
                          <a:solidFill>
                            <a:srgbClr val="000000"/>
                          </a:solidFill>
                          <a:latin typeface="Calibri" panose="020F0502020204030204" pitchFamily="34" charset="0"/>
                          <a:cs typeface="Arial" pitchFamily="34" charset="0"/>
                        </a:rPr>
                        <a:t>Objectif</a:t>
                      </a: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41885">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47607">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2"/>
                  </a:ext>
                </a:extLst>
              </a:tr>
              <a:tr h="366002">
                <a:tc>
                  <a:txBody>
                    <a:bodyPr/>
                    <a:lstStyle/>
                    <a:p>
                      <a:pPr algn="ctr" fontAlgn="b"/>
                      <a:r>
                        <a:rPr lang="fr-FR" sz="1400" b="0" i="0" u="none" strike="noStrike" dirty="0">
                          <a:solidFill>
                            <a:srgbClr val="000000"/>
                          </a:solidFill>
                          <a:latin typeface="Calibri" panose="020F0502020204030204" pitchFamily="34" charset="0"/>
                          <a:cs typeface="Arial" pitchFamily="34" charset="0"/>
                        </a:rPr>
                        <a:t>N°</a:t>
                      </a:r>
                    </a:p>
                  </a:txBody>
                  <a:tcPr marL="13413" marR="13413" marT="13409"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FFFF"/>
                    </a:solidFill>
                  </a:tcPr>
                </a:tc>
                <a:tc gridSpan="4">
                  <a:txBody>
                    <a:bodyPr/>
                    <a:lstStyle/>
                    <a:p>
                      <a:pPr algn="ctr" fontAlgn="b"/>
                      <a:r>
                        <a:rPr lang="fr-FR" sz="1600" b="0" i="0" u="none" strike="noStrike" dirty="0">
                          <a:solidFill>
                            <a:srgbClr val="000000"/>
                          </a:solidFill>
                          <a:latin typeface="Calibri" panose="020F0502020204030204" pitchFamily="34" charset="0"/>
                          <a:cs typeface="Arial" pitchFamily="34" charset="0"/>
                        </a:rPr>
                        <a:t>Propositions d’action</a:t>
                      </a: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1FFFF"/>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3"/>
                  </a:ext>
                </a:extLst>
              </a:tr>
              <a:tr h="325709">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4"/>
                  </a:ext>
                </a:extLst>
              </a:tr>
              <a:tr h="325709">
                <a:tc>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4">
                  <a:txBody>
                    <a:bodyPr/>
                    <a:lstStyle/>
                    <a:p>
                      <a:pPr algn="ctr" fontAlgn="b"/>
                      <a:endParaRPr lang="fr-FR" sz="1400" b="0" i="0" u="none" strike="noStrike" dirty="0">
                        <a:solidFill>
                          <a:srgbClr val="000000"/>
                        </a:solidFill>
                        <a:latin typeface="Calibri" panose="020F0502020204030204" pitchFamily="34" charset="0"/>
                        <a:cs typeface="Arial" pitchFamily="34" charset="0"/>
                      </a:endParaRP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5"/>
                  </a:ext>
                </a:extLst>
              </a:tr>
            </a:tbl>
          </a:graphicData>
        </a:graphic>
      </p:graphicFrame>
      <p:sp>
        <p:nvSpPr>
          <p:cNvPr id="72" name="ZoneTexte 71"/>
          <p:cNvSpPr txBox="1">
            <a:spLocks noChangeArrowheads="1"/>
          </p:cNvSpPr>
          <p:nvPr/>
        </p:nvSpPr>
        <p:spPr bwMode="auto">
          <a:xfrm>
            <a:off x="5164104" y="5092700"/>
            <a:ext cx="958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4,7 min.</a:t>
            </a:r>
          </a:p>
        </p:txBody>
      </p:sp>
      <p:sp>
        <p:nvSpPr>
          <p:cNvPr id="73" name="ZoneTexte 72"/>
          <p:cNvSpPr txBox="1">
            <a:spLocks noChangeArrowheads="1"/>
          </p:cNvSpPr>
          <p:nvPr/>
        </p:nvSpPr>
        <p:spPr bwMode="auto">
          <a:xfrm>
            <a:off x="6565132" y="5092700"/>
            <a:ext cx="7825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2 min.</a:t>
            </a:r>
          </a:p>
        </p:txBody>
      </p:sp>
      <p:sp>
        <p:nvSpPr>
          <p:cNvPr id="74" name="ZoneTexte 73"/>
          <p:cNvSpPr txBox="1">
            <a:spLocks noChangeArrowheads="1"/>
          </p:cNvSpPr>
          <p:nvPr/>
        </p:nvSpPr>
        <p:spPr bwMode="auto">
          <a:xfrm>
            <a:off x="4731444" y="6040438"/>
            <a:ext cx="1136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err="1">
                <a:solidFill>
                  <a:srgbClr val="FF0000"/>
                </a:solidFill>
                <a:latin typeface="Calibri" panose="020F0502020204030204" pitchFamily="34" charset="0"/>
                <a:cs typeface="Arial" panose="020B0604020202020204" pitchFamily="34" charset="0"/>
              </a:rPr>
              <a:t>xxxxxxxxx</a:t>
            </a:r>
            <a:endParaRPr lang="fr-FR" altLang="fr-FR" sz="1800" b="1" dirty="0">
              <a:solidFill>
                <a:srgbClr val="FF0000"/>
              </a:solidFill>
              <a:latin typeface="Calibri" panose="020F0502020204030204" pitchFamily="34" charset="0"/>
              <a:cs typeface="Arial" panose="020B0604020202020204" pitchFamily="34" charset="0"/>
            </a:endParaRPr>
          </a:p>
        </p:txBody>
      </p:sp>
      <p:sp>
        <p:nvSpPr>
          <p:cNvPr id="75" name="ZoneTexte 74"/>
          <p:cNvSpPr txBox="1">
            <a:spLocks noChangeArrowheads="1"/>
          </p:cNvSpPr>
          <p:nvPr/>
        </p:nvSpPr>
        <p:spPr bwMode="auto">
          <a:xfrm>
            <a:off x="4681617" y="6327775"/>
            <a:ext cx="13952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err="1">
                <a:solidFill>
                  <a:srgbClr val="FF0000"/>
                </a:solidFill>
                <a:latin typeface="Calibri" panose="020F0502020204030204" pitchFamily="34" charset="0"/>
                <a:cs typeface="Arial" panose="020B0604020202020204" pitchFamily="34" charset="0"/>
              </a:rPr>
              <a:t>yyyyyyyyyyy</a:t>
            </a:r>
            <a:endParaRPr lang="fr-FR" altLang="fr-FR" sz="1800" b="1" dirty="0">
              <a:solidFill>
                <a:srgbClr val="FF0000"/>
              </a:solidFill>
              <a:latin typeface="Calibri" panose="020F0502020204030204" pitchFamily="34" charset="0"/>
              <a:cs typeface="Arial" panose="020B0604020202020204" pitchFamily="34" charset="0"/>
            </a:endParaRPr>
          </a:p>
        </p:txBody>
      </p:sp>
      <p:sp>
        <p:nvSpPr>
          <p:cNvPr id="76" name="Légende encadrée 1 75"/>
          <p:cNvSpPr/>
          <p:nvPr/>
        </p:nvSpPr>
        <p:spPr bwMode="auto">
          <a:xfrm>
            <a:off x="7416800" y="1828800"/>
            <a:ext cx="1916113" cy="769938"/>
          </a:xfrm>
          <a:prstGeom prst="borderCallout1">
            <a:avLst>
              <a:gd name="adj1" fmla="val -1272"/>
              <a:gd name="adj2" fmla="val 49722"/>
              <a:gd name="adj3" fmla="val -41163"/>
              <a:gd name="adj4" fmla="val 30018"/>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000000"/>
                </a:solidFill>
                <a:latin typeface="Calibri" panose="020F0502020204030204" pitchFamily="34" charset="0"/>
                <a:cs typeface="Arial" pitchFamily="34" charset="0"/>
              </a:rPr>
              <a:t>Nombre de </a:t>
            </a:r>
            <a:r>
              <a:rPr lang="fr-FR" sz="1600" kern="0" dirty="0">
                <a:solidFill>
                  <a:srgbClr val="FF0000"/>
                </a:solidFill>
                <a:latin typeface="Calibri" panose="020F0502020204030204" pitchFamily="34" charset="0"/>
                <a:cs typeface="Arial" pitchFamily="34" charset="0"/>
              </a:rPr>
              <a:t>pièces non conformes</a:t>
            </a:r>
            <a:r>
              <a:rPr lang="fr-FR" sz="1600" kern="0" dirty="0">
                <a:solidFill>
                  <a:srgbClr val="000000"/>
                </a:solidFill>
                <a:latin typeface="Calibri" panose="020F0502020204030204" pitchFamily="34" charset="0"/>
                <a:cs typeface="Arial" pitchFamily="34" charset="0"/>
              </a:rPr>
              <a:t> x </a:t>
            </a:r>
            <a:r>
              <a:rPr lang="fr-FR" sz="1600" kern="0" dirty="0">
                <a:solidFill>
                  <a:srgbClr val="FF0000"/>
                </a:solidFill>
                <a:latin typeface="Calibri" panose="020F0502020204030204" pitchFamily="34" charset="0"/>
                <a:cs typeface="Arial" pitchFamily="34" charset="0"/>
              </a:rPr>
              <a:t>temps gamme</a:t>
            </a:r>
          </a:p>
        </p:txBody>
      </p:sp>
      <p:sp>
        <p:nvSpPr>
          <p:cNvPr id="77" name="Légende encadrée 1 76"/>
          <p:cNvSpPr/>
          <p:nvPr/>
        </p:nvSpPr>
        <p:spPr bwMode="auto">
          <a:xfrm>
            <a:off x="3244850" y="1524000"/>
            <a:ext cx="3765550" cy="769938"/>
          </a:xfrm>
          <a:prstGeom prst="borderCallout1">
            <a:avLst>
              <a:gd name="adj1" fmla="val 49948"/>
              <a:gd name="adj2" fmla="val -1173"/>
              <a:gd name="adj3" fmla="val 44111"/>
              <a:gd name="adj4" fmla="val -10100"/>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solidFill>
                  <a:srgbClr val="FF0000"/>
                </a:solidFill>
                <a:latin typeface="Calibri" panose="020F0502020204030204" pitchFamily="34" charset="0"/>
                <a:cs typeface="Arial" pitchFamily="34" charset="0"/>
              </a:rPr>
              <a:t>Temps utile</a:t>
            </a:r>
            <a:r>
              <a:rPr lang="fr-FR" sz="1600" kern="0" dirty="0">
                <a:solidFill>
                  <a:srgbClr val="000000"/>
                </a:solidFill>
                <a:latin typeface="Calibri" panose="020F0502020204030204" pitchFamily="34" charset="0"/>
                <a:cs typeface="Arial" pitchFamily="34" charset="0"/>
              </a:rPr>
              <a:t> = Temps </a:t>
            </a:r>
            <a:r>
              <a:rPr lang="fr-FR" sz="1600" kern="0" dirty="0">
                <a:solidFill>
                  <a:srgbClr val="FF0000"/>
                </a:solidFill>
                <a:latin typeface="Calibri" panose="020F0502020204030204" pitchFamily="34" charset="0"/>
                <a:cs typeface="Arial" pitchFamily="34" charset="0"/>
              </a:rPr>
              <a:t>net</a:t>
            </a:r>
            <a:r>
              <a:rPr lang="fr-FR" sz="1600" kern="0" dirty="0">
                <a:solidFill>
                  <a:srgbClr val="000000"/>
                </a:solidFill>
                <a:latin typeface="Calibri" panose="020F0502020204030204" pitchFamily="34" charset="0"/>
                <a:cs typeface="Arial" pitchFamily="34" charset="0"/>
              </a:rPr>
              <a:t> de </a:t>
            </a:r>
            <a:r>
              <a:rPr lang="fr-FR" sz="1600" kern="0" dirty="0" err="1">
                <a:solidFill>
                  <a:srgbClr val="000000"/>
                </a:solidFill>
                <a:latin typeface="Calibri" panose="020F0502020204030204" pitchFamily="34" charset="0"/>
                <a:cs typeface="Arial" pitchFamily="34" charset="0"/>
              </a:rPr>
              <a:t>fonctiont</a:t>
            </a:r>
            <a:r>
              <a:rPr lang="fr-FR" sz="1600" kern="0" dirty="0">
                <a:solidFill>
                  <a:srgbClr val="000000"/>
                </a:solidFill>
                <a:latin typeface="Calibri" panose="020F0502020204030204" pitchFamily="34" charset="0"/>
                <a:cs typeface="Arial" pitchFamily="34" charset="0"/>
              </a:rPr>
              <a:t>.</a:t>
            </a:r>
            <a:br>
              <a:rPr lang="fr-FR" sz="1600" kern="0" dirty="0">
                <a:solidFill>
                  <a:srgbClr val="000000"/>
                </a:solidFill>
                <a:latin typeface="Calibri" panose="020F0502020204030204" pitchFamily="34" charset="0"/>
                <a:cs typeface="Arial" pitchFamily="34" charset="0"/>
              </a:rPr>
            </a:br>
            <a:r>
              <a:rPr lang="fr-FR" sz="1600" kern="0" dirty="0">
                <a:solidFill>
                  <a:srgbClr val="FF0000"/>
                </a:solidFill>
                <a:latin typeface="Calibri" panose="020F0502020204030204" pitchFamily="34" charset="0"/>
                <a:cs typeface="Arial" pitchFamily="34" charset="0"/>
              </a:rPr>
              <a:t> –</a:t>
            </a:r>
            <a:r>
              <a:rPr lang="fr-FR" sz="1600" kern="0" dirty="0">
                <a:solidFill>
                  <a:srgbClr val="000000"/>
                </a:solidFill>
                <a:latin typeface="Calibri" panose="020F0502020204030204" pitchFamily="34" charset="0"/>
                <a:cs typeface="Arial" pitchFamily="34" charset="0"/>
              </a:rPr>
              <a:t> Temps </a:t>
            </a:r>
            <a:r>
              <a:rPr lang="fr-FR" sz="1600" kern="0" dirty="0">
                <a:solidFill>
                  <a:srgbClr val="FF0000"/>
                </a:solidFill>
                <a:latin typeface="Calibri" panose="020F0502020204030204" pitchFamily="34" charset="0"/>
                <a:cs typeface="Arial" pitchFamily="34" charset="0"/>
              </a:rPr>
              <a:t>perdu</a:t>
            </a:r>
            <a:r>
              <a:rPr lang="fr-FR" sz="1600" kern="0" dirty="0">
                <a:solidFill>
                  <a:srgbClr val="000000"/>
                </a:solidFill>
                <a:latin typeface="Calibri" panose="020F0502020204030204" pitchFamily="34" charset="0"/>
                <a:cs typeface="Arial" pitchFamily="34" charset="0"/>
              </a:rPr>
              <a:t> pour non conformes</a:t>
            </a:r>
            <a:endParaRPr lang="fr-FR" sz="1600" kern="0" dirty="0">
              <a:solidFill>
                <a:srgbClr val="FF0000"/>
              </a:solidFill>
              <a:latin typeface="Calibri" panose="020F0502020204030204" pitchFamily="34" charset="0"/>
              <a:cs typeface="Arial" pitchFamily="34" charset="0"/>
            </a:endParaRPr>
          </a:p>
        </p:txBody>
      </p:sp>
      <p:sp>
        <p:nvSpPr>
          <p:cNvPr id="160904" name="ZoneTexte 77"/>
          <p:cNvSpPr txBox="1">
            <a:spLocks noChangeArrowheads="1"/>
          </p:cNvSpPr>
          <p:nvPr/>
        </p:nvSpPr>
        <p:spPr bwMode="auto">
          <a:xfrm>
            <a:off x="5910716" y="2513013"/>
            <a:ext cx="6086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cs typeface="Arial" panose="020B0604020202020204" pitchFamily="34" charset="0"/>
              </a:rPr>
              <a:t>TRG</a:t>
            </a:r>
          </a:p>
        </p:txBody>
      </p:sp>
      <p:sp>
        <p:nvSpPr>
          <p:cNvPr id="85" name="Légende encadrée 1 84"/>
          <p:cNvSpPr/>
          <p:nvPr/>
        </p:nvSpPr>
        <p:spPr bwMode="auto">
          <a:xfrm>
            <a:off x="428625" y="4498975"/>
            <a:ext cx="3275013" cy="647700"/>
          </a:xfrm>
          <a:prstGeom prst="borderCallout1">
            <a:avLst>
              <a:gd name="adj1" fmla="val 49948"/>
              <a:gd name="adj2" fmla="val 100953"/>
              <a:gd name="adj3" fmla="val -24773"/>
              <a:gd name="adj4" fmla="val 121121"/>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latin typeface="Calibri" panose="020F0502020204030204" pitchFamily="34" charset="0"/>
                <a:cs typeface="Arial" pitchFamily="34" charset="0"/>
              </a:rPr>
              <a:t>Faîtes le </a:t>
            </a:r>
            <a:r>
              <a:rPr lang="fr-FR" sz="1600" kern="0" dirty="0">
                <a:solidFill>
                  <a:srgbClr val="FF0000"/>
                </a:solidFill>
                <a:latin typeface="Calibri" panose="020F0502020204030204" pitchFamily="34" charset="0"/>
                <a:cs typeface="Arial" pitchFamily="34" charset="0"/>
              </a:rPr>
              <a:t>total</a:t>
            </a:r>
            <a:r>
              <a:rPr lang="fr-FR" sz="1600" kern="0" dirty="0">
                <a:latin typeface="Calibri" panose="020F0502020204030204" pitchFamily="34" charset="0"/>
                <a:cs typeface="Arial" pitchFamily="34" charset="0"/>
              </a:rPr>
              <a:t> de chaque </a:t>
            </a:r>
            <a:r>
              <a:rPr lang="fr-FR" sz="1600" kern="0" dirty="0">
                <a:solidFill>
                  <a:srgbClr val="FF0000"/>
                </a:solidFill>
                <a:latin typeface="Calibri" panose="020F0502020204030204" pitchFamily="34" charset="0"/>
                <a:cs typeface="Arial" pitchFamily="34" charset="0"/>
              </a:rPr>
              <a:t>catégorie</a:t>
            </a:r>
            <a:r>
              <a:rPr lang="fr-FR" sz="1600" kern="0" dirty="0">
                <a:latin typeface="Calibri" panose="020F0502020204030204" pitchFamily="34" charset="0"/>
                <a:cs typeface="Arial" pitchFamily="34" charset="0"/>
              </a:rPr>
              <a:t> et calculez les </a:t>
            </a:r>
            <a:r>
              <a:rPr lang="fr-FR" sz="1600" kern="0" dirty="0">
                <a:solidFill>
                  <a:srgbClr val="FF0000"/>
                </a:solidFill>
                <a:latin typeface="Calibri" panose="020F0502020204030204" pitchFamily="34" charset="0"/>
                <a:cs typeface="Arial" pitchFamily="34" charset="0"/>
              </a:rPr>
              <a:t>%</a:t>
            </a:r>
            <a:r>
              <a:rPr lang="fr-FR" sz="1600" kern="0" dirty="0">
                <a:latin typeface="Calibri" panose="020F0502020204030204" pitchFamily="34" charset="0"/>
                <a:cs typeface="Arial" pitchFamily="34" charset="0"/>
              </a:rPr>
              <a:t> respectifs</a:t>
            </a:r>
          </a:p>
        </p:txBody>
      </p:sp>
      <p:sp>
        <p:nvSpPr>
          <p:cNvPr id="86" name="Rectangle 85"/>
          <p:cNvSpPr/>
          <p:nvPr/>
        </p:nvSpPr>
        <p:spPr bwMode="auto">
          <a:xfrm>
            <a:off x="109538" y="5703888"/>
            <a:ext cx="1403350" cy="539750"/>
          </a:xfrm>
          <a:prstGeom prst="rect">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latin typeface="Calibri" panose="020F0502020204030204" pitchFamily="34" charset="0"/>
                <a:cs typeface="Arial" pitchFamily="34" charset="0"/>
              </a:rPr>
              <a:t>Dessinez le camembert</a:t>
            </a:r>
          </a:p>
        </p:txBody>
      </p:sp>
      <p:sp>
        <p:nvSpPr>
          <p:cNvPr id="87" name="Rectangle 86"/>
          <p:cNvSpPr/>
          <p:nvPr/>
        </p:nvSpPr>
        <p:spPr bwMode="auto">
          <a:xfrm>
            <a:off x="7783513" y="4470400"/>
            <a:ext cx="1763712" cy="1044575"/>
          </a:xfrm>
          <a:prstGeom prst="rect">
            <a:avLst/>
          </a:prstGeom>
          <a:solidFill>
            <a:srgbClr val="FFFF99"/>
          </a:solidFill>
          <a:ln w="9525" cap="flat" cmpd="sng" algn="ctr">
            <a:solidFill>
              <a:srgbClr val="000000"/>
            </a:solidFill>
            <a:prstDash val="solid"/>
            <a:round/>
            <a:headEnd type="none" w="med" len="med"/>
            <a:tailEnd type="triangle" w="med" len="med"/>
          </a:ln>
          <a:effectLst/>
        </p:spPr>
        <p:txBody>
          <a:bodyPr lIns="72000" tIns="46800" rIns="72000" bIns="46800" anchor="ctr"/>
          <a:lstStyle/>
          <a:p>
            <a:pPr algn="ctr">
              <a:defRPr/>
            </a:pPr>
            <a:r>
              <a:rPr lang="fr-FR" sz="1600" kern="0" dirty="0">
                <a:latin typeface="Calibri" panose="020F0502020204030204" pitchFamily="34" charset="0"/>
                <a:cs typeface="Arial" pitchFamily="34" charset="0"/>
              </a:rPr>
              <a:t>Définissez un </a:t>
            </a:r>
            <a:r>
              <a:rPr lang="fr-FR" sz="1600" kern="0" dirty="0">
                <a:solidFill>
                  <a:srgbClr val="FF0000"/>
                </a:solidFill>
                <a:latin typeface="Calibri" panose="020F0502020204030204" pitchFamily="34" charset="0"/>
                <a:cs typeface="Arial" pitchFamily="34" charset="0"/>
              </a:rPr>
              <a:t>objectif</a:t>
            </a:r>
            <a:r>
              <a:rPr lang="fr-FR" sz="1600" kern="0" dirty="0">
                <a:latin typeface="Calibri" panose="020F0502020204030204" pitchFamily="34" charset="0"/>
                <a:cs typeface="Arial" pitchFamily="34" charset="0"/>
              </a:rPr>
              <a:t> de productivité et une liste </a:t>
            </a:r>
            <a:r>
              <a:rPr lang="fr-FR" sz="1600" kern="0" dirty="0">
                <a:solidFill>
                  <a:srgbClr val="FF0000"/>
                </a:solidFill>
                <a:latin typeface="Calibri" panose="020F0502020204030204" pitchFamily="34" charset="0"/>
                <a:cs typeface="Arial" pitchFamily="34" charset="0"/>
              </a:rPr>
              <a:t>d’actions</a:t>
            </a:r>
          </a:p>
        </p:txBody>
      </p:sp>
      <p:sp>
        <p:nvSpPr>
          <p:cNvPr id="160908"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59"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
        <p:nvSpPr>
          <p:cNvPr id="60"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73</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P spid="51" grpId="0"/>
      <p:bldP spid="52" grpId="0"/>
      <p:bldP spid="53" grpId="0"/>
      <p:bldP spid="54" grpId="0"/>
      <p:bldP spid="55" grpId="0"/>
      <p:bldP spid="56" grpId="0"/>
      <p:bldP spid="57" grpId="0"/>
      <p:bldP spid="58" grpId="0"/>
      <p:bldP spid="68" grpId="0"/>
      <p:bldP spid="69" grpId="0"/>
      <p:bldP spid="70" grpId="0" animBg="1"/>
      <p:bldP spid="72" grpId="0"/>
      <p:bldP spid="73" grpId="0"/>
      <p:bldP spid="74" grpId="0"/>
      <p:bldP spid="75" grpId="0"/>
      <p:bldP spid="76" grpId="0" animBg="1"/>
      <p:bldP spid="77" grpId="0" animBg="1"/>
      <p:bldP spid="85" grpId="0" animBg="1"/>
      <p:bldP spid="86" grpId="0" animBg="1"/>
      <p:bldP spid="87"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2818" name="Titre 1"/>
          <p:cNvSpPr>
            <a:spLocks noGrp="1"/>
          </p:cNvSpPr>
          <p:nvPr>
            <p:ph type="title"/>
          </p:nvPr>
        </p:nvSpPr>
        <p:spPr/>
        <p:txBody>
          <a:bodyPr/>
          <a:lstStyle/>
          <a:p>
            <a:r>
              <a:rPr lang="fr-FR" altLang="fr-FR"/>
              <a:t>L'équipe FLUX</a:t>
            </a:r>
          </a:p>
        </p:txBody>
      </p:sp>
      <p:sp>
        <p:nvSpPr>
          <p:cNvPr id="16281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6282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D59CAA21-8ADF-4C77-9FE6-13181182D9DF}" type="slidenum">
              <a:rPr lang="fr-FR" altLang="fr-FR" smtClean="0">
                <a:latin typeface="Calibri" panose="020F0502020204030204" pitchFamily="34" charset="0"/>
              </a:rPr>
              <a:pPr>
                <a:spcBef>
                  <a:spcPct val="0"/>
                </a:spcBef>
                <a:buFontTx/>
                <a:buNone/>
              </a:pPr>
              <a:t>74</a:t>
            </a:fld>
            <a:endParaRPr lang="fr-FR" altLang="fr-FR" dirty="0">
              <a:latin typeface="Calibri" panose="020F0502020204030204" pitchFamily="34" charset="0"/>
            </a:endParaRPr>
          </a:p>
        </p:txBody>
      </p:sp>
      <p:pic>
        <p:nvPicPr>
          <p:cNvPr id="16282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88" y="2000250"/>
            <a:ext cx="9558337"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48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3838" y="4668838"/>
            <a:ext cx="5257800"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67" name="Titre 1"/>
          <p:cNvSpPr>
            <a:spLocks noGrp="1"/>
          </p:cNvSpPr>
          <p:nvPr>
            <p:ph type="title"/>
          </p:nvPr>
        </p:nvSpPr>
        <p:spPr/>
        <p:txBody>
          <a:bodyPr/>
          <a:lstStyle/>
          <a:p>
            <a:r>
              <a:rPr lang="fr-FR" altLang="fr-FR"/>
              <a:t>Le graphique de défilement de l’OF traceur</a:t>
            </a:r>
          </a:p>
        </p:txBody>
      </p:sp>
      <p:sp>
        <p:nvSpPr>
          <p:cNvPr id="16486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6486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E454426-DED8-4067-8FBB-EBA18BED58CA}" type="slidenum">
              <a:rPr lang="fr-FR" altLang="fr-FR" smtClean="0">
                <a:latin typeface="Calibri" panose="020F0502020204030204" pitchFamily="34" charset="0"/>
              </a:rPr>
              <a:pPr>
                <a:spcBef>
                  <a:spcPct val="0"/>
                </a:spcBef>
                <a:buFontTx/>
                <a:buNone/>
              </a:pPr>
              <a:t>75</a:t>
            </a:fld>
            <a:endParaRPr lang="fr-FR" altLang="fr-FR" dirty="0">
              <a:latin typeface="Calibri" panose="020F0502020204030204" pitchFamily="34" charset="0"/>
            </a:endParaRPr>
          </a:p>
        </p:txBody>
      </p:sp>
      <p:grpSp>
        <p:nvGrpSpPr>
          <p:cNvPr id="164870" name="Groupe 46"/>
          <p:cNvGrpSpPr>
            <a:grpSpLocks/>
          </p:cNvGrpSpPr>
          <p:nvPr/>
        </p:nvGrpSpPr>
        <p:grpSpPr bwMode="auto">
          <a:xfrm>
            <a:off x="3178175" y="530225"/>
            <a:ext cx="2511425" cy="2244725"/>
            <a:chOff x="3178623" y="530360"/>
            <a:chExt cx="2510799" cy="2245016"/>
          </a:xfrm>
        </p:grpSpPr>
        <p:pic>
          <p:nvPicPr>
            <p:cNvPr id="16491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8623" y="530360"/>
              <a:ext cx="2510799" cy="224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19" name="Rectangle 8"/>
            <p:cNvSpPr>
              <a:spLocks noChangeArrowheads="1"/>
            </p:cNvSpPr>
            <p:nvPr/>
          </p:nvSpPr>
          <p:spPr bwMode="auto">
            <a:xfrm>
              <a:off x="3374265" y="1599306"/>
              <a:ext cx="492885" cy="1004552"/>
            </a:xfrm>
            <a:prstGeom prst="rect">
              <a:avLst/>
            </a:prstGeom>
            <a:solidFill>
              <a:srgbClr val="FFFF00">
                <a:alpha val="47058"/>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20" name="Rectangle 9"/>
            <p:cNvSpPr>
              <a:spLocks noChangeArrowheads="1"/>
            </p:cNvSpPr>
            <p:nvPr/>
          </p:nvSpPr>
          <p:spPr bwMode="auto">
            <a:xfrm>
              <a:off x="5178917" y="2035175"/>
              <a:ext cx="336058" cy="128654"/>
            </a:xfrm>
            <a:prstGeom prst="rect">
              <a:avLst/>
            </a:prstGeom>
            <a:solidFill>
              <a:srgbClr val="FFFF00">
                <a:alpha val="47058"/>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164871" name="Groupe 45"/>
          <p:cNvGrpSpPr>
            <a:grpSpLocks/>
          </p:cNvGrpSpPr>
          <p:nvPr/>
        </p:nvGrpSpPr>
        <p:grpSpPr bwMode="auto">
          <a:xfrm>
            <a:off x="79375" y="2913063"/>
            <a:ext cx="7554913" cy="1447800"/>
            <a:chOff x="516631" y="3261265"/>
            <a:chExt cx="7555023" cy="1447376"/>
          </a:xfrm>
        </p:grpSpPr>
        <p:pic>
          <p:nvPicPr>
            <p:cNvPr id="164894" name="Picture 2"/>
            <p:cNvPicPr>
              <a:picLocks noChangeAspect="1" noChangeArrowheads="1"/>
            </p:cNvPicPr>
            <p:nvPr/>
          </p:nvPicPr>
          <p:blipFill>
            <a:blip r:embed="rId5">
              <a:extLst>
                <a:ext uri="{28A0092B-C50C-407E-A947-70E740481C1C}">
                  <a14:useLocalDpi xmlns:a14="http://schemas.microsoft.com/office/drawing/2010/main" val="0"/>
                </a:ext>
              </a:extLst>
            </a:blip>
            <a:srcRect r="44649"/>
            <a:stretch>
              <a:fillRect/>
            </a:stretch>
          </p:blipFill>
          <p:spPr bwMode="auto">
            <a:xfrm>
              <a:off x="731837" y="3806957"/>
              <a:ext cx="7250113" cy="90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95" name="Rectangle 10"/>
            <p:cNvSpPr>
              <a:spLocks noChangeArrowheads="1"/>
            </p:cNvSpPr>
            <p:nvPr/>
          </p:nvSpPr>
          <p:spPr bwMode="auto">
            <a:xfrm>
              <a:off x="838200" y="4294505"/>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6" name="Rectangle 11"/>
            <p:cNvSpPr>
              <a:spLocks noChangeArrowheads="1"/>
            </p:cNvSpPr>
            <p:nvPr/>
          </p:nvSpPr>
          <p:spPr bwMode="auto">
            <a:xfrm>
              <a:off x="2562225" y="4284980"/>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7" name="Rectangle 12"/>
            <p:cNvSpPr>
              <a:spLocks noChangeArrowheads="1"/>
            </p:cNvSpPr>
            <p:nvPr/>
          </p:nvSpPr>
          <p:spPr bwMode="auto">
            <a:xfrm>
              <a:off x="4038600" y="4284980"/>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8" name="Rectangle 13"/>
            <p:cNvSpPr>
              <a:spLocks noChangeArrowheads="1"/>
            </p:cNvSpPr>
            <p:nvPr/>
          </p:nvSpPr>
          <p:spPr bwMode="auto">
            <a:xfrm>
              <a:off x="5133975" y="4284980"/>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9" name="Rectangle 14"/>
            <p:cNvSpPr>
              <a:spLocks noChangeArrowheads="1"/>
            </p:cNvSpPr>
            <p:nvPr/>
          </p:nvSpPr>
          <p:spPr bwMode="auto">
            <a:xfrm>
              <a:off x="6419850" y="4294505"/>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0" name="Rectangle 15"/>
            <p:cNvSpPr>
              <a:spLocks noChangeArrowheads="1"/>
            </p:cNvSpPr>
            <p:nvPr/>
          </p:nvSpPr>
          <p:spPr bwMode="auto">
            <a:xfrm>
              <a:off x="7705725" y="4294505"/>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1" name="Rectangle 16"/>
            <p:cNvSpPr>
              <a:spLocks noChangeArrowheads="1"/>
            </p:cNvSpPr>
            <p:nvPr/>
          </p:nvSpPr>
          <p:spPr bwMode="auto">
            <a:xfrm>
              <a:off x="1057274" y="4485005"/>
              <a:ext cx="1495425" cy="180975"/>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2" name="Rectangle 17"/>
            <p:cNvSpPr>
              <a:spLocks noChangeArrowheads="1"/>
            </p:cNvSpPr>
            <p:nvPr/>
          </p:nvSpPr>
          <p:spPr bwMode="auto">
            <a:xfrm>
              <a:off x="2781300" y="4475480"/>
              <a:ext cx="1266826" cy="190500"/>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3" name="Rectangle 18"/>
            <p:cNvSpPr>
              <a:spLocks noChangeArrowheads="1"/>
            </p:cNvSpPr>
            <p:nvPr/>
          </p:nvSpPr>
          <p:spPr bwMode="auto">
            <a:xfrm>
              <a:off x="4267200" y="4475480"/>
              <a:ext cx="876300" cy="200025"/>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4" name="Rectangle 19"/>
            <p:cNvSpPr>
              <a:spLocks noChangeArrowheads="1"/>
            </p:cNvSpPr>
            <p:nvPr/>
          </p:nvSpPr>
          <p:spPr bwMode="auto">
            <a:xfrm>
              <a:off x="5343524" y="4475480"/>
              <a:ext cx="1076325" cy="190500"/>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5" name="Rectangle 20"/>
            <p:cNvSpPr>
              <a:spLocks noChangeArrowheads="1"/>
            </p:cNvSpPr>
            <p:nvPr/>
          </p:nvSpPr>
          <p:spPr bwMode="auto">
            <a:xfrm>
              <a:off x="6629399" y="4485005"/>
              <a:ext cx="1076325" cy="190500"/>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6" name="Rectangle 21"/>
            <p:cNvSpPr>
              <a:spLocks noChangeArrowheads="1"/>
            </p:cNvSpPr>
            <p:nvPr/>
          </p:nvSpPr>
          <p:spPr bwMode="auto">
            <a:xfrm>
              <a:off x="2514600" y="3574463"/>
              <a:ext cx="409575" cy="180975"/>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 name="Étoile à 5 branches 22"/>
            <p:cNvSpPr/>
            <p:nvPr/>
          </p:nvSpPr>
          <p:spPr bwMode="auto">
            <a:xfrm>
              <a:off x="3966319" y="3429491"/>
              <a:ext cx="342905" cy="342800"/>
            </a:xfrm>
            <a:prstGeom prst="star5">
              <a:avLst/>
            </a:prstGeom>
            <a:no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
          <p:nvSpPr>
            <p:cNvPr id="164908" name="Organigramme : Bande perforée 23"/>
            <p:cNvSpPr>
              <a:spLocks noChangeArrowheads="1"/>
            </p:cNvSpPr>
            <p:nvPr/>
          </p:nvSpPr>
          <p:spPr bwMode="auto">
            <a:xfrm>
              <a:off x="5054600" y="3553825"/>
              <a:ext cx="323850" cy="171450"/>
            </a:xfrm>
            <a:prstGeom prst="flowChartPunchedTape">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909" name="Triangle isocèle 24"/>
            <p:cNvSpPr>
              <a:spLocks noChangeArrowheads="1"/>
            </p:cNvSpPr>
            <p:nvPr/>
          </p:nvSpPr>
          <p:spPr bwMode="auto">
            <a:xfrm>
              <a:off x="6391275" y="3452225"/>
              <a:ext cx="295275" cy="247650"/>
            </a:xfrm>
            <a:prstGeom prst="triangle">
              <a:avLst>
                <a:gd name="adj"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164910" name="Picture 32" descr="TIP5e¦ütu-fin E¦üTU1"/>
            <p:cNvPicPr>
              <a:picLocks noChangeAspect="1" noChangeArrowheads="1"/>
            </p:cNvPicPr>
            <p:nvPr/>
          </p:nvPicPr>
          <p:blipFill>
            <a:blip r:embed="rId6" cstate="print">
              <a:extLst>
                <a:ext uri="{28A0092B-C50C-407E-A947-70E740481C1C}">
                  <a14:useLocalDpi xmlns:a14="http://schemas.microsoft.com/office/drawing/2010/main" val="0"/>
                </a:ext>
              </a:extLst>
            </a:blip>
            <a:srcRect l="8157" t="25005" r="23033" b="14983"/>
            <a:stretch>
              <a:fillRect/>
            </a:stretch>
          </p:blipFill>
          <p:spPr bwMode="auto">
            <a:xfrm>
              <a:off x="516631" y="3261265"/>
              <a:ext cx="646779" cy="57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911" name="Picture 46" descr="TIP3fab 7"/>
            <p:cNvPicPr>
              <a:picLocks noChangeAspect="1" noChangeArrowheads="1"/>
            </p:cNvPicPr>
            <p:nvPr/>
          </p:nvPicPr>
          <p:blipFill>
            <a:blip r:embed="rId7" cstate="print">
              <a:extLst>
                <a:ext uri="{28A0092B-C50C-407E-A947-70E740481C1C}">
                  <a14:useLocalDpi xmlns:a14="http://schemas.microsoft.com/office/drawing/2010/main" val="0"/>
                </a:ext>
              </a:extLst>
            </a:blip>
            <a:srcRect l="6909" t="46571" r="26497" b="12415"/>
            <a:stretch>
              <a:fillRect/>
            </a:stretch>
          </p:blipFill>
          <p:spPr bwMode="auto">
            <a:xfrm>
              <a:off x="7458306" y="3375644"/>
              <a:ext cx="613348" cy="45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4912" name="Connecteur droit avec flèche 28"/>
            <p:cNvCxnSpPr>
              <a:cxnSpLocks noChangeShapeType="1"/>
            </p:cNvCxnSpPr>
            <p:nvPr/>
          </p:nvCxnSpPr>
          <p:spPr bwMode="auto">
            <a:xfrm rot="5400000">
              <a:off x="885361" y="390254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4913" name="Connecteur droit avec flèche 29"/>
            <p:cNvCxnSpPr>
              <a:cxnSpLocks noChangeShapeType="1"/>
            </p:cNvCxnSpPr>
            <p:nvPr/>
          </p:nvCxnSpPr>
          <p:spPr bwMode="auto">
            <a:xfrm rot="5400000">
              <a:off x="2615102" y="387206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4914" name="Connecteur droit avec flèche 31"/>
            <p:cNvCxnSpPr>
              <a:cxnSpLocks noChangeShapeType="1"/>
            </p:cNvCxnSpPr>
            <p:nvPr/>
          </p:nvCxnSpPr>
          <p:spPr bwMode="auto">
            <a:xfrm rot="5400000">
              <a:off x="4032422" y="38568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4915" name="Connecteur droit avec flèche 32"/>
            <p:cNvCxnSpPr>
              <a:cxnSpLocks noChangeShapeType="1"/>
            </p:cNvCxnSpPr>
            <p:nvPr/>
          </p:nvCxnSpPr>
          <p:spPr bwMode="auto">
            <a:xfrm rot="5400000">
              <a:off x="5160182" y="384158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4916" name="Connecteur droit avec flèche 33"/>
            <p:cNvCxnSpPr>
              <a:cxnSpLocks noChangeShapeType="1"/>
            </p:cNvCxnSpPr>
            <p:nvPr/>
          </p:nvCxnSpPr>
          <p:spPr bwMode="auto">
            <a:xfrm rot="5400000">
              <a:off x="644796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4917" name="Connecteur droit avec flèche 34"/>
            <p:cNvCxnSpPr>
              <a:cxnSpLocks noChangeShapeType="1"/>
            </p:cNvCxnSpPr>
            <p:nvPr/>
          </p:nvCxnSpPr>
          <p:spPr bwMode="auto">
            <a:xfrm rot="5400000">
              <a:off x="772050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164872" name="Groupe 44"/>
          <p:cNvGrpSpPr>
            <a:grpSpLocks/>
          </p:cNvGrpSpPr>
          <p:nvPr/>
        </p:nvGrpSpPr>
        <p:grpSpPr bwMode="auto">
          <a:xfrm>
            <a:off x="7493000" y="1084580"/>
            <a:ext cx="2068513" cy="2981325"/>
            <a:chOff x="7493000" y="393700"/>
            <a:chExt cx="2068513" cy="2982106"/>
          </a:xfrm>
        </p:grpSpPr>
        <p:pic>
          <p:nvPicPr>
            <p:cNvPr id="164885"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3000" y="393700"/>
              <a:ext cx="2068513" cy="298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86" name="Rectangle 36"/>
            <p:cNvSpPr>
              <a:spLocks noChangeArrowheads="1"/>
            </p:cNvSpPr>
            <p:nvPr/>
          </p:nvSpPr>
          <p:spPr bwMode="auto">
            <a:xfrm>
              <a:off x="7848600" y="1943100"/>
              <a:ext cx="165100" cy="1066800"/>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87" name="Rectangle 37"/>
            <p:cNvSpPr>
              <a:spLocks noChangeArrowheads="1"/>
            </p:cNvSpPr>
            <p:nvPr/>
          </p:nvSpPr>
          <p:spPr bwMode="auto">
            <a:xfrm>
              <a:off x="8280400" y="1821900"/>
              <a:ext cx="165100" cy="1188000"/>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88" name="Rectangle 38"/>
            <p:cNvSpPr>
              <a:spLocks noChangeArrowheads="1"/>
            </p:cNvSpPr>
            <p:nvPr/>
          </p:nvSpPr>
          <p:spPr bwMode="auto">
            <a:xfrm>
              <a:off x="8699500" y="1569900"/>
              <a:ext cx="165100" cy="1440000"/>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89" name="Rectangle 39"/>
            <p:cNvSpPr>
              <a:spLocks noChangeArrowheads="1"/>
            </p:cNvSpPr>
            <p:nvPr/>
          </p:nvSpPr>
          <p:spPr bwMode="auto">
            <a:xfrm>
              <a:off x="9131300" y="2181900"/>
              <a:ext cx="165100" cy="828000"/>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0" name="Rectangle 40"/>
            <p:cNvSpPr>
              <a:spLocks noChangeArrowheads="1"/>
            </p:cNvSpPr>
            <p:nvPr/>
          </p:nvSpPr>
          <p:spPr bwMode="auto">
            <a:xfrm>
              <a:off x="8024813" y="2184100"/>
              <a:ext cx="165100" cy="828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1" name="Rectangle 41"/>
            <p:cNvSpPr>
              <a:spLocks noChangeArrowheads="1"/>
            </p:cNvSpPr>
            <p:nvPr/>
          </p:nvSpPr>
          <p:spPr bwMode="auto">
            <a:xfrm>
              <a:off x="8456613" y="1716100"/>
              <a:ext cx="165100" cy="1296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2" name="Rectangle 42"/>
            <p:cNvSpPr>
              <a:spLocks noChangeArrowheads="1"/>
            </p:cNvSpPr>
            <p:nvPr/>
          </p:nvSpPr>
          <p:spPr bwMode="auto">
            <a:xfrm>
              <a:off x="8875713" y="1788100"/>
              <a:ext cx="165100" cy="1224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64893" name="Rectangle 43"/>
            <p:cNvSpPr>
              <a:spLocks noChangeArrowheads="1"/>
            </p:cNvSpPr>
            <p:nvPr/>
          </p:nvSpPr>
          <p:spPr bwMode="auto">
            <a:xfrm>
              <a:off x="9307513" y="2004100"/>
              <a:ext cx="165100" cy="1008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164873" name="ZoneTexte 47"/>
          <p:cNvSpPr txBox="1">
            <a:spLocks noChangeArrowheads="1"/>
          </p:cNvSpPr>
          <p:nvPr/>
        </p:nvSpPr>
        <p:spPr bwMode="auto">
          <a:xfrm>
            <a:off x="3248513" y="5275263"/>
            <a:ext cx="522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rPr>
              <a:t>50 s.</a:t>
            </a:r>
          </a:p>
        </p:txBody>
      </p:sp>
      <p:sp>
        <p:nvSpPr>
          <p:cNvPr id="164874" name="ZoneTexte 48"/>
          <p:cNvSpPr txBox="1">
            <a:spLocks noChangeArrowheads="1"/>
          </p:cNvSpPr>
          <p:nvPr/>
        </p:nvSpPr>
        <p:spPr bwMode="auto">
          <a:xfrm>
            <a:off x="4212477" y="5265738"/>
            <a:ext cx="6142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rPr>
              <a:t>300 s.</a:t>
            </a:r>
          </a:p>
        </p:txBody>
      </p:sp>
      <p:sp>
        <p:nvSpPr>
          <p:cNvPr id="164875" name="ZoneTexte 49"/>
          <p:cNvSpPr txBox="1">
            <a:spLocks noChangeArrowheads="1"/>
          </p:cNvSpPr>
          <p:nvPr/>
        </p:nvSpPr>
        <p:spPr bwMode="auto">
          <a:xfrm>
            <a:off x="5166151" y="5275263"/>
            <a:ext cx="5357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rPr>
              <a:t>17 %</a:t>
            </a:r>
          </a:p>
        </p:txBody>
      </p:sp>
      <p:sp>
        <p:nvSpPr>
          <p:cNvPr id="164876" name="ZoneTexte 50"/>
          <p:cNvSpPr txBox="1">
            <a:spLocks noChangeArrowheads="1"/>
          </p:cNvSpPr>
          <p:nvPr/>
        </p:nvSpPr>
        <p:spPr bwMode="auto">
          <a:xfrm>
            <a:off x="6012308" y="5275263"/>
            <a:ext cx="3674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rPr>
              <a:t>24</a:t>
            </a:r>
          </a:p>
        </p:txBody>
      </p:sp>
      <p:sp>
        <p:nvSpPr>
          <p:cNvPr id="164877" name="ZoneTexte 52"/>
          <p:cNvSpPr txBox="1">
            <a:spLocks noChangeArrowheads="1"/>
          </p:cNvSpPr>
          <p:nvPr/>
        </p:nvSpPr>
        <p:spPr bwMode="auto">
          <a:xfrm>
            <a:off x="4241052" y="5694363"/>
            <a:ext cx="6142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solidFill>
                  <a:srgbClr val="FF0000"/>
                </a:solidFill>
                <a:latin typeface="Calibri" panose="020F0502020204030204" pitchFamily="34" charset="0"/>
              </a:rPr>
              <a:t>150 s.</a:t>
            </a:r>
          </a:p>
        </p:txBody>
      </p:sp>
      <p:sp>
        <p:nvSpPr>
          <p:cNvPr id="164878" name="ZoneTexte 56"/>
          <p:cNvSpPr txBox="1">
            <a:spLocks noChangeArrowheads="1"/>
          </p:cNvSpPr>
          <p:nvPr/>
        </p:nvSpPr>
        <p:spPr bwMode="auto">
          <a:xfrm>
            <a:off x="5232826" y="5684838"/>
            <a:ext cx="5357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solidFill>
                  <a:srgbClr val="FF0000"/>
                </a:solidFill>
                <a:latin typeface="Calibri" panose="020F0502020204030204" pitchFamily="34" charset="0"/>
              </a:rPr>
              <a:t>33 %</a:t>
            </a:r>
          </a:p>
        </p:txBody>
      </p:sp>
      <p:sp>
        <p:nvSpPr>
          <p:cNvPr id="164879" name="ZoneTexte 57"/>
          <p:cNvSpPr txBox="1">
            <a:spLocks noChangeArrowheads="1"/>
          </p:cNvSpPr>
          <p:nvPr/>
        </p:nvSpPr>
        <p:spPr bwMode="auto">
          <a:xfrm>
            <a:off x="6002783" y="5684838"/>
            <a:ext cx="3674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solidFill>
                  <a:srgbClr val="FF0000"/>
                </a:solidFill>
                <a:latin typeface="Calibri" panose="020F0502020204030204" pitchFamily="34" charset="0"/>
              </a:rPr>
              <a:t>18</a:t>
            </a:r>
          </a:p>
        </p:txBody>
      </p:sp>
      <p:sp>
        <p:nvSpPr>
          <p:cNvPr id="164880" name="ZoneTexte 58"/>
          <p:cNvSpPr txBox="1">
            <a:spLocks noChangeArrowheads="1"/>
          </p:cNvSpPr>
          <p:nvPr/>
        </p:nvSpPr>
        <p:spPr bwMode="auto">
          <a:xfrm>
            <a:off x="4250577" y="6094413"/>
            <a:ext cx="6142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solidFill>
                  <a:srgbClr val="0033CC"/>
                </a:solidFill>
                <a:latin typeface="Calibri" panose="020F0502020204030204" pitchFamily="34" charset="0"/>
              </a:rPr>
              <a:t>140 s.</a:t>
            </a:r>
          </a:p>
        </p:txBody>
      </p:sp>
      <p:sp>
        <p:nvSpPr>
          <p:cNvPr id="164881" name="ZoneTexte 59"/>
          <p:cNvSpPr txBox="1">
            <a:spLocks noChangeArrowheads="1"/>
          </p:cNvSpPr>
          <p:nvPr/>
        </p:nvSpPr>
        <p:spPr bwMode="auto">
          <a:xfrm>
            <a:off x="5242351" y="6084888"/>
            <a:ext cx="5357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solidFill>
                  <a:srgbClr val="0033CC"/>
                </a:solidFill>
                <a:latin typeface="Calibri" panose="020F0502020204030204" pitchFamily="34" charset="0"/>
              </a:rPr>
              <a:t>36 %</a:t>
            </a:r>
          </a:p>
        </p:txBody>
      </p:sp>
      <p:sp>
        <p:nvSpPr>
          <p:cNvPr id="164882" name="ZoneTexte 60"/>
          <p:cNvSpPr txBox="1">
            <a:spLocks noChangeArrowheads="1"/>
          </p:cNvSpPr>
          <p:nvPr/>
        </p:nvSpPr>
        <p:spPr bwMode="auto">
          <a:xfrm>
            <a:off x="6012308" y="6084888"/>
            <a:ext cx="3674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solidFill>
                  <a:srgbClr val="0033CC"/>
                </a:solidFill>
                <a:latin typeface="Calibri" panose="020F0502020204030204" pitchFamily="34" charset="0"/>
              </a:rPr>
              <a:t>17</a:t>
            </a:r>
          </a:p>
        </p:txBody>
      </p:sp>
      <p:pic>
        <p:nvPicPr>
          <p:cNvPr id="57" name="Picture 2" descr="C:\Users\BertrandS\Dropbox\Jeux\00. CONCEPTION DES JEUX\photos\Bureau Une Femme 29\iStock_000002139332_Medium ALLEGE.jpg"/>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6914" name="Titre 1"/>
          <p:cNvSpPr>
            <a:spLocks noGrp="1"/>
          </p:cNvSpPr>
          <p:nvPr>
            <p:ph type="title"/>
          </p:nvPr>
        </p:nvSpPr>
        <p:spPr/>
        <p:txBody>
          <a:bodyPr/>
          <a:lstStyle/>
          <a:p>
            <a:r>
              <a:rPr lang="fr-FR" altLang="fr-FR"/>
              <a:t>L'équipe IMPLANTATION</a:t>
            </a:r>
          </a:p>
        </p:txBody>
      </p:sp>
      <p:sp>
        <p:nvSpPr>
          <p:cNvPr id="16691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6691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BAECEF7-592C-4099-97DD-B832C747CC7B}" type="slidenum">
              <a:rPr lang="fr-FR" altLang="fr-FR" smtClean="0">
                <a:latin typeface="Calibri" panose="020F0502020204030204" pitchFamily="34" charset="0"/>
              </a:rPr>
              <a:pPr>
                <a:spcBef>
                  <a:spcPct val="0"/>
                </a:spcBef>
                <a:buFontTx/>
                <a:buNone/>
              </a:pPr>
              <a:t>76</a:t>
            </a:fld>
            <a:endParaRPr lang="fr-FR" altLang="fr-FR" dirty="0">
              <a:latin typeface="Calibri" panose="020F0502020204030204" pitchFamily="34" charset="0"/>
            </a:endParaRPr>
          </a:p>
        </p:txBody>
      </p:sp>
      <p:pic>
        <p:nvPicPr>
          <p:cNvPr id="166917"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r="64214"/>
          <a:stretch>
            <a:fillRect/>
          </a:stretch>
        </p:blipFill>
        <p:spPr bwMode="auto">
          <a:xfrm>
            <a:off x="28575" y="889000"/>
            <a:ext cx="2701925"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35"/>
          <p:cNvSpPr>
            <a:spLocks noChangeArrowheads="1"/>
          </p:cNvSpPr>
          <p:nvPr/>
        </p:nvSpPr>
        <p:spPr bwMode="auto">
          <a:xfrm>
            <a:off x="862013" y="998538"/>
            <a:ext cx="35718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4" name="AutoShape 37"/>
          <p:cNvSpPr>
            <a:spLocks noChangeArrowheads="1"/>
          </p:cNvSpPr>
          <p:nvPr/>
        </p:nvSpPr>
        <p:spPr bwMode="auto">
          <a:xfrm>
            <a:off x="2211388" y="979488"/>
            <a:ext cx="373062"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5" name="AutoShape 36"/>
          <p:cNvSpPr>
            <a:spLocks noChangeArrowheads="1"/>
          </p:cNvSpPr>
          <p:nvPr/>
        </p:nvSpPr>
        <p:spPr bwMode="auto">
          <a:xfrm>
            <a:off x="1485900" y="1020763"/>
            <a:ext cx="390525"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6" name="Oval 38"/>
          <p:cNvSpPr>
            <a:spLocks noChangeArrowheads="1"/>
          </p:cNvSpPr>
          <p:nvPr/>
        </p:nvSpPr>
        <p:spPr bwMode="auto">
          <a:xfrm>
            <a:off x="179388" y="1060450"/>
            <a:ext cx="488950" cy="184150"/>
          </a:xfrm>
          <a:prstGeom prst="ellipse">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7" name="AutoShape 40"/>
          <p:cNvSpPr>
            <a:spLocks noChangeArrowheads="1"/>
          </p:cNvSpPr>
          <p:nvPr/>
        </p:nvSpPr>
        <p:spPr bwMode="auto">
          <a:xfrm>
            <a:off x="1492250" y="3646488"/>
            <a:ext cx="484188" cy="263525"/>
          </a:xfrm>
          <a:prstGeom prst="wave">
            <a:avLst>
              <a:gd name="adj1" fmla="val 20644"/>
              <a:gd name="adj2" fmla="val 7681"/>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8" name="Rectangle 17"/>
          <p:cNvSpPr>
            <a:spLocks noChangeArrowheads="1"/>
          </p:cNvSpPr>
          <p:nvPr/>
        </p:nvSpPr>
        <p:spPr bwMode="auto">
          <a:xfrm rot="10800000" flipV="1">
            <a:off x="198438" y="3668713"/>
            <a:ext cx="466725"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9" name="AutoShape 37"/>
          <p:cNvSpPr>
            <a:spLocks noChangeArrowheads="1"/>
          </p:cNvSpPr>
          <p:nvPr/>
        </p:nvSpPr>
        <p:spPr bwMode="auto">
          <a:xfrm>
            <a:off x="906463" y="3575050"/>
            <a:ext cx="373062"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0" name="AutoShape 36"/>
          <p:cNvSpPr>
            <a:spLocks noChangeArrowheads="1"/>
          </p:cNvSpPr>
          <p:nvPr/>
        </p:nvSpPr>
        <p:spPr bwMode="auto">
          <a:xfrm>
            <a:off x="2114550" y="3614738"/>
            <a:ext cx="390525"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1" name="AutoShape 35"/>
          <p:cNvSpPr>
            <a:spLocks noChangeArrowheads="1"/>
          </p:cNvSpPr>
          <p:nvPr/>
        </p:nvSpPr>
        <p:spPr bwMode="auto">
          <a:xfrm>
            <a:off x="185738" y="1484313"/>
            <a:ext cx="35718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2" name="AutoShape 37"/>
          <p:cNvSpPr>
            <a:spLocks noChangeArrowheads="1"/>
          </p:cNvSpPr>
          <p:nvPr/>
        </p:nvSpPr>
        <p:spPr bwMode="auto">
          <a:xfrm>
            <a:off x="1535113" y="1465263"/>
            <a:ext cx="373062"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3" name="AutoShape 36"/>
          <p:cNvSpPr>
            <a:spLocks noChangeArrowheads="1"/>
          </p:cNvSpPr>
          <p:nvPr/>
        </p:nvSpPr>
        <p:spPr bwMode="auto">
          <a:xfrm>
            <a:off x="809625" y="1506538"/>
            <a:ext cx="390525"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5" name="AutoShape 35"/>
          <p:cNvSpPr>
            <a:spLocks noChangeArrowheads="1"/>
          </p:cNvSpPr>
          <p:nvPr/>
        </p:nvSpPr>
        <p:spPr bwMode="auto">
          <a:xfrm>
            <a:off x="852488" y="2455863"/>
            <a:ext cx="35718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6" name="AutoShape 37"/>
          <p:cNvSpPr>
            <a:spLocks noChangeArrowheads="1"/>
          </p:cNvSpPr>
          <p:nvPr/>
        </p:nvSpPr>
        <p:spPr bwMode="auto">
          <a:xfrm>
            <a:off x="1544638" y="2436813"/>
            <a:ext cx="373062"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28" name="Oval 38"/>
          <p:cNvSpPr>
            <a:spLocks noChangeArrowheads="1"/>
          </p:cNvSpPr>
          <p:nvPr/>
        </p:nvSpPr>
        <p:spPr bwMode="auto">
          <a:xfrm>
            <a:off x="169863" y="2517775"/>
            <a:ext cx="488950" cy="184150"/>
          </a:xfrm>
          <a:prstGeom prst="ellipse">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0" name="AutoShape 37"/>
          <p:cNvSpPr>
            <a:spLocks noChangeArrowheads="1"/>
          </p:cNvSpPr>
          <p:nvPr/>
        </p:nvSpPr>
        <p:spPr bwMode="auto">
          <a:xfrm>
            <a:off x="1544638" y="1951038"/>
            <a:ext cx="373062"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1" name="AutoShape 36"/>
          <p:cNvSpPr>
            <a:spLocks noChangeArrowheads="1"/>
          </p:cNvSpPr>
          <p:nvPr/>
        </p:nvSpPr>
        <p:spPr bwMode="auto">
          <a:xfrm>
            <a:off x="819150" y="1992313"/>
            <a:ext cx="390525"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2" name="Oval 38"/>
          <p:cNvSpPr>
            <a:spLocks noChangeArrowheads="1"/>
          </p:cNvSpPr>
          <p:nvPr/>
        </p:nvSpPr>
        <p:spPr bwMode="auto">
          <a:xfrm>
            <a:off x="179388" y="2032000"/>
            <a:ext cx="488950" cy="184150"/>
          </a:xfrm>
          <a:prstGeom prst="ellipse">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3" name="AutoShape 35"/>
          <p:cNvSpPr>
            <a:spLocks noChangeArrowheads="1"/>
          </p:cNvSpPr>
          <p:nvPr/>
        </p:nvSpPr>
        <p:spPr bwMode="auto">
          <a:xfrm>
            <a:off x="204788" y="2932113"/>
            <a:ext cx="35718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5" name="AutoShape 36"/>
          <p:cNvSpPr>
            <a:spLocks noChangeArrowheads="1"/>
          </p:cNvSpPr>
          <p:nvPr/>
        </p:nvSpPr>
        <p:spPr bwMode="auto">
          <a:xfrm>
            <a:off x="828675" y="2954338"/>
            <a:ext cx="390525"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7" name="AutoShape 40"/>
          <p:cNvSpPr>
            <a:spLocks noChangeArrowheads="1"/>
          </p:cNvSpPr>
          <p:nvPr/>
        </p:nvSpPr>
        <p:spPr bwMode="auto">
          <a:xfrm>
            <a:off x="809625" y="4141788"/>
            <a:ext cx="484188" cy="263525"/>
          </a:xfrm>
          <a:prstGeom prst="wave">
            <a:avLst>
              <a:gd name="adj1" fmla="val 20644"/>
              <a:gd name="adj2" fmla="val 7681"/>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39" name="AutoShape 37"/>
          <p:cNvSpPr>
            <a:spLocks noChangeArrowheads="1"/>
          </p:cNvSpPr>
          <p:nvPr/>
        </p:nvSpPr>
        <p:spPr bwMode="auto">
          <a:xfrm>
            <a:off x="287338" y="4070350"/>
            <a:ext cx="373062"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0" name="AutoShape 36"/>
          <p:cNvSpPr>
            <a:spLocks noChangeArrowheads="1"/>
          </p:cNvSpPr>
          <p:nvPr/>
        </p:nvSpPr>
        <p:spPr bwMode="auto">
          <a:xfrm>
            <a:off x="1533525" y="4110038"/>
            <a:ext cx="390525"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2" name="Rectangle 41"/>
          <p:cNvSpPr>
            <a:spLocks noChangeArrowheads="1"/>
          </p:cNvSpPr>
          <p:nvPr/>
        </p:nvSpPr>
        <p:spPr bwMode="auto">
          <a:xfrm rot="10800000" flipV="1">
            <a:off x="207963" y="4630738"/>
            <a:ext cx="466725"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3" name="AutoShape 37"/>
          <p:cNvSpPr>
            <a:spLocks noChangeArrowheads="1"/>
          </p:cNvSpPr>
          <p:nvPr/>
        </p:nvSpPr>
        <p:spPr bwMode="auto">
          <a:xfrm>
            <a:off x="915988" y="4537075"/>
            <a:ext cx="373062"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4" name="AutoShape 36"/>
          <p:cNvSpPr>
            <a:spLocks noChangeArrowheads="1"/>
          </p:cNvSpPr>
          <p:nvPr/>
        </p:nvSpPr>
        <p:spPr bwMode="auto">
          <a:xfrm>
            <a:off x="1543050" y="4576763"/>
            <a:ext cx="390525"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5" name="AutoShape 40"/>
          <p:cNvSpPr>
            <a:spLocks noChangeArrowheads="1"/>
          </p:cNvSpPr>
          <p:nvPr/>
        </p:nvSpPr>
        <p:spPr bwMode="auto">
          <a:xfrm>
            <a:off x="1482725" y="5113338"/>
            <a:ext cx="484188" cy="263525"/>
          </a:xfrm>
          <a:prstGeom prst="wave">
            <a:avLst>
              <a:gd name="adj1" fmla="val 20644"/>
              <a:gd name="adj2" fmla="val 7681"/>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6" name="Rectangle 45"/>
          <p:cNvSpPr>
            <a:spLocks noChangeArrowheads="1"/>
          </p:cNvSpPr>
          <p:nvPr/>
        </p:nvSpPr>
        <p:spPr bwMode="auto">
          <a:xfrm rot="10800000" flipV="1">
            <a:off x="188913" y="5135563"/>
            <a:ext cx="466725"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47" name="AutoShape 37"/>
          <p:cNvSpPr>
            <a:spLocks noChangeArrowheads="1"/>
          </p:cNvSpPr>
          <p:nvPr/>
        </p:nvSpPr>
        <p:spPr bwMode="auto">
          <a:xfrm>
            <a:off x="896938" y="5041900"/>
            <a:ext cx="373062"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50" name="Rectangle 49"/>
          <p:cNvSpPr>
            <a:spLocks noChangeArrowheads="1"/>
          </p:cNvSpPr>
          <p:nvPr/>
        </p:nvSpPr>
        <p:spPr bwMode="auto">
          <a:xfrm rot="10800000" flipV="1">
            <a:off x="188913" y="5630863"/>
            <a:ext cx="466725"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52" name="AutoShape 36"/>
          <p:cNvSpPr>
            <a:spLocks noChangeArrowheads="1"/>
          </p:cNvSpPr>
          <p:nvPr/>
        </p:nvSpPr>
        <p:spPr bwMode="auto">
          <a:xfrm>
            <a:off x="895350" y="5576888"/>
            <a:ext cx="390525"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66948" name="ZoneTexte 53"/>
          <p:cNvSpPr txBox="1">
            <a:spLocks noChangeArrowheads="1"/>
          </p:cNvSpPr>
          <p:nvPr/>
        </p:nvSpPr>
        <p:spPr bwMode="auto">
          <a:xfrm>
            <a:off x="543476" y="6032500"/>
            <a:ext cx="14355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rPr>
              <a:t>Premier</a:t>
            </a:r>
            <a:r>
              <a:rPr lang="fr-FR" altLang="fr-FR" sz="1600" b="1" dirty="0">
                <a:solidFill>
                  <a:srgbClr val="0033CC"/>
                </a:solidFill>
                <a:latin typeface="Calibri" panose="020F0502020204030204" pitchFamily="34" charset="0"/>
              </a:rPr>
              <a:t> temps</a:t>
            </a:r>
          </a:p>
        </p:txBody>
      </p:sp>
      <p:sp>
        <p:nvSpPr>
          <p:cNvPr id="86" name="ZoneTexte 85"/>
          <p:cNvSpPr txBox="1">
            <a:spLocks noChangeArrowheads="1"/>
          </p:cNvSpPr>
          <p:nvPr/>
        </p:nvSpPr>
        <p:spPr bwMode="auto">
          <a:xfrm>
            <a:off x="3245752" y="6045200"/>
            <a:ext cx="161903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b="1" dirty="0">
                <a:solidFill>
                  <a:srgbClr val="FF0000"/>
                </a:solidFill>
                <a:latin typeface="Calibri" panose="020F0502020204030204" pitchFamily="34" charset="0"/>
              </a:rPr>
              <a:t>Deuxième</a:t>
            </a:r>
            <a:r>
              <a:rPr lang="fr-FR" altLang="fr-FR" sz="1600" b="1" dirty="0">
                <a:solidFill>
                  <a:srgbClr val="0033CC"/>
                </a:solidFill>
                <a:latin typeface="Calibri" panose="020F0502020204030204" pitchFamily="34" charset="0"/>
              </a:rPr>
              <a:t> temps</a:t>
            </a:r>
          </a:p>
        </p:txBody>
      </p:sp>
      <p:grpSp>
        <p:nvGrpSpPr>
          <p:cNvPr id="3" name="Groupe 88"/>
          <p:cNvGrpSpPr>
            <a:grpSpLocks/>
          </p:cNvGrpSpPr>
          <p:nvPr/>
        </p:nvGrpSpPr>
        <p:grpSpPr bwMode="auto">
          <a:xfrm>
            <a:off x="2822575" y="901700"/>
            <a:ext cx="3019425" cy="5194300"/>
            <a:chOff x="2822234" y="901700"/>
            <a:chExt cx="3019766" cy="5194300"/>
          </a:xfrm>
        </p:grpSpPr>
        <p:pic>
          <p:nvPicPr>
            <p:cNvPr id="16696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r="64214"/>
            <a:stretch>
              <a:fillRect/>
            </a:stretch>
          </p:blipFill>
          <p:spPr bwMode="auto">
            <a:xfrm>
              <a:off x="2822234" y="901700"/>
              <a:ext cx="2702266"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AutoShape 35"/>
            <p:cNvSpPr>
              <a:spLocks noChangeArrowheads="1"/>
            </p:cNvSpPr>
            <p:nvPr/>
          </p:nvSpPr>
          <p:spPr bwMode="auto">
            <a:xfrm>
              <a:off x="3655766" y="1011238"/>
              <a:ext cx="35722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57" name="AutoShape 37"/>
            <p:cNvSpPr>
              <a:spLocks noChangeArrowheads="1"/>
            </p:cNvSpPr>
            <p:nvPr/>
          </p:nvSpPr>
          <p:spPr bwMode="auto">
            <a:xfrm>
              <a:off x="4943374" y="992188"/>
              <a:ext cx="371517"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58" name="AutoShape 36"/>
            <p:cNvSpPr>
              <a:spLocks noChangeArrowheads="1"/>
            </p:cNvSpPr>
            <p:nvPr/>
          </p:nvSpPr>
          <p:spPr bwMode="auto">
            <a:xfrm>
              <a:off x="4279724" y="1033463"/>
              <a:ext cx="390569"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59" name="Oval 38"/>
            <p:cNvSpPr>
              <a:spLocks noChangeArrowheads="1"/>
            </p:cNvSpPr>
            <p:nvPr/>
          </p:nvSpPr>
          <p:spPr bwMode="auto">
            <a:xfrm>
              <a:off x="2973064" y="1073150"/>
              <a:ext cx="489005" cy="184150"/>
            </a:xfrm>
            <a:prstGeom prst="ellipse">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0" name="AutoShape 40"/>
            <p:cNvSpPr>
              <a:spLocks noChangeArrowheads="1"/>
            </p:cNvSpPr>
            <p:nvPr/>
          </p:nvSpPr>
          <p:spPr bwMode="auto">
            <a:xfrm>
              <a:off x="4286074" y="3659188"/>
              <a:ext cx="484243" cy="263525"/>
            </a:xfrm>
            <a:prstGeom prst="wave">
              <a:avLst>
                <a:gd name="adj1" fmla="val 20644"/>
                <a:gd name="adj2" fmla="val 7681"/>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1" name="Rectangle 60"/>
            <p:cNvSpPr>
              <a:spLocks noChangeArrowheads="1"/>
            </p:cNvSpPr>
            <p:nvPr/>
          </p:nvSpPr>
          <p:spPr bwMode="auto">
            <a:xfrm rot="10800000" flipV="1">
              <a:off x="2992116" y="3681413"/>
              <a:ext cx="466778"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2" name="AutoShape 37"/>
            <p:cNvSpPr>
              <a:spLocks noChangeArrowheads="1"/>
            </p:cNvSpPr>
            <p:nvPr/>
          </p:nvSpPr>
          <p:spPr bwMode="auto">
            <a:xfrm>
              <a:off x="3701808" y="3587750"/>
              <a:ext cx="371517"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3" name="AutoShape 36"/>
            <p:cNvSpPr>
              <a:spLocks noChangeArrowheads="1"/>
            </p:cNvSpPr>
            <p:nvPr/>
          </p:nvSpPr>
          <p:spPr bwMode="auto">
            <a:xfrm>
              <a:off x="4908445" y="3627438"/>
              <a:ext cx="390569"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4" name="AutoShape 35"/>
            <p:cNvSpPr>
              <a:spLocks noChangeArrowheads="1"/>
            </p:cNvSpPr>
            <p:nvPr/>
          </p:nvSpPr>
          <p:spPr bwMode="auto">
            <a:xfrm>
              <a:off x="3665292" y="1497013"/>
              <a:ext cx="35722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5" name="AutoShape 37"/>
            <p:cNvSpPr>
              <a:spLocks noChangeArrowheads="1"/>
            </p:cNvSpPr>
            <p:nvPr/>
          </p:nvSpPr>
          <p:spPr bwMode="auto">
            <a:xfrm>
              <a:off x="4952900" y="1477963"/>
              <a:ext cx="371517"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6" name="AutoShape 36"/>
            <p:cNvSpPr>
              <a:spLocks noChangeArrowheads="1"/>
            </p:cNvSpPr>
            <p:nvPr/>
          </p:nvSpPr>
          <p:spPr bwMode="auto">
            <a:xfrm>
              <a:off x="4289250" y="1519238"/>
              <a:ext cx="390569"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7" name="AutoShape 35"/>
            <p:cNvSpPr>
              <a:spLocks noChangeArrowheads="1"/>
            </p:cNvSpPr>
            <p:nvPr/>
          </p:nvSpPr>
          <p:spPr bwMode="auto">
            <a:xfrm>
              <a:off x="3646240" y="2468563"/>
              <a:ext cx="35722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8" name="AutoShape 37"/>
            <p:cNvSpPr>
              <a:spLocks noChangeArrowheads="1"/>
            </p:cNvSpPr>
            <p:nvPr/>
          </p:nvSpPr>
          <p:spPr bwMode="auto">
            <a:xfrm>
              <a:off x="4962426" y="2449513"/>
              <a:ext cx="371517"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69" name="Oval 38"/>
            <p:cNvSpPr>
              <a:spLocks noChangeArrowheads="1"/>
            </p:cNvSpPr>
            <p:nvPr/>
          </p:nvSpPr>
          <p:spPr bwMode="auto">
            <a:xfrm>
              <a:off x="2963538" y="2530475"/>
              <a:ext cx="489005" cy="184150"/>
            </a:xfrm>
            <a:prstGeom prst="ellipse">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0" name="AutoShape 37"/>
            <p:cNvSpPr>
              <a:spLocks noChangeArrowheads="1"/>
            </p:cNvSpPr>
            <p:nvPr/>
          </p:nvSpPr>
          <p:spPr bwMode="auto">
            <a:xfrm>
              <a:off x="4962426" y="1963738"/>
              <a:ext cx="371517" cy="347662"/>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1" name="AutoShape 36"/>
            <p:cNvSpPr>
              <a:spLocks noChangeArrowheads="1"/>
            </p:cNvSpPr>
            <p:nvPr/>
          </p:nvSpPr>
          <p:spPr bwMode="auto">
            <a:xfrm>
              <a:off x="4298776" y="2005013"/>
              <a:ext cx="390569"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2" name="Oval 38"/>
            <p:cNvSpPr>
              <a:spLocks noChangeArrowheads="1"/>
            </p:cNvSpPr>
            <p:nvPr/>
          </p:nvSpPr>
          <p:spPr bwMode="auto">
            <a:xfrm>
              <a:off x="2973064" y="2044700"/>
              <a:ext cx="489005" cy="184150"/>
            </a:xfrm>
            <a:prstGeom prst="ellipse">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3" name="AutoShape 35"/>
            <p:cNvSpPr>
              <a:spLocks noChangeArrowheads="1"/>
            </p:cNvSpPr>
            <p:nvPr/>
          </p:nvSpPr>
          <p:spPr bwMode="auto">
            <a:xfrm>
              <a:off x="3668468" y="2944813"/>
              <a:ext cx="357227" cy="307975"/>
            </a:xfrm>
            <a:prstGeom prst="plus">
              <a:avLst>
                <a:gd name="adj" fmla="val 29556"/>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4" name="AutoShape 36"/>
            <p:cNvSpPr>
              <a:spLocks noChangeArrowheads="1"/>
            </p:cNvSpPr>
            <p:nvPr/>
          </p:nvSpPr>
          <p:spPr bwMode="auto">
            <a:xfrm>
              <a:off x="4308302" y="2967038"/>
              <a:ext cx="390569" cy="263525"/>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5" name="AutoShape 40"/>
            <p:cNvSpPr>
              <a:spLocks noChangeArrowheads="1"/>
            </p:cNvSpPr>
            <p:nvPr/>
          </p:nvSpPr>
          <p:spPr bwMode="auto">
            <a:xfrm>
              <a:off x="4263847" y="4154488"/>
              <a:ext cx="484243" cy="263525"/>
            </a:xfrm>
            <a:prstGeom prst="wave">
              <a:avLst>
                <a:gd name="adj1" fmla="val 20644"/>
                <a:gd name="adj2" fmla="val 7681"/>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6" name="AutoShape 37"/>
            <p:cNvSpPr>
              <a:spLocks noChangeArrowheads="1"/>
            </p:cNvSpPr>
            <p:nvPr/>
          </p:nvSpPr>
          <p:spPr bwMode="auto">
            <a:xfrm>
              <a:off x="3717685" y="4083050"/>
              <a:ext cx="371517"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7" name="AutoShape 36"/>
            <p:cNvSpPr>
              <a:spLocks noChangeArrowheads="1"/>
            </p:cNvSpPr>
            <p:nvPr/>
          </p:nvSpPr>
          <p:spPr bwMode="auto">
            <a:xfrm>
              <a:off x="4924321" y="4122738"/>
              <a:ext cx="390569"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8" name="Rectangle 77"/>
            <p:cNvSpPr>
              <a:spLocks noChangeArrowheads="1"/>
            </p:cNvSpPr>
            <p:nvPr/>
          </p:nvSpPr>
          <p:spPr bwMode="auto">
            <a:xfrm rot="10800000" flipV="1">
              <a:off x="3001642" y="4643438"/>
              <a:ext cx="466778"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79" name="AutoShape 37"/>
            <p:cNvSpPr>
              <a:spLocks noChangeArrowheads="1"/>
            </p:cNvSpPr>
            <p:nvPr/>
          </p:nvSpPr>
          <p:spPr bwMode="auto">
            <a:xfrm>
              <a:off x="3685932" y="4549775"/>
              <a:ext cx="371517"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80" name="AutoShape 36"/>
            <p:cNvSpPr>
              <a:spLocks noChangeArrowheads="1"/>
            </p:cNvSpPr>
            <p:nvPr/>
          </p:nvSpPr>
          <p:spPr bwMode="auto">
            <a:xfrm>
              <a:off x="4933847" y="4589463"/>
              <a:ext cx="390569"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81" name="AutoShape 40"/>
            <p:cNvSpPr>
              <a:spLocks noChangeArrowheads="1"/>
            </p:cNvSpPr>
            <p:nvPr/>
          </p:nvSpPr>
          <p:spPr bwMode="auto">
            <a:xfrm>
              <a:off x="4251145" y="5126038"/>
              <a:ext cx="484243" cy="263525"/>
            </a:xfrm>
            <a:prstGeom prst="wave">
              <a:avLst>
                <a:gd name="adj1" fmla="val 20644"/>
                <a:gd name="adj2" fmla="val 7681"/>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82" name="Rectangle 81"/>
            <p:cNvSpPr>
              <a:spLocks noChangeArrowheads="1"/>
            </p:cNvSpPr>
            <p:nvPr/>
          </p:nvSpPr>
          <p:spPr bwMode="auto">
            <a:xfrm rot="10800000" flipV="1">
              <a:off x="2982590" y="5148263"/>
              <a:ext cx="466778"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83" name="AutoShape 37"/>
            <p:cNvSpPr>
              <a:spLocks noChangeArrowheads="1"/>
            </p:cNvSpPr>
            <p:nvPr/>
          </p:nvSpPr>
          <p:spPr bwMode="auto">
            <a:xfrm>
              <a:off x="3692282" y="5054600"/>
              <a:ext cx="371517" cy="347663"/>
            </a:xfrm>
            <a:prstGeom prst="star5">
              <a:avLst/>
            </a:prstGeom>
            <a:solidFill>
              <a:schemeClr val="bg1">
                <a:lumMod val="85000"/>
              </a:schemeClr>
            </a:solidFill>
            <a:ln w="9525">
              <a:solidFill>
                <a:schemeClr val="tx1"/>
              </a:solidFill>
              <a:miter lim="800000"/>
              <a:headEnd/>
              <a:tailEnd/>
            </a:ln>
            <a:effectLst/>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84" name="Rectangle 83"/>
            <p:cNvSpPr>
              <a:spLocks noChangeArrowheads="1"/>
            </p:cNvSpPr>
            <p:nvPr/>
          </p:nvSpPr>
          <p:spPr bwMode="auto">
            <a:xfrm rot="10800000" flipV="1">
              <a:off x="2982590" y="5643563"/>
              <a:ext cx="466778" cy="157162"/>
            </a:xfrm>
            <a:prstGeom prst="rect">
              <a:avLst/>
            </a:prstGeom>
            <a:solidFill>
              <a:schemeClr val="bg1">
                <a:lumMod val="85000"/>
              </a:schemeClr>
            </a:solidFill>
            <a:ln w="9525">
              <a:solidFill>
                <a:schemeClr val="tx1"/>
              </a:solidFill>
              <a:round/>
              <a:headEnd/>
              <a:tailEnd/>
            </a:ln>
          </p:spPr>
          <p:txBody>
            <a:bodyPr vert="eaVert"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85" name="AutoShape 36"/>
            <p:cNvSpPr>
              <a:spLocks noChangeArrowheads="1"/>
            </p:cNvSpPr>
            <p:nvPr/>
          </p:nvSpPr>
          <p:spPr bwMode="auto">
            <a:xfrm>
              <a:off x="4921146" y="5589588"/>
              <a:ext cx="390569" cy="265112"/>
            </a:xfrm>
            <a:prstGeom prst="triangle">
              <a:avLst>
                <a:gd name="adj" fmla="val 50000"/>
              </a:avLst>
            </a:prstGeom>
            <a:solidFill>
              <a:schemeClr val="bg1">
                <a:lumMod val="85000"/>
              </a:schemeClr>
            </a:solidFill>
            <a:ln w="9525">
              <a:solidFill>
                <a:schemeClr val="tx1"/>
              </a:solidFill>
              <a:miter lim="800000"/>
              <a:headEnd/>
              <a:tailEnd/>
            </a:ln>
          </p:spPr>
          <p:txBody>
            <a:bodyPr wrap="none" anchor="ctr"/>
            <a:lstStyle>
              <a:defPPr>
                <a:defRPr lang="fr-FR"/>
              </a:defPPr>
              <a:lvl1pPr algn="ctr" rtl="0" fontAlgn="base">
                <a:spcBef>
                  <a:spcPct val="0"/>
                </a:spcBef>
                <a:spcAft>
                  <a:spcPct val="0"/>
                </a:spcAft>
                <a:defRPr sz="1000" kern="1200">
                  <a:solidFill>
                    <a:schemeClr val="tx1"/>
                  </a:solidFill>
                  <a:latin typeface="Arial" charset="0"/>
                  <a:ea typeface="+mn-ea"/>
                  <a:cs typeface="+mn-cs"/>
                </a:defRPr>
              </a:lvl1pPr>
              <a:lvl2pPr marL="457200" algn="ctr" rtl="0" fontAlgn="base">
                <a:spcBef>
                  <a:spcPct val="0"/>
                </a:spcBef>
                <a:spcAft>
                  <a:spcPct val="0"/>
                </a:spcAft>
                <a:defRPr sz="1000" kern="1200">
                  <a:solidFill>
                    <a:schemeClr val="tx1"/>
                  </a:solidFill>
                  <a:latin typeface="Arial" charset="0"/>
                  <a:ea typeface="+mn-ea"/>
                  <a:cs typeface="+mn-cs"/>
                </a:defRPr>
              </a:lvl2pPr>
              <a:lvl3pPr marL="914400" algn="ctr" rtl="0" fontAlgn="base">
                <a:spcBef>
                  <a:spcPct val="0"/>
                </a:spcBef>
                <a:spcAft>
                  <a:spcPct val="0"/>
                </a:spcAft>
                <a:defRPr sz="1000" kern="1200">
                  <a:solidFill>
                    <a:schemeClr val="tx1"/>
                  </a:solidFill>
                  <a:latin typeface="Arial" charset="0"/>
                  <a:ea typeface="+mn-ea"/>
                  <a:cs typeface="+mn-cs"/>
                </a:defRPr>
              </a:lvl3pPr>
              <a:lvl4pPr marL="1371600" algn="ctr" rtl="0" fontAlgn="base">
                <a:spcBef>
                  <a:spcPct val="0"/>
                </a:spcBef>
                <a:spcAft>
                  <a:spcPct val="0"/>
                </a:spcAft>
                <a:defRPr sz="1000" kern="1200">
                  <a:solidFill>
                    <a:schemeClr val="tx1"/>
                  </a:solidFill>
                  <a:latin typeface="Arial" charset="0"/>
                  <a:ea typeface="+mn-ea"/>
                  <a:cs typeface="+mn-cs"/>
                </a:defRPr>
              </a:lvl4pPr>
              <a:lvl5pPr marL="1828800" algn="ctr" rtl="0" fontAlgn="base">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a:lstStyle>
            <a:p>
              <a:pPr>
                <a:defRPr/>
              </a:pPr>
              <a:endParaRPr lang="fr-FR" sz="1400" dirty="0">
                <a:latin typeface="Calibri" panose="020F0502020204030204" pitchFamily="34" charset="0"/>
              </a:endParaRPr>
            </a:p>
          </p:txBody>
        </p:sp>
        <p:sp>
          <p:nvSpPr>
            <p:cNvPr id="166992" name="Flèche droite 86"/>
            <p:cNvSpPr>
              <a:spLocks noChangeArrowheads="1"/>
            </p:cNvSpPr>
            <p:nvPr/>
          </p:nvSpPr>
          <p:spPr bwMode="auto">
            <a:xfrm flipH="1">
              <a:off x="5638800" y="3238500"/>
              <a:ext cx="203200" cy="317500"/>
            </a:xfrm>
            <a:prstGeom prst="rightArrow">
              <a:avLst>
                <a:gd name="adj1" fmla="val 50000"/>
                <a:gd name="adj2" fmla="val 50000"/>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cxnSp>
        <p:nvCxnSpPr>
          <p:cNvPr id="92" name="Connecteur droit avec flèche 91"/>
          <p:cNvCxnSpPr>
            <a:cxnSpLocks noChangeShapeType="1"/>
          </p:cNvCxnSpPr>
          <p:nvPr/>
        </p:nvCxnSpPr>
        <p:spPr bwMode="auto">
          <a:xfrm>
            <a:off x="3040063" y="1663700"/>
            <a:ext cx="37306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3" name="Connecteur droit avec flèche 92"/>
          <p:cNvCxnSpPr>
            <a:cxnSpLocks noChangeShapeType="1"/>
          </p:cNvCxnSpPr>
          <p:nvPr/>
        </p:nvCxnSpPr>
        <p:spPr bwMode="auto">
          <a:xfrm>
            <a:off x="3703638" y="2165350"/>
            <a:ext cx="37306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4" name="Connecteur droit avec flèche 93"/>
          <p:cNvCxnSpPr>
            <a:cxnSpLocks noChangeShapeType="1"/>
          </p:cNvCxnSpPr>
          <p:nvPr/>
        </p:nvCxnSpPr>
        <p:spPr bwMode="auto">
          <a:xfrm>
            <a:off x="4327525" y="2646363"/>
            <a:ext cx="37465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 name="Connecteur droit avec flèche 94"/>
          <p:cNvCxnSpPr>
            <a:cxnSpLocks noChangeShapeType="1"/>
          </p:cNvCxnSpPr>
          <p:nvPr/>
        </p:nvCxnSpPr>
        <p:spPr bwMode="auto">
          <a:xfrm>
            <a:off x="3008313" y="3113088"/>
            <a:ext cx="373062"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6" name="Connecteur droit avec flèche 95"/>
          <p:cNvCxnSpPr>
            <a:cxnSpLocks noChangeShapeType="1"/>
          </p:cNvCxnSpPr>
          <p:nvPr/>
        </p:nvCxnSpPr>
        <p:spPr bwMode="auto">
          <a:xfrm>
            <a:off x="3055938" y="4284663"/>
            <a:ext cx="373062"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7" name="Connecteur droit avec flèche 96"/>
          <p:cNvCxnSpPr>
            <a:cxnSpLocks noChangeShapeType="1"/>
          </p:cNvCxnSpPr>
          <p:nvPr/>
        </p:nvCxnSpPr>
        <p:spPr bwMode="auto">
          <a:xfrm>
            <a:off x="4313238" y="4772025"/>
            <a:ext cx="373062"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8" name="Connecteur droit avec flèche 97"/>
          <p:cNvCxnSpPr>
            <a:cxnSpLocks noChangeShapeType="1"/>
          </p:cNvCxnSpPr>
          <p:nvPr/>
        </p:nvCxnSpPr>
        <p:spPr bwMode="auto">
          <a:xfrm flipV="1">
            <a:off x="3673475" y="5730875"/>
            <a:ext cx="898525"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pic>
        <p:nvPicPr>
          <p:cNvPr id="87" name="Image 86"/>
          <p:cNvPicPr>
            <a:picLocks noChangeAspect="1"/>
          </p:cNvPicPr>
          <p:nvPr/>
        </p:nvPicPr>
        <p:blipFill>
          <a:blip r:embed="rId4"/>
          <a:stretch>
            <a:fillRect/>
          </a:stretch>
        </p:blipFill>
        <p:spPr>
          <a:xfrm>
            <a:off x="5929313" y="2176463"/>
            <a:ext cx="3577025" cy="2466975"/>
          </a:xfrm>
          <a:prstGeom prst="rect">
            <a:avLst/>
          </a:prstGeom>
        </p:spPr>
      </p:pic>
      <p:pic>
        <p:nvPicPr>
          <p:cNvPr id="88" name="Picture 2" descr="C:\Users\BertrandS\Dropbox\Jeux\00. CONCEPTION DES JEUX\photos\Bureau Une Femme 29\iStock_000002139332_Medium ALLEGE.jpg"/>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300"/>
                                  </p:stCondLst>
                                  <p:childTnLst>
                                    <p:set>
                                      <p:cBhvr>
                                        <p:cTn id="9" dur="1" fill="hold">
                                          <p:stCondLst>
                                            <p:cond delay="0"/>
                                          </p:stCondLst>
                                        </p:cTn>
                                        <p:tgtEl>
                                          <p:spTgt spid="13"/>
                                        </p:tgtEl>
                                        <p:attrNameLst>
                                          <p:attrName>style.visibility</p:attrName>
                                        </p:attrNameLst>
                                      </p:cBhvr>
                                      <p:to>
                                        <p:strVal val="visible"/>
                                      </p:to>
                                    </p:set>
                                  </p:childTnLst>
                                </p:cTn>
                              </p:par>
                            </p:childTnLst>
                          </p:cTn>
                        </p:par>
                        <p:par>
                          <p:cTn id="10" fill="hold" nodeType="afterGroup">
                            <p:stCondLst>
                              <p:cond delay="300"/>
                            </p:stCondLst>
                            <p:childTnLst>
                              <p:par>
                                <p:cTn id="11" presetID="1" presetClass="entr" presetSubtype="0" fill="hold" grpId="0" nodeType="afterEffect">
                                  <p:stCondLst>
                                    <p:cond delay="300"/>
                                  </p:stCondLst>
                                  <p:childTnLst>
                                    <p:set>
                                      <p:cBhvr>
                                        <p:cTn id="12" dur="1" fill="hold">
                                          <p:stCondLst>
                                            <p:cond delay="0"/>
                                          </p:stCondLst>
                                        </p:cTn>
                                        <p:tgtEl>
                                          <p:spTgt spid="15"/>
                                        </p:tgtEl>
                                        <p:attrNameLst>
                                          <p:attrName>style.visibility</p:attrName>
                                        </p:attrNameLst>
                                      </p:cBhvr>
                                      <p:to>
                                        <p:strVal val="visible"/>
                                      </p:to>
                                    </p:set>
                                  </p:childTnLst>
                                </p:cTn>
                              </p:par>
                            </p:childTnLst>
                          </p:cTn>
                        </p:par>
                        <p:par>
                          <p:cTn id="13" fill="hold" nodeType="afterGroup">
                            <p:stCondLst>
                              <p:cond delay="600"/>
                            </p:stCondLst>
                            <p:childTnLst>
                              <p:par>
                                <p:cTn id="14" presetID="1" presetClass="entr" presetSubtype="0" fill="hold" nodeType="afterEffect">
                                  <p:stCondLst>
                                    <p:cond delay="300"/>
                                  </p:stCondLst>
                                  <p:childTnLst>
                                    <p:set>
                                      <p:cBhvr>
                                        <p:cTn id="15" dur="1" fill="hold">
                                          <p:stCondLst>
                                            <p:cond delay="0"/>
                                          </p:stCondLst>
                                        </p:cTn>
                                        <p:tgtEl>
                                          <p:spTgt spid="14"/>
                                        </p:tgtEl>
                                        <p:attrNameLst>
                                          <p:attrName>style.visibility</p:attrName>
                                        </p:attrNameLst>
                                      </p:cBhvr>
                                      <p:to>
                                        <p:strVal val="visible"/>
                                      </p:to>
                                    </p:set>
                                  </p:childTnLst>
                                </p:cTn>
                              </p:par>
                            </p:childTnLst>
                          </p:cTn>
                        </p:par>
                        <p:par>
                          <p:cTn id="16" fill="hold" nodeType="afterGroup">
                            <p:stCondLst>
                              <p:cond delay="900"/>
                            </p:stCondLst>
                            <p:childTnLst>
                              <p:par>
                                <p:cTn id="17" presetID="1" presetClass="entr" presetSubtype="0" fill="hold" grpId="0" nodeType="afterEffect">
                                  <p:stCondLst>
                                    <p:cond delay="300"/>
                                  </p:stCondLst>
                                  <p:childTnLst>
                                    <p:set>
                                      <p:cBhvr>
                                        <p:cTn id="18" dur="1" fill="hold">
                                          <p:stCondLst>
                                            <p:cond delay="0"/>
                                          </p:stCondLst>
                                        </p:cTn>
                                        <p:tgtEl>
                                          <p:spTgt spid="21"/>
                                        </p:tgtEl>
                                        <p:attrNameLst>
                                          <p:attrName>style.visibility</p:attrName>
                                        </p:attrNameLst>
                                      </p:cBhvr>
                                      <p:to>
                                        <p:strVal val="visible"/>
                                      </p:to>
                                    </p:set>
                                  </p:childTnLst>
                                </p:cTn>
                              </p:par>
                            </p:childTnLst>
                          </p:cTn>
                        </p:par>
                        <p:par>
                          <p:cTn id="19" fill="hold" nodeType="afterGroup">
                            <p:stCondLst>
                              <p:cond delay="1200"/>
                            </p:stCondLst>
                            <p:childTnLst>
                              <p:par>
                                <p:cTn id="20" presetID="1" presetClass="entr" presetSubtype="0" fill="hold" grpId="0" nodeType="afterEffect">
                                  <p:stCondLst>
                                    <p:cond delay="30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nodeType="afterGroup">
                            <p:stCondLst>
                              <p:cond delay="1500"/>
                            </p:stCondLst>
                            <p:childTnLst>
                              <p:par>
                                <p:cTn id="23" presetID="1" presetClass="entr" presetSubtype="0" fill="hold" nodeType="afterEffect">
                                  <p:stCondLst>
                                    <p:cond delay="300"/>
                                  </p:stCondLst>
                                  <p:childTnLst>
                                    <p:set>
                                      <p:cBhvr>
                                        <p:cTn id="24" dur="1" fill="hold">
                                          <p:stCondLst>
                                            <p:cond delay="0"/>
                                          </p:stCondLst>
                                        </p:cTn>
                                        <p:tgtEl>
                                          <p:spTgt spid="22"/>
                                        </p:tgtEl>
                                        <p:attrNameLst>
                                          <p:attrName>style.visibility</p:attrName>
                                        </p:attrNameLst>
                                      </p:cBhvr>
                                      <p:to>
                                        <p:strVal val="visible"/>
                                      </p:to>
                                    </p:set>
                                  </p:childTnLst>
                                </p:cTn>
                              </p:par>
                            </p:childTnLst>
                          </p:cTn>
                        </p:par>
                        <p:par>
                          <p:cTn id="25" fill="hold" nodeType="afterGroup">
                            <p:stCondLst>
                              <p:cond delay="1800"/>
                            </p:stCondLst>
                            <p:childTnLst>
                              <p:par>
                                <p:cTn id="26" presetID="1" presetClass="entr" presetSubtype="0" fill="hold" grpId="0" nodeType="afterEffect">
                                  <p:stCondLst>
                                    <p:cond delay="300"/>
                                  </p:stCondLst>
                                  <p:childTnLst>
                                    <p:set>
                                      <p:cBhvr>
                                        <p:cTn id="27" dur="1" fill="hold">
                                          <p:stCondLst>
                                            <p:cond delay="0"/>
                                          </p:stCondLst>
                                        </p:cTn>
                                        <p:tgtEl>
                                          <p:spTgt spid="32"/>
                                        </p:tgtEl>
                                        <p:attrNameLst>
                                          <p:attrName>style.visibility</p:attrName>
                                        </p:attrNameLst>
                                      </p:cBhvr>
                                      <p:to>
                                        <p:strVal val="visible"/>
                                      </p:to>
                                    </p:set>
                                  </p:childTnLst>
                                </p:cTn>
                              </p:par>
                            </p:childTnLst>
                          </p:cTn>
                        </p:par>
                        <p:par>
                          <p:cTn id="28" fill="hold" nodeType="afterGroup">
                            <p:stCondLst>
                              <p:cond delay="2100"/>
                            </p:stCondLst>
                            <p:childTnLst>
                              <p:par>
                                <p:cTn id="29" presetID="1" presetClass="entr" presetSubtype="0" fill="hold" grpId="0" nodeType="afterEffect">
                                  <p:stCondLst>
                                    <p:cond delay="300"/>
                                  </p:stCondLst>
                                  <p:childTnLst>
                                    <p:set>
                                      <p:cBhvr>
                                        <p:cTn id="30" dur="1" fill="hold">
                                          <p:stCondLst>
                                            <p:cond delay="0"/>
                                          </p:stCondLst>
                                        </p:cTn>
                                        <p:tgtEl>
                                          <p:spTgt spid="31"/>
                                        </p:tgtEl>
                                        <p:attrNameLst>
                                          <p:attrName>style.visibility</p:attrName>
                                        </p:attrNameLst>
                                      </p:cBhvr>
                                      <p:to>
                                        <p:strVal val="visible"/>
                                      </p:to>
                                    </p:set>
                                  </p:childTnLst>
                                </p:cTn>
                              </p:par>
                            </p:childTnLst>
                          </p:cTn>
                        </p:par>
                        <p:par>
                          <p:cTn id="31" fill="hold" nodeType="afterGroup">
                            <p:stCondLst>
                              <p:cond delay="2400"/>
                            </p:stCondLst>
                            <p:childTnLst>
                              <p:par>
                                <p:cTn id="32" presetID="1" presetClass="entr" presetSubtype="0" fill="hold" nodeType="afterEffect">
                                  <p:stCondLst>
                                    <p:cond delay="300"/>
                                  </p:stCondLst>
                                  <p:childTnLst>
                                    <p:set>
                                      <p:cBhvr>
                                        <p:cTn id="33" dur="1" fill="hold">
                                          <p:stCondLst>
                                            <p:cond delay="0"/>
                                          </p:stCondLst>
                                        </p:cTn>
                                        <p:tgtEl>
                                          <p:spTgt spid="30"/>
                                        </p:tgtEl>
                                        <p:attrNameLst>
                                          <p:attrName>style.visibility</p:attrName>
                                        </p:attrNameLst>
                                      </p:cBhvr>
                                      <p:to>
                                        <p:strVal val="visible"/>
                                      </p:to>
                                    </p:set>
                                  </p:childTnLst>
                                </p:cTn>
                              </p:par>
                            </p:childTnLst>
                          </p:cTn>
                        </p:par>
                        <p:par>
                          <p:cTn id="34" fill="hold" nodeType="afterGroup">
                            <p:stCondLst>
                              <p:cond delay="2700"/>
                            </p:stCondLst>
                            <p:childTnLst>
                              <p:par>
                                <p:cTn id="35" presetID="1" presetClass="entr" presetSubtype="0" fill="hold" grpId="0" nodeType="afterEffect">
                                  <p:stCondLst>
                                    <p:cond delay="300"/>
                                  </p:stCondLst>
                                  <p:childTnLst>
                                    <p:set>
                                      <p:cBhvr>
                                        <p:cTn id="36" dur="1" fill="hold">
                                          <p:stCondLst>
                                            <p:cond delay="0"/>
                                          </p:stCondLst>
                                        </p:cTn>
                                        <p:tgtEl>
                                          <p:spTgt spid="28"/>
                                        </p:tgtEl>
                                        <p:attrNameLst>
                                          <p:attrName>style.visibility</p:attrName>
                                        </p:attrNameLst>
                                      </p:cBhvr>
                                      <p:to>
                                        <p:strVal val="visible"/>
                                      </p:to>
                                    </p:set>
                                  </p:childTnLst>
                                </p:cTn>
                              </p:par>
                            </p:childTnLst>
                          </p:cTn>
                        </p:par>
                        <p:par>
                          <p:cTn id="37" fill="hold" nodeType="afterGroup">
                            <p:stCondLst>
                              <p:cond delay="3000"/>
                            </p:stCondLst>
                            <p:childTnLst>
                              <p:par>
                                <p:cTn id="38" presetID="1" presetClass="entr" presetSubtype="0" fill="hold" grpId="0" nodeType="afterEffect">
                                  <p:stCondLst>
                                    <p:cond delay="300"/>
                                  </p:stCondLst>
                                  <p:childTnLst>
                                    <p:set>
                                      <p:cBhvr>
                                        <p:cTn id="39" dur="1" fill="hold">
                                          <p:stCondLst>
                                            <p:cond delay="0"/>
                                          </p:stCondLst>
                                        </p:cTn>
                                        <p:tgtEl>
                                          <p:spTgt spid="25"/>
                                        </p:tgtEl>
                                        <p:attrNameLst>
                                          <p:attrName>style.visibility</p:attrName>
                                        </p:attrNameLst>
                                      </p:cBhvr>
                                      <p:to>
                                        <p:strVal val="visible"/>
                                      </p:to>
                                    </p:set>
                                  </p:childTnLst>
                                </p:cTn>
                              </p:par>
                            </p:childTnLst>
                          </p:cTn>
                        </p:par>
                        <p:par>
                          <p:cTn id="40" fill="hold" nodeType="afterGroup">
                            <p:stCondLst>
                              <p:cond delay="3300"/>
                            </p:stCondLst>
                            <p:childTnLst>
                              <p:par>
                                <p:cTn id="41" presetID="1" presetClass="entr" presetSubtype="0" fill="hold" nodeType="afterEffect">
                                  <p:stCondLst>
                                    <p:cond delay="300"/>
                                  </p:stCondLst>
                                  <p:childTnLst>
                                    <p:set>
                                      <p:cBhvr>
                                        <p:cTn id="42" dur="1" fill="hold">
                                          <p:stCondLst>
                                            <p:cond delay="0"/>
                                          </p:stCondLst>
                                        </p:cTn>
                                        <p:tgtEl>
                                          <p:spTgt spid="26"/>
                                        </p:tgtEl>
                                        <p:attrNameLst>
                                          <p:attrName>style.visibility</p:attrName>
                                        </p:attrNameLst>
                                      </p:cBhvr>
                                      <p:to>
                                        <p:strVal val="visible"/>
                                      </p:to>
                                    </p:set>
                                  </p:childTnLst>
                                </p:cTn>
                              </p:par>
                            </p:childTnLst>
                          </p:cTn>
                        </p:par>
                        <p:par>
                          <p:cTn id="43" fill="hold" nodeType="afterGroup">
                            <p:stCondLst>
                              <p:cond delay="3600"/>
                            </p:stCondLst>
                            <p:childTnLst>
                              <p:par>
                                <p:cTn id="44" presetID="1" presetClass="entr" presetSubtype="0" fill="hold" grpId="0" nodeType="afterEffect">
                                  <p:stCondLst>
                                    <p:cond delay="300"/>
                                  </p:stCondLst>
                                  <p:childTnLst>
                                    <p:set>
                                      <p:cBhvr>
                                        <p:cTn id="45" dur="1" fill="hold">
                                          <p:stCondLst>
                                            <p:cond delay="0"/>
                                          </p:stCondLst>
                                        </p:cTn>
                                        <p:tgtEl>
                                          <p:spTgt spid="33"/>
                                        </p:tgtEl>
                                        <p:attrNameLst>
                                          <p:attrName>style.visibility</p:attrName>
                                        </p:attrNameLst>
                                      </p:cBhvr>
                                      <p:to>
                                        <p:strVal val="visible"/>
                                      </p:to>
                                    </p:set>
                                  </p:childTnLst>
                                </p:cTn>
                              </p:par>
                            </p:childTnLst>
                          </p:cTn>
                        </p:par>
                        <p:par>
                          <p:cTn id="46" fill="hold" nodeType="afterGroup">
                            <p:stCondLst>
                              <p:cond delay="3900"/>
                            </p:stCondLst>
                            <p:childTnLst>
                              <p:par>
                                <p:cTn id="47" presetID="1" presetClass="entr" presetSubtype="0" fill="hold" grpId="0" nodeType="afterEffect">
                                  <p:stCondLst>
                                    <p:cond delay="300"/>
                                  </p:stCondLst>
                                  <p:childTnLst>
                                    <p:set>
                                      <p:cBhvr>
                                        <p:cTn id="48" dur="1" fill="hold">
                                          <p:stCondLst>
                                            <p:cond delay="0"/>
                                          </p:stCondLst>
                                        </p:cTn>
                                        <p:tgtEl>
                                          <p:spTgt spid="35"/>
                                        </p:tgtEl>
                                        <p:attrNameLst>
                                          <p:attrName>style.visibility</p:attrName>
                                        </p:attrNameLst>
                                      </p:cBhvr>
                                      <p:to>
                                        <p:strVal val="visible"/>
                                      </p:to>
                                    </p:set>
                                  </p:childTnLst>
                                </p:cTn>
                              </p:par>
                            </p:childTnLst>
                          </p:cTn>
                        </p:par>
                        <p:par>
                          <p:cTn id="49" fill="hold" nodeType="afterGroup">
                            <p:stCondLst>
                              <p:cond delay="4200"/>
                            </p:stCondLst>
                            <p:childTnLst>
                              <p:par>
                                <p:cTn id="50" presetID="1" presetClass="entr" presetSubtype="0" fill="hold" grpId="0" nodeType="afterEffect">
                                  <p:stCondLst>
                                    <p:cond delay="300"/>
                                  </p:stCondLst>
                                  <p:childTnLst>
                                    <p:set>
                                      <p:cBhvr>
                                        <p:cTn id="51" dur="1" fill="hold">
                                          <p:stCondLst>
                                            <p:cond delay="0"/>
                                          </p:stCondLst>
                                        </p:cTn>
                                        <p:tgtEl>
                                          <p:spTgt spid="18"/>
                                        </p:tgtEl>
                                        <p:attrNameLst>
                                          <p:attrName>style.visibility</p:attrName>
                                        </p:attrNameLst>
                                      </p:cBhvr>
                                      <p:to>
                                        <p:strVal val="visible"/>
                                      </p:to>
                                    </p:set>
                                  </p:childTnLst>
                                </p:cTn>
                              </p:par>
                            </p:childTnLst>
                          </p:cTn>
                        </p:par>
                        <p:par>
                          <p:cTn id="52" fill="hold" nodeType="afterGroup">
                            <p:stCondLst>
                              <p:cond delay="4500"/>
                            </p:stCondLst>
                            <p:childTnLst>
                              <p:par>
                                <p:cTn id="53" presetID="1" presetClass="entr" presetSubtype="0" fill="hold" nodeType="afterEffect">
                                  <p:stCondLst>
                                    <p:cond delay="300"/>
                                  </p:stCondLst>
                                  <p:childTnLst>
                                    <p:set>
                                      <p:cBhvr>
                                        <p:cTn id="54" dur="1" fill="hold">
                                          <p:stCondLst>
                                            <p:cond delay="0"/>
                                          </p:stCondLst>
                                        </p:cTn>
                                        <p:tgtEl>
                                          <p:spTgt spid="19"/>
                                        </p:tgtEl>
                                        <p:attrNameLst>
                                          <p:attrName>style.visibility</p:attrName>
                                        </p:attrNameLst>
                                      </p:cBhvr>
                                      <p:to>
                                        <p:strVal val="visible"/>
                                      </p:to>
                                    </p:set>
                                  </p:childTnLst>
                                </p:cTn>
                              </p:par>
                            </p:childTnLst>
                          </p:cTn>
                        </p:par>
                        <p:par>
                          <p:cTn id="55" fill="hold" nodeType="afterGroup">
                            <p:stCondLst>
                              <p:cond delay="4800"/>
                            </p:stCondLst>
                            <p:childTnLst>
                              <p:par>
                                <p:cTn id="56" presetID="1" presetClass="entr" presetSubtype="0" fill="hold" grpId="0" nodeType="afterEffect">
                                  <p:stCondLst>
                                    <p:cond delay="300"/>
                                  </p:stCondLst>
                                  <p:childTnLst>
                                    <p:set>
                                      <p:cBhvr>
                                        <p:cTn id="57" dur="1" fill="hold">
                                          <p:stCondLst>
                                            <p:cond delay="0"/>
                                          </p:stCondLst>
                                        </p:cTn>
                                        <p:tgtEl>
                                          <p:spTgt spid="17"/>
                                        </p:tgtEl>
                                        <p:attrNameLst>
                                          <p:attrName>style.visibility</p:attrName>
                                        </p:attrNameLst>
                                      </p:cBhvr>
                                      <p:to>
                                        <p:strVal val="visible"/>
                                      </p:to>
                                    </p:set>
                                  </p:childTnLst>
                                </p:cTn>
                              </p:par>
                            </p:childTnLst>
                          </p:cTn>
                        </p:par>
                        <p:par>
                          <p:cTn id="58" fill="hold" nodeType="afterGroup">
                            <p:stCondLst>
                              <p:cond delay="5100"/>
                            </p:stCondLst>
                            <p:childTnLst>
                              <p:par>
                                <p:cTn id="59" presetID="1" presetClass="entr" presetSubtype="0" fill="hold" grpId="0" nodeType="afterEffect">
                                  <p:stCondLst>
                                    <p:cond delay="300"/>
                                  </p:stCondLst>
                                  <p:childTnLst>
                                    <p:set>
                                      <p:cBhvr>
                                        <p:cTn id="60" dur="1" fill="hold">
                                          <p:stCondLst>
                                            <p:cond delay="0"/>
                                          </p:stCondLst>
                                        </p:cTn>
                                        <p:tgtEl>
                                          <p:spTgt spid="20"/>
                                        </p:tgtEl>
                                        <p:attrNameLst>
                                          <p:attrName>style.visibility</p:attrName>
                                        </p:attrNameLst>
                                      </p:cBhvr>
                                      <p:to>
                                        <p:strVal val="visible"/>
                                      </p:to>
                                    </p:set>
                                  </p:childTnLst>
                                </p:cTn>
                              </p:par>
                            </p:childTnLst>
                          </p:cTn>
                        </p:par>
                        <p:par>
                          <p:cTn id="61" fill="hold" nodeType="afterGroup">
                            <p:stCondLst>
                              <p:cond delay="5400"/>
                            </p:stCondLst>
                            <p:childTnLst>
                              <p:par>
                                <p:cTn id="62" presetID="1" presetClass="entr" presetSubtype="0" fill="hold" nodeType="afterEffect">
                                  <p:stCondLst>
                                    <p:cond delay="300"/>
                                  </p:stCondLst>
                                  <p:childTnLst>
                                    <p:set>
                                      <p:cBhvr>
                                        <p:cTn id="63" dur="1" fill="hold">
                                          <p:stCondLst>
                                            <p:cond delay="0"/>
                                          </p:stCondLst>
                                        </p:cTn>
                                        <p:tgtEl>
                                          <p:spTgt spid="39"/>
                                        </p:tgtEl>
                                        <p:attrNameLst>
                                          <p:attrName>style.visibility</p:attrName>
                                        </p:attrNameLst>
                                      </p:cBhvr>
                                      <p:to>
                                        <p:strVal val="visible"/>
                                      </p:to>
                                    </p:set>
                                  </p:childTnLst>
                                </p:cTn>
                              </p:par>
                            </p:childTnLst>
                          </p:cTn>
                        </p:par>
                        <p:par>
                          <p:cTn id="64" fill="hold" nodeType="afterGroup">
                            <p:stCondLst>
                              <p:cond delay="5700"/>
                            </p:stCondLst>
                            <p:childTnLst>
                              <p:par>
                                <p:cTn id="65" presetID="1" presetClass="entr" presetSubtype="0" fill="hold" grpId="0" nodeType="afterEffect">
                                  <p:stCondLst>
                                    <p:cond delay="300"/>
                                  </p:stCondLst>
                                  <p:childTnLst>
                                    <p:set>
                                      <p:cBhvr>
                                        <p:cTn id="66" dur="1" fill="hold">
                                          <p:stCondLst>
                                            <p:cond delay="0"/>
                                          </p:stCondLst>
                                        </p:cTn>
                                        <p:tgtEl>
                                          <p:spTgt spid="37"/>
                                        </p:tgtEl>
                                        <p:attrNameLst>
                                          <p:attrName>style.visibility</p:attrName>
                                        </p:attrNameLst>
                                      </p:cBhvr>
                                      <p:to>
                                        <p:strVal val="visible"/>
                                      </p:to>
                                    </p:set>
                                  </p:childTnLst>
                                </p:cTn>
                              </p:par>
                            </p:childTnLst>
                          </p:cTn>
                        </p:par>
                        <p:par>
                          <p:cTn id="67" fill="hold" nodeType="afterGroup">
                            <p:stCondLst>
                              <p:cond delay="6000"/>
                            </p:stCondLst>
                            <p:childTnLst>
                              <p:par>
                                <p:cTn id="68" presetID="1" presetClass="entr" presetSubtype="0" fill="hold" grpId="0" nodeType="afterEffect">
                                  <p:stCondLst>
                                    <p:cond delay="300"/>
                                  </p:stCondLst>
                                  <p:childTnLst>
                                    <p:set>
                                      <p:cBhvr>
                                        <p:cTn id="69" dur="1" fill="hold">
                                          <p:stCondLst>
                                            <p:cond delay="0"/>
                                          </p:stCondLst>
                                        </p:cTn>
                                        <p:tgtEl>
                                          <p:spTgt spid="40"/>
                                        </p:tgtEl>
                                        <p:attrNameLst>
                                          <p:attrName>style.visibility</p:attrName>
                                        </p:attrNameLst>
                                      </p:cBhvr>
                                      <p:to>
                                        <p:strVal val="visible"/>
                                      </p:to>
                                    </p:set>
                                  </p:childTnLst>
                                </p:cTn>
                              </p:par>
                            </p:childTnLst>
                          </p:cTn>
                        </p:par>
                        <p:par>
                          <p:cTn id="70" fill="hold" nodeType="afterGroup">
                            <p:stCondLst>
                              <p:cond delay="6300"/>
                            </p:stCondLst>
                            <p:childTnLst>
                              <p:par>
                                <p:cTn id="71" presetID="1" presetClass="entr" presetSubtype="0" fill="hold" grpId="0" nodeType="afterEffect">
                                  <p:stCondLst>
                                    <p:cond delay="300"/>
                                  </p:stCondLst>
                                  <p:childTnLst>
                                    <p:set>
                                      <p:cBhvr>
                                        <p:cTn id="72" dur="1" fill="hold">
                                          <p:stCondLst>
                                            <p:cond delay="0"/>
                                          </p:stCondLst>
                                        </p:cTn>
                                        <p:tgtEl>
                                          <p:spTgt spid="42"/>
                                        </p:tgtEl>
                                        <p:attrNameLst>
                                          <p:attrName>style.visibility</p:attrName>
                                        </p:attrNameLst>
                                      </p:cBhvr>
                                      <p:to>
                                        <p:strVal val="visible"/>
                                      </p:to>
                                    </p:set>
                                  </p:childTnLst>
                                </p:cTn>
                              </p:par>
                            </p:childTnLst>
                          </p:cTn>
                        </p:par>
                        <p:par>
                          <p:cTn id="73" fill="hold" nodeType="afterGroup">
                            <p:stCondLst>
                              <p:cond delay="6600"/>
                            </p:stCondLst>
                            <p:childTnLst>
                              <p:par>
                                <p:cTn id="74" presetID="1" presetClass="entr" presetSubtype="0" fill="hold" nodeType="afterEffect">
                                  <p:stCondLst>
                                    <p:cond delay="300"/>
                                  </p:stCondLst>
                                  <p:childTnLst>
                                    <p:set>
                                      <p:cBhvr>
                                        <p:cTn id="75" dur="1" fill="hold">
                                          <p:stCondLst>
                                            <p:cond delay="0"/>
                                          </p:stCondLst>
                                        </p:cTn>
                                        <p:tgtEl>
                                          <p:spTgt spid="43"/>
                                        </p:tgtEl>
                                        <p:attrNameLst>
                                          <p:attrName>style.visibility</p:attrName>
                                        </p:attrNameLst>
                                      </p:cBhvr>
                                      <p:to>
                                        <p:strVal val="visible"/>
                                      </p:to>
                                    </p:set>
                                  </p:childTnLst>
                                </p:cTn>
                              </p:par>
                            </p:childTnLst>
                          </p:cTn>
                        </p:par>
                        <p:par>
                          <p:cTn id="76" fill="hold" nodeType="afterGroup">
                            <p:stCondLst>
                              <p:cond delay="6900"/>
                            </p:stCondLst>
                            <p:childTnLst>
                              <p:par>
                                <p:cTn id="77" presetID="1" presetClass="entr" presetSubtype="0" fill="hold" grpId="0" nodeType="afterEffect">
                                  <p:stCondLst>
                                    <p:cond delay="300"/>
                                  </p:stCondLst>
                                  <p:childTnLst>
                                    <p:set>
                                      <p:cBhvr>
                                        <p:cTn id="78" dur="1" fill="hold">
                                          <p:stCondLst>
                                            <p:cond delay="0"/>
                                          </p:stCondLst>
                                        </p:cTn>
                                        <p:tgtEl>
                                          <p:spTgt spid="44"/>
                                        </p:tgtEl>
                                        <p:attrNameLst>
                                          <p:attrName>style.visibility</p:attrName>
                                        </p:attrNameLst>
                                      </p:cBhvr>
                                      <p:to>
                                        <p:strVal val="visible"/>
                                      </p:to>
                                    </p:set>
                                  </p:childTnLst>
                                </p:cTn>
                              </p:par>
                            </p:childTnLst>
                          </p:cTn>
                        </p:par>
                        <p:par>
                          <p:cTn id="79" fill="hold" nodeType="afterGroup">
                            <p:stCondLst>
                              <p:cond delay="7200"/>
                            </p:stCondLst>
                            <p:childTnLst>
                              <p:par>
                                <p:cTn id="80" presetID="1" presetClass="entr" presetSubtype="0" fill="hold" grpId="0" nodeType="afterEffect">
                                  <p:stCondLst>
                                    <p:cond delay="300"/>
                                  </p:stCondLst>
                                  <p:childTnLst>
                                    <p:set>
                                      <p:cBhvr>
                                        <p:cTn id="81" dur="1" fill="hold">
                                          <p:stCondLst>
                                            <p:cond delay="0"/>
                                          </p:stCondLst>
                                        </p:cTn>
                                        <p:tgtEl>
                                          <p:spTgt spid="46"/>
                                        </p:tgtEl>
                                        <p:attrNameLst>
                                          <p:attrName>style.visibility</p:attrName>
                                        </p:attrNameLst>
                                      </p:cBhvr>
                                      <p:to>
                                        <p:strVal val="visible"/>
                                      </p:to>
                                    </p:set>
                                  </p:childTnLst>
                                </p:cTn>
                              </p:par>
                            </p:childTnLst>
                          </p:cTn>
                        </p:par>
                        <p:par>
                          <p:cTn id="82" fill="hold" nodeType="afterGroup">
                            <p:stCondLst>
                              <p:cond delay="7500"/>
                            </p:stCondLst>
                            <p:childTnLst>
                              <p:par>
                                <p:cTn id="83" presetID="1" presetClass="entr" presetSubtype="0" fill="hold" nodeType="afterEffect">
                                  <p:stCondLst>
                                    <p:cond delay="300"/>
                                  </p:stCondLst>
                                  <p:childTnLst>
                                    <p:set>
                                      <p:cBhvr>
                                        <p:cTn id="84" dur="1" fill="hold">
                                          <p:stCondLst>
                                            <p:cond delay="0"/>
                                          </p:stCondLst>
                                        </p:cTn>
                                        <p:tgtEl>
                                          <p:spTgt spid="47"/>
                                        </p:tgtEl>
                                        <p:attrNameLst>
                                          <p:attrName>style.visibility</p:attrName>
                                        </p:attrNameLst>
                                      </p:cBhvr>
                                      <p:to>
                                        <p:strVal val="visible"/>
                                      </p:to>
                                    </p:set>
                                  </p:childTnLst>
                                </p:cTn>
                              </p:par>
                            </p:childTnLst>
                          </p:cTn>
                        </p:par>
                        <p:par>
                          <p:cTn id="85" fill="hold" nodeType="afterGroup">
                            <p:stCondLst>
                              <p:cond delay="7800"/>
                            </p:stCondLst>
                            <p:childTnLst>
                              <p:par>
                                <p:cTn id="86" presetID="1" presetClass="entr" presetSubtype="0" fill="hold" grpId="0" nodeType="afterEffect">
                                  <p:stCondLst>
                                    <p:cond delay="300"/>
                                  </p:stCondLst>
                                  <p:childTnLst>
                                    <p:set>
                                      <p:cBhvr>
                                        <p:cTn id="87" dur="1" fill="hold">
                                          <p:stCondLst>
                                            <p:cond delay="0"/>
                                          </p:stCondLst>
                                        </p:cTn>
                                        <p:tgtEl>
                                          <p:spTgt spid="45"/>
                                        </p:tgtEl>
                                        <p:attrNameLst>
                                          <p:attrName>style.visibility</p:attrName>
                                        </p:attrNameLst>
                                      </p:cBhvr>
                                      <p:to>
                                        <p:strVal val="visible"/>
                                      </p:to>
                                    </p:set>
                                  </p:childTnLst>
                                </p:cTn>
                              </p:par>
                            </p:childTnLst>
                          </p:cTn>
                        </p:par>
                        <p:par>
                          <p:cTn id="88" fill="hold" nodeType="afterGroup">
                            <p:stCondLst>
                              <p:cond delay="8100"/>
                            </p:stCondLst>
                            <p:childTnLst>
                              <p:par>
                                <p:cTn id="89" presetID="1" presetClass="entr" presetSubtype="0" fill="hold" grpId="0" nodeType="afterEffect">
                                  <p:stCondLst>
                                    <p:cond delay="300"/>
                                  </p:stCondLst>
                                  <p:childTnLst>
                                    <p:set>
                                      <p:cBhvr>
                                        <p:cTn id="90" dur="1" fill="hold">
                                          <p:stCondLst>
                                            <p:cond delay="0"/>
                                          </p:stCondLst>
                                        </p:cTn>
                                        <p:tgtEl>
                                          <p:spTgt spid="50"/>
                                        </p:tgtEl>
                                        <p:attrNameLst>
                                          <p:attrName>style.visibility</p:attrName>
                                        </p:attrNameLst>
                                      </p:cBhvr>
                                      <p:to>
                                        <p:strVal val="visible"/>
                                      </p:to>
                                    </p:set>
                                  </p:childTnLst>
                                </p:cTn>
                              </p:par>
                            </p:childTnLst>
                          </p:cTn>
                        </p:par>
                        <p:par>
                          <p:cTn id="91" fill="hold" nodeType="afterGroup">
                            <p:stCondLst>
                              <p:cond delay="8400"/>
                            </p:stCondLst>
                            <p:childTnLst>
                              <p:par>
                                <p:cTn id="92" presetID="1" presetClass="entr" presetSubtype="0" fill="hold" grpId="0" nodeType="afterEffect">
                                  <p:stCondLst>
                                    <p:cond delay="300"/>
                                  </p:stCondLst>
                                  <p:childTnLst>
                                    <p:set>
                                      <p:cBhvr>
                                        <p:cTn id="93" dur="1" fill="hold">
                                          <p:stCondLst>
                                            <p:cond delay="0"/>
                                          </p:stCondLst>
                                        </p:cTn>
                                        <p:tgtEl>
                                          <p:spTgt spid="52"/>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3"/>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6"/>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92"/>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93"/>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94"/>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95"/>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96"/>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97"/>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20" grpId="0" animBg="1"/>
      <p:bldP spid="21" grpId="0" animBg="1"/>
      <p:bldP spid="23" grpId="0" animBg="1"/>
      <p:bldP spid="25" grpId="0" animBg="1"/>
      <p:bldP spid="28" grpId="0" animBg="1"/>
      <p:bldP spid="31" grpId="0" animBg="1"/>
      <p:bldP spid="32" grpId="0" animBg="1"/>
      <p:bldP spid="33" grpId="0" animBg="1"/>
      <p:bldP spid="35" grpId="0" animBg="1"/>
      <p:bldP spid="37" grpId="0" animBg="1"/>
      <p:bldP spid="40" grpId="0" animBg="1"/>
      <p:bldP spid="42" grpId="0" animBg="1"/>
      <p:bldP spid="44" grpId="0" animBg="1"/>
      <p:bldP spid="45" grpId="0" animBg="1"/>
      <p:bldP spid="46" grpId="0" animBg="1"/>
      <p:bldP spid="50" grpId="0" animBg="1"/>
      <p:bldP spid="52" grpId="0" animBg="1"/>
      <p:bldP spid="86" grpId="0"/>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8962" name="Picture 7"/>
          <p:cNvPicPr>
            <a:picLocks noChangeAspect="1" noChangeArrowheads="1"/>
          </p:cNvPicPr>
          <p:nvPr/>
        </p:nvPicPr>
        <p:blipFill>
          <a:blip r:embed="rId3">
            <a:extLst>
              <a:ext uri="{28A0092B-C50C-407E-A947-70E740481C1C}">
                <a14:useLocalDpi xmlns:a14="http://schemas.microsoft.com/office/drawing/2010/main" val="0"/>
              </a:ext>
            </a:extLst>
          </a:blip>
          <a:srcRect l="49226" t="1501" r="18546" b="63063"/>
          <a:stretch>
            <a:fillRect/>
          </a:stretch>
        </p:blipFill>
        <p:spPr bwMode="auto">
          <a:xfrm>
            <a:off x="114300" y="1346200"/>
            <a:ext cx="4786313"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3" name="Titre 1"/>
          <p:cNvSpPr>
            <a:spLocks noGrp="1"/>
          </p:cNvSpPr>
          <p:nvPr>
            <p:ph type="title"/>
          </p:nvPr>
        </p:nvSpPr>
        <p:spPr/>
        <p:txBody>
          <a:bodyPr/>
          <a:lstStyle/>
          <a:p>
            <a:r>
              <a:rPr lang="fr-FR" altLang="fr-FR"/>
              <a:t>Nouvelle implantation</a:t>
            </a:r>
          </a:p>
        </p:txBody>
      </p:sp>
      <p:sp>
        <p:nvSpPr>
          <p:cNvPr id="16896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6896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AB36087D-8E6C-49A5-A7EF-FA5960D4B8DA}" type="slidenum">
              <a:rPr lang="fr-FR" altLang="fr-FR" smtClean="0">
                <a:latin typeface="Calibri" panose="020F0502020204030204" pitchFamily="34" charset="0"/>
              </a:rPr>
              <a:pPr>
                <a:spcBef>
                  <a:spcPct val="0"/>
                </a:spcBef>
                <a:buFontTx/>
                <a:buNone/>
              </a:pPr>
              <a:t>77</a:t>
            </a:fld>
            <a:endParaRPr lang="fr-FR" altLang="fr-FR" dirty="0">
              <a:latin typeface="Calibri" panose="020F0502020204030204" pitchFamily="34" charset="0"/>
            </a:endParaRPr>
          </a:p>
        </p:txBody>
      </p:sp>
      <p:grpSp>
        <p:nvGrpSpPr>
          <p:cNvPr id="168966" name="Groupe 355"/>
          <p:cNvGrpSpPr>
            <a:grpSpLocks/>
          </p:cNvGrpSpPr>
          <p:nvPr/>
        </p:nvGrpSpPr>
        <p:grpSpPr bwMode="auto">
          <a:xfrm>
            <a:off x="5664200" y="1028700"/>
            <a:ext cx="3822596" cy="2473412"/>
            <a:chOff x="5368144" y="546100"/>
            <a:chExt cx="3823615" cy="2474186"/>
          </a:xfrm>
        </p:grpSpPr>
        <p:sp>
          <p:nvSpPr>
            <p:cNvPr id="271" name="Oval 29"/>
            <p:cNvSpPr>
              <a:spLocks noChangeArrowheads="1"/>
            </p:cNvSpPr>
            <p:nvPr/>
          </p:nvSpPr>
          <p:spPr bwMode="auto">
            <a:xfrm>
              <a:off x="6884611" y="1241643"/>
              <a:ext cx="895589" cy="358887"/>
            </a:xfrm>
            <a:prstGeom prst="ellipse">
              <a:avLst/>
            </a:pr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sp>
          <p:nvSpPr>
            <p:cNvPr id="272" name="Freeform 30"/>
            <p:cNvSpPr>
              <a:spLocks/>
            </p:cNvSpPr>
            <p:nvPr/>
          </p:nvSpPr>
          <p:spPr bwMode="auto">
            <a:xfrm>
              <a:off x="5368144" y="1194003"/>
              <a:ext cx="566889" cy="549447"/>
            </a:xfrm>
            <a:custGeom>
              <a:avLst/>
              <a:gdLst>
                <a:gd name="T0" fmla="*/ 110 w 118"/>
                <a:gd name="T1" fmla="*/ 0 h 110"/>
                <a:gd name="T2" fmla="*/ 110 w 118"/>
                <a:gd name="T3" fmla="*/ 106 h 110"/>
                <a:gd name="T4" fmla="*/ 0 w 118"/>
                <a:gd name="T5" fmla="*/ 106 h 110"/>
                <a:gd name="T6" fmla="*/ 0 w 118"/>
                <a:gd name="T7" fmla="*/ 260 h 110"/>
                <a:gd name="T8" fmla="*/ 110 w 118"/>
                <a:gd name="T9" fmla="*/ 260 h 110"/>
                <a:gd name="T10" fmla="*/ 110 w 118"/>
                <a:gd name="T11" fmla="*/ 366 h 110"/>
                <a:gd name="T12" fmla="*/ 282 w 118"/>
                <a:gd name="T13" fmla="*/ 366 h 110"/>
                <a:gd name="T14" fmla="*/ 282 w 118"/>
                <a:gd name="T15" fmla="*/ 260 h 110"/>
                <a:gd name="T16" fmla="*/ 392 w 118"/>
                <a:gd name="T17" fmla="*/ 260 h 110"/>
                <a:gd name="T18" fmla="*/ 392 w 118"/>
                <a:gd name="T19" fmla="*/ 106 h 110"/>
                <a:gd name="T20" fmla="*/ 282 w 118"/>
                <a:gd name="T21" fmla="*/ 106 h 110"/>
                <a:gd name="T22" fmla="*/ 282 w 118"/>
                <a:gd name="T23" fmla="*/ 0 h 110"/>
                <a:gd name="T24" fmla="*/ 110 w 118"/>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8"/>
                <a:gd name="T40" fmla="*/ 0 h 110"/>
                <a:gd name="T41" fmla="*/ 118 w 118"/>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8" h="110">
                  <a:moveTo>
                    <a:pt x="33" y="0"/>
                  </a:moveTo>
                  <a:lnTo>
                    <a:pt x="33" y="32"/>
                  </a:lnTo>
                  <a:lnTo>
                    <a:pt x="0" y="32"/>
                  </a:lnTo>
                  <a:lnTo>
                    <a:pt x="0" y="78"/>
                  </a:lnTo>
                  <a:lnTo>
                    <a:pt x="33" y="78"/>
                  </a:lnTo>
                  <a:lnTo>
                    <a:pt x="33" y="110"/>
                  </a:lnTo>
                  <a:lnTo>
                    <a:pt x="85" y="110"/>
                  </a:lnTo>
                  <a:lnTo>
                    <a:pt x="85" y="78"/>
                  </a:lnTo>
                  <a:lnTo>
                    <a:pt x="118" y="78"/>
                  </a:lnTo>
                  <a:lnTo>
                    <a:pt x="118" y="32"/>
                  </a:lnTo>
                  <a:lnTo>
                    <a:pt x="85" y="32"/>
                  </a:lnTo>
                  <a:lnTo>
                    <a:pt x="85" y="0"/>
                  </a:lnTo>
                  <a:lnTo>
                    <a:pt x="33" y="0"/>
                  </a:lnTo>
                  <a:close/>
                </a:path>
              </a:pathLst>
            </a:cu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sp>
          <p:nvSpPr>
            <p:cNvPr id="273" name="Freeform 31"/>
            <p:cNvSpPr>
              <a:spLocks/>
            </p:cNvSpPr>
            <p:nvPr/>
          </p:nvSpPr>
          <p:spPr bwMode="auto">
            <a:xfrm>
              <a:off x="6994177" y="2184913"/>
              <a:ext cx="725681" cy="716187"/>
            </a:xfrm>
            <a:custGeom>
              <a:avLst/>
              <a:gdLst>
                <a:gd name="T0" fmla="*/ 253 w 151"/>
                <a:gd name="T1" fmla="*/ 0 h 144"/>
                <a:gd name="T2" fmla="*/ 193 w 151"/>
                <a:gd name="T3" fmla="*/ 183 h 144"/>
                <a:gd name="T4" fmla="*/ 0 w 151"/>
                <a:gd name="T5" fmla="*/ 183 h 144"/>
                <a:gd name="T6" fmla="*/ 156 w 151"/>
                <a:gd name="T7" fmla="*/ 295 h 144"/>
                <a:gd name="T8" fmla="*/ 96 w 151"/>
                <a:gd name="T9" fmla="*/ 478 h 144"/>
                <a:gd name="T10" fmla="*/ 253 w 151"/>
                <a:gd name="T11" fmla="*/ 368 h 144"/>
                <a:gd name="T12" fmla="*/ 406 w 151"/>
                <a:gd name="T13" fmla="*/ 478 h 144"/>
                <a:gd name="T14" fmla="*/ 346 w 151"/>
                <a:gd name="T15" fmla="*/ 295 h 144"/>
                <a:gd name="T16" fmla="*/ 502 w 151"/>
                <a:gd name="T17" fmla="*/ 183 h 144"/>
                <a:gd name="T18" fmla="*/ 309 w 151"/>
                <a:gd name="T19" fmla="*/ 183 h 144"/>
                <a:gd name="T20" fmla="*/ 253 w 151"/>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144"/>
                <a:gd name="T35" fmla="*/ 151 w 151"/>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144">
                  <a:moveTo>
                    <a:pt x="76" y="0"/>
                  </a:moveTo>
                  <a:lnTo>
                    <a:pt x="58" y="55"/>
                  </a:lnTo>
                  <a:lnTo>
                    <a:pt x="0" y="55"/>
                  </a:lnTo>
                  <a:lnTo>
                    <a:pt x="47" y="89"/>
                  </a:lnTo>
                  <a:lnTo>
                    <a:pt x="29" y="144"/>
                  </a:lnTo>
                  <a:lnTo>
                    <a:pt x="76" y="111"/>
                  </a:lnTo>
                  <a:lnTo>
                    <a:pt x="122" y="144"/>
                  </a:lnTo>
                  <a:lnTo>
                    <a:pt x="104" y="89"/>
                  </a:lnTo>
                  <a:lnTo>
                    <a:pt x="151" y="55"/>
                  </a:lnTo>
                  <a:lnTo>
                    <a:pt x="93" y="55"/>
                  </a:lnTo>
                  <a:lnTo>
                    <a:pt x="76" y="0"/>
                  </a:lnTo>
                  <a:close/>
                </a:path>
              </a:pathLst>
            </a:cu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sp>
          <p:nvSpPr>
            <p:cNvPr id="274" name="Freeform 32"/>
            <p:cNvSpPr>
              <a:spLocks/>
            </p:cNvSpPr>
            <p:nvPr/>
          </p:nvSpPr>
          <p:spPr bwMode="auto">
            <a:xfrm>
              <a:off x="5382436" y="2345301"/>
              <a:ext cx="604998" cy="514511"/>
            </a:xfrm>
            <a:custGeom>
              <a:avLst/>
              <a:gdLst>
                <a:gd name="T0" fmla="*/ 209 w 126"/>
                <a:gd name="T1" fmla="*/ 0 h 103"/>
                <a:gd name="T2" fmla="*/ 0 w 126"/>
                <a:gd name="T3" fmla="*/ 342 h 103"/>
                <a:gd name="T4" fmla="*/ 418 w 126"/>
                <a:gd name="T5" fmla="*/ 342 h 103"/>
                <a:gd name="T6" fmla="*/ 209 w 126"/>
                <a:gd name="T7" fmla="*/ 0 h 103"/>
                <a:gd name="T8" fmla="*/ 0 60000 65536"/>
                <a:gd name="T9" fmla="*/ 0 60000 65536"/>
                <a:gd name="T10" fmla="*/ 0 60000 65536"/>
                <a:gd name="T11" fmla="*/ 0 60000 65536"/>
                <a:gd name="T12" fmla="*/ 0 w 126"/>
                <a:gd name="T13" fmla="*/ 0 h 103"/>
                <a:gd name="T14" fmla="*/ 126 w 126"/>
                <a:gd name="T15" fmla="*/ 103 h 103"/>
              </a:gdLst>
              <a:ahLst/>
              <a:cxnLst>
                <a:cxn ang="T8">
                  <a:pos x="T0" y="T1"/>
                </a:cxn>
                <a:cxn ang="T9">
                  <a:pos x="T2" y="T3"/>
                </a:cxn>
                <a:cxn ang="T10">
                  <a:pos x="T4" y="T5"/>
                </a:cxn>
                <a:cxn ang="T11">
                  <a:pos x="T6" y="T7"/>
                </a:cxn>
              </a:cxnLst>
              <a:rect l="T12" t="T13" r="T14" b="T15"/>
              <a:pathLst>
                <a:path w="126" h="103">
                  <a:moveTo>
                    <a:pt x="63" y="0"/>
                  </a:moveTo>
                  <a:lnTo>
                    <a:pt x="0" y="103"/>
                  </a:lnTo>
                  <a:lnTo>
                    <a:pt x="126" y="103"/>
                  </a:lnTo>
                  <a:lnTo>
                    <a:pt x="63" y="0"/>
                  </a:lnTo>
                  <a:close/>
                </a:path>
              </a:pathLst>
            </a:cu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cxnSp>
          <p:nvCxnSpPr>
            <p:cNvPr id="168995" name="Connecteur droit avec flèche 284"/>
            <p:cNvCxnSpPr>
              <a:cxnSpLocks noChangeShapeType="1"/>
            </p:cNvCxnSpPr>
            <p:nvPr/>
          </p:nvCxnSpPr>
          <p:spPr bwMode="auto">
            <a:xfrm rot="10800000" flipV="1">
              <a:off x="5825634" y="1600200"/>
              <a:ext cx="1045068" cy="812800"/>
            </a:xfrm>
            <a:prstGeom prst="straightConnector1">
              <a:avLst/>
            </a:prstGeom>
            <a:noFill/>
            <a:ln w="12700" algn="ctr">
              <a:solidFill>
                <a:srgbClr val="0033CC"/>
              </a:solidFill>
              <a:prstDash val="lgDash"/>
              <a:round/>
              <a:headEnd/>
              <a:tailEnd type="arrow" w="med" len="med"/>
            </a:ln>
            <a:extLst>
              <a:ext uri="{909E8E84-426E-40DD-AFC4-6F175D3DCCD1}">
                <a14:hiddenFill xmlns:a14="http://schemas.microsoft.com/office/drawing/2010/main">
                  <a:noFill/>
                </a14:hiddenFill>
              </a:ext>
            </a:extLst>
          </p:spPr>
        </p:cxnSp>
        <p:cxnSp>
          <p:nvCxnSpPr>
            <p:cNvPr id="168996" name="Connecteur droit avec flèche 286"/>
            <p:cNvCxnSpPr>
              <a:cxnSpLocks noChangeShapeType="1"/>
            </p:cNvCxnSpPr>
            <p:nvPr/>
          </p:nvCxnSpPr>
          <p:spPr bwMode="auto">
            <a:xfrm rot="-5400000" flipH="1" flipV="1">
              <a:off x="5444900" y="2050000"/>
              <a:ext cx="468000"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8997" name="Connecteur droit avec flèche 287"/>
            <p:cNvCxnSpPr>
              <a:cxnSpLocks noChangeShapeType="1"/>
            </p:cNvCxnSpPr>
            <p:nvPr/>
          </p:nvCxnSpPr>
          <p:spPr bwMode="auto">
            <a:xfrm rot="10800000" flipH="1">
              <a:off x="6379400" y="2667000"/>
              <a:ext cx="504000"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8998" name="Connecteur droit avec flèche 294"/>
            <p:cNvCxnSpPr>
              <a:cxnSpLocks noChangeShapeType="1"/>
            </p:cNvCxnSpPr>
            <p:nvPr/>
          </p:nvCxnSpPr>
          <p:spPr bwMode="auto">
            <a:xfrm rot="10800000">
              <a:off x="6328600" y="1485900"/>
              <a:ext cx="504000"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8999" name="Connecteur droit avec flèche 295"/>
            <p:cNvCxnSpPr>
              <a:cxnSpLocks noChangeShapeType="1"/>
            </p:cNvCxnSpPr>
            <p:nvPr/>
          </p:nvCxnSpPr>
          <p:spPr bwMode="auto">
            <a:xfrm>
              <a:off x="5969000" y="1714500"/>
              <a:ext cx="974234" cy="774700"/>
            </a:xfrm>
            <a:prstGeom prst="straightConnector1">
              <a:avLst/>
            </a:prstGeom>
            <a:noFill/>
            <a:ln w="12700" algn="ctr">
              <a:solidFill>
                <a:srgbClr val="00B050"/>
              </a:solidFill>
              <a:prstDash val="lgDash"/>
              <a:round/>
              <a:headEnd/>
              <a:tailEnd type="arrow" w="med" len="med"/>
            </a:ln>
            <a:extLst>
              <a:ext uri="{909E8E84-426E-40DD-AFC4-6F175D3DCCD1}">
                <a14:hiddenFill xmlns:a14="http://schemas.microsoft.com/office/drawing/2010/main">
                  <a:noFill/>
                </a14:hiddenFill>
              </a:ext>
            </a:extLst>
          </p:spPr>
        </p:cxnSp>
        <p:sp>
          <p:nvSpPr>
            <p:cNvPr id="169000" name="ZoneTexte 310"/>
            <p:cNvSpPr txBox="1">
              <a:spLocks noChangeArrowheads="1"/>
            </p:cNvSpPr>
            <p:nvPr/>
          </p:nvSpPr>
          <p:spPr bwMode="auto">
            <a:xfrm>
              <a:off x="8315773" y="1435100"/>
              <a:ext cx="875986" cy="277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rPr>
                <a:t>Lancement</a:t>
              </a:r>
            </a:p>
          </p:txBody>
        </p:sp>
        <p:sp>
          <p:nvSpPr>
            <p:cNvPr id="169001" name="ZoneTexte 316"/>
            <p:cNvSpPr txBox="1">
              <a:spLocks noChangeArrowheads="1"/>
            </p:cNvSpPr>
            <p:nvPr/>
          </p:nvSpPr>
          <p:spPr bwMode="auto">
            <a:xfrm>
              <a:off x="6052285" y="546100"/>
              <a:ext cx="1719968" cy="36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produit 1</a:t>
              </a:r>
            </a:p>
          </p:txBody>
        </p:sp>
        <p:pic>
          <p:nvPicPr>
            <p:cNvPr id="169002" name="Picture 32" descr="TIP5e¦ütu-fin E¦üTU1"/>
            <p:cNvPicPr>
              <a:picLocks noChangeAspect="1" noChangeArrowheads="1"/>
            </p:cNvPicPr>
            <p:nvPr/>
          </p:nvPicPr>
          <p:blipFill>
            <a:blip r:embed="rId4" cstate="print">
              <a:extLst>
                <a:ext uri="{28A0092B-C50C-407E-A947-70E740481C1C}">
                  <a14:useLocalDpi xmlns:a14="http://schemas.microsoft.com/office/drawing/2010/main" val="0"/>
                </a:ext>
              </a:extLst>
            </a:blip>
            <a:srcRect l="8157" t="25005" r="23033" b="14983"/>
            <a:stretch>
              <a:fillRect/>
            </a:stretch>
          </p:blipFill>
          <p:spPr bwMode="auto">
            <a:xfrm>
              <a:off x="8198317" y="816965"/>
              <a:ext cx="793284" cy="70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003" name="Picture 46" descr="TIP3fab 7"/>
            <p:cNvPicPr>
              <a:picLocks noChangeAspect="1" noChangeArrowheads="1"/>
            </p:cNvPicPr>
            <p:nvPr/>
          </p:nvPicPr>
          <p:blipFill>
            <a:blip r:embed="rId5">
              <a:extLst>
                <a:ext uri="{28A0092B-C50C-407E-A947-70E740481C1C}">
                  <a14:useLocalDpi xmlns:a14="http://schemas.microsoft.com/office/drawing/2010/main" val="0"/>
                </a:ext>
              </a:extLst>
            </a:blip>
            <a:srcRect l="6909" t="46571" r="26497" b="12415"/>
            <a:stretch>
              <a:fillRect/>
            </a:stretch>
          </p:blipFill>
          <p:spPr bwMode="auto">
            <a:xfrm>
              <a:off x="8306569" y="2283771"/>
              <a:ext cx="799331" cy="58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9004" name="Connecteur droit avec flèche 345"/>
            <p:cNvCxnSpPr>
              <a:cxnSpLocks noChangeShapeType="1"/>
            </p:cNvCxnSpPr>
            <p:nvPr/>
          </p:nvCxnSpPr>
          <p:spPr bwMode="auto">
            <a:xfrm rot="10800000">
              <a:off x="7839900" y="1435100"/>
              <a:ext cx="377000" cy="1588"/>
            </a:xfrm>
            <a:prstGeom prst="straightConnector1">
              <a:avLst/>
            </a:prstGeom>
            <a:noFill/>
            <a:ln w="12700"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cxnSp>
          <p:nvCxnSpPr>
            <p:cNvPr id="169005" name="Connecteur droit avec flèche 347"/>
            <p:cNvCxnSpPr>
              <a:cxnSpLocks noChangeShapeType="1"/>
            </p:cNvCxnSpPr>
            <p:nvPr/>
          </p:nvCxnSpPr>
          <p:spPr bwMode="auto">
            <a:xfrm>
              <a:off x="7865300" y="2654300"/>
              <a:ext cx="377000" cy="1588"/>
            </a:xfrm>
            <a:prstGeom prst="straightConnector1">
              <a:avLst/>
            </a:prstGeom>
            <a:noFill/>
            <a:ln w="12700"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sp>
          <p:nvSpPr>
            <p:cNvPr id="169006" name="ZoneTexte 311"/>
            <p:cNvSpPr txBox="1">
              <a:spLocks noChangeArrowheads="1"/>
            </p:cNvSpPr>
            <p:nvPr/>
          </p:nvSpPr>
          <p:spPr bwMode="auto">
            <a:xfrm>
              <a:off x="8303486" y="2743200"/>
              <a:ext cx="722763" cy="277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rPr>
                <a:t>Contrôle</a:t>
              </a:r>
            </a:p>
          </p:txBody>
        </p:sp>
      </p:grpSp>
      <p:grpSp>
        <p:nvGrpSpPr>
          <p:cNvPr id="168967" name="Groupe 356"/>
          <p:cNvGrpSpPr>
            <a:grpSpLocks/>
          </p:cNvGrpSpPr>
          <p:nvPr/>
        </p:nvGrpSpPr>
        <p:grpSpPr bwMode="auto">
          <a:xfrm>
            <a:off x="5657850" y="3708400"/>
            <a:ext cx="3797182" cy="2649538"/>
            <a:chOff x="5361671" y="3556000"/>
            <a:chExt cx="3798078" cy="2649537"/>
          </a:xfrm>
        </p:grpSpPr>
        <p:sp>
          <p:nvSpPr>
            <p:cNvPr id="264" name="Rectangle 22"/>
            <p:cNvSpPr>
              <a:spLocks noChangeArrowheads="1"/>
            </p:cNvSpPr>
            <p:nvPr/>
          </p:nvSpPr>
          <p:spPr bwMode="auto">
            <a:xfrm>
              <a:off x="6943194" y="4262438"/>
              <a:ext cx="792350" cy="334962"/>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sp>
          <p:nvSpPr>
            <p:cNvPr id="265" name="Freeform 23"/>
            <p:cNvSpPr>
              <a:spLocks/>
            </p:cNvSpPr>
            <p:nvPr/>
          </p:nvSpPr>
          <p:spPr bwMode="auto">
            <a:xfrm>
              <a:off x="5466471" y="4097338"/>
              <a:ext cx="730422" cy="717550"/>
            </a:xfrm>
            <a:custGeom>
              <a:avLst/>
              <a:gdLst>
                <a:gd name="T0" fmla="*/ 253 w 152"/>
                <a:gd name="T1" fmla="*/ 0 h 144"/>
                <a:gd name="T2" fmla="*/ 193 w 152"/>
                <a:gd name="T3" fmla="*/ 183 h 144"/>
                <a:gd name="T4" fmla="*/ 0 w 152"/>
                <a:gd name="T5" fmla="*/ 183 h 144"/>
                <a:gd name="T6" fmla="*/ 159 w 152"/>
                <a:gd name="T7" fmla="*/ 295 h 144"/>
                <a:gd name="T8" fmla="*/ 100 w 152"/>
                <a:gd name="T9" fmla="*/ 478 h 144"/>
                <a:gd name="T10" fmla="*/ 253 w 152"/>
                <a:gd name="T11" fmla="*/ 365 h 144"/>
                <a:gd name="T12" fmla="*/ 405 w 152"/>
                <a:gd name="T13" fmla="*/ 478 h 144"/>
                <a:gd name="T14" fmla="*/ 349 w 152"/>
                <a:gd name="T15" fmla="*/ 295 h 144"/>
                <a:gd name="T16" fmla="*/ 505 w 152"/>
                <a:gd name="T17" fmla="*/ 183 h 144"/>
                <a:gd name="T18" fmla="*/ 312 w 152"/>
                <a:gd name="T19" fmla="*/ 183 h 144"/>
                <a:gd name="T20" fmla="*/ 253 w 152"/>
                <a:gd name="T21" fmla="*/ 0 h 1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
                <a:gd name="T34" fmla="*/ 0 h 144"/>
                <a:gd name="T35" fmla="*/ 152 w 152"/>
                <a:gd name="T36" fmla="*/ 144 h 1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 h="144">
                  <a:moveTo>
                    <a:pt x="76" y="0"/>
                  </a:moveTo>
                  <a:lnTo>
                    <a:pt x="58" y="55"/>
                  </a:lnTo>
                  <a:lnTo>
                    <a:pt x="0" y="55"/>
                  </a:lnTo>
                  <a:lnTo>
                    <a:pt x="48" y="89"/>
                  </a:lnTo>
                  <a:lnTo>
                    <a:pt x="30" y="144"/>
                  </a:lnTo>
                  <a:lnTo>
                    <a:pt x="76" y="110"/>
                  </a:lnTo>
                  <a:lnTo>
                    <a:pt x="122" y="144"/>
                  </a:lnTo>
                  <a:lnTo>
                    <a:pt x="105" y="89"/>
                  </a:lnTo>
                  <a:lnTo>
                    <a:pt x="152" y="55"/>
                  </a:lnTo>
                  <a:lnTo>
                    <a:pt x="94" y="55"/>
                  </a:lnTo>
                  <a:lnTo>
                    <a:pt x="76" y="0"/>
                  </a:lnTo>
                  <a:close/>
                </a:path>
              </a:pathLst>
            </a:cu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sp>
          <p:nvSpPr>
            <p:cNvPr id="266" name="Freeform 24"/>
            <p:cNvSpPr>
              <a:spLocks/>
            </p:cNvSpPr>
            <p:nvPr/>
          </p:nvSpPr>
          <p:spPr bwMode="auto">
            <a:xfrm>
              <a:off x="5361671" y="5103812"/>
              <a:ext cx="797113" cy="1101725"/>
            </a:xfrm>
            <a:custGeom>
              <a:avLst/>
              <a:gdLst>
                <a:gd name="T0" fmla="*/ 522 w 186"/>
                <a:gd name="T1" fmla="*/ 292 h 248"/>
                <a:gd name="T2" fmla="*/ 0 w 186"/>
                <a:gd name="T3" fmla="*/ 292 h 248"/>
                <a:gd name="T4" fmla="*/ 96 w 186"/>
                <a:gd name="T5" fmla="*/ 528 h 248"/>
                <a:gd name="T6" fmla="*/ 618 w 186"/>
                <a:gd name="T7" fmla="*/ 528 h 248"/>
                <a:gd name="T8" fmla="*/ 522 w 186"/>
                <a:gd name="T9" fmla="*/ 292 h 248"/>
                <a:gd name="T10" fmla="*/ 0 60000 65536"/>
                <a:gd name="T11" fmla="*/ 0 60000 65536"/>
                <a:gd name="T12" fmla="*/ 0 60000 65536"/>
                <a:gd name="T13" fmla="*/ 0 60000 65536"/>
                <a:gd name="T14" fmla="*/ 0 60000 65536"/>
                <a:gd name="T15" fmla="*/ 0 w 186"/>
                <a:gd name="T16" fmla="*/ 0 h 248"/>
                <a:gd name="T17" fmla="*/ 186 w 186"/>
                <a:gd name="T18" fmla="*/ 248 h 248"/>
              </a:gdLst>
              <a:ahLst/>
              <a:cxnLst>
                <a:cxn ang="T10">
                  <a:pos x="T0" y="T1"/>
                </a:cxn>
                <a:cxn ang="T11">
                  <a:pos x="T2" y="T3"/>
                </a:cxn>
                <a:cxn ang="T12">
                  <a:pos x="T4" y="T5"/>
                </a:cxn>
                <a:cxn ang="T13">
                  <a:pos x="T6" y="T7"/>
                </a:cxn>
                <a:cxn ang="T14">
                  <a:pos x="T8" y="T9"/>
                </a:cxn>
              </a:cxnLst>
              <a:rect l="T15" t="T16" r="T17" b="T18"/>
              <a:pathLst>
                <a:path w="186" h="248">
                  <a:moveTo>
                    <a:pt x="157" y="88"/>
                  </a:moveTo>
                  <a:cubicBezTo>
                    <a:pt x="105" y="177"/>
                    <a:pt x="52" y="0"/>
                    <a:pt x="0" y="88"/>
                  </a:cubicBezTo>
                  <a:lnTo>
                    <a:pt x="29" y="159"/>
                  </a:lnTo>
                  <a:cubicBezTo>
                    <a:pt x="81" y="71"/>
                    <a:pt x="133" y="248"/>
                    <a:pt x="186" y="159"/>
                  </a:cubicBezTo>
                  <a:lnTo>
                    <a:pt x="157" y="88"/>
                  </a:lnTo>
                  <a:close/>
                </a:path>
              </a:pathLst>
            </a:cu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sp>
          <p:nvSpPr>
            <p:cNvPr id="267" name="Freeform 25"/>
            <p:cNvSpPr>
              <a:spLocks/>
            </p:cNvSpPr>
            <p:nvPr/>
          </p:nvSpPr>
          <p:spPr bwMode="auto">
            <a:xfrm>
              <a:off x="7114685" y="5372099"/>
              <a:ext cx="604981" cy="514350"/>
            </a:xfrm>
            <a:custGeom>
              <a:avLst/>
              <a:gdLst>
                <a:gd name="T0" fmla="*/ 209 w 126"/>
                <a:gd name="T1" fmla="*/ 0 h 103"/>
                <a:gd name="T2" fmla="*/ 0 w 126"/>
                <a:gd name="T3" fmla="*/ 342 h 103"/>
                <a:gd name="T4" fmla="*/ 418 w 126"/>
                <a:gd name="T5" fmla="*/ 342 h 103"/>
                <a:gd name="T6" fmla="*/ 209 w 126"/>
                <a:gd name="T7" fmla="*/ 0 h 103"/>
                <a:gd name="T8" fmla="*/ 0 60000 65536"/>
                <a:gd name="T9" fmla="*/ 0 60000 65536"/>
                <a:gd name="T10" fmla="*/ 0 60000 65536"/>
                <a:gd name="T11" fmla="*/ 0 60000 65536"/>
                <a:gd name="T12" fmla="*/ 0 w 126"/>
                <a:gd name="T13" fmla="*/ 0 h 103"/>
                <a:gd name="T14" fmla="*/ 126 w 126"/>
                <a:gd name="T15" fmla="*/ 103 h 103"/>
              </a:gdLst>
              <a:ahLst/>
              <a:cxnLst>
                <a:cxn ang="T8">
                  <a:pos x="T0" y="T1"/>
                </a:cxn>
                <a:cxn ang="T9">
                  <a:pos x="T2" y="T3"/>
                </a:cxn>
                <a:cxn ang="T10">
                  <a:pos x="T4" y="T5"/>
                </a:cxn>
                <a:cxn ang="T11">
                  <a:pos x="T6" y="T7"/>
                </a:cxn>
              </a:cxnLst>
              <a:rect l="T12" t="T13" r="T14" b="T15"/>
              <a:pathLst>
                <a:path w="126" h="103">
                  <a:moveTo>
                    <a:pt x="63" y="0"/>
                  </a:moveTo>
                  <a:lnTo>
                    <a:pt x="0" y="103"/>
                  </a:lnTo>
                  <a:lnTo>
                    <a:pt x="126" y="103"/>
                  </a:lnTo>
                  <a:lnTo>
                    <a:pt x="63" y="0"/>
                  </a:lnTo>
                  <a:close/>
                </a:path>
              </a:pathLst>
            </a:cu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100" dirty="0">
                <a:latin typeface="Calibri" panose="020F0502020204030204" pitchFamily="34" charset="0"/>
              </a:endParaRPr>
            </a:p>
          </p:txBody>
        </p:sp>
        <p:cxnSp>
          <p:nvCxnSpPr>
            <p:cNvPr id="168979" name="Connecteur droit avec flèche 305"/>
            <p:cNvCxnSpPr>
              <a:cxnSpLocks noChangeShapeType="1"/>
            </p:cNvCxnSpPr>
            <p:nvPr/>
          </p:nvCxnSpPr>
          <p:spPr bwMode="auto">
            <a:xfrm rot="10800000" flipV="1">
              <a:off x="6143134" y="4711700"/>
              <a:ext cx="778368" cy="749300"/>
            </a:xfrm>
            <a:prstGeom prst="straightConnector1">
              <a:avLst/>
            </a:prstGeom>
            <a:noFill/>
            <a:ln w="12700" algn="ctr">
              <a:solidFill>
                <a:srgbClr val="0033CC"/>
              </a:solidFill>
              <a:prstDash val="lgDash"/>
              <a:round/>
              <a:headEnd/>
              <a:tailEnd type="arrow" w="med" len="med"/>
            </a:ln>
            <a:extLst>
              <a:ext uri="{909E8E84-426E-40DD-AFC4-6F175D3DCCD1}">
                <a14:hiddenFill xmlns:a14="http://schemas.microsoft.com/office/drawing/2010/main">
                  <a:noFill/>
                </a14:hiddenFill>
              </a:ext>
            </a:extLst>
          </p:spPr>
        </p:cxnSp>
        <p:cxnSp>
          <p:nvCxnSpPr>
            <p:cNvPr id="168980" name="Connecteur droit avec flèche 306"/>
            <p:cNvCxnSpPr>
              <a:cxnSpLocks noChangeShapeType="1"/>
            </p:cNvCxnSpPr>
            <p:nvPr/>
          </p:nvCxnSpPr>
          <p:spPr bwMode="auto">
            <a:xfrm rot="-5400000" flipH="1" flipV="1">
              <a:off x="5648100" y="5098000"/>
              <a:ext cx="468000"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8981" name="Connecteur droit avec flèche 307"/>
            <p:cNvCxnSpPr>
              <a:cxnSpLocks noChangeShapeType="1"/>
            </p:cNvCxnSpPr>
            <p:nvPr/>
          </p:nvCxnSpPr>
          <p:spPr bwMode="auto">
            <a:xfrm rot="10800000" flipH="1">
              <a:off x="6417500" y="5715000"/>
              <a:ext cx="504000"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8982" name="Connecteur droit avec flèche 308"/>
            <p:cNvCxnSpPr>
              <a:cxnSpLocks noChangeShapeType="1"/>
            </p:cNvCxnSpPr>
            <p:nvPr/>
          </p:nvCxnSpPr>
          <p:spPr bwMode="auto">
            <a:xfrm rot="10800000">
              <a:off x="6366700" y="4533900"/>
              <a:ext cx="504000" cy="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8983" name="Connecteur droit avec flèche 309"/>
            <p:cNvCxnSpPr>
              <a:cxnSpLocks noChangeShapeType="1"/>
            </p:cNvCxnSpPr>
            <p:nvPr/>
          </p:nvCxnSpPr>
          <p:spPr bwMode="auto">
            <a:xfrm rot="5400000">
              <a:off x="7105650" y="5060950"/>
              <a:ext cx="571500" cy="0"/>
            </a:xfrm>
            <a:prstGeom prst="straightConnector1">
              <a:avLst/>
            </a:prstGeom>
            <a:noFill/>
            <a:ln w="12700" algn="ctr">
              <a:solidFill>
                <a:srgbClr val="00B050"/>
              </a:solidFill>
              <a:prstDash val="lgDash"/>
              <a:round/>
              <a:headEnd/>
              <a:tailEnd type="arrow" w="med" len="med"/>
            </a:ln>
            <a:extLst>
              <a:ext uri="{909E8E84-426E-40DD-AFC4-6F175D3DCCD1}">
                <a14:hiddenFill xmlns:a14="http://schemas.microsoft.com/office/drawing/2010/main">
                  <a:noFill/>
                </a14:hiddenFill>
              </a:ext>
            </a:extLst>
          </p:spPr>
        </p:cxnSp>
        <p:sp>
          <p:nvSpPr>
            <p:cNvPr id="168984" name="ZoneTexte 317"/>
            <p:cNvSpPr txBox="1">
              <a:spLocks noChangeArrowheads="1"/>
            </p:cNvSpPr>
            <p:nvPr/>
          </p:nvSpPr>
          <p:spPr bwMode="auto">
            <a:xfrm>
              <a:off x="6001512" y="3556000"/>
              <a:ext cx="1719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Atelier produit 2</a:t>
              </a:r>
            </a:p>
          </p:txBody>
        </p:sp>
        <p:sp>
          <p:nvSpPr>
            <p:cNvPr id="168985" name="ZoneTexte 349"/>
            <p:cNvSpPr txBox="1">
              <a:spLocks noChangeArrowheads="1"/>
            </p:cNvSpPr>
            <p:nvPr/>
          </p:nvSpPr>
          <p:spPr bwMode="auto">
            <a:xfrm>
              <a:off x="8283789" y="4419600"/>
              <a:ext cx="8759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rPr>
                <a:t>Lancement</a:t>
              </a:r>
            </a:p>
          </p:txBody>
        </p:sp>
        <p:pic>
          <p:nvPicPr>
            <p:cNvPr id="168986" name="Picture 32" descr="TIP5e¦ütu-fin E¦üTU1"/>
            <p:cNvPicPr>
              <a:picLocks noChangeAspect="1" noChangeArrowheads="1"/>
            </p:cNvPicPr>
            <p:nvPr/>
          </p:nvPicPr>
          <p:blipFill>
            <a:blip r:embed="rId4" cstate="print">
              <a:extLst>
                <a:ext uri="{28A0092B-C50C-407E-A947-70E740481C1C}">
                  <a14:useLocalDpi xmlns:a14="http://schemas.microsoft.com/office/drawing/2010/main" val="0"/>
                </a:ext>
              </a:extLst>
            </a:blip>
            <a:srcRect l="8157" t="25005" r="23033" b="14983"/>
            <a:stretch>
              <a:fillRect/>
            </a:stretch>
          </p:blipFill>
          <p:spPr bwMode="auto">
            <a:xfrm>
              <a:off x="8166320" y="3801465"/>
              <a:ext cx="793284" cy="70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87" name="Picture 46" descr="TIP3fab 7"/>
            <p:cNvPicPr>
              <a:picLocks noChangeAspect="1" noChangeArrowheads="1"/>
            </p:cNvPicPr>
            <p:nvPr/>
          </p:nvPicPr>
          <p:blipFill>
            <a:blip r:embed="rId5">
              <a:extLst>
                <a:ext uri="{28A0092B-C50C-407E-A947-70E740481C1C}">
                  <a14:useLocalDpi xmlns:a14="http://schemas.microsoft.com/office/drawing/2010/main" val="0"/>
                </a:ext>
              </a:extLst>
            </a:blip>
            <a:srcRect l="6909" t="46571" r="26497" b="12415"/>
            <a:stretch>
              <a:fillRect/>
            </a:stretch>
          </p:blipFill>
          <p:spPr bwMode="auto">
            <a:xfrm>
              <a:off x="8274572" y="5268271"/>
              <a:ext cx="799331" cy="58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8988" name="Connecteur droit avec flèche 352"/>
            <p:cNvCxnSpPr>
              <a:cxnSpLocks noChangeShapeType="1"/>
            </p:cNvCxnSpPr>
            <p:nvPr/>
          </p:nvCxnSpPr>
          <p:spPr bwMode="auto">
            <a:xfrm rot="10800000">
              <a:off x="7807903" y="4419600"/>
              <a:ext cx="377000" cy="1588"/>
            </a:xfrm>
            <a:prstGeom prst="straightConnector1">
              <a:avLst/>
            </a:prstGeom>
            <a:noFill/>
            <a:ln w="12700"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cxnSp>
          <p:nvCxnSpPr>
            <p:cNvPr id="168989" name="Connecteur droit avec flèche 353"/>
            <p:cNvCxnSpPr>
              <a:cxnSpLocks noChangeShapeType="1"/>
            </p:cNvCxnSpPr>
            <p:nvPr/>
          </p:nvCxnSpPr>
          <p:spPr bwMode="auto">
            <a:xfrm>
              <a:off x="7833303" y="5638800"/>
              <a:ext cx="377000" cy="1588"/>
            </a:xfrm>
            <a:prstGeom prst="straightConnector1">
              <a:avLst/>
            </a:prstGeom>
            <a:noFill/>
            <a:ln w="12700"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sp>
          <p:nvSpPr>
            <p:cNvPr id="168990" name="ZoneTexte 354"/>
            <p:cNvSpPr txBox="1">
              <a:spLocks noChangeArrowheads="1"/>
            </p:cNvSpPr>
            <p:nvPr/>
          </p:nvSpPr>
          <p:spPr bwMode="auto">
            <a:xfrm>
              <a:off x="8271499" y="5727700"/>
              <a:ext cx="7227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200" dirty="0">
                  <a:latin typeface="Calibri" panose="020F0502020204030204" pitchFamily="34" charset="0"/>
                </a:rPr>
                <a:t>Contrôle</a:t>
              </a:r>
            </a:p>
          </p:txBody>
        </p:sp>
      </p:grpSp>
      <p:sp>
        <p:nvSpPr>
          <p:cNvPr id="168969" name="ZoneTexte 88"/>
          <p:cNvSpPr txBox="1">
            <a:spLocks noChangeArrowheads="1"/>
          </p:cNvSpPr>
          <p:nvPr/>
        </p:nvSpPr>
        <p:spPr bwMode="auto">
          <a:xfrm>
            <a:off x="1951571" y="736600"/>
            <a:ext cx="8022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rPr>
              <a:t>Avant</a:t>
            </a:r>
          </a:p>
        </p:txBody>
      </p:sp>
      <p:sp>
        <p:nvSpPr>
          <p:cNvPr id="168970" name="ZoneTexte 89"/>
          <p:cNvSpPr txBox="1">
            <a:spLocks noChangeArrowheads="1"/>
          </p:cNvSpPr>
          <p:nvPr/>
        </p:nvSpPr>
        <p:spPr bwMode="auto">
          <a:xfrm>
            <a:off x="6729200" y="533400"/>
            <a:ext cx="7989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b="1" dirty="0">
                <a:solidFill>
                  <a:srgbClr val="FF0000"/>
                </a:solidFill>
                <a:latin typeface="Calibri" panose="020F0502020204030204" pitchFamily="34" charset="0"/>
              </a:rPr>
              <a:t>Après</a:t>
            </a:r>
          </a:p>
        </p:txBody>
      </p:sp>
      <p:pic>
        <p:nvPicPr>
          <p:cNvPr id="168971" name="Picture 2" descr="INDU056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59563" y="2163763"/>
            <a:ext cx="60007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72" name="Picture 2" descr="INDU056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37363" y="4868863"/>
            <a:ext cx="60007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73" name="Picture 2" descr="INDU056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85963" y="2717800"/>
            <a:ext cx="658812"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2" descr="C:\Users\BertrandS\Dropbox\Jeux\00. CONCEPTION DES JEUX\photos\Bureau Une Femme 29\iStock_000002139332_Medium ALLEGE.jpg"/>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1010" name="Titre 1"/>
          <p:cNvSpPr>
            <a:spLocks noGrp="1"/>
          </p:cNvSpPr>
          <p:nvPr>
            <p:ph type="title"/>
          </p:nvPr>
        </p:nvSpPr>
        <p:spPr/>
        <p:txBody>
          <a:bodyPr/>
          <a:lstStyle/>
          <a:p>
            <a:r>
              <a:rPr lang="fr-FR" altLang="fr-FR"/>
              <a:t>Analyse des trajets</a:t>
            </a:r>
          </a:p>
        </p:txBody>
      </p:sp>
      <p:sp>
        <p:nvSpPr>
          <p:cNvPr id="17101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71012" name="Espace réservé du numéro de diapositive 4"/>
          <p:cNvSpPr>
            <a:spLocks noGrp="1"/>
          </p:cNvSpPr>
          <p:nvPr>
            <p:ph type="sldNum" sz="quarter" idx="11"/>
          </p:nvPr>
        </p:nvSpPr>
        <p:spPr bwMode="auto">
          <a:xfrm>
            <a:off x="7835900" y="6548438"/>
            <a:ext cx="1776413"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1A50B2F8-C424-4E91-A688-BF8E11609CC3}" type="slidenum">
              <a:rPr lang="fr-FR" altLang="fr-FR" smtClean="0">
                <a:latin typeface="Calibri" panose="020F0502020204030204" pitchFamily="34" charset="0"/>
              </a:rPr>
              <a:pPr>
                <a:spcBef>
                  <a:spcPct val="0"/>
                </a:spcBef>
                <a:buFontTx/>
                <a:buNone/>
              </a:pPr>
              <a:t>78</a:t>
            </a:fld>
            <a:endParaRPr lang="fr-FR" altLang="fr-FR" dirty="0">
              <a:latin typeface="Calibri" panose="020F0502020204030204" pitchFamily="34" charset="0"/>
            </a:endParaRPr>
          </a:p>
        </p:txBody>
      </p:sp>
      <p:pic>
        <p:nvPicPr>
          <p:cNvPr id="171013" name="Picture 7"/>
          <p:cNvPicPr>
            <a:picLocks noChangeAspect="1" noChangeArrowheads="1"/>
          </p:cNvPicPr>
          <p:nvPr/>
        </p:nvPicPr>
        <p:blipFill>
          <a:blip r:embed="rId3">
            <a:extLst>
              <a:ext uri="{28A0092B-C50C-407E-A947-70E740481C1C}">
                <a14:useLocalDpi xmlns:a14="http://schemas.microsoft.com/office/drawing/2010/main" val="0"/>
              </a:ext>
            </a:extLst>
          </a:blip>
          <a:srcRect l="49226" t="1501" r="18546" b="63063"/>
          <a:stretch>
            <a:fillRect/>
          </a:stretch>
        </p:blipFill>
        <p:spPr bwMode="auto">
          <a:xfrm>
            <a:off x="86360" y="1181100"/>
            <a:ext cx="4786313"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graphicFrame>
        <p:nvGraphicFramePr>
          <p:cNvPr id="16" name="Tableau 15"/>
          <p:cNvGraphicFramePr>
            <a:graphicFrameLocks noGrp="1"/>
          </p:cNvGraphicFramePr>
          <p:nvPr>
            <p:extLst>
              <p:ext uri="{D42A27DB-BD31-4B8C-83A1-F6EECF244321}">
                <p14:modId xmlns:p14="http://schemas.microsoft.com/office/powerpoint/2010/main" val="204006162"/>
              </p:ext>
            </p:extLst>
          </p:nvPr>
        </p:nvGraphicFramePr>
        <p:xfrm>
          <a:off x="4957914" y="1181100"/>
          <a:ext cx="4444999" cy="4927603"/>
        </p:xfrm>
        <a:graphic>
          <a:graphicData uri="http://schemas.openxmlformats.org/drawingml/2006/table">
            <a:tbl>
              <a:tblPr/>
              <a:tblGrid>
                <a:gridCol w="930076">
                  <a:extLst>
                    <a:ext uri="{9D8B030D-6E8A-4147-A177-3AD203B41FA5}">
                      <a16:colId xmlns:a16="http://schemas.microsoft.com/office/drawing/2014/main" val="20000"/>
                    </a:ext>
                  </a:extLst>
                </a:gridCol>
                <a:gridCol w="930076">
                  <a:extLst>
                    <a:ext uri="{9D8B030D-6E8A-4147-A177-3AD203B41FA5}">
                      <a16:colId xmlns:a16="http://schemas.microsoft.com/office/drawing/2014/main" val="20001"/>
                    </a:ext>
                  </a:extLst>
                </a:gridCol>
                <a:gridCol w="930076">
                  <a:extLst>
                    <a:ext uri="{9D8B030D-6E8A-4147-A177-3AD203B41FA5}">
                      <a16:colId xmlns:a16="http://schemas.microsoft.com/office/drawing/2014/main" val="20002"/>
                    </a:ext>
                  </a:extLst>
                </a:gridCol>
                <a:gridCol w="930076">
                  <a:extLst>
                    <a:ext uri="{9D8B030D-6E8A-4147-A177-3AD203B41FA5}">
                      <a16:colId xmlns:a16="http://schemas.microsoft.com/office/drawing/2014/main" val="20003"/>
                    </a:ext>
                  </a:extLst>
                </a:gridCol>
                <a:gridCol w="724695">
                  <a:extLst>
                    <a:ext uri="{9D8B030D-6E8A-4147-A177-3AD203B41FA5}">
                      <a16:colId xmlns:a16="http://schemas.microsoft.com/office/drawing/2014/main" val="20004"/>
                    </a:ext>
                  </a:extLst>
                </a:gridCol>
              </a:tblGrid>
              <a:tr h="254945">
                <a:tc>
                  <a:txBody>
                    <a:bodyPr/>
                    <a:lstStyle/>
                    <a:p>
                      <a:pPr algn="ctr" fontAlgn="ctr"/>
                      <a:r>
                        <a:rPr lang="fr-FR" sz="1600" b="0" i="0" u="none" strike="noStrike" dirty="0">
                          <a:solidFill>
                            <a:srgbClr val="000000"/>
                          </a:solidFill>
                          <a:latin typeface="Calibri" panose="020F0502020204030204" pitchFamily="34" charset="0"/>
                        </a:rPr>
                        <a:t>Trajet </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Nombre</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Trajet</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Nombre</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9823">
                <a:tc>
                  <a:txBody>
                    <a:bodyPr/>
                    <a:lstStyle/>
                    <a:p>
                      <a:pPr algn="r" fontAlgn="ctr"/>
                      <a:r>
                        <a:rPr lang="fr-FR" sz="1600" b="0" i="0" u="none" strike="noStrike" dirty="0">
                          <a:solidFill>
                            <a:srgbClr val="000000"/>
                          </a:solidFill>
                          <a:latin typeface="Calibri" panose="020F0502020204030204" pitchFamily="34" charset="0"/>
                        </a:rPr>
                        <a:t>LC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2</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ET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9823">
                <a:tc>
                  <a:txBody>
                    <a:bodyPr/>
                    <a:lstStyle/>
                    <a:p>
                      <a:pPr algn="r" fontAlgn="ctr"/>
                      <a:r>
                        <a:rPr lang="fr-FR" sz="1600" b="0" i="0" u="none" strike="noStrike" dirty="0">
                          <a:solidFill>
                            <a:srgbClr val="000000"/>
                          </a:solidFill>
                          <a:latin typeface="Calibri" panose="020F0502020204030204" pitchFamily="34" charset="0"/>
                        </a:rPr>
                        <a:t>LE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OC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2</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9823">
                <a:tc>
                  <a:txBody>
                    <a:bodyPr/>
                    <a:lstStyle/>
                    <a:p>
                      <a:pPr algn="r" fontAlgn="ctr"/>
                      <a:r>
                        <a:rPr lang="fr-FR" sz="1600" b="0" i="0" u="none" strike="noStrike" dirty="0">
                          <a:solidFill>
                            <a:srgbClr val="000000"/>
                          </a:solidFill>
                          <a:latin typeface="Calibri" panose="020F0502020204030204" pitchFamily="34" charset="0"/>
                        </a:rPr>
                        <a:t>LO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OT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9823">
                <a:tc>
                  <a:txBody>
                    <a:bodyPr/>
                    <a:lstStyle/>
                    <a:p>
                      <a:pPr algn="r" fontAlgn="ctr"/>
                      <a:r>
                        <a:rPr lang="fr-FR" sz="1600" b="0" i="0" u="none" strike="noStrike" dirty="0">
                          <a:solidFill>
                            <a:srgbClr val="000000"/>
                          </a:solidFill>
                          <a:latin typeface="Calibri" panose="020F0502020204030204" pitchFamily="34" charset="0"/>
                        </a:rPr>
                        <a:t>LR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4</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RE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9823">
                <a:tc>
                  <a:txBody>
                    <a:bodyPr/>
                    <a:lstStyle/>
                    <a:p>
                      <a:pPr algn="r" fontAlgn="ctr"/>
                      <a:r>
                        <a:rPr lang="fr-FR" sz="1600" b="0" i="0" u="none" strike="noStrike" dirty="0">
                          <a:solidFill>
                            <a:srgbClr val="000000"/>
                          </a:solidFill>
                          <a:latin typeface="Calibri" panose="020F0502020204030204" pitchFamily="34" charset="0"/>
                        </a:rPr>
                        <a:t>CT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RT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79823">
                <a:tc>
                  <a:txBody>
                    <a:bodyPr/>
                    <a:lstStyle/>
                    <a:p>
                      <a:pPr algn="r" fontAlgn="ctr"/>
                      <a:r>
                        <a:rPr lang="fr-FR" sz="1600" b="0" i="0" u="none" strike="noStrike" dirty="0">
                          <a:solidFill>
                            <a:srgbClr val="000000"/>
                          </a:solidFill>
                          <a:latin typeface="Calibri" panose="020F0502020204030204" pitchFamily="34" charset="0"/>
                        </a:rPr>
                        <a:t>CE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TE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9823">
                <a:tc>
                  <a:txBody>
                    <a:bodyPr/>
                    <a:lstStyle/>
                    <a:p>
                      <a:pPr algn="r" fontAlgn="ctr"/>
                      <a:r>
                        <a:rPr lang="fr-FR" sz="1600" b="0" i="0" u="none" strike="noStrike" dirty="0" err="1">
                          <a:solidFill>
                            <a:srgbClr val="000000"/>
                          </a:solidFill>
                          <a:latin typeface="Calibri" panose="020F0502020204030204" pitchFamily="34" charset="0"/>
                        </a:rPr>
                        <a:t>ECo</a:t>
                      </a:r>
                      <a:r>
                        <a:rPr lang="fr-FR" sz="1600" b="0" i="0" u="none" strike="noStrike" dirty="0">
                          <a:solidFill>
                            <a:srgbClr val="000000"/>
                          </a:solidFill>
                          <a:latin typeface="Calibri" panose="020F0502020204030204" pitchFamily="34" charset="0"/>
                        </a:rPr>
                        <a: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4</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err="1">
                          <a:solidFill>
                            <a:srgbClr val="000000"/>
                          </a:solidFill>
                          <a:latin typeface="Calibri" panose="020F0502020204030204" pitchFamily="34" charset="0"/>
                        </a:rPr>
                        <a:t>TCo</a:t>
                      </a:r>
                      <a:r>
                        <a:rPr lang="fr-FR" sz="1600" b="0" i="0" u="none" strike="noStrike" dirty="0">
                          <a:solidFill>
                            <a:srgbClr val="000000"/>
                          </a:solidFill>
                          <a:latin typeface="Calibri" panose="020F0502020204030204" pitchFamily="34" charset="0"/>
                        </a:rPr>
                        <a: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5</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79823">
                <a:tc>
                  <a:txBody>
                    <a:bodyPr/>
                    <a:lstStyle/>
                    <a:p>
                      <a:pPr algn="r" fontAlgn="ctr"/>
                      <a:r>
                        <a:rPr lang="fr-FR" sz="1600" b="0" i="0" u="none" strike="noStrike" dirty="0">
                          <a:solidFill>
                            <a:srgbClr val="000000"/>
                          </a:solidFill>
                          <a:latin typeface="Calibri" panose="020F0502020204030204" pitchFamily="34" charset="0"/>
                        </a:rPr>
                        <a:t>EV </a:t>
                      </a:r>
                    </a:p>
                  </a:txBody>
                  <a:tcPr marL="11108" marR="99971"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VT </a:t>
                      </a:r>
                    </a:p>
                  </a:txBody>
                  <a:tcPr marL="11108" marR="99971"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2</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93899">
                <a:tc>
                  <a:txBody>
                    <a:bodyPr/>
                    <a:lstStyle/>
                    <a:p>
                      <a:endParaRPr lang="fr-FR" sz="1600" dirty="0">
                        <a:latin typeface="Calibri" panose="020F0502020204030204" pitchFamily="34" charset="0"/>
                      </a:endParaRPr>
                    </a:p>
                  </a:txBody>
                  <a:tcPr marL="11108" marR="99971" marT="1110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600" dirty="0">
                        <a:latin typeface="Calibri" panose="020F0502020204030204" pitchFamily="34" charset="0"/>
                        <a:cs typeface="Arial" pitchFamily="34" charset="0"/>
                      </a:endParaRPr>
                    </a:p>
                  </a:txBody>
                  <a:tcPr marL="11108" marR="11108" marT="11105"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fr-FR" sz="1600" b="0" i="0" u="none" strike="noStrike" dirty="0" err="1">
                          <a:solidFill>
                            <a:srgbClr val="000000"/>
                          </a:solidFill>
                          <a:latin typeface="Calibri" panose="020F0502020204030204" pitchFamily="34" charset="0"/>
                        </a:rPr>
                        <a:t>Vco</a:t>
                      </a:r>
                      <a:r>
                        <a:rPr lang="fr-FR" sz="1600" b="0" i="0" u="none" strike="noStrike" dirty="0">
                          <a:solidFill>
                            <a:srgbClr val="000000"/>
                          </a:solidFill>
                          <a:latin typeface="Calibri" panose="020F0502020204030204" pitchFamily="34" charset="0"/>
                        </a:rPr>
                        <a:t> .</a:t>
                      </a:r>
                    </a:p>
                  </a:txBody>
                  <a:tcPr marL="11108" marR="99971"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28278">
                <a:tc gridSpan="3">
                  <a:txBody>
                    <a:bodyPr/>
                    <a:lstStyle/>
                    <a:p>
                      <a:pPr marL="0" marR="0" lvl="0" indent="0" algn="r" defTabSz="1398941" rtl="0" eaLnBrk="1" fontAlgn="ctr" latinLnBrk="0" hangingPunct="1">
                        <a:lnSpc>
                          <a:spcPct val="100000"/>
                        </a:lnSpc>
                        <a:spcBef>
                          <a:spcPts val="0"/>
                        </a:spcBef>
                        <a:spcAft>
                          <a:spcPts val="0"/>
                        </a:spcAft>
                        <a:buClrTx/>
                        <a:buSzTx/>
                        <a:buFontTx/>
                        <a:buNone/>
                        <a:tabLst/>
                        <a:defRPr/>
                      </a:pPr>
                      <a:r>
                        <a:rPr lang="fr-FR" sz="1600" b="0" i="0" u="none" strike="noStrike" dirty="0">
                          <a:solidFill>
                            <a:srgbClr val="000000"/>
                          </a:solidFill>
                          <a:latin typeface="Calibri" panose="020F0502020204030204" pitchFamily="34" charset="0"/>
                        </a:rPr>
                        <a:t>Total trajets</a:t>
                      </a: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1398941" rtl="0" eaLnBrk="1" fontAlgn="ctr" latinLnBrk="0" hangingPunct="1">
                        <a:lnSpc>
                          <a:spcPct val="100000"/>
                        </a:lnSpc>
                        <a:spcBef>
                          <a:spcPts val="0"/>
                        </a:spcBef>
                        <a:spcAft>
                          <a:spcPts val="0"/>
                        </a:spcAft>
                        <a:buClrTx/>
                        <a:buSzTx/>
                        <a:buFontTx/>
                        <a:buNone/>
                        <a:tabLst/>
                        <a:defRPr/>
                      </a:pPr>
                      <a:endParaRPr lang="fr-FR" sz="11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1398941" rtl="0" eaLnBrk="1" fontAlgn="ctr" latinLnBrk="0" hangingPunct="1">
                        <a:lnSpc>
                          <a:spcPct val="100000"/>
                        </a:lnSpc>
                        <a:spcBef>
                          <a:spcPts val="0"/>
                        </a:spcBef>
                        <a:spcAft>
                          <a:spcPts val="0"/>
                        </a:spcAft>
                        <a:buClrTx/>
                        <a:buSzTx/>
                        <a:buFontTx/>
                        <a:buNone/>
                        <a:tabLst/>
                        <a:defRPr/>
                      </a:pP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600" b="0" i="0" u="none" strike="noStrike" dirty="0">
                          <a:solidFill>
                            <a:srgbClr val="000000"/>
                          </a:solidFill>
                          <a:latin typeface="Calibri" panose="020F0502020204030204" pitchFamily="34" charset="0"/>
                        </a:rPr>
                        <a:t>40</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328278">
                <a:tc gridSpan="3">
                  <a:txBody>
                    <a:bodyPr/>
                    <a:lstStyle/>
                    <a:p>
                      <a:pPr algn="r" fontAlgn="ctr"/>
                      <a:r>
                        <a:rPr lang="fr-FR" sz="1600" b="0" i="0" u="none" strike="noStrike" dirty="0">
                          <a:solidFill>
                            <a:srgbClr val="000000"/>
                          </a:solidFill>
                          <a:latin typeface="Calibri" panose="020F0502020204030204" pitchFamily="34" charset="0"/>
                        </a:rPr>
                        <a:t>Implantation</a:t>
                      </a: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tc>
                  <a:txBody>
                    <a:bodyPr/>
                    <a:lstStyle/>
                    <a:p>
                      <a:pPr algn="ctr" fontAlgn="ctr"/>
                      <a:r>
                        <a:rPr lang="fr-FR" sz="1600" b="0" i="0" u="none" strike="noStrike" dirty="0">
                          <a:solidFill>
                            <a:srgbClr val="000000"/>
                          </a:solidFill>
                          <a:latin typeface="Calibri" panose="020F0502020204030204" pitchFamily="34" charset="0"/>
                        </a:rPr>
                        <a:t>Avant</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Après</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498785">
                <a:tc gridSpan="3">
                  <a:txBody>
                    <a:bodyPr/>
                    <a:lstStyle/>
                    <a:p>
                      <a:pPr algn="r" fontAlgn="ctr"/>
                      <a:r>
                        <a:rPr lang="fr-FR" sz="1600" b="0" i="0" u="none" strike="noStrike" dirty="0">
                          <a:solidFill>
                            <a:srgbClr val="000000"/>
                          </a:solidFill>
                          <a:latin typeface="Calibri" panose="020F0502020204030204" pitchFamily="34" charset="0"/>
                        </a:rPr>
                        <a:t>Trajet moyen entre deux</a:t>
                      </a:r>
                      <a:r>
                        <a:rPr lang="fr-FR" sz="1600" b="0" i="0" u="none" strike="noStrike" baseline="0" dirty="0">
                          <a:solidFill>
                            <a:srgbClr val="000000"/>
                          </a:solidFill>
                          <a:latin typeface="Calibri" panose="020F0502020204030204" pitchFamily="34" charset="0"/>
                        </a:rPr>
                        <a:t> postes</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5 m</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1 m</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28278">
                <a:tc gridSpan="3">
                  <a:txBody>
                    <a:bodyPr/>
                    <a:lstStyle/>
                    <a:p>
                      <a:pPr algn="r" fontAlgn="ctr"/>
                      <a:r>
                        <a:rPr lang="fr-FR" sz="1600" b="0" i="0" u="none" strike="noStrike" dirty="0">
                          <a:solidFill>
                            <a:srgbClr val="000000"/>
                          </a:solidFill>
                          <a:latin typeface="Calibri" panose="020F0502020204030204" pitchFamily="34" charset="0"/>
                        </a:rPr>
                        <a:t>Distance</a:t>
                      </a:r>
                      <a:r>
                        <a:rPr lang="fr-FR" sz="1600" b="0" i="0" u="none" strike="noStrike" baseline="0" dirty="0">
                          <a:solidFill>
                            <a:srgbClr val="000000"/>
                          </a:solidFill>
                          <a:latin typeface="Calibri" panose="020F0502020204030204" pitchFamily="34" charset="0"/>
                        </a:rPr>
                        <a:t> (10 produits)</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200 m</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40 m</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28278">
                <a:tc gridSpan="3">
                  <a:txBody>
                    <a:bodyPr/>
                    <a:lstStyle/>
                    <a:p>
                      <a:pPr algn="r" fontAlgn="ctr"/>
                      <a:r>
                        <a:rPr lang="fr-FR" sz="1600" b="0" i="0" u="none" strike="noStrike" dirty="0">
                          <a:solidFill>
                            <a:srgbClr val="000000"/>
                          </a:solidFill>
                          <a:latin typeface="Calibri" panose="020F0502020204030204" pitchFamily="34" charset="0"/>
                        </a:rPr>
                        <a:t>Nombre</a:t>
                      </a:r>
                      <a:r>
                        <a:rPr lang="fr-FR" sz="1600" b="0" i="0" u="none" strike="noStrike" baseline="0" dirty="0">
                          <a:solidFill>
                            <a:srgbClr val="000000"/>
                          </a:solidFill>
                          <a:latin typeface="Calibri" panose="020F0502020204030204" pitchFamily="34" charset="0"/>
                        </a:rPr>
                        <a:t> de produits</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50</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50 </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328278">
                <a:tc gridSpan="3">
                  <a:txBody>
                    <a:bodyPr/>
                    <a:lstStyle/>
                    <a:p>
                      <a:pPr algn="r" fontAlgn="ctr"/>
                      <a:r>
                        <a:rPr lang="fr-FR" sz="1600" b="0" i="0" u="none" strike="noStrike" dirty="0">
                          <a:solidFill>
                            <a:srgbClr val="000000"/>
                          </a:solidFill>
                          <a:latin typeface="Calibri" panose="020F0502020204030204" pitchFamily="34" charset="0"/>
                        </a:rPr>
                        <a:t>Distanc</a:t>
                      </a:r>
                      <a:r>
                        <a:rPr lang="fr-FR" sz="1600" b="0" i="0" u="none" strike="noStrike" baseline="0" dirty="0">
                          <a:solidFill>
                            <a:srgbClr val="000000"/>
                          </a:solidFill>
                          <a:latin typeface="Calibri" panose="020F0502020204030204" pitchFamily="34" charset="0"/>
                        </a:rPr>
                        <a:t>e totale (1)</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1 000 m</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250 m</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bl>
          </a:graphicData>
        </a:graphic>
      </p:graphicFrame>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3058"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488" y="1191578"/>
            <a:ext cx="9339262" cy="349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59" name="Titre 1"/>
          <p:cNvSpPr>
            <a:spLocks noGrp="1"/>
          </p:cNvSpPr>
          <p:nvPr>
            <p:ph type="title"/>
          </p:nvPr>
        </p:nvSpPr>
        <p:spPr/>
        <p:txBody>
          <a:bodyPr/>
          <a:lstStyle/>
          <a:p>
            <a:r>
              <a:rPr lang="fr-FR" altLang="fr-FR"/>
              <a:t>L'équipe QUALITÉ</a:t>
            </a:r>
          </a:p>
        </p:txBody>
      </p:sp>
      <p:sp>
        <p:nvSpPr>
          <p:cNvPr id="173060"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73061"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B502177-EFCE-4B56-A7EC-49FE1DF3EF3E}" type="slidenum">
              <a:rPr lang="fr-FR" altLang="fr-FR" smtClean="0">
                <a:latin typeface="Calibri" panose="020F0502020204030204" pitchFamily="34" charset="0"/>
              </a:rPr>
              <a:pPr>
                <a:spcBef>
                  <a:spcPct val="0"/>
                </a:spcBef>
                <a:buFontTx/>
                <a:buNone/>
              </a:pPr>
              <a:t>79</a:t>
            </a:fld>
            <a:endParaRPr lang="fr-FR" altLang="fr-FR" dirty="0">
              <a:latin typeface="Calibri" panose="020F0502020204030204" pitchFamily="34" charset="0"/>
            </a:endParaRPr>
          </a:p>
        </p:txBody>
      </p:sp>
      <p:sp>
        <p:nvSpPr>
          <p:cNvPr id="173062" name="Carré corné 7"/>
          <p:cNvSpPr>
            <a:spLocks noChangeArrowheads="1"/>
          </p:cNvSpPr>
          <p:nvPr/>
        </p:nvSpPr>
        <p:spPr bwMode="auto">
          <a:xfrm flipH="1">
            <a:off x="2457450" y="1886903"/>
            <a:ext cx="619125" cy="579437"/>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173063" name="Groupe 23"/>
          <p:cNvGrpSpPr>
            <a:grpSpLocks/>
          </p:cNvGrpSpPr>
          <p:nvPr/>
        </p:nvGrpSpPr>
        <p:grpSpPr bwMode="auto">
          <a:xfrm>
            <a:off x="7110413" y="4906328"/>
            <a:ext cx="1465262" cy="1263650"/>
            <a:chOff x="7498050" y="751000"/>
            <a:chExt cx="1464196" cy="1263738"/>
          </a:xfrm>
        </p:grpSpPr>
        <p:sp>
          <p:nvSpPr>
            <p:cNvPr id="173077" name="ZoneTexte 10"/>
            <p:cNvSpPr txBox="1">
              <a:spLocks noChangeArrowheads="1"/>
            </p:cNvSpPr>
            <p:nvPr/>
          </p:nvSpPr>
          <p:spPr bwMode="auto">
            <a:xfrm flipH="1">
              <a:off x="7498050" y="1588452"/>
              <a:ext cx="14641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Interviews</a:t>
              </a:r>
            </a:p>
          </p:txBody>
        </p:sp>
        <p:pic>
          <p:nvPicPr>
            <p:cNvPr id="17307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3417" y="751000"/>
              <a:ext cx="1346535" cy="126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3064" name="Carré corné 12"/>
          <p:cNvSpPr>
            <a:spLocks noChangeArrowheads="1"/>
          </p:cNvSpPr>
          <p:nvPr/>
        </p:nvSpPr>
        <p:spPr bwMode="auto">
          <a:xfrm flipH="1">
            <a:off x="871538" y="1812290"/>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65" name="Carré corné 13"/>
          <p:cNvSpPr>
            <a:spLocks noChangeArrowheads="1"/>
          </p:cNvSpPr>
          <p:nvPr/>
        </p:nvSpPr>
        <p:spPr bwMode="auto">
          <a:xfrm flipH="1">
            <a:off x="1838325" y="1399540"/>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66" name="Carré corné 14"/>
          <p:cNvSpPr>
            <a:spLocks noChangeArrowheads="1"/>
          </p:cNvSpPr>
          <p:nvPr/>
        </p:nvSpPr>
        <p:spPr bwMode="auto">
          <a:xfrm flipH="1">
            <a:off x="4049713" y="1745615"/>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67" name="Carré corné 15"/>
          <p:cNvSpPr>
            <a:spLocks noChangeArrowheads="1"/>
          </p:cNvSpPr>
          <p:nvPr/>
        </p:nvSpPr>
        <p:spPr bwMode="auto">
          <a:xfrm flipH="1">
            <a:off x="5699125" y="1559878"/>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68" name="Carré corné 16"/>
          <p:cNvSpPr>
            <a:spLocks noChangeArrowheads="1"/>
          </p:cNvSpPr>
          <p:nvPr/>
        </p:nvSpPr>
        <p:spPr bwMode="auto">
          <a:xfrm flipH="1">
            <a:off x="5024438" y="1912303"/>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69" name="Carré corné 17"/>
          <p:cNvSpPr>
            <a:spLocks noChangeArrowheads="1"/>
          </p:cNvSpPr>
          <p:nvPr/>
        </p:nvSpPr>
        <p:spPr bwMode="auto">
          <a:xfrm flipH="1">
            <a:off x="863600" y="3245803"/>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70" name="Carré corné 18"/>
          <p:cNvSpPr>
            <a:spLocks noChangeArrowheads="1"/>
          </p:cNvSpPr>
          <p:nvPr/>
        </p:nvSpPr>
        <p:spPr bwMode="auto">
          <a:xfrm flipH="1">
            <a:off x="1790700" y="3134678"/>
            <a:ext cx="619125" cy="579437"/>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71" name="Carré corné 19"/>
          <p:cNvSpPr>
            <a:spLocks noChangeArrowheads="1"/>
          </p:cNvSpPr>
          <p:nvPr/>
        </p:nvSpPr>
        <p:spPr bwMode="auto">
          <a:xfrm flipH="1">
            <a:off x="3471863" y="3121978"/>
            <a:ext cx="619125" cy="579437"/>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72" name="Carré corné 20"/>
          <p:cNvSpPr>
            <a:spLocks noChangeArrowheads="1"/>
          </p:cNvSpPr>
          <p:nvPr/>
        </p:nvSpPr>
        <p:spPr bwMode="auto">
          <a:xfrm flipH="1">
            <a:off x="3224213" y="3752215"/>
            <a:ext cx="619125"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73" name="Carré corné 21"/>
          <p:cNvSpPr>
            <a:spLocks noChangeArrowheads="1"/>
          </p:cNvSpPr>
          <p:nvPr/>
        </p:nvSpPr>
        <p:spPr bwMode="auto">
          <a:xfrm flipH="1">
            <a:off x="5178425" y="3145790"/>
            <a:ext cx="619125" cy="579438"/>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3074" name="Carré corné 22"/>
          <p:cNvSpPr>
            <a:spLocks noChangeArrowheads="1"/>
          </p:cNvSpPr>
          <p:nvPr/>
        </p:nvSpPr>
        <p:spPr bwMode="auto">
          <a:xfrm flipH="1">
            <a:off x="5835650" y="3663315"/>
            <a:ext cx="620713" cy="581025"/>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23" name="Picture 2" descr="C:\Users\BertrandS\Dropbox\Jeux\00. CONCEPTION DES JEUX\photos\Bureau Une Femme 29\iStock_000002139332_Medium ALLEGE.jpg"/>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4" name="Tableau 53"/>
          <p:cNvGraphicFramePr>
            <a:graphicFrameLocks noGrp="1"/>
          </p:cNvGraphicFramePr>
          <p:nvPr/>
        </p:nvGraphicFramePr>
        <p:xfrm>
          <a:off x="1165225" y="5810250"/>
          <a:ext cx="698500" cy="730250"/>
        </p:xfrm>
        <a:graphic>
          <a:graphicData uri="http://schemas.openxmlformats.org/drawingml/2006/table">
            <a:tbl>
              <a:tblPr firstRow="1" bandRow="1">
                <a:tableStyleId>{5C22544A-7EE6-4342-B048-85BDC9FD1C3A}</a:tableStyleId>
              </a:tblPr>
              <a:tblGrid>
                <a:gridCol w="698500">
                  <a:extLst>
                    <a:ext uri="{9D8B030D-6E8A-4147-A177-3AD203B41FA5}">
                      <a16:colId xmlns:a16="http://schemas.microsoft.com/office/drawing/2014/main" val="20000"/>
                    </a:ext>
                  </a:extLst>
                </a:gridCol>
              </a:tblGrid>
              <a:tr h="281374">
                <a:tc>
                  <a:txBody>
                    <a:bodyPr/>
                    <a:lstStyle/>
                    <a:p>
                      <a:pPr algn="ctr"/>
                      <a:r>
                        <a:rPr lang="fr-FR" sz="1000" b="0" dirty="0">
                          <a:solidFill>
                            <a:schemeClr val="tx1"/>
                          </a:solidFill>
                          <a:latin typeface="Calibri" panose="020F0502020204030204" pitchFamily="34" charset="0"/>
                          <a:cs typeface="Arial" pitchFamily="34" charset="0"/>
                        </a:rPr>
                        <a:t>Note / 100</a:t>
                      </a:r>
                    </a:p>
                  </a:txBody>
                  <a:tcPr marL="36000" marR="36000" marT="45739" marB="457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8876">
                <a:tc>
                  <a:txBody>
                    <a:bodyPr/>
                    <a:lstStyle/>
                    <a:p>
                      <a:pPr algn="ctr"/>
                      <a:endParaRPr lang="fr-FR" sz="1100" b="1" dirty="0">
                        <a:solidFill>
                          <a:srgbClr val="0033CC"/>
                        </a:solidFill>
                        <a:latin typeface="Calibri" panose="020F0502020204030204" pitchFamily="34" charset="0"/>
                        <a:cs typeface="Arial" pitchFamily="34" charset="0"/>
                      </a:endParaRPr>
                    </a:p>
                  </a:txBody>
                  <a:tcPr marL="36000" marR="36000" marT="45739" marB="457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59" name="Tableau 58"/>
          <p:cNvGraphicFramePr>
            <a:graphicFrameLocks noGrp="1"/>
          </p:cNvGraphicFramePr>
          <p:nvPr/>
        </p:nvGraphicFramePr>
        <p:xfrm>
          <a:off x="2779713" y="5810250"/>
          <a:ext cx="657225" cy="730250"/>
        </p:xfrm>
        <a:graphic>
          <a:graphicData uri="http://schemas.openxmlformats.org/drawingml/2006/table">
            <a:tbl>
              <a:tblPr firstRow="1" bandRow="1">
                <a:tableStyleId>{5C22544A-7EE6-4342-B048-85BDC9FD1C3A}</a:tableStyleId>
              </a:tblPr>
              <a:tblGrid>
                <a:gridCol w="657225">
                  <a:extLst>
                    <a:ext uri="{9D8B030D-6E8A-4147-A177-3AD203B41FA5}">
                      <a16:colId xmlns:a16="http://schemas.microsoft.com/office/drawing/2014/main" val="20000"/>
                    </a:ext>
                  </a:extLst>
                </a:gridCol>
              </a:tblGrid>
              <a:tr h="281374">
                <a:tc>
                  <a:txBody>
                    <a:bodyPr/>
                    <a:lstStyle/>
                    <a:p>
                      <a:pPr algn="ctr"/>
                      <a:r>
                        <a:rPr lang="fr-FR" sz="1000" b="0" dirty="0">
                          <a:solidFill>
                            <a:schemeClr val="tx1"/>
                          </a:solidFill>
                          <a:latin typeface="Calibri" panose="020F0502020204030204" pitchFamily="34" charset="0"/>
                          <a:cs typeface="Arial" pitchFamily="34" charset="0"/>
                        </a:rPr>
                        <a:t>Note / 32</a:t>
                      </a:r>
                    </a:p>
                  </a:txBody>
                  <a:tcPr marL="36000" marR="36000" marT="45739" marB="457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8876">
                <a:tc>
                  <a:txBody>
                    <a:bodyPr/>
                    <a:lstStyle/>
                    <a:p>
                      <a:pPr algn="ctr"/>
                      <a:endParaRPr lang="fr-FR" sz="1100" b="1" dirty="0">
                        <a:solidFill>
                          <a:srgbClr val="0033CC"/>
                        </a:solidFill>
                        <a:latin typeface="Calibri" panose="020F0502020204030204" pitchFamily="34" charset="0"/>
                        <a:cs typeface="Arial" pitchFamily="34" charset="0"/>
                      </a:endParaRPr>
                    </a:p>
                  </a:txBody>
                  <a:tcPr marL="36000" marR="36000" marT="45739" marB="457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
        <p:nvSpPr>
          <p:cNvPr id="175122" name="Titre 1"/>
          <p:cNvSpPr>
            <a:spLocks noGrp="1"/>
          </p:cNvSpPr>
          <p:nvPr>
            <p:ph type="title"/>
          </p:nvPr>
        </p:nvSpPr>
        <p:spPr/>
        <p:txBody>
          <a:bodyPr/>
          <a:lstStyle/>
          <a:p>
            <a:r>
              <a:rPr lang="fr-FR" altLang="fr-FR"/>
              <a:t>L’ENQUÊTE DE MOTIVATION</a:t>
            </a:r>
          </a:p>
        </p:txBody>
      </p:sp>
      <p:sp>
        <p:nvSpPr>
          <p:cNvPr id="17512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0F3D57A-F56D-4707-9CB0-F9C0D1B02F4F}" type="slidenum">
              <a:rPr lang="fr-FR" altLang="fr-FR" smtClean="0">
                <a:latin typeface="Calibri" panose="020F0502020204030204" pitchFamily="34" charset="0"/>
              </a:rPr>
              <a:pPr>
                <a:spcBef>
                  <a:spcPct val="0"/>
                </a:spcBef>
                <a:buFontTx/>
                <a:buNone/>
              </a:pPr>
              <a:t>80</a:t>
            </a:fld>
            <a:endParaRPr lang="fr-FR" altLang="fr-FR" dirty="0">
              <a:latin typeface="Calibri" panose="020F0502020204030204" pitchFamily="34" charset="0"/>
            </a:endParaRPr>
          </a:p>
        </p:txBody>
      </p:sp>
      <p:sp>
        <p:nvSpPr>
          <p:cNvPr id="175125" name="Ellipse 22"/>
          <p:cNvSpPr>
            <a:spLocks noChangeArrowheads="1"/>
          </p:cNvSpPr>
          <p:nvPr/>
        </p:nvSpPr>
        <p:spPr bwMode="auto">
          <a:xfrm>
            <a:off x="4835525" y="1287463"/>
            <a:ext cx="514350"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26" name="Ellipse 23"/>
          <p:cNvSpPr>
            <a:spLocks noChangeArrowheads="1"/>
          </p:cNvSpPr>
          <p:nvPr/>
        </p:nvSpPr>
        <p:spPr bwMode="auto">
          <a:xfrm>
            <a:off x="5651500" y="1938338"/>
            <a:ext cx="514350"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27" name="Ellipse 24"/>
          <p:cNvSpPr>
            <a:spLocks noChangeArrowheads="1"/>
          </p:cNvSpPr>
          <p:nvPr/>
        </p:nvSpPr>
        <p:spPr bwMode="auto">
          <a:xfrm>
            <a:off x="5262563" y="2468563"/>
            <a:ext cx="514350"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28" name="Ellipse 25"/>
          <p:cNvSpPr>
            <a:spLocks noChangeArrowheads="1"/>
          </p:cNvSpPr>
          <p:nvPr/>
        </p:nvSpPr>
        <p:spPr bwMode="auto">
          <a:xfrm>
            <a:off x="4745038" y="2982913"/>
            <a:ext cx="514350"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29" name="Ellipse 26"/>
          <p:cNvSpPr>
            <a:spLocks noChangeArrowheads="1"/>
          </p:cNvSpPr>
          <p:nvPr/>
        </p:nvSpPr>
        <p:spPr bwMode="auto">
          <a:xfrm>
            <a:off x="4783138" y="3433763"/>
            <a:ext cx="515937"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30" name="Ellipse 27"/>
          <p:cNvSpPr>
            <a:spLocks noChangeArrowheads="1"/>
          </p:cNvSpPr>
          <p:nvPr/>
        </p:nvSpPr>
        <p:spPr bwMode="auto">
          <a:xfrm>
            <a:off x="5221288" y="4081463"/>
            <a:ext cx="514350"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31" name="Ellipse 28"/>
          <p:cNvSpPr>
            <a:spLocks noChangeArrowheads="1"/>
          </p:cNvSpPr>
          <p:nvPr/>
        </p:nvSpPr>
        <p:spPr bwMode="auto">
          <a:xfrm>
            <a:off x="5233988" y="4595813"/>
            <a:ext cx="514350"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32" name="Ellipse 29"/>
          <p:cNvSpPr>
            <a:spLocks noChangeArrowheads="1"/>
          </p:cNvSpPr>
          <p:nvPr/>
        </p:nvSpPr>
        <p:spPr bwMode="auto">
          <a:xfrm>
            <a:off x="5692775" y="5275263"/>
            <a:ext cx="515938" cy="347662"/>
          </a:xfrm>
          <a:prstGeom prst="ellipse">
            <a:avLst/>
          </a:prstGeom>
          <a:noFill/>
          <a:ln w="12700" algn="ctr">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75133" name="ZoneTexte 30"/>
          <p:cNvSpPr txBox="1">
            <a:spLocks noChangeArrowheads="1"/>
          </p:cNvSpPr>
          <p:nvPr/>
        </p:nvSpPr>
        <p:spPr bwMode="auto">
          <a:xfrm>
            <a:off x="4875213" y="60325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3</a:t>
            </a:r>
          </a:p>
        </p:txBody>
      </p:sp>
      <p:sp>
        <p:nvSpPr>
          <p:cNvPr id="175134" name="ZoneTexte 31"/>
          <p:cNvSpPr txBox="1">
            <a:spLocks noChangeArrowheads="1"/>
          </p:cNvSpPr>
          <p:nvPr/>
        </p:nvSpPr>
        <p:spPr bwMode="auto">
          <a:xfrm>
            <a:off x="5300663" y="60325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6</a:t>
            </a:r>
          </a:p>
        </p:txBody>
      </p:sp>
      <p:sp>
        <p:nvSpPr>
          <p:cNvPr id="175135" name="ZoneTexte 32"/>
          <p:cNvSpPr txBox="1">
            <a:spLocks noChangeArrowheads="1"/>
          </p:cNvSpPr>
          <p:nvPr/>
        </p:nvSpPr>
        <p:spPr bwMode="auto">
          <a:xfrm>
            <a:off x="5713413" y="60325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6</a:t>
            </a:r>
          </a:p>
        </p:txBody>
      </p:sp>
      <p:sp>
        <p:nvSpPr>
          <p:cNvPr id="175136" name="ZoneTexte 33"/>
          <p:cNvSpPr txBox="1">
            <a:spLocks noChangeArrowheads="1"/>
          </p:cNvSpPr>
          <p:nvPr/>
        </p:nvSpPr>
        <p:spPr bwMode="auto">
          <a:xfrm>
            <a:off x="6137275" y="60325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0</a:t>
            </a:r>
          </a:p>
        </p:txBody>
      </p:sp>
      <p:sp>
        <p:nvSpPr>
          <p:cNvPr id="175137" name="ZoneTexte 34"/>
          <p:cNvSpPr txBox="1">
            <a:spLocks noChangeArrowheads="1"/>
          </p:cNvSpPr>
          <p:nvPr/>
        </p:nvSpPr>
        <p:spPr bwMode="auto">
          <a:xfrm>
            <a:off x="2894210" y="6105525"/>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15</a:t>
            </a:r>
          </a:p>
        </p:txBody>
      </p:sp>
      <p:sp>
        <p:nvSpPr>
          <p:cNvPr id="175138" name="ZoneTexte 35"/>
          <p:cNvSpPr txBox="1">
            <a:spLocks noChangeArrowheads="1"/>
          </p:cNvSpPr>
          <p:nvPr/>
        </p:nvSpPr>
        <p:spPr bwMode="auto">
          <a:xfrm>
            <a:off x="1297979" y="6078538"/>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45</a:t>
            </a:r>
          </a:p>
        </p:txBody>
      </p:sp>
      <p:graphicFrame>
        <p:nvGraphicFramePr>
          <p:cNvPr id="52" name="Tableau 51"/>
          <p:cNvGraphicFramePr>
            <a:graphicFrameLocks noGrp="1"/>
          </p:cNvGraphicFramePr>
          <p:nvPr/>
        </p:nvGraphicFramePr>
        <p:xfrm>
          <a:off x="153988" y="889000"/>
          <a:ext cx="6405562" cy="5554662"/>
        </p:xfrm>
        <a:graphic>
          <a:graphicData uri="http://schemas.openxmlformats.org/drawingml/2006/table">
            <a:tbl>
              <a:tblPr/>
              <a:tblGrid>
                <a:gridCol w="237244">
                  <a:extLst>
                    <a:ext uri="{9D8B030D-6E8A-4147-A177-3AD203B41FA5}">
                      <a16:colId xmlns:a16="http://schemas.microsoft.com/office/drawing/2014/main" val="20000"/>
                    </a:ext>
                  </a:extLst>
                </a:gridCol>
                <a:gridCol w="4427690">
                  <a:extLst>
                    <a:ext uri="{9D8B030D-6E8A-4147-A177-3AD203B41FA5}">
                      <a16:colId xmlns:a16="http://schemas.microsoft.com/office/drawing/2014/main" val="20001"/>
                    </a:ext>
                  </a:extLst>
                </a:gridCol>
                <a:gridCol w="435157">
                  <a:extLst>
                    <a:ext uri="{9D8B030D-6E8A-4147-A177-3AD203B41FA5}">
                      <a16:colId xmlns:a16="http://schemas.microsoft.com/office/drawing/2014/main" val="20002"/>
                    </a:ext>
                  </a:extLst>
                </a:gridCol>
                <a:gridCol w="435157">
                  <a:extLst>
                    <a:ext uri="{9D8B030D-6E8A-4147-A177-3AD203B41FA5}">
                      <a16:colId xmlns:a16="http://schemas.microsoft.com/office/drawing/2014/main" val="20003"/>
                    </a:ext>
                  </a:extLst>
                </a:gridCol>
                <a:gridCol w="435157">
                  <a:extLst>
                    <a:ext uri="{9D8B030D-6E8A-4147-A177-3AD203B41FA5}">
                      <a16:colId xmlns:a16="http://schemas.microsoft.com/office/drawing/2014/main" val="20004"/>
                    </a:ext>
                  </a:extLst>
                </a:gridCol>
                <a:gridCol w="435157">
                  <a:extLst>
                    <a:ext uri="{9D8B030D-6E8A-4147-A177-3AD203B41FA5}">
                      <a16:colId xmlns:a16="http://schemas.microsoft.com/office/drawing/2014/main" val="20005"/>
                    </a:ext>
                  </a:extLst>
                </a:gridCol>
              </a:tblGrid>
              <a:tr h="306180">
                <a:tc>
                  <a:txBody>
                    <a:bodyPr/>
                    <a:lstStyle/>
                    <a:p>
                      <a:pPr algn="ctr" fontAlgn="ctr"/>
                      <a:endParaRPr lang="fr-FR" sz="1100" b="0" i="0" u="none" strike="noStrike" dirty="0">
                        <a:solidFill>
                          <a:srgbClr val="000000"/>
                        </a:solidFill>
                        <a:latin typeface="Calibri" panose="020F0502020204030204" pitchFamily="34" charset="0"/>
                        <a:cs typeface="Arial" pitchFamily="34" charset="0"/>
                      </a:endParaRPr>
                    </a:p>
                  </a:txBody>
                  <a:tcPr marL="74799" marR="37399" marT="557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fr-FR" sz="1100" b="0" i="0" u="none" strike="noStrike" dirty="0">
                          <a:solidFill>
                            <a:srgbClr val="000000"/>
                          </a:solidFill>
                          <a:latin typeface="Calibri" panose="020F0502020204030204" pitchFamily="34" charset="0"/>
                          <a:cs typeface="Arial" pitchFamily="34" charset="0"/>
                        </a:rPr>
                        <a:t>      </a:t>
                      </a:r>
                      <a:r>
                        <a:rPr lang="fr-FR" sz="1200" b="0" i="0" u="none" strike="noStrike" dirty="0">
                          <a:solidFill>
                            <a:srgbClr val="000000"/>
                          </a:solidFill>
                          <a:latin typeface="Calibri" panose="020F0502020204030204" pitchFamily="34" charset="0"/>
                          <a:cs typeface="Arial" pitchFamily="34" charset="0"/>
                        </a:rPr>
                        <a:t>Question </a:t>
                      </a:r>
                      <a:endParaRPr lang="fr-FR" sz="11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fr-FR" sz="900" b="0" i="0" u="none" strike="noStrike" dirty="0">
                          <a:solidFill>
                            <a:srgbClr val="000000"/>
                          </a:solidFill>
                          <a:latin typeface="Calibri" panose="020F0502020204030204" pitchFamily="34" charset="0"/>
                          <a:cs typeface="Arial" pitchFamily="34" charset="0"/>
                        </a:rPr>
                        <a:t>Non</a:t>
                      </a:r>
                    </a:p>
                  </a:txBody>
                  <a:tcPr marL="373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fr-FR" sz="900" b="0" i="0" u="none" strike="noStrike" dirty="0">
                          <a:solidFill>
                            <a:srgbClr val="000000"/>
                          </a:solidFill>
                          <a:latin typeface="Calibri" panose="020F0502020204030204" pitchFamily="34" charset="0"/>
                          <a:cs typeface="Arial" pitchFamily="34" charset="0"/>
                        </a:rPr>
                        <a:t>Assez</a:t>
                      </a:r>
                      <a:r>
                        <a:rPr lang="fr-FR" sz="900" b="0" i="0" u="none" strike="noStrike" baseline="0" dirty="0">
                          <a:solidFill>
                            <a:srgbClr val="000000"/>
                          </a:solidFill>
                          <a:latin typeface="Calibri" panose="020F0502020204030204" pitchFamily="34" charset="0"/>
                          <a:cs typeface="Arial" pitchFamily="34" charset="0"/>
                        </a:rPr>
                        <a:t> peu</a:t>
                      </a:r>
                      <a:endParaRPr lang="fr-FR" sz="900" b="0" i="0" u="none" strike="noStrike" dirty="0">
                        <a:solidFill>
                          <a:srgbClr val="000000"/>
                        </a:solidFill>
                        <a:latin typeface="Calibri" panose="020F0502020204030204" pitchFamily="34" charset="0"/>
                        <a:cs typeface="Arial" pitchFamily="34" charset="0"/>
                      </a:endParaRPr>
                    </a:p>
                  </a:txBody>
                  <a:tcPr marL="373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fr-FR" sz="900" b="0" i="0" u="none" strike="noStrike" dirty="0">
                          <a:solidFill>
                            <a:srgbClr val="000000"/>
                          </a:solidFill>
                          <a:latin typeface="Calibri" panose="020F0502020204030204" pitchFamily="34" charset="0"/>
                          <a:cs typeface="Arial" pitchFamily="34" charset="0"/>
                        </a:rPr>
                        <a:t>Assez</a:t>
                      </a:r>
                      <a:r>
                        <a:rPr lang="fr-FR" sz="900" b="0" i="0" u="none" strike="noStrike" baseline="0" dirty="0">
                          <a:solidFill>
                            <a:srgbClr val="000000"/>
                          </a:solidFill>
                          <a:latin typeface="Calibri" panose="020F0502020204030204" pitchFamily="34" charset="0"/>
                          <a:cs typeface="Arial" pitchFamily="34" charset="0"/>
                        </a:rPr>
                        <a:t> bien</a:t>
                      </a:r>
                      <a:endParaRPr lang="fr-FR" sz="900" b="0" i="0" u="none" strike="noStrike" dirty="0">
                        <a:solidFill>
                          <a:srgbClr val="000000"/>
                        </a:solidFill>
                        <a:latin typeface="Calibri" panose="020F0502020204030204" pitchFamily="34" charset="0"/>
                        <a:cs typeface="Arial" pitchFamily="34" charset="0"/>
                      </a:endParaRPr>
                    </a:p>
                  </a:txBody>
                  <a:tcPr marL="373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fr-FR" sz="900" b="0" i="0" u="none" strike="noStrike" kern="1200" dirty="0">
                          <a:solidFill>
                            <a:srgbClr val="000000"/>
                          </a:solidFill>
                          <a:latin typeface="Calibri" panose="020F0502020204030204" pitchFamily="34" charset="0"/>
                          <a:ea typeface="+mn-ea"/>
                          <a:cs typeface="Arial" pitchFamily="34" charset="0"/>
                        </a:rPr>
                        <a:t>oui</a:t>
                      </a:r>
                    </a:p>
                  </a:txBody>
                  <a:tcPr marL="373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93517">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1</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rgbClr val="000000"/>
                          </a:solidFill>
                          <a:latin typeface="Calibri" panose="020F0502020204030204" pitchFamily="34" charset="0"/>
                          <a:cs typeface="Arial" pitchFamily="34" charset="0"/>
                        </a:rPr>
                        <a:t>Je</a:t>
                      </a:r>
                      <a:r>
                        <a:rPr lang="fr-FR" sz="1100" b="0" i="0" u="none" strike="noStrike" baseline="0" dirty="0">
                          <a:solidFill>
                            <a:srgbClr val="000000"/>
                          </a:solidFill>
                          <a:latin typeface="Calibri" panose="020F0502020204030204" pitchFamily="34" charset="0"/>
                          <a:cs typeface="Arial" pitchFamily="34" charset="0"/>
                        </a:rPr>
                        <a:t> connais la définition précise d’</a:t>
                      </a:r>
                      <a:r>
                        <a:rPr lang="fr-FR" sz="1100" b="0" i="0" u="none" strike="noStrike" dirty="0">
                          <a:solidFill>
                            <a:srgbClr val="000000"/>
                          </a:solidFill>
                          <a:latin typeface="Calibri" panose="020F0502020204030204" pitchFamily="34" charset="0"/>
                          <a:cs typeface="Arial" pitchFamily="34" charset="0"/>
                        </a:rPr>
                        <a:t>un « bon</a:t>
                      </a:r>
                      <a:r>
                        <a:rPr lang="fr-FR" sz="1100" b="0" i="0" u="none" strike="noStrike" baseline="0" dirty="0">
                          <a:solidFill>
                            <a:srgbClr val="000000"/>
                          </a:solidFill>
                          <a:latin typeface="Calibri" panose="020F0502020204030204" pitchFamily="34" charset="0"/>
                          <a:cs typeface="Arial" pitchFamily="34" charset="0"/>
                        </a:rPr>
                        <a:t> produit ».</a:t>
                      </a:r>
                      <a:endParaRPr lang="fr-FR" sz="11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2 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3 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fr-FR" sz="1100" b="0" dirty="0">
                          <a:solidFill>
                            <a:schemeClr val="tx1"/>
                          </a:solidFill>
                          <a:latin typeface="Calibri" panose="020F0502020204030204" pitchFamily="34" charset="0"/>
                          <a:cs typeface="Arial" pitchFamily="34" charset="0"/>
                        </a:rPr>
                        <a:t>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3517">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2</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fr-FR" sz="1100" b="0" i="0" u="none" strike="noStrike" dirty="0">
                          <a:solidFill>
                            <a:srgbClr val="000000"/>
                          </a:solidFill>
                          <a:latin typeface="Calibri" panose="020F0502020204030204" pitchFamily="34" charset="0"/>
                          <a:cs typeface="Arial" pitchFamily="34" charset="0"/>
                        </a:rPr>
                        <a:t>Je dispose du matériel approprié pour faire mon travail.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2</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12794">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fr-FR" sz="1100" b="0" i="0" u="none" strike="noStrike" dirty="0">
                          <a:solidFill>
                            <a:srgbClr val="000000"/>
                          </a:solidFill>
                          <a:latin typeface="Calibri" panose="020F0502020204030204" pitchFamily="34" charset="0"/>
                          <a:cs typeface="Arial" pitchFamily="34" charset="0"/>
                        </a:rPr>
                        <a:t>Je connais les objectifs sur lesquels je serai évalué.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1</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2</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12794">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4</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fr-FR" sz="1100" b="0" i="0" u="none" strike="noStrike" dirty="0">
                          <a:solidFill>
                            <a:srgbClr val="000000"/>
                          </a:solidFill>
                          <a:latin typeface="Calibri" panose="020F0502020204030204" pitchFamily="34" charset="0"/>
                          <a:cs typeface="Arial" pitchFamily="34" charset="0"/>
                        </a:rPr>
                        <a:t>Je suis informé de la qualité de mon travail</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2 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12794">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5</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48873" rtl="0" eaLnBrk="1" fontAlgn="ctr" latinLnBrk="0" hangingPunct="1">
                        <a:lnSpc>
                          <a:spcPct val="100000"/>
                        </a:lnSpc>
                        <a:spcBef>
                          <a:spcPts val="0"/>
                        </a:spcBef>
                        <a:spcAft>
                          <a:spcPts val="0"/>
                        </a:spcAft>
                        <a:buClrTx/>
                        <a:buSzTx/>
                        <a:buFontTx/>
                        <a:buNone/>
                        <a:tabLst/>
                        <a:defRPr/>
                      </a:pPr>
                      <a:r>
                        <a:rPr lang="fr-FR" sz="1100" b="0" i="0" u="none" strike="noStrike" dirty="0">
                          <a:solidFill>
                            <a:srgbClr val="000000"/>
                          </a:solidFill>
                          <a:latin typeface="Calibri" panose="020F0502020204030204" pitchFamily="34" charset="0"/>
                          <a:cs typeface="Arial" pitchFamily="34" charset="0"/>
                        </a:rPr>
                        <a:t>J’ai des remerciements quand je fais du bon</a:t>
                      </a:r>
                      <a:r>
                        <a:rPr lang="fr-FR" sz="1100" b="0" i="0" u="none" strike="noStrike" baseline="0" dirty="0">
                          <a:solidFill>
                            <a:srgbClr val="000000"/>
                          </a:solidFill>
                          <a:latin typeface="Calibri" panose="020F0502020204030204" pitchFamily="34" charset="0"/>
                          <a:cs typeface="Arial" pitchFamily="34" charset="0"/>
                        </a:rPr>
                        <a:t> travail</a:t>
                      </a:r>
                      <a:r>
                        <a:rPr lang="fr-FR" sz="1100" b="0" i="0" u="none" strike="noStrike" dirty="0">
                          <a:solidFill>
                            <a:srgbClr val="000000"/>
                          </a:solidFill>
                          <a:latin typeface="Calibri" panose="020F0502020204030204" pitchFamily="34" charset="0"/>
                          <a:cs typeface="Arial" pitchFamily="34" charset="0"/>
                        </a:rPr>
                        <a:t>.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2</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93517">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6</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fr-FR" sz="1100" b="0" i="0" u="none" strike="noStrike" dirty="0">
                          <a:solidFill>
                            <a:srgbClr val="000000"/>
                          </a:solidFill>
                          <a:latin typeface="Calibri" panose="020F0502020204030204" pitchFamily="34" charset="0"/>
                          <a:cs typeface="Arial" pitchFamily="34" charset="0"/>
                        </a:rPr>
                        <a:t>J’ai </a:t>
                      </a:r>
                      <a:r>
                        <a:rPr lang="fr-FR" sz="1100" b="0" i="0" u="none" strike="noStrike" baseline="0" dirty="0">
                          <a:solidFill>
                            <a:srgbClr val="000000"/>
                          </a:solidFill>
                          <a:latin typeface="Calibri" panose="020F0502020204030204" pitchFamily="34" charset="0"/>
                          <a:cs typeface="Arial" pitchFamily="34" charset="0"/>
                        </a:rPr>
                        <a:t>le sentiment de travailler en équipe, j’ai d</a:t>
                      </a:r>
                      <a:r>
                        <a:rPr lang="fr-FR" sz="1100" b="0" i="0" u="none" strike="noStrike" dirty="0">
                          <a:solidFill>
                            <a:srgbClr val="000000"/>
                          </a:solidFill>
                          <a:latin typeface="Calibri" panose="020F0502020204030204" pitchFamily="34" charset="0"/>
                          <a:cs typeface="Arial" pitchFamily="34" charset="0"/>
                        </a:rPr>
                        <a:t>e bons contacts avec les autres ateliers.</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2</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93517">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7</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fr-FR" sz="1100" b="0" i="0" u="none" strike="noStrike" dirty="0">
                          <a:solidFill>
                            <a:srgbClr val="000000"/>
                          </a:solidFill>
                          <a:latin typeface="Calibri" panose="020F0502020204030204" pitchFamily="34" charset="0"/>
                          <a:cs typeface="Arial" pitchFamily="34" charset="0"/>
                        </a:rPr>
                        <a:t>Je comprends à quoi servent les produits que je fabrique et je connais les conséquences d’un défaut sur l’utilisation</a:t>
                      </a:r>
                      <a:r>
                        <a:rPr lang="fr-FR" sz="1100" b="0" i="0" u="none" strike="noStrike" baseline="0" dirty="0">
                          <a:solidFill>
                            <a:srgbClr val="000000"/>
                          </a:solidFill>
                          <a:latin typeface="Calibri" panose="020F0502020204030204" pitchFamily="34" charset="0"/>
                          <a:cs typeface="Arial" pitchFamily="34" charset="0"/>
                        </a:rPr>
                        <a:t> du produit.</a:t>
                      </a:r>
                      <a:endParaRPr lang="fr-FR" sz="11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2 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93517">
                <a:tc>
                  <a:txBody>
                    <a:bodyPr/>
                    <a:lstStyle/>
                    <a:p>
                      <a:pPr algn="ctr" rtl="0" fontAlgn="ctr"/>
                      <a:r>
                        <a:rPr lang="fr-FR" sz="1000" b="0" i="0" u="none" strike="noStrike" dirty="0">
                          <a:solidFill>
                            <a:srgbClr val="000000"/>
                          </a:solidFill>
                          <a:latin typeface="Calibri" panose="020F0502020204030204" pitchFamily="34" charset="0"/>
                          <a:cs typeface="Arial" pitchFamily="34" charset="0"/>
                        </a:rPr>
                        <a:t>8</a:t>
                      </a:r>
                    </a:p>
                  </a:txBody>
                  <a:tcPr marL="373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fr-FR" sz="1100" b="0" i="0" u="none" strike="noStrike" dirty="0">
                          <a:solidFill>
                            <a:srgbClr val="000000"/>
                          </a:solidFill>
                          <a:latin typeface="Calibri" panose="020F0502020204030204" pitchFamily="34" charset="0"/>
                          <a:cs typeface="Arial" pitchFamily="34" charset="0"/>
                        </a:rPr>
                        <a:t>Je suis fier d’appartenir à mon entreprise, j’ai le sentiment de contribuer à sa réussite.</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1 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2 </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3</a:t>
                      </a:r>
                    </a:p>
                  </a:txBody>
                  <a:tcPr marL="74799" marR="37399" marT="55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100" b="0" i="0" u="none" strike="noStrike" dirty="0">
                          <a:solidFill>
                            <a:schemeClr val="tx1"/>
                          </a:solidFill>
                          <a:latin typeface="Calibri" panose="020F0502020204030204" pitchFamily="34" charset="0"/>
                          <a:cs typeface="Arial" pitchFamily="34" charset="0"/>
                        </a:rPr>
                        <a:t> 4</a:t>
                      </a:r>
                    </a:p>
                  </a:txBody>
                  <a:tcPr marL="74799" marR="37399" marT="557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64674">
                <a:tc>
                  <a:txBody>
                    <a:bodyPr/>
                    <a:lstStyle/>
                    <a:p>
                      <a:pPr algn="ctr" rtl="0" fontAlgn="ctr"/>
                      <a:endParaRPr lang="fr-FR" sz="10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fr-FR" sz="11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fr-FR" sz="1700" b="1" i="0" u="none" strike="noStrike" dirty="0">
                        <a:solidFill>
                          <a:srgbClr val="009900"/>
                        </a:solidFill>
                        <a:latin typeface="Calibri" panose="020F0502020204030204" pitchFamily="34" charset="0"/>
                        <a:cs typeface="Arial" pitchFamily="34" charset="0"/>
                      </a:endParaRPr>
                    </a:p>
                  </a:txBody>
                  <a:tcPr marL="74799" marR="37399" marT="55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fr-FR" sz="1700" b="1" i="0" u="none" strike="noStrike" dirty="0">
                        <a:solidFill>
                          <a:srgbClr val="FF0000"/>
                        </a:solidFill>
                        <a:latin typeface="Calibri" panose="020F0502020204030204" pitchFamily="34" charset="0"/>
                        <a:cs typeface="Arial" pitchFamily="34" charset="0"/>
                      </a:endParaRPr>
                    </a:p>
                  </a:txBody>
                  <a:tcPr marL="74799" marR="37399" marT="55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fr-FR" sz="1700" b="1" i="0" u="none" strike="noStrike" dirty="0">
                        <a:solidFill>
                          <a:srgbClr val="DF7807"/>
                        </a:solidFill>
                        <a:latin typeface="Calibri" panose="020F0502020204030204" pitchFamily="34" charset="0"/>
                        <a:cs typeface="Arial" pitchFamily="34" charset="0"/>
                      </a:endParaRPr>
                    </a:p>
                  </a:txBody>
                  <a:tcPr marL="74799" marR="37399" marT="55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fr-FR" sz="1700" b="1" i="0" u="none" strike="noStrike" dirty="0">
                        <a:solidFill>
                          <a:srgbClr val="DF7807"/>
                        </a:solidFill>
                        <a:latin typeface="Calibri" panose="020F0502020204030204" pitchFamily="34" charset="0"/>
                        <a:cs typeface="Arial" pitchFamily="34" charset="0"/>
                      </a:endParaRPr>
                    </a:p>
                  </a:txBody>
                  <a:tcPr marL="74799" marR="37399" marT="55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477841">
                <a:tc>
                  <a:txBody>
                    <a:bodyPr/>
                    <a:lstStyle/>
                    <a:p>
                      <a:pPr algn="ctr" rtl="0" fontAlgn="ctr"/>
                      <a:endParaRPr lang="fr-FR" sz="10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endParaRPr lang="fr-FR" sz="1100" b="0" i="0" u="none" strike="noStrike" dirty="0">
                        <a:solidFill>
                          <a:srgbClr val="000000"/>
                        </a:solidFill>
                        <a:latin typeface="Calibri" panose="020F0502020204030204" pitchFamily="34" charset="0"/>
                        <a:cs typeface="Arial" pitchFamily="34" charset="0"/>
                      </a:endParaRPr>
                    </a:p>
                  </a:txBody>
                  <a:tcPr marL="74799" marR="37399" marT="557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fr-FR" sz="1700" b="1" i="0" u="none" strike="noStrike" dirty="0">
                        <a:solidFill>
                          <a:srgbClr val="009900"/>
                        </a:solidFill>
                        <a:latin typeface="Calibri" panose="020F0502020204030204" pitchFamily="34" charset="0"/>
                        <a:cs typeface="Arial" pitchFamily="34" charset="0"/>
                      </a:endParaRPr>
                    </a:p>
                  </a:txBody>
                  <a:tcPr marL="74799" marR="37399" marT="55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fr-FR" sz="1700" b="1" i="0" u="none" strike="noStrike" dirty="0">
                        <a:solidFill>
                          <a:srgbClr val="FF0000"/>
                        </a:solidFill>
                        <a:latin typeface="Calibri" panose="020F0502020204030204" pitchFamily="34" charset="0"/>
                        <a:cs typeface="Arial" pitchFamily="34" charset="0"/>
                      </a:endParaRPr>
                    </a:p>
                  </a:txBody>
                  <a:tcPr marL="74799" marR="37399" marT="55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fr-FR" sz="1700" b="1" i="0" u="none" strike="noStrike" dirty="0">
                        <a:solidFill>
                          <a:srgbClr val="DF7807"/>
                        </a:solidFill>
                        <a:latin typeface="Calibri" panose="020F0502020204030204" pitchFamily="34" charset="0"/>
                        <a:cs typeface="Arial" pitchFamily="34" charset="0"/>
                      </a:endParaRPr>
                    </a:p>
                  </a:txBody>
                  <a:tcPr marL="74799" marR="37399" marT="55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fr-FR" sz="1700" b="1" i="0" u="none" strike="noStrike" dirty="0">
                        <a:solidFill>
                          <a:srgbClr val="DF7807"/>
                        </a:solidFill>
                        <a:latin typeface="Calibri" panose="020F0502020204030204" pitchFamily="34" charset="0"/>
                        <a:cs typeface="Arial" pitchFamily="34" charset="0"/>
                      </a:endParaRPr>
                    </a:p>
                  </a:txBody>
                  <a:tcPr marL="74799" marR="37399" marT="55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75230" name="ZoneTexte 52"/>
          <p:cNvSpPr txBox="1">
            <a:spLocks noChangeArrowheads="1"/>
          </p:cNvSpPr>
          <p:nvPr/>
        </p:nvSpPr>
        <p:spPr bwMode="auto">
          <a:xfrm>
            <a:off x="3400425" y="6034088"/>
            <a:ext cx="874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i="1" dirty="0">
                <a:latin typeface="Calibri" panose="020F0502020204030204" pitchFamily="34" charset="0"/>
                <a:cs typeface="Arial" panose="020B0604020202020204" pitchFamily="34" charset="0"/>
              </a:rPr>
              <a:t>Total des 4 colonnes</a:t>
            </a:r>
          </a:p>
        </p:txBody>
      </p:sp>
      <p:cxnSp>
        <p:nvCxnSpPr>
          <p:cNvPr id="175231" name="Connecteur droit avec flèche 54"/>
          <p:cNvCxnSpPr>
            <a:cxnSpLocks noChangeShapeType="1"/>
          </p:cNvCxnSpPr>
          <p:nvPr/>
        </p:nvCxnSpPr>
        <p:spPr bwMode="auto">
          <a:xfrm rot="10800000">
            <a:off x="3665538" y="6492875"/>
            <a:ext cx="43815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5232" name="ZoneTexte 55"/>
          <p:cNvSpPr txBox="1">
            <a:spLocks noChangeArrowheads="1"/>
          </p:cNvSpPr>
          <p:nvPr/>
        </p:nvSpPr>
        <p:spPr bwMode="auto">
          <a:xfrm>
            <a:off x="1814513" y="6021388"/>
            <a:ext cx="968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i="1" dirty="0">
                <a:latin typeface="Calibri" panose="020F0502020204030204" pitchFamily="34" charset="0"/>
                <a:cs typeface="Arial" panose="020B0604020202020204" pitchFamily="34" charset="0"/>
              </a:rPr>
              <a:t>Multipliez par 100 / 32</a:t>
            </a:r>
          </a:p>
        </p:txBody>
      </p:sp>
      <p:sp>
        <p:nvSpPr>
          <p:cNvPr id="175233" name="ZoneTexte 56"/>
          <p:cNvSpPr txBox="1">
            <a:spLocks noChangeArrowheads="1"/>
          </p:cNvSpPr>
          <p:nvPr/>
        </p:nvSpPr>
        <p:spPr bwMode="auto">
          <a:xfrm>
            <a:off x="4321175" y="5857875"/>
            <a:ext cx="6191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dirty="0">
                <a:latin typeface="Calibri" panose="020F0502020204030204" pitchFamily="34" charset="0"/>
                <a:cs typeface="Arial" panose="020B0604020202020204" pitchFamily="34" charset="0"/>
              </a:rPr>
              <a:t>TOTAL</a:t>
            </a:r>
          </a:p>
        </p:txBody>
      </p:sp>
      <p:cxnSp>
        <p:nvCxnSpPr>
          <p:cNvPr id="175234" name="Connecteur droit avec flèche 57"/>
          <p:cNvCxnSpPr>
            <a:cxnSpLocks noChangeShapeType="1"/>
          </p:cNvCxnSpPr>
          <p:nvPr/>
        </p:nvCxnSpPr>
        <p:spPr bwMode="auto">
          <a:xfrm rot="10800000">
            <a:off x="1966913" y="6492875"/>
            <a:ext cx="66675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5236"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aphicFrame>
        <p:nvGraphicFramePr>
          <p:cNvPr id="175237" name="Espace réservé du contenu 1"/>
          <p:cNvGraphicFramePr>
            <a:graphicFrameLocks noGrp="1"/>
          </p:cNvGraphicFramePr>
          <p:nvPr>
            <p:ph idx="1"/>
          </p:nvPr>
        </p:nvGraphicFramePr>
        <p:xfrm>
          <a:off x="6157913" y="938213"/>
          <a:ext cx="3937000" cy="3060700"/>
        </p:xfrm>
        <a:graphic>
          <a:graphicData uri="http://schemas.openxmlformats.org/presentationml/2006/ole">
            <mc:AlternateContent xmlns:mc="http://schemas.openxmlformats.org/markup-compatibility/2006">
              <mc:Choice xmlns:v="urn:schemas-microsoft-com:vml" Requires="v">
                <p:oleObj name="Chart" r:id="rId3" imgW="3938357" imgH="3066554" progId="Excel.Chart.8">
                  <p:embed/>
                </p:oleObj>
              </mc:Choice>
              <mc:Fallback>
                <p:oleObj name="Chart" r:id="rId3" imgW="3938357" imgH="3066554" progId="Excel.Chart.8">
                  <p:embed/>
                  <p:pic>
                    <p:nvPicPr>
                      <p:cNvPr id="175237" name="Espace réservé du contenu 1"/>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7913" y="938213"/>
                        <a:ext cx="39370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 name="Picture 2" descr="C:\Users\BertrandS\Dropbox\Jeux\00. CONCEPTION DES JEUX\photos\Bureau Une Femme 29\iStock_000002139332_Medium ALLEGE.jpg"/>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7154" name="Titre 1"/>
          <p:cNvSpPr>
            <a:spLocks noGrp="1"/>
          </p:cNvSpPr>
          <p:nvPr>
            <p:ph type="title"/>
          </p:nvPr>
        </p:nvSpPr>
        <p:spPr/>
        <p:txBody>
          <a:bodyPr/>
          <a:lstStyle/>
          <a:p>
            <a:r>
              <a:rPr lang="fr-FR" altLang="fr-FR"/>
              <a:t>Pendant la préparation des projets</a:t>
            </a:r>
          </a:p>
        </p:txBody>
      </p:sp>
      <p:sp>
        <p:nvSpPr>
          <p:cNvPr id="3" name="Espace réservé du contenu 2"/>
          <p:cNvSpPr>
            <a:spLocks noGrp="1"/>
          </p:cNvSpPr>
          <p:nvPr>
            <p:ph idx="1"/>
          </p:nvPr>
        </p:nvSpPr>
        <p:spPr>
          <a:xfrm>
            <a:off x="355600" y="1066800"/>
            <a:ext cx="8966200" cy="4546600"/>
          </a:xfrm>
        </p:spPr>
        <p:txBody>
          <a:bodyPr lIns="36000" rIns="36000"/>
          <a:lstStyle/>
          <a:p>
            <a:pPr marL="0" indent="0">
              <a:lnSpc>
                <a:spcPts val="2100"/>
              </a:lnSpc>
              <a:buFontTx/>
              <a:buNone/>
              <a:defRPr/>
            </a:pPr>
            <a:r>
              <a:rPr lang="fr-FR" sz="1600" dirty="0"/>
              <a:t>Nous conseillons à l’animateur de circuler parmi les tables pour s’assurer que les projets avancent dans la bonne direction. Il ne doit pas hésiter à</a:t>
            </a:r>
            <a:r>
              <a:rPr lang="fr-FR" sz="1600" dirty="0">
                <a:solidFill>
                  <a:srgbClr val="FF0000"/>
                </a:solidFill>
              </a:rPr>
              <a:t> apporter son aide</a:t>
            </a:r>
            <a:r>
              <a:rPr lang="fr-FR" sz="1600" dirty="0"/>
              <a:t> en demandant à l’équipe de lui présenter l’état de ses réflexions. Mais son intervention doit être suffisamment habile pour que l’équipe ait le sentiment de rester maître de ses progrès.</a:t>
            </a:r>
          </a:p>
          <a:p>
            <a:pPr>
              <a:lnSpc>
                <a:spcPts val="2100"/>
              </a:lnSpc>
              <a:buFontTx/>
              <a:buNone/>
              <a:defRPr/>
            </a:pPr>
            <a:r>
              <a:rPr lang="fr-FR" sz="1600" dirty="0"/>
              <a:t>Ajoutons que la préparation vise deux objectifs :</a:t>
            </a:r>
          </a:p>
          <a:p>
            <a:pPr>
              <a:lnSpc>
                <a:spcPts val="2100"/>
              </a:lnSpc>
              <a:defRPr/>
            </a:pPr>
            <a:r>
              <a:rPr lang="fr-FR" sz="1600" dirty="0"/>
              <a:t>Le premier est d’aider les participants à découvrir des méthodes et des concepts généraux : la nature et l’importance des gaspillages, les raisons du ralentissement du flux, les problèmes d’équilibrage et les moyens de les résoudre, etc. Ce premier objectif de la préparation a une valeur pédagogique, même si les participants ne mettent pas en œuvre toutes ces idées dans la simulation 2.</a:t>
            </a:r>
          </a:p>
          <a:p>
            <a:pPr>
              <a:lnSpc>
                <a:spcPts val="2100"/>
              </a:lnSpc>
              <a:defRPr/>
            </a:pPr>
            <a:r>
              <a:rPr lang="fr-FR" sz="1600" dirty="0"/>
              <a:t>Le deuxième objectif est plus restreint mais plus concret : il faut imaginer des solutions qui seront réellement mises en œuvre dans la simulation 2.</a:t>
            </a:r>
          </a:p>
          <a:p>
            <a:pPr marL="0" indent="12700">
              <a:lnSpc>
                <a:spcPts val="2100"/>
              </a:lnSpc>
              <a:buFontTx/>
              <a:buNone/>
              <a:defRPr/>
            </a:pPr>
            <a:r>
              <a:rPr lang="fr-FR" sz="1600" dirty="0"/>
              <a:t>Faut-il aider les équipes à trouver ces solutions pour qu’elles apparaissent dans la simulation 2 ? Si l’animateur juge que oui il guidera les équipes pour qu’elles y parviennent. </a:t>
            </a:r>
          </a:p>
          <a:p>
            <a:pPr marL="0" indent="12700">
              <a:lnSpc>
                <a:spcPts val="2100"/>
              </a:lnSpc>
              <a:buFontTx/>
              <a:buNone/>
              <a:defRPr/>
            </a:pPr>
            <a:r>
              <a:rPr lang="fr-FR" sz="1600" dirty="0"/>
              <a:t>Nous donnons plus loin des indications sur les solutions à mettre en œuvre dans la simulation 2.</a:t>
            </a:r>
          </a:p>
        </p:txBody>
      </p:sp>
      <p:sp>
        <p:nvSpPr>
          <p:cNvPr id="17715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7715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F41F426B-58E6-4C2C-95B5-CB8ACEA4EFD8}" type="slidenum">
              <a:rPr lang="fr-FR" altLang="fr-FR" smtClean="0">
                <a:latin typeface="Calibri" panose="020F0502020204030204" pitchFamily="34" charset="0"/>
              </a:rPr>
              <a:pPr>
                <a:spcBef>
                  <a:spcPct val="0"/>
                </a:spcBef>
                <a:buFontTx/>
                <a:buNone/>
              </a:pPr>
              <a:t>81</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Titre 1"/>
          <p:cNvSpPr>
            <a:spLocks noGrp="1"/>
          </p:cNvSpPr>
          <p:nvPr>
            <p:ph type="title"/>
          </p:nvPr>
        </p:nvSpPr>
        <p:spPr/>
        <p:txBody>
          <a:bodyPr/>
          <a:lstStyle/>
          <a:p>
            <a:r>
              <a:rPr lang="fr-FR" altLang="fr-FR"/>
              <a:t>Comment organiser la présentation des projets ?</a:t>
            </a:r>
          </a:p>
        </p:txBody>
      </p:sp>
      <p:sp>
        <p:nvSpPr>
          <p:cNvPr id="179203" name="Espace réservé du contenu 2"/>
          <p:cNvSpPr>
            <a:spLocks noGrp="1"/>
          </p:cNvSpPr>
          <p:nvPr>
            <p:ph idx="1"/>
          </p:nvPr>
        </p:nvSpPr>
        <p:spPr>
          <a:xfrm>
            <a:off x="682625" y="1473200"/>
            <a:ext cx="8435975" cy="5090160"/>
          </a:xfrm>
        </p:spPr>
        <p:txBody>
          <a:bodyPr lIns="36000" rIns="36000"/>
          <a:lstStyle/>
          <a:p>
            <a:pPr marL="0" indent="20638">
              <a:lnSpc>
                <a:spcPts val="2600"/>
              </a:lnSpc>
              <a:buFontTx/>
              <a:buNone/>
            </a:pPr>
            <a:r>
              <a:rPr lang="fr-FR" altLang="fr-FR" dirty="0"/>
              <a:t>Une dizaine de minutes avant la fin de la préparation, l’animateur annonce aux équipes l’ordre des présentations : </a:t>
            </a:r>
          </a:p>
          <a:p>
            <a:pPr marL="0" indent="20638" algn="ctr">
              <a:lnSpc>
                <a:spcPts val="2600"/>
              </a:lnSpc>
              <a:buFontTx/>
              <a:buNone/>
            </a:pPr>
            <a:r>
              <a:rPr lang="fr-FR" altLang="fr-FR" dirty="0"/>
              <a:t>1. Productivité   -   2. Flux   -   3. Implantation   -   4. Qualité / Motivation.</a:t>
            </a:r>
          </a:p>
          <a:p>
            <a:pPr marL="0" indent="20638">
              <a:lnSpc>
                <a:spcPts val="2600"/>
              </a:lnSpc>
              <a:buFontTx/>
              <a:buNone/>
            </a:pPr>
            <a:r>
              <a:rPr lang="fr-FR" altLang="fr-FR" dirty="0"/>
              <a:t>Attention : il est toujours difficile de présenter à 15 ou 20 personnes le résultat de travaux auxquels elles n’ont pas participé, le présentateur risque d’avoir du mal à se faire comprendre.</a:t>
            </a:r>
          </a:p>
          <a:p>
            <a:pPr marL="0" indent="20638">
              <a:lnSpc>
                <a:spcPts val="2600"/>
              </a:lnSpc>
              <a:buFontTx/>
              <a:buNone/>
            </a:pPr>
            <a:r>
              <a:rPr lang="fr-FR" altLang="fr-FR" dirty="0"/>
              <a:t>C’est la raison pour laquelle nous avons prévu des « supports de présentation » qui aident l’équipe.  Ils sont expliqués sur les diapos suivantes.</a:t>
            </a:r>
          </a:p>
        </p:txBody>
      </p:sp>
      <p:sp>
        <p:nvSpPr>
          <p:cNvPr id="17920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7920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FFE9A66-DE1B-4C8B-9963-BEA32F4C6450}" type="slidenum">
              <a:rPr lang="fr-FR" altLang="fr-FR" smtClean="0">
                <a:latin typeface="Calibri" panose="020F0502020204030204" pitchFamily="34" charset="0"/>
              </a:rPr>
              <a:pPr>
                <a:spcBef>
                  <a:spcPct val="0"/>
                </a:spcBef>
                <a:buFontTx/>
                <a:buNone/>
              </a:pPr>
              <a:t>82</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1250" name="Titre 1"/>
          <p:cNvSpPr>
            <a:spLocks noGrp="1"/>
          </p:cNvSpPr>
          <p:nvPr>
            <p:ph type="title"/>
          </p:nvPr>
        </p:nvSpPr>
        <p:spPr/>
        <p:txBody>
          <a:bodyPr/>
          <a:lstStyle/>
          <a:p>
            <a:r>
              <a:rPr lang="fr-FR" altLang="fr-FR"/>
              <a:t>Présentation Productivité (1/2)</a:t>
            </a:r>
          </a:p>
        </p:txBody>
      </p:sp>
      <p:sp>
        <p:nvSpPr>
          <p:cNvPr id="18125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8125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EB11F8C-8E81-4629-96CD-9EEE0B958F91}" type="slidenum">
              <a:rPr lang="fr-FR" altLang="fr-FR" smtClean="0">
                <a:latin typeface="Calibri" panose="020F0502020204030204" pitchFamily="34" charset="0"/>
              </a:rPr>
              <a:pPr>
                <a:spcBef>
                  <a:spcPct val="0"/>
                </a:spcBef>
                <a:buFontTx/>
                <a:buNone/>
              </a:pPr>
              <a:t>83</a:t>
            </a:fld>
            <a:endParaRPr lang="fr-FR" altLang="fr-FR" dirty="0">
              <a:latin typeface="Calibri" panose="020F0502020204030204" pitchFamily="34" charset="0"/>
            </a:endParaRPr>
          </a:p>
        </p:txBody>
      </p:sp>
      <p:pic>
        <p:nvPicPr>
          <p:cNvPr id="181256" name="Picture 1"/>
          <p:cNvPicPr>
            <a:picLocks noChangeAspect="1" noChangeArrowheads="1"/>
          </p:cNvPicPr>
          <p:nvPr/>
        </p:nvPicPr>
        <p:blipFill>
          <a:blip r:embed="rId3">
            <a:extLst>
              <a:ext uri="{28A0092B-C50C-407E-A947-70E740481C1C}">
                <a14:useLocalDpi xmlns:a14="http://schemas.microsoft.com/office/drawing/2010/main" val="0"/>
              </a:ext>
            </a:extLst>
          </a:blip>
          <a:srcRect l="17815" t="1234" r="18628" b="7056"/>
          <a:stretch>
            <a:fillRect/>
          </a:stretch>
        </p:blipFill>
        <p:spPr bwMode="auto">
          <a:xfrm>
            <a:off x="6183313" y="1233488"/>
            <a:ext cx="3121025" cy="32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57" name="Picture 2"/>
          <p:cNvPicPr>
            <a:picLocks noChangeAspect="1" noChangeArrowheads="1"/>
          </p:cNvPicPr>
          <p:nvPr/>
        </p:nvPicPr>
        <p:blipFill>
          <a:blip r:embed="rId4">
            <a:extLst>
              <a:ext uri="{28A0092B-C50C-407E-A947-70E740481C1C}">
                <a14:useLocalDpi xmlns:a14="http://schemas.microsoft.com/office/drawing/2010/main" val="0"/>
              </a:ext>
            </a:extLst>
          </a:blip>
          <a:srcRect r="10992" b="16115"/>
          <a:stretch>
            <a:fillRect/>
          </a:stretch>
        </p:blipFill>
        <p:spPr bwMode="auto">
          <a:xfrm>
            <a:off x="-87313" y="1585913"/>
            <a:ext cx="6084888"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3298" name="Titre 1"/>
          <p:cNvSpPr>
            <a:spLocks noGrp="1"/>
          </p:cNvSpPr>
          <p:nvPr>
            <p:ph type="title"/>
          </p:nvPr>
        </p:nvSpPr>
        <p:spPr>
          <a:xfrm>
            <a:off x="498475" y="25400"/>
            <a:ext cx="8650288" cy="419100"/>
          </a:xfrm>
        </p:spPr>
        <p:txBody>
          <a:bodyPr/>
          <a:lstStyle/>
          <a:p>
            <a:r>
              <a:rPr lang="fr-FR" altLang="fr-FR"/>
              <a:t>Présentation flux</a:t>
            </a:r>
          </a:p>
        </p:txBody>
      </p:sp>
      <p:sp>
        <p:nvSpPr>
          <p:cNvPr id="18329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8330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6A23EC5-D578-41F9-8D4A-73324A0831D3}" type="slidenum">
              <a:rPr lang="fr-FR" altLang="fr-FR" smtClean="0">
                <a:latin typeface="Calibri" panose="020F0502020204030204" pitchFamily="34" charset="0"/>
              </a:rPr>
              <a:pPr>
                <a:spcBef>
                  <a:spcPct val="0"/>
                </a:spcBef>
                <a:buFontTx/>
                <a:buNone/>
              </a:pPr>
              <a:t>84</a:t>
            </a:fld>
            <a:endParaRPr lang="fr-FR" altLang="fr-FR" dirty="0">
              <a:latin typeface="Calibri" panose="020F0502020204030204" pitchFamily="34" charset="0"/>
            </a:endParaRPr>
          </a:p>
        </p:txBody>
      </p:sp>
      <p:pic>
        <p:nvPicPr>
          <p:cNvPr id="1833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 y="3046413"/>
            <a:ext cx="5922963"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 y="1247775"/>
            <a:ext cx="9504363"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2675" y="3273425"/>
            <a:ext cx="3294063"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4" name="ZoneTexte 9"/>
          <p:cNvSpPr txBox="1">
            <a:spLocks noChangeArrowheads="1"/>
          </p:cNvSpPr>
          <p:nvPr/>
        </p:nvSpPr>
        <p:spPr bwMode="auto">
          <a:xfrm>
            <a:off x="3526654" y="925513"/>
            <a:ext cx="21621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0033CC"/>
                </a:solidFill>
                <a:latin typeface="Calibri" panose="020F0502020204030204" pitchFamily="34" charset="0"/>
              </a:rPr>
              <a:t>Graphique des EN - COURS</a:t>
            </a:r>
          </a:p>
        </p:txBody>
      </p:sp>
      <p:sp>
        <p:nvSpPr>
          <p:cNvPr id="183305" name="ZoneTexte 10"/>
          <p:cNvSpPr txBox="1">
            <a:spLocks noChangeArrowheads="1"/>
          </p:cNvSpPr>
          <p:nvPr/>
        </p:nvSpPr>
        <p:spPr bwMode="auto">
          <a:xfrm>
            <a:off x="1647001" y="2847975"/>
            <a:ext cx="21860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0033CC"/>
                </a:solidFill>
                <a:latin typeface="Calibri" panose="020F0502020204030204" pitchFamily="34" charset="0"/>
              </a:rPr>
              <a:t>Graphique du DÉFILEMENT</a:t>
            </a:r>
          </a:p>
        </p:txBody>
      </p:sp>
      <p:sp>
        <p:nvSpPr>
          <p:cNvPr id="183306" name="ZoneTexte 11"/>
          <p:cNvSpPr txBox="1">
            <a:spLocks noChangeArrowheads="1"/>
          </p:cNvSpPr>
          <p:nvPr/>
        </p:nvSpPr>
        <p:spPr bwMode="auto">
          <a:xfrm>
            <a:off x="6702677" y="2847975"/>
            <a:ext cx="20949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0033CC"/>
                </a:solidFill>
                <a:latin typeface="Calibri" panose="020F0502020204030204" pitchFamily="34" charset="0"/>
              </a:rPr>
              <a:t>Graphique des TAKT TIME</a:t>
            </a:r>
          </a:p>
        </p:txBody>
      </p:sp>
      <p:pic>
        <p:nvPicPr>
          <p:cNvPr id="12" name="Picture 1">
            <a:hlinkClick r:id="rId6" action="ppaction://hlinkfile"/>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5346" name="Titre 1"/>
          <p:cNvSpPr>
            <a:spLocks noGrp="1"/>
          </p:cNvSpPr>
          <p:nvPr>
            <p:ph type="title"/>
          </p:nvPr>
        </p:nvSpPr>
        <p:spPr/>
        <p:txBody>
          <a:bodyPr/>
          <a:lstStyle/>
          <a:p>
            <a:r>
              <a:rPr lang="fr-FR" altLang="fr-FR"/>
              <a:t>Présentation Implantation</a:t>
            </a:r>
          </a:p>
        </p:txBody>
      </p:sp>
      <p:sp>
        <p:nvSpPr>
          <p:cNvPr id="18534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8534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72A0C74-D1C7-49DA-8391-2A5DE6C24FFC}" type="slidenum">
              <a:rPr lang="fr-FR" altLang="fr-FR" smtClean="0">
                <a:latin typeface="Calibri" panose="020F0502020204030204" pitchFamily="34" charset="0"/>
              </a:rPr>
              <a:pPr>
                <a:spcBef>
                  <a:spcPct val="0"/>
                </a:spcBef>
                <a:buFontTx/>
                <a:buNone/>
              </a:pPr>
              <a:t>85</a:t>
            </a:fld>
            <a:endParaRPr lang="fr-FR" altLang="fr-FR" dirty="0">
              <a:latin typeface="Calibri" panose="020F0502020204030204" pitchFamily="34" charset="0"/>
            </a:endParaRPr>
          </a:p>
        </p:txBody>
      </p:sp>
      <p:grpSp>
        <p:nvGrpSpPr>
          <p:cNvPr id="185349" name="Groupe 51"/>
          <p:cNvGrpSpPr>
            <a:grpSpLocks/>
          </p:cNvGrpSpPr>
          <p:nvPr/>
        </p:nvGrpSpPr>
        <p:grpSpPr bwMode="auto">
          <a:xfrm>
            <a:off x="728663" y="1398588"/>
            <a:ext cx="2298700" cy="3862387"/>
            <a:chOff x="893815" y="849418"/>
            <a:chExt cx="2298579" cy="3862282"/>
          </a:xfrm>
        </p:grpSpPr>
        <p:grpSp>
          <p:nvGrpSpPr>
            <p:cNvPr id="185452" name="Group 110"/>
            <p:cNvGrpSpPr>
              <a:grpSpLocks/>
            </p:cNvGrpSpPr>
            <p:nvPr/>
          </p:nvGrpSpPr>
          <p:grpSpPr bwMode="auto">
            <a:xfrm>
              <a:off x="893815" y="849418"/>
              <a:ext cx="2298579" cy="3862282"/>
              <a:chOff x="2096" y="2287"/>
              <a:chExt cx="685" cy="1151"/>
            </a:xfrm>
          </p:grpSpPr>
          <p:pic>
            <p:nvPicPr>
              <p:cNvPr id="185454" name="Picture 111"/>
              <p:cNvPicPr>
                <a:picLocks noChangeAspect="1" noChangeArrowheads="1"/>
              </p:cNvPicPr>
              <p:nvPr/>
            </p:nvPicPr>
            <p:blipFill>
              <a:blip r:embed="rId3" cstate="print">
                <a:extLst>
                  <a:ext uri="{28A0092B-C50C-407E-A947-70E740481C1C}">
                    <a14:useLocalDpi xmlns:a14="http://schemas.microsoft.com/office/drawing/2010/main" val="0"/>
                  </a:ext>
                </a:extLst>
              </a:blip>
              <a:srcRect l="33940"/>
              <a:stretch>
                <a:fillRect/>
              </a:stretch>
            </p:blipFill>
            <p:spPr bwMode="auto">
              <a:xfrm>
                <a:off x="2164" y="2287"/>
                <a:ext cx="617" cy="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55" name="Rectangle 112"/>
              <p:cNvSpPr>
                <a:spLocks noChangeArrowheads="1"/>
              </p:cNvSpPr>
              <p:nvPr/>
            </p:nvSpPr>
            <p:spPr bwMode="auto">
              <a:xfrm>
                <a:off x="2168" y="2421"/>
                <a:ext cx="55" cy="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85456" name="Rectangle 113"/>
              <p:cNvSpPr>
                <a:spLocks noChangeArrowheads="1"/>
              </p:cNvSpPr>
              <p:nvPr/>
            </p:nvSpPr>
            <p:spPr bwMode="auto">
              <a:xfrm>
                <a:off x="2176" y="2309"/>
                <a:ext cx="96" cy="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85457" name="Rectangle 114"/>
              <p:cNvSpPr>
                <a:spLocks noChangeArrowheads="1"/>
              </p:cNvSpPr>
              <p:nvPr/>
            </p:nvSpPr>
            <p:spPr bwMode="auto">
              <a:xfrm>
                <a:off x="2156" y="2605"/>
                <a:ext cx="160" cy="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sp>
            <p:nvSpPr>
              <p:cNvPr id="185458" name="Line 115"/>
              <p:cNvSpPr>
                <a:spLocks noChangeShapeType="1"/>
              </p:cNvSpPr>
              <p:nvPr/>
            </p:nvSpPr>
            <p:spPr bwMode="auto">
              <a:xfrm flipV="1">
                <a:off x="2224" y="2384"/>
                <a:ext cx="24" cy="36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fr-FR" dirty="0">
                  <a:latin typeface="Calibri" panose="020F0502020204030204" pitchFamily="34" charset="0"/>
                </a:endParaRPr>
              </a:p>
            </p:txBody>
          </p:sp>
          <p:sp>
            <p:nvSpPr>
              <p:cNvPr id="185459" name="Rectangle 116"/>
              <p:cNvSpPr>
                <a:spLocks noChangeArrowheads="1"/>
              </p:cNvSpPr>
              <p:nvPr/>
            </p:nvSpPr>
            <p:spPr bwMode="auto">
              <a:xfrm>
                <a:off x="2096" y="3349"/>
                <a:ext cx="96" cy="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pic>
          <p:nvPicPr>
            <p:cNvPr id="185453"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1464" y="1447800"/>
              <a:ext cx="103763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53" name="Tableau 52"/>
          <p:cNvGraphicFramePr>
            <a:graphicFrameLocks noGrp="1"/>
          </p:cNvGraphicFramePr>
          <p:nvPr/>
        </p:nvGraphicFramePr>
        <p:xfrm>
          <a:off x="4351338" y="1020763"/>
          <a:ext cx="4444999" cy="4927603"/>
        </p:xfrm>
        <a:graphic>
          <a:graphicData uri="http://schemas.openxmlformats.org/drawingml/2006/table">
            <a:tbl>
              <a:tblPr/>
              <a:tblGrid>
                <a:gridCol w="930076">
                  <a:extLst>
                    <a:ext uri="{9D8B030D-6E8A-4147-A177-3AD203B41FA5}">
                      <a16:colId xmlns:a16="http://schemas.microsoft.com/office/drawing/2014/main" val="20000"/>
                    </a:ext>
                  </a:extLst>
                </a:gridCol>
                <a:gridCol w="930076">
                  <a:extLst>
                    <a:ext uri="{9D8B030D-6E8A-4147-A177-3AD203B41FA5}">
                      <a16:colId xmlns:a16="http://schemas.microsoft.com/office/drawing/2014/main" val="20001"/>
                    </a:ext>
                  </a:extLst>
                </a:gridCol>
                <a:gridCol w="930076">
                  <a:extLst>
                    <a:ext uri="{9D8B030D-6E8A-4147-A177-3AD203B41FA5}">
                      <a16:colId xmlns:a16="http://schemas.microsoft.com/office/drawing/2014/main" val="20002"/>
                    </a:ext>
                  </a:extLst>
                </a:gridCol>
                <a:gridCol w="930076">
                  <a:extLst>
                    <a:ext uri="{9D8B030D-6E8A-4147-A177-3AD203B41FA5}">
                      <a16:colId xmlns:a16="http://schemas.microsoft.com/office/drawing/2014/main" val="20003"/>
                    </a:ext>
                  </a:extLst>
                </a:gridCol>
                <a:gridCol w="724695">
                  <a:extLst>
                    <a:ext uri="{9D8B030D-6E8A-4147-A177-3AD203B41FA5}">
                      <a16:colId xmlns:a16="http://schemas.microsoft.com/office/drawing/2014/main" val="20004"/>
                    </a:ext>
                  </a:extLst>
                </a:gridCol>
              </a:tblGrid>
              <a:tr h="254945">
                <a:tc>
                  <a:txBody>
                    <a:bodyPr/>
                    <a:lstStyle/>
                    <a:p>
                      <a:pPr algn="ctr" fontAlgn="ctr"/>
                      <a:r>
                        <a:rPr lang="fr-FR" sz="1600" b="0" i="0" u="none" strike="noStrike" dirty="0">
                          <a:solidFill>
                            <a:srgbClr val="000000"/>
                          </a:solidFill>
                          <a:latin typeface="Calibri" panose="020F0502020204030204" pitchFamily="34" charset="0"/>
                        </a:rPr>
                        <a:t>Trajet </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Nombre</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Trajet</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Nombre</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9823">
                <a:tc>
                  <a:txBody>
                    <a:bodyPr/>
                    <a:lstStyle/>
                    <a:p>
                      <a:pPr algn="r" fontAlgn="ctr"/>
                      <a:r>
                        <a:rPr lang="fr-FR" sz="1600" b="0" i="0" u="none" strike="noStrike" dirty="0">
                          <a:solidFill>
                            <a:srgbClr val="000000"/>
                          </a:solidFill>
                          <a:latin typeface="Calibri" panose="020F0502020204030204" pitchFamily="34" charset="0"/>
                        </a:rPr>
                        <a:t>LC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2</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ET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79823">
                <a:tc>
                  <a:txBody>
                    <a:bodyPr/>
                    <a:lstStyle/>
                    <a:p>
                      <a:pPr algn="r" fontAlgn="ctr"/>
                      <a:r>
                        <a:rPr lang="fr-FR" sz="1600" b="0" i="0" u="none" strike="noStrike" dirty="0">
                          <a:solidFill>
                            <a:srgbClr val="000000"/>
                          </a:solidFill>
                          <a:latin typeface="Calibri" panose="020F0502020204030204" pitchFamily="34" charset="0"/>
                        </a:rPr>
                        <a:t>LE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OC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2</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79823">
                <a:tc>
                  <a:txBody>
                    <a:bodyPr/>
                    <a:lstStyle/>
                    <a:p>
                      <a:pPr algn="r" fontAlgn="ctr"/>
                      <a:r>
                        <a:rPr lang="fr-FR" sz="1600" b="0" i="0" u="none" strike="noStrike" dirty="0">
                          <a:solidFill>
                            <a:srgbClr val="000000"/>
                          </a:solidFill>
                          <a:latin typeface="Calibri" panose="020F0502020204030204" pitchFamily="34" charset="0"/>
                        </a:rPr>
                        <a:t>LO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OT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9823">
                <a:tc>
                  <a:txBody>
                    <a:bodyPr/>
                    <a:lstStyle/>
                    <a:p>
                      <a:pPr algn="r" fontAlgn="ctr"/>
                      <a:r>
                        <a:rPr lang="fr-FR" sz="1600" b="0" i="0" u="none" strike="noStrike" dirty="0">
                          <a:solidFill>
                            <a:srgbClr val="000000"/>
                          </a:solidFill>
                          <a:latin typeface="Calibri" panose="020F0502020204030204" pitchFamily="34" charset="0"/>
                        </a:rPr>
                        <a:t>LR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4</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RE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79823">
                <a:tc>
                  <a:txBody>
                    <a:bodyPr/>
                    <a:lstStyle/>
                    <a:p>
                      <a:pPr algn="r" fontAlgn="ctr"/>
                      <a:r>
                        <a:rPr lang="fr-FR" sz="1600" b="0" i="0" u="none" strike="noStrike" dirty="0">
                          <a:solidFill>
                            <a:srgbClr val="000000"/>
                          </a:solidFill>
                          <a:latin typeface="Calibri" panose="020F0502020204030204" pitchFamily="34" charset="0"/>
                        </a:rPr>
                        <a:t>CT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RT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79823">
                <a:tc>
                  <a:txBody>
                    <a:bodyPr/>
                    <a:lstStyle/>
                    <a:p>
                      <a:pPr algn="r" fontAlgn="ctr"/>
                      <a:r>
                        <a:rPr lang="fr-FR" sz="1600" b="0" i="0" u="none" strike="noStrike" dirty="0">
                          <a:solidFill>
                            <a:srgbClr val="000000"/>
                          </a:solidFill>
                          <a:latin typeface="Calibri" panose="020F0502020204030204" pitchFamily="34" charset="0"/>
                        </a:rPr>
                        <a:t>CE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TE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79823">
                <a:tc>
                  <a:txBody>
                    <a:bodyPr/>
                    <a:lstStyle/>
                    <a:p>
                      <a:pPr algn="r" fontAlgn="ctr"/>
                      <a:r>
                        <a:rPr lang="fr-FR" sz="1600" b="0" i="0" u="none" strike="noStrike" dirty="0" err="1">
                          <a:solidFill>
                            <a:srgbClr val="000000"/>
                          </a:solidFill>
                          <a:latin typeface="Calibri" panose="020F0502020204030204" pitchFamily="34" charset="0"/>
                        </a:rPr>
                        <a:t>ECo</a:t>
                      </a:r>
                      <a:r>
                        <a:rPr lang="fr-FR" sz="1600" b="0" i="0" u="none" strike="noStrike" dirty="0">
                          <a:solidFill>
                            <a:srgbClr val="000000"/>
                          </a:solidFill>
                          <a:latin typeface="Calibri" panose="020F0502020204030204" pitchFamily="34" charset="0"/>
                        </a:rPr>
                        <a: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4</a:t>
                      </a:r>
                    </a:p>
                  </a:txBody>
                  <a:tcPr marL="11108" marR="11108"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err="1">
                          <a:solidFill>
                            <a:srgbClr val="000000"/>
                          </a:solidFill>
                          <a:latin typeface="Calibri" panose="020F0502020204030204" pitchFamily="34" charset="0"/>
                        </a:rPr>
                        <a:t>TCo</a:t>
                      </a:r>
                      <a:r>
                        <a:rPr lang="fr-FR" sz="1600" b="0" i="0" u="none" strike="noStrike" dirty="0">
                          <a:solidFill>
                            <a:srgbClr val="000000"/>
                          </a:solidFill>
                          <a:latin typeface="Calibri" panose="020F0502020204030204" pitchFamily="34" charset="0"/>
                        </a:rPr>
                        <a:t> </a:t>
                      </a:r>
                    </a:p>
                  </a:txBody>
                  <a:tcPr marL="11108" marR="99971" marT="111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5</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79823">
                <a:tc>
                  <a:txBody>
                    <a:bodyPr/>
                    <a:lstStyle/>
                    <a:p>
                      <a:pPr algn="r" fontAlgn="ctr"/>
                      <a:r>
                        <a:rPr lang="fr-FR" sz="1600" b="0" i="0" u="none" strike="noStrike" dirty="0">
                          <a:solidFill>
                            <a:srgbClr val="000000"/>
                          </a:solidFill>
                          <a:latin typeface="Calibri" panose="020F0502020204030204" pitchFamily="34" charset="0"/>
                        </a:rPr>
                        <a:t>EV </a:t>
                      </a:r>
                    </a:p>
                  </a:txBody>
                  <a:tcPr marL="11108" marR="99971"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3</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VT </a:t>
                      </a:r>
                    </a:p>
                  </a:txBody>
                  <a:tcPr marL="11108" marR="99971"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2</a:t>
                      </a:r>
                    </a:p>
                  </a:txBody>
                  <a:tcPr marL="11108" marR="11108" marT="1110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93899">
                <a:tc>
                  <a:txBody>
                    <a:bodyPr/>
                    <a:lstStyle/>
                    <a:p>
                      <a:endParaRPr lang="fr-FR" sz="1600" dirty="0">
                        <a:latin typeface="Calibri" panose="020F0502020204030204" pitchFamily="34" charset="0"/>
                      </a:endParaRPr>
                    </a:p>
                  </a:txBody>
                  <a:tcPr marL="11108" marR="99971" marT="1110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fr-FR" sz="1600" dirty="0">
                        <a:latin typeface="Calibri" panose="020F0502020204030204" pitchFamily="34" charset="0"/>
                        <a:cs typeface="Arial" pitchFamily="34" charset="0"/>
                      </a:endParaRPr>
                    </a:p>
                  </a:txBody>
                  <a:tcPr marL="11108" marR="11108" marT="11105"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fr-FR" sz="1600" b="0" i="0" u="none" strike="noStrike" dirty="0" err="1">
                          <a:solidFill>
                            <a:srgbClr val="000000"/>
                          </a:solidFill>
                          <a:latin typeface="Calibri" panose="020F0502020204030204" pitchFamily="34" charset="0"/>
                        </a:rPr>
                        <a:t>Vco</a:t>
                      </a:r>
                      <a:r>
                        <a:rPr lang="fr-FR" sz="1600" b="0" i="0" u="none" strike="noStrike" dirty="0">
                          <a:solidFill>
                            <a:srgbClr val="000000"/>
                          </a:solidFill>
                          <a:latin typeface="Calibri" panose="020F0502020204030204" pitchFamily="34" charset="0"/>
                        </a:rPr>
                        <a:t> .</a:t>
                      </a:r>
                    </a:p>
                  </a:txBody>
                  <a:tcPr marL="11108" marR="99971"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1</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28278">
                <a:tc gridSpan="3">
                  <a:txBody>
                    <a:bodyPr/>
                    <a:lstStyle/>
                    <a:p>
                      <a:pPr marL="0" marR="0" lvl="0" indent="0" algn="r" defTabSz="1398941" rtl="0" eaLnBrk="1" fontAlgn="ctr" latinLnBrk="0" hangingPunct="1">
                        <a:lnSpc>
                          <a:spcPct val="100000"/>
                        </a:lnSpc>
                        <a:spcBef>
                          <a:spcPts val="0"/>
                        </a:spcBef>
                        <a:spcAft>
                          <a:spcPts val="0"/>
                        </a:spcAft>
                        <a:buClrTx/>
                        <a:buSzTx/>
                        <a:buFontTx/>
                        <a:buNone/>
                        <a:tabLst/>
                        <a:defRPr/>
                      </a:pPr>
                      <a:r>
                        <a:rPr lang="fr-FR" sz="1600" b="0" i="0" u="none" strike="noStrike" dirty="0">
                          <a:solidFill>
                            <a:srgbClr val="000000"/>
                          </a:solidFill>
                          <a:latin typeface="Calibri" panose="020F0502020204030204" pitchFamily="34" charset="0"/>
                        </a:rPr>
                        <a:t>Total trajets</a:t>
                      </a: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1398941" rtl="0" eaLnBrk="1" fontAlgn="ctr" latinLnBrk="0" hangingPunct="1">
                        <a:lnSpc>
                          <a:spcPct val="100000"/>
                        </a:lnSpc>
                        <a:spcBef>
                          <a:spcPts val="0"/>
                        </a:spcBef>
                        <a:spcAft>
                          <a:spcPts val="0"/>
                        </a:spcAft>
                        <a:buClrTx/>
                        <a:buSzTx/>
                        <a:buFontTx/>
                        <a:buNone/>
                        <a:tabLst/>
                        <a:defRPr/>
                      </a:pPr>
                      <a:endParaRPr lang="fr-FR" sz="11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ctr" defTabSz="1398941" rtl="0" eaLnBrk="1" fontAlgn="ctr" latinLnBrk="0" hangingPunct="1">
                        <a:lnSpc>
                          <a:spcPct val="100000"/>
                        </a:lnSpc>
                        <a:spcBef>
                          <a:spcPts val="0"/>
                        </a:spcBef>
                        <a:spcAft>
                          <a:spcPts val="0"/>
                        </a:spcAft>
                        <a:buClrTx/>
                        <a:buSzTx/>
                        <a:buFontTx/>
                        <a:buNone/>
                        <a:tabLst/>
                        <a:defRPr/>
                      </a:pP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r>
                        <a:rPr lang="fr-FR" sz="1600" b="0" i="0" u="none" strike="noStrike" dirty="0">
                          <a:solidFill>
                            <a:srgbClr val="000000"/>
                          </a:solidFill>
                          <a:latin typeface="Calibri" panose="020F0502020204030204" pitchFamily="34" charset="0"/>
                        </a:rPr>
                        <a:t>40</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fr-FR" sz="1600" b="0" i="0" u="none" strike="noStrike" dirty="0">
                        <a:solidFill>
                          <a:srgbClr val="000000"/>
                        </a:solidFill>
                        <a:latin typeface="Calibri" panose="020F0502020204030204" pitchFamily="34" charset="0"/>
                      </a:endParaRPr>
                    </a:p>
                  </a:txBody>
                  <a:tcPr marL="11108" marR="11108" marT="1110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328278">
                <a:tc gridSpan="3">
                  <a:txBody>
                    <a:bodyPr/>
                    <a:lstStyle/>
                    <a:p>
                      <a:pPr algn="r" fontAlgn="ctr"/>
                      <a:r>
                        <a:rPr lang="fr-FR" sz="1600" b="0" i="0" u="none" strike="noStrike" dirty="0">
                          <a:solidFill>
                            <a:srgbClr val="000000"/>
                          </a:solidFill>
                          <a:latin typeface="Calibri" panose="020F0502020204030204" pitchFamily="34" charset="0"/>
                        </a:rPr>
                        <a:t>Implantation</a:t>
                      </a: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tc>
                  <a:txBody>
                    <a:bodyPr/>
                    <a:lstStyle/>
                    <a:p>
                      <a:pPr algn="ctr" fontAlgn="ctr"/>
                      <a:r>
                        <a:rPr lang="fr-FR" sz="1600" b="0" i="0" u="none" strike="noStrike" dirty="0">
                          <a:solidFill>
                            <a:srgbClr val="000000"/>
                          </a:solidFill>
                          <a:latin typeface="Calibri" panose="020F0502020204030204" pitchFamily="34" charset="0"/>
                        </a:rPr>
                        <a:t>Avant</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000000"/>
                          </a:solidFill>
                          <a:latin typeface="Calibri" panose="020F0502020204030204" pitchFamily="34" charset="0"/>
                        </a:rPr>
                        <a:t>Après</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498785">
                <a:tc gridSpan="3">
                  <a:txBody>
                    <a:bodyPr/>
                    <a:lstStyle/>
                    <a:p>
                      <a:pPr algn="r" fontAlgn="ctr"/>
                      <a:r>
                        <a:rPr lang="fr-FR" sz="1600" b="0" i="0" u="none" strike="noStrike" dirty="0">
                          <a:solidFill>
                            <a:srgbClr val="000000"/>
                          </a:solidFill>
                          <a:latin typeface="Calibri" panose="020F0502020204030204" pitchFamily="34" charset="0"/>
                        </a:rPr>
                        <a:t>Trajet moyen entre deux</a:t>
                      </a:r>
                      <a:r>
                        <a:rPr lang="fr-FR" sz="1600" b="0" i="0" u="none" strike="noStrike" baseline="0" dirty="0">
                          <a:solidFill>
                            <a:srgbClr val="000000"/>
                          </a:solidFill>
                          <a:latin typeface="Calibri" panose="020F0502020204030204" pitchFamily="34" charset="0"/>
                        </a:rPr>
                        <a:t> postes</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5 m</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1 m</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28278">
                <a:tc gridSpan="3">
                  <a:txBody>
                    <a:bodyPr/>
                    <a:lstStyle/>
                    <a:p>
                      <a:pPr algn="r" fontAlgn="ctr"/>
                      <a:r>
                        <a:rPr lang="fr-FR" sz="1600" b="0" i="0" u="none" strike="noStrike" dirty="0">
                          <a:solidFill>
                            <a:srgbClr val="000000"/>
                          </a:solidFill>
                          <a:latin typeface="Calibri" panose="020F0502020204030204" pitchFamily="34" charset="0"/>
                        </a:rPr>
                        <a:t>Distance</a:t>
                      </a:r>
                      <a:r>
                        <a:rPr lang="fr-FR" sz="1600" b="0" i="0" u="none" strike="noStrike" baseline="0" dirty="0">
                          <a:solidFill>
                            <a:srgbClr val="000000"/>
                          </a:solidFill>
                          <a:latin typeface="Calibri" panose="020F0502020204030204" pitchFamily="34" charset="0"/>
                        </a:rPr>
                        <a:t> (10 produits)</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200 m</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40 m</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28278">
                <a:tc gridSpan="3">
                  <a:txBody>
                    <a:bodyPr/>
                    <a:lstStyle/>
                    <a:p>
                      <a:pPr algn="r" fontAlgn="ctr"/>
                      <a:r>
                        <a:rPr lang="fr-FR" sz="1600" b="0" i="0" u="none" strike="noStrike" dirty="0">
                          <a:solidFill>
                            <a:srgbClr val="000000"/>
                          </a:solidFill>
                          <a:latin typeface="Calibri" panose="020F0502020204030204" pitchFamily="34" charset="0"/>
                        </a:rPr>
                        <a:t>Nombre</a:t>
                      </a:r>
                      <a:r>
                        <a:rPr lang="fr-FR" sz="1600" b="0" i="0" u="none" strike="noStrike" baseline="0" dirty="0">
                          <a:solidFill>
                            <a:srgbClr val="000000"/>
                          </a:solidFill>
                          <a:latin typeface="Calibri" panose="020F0502020204030204" pitchFamily="34" charset="0"/>
                        </a:rPr>
                        <a:t> de produits</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50</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50 </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328278">
                <a:tc gridSpan="3">
                  <a:txBody>
                    <a:bodyPr/>
                    <a:lstStyle/>
                    <a:p>
                      <a:pPr algn="r" fontAlgn="ctr"/>
                      <a:r>
                        <a:rPr lang="fr-FR" sz="1600" b="0" i="0" u="none" strike="noStrike" dirty="0">
                          <a:solidFill>
                            <a:srgbClr val="000000"/>
                          </a:solidFill>
                          <a:latin typeface="Calibri" panose="020F0502020204030204" pitchFamily="34" charset="0"/>
                        </a:rPr>
                        <a:t>Distanc</a:t>
                      </a:r>
                      <a:r>
                        <a:rPr lang="fr-FR" sz="1600" b="0" i="0" u="none" strike="noStrike" baseline="0" dirty="0">
                          <a:solidFill>
                            <a:srgbClr val="000000"/>
                          </a:solidFill>
                          <a:latin typeface="Calibri" panose="020F0502020204030204" pitchFamily="34" charset="0"/>
                        </a:rPr>
                        <a:t>e totale (1)</a:t>
                      </a:r>
                      <a:endParaRPr lang="fr-FR" sz="1600" b="0" i="0" u="none" strike="noStrike" dirty="0">
                        <a:solidFill>
                          <a:srgbClr val="000000"/>
                        </a:solidFill>
                        <a:latin typeface="Calibri" panose="020F0502020204030204" pitchFamily="34" charset="0"/>
                      </a:endParaRPr>
                    </a:p>
                  </a:txBody>
                  <a:tcPr marL="11108" marR="83964" marT="1110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ctr"/>
                      <a:endParaRPr lang="fr-FR" sz="1100" b="0"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600" b="0" i="0" u="none" strike="noStrike" dirty="0">
                          <a:solidFill>
                            <a:srgbClr val="FF0000"/>
                          </a:solidFill>
                          <a:latin typeface="Calibri" panose="020F0502020204030204" pitchFamily="34" charset="0"/>
                        </a:rPr>
                        <a:t>1 000 m</a:t>
                      </a:r>
                    </a:p>
                  </a:txBody>
                  <a:tcPr marL="11108" marR="11108" marT="111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600" b="0" i="0" u="none" strike="noStrike" dirty="0">
                          <a:solidFill>
                            <a:srgbClr val="FF0000"/>
                          </a:solidFill>
                          <a:latin typeface="Calibri" panose="020F0502020204030204" pitchFamily="34" charset="0"/>
                        </a:rPr>
                        <a:t>250 m</a:t>
                      </a:r>
                    </a:p>
                  </a:txBody>
                  <a:tcPr marL="11108" marR="11108" marT="11105"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bl>
          </a:graphicData>
        </a:graphic>
      </p:graphicFrame>
      <p:sp>
        <p:nvSpPr>
          <p:cNvPr id="185450" name="Rectangle à coins arrondis 14"/>
          <p:cNvSpPr>
            <a:spLocks noChangeArrowheads="1"/>
          </p:cNvSpPr>
          <p:nvPr/>
        </p:nvSpPr>
        <p:spPr bwMode="auto">
          <a:xfrm>
            <a:off x="231775" y="901700"/>
            <a:ext cx="2214563" cy="425450"/>
          </a:xfrm>
          <a:prstGeom prst="roundRect">
            <a:avLst>
              <a:gd name="adj" fmla="val 16667"/>
            </a:avLst>
          </a:prstGeom>
          <a:solidFill>
            <a:srgbClr val="FFFFB7"/>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Tableau de papier</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7394" name="Picture 2"/>
          <p:cNvPicPr>
            <a:picLocks noChangeAspect="1" noChangeArrowheads="1"/>
          </p:cNvPicPr>
          <p:nvPr/>
        </p:nvPicPr>
        <p:blipFill>
          <a:blip r:embed="rId3">
            <a:extLst>
              <a:ext uri="{28A0092B-C50C-407E-A947-70E740481C1C}">
                <a14:useLocalDpi xmlns:a14="http://schemas.microsoft.com/office/drawing/2010/main" val="0"/>
              </a:ext>
            </a:extLst>
          </a:blip>
          <a:srcRect l="10548"/>
          <a:stretch>
            <a:fillRect/>
          </a:stretch>
        </p:blipFill>
        <p:spPr bwMode="auto">
          <a:xfrm>
            <a:off x="38100" y="1704975"/>
            <a:ext cx="3008313"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p:nvPr/>
        </p:nvSpPr>
        <p:spPr>
          <a:xfrm>
            <a:off x="2774950" y="561975"/>
            <a:ext cx="6792913" cy="2314575"/>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31774" tIns="65887" rIns="131774" bIns="65887" anchor="ctr"/>
          <a:lstStyle/>
          <a:p>
            <a:pPr algn="ctr" eaLnBrk="1" hangingPunct="1">
              <a:defRPr/>
            </a:pPr>
            <a:endParaRPr lang="fr-FR" dirty="0">
              <a:latin typeface="Calibri" panose="020F0502020204030204" pitchFamily="34" charset="0"/>
            </a:endParaRPr>
          </a:p>
        </p:txBody>
      </p:sp>
      <p:sp>
        <p:nvSpPr>
          <p:cNvPr id="187396" name="Titre 1"/>
          <p:cNvSpPr>
            <a:spLocks noGrp="1"/>
          </p:cNvSpPr>
          <p:nvPr>
            <p:ph type="title"/>
          </p:nvPr>
        </p:nvSpPr>
        <p:spPr/>
        <p:txBody>
          <a:bodyPr/>
          <a:lstStyle/>
          <a:p>
            <a:r>
              <a:rPr lang="fr-FR" altLang="fr-FR"/>
              <a:t>Présentation Qualité</a:t>
            </a:r>
          </a:p>
        </p:txBody>
      </p:sp>
      <p:sp>
        <p:nvSpPr>
          <p:cNvPr id="18739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8739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B142D99-A009-45FC-98FD-E18B57D1A666}" type="slidenum">
              <a:rPr lang="fr-FR" altLang="fr-FR" smtClean="0">
                <a:latin typeface="Calibri" panose="020F0502020204030204" pitchFamily="34" charset="0"/>
              </a:rPr>
              <a:pPr>
                <a:spcBef>
                  <a:spcPct val="0"/>
                </a:spcBef>
                <a:buFontTx/>
                <a:buNone/>
              </a:pPr>
              <a:t>86</a:t>
            </a:fld>
            <a:endParaRPr lang="fr-FR" altLang="fr-FR" dirty="0">
              <a:latin typeface="Calibri" panose="020F0502020204030204" pitchFamily="34" charset="0"/>
            </a:endParaRPr>
          </a:p>
        </p:txBody>
      </p:sp>
      <p:pic>
        <p:nvPicPr>
          <p:cNvPr id="187399"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94025" y="655638"/>
            <a:ext cx="64897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400" name="Carré corné 16"/>
          <p:cNvSpPr>
            <a:spLocks noChangeArrowheads="1"/>
          </p:cNvSpPr>
          <p:nvPr/>
        </p:nvSpPr>
        <p:spPr bwMode="auto">
          <a:xfrm>
            <a:off x="3708400" y="1171575"/>
            <a:ext cx="347663" cy="347663"/>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1" name="Carré corné 17"/>
          <p:cNvSpPr>
            <a:spLocks noChangeArrowheads="1"/>
          </p:cNvSpPr>
          <p:nvPr/>
        </p:nvSpPr>
        <p:spPr bwMode="auto">
          <a:xfrm>
            <a:off x="4121150" y="1108075"/>
            <a:ext cx="347663" cy="347663"/>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2" name="Carré corné 18"/>
          <p:cNvSpPr>
            <a:spLocks noChangeArrowheads="1"/>
          </p:cNvSpPr>
          <p:nvPr/>
        </p:nvSpPr>
        <p:spPr bwMode="auto">
          <a:xfrm>
            <a:off x="3606800" y="2047875"/>
            <a:ext cx="347663" cy="347663"/>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3" name="Carré corné 19"/>
          <p:cNvSpPr>
            <a:spLocks noChangeArrowheads="1"/>
          </p:cNvSpPr>
          <p:nvPr/>
        </p:nvSpPr>
        <p:spPr bwMode="auto">
          <a:xfrm>
            <a:off x="4597400" y="1866900"/>
            <a:ext cx="347663" cy="347663"/>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4" name="Carré corné 20"/>
          <p:cNvSpPr>
            <a:spLocks noChangeArrowheads="1"/>
          </p:cNvSpPr>
          <p:nvPr/>
        </p:nvSpPr>
        <p:spPr bwMode="auto">
          <a:xfrm>
            <a:off x="5113338" y="1919288"/>
            <a:ext cx="347662" cy="347662"/>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5" name="Carré corné 21"/>
          <p:cNvSpPr>
            <a:spLocks noChangeArrowheads="1"/>
          </p:cNvSpPr>
          <p:nvPr/>
        </p:nvSpPr>
        <p:spPr bwMode="auto">
          <a:xfrm>
            <a:off x="5357813" y="1196975"/>
            <a:ext cx="347662" cy="349250"/>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6" name="Carré corné 22"/>
          <p:cNvSpPr>
            <a:spLocks noChangeArrowheads="1"/>
          </p:cNvSpPr>
          <p:nvPr/>
        </p:nvSpPr>
        <p:spPr bwMode="auto">
          <a:xfrm>
            <a:off x="6388100" y="1803400"/>
            <a:ext cx="347663" cy="347663"/>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87407" name="Carré corné 23"/>
          <p:cNvSpPr>
            <a:spLocks noChangeArrowheads="1"/>
          </p:cNvSpPr>
          <p:nvPr/>
        </p:nvSpPr>
        <p:spPr bwMode="auto">
          <a:xfrm>
            <a:off x="5962650" y="1919288"/>
            <a:ext cx="347663" cy="347662"/>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187408" name="Pictur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8788" y="2827338"/>
            <a:ext cx="1846262"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7409" name="Connecteur droit avec flèche 30"/>
          <p:cNvCxnSpPr>
            <a:cxnSpLocks noChangeShapeType="1"/>
          </p:cNvCxnSpPr>
          <p:nvPr/>
        </p:nvCxnSpPr>
        <p:spPr bwMode="auto">
          <a:xfrm flipV="1">
            <a:off x="2486025" y="2924175"/>
            <a:ext cx="889000" cy="38576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87410" name="Rectangle à coins arrondis 25"/>
          <p:cNvSpPr>
            <a:spLocks noChangeArrowheads="1"/>
          </p:cNvSpPr>
          <p:nvPr/>
        </p:nvSpPr>
        <p:spPr bwMode="auto">
          <a:xfrm>
            <a:off x="231775" y="836613"/>
            <a:ext cx="2214563" cy="425450"/>
          </a:xfrm>
          <a:prstGeom prst="roundRect">
            <a:avLst>
              <a:gd name="adj" fmla="val 16667"/>
            </a:avLst>
          </a:prstGeom>
          <a:solidFill>
            <a:srgbClr val="FFFFB7"/>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Tableau de papier</a:t>
            </a: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2" name="Titre 1"/>
          <p:cNvSpPr>
            <a:spLocks noGrp="1"/>
          </p:cNvSpPr>
          <p:nvPr>
            <p:ph type="title"/>
          </p:nvPr>
        </p:nvSpPr>
        <p:spPr/>
        <p:txBody>
          <a:bodyPr/>
          <a:lstStyle/>
          <a:p>
            <a:r>
              <a:rPr lang="fr-FR" altLang="fr-FR"/>
              <a:t>Présentation Motivation</a:t>
            </a:r>
          </a:p>
        </p:txBody>
      </p:sp>
      <p:sp>
        <p:nvSpPr>
          <p:cNvPr id="18944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8944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42DE432-0C2D-41A9-A81B-029F65B2AFE3}" type="slidenum">
              <a:rPr lang="fr-FR" altLang="fr-FR" smtClean="0">
                <a:latin typeface="Calibri" panose="020F0502020204030204" pitchFamily="34" charset="0"/>
              </a:rPr>
              <a:pPr>
                <a:spcBef>
                  <a:spcPct val="0"/>
                </a:spcBef>
                <a:buFontTx/>
                <a:buNone/>
              </a:pPr>
              <a:t>87</a:t>
            </a:fld>
            <a:endParaRPr lang="fr-FR" altLang="fr-FR" dirty="0">
              <a:latin typeface="Calibri" panose="020F0502020204030204" pitchFamily="34" charset="0"/>
            </a:endParaRPr>
          </a:p>
        </p:txBody>
      </p:sp>
      <p:pic>
        <p:nvPicPr>
          <p:cNvPr id="18944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00" y="1244600"/>
            <a:ext cx="882015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6" name="Rectangle à coins arrondis 5"/>
          <p:cNvSpPr>
            <a:spLocks noChangeArrowheads="1"/>
          </p:cNvSpPr>
          <p:nvPr/>
        </p:nvSpPr>
        <p:spPr bwMode="auto">
          <a:xfrm>
            <a:off x="220663" y="625475"/>
            <a:ext cx="2497137" cy="598488"/>
          </a:xfrm>
          <a:prstGeom prst="roundRect">
            <a:avLst>
              <a:gd name="adj" fmla="val 16667"/>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Sans support particulier ou avec Diapo projetée</a:t>
            </a:r>
          </a:p>
        </p:txBody>
      </p:sp>
      <p:pic>
        <p:nvPicPr>
          <p:cNvPr id="9" name="Picture 1">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2558" y="6048058"/>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1491" name="Titre 1"/>
          <p:cNvSpPr>
            <a:spLocks noGrp="1"/>
          </p:cNvSpPr>
          <p:nvPr>
            <p:ph type="title"/>
          </p:nvPr>
        </p:nvSpPr>
        <p:spPr/>
        <p:txBody>
          <a:bodyPr/>
          <a:lstStyle/>
          <a:p>
            <a:r>
              <a:rPr lang="fr-FR" altLang="fr-FR"/>
              <a:t>Pendant la préparation des projets</a:t>
            </a:r>
          </a:p>
        </p:txBody>
      </p:sp>
      <p:sp>
        <p:nvSpPr>
          <p:cNvPr id="19149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9149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BCAEB25-3739-42BE-A243-46174003847C}" type="slidenum">
              <a:rPr lang="fr-FR" altLang="fr-FR" smtClean="0">
                <a:latin typeface="Calibri" panose="020F0502020204030204" pitchFamily="34" charset="0"/>
              </a:rPr>
              <a:pPr>
                <a:spcBef>
                  <a:spcPct val="0"/>
                </a:spcBef>
                <a:buFontTx/>
                <a:buNone/>
              </a:pPr>
              <a:t>88</a:t>
            </a:fld>
            <a:endParaRPr lang="fr-FR" altLang="fr-FR" dirty="0">
              <a:latin typeface="Calibri" panose="020F0502020204030204" pitchFamily="34" charset="0"/>
            </a:endParaRPr>
          </a:p>
        </p:txBody>
      </p:sp>
      <p:graphicFrame>
        <p:nvGraphicFramePr>
          <p:cNvPr id="7" name="Tableau 6"/>
          <p:cNvGraphicFramePr>
            <a:graphicFrameLocks noGrp="1"/>
          </p:cNvGraphicFramePr>
          <p:nvPr>
            <p:extLst>
              <p:ext uri="{D42A27DB-BD31-4B8C-83A1-F6EECF244321}">
                <p14:modId xmlns:p14="http://schemas.microsoft.com/office/powerpoint/2010/main" val="3660635953"/>
              </p:ext>
            </p:extLst>
          </p:nvPr>
        </p:nvGraphicFramePr>
        <p:xfrm>
          <a:off x="239713" y="1399858"/>
          <a:ext cx="9182100" cy="5056181"/>
        </p:xfrm>
        <a:graphic>
          <a:graphicData uri="http://schemas.openxmlformats.org/drawingml/2006/table">
            <a:tbl>
              <a:tblPr firstRow="1" bandRow="1">
                <a:tableStyleId>{5C22544A-7EE6-4342-B048-85BDC9FD1C3A}</a:tableStyleId>
              </a:tblPr>
              <a:tblGrid>
                <a:gridCol w="442330">
                  <a:extLst>
                    <a:ext uri="{9D8B030D-6E8A-4147-A177-3AD203B41FA5}">
                      <a16:colId xmlns:a16="http://schemas.microsoft.com/office/drawing/2014/main" val="20000"/>
                    </a:ext>
                  </a:extLst>
                </a:gridCol>
                <a:gridCol w="8181518">
                  <a:extLst>
                    <a:ext uri="{9D8B030D-6E8A-4147-A177-3AD203B41FA5}">
                      <a16:colId xmlns:a16="http://schemas.microsoft.com/office/drawing/2014/main" val="20001"/>
                    </a:ext>
                  </a:extLst>
                </a:gridCol>
                <a:gridCol w="558252">
                  <a:extLst>
                    <a:ext uri="{9D8B030D-6E8A-4147-A177-3AD203B41FA5}">
                      <a16:colId xmlns:a16="http://schemas.microsoft.com/office/drawing/2014/main" val="20002"/>
                    </a:ext>
                  </a:extLst>
                </a:gridCol>
              </a:tblGrid>
              <a:tr h="388937">
                <a:tc>
                  <a:txBody>
                    <a:bodyPr/>
                    <a:lstStyle/>
                    <a:p>
                      <a:pPr algn="ctr">
                        <a:lnSpc>
                          <a:spcPts val="2000"/>
                        </a:lnSpc>
                      </a:pPr>
                      <a:r>
                        <a:rPr lang="fr-FR" sz="1600" b="0" dirty="0">
                          <a:solidFill>
                            <a:schemeClr val="tx1"/>
                          </a:solidFill>
                          <a:latin typeface="Calibri" panose="020F0502020204030204" pitchFamily="34" charset="0"/>
                        </a:rPr>
                        <a:t>1</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lnSpc>
                          <a:spcPts val="2000"/>
                        </a:lnSpc>
                      </a:pPr>
                      <a:r>
                        <a:rPr lang="fr-FR" sz="1700" b="0" dirty="0">
                          <a:solidFill>
                            <a:schemeClr val="tx1"/>
                          </a:solidFill>
                          <a:latin typeface="Calibri" panose="020F0502020204030204" pitchFamily="34" charset="0"/>
                        </a:rPr>
                        <a:t>Implantation</a:t>
                      </a:r>
                      <a:r>
                        <a:rPr lang="fr-FR" sz="1700" b="0" baseline="0" dirty="0">
                          <a:solidFill>
                            <a:schemeClr val="tx1"/>
                          </a:solidFill>
                          <a:latin typeface="Calibri" panose="020F0502020204030204" pitchFamily="34" charset="0"/>
                        </a:rPr>
                        <a:t> en deux ateliers produits distincts</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ts val="2000"/>
                        </a:lnSpc>
                      </a:pPr>
                      <a:endParaRPr lang="fr-FR" sz="1600" b="0" kern="1200" dirty="0">
                        <a:solidFill>
                          <a:schemeClr val="tx1"/>
                        </a:solidFill>
                        <a:latin typeface="Calibri" panose="020F0502020204030204" pitchFamily="34" charset="0"/>
                        <a:ea typeface="+mn-ea"/>
                        <a:cs typeface="Arial"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388937">
                <a:tc>
                  <a:txBody>
                    <a:bodyPr/>
                    <a:lstStyle/>
                    <a:p>
                      <a:pPr marL="0" marR="0" indent="0" algn="ctr" defTabSz="914400" rtl="0" eaLnBrk="1" fontAlgn="auto" latinLnBrk="0" hangingPunct="1">
                        <a:lnSpc>
                          <a:spcPts val="2000"/>
                        </a:lnSpc>
                        <a:spcBef>
                          <a:spcPts val="0"/>
                        </a:spcBef>
                        <a:spcAft>
                          <a:spcPts val="0"/>
                        </a:spcAft>
                        <a:buClrTx/>
                        <a:buSzTx/>
                        <a:buFontTx/>
                        <a:buNone/>
                        <a:tabLst/>
                        <a:defRPr/>
                      </a:pPr>
                      <a:r>
                        <a:rPr lang="fr-FR" sz="1600" b="0" dirty="0">
                          <a:solidFill>
                            <a:schemeClr val="tx1"/>
                          </a:solidFill>
                          <a:latin typeface="Calibri" panose="020F0502020204030204" pitchFamily="34" charset="0"/>
                        </a:rPr>
                        <a:t>2</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ts val="2000"/>
                        </a:lnSpc>
                        <a:spcBef>
                          <a:spcPts val="0"/>
                        </a:spcBef>
                        <a:spcAft>
                          <a:spcPts val="0"/>
                        </a:spcAft>
                        <a:buClrTx/>
                        <a:buSzTx/>
                        <a:buFontTx/>
                        <a:buNone/>
                        <a:tabLst/>
                        <a:defRPr/>
                      </a:pPr>
                      <a:r>
                        <a:rPr lang="fr-FR" sz="1700" b="0" dirty="0">
                          <a:solidFill>
                            <a:schemeClr val="tx1"/>
                          </a:solidFill>
                          <a:latin typeface="Calibri" panose="020F0502020204030204" pitchFamily="34" charset="0"/>
                        </a:rPr>
                        <a:t>Décentraliser les surligneurs dans chaque atelier</a:t>
                      </a:r>
                      <a:r>
                        <a:rPr lang="fr-FR" sz="1700" b="0" baseline="0" dirty="0">
                          <a:solidFill>
                            <a:schemeClr val="tx1"/>
                          </a:solidFill>
                          <a:latin typeface="Calibri" panose="020F0502020204030204" pitchFamily="34" charset="0"/>
                        </a:rPr>
                        <a:t> produit</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ts val="2000"/>
                        </a:lnSpc>
                      </a:pPr>
                      <a:endParaRPr lang="fr-FR" sz="1600" b="0" kern="1200" dirty="0">
                        <a:solidFill>
                          <a:schemeClr val="tx1"/>
                        </a:solidFill>
                        <a:latin typeface="Calibri" panose="020F0502020204030204" pitchFamily="34" charset="0"/>
                        <a:ea typeface="+mn-ea"/>
                        <a:cs typeface="Arial"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1"/>
                  </a:ext>
                </a:extLst>
              </a:tr>
              <a:tr h="388937">
                <a:tc>
                  <a:txBody>
                    <a:bodyPr/>
                    <a:lstStyle/>
                    <a:p>
                      <a:pPr algn="ctr">
                        <a:lnSpc>
                          <a:spcPts val="2000"/>
                        </a:lnSpc>
                      </a:pPr>
                      <a:r>
                        <a:rPr lang="fr-FR" sz="1600" b="0" dirty="0">
                          <a:solidFill>
                            <a:schemeClr val="tx1"/>
                          </a:solidFill>
                          <a:latin typeface="Calibri" panose="020F0502020204030204" pitchFamily="34" charset="0"/>
                        </a:rPr>
                        <a:t>3</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lnSpc>
                          <a:spcPts val="2000"/>
                        </a:lnSpc>
                      </a:pPr>
                      <a:r>
                        <a:rPr lang="fr-FR" sz="1700" b="0" dirty="0">
                          <a:solidFill>
                            <a:schemeClr val="tx1"/>
                          </a:solidFill>
                          <a:latin typeface="Calibri" panose="020F0502020204030204" pitchFamily="34" charset="0"/>
                        </a:rPr>
                        <a:t>P</a:t>
                      </a:r>
                      <a:r>
                        <a:rPr lang="fr-FR" sz="1700" b="0" baseline="0" dirty="0">
                          <a:solidFill>
                            <a:schemeClr val="tx1"/>
                          </a:solidFill>
                          <a:latin typeface="Calibri" panose="020F0502020204030204" pitchFamily="34" charset="0"/>
                        </a:rPr>
                        <a:t>olyvalence entre (certains) postes de travail</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ts val="2000"/>
                        </a:lnSpc>
                      </a:pPr>
                      <a:endParaRPr lang="fr-FR" sz="1600" b="0" kern="1200" dirty="0">
                        <a:solidFill>
                          <a:schemeClr val="tx1"/>
                        </a:solidFill>
                        <a:latin typeface="Calibri" panose="020F0502020204030204" pitchFamily="34" charset="0"/>
                        <a:ea typeface="+mn-ea"/>
                        <a:cs typeface="Arial"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2"/>
                  </a:ext>
                </a:extLst>
              </a:tr>
              <a:tr h="388937">
                <a:tc>
                  <a:txBody>
                    <a:bodyPr/>
                    <a:lstStyle/>
                    <a:p>
                      <a:pPr algn="ctr">
                        <a:lnSpc>
                          <a:spcPts val="2000"/>
                        </a:lnSpc>
                      </a:pPr>
                      <a:r>
                        <a:rPr lang="fr-FR" sz="1600" b="0" dirty="0">
                          <a:solidFill>
                            <a:schemeClr val="tx1"/>
                          </a:solidFill>
                          <a:latin typeface="Calibri" panose="020F0502020204030204" pitchFamily="34" charset="0"/>
                        </a:rPr>
                        <a:t>4</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fr-FR" sz="1700" dirty="0">
                          <a:latin typeface="Calibri" panose="020F0502020204030204" pitchFamily="34" charset="0"/>
                        </a:rPr>
                        <a:t>Mettre en place l’</a:t>
                      </a:r>
                      <a:r>
                        <a:rPr lang="fr-FR" sz="1700" dirty="0" err="1">
                          <a:latin typeface="Calibri" panose="020F0502020204030204" pitchFamily="34" charset="0"/>
                        </a:rPr>
                        <a:t>auto-contrôle</a:t>
                      </a:r>
                      <a:endParaRPr lang="fr-FR" sz="1700" dirty="0">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2000"/>
                        </a:lnSpc>
                      </a:pPr>
                      <a:endParaRPr lang="fr-FR" sz="1600" b="0" dirty="0">
                        <a:solidFill>
                          <a:schemeClr val="tx1"/>
                        </a:solidFill>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3"/>
                  </a:ext>
                </a:extLst>
              </a:tr>
              <a:tr h="388937">
                <a:tc>
                  <a:txBody>
                    <a:bodyPr/>
                    <a:lstStyle/>
                    <a:p>
                      <a:pPr marL="0" marR="0" indent="0" algn="ctr" defTabSz="914400" rtl="0" eaLnBrk="1" fontAlgn="auto" latinLnBrk="0" hangingPunct="1">
                        <a:lnSpc>
                          <a:spcPts val="2000"/>
                        </a:lnSpc>
                        <a:spcBef>
                          <a:spcPts val="0"/>
                        </a:spcBef>
                        <a:spcAft>
                          <a:spcPts val="0"/>
                        </a:spcAft>
                        <a:buClrTx/>
                        <a:buSzTx/>
                        <a:buFontTx/>
                        <a:buNone/>
                        <a:tabLst/>
                        <a:defRPr/>
                      </a:pPr>
                      <a:r>
                        <a:rPr lang="fr-FR" sz="1600" b="0" dirty="0">
                          <a:solidFill>
                            <a:schemeClr val="tx1"/>
                          </a:solidFill>
                          <a:latin typeface="Calibri" panose="020F0502020204030204" pitchFamily="34" charset="0"/>
                        </a:rPr>
                        <a:t>5</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lnSpc>
                          <a:spcPts val="2000"/>
                        </a:lnSpc>
                      </a:pPr>
                      <a:r>
                        <a:rPr lang="fr-FR" sz="1700" b="0" dirty="0">
                          <a:solidFill>
                            <a:schemeClr val="tx1"/>
                          </a:solidFill>
                          <a:latin typeface="Calibri" panose="020F0502020204030204" pitchFamily="34" charset="0"/>
                        </a:rPr>
                        <a:t>Régulation du flux</a:t>
                      </a:r>
                      <a:r>
                        <a:rPr lang="fr-FR" sz="1700" b="0" baseline="0" dirty="0">
                          <a:solidFill>
                            <a:schemeClr val="tx1"/>
                          </a:solidFill>
                          <a:latin typeface="Calibri" panose="020F0502020204030204" pitchFamily="34" charset="0"/>
                        </a:rPr>
                        <a:t> par un « appel par l’aval » (flux tiré plutôt que flux poussé).</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2000"/>
                        </a:lnSpc>
                      </a:pPr>
                      <a:endParaRPr lang="fr-FR" sz="1600" b="0" dirty="0">
                        <a:solidFill>
                          <a:schemeClr val="tx1"/>
                        </a:solidFill>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4"/>
                  </a:ext>
                </a:extLst>
              </a:tr>
              <a:tr h="388937">
                <a:tc>
                  <a:txBody>
                    <a:bodyPr/>
                    <a:lstStyle/>
                    <a:p>
                      <a:pPr marL="0" marR="0" indent="0" algn="ctr" defTabSz="914400" rtl="0" eaLnBrk="1" fontAlgn="auto" latinLnBrk="0" hangingPunct="1">
                        <a:lnSpc>
                          <a:spcPts val="2000"/>
                        </a:lnSpc>
                        <a:spcBef>
                          <a:spcPts val="0"/>
                        </a:spcBef>
                        <a:spcAft>
                          <a:spcPts val="0"/>
                        </a:spcAft>
                        <a:buClrTx/>
                        <a:buSzTx/>
                        <a:buFontTx/>
                        <a:buNone/>
                        <a:tabLst/>
                        <a:defRPr/>
                      </a:pPr>
                      <a:r>
                        <a:rPr lang="fr-FR" sz="1600" b="0" dirty="0">
                          <a:solidFill>
                            <a:schemeClr val="tx1"/>
                          </a:solidFill>
                          <a:latin typeface="Calibri" panose="020F0502020204030204" pitchFamily="34" charset="0"/>
                        </a:rPr>
                        <a:t>6</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ts val="2000"/>
                        </a:lnSpc>
                        <a:spcBef>
                          <a:spcPts val="0"/>
                        </a:spcBef>
                        <a:spcAft>
                          <a:spcPts val="0"/>
                        </a:spcAft>
                        <a:buClrTx/>
                        <a:buSzTx/>
                        <a:buFontTx/>
                        <a:buNone/>
                        <a:tabLst/>
                        <a:defRPr/>
                      </a:pPr>
                      <a:r>
                        <a:rPr lang="fr-FR" sz="1700" b="0" dirty="0">
                          <a:solidFill>
                            <a:schemeClr val="tx1"/>
                          </a:solidFill>
                          <a:latin typeface="Calibri" panose="020F0502020204030204" pitchFamily="34" charset="0"/>
                        </a:rPr>
                        <a:t>Transférer une</a:t>
                      </a:r>
                      <a:r>
                        <a:rPr lang="fr-FR" sz="1700" b="0" baseline="0" dirty="0">
                          <a:solidFill>
                            <a:schemeClr val="tx1"/>
                          </a:solidFill>
                          <a:latin typeface="Calibri" panose="020F0502020204030204" pitchFamily="34" charset="0"/>
                        </a:rPr>
                        <a:t> pièce à la fois dès qu’elle est fabriquée.</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ts val="2000"/>
                        </a:lnSpc>
                      </a:pPr>
                      <a:endParaRPr lang="fr-FR" sz="1600" b="0" kern="1200" dirty="0">
                        <a:solidFill>
                          <a:schemeClr val="tx1"/>
                        </a:solidFill>
                        <a:latin typeface="Calibri" panose="020F0502020204030204" pitchFamily="34" charset="0"/>
                        <a:ea typeface="+mn-ea"/>
                        <a:cs typeface="Arial"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5"/>
                  </a:ext>
                </a:extLst>
              </a:tr>
              <a:tr h="388937">
                <a:tc>
                  <a:txBody>
                    <a:bodyPr/>
                    <a:lstStyle/>
                    <a:p>
                      <a:pPr algn="ctr">
                        <a:lnSpc>
                          <a:spcPts val="2000"/>
                        </a:lnSpc>
                      </a:pPr>
                      <a:r>
                        <a:rPr lang="fr-FR" sz="1600" b="0" dirty="0">
                          <a:solidFill>
                            <a:schemeClr val="tx1"/>
                          </a:solidFill>
                          <a:latin typeface="Calibri" panose="020F0502020204030204" pitchFamily="34" charset="0"/>
                        </a:rPr>
                        <a:t>7</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ts val="2000"/>
                        </a:lnSpc>
                        <a:spcBef>
                          <a:spcPts val="0"/>
                        </a:spcBef>
                        <a:spcAft>
                          <a:spcPts val="0"/>
                        </a:spcAft>
                        <a:buClrTx/>
                        <a:buSzTx/>
                        <a:buFontTx/>
                        <a:buNone/>
                        <a:tabLst/>
                        <a:defRPr/>
                      </a:pPr>
                      <a:r>
                        <a:rPr lang="fr-FR" sz="1700" b="0" dirty="0">
                          <a:solidFill>
                            <a:schemeClr val="tx1"/>
                          </a:solidFill>
                          <a:latin typeface="Calibri" panose="020F0502020204030204" pitchFamily="34" charset="0"/>
                        </a:rPr>
                        <a:t>S’assurer que les surligneurs sont en bon état</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ts val="2000"/>
                        </a:lnSpc>
                      </a:pPr>
                      <a:endParaRPr lang="fr-FR" sz="1600" b="0" kern="1200" dirty="0">
                        <a:solidFill>
                          <a:schemeClr val="tx1"/>
                        </a:solidFill>
                        <a:latin typeface="Calibri" panose="020F0502020204030204" pitchFamily="34" charset="0"/>
                        <a:ea typeface="+mn-ea"/>
                        <a:cs typeface="Arial"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6"/>
                  </a:ext>
                </a:extLst>
              </a:tr>
              <a:tr h="388937">
                <a:tc>
                  <a:txBody>
                    <a:bodyPr/>
                    <a:lstStyle/>
                    <a:p>
                      <a:pPr algn="ctr"/>
                      <a:r>
                        <a:rPr lang="fr-FR" sz="1600" dirty="0">
                          <a:latin typeface="Calibri" panose="020F0502020204030204" pitchFamily="34" charset="0"/>
                        </a:rPr>
                        <a:t>8</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lnSpc>
                          <a:spcPts val="2000"/>
                        </a:lnSpc>
                      </a:pPr>
                      <a:r>
                        <a:rPr lang="fr-FR" sz="1700" b="0" dirty="0">
                          <a:solidFill>
                            <a:schemeClr val="tx1"/>
                          </a:solidFill>
                          <a:latin typeface="Calibri" panose="020F0502020204030204" pitchFamily="34" charset="0"/>
                        </a:rPr>
                        <a:t>Affecter à chaque poste un nombre de personnes adapté</a:t>
                      </a:r>
                      <a:r>
                        <a:rPr lang="fr-FR" sz="1700" b="0" baseline="0" dirty="0">
                          <a:solidFill>
                            <a:schemeClr val="tx1"/>
                          </a:solidFill>
                          <a:latin typeface="Calibri" panose="020F0502020204030204" pitchFamily="34" charset="0"/>
                        </a:rPr>
                        <a:t> au takt time.</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ts val="2000"/>
                        </a:lnSpc>
                      </a:pPr>
                      <a:endParaRPr lang="fr-FR" sz="1600" b="0" kern="1200" dirty="0">
                        <a:solidFill>
                          <a:schemeClr val="tx1"/>
                        </a:solidFill>
                        <a:latin typeface="Calibri" panose="020F0502020204030204" pitchFamily="34" charset="0"/>
                        <a:ea typeface="+mn-ea"/>
                        <a:cs typeface="Arial"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7"/>
                  </a:ext>
                </a:extLst>
              </a:tr>
              <a:tr h="388937">
                <a:tc>
                  <a:txBody>
                    <a:bodyPr/>
                    <a:lstStyle/>
                    <a:p>
                      <a:pPr algn="ctr"/>
                      <a:r>
                        <a:rPr lang="fr-FR" sz="1600" dirty="0">
                          <a:latin typeface="Calibri" panose="020F0502020204030204" pitchFamily="34" charset="0"/>
                        </a:rPr>
                        <a:t>9</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fr-FR" sz="1700" b="0" dirty="0">
                          <a:solidFill>
                            <a:schemeClr val="tx1"/>
                          </a:solidFill>
                          <a:latin typeface="Calibri" panose="020F0502020204030204" pitchFamily="34" charset="0"/>
                        </a:rPr>
                        <a:t>Faire des séries de couleur plus courtes</a:t>
                      </a:r>
                      <a:endParaRPr lang="fr-FR" sz="1700" dirty="0">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8"/>
                  </a:ext>
                </a:extLst>
              </a:tr>
              <a:tr h="388937">
                <a:tc>
                  <a:txBody>
                    <a:bodyPr/>
                    <a:lstStyle/>
                    <a:p>
                      <a:r>
                        <a:rPr lang="fr-FR" sz="1600" dirty="0">
                          <a:latin typeface="Calibri" panose="020F0502020204030204" pitchFamily="34" charset="0"/>
                        </a:rPr>
                        <a:t>10</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fr-FR" sz="1700" dirty="0">
                          <a:latin typeface="Calibri" panose="020F0502020204030204" pitchFamily="34" charset="0"/>
                        </a:rPr>
                        <a:t>Décentraliser le lancement et le contrôle dans</a:t>
                      </a:r>
                      <a:r>
                        <a:rPr lang="fr-FR" sz="1700" baseline="0" dirty="0">
                          <a:latin typeface="Calibri" panose="020F0502020204030204" pitchFamily="34" charset="0"/>
                        </a:rPr>
                        <a:t> chaque atelier produit</a:t>
                      </a:r>
                      <a:endParaRPr lang="fr-FR" sz="1700" dirty="0">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9"/>
                  </a:ext>
                </a:extLst>
              </a:tr>
              <a:tr h="38893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600" b="0" dirty="0">
                          <a:solidFill>
                            <a:schemeClr val="tx1"/>
                          </a:solidFill>
                          <a:latin typeface="Calibri" panose="020F0502020204030204" pitchFamily="34" charset="0"/>
                        </a:rPr>
                        <a:t>11</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fr-FR" sz="1700" b="0" dirty="0">
                          <a:solidFill>
                            <a:schemeClr val="tx1"/>
                          </a:solidFill>
                          <a:latin typeface="Calibri" panose="020F0502020204030204" pitchFamily="34" charset="0"/>
                        </a:rPr>
                        <a:t>Faire</a:t>
                      </a:r>
                      <a:r>
                        <a:rPr lang="fr-FR" sz="1700" b="0" baseline="0" dirty="0">
                          <a:solidFill>
                            <a:schemeClr val="tx1"/>
                          </a:solidFill>
                          <a:latin typeface="Calibri" panose="020F0502020204030204" pitchFamily="34" charset="0"/>
                        </a:rPr>
                        <a:t> faire les retouches pour les non-conformes par chaque poste</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10"/>
                  </a:ext>
                </a:extLst>
              </a:tr>
              <a:tr h="388937">
                <a:tc>
                  <a:txBody>
                    <a:bodyPr/>
                    <a:lstStyle/>
                    <a:p>
                      <a:pPr marL="0" marR="0" indent="0" algn="ctr" defTabSz="914400" rtl="0" eaLnBrk="1" fontAlgn="auto" latinLnBrk="0" hangingPunct="1">
                        <a:lnSpc>
                          <a:spcPts val="2000"/>
                        </a:lnSpc>
                        <a:spcBef>
                          <a:spcPts val="0"/>
                        </a:spcBef>
                        <a:spcAft>
                          <a:spcPts val="0"/>
                        </a:spcAft>
                        <a:buClrTx/>
                        <a:buSzTx/>
                        <a:buFontTx/>
                        <a:buNone/>
                        <a:tabLst/>
                        <a:defRPr/>
                      </a:pPr>
                      <a:r>
                        <a:rPr lang="fr-FR" sz="1600" b="0" dirty="0">
                          <a:solidFill>
                            <a:schemeClr val="tx1"/>
                          </a:solidFill>
                          <a:latin typeface="Calibri" panose="020F0502020204030204" pitchFamily="34" charset="0"/>
                        </a:rPr>
                        <a:t>12</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ts val="2000"/>
                        </a:lnSpc>
                        <a:spcBef>
                          <a:spcPts val="0"/>
                        </a:spcBef>
                        <a:spcAft>
                          <a:spcPts val="0"/>
                        </a:spcAft>
                        <a:buClrTx/>
                        <a:buSzTx/>
                        <a:buFontTx/>
                        <a:buNone/>
                        <a:tabLst/>
                        <a:defRPr/>
                      </a:pPr>
                      <a:r>
                        <a:rPr lang="fr-FR" sz="1700" b="0" dirty="0">
                          <a:solidFill>
                            <a:schemeClr val="tx1"/>
                          </a:solidFill>
                          <a:latin typeface="Calibri" panose="020F0502020204030204" pitchFamily="34" charset="0"/>
                        </a:rPr>
                        <a:t>Améliorer la qualité (par</a:t>
                      </a:r>
                      <a:r>
                        <a:rPr lang="fr-FR" sz="1700" b="0" baseline="0" dirty="0">
                          <a:solidFill>
                            <a:schemeClr val="tx1"/>
                          </a:solidFill>
                          <a:latin typeface="Calibri" panose="020F0502020204030204" pitchFamily="34" charset="0"/>
                        </a:rPr>
                        <a:t> ex. par une formation).</a:t>
                      </a:r>
                      <a:endParaRPr lang="fr-FR" sz="1700" b="0" dirty="0">
                        <a:solidFill>
                          <a:schemeClr val="tx1"/>
                        </a:solidFill>
                        <a:latin typeface="Calibri" panose="020F050202020403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2000"/>
                        </a:lnSpc>
                      </a:pPr>
                      <a:endParaRPr lang="fr-FR" sz="1600" b="0" dirty="0">
                        <a:solidFill>
                          <a:schemeClr val="tx1"/>
                        </a:solidFill>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99"/>
                    </a:solidFill>
                  </a:tcPr>
                </a:tc>
                <a:extLst>
                  <a:ext uri="{0D108BD9-81ED-4DB2-BD59-A6C34878D82A}">
                    <a16:rowId xmlns:a16="http://schemas.microsoft.com/office/drawing/2014/main" val="10011"/>
                  </a:ext>
                </a:extLst>
              </a:tr>
              <a:tr h="388937">
                <a:tc>
                  <a:txBody>
                    <a:bodyPr/>
                    <a:lstStyle/>
                    <a:p>
                      <a:pPr marL="0" marR="0" indent="0" algn="ctr" defTabSz="914400" rtl="0" eaLnBrk="1" fontAlgn="auto" latinLnBrk="0" hangingPunct="1">
                        <a:lnSpc>
                          <a:spcPts val="2000"/>
                        </a:lnSpc>
                        <a:spcBef>
                          <a:spcPts val="0"/>
                        </a:spcBef>
                        <a:spcAft>
                          <a:spcPts val="0"/>
                        </a:spcAft>
                        <a:buClrTx/>
                        <a:buSzTx/>
                        <a:buFontTx/>
                        <a:buNone/>
                        <a:tabLst/>
                        <a:defRPr/>
                      </a:pPr>
                      <a:r>
                        <a:rPr lang="fr-FR" sz="1600" b="0" dirty="0">
                          <a:solidFill>
                            <a:schemeClr val="tx1"/>
                          </a:solidFill>
                          <a:latin typeface="Calibri" panose="020F0502020204030204" pitchFamily="34" charset="0"/>
                        </a:rPr>
                        <a:t>13</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ts val="2000"/>
                        </a:lnSpc>
                        <a:spcBef>
                          <a:spcPts val="0"/>
                        </a:spcBef>
                        <a:spcAft>
                          <a:spcPts val="0"/>
                        </a:spcAft>
                        <a:buClrTx/>
                        <a:buSzTx/>
                        <a:buFontTx/>
                        <a:buNone/>
                        <a:tabLst/>
                        <a:defRPr/>
                      </a:pPr>
                      <a:r>
                        <a:rPr lang="fr-FR" sz="1700" b="0" dirty="0">
                          <a:solidFill>
                            <a:schemeClr val="tx1"/>
                          </a:solidFill>
                          <a:latin typeface="Calibri" panose="020F0502020204030204" pitchFamily="34" charset="0"/>
                        </a:rPr>
                        <a:t>Améliorer la communication dans l’entreprise et la motivation du personnel</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2000"/>
                        </a:lnSpc>
                      </a:pPr>
                      <a:endParaRPr lang="fr-FR" sz="1600" b="0" dirty="0">
                        <a:solidFill>
                          <a:schemeClr val="tx1"/>
                        </a:solidFill>
                        <a:latin typeface="Calibri" panose="020F0502020204030204" pitchFamily="34" charset="0"/>
                      </a:endParaRPr>
                    </a:p>
                  </a:txBody>
                  <a:tcPr marL="108000" marR="56574"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99"/>
                    </a:solidFill>
                  </a:tcPr>
                </a:tc>
                <a:extLst>
                  <a:ext uri="{0D108BD9-81ED-4DB2-BD59-A6C34878D82A}">
                    <a16:rowId xmlns:a16="http://schemas.microsoft.com/office/drawing/2014/main" val="10012"/>
                  </a:ext>
                </a:extLst>
              </a:tr>
            </a:tbl>
          </a:graphicData>
        </a:graphic>
      </p:graphicFrame>
      <p:sp>
        <p:nvSpPr>
          <p:cNvPr id="191553" name="Espace réservé du contenu 7"/>
          <p:cNvSpPr>
            <a:spLocks noGrp="1"/>
          </p:cNvSpPr>
          <p:nvPr>
            <p:ph idx="1"/>
          </p:nvPr>
        </p:nvSpPr>
        <p:spPr>
          <a:xfrm>
            <a:off x="-30480" y="430213"/>
            <a:ext cx="8749425" cy="882650"/>
          </a:xfrm>
        </p:spPr>
        <p:txBody>
          <a:bodyPr/>
          <a:lstStyle/>
          <a:p>
            <a:pPr indent="17463">
              <a:buFontTx/>
              <a:buNone/>
            </a:pPr>
            <a:r>
              <a:rPr lang="fr-FR" altLang="fr-FR" sz="1600" dirty="0"/>
              <a:t>Le tableau ci-dessous classe les solutions selon leur importance pour la simulation 2. </a:t>
            </a:r>
            <a:br>
              <a:rPr lang="fr-FR" altLang="fr-FR" sz="1600" dirty="0"/>
            </a:br>
            <a:r>
              <a:rPr lang="fr-FR" altLang="fr-FR" sz="1600" dirty="0"/>
              <a:t>Les rouges nous semblent essentielles à la démonstration. Les autres le sont moins et il appartient à l’animateur de décider s’il veut inciter et aider les équipes à y parvenir ou non.</a:t>
            </a:r>
          </a:p>
        </p:txBody>
      </p:sp>
      <p:pic>
        <p:nvPicPr>
          <p:cNvPr id="9"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showMasterSp="0" show="0">
  <p:cSld>
    <p:bg>
      <p:bgPr>
        <a:solidFill>
          <a:srgbClr val="27A8E0"/>
        </a:solidFill>
        <a:effectLst/>
      </p:bgPr>
    </p:bg>
    <p:spTree>
      <p:nvGrpSpPr>
        <p:cNvPr id="1" name=""/>
        <p:cNvGrpSpPr/>
        <p:nvPr/>
      </p:nvGrpSpPr>
      <p:grpSpPr>
        <a:xfrm>
          <a:off x="0" y="0"/>
          <a:ext cx="0" cy="0"/>
          <a:chOff x="0" y="0"/>
          <a:chExt cx="0" cy="0"/>
        </a:xfrm>
      </p:grpSpPr>
      <p:sp>
        <p:nvSpPr>
          <p:cNvPr id="19558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9558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1B63DA7-84A4-483B-B5C6-37ABAF6F294F}" type="slidenum">
              <a:rPr lang="fr-FR" altLang="fr-FR" smtClean="0">
                <a:latin typeface="Calibri" panose="020F0502020204030204" pitchFamily="34" charset="0"/>
              </a:rPr>
              <a:pPr>
                <a:spcBef>
                  <a:spcPct val="0"/>
                </a:spcBef>
                <a:buFontTx/>
                <a:buNone/>
              </a:pPr>
              <a:t>89</a:t>
            </a:fld>
            <a:endParaRPr lang="fr-FR" altLang="fr-FR" dirty="0">
              <a:latin typeface="Calibri" panose="020F0502020204030204" pitchFamily="34" charset="0"/>
            </a:endParaRPr>
          </a:p>
        </p:txBody>
      </p:sp>
      <p:sp>
        <p:nvSpPr>
          <p:cNvPr id="6" name="Rectangle 5"/>
          <p:cNvSpPr/>
          <p:nvPr/>
        </p:nvSpPr>
        <p:spPr>
          <a:xfrm>
            <a:off x="372034" y="1980704"/>
            <a:ext cx="8924366" cy="2308324"/>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Commentaires sur les projets</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7634" name="Titre 1"/>
          <p:cNvSpPr>
            <a:spLocks noGrp="1"/>
          </p:cNvSpPr>
          <p:nvPr>
            <p:ph type="title"/>
          </p:nvPr>
        </p:nvSpPr>
        <p:spPr/>
        <p:txBody>
          <a:bodyPr/>
          <a:lstStyle/>
          <a:p>
            <a:r>
              <a:rPr lang="fr-FR" altLang="fr-FR"/>
              <a:t>Commentaires sur le projet PRODUCTIVITÉ</a:t>
            </a:r>
          </a:p>
        </p:txBody>
      </p:sp>
      <p:sp>
        <p:nvSpPr>
          <p:cNvPr id="3" name="Espace réservé du contenu 2"/>
          <p:cNvSpPr>
            <a:spLocks noGrp="1"/>
          </p:cNvSpPr>
          <p:nvPr>
            <p:ph idx="1"/>
          </p:nvPr>
        </p:nvSpPr>
        <p:spPr>
          <a:xfrm>
            <a:off x="0" y="2574925"/>
            <a:ext cx="9388475" cy="4071938"/>
          </a:xfrm>
        </p:spPr>
        <p:txBody>
          <a:bodyPr/>
          <a:lstStyle/>
          <a:p>
            <a:pPr marL="0" indent="20638">
              <a:buFontTx/>
              <a:buNone/>
              <a:defRPr/>
            </a:pPr>
            <a:r>
              <a:rPr lang="fr-FR" sz="1500" dirty="0"/>
              <a:t>La classification des activités appelle des commentaires :</a:t>
            </a:r>
          </a:p>
          <a:p>
            <a:pPr marL="174625" indent="-174625">
              <a:defRPr/>
            </a:pPr>
            <a:r>
              <a:rPr lang="fr-FR" sz="1500" dirty="0"/>
              <a:t>La définition d’une opération à valeur ajoutée pour le produit (et donc pour le client) : c’est « une opération qui transforme le produit ou le service » : elle lui ajoute donc de la valeur.</a:t>
            </a:r>
          </a:p>
          <a:p>
            <a:pPr marL="174625" indent="-174625">
              <a:defRPr/>
            </a:pPr>
            <a:r>
              <a:rPr lang="fr-FR" sz="1500" dirty="0"/>
              <a:t>Cela ne veut pas dire que toute opération sans valeur ajoutée peut être éliminée : certaines sont, </a:t>
            </a:r>
            <a:r>
              <a:rPr lang="fr-FR" sz="1500" u="sng" dirty="0"/>
              <a:t>dans les circonstance actuelles</a:t>
            </a:r>
            <a:r>
              <a:rPr lang="fr-FR" sz="1500" dirty="0"/>
              <a:t>, indispensables. </a:t>
            </a:r>
          </a:p>
          <a:p>
            <a:pPr marL="174625" indent="-174625">
              <a:defRPr/>
            </a:pPr>
            <a:r>
              <a:rPr lang="fr-FR" sz="1500" dirty="0"/>
              <a:t>La distinction entre VA et non VA n’a de sens que si l’on précise le processus considéré. Par exemple, si la fonction d’un service Maintenance est d’entretenir les machines, le client est la Production et tout ce que fait le Service Maintenance qui contribue </a:t>
            </a:r>
            <a:r>
              <a:rPr lang="fr-FR" sz="1500" i="1" dirty="0"/>
              <a:t>directement</a:t>
            </a:r>
            <a:r>
              <a:rPr lang="fr-FR" sz="1500" dirty="0"/>
              <a:t> à la réalisation du service demandé (le bon fonctionnement des machines) est de la VA pour le processus de Maintenance, mais seulement dans le cadre du Service Maintenance.</a:t>
            </a:r>
          </a:p>
          <a:p>
            <a:pPr marL="174625" indent="-174625">
              <a:defRPr/>
            </a:pPr>
            <a:r>
              <a:rPr lang="fr-FR" sz="1500" dirty="0"/>
              <a:t>Dans l’exercice, il n’y a que 15 à 25% des opérations à valeur ajoutée. L’animateur pourra souligner qu’une telle valeur n’est pas anormale dans de nombreuses entreprises ou administrations. Il y a un gros potentiel de gain, c’est une des raisons d’être d’une démarche Lean.</a:t>
            </a:r>
          </a:p>
          <a:p>
            <a:pPr marL="174625" indent="-174625">
              <a:defRPr/>
            </a:pPr>
            <a:r>
              <a:rPr lang="fr-FR" sz="1500" dirty="0"/>
              <a:t>Comme nous l’avons déjà dit, le classement entre les différentes catégories est souvent discutable. Certaines activités peuvent être dans l’une ou l’autre. L’animateur soulignera que le classement n’est pas primordial : l’important est avant tout d’identifier l’activité sans valeur ajoutée.</a:t>
            </a:r>
          </a:p>
        </p:txBody>
      </p:sp>
      <p:sp>
        <p:nvSpPr>
          <p:cNvPr id="19763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9763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5517192-4C43-4221-A775-1D52A9FE819C}" type="slidenum">
              <a:rPr lang="fr-FR" altLang="fr-FR" smtClean="0">
                <a:latin typeface="Calibri" panose="020F0502020204030204" pitchFamily="34" charset="0"/>
              </a:rPr>
              <a:pPr>
                <a:spcBef>
                  <a:spcPct val="0"/>
                </a:spcBef>
                <a:buFontTx/>
                <a:buNone/>
              </a:pPr>
              <a:t>90</a:t>
            </a:fld>
            <a:endParaRPr lang="fr-FR" altLang="fr-FR" dirty="0">
              <a:latin typeface="Calibri" panose="020F0502020204030204" pitchFamily="34" charset="0"/>
            </a:endParaRPr>
          </a:p>
        </p:txBody>
      </p:sp>
      <p:sp>
        <p:nvSpPr>
          <p:cNvPr id="14" name="Légende encadrée 1 13"/>
          <p:cNvSpPr/>
          <p:nvPr/>
        </p:nvSpPr>
        <p:spPr>
          <a:xfrm>
            <a:off x="59055" y="1533525"/>
            <a:ext cx="1957388" cy="935038"/>
          </a:xfrm>
          <a:prstGeom prst="borderCallout1">
            <a:avLst>
              <a:gd name="adj1" fmla="val -513"/>
              <a:gd name="adj2" fmla="val 28039"/>
              <a:gd name="adj3" fmla="val -22343"/>
              <a:gd name="adj4" fmla="val 53203"/>
            </a:avLst>
          </a:prstGeom>
          <a:solidFill>
            <a:schemeClr val="bg1"/>
          </a:solidFill>
          <a:ln w="1270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ts val="2200"/>
              </a:lnSpc>
              <a:defRPr/>
            </a:pPr>
            <a:r>
              <a:rPr lang="fr-FR" sz="1500" dirty="0">
                <a:solidFill>
                  <a:schemeClr val="tx1"/>
                </a:solidFill>
                <a:latin typeface="Calibri" panose="020F0502020204030204" pitchFamily="34" charset="0"/>
                <a:cs typeface="Arial" pitchFamily="34" charset="0"/>
              </a:rPr>
              <a:t>Opération qui transforme le produit ou le service</a:t>
            </a:r>
          </a:p>
        </p:txBody>
      </p:sp>
      <p:sp>
        <p:nvSpPr>
          <p:cNvPr id="16" name="Légende encadrée 1 15"/>
          <p:cNvSpPr/>
          <p:nvPr/>
        </p:nvSpPr>
        <p:spPr>
          <a:xfrm>
            <a:off x="3986530" y="1533525"/>
            <a:ext cx="1908175" cy="935038"/>
          </a:xfrm>
          <a:prstGeom prst="borderCallout1">
            <a:avLst>
              <a:gd name="adj1" fmla="val -6017"/>
              <a:gd name="adj2" fmla="val 49164"/>
              <a:gd name="adj3" fmla="val -26470"/>
              <a:gd name="adj4" fmla="val 63132"/>
            </a:avLst>
          </a:prstGeom>
          <a:solidFill>
            <a:schemeClr val="bg1"/>
          </a:solidFill>
          <a:ln w="1270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798064" eaLnBrk="1" fontAlgn="auto" hangingPunct="1">
              <a:lnSpc>
                <a:spcPts val="2200"/>
              </a:lnSpc>
              <a:spcBef>
                <a:spcPts val="0"/>
              </a:spcBef>
              <a:spcAft>
                <a:spcPts val="0"/>
              </a:spcAft>
              <a:defRPr/>
            </a:pPr>
            <a:r>
              <a:rPr lang="fr-FR" sz="1500" dirty="0">
                <a:solidFill>
                  <a:prstClr val="black"/>
                </a:solidFill>
                <a:latin typeface="Calibri" panose="020F0502020204030204" pitchFamily="34" charset="0"/>
                <a:cs typeface="Arial" pitchFamily="34" charset="0"/>
              </a:rPr>
              <a:t>Résultat non conforme impliquant une correction</a:t>
            </a:r>
            <a:endParaRPr lang="fr-FR" sz="1500" dirty="0">
              <a:solidFill>
                <a:schemeClr val="tx1"/>
              </a:solidFill>
              <a:latin typeface="Calibri" panose="020F0502020204030204" pitchFamily="34" charset="0"/>
              <a:cs typeface="Arial" pitchFamily="34" charset="0"/>
            </a:endParaRPr>
          </a:p>
        </p:txBody>
      </p:sp>
      <p:sp>
        <p:nvSpPr>
          <p:cNvPr id="17" name="Légende encadrée 1 16"/>
          <p:cNvSpPr/>
          <p:nvPr/>
        </p:nvSpPr>
        <p:spPr>
          <a:xfrm>
            <a:off x="5958205" y="1533525"/>
            <a:ext cx="1643063" cy="935038"/>
          </a:xfrm>
          <a:prstGeom prst="borderCallout1">
            <a:avLst>
              <a:gd name="adj1" fmla="val -4641"/>
              <a:gd name="adj2" fmla="val 27707"/>
              <a:gd name="adj3" fmla="val -30599"/>
              <a:gd name="adj4" fmla="val 51987"/>
            </a:avLst>
          </a:prstGeom>
          <a:solidFill>
            <a:schemeClr val="bg1"/>
          </a:solidFill>
          <a:ln w="1270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36000" rIns="36000" anchor="ctr"/>
          <a:lstStyle/>
          <a:p>
            <a:pPr algn="ctr" eaLnBrk="1" hangingPunct="1">
              <a:lnSpc>
                <a:spcPts val="2200"/>
              </a:lnSpc>
              <a:defRPr/>
            </a:pPr>
            <a:r>
              <a:rPr lang="fr-FR" sz="1500" dirty="0">
                <a:solidFill>
                  <a:schemeClr val="tx1"/>
                </a:solidFill>
                <a:latin typeface="Calibri" panose="020F0502020204030204" pitchFamily="34" charset="0"/>
                <a:cs typeface="Arial" pitchFamily="34" charset="0"/>
              </a:rPr>
              <a:t>Opération sans valeur ajoutée pour le client</a:t>
            </a:r>
          </a:p>
        </p:txBody>
      </p:sp>
      <p:sp>
        <p:nvSpPr>
          <p:cNvPr id="18" name="Légende encadrée 1 17"/>
          <p:cNvSpPr/>
          <p:nvPr/>
        </p:nvSpPr>
        <p:spPr>
          <a:xfrm>
            <a:off x="7782243" y="1533525"/>
            <a:ext cx="1582737" cy="935038"/>
          </a:xfrm>
          <a:prstGeom prst="borderCallout1">
            <a:avLst>
              <a:gd name="adj1" fmla="val -4641"/>
              <a:gd name="adj2" fmla="val 42077"/>
              <a:gd name="adj3" fmla="val -29223"/>
              <a:gd name="adj4" fmla="val 30837"/>
            </a:avLst>
          </a:prstGeom>
          <a:solidFill>
            <a:schemeClr val="bg1"/>
          </a:solidFill>
          <a:ln w="1270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ts val="2200"/>
              </a:lnSpc>
              <a:defRPr/>
            </a:pPr>
            <a:r>
              <a:rPr lang="fr-FR" sz="1500" dirty="0">
                <a:solidFill>
                  <a:schemeClr val="tx1"/>
                </a:solidFill>
                <a:latin typeface="Calibri" panose="020F0502020204030204" pitchFamily="34" charset="0"/>
                <a:cs typeface="Arial" pitchFamily="34" charset="0"/>
              </a:rPr>
              <a:t>Production &gt; au besoin immédiat du poste aval</a:t>
            </a:r>
          </a:p>
        </p:txBody>
      </p:sp>
      <p:graphicFrame>
        <p:nvGraphicFramePr>
          <p:cNvPr id="19" name="Tableau 18"/>
          <p:cNvGraphicFramePr>
            <a:graphicFrameLocks noGrp="1"/>
          </p:cNvGraphicFramePr>
          <p:nvPr>
            <p:extLst>
              <p:ext uri="{D42A27DB-BD31-4B8C-83A1-F6EECF244321}">
                <p14:modId xmlns:p14="http://schemas.microsoft.com/office/powerpoint/2010/main" val="3127219118"/>
              </p:ext>
            </p:extLst>
          </p:nvPr>
        </p:nvGraphicFramePr>
        <p:xfrm>
          <a:off x="743903" y="566738"/>
          <a:ext cx="7839077" cy="633412"/>
        </p:xfrm>
        <a:graphic>
          <a:graphicData uri="http://schemas.openxmlformats.org/drawingml/2006/table">
            <a:tbl>
              <a:tblPr/>
              <a:tblGrid>
                <a:gridCol w="1306513">
                  <a:extLst>
                    <a:ext uri="{9D8B030D-6E8A-4147-A177-3AD203B41FA5}">
                      <a16:colId xmlns:a16="http://schemas.microsoft.com/office/drawing/2014/main" val="20000"/>
                    </a:ext>
                  </a:extLst>
                </a:gridCol>
                <a:gridCol w="1045209">
                  <a:extLst>
                    <a:ext uri="{9D8B030D-6E8A-4147-A177-3AD203B41FA5}">
                      <a16:colId xmlns:a16="http://schemas.microsoft.com/office/drawing/2014/main" val="20001"/>
                    </a:ext>
                  </a:extLst>
                </a:gridCol>
                <a:gridCol w="1567816">
                  <a:extLst>
                    <a:ext uri="{9D8B030D-6E8A-4147-A177-3AD203B41FA5}">
                      <a16:colId xmlns:a16="http://schemas.microsoft.com/office/drawing/2014/main" val="20002"/>
                    </a:ext>
                  </a:extLst>
                </a:gridCol>
                <a:gridCol w="1306513">
                  <a:extLst>
                    <a:ext uri="{9D8B030D-6E8A-4147-A177-3AD203B41FA5}">
                      <a16:colId xmlns:a16="http://schemas.microsoft.com/office/drawing/2014/main" val="20003"/>
                    </a:ext>
                  </a:extLst>
                </a:gridCol>
                <a:gridCol w="1306513">
                  <a:extLst>
                    <a:ext uri="{9D8B030D-6E8A-4147-A177-3AD203B41FA5}">
                      <a16:colId xmlns:a16="http://schemas.microsoft.com/office/drawing/2014/main" val="20004"/>
                    </a:ext>
                  </a:extLst>
                </a:gridCol>
                <a:gridCol w="1306513">
                  <a:extLst>
                    <a:ext uri="{9D8B030D-6E8A-4147-A177-3AD203B41FA5}">
                      <a16:colId xmlns:a16="http://schemas.microsoft.com/office/drawing/2014/main" val="20005"/>
                    </a:ext>
                  </a:extLst>
                </a:gridCol>
              </a:tblGrid>
              <a:tr h="633412">
                <a:tc>
                  <a:txBody>
                    <a:bodyPr/>
                    <a:lstStyle/>
                    <a:p>
                      <a:pPr algn="ctr" fontAlgn="b"/>
                      <a:r>
                        <a:rPr lang="fr-FR" sz="1600" b="0" i="0" u="none" strike="noStrike" dirty="0">
                          <a:solidFill>
                            <a:srgbClr val="000000"/>
                          </a:solidFill>
                          <a:latin typeface="Calibri" panose="020F0502020204030204" pitchFamily="34" charset="0"/>
                          <a:cs typeface="Arial" pitchFamily="34" charset="0"/>
                        </a:rPr>
                        <a:t>Valeur ajoutée</a:t>
                      </a: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FF8F"/>
                    </a:solidFill>
                  </a:tcPr>
                </a:tc>
                <a:tc>
                  <a:txBody>
                    <a:bodyPr/>
                    <a:lstStyle/>
                    <a:p>
                      <a:pPr algn="ctr" fontAlgn="b"/>
                      <a:r>
                        <a:rPr lang="fr-FR" sz="1600" b="0" i="0" u="none" strike="noStrike" dirty="0">
                          <a:solidFill>
                            <a:srgbClr val="000000"/>
                          </a:solidFill>
                          <a:latin typeface="Calibri" panose="020F0502020204030204" pitchFamily="34" charset="0"/>
                          <a:cs typeface="Arial" pitchFamily="34" charset="0"/>
                        </a:rPr>
                        <a:t>Attente</a:t>
                      </a:r>
                    </a:p>
                  </a:txBody>
                  <a:tcPr marL="13413" marR="13413" marT="1340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fr-FR" sz="1600" b="1" i="0" u="none" strike="noStrike" dirty="0">
                          <a:solidFill>
                            <a:schemeClr val="bg1"/>
                          </a:solidFill>
                          <a:latin typeface="Calibri" panose="020F0502020204030204" pitchFamily="34" charset="0"/>
                          <a:cs typeface="Arial" pitchFamily="34" charset="0"/>
                        </a:rPr>
                        <a:t>Transports et Déplacements</a:t>
                      </a:r>
                    </a:p>
                  </a:txBody>
                  <a:tcPr marL="13413" marR="13413" marT="13409"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A000"/>
                    </a:solidFill>
                  </a:tcPr>
                </a:tc>
                <a:tc>
                  <a:txBody>
                    <a:bodyPr/>
                    <a:lstStyle/>
                    <a:p>
                      <a:pPr algn="ctr" fontAlgn="b"/>
                      <a:r>
                        <a:rPr lang="fr-FR" sz="1600" b="1" i="0" u="none" strike="noStrike" dirty="0">
                          <a:solidFill>
                            <a:schemeClr val="bg1"/>
                          </a:solidFill>
                          <a:latin typeface="Calibri" panose="020F0502020204030204" pitchFamily="34" charset="0"/>
                          <a:cs typeface="Arial" pitchFamily="34" charset="0"/>
                        </a:rPr>
                        <a:t>Rebuts, Reprises</a:t>
                      </a: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fr-FR" sz="1600" b="0" i="0" u="none" strike="noStrike" dirty="0">
                          <a:solidFill>
                            <a:srgbClr val="000000"/>
                          </a:solidFill>
                          <a:latin typeface="Calibri" panose="020F0502020204030204" pitchFamily="34" charset="0"/>
                          <a:cs typeface="Arial" pitchFamily="34" charset="0"/>
                        </a:rPr>
                        <a:t>Opération superflue</a:t>
                      </a: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600" b="0" i="0" u="none" strike="noStrike" dirty="0">
                          <a:solidFill>
                            <a:srgbClr val="000000"/>
                          </a:solidFill>
                          <a:latin typeface="Calibri" panose="020F0502020204030204" pitchFamily="34" charset="0"/>
                          <a:cs typeface="Arial" pitchFamily="34" charset="0"/>
                        </a:rPr>
                        <a:t>Surproduction</a:t>
                      </a:r>
                    </a:p>
                  </a:txBody>
                  <a:tcPr marL="13413" marR="13413" marT="13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DCFA"/>
                    </a:solidFill>
                  </a:tcPr>
                </a:tc>
                <a:extLst>
                  <a:ext uri="{0D108BD9-81ED-4DB2-BD59-A6C34878D82A}">
                    <a16:rowId xmlns:a16="http://schemas.microsoft.com/office/drawing/2014/main" val="10000"/>
                  </a:ext>
                </a:extLst>
              </a:tr>
            </a:tbl>
          </a:graphicData>
        </a:graphic>
      </p:graphicFrame>
      <p:sp>
        <p:nvSpPr>
          <p:cNvPr id="15" name="Légende encadrée 1 14"/>
          <p:cNvSpPr/>
          <p:nvPr/>
        </p:nvSpPr>
        <p:spPr>
          <a:xfrm>
            <a:off x="2056130" y="1533525"/>
            <a:ext cx="1879600" cy="935038"/>
          </a:xfrm>
          <a:prstGeom prst="borderCallout1">
            <a:avLst>
              <a:gd name="adj1" fmla="val -6017"/>
              <a:gd name="adj2" fmla="val 21495"/>
              <a:gd name="adj3" fmla="val -30599"/>
              <a:gd name="adj4" fmla="val 32398"/>
            </a:avLst>
          </a:prstGeom>
          <a:solidFill>
            <a:schemeClr val="bg1"/>
          </a:solidFill>
          <a:ln w="1270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ts val="2200"/>
              </a:lnSpc>
              <a:defRPr/>
            </a:pPr>
            <a:r>
              <a:rPr lang="fr-FR" sz="1500" dirty="0">
                <a:solidFill>
                  <a:schemeClr val="tx1"/>
                </a:solidFill>
                <a:latin typeface="Calibri" panose="020F0502020204030204" pitchFamily="34" charset="0"/>
                <a:cs typeface="Arial" pitchFamily="34" charset="0"/>
              </a:rPr>
              <a:t>Pour une personne, un équipement, un produit, etc.</a:t>
            </a:r>
          </a:p>
        </p:txBody>
      </p:sp>
      <p:pic>
        <p:nvPicPr>
          <p:cNvPr id="20"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9682" name="Titre 1"/>
          <p:cNvSpPr>
            <a:spLocks noGrp="1"/>
          </p:cNvSpPr>
          <p:nvPr>
            <p:ph type="title"/>
          </p:nvPr>
        </p:nvSpPr>
        <p:spPr/>
        <p:txBody>
          <a:bodyPr/>
          <a:lstStyle/>
          <a:p>
            <a:r>
              <a:rPr lang="fr-FR" altLang="fr-FR"/>
              <a:t>Commentaires sur les échanges de l’équipe PRODUCTIVITÉ</a:t>
            </a:r>
          </a:p>
        </p:txBody>
      </p:sp>
      <p:sp>
        <p:nvSpPr>
          <p:cNvPr id="19968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9968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E2A9C4E7-BD4F-4365-992A-3E8BBAC8E08B}" type="slidenum">
              <a:rPr lang="fr-FR" altLang="fr-FR" smtClean="0">
                <a:latin typeface="Calibri" panose="020F0502020204030204" pitchFamily="34" charset="0"/>
              </a:rPr>
              <a:pPr>
                <a:spcBef>
                  <a:spcPct val="0"/>
                </a:spcBef>
                <a:buFontTx/>
                <a:buNone/>
              </a:pPr>
              <a:t>91</a:t>
            </a:fld>
            <a:endParaRPr lang="fr-FR" altLang="fr-FR" dirty="0">
              <a:latin typeface="Calibri" panose="020F0502020204030204" pitchFamily="34" charset="0"/>
            </a:endParaRPr>
          </a:p>
        </p:txBody>
      </p:sp>
      <p:sp>
        <p:nvSpPr>
          <p:cNvPr id="32" name="Espace réservé du contenu 2"/>
          <p:cNvSpPr>
            <a:spLocks noGrp="1"/>
          </p:cNvSpPr>
          <p:nvPr>
            <p:ph idx="1"/>
          </p:nvPr>
        </p:nvSpPr>
        <p:spPr>
          <a:xfrm>
            <a:off x="152400" y="1027008"/>
            <a:ext cx="9224963" cy="5548313"/>
          </a:xfrm>
        </p:spPr>
        <p:txBody>
          <a:bodyPr/>
          <a:lstStyle/>
          <a:p>
            <a:pPr marL="0" indent="0">
              <a:buFontTx/>
              <a:buNone/>
              <a:defRPr/>
            </a:pPr>
            <a:r>
              <a:rPr lang="fr-FR" sz="1500" dirty="0"/>
              <a:t>Nous commentons ci-dessous les échanges que l’équipe Productivité engage avec les autres équipes. </a:t>
            </a:r>
          </a:p>
          <a:p>
            <a:pPr marL="0" indent="20638">
              <a:buFontTx/>
              <a:buNone/>
              <a:defRPr/>
            </a:pPr>
            <a:r>
              <a:rPr lang="fr-FR" sz="1500" dirty="0"/>
              <a:t>1. L’équipe FLUX travaille sur la répartition de la charge entre postes de travail. Cela peut-il vous aider ?</a:t>
            </a:r>
          </a:p>
          <a:p>
            <a:pPr marL="174625" indent="-174625">
              <a:defRPr/>
            </a:pPr>
            <a:r>
              <a:rPr lang="fr-FR" sz="1500" dirty="0"/>
              <a:t>L’équipe Productivité prendra connaissance du projet d’équilibrage des charges qui permet d’avoir moins de postes sous-chargés ou surchargés. Cela vise à réduire les temps perdus pour manque de charge (comptabilisés dans les arrêts identifiés).</a:t>
            </a:r>
          </a:p>
          <a:p>
            <a:pPr marL="0" indent="20638">
              <a:buFontTx/>
              <a:buNone/>
              <a:defRPr/>
            </a:pPr>
            <a:r>
              <a:rPr lang="fr-FR" sz="1500" dirty="0"/>
              <a:t>2. L’équipe RÉIMPLANTATION envisage de modifier l’emplacement des ateliers et d’améliorer le fonctionnement du magasin d’outillages. Cela peut-il vous aider ?</a:t>
            </a:r>
          </a:p>
          <a:p>
            <a:pPr marL="177800" indent="-177800">
              <a:defRPr/>
            </a:pPr>
            <a:r>
              <a:rPr lang="fr-FR" sz="1500" dirty="0"/>
              <a:t>Ce projet touche les transports de produits et les déplacements pour aller au magasin d’outillage (arrêts identifiés, ainsi que les activités « attendre au magasin d’outillages avant d’être servi » et « choisir un autre surligneur parce que celui-ci est défectueux ».</a:t>
            </a:r>
          </a:p>
          <a:p>
            <a:pPr marL="0" indent="0">
              <a:buFontTx/>
              <a:buNone/>
              <a:defRPr/>
            </a:pPr>
            <a:r>
              <a:rPr lang="fr-FR" sz="1500" dirty="0"/>
              <a:t>3. L’équipe QUALITÉ compte réduire le taux de non-conformité. Cela peut-il vous aider ?</a:t>
            </a:r>
          </a:p>
          <a:p>
            <a:pPr marL="177800" indent="-177800">
              <a:defRPr/>
            </a:pPr>
            <a:r>
              <a:rPr lang="fr-FR" sz="1500" dirty="0"/>
              <a:t>Ce projet touche les activités « Retoucher un coloriage non conforme » et « mettre à la benne un produit non conforme ».</a:t>
            </a:r>
          </a:p>
          <a:p>
            <a:pPr marL="177800" indent="-177800">
              <a:defRPr/>
            </a:pPr>
            <a:r>
              <a:rPr lang="fr-FR" sz="1500" dirty="0"/>
              <a:t>L’équipe Qualité envisage de développer l’</a:t>
            </a:r>
            <a:r>
              <a:rPr lang="fr-FR" sz="1500" dirty="0" err="1"/>
              <a:t>auto-contrôle</a:t>
            </a:r>
            <a:r>
              <a:rPr lang="fr-FR" sz="1500" dirty="0"/>
              <a:t>. Cela aura bien sûr une influence immédiate sur la productivité puisque les défauts seront réparés au poste de travail. La quantité produite sera donc une quantité de pièces bonnes.</a:t>
            </a:r>
          </a:p>
          <a:p>
            <a:pPr marL="0" indent="0">
              <a:buFontTx/>
              <a:buNone/>
              <a:defRPr/>
            </a:pPr>
            <a:r>
              <a:rPr lang="fr-FR" sz="1500" dirty="0"/>
              <a:t>4. L’équipe RESSOURCES HUMAINES cherche à développer de nouvelles compétences chez le personnel. Cela peut-il vous aider ?</a:t>
            </a:r>
          </a:p>
          <a:p>
            <a:pPr marL="177800" indent="-177800">
              <a:defRPr/>
            </a:pPr>
            <a:r>
              <a:rPr lang="fr-FR" sz="1500" dirty="0"/>
              <a:t>Ce projet peut améliorer les activités telles que : « attendre que la machine soit dépannée », car l’opérateur pourrait contribuer à certains dépannages et à la maintenance préventive. Plus généralement, une amélioration des compétences est nécessaire pour réaliser pendant les temps d’attente d’autres tâches à valeur ajoutée.</a:t>
            </a:r>
          </a:p>
          <a:p>
            <a:pPr marL="0" indent="20638">
              <a:buFontTx/>
              <a:buNone/>
              <a:defRPr/>
            </a:pPr>
            <a:endParaRPr lang="fr-FR" sz="1500" dirty="0"/>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1730" name="Titre 1"/>
          <p:cNvSpPr>
            <a:spLocks noGrp="1"/>
          </p:cNvSpPr>
          <p:nvPr>
            <p:ph type="title"/>
          </p:nvPr>
        </p:nvSpPr>
        <p:spPr/>
        <p:txBody>
          <a:bodyPr/>
          <a:lstStyle/>
          <a:p>
            <a:r>
              <a:rPr lang="fr-FR" altLang="fr-FR"/>
              <a:t>Commentaires sur le projet FLUX</a:t>
            </a:r>
          </a:p>
        </p:txBody>
      </p:sp>
      <p:sp>
        <p:nvSpPr>
          <p:cNvPr id="20173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0173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255D387F-631D-4F4C-AD36-CC9E0BF71E75}" type="slidenum">
              <a:rPr lang="fr-FR" altLang="fr-FR" smtClean="0">
                <a:latin typeface="Calibri" panose="020F0502020204030204" pitchFamily="34" charset="0"/>
              </a:rPr>
              <a:pPr>
                <a:spcBef>
                  <a:spcPct val="0"/>
                </a:spcBef>
                <a:buFontTx/>
                <a:buNone/>
              </a:pPr>
              <a:t>92</a:t>
            </a:fld>
            <a:endParaRPr lang="fr-FR" altLang="fr-FR" dirty="0">
              <a:latin typeface="Calibri" panose="020F0502020204030204" pitchFamily="34" charset="0"/>
            </a:endParaRPr>
          </a:p>
        </p:txBody>
      </p:sp>
      <p:grpSp>
        <p:nvGrpSpPr>
          <p:cNvPr id="201734" name="Groupe 6"/>
          <p:cNvGrpSpPr>
            <a:grpSpLocks/>
          </p:cNvGrpSpPr>
          <p:nvPr/>
        </p:nvGrpSpPr>
        <p:grpSpPr bwMode="auto">
          <a:xfrm>
            <a:off x="573088" y="738188"/>
            <a:ext cx="6778625" cy="1298575"/>
            <a:chOff x="516631" y="3261265"/>
            <a:chExt cx="7555023" cy="1447376"/>
          </a:xfrm>
        </p:grpSpPr>
        <p:pic>
          <p:nvPicPr>
            <p:cNvPr id="201743" name="Picture 2"/>
            <p:cNvPicPr>
              <a:picLocks noChangeAspect="1" noChangeArrowheads="1"/>
            </p:cNvPicPr>
            <p:nvPr/>
          </p:nvPicPr>
          <p:blipFill>
            <a:blip r:embed="rId3">
              <a:extLst>
                <a:ext uri="{28A0092B-C50C-407E-A947-70E740481C1C}">
                  <a14:useLocalDpi xmlns:a14="http://schemas.microsoft.com/office/drawing/2010/main" val="0"/>
                </a:ext>
              </a:extLst>
            </a:blip>
            <a:srcRect r="44649"/>
            <a:stretch>
              <a:fillRect/>
            </a:stretch>
          </p:blipFill>
          <p:spPr bwMode="auto">
            <a:xfrm>
              <a:off x="731837" y="3806957"/>
              <a:ext cx="7250113" cy="90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44" name="Rectangle 8"/>
            <p:cNvSpPr>
              <a:spLocks noChangeArrowheads="1"/>
            </p:cNvSpPr>
            <p:nvPr/>
          </p:nvSpPr>
          <p:spPr bwMode="auto">
            <a:xfrm>
              <a:off x="838200" y="4294505"/>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45" name="Rectangle 9"/>
            <p:cNvSpPr>
              <a:spLocks noChangeArrowheads="1"/>
            </p:cNvSpPr>
            <p:nvPr/>
          </p:nvSpPr>
          <p:spPr bwMode="auto">
            <a:xfrm>
              <a:off x="2562225" y="4284980"/>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46" name="Rectangle 10"/>
            <p:cNvSpPr>
              <a:spLocks noChangeArrowheads="1"/>
            </p:cNvSpPr>
            <p:nvPr/>
          </p:nvSpPr>
          <p:spPr bwMode="auto">
            <a:xfrm>
              <a:off x="4038600" y="4284980"/>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47" name="Rectangle 11"/>
            <p:cNvSpPr>
              <a:spLocks noChangeArrowheads="1"/>
            </p:cNvSpPr>
            <p:nvPr/>
          </p:nvSpPr>
          <p:spPr bwMode="auto">
            <a:xfrm>
              <a:off x="5133975" y="4284980"/>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48" name="Rectangle 12"/>
            <p:cNvSpPr>
              <a:spLocks noChangeArrowheads="1"/>
            </p:cNvSpPr>
            <p:nvPr/>
          </p:nvSpPr>
          <p:spPr bwMode="auto">
            <a:xfrm>
              <a:off x="6419850" y="4294505"/>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49" name="Rectangle 13"/>
            <p:cNvSpPr>
              <a:spLocks noChangeArrowheads="1"/>
            </p:cNvSpPr>
            <p:nvPr/>
          </p:nvSpPr>
          <p:spPr bwMode="auto">
            <a:xfrm>
              <a:off x="7705725" y="4294505"/>
              <a:ext cx="209550" cy="180975"/>
            </a:xfrm>
            <a:prstGeom prst="rect">
              <a:avLst/>
            </a:prstGeom>
            <a:solidFill>
              <a:srgbClr val="99FF99">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0" name="Rectangle 14"/>
            <p:cNvSpPr>
              <a:spLocks noChangeArrowheads="1"/>
            </p:cNvSpPr>
            <p:nvPr/>
          </p:nvSpPr>
          <p:spPr bwMode="auto">
            <a:xfrm>
              <a:off x="1057274" y="4485005"/>
              <a:ext cx="1495425" cy="180975"/>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1" name="Rectangle 15"/>
            <p:cNvSpPr>
              <a:spLocks noChangeArrowheads="1"/>
            </p:cNvSpPr>
            <p:nvPr/>
          </p:nvSpPr>
          <p:spPr bwMode="auto">
            <a:xfrm>
              <a:off x="2781300" y="4475480"/>
              <a:ext cx="1266826" cy="190500"/>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2" name="Rectangle 16"/>
            <p:cNvSpPr>
              <a:spLocks noChangeArrowheads="1"/>
            </p:cNvSpPr>
            <p:nvPr/>
          </p:nvSpPr>
          <p:spPr bwMode="auto">
            <a:xfrm>
              <a:off x="4267200" y="4475480"/>
              <a:ext cx="876300" cy="200025"/>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3" name="Rectangle 17"/>
            <p:cNvSpPr>
              <a:spLocks noChangeArrowheads="1"/>
            </p:cNvSpPr>
            <p:nvPr/>
          </p:nvSpPr>
          <p:spPr bwMode="auto">
            <a:xfrm>
              <a:off x="5343524" y="4475480"/>
              <a:ext cx="1076325" cy="190500"/>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4" name="Rectangle 18"/>
            <p:cNvSpPr>
              <a:spLocks noChangeArrowheads="1"/>
            </p:cNvSpPr>
            <p:nvPr/>
          </p:nvSpPr>
          <p:spPr bwMode="auto">
            <a:xfrm>
              <a:off x="6629399" y="4485005"/>
              <a:ext cx="1076325" cy="190500"/>
            </a:xfrm>
            <a:prstGeom prst="rect">
              <a:avLst/>
            </a:prstGeom>
            <a:solidFill>
              <a:srgbClr val="FF0000">
                <a:alpha val="43921"/>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5" name="Rectangle 19"/>
            <p:cNvSpPr>
              <a:spLocks noChangeArrowheads="1"/>
            </p:cNvSpPr>
            <p:nvPr/>
          </p:nvSpPr>
          <p:spPr bwMode="auto">
            <a:xfrm>
              <a:off x="2514600" y="3574463"/>
              <a:ext cx="409575" cy="180975"/>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 name="Étoile à 5 branches 20"/>
            <p:cNvSpPr/>
            <p:nvPr/>
          </p:nvSpPr>
          <p:spPr bwMode="auto">
            <a:xfrm>
              <a:off x="3965047" y="3429358"/>
              <a:ext cx="343249" cy="343265"/>
            </a:xfrm>
            <a:prstGeom prst="star5">
              <a:avLst/>
            </a:prstGeom>
            <a:no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
          <p:nvSpPr>
            <p:cNvPr id="201757" name="Organigramme : Bande perforée 21"/>
            <p:cNvSpPr>
              <a:spLocks noChangeArrowheads="1"/>
            </p:cNvSpPr>
            <p:nvPr/>
          </p:nvSpPr>
          <p:spPr bwMode="auto">
            <a:xfrm>
              <a:off x="5054600" y="3553825"/>
              <a:ext cx="323850" cy="171450"/>
            </a:xfrm>
            <a:prstGeom prst="flowChartPunchedTape">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58" name="Triangle isocèle 22"/>
            <p:cNvSpPr>
              <a:spLocks noChangeArrowheads="1"/>
            </p:cNvSpPr>
            <p:nvPr/>
          </p:nvSpPr>
          <p:spPr bwMode="auto">
            <a:xfrm>
              <a:off x="6391275" y="3452225"/>
              <a:ext cx="295275" cy="247650"/>
            </a:xfrm>
            <a:prstGeom prst="triangle">
              <a:avLst>
                <a:gd name="adj"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201759" name="Picture 32" descr="TIP5e¦ütu-fin E¦üTU1"/>
            <p:cNvPicPr>
              <a:picLocks noChangeAspect="1" noChangeArrowheads="1"/>
            </p:cNvPicPr>
            <p:nvPr/>
          </p:nvPicPr>
          <p:blipFill>
            <a:blip r:embed="rId4">
              <a:extLst>
                <a:ext uri="{28A0092B-C50C-407E-A947-70E740481C1C}">
                  <a14:useLocalDpi xmlns:a14="http://schemas.microsoft.com/office/drawing/2010/main" val="0"/>
                </a:ext>
              </a:extLst>
            </a:blip>
            <a:srcRect l="8157" t="25005" r="23033" b="14983"/>
            <a:stretch>
              <a:fillRect/>
            </a:stretch>
          </p:blipFill>
          <p:spPr bwMode="auto">
            <a:xfrm>
              <a:off x="516631" y="3261265"/>
              <a:ext cx="646779" cy="57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1760" name="Picture 46" descr="TIP3fab 7"/>
            <p:cNvPicPr>
              <a:picLocks noChangeAspect="1" noChangeArrowheads="1"/>
            </p:cNvPicPr>
            <p:nvPr/>
          </p:nvPicPr>
          <p:blipFill>
            <a:blip r:embed="rId5" cstate="print">
              <a:extLst>
                <a:ext uri="{28A0092B-C50C-407E-A947-70E740481C1C}">
                  <a14:useLocalDpi xmlns:a14="http://schemas.microsoft.com/office/drawing/2010/main" val="0"/>
                </a:ext>
              </a:extLst>
            </a:blip>
            <a:srcRect l="6909" t="46571" r="26497" b="12415"/>
            <a:stretch>
              <a:fillRect/>
            </a:stretch>
          </p:blipFill>
          <p:spPr bwMode="auto">
            <a:xfrm>
              <a:off x="7458306" y="3375644"/>
              <a:ext cx="613348" cy="45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1761" name="Connecteur droit avec flèche 25"/>
            <p:cNvCxnSpPr>
              <a:cxnSpLocks noChangeShapeType="1"/>
            </p:cNvCxnSpPr>
            <p:nvPr/>
          </p:nvCxnSpPr>
          <p:spPr bwMode="auto">
            <a:xfrm rot="5400000">
              <a:off x="885361" y="390254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1762" name="Connecteur droit avec flèche 26"/>
            <p:cNvCxnSpPr>
              <a:cxnSpLocks noChangeShapeType="1"/>
            </p:cNvCxnSpPr>
            <p:nvPr/>
          </p:nvCxnSpPr>
          <p:spPr bwMode="auto">
            <a:xfrm rot="5400000">
              <a:off x="2615102" y="387206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1763" name="Connecteur droit avec flèche 27"/>
            <p:cNvCxnSpPr>
              <a:cxnSpLocks noChangeShapeType="1"/>
            </p:cNvCxnSpPr>
            <p:nvPr/>
          </p:nvCxnSpPr>
          <p:spPr bwMode="auto">
            <a:xfrm rot="5400000">
              <a:off x="4032422" y="38568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1764" name="Connecteur droit avec flèche 28"/>
            <p:cNvCxnSpPr>
              <a:cxnSpLocks noChangeShapeType="1"/>
            </p:cNvCxnSpPr>
            <p:nvPr/>
          </p:nvCxnSpPr>
          <p:spPr bwMode="auto">
            <a:xfrm rot="5400000">
              <a:off x="5160182" y="384158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1765" name="Connecteur droit avec flèche 29"/>
            <p:cNvCxnSpPr>
              <a:cxnSpLocks noChangeShapeType="1"/>
            </p:cNvCxnSpPr>
            <p:nvPr/>
          </p:nvCxnSpPr>
          <p:spPr bwMode="auto">
            <a:xfrm rot="5400000">
              <a:off x="644796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1766" name="Connecteur droit avec flèche 30"/>
            <p:cNvCxnSpPr>
              <a:cxnSpLocks noChangeShapeType="1"/>
            </p:cNvCxnSpPr>
            <p:nvPr/>
          </p:nvCxnSpPr>
          <p:spPr bwMode="auto">
            <a:xfrm rot="5400000">
              <a:off x="772050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32" name="Espace réservé du contenu 2"/>
          <p:cNvSpPr>
            <a:spLocks noGrp="1"/>
          </p:cNvSpPr>
          <p:nvPr>
            <p:ph idx="1"/>
          </p:nvPr>
        </p:nvSpPr>
        <p:spPr>
          <a:xfrm>
            <a:off x="260350" y="2392363"/>
            <a:ext cx="9224963" cy="4211637"/>
          </a:xfrm>
        </p:spPr>
        <p:txBody>
          <a:bodyPr/>
          <a:lstStyle/>
          <a:p>
            <a:pPr marL="0" indent="0">
              <a:buFontTx/>
              <a:buNone/>
              <a:defRPr/>
            </a:pPr>
            <a:r>
              <a:rPr lang="fr-FR" sz="1500" dirty="0"/>
              <a:t>Le graphique de défilement met en évidence les temps à valeur ajoutée comparés aux temps sans valeur ajoutée. L’animateur soulignera que la zone rouge est directement liée aux zones jaunes sur le graphique des en-cours.</a:t>
            </a:r>
          </a:p>
          <a:p>
            <a:pPr marL="0" indent="0">
              <a:buFontTx/>
              <a:buNone/>
              <a:defRPr/>
            </a:pPr>
            <a:r>
              <a:rPr lang="fr-FR" sz="1500" dirty="0"/>
              <a:t>L’importance d’une zone rouge avant une opération oblige à s’interroger sur les causes de la durée d’attente. La réduction de cette durée est un élément clé d’un projet Lean.</a:t>
            </a:r>
          </a:p>
          <a:p>
            <a:pPr marL="0" indent="0">
              <a:buFontTx/>
              <a:buNone/>
              <a:defRPr/>
            </a:pPr>
            <a:r>
              <a:rPr lang="fr-FR" sz="1500" dirty="0"/>
              <a:t>Les actions qui peuvent être envisagées dans le cas présent sont :</a:t>
            </a:r>
          </a:p>
          <a:p>
            <a:pPr marL="180975" indent="-180975">
              <a:defRPr/>
            </a:pPr>
            <a:r>
              <a:rPr lang="fr-FR" sz="1500" dirty="0"/>
              <a:t>Le rapprochement des ateliers</a:t>
            </a:r>
          </a:p>
          <a:p>
            <a:pPr marL="180975" indent="-180975">
              <a:defRPr/>
            </a:pPr>
            <a:r>
              <a:rPr lang="fr-FR" sz="1500" dirty="0"/>
              <a:t>La diminution des lots de transferts (elle-même conditionnée par le rapprochement des ateliers)</a:t>
            </a:r>
          </a:p>
          <a:p>
            <a:pPr marL="180975" indent="-180975">
              <a:defRPr/>
            </a:pPr>
            <a:r>
              <a:rPr lang="fr-FR" sz="1500" dirty="0"/>
              <a:t>La suppression des goulets d’étranglement.</a:t>
            </a:r>
          </a:p>
          <a:p>
            <a:pPr marL="180975" indent="-180975">
              <a:defRPr/>
            </a:pPr>
            <a:r>
              <a:rPr lang="fr-FR" sz="1500" dirty="0"/>
              <a:t>L’intégration d’une opération avec une autre opération : le contrôle fait par l’atelier triangle, par exemple.</a:t>
            </a:r>
          </a:p>
          <a:p>
            <a:pPr marL="180975" indent="-180975">
              <a:defRPr/>
            </a:pPr>
            <a:r>
              <a:rPr lang="fr-FR" sz="1500" dirty="0"/>
              <a:t>Un meilleur pilotage des flux (flux tiré plutôt que flux poussé).</a:t>
            </a:r>
          </a:p>
          <a:p>
            <a:pPr marL="0" indent="0">
              <a:buFontTx/>
              <a:buNone/>
              <a:defRPr/>
            </a:pPr>
            <a:r>
              <a:rPr lang="fr-FR" sz="1500" dirty="0"/>
              <a:t>Ajoutons que l’analyse d’un seul OF ne permet pas dans la simulation de montrer les </a:t>
            </a:r>
            <a:r>
              <a:rPr lang="fr-FR" sz="1500" u="sng" dirty="0"/>
              <a:t>fluctuations</a:t>
            </a:r>
            <a:r>
              <a:rPr lang="fr-FR" sz="1500" dirty="0"/>
              <a:t> des durées d’attente. Ces fluctuations contribuent à rendre très difficile le respect des dates de livraison.</a:t>
            </a:r>
          </a:p>
          <a:p>
            <a:pPr marL="0" indent="0">
              <a:buFontTx/>
              <a:buNone/>
              <a:defRPr/>
            </a:pPr>
            <a:r>
              <a:rPr lang="fr-FR" sz="1500" dirty="0"/>
              <a:t>Une remarque analogue peut être faite concernant la gestion des priorités : si l’on ne gère pas correctement les priorités dans la file d’attente, on rend imprévisible le délai de réalisation d’un OF. Ce paramètre n’étant pas suivi dans la simulation, l’animateur pourra l’évoquer en plus s’il le souhaite.</a:t>
            </a:r>
          </a:p>
        </p:txBody>
      </p:sp>
      <p:grpSp>
        <p:nvGrpSpPr>
          <p:cNvPr id="201736" name="Groupe 32"/>
          <p:cNvGrpSpPr>
            <a:grpSpLocks/>
          </p:cNvGrpSpPr>
          <p:nvPr/>
        </p:nvGrpSpPr>
        <p:grpSpPr bwMode="auto">
          <a:xfrm>
            <a:off x="7583488" y="508000"/>
            <a:ext cx="1952625" cy="1655763"/>
            <a:chOff x="3178623" y="530360"/>
            <a:chExt cx="2510799" cy="2245016"/>
          </a:xfrm>
        </p:grpSpPr>
        <p:pic>
          <p:nvPicPr>
            <p:cNvPr id="20174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8623" y="530360"/>
              <a:ext cx="2510799" cy="224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41" name="Rectangle 34"/>
            <p:cNvSpPr>
              <a:spLocks noChangeArrowheads="1"/>
            </p:cNvSpPr>
            <p:nvPr/>
          </p:nvSpPr>
          <p:spPr bwMode="auto">
            <a:xfrm>
              <a:off x="3374265" y="1599306"/>
              <a:ext cx="492885" cy="1004552"/>
            </a:xfrm>
            <a:prstGeom prst="rect">
              <a:avLst/>
            </a:prstGeom>
            <a:solidFill>
              <a:srgbClr val="FFFF00">
                <a:alpha val="47058"/>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1742" name="Rectangle 35"/>
            <p:cNvSpPr>
              <a:spLocks noChangeArrowheads="1"/>
            </p:cNvSpPr>
            <p:nvPr/>
          </p:nvSpPr>
          <p:spPr bwMode="auto">
            <a:xfrm>
              <a:off x="5178917" y="2035175"/>
              <a:ext cx="336058" cy="128654"/>
            </a:xfrm>
            <a:prstGeom prst="rect">
              <a:avLst/>
            </a:prstGeom>
            <a:solidFill>
              <a:srgbClr val="FFFF00">
                <a:alpha val="47058"/>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37" name="Espace réservé du contenu 2"/>
          <p:cNvSpPr txBox="1">
            <a:spLocks/>
          </p:cNvSpPr>
          <p:nvPr/>
        </p:nvSpPr>
        <p:spPr bwMode="auto">
          <a:xfrm>
            <a:off x="2914650" y="2032000"/>
            <a:ext cx="2774950" cy="287338"/>
          </a:xfrm>
          <a:prstGeom prst="rect">
            <a:avLst/>
          </a:prstGeom>
          <a:noFill/>
          <a:ln w="9525">
            <a:noFill/>
            <a:miter lim="800000"/>
            <a:headEnd/>
            <a:tailEnd/>
          </a:ln>
        </p:spPr>
        <p:txBody>
          <a:bodyPr anchor="ctr"/>
          <a:lstStyle/>
          <a:p>
            <a:pPr algn="ctr">
              <a:spcBef>
                <a:spcPct val="20000"/>
              </a:spcBef>
              <a:defRPr/>
            </a:pPr>
            <a:r>
              <a:rPr lang="fr-FR" sz="1500" kern="0" dirty="0">
                <a:solidFill>
                  <a:srgbClr val="0033CC"/>
                </a:solidFill>
                <a:latin typeface="Calibri" panose="020F0502020204030204" pitchFamily="34" charset="0"/>
              </a:rPr>
              <a:t>Graphique de défilement</a:t>
            </a:r>
          </a:p>
        </p:txBody>
      </p:sp>
      <p:sp>
        <p:nvSpPr>
          <p:cNvPr id="38" name="Espace réservé du contenu 2"/>
          <p:cNvSpPr txBox="1">
            <a:spLocks/>
          </p:cNvSpPr>
          <p:nvPr/>
        </p:nvSpPr>
        <p:spPr bwMode="auto">
          <a:xfrm>
            <a:off x="7727950" y="2120900"/>
            <a:ext cx="1504950" cy="220663"/>
          </a:xfrm>
          <a:prstGeom prst="rect">
            <a:avLst/>
          </a:prstGeom>
          <a:noFill/>
          <a:ln w="9525">
            <a:noFill/>
            <a:miter lim="800000"/>
            <a:headEnd/>
            <a:tailEnd/>
          </a:ln>
        </p:spPr>
        <p:txBody>
          <a:bodyPr anchor="ctr"/>
          <a:lstStyle/>
          <a:p>
            <a:pPr algn="ctr">
              <a:spcBef>
                <a:spcPct val="20000"/>
              </a:spcBef>
              <a:defRPr/>
            </a:pPr>
            <a:r>
              <a:rPr lang="fr-FR" sz="1500" kern="0" dirty="0">
                <a:solidFill>
                  <a:srgbClr val="0033CC"/>
                </a:solidFill>
                <a:latin typeface="Calibri" panose="020F0502020204030204" pitchFamily="34" charset="0"/>
              </a:rPr>
              <a:t>En-cours</a:t>
            </a:r>
          </a:p>
        </p:txBody>
      </p:sp>
      <p:pic>
        <p:nvPicPr>
          <p:cNvPr id="39" name="Picture 2" descr="C:\Users\BertrandS\Dropbox\Jeux\00. CONCEPTION DES JEUX\photos\Bureau Une Femme 29\iStock_000002139332_Medium ALLEGE.jpg"/>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3778" name="Titre 1"/>
          <p:cNvSpPr>
            <a:spLocks noGrp="1"/>
          </p:cNvSpPr>
          <p:nvPr>
            <p:ph type="title"/>
          </p:nvPr>
        </p:nvSpPr>
        <p:spPr/>
        <p:txBody>
          <a:bodyPr/>
          <a:lstStyle/>
          <a:p>
            <a:r>
              <a:rPr lang="fr-FR" altLang="fr-FR"/>
              <a:t>Commentaires sur le projet FLUX</a:t>
            </a:r>
          </a:p>
        </p:txBody>
      </p:sp>
      <p:sp>
        <p:nvSpPr>
          <p:cNvPr id="20377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0378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B880F3FE-5FDA-4039-9CC4-7A0C99B3B354}" type="slidenum">
              <a:rPr lang="fr-FR" altLang="fr-FR" smtClean="0">
                <a:latin typeface="Calibri" panose="020F0502020204030204" pitchFamily="34" charset="0"/>
              </a:rPr>
              <a:pPr>
                <a:spcBef>
                  <a:spcPct val="0"/>
                </a:spcBef>
                <a:buFontTx/>
                <a:buNone/>
              </a:pPr>
              <a:t>93</a:t>
            </a:fld>
            <a:endParaRPr lang="fr-FR" altLang="fr-FR" dirty="0">
              <a:latin typeface="Calibri" panose="020F0502020204030204" pitchFamily="34" charset="0"/>
            </a:endParaRPr>
          </a:p>
        </p:txBody>
      </p:sp>
      <p:sp>
        <p:nvSpPr>
          <p:cNvPr id="32" name="Espace réservé du contenu 2"/>
          <p:cNvSpPr>
            <a:spLocks noGrp="1"/>
          </p:cNvSpPr>
          <p:nvPr>
            <p:ph idx="1"/>
          </p:nvPr>
        </p:nvSpPr>
        <p:spPr>
          <a:xfrm>
            <a:off x="30481" y="466408"/>
            <a:ext cx="7914639" cy="2309812"/>
          </a:xfrm>
        </p:spPr>
        <p:txBody>
          <a:bodyPr/>
          <a:lstStyle/>
          <a:p>
            <a:pPr marL="0" indent="0">
              <a:buFontTx/>
              <a:buNone/>
              <a:defRPr/>
            </a:pPr>
            <a:r>
              <a:rPr lang="fr-FR" sz="1500" dirty="0"/>
              <a:t>Le graphique du takt time a déjà été (rapidement) commenté au moment de son calcul. L’équipe l’utilisera pour expliquer pourquoi certains ateliers sont goulets d’étranglement (dans le cas présent, surtout le triangle). D’autres au contraire ont un rythme de production trop rapide, ce qui a pour effet de saturer les goulets (pour les postes en amont).</a:t>
            </a:r>
          </a:p>
          <a:p>
            <a:pPr marL="0" indent="0">
              <a:buFontTx/>
              <a:buNone/>
              <a:defRPr/>
            </a:pPr>
            <a:r>
              <a:rPr lang="fr-FR" sz="1500" dirty="0"/>
              <a:t>L’animateur pourra faire une synthèse de deux façons (voir tableau ci-dessous) :</a:t>
            </a:r>
          </a:p>
          <a:p>
            <a:pPr marL="85725" indent="-85725">
              <a:defRPr/>
            </a:pPr>
            <a:r>
              <a:rPr lang="fr-FR" sz="1500" dirty="0"/>
              <a:t>Discuter uniquement des actions applicables dans le jeu</a:t>
            </a:r>
          </a:p>
          <a:p>
            <a:pPr marL="85725" indent="-85725">
              <a:defRPr/>
            </a:pPr>
            <a:r>
              <a:rPr lang="fr-FR" sz="1500" dirty="0"/>
              <a:t>Compléter la discussion en évoquant les actions envisageables dans une entreprise,</a:t>
            </a:r>
            <a:br>
              <a:rPr lang="fr-FR" sz="1500" dirty="0"/>
            </a:br>
            <a:r>
              <a:rPr lang="fr-FR" sz="1500" dirty="0"/>
              <a:t>mais qui ne peuvent pas être appliquées dans le jeu.</a:t>
            </a:r>
          </a:p>
        </p:txBody>
      </p:sp>
      <p:grpSp>
        <p:nvGrpSpPr>
          <p:cNvPr id="203783" name="Groupe 48"/>
          <p:cNvGrpSpPr>
            <a:grpSpLocks/>
          </p:cNvGrpSpPr>
          <p:nvPr/>
        </p:nvGrpSpPr>
        <p:grpSpPr bwMode="auto">
          <a:xfrm>
            <a:off x="7708141" y="1077808"/>
            <a:ext cx="1874838" cy="3073400"/>
            <a:chOff x="7493000" y="393700"/>
            <a:chExt cx="2068513" cy="3390900"/>
          </a:xfrm>
        </p:grpSpPr>
        <p:sp>
          <p:nvSpPr>
            <p:cNvPr id="37" name="Espace réservé du contenu 2"/>
            <p:cNvSpPr txBox="1">
              <a:spLocks/>
            </p:cNvSpPr>
            <p:nvPr/>
          </p:nvSpPr>
          <p:spPr bwMode="auto">
            <a:xfrm>
              <a:off x="7950140" y="3378252"/>
              <a:ext cx="1522046" cy="406348"/>
            </a:xfrm>
            <a:prstGeom prst="rect">
              <a:avLst/>
            </a:prstGeom>
            <a:noFill/>
            <a:ln w="9525">
              <a:noFill/>
              <a:miter lim="800000"/>
              <a:headEnd/>
              <a:tailEnd/>
            </a:ln>
          </p:spPr>
          <p:txBody>
            <a:bodyPr anchor="ctr"/>
            <a:lstStyle/>
            <a:p>
              <a:pPr algn="ctr">
                <a:spcBef>
                  <a:spcPct val="20000"/>
                </a:spcBef>
                <a:defRPr/>
              </a:pPr>
              <a:r>
                <a:rPr lang="fr-FR" sz="1500" kern="0" dirty="0">
                  <a:solidFill>
                    <a:srgbClr val="0033CC"/>
                  </a:solidFill>
                  <a:latin typeface="Calibri" panose="020F0502020204030204" pitchFamily="34" charset="0"/>
                </a:rPr>
                <a:t>Graphique du Takt time</a:t>
              </a:r>
            </a:p>
          </p:txBody>
        </p:sp>
        <p:grpSp>
          <p:nvGrpSpPr>
            <p:cNvPr id="203787" name="Groupe 38"/>
            <p:cNvGrpSpPr>
              <a:grpSpLocks/>
            </p:cNvGrpSpPr>
            <p:nvPr/>
          </p:nvGrpSpPr>
          <p:grpSpPr bwMode="auto">
            <a:xfrm>
              <a:off x="7493000" y="393700"/>
              <a:ext cx="2068513" cy="2982106"/>
              <a:chOff x="7493000" y="393700"/>
              <a:chExt cx="2068513" cy="2982106"/>
            </a:xfrm>
          </p:grpSpPr>
          <p:pic>
            <p:nvPicPr>
              <p:cNvPr id="2037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3000" y="393700"/>
                <a:ext cx="2068513" cy="298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9" name="Rectangle 40"/>
              <p:cNvSpPr>
                <a:spLocks noChangeArrowheads="1"/>
              </p:cNvSpPr>
              <p:nvPr/>
            </p:nvSpPr>
            <p:spPr bwMode="auto">
              <a:xfrm>
                <a:off x="7848600" y="2289900"/>
                <a:ext cx="165100" cy="720001"/>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0" name="Rectangle 41"/>
              <p:cNvSpPr>
                <a:spLocks noChangeArrowheads="1"/>
              </p:cNvSpPr>
              <p:nvPr/>
            </p:nvSpPr>
            <p:spPr bwMode="auto">
              <a:xfrm>
                <a:off x="8280400" y="1502513"/>
                <a:ext cx="165100" cy="1507387"/>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1" name="Rectangle 42"/>
              <p:cNvSpPr>
                <a:spLocks noChangeArrowheads="1"/>
              </p:cNvSpPr>
              <p:nvPr/>
            </p:nvSpPr>
            <p:spPr bwMode="auto">
              <a:xfrm>
                <a:off x="8716314" y="2079807"/>
                <a:ext cx="165100" cy="930093"/>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2" name="Rectangle 43"/>
              <p:cNvSpPr>
                <a:spLocks noChangeArrowheads="1"/>
              </p:cNvSpPr>
              <p:nvPr/>
            </p:nvSpPr>
            <p:spPr bwMode="auto">
              <a:xfrm>
                <a:off x="9148114" y="1569900"/>
                <a:ext cx="165100" cy="1440000"/>
              </a:xfrm>
              <a:prstGeom prst="rect">
                <a:avLst/>
              </a:prstGeom>
              <a:solidFill>
                <a:srgbClr val="00B0F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3" name="Rectangle 44"/>
              <p:cNvSpPr>
                <a:spLocks noChangeArrowheads="1"/>
              </p:cNvSpPr>
              <p:nvPr/>
            </p:nvSpPr>
            <p:spPr bwMode="auto">
              <a:xfrm>
                <a:off x="8024813" y="2184100"/>
                <a:ext cx="165100" cy="828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4" name="Rectangle 45"/>
              <p:cNvSpPr>
                <a:spLocks noChangeArrowheads="1"/>
              </p:cNvSpPr>
              <p:nvPr/>
            </p:nvSpPr>
            <p:spPr bwMode="auto">
              <a:xfrm>
                <a:off x="8456613" y="1884751"/>
                <a:ext cx="165100" cy="1127348"/>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5" name="Rectangle 46"/>
              <p:cNvSpPr>
                <a:spLocks noChangeArrowheads="1"/>
              </p:cNvSpPr>
              <p:nvPr/>
            </p:nvSpPr>
            <p:spPr bwMode="auto">
              <a:xfrm>
                <a:off x="8892527" y="1788100"/>
                <a:ext cx="165100" cy="1224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3796" name="Rectangle 47"/>
              <p:cNvSpPr>
                <a:spLocks noChangeArrowheads="1"/>
              </p:cNvSpPr>
              <p:nvPr/>
            </p:nvSpPr>
            <p:spPr bwMode="auto">
              <a:xfrm>
                <a:off x="9324327" y="2184100"/>
                <a:ext cx="165100" cy="8280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graphicFrame>
        <p:nvGraphicFramePr>
          <p:cNvPr id="50" name="Tableau 49"/>
          <p:cNvGraphicFramePr>
            <a:graphicFrameLocks noGrp="1"/>
          </p:cNvGraphicFramePr>
          <p:nvPr>
            <p:extLst>
              <p:ext uri="{D42A27DB-BD31-4B8C-83A1-F6EECF244321}">
                <p14:modId xmlns:p14="http://schemas.microsoft.com/office/powerpoint/2010/main" val="33346375"/>
              </p:ext>
            </p:extLst>
          </p:nvPr>
        </p:nvGraphicFramePr>
        <p:xfrm>
          <a:off x="151128" y="2697763"/>
          <a:ext cx="7464427" cy="3805177"/>
        </p:xfrm>
        <a:graphic>
          <a:graphicData uri="http://schemas.openxmlformats.org/drawingml/2006/table">
            <a:tbl>
              <a:tblPr firstRow="1" bandRow="1">
                <a:tableStyleId>{5C22544A-7EE6-4342-B048-85BDC9FD1C3A}</a:tableStyleId>
              </a:tblPr>
              <a:tblGrid>
                <a:gridCol w="793118">
                  <a:extLst>
                    <a:ext uri="{9D8B030D-6E8A-4147-A177-3AD203B41FA5}">
                      <a16:colId xmlns:a16="http://schemas.microsoft.com/office/drawing/2014/main" val="20000"/>
                    </a:ext>
                  </a:extLst>
                </a:gridCol>
                <a:gridCol w="6671309">
                  <a:extLst>
                    <a:ext uri="{9D8B030D-6E8A-4147-A177-3AD203B41FA5}">
                      <a16:colId xmlns:a16="http://schemas.microsoft.com/office/drawing/2014/main" val="20001"/>
                    </a:ext>
                  </a:extLst>
                </a:gridCol>
              </a:tblGrid>
              <a:tr h="231129">
                <a:tc rowSpan="9">
                  <a:txBody>
                    <a:bodyPr/>
                    <a:lstStyle/>
                    <a:p>
                      <a:pPr marL="0" marR="0" indent="0" algn="ctr"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rgbClr val="0033CC"/>
                          </a:solidFill>
                          <a:latin typeface="Calibri" panose="020F0502020204030204" pitchFamily="34" charset="0"/>
                        </a:rPr>
                        <a:t>Actions applicables</a:t>
                      </a:r>
                      <a:r>
                        <a:rPr lang="fr-FR" sz="1400" b="0" baseline="0" dirty="0">
                          <a:solidFill>
                            <a:srgbClr val="0033CC"/>
                          </a:solidFill>
                          <a:latin typeface="Calibri" panose="020F0502020204030204" pitchFamily="34" charset="0"/>
                        </a:rPr>
                        <a:t> dans la simulation</a:t>
                      </a:r>
                      <a:endParaRPr lang="fr-FR" sz="1400" b="0" dirty="0">
                        <a:solidFill>
                          <a:srgbClr val="0033CC"/>
                        </a:solidFill>
                        <a:latin typeface="Calibri" panose="020F0502020204030204" pitchFamily="34" charset="0"/>
                      </a:endParaRPr>
                    </a:p>
                  </a:txBody>
                  <a:tcPr marL="108000" marR="108000" marT="18000" marB="18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Augmentation</a:t>
                      </a:r>
                      <a:r>
                        <a:rPr lang="fr-FR" sz="1400" b="0" baseline="0" dirty="0">
                          <a:solidFill>
                            <a:schemeClr val="tx1"/>
                          </a:solidFill>
                          <a:latin typeface="Calibri" panose="020F0502020204030204" pitchFamily="34" charset="0"/>
                        </a:rPr>
                        <a:t> du</a:t>
                      </a:r>
                      <a:r>
                        <a:rPr lang="fr-FR" sz="1400" b="0" dirty="0">
                          <a:solidFill>
                            <a:schemeClr val="tx1"/>
                          </a:solidFill>
                          <a:latin typeface="Calibri" panose="020F0502020204030204" pitchFamily="34" charset="0"/>
                        </a:rPr>
                        <a:t> nombre de postes par atelier</a:t>
                      </a: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31129">
                <a:tc vMerge="1">
                  <a:txBody>
                    <a:bodyPr/>
                    <a:lstStyle/>
                    <a:p>
                      <a:endParaRPr lang="fr-FR"/>
                    </a:p>
                  </a:txBody>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Augmentation du nombre de personnes (un manœuvre qui</a:t>
                      </a:r>
                      <a:r>
                        <a:rPr lang="fr-FR" sz="1400" b="0" baseline="0" dirty="0">
                          <a:solidFill>
                            <a:schemeClr val="tx1"/>
                          </a:solidFill>
                          <a:latin typeface="Calibri" panose="020F0502020204030204" pitchFamily="34" charset="0"/>
                        </a:rPr>
                        <a:t> transporte les pièces)</a:t>
                      </a:r>
                      <a:endParaRPr lang="fr-FR" sz="1400" b="0" dirty="0">
                        <a:solidFill>
                          <a:schemeClr val="tx1"/>
                        </a:solidFill>
                        <a:latin typeface="Calibri" panose="020F0502020204030204" pitchFamily="34" charset="0"/>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31129">
                <a:tc vMerge="1">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endParaRPr lang="fr-FR" sz="1400" b="0" dirty="0">
                        <a:solidFill>
                          <a:schemeClr val="tx1"/>
                        </a:solidFill>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Réduction des arrêts (pannes, etc.)</a:t>
                      </a: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1129">
                <a:tc vMerge="1">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endParaRPr lang="fr-FR" sz="1400" b="0" dirty="0">
                        <a:solidFill>
                          <a:schemeClr val="tx1"/>
                        </a:solidFill>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Amélioration de la qualité</a:t>
                      </a: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31129">
                <a:tc vMerge="1">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endParaRPr lang="fr-FR" sz="1400" b="0" dirty="0">
                        <a:solidFill>
                          <a:schemeClr val="tx1"/>
                        </a:solidFill>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Réduction du temps de changement</a:t>
                      </a:r>
                      <a:r>
                        <a:rPr lang="fr-FR" sz="1400" b="0" baseline="0" dirty="0">
                          <a:solidFill>
                            <a:schemeClr val="tx1"/>
                          </a:solidFill>
                          <a:latin typeface="Calibri" panose="020F0502020204030204" pitchFamily="34" charset="0"/>
                        </a:rPr>
                        <a:t> de couleur</a:t>
                      </a:r>
                      <a:endParaRPr lang="fr-FR" sz="1400" b="0" dirty="0">
                        <a:solidFill>
                          <a:schemeClr val="tx1"/>
                        </a:solidFill>
                        <a:latin typeface="Calibri" panose="020F0502020204030204" pitchFamily="34" charset="0"/>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31129">
                <a:tc vMerge="1">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endParaRPr lang="fr-FR" sz="1400" b="0" dirty="0">
                        <a:solidFill>
                          <a:schemeClr val="tx1"/>
                        </a:solidFill>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Amélioration</a:t>
                      </a:r>
                      <a:r>
                        <a:rPr lang="fr-FR" sz="1400" b="0" baseline="0" dirty="0">
                          <a:solidFill>
                            <a:schemeClr val="tx1"/>
                          </a:solidFill>
                          <a:latin typeface="Calibri" panose="020F0502020204030204" pitchFamily="34" charset="0"/>
                        </a:rPr>
                        <a:t> de la cadence (actions de type Kaizen)</a:t>
                      </a:r>
                      <a:endParaRPr lang="fr-FR" sz="1400" b="0" dirty="0">
                        <a:solidFill>
                          <a:schemeClr val="tx1"/>
                        </a:solidFill>
                        <a:latin typeface="Calibri" panose="020F0502020204030204" pitchFamily="34" charset="0"/>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31129">
                <a:tc vMerge="1">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endParaRPr lang="fr-FR" sz="1400" b="0" dirty="0">
                        <a:solidFill>
                          <a:schemeClr val="tx1"/>
                        </a:solidFill>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Développement de la polyvalence</a:t>
                      </a: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31129">
                <a:tc vMerge="1">
                  <a:txBody>
                    <a:bodyPr/>
                    <a:lstStyle/>
                    <a:p>
                      <a:pPr algn="l">
                        <a:lnSpc>
                          <a:spcPts val="2000"/>
                        </a:lnSpc>
                        <a:buFont typeface="Arial" pitchFamily="34" charset="0"/>
                        <a:buNone/>
                      </a:pPr>
                      <a:endParaRPr lang="fr-FR" sz="1400" b="0" dirty="0">
                        <a:solidFill>
                          <a:schemeClr val="tx1"/>
                        </a:solidFill>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ts val="2000"/>
                        </a:lnSpc>
                        <a:buFont typeface="Arial" pitchFamily="34" charset="0"/>
                        <a:buNone/>
                      </a:pPr>
                      <a:r>
                        <a:rPr lang="fr-FR" sz="1400" b="0" dirty="0">
                          <a:solidFill>
                            <a:schemeClr val="tx1"/>
                          </a:solidFill>
                          <a:latin typeface="Calibri" panose="020F0502020204030204" pitchFamily="34" charset="0"/>
                        </a:rPr>
                        <a:t>Augmentation de la taille des séries</a:t>
                      </a:r>
                      <a:r>
                        <a:rPr lang="fr-FR" sz="1400" b="0" baseline="0" dirty="0">
                          <a:solidFill>
                            <a:schemeClr val="tx1"/>
                          </a:solidFill>
                          <a:latin typeface="Calibri" panose="020F0502020204030204" pitchFamily="34" charset="0"/>
                        </a:rPr>
                        <a:t> de la même couleur (mais avec en contrepartie le ralentissement du flux et la désorganisation des priorités des OF)</a:t>
                      </a:r>
                      <a:endParaRPr lang="fr-FR" sz="1400" b="0" dirty="0">
                        <a:solidFill>
                          <a:schemeClr val="tx1"/>
                        </a:solidFill>
                        <a:latin typeface="Calibri" panose="020F0502020204030204" pitchFamily="34" charset="0"/>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17709">
                <a:tc vMerge="1">
                  <a:txBody>
                    <a:bodyPr/>
                    <a:lstStyle/>
                    <a:p>
                      <a:pPr algn="l">
                        <a:buFont typeface="Arial" pitchFamily="34" charset="0"/>
                        <a:buNone/>
                      </a:pPr>
                      <a:endParaRPr lang="fr-FR" sz="1400" dirty="0"/>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Font typeface="Arial" pitchFamily="34" charset="0"/>
                        <a:buNone/>
                      </a:pPr>
                      <a:r>
                        <a:rPr lang="fr-FR" sz="1400" dirty="0">
                          <a:latin typeface="Calibri" panose="020F0502020204030204" pitchFamily="34" charset="0"/>
                        </a:rPr>
                        <a:t>Réaffectation</a:t>
                      </a:r>
                      <a:r>
                        <a:rPr lang="fr-FR" sz="1400" baseline="0" dirty="0">
                          <a:latin typeface="Calibri" panose="020F0502020204030204" pitchFamily="34" charset="0"/>
                        </a:rPr>
                        <a:t> du personnel inoccupé vers d’autres tâches</a:t>
                      </a:r>
                      <a:endParaRPr lang="fr-FR" sz="1400" dirty="0">
                        <a:latin typeface="Calibri" panose="020F0502020204030204" pitchFamily="34" charset="0"/>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1467">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400" dirty="0">
                          <a:solidFill>
                            <a:srgbClr val="0033CC"/>
                          </a:solidFill>
                          <a:latin typeface="Calibri" panose="020F0502020204030204" pitchFamily="34" charset="0"/>
                        </a:rPr>
                        <a:t>Actions applicables</a:t>
                      </a:r>
                      <a:r>
                        <a:rPr lang="fr-FR" sz="1400" baseline="0" dirty="0">
                          <a:solidFill>
                            <a:srgbClr val="0033CC"/>
                          </a:solidFill>
                          <a:latin typeface="Calibri" panose="020F0502020204030204" pitchFamily="34" charset="0"/>
                        </a:rPr>
                        <a:t> en entreprise</a:t>
                      </a:r>
                      <a:endParaRPr lang="fr-FR" sz="1400" dirty="0">
                        <a:solidFill>
                          <a:srgbClr val="0033CC"/>
                        </a:solidFill>
                        <a:latin typeface="Calibri" panose="020F0502020204030204" pitchFamily="34" charset="0"/>
                      </a:endParaRPr>
                    </a:p>
                  </a:txBody>
                  <a:tcPr marL="108000" marR="108000" marT="18000" marB="1800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b="0" dirty="0">
                          <a:solidFill>
                            <a:schemeClr val="tx1"/>
                          </a:solidFill>
                          <a:latin typeface="Calibri" panose="020F0502020204030204" pitchFamily="34" charset="0"/>
                        </a:rPr>
                        <a:t>Action sur les horaires de travail</a:t>
                      </a:r>
                      <a:endParaRPr lang="fr-FR" sz="1400" dirty="0">
                        <a:latin typeface="Calibri" panose="020F0502020204030204" pitchFamily="34" charset="0"/>
                      </a:endParaRP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1467">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a:latin typeface="Calibri" panose="020F0502020204030204" pitchFamily="34" charset="0"/>
                        </a:rPr>
                        <a:t>Sous-traitance</a:t>
                      </a: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71467">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a:latin typeface="Calibri" panose="020F0502020204030204" pitchFamily="34" charset="0"/>
                        </a:rPr>
                        <a:t>Actions sur la demande (étalement des commandes, stocks d’anticipation, etc.).</a:t>
                      </a:r>
                    </a:p>
                  </a:txBody>
                  <a:tcPr marL="108000" marR="10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pic>
        <p:nvPicPr>
          <p:cNvPr id="21"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826" name="Titre 1"/>
          <p:cNvSpPr>
            <a:spLocks noGrp="1"/>
          </p:cNvSpPr>
          <p:nvPr>
            <p:ph type="title"/>
          </p:nvPr>
        </p:nvSpPr>
        <p:spPr/>
        <p:txBody>
          <a:bodyPr/>
          <a:lstStyle/>
          <a:p>
            <a:r>
              <a:rPr lang="fr-FR" altLang="fr-FR"/>
              <a:t>Commentaires sur les échanges de l’équipe FLUX </a:t>
            </a:r>
          </a:p>
        </p:txBody>
      </p:sp>
      <p:sp>
        <p:nvSpPr>
          <p:cNvPr id="20582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0582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63FCE9A-BFBB-4A83-B378-9F987FC1FD03}" type="slidenum">
              <a:rPr lang="fr-FR" altLang="fr-FR" smtClean="0">
                <a:latin typeface="Calibri" panose="020F0502020204030204" pitchFamily="34" charset="0"/>
              </a:rPr>
              <a:pPr>
                <a:spcBef>
                  <a:spcPct val="0"/>
                </a:spcBef>
                <a:buFontTx/>
                <a:buNone/>
              </a:pPr>
              <a:t>94</a:t>
            </a:fld>
            <a:endParaRPr lang="fr-FR" altLang="fr-FR" dirty="0">
              <a:latin typeface="Calibri" panose="020F0502020204030204" pitchFamily="34" charset="0"/>
            </a:endParaRPr>
          </a:p>
        </p:txBody>
      </p:sp>
      <p:sp>
        <p:nvSpPr>
          <p:cNvPr id="6" name="Espace réservé du contenu 2"/>
          <p:cNvSpPr txBox="1">
            <a:spLocks/>
          </p:cNvSpPr>
          <p:nvPr/>
        </p:nvSpPr>
        <p:spPr bwMode="auto">
          <a:xfrm>
            <a:off x="258763" y="931863"/>
            <a:ext cx="9167812" cy="4181475"/>
          </a:xfrm>
          <a:prstGeom prst="rect">
            <a:avLst/>
          </a:prstGeom>
          <a:noFill/>
          <a:ln w="9525">
            <a:noFill/>
            <a:miter lim="800000"/>
            <a:headEnd/>
            <a:tailEnd/>
          </a:ln>
        </p:spPr>
        <p:txBody>
          <a:bodyPr lIns="36000" rIns="36000"/>
          <a:lstStyle/>
          <a:p>
            <a:pPr>
              <a:lnSpc>
                <a:spcPts val="2400"/>
              </a:lnSpc>
              <a:spcBef>
                <a:spcPct val="20000"/>
              </a:spcBef>
              <a:defRPr/>
            </a:pPr>
            <a:r>
              <a:rPr lang="fr-FR" sz="1600" kern="0" dirty="0">
                <a:latin typeface="Calibri" panose="020F0502020204030204" pitchFamily="34" charset="0"/>
              </a:rPr>
              <a:t>Nous commentons ci-dessous les échanges que l’équipe Flux engage avec les autres équipes. </a:t>
            </a:r>
          </a:p>
          <a:p>
            <a:pPr indent="20638">
              <a:lnSpc>
                <a:spcPts val="2400"/>
              </a:lnSpc>
              <a:spcBef>
                <a:spcPct val="20000"/>
              </a:spcBef>
              <a:defRPr/>
            </a:pPr>
            <a:r>
              <a:rPr lang="fr-FR" sz="1600" kern="0" dirty="0">
                <a:latin typeface="Calibri" panose="020F0502020204030204" pitchFamily="34" charset="0"/>
              </a:rPr>
              <a:t>1. </a:t>
            </a:r>
            <a:r>
              <a:rPr lang="fr-FR" sz="1600" dirty="0">
                <a:latin typeface="Calibri" panose="020F0502020204030204" pitchFamily="34" charset="0"/>
              </a:rPr>
              <a:t>L’équipe PRODUCTIVITÉ travaille sur l’amélioration des cadences. Cela peut-il vous aider ?</a:t>
            </a:r>
            <a:endParaRPr lang="fr-FR" sz="1600" kern="0" dirty="0">
              <a:latin typeface="Calibri" panose="020F0502020204030204" pitchFamily="34" charset="0"/>
            </a:endParaRPr>
          </a:p>
          <a:p>
            <a:pPr marL="174625" indent="-174625">
              <a:lnSpc>
                <a:spcPts val="2400"/>
              </a:lnSpc>
              <a:spcBef>
                <a:spcPct val="20000"/>
              </a:spcBef>
              <a:buFontTx/>
              <a:buChar char="•"/>
              <a:defRPr/>
            </a:pPr>
            <a:r>
              <a:rPr lang="fr-FR" sz="1600" kern="0" dirty="0">
                <a:latin typeface="Calibri" panose="020F0502020204030204" pitchFamily="34" charset="0"/>
              </a:rPr>
              <a:t>L’équipe Flux prendra connaissance des possibilités d’amélioration des cadences : cela peut l’intéresser pour réduire les goulets d’étranglement. Par exemple, s’il y a pénurie de feutres, il vaut mieux les affecter à l’atelier Étoile qu’à l’atelier Vague.</a:t>
            </a:r>
          </a:p>
          <a:p>
            <a:pPr indent="20638">
              <a:lnSpc>
                <a:spcPts val="2400"/>
              </a:lnSpc>
              <a:spcBef>
                <a:spcPct val="20000"/>
              </a:spcBef>
              <a:defRPr/>
            </a:pPr>
            <a:r>
              <a:rPr lang="fr-FR" sz="1600" kern="0" dirty="0">
                <a:latin typeface="Calibri" panose="020F0502020204030204" pitchFamily="34" charset="0"/>
              </a:rPr>
              <a:t>2. </a:t>
            </a:r>
            <a:r>
              <a:rPr lang="fr-FR" sz="1600" dirty="0">
                <a:latin typeface="Calibri" panose="020F0502020204030204" pitchFamily="34" charset="0"/>
              </a:rPr>
              <a:t>L’équipe RÉIMPLANTATION travaille sur un rapprochement des ateliers. Cela peut-il vous aider ?</a:t>
            </a:r>
            <a:endParaRPr lang="fr-FR" sz="1600" kern="0" dirty="0">
              <a:latin typeface="Calibri" panose="020F0502020204030204" pitchFamily="34" charset="0"/>
            </a:endParaRPr>
          </a:p>
          <a:p>
            <a:pPr marL="177800" indent="-177800">
              <a:lnSpc>
                <a:spcPts val="2400"/>
              </a:lnSpc>
              <a:spcBef>
                <a:spcPct val="20000"/>
              </a:spcBef>
              <a:buFontTx/>
              <a:buChar char="•"/>
              <a:defRPr/>
            </a:pPr>
            <a:r>
              <a:rPr lang="fr-FR" sz="1600" kern="0" dirty="0">
                <a:latin typeface="Calibri" panose="020F0502020204030204" pitchFamily="34" charset="0"/>
              </a:rPr>
              <a:t>Le gain pour les flux est important : l’organisation en Ateliers Produit permet de réduire de façon spectaculaires les files d’attente.</a:t>
            </a:r>
          </a:p>
          <a:p>
            <a:pPr>
              <a:lnSpc>
                <a:spcPts val="2400"/>
              </a:lnSpc>
              <a:spcBef>
                <a:spcPct val="20000"/>
              </a:spcBef>
              <a:defRPr/>
            </a:pPr>
            <a:r>
              <a:rPr lang="fr-FR" sz="1600" kern="0" dirty="0">
                <a:latin typeface="Calibri" panose="020F0502020204030204" pitchFamily="34" charset="0"/>
              </a:rPr>
              <a:t>3.</a:t>
            </a:r>
            <a:r>
              <a:rPr lang="fr-FR" sz="1600" dirty="0">
                <a:latin typeface="Calibri" panose="020F0502020204030204" pitchFamily="34" charset="0"/>
              </a:rPr>
              <a:t> L’équipe RESSOURCES HUMAINES envisage de développer la polyvalence du personnel. Cela peut-il vous aider ?</a:t>
            </a:r>
            <a:endParaRPr lang="fr-FR" sz="1600" kern="0" dirty="0">
              <a:latin typeface="Calibri" panose="020F0502020204030204" pitchFamily="34" charset="0"/>
            </a:endParaRPr>
          </a:p>
          <a:p>
            <a:pPr marL="177800" indent="-177800">
              <a:lnSpc>
                <a:spcPts val="2400"/>
              </a:lnSpc>
              <a:spcBef>
                <a:spcPct val="20000"/>
              </a:spcBef>
              <a:buFontTx/>
              <a:buChar char="•"/>
              <a:defRPr/>
            </a:pPr>
            <a:r>
              <a:rPr lang="fr-FR" sz="1600" kern="0" dirty="0">
                <a:latin typeface="Calibri" panose="020F0502020204030204" pitchFamily="34" charset="0"/>
              </a:rPr>
              <a:t>La polyvalence est bien sûr un moyen d’équilibrer le flux, donc de réduire les délais et les stocks.</a:t>
            </a:r>
          </a:p>
        </p:txBody>
      </p:sp>
      <p:pic>
        <p:nvPicPr>
          <p:cNvPr id="7"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874" name="Titre 1"/>
          <p:cNvSpPr>
            <a:spLocks noGrp="1"/>
          </p:cNvSpPr>
          <p:nvPr>
            <p:ph type="title"/>
          </p:nvPr>
        </p:nvSpPr>
        <p:spPr/>
        <p:txBody>
          <a:bodyPr/>
          <a:lstStyle/>
          <a:p>
            <a:r>
              <a:rPr lang="fr-FR" altLang="fr-FR"/>
              <a:t>Commentaires sur le projet IMPLANTATION</a:t>
            </a:r>
          </a:p>
        </p:txBody>
      </p:sp>
      <p:sp>
        <p:nvSpPr>
          <p:cNvPr id="207875" name="Espace réservé du contenu 2"/>
          <p:cNvSpPr>
            <a:spLocks noGrp="1"/>
          </p:cNvSpPr>
          <p:nvPr>
            <p:ph idx="1"/>
          </p:nvPr>
        </p:nvSpPr>
        <p:spPr>
          <a:xfrm>
            <a:off x="0" y="2830513"/>
            <a:ext cx="9612313" cy="3825875"/>
          </a:xfrm>
        </p:spPr>
        <p:txBody>
          <a:bodyPr/>
          <a:lstStyle/>
          <a:p>
            <a:r>
              <a:rPr lang="fr-FR" altLang="fr-FR" sz="1500" dirty="0"/>
              <a:t>Comme nous l’avons dit les participants doivent parvenir à la solution des deux Ateliers Produit. Ils peuvent maintenir le Lancement et le Contrôle centralisés, mais il est cependant préférable de les décentraliser dans les ateliers.</a:t>
            </a:r>
          </a:p>
          <a:p>
            <a:r>
              <a:rPr lang="fr-FR" altLang="fr-FR" sz="1500" dirty="0"/>
              <a:t>L’animateur doit souligner que la solution 2 implique 2 postes étoiles et 2 postes triangles, contrairement à la solution 1. Mais puisqu’il y a 8 participants au minimum dans la simulation 1, il y en a suffisamment pour la simulation 2, à condition que le Lancement soit assuré par le 1</a:t>
            </a:r>
            <a:r>
              <a:rPr lang="fr-FR" altLang="fr-FR" sz="1500" baseline="30000" dirty="0"/>
              <a:t>er</a:t>
            </a:r>
            <a:r>
              <a:rPr lang="fr-FR" altLang="fr-FR" sz="1500" dirty="0"/>
              <a:t> poste et le Contrôle qualité par le dernier poste. L’animateur peut rajouter qu’il n’est pas nécessaire de disposer de plus de surligneurs : il suffit de remettre en état ceux qui ne fonctionnent pas …</a:t>
            </a:r>
          </a:p>
          <a:p>
            <a:r>
              <a:rPr lang="fr-FR" altLang="fr-FR" sz="1500" dirty="0"/>
              <a:t>L’organisation du magasin d’outillages consiste à enlever les surligneurs qui ne fonctionnent pas, et à attribuer à chaque Atelier Produit les surligneurs dont ils ont besoin. Il faut noter que la répartition des couleurs n’est pas égale dans les deux familles de produits, mais comme les participants n’ont pas le temps en général d’analyser cette répartition c’est l’animateur qui attribue les surligneurs selon la liste indiquée plus loin (voir Simulation 2).</a:t>
            </a:r>
          </a:p>
          <a:p>
            <a:r>
              <a:rPr lang="fr-FR" altLang="fr-FR" sz="1500" dirty="0"/>
              <a:t>Le fait que le groupe qui travaille sur la Qualité envisage de passer à l’</a:t>
            </a:r>
            <a:r>
              <a:rPr lang="fr-FR" altLang="fr-FR" sz="1500" dirty="0" err="1">
                <a:solidFill>
                  <a:srgbClr val="FF0000"/>
                </a:solidFill>
              </a:rPr>
              <a:t>auto-contrôle</a:t>
            </a:r>
            <a:r>
              <a:rPr lang="fr-FR" altLang="fr-FR" sz="1500" dirty="0"/>
              <a:t> modifie l’implantation. Faut-il conserver un poste de contrôle final à plein temps ? Peut-on se contenter d’un contrôle par prélèvement ?</a:t>
            </a:r>
          </a:p>
          <a:p>
            <a:endParaRPr lang="fr-FR" altLang="fr-FR" sz="1500" dirty="0"/>
          </a:p>
        </p:txBody>
      </p:sp>
      <p:sp>
        <p:nvSpPr>
          <p:cNvPr id="20787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grpSp>
        <p:nvGrpSpPr>
          <p:cNvPr id="207878" name="Groupe 78"/>
          <p:cNvGrpSpPr>
            <a:grpSpLocks/>
          </p:cNvGrpSpPr>
          <p:nvPr/>
        </p:nvGrpSpPr>
        <p:grpSpPr bwMode="auto">
          <a:xfrm>
            <a:off x="40640" y="596741"/>
            <a:ext cx="3143250" cy="2376487"/>
            <a:chOff x="513545" y="566671"/>
            <a:chExt cx="3142955" cy="2377046"/>
          </a:xfrm>
        </p:grpSpPr>
        <p:pic>
          <p:nvPicPr>
            <p:cNvPr id="207884" name="Picture 7"/>
            <p:cNvPicPr>
              <a:picLocks noChangeAspect="1" noChangeArrowheads="1"/>
            </p:cNvPicPr>
            <p:nvPr/>
          </p:nvPicPr>
          <p:blipFill>
            <a:blip r:embed="rId3">
              <a:extLst>
                <a:ext uri="{28A0092B-C50C-407E-A947-70E740481C1C}">
                  <a14:useLocalDpi xmlns:a14="http://schemas.microsoft.com/office/drawing/2010/main" val="0"/>
                </a:ext>
              </a:extLst>
            </a:blip>
            <a:srcRect l="49226" t="1501" r="18546" b="63063"/>
            <a:stretch>
              <a:fillRect/>
            </a:stretch>
          </p:blipFill>
          <p:spPr bwMode="auto">
            <a:xfrm>
              <a:off x="513545" y="566671"/>
              <a:ext cx="3142955" cy="237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85" name="Picture 2" descr="INDU056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2130" y="1301124"/>
              <a:ext cx="551826" cy="64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7879"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6510" y="1052052"/>
            <a:ext cx="2685803" cy="17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788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8310" y="1106149"/>
            <a:ext cx="2620010" cy="168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81" name="Flèche droite 81"/>
          <p:cNvSpPr>
            <a:spLocks noChangeArrowheads="1"/>
          </p:cNvSpPr>
          <p:nvPr/>
        </p:nvSpPr>
        <p:spPr bwMode="auto">
          <a:xfrm>
            <a:off x="3318510" y="1784985"/>
            <a:ext cx="284163" cy="206375"/>
          </a:xfrm>
          <a:prstGeom prst="rightArrow">
            <a:avLst>
              <a:gd name="adj1" fmla="val 50000"/>
              <a:gd name="adj2" fmla="val 50073"/>
            </a:avLst>
          </a:prstGeom>
          <a:solidFill>
            <a:srgbClr val="99FF99"/>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788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56DB8D84-36B2-4A67-A8D8-A46E417A9D66}" type="slidenum">
              <a:rPr lang="fr-FR" altLang="fr-FR" smtClean="0">
                <a:latin typeface="Calibri" panose="020F0502020204030204" pitchFamily="34" charset="0"/>
              </a:rPr>
              <a:pPr>
                <a:spcBef>
                  <a:spcPct val="0"/>
                </a:spcBef>
                <a:buFontTx/>
                <a:buNone/>
              </a:pPr>
              <a:t>95</a:t>
            </a:fld>
            <a:endParaRPr lang="fr-FR" altLang="fr-FR" dirty="0">
              <a:latin typeface="Calibri" panose="020F0502020204030204" pitchFamily="34" charset="0"/>
            </a:endParaRPr>
          </a:p>
        </p:txBody>
      </p:sp>
      <p:pic>
        <p:nvPicPr>
          <p:cNvPr id="14" name="Picture 2" descr="C:\Users\BertrandS\Dropbox\Jeux\00. CONCEPTION DES JEUX\photos\Bureau Une Femme 29\iStock_000002139332_Medium ALLEGE.jpg"/>
          <p:cNvPicPr>
            <a:picLocks noChangeAspect="1" noChangeArrowheads="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9922" name="Titre 1"/>
          <p:cNvSpPr>
            <a:spLocks noGrp="1"/>
          </p:cNvSpPr>
          <p:nvPr>
            <p:ph type="title"/>
          </p:nvPr>
        </p:nvSpPr>
        <p:spPr/>
        <p:txBody>
          <a:bodyPr/>
          <a:lstStyle/>
          <a:p>
            <a:r>
              <a:rPr lang="fr-FR" altLang="fr-FR"/>
              <a:t>Commentaires sur les échanges de l’équipe IMPLANTATION</a:t>
            </a:r>
          </a:p>
        </p:txBody>
      </p:sp>
      <p:sp>
        <p:nvSpPr>
          <p:cNvPr id="20992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09924"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D749576-1781-4A31-829C-DC1495E5FB51}" type="slidenum">
              <a:rPr lang="fr-FR" altLang="fr-FR" smtClean="0">
                <a:latin typeface="Calibri" panose="020F0502020204030204" pitchFamily="34" charset="0"/>
              </a:rPr>
              <a:pPr>
                <a:spcBef>
                  <a:spcPct val="0"/>
                </a:spcBef>
                <a:buFontTx/>
                <a:buNone/>
              </a:pPr>
              <a:t>96</a:t>
            </a:fld>
            <a:endParaRPr lang="fr-FR" altLang="fr-FR" dirty="0">
              <a:latin typeface="Calibri" panose="020F0502020204030204" pitchFamily="34" charset="0"/>
            </a:endParaRPr>
          </a:p>
        </p:txBody>
      </p:sp>
      <p:sp>
        <p:nvSpPr>
          <p:cNvPr id="6" name="Espace réservé du contenu 2"/>
          <p:cNvSpPr txBox="1">
            <a:spLocks/>
          </p:cNvSpPr>
          <p:nvPr/>
        </p:nvSpPr>
        <p:spPr bwMode="auto">
          <a:xfrm>
            <a:off x="258763" y="712788"/>
            <a:ext cx="9167812" cy="5572125"/>
          </a:xfrm>
          <a:prstGeom prst="rect">
            <a:avLst/>
          </a:prstGeom>
          <a:noFill/>
          <a:ln w="9525">
            <a:noFill/>
            <a:miter lim="800000"/>
            <a:headEnd/>
            <a:tailEnd/>
          </a:ln>
        </p:spPr>
        <p:txBody>
          <a:bodyPr lIns="36000" rIns="36000"/>
          <a:lstStyle/>
          <a:p>
            <a:pPr>
              <a:lnSpc>
                <a:spcPts val="2400"/>
              </a:lnSpc>
              <a:spcBef>
                <a:spcPct val="20000"/>
              </a:spcBef>
              <a:defRPr/>
            </a:pPr>
            <a:r>
              <a:rPr lang="fr-FR" sz="1600" kern="0" dirty="0">
                <a:latin typeface="Calibri" panose="020F0502020204030204" pitchFamily="34" charset="0"/>
              </a:rPr>
              <a:t>L’équipe Implantation est invitée à </a:t>
            </a:r>
            <a:r>
              <a:rPr lang="fr-FR" sz="1600" i="1" kern="0" dirty="0">
                <a:latin typeface="Calibri" panose="020F0502020204030204" pitchFamily="34" charset="0"/>
              </a:rPr>
              <a:t>Rencontrer l’équipe RESSOURCES HUMAINES pour savoir si la nouvelle implantation recevra un accueil favorable ou défavorable de la part du personnel concerné.</a:t>
            </a:r>
          </a:p>
          <a:p>
            <a:pPr>
              <a:lnSpc>
                <a:spcPts val="2400"/>
              </a:lnSpc>
              <a:spcBef>
                <a:spcPct val="20000"/>
              </a:spcBef>
              <a:defRPr/>
            </a:pPr>
            <a:r>
              <a:rPr lang="fr-FR" sz="1600" kern="0" dirty="0">
                <a:latin typeface="Calibri" panose="020F0502020204030204" pitchFamily="34" charset="0"/>
              </a:rPr>
              <a:t>Le but est de savoir si le personnel appréciera la nouvelle implantation. C’est une question délicate, qui appelle plusieurs commentaires :</a:t>
            </a:r>
          </a:p>
          <a:p>
            <a:pPr marL="180975" indent="-180975">
              <a:lnSpc>
                <a:spcPts val="2400"/>
              </a:lnSpc>
              <a:spcBef>
                <a:spcPct val="20000"/>
              </a:spcBef>
              <a:buFont typeface="Arial" pitchFamily="34" charset="0"/>
              <a:buChar char="•"/>
              <a:defRPr/>
            </a:pPr>
            <a:r>
              <a:rPr lang="fr-FR" sz="1600" kern="0" dirty="0">
                <a:latin typeface="Calibri" panose="020F0502020204030204" pitchFamily="34" charset="0"/>
              </a:rPr>
              <a:t>Dans un premier temps le personnel y sera probablement opposé, comme à tout changement qui modifie les habitudes. Actuellement les gens se connaissent et risquent de perdre la compagnie de leurs collègues.</a:t>
            </a:r>
          </a:p>
          <a:p>
            <a:pPr marL="180975" indent="-180975">
              <a:lnSpc>
                <a:spcPts val="2400"/>
              </a:lnSpc>
              <a:spcBef>
                <a:spcPct val="20000"/>
              </a:spcBef>
              <a:buFont typeface="Arial" pitchFamily="34" charset="0"/>
              <a:buChar char="•"/>
              <a:defRPr/>
            </a:pPr>
            <a:r>
              <a:rPr lang="fr-FR" sz="1600" kern="0" dirty="0">
                <a:latin typeface="Calibri" panose="020F0502020204030204" pitchFamily="34" charset="0"/>
              </a:rPr>
              <a:t>Un autre facteur d’opposition tient à la perte d’identité. Dans l’organisation actuelle chacun est spécialisé dans une forme, et il en est fier (voir l’interview du retraité dans le Projet Qualité). L’identité dans l’organisation en Atelier Produit est différente : elle définie par le produit et le marché et non par la technologie.</a:t>
            </a:r>
          </a:p>
          <a:p>
            <a:pPr marL="180975" indent="-180975">
              <a:lnSpc>
                <a:spcPts val="2400"/>
              </a:lnSpc>
              <a:spcBef>
                <a:spcPct val="20000"/>
              </a:spcBef>
              <a:buFont typeface="Arial" pitchFamily="34" charset="0"/>
              <a:buChar char="•"/>
              <a:defRPr/>
            </a:pPr>
            <a:r>
              <a:rPr lang="fr-FR" sz="1600" kern="0" dirty="0">
                <a:latin typeface="Calibri" panose="020F0502020204030204" pitchFamily="34" charset="0"/>
              </a:rPr>
              <a:t>En revanche, une fois le changement fait, la nouvelle implantation peut être appréciée car elle présente des avantages : elle donne une responsabilité collective à l’équipe (produire un OF complet), elle fait appel à la solidarité (un opérateur peut en aider un autre), elle propose des objectifs de performance cohérents (qualité, délai), elle développe l’autonomie (</a:t>
            </a:r>
            <a:r>
              <a:rPr lang="fr-FR" sz="1600" kern="0" dirty="0" err="1">
                <a:latin typeface="Calibri" panose="020F0502020204030204" pitchFamily="34" charset="0"/>
              </a:rPr>
              <a:t>auto-contrôle</a:t>
            </a:r>
            <a:r>
              <a:rPr lang="fr-FR" sz="1600" kern="0" dirty="0">
                <a:latin typeface="Calibri" panose="020F0502020204030204" pitchFamily="34" charset="0"/>
              </a:rPr>
              <a:t>, gestion des priorités, etc.) enfin elle peut s’accompagner d’une meilleure communication : réunions du matin, affichage des informations, rencontres avec les services supports.</a:t>
            </a:r>
          </a:p>
          <a:p>
            <a:pPr>
              <a:lnSpc>
                <a:spcPts val="2400"/>
              </a:lnSpc>
              <a:spcBef>
                <a:spcPct val="20000"/>
              </a:spcBef>
              <a:defRPr/>
            </a:pPr>
            <a:endParaRPr lang="fr-FR" sz="1600" kern="0" dirty="0">
              <a:latin typeface="Calibri" panose="020F0502020204030204" pitchFamily="34" charset="0"/>
            </a:endParaRPr>
          </a:p>
          <a:p>
            <a:pPr indent="20638">
              <a:lnSpc>
                <a:spcPts val="2400"/>
              </a:lnSpc>
              <a:spcBef>
                <a:spcPct val="20000"/>
              </a:spcBef>
              <a:defRPr/>
            </a:pPr>
            <a:endParaRPr lang="fr-FR" sz="1600" kern="0" dirty="0">
              <a:latin typeface="Calibri" panose="020F0502020204030204" pitchFamily="34" charset="0"/>
            </a:endParaRPr>
          </a:p>
          <a:p>
            <a:pPr indent="20638">
              <a:lnSpc>
                <a:spcPts val="2400"/>
              </a:lnSpc>
              <a:spcBef>
                <a:spcPct val="20000"/>
              </a:spcBef>
              <a:defRPr/>
            </a:pPr>
            <a:endParaRPr lang="fr-FR" sz="1600" kern="0" dirty="0">
              <a:latin typeface="Calibri" panose="020F0502020204030204" pitchFamily="34" charset="0"/>
            </a:endParaRP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1970" name="Titre 1"/>
          <p:cNvSpPr>
            <a:spLocks noGrp="1"/>
          </p:cNvSpPr>
          <p:nvPr>
            <p:ph type="title"/>
          </p:nvPr>
        </p:nvSpPr>
        <p:spPr>
          <a:xfrm>
            <a:off x="623888" y="0"/>
            <a:ext cx="8650287" cy="419100"/>
          </a:xfrm>
        </p:spPr>
        <p:txBody>
          <a:bodyPr/>
          <a:lstStyle/>
          <a:p>
            <a:r>
              <a:rPr lang="fr-FR" altLang="fr-FR"/>
              <a:t>Commentaires sur le projet QUALITÉ</a:t>
            </a:r>
          </a:p>
        </p:txBody>
      </p:sp>
      <p:sp>
        <p:nvSpPr>
          <p:cNvPr id="211971" name="Espace réservé du contenu 2"/>
          <p:cNvSpPr>
            <a:spLocks noGrp="1"/>
          </p:cNvSpPr>
          <p:nvPr>
            <p:ph idx="1"/>
          </p:nvPr>
        </p:nvSpPr>
        <p:spPr>
          <a:xfrm>
            <a:off x="815975" y="592138"/>
            <a:ext cx="4657725" cy="1443037"/>
          </a:xfrm>
        </p:spPr>
        <p:txBody>
          <a:bodyPr/>
          <a:lstStyle/>
          <a:p>
            <a:pPr marL="0" indent="17463">
              <a:buFontTx/>
              <a:buNone/>
            </a:pPr>
            <a:r>
              <a:rPr lang="fr-FR" altLang="fr-FR" sz="1700"/>
              <a:t>Les participants proposeront des causes variées : certaines issues de leur</a:t>
            </a:r>
            <a:r>
              <a:rPr lang="fr-FR" altLang="fr-FR" sz="1700" u="sng"/>
              <a:t> expérience pendant la simulation</a:t>
            </a:r>
            <a:r>
              <a:rPr lang="fr-FR" altLang="fr-FR" sz="1700"/>
              <a:t>, d’autres de la lecture des </a:t>
            </a:r>
            <a:r>
              <a:rPr lang="fr-FR" altLang="fr-FR" sz="1700" u="sng"/>
              <a:t>Interviews</a:t>
            </a:r>
            <a:r>
              <a:rPr lang="fr-FR" altLang="fr-FR" sz="1700"/>
              <a:t>. Le tableau ci-dessous montre des causes souvent citées.</a:t>
            </a:r>
          </a:p>
        </p:txBody>
      </p:sp>
      <p:sp>
        <p:nvSpPr>
          <p:cNvPr id="21197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1197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A539F9F-8EB0-4C78-AD24-5A27ADD84065}" type="slidenum">
              <a:rPr lang="fr-FR" altLang="fr-FR" smtClean="0">
                <a:latin typeface="Calibri" panose="020F0502020204030204" pitchFamily="34" charset="0"/>
              </a:rPr>
              <a:pPr>
                <a:spcBef>
                  <a:spcPct val="0"/>
                </a:spcBef>
                <a:buFontTx/>
                <a:buNone/>
              </a:pPr>
              <a:t>97</a:t>
            </a:fld>
            <a:endParaRPr lang="fr-FR" altLang="fr-FR" dirty="0">
              <a:latin typeface="Calibri" panose="020F0502020204030204" pitchFamily="34" charset="0"/>
            </a:endParaRPr>
          </a:p>
        </p:txBody>
      </p:sp>
      <p:graphicFrame>
        <p:nvGraphicFramePr>
          <p:cNvPr id="8" name="Tableau 7"/>
          <p:cNvGraphicFramePr>
            <a:graphicFrameLocks noGrp="1"/>
          </p:cNvGraphicFramePr>
          <p:nvPr/>
        </p:nvGraphicFramePr>
        <p:xfrm>
          <a:off x="309563" y="2279650"/>
          <a:ext cx="9053512" cy="4314826"/>
        </p:xfrm>
        <a:graphic>
          <a:graphicData uri="http://schemas.openxmlformats.org/drawingml/2006/table">
            <a:tbl>
              <a:tblPr firstRow="1" bandRow="1">
                <a:tableStyleId>{5C22544A-7EE6-4342-B048-85BDC9FD1C3A}</a:tableStyleId>
              </a:tblPr>
              <a:tblGrid>
                <a:gridCol w="4417290">
                  <a:extLst>
                    <a:ext uri="{9D8B030D-6E8A-4147-A177-3AD203B41FA5}">
                      <a16:colId xmlns:a16="http://schemas.microsoft.com/office/drawing/2014/main" val="20000"/>
                    </a:ext>
                  </a:extLst>
                </a:gridCol>
                <a:gridCol w="4636222">
                  <a:extLst>
                    <a:ext uri="{9D8B030D-6E8A-4147-A177-3AD203B41FA5}">
                      <a16:colId xmlns:a16="http://schemas.microsoft.com/office/drawing/2014/main" val="20001"/>
                    </a:ext>
                  </a:extLst>
                </a:gridCol>
              </a:tblGrid>
              <a:tr h="334860">
                <a:tc>
                  <a:txBody>
                    <a:bodyPr/>
                    <a:lstStyle/>
                    <a:p>
                      <a:pPr marL="0" marR="0" indent="0" algn="ctr" defTabSz="914400" rtl="0" eaLnBrk="1" fontAlgn="auto" latinLnBrk="0" hangingPunct="1">
                        <a:lnSpc>
                          <a:spcPts val="2000"/>
                        </a:lnSpc>
                        <a:spcBef>
                          <a:spcPts val="0"/>
                        </a:spcBef>
                        <a:spcAft>
                          <a:spcPts val="0"/>
                        </a:spcAft>
                        <a:buClrTx/>
                        <a:buSzTx/>
                        <a:buFont typeface="Arial" pitchFamily="34" charset="0"/>
                        <a:buNone/>
                        <a:tabLst/>
                        <a:defRPr/>
                      </a:pPr>
                      <a:r>
                        <a:rPr lang="fr-FR" sz="1400" b="1" dirty="0">
                          <a:solidFill>
                            <a:schemeClr val="tx1"/>
                          </a:solidFill>
                          <a:latin typeface="Calibri" panose="020F0502020204030204" pitchFamily="34" charset="0"/>
                        </a:rPr>
                        <a:t>Matière</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tc>
                  <a:txBody>
                    <a:bodyPr/>
                    <a:lstStyle/>
                    <a:p>
                      <a:pPr marL="0" marR="0" indent="0" algn="ctr" defTabSz="914400" rtl="0" eaLnBrk="1" fontAlgn="auto" latinLnBrk="0" hangingPunct="1">
                        <a:lnSpc>
                          <a:spcPts val="2000"/>
                        </a:lnSpc>
                        <a:spcBef>
                          <a:spcPts val="0"/>
                        </a:spcBef>
                        <a:spcAft>
                          <a:spcPts val="0"/>
                        </a:spcAft>
                        <a:buClrTx/>
                        <a:buSzTx/>
                        <a:buFont typeface="Arial" pitchFamily="34" charset="0"/>
                        <a:buNone/>
                        <a:tabLst/>
                        <a:defRPr/>
                      </a:pPr>
                      <a:r>
                        <a:rPr lang="fr-FR" sz="1400" b="1" dirty="0">
                          <a:solidFill>
                            <a:schemeClr val="tx1"/>
                          </a:solidFill>
                          <a:latin typeface="Calibri" panose="020F0502020204030204" pitchFamily="34" charset="0"/>
                        </a:rPr>
                        <a:t>Main d’œuvre</a:t>
                      </a:r>
                      <a:endParaRPr lang="fr-FR" sz="1600" b="1"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extLst>
                  <a:ext uri="{0D108BD9-81ED-4DB2-BD59-A6C34878D82A}">
                    <a16:rowId xmlns:a16="http://schemas.microsoft.com/office/drawing/2014/main" val="10000"/>
                  </a:ext>
                </a:extLst>
              </a:tr>
              <a:tr h="400548">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Matière sensible à l’humidité</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Manque de formation et</a:t>
                      </a:r>
                      <a:r>
                        <a:rPr lang="fr-FR" sz="1400" b="0" baseline="0" dirty="0">
                          <a:solidFill>
                            <a:schemeClr val="tx1"/>
                          </a:solidFill>
                          <a:latin typeface="Calibri" panose="020F0502020204030204" pitchFamily="34" charset="0"/>
                        </a:rPr>
                        <a:t> d’entraînement</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5163">
                <a:tc>
                  <a:txBody>
                    <a:bodyPr/>
                    <a:lstStyle/>
                    <a:p>
                      <a:pPr marL="0" marR="0" indent="0" algn="ctr" defTabSz="914400" rtl="0" eaLnBrk="1" fontAlgn="auto" latinLnBrk="0" hangingPunct="1">
                        <a:lnSpc>
                          <a:spcPts val="2000"/>
                        </a:lnSpc>
                        <a:spcBef>
                          <a:spcPts val="0"/>
                        </a:spcBef>
                        <a:spcAft>
                          <a:spcPts val="0"/>
                        </a:spcAft>
                        <a:buClrTx/>
                        <a:buSzTx/>
                        <a:buFont typeface="Arial" pitchFamily="34" charset="0"/>
                        <a:buNone/>
                        <a:tabLst/>
                        <a:defRPr/>
                      </a:pPr>
                      <a:r>
                        <a:rPr lang="fr-FR" sz="1400" b="1" dirty="0">
                          <a:solidFill>
                            <a:schemeClr val="tx1"/>
                          </a:solidFill>
                          <a:latin typeface="Calibri" panose="020F0502020204030204" pitchFamily="34" charset="0"/>
                        </a:rPr>
                        <a:t>Méthode</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Problèmes</a:t>
                      </a:r>
                      <a:r>
                        <a:rPr lang="fr-FR" sz="1400" b="0" baseline="0" dirty="0">
                          <a:solidFill>
                            <a:schemeClr val="tx1"/>
                          </a:solidFill>
                          <a:latin typeface="Calibri" panose="020F0502020204030204" pitchFamily="34" charset="0"/>
                        </a:rPr>
                        <a:t> de vision</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44021">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Pas</a:t>
                      </a:r>
                      <a:r>
                        <a:rPr lang="fr-FR" sz="1400" b="0" baseline="0" dirty="0">
                          <a:solidFill>
                            <a:schemeClr val="tx1"/>
                          </a:solidFill>
                          <a:latin typeface="Calibri" panose="020F0502020204030204" pitchFamily="34" charset="0"/>
                        </a:rPr>
                        <a:t> de fiches décrivant un bon produit ni de catalogue des défauts</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Manque de motivation</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00548">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Pas de formalisation</a:t>
                      </a:r>
                      <a:r>
                        <a:rPr lang="fr-FR" sz="1400" b="0" baseline="0" dirty="0">
                          <a:solidFill>
                            <a:schemeClr val="tx1"/>
                          </a:solidFill>
                          <a:latin typeface="Calibri" panose="020F0502020204030204" pitchFamily="34" charset="0"/>
                        </a:rPr>
                        <a:t> des méthodes</a:t>
                      </a:r>
                      <a:endParaRPr lang="fr-FR" sz="1400" b="1"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Pas de connaissance des</a:t>
                      </a:r>
                      <a:r>
                        <a:rPr lang="fr-FR" sz="1400" b="0" baseline="0" dirty="0">
                          <a:solidFill>
                            <a:schemeClr val="tx1"/>
                          </a:solidFill>
                          <a:latin typeface="Calibri" panose="020F0502020204030204" pitchFamily="34" charset="0"/>
                        </a:rPr>
                        <a:t> besoins du client</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44021">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Pas de détection des défauts au moment où ils sont créés.</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Fatigue, troubles </a:t>
                      </a:r>
                      <a:r>
                        <a:rPr lang="fr-FR" sz="1400" b="0" dirty="0" err="1">
                          <a:solidFill>
                            <a:schemeClr val="tx1"/>
                          </a:solidFill>
                          <a:latin typeface="Calibri" panose="020F0502020204030204" pitchFamily="34" charset="0"/>
                        </a:rPr>
                        <a:t>musculo</a:t>
                      </a:r>
                      <a:r>
                        <a:rPr lang="fr-FR" sz="1400" b="0" dirty="0">
                          <a:solidFill>
                            <a:schemeClr val="tx1"/>
                          </a:solidFill>
                          <a:latin typeface="Calibri" panose="020F0502020204030204" pitchFamily="34" charset="0"/>
                        </a:rPr>
                        <a:t>-squelettiques</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44021">
                <a:tc>
                  <a:txBody>
                    <a:bodyPr/>
                    <a:lstStyle/>
                    <a:p>
                      <a:pPr marL="0" marR="0" indent="0" algn="l" defTabSz="914400" rtl="0" eaLnBrk="1" fontAlgn="auto" latinLnBrk="0" hangingPunct="1">
                        <a:lnSpc>
                          <a:spcPts val="2000"/>
                        </a:lnSpc>
                        <a:spcBef>
                          <a:spcPts val="0"/>
                        </a:spcBef>
                        <a:spcAft>
                          <a:spcPts val="0"/>
                        </a:spcAft>
                        <a:buClrTx/>
                        <a:buSzTx/>
                        <a:buFont typeface="Arial" pitchFamily="34" charset="0"/>
                        <a:buNone/>
                        <a:tabLst/>
                        <a:defRPr/>
                      </a:pPr>
                      <a:r>
                        <a:rPr lang="fr-FR" sz="1400" b="0" dirty="0">
                          <a:solidFill>
                            <a:schemeClr val="tx1"/>
                          </a:solidFill>
                          <a:latin typeface="Calibri" panose="020F0502020204030204" pitchFamily="34" charset="0"/>
                        </a:rPr>
                        <a:t>Pas</a:t>
                      </a:r>
                      <a:r>
                        <a:rPr lang="fr-FR" sz="1400" b="0" baseline="0" dirty="0">
                          <a:solidFill>
                            <a:schemeClr val="tx1"/>
                          </a:solidFill>
                          <a:latin typeface="Calibri" panose="020F0502020204030204" pitchFamily="34" charset="0"/>
                        </a:rPr>
                        <a:t> de réparation des non conformes dans l’atelier où ils ont été créés.</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ts val="2000"/>
                        </a:lnSpc>
                        <a:spcBef>
                          <a:spcPts val="0"/>
                        </a:spcBef>
                        <a:spcAft>
                          <a:spcPts val="0"/>
                        </a:spcAft>
                        <a:buClrTx/>
                        <a:buSzTx/>
                        <a:buFont typeface="Arial" pitchFamily="34" charset="0"/>
                        <a:buNone/>
                        <a:tabLst/>
                        <a:defRPr/>
                      </a:pPr>
                      <a:r>
                        <a:rPr lang="fr-FR" sz="1400" b="1" dirty="0">
                          <a:solidFill>
                            <a:schemeClr val="tx1"/>
                          </a:solidFill>
                          <a:latin typeface="Calibri" panose="020F0502020204030204" pitchFamily="34" charset="0"/>
                        </a:rPr>
                        <a:t>Milieu</a:t>
                      </a:r>
                      <a:endParaRPr lang="fr-FR" sz="1400" b="0" dirty="0">
                        <a:solidFill>
                          <a:schemeClr val="tx1"/>
                        </a:solidFill>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extLst>
                  <a:ext uri="{0D108BD9-81ED-4DB2-BD59-A6C34878D82A}">
                    <a16:rowId xmlns:a16="http://schemas.microsoft.com/office/drawing/2014/main" val="10006"/>
                  </a:ext>
                </a:extLst>
              </a:tr>
              <a:tr h="400548">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400" b="1" dirty="0">
                          <a:latin typeface="Calibri" panose="020F0502020204030204" pitchFamily="34" charset="0"/>
                        </a:rPr>
                        <a:t>Moyens</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B7"/>
                    </a:solidFill>
                  </a:tcPr>
                </a:tc>
                <a:tc>
                  <a:txBody>
                    <a:bodyPr/>
                    <a:lstStyle/>
                    <a:p>
                      <a:pPr algn="l">
                        <a:buFont typeface="Arial" pitchFamily="34" charset="0"/>
                        <a:buNone/>
                      </a:pPr>
                      <a:r>
                        <a:rPr lang="fr-FR" sz="1400" dirty="0">
                          <a:latin typeface="Calibri" panose="020F0502020204030204" pitchFamily="34" charset="0"/>
                        </a:rPr>
                        <a:t>M</a:t>
                      </a:r>
                      <a:r>
                        <a:rPr lang="fr-FR" sz="1400" baseline="0" dirty="0">
                          <a:latin typeface="Calibri" panose="020F0502020204030204" pitchFamily="34" charset="0"/>
                        </a:rPr>
                        <a:t>anutention (chocs, rayures)</a:t>
                      </a:r>
                      <a:endParaRPr lang="fr-FR" sz="1400" dirty="0">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005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a:latin typeface="Calibri" panose="020F0502020204030204" pitchFamily="34" charset="0"/>
                        </a:rPr>
                        <a:t>Machines en mauvais</a:t>
                      </a:r>
                      <a:r>
                        <a:rPr lang="fr-FR" sz="1400" baseline="0" dirty="0">
                          <a:latin typeface="Calibri" panose="020F0502020204030204" pitchFamily="34" charset="0"/>
                        </a:rPr>
                        <a:t> état (corrosion)</a:t>
                      </a:r>
                      <a:endParaRPr lang="fr-FR" sz="1400" dirty="0">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a:latin typeface="Calibri" panose="020F0502020204030204" pitchFamily="34" charset="0"/>
                        </a:rPr>
                        <a:t>Stockage (empilage sur une </a:t>
                      </a:r>
                      <a:r>
                        <a:rPr lang="fr-FR" sz="1400" baseline="0" dirty="0">
                          <a:latin typeface="Calibri" panose="020F0502020204030204" pitchFamily="34" charset="0"/>
                        </a:rPr>
                        <a:t>grande hauteur, pluie, etc.).</a:t>
                      </a:r>
                      <a:endParaRPr lang="fr-FR" sz="1400" dirty="0">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005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a:latin typeface="Calibri" panose="020F0502020204030204" pitchFamily="34" charset="0"/>
                        </a:rPr>
                        <a:t>Feutres secs ou mal</a:t>
                      </a:r>
                      <a:r>
                        <a:rPr lang="fr-FR" sz="1400" baseline="0" dirty="0">
                          <a:latin typeface="Calibri" panose="020F0502020204030204" pitchFamily="34" charset="0"/>
                        </a:rPr>
                        <a:t> taillés</a:t>
                      </a:r>
                      <a:endParaRPr lang="fr-FR" sz="1400" dirty="0">
                        <a:latin typeface="Calibri" panose="020F0502020204030204" pitchFamily="34" charset="0"/>
                      </a:endParaRP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a:latin typeface="Calibri" panose="020F0502020204030204" pitchFamily="34" charset="0"/>
                        </a:rPr>
                        <a:t>Poussière</a:t>
                      </a:r>
                    </a:p>
                  </a:txBody>
                  <a:tcPr marL="107996" marR="107996" marT="18001" marB="18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pic>
        <p:nvPicPr>
          <p:cNvPr id="2120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6075" y="422275"/>
            <a:ext cx="41211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401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925" y="442913"/>
            <a:ext cx="4248150" cy="618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019" name="Titre 1"/>
          <p:cNvSpPr>
            <a:spLocks noGrp="1"/>
          </p:cNvSpPr>
          <p:nvPr>
            <p:ph type="title"/>
          </p:nvPr>
        </p:nvSpPr>
        <p:spPr/>
        <p:txBody>
          <a:bodyPr/>
          <a:lstStyle/>
          <a:p>
            <a:r>
              <a:rPr lang="fr-FR" altLang="fr-FR"/>
              <a:t>Commentaires sur le projet QUALITÉ</a:t>
            </a:r>
          </a:p>
        </p:txBody>
      </p:sp>
      <p:sp>
        <p:nvSpPr>
          <p:cNvPr id="214020" name="Espace réservé du contenu 2"/>
          <p:cNvSpPr>
            <a:spLocks noGrp="1"/>
          </p:cNvSpPr>
          <p:nvPr>
            <p:ph idx="1"/>
          </p:nvPr>
        </p:nvSpPr>
        <p:spPr>
          <a:xfrm>
            <a:off x="231775" y="1282700"/>
            <a:ext cx="4746625" cy="2222500"/>
          </a:xfrm>
        </p:spPr>
        <p:txBody>
          <a:bodyPr/>
          <a:lstStyle/>
          <a:p>
            <a:pPr marL="0" indent="17463">
              <a:buFontTx/>
              <a:buNone/>
            </a:pPr>
            <a:r>
              <a:rPr lang="fr-FR" altLang="fr-FR" sz="1700"/>
              <a:t>Le diagramme de Pareto est utilisé pour classer les défauts par nature (voir l’interview du responsable qualité).</a:t>
            </a:r>
          </a:p>
          <a:p>
            <a:pPr marL="0" indent="17463">
              <a:buFontTx/>
              <a:buNone/>
            </a:pPr>
            <a:r>
              <a:rPr lang="fr-FR" altLang="fr-FR" sz="1700"/>
              <a:t>Le cas du défaut détecté tardivement (19 produits non conformes) permettra à l’animateur de souligner que plus les en-cours sont élevés, plus le risque d’avoir un nombre de défauts importants est élevé.</a:t>
            </a:r>
          </a:p>
          <a:p>
            <a:pPr marL="0" indent="17463">
              <a:buFontTx/>
              <a:buNone/>
            </a:pPr>
            <a:endParaRPr lang="fr-FR" altLang="fr-FR" sz="1700"/>
          </a:p>
        </p:txBody>
      </p:sp>
      <p:sp>
        <p:nvSpPr>
          <p:cNvPr id="21402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1402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76F54012-EB15-4062-930A-338FDE9E457B}" type="slidenum">
              <a:rPr lang="fr-FR" altLang="fr-FR" smtClean="0">
                <a:latin typeface="Calibri" panose="020F0502020204030204" pitchFamily="34" charset="0"/>
              </a:rPr>
              <a:pPr>
                <a:spcBef>
                  <a:spcPct val="0"/>
                </a:spcBef>
                <a:buFontTx/>
                <a:buNone/>
              </a:pPr>
              <a:t>98</a:t>
            </a:fld>
            <a:endParaRPr lang="fr-FR" altLang="fr-FR" dirty="0">
              <a:latin typeface="Calibri" panose="020F0502020204030204" pitchFamily="34" charset="0"/>
            </a:endParaRPr>
          </a:p>
        </p:txBody>
      </p:sp>
      <p:sp>
        <p:nvSpPr>
          <p:cNvPr id="214024" name="ZoneTexte 39"/>
          <p:cNvSpPr txBox="1">
            <a:spLocks noChangeArrowheads="1"/>
          </p:cNvSpPr>
          <p:nvPr/>
        </p:nvSpPr>
        <p:spPr bwMode="auto">
          <a:xfrm>
            <a:off x="5530850" y="447675"/>
            <a:ext cx="2362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b="1" dirty="0">
                <a:solidFill>
                  <a:srgbClr val="FF0000"/>
                </a:solidFill>
                <a:latin typeface="Calibri" panose="020F0502020204030204" pitchFamily="34" charset="0"/>
              </a:rPr>
              <a:t>Analyse des non conformités</a:t>
            </a:r>
          </a:p>
        </p:txBody>
      </p:sp>
      <p:grpSp>
        <p:nvGrpSpPr>
          <p:cNvPr id="214026" name="Groupe 27"/>
          <p:cNvGrpSpPr>
            <a:grpSpLocks/>
          </p:cNvGrpSpPr>
          <p:nvPr/>
        </p:nvGrpSpPr>
        <p:grpSpPr bwMode="auto">
          <a:xfrm>
            <a:off x="5119688" y="1476375"/>
            <a:ext cx="3902075" cy="5188976"/>
            <a:chOff x="5370883" y="1515503"/>
            <a:chExt cx="3901104" cy="5188553"/>
          </a:xfrm>
        </p:grpSpPr>
        <p:sp>
          <p:nvSpPr>
            <p:cNvPr id="214027" name="ZoneTexte 28"/>
            <p:cNvSpPr txBox="1">
              <a:spLocks noChangeArrowheads="1"/>
            </p:cNvSpPr>
            <p:nvPr/>
          </p:nvSpPr>
          <p:spPr bwMode="auto">
            <a:xfrm>
              <a:off x="5422277" y="6325394"/>
              <a:ext cx="1169691"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Mauvaise couleur</a:t>
              </a:r>
              <a:endParaRPr lang="fr-FR" altLang="fr-FR" sz="1200" dirty="0">
                <a:latin typeface="Calibri" panose="020F0502020204030204" pitchFamily="34" charset="0"/>
              </a:endParaRPr>
            </a:p>
          </p:txBody>
        </p:sp>
        <p:sp>
          <p:nvSpPr>
            <p:cNvPr id="214028" name="ZoneTexte 29"/>
            <p:cNvSpPr txBox="1">
              <a:spLocks noChangeArrowheads="1"/>
            </p:cNvSpPr>
            <p:nvPr/>
          </p:nvSpPr>
          <p:spPr bwMode="auto">
            <a:xfrm>
              <a:off x="6641478" y="6320155"/>
              <a:ext cx="1194456" cy="238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Cartons mangés</a:t>
              </a:r>
              <a:endParaRPr lang="fr-FR" altLang="fr-FR" sz="1200" dirty="0">
                <a:latin typeface="Calibri" panose="020F0502020204030204" pitchFamily="34" charset="0"/>
              </a:endParaRPr>
            </a:p>
          </p:txBody>
        </p:sp>
        <p:sp>
          <p:nvSpPr>
            <p:cNvPr id="214029" name="ZoneTexte 30"/>
            <p:cNvSpPr txBox="1">
              <a:spLocks noChangeArrowheads="1"/>
            </p:cNvSpPr>
            <p:nvPr/>
          </p:nvSpPr>
          <p:spPr bwMode="auto">
            <a:xfrm>
              <a:off x="7875918" y="6307455"/>
              <a:ext cx="111600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Plaques vrillées</a:t>
              </a:r>
              <a:endParaRPr lang="fr-FR" altLang="fr-FR" sz="1200" dirty="0">
                <a:latin typeface="Calibri" panose="020F0502020204030204" pitchFamily="34" charset="0"/>
              </a:endParaRPr>
            </a:p>
          </p:txBody>
        </p:sp>
        <p:sp>
          <p:nvSpPr>
            <p:cNvPr id="214030" name="ZoneTexte 31"/>
            <p:cNvSpPr txBox="1">
              <a:spLocks noChangeArrowheads="1"/>
            </p:cNvSpPr>
            <p:nvPr/>
          </p:nvSpPr>
          <p:spPr bwMode="auto">
            <a:xfrm>
              <a:off x="5782958" y="5908675"/>
              <a:ext cx="111600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Peinture qui colle</a:t>
              </a:r>
              <a:endParaRPr lang="fr-FR" altLang="fr-FR" sz="1200" dirty="0">
                <a:latin typeface="Calibri" panose="020F0502020204030204" pitchFamily="34" charset="0"/>
              </a:endParaRPr>
            </a:p>
          </p:txBody>
        </p:sp>
        <p:sp>
          <p:nvSpPr>
            <p:cNvPr id="214031" name="ZoneTexte 34"/>
            <p:cNvSpPr txBox="1">
              <a:spLocks noChangeArrowheads="1"/>
            </p:cNvSpPr>
            <p:nvPr/>
          </p:nvSpPr>
          <p:spPr bwMode="auto">
            <a:xfrm>
              <a:off x="6222378" y="5481955"/>
              <a:ext cx="111600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Plaques tordues</a:t>
              </a:r>
              <a:endParaRPr lang="fr-FR" altLang="fr-FR" sz="1200" dirty="0">
                <a:latin typeface="Calibri" panose="020F0502020204030204" pitchFamily="34" charset="0"/>
              </a:endParaRPr>
            </a:p>
          </p:txBody>
        </p:sp>
        <p:sp>
          <p:nvSpPr>
            <p:cNvPr id="214032" name="ZoneTexte 36"/>
            <p:cNvSpPr txBox="1">
              <a:spLocks noChangeArrowheads="1"/>
            </p:cNvSpPr>
            <p:nvPr/>
          </p:nvSpPr>
          <p:spPr bwMode="auto">
            <a:xfrm>
              <a:off x="6999618" y="5888355"/>
              <a:ext cx="1116000" cy="238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Traces de pluie</a:t>
              </a:r>
              <a:endParaRPr lang="fr-FR" altLang="fr-FR" sz="1200" dirty="0">
                <a:latin typeface="Calibri" panose="020F0502020204030204" pitchFamily="34" charset="0"/>
              </a:endParaRPr>
            </a:p>
          </p:txBody>
        </p:sp>
        <p:sp>
          <p:nvSpPr>
            <p:cNvPr id="214033" name="Rectangle 37"/>
            <p:cNvSpPr>
              <a:spLocks noChangeArrowheads="1"/>
            </p:cNvSpPr>
            <p:nvPr/>
          </p:nvSpPr>
          <p:spPr bwMode="auto">
            <a:xfrm>
              <a:off x="5370883" y="1515503"/>
              <a:ext cx="385155" cy="3672000"/>
            </a:xfrm>
            <a:prstGeom prst="rect">
              <a:avLst/>
            </a:prstGeom>
            <a:solidFill>
              <a:srgbClr val="FFC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34" name="Rectangle 38"/>
            <p:cNvSpPr>
              <a:spLocks noChangeArrowheads="1"/>
            </p:cNvSpPr>
            <p:nvPr/>
          </p:nvSpPr>
          <p:spPr bwMode="auto">
            <a:xfrm>
              <a:off x="5765443" y="2472690"/>
              <a:ext cx="385155" cy="2714813"/>
            </a:xfrm>
            <a:prstGeom prst="rect">
              <a:avLst/>
            </a:prstGeom>
            <a:solidFill>
              <a:srgbClr val="FFC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35" name="Rectangle 42"/>
            <p:cNvSpPr>
              <a:spLocks noChangeArrowheads="1"/>
            </p:cNvSpPr>
            <p:nvPr/>
          </p:nvSpPr>
          <p:spPr bwMode="auto">
            <a:xfrm>
              <a:off x="6160003" y="3830096"/>
              <a:ext cx="385155" cy="1357407"/>
            </a:xfrm>
            <a:prstGeom prst="rect">
              <a:avLst/>
            </a:prstGeom>
            <a:solidFill>
              <a:srgbClr val="66FF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36" name="Rectangle 43"/>
            <p:cNvSpPr>
              <a:spLocks noChangeArrowheads="1"/>
            </p:cNvSpPr>
            <p:nvPr/>
          </p:nvSpPr>
          <p:spPr bwMode="auto">
            <a:xfrm>
              <a:off x="6554383" y="4222017"/>
              <a:ext cx="385155" cy="967828"/>
            </a:xfrm>
            <a:prstGeom prst="rect">
              <a:avLst/>
            </a:prstGeom>
            <a:solidFill>
              <a:srgbClr val="66FF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37" name="Rectangle 44"/>
            <p:cNvSpPr>
              <a:spLocks noChangeArrowheads="1"/>
            </p:cNvSpPr>
            <p:nvPr/>
          </p:nvSpPr>
          <p:spPr bwMode="auto">
            <a:xfrm>
              <a:off x="6949123" y="4375078"/>
              <a:ext cx="385155" cy="812425"/>
            </a:xfrm>
            <a:prstGeom prst="rect">
              <a:avLst/>
            </a:prstGeom>
            <a:solidFill>
              <a:srgbClr val="66FF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38" name="Rectangle 45"/>
            <p:cNvSpPr>
              <a:spLocks noChangeArrowheads="1"/>
            </p:cNvSpPr>
            <p:nvPr/>
          </p:nvSpPr>
          <p:spPr bwMode="auto">
            <a:xfrm>
              <a:off x="7343683" y="4591052"/>
              <a:ext cx="385155" cy="596451"/>
            </a:xfrm>
            <a:prstGeom prst="rect">
              <a:avLst/>
            </a:prstGeom>
            <a:solidFill>
              <a:srgbClr val="66FF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39" name="Rectangle 46"/>
            <p:cNvSpPr>
              <a:spLocks noChangeArrowheads="1"/>
            </p:cNvSpPr>
            <p:nvPr/>
          </p:nvSpPr>
          <p:spPr bwMode="auto">
            <a:xfrm>
              <a:off x="7738243" y="4798724"/>
              <a:ext cx="385155" cy="388779"/>
            </a:xfrm>
            <a:prstGeom prst="rect">
              <a:avLst/>
            </a:prstGeom>
            <a:solidFill>
              <a:srgbClr val="66FF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40" name="Rectangle 47"/>
            <p:cNvSpPr>
              <a:spLocks noChangeArrowheads="1"/>
            </p:cNvSpPr>
            <p:nvPr/>
          </p:nvSpPr>
          <p:spPr bwMode="auto">
            <a:xfrm>
              <a:off x="8132804" y="4798724"/>
              <a:ext cx="385155" cy="388779"/>
            </a:xfrm>
            <a:prstGeom prst="rect">
              <a:avLst/>
            </a:prstGeom>
            <a:solidFill>
              <a:srgbClr val="66FF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4041" name="ZoneTexte 48"/>
            <p:cNvSpPr txBox="1">
              <a:spLocks noChangeArrowheads="1"/>
            </p:cNvSpPr>
            <p:nvPr/>
          </p:nvSpPr>
          <p:spPr bwMode="auto">
            <a:xfrm>
              <a:off x="7411098" y="5492115"/>
              <a:ext cx="1116000" cy="238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Plaques rayées</a:t>
              </a:r>
              <a:endParaRPr lang="fr-FR" altLang="fr-FR" sz="1200" dirty="0">
                <a:latin typeface="Calibri" panose="020F0502020204030204" pitchFamily="34" charset="0"/>
              </a:endParaRPr>
            </a:p>
          </p:txBody>
        </p:sp>
        <p:sp>
          <p:nvSpPr>
            <p:cNvPr id="214042" name="ZoneTexte 49"/>
            <p:cNvSpPr txBox="1">
              <a:spLocks noChangeArrowheads="1"/>
            </p:cNvSpPr>
            <p:nvPr/>
          </p:nvSpPr>
          <p:spPr bwMode="auto">
            <a:xfrm>
              <a:off x="8155987" y="5895975"/>
              <a:ext cx="1116000" cy="37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100"/>
                </a:lnSpc>
                <a:spcBef>
                  <a:spcPct val="0"/>
                </a:spcBef>
                <a:buFontTx/>
                <a:buNone/>
              </a:pPr>
              <a:r>
                <a:rPr lang="fr-FR" altLang="fr-FR" sz="1200" i="1" dirty="0">
                  <a:solidFill>
                    <a:srgbClr val="000099"/>
                  </a:solidFill>
                  <a:latin typeface="Calibri" panose="020F0502020204030204" pitchFamily="34" charset="0"/>
                </a:rPr>
                <a:t>Grains de poussière</a:t>
              </a:r>
              <a:endParaRPr lang="fr-FR" altLang="fr-FR" sz="1200" dirty="0">
                <a:latin typeface="Calibri" panose="020F0502020204030204" pitchFamily="34" charset="0"/>
              </a:endParaRPr>
            </a:p>
          </p:txBody>
        </p:sp>
      </p:grpSp>
      <p:pic>
        <p:nvPicPr>
          <p:cNvPr id="27"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6066" name="Titre 1"/>
          <p:cNvSpPr>
            <a:spLocks noGrp="1"/>
          </p:cNvSpPr>
          <p:nvPr>
            <p:ph type="title"/>
          </p:nvPr>
        </p:nvSpPr>
        <p:spPr/>
        <p:txBody>
          <a:bodyPr/>
          <a:lstStyle/>
          <a:p>
            <a:r>
              <a:rPr lang="fr-FR" altLang="fr-FR"/>
              <a:t>Commentaires sur les échanges de l’équipe QUALITÉ</a:t>
            </a:r>
          </a:p>
        </p:txBody>
      </p:sp>
      <p:sp>
        <p:nvSpPr>
          <p:cNvPr id="216067" name="Espace réservé du contenu 2"/>
          <p:cNvSpPr>
            <a:spLocks noGrp="1"/>
          </p:cNvSpPr>
          <p:nvPr>
            <p:ph idx="1"/>
          </p:nvPr>
        </p:nvSpPr>
        <p:spPr>
          <a:xfrm>
            <a:off x="236538" y="1231900"/>
            <a:ext cx="9137650" cy="4967288"/>
          </a:xfrm>
        </p:spPr>
        <p:txBody>
          <a:bodyPr/>
          <a:lstStyle/>
          <a:p>
            <a:pPr>
              <a:buFontTx/>
              <a:buAutoNum type="arabicPeriod"/>
            </a:pPr>
            <a:r>
              <a:rPr lang="fr-FR" altLang="fr-FR" dirty="0"/>
              <a:t>L’équipe PRODUCTIVITÉ travaille sur l’organisation du travail. Cela peut-il vous aider ?</a:t>
            </a:r>
          </a:p>
          <a:p>
            <a:r>
              <a:rPr lang="fr-FR" altLang="fr-FR" dirty="0"/>
              <a:t>Certaines des dispositions envisagées par l’équipe Productivité peuvent améliorer la qualité : l’amélioration de l’état des outils, ou le fait que l’opérateur ait moins de déplacements et puisse donc davantage se concentrer sur son travail.</a:t>
            </a:r>
          </a:p>
          <a:p>
            <a:pPr>
              <a:buFontTx/>
              <a:buAutoNum type="arabicPeriod" startAt="2"/>
            </a:pPr>
            <a:r>
              <a:rPr lang="fr-FR" altLang="fr-FR" dirty="0"/>
              <a:t>L’équipe FLUX travaille sur une accélération des flux entre les postes. Cela peut-il vous aider ?</a:t>
            </a:r>
          </a:p>
          <a:p>
            <a:r>
              <a:rPr lang="fr-FR" altLang="fr-FR" dirty="0"/>
              <a:t>L’accélération du flux permet de détecter les défauts plus rapidement, donc de diminuer leur impact sur la production.</a:t>
            </a:r>
          </a:p>
          <a:p>
            <a:pPr>
              <a:buFontTx/>
              <a:buAutoNum type="arabicPeriod" startAt="3"/>
            </a:pPr>
            <a:r>
              <a:rPr lang="fr-FR" altLang="fr-FR" dirty="0">
                <a:cs typeface="Arial" panose="020B0604020202020204" pitchFamily="34" charset="0"/>
                <a:sym typeface="Wingdings" panose="05000000000000000000" pitchFamily="2" charset="2"/>
              </a:rPr>
              <a:t>L’équipe RÉIMPLANTATION travaille sur un réorganisation des ateliers. Cela peut-il vous aider ?</a:t>
            </a:r>
          </a:p>
          <a:p>
            <a:r>
              <a:rPr lang="fr-FR" altLang="fr-FR" dirty="0">
                <a:cs typeface="Arial" panose="020B0604020202020204" pitchFamily="34" charset="0"/>
                <a:sym typeface="Wingdings" panose="05000000000000000000" pitchFamily="2" charset="2"/>
              </a:rPr>
              <a:t>Le développement d’Ateliers Produits dans lesquels chaque poste assure son propre contrôle aura un effet positif sur la qualité.</a:t>
            </a:r>
          </a:p>
          <a:p>
            <a:endParaRPr lang="fr-FR" altLang="fr-FR" dirty="0"/>
          </a:p>
          <a:p>
            <a:pPr>
              <a:buFontTx/>
              <a:buNone/>
            </a:pPr>
            <a:endParaRPr lang="fr-FR" altLang="fr-FR" dirty="0"/>
          </a:p>
        </p:txBody>
      </p:sp>
      <p:sp>
        <p:nvSpPr>
          <p:cNvPr id="21606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1606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BA0260DC-BAAE-413D-889A-43B2F6C50725}" type="slidenum">
              <a:rPr lang="fr-FR" altLang="fr-FR" smtClean="0">
                <a:latin typeface="Calibri" panose="020F0502020204030204" pitchFamily="34" charset="0"/>
              </a:rPr>
              <a:pPr>
                <a:spcBef>
                  <a:spcPct val="0"/>
                </a:spcBef>
                <a:buFontTx/>
                <a:buNone/>
              </a:pPr>
              <a:t>99</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8115" name="Titre 1"/>
          <p:cNvSpPr>
            <a:spLocks noGrp="1"/>
          </p:cNvSpPr>
          <p:nvPr>
            <p:ph type="title"/>
          </p:nvPr>
        </p:nvSpPr>
        <p:spPr/>
        <p:txBody>
          <a:bodyPr/>
          <a:lstStyle/>
          <a:p>
            <a:r>
              <a:rPr lang="fr-FR" altLang="fr-FR"/>
              <a:t>Commentaires sur le projet MOTIVATION</a:t>
            </a:r>
          </a:p>
        </p:txBody>
      </p:sp>
      <p:sp>
        <p:nvSpPr>
          <p:cNvPr id="3" name="Espace réservé du contenu 2"/>
          <p:cNvSpPr>
            <a:spLocks noGrp="1"/>
          </p:cNvSpPr>
          <p:nvPr>
            <p:ph idx="1"/>
          </p:nvPr>
        </p:nvSpPr>
        <p:spPr>
          <a:xfrm>
            <a:off x="82550" y="966788"/>
            <a:ext cx="5172075" cy="5538787"/>
          </a:xfrm>
        </p:spPr>
        <p:txBody>
          <a:bodyPr/>
          <a:lstStyle/>
          <a:p>
            <a:pPr marL="0" indent="17463">
              <a:buFontTx/>
              <a:buNone/>
              <a:defRPr/>
            </a:pPr>
            <a:r>
              <a:rPr lang="fr-FR" sz="1500" dirty="0"/>
              <a:t>L’équipe tire d’elle-même les conclusions du sondage : le personnel se sent peu impliqué dans les performances de la production. Exemple d’améliorations envisageables :</a:t>
            </a:r>
          </a:p>
          <a:p>
            <a:pPr marL="180975" indent="-180975">
              <a:defRPr/>
            </a:pPr>
            <a:r>
              <a:rPr lang="fr-FR" sz="1500" dirty="0"/>
              <a:t>Améliorer la définition d’un « produit bon » par des documents visuels précis.</a:t>
            </a:r>
          </a:p>
          <a:p>
            <a:pPr marL="180975" indent="-180975">
              <a:defRPr/>
            </a:pPr>
            <a:r>
              <a:rPr lang="fr-FR" sz="1500" dirty="0"/>
              <a:t>Améliorer la qualité des surligneurs.</a:t>
            </a:r>
          </a:p>
          <a:p>
            <a:pPr marL="180975" indent="-180975">
              <a:defRPr/>
            </a:pPr>
            <a:r>
              <a:rPr lang="fr-FR" sz="1500" dirty="0"/>
              <a:t>Définir précisément ce qui est attendu d’un opérateur (objectifs sur lesquels il est évalué).</a:t>
            </a:r>
          </a:p>
          <a:p>
            <a:pPr marL="180975" indent="-180975">
              <a:defRPr/>
            </a:pPr>
            <a:r>
              <a:rPr lang="fr-FR" sz="1500" dirty="0"/>
              <a:t>Donner un retour rapide sur la qualité (réunion 5 minutes, affichage des indicateurs).</a:t>
            </a:r>
          </a:p>
          <a:p>
            <a:pPr marL="180975" indent="-180975">
              <a:defRPr/>
            </a:pPr>
            <a:r>
              <a:rPr lang="fr-FR" sz="1500" dirty="0"/>
              <a:t>Renforcer les occasions de manifester de la reconnaissance pour le travail accompli (présentation des résultats à la Direction).</a:t>
            </a:r>
          </a:p>
          <a:p>
            <a:pPr marL="180975" indent="-180975">
              <a:defRPr/>
            </a:pPr>
            <a:r>
              <a:rPr lang="fr-FR" sz="1500" dirty="0"/>
              <a:t>Développer les contacts entre les équipes, et entre l’équipe et les clients.</a:t>
            </a:r>
          </a:p>
          <a:p>
            <a:pPr marL="180975" indent="-180975">
              <a:defRPr/>
            </a:pPr>
            <a:r>
              <a:rPr lang="fr-FR" sz="1500" dirty="0"/>
              <a:t>Créer des occasions pour renforcer l’intégration du  personnel au sein de l’entreprise, développer l’implication du personnel dans le progrès permanent.</a:t>
            </a:r>
          </a:p>
          <a:p>
            <a:pPr marL="0" indent="0">
              <a:buFontTx/>
              <a:buNone/>
              <a:defRPr/>
            </a:pPr>
            <a:r>
              <a:rPr lang="fr-FR" sz="1500" dirty="0"/>
              <a:t>Une partie de ces idées (les 4 premières) pourront être mises en pratique dans la simulation 2. Les autres sont intéressantes à formuler, même si elles ne sont pas mises en application.</a:t>
            </a:r>
          </a:p>
        </p:txBody>
      </p:sp>
      <p:sp>
        <p:nvSpPr>
          <p:cNvPr id="21811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1811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007596C-0313-4EF8-AFEF-0B7B60D80401}" type="slidenum">
              <a:rPr lang="fr-FR" altLang="fr-FR" smtClean="0">
                <a:latin typeface="Calibri" panose="020F0502020204030204" pitchFamily="34" charset="0"/>
              </a:rPr>
              <a:pPr>
                <a:spcBef>
                  <a:spcPct val="0"/>
                </a:spcBef>
                <a:buFontTx/>
                <a:buNone/>
              </a:pPr>
              <a:t>100</a:t>
            </a:fld>
            <a:endParaRPr lang="fr-FR" altLang="fr-FR" dirty="0">
              <a:latin typeface="Calibri" panose="020F0502020204030204" pitchFamily="34" charset="0"/>
            </a:endParaRPr>
          </a:p>
        </p:txBody>
      </p:sp>
      <p:graphicFrame>
        <p:nvGraphicFramePr>
          <p:cNvPr id="16" name="Tableau 15"/>
          <p:cNvGraphicFramePr>
            <a:graphicFrameLocks noGrp="1"/>
          </p:cNvGraphicFramePr>
          <p:nvPr>
            <p:extLst>
              <p:ext uri="{D42A27DB-BD31-4B8C-83A1-F6EECF244321}">
                <p14:modId xmlns:p14="http://schemas.microsoft.com/office/powerpoint/2010/main" val="1040403748"/>
              </p:ext>
            </p:extLst>
          </p:nvPr>
        </p:nvGraphicFramePr>
        <p:xfrm>
          <a:off x="5334000" y="832212"/>
          <a:ext cx="4202113" cy="5679765"/>
        </p:xfrm>
        <a:graphic>
          <a:graphicData uri="http://schemas.openxmlformats.org/drawingml/2006/table">
            <a:tbl>
              <a:tblPr/>
              <a:tblGrid>
                <a:gridCol w="2937483">
                  <a:extLst>
                    <a:ext uri="{9D8B030D-6E8A-4147-A177-3AD203B41FA5}">
                      <a16:colId xmlns:a16="http://schemas.microsoft.com/office/drawing/2014/main" val="20000"/>
                    </a:ext>
                  </a:extLst>
                </a:gridCol>
                <a:gridCol w="268401">
                  <a:extLst>
                    <a:ext uri="{9D8B030D-6E8A-4147-A177-3AD203B41FA5}">
                      <a16:colId xmlns:a16="http://schemas.microsoft.com/office/drawing/2014/main" val="20001"/>
                    </a:ext>
                  </a:extLst>
                </a:gridCol>
                <a:gridCol w="363914">
                  <a:extLst>
                    <a:ext uri="{9D8B030D-6E8A-4147-A177-3AD203B41FA5}">
                      <a16:colId xmlns:a16="http://schemas.microsoft.com/office/drawing/2014/main" val="20002"/>
                    </a:ext>
                  </a:extLst>
                </a:gridCol>
                <a:gridCol w="345431">
                  <a:extLst>
                    <a:ext uri="{9D8B030D-6E8A-4147-A177-3AD203B41FA5}">
                      <a16:colId xmlns:a16="http://schemas.microsoft.com/office/drawing/2014/main" val="20003"/>
                    </a:ext>
                  </a:extLst>
                </a:gridCol>
                <a:gridCol w="286884">
                  <a:extLst>
                    <a:ext uri="{9D8B030D-6E8A-4147-A177-3AD203B41FA5}">
                      <a16:colId xmlns:a16="http://schemas.microsoft.com/office/drawing/2014/main" val="20004"/>
                    </a:ext>
                  </a:extLst>
                </a:gridCol>
              </a:tblGrid>
              <a:tr h="906793">
                <a:tc>
                  <a:txBody>
                    <a:bodyPr/>
                    <a:lstStyle/>
                    <a:p>
                      <a:pPr algn="ctr" rtl="0" fontAlgn="ctr"/>
                      <a:r>
                        <a:rPr lang="fr-FR" sz="1400" b="0" i="0" u="none" strike="noStrike" dirty="0">
                          <a:solidFill>
                            <a:srgbClr val="000000"/>
                          </a:solidFill>
                          <a:latin typeface="Calibri" panose="020F0502020204030204" pitchFamily="34" charset="0"/>
                          <a:cs typeface="Arial" pitchFamily="34" charset="0"/>
                        </a:rPr>
                        <a:t>      Question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fr-FR" sz="1300" b="0" i="0" u="none" strike="noStrike" dirty="0">
                          <a:solidFill>
                            <a:srgbClr val="000000"/>
                          </a:solidFill>
                          <a:latin typeface="Calibri" panose="020F0502020204030204" pitchFamily="34" charset="0"/>
                          <a:cs typeface="Arial" pitchFamily="34" charset="0"/>
                        </a:rPr>
                        <a:t>Non</a:t>
                      </a:r>
                    </a:p>
                  </a:txBody>
                  <a:tcPr marL="36000" marR="36000" marT="536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fr-FR" sz="1300" b="0" i="0" u="none" strike="noStrike" dirty="0">
                          <a:solidFill>
                            <a:srgbClr val="000000"/>
                          </a:solidFill>
                          <a:latin typeface="Calibri" panose="020F0502020204030204" pitchFamily="34" charset="0"/>
                          <a:cs typeface="Arial" pitchFamily="34" charset="0"/>
                        </a:rPr>
                        <a:t>Assez</a:t>
                      </a:r>
                      <a:r>
                        <a:rPr lang="fr-FR" sz="1300" b="0" i="0" u="none" strike="noStrike" baseline="0" dirty="0">
                          <a:solidFill>
                            <a:srgbClr val="000000"/>
                          </a:solidFill>
                          <a:latin typeface="Calibri" panose="020F0502020204030204" pitchFamily="34" charset="0"/>
                          <a:cs typeface="Arial" pitchFamily="34" charset="0"/>
                        </a:rPr>
                        <a:t> peu</a:t>
                      </a:r>
                      <a:endParaRPr lang="fr-FR" sz="1300" b="0" i="0" u="none" strike="noStrike" dirty="0">
                        <a:solidFill>
                          <a:srgbClr val="000000"/>
                        </a:solidFill>
                        <a:latin typeface="Calibri" panose="020F0502020204030204" pitchFamily="34" charset="0"/>
                        <a:cs typeface="Arial" pitchFamily="34" charset="0"/>
                      </a:endParaRPr>
                    </a:p>
                  </a:txBody>
                  <a:tcPr marL="36000" marR="36000" marT="536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fr-FR" sz="1300" b="0" i="0" u="none" strike="noStrike" dirty="0">
                          <a:solidFill>
                            <a:srgbClr val="000000"/>
                          </a:solidFill>
                          <a:latin typeface="Calibri" panose="020F0502020204030204" pitchFamily="34" charset="0"/>
                          <a:cs typeface="Arial" pitchFamily="34" charset="0"/>
                        </a:rPr>
                        <a:t>Assez</a:t>
                      </a:r>
                      <a:r>
                        <a:rPr lang="fr-FR" sz="1300" b="0" i="0" u="none" strike="noStrike" baseline="0" dirty="0">
                          <a:solidFill>
                            <a:srgbClr val="000000"/>
                          </a:solidFill>
                          <a:latin typeface="Calibri" panose="020F0502020204030204" pitchFamily="34" charset="0"/>
                          <a:cs typeface="Arial" pitchFamily="34" charset="0"/>
                        </a:rPr>
                        <a:t> bien</a:t>
                      </a:r>
                      <a:endParaRPr lang="fr-FR" sz="1300" b="0" i="0" u="none" strike="noStrike" dirty="0">
                        <a:solidFill>
                          <a:srgbClr val="000000"/>
                        </a:solidFill>
                        <a:latin typeface="Calibri" panose="020F0502020204030204" pitchFamily="34" charset="0"/>
                        <a:cs typeface="Arial" pitchFamily="34" charset="0"/>
                      </a:endParaRPr>
                    </a:p>
                  </a:txBody>
                  <a:tcPr marL="36000" marR="36000" marT="536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fr-FR" sz="1300" b="0" i="0" u="none" strike="noStrike" kern="1200" dirty="0">
                          <a:solidFill>
                            <a:srgbClr val="000000"/>
                          </a:solidFill>
                          <a:latin typeface="Calibri" panose="020F0502020204030204" pitchFamily="34" charset="0"/>
                          <a:ea typeface="+mn-ea"/>
                          <a:cs typeface="Arial" pitchFamily="34" charset="0"/>
                        </a:rPr>
                        <a:t>oui</a:t>
                      </a:r>
                    </a:p>
                  </a:txBody>
                  <a:tcPr marL="36000" marR="36000" marT="5362" marB="0" vert="vert27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1276">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fr-FR" sz="1400" b="0" i="0" u="none" strike="noStrike" dirty="0">
                          <a:solidFill>
                            <a:srgbClr val="000000"/>
                          </a:solidFill>
                          <a:latin typeface="Calibri" panose="020F0502020204030204" pitchFamily="34" charset="0"/>
                          <a:cs typeface="Arial" pitchFamily="34" charset="0"/>
                        </a:rPr>
                        <a:t>Je</a:t>
                      </a:r>
                      <a:r>
                        <a:rPr lang="fr-FR" sz="1400" b="0" i="0" u="none" strike="noStrike" baseline="0" dirty="0">
                          <a:solidFill>
                            <a:srgbClr val="000000"/>
                          </a:solidFill>
                          <a:latin typeface="Calibri" panose="020F0502020204030204" pitchFamily="34" charset="0"/>
                          <a:cs typeface="Arial" pitchFamily="34" charset="0"/>
                        </a:rPr>
                        <a:t> connais la définition précise d’</a:t>
                      </a:r>
                      <a:r>
                        <a:rPr lang="fr-FR" sz="1400" b="0" i="0" u="none" strike="noStrike" dirty="0">
                          <a:solidFill>
                            <a:srgbClr val="000000"/>
                          </a:solidFill>
                          <a:latin typeface="Calibri" panose="020F0502020204030204" pitchFamily="34" charset="0"/>
                          <a:cs typeface="Arial" pitchFamily="34" charset="0"/>
                        </a:rPr>
                        <a:t>un « bon</a:t>
                      </a:r>
                      <a:r>
                        <a:rPr lang="fr-FR" sz="1400" b="0" i="0" u="none" strike="noStrike" baseline="0" dirty="0">
                          <a:solidFill>
                            <a:srgbClr val="000000"/>
                          </a:solidFill>
                          <a:latin typeface="Calibri" panose="020F0502020204030204" pitchFamily="34" charset="0"/>
                          <a:cs typeface="Arial" pitchFamily="34" charset="0"/>
                        </a:rPr>
                        <a:t> produit ».</a:t>
                      </a:r>
                      <a:endParaRPr lang="fr-FR" sz="1400" b="0" i="0" u="none" strike="noStrike" dirty="0">
                        <a:solidFill>
                          <a:srgbClr val="000000"/>
                        </a:solidFill>
                        <a:latin typeface="Calibri" panose="020F0502020204030204" pitchFamily="34" charset="0"/>
                        <a:cs typeface="Arial" pitchFamily="34" charset="0"/>
                      </a:endParaRP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2 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3 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fr-FR" sz="1200" b="0" dirty="0">
                          <a:solidFill>
                            <a:schemeClr val="tx1"/>
                          </a:solidFill>
                          <a:latin typeface="Calibri" panose="020F0502020204030204" pitchFamily="34" charset="0"/>
                          <a:cs typeface="Arial" pitchFamily="34" charset="0"/>
                        </a:rPr>
                        <a:t>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276">
                <a:tc>
                  <a:txBody>
                    <a:bodyPr/>
                    <a:lstStyle/>
                    <a:p>
                      <a:pPr algn="l" rtl="0" fontAlgn="ctr"/>
                      <a:r>
                        <a:rPr lang="fr-FR" sz="1400" b="0" i="0" u="none" strike="noStrike" dirty="0">
                          <a:solidFill>
                            <a:srgbClr val="000000"/>
                          </a:solidFill>
                          <a:latin typeface="Calibri" panose="020F0502020204030204" pitchFamily="34" charset="0"/>
                          <a:cs typeface="Arial" pitchFamily="34" charset="0"/>
                        </a:rPr>
                        <a:t>Je dispose du matériel approprié pour faire mon travail.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2</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3578">
                <a:tc>
                  <a:txBody>
                    <a:bodyPr/>
                    <a:lstStyle/>
                    <a:p>
                      <a:pPr algn="l" rtl="0" fontAlgn="ctr"/>
                      <a:r>
                        <a:rPr lang="fr-FR" sz="1400" b="0" i="0" u="none" strike="noStrike" dirty="0">
                          <a:solidFill>
                            <a:srgbClr val="000000"/>
                          </a:solidFill>
                          <a:latin typeface="Calibri" panose="020F0502020204030204" pitchFamily="34" charset="0"/>
                          <a:cs typeface="Arial" pitchFamily="34" charset="0"/>
                        </a:rPr>
                        <a:t>Je connais les objectifs sur lesquels je serai évalué.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1</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2</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3578">
                <a:tc>
                  <a:txBody>
                    <a:bodyPr/>
                    <a:lstStyle/>
                    <a:p>
                      <a:pPr algn="l" rtl="0" fontAlgn="ctr"/>
                      <a:r>
                        <a:rPr lang="fr-FR" sz="1400" b="0" i="0" u="none" strike="noStrike" dirty="0">
                          <a:solidFill>
                            <a:srgbClr val="000000"/>
                          </a:solidFill>
                          <a:latin typeface="Calibri" panose="020F0502020204030204" pitchFamily="34" charset="0"/>
                          <a:cs typeface="Arial" pitchFamily="34" charset="0"/>
                        </a:rPr>
                        <a:t>Je suis informé de la qualité de mon travail</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2 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3578">
                <a:tc>
                  <a:txBody>
                    <a:bodyPr/>
                    <a:lstStyle/>
                    <a:p>
                      <a:pPr marL="0" marR="0" indent="0" algn="l" defTabSz="948873" rtl="0" eaLnBrk="1" fontAlgn="ctr" latinLnBrk="0" hangingPunct="1">
                        <a:lnSpc>
                          <a:spcPct val="100000"/>
                        </a:lnSpc>
                        <a:spcBef>
                          <a:spcPts val="0"/>
                        </a:spcBef>
                        <a:spcAft>
                          <a:spcPts val="0"/>
                        </a:spcAft>
                        <a:buClrTx/>
                        <a:buSzTx/>
                        <a:buFontTx/>
                        <a:buNone/>
                        <a:tabLst/>
                        <a:defRPr/>
                      </a:pPr>
                      <a:r>
                        <a:rPr lang="fr-FR" sz="1400" b="0" i="0" u="none" strike="noStrike" dirty="0">
                          <a:solidFill>
                            <a:srgbClr val="000000"/>
                          </a:solidFill>
                          <a:latin typeface="Calibri" panose="020F0502020204030204" pitchFamily="34" charset="0"/>
                          <a:cs typeface="Arial" pitchFamily="34" charset="0"/>
                        </a:rPr>
                        <a:t>J’ai des remerciements quand je fais du bon</a:t>
                      </a:r>
                      <a:r>
                        <a:rPr lang="fr-FR" sz="1400" b="0" i="0" u="none" strike="noStrike" baseline="0" dirty="0">
                          <a:solidFill>
                            <a:srgbClr val="000000"/>
                          </a:solidFill>
                          <a:latin typeface="Calibri" panose="020F0502020204030204" pitchFamily="34" charset="0"/>
                          <a:cs typeface="Arial" pitchFamily="34" charset="0"/>
                        </a:rPr>
                        <a:t> travail</a:t>
                      </a:r>
                      <a:r>
                        <a:rPr lang="fr-FR" sz="1400" b="0" i="0" u="none" strike="noStrike" dirty="0">
                          <a:solidFill>
                            <a:srgbClr val="000000"/>
                          </a:solidFill>
                          <a:latin typeface="Calibri" panose="020F0502020204030204" pitchFamily="34" charset="0"/>
                          <a:cs typeface="Arial" pitchFamily="34" charset="0"/>
                        </a:rPr>
                        <a:t>.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2</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1276">
                <a:tc>
                  <a:txBody>
                    <a:bodyPr/>
                    <a:lstStyle/>
                    <a:p>
                      <a:pPr algn="l" rtl="0" fontAlgn="ctr"/>
                      <a:r>
                        <a:rPr lang="fr-FR" sz="1400" b="0" i="0" u="none" strike="noStrike" dirty="0">
                          <a:solidFill>
                            <a:srgbClr val="000000"/>
                          </a:solidFill>
                          <a:latin typeface="Calibri" panose="020F0502020204030204" pitchFamily="34" charset="0"/>
                          <a:cs typeface="Arial" pitchFamily="34" charset="0"/>
                        </a:rPr>
                        <a:t>J’ai </a:t>
                      </a:r>
                      <a:r>
                        <a:rPr lang="fr-FR" sz="1400" b="0" i="0" u="none" strike="noStrike" baseline="0" dirty="0">
                          <a:solidFill>
                            <a:srgbClr val="000000"/>
                          </a:solidFill>
                          <a:latin typeface="Calibri" panose="020F0502020204030204" pitchFamily="34" charset="0"/>
                          <a:cs typeface="Arial" pitchFamily="34" charset="0"/>
                        </a:rPr>
                        <a:t>le sentiment de travailler en équipe, j’ai d</a:t>
                      </a:r>
                      <a:r>
                        <a:rPr lang="fr-FR" sz="1400" b="0" i="0" u="none" strike="noStrike" dirty="0">
                          <a:solidFill>
                            <a:srgbClr val="000000"/>
                          </a:solidFill>
                          <a:latin typeface="Calibri" panose="020F0502020204030204" pitchFamily="34" charset="0"/>
                          <a:cs typeface="Arial" pitchFamily="34" charset="0"/>
                        </a:rPr>
                        <a:t>e bons contacts avec les autres ateliers.</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2</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71276">
                <a:tc>
                  <a:txBody>
                    <a:bodyPr/>
                    <a:lstStyle/>
                    <a:p>
                      <a:pPr algn="l" rtl="0" fontAlgn="ctr"/>
                      <a:r>
                        <a:rPr lang="fr-FR" sz="1400" b="0" i="0" u="none" strike="noStrike" dirty="0">
                          <a:solidFill>
                            <a:srgbClr val="000000"/>
                          </a:solidFill>
                          <a:latin typeface="Calibri" panose="020F0502020204030204" pitchFamily="34" charset="0"/>
                          <a:cs typeface="Arial" pitchFamily="34" charset="0"/>
                        </a:rPr>
                        <a:t>Je comprends à quoi servent les produits que je fabrique et je connais les conséquences d’un défaut sur l’utilisation</a:t>
                      </a:r>
                      <a:r>
                        <a:rPr lang="fr-FR" sz="1400" b="0" i="0" u="none" strike="noStrike" baseline="0" dirty="0">
                          <a:solidFill>
                            <a:srgbClr val="000000"/>
                          </a:solidFill>
                          <a:latin typeface="Calibri" panose="020F0502020204030204" pitchFamily="34" charset="0"/>
                          <a:cs typeface="Arial" pitchFamily="34" charset="0"/>
                        </a:rPr>
                        <a:t> du produit.</a:t>
                      </a:r>
                      <a:endParaRPr lang="fr-FR" sz="1400" b="0" i="0" u="none" strike="noStrike" dirty="0">
                        <a:solidFill>
                          <a:srgbClr val="000000"/>
                        </a:solidFill>
                        <a:latin typeface="Calibri" panose="020F0502020204030204" pitchFamily="34" charset="0"/>
                        <a:cs typeface="Arial" pitchFamily="34" charset="0"/>
                      </a:endParaRP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2 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71276">
                <a:tc>
                  <a:txBody>
                    <a:bodyPr/>
                    <a:lstStyle/>
                    <a:p>
                      <a:pPr algn="l" rtl="0" fontAlgn="ctr"/>
                      <a:r>
                        <a:rPr lang="fr-FR" sz="1400" b="0" i="0" u="none" strike="noStrike" dirty="0">
                          <a:solidFill>
                            <a:srgbClr val="000000"/>
                          </a:solidFill>
                          <a:latin typeface="Calibri" panose="020F0502020204030204" pitchFamily="34" charset="0"/>
                          <a:cs typeface="Arial" pitchFamily="34" charset="0"/>
                        </a:rPr>
                        <a:t>Je suis fier d’appartenir à mon entreprise, j’ai le sentiment de contribuer à sa réussite.</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1 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2 </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3</a:t>
                      </a:r>
                    </a:p>
                  </a:txBody>
                  <a:tcPr marL="72000" marR="36000" marT="536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fr-FR" sz="1200" b="0" i="0" u="none" strike="noStrike" dirty="0">
                          <a:solidFill>
                            <a:schemeClr val="tx1"/>
                          </a:solidFill>
                          <a:latin typeface="Calibri" panose="020F0502020204030204" pitchFamily="34" charset="0"/>
                          <a:cs typeface="Arial" pitchFamily="34" charset="0"/>
                        </a:rPr>
                        <a:t> 4</a:t>
                      </a:r>
                    </a:p>
                  </a:txBody>
                  <a:tcPr marL="72000" marR="36000" marT="536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pic>
        <p:nvPicPr>
          <p:cNvPr id="9"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0162" name="Titre 1"/>
          <p:cNvSpPr>
            <a:spLocks noGrp="1"/>
          </p:cNvSpPr>
          <p:nvPr>
            <p:ph type="title"/>
          </p:nvPr>
        </p:nvSpPr>
        <p:spPr/>
        <p:txBody>
          <a:bodyPr/>
          <a:lstStyle/>
          <a:p>
            <a:r>
              <a:rPr lang="fr-FR" altLang="fr-FR"/>
              <a:t>Commentaires sur les échanges de l’équipe MOTIVATION</a:t>
            </a:r>
          </a:p>
        </p:txBody>
      </p:sp>
      <p:sp>
        <p:nvSpPr>
          <p:cNvPr id="220163" name="Espace réservé du contenu 2"/>
          <p:cNvSpPr>
            <a:spLocks noGrp="1"/>
          </p:cNvSpPr>
          <p:nvPr>
            <p:ph idx="1"/>
          </p:nvPr>
        </p:nvSpPr>
        <p:spPr>
          <a:xfrm>
            <a:off x="236538" y="1231900"/>
            <a:ext cx="9137650" cy="4967288"/>
          </a:xfrm>
        </p:spPr>
        <p:txBody>
          <a:bodyPr/>
          <a:lstStyle/>
          <a:p>
            <a:pPr>
              <a:buFontTx/>
              <a:buAutoNum type="arabicPeriod" startAt="3"/>
            </a:pPr>
            <a:r>
              <a:rPr lang="fr-FR" altLang="fr-FR" dirty="0">
                <a:cs typeface="Arial" panose="020B0604020202020204" pitchFamily="34" charset="0"/>
                <a:sym typeface="Wingdings" panose="05000000000000000000" pitchFamily="2" charset="2"/>
              </a:rPr>
              <a:t>L’équipe RÉIMPLANTATION travaille sur un réorganisation des ateliers. Cela peut-il vous aider ?</a:t>
            </a:r>
          </a:p>
          <a:p>
            <a:r>
              <a:rPr lang="fr-FR" altLang="fr-FR" dirty="0">
                <a:cs typeface="Arial" panose="020B0604020202020204" pitchFamily="34" charset="0"/>
                <a:sym typeface="Wingdings" panose="05000000000000000000" pitchFamily="2" charset="2"/>
              </a:rPr>
              <a:t>On retrouve ici les arguments évoqués plus haut quand la question a été envisagée du point de vue de l’équipe Implantation, à savoir : le changement peut rencontrer au départ une opposition, mais </a:t>
            </a:r>
            <a:r>
              <a:rPr lang="fr-FR" altLang="fr-FR" dirty="0"/>
              <a:t>une fois réalisée la nouvelle implantation présente des avantages : responsabilité plus claire, meilleure solidarité, objectifs de performance plus cohérents, davantage d’autonomie, meilleure communication.</a:t>
            </a:r>
          </a:p>
          <a:p>
            <a:endParaRPr lang="fr-FR" altLang="fr-FR" dirty="0">
              <a:cs typeface="Arial" panose="020B0604020202020204" pitchFamily="34" charset="0"/>
              <a:sym typeface="Wingdings" panose="05000000000000000000" pitchFamily="2" charset="2"/>
            </a:endParaRPr>
          </a:p>
          <a:p>
            <a:endParaRPr lang="fr-FR" altLang="fr-FR" dirty="0"/>
          </a:p>
          <a:p>
            <a:pPr>
              <a:buFontTx/>
              <a:buNone/>
            </a:pPr>
            <a:endParaRPr lang="fr-FR" altLang="fr-FR" dirty="0"/>
          </a:p>
        </p:txBody>
      </p:sp>
      <p:sp>
        <p:nvSpPr>
          <p:cNvPr id="22016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2016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FF23BD5-31FE-4F73-80A2-650CBCD3F5CF}" type="slidenum">
              <a:rPr lang="fr-FR" altLang="fr-FR" smtClean="0">
                <a:latin typeface="Calibri" panose="020F0502020204030204" pitchFamily="34" charset="0"/>
              </a:rPr>
              <a:pPr>
                <a:spcBef>
                  <a:spcPct val="0"/>
                </a:spcBef>
                <a:buFontTx/>
                <a:buNone/>
              </a:pPr>
              <a:t>101</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2210" name="Titre 1"/>
          <p:cNvSpPr>
            <a:spLocks noGrp="1"/>
          </p:cNvSpPr>
          <p:nvPr>
            <p:ph type="title"/>
          </p:nvPr>
        </p:nvSpPr>
        <p:spPr/>
        <p:txBody>
          <a:bodyPr/>
          <a:lstStyle/>
          <a:p>
            <a:r>
              <a:rPr lang="fr-FR" altLang="fr-FR"/>
              <a:t>Synthèse sur les échanges</a:t>
            </a:r>
          </a:p>
        </p:txBody>
      </p:sp>
      <p:sp>
        <p:nvSpPr>
          <p:cNvPr id="22221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2221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45D5EEFE-C7CD-4651-B228-C88AAD6C3B00}" type="slidenum">
              <a:rPr lang="fr-FR" altLang="fr-FR" smtClean="0">
                <a:latin typeface="Calibri" panose="020F0502020204030204" pitchFamily="34" charset="0"/>
              </a:rPr>
              <a:pPr>
                <a:spcBef>
                  <a:spcPct val="0"/>
                </a:spcBef>
                <a:buFontTx/>
                <a:buNone/>
              </a:pPr>
              <a:t>102</a:t>
            </a:fld>
            <a:endParaRPr lang="fr-FR" altLang="fr-FR" dirty="0">
              <a:latin typeface="Calibri" panose="020F0502020204030204" pitchFamily="34" charset="0"/>
            </a:endParaRPr>
          </a:p>
        </p:txBody>
      </p:sp>
      <p:sp>
        <p:nvSpPr>
          <p:cNvPr id="222213" name="ZoneTexte 5"/>
          <p:cNvSpPr txBox="1">
            <a:spLocks noChangeArrowheads="1"/>
          </p:cNvSpPr>
          <p:nvPr/>
        </p:nvSpPr>
        <p:spPr bwMode="auto">
          <a:xfrm>
            <a:off x="990754" y="1327150"/>
            <a:ext cx="6078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2000" dirty="0">
                <a:latin typeface="Calibri" panose="020F0502020204030204" pitchFamily="34" charset="0"/>
              </a:rPr>
              <a:t>Flux</a:t>
            </a:r>
          </a:p>
        </p:txBody>
      </p:sp>
      <p:sp>
        <p:nvSpPr>
          <p:cNvPr id="222214" name="ZoneTexte 6"/>
          <p:cNvSpPr txBox="1">
            <a:spLocks noChangeArrowheads="1"/>
          </p:cNvSpPr>
          <p:nvPr/>
        </p:nvSpPr>
        <p:spPr bwMode="auto">
          <a:xfrm>
            <a:off x="91918" y="2678113"/>
            <a:ext cx="15066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2000" dirty="0">
                <a:latin typeface="Calibri" panose="020F0502020204030204" pitchFamily="34" charset="0"/>
              </a:rPr>
              <a:t>Productivité </a:t>
            </a:r>
          </a:p>
        </p:txBody>
      </p:sp>
      <p:sp>
        <p:nvSpPr>
          <p:cNvPr id="222215" name="ZoneTexte 7"/>
          <p:cNvSpPr txBox="1">
            <a:spLocks noChangeArrowheads="1"/>
          </p:cNvSpPr>
          <p:nvPr/>
        </p:nvSpPr>
        <p:spPr bwMode="auto">
          <a:xfrm>
            <a:off x="17463" y="4159250"/>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2000" dirty="0">
                <a:latin typeface="Calibri" panose="020F0502020204030204" pitchFamily="34" charset="0"/>
              </a:rPr>
              <a:t>Implantation</a:t>
            </a:r>
          </a:p>
        </p:txBody>
      </p:sp>
      <p:sp>
        <p:nvSpPr>
          <p:cNvPr id="222216" name="ZoneTexte 8"/>
          <p:cNvSpPr txBox="1">
            <a:spLocks noChangeArrowheads="1"/>
          </p:cNvSpPr>
          <p:nvPr/>
        </p:nvSpPr>
        <p:spPr bwMode="auto">
          <a:xfrm>
            <a:off x="4632246" y="504825"/>
            <a:ext cx="15066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Productivité </a:t>
            </a:r>
          </a:p>
        </p:txBody>
      </p:sp>
      <p:sp>
        <p:nvSpPr>
          <p:cNvPr id="222217" name="ZoneTexte 9"/>
          <p:cNvSpPr txBox="1">
            <a:spLocks noChangeArrowheads="1"/>
          </p:cNvSpPr>
          <p:nvPr/>
        </p:nvSpPr>
        <p:spPr bwMode="auto">
          <a:xfrm>
            <a:off x="7045325" y="504825"/>
            <a:ext cx="2078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Qualité - RH</a:t>
            </a:r>
          </a:p>
        </p:txBody>
      </p:sp>
      <p:sp>
        <p:nvSpPr>
          <p:cNvPr id="222218" name="Rectangle 10"/>
          <p:cNvSpPr>
            <a:spLocks noChangeArrowheads="1"/>
          </p:cNvSpPr>
          <p:nvPr/>
        </p:nvSpPr>
        <p:spPr bwMode="auto">
          <a:xfrm>
            <a:off x="4397375" y="927100"/>
            <a:ext cx="2268538"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Équilibrage de la charge entre les postes de travail </a:t>
            </a:r>
          </a:p>
        </p:txBody>
      </p:sp>
      <p:sp>
        <p:nvSpPr>
          <p:cNvPr id="222219" name="Rectangle 11"/>
          <p:cNvSpPr>
            <a:spLocks noChangeArrowheads="1"/>
          </p:cNvSpPr>
          <p:nvPr/>
        </p:nvSpPr>
        <p:spPr bwMode="auto">
          <a:xfrm>
            <a:off x="6927850" y="927100"/>
            <a:ext cx="2266950"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Accélération du flux et réaction plus rapide aux non conformités</a:t>
            </a:r>
          </a:p>
        </p:txBody>
      </p:sp>
      <p:sp>
        <p:nvSpPr>
          <p:cNvPr id="222220" name="Rectangle 12"/>
          <p:cNvSpPr>
            <a:spLocks noChangeArrowheads="1"/>
          </p:cNvSpPr>
          <p:nvPr/>
        </p:nvSpPr>
        <p:spPr bwMode="auto">
          <a:xfrm>
            <a:off x="6927850" y="2354263"/>
            <a:ext cx="2266950"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Nouvelle organisation du travail</a:t>
            </a:r>
          </a:p>
        </p:txBody>
      </p:sp>
      <p:sp>
        <p:nvSpPr>
          <p:cNvPr id="222221" name="Rectangle 13"/>
          <p:cNvSpPr>
            <a:spLocks noChangeArrowheads="1"/>
          </p:cNvSpPr>
          <p:nvPr/>
        </p:nvSpPr>
        <p:spPr bwMode="auto">
          <a:xfrm>
            <a:off x="6927850" y="3767138"/>
            <a:ext cx="2266950"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La nouvelle implantation sera-t-elle acceptée par le personnel ?</a:t>
            </a:r>
          </a:p>
        </p:txBody>
      </p:sp>
      <p:sp>
        <p:nvSpPr>
          <p:cNvPr id="222222" name="Rectangle 14"/>
          <p:cNvSpPr>
            <a:spLocks noChangeArrowheads="1"/>
          </p:cNvSpPr>
          <p:nvPr/>
        </p:nvSpPr>
        <p:spPr bwMode="auto">
          <a:xfrm>
            <a:off x="4397375" y="3767138"/>
            <a:ext cx="2268538"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Réimplantation des ateliers et du magasin d’outillage</a:t>
            </a:r>
          </a:p>
        </p:txBody>
      </p:sp>
      <p:sp>
        <p:nvSpPr>
          <p:cNvPr id="222223" name="Rectangle 15"/>
          <p:cNvSpPr>
            <a:spLocks noChangeArrowheads="1"/>
          </p:cNvSpPr>
          <p:nvPr/>
        </p:nvSpPr>
        <p:spPr bwMode="auto">
          <a:xfrm>
            <a:off x="4397375" y="5183188"/>
            <a:ext cx="2268538" cy="1296987"/>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marL="180975" indent="-180975">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pPr>
            <a:r>
              <a:rPr lang="fr-FR" altLang="fr-FR" sz="1800" dirty="0" err="1">
                <a:latin typeface="Calibri" panose="020F0502020204030204" pitchFamily="34" charset="0"/>
              </a:rPr>
              <a:t>Auto-contrôle</a:t>
            </a:r>
            <a:endParaRPr lang="fr-FR" altLang="fr-FR" sz="1800" dirty="0">
              <a:latin typeface="Calibri" panose="020F0502020204030204" pitchFamily="34" charset="0"/>
            </a:endParaRPr>
          </a:p>
          <a:p>
            <a:pPr algn="ctr" eaLnBrk="1" hangingPunct="1">
              <a:spcBef>
                <a:spcPct val="0"/>
              </a:spcBef>
            </a:pPr>
            <a:r>
              <a:rPr lang="fr-FR" altLang="fr-FR" sz="1800" dirty="0">
                <a:latin typeface="Calibri" panose="020F0502020204030204" pitchFamily="34" charset="0"/>
              </a:rPr>
              <a:t>Développement des compétences</a:t>
            </a:r>
          </a:p>
        </p:txBody>
      </p:sp>
      <p:sp>
        <p:nvSpPr>
          <p:cNvPr id="222224" name="Rectangle 16"/>
          <p:cNvSpPr>
            <a:spLocks noChangeArrowheads="1"/>
          </p:cNvSpPr>
          <p:nvPr/>
        </p:nvSpPr>
        <p:spPr bwMode="auto">
          <a:xfrm>
            <a:off x="1770063" y="2354263"/>
            <a:ext cx="2268537"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Amélioration des cadences</a:t>
            </a:r>
          </a:p>
        </p:txBody>
      </p:sp>
      <p:sp>
        <p:nvSpPr>
          <p:cNvPr id="222225" name="Rectangle 17"/>
          <p:cNvSpPr>
            <a:spLocks noChangeArrowheads="1"/>
          </p:cNvSpPr>
          <p:nvPr/>
        </p:nvSpPr>
        <p:spPr bwMode="auto">
          <a:xfrm>
            <a:off x="1770063" y="3767138"/>
            <a:ext cx="2268537" cy="1295400"/>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Rapprochement des ateliers</a:t>
            </a:r>
          </a:p>
        </p:txBody>
      </p:sp>
      <p:sp>
        <p:nvSpPr>
          <p:cNvPr id="222226" name="Rectangle 18"/>
          <p:cNvSpPr>
            <a:spLocks noChangeArrowheads="1"/>
          </p:cNvSpPr>
          <p:nvPr/>
        </p:nvSpPr>
        <p:spPr bwMode="auto">
          <a:xfrm>
            <a:off x="1770063" y="5183188"/>
            <a:ext cx="2268537" cy="1296987"/>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Développement de la polyvalence</a:t>
            </a:r>
          </a:p>
        </p:txBody>
      </p:sp>
      <p:sp>
        <p:nvSpPr>
          <p:cNvPr id="222227" name="ZoneTexte 19"/>
          <p:cNvSpPr txBox="1">
            <a:spLocks noChangeArrowheads="1"/>
          </p:cNvSpPr>
          <p:nvPr/>
        </p:nvSpPr>
        <p:spPr bwMode="auto">
          <a:xfrm>
            <a:off x="2355927" y="504825"/>
            <a:ext cx="6078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latin typeface="Calibri" panose="020F0502020204030204" pitchFamily="34" charset="0"/>
              </a:rPr>
              <a:t>Flux</a:t>
            </a:r>
          </a:p>
        </p:txBody>
      </p:sp>
      <p:sp>
        <p:nvSpPr>
          <p:cNvPr id="222228" name="ZoneTexte 20"/>
          <p:cNvSpPr txBox="1">
            <a:spLocks noChangeArrowheads="1"/>
          </p:cNvSpPr>
          <p:nvPr/>
        </p:nvSpPr>
        <p:spPr bwMode="auto">
          <a:xfrm>
            <a:off x="117475" y="5505450"/>
            <a:ext cx="14811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2000" dirty="0">
                <a:latin typeface="Calibri" panose="020F0502020204030204" pitchFamily="34" charset="0"/>
              </a:rPr>
              <a:t>Qualité  RH</a:t>
            </a:r>
          </a:p>
        </p:txBody>
      </p:sp>
      <p:sp>
        <p:nvSpPr>
          <p:cNvPr id="22" name="Rectangle 21"/>
          <p:cNvSpPr/>
          <p:nvPr/>
        </p:nvSpPr>
        <p:spPr bwMode="auto">
          <a:xfrm>
            <a:off x="4397375" y="2354263"/>
            <a:ext cx="2268538" cy="1295400"/>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800" dirty="0">
              <a:latin typeface="Calibri" panose="020F0502020204030204" pitchFamily="34" charset="0"/>
            </a:endParaRPr>
          </a:p>
        </p:txBody>
      </p:sp>
      <p:sp>
        <p:nvSpPr>
          <p:cNvPr id="23" name="Rectangle 22"/>
          <p:cNvSpPr/>
          <p:nvPr/>
        </p:nvSpPr>
        <p:spPr bwMode="auto">
          <a:xfrm>
            <a:off x="6927850" y="5183188"/>
            <a:ext cx="2266950" cy="1296987"/>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800" dirty="0">
              <a:latin typeface="Calibri" panose="020F0502020204030204" pitchFamily="34" charset="0"/>
            </a:endParaRPr>
          </a:p>
        </p:txBody>
      </p:sp>
      <p:sp>
        <p:nvSpPr>
          <p:cNvPr id="24" name="Rectangle 23"/>
          <p:cNvSpPr/>
          <p:nvPr/>
        </p:nvSpPr>
        <p:spPr bwMode="auto">
          <a:xfrm>
            <a:off x="1770063" y="927100"/>
            <a:ext cx="2268537" cy="1295400"/>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800" dirty="0">
              <a:latin typeface="Calibri" panose="020F0502020204030204" pitchFamily="34" charset="0"/>
            </a:endParaRPr>
          </a:p>
        </p:txBody>
      </p:sp>
      <p:pic>
        <p:nvPicPr>
          <p:cNvPr id="25"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22425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2425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6E87026-9F4F-4514-93D2-1DA7C14A2A56}" type="slidenum">
              <a:rPr lang="fr-FR" altLang="fr-FR" smtClean="0">
                <a:latin typeface="Calibri" panose="020F0502020204030204" pitchFamily="34" charset="0"/>
              </a:rPr>
              <a:pPr>
                <a:spcBef>
                  <a:spcPct val="0"/>
                </a:spcBef>
                <a:buFontTx/>
                <a:buNone/>
              </a:pPr>
              <a:t>103</a:t>
            </a:fld>
            <a:endParaRPr lang="fr-FR" altLang="fr-FR" dirty="0">
              <a:latin typeface="Calibri" panose="020F0502020204030204" pitchFamily="34" charset="0"/>
            </a:endParaRPr>
          </a:p>
        </p:txBody>
      </p:sp>
      <p:sp>
        <p:nvSpPr>
          <p:cNvPr id="6" name="Rectangle 5"/>
          <p:cNvSpPr/>
          <p:nvPr/>
        </p:nvSpPr>
        <p:spPr>
          <a:xfrm>
            <a:off x="372034" y="1980704"/>
            <a:ext cx="8924366" cy="1200329"/>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5. Simulation n°2</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8" name="Titre 1"/>
          <p:cNvSpPr>
            <a:spLocks noGrp="1"/>
          </p:cNvSpPr>
          <p:nvPr>
            <p:ph type="title"/>
          </p:nvPr>
        </p:nvSpPr>
        <p:spPr/>
        <p:txBody>
          <a:bodyPr/>
          <a:lstStyle/>
          <a:p>
            <a:r>
              <a:rPr lang="fr-FR" altLang="fr-FR"/>
              <a:t>Réimplantation</a:t>
            </a:r>
          </a:p>
        </p:txBody>
      </p:sp>
      <p:sp>
        <p:nvSpPr>
          <p:cNvPr id="22630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2631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0B2AE68-F4ED-4CE4-BAFD-31D8A9B0F7DC}" type="slidenum">
              <a:rPr lang="fr-FR" altLang="fr-FR" smtClean="0">
                <a:latin typeface="Calibri" panose="020F0502020204030204" pitchFamily="34" charset="0"/>
              </a:rPr>
              <a:pPr>
                <a:spcBef>
                  <a:spcPct val="0"/>
                </a:spcBef>
                <a:buFontTx/>
                <a:buNone/>
              </a:pPr>
              <a:t>104</a:t>
            </a:fld>
            <a:endParaRPr lang="fr-FR" altLang="fr-FR" dirty="0">
              <a:latin typeface="Calibri" panose="020F0502020204030204" pitchFamily="34" charset="0"/>
            </a:endParaRPr>
          </a:p>
        </p:txBody>
      </p:sp>
      <p:grpSp>
        <p:nvGrpSpPr>
          <p:cNvPr id="103" name="Groupe 102"/>
          <p:cNvGrpSpPr/>
          <p:nvPr/>
        </p:nvGrpSpPr>
        <p:grpSpPr>
          <a:xfrm>
            <a:off x="114300" y="1803400"/>
            <a:ext cx="3657600" cy="2590800"/>
            <a:chOff x="5143500" y="1816100"/>
            <a:chExt cx="4254500" cy="2590800"/>
          </a:xfrm>
        </p:grpSpPr>
        <p:cxnSp>
          <p:nvCxnSpPr>
            <p:cNvPr id="104" name="Connecteur droit 103"/>
            <p:cNvCxnSpPr/>
            <p:nvPr/>
          </p:nvCxnSpPr>
          <p:spPr bwMode="auto">
            <a:xfrm rot="10800000">
              <a:off x="5143500" y="1828800"/>
              <a:ext cx="4241800"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105" name="Connecteur droit 104"/>
            <p:cNvCxnSpPr/>
            <p:nvPr/>
          </p:nvCxnSpPr>
          <p:spPr bwMode="auto">
            <a:xfrm rot="5400000">
              <a:off x="3848100" y="3111500"/>
              <a:ext cx="2590800"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106" name="Connecteur droit 105"/>
            <p:cNvCxnSpPr/>
            <p:nvPr/>
          </p:nvCxnSpPr>
          <p:spPr bwMode="auto">
            <a:xfrm rot="10800000">
              <a:off x="5156200" y="4406900"/>
              <a:ext cx="4241800" cy="0"/>
            </a:xfrm>
            <a:prstGeom prst="line">
              <a:avLst/>
            </a:prstGeom>
            <a:solidFill>
              <a:schemeClr val="accent1"/>
            </a:solidFill>
            <a:ln w="19050" cap="flat" cmpd="sng" algn="ctr">
              <a:solidFill>
                <a:srgbClr val="FF0000"/>
              </a:solidFill>
              <a:prstDash val="solid"/>
              <a:round/>
              <a:headEnd type="triangle" w="med" len="med"/>
              <a:tailEnd type="none" w="med" len="med"/>
            </a:ln>
            <a:effectLst/>
          </p:spPr>
        </p:cxnSp>
      </p:grpSp>
      <p:grpSp>
        <p:nvGrpSpPr>
          <p:cNvPr id="107" name="Groupe 106"/>
          <p:cNvGrpSpPr/>
          <p:nvPr/>
        </p:nvGrpSpPr>
        <p:grpSpPr>
          <a:xfrm>
            <a:off x="5308600" y="1816100"/>
            <a:ext cx="3403600" cy="2590800"/>
            <a:chOff x="5143500" y="1816100"/>
            <a:chExt cx="4254500" cy="2590800"/>
          </a:xfrm>
        </p:grpSpPr>
        <p:cxnSp>
          <p:nvCxnSpPr>
            <p:cNvPr id="108" name="Connecteur droit 107"/>
            <p:cNvCxnSpPr/>
            <p:nvPr/>
          </p:nvCxnSpPr>
          <p:spPr bwMode="auto">
            <a:xfrm rot="10800000">
              <a:off x="5143500" y="1828800"/>
              <a:ext cx="4241800"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109" name="Connecteur droit 108"/>
            <p:cNvCxnSpPr/>
            <p:nvPr/>
          </p:nvCxnSpPr>
          <p:spPr bwMode="auto">
            <a:xfrm rot="5400000">
              <a:off x="3848100" y="3111500"/>
              <a:ext cx="2590800" cy="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110" name="Connecteur droit 109"/>
            <p:cNvCxnSpPr/>
            <p:nvPr/>
          </p:nvCxnSpPr>
          <p:spPr bwMode="auto">
            <a:xfrm rot="10800000">
              <a:off x="5156200" y="4406900"/>
              <a:ext cx="4241800" cy="0"/>
            </a:xfrm>
            <a:prstGeom prst="line">
              <a:avLst/>
            </a:prstGeom>
            <a:solidFill>
              <a:schemeClr val="accent1"/>
            </a:solidFill>
            <a:ln w="19050" cap="flat" cmpd="sng" algn="ctr">
              <a:solidFill>
                <a:srgbClr val="FF0000"/>
              </a:solidFill>
              <a:prstDash val="solid"/>
              <a:round/>
              <a:headEnd type="triangle" w="med" len="med"/>
              <a:tailEnd type="none" w="med" len="med"/>
            </a:ln>
            <a:effectLst/>
          </p:spPr>
        </p:cxnSp>
      </p:grpSp>
      <p:grpSp>
        <p:nvGrpSpPr>
          <p:cNvPr id="111" name="Groupe 110"/>
          <p:cNvGrpSpPr/>
          <p:nvPr/>
        </p:nvGrpSpPr>
        <p:grpSpPr>
          <a:xfrm>
            <a:off x="406400" y="1381456"/>
            <a:ext cx="1127554" cy="1232932"/>
            <a:chOff x="787400" y="1562100"/>
            <a:chExt cx="1358900" cy="1485900"/>
          </a:xfrm>
        </p:grpSpPr>
        <p:sp>
          <p:nvSpPr>
            <p:cNvPr id="112" name="Rectangle 111"/>
            <p:cNvSpPr/>
            <p:nvPr/>
          </p:nvSpPr>
          <p:spPr bwMode="auto">
            <a:xfrm>
              <a:off x="787400" y="15621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13" name="Groupe 112"/>
            <p:cNvGrpSpPr/>
            <p:nvPr/>
          </p:nvGrpSpPr>
          <p:grpSpPr>
            <a:xfrm>
              <a:off x="957263" y="1732755"/>
              <a:ext cx="1087437" cy="1178719"/>
              <a:chOff x="957263" y="1732755"/>
              <a:chExt cx="1087437" cy="1178719"/>
            </a:xfrm>
          </p:grpSpPr>
          <p:sp>
            <p:nvSpPr>
              <p:cNvPr id="114" name="Croix 25"/>
              <p:cNvSpPr>
                <a:spLocks noChangeArrowheads="1"/>
              </p:cNvSpPr>
              <p:nvPr/>
            </p:nvSpPr>
            <p:spPr bwMode="auto">
              <a:xfrm>
                <a:off x="1629423" y="2072920"/>
                <a:ext cx="415277" cy="417801"/>
              </a:xfrm>
              <a:prstGeom prst="plus">
                <a:avLst>
                  <a:gd name="adj" fmla="val 25000"/>
                </a:avLst>
              </a:prstGeom>
              <a:solidFill>
                <a:schemeClr val="bg1"/>
              </a:solidFill>
              <a:ln w="9525" algn="ctr">
                <a:solidFill>
                  <a:schemeClr val="tx1"/>
                </a:solidFill>
                <a:round/>
                <a:headEnd/>
                <a:tailEnd/>
              </a:ln>
            </p:spPr>
            <p:txBody>
              <a:bodyPr lIns="90663" tIns="45331" rIns="90663" bIns="45331">
                <a:noAutofit/>
              </a:bodyPr>
              <a:lstStyle/>
              <a:p>
                <a:endParaRPr lang="fr-FR"/>
              </a:p>
            </p:txBody>
          </p:sp>
          <p:pic>
            <p:nvPicPr>
              <p:cNvPr id="117" name="Picture 2"/>
              <p:cNvPicPr>
                <a:picLocks noChangeAspect="1" noChangeArrowheads="1"/>
              </p:cNvPicPr>
              <p:nvPr/>
            </p:nvPicPr>
            <p:blipFill>
              <a:blip r:embed="rId3" cstate="print"/>
              <a:srcRect/>
              <a:stretch>
                <a:fillRect/>
              </a:stretch>
            </p:blipFill>
            <p:spPr bwMode="auto">
              <a:xfrm>
                <a:off x="957263" y="1732755"/>
                <a:ext cx="595312" cy="1178719"/>
              </a:xfrm>
              <a:prstGeom prst="rect">
                <a:avLst/>
              </a:prstGeom>
              <a:noFill/>
              <a:ln w="9525">
                <a:noFill/>
                <a:miter lim="800000"/>
                <a:headEnd/>
                <a:tailEnd/>
              </a:ln>
              <a:effectLst/>
            </p:spPr>
          </p:pic>
        </p:grpSp>
      </p:grpSp>
      <p:grpSp>
        <p:nvGrpSpPr>
          <p:cNvPr id="118" name="Groupe 117"/>
          <p:cNvGrpSpPr/>
          <p:nvPr/>
        </p:nvGrpSpPr>
        <p:grpSpPr>
          <a:xfrm>
            <a:off x="406400" y="3415268"/>
            <a:ext cx="1127554" cy="1232932"/>
            <a:chOff x="901700" y="3949700"/>
            <a:chExt cx="1358900" cy="1485900"/>
          </a:xfrm>
        </p:grpSpPr>
        <p:sp>
          <p:nvSpPr>
            <p:cNvPr id="119" name="Rectangle 118"/>
            <p:cNvSpPr/>
            <p:nvPr/>
          </p:nvSpPr>
          <p:spPr bwMode="auto">
            <a:xfrm>
              <a:off x="901700" y="39497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20" name="Groupe 119"/>
            <p:cNvGrpSpPr/>
            <p:nvPr/>
          </p:nvGrpSpPr>
          <p:grpSpPr>
            <a:xfrm>
              <a:off x="998538" y="4111624"/>
              <a:ext cx="1071562" cy="1188000"/>
              <a:chOff x="998538" y="4111624"/>
              <a:chExt cx="1071562" cy="1188000"/>
            </a:xfrm>
          </p:grpSpPr>
          <p:pic>
            <p:nvPicPr>
              <p:cNvPr id="121" name="Picture 3"/>
              <p:cNvPicPr>
                <a:picLocks noChangeAspect="1" noChangeArrowheads="1"/>
              </p:cNvPicPr>
              <p:nvPr/>
            </p:nvPicPr>
            <p:blipFill>
              <a:blip r:embed="rId4" cstate="print"/>
              <a:srcRect/>
              <a:stretch>
                <a:fillRect/>
              </a:stretch>
            </p:blipFill>
            <p:spPr bwMode="auto">
              <a:xfrm>
                <a:off x="998538" y="4111624"/>
                <a:ext cx="600000" cy="1188000"/>
              </a:xfrm>
              <a:prstGeom prst="rect">
                <a:avLst/>
              </a:prstGeom>
              <a:noFill/>
              <a:ln w="9525">
                <a:noFill/>
                <a:miter lim="800000"/>
                <a:headEnd/>
                <a:tailEnd/>
              </a:ln>
              <a:effectLst/>
            </p:spPr>
          </p:pic>
          <p:sp>
            <p:nvSpPr>
              <p:cNvPr id="122" name="Triangle isocèle 121"/>
              <p:cNvSpPr/>
              <p:nvPr/>
            </p:nvSpPr>
            <p:spPr bwMode="auto">
              <a:xfrm rot="5400000" flipH="1">
                <a:off x="1686002" y="4473498"/>
                <a:ext cx="374495" cy="393700"/>
              </a:xfrm>
              <a:prstGeom prst="triangle">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grpSp>
      <p:grpSp>
        <p:nvGrpSpPr>
          <p:cNvPr id="123" name="Groupe 122"/>
          <p:cNvGrpSpPr/>
          <p:nvPr/>
        </p:nvGrpSpPr>
        <p:grpSpPr>
          <a:xfrm>
            <a:off x="2157578" y="1381456"/>
            <a:ext cx="1127554" cy="1232932"/>
            <a:chOff x="2209800" y="1587500"/>
            <a:chExt cx="1358900" cy="1485900"/>
          </a:xfrm>
        </p:grpSpPr>
        <p:sp>
          <p:nvSpPr>
            <p:cNvPr id="124" name="Rectangle 123"/>
            <p:cNvSpPr/>
            <p:nvPr/>
          </p:nvSpPr>
          <p:spPr bwMode="auto">
            <a:xfrm>
              <a:off x="2209800" y="15875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25" name="Groupe 124"/>
            <p:cNvGrpSpPr/>
            <p:nvPr/>
          </p:nvGrpSpPr>
          <p:grpSpPr>
            <a:xfrm>
              <a:off x="2354263" y="1732755"/>
              <a:ext cx="1011237" cy="1178719"/>
              <a:chOff x="2354263" y="1732755"/>
              <a:chExt cx="1011237" cy="1178719"/>
            </a:xfrm>
          </p:grpSpPr>
          <p:sp>
            <p:nvSpPr>
              <p:cNvPr id="126" name="Ellipse 125"/>
              <p:cNvSpPr/>
              <p:nvPr/>
            </p:nvSpPr>
            <p:spPr bwMode="auto">
              <a:xfrm rot="16200000">
                <a:off x="2794000" y="2146300"/>
                <a:ext cx="812800" cy="330200"/>
              </a:xfrm>
              <a:prstGeom prst="ellipse">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pic>
            <p:nvPicPr>
              <p:cNvPr id="127" name="Picture 2"/>
              <p:cNvPicPr>
                <a:picLocks noChangeAspect="1" noChangeArrowheads="1"/>
              </p:cNvPicPr>
              <p:nvPr/>
            </p:nvPicPr>
            <p:blipFill>
              <a:blip r:embed="rId3" cstate="print"/>
              <a:srcRect/>
              <a:stretch>
                <a:fillRect/>
              </a:stretch>
            </p:blipFill>
            <p:spPr bwMode="auto">
              <a:xfrm>
                <a:off x="2354263" y="1732755"/>
                <a:ext cx="595312" cy="1178719"/>
              </a:xfrm>
              <a:prstGeom prst="rect">
                <a:avLst/>
              </a:prstGeom>
              <a:noFill/>
              <a:ln w="9525">
                <a:noFill/>
                <a:miter lim="800000"/>
                <a:headEnd/>
                <a:tailEnd/>
              </a:ln>
              <a:effectLst/>
            </p:spPr>
          </p:pic>
        </p:grpSp>
      </p:grpSp>
      <p:grpSp>
        <p:nvGrpSpPr>
          <p:cNvPr id="128" name="Groupe 127"/>
          <p:cNvGrpSpPr/>
          <p:nvPr/>
        </p:nvGrpSpPr>
        <p:grpSpPr>
          <a:xfrm>
            <a:off x="2157578" y="3415268"/>
            <a:ext cx="1127554" cy="1232932"/>
            <a:chOff x="2336800" y="3937000"/>
            <a:chExt cx="1358900" cy="1485900"/>
          </a:xfrm>
        </p:grpSpPr>
        <p:sp>
          <p:nvSpPr>
            <p:cNvPr id="129" name="Rectangle 128"/>
            <p:cNvSpPr/>
            <p:nvPr/>
          </p:nvSpPr>
          <p:spPr bwMode="auto">
            <a:xfrm>
              <a:off x="2336800" y="39370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30" name="Groupe 129"/>
            <p:cNvGrpSpPr/>
            <p:nvPr/>
          </p:nvGrpSpPr>
          <p:grpSpPr>
            <a:xfrm>
              <a:off x="2408238" y="4086224"/>
              <a:ext cx="1198562" cy="1188000"/>
              <a:chOff x="2408238" y="4086224"/>
              <a:chExt cx="1198562" cy="1188000"/>
            </a:xfrm>
          </p:grpSpPr>
          <p:pic>
            <p:nvPicPr>
              <p:cNvPr id="131" name="Picture 3"/>
              <p:cNvPicPr>
                <a:picLocks noChangeAspect="1" noChangeArrowheads="1"/>
              </p:cNvPicPr>
              <p:nvPr/>
            </p:nvPicPr>
            <p:blipFill>
              <a:blip r:embed="rId4" cstate="print"/>
              <a:srcRect/>
              <a:stretch>
                <a:fillRect/>
              </a:stretch>
            </p:blipFill>
            <p:spPr bwMode="auto">
              <a:xfrm>
                <a:off x="2408238" y="4086224"/>
                <a:ext cx="600000" cy="1188000"/>
              </a:xfrm>
              <a:prstGeom prst="rect">
                <a:avLst/>
              </a:prstGeom>
              <a:noFill/>
              <a:ln w="9525">
                <a:noFill/>
                <a:miter lim="800000"/>
                <a:headEnd/>
                <a:tailEnd/>
              </a:ln>
              <a:effectLst/>
            </p:spPr>
          </p:pic>
          <p:sp>
            <p:nvSpPr>
              <p:cNvPr id="132" name="Étoile à 5 branches 131"/>
              <p:cNvSpPr/>
              <p:nvPr/>
            </p:nvSpPr>
            <p:spPr bwMode="auto">
              <a:xfrm rot="5400000">
                <a:off x="3098800" y="4394200"/>
                <a:ext cx="508000" cy="508000"/>
              </a:xfrm>
              <a:prstGeom prst="star5">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grpSp>
      <p:grpSp>
        <p:nvGrpSpPr>
          <p:cNvPr id="133" name="Groupe 132"/>
          <p:cNvGrpSpPr/>
          <p:nvPr/>
        </p:nvGrpSpPr>
        <p:grpSpPr>
          <a:xfrm>
            <a:off x="7216346" y="1457656"/>
            <a:ext cx="1127554" cy="1232932"/>
            <a:chOff x="7327900" y="596900"/>
            <a:chExt cx="1358900" cy="1485900"/>
          </a:xfrm>
        </p:grpSpPr>
        <p:sp>
          <p:nvSpPr>
            <p:cNvPr id="134" name="Rectangle 133"/>
            <p:cNvSpPr/>
            <p:nvPr/>
          </p:nvSpPr>
          <p:spPr bwMode="auto">
            <a:xfrm>
              <a:off x="7327900" y="5969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35" name="Groupe 134"/>
            <p:cNvGrpSpPr/>
            <p:nvPr/>
          </p:nvGrpSpPr>
          <p:grpSpPr>
            <a:xfrm>
              <a:off x="7505700" y="792955"/>
              <a:ext cx="1019175" cy="1178719"/>
              <a:chOff x="7505700" y="792955"/>
              <a:chExt cx="1019175" cy="1178719"/>
            </a:xfrm>
          </p:grpSpPr>
          <p:sp>
            <p:nvSpPr>
              <p:cNvPr id="136" name="Rectangle 135"/>
              <p:cNvSpPr/>
              <p:nvPr/>
            </p:nvSpPr>
            <p:spPr bwMode="auto">
              <a:xfrm rot="5400000">
                <a:off x="7289800" y="1206500"/>
                <a:ext cx="723900" cy="292100"/>
              </a:xfrm>
              <a:prstGeom prst="rect">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pic>
            <p:nvPicPr>
              <p:cNvPr id="137" name="Picture 2"/>
              <p:cNvPicPr>
                <a:picLocks noChangeAspect="1" noChangeArrowheads="1"/>
              </p:cNvPicPr>
              <p:nvPr/>
            </p:nvPicPr>
            <p:blipFill>
              <a:blip r:embed="rId3" cstate="print"/>
              <a:srcRect/>
              <a:stretch>
                <a:fillRect/>
              </a:stretch>
            </p:blipFill>
            <p:spPr bwMode="auto">
              <a:xfrm>
                <a:off x="7929563" y="792955"/>
                <a:ext cx="595312" cy="1178719"/>
              </a:xfrm>
              <a:prstGeom prst="rect">
                <a:avLst/>
              </a:prstGeom>
              <a:noFill/>
              <a:ln w="9525">
                <a:noFill/>
                <a:miter lim="800000"/>
                <a:headEnd/>
                <a:tailEnd/>
              </a:ln>
              <a:effectLst/>
            </p:spPr>
          </p:pic>
        </p:grpSp>
      </p:grpSp>
      <p:grpSp>
        <p:nvGrpSpPr>
          <p:cNvPr id="138" name="Groupe 137"/>
          <p:cNvGrpSpPr/>
          <p:nvPr/>
        </p:nvGrpSpPr>
        <p:grpSpPr>
          <a:xfrm>
            <a:off x="5510699" y="1457656"/>
            <a:ext cx="1127554" cy="1232932"/>
            <a:chOff x="5537200" y="736600"/>
            <a:chExt cx="1358900" cy="1485900"/>
          </a:xfrm>
        </p:grpSpPr>
        <p:sp>
          <p:nvSpPr>
            <p:cNvPr id="139" name="Rectangle 138"/>
            <p:cNvSpPr/>
            <p:nvPr/>
          </p:nvSpPr>
          <p:spPr bwMode="auto">
            <a:xfrm>
              <a:off x="5537200" y="7366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40" name="Groupe 139"/>
            <p:cNvGrpSpPr/>
            <p:nvPr/>
          </p:nvGrpSpPr>
          <p:grpSpPr>
            <a:xfrm>
              <a:off x="5638800" y="907255"/>
              <a:ext cx="1171575" cy="1178719"/>
              <a:chOff x="5638800" y="907255"/>
              <a:chExt cx="1171575" cy="1178719"/>
            </a:xfrm>
          </p:grpSpPr>
          <p:pic>
            <p:nvPicPr>
              <p:cNvPr id="141" name="Picture 2"/>
              <p:cNvPicPr>
                <a:picLocks noChangeAspect="1" noChangeArrowheads="1"/>
              </p:cNvPicPr>
              <p:nvPr/>
            </p:nvPicPr>
            <p:blipFill>
              <a:blip r:embed="rId3" cstate="print"/>
              <a:srcRect/>
              <a:stretch>
                <a:fillRect/>
              </a:stretch>
            </p:blipFill>
            <p:spPr bwMode="auto">
              <a:xfrm>
                <a:off x="6215063" y="907255"/>
                <a:ext cx="595312" cy="1178719"/>
              </a:xfrm>
              <a:prstGeom prst="rect">
                <a:avLst/>
              </a:prstGeom>
              <a:noFill/>
              <a:ln w="9525">
                <a:noFill/>
                <a:miter lim="800000"/>
                <a:headEnd/>
                <a:tailEnd/>
              </a:ln>
              <a:effectLst/>
            </p:spPr>
          </p:pic>
          <p:sp>
            <p:nvSpPr>
              <p:cNvPr id="142" name="Étoile à 5 branches 141"/>
              <p:cNvSpPr/>
              <p:nvPr/>
            </p:nvSpPr>
            <p:spPr bwMode="auto">
              <a:xfrm rot="5400000">
                <a:off x="5638800" y="1244600"/>
                <a:ext cx="508000" cy="508000"/>
              </a:xfrm>
              <a:prstGeom prst="star5">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grpSp>
      <p:grpSp>
        <p:nvGrpSpPr>
          <p:cNvPr id="143" name="Groupe 142"/>
          <p:cNvGrpSpPr/>
          <p:nvPr/>
        </p:nvGrpSpPr>
        <p:grpSpPr>
          <a:xfrm>
            <a:off x="5510699" y="3491468"/>
            <a:ext cx="1127554" cy="1232932"/>
            <a:chOff x="5651500" y="2349500"/>
            <a:chExt cx="1358900" cy="1485900"/>
          </a:xfrm>
        </p:grpSpPr>
        <p:sp>
          <p:nvSpPr>
            <p:cNvPr id="144" name="Rectangle 143"/>
            <p:cNvSpPr/>
            <p:nvPr/>
          </p:nvSpPr>
          <p:spPr bwMode="auto">
            <a:xfrm>
              <a:off x="5651500" y="23495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45" name="Groupe 144"/>
            <p:cNvGrpSpPr/>
            <p:nvPr/>
          </p:nvGrpSpPr>
          <p:grpSpPr>
            <a:xfrm>
              <a:off x="5888038" y="2524124"/>
              <a:ext cx="938212" cy="1188000"/>
              <a:chOff x="5888038" y="2524124"/>
              <a:chExt cx="938212" cy="1188000"/>
            </a:xfrm>
          </p:grpSpPr>
          <p:sp>
            <p:nvSpPr>
              <p:cNvPr id="146" name="Vague 145"/>
              <p:cNvSpPr/>
              <p:nvPr/>
            </p:nvSpPr>
            <p:spPr bwMode="auto">
              <a:xfrm rot="5400000">
                <a:off x="6515100" y="2984500"/>
                <a:ext cx="342900" cy="279400"/>
              </a:xfrm>
              <a:prstGeom prst="wave">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pic>
            <p:nvPicPr>
              <p:cNvPr id="147" name="Picture 3"/>
              <p:cNvPicPr>
                <a:picLocks noChangeAspect="1" noChangeArrowheads="1"/>
              </p:cNvPicPr>
              <p:nvPr/>
            </p:nvPicPr>
            <p:blipFill>
              <a:blip r:embed="rId4" cstate="print"/>
              <a:srcRect/>
              <a:stretch>
                <a:fillRect/>
              </a:stretch>
            </p:blipFill>
            <p:spPr bwMode="auto">
              <a:xfrm>
                <a:off x="5888038" y="2524124"/>
                <a:ext cx="600000" cy="1188000"/>
              </a:xfrm>
              <a:prstGeom prst="rect">
                <a:avLst/>
              </a:prstGeom>
              <a:noFill/>
              <a:ln w="9525">
                <a:noFill/>
                <a:miter lim="800000"/>
                <a:headEnd/>
                <a:tailEnd/>
              </a:ln>
              <a:effectLst/>
            </p:spPr>
          </p:pic>
        </p:grpSp>
      </p:grpSp>
      <p:grpSp>
        <p:nvGrpSpPr>
          <p:cNvPr id="148" name="Groupe 147"/>
          <p:cNvGrpSpPr/>
          <p:nvPr/>
        </p:nvGrpSpPr>
        <p:grpSpPr>
          <a:xfrm>
            <a:off x="7216346" y="3491468"/>
            <a:ext cx="1127554" cy="1232932"/>
            <a:chOff x="7404100" y="2387600"/>
            <a:chExt cx="1358900" cy="1485900"/>
          </a:xfrm>
        </p:grpSpPr>
        <p:sp>
          <p:nvSpPr>
            <p:cNvPr id="149" name="Rectangle 148"/>
            <p:cNvSpPr/>
            <p:nvPr/>
          </p:nvSpPr>
          <p:spPr bwMode="auto">
            <a:xfrm>
              <a:off x="7404100" y="2387600"/>
              <a:ext cx="1358900" cy="1485900"/>
            </a:xfrm>
            <a:prstGeom prst="rect">
              <a:avLst/>
            </a:prstGeom>
            <a:solidFill>
              <a:srgbClr val="0033CC"/>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nvGrpSpPr>
            <p:cNvPr id="150" name="Groupe 149"/>
            <p:cNvGrpSpPr/>
            <p:nvPr/>
          </p:nvGrpSpPr>
          <p:grpSpPr>
            <a:xfrm>
              <a:off x="7589838" y="2549524"/>
              <a:ext cx="1071562" cy="1188000"/>
              <a:chOff x="7589838" y="2549524"/>
              <a:chExt cx="1071562" cy="1188000"/>
            </a:xfrm>
          </p:grpSpPr>
          <p:pic>
            <p:nvPicPr>
              <p:cNvPr id="151" name="Picture 3"/>
              <p:cNvPicPr>
                <a:picLocks noChangeAspect="1" noChangeArrowheads="1"/>
              </p:cNvPicPr>
              <p:nvPr/>
            </p:nvPicPr>
            <p:blipFill>
              <a:blip r:embed="rId4" cstate="print"/>
              <a:srcRect/>
              <a:stretch>
                <a:fillRect/>
              </a:stretch>
            </p:blipFill>
            <p:spPr bwMode="auto">
              <a:xfrm>
                <a:off x="7589838" y="2549524"/>
                <a:ext cx="600000" cy="1188000"/>
              </a:xfrm>
              <a:prstGeom prst="rect">
                <a:avLst/>
              </a:prstGeom>
              <a:noFill/>
              <a:ln w="9525">
                <a:noFill/>
                <a:miter lim="800000"/>
                <a:headEnd/>
                <a:tailEnd/>
              </a:ln>
              <a:effectLst/>
            </p:spPr>
          </p:pic>
          <p:sp>
            <p:nvSpPr>
              <p:cNvPr id="152" name="Triangle isocèle 151"/>
              <p:cNvSpPr/>
              <p:nvPr/>
            </p:nvSpPr>
            <p:spPr bwMode="auto">
              <a:xfrm rot="5400000" flipH="1">
                <a:off x="8277302" y="2911398"/>
                <a:ext cx="374495" cy="393700"/>
              </a:xfrm>
              <a:prstGeom prst="triangle">
                <a:avLst/>
              </a:prstGeom>
              <a:solidFill>
                <a:schemeClr val="bg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fr-FR" sz="1600" b="0" i="0" u="none" strike="noStrike" cap="none" normalizeH="0" baseline="0" dirty="0">
                  <a:ln>
                    <a:noFill/>
                  </a:ln>
                  <a:solidFill>
                    <a:schemeClr val="tx1"/>
                  </a:solidFill>
                  <a:effectLst/>
                  <a:latin typeface="Arial" charset="0"/>
                </a:endParaRPr>
              </a:p>
            </p:txBody>
          </p:sp>
        </p:grpSp>
      </p:grpSp>
      <p:sp>
        <p:nvSpPr>
          <p:cNvPr id="153" name="ZoneTexte 152"/>
          <p:cNvSpPr txBox="1"/>
          <p:nvPr/>
        </p:nvSpPr>
        <p:spPr>
          <a:xfrm>
            <a:off x="1037632" y="2819400"/>
            <a:ext cx="1692000" cy="400110"/>
          </a:xfrm>
          <a:prstGeom prst="rect">
            <a:avLst/>
          </a:prstGeom>
          <a:noFill/>
          <a:ln>
            <a:solidFill>
              <a:schemeClr val="bg1">
                <a:lumMod val="65000"/>
              </a:schemeClr>
            </a:solidFill>
          </a:ln>
        </p:spPr>
        <p:txBody>
          <a:bodyPr wrap="none" rtlCol="0">
            <a:noAutofit/>
          </a:bodyPr>
          <a:lstStyle/>
          <a:p>
            <a:pPr algn="ctr"/>
            <a:r>
              <a:rPr lang="fr-FR" sz="2000" dirty="0"/>
              <a:t>Atelier 1 (et 3)</a:t>
            </a:r>
          </a:p>
        </p:txBody>
      </p:sp>
      <p:sp>
        <p:nvSpPr>
          <p:cNvPr id="154" name="ZoneTexte 153"/>
          <p:cNvSpPr txBox="1"/>
          <p:nvPr/>
        </p:nvSpPr>
        <p:spPr>
          <a:xfrm>
            <a:off x="6285954" y="2819400"/>
            <a:ext cx="1692000" cy="400110"/>
          </a:xfrm>
          <a:prstGeom prst="rect">
            <a:avLst/>
          </a:prstGeom>
          <a:noFill/>
          <a:ln>
            <a:solidFill>
              <a:schemeClr val="bg1">
                <a:lumMod val="65000"/>
              </a:schemeClr>
            </a:solidFill>
          </a:ln>
        </p:spPr>
        <p:txBody>
          <a:bodyPr wrap="none" rtlCol="0">
            <a:noAutofit/>
          </a:bodyPr>
          <a:lstStyle/>
          <a:p>
            <a:pPr algn="ctr"/>
            <a:r>
              <a:rPr lang="fr-FR" sz="2000" dirty="0"/>
              <a:t>Atelier 2</a:t>
            </a:r>
          </a:p>
        </p:txBody>
      </p:sp>
      <p:grpSp>
        <p:nvGrpSpPr>
          <p:cNvPr id="155" name="Group 136"/>
          <p:cNvGrpSpPr>
            <a:grpSpLocks/>
          </p:cNvGrpSpPr>
          <p:nvPr/>
        </p:nvGrpSpPr>
        <p:grpSpPr bwMode="auto">
          <a:xfrm rot="13618561" flipH="1">
            <a:off x="7547283" y="942072"/>
            <a:ext cx="468000" cy="468000"/>
            <a:chOff x="2692" y="1712"/>
            <a:chExt cx="204" cy="204"/>
          </a:xfrm>
        </p:grpSpPr>
        <p:sp>
          <p:nvSpPr>
            <p:cNvPr id="156"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57"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58" name="Group 136"/>
          <p:cNvGrpSpPr>
            <a:grpSpLocks/>
          </p:cNvGrpSpPr>
          <p:nvPr/>
        </p:nvGrpSpPr>
        <p:grpSpPr bwMode="auto">
          <a:xfrm rot="13618561" flipH="1">
            <a:off x="6251883" y="891271"/>
            <a:ext cx="468000" cy="468000"/>
            <a:chOff x="2692" y="1712"/>
            <a:chExt cx="204" cy="204"/>
          </a:xfrm>
        </p:grpSpPr>
        <p:sp>
          <p:nvSpPr>
            <p:cNvPr id="159"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0"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1" name="Group 136"/>
          <p:cNvGrpSpPr>
            <a:grpSpLocks/>
          </p:cNvGrpSpPr>
          <p:nvPr/>
        </p:nvGrpSpPr>
        <p:grpSpPr bwMode="auto">
          <a:xfrm rot="13618561" flipH="1">
            <a:off x="5426384" y="891271"/>
            <a:ext cx="468000" cy="468000"/>
            <a:chOff x="2692" y="1712"/>
            <a:chExt cx="204" cy="204"/>
          </a:xfrm>
        </p:grpSpPr>
        <p:sp>
          <p:nvSpPr>
            <p:cNvPr id="162"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3"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4" name="Group 136"/>
          <p:cNvGrpSpPr>
            <a:grpSpLocks/>
          </p:cNvGrpSpPr>
          <p:nvPr/>
        </p:nvGrpSpPr>
        <p:grpSpPr bwMode="auto">
          <a:xfrm rot="13618561" flipH="1">
            <a:off x="3076885" y="891271"/>
            <a:ext cx="468000" cy="468000"/>
            <a:chOff x="2692" y="1712"/>
            <a:chExt cx="204" cy="204"/>
          </a:xfrm>
        </p:grpSpPr>
        <p:sp>
          <p:nvSpPr>
            <p:cNvPr id="165"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6"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67" name="Group 136"/>
          <p:cNvGrpSpPr>
            <a:grpSpLocks/>
          </p:cNvGrpSpPr>
          <p:nvPr/>
        </p:nvGrpSpPr>
        <p:grpSpPr bwMode="auto">
          <a:xfrm rot="13618561" flipH="1">
            <a:off x="714687" y="891271"/>
            <a:ext cx="468000" cy="468000"/>
            <a:chOff x="2692" y="1712"/>
            <a:chExt cx="204" cy="204"/>
          </a:xfrm>
        </p:grpSpPr>
        <p:sp>
          <p:nvSpPr>
            <p:cNvPr id="168"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69"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70" name="Group 136"/>
          <p:cNvGrpSpPr>
            <a:grpSpLocks/>
          </p:cNvGrpSpPr>
          <p:nvPr/>
        </p:nvGrpSpPr>
        <p:grpSpPr bwMode="auto">
          <a:xfrm rot="7981439" flipH="1" flipV="1">
            <a:off x="8737300" y="4800302"/>
            <a:ext cx="468000" cy="468000"/>
            <a:chOff x="2692" y="1712"/>
            <a:chExt cx="204" cy="204"/>
          </a:xfrm>
        </p:grpSpPr>
        <p:sp>
          <p:nvSpPr>
            <p:cNvPr id="171"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72"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73" name="Group 136"/>
          <p:cNvGrpSpPr>
            <a:grpSpLocks/>
          </p:cNvGrpSpPr>
          <p:nvPr/>
        </p:nvGrpSpPr>
        <p:grpSpPr bwMode="auto">
          <a:xfrm rot="7981439" flipH="1" flipV="1">
            <a:off x="7530803" y="4813003"/>
            <a:ext cx="468000" cy="468000"/>
            <a:chOff x="2692" y="1712"/>
            <a:chExt cx="204" cy="204"/>
          </a:xfrm>
        </p:grpSpPr>
        <p:sp>
          <p:nvSpPr>
            <p:cNvPr id="174"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75"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76" name="Group 136"/>
          <p:cNvGrpSpPr>
            <a:grpSpLocks/>
          </p:cNvGrpSpPr>
          <p:nvPr/>
        </p:nvGrpSpPr>
        <p:grpSpPr bwMode="auto">
          <a:xfrm rot="7981439" flipH="1" flipV="1">
            <a:off x="5816303" y="4813003"/>
            <a:ext cx="468000" cy="468000"/>
            <a:chOff x="2692" y="1712"/>
            <a:chExt cx="204" cy="204"/>
          </a:xfrm>
        </p:grpSpPr>
        <p:sp>
          <p:nvSpPr>
            <p:cNvPr id="177"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78"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79" name="Group 136"/>
          <p:cNvGrpSpPr>
            <a:grpSpLocks/>
          </p:cNvGrpSpPr>
          <p:nvPr/>
        </p:nvGrpSpPr>
        <p:grpSpPr bwMode="auto">
          <a:xfrm rot="7981439" flipH="1" flipV="1">
            <a:off x="2603204" y="4749503"/>
            <a:ext cx="468000" cy="468000"/>
            <a:chOff x="2692" y="1712"/>
            <a:chExt cx="204" cy="204"/>
          </a:xfrm>
        </p:grpSpPr>
        <p:sp>
          <p:nvSpPr>
            <p:cNvPr id="180"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81"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82" name="Group 136"/>
          <p:cNvGrpSpPr>
            <a:grpSpLocks/>
          </p:cNvGrpSpPr>
          <p:nvPr/>
        </p:nvGrpSpPr>
        <p:grpSpPr bwMode="auto">
          <a:xfrm rot="7981439" flipH="1" flipV="1">
            <a:off x="1155404" y="4749503"/>
            <a:ext cx="468000" cy="468000"/>
            <a:chOff x="2692" y="1712"/>
            <a:chExt cx="204" cy="204"/>
          </a:xfrm>
        </p:grpSpPr>
        <p:sp>
          <p:nvSpPr>
            <p:cNvPr id="183"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84"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85" name="Group 136"/>
          <p:cNvGrpSpPr>
            <a:grpSpLocks/>
          </p:cNvGrpSpPr>
          <p:nvPr/>
        </p:nvGrpSpPr>
        <p:grpSpPr bwMode="auto">
          <a:xfrm rot="7981439" flipH="1" flipV="1">
            <a:off x="291805" y="4749503"/>
            <a:ext cx="468000" cy="468000"/>
            <a:chOff x="2692" y="1712"/>
            <a:chExt cx="204" cy="204"/>
          </a:xfrm>
        </p:grpSpPr>
        <p:sp>
          <p:nvSpPr>
            <p:cNvPr id="186"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187"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grpSp>
        <p:nvGrpSpPr>
          <p:cNvPr id="188" name="Groupe 187"/>
          <p:cNvGrpSpPr/>
          <p:nvPr/>
        </p:nvGrpSpPr>
        <p:grpSpPr>
          <a:xfrm>
            <a:off x="3460170" y="1333500"/>
            <a:ext cx="1069524" cy="1285220"/>
            <a:chOff x="3980870" y="1409700"/>
            <a:chExt cx="1069524" cy="1285220"/>
          </a:xfrm>
        </p:grpSpPr>
        <p:sp>
          <p:nvSpPr>
            <p:cNvPr id="189" name="ZoneTexte 188"/>
            <p:cNvSpPr txBox="1"/>
            <p:nvPr/>
          </p:nvSpPr>
          <p:spPr>
            <a:xfrm>
              <a:off x="3980870" y="2171700"/>
              <a:ext cx="1069524" cy="523220"/>
            </a:xfrm>
            <a:prstGeom prst="rect">
              <a:avLst/>
            </a:prstGeom>
            <a:noFill/>
          </p:spPr>
          <p:txBody>
            <a:bodyPr wrap="none" rtlCol="0">
              <a:noAutofit/>
            </a:bodyPr>
            <a:lstStyle/>
            <a:p>
              <a:r>
                <a:rPr lang="fr-FR" sz="1400" dirty="0"/>
                <a:t>Lancement</a:t>
              </a:r>
              <a:br>
                <a:rPr lang="fr-FR" sz="1400" dirty="0"/>
              </a:br>
              <a:r>
                <a:rPr lang="fr-FR" sz="1400" dirty="0"/>
                <a:t>Découpe</a:t>
              </a:r>
            </a:p>
          </p:txBody>
        </p:sp>
        <p:pic>
          <p:nvPicPr>
            <p:cNvPr id="190" name="Picture 32" descr="TIP5e¦ütu-fin E¦üTU1"/>
            <p:cNvPicPr>
              <a:picLocks noChangeAspect="1" noChangeArrowheads="1"/>
            </p:cNvPicPr>
            <p:nvPr/>
          </p:nvPicPr>
          <p:blipFill>
            <a:blip r:embed="rId5" cstate="print"/>
            <a:srcRect l="8158" t="25005" r="23033" b="14982"/>
            <a:stretch>
              <a:fillRect/>
            </a:stretch>
          </p:blipFill>
          <p:spPr bwMode="auto">
            <a:xfrm>
              <a:off x="3998283" y="1409700"/>
              <a:ext cx="883092" cy="790235"/>
            </a:xfrm>
            <a:prstGeom prst="rect">
              <a:avLst/>
            </a:prstGeom>
            <a:noFill/>
            <a:ln w="9525">
              <a:noFill/>
              <a:miter lim="800000"/>
              <a:headEnd/>
              <a:tailEnd/>
            </a:ln>
          </p:spPr>
        </p:pic>
      </p:grpSp>
      <p:grpSp>
        <p:nvGrpSpPr>
          <p:cNvPr id="191" name="Groupe 190"/>
          <p:cNvGrpSpPr/>
          <p:nvPr/>
        </p:nvGrpSpPr>
        <p:grpSpPr>
          <a:xfrm>
            <a:off x="3488167" y="3883971"/>
            <a:ext cx="871599" cy="767206"/>
            <a:chOff x="8530067" y="2766371"/>
            <a:chExt cx="871599" cy="767206"/>
          </a:xfrm>
        </p:grpSpPr>
        <p:pic>
          <p:nvPicPr>
            <p:cNvPr id="192" name="Picture 46" descr="TIP3fab 7"/>
            <p:cNvPicPr>
              <a:picLocks noChangeAspect="1" noChangeArrowheads="1"/>
            </p:cNvPicPr>
            <p:nvPr/>
          </p:nvPicPr>
          <p:blipFill>
            <a:blip r:embed="rId6" cstate="print"/>
            <a:srcRect l="6909" t="46571" r="26497" b="12415"/>
            <a:stretch>
              <a:fillRect/>
            </a:stretch>
          </p:blipFill>
          <p:spPr bwMode="auto">
            <a:xfrm>
              <a:off x="8602335" y="2766371"/>
              <a:ext cx="799331" cy="588552"/>
            </a:xfrm>
            <a:prstGeom prst="rect">
              <a:avLst/>
            </a:prstGeom>
            <a:noFill/>
            <a:ln w="9525">
              <a:noFill/>
              <a:miter lim="800000"/>
              <a:headEnd/>
              <a:tailEnd/>
            </a:ln>
          </p:spPr>
        </p:pic>
        <p:sp>
          <p:nvSpPr>
            <p:cNvPr id="193" name="ZoneTexte 192"/>
            <p:cNvSpPr txBox="1"/>
            <p:nvPr/>
          </p:nvSpPr>
          <p:spPr>
            <a:xfrm>
              <a:off x="8530067" y="3225800"/>
              <a:ext cx="861133" cy="307777"/>
            </a:xfrm>
            <a:prstGeom prst="rect">
              <a:avLst/>
            </a:prstGeom>
            <a:noFill/>
          </p:spPr>
          <p:txBody>
            <a:bodyPr wrap="none" rtlCol="0">
              <a:noAutofit/>
            </a:bodyPr>
            <a:lstStyle/>
            <a:p>
              <a:r>
                <a:rPr lang="fr-FR" sz="1400" dirty="0"/>
                <a:t>Contrôle</a:t>
              </a:r>
            </a:p>
          </p:txBody>
        </p:sp>
      </p:grpSp>
      <p:grpSp>
        <p:nvGrpSpPr>
          <p:cNvPr id="194" name="Groupe 193"/>
          <p:cNvGrpSpPr/>
          <p:nvPr/>
        </p:nvGrpSpPr>
        <p:grpSpPr>
          <a:xfrm>
            <a:off x="8551616" y="1346200"/>
            <a:ext cx="1069524" cy="1285220"/>
            <a:chOff x="3980870" y="1409700"/>
            <a:chExt cx="1069524" cy="1285220"/>
          </a:xfrm>
        </p:grpSpPr>
        <p:sp>
          <p:nvSpPr>
            <p:cNvPr id="195" name="ZoneTexte 194"/>
            <p:cNvSpPr txBox="1"/>
            <p:nvPr/>
          </p:nvSpPr>
          <p:spPr>
            <a:xfrm>
              <a:off x="3980870" y="2171700"/>
              <a:ext cx="1069524" cy="523220"/>
            </a:xfrm>
            <a:prstGeom prst="rect">
              <a:avLst/>
            </a:prstGeom>
            <a:noFill/>
          </p:spPr>
          <p:txBody>
            <a:bodyPr wrap="none" rtlCol="0">
              <a:noAutofit/>
            </a:bodyPr>
            <a:lstStyle/>
            <a:p>
              <a:r>
                <a:rPr lang="fr-FR" sz="1400" dirty="0"/>
                <a:t>Lancement</a:t>
              </a:r>
              <a:br>
                <a:rPr lang="fr-FR" sz="1400" dirty="0"/>
              </a:br>
              <a:r>
                <a:rPr lang="fr-FR" sz="1400" dirty="0"/>
                <a:t>Découpe</a:t>
              </a:r>
            </a:p>
          </p:txBody>
        </p:sp>
        <p:pic>
          <p:nvPicPr>
            <p:cNvPr id="196" name="Picture 32" descr="TIP5e¦ütu-fin E¦üTU1"/>
            <p:cNvPicPr>
              <a:picLocks noChangeAspect="1" noChangeArrowheads="1"/>
            </p:cNvPicPr>
            <p:nvPr/>
          </p:nvPicPr>
          <p:blipFill>
            <a:blip r:embed="rId5" cstate="print"/>
            <a:srcRect l="8158" t="25005" r="23033" b="14982"/>
            <a:stretch>
              <a:fillRect/>
            </a:stretch>
          </p:blipFill>
          <p:spPr bwMode="auto">
            <a:xfrm>
              <a:off x="3998283" y="1409700"/>
              <a:ext cx="883092" cy="790235"/>
            </a:xfrm>
            <a:prstGeom prst="rect">
              <a:avLst/>
            </a:prstGeom>
            <a:noFill/>
            <a:ln w="9525">
              <a:noFill/>
              <a:miter lim="800000"/>
              <a:headEnd/>
              <a:tailEnd/>
            </a:ln>
          </p:spPr>
        </p:pic>
      </p:grpSp>
      <p:grpSp>
        <p:nvGrpSpPr>
          <p:cNvPr id="197" name="Groupe 196"/>
          <p:cNvGrpSpPr/>
          <p:nvPr/>
        </p:nvGrpSpPr>
        <p:grpSpPr>
          <a:xfrm>
            <a:off x="8579613" y="3896671"/>
            <a:ext cx="871599" cy="767206"/>
            <a:chOff x="8530067" y="2766371"/>
            <a:chExt cx="871599" cy="767206"/>
          </a:xfrm>
        </p:grpSpPr>
        <p:pic>
          <p:nvPicPr>
            <p:cNvPr id="198" name="Picture 46" descr="TIP3fab 7"/>
            <p:cNvPicPr>
              <a:picLocks noChangeAspect="1" noChangeArrowheads="1"/>
            </p:cNvPicPr>
            <p:nvPr/>
          </p:nvPicPr>
          <p:blipFill>
            <a:blip r:embed="rId6" cstate="print"/>
            <a:srcRect l="6909" t="46571" r="26497" b="12415"/>
            <a:stretch>
              <a:fillRect/>
            </a:stretch>
          </p:blipFill>
          <p:spPr bwMode="auto">
            <a:xfrm>
              <a:off x="8602335" y="2766371"/>
              <a:ext cx="799331" cy="588552"/>
            </a:xfrm>
            <a:prstGeom prst="rect">
              <a:avLst/>
            </a:prstGeom>
            <a:noFill/>
            <a:ln w="9525">
              <a:noFill/>
              <a:miter lim="800000"/>
              <a:headEnd/>
              <a:tailEnd/>
            </a:ln>
          </p:spPr>
        </p:pic>
        <p:sp>
          <p:nvSpPr>
            <p:cNvPr id="199" name="ZoneTexte 198"/>
            <p:cNvSpPr txBox="1"/>
            <p:nvPr/>
          </p:nvSpPr>
          <p:spPr>
            <a:xfrm>
              <a:off x="8530067" y="3225800"/>
              <a:ext cx="861133" cy="307777"/>
            </a:xfrm>
            <a:prstGeom prst="rect">
              <a:avLst/>
            </a:prstGeom>
            <a:noFill/>
          </p:spPr>
          <p:txBody>
            <a:bodyPr wrap="none" rtlCol="0">
              <a:noAutofit/>
            </a:bodyPr>
            <a:lstStyle/>
            <a:p>
              <a:r>
                <a:rPr lang="fr-FR" sz="1400" dirty="0"/>
                <a:t>Contrôle</a:t>
              </a:r>
            </a:p>
          </p:txBody>
        </p:sp>
      </p:grpSp>
      <p:grpSp>
        <p:nvGrpSpPr>
          <p:cNvPr id="200" name="Group 136"/>
          <p:cNvGrpSpPr>
            <a:grpSpLocks/>
          </p:cNvGrpSpPr>
          <p:nvPr/>
        </p:nvGrpSpPr>
        <p:grpSpPr bwMode="auto">
          <a:xfrm rot="13618561" flipH="1">
            <a:off x="8741083" y="903972"/>
            <a:ext cx="468000" cy="468000"/>
            <a:chOff x="2692" y="1712"/>
            <a:chExt cx="204" cy="204"/>
          </a:xfrm>
        </p:grpSpPr>
        <p:sp>
          <p:nvSpPr>
            <p:cNvPr id="201" name="Oval 137"/>
            <p:cNvSpPr>
              <a:spLocks noChangeArrowheads="1"/>
            </p:cNvSpPr>
            <p:nvPr/>
          </p:nvSpPr>
          <p:spPr bwMode="auto">
            <a:xfrm>
              <a:off x="2692" y="1783"/>
              <a:ext cx="133" cy="133"/>
            </a:xfrm>
            <a:prstGeom prst="ellipse">
              <a:avLst/>
            </a:prstGeom>
            <a:solidFill>
              <a:schemeClr val="tx1"/>
            </a:solidFill>
            <a:ln w="9525" algn="ctr">
              <a:solidFill>
                <a:schemeClr val="tx1"/>
              </a:solidFill>
              <a:round/>
              <a:headEnd/>
              <a:tailEnd/>
            </a:ln>
          </p:spPr>
          <p:txBody>
            <a:bodyPr wrap="none" anchor="ctr">
              <a:noAutofit/>
            </a:bodyPr>
            <a:lstStyle/>
            <a:p>
              <a:endParaRPr lang="fr-FR"/>
            </a:p>
          </p:txBody>
        </p:sp>
        <p:sp>
          <p:nvSpPr>
            <p:cNvPr id="202" name="Freeform 138"/>
            <p:cNvSpPr>
              <a:spLocks/>
            </p:cNvSpPr>
            <p:nvPr/>
          </p:nvSpPr>
          <p:spPr bwMode="auto">
            <a:xfrm>
              <a:off x="2696" y="1712"/>
              <a:ext cx="200" cy="201"/>
            </a:xfrm>
            <a:custGeom>
              <a:avLst/>
              <a:gdLst>
                <a:gd name="T0" fmla="*/ 0 w 200"/>
                <a:gd name="T1" fmla="*/ 0 h 201"/>
                <a:gd name="T2" fmla="*/ 8 w 200"/>
                <a:gd name="T3" fmla="*/ 62 h 201"/>
                <a:gd name="T4" fmla="*/ 48 w 200"/>
                <a:gd name="T5" fmla="*/ 126 h 201"/>
                <a:gd name="T6" fmla="*/ 102 w 200"/>
                <a:gd name="T7" fmla="*/ 168 h 201"/>
                <a:gd name="T8" fmla="*/ 168 w 200"/>
                <a:gd name="T9" fmla="*/ 196 h 201"/>
                <a:gd name="T10" fmla="*/ 200 w 200"/>
                <a:gd name="T11" fmla="*/ 200 h 201"/>
                <a:gd name="T12" fmla="*/ 0 60000 65536"/>
                <a:gd name="T13" fmla="*/ 0 60000 65536"/>
                <a:gd name="T14" fmla="*/ 0 60000 65536"/>
                <a:gd name="T15" fmla="*/ 0 60000 65536"/>
                <a:gd name="T16" fmla="*/ 0 60000 65536"/>
                <a:gd name="T17" fmla="*/ 0 60000 65536"/>
                <a:gd name="T18" fmla="*/ 0 w 200"/>
                <a:gd name="T19" fmla="*/ 0 h 201"/>
                <a:gd name="T20" fmla="*/ 200 w 200"/>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200" h="201">
                  <a:moveTo>
                    <a:pt x="0" y="0"/>
                  </a:moveTo>
                  <a:cubicBezTo>
                    <a:pt x="0" y="20"/>
                    <a:pt x="0" y="41"/>
                    <a:pt x="8" y="62"/>
                  </a:cubicBezTo>
                  <a:cubicBezTo>
                    <a:pt x="16" y="83"/>
                    <a:pt x="32" y="108"/>
                    <a:pt x="48" y="126"/>
                  </a:cubicBezTo>
                  <a:cubicBezTo>
                    <a:pt x="64" y="144"/>
                    <a:pt x="82" y="156"/>
                    <a:pt x="102" y="168"/>
                  </a:cubicBezTo>
                  <a:cubicBezTo>
                    <a:pt x="122" y="180"/>
                    <a:pt x="152" y="191"/>
                    <a:pt x="168" y="196"/>
                  </a:cubicBezTo>
                  <a:cubicBezTo>
                    <a:pt x="184" y="201"/>
                    <a:pt x="192" y="200"/>
                    <a:pt x="200" y="200"/>
                  </a:cubicBezTo>
                </a:path>
              </a:pathLst>
            </a:custGeom>
            <a:noFill/>
            <a:ln w="28575" cap="flat" cmpd="sng">
              <a:solidFill>
                <a:schemeClr val="tx1"/>
              </a:solidFill>
              <a:prstDash val="solid"/>
              <a:round/>
              <a:headEnd type="none" w="med" len="med"/>
              <a:tailEnd type="none" w="med" len="med"/>
            </a:ln>
          </p:spPr>
          <p:txBody>
            <a:bodyPr wrap="none">
              <a:noAutofit/>
            </a:bodyPr>
            <a:lstStyle/>
            <a:p>
              <a:endParaRPr lang="fr-F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itre 1"/>
          <p:cNvSpPr>
            <a:spLocks noGrp="1"/>
          </p:cNvSpPr>
          <p:nvPr>
            <p:ph type="title"/>
          </p:nvPr>
        </p:nvSpPr>
        <p:spPr/>
        <p:txBody>
          <a:bodyPr/>
          <a:lstStyle/>
          <a:p>
            <a:r>
              <a:rPr lang="fr-FR" altLang="fr-FR"/>
              <a:t>Polyvalence</a:t>
            </a:r>
          </a:p>
        </p:txBody>
      </p:sp>
      <p:sp>
        <p:nvSpPr>
          <p:cNvPr id="22835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2835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604DD13-5E43-4F09-AF2A-85408D98B033}" type="slidenum">
              <a:rPr lang="fr-FR" altLang="fr-FR" smtClean="0">
                <a:latin typeface="Calibri" panose="020F0502020204030204" pitchFamily="34" charset="0"/>
              </a:rPr>
              <a:pPr>
                <a:spcBef>
                  <a:spcPct val="0"/>
                </a:spcBef>
                <a:buFontTx/>
                <a:buNone/>
              </a:pPr>
              <a:t>105</a:t>
            </a:fld>
            <a:endParaRPr lang="fr-FR" altLang="fr-FR" dirty="0">
              <a:latin typeface="Calibri" panose="020F0502020204030204" pitchFamily="34" charset="0"/>
            </a:endParaRPr>
          </a:p>
        </p:txBody>
      </p:sp>
      <p:grpSp>
        <p:nvGrpSpPr>
          <p:cNvPr id="228357" name="Groupe 5"/>
          <p:cNvGrpSpPr>
            <a:grpSpLocks/>
          </p:cNvGrpSpPr>
          <p:nvPr/>
        </p:nvGrpSpPr>
        <p:grpSpPr bwMode="auto">
          <a:xfrm>
            <a:off x="2908300" y="1485900"/>
            <a:ext cx="3657600" cy="1968500"/>
            <a:chOff x="5143500" y="1816100"/>
            <a:chExt cx="4254500" cy="2590800"/>
          </a:xfrm>
        </p:grpSpPr>
        <p:cxnSp>
          <p:nvCxnSpPr>
            <p:cNvPr id="228391" name="Connecteur droit 6"/>
            <p:cNvCxnSpPr>
              <a:cxnSpLocks noChangeShapeType="1"/>
            </p:cNvCxnSpPr>
            <p:nvPr/>
          </p:nvCxnSpPr>
          <p:spPr bwMode="auto">
            <a:xfrm rot="10800000">
              <a:off x="5143500" y="1828800"/>
              <a:ext cx="4241800" cy="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cxnSp>
          <p:nvCxnSpPr>
            <p:cNvPr id="228392" name="Connecteur droit 7"/>
            <p:cNvCxnSpPr>
              <a:cxnSpLocks noChangeShapeType="1"/>
            </p:cNvCxnSpPr>
            <p:nvPr/>
          </p:nvCxnSpPr>
          <p:spPr bwMode="auto">
            <a:xfrm rot="5400000">
              <a:off x="3848100" y="3111500"/>
              <a:ext cx="2590800" cy="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cxnSp>
          <p:nvCxnSpPr>
            <p:cNvPr id="228393" name="Connecteur droit 8"/>
            <p:cNvCxnSpPr>
              <a:cxnSpLocks noChangeShapeType="1"/>
            </p:cNvCxnSpPr>
            <p:nvPr/>
          </p:nvCxnSpPr>
          <p:spPr bwMode="auto">
            <a:xfrm rot="10800000">
              <a:off x="5156200" y="4406900"/>
              <a:ext cx="4241800" cy="0"/>
            </a:xfrm>
            <a:prstGeom prst="line">
              <a:avLst/>
            </a:prstGeom>
            <a:noFill/>
            <a:ln w="19050" algn="ctr">
              <a:solidFill>
                <a:srgbClr val="FF0000"/>
              </a:solidFill>
              <a:round/>
              <a:headEnd type="triangle" w="med" len="med"/>
              <a:tailEnd/>
            </a:ln>
            <a:extLst>
              <a:ext uri="{909E8E84-426E-40DD-AFC4-6F175D3DCCD1}">
                <a14:hiddenFill xmlns:a14="http://schemas.microsoft.com/office/drawing/2010/main">
                  <a:noFill/>
                </a14:hiddenFill>
              </a:ext>
            </a:extLst>
          </p:spPr>
        </p:cxnSp>
      </p:grpSp>
      <p:grpSp>
        <p:nvGrpSpPr>
          <p:cNvPr id="228358" name="Groupe 9"/>
          <p:cNvGrpSpPr>
            <a:grpSpLocks/>
          </p:cNvGrpSpPr>
          <p:nvPr/>
        </p:nvGrpSpPr>
        <p:grpSpPr bwMode="auto">
          <a:xfrm>
            <a:off x="3200400" y="1063625"/>
            <a:ext cx="1127125" cy="1233488"/>
            <a:chOff x="787400" y="1562100"/>
            <a:chExt cx="1358900" cy="1485900"/>
          </a:xfrm>
        </p:grpSpPr>
        <p:sp>
          <p:nvSpPr>
            <p:cNvPr id="228387" name="Rectangle 10"/>
            <p:cNvSpPr>
              <a:spLocks noChangeArrowheads="1"/>
            </p:cNvSpPr>
            <p:nvPr/>
          </p:nvSpPr>
          <p:spPr bwMode="auto">
            <a:xfrm>
              <a:off x="787400" y="1562100"/>
              <a:ext cx="1358900" cy="1485900"/>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228388" name="Groupe 79"/>
            <p:cNvGrpSpPr>
              <a:grpSpLocks/>
            </p:cNvGrpSpPr>
            <p:nvPr/>
          </p:nvGrpSpPr>
          <p:grpSpPr bwMode="auto">
            <a:xfrm>
              <a:off x="957263" y="1732755"/>
              <a:ext cx="1087437" cy="1178719"/>
              <a:chOff x="957263" y="1732755"/>
              <a:chExt cx="1087437" cy="1178719"/>
            </a:xfrm>
          </p:grpSpPr>
          <p:sp>
            <p:nvSpPr>
              <p:cNvPr id="228389" name="Croix 25"/>
              <p:cNvSpPr>
                <a:spLocks noChangeArrowheads="1"/>
              </p:cNvSpPr>
              <p:nvPr/>
            </p:nvSpPr>
            <p:spPr bwMode="auto">
              <a:xfrm>
                <a:off x="1629423" y="2072920"/>
                <a:ext cx="415277" cy="417801"/>
              </a:xfrm>
              <a:prstGeom prst="plus">
                <a:avLst>
                  <a:gd name="adj" fmla="val 25000"/>
                </a:avLst>
              </a:prstGeom>
              <a:solidFill>
                <a:schemeClr val="bg1"/>
              </a:solidFill>
              <a:ln w="9525" algn="ctr">
                <a:solidFill>
                  <a:schemeClr val="tx1"/>
                </a:solidFill>
                <a:round/>
                <a:headEnd/>
                <a:tailEnd/>
              </a:ln>
            </p:spPr>
            <p:txBody>
              <a:bodyPr lIns="90663" tIns="45331" rIns="90663" bIns="4533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pic>
            <p:nvPicPr>
              <p:cNvPr id="2283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7263" y="1732755"/>
                <a:ext cx="595312" cy="117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28359" name="Groupe 14"/>
          <p:cNvGrpSpPr>
            <a:grpSpLocks/>
          </p:cNvGrpSpPr>
          <p:nvPr/>
        </p:nvGrpSpPr>
        <p:grpSpPr bwMode="auto">
          <a:xfrm>
            <a:off x="3200400" y="2792413"/>
            <a:ext cx="1127125" cy="1233487"/>
            <a:chOff x="901700" y="3949700"/>
            <a:chExt cx="1358900" cy="1485900"/>
          </a:xfrm>
        </p:grpSpPr>
        <p:sp>
          <p:nvSpPr>
            <p:cNvPr id="228383" name="Rectangle 15"/>
            <p:cNvSpPr>
              <a:spLocks noChangeArrowheads="1"/>
            </p:cNvSpPr>
            <p:nvPr/>
          </p:nvSpPr>
          <p:spPr bwMode="auto">
            <a:xfrm>
              <a:off x="901700" y="3949700"/>
              <a:ext cx="1358900" cy="1485900"/>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228384" name="Groupe 78"/>
            <p:cNvGrpSpPr>
              <a:grpSpLocks/>
            </p:cNvGrpSpPr>
            <p:nvPr/>
          </p:nvGrpSpPr>
          <p:grpSpPr bwMode="auto">
            <a:xfrm>
              <a:off x="998538" y="4111624"/>
              <a:ext cx="1071562" cy="1188000"/>
              <a:chOff x="998538" y="4111624"/>
              <a:chExt cx="1071562" cy="1188000"/>
            </a:xfrm>
          </p:grpSpPr>
          <p:pic>
            <p:nvPicPr>
              <p:cNvPr id="22838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8538" y="4111624"/>
                <a:ext cx="600000" cy="11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86" name="Triangle isocèle 18"/>
              <p:cNvSpPr>
                <a:spLocks noChangeArrowheads="1"/>
              </p:cNvSpPr>
              <p:nvPr/>
            </p:nvSpPr>
            <p:spPr bwMode="auto">
              <a:xfrm rot="5400000" flipH="1">
                <a:off x="1686002" y="4473498"/>
                <a:ext cx="374495" cy="393700"/>
              </a:xfrm>
              <a:prstGeom prst="triangle">
                <a:avLst>
                  <a:gd name="adj" fmla="val 50000"/>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grpSp>
        <p:nvGrpSpPr>
          <p:cNvPr id="228360" name="Groupe 19"/>
          <p:cNvGrpSpPr>
            <a:grpSpLocks/>
          </p:cNvGrpSpPr>
          <p:nvPr/>
        </p:nvGrpSpPr>
        <p:grpSpPr bwMode="auto">
          <a:xfrm>
            <a:off x="4951413" y="1063625"/>
            <a:ext cx="1127125" cy="1233488"/>
            <a:chOff x="2209800" y="1587500"/>
            <a:chExt cx="1358900" cy="1485900"/>
          </a:xfrm>
        </p:grpSpPr>
        <p:sp>
          <p:nvSpPr>
            <p:cNvPr id="228379" name="Rectangle 20"/>
            <p:cNvSpPr>
              <a:spLocks noChangeArrowheads="1"/>
            </p:cNvSpPr>
            <p:nvPr/>
          </p:nvSpPr>
          <p:spPr bwMode="auto">
            <a:xfrm>
              <a:off x="2209800" y="1587500"/>
              <a:ext cx="1358900" cy="1485900"/>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228380" name="Groupe 80"/>
            <p:cNvGrpSpPr>
              <a:grpSpLocks/>
            </p:cNvGrpSpPr>
            <p:nvPr/>
          </p:nvGrpSpPr>
          <p:grpSpPr bwMode="auto">
            <a:xfrm>
              <a:off x="2354263" y="1732755"/>
              <a:ext cx="1011237" cy="1178719"/>
              <a:chOff x="2354263" y="1732755"/>
              <a:chExt cx="1011237" cy="1178719"/>
            </a:xfrm>
          </p:grpSpPr>
          <p:sp>
            <p:nvSpPr>
              <p:cNvPr id="228381" name="Ellipse 22"/>
              <p:cNvSpPr>
                <a:spLocks noChangeArrowheads="1"/>
              </p:cNvSpPr>
              <p:nvPr/>
            </p:nvSpPr>
            <p:spPr bwMode="auto">
              <a:xfrm rot="-5400000">
                <a:off x="2794000" y="2146300"/>
                <a:ext cx="812800" cy="330200"/>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2283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4263" y="1732755"/>
                <a:ext cx="595312" cy="117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28361" name="Groupe 24"/>
          <p:cNvGrpSpPr>
            <a:grpSpLocks/>
          </p:cNvGrpSpPr>
          <p:nvPr/>
        </p:nvGrpSpPr>
        <p:grpSpPr bwMode="auto">
          <a:xfrm>
            <a:off x="4951413" y="2792413"/>
            <a:ext cx="1127125" cy="1233487"/>
            <a:chOff x="2336800" y="3937000"/>
            <a:chExt cx="1358900" cy="1485900"/>
          </a:xfrm>
        </p:grpSpPr>
        <p:sp>
          <p:nvSpPr>
            <p:cNvPr id="228375" name="Rectangle 25"/>
            <p:cNvSpPr>
              <a:spLocks noChangeArrowheads="1"/>
            </p:cNvSpPr>
            <p:nvPr/>
          </p:nvSpPr>
          <p:spPr bwMode="auto">
            <a:xfrm>
              <a:off x="2336800" y="3937000"/>
              <a:ext cx="1358900" cy="1485900"/>
            </a:xfrm>
            <a:prstGeom prst="rect">
              <a:avLst/>
            </a:prstGeom>
            <a:solidFill>
              <a:srgbClr val="0033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nvGrpSpPr>
            <p:cNvPr id="228376" name="Groupe 81"/>
            <p:cNvGrpSpPr>
              <a:grpSpLocks/>
            </p:cNvGrpSpPr>
            <p:nvPr/>
          </p:nvGrpSpPr>
          <p:grpSpPr bwMode="auto">
            <a:xfrm>
              <a:off x="2408238" y="4086224"/>
              <a:ext cx="1198562" cy="1188000"/>
              <a:chOff x="2408238" y="4086224"/>
              <a:chExt cx="1198562" cy="1188000"/>
            </a:xfrm>
          </p:grpSpPr>
          <p:pic>
            <p:nvPicPr>
              <p:cNvPr id="22837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8238" y="4086224"/>
                <a:ext cx="600000" cy="11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Étoile à 5 branches 28"/>
              <p:cNvSpPr/>
              <p:nvPr/>
            </p:nvSpPr>
            <p:spPr bwMode="auto">
              <a:xfrm rot="5400000">
                <a:off x="3098762" y="4393841"/>
                <a:ext cx="508687" cy="509109"/>
              </a:xfrm>
              <a:prstGeom prst="star5">
                <a:avLst/>
              </a:prstGeom>
              <a:solidFill>
                <a:schemeClr val="bg1"/>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grpSp>
      </p:grpSp>
      <p:grpSp>
        <p:nvGrpSpPr>
          <p:cNvPr id="228362" name="Groupe 30"/>
          <p:cNvGrpSpPr>
            <a:grpSpLocks/>
          </p:cNvGrpSpPr>
          <p:nvPr/>
        </p:nvGrpSpPr>
        <p:grpSpPr bwMode="auto">
          <a:xfrm>
            <a:off x="6272145" y="1016000"/>
            <a:ext cx="1013056" cy="1285608"/>
            <a:chOff x="3998283" y="1409700"/>
            <a:chExt cx="1014133" cy="1284953"/>
          </a:xfrm>
        </p:grpSpPr>
        <p:sp>
          <p:nvSpPr>
            <p:cNvPr id="228373" name="ZoneTexte 31"/>
            <p:cNvSpPr txBox="1">
              <a:spLocks noChangeArrowheads="1"/>
            </p:cNvSpPr>
            <p:nvPr/>
          </p:nvSpPr>
          <p:spPr bwMode="auto">
            <a:xfrm>
              <a:off x="4018846" y="2171700"/>
              <a:ext cx="993570" cy="522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rPr>
                <a:t>Lancement</a:t>
              </a:r>
              <a:br>
                <a:rPr lang="fr-FR" altLang="fr-FR" sz="1400" dirty="0">
                  <a:latin typeface="Calibri" panose="020F0502020204030204" pitchFamily="34" charset="0"/>
                </a:rPr>
              </a:br>
              <a:r>
                <a:rPr lang="fr-FR" altLang="fr-FR" sz="1400" dirty="0">
                  <a:latin typeface="Calibri" panose="020F0502020204030204" pitchFamily="34" charset="0"/>
                </a:rPr>
                <a:t>Découpe</a:t>
              </a:r>
            </a:p>
          </p:txBody>
        </p:sp>
        <p:pic>
          <p:nvPicPr>
            <p:cNvPr id="228374" name="Picture 32" descr="TIP5e¦ütu-fin E¦üTU1"/>
            <p:cNvPicPr>
              <a:picLocks noChangeAspect="1" noChangeArrowheads="1"/>
            </p:cNvPicPr>
            <p:nvPr/>
          </p:nvPicPr>
          <p:blipFill>
            <a:blip r:embed="rId5">
              <a:extLst>
                <a:ext uri="{28A0092B-C50C-407E-A947-70E740481C1C}">
                  <a14:useLocalDpi xmlns:a14="http://schemas.microsoft.com/office/drawing/2010/main" val="0"/>
                </a:ext>
              </a:extLst>
            </a:blip>
            <a:srcRect l="8157" t="25005" r="23033" b="14983"/>
            <a:stretch>
              <a:fillRect/>
            </a:stretch>
          </p:blipFill>
          <p:spPr bwMode="auto">
            <a:xfrm>
              <a:off x="3998283" y="1409700"/>
              <a:ext cx="883092" cy="790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8363" name="Groupe 33"/>
          <p:cNvGrpSpPr>
            <a:grpSpLocks/>
          </p:cNvGrpSpPr>
          <p:nvPr/>
        </p:nvGrpSpPr>
        <p:grpSpPr bwMode="auto">
          <a:xfrm>
            <a:off x="6304827" y="3262313"/>
            <a:ext cx="848452" cy="766940"/>
            <a:chOff x="8553154" y="2766371"/>
            <a:chExt cx="848512" cy="767384"/>
          </a:xfrm>
        </p:grpSpPr>
        <p:pic>
          <p:nvPicPr>
            <p:cNvPr id="228371" name="Picture 46" descr="TIP3fab 7"/>
            <p:cNvPicPr>
              <a:picLocks noChangeAspect="1" noChangeArrowheads="1"/>
            </p:cNvPicPr>
            <p:nvPr/>
          </p:nvPicPr>
          <p:blipFill>
            <a:blip r:embed="rId6">
              <a:extLst>
                <a:ext uri="{28A0092B-C50C-407E-A947-70E740481C1C}">
                  <a14:useLocalDpi xmlns:a14="http://schemas.microsoft.com/office/drawing/2010/main" val="0"/>
                </a:ext>
              </a:extLst>
            </a:blip>
            <a:srcRect l="6909" t="46571" r="26497" b="12415"/>
            <a:stretch>
              <a:fillRect/>
            </a:stretch>
          </p:blipFill>
          <p:spPr bwMode="auto">
            <a:xfrm>
              <a:off x="8602335" y="2766371"/>
              <a:ext cx="799331" cy="58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72" name="ZoneTexte 35"/>
            <p:cNvSpPr txBox="1">
              <a:spLocks noChangeArrowheads="1"/>
            </p:cNvSpPr>
            <p:nvPr/>
          </p:nvSpPr>
          <p:spPr bwMode="auto">
            <a:xfrm>
              <a:off x="8553154" y="3225800"/>
              <a:ext cx="814960" cy="30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400" dirty="0">
                  <a:latin typeface="Calibri" panose="020F0502020204030204" pitchFamily="34" charset="0"/>
                </a:rPr>
                <a:t>Contrôle</a:t>
              </a:r>
            </a:p>
          </p:txBody>
        </p:sp>
      </p:grpSp>
      <p:grpSp>
        <p:nvGrpSpPr>
          <p:cNvPr id="228364" name="Groupe 38"/>
          <p:cNvGrpSpPr>
            <a:grpSpLocks/>
          </p:cNvGrpSpPr>
          <p:nvPr/>
        </p:nvGrpSpPr>
        <p:grpSpPr bwMode="auto">
          <a:xfrm>
            <a:off x="5321300" y="495300"/>
            <a:ext cx="736600" cy="736600"/>
            <a:chOff x="8191500" y="1765300"/>
            <a:chExt cx="736600" cy="736600"/>
          </a:xfrm>
        </p:grpSpPr>
        <p:sp>
          <p:nvSpPr>
            <p:cNvPr id="228369" name="Carré corné 36"/>
            <p:cNvSpPr>
              <a:spLocks noChangeArrowheads="1"/>
            </p:cNvSpPr>
            <p:nvPr/>
          </p:nvSpPr>
          <p:spPr bwMode="auto">
            <a:xfrm>
              <a:off x="8191500" y="1765300"/>
              <a:ext cx="736600" cy="736600"/>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28370" name="Croix 25"/>
            <p:cNvSpPr>
              <a:spLocks noChangeArrowheads="1"/>
            </p:cNvSpPr>
            <p:nvPr/>
          </p:nvSpPr>
          <p:spPr bwMode="auto">
            <a:xfrm>
              <a:off x="8394873" y="1932311"/>
              <a:ext cx="344578" cy="346672"/>
            </a:xfrm>
            <a:prstGeom prst="plus">
              <a:avLst>
                <a:gd name="adj" fmla="val 25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663" tIns="45331" rIns="90663" bIns="45331"/>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dirty="0">
                <a:latin typeface="Calibri" panose="020F0502020204030204" pitchFamily="34" charset="0"/>
              </a:endParaRPr>
            </a:p>
          </p:txBody>
        </p:sp>
      </p:grpSp>
      <p:sp>
        <p:nvSpPr>
          <p:cNvPr id="228365" name="ZoneTexte 39"/>
          <p:cNvSpPr txBox="1">
            <a:spLocks noChangeArrowheads="1"/>
          </p:cNvSpPr>
          <p:nvPr/>
        </p:nvSpPr>
        <p:spPr bwMode="auto">
          <a:xfrm>
            <a:off x="1122348" y="4635500"/>
            <a:ext cx="4113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latin typeface="Calibri" panose="020F0502020204030204" pitchFamily="34" charset="0"/>
              </a:rPr>
              <a:t>Vous avez droit à</a:t>
            </a:r>
            <a:r>
              <a:rPr lang="fr-FR" altLang="fr-FR" sz="1800" dirty="0">
                <a:solidFill>
                  <a:srgbClr val="FF0000"/>
                </a:solidFill>
                <a:latin typeface="Calibri" panose="020F0502020204030204" pitchFamily="34" charset="0"/>
              </a:rPr>
              <a:t> 2 tickets</a:t>
            </a:r>
            <a:r>
              <a:rPr lang="fr-FR" altLang="fr-FR" sz="1800" dirty="0">
                <a:latin typeface="Calibri" panose="020F0502020204030204" pitchFamily="34" charset="0"/>
              </a:rPr>
              <a:t> de polyvalence </a:t>
            </a:r>
          </a:p>
        </p:txBody>
      </p:sp>
      <p:sp>
        <p:nvSpPr>
          <p:cNvPr id="228366" name="Carré corné 41"/>
          <p:cNvSpPr>
            <a:spLocks noChangeArrowheads="1"/>
          </p:cNvSpPr>
          <p:nvPr/>
        </p:nvSpPr>
        <p:spPr bwMode="auto">
          <a:xfrm>
            <a:off x="5626100" y="4394200"/>
            <a:ext cx="736600" cy="736600"/>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28367" name="Carré corné 43"/>
          <p:cNvSpPr>
            <a:spLocks noChangeArrowheads="1"/>
          </p:cNvSpPr>
          <p:nvPr/>
        </p:nvSpPr>
        <p:spPr bwMode="auto">
          <a:xfrm>
            <a:off x="6527800" y="4394200"/>
            <a:ext cx="736600" cy="736600"/>
          </a:xfrm>
          <a:prstGeom prst="foldedCorner">
            <a:avLst>
              <a:gd name="adj" fmla="val 16667"/>
            </a:avLst>
          </a:prstGeom>
          <a:solidFill>
            <a:srgbClr val="FFFF00"/>
          </a:solidFill>
          <a:ln w="9525" algn="ctr">
            <a:solidFill>
              <a:schemeClr val="tx1"/>
            </a:solidFill>
            <a:round/>
            <a:headEnd/>
            <a:tailEn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rapèze 12"/>
          <p:cNvSpPr/>
          <p:nvPr/>
        </p:nvSpPr>
        <p:spPr bwMode="auto">
          <a:xfrm rot="14640000">
            <a:off x="3378200" y="1512888"/>
            <a:ext cx="1085850" cy="88900"/>
          </a:xfrm>
          <a:prstGeom prst="trapezoid">
            <a:avLst>
              <a:gd name="adj" fmla="val 47687"/>
            </a:avLst>
          </a:prstGeom>
          <a:solidFill>
            <a:srgbClr val="66FF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30403" name="Titre 1"/>
          <p:cNvSpPr>
            <a:spLocks noGrp="1"/>
          </p:cNvSpPr>
          <p:nvPr>
            <p:ph type="title"/>
          </p:nvPr>
        </p:nvSpPr>
        <p:spPr/>
        <p:txBody>
          <a:bodyPr/>
          <a:lstStyle/>
          <a:p>
            <a:r>
              <a:rPr lang="fr-FR" altLang="fr-FR"/>
              <a:t>La qualité</a:t>
            </a:r>
          </a:p>
        </p:txBody>
      </p:sp>
      <p:sp>
        <p:nvSpPr>
          <p:cNvPr id="3" name="Espace réservé du contenu 2"/>
          <p:cNvSpPr>
            <a:spLocks noGrp="1"/>
          </p:cNvSpPr>
          <p:nvPr>
            <p:ph idx="1"/>
          </p:nvPr>
        </p:nvSpPr>
        <p:spPr>
          <a:xfrm>
            <a:off x="823913" y="2876550"/>
            <a:ext cx="8550275" cy="3233738"/>
          </a:xfrm>
        </p:spPr>
        <p:txBody>
          <a:bodyPr/>
          <a:lstStyle/>
          <a:p>
            <a:r>
              <a:rPr lang="fr-FR" altLang="fr-FR"/>
              <a:t>Tout défaut doit être </a:t>
            </a:r>
            <a:r>
              <a:rPr lang="fr-FR" altLang="fr-FR">
                <a:solidFill>
                  <a:srgbClr val="FF0000"/>
                </a:solidFill>
              </a:rPr>
              <a:t>réparé</a:t>
            </a:r>
            <a:r>
              <a:rPr lang="fr-FR" altLang="fr-FR"/>
              <a:t> sur la ligne.</a:t>
            </a:r>
          </a:p>
          <a:p>
            <a:endParaRPr lang="fr-FR" altLang="fr-FR"/>
          </a:p>
          <a:p>
            <a:r>
              <a:rPr lang="fr-FR" altLang="fr-FR"/>
              <a:t>Le client peut effectuer des contrôles par prélèvement</a:t>
            </a:r>
          </a:p>
        </p:txBody>
      </p:sp>
      <p:sp>
        <p:nvSpPr>
          <p:cNvPr id="23040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3040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16588433-D40C-4381-A9B7-38549F67999C}" type="slidenum">
              <a:rPr lang="fr-FR" altLang="fr-FR" smtClean="0">
                <a:latin typeface="Calibri" panose="020F0502020204030204" pitchFamily="34" charset="0"/>
              </a:rPr>
              <a:pPr>
                <a:spcBef>
                  <a:spcPct val="0"/>
                </a:spcBef>
                <a:buFontTx/>
                <a:buNone/>
              </a:pPr>
              <a:t>106</a:t>
            </a:fld>
            <a:endParaRPr lang="fr-FR" altLang="fr-FR" dirty="0">
              <a:latin typeface="Calibri" panose="020F0502020204030204" pitchFamily="34" charset="0"/>
            </a:endParaRPr>
          </a:p>
        </p:txBody>
      </p:sp>
      <p:grpSp>
        <p:nvGrpSpPr>
          <p:cNvPr id="230407" name="Groupe 5"/>
          <p:cNvGrpSpPr>
            <a:grpSpLocks/>
          </p:cNvGrpSpPr>
          <p:nvPr/>
        </p:nvGrpSpPr>
        <p:grpSpPr bwMode="auto">
          <a:xfrm>
            <a:off x="3195638" y="1036638"/>
            <a:ext cx="1020762" cy="1008062"/>
            <a:chOff x="5967730" y="5969000"/>
            <a:chExt cx="373380" cy="373380"/>
          </a:xfrm>
        </p:grpSpPr>
        <p:sp>
          <p:nvSpPr>
            <p:cNvPr id="7" name="Triangle isocèle 6"/>
            <p:cNvSpPr/>
            <p:nvPr/>
          </p:nvSpPr>
          <p:spPr>
            <a:xfrm>
              <a:off x="5974117" y="6000752"/>
              <a:ext cx="325183" cy="335160"/>
            </a:xfrm>
            <a:prstGeom prst="triangle">
              <a:avLst/>
            </a:prstGeom>
            <a:solidFill>
              <a:srgbClr val="66FF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8" name="Triangle isocèle 7"/>
            <p:cNvSpPr/>
            <p:nvPr/>
          </p:nvSpPr>
          <p:spPr>
            <a:xfrm>
              <a:off x="5967730" y="5969000"/>
              <a:ext cx="373380" cy="37338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grpSp>
        <p:nvGrpSpPr>
          <p:cNvPr id="230408" name="Groupe 8"/>
          <p:cNvGrpSpPr>
            <a:grpSpLocks/>
          </p:cNvGrpSpPr>
          <p:nvPr/>
        </p:nvGrpSpPr>
        <p:grpSpPr bwMode="auto">
          <a:xfrm>
            <a:off x="5414963" y="1052513"/>
            <a:ext cx="1008062" cy="1008062"/>
            <a:chOff x="8370570" y="5924550"/>
            <a:chExt cx="373380" cy="373380"/>
          </a:xfrm>
        </p:grpSpPr>
        <p:sp>
          <p:nvSpPr>
            <p:cNvPr id="10" name="Triangle isocèle 9"/>
            <p:cNvSpPr/>
            <p:nvPr/>
          </p:nvSpPr>
          <p:spPr>
            <a:xfrm>
              <a:off x="8370570" y="5924550"/>
              <a:ext cx="373380" cy="373380"/>
            </a:xfrm>
            <a:prstGeom prst="triangle">
              <a:avLst/>
            </a:prstGeom>
            <a:solidFill>
              <a:srgbClr val="FF99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1" name="Forme libre 10"/>
            <p:cNvSpPr/>
            <p:nvPr/>
          </p:nvSpPr>
          <p:spPr>
            <a:xfrm rot="598314">
              <a:off x="8562258" y="6036270"/>
              <a:ext cx="102900" cy="92904"/>
            </a:xfrm>
            <a:custGeom>
              <a:avLst/>
              <a:gdLst>
                <a:gd name="connsiteX0" fmla="*/ 7637 w 102668"/>
                <a:gd name="connsiteY0" fmla="*/ 0 h 92633"/>
                <a:gd name="connsiteX1" fmla="*/ 43356 w 102668"/>
                <a:gd name="connsiteY1" fmla="*/ 2381 h 92633"/>
                <a:gd name="connsiteX2" fmla="*/ 62406 w 102668"/>
                <a:gd name="connsiteY2" fmla="*/ 9525 h 92633"/>
                <a:gd name="connsiteX3" fmla="*/ 81456 w 102668"/>
                <a:gd name="connsiteY3" fmla="*/ 11906 h 92633"/>
                <a:gd name="connsiteX4" fmla="*/ 98125 w 102668"/>
                <a:gd name="connsiteY4" fmla="*/ 26194 h 92633"/>
                <a:gd name="connsiteX5" fmla="*/ 100506 w 102668"/>
                <a:gd name="connsiteY5" fmla="*/ 50006 h 92633"/>
                <a:gd name="connsiteX6" fmla="*/ 98125 w 102668"/>
                <a:gd name="connsiteY6" fmla="*/ 85725 h 92633"/>
                <a:gd name="connsiteX7" fmla="*/ 83837 w 102668"/>
                <a:gd name="connsiteY7" fmla="*/ 90488 h 92633"/>
                <a:gd name="connsiteX8" fmla="*/ 48119 w 102668"/>
                <a:gd name="connsiteY8" fmla="*/ 83344 h 92633"/>
                <a:gd name="connsiteX9" fmla="*/ 43356 w 102668"/>
                <a:gd name="connsiteY9" fmla="*/ 69056 h 92633"/>
                <a:gd name="connsiteX10" fmla="*/ 36212 w 102668"/>
                <a:gd name="connsiteY10" fmla="*/ 35719 h 92633"/>
                <a:gd name="connsiteX11" fmla="*/ 29069 w 102668"/>
                <a:gd name="connsiteY11" fmla="*/ 19050 h 92633"/>
                <a:gd name="connsiteX12" fmla="*/ 12400 w 102668"/>
                <a:gd name="connsiteY12" fmla="*/ 16669 h 92633"/>
                <a:gd name="connsiteX13" fmla="*/ 2875 w 102668"/>
                <a:gd name="connsiteY13" fmla="*/ 4763 h 92633"/>
                <a:gd name="connsiteX14" fmla="*/ 10019 w 102668"/>
                <a:gd name="connsiteY14" fmla="*/ 2381 h 92633"/>
                <a:gd name="connsiteX15" fmla="*/ 7637 w 102668"/>
                <a:gd name="connsiteY15" fmla="*/ 0 h 9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2668" h="92633">
                  <a:moveTo>
                    <a:pt x="7637" y="0"/>
                  </a:moveTo>
                  <a:cubicBezTo>
                    <a:pt x="13193" y="0"/>
                    <a:pt x="31482" y="1194"/>
                    <a:pt x="43356" y="2381"/>
                  </a:cubicBezTo>
                  <a:cubicBezTo>
                    <a:pt x="83451" y="6391"/>
                    <a:pt x="33946" y="1764"/>
                    <a:pt x="62406" y="9525"/>
                  </a:cubicBezTo>
                  <a:cubicBezTo>
                    <a:pt x="68580" y="11209"/>
                    <a:pt x="75106" y="11112"/>
                    <a:pt x="81456" y="11906"/>
                  </a:cubicBezTo>
                  <a:cubicBezTo>
                    <a:pt x="83121" y="13155"/>
                    <a:pt x="97130" y="22960"/>
                    <a:pt x="98125" y="26194"/>
                  </a:cubicBezTo>
                  <a:cubicBezTo>
                    <a:pt x="100471" y="33818"/>
                    <a:pt x="99712" y="42069"/>
                    <a:pt x="100506" y="50006"/>
                  </a:cubicBezTo>
                  <a:cubicBezTo>
                    <a:pt x="99712" y="61912"/>
                    <a:pt x="102668" y="74691"/>
                    <a:pt x="98125" y="85725"/>
                  </a:cubicBezTo>
                  <a:cubicBezTo>
                    <a:pt x="96214" y="90367"/>
                    <a:pt x="83837" y="90488"/>
                    <a:pt x="83837" y="90488"/>
                  </a:cubicBezTo>
                  <a:cubicBezTo>
                    <a:pt x="83440" y="90455"/>
                    <a:pt x="53925" y="92633"/>
                    <a:pt x="48119" y="83344"/>
                  </a:cubicBezTo>
                  <a:cubicBezTo>
                    <a:pt x="45458" y="79087"/>
                    <a:pt x="44573" y="73926"/>
                    <a:pt x="43356" y="69056"/>
                  </a:cubicBezTo>
                  <a:cubicBezTo>
                    <a:pt x="32737" y="26574"/>
                    <a:pt x="43127" y="70292"/>
                    <a:pt x="36212" y="35719"/>
                  </a:cubicBezTo>
                  <a:cubicBezTo>
                    <a:pt x="35555" y="32433"/>
                    <a:pt x="33532" y="21034"/>
                    <a:pt x="29069" y="19050"/>
                  </a:cubicBezTo>
                  <a:cubicBezTo>
                    <a:pt x="23940" y="16770"/>
                    <a:pt x="17956" y="17463"/>
                    <a:pt x="12400" y="16669"/>
                  </a:cubicBezTo>
                  <a:cubicBezTo>
                    <a:pt x="10194" y="15198"/>
                    <a:pt x="0" y="10513"/>
                    <a:pt x="2875" y="4763"/>
                  </a:cubicBezTo>
                  <a:cubicBezTo>
                    <a:pt x="3998" y="2518"/>
                    <a:pt x="7584" y="2990"/>
                    <a:pt x="10019" y="2381"/>
                  </a:cubicBezTo>
                  <a:cubicBezTo>
                    <a:pt x="10789" y="2188"/>
                    <a:pt x="2081" y="0"/>
                    <a:pt x="7637" y="0"/>
                  </a:cubicBezTo>
                  <a:close/>
                </a:path>
              </a:pathLst>
            </a:cu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sp>
        <p:nvSpPr>
          <p:cNvPr id="12" name="Ellipse 11"/>
          <p:cNvSpPr/>
          <p:nvPr/>
        </p:nvSpPr>
        <p:spPr bwMode="auto">
          <a:xfrm>
            <a:off x="6048375" y="1257300"/>
            <a:ext cx="314325" cy="314325"/>
          </a:xfrm>
          <a:prstGeom prst="ellipse">
            <a:avLst/>
          </a:prstGeom>
          <a:solidFill>
            <a:schemeClr val="bg1"/>
          </a:solidFill>
          <a:ln w="6350" cap="flat" cmpd="sng" algn="ctr">
            <a:solidFill>
              <a:schemeClr val="bg1">
                <a:lumMod val="65000"/>
              </a:schemeClr>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itre 1"/>
          <p:cNvSpPr>
            <a:spLocks noGrp="1"/>
          </p:cNvSpPr>
          <p:nvPr>
            <p:ph type="title"/>
          </p:nvPr>
        </p:nvSpPr>
        <p:spPr/>
        <p:txBody>
          <a:bodyPr/>
          <a:lstStyle/>
          <a:p>
            <a:r>
              <a:rPr lang="fr-FR" altLang="fr-FR"/>
              <a:t>Durée de la simulation</a:t>
            </a:r>
          </a:p>
        </p:txBody>
      </p:sp>
      <p:sp>
        <p:nvSpPr>
          <p:cNvPr id="3" name="Espace réservé du contenu 2"/>
          <p:cNvSpPr>
            <a:spLocks noGrp="1"/>
          </p:cNvSpPr>
          <p:nvPr>
            <p:ph idx="1"/>
          </p:nvPr>
        </p:nvSpPr>
        <p:spPr>
          <a:xfrm>
            <a:off x="249238" y="442913"/>
            <a:ext cx="5546725" cy="458787"/>
          </a:xfrm>
        </p:spPr>
        <p:txBody>
          <a:bodyPr/>
          <a:lstStyle/>
          <a:p>
            <a:pPr>
              <a:buFontTx/>
              <a:buNone/>
            </a:pPr>
            <a:r>
              <a:rPr lang="fr-FR" altLang="fr-FR"/>
              <a:t>La simulation s’arrête quand </a:t>
            </a:r>
            <a:r>
              <a:rPr lang="fr-FR" altLang="fr-FR">
                <a:solidFill>
                  <a:srgbClr val="FF0000"/>
                </a:solidFill>
              </a:rPr>
              <a:t>24 OF</a:t>
            </a:r>
            <a:r>
              <a:rPr lang="fr-FR" altLang="fr-FR"/>
              <a:t> ont été produits.</a:t>
            </a:r>
          </a:p>
        </p:txBody>
      </p:sp>
      <p:sp>
        <p:nvSpPr>
          <p:cNvPr id="23245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3245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0DFF5F3A-EE0D-415A-B58D-18F1D26EC19C}" type="slidenum">
              <a:rPr lang="fr-FR" altLang="fr-FR" smtClean="0">
                <a:latin typeface="Calibri" panose="020F0502020204030204" pitchFamily="34" charset="0"/>
              </a:rPr>
              <a:pPr>
                <a:spcBef>
                  <a:spcPct val="0"/>
                </a:spcBef>
                <a:buFontTx/>
                <a:buNone/>
              </a:pPr>
              <a:t>107</a:t>
            </a:fld>
            <a:endParaRPr lang="fr-FR" altLang="fr-FR" dirty="0">
              <a:latin typeface="Calibri" panose="020F0502020204030204" pitchFamily="34" charset="0"/>
            </a:endParaRPr>
          </a:p>
        </p:txBody>
      </p:sp>
      <p:sp>
        <p:nvSpPr>
          <p:cNvPr id="6" name="Espace réservé du contenu 2"/>
          <p:cNvSpPr txBox="1">
            <a:spLocks/>
          </p:cNvSpPr>
          <p:nvPr/>
        </p:nvSpPr>
        <p:spPr bwMode="auto">
          <a:xfrm>
            <a:off x="274638" y="4279900"/>
            <a:ext cx="8947150" cy="446088"/>
          </a:xfrm>
          <a:prstGeom prst="rect">
            <a:avLst/>
          </a:prstGeom>
          <a:noFill/>
          <a:ln w="9525">
            <a:noFill/>
            <a:miter lim="800000"/>
            <a:headEnd/>
            <a:tailEnd/>
          </a:ln>
        </p:spPr>
        <p:txBody>
          <a:bodyPr/>
          <a:lstStyle/>
          <a:p>
            <a:pPr marL="342900" indent="-342900">
              <a:spcBef>
                <a:spcPct val="20000"/>
              </a:spcBef>
              <a:defRPr/>
            </a:pPr>
            <a:r>
              <a:rPr lang="fr-FR" sz="1800" kern="0" dirty="0">
                <a:latin typeface="Calibri" panose="020F0502020204030204" pitchFamily="34" charset="0"/>
              </a:rPr>
              <a:t>Recevez les OF en-cours, les surligneurs, les planches d’OF, les patchs et les post-</a:t>
            </a:r>
            <a:r>
              <a:rPr lang="fr-FR" sz="1800" kern="0" dirty="0" err="1">
                <a:latin typeface="Calibri" panose="020F0502020204030204" pitchFamily="34" charset="0"/>
              </a:rPr>
              <a:t>it</a:t>
            </a:r>
            <a:endParaRPr lang="fr-FR" sz="1800" kern="0" dirty="0">
              <a:latin typeface="Calibri" panose="020F0502020204030204" pitchFamily="34" charset="0"/>
            </a:endParaRPr>
          </a:p>
        </p:txBody>
      </p:sp>
      <p:pic>
        <p:nvPicPr>
          <p:cNvPr id="3686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3600" y="1171575"/>
            <a:ext cx="2663825" cy="257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4" name="Groupe 83"/>
          <p:cNvGrpSpPr>
            <a:grpSpLocks/>
          </p:cNvGrpSpPr>
          <p:nvPr/>
        </p:nvGrpSpPr>
        <p:grpSpPr bwMode="auto">
          <a:xfrm>
            <a:off x="1338263" y="1274763"/>
            <a:ext cx="1773237" cy="2155825"/>
            <a:chOff x="1338348" y="1275011"/>
            <a:chExt cx="1772825" cy="2155481"/>
          </a:xfrm>
        </p:grpSpPr>
        <p:grpSp>
          <p:nvGrpSpPr>
            <p:cNvPr id="232532" name="Groupe 59"/>
            <p:cNvGrpSpPr>
              <a:grpSpLocks/>
            </p:cNvGrpSpPr>
            <p:nvPr/>
          </p:nvGrpSpPr>
          <p:grpSpPr bwMode="auto">
            <a:xfrm>
              <a:off x="1365950" y="1867443"/>
              <a:ext cx="805064" cy="1550171"/>
              <a:chOff x="6156893" y="2768956"/>
              <a:chExt cx="805064" cy="1550171"/>
            </a:xfrm>
          </p:grpSpPr>
          <p:sp>
            <p:nvSpPr>
              <p:cNvPr id="43" name="Rectangle 42"/>
              <p:cNvSpPr/>
              <p:nvPr/>
            </p:nvSpPr>
            <p:spPr>
              <a:xfrm>
                <a:off x="6156272" y="2768566"/>
                <a:ext cx="806263" cy="155074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4" name="Étoile à 5 branches 43"/>
              <p:cNvSpPr/>
              <p:nvPr/>
            </p:nvSpPr>
            <p:spPr bwMode="auto">
              <a:xfrm>
                <a:off x="6405452" y="3816149"/>
                <a:ext cx="407892" cy="385702"/>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6" name="Ellipse 45"/>
              <p:cNvSpPr/>
              <p:nvPr/>
            </p:nvSpPr>
            <p:spPr bwMode="auto">
              <a:xfrm>
                <a:off x="6310224" y="2974908"/>
                <a:ext cx="528514" cy="206342"/>
              </a:xfrm>
              <a:prstGeom prst="ellipse">
                <a:avLst/>
              </a:prstGeom>
              <a:solidFill>
                <a:srgbClr val="99FF99"/>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7" name="Triangle isocèle 46"/>
              <p:cNvSpPr/>
              <p:nvPr/>
            </p:nvSpPr>
            <p:spPr bwMode="auto">
              <a:xfrm>
                <a:off x="6386407" y="3344737"/>
                <a:ext cx="396783" cy="298402"/>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232533" name="Groupe 58"/>
            <p:cNvGrpSpPr>
              <a:grpSpLocks/>
            </p:cNvGrpSpPr>
            <p:nvPr/>
          </p:nvGrpSpPr>
          <p:grpSpPr bwMode="auto">
            <a:xfrm>
              <a:off x="2306109" y="1880321"/>
              <a:ext cx="805064" cy="1550171"/>
              <a:chOff x="7135688" y="2794713"/>
              <a:chExt cx="805064" cy="1550171"/>
            </a:xfrm>
          </p:grpSpPr>
          <p:sp>
            <p:nvSpPr>
              <p:cNvPr id="48" name="Rectangle 47"/>
              <p:cNvSpPr/>
              <p:nvPr/>
            </p:nvSpPr>
            <p:spPr>
              <a:xfrm>
                <a:off x="7136077" y="2794143"/>
                <a:ext cx="804675" cy="155074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9" name="Étoile à 5 branches 48"/>
              <p:cNvSpPr/>
              <p:nvPr/>
            </p:nvSpPr>
            <p:spPr bwMode="auto">
              <a:xfrm>
                <a:off x="7385256" y="3841726"/>
                <a:ext cx="406306" cy="385702"/>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0" name="Ellipse 49"/>
              <p:cNvSpPr/>
              <p:nvPr/>
            </p:nvSpPr>
            <p:spPr bwMode="auto">
              <a:xfrm>
                <a:off x="7290028" y="3000485"/>
                <a:ext cx="526928" cy="206342"/>
              </a:xfrm>
              <a:prstGeom prst="ellips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1" name="Triangle isocèle 50"/>
              <p:cNvSpPr/>
              <p:nvPr/>
            </p:nvSpPr>
            <p:spPr bwMode="auto">
              <a:xfrm>
                <a:off x="7366210" y="3370314"/>
                <a:ext cx="395196" cy="298402"/>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sp>
          <p:nvSpPr>
            <p:cNvPr id="232534" name="ZoneTexte 76"/>
            <p:cNvSpPr txBox="1">
              <a:spLocks noChangeArrowheads="1"/>
            </p:cNvSpPr>
            <p:nvPr/>
          </p:nvSpPr>
          <p:spPr bwMode="auto">
            <a:xfrm>
              <a:off x="1338348" y="1275011"/>
              <a:ext cx="17525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solidFill>
                    <a:srgbClr val="FF0000"/>
                  </a:solidFill>
                  <a:latin typeface="Calibri" panose="020F0502020204030204" pitchFamily="34" charset="0"/>
                </a:rPr>
                <a:t>2 OF</a:t>
              </a:r>
              <a:r>
                <a:rPr lang="fr-FR" altLang="fr-FR" sz="1600" dirty="0">
                  <a:latin typeface="Calibri" panose="020F0502020204030204" pitchFamily="34" charset="0"/>
                </a:rPr>
                <a:t> en-cours par poste</a:t>
              </a:r>
            </a:p>
          </p:txBody>
        </p:sp>
      </p:grpSp>
      <p:grpSp>
        <p:nvGrpSpPr>
          <p:cNvPr id="83" name="Groupe 82"/>
          <p:cNvGrpSpPr>
            <a:grpSpLocks/>
          </p:cNvGrpSpPr>
          <p:nvPr/>
        </p:nvGrpSpPr>
        <p:grpSpPr bwMode="auto">
          <a:xfrm>
            <a:off x="6543675" y="2640013"/>
            <a:ext cx="3025775" cy="1584325"/>
            <a:chOff x="6543261" y="2936387"/>
            <a:chExt cx="3025743" cy="1584098"/>
          </a:xfrm>
        </p:grpSpPr>
        <p:grpSp>
          <p:nvGrpSpPr>
            <p:cNvPr id="232515" name="Groupe 61"/>
            <p:cNvGrpSpPr>
              <a:grpSpLocks/>
            </p:cNvGrpSpPr>
            <p:nvPr/>
          </p:nvGrpSpPr>
          <p:grpSpPr bwMode="auto">
            <a:xfrm>
              <a:off x="7071293" y="2936387"/>
              <a:ext cx="784819" cy="1442430"/>
              <a:chOff x="6221288" y="1056067"/>
              <a:chExt cx="805064" cy="1537292"/>
            </a:xfrm>
          </p:grpSpPr>
          <p:sp>
            <p:nvSpPr>
              <p:cNvPr id="63" name="Rectangle 62"/>
              <p:cNvSpPr/>
              <p:nvPr/>
            </p:nvSpPr>
            <p:spPr>
              <a:xfrm>
                <a:off x="6221903" y="1056067"/>
                <a:ext cx="804446" cy="153771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4" name="Étoile à 5 branches 63"/>
              <p:cNvSpPr/>
              <p:nvPr/>
            </p:nvSpPr>
            <p:spPr bwMode="auto">
              <a:xfrm>
                <a:off x="6471053" y="2089671"/>
                <a:ext cx="407109" cy="385698"/>
              </a:xfrm>
              <a:prstGeom prst="star5">
                <a:avLst/>
              </a:prstGeom>
              <a:solidFill>
                <a:srgbClr val="FF99CC"/>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5" name="Triangle isocèle 64"/>
              <p:cNvSpPr/>
              <p:nvPr/>
            </p:nvSpPr>
            <p:spPr bwMode="auto">
              <a:xfrm>
                <a:off x="6451512" y="1658298"/>
                <a:ext cx="395710" cy="299423"/>
              </a:xfrm>
              <a:prstGeom prst="triangle">
                <a:avLst/>
              </a:prstGeom>
              <a:solidFill>
                <a:srgbClr val="FF99CC"/>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6" name="AutoShape 34"/>
              <p:cNvSpPr>
                <a:spLocks noChangeArrowheads="1"/>
              </p:cNvSpPr>
              <p:nvPr/>
            </p:nvSpPr>
            <p:spPr bwMode="auto">
              <a:xfrm>
                <a:off x="6456398" y="1226924"/>
                <a:ext cx="358256" cy="306191"/>
              </a:xfrm>
              <a:prstGeom prst="plus">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232516" name="Groupe 56"/>
            <p:cNvGrpSpPr>
              <a:grpSpLocks/>
            </p:cNvGrpSpPr>
            <p:nvPr/>
          </p:nvGrpSpPr>
          <p:grpSpPr bwMode="auto">
            <a:xfrm>
              <a:off x="6865232" y="3013660"/>
              <a:ext cx="784819" cy="1442430"/>
              <a:chOff x="6221288" y="1056067"/>
              <a:chExt cx="805064" cy="1537292"/>
            </a:xfrm>
          </p:grpSpPr>
          <p:sp>
            <p:nvSpPr>
              <p:cNvPr id="9" name="Rectangle 8"/>
              <p:cNvSpPr/>
              <p:nvPr/>
            </p:nvSpPr>
            <p:spPr>
              <a:xfrm>
                <a:off x="6221584" y="1056603"/>
                <a:ext cx="804446" cy="153602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1" name="Étoile à 5 branches 10"/>
              <p:cNvSpPr/>
              <p:nvPr/>
            </p:nvSpPr>
            <p:spPr bwMode="auto">
              <a:xfrm>
                <a:off x="6470734" y="2090208"/>
                <a:ext cx="407109" cy="384006"/>
              </a:xfrm>
              <a:prstGeom prst="star5">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2" name="Triangle isocèle 11"/>
              <p:cNvSpPr/>
              <p:nvPr/>
            </p:nvSpPr>
            <p:spPr bwMode="auto">
              <a:xfrm>
                <a:off x="6451193" y="1657143"/>
                <a:ext cx="395710" cy="299423"/>
              </a:xfrm>
              <a:prstGeom prst="triangle">
                <a:avLst/>
              </a:prstGeom>
              <a:solidFill>
                <a:srgbClr val="FF99CC"/>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3" name="AutoShape 34"/>
              <p:cNvSpPr>
                <a:spLocks noChangeArrowheads="1"/>
              </p:cNvSpPr>
              <p:nvPr/>
            </p:nvSpPr>
            <p:spPr bwMode="auto">
              <a:xfrm>
                <a:off x="6456079" y="1227461"/>
                <a:ext cx="358256" cy="304499"/>
              </a:xfrm>
              <a:prstGeom prst="plus">
                <a:avLst/>
              </a:prstGeom>
              <a:solidFill>
                <a:srgbClr val="99FF99"/>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232517" name="Groupe 55"/>
            <p:cNvGrpSpPr>
              <a:grpSpLocks/>
            </p:cNvGrpSpPr>
            <p:nvPr/>
          </p:nvGrpSpPr>
          <p:grpSpPr bwMode="auto">
            <a:xfrm>
              <a:off x="6543261" y="3078055"/>
              <a:ext cx="784819" cy="1442430"/>
              <a:chOff x="7174324" y="1043188"/>
              <a:chExt cx="805064" cy="1537292"/>
            </a:xfrm>
          </p:grpSpPr>
          <p:sp>
            <p:nvSpPr>
              <p:cNvPr id="52" name="Rectangle 51"/>
              <p:cNvSpPr/>
              <p:nvPr/>
            </p:nvSpPr>
            <p:spPr>
              <a:xfrm>
                <a:off x="7174324" y="1042761"/>
                <a:ext cx="804446" cy="1537719"/>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3" name="Étoile à 5 branches 52"/>
              <p:cNvSpPr/>
              <p:nvPr/>
            </p:nvSpPr>
            <p:spPr bwMode="auto">
              <a:xfrm>
                <a:off x="7423475" y="2076365"/>
                <a:ext cx="407109" cy="385698"/>
              </a:xfrm>
              <a:prstGeom prst="star5">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4" name="Triangle isocèle 53"/>
              <p:cNvSpPr/>
              <p:nvPr/>
            </p:nvSpPr>
            <p:spPr bwMode="auto">
              <a:xfrm>
                <a:off x="7403934" y="1644992"/>
                <a:ext cx="395709" cy="299424"/>
              </a:xfrm>
              <a:prstGeom prst="triangle">
                <a:avLst/>
              </a:prstGeom>
              <a:solidFill>
                <a:srgbClr val="99FF99"/>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55" name="AutoShape 34"/>
              <p:cNvSpPr>
                <a:spLocks noChangeArrowheads="1"/>
              </p:cNvSpPr>
              <p:nvPr/>
            </p:nvSpPr>
            <p:spPr bwMode="auto">
              <a:xfrm>
                <a:off x="7408819" y="1213619"/>
                <a:ext cx="358256" cy="306190"/>
              </a:xfrm>
              <a:prstGeom prst="plus">
                <a:avLst/>
              </a:prstGeom>
              <a:solidFill>
                <a:srgbClr val="FF99CC"/>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sp>
          <p:nvSpPr>
            <p:cNvPr id="232518" name="ZoneTexte 78"/>
            <p:cNvSpPr txBox="1">
              <a:spLocks noChangeArrowheads="1"/>
            </p:cNvSpPr>
            <p:nvPr/>
          </p:nvSpPr>
          <p:spPr bwMode="auto">
            <a:xfrm>
              <a:off x="8421733" y="3348508"/>
              <a:ext cx="114727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24 OF</a:t>
              </a:r>
              <a:r>
                <a:rPr lang="fr-FR" altLang="fr-FR" sz="1800" dirty="0">
                  <a:latin typeface="Calibri" panose="020F0502020204030204" pitchFamily="34" charset="0"/>
                </a:rPr>
                <a:t> produits</a:t>
              </a:r>
            </a:p>
          </p:txBody>
        </p:sp>
        <p:sp>
          <p:nvSpPr>
            <p:cNvPr id="232519" name="Flèche droite 79"/>
            <p:cNvSpPr>
              <a:spLocks noChangeArrowheads="1"/>
            </p:cNvSpPr>
            <p:nvPr/>
          </p:nvSpPr>
          <p:spPr bwMode="auto">
            <a:xfrm>
              <a:off x="8036418" y="3490175"/>
              <a:ext cx="386367" cy="296214"/>
            </a:xfrm>
            <a:prstGeom prst="rightArrow">
              <a:avLst>
                <a:gd name="adj1" fmla="val 50000"/>
                <a:gd name="adj2" fmla="val 50000"/>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82" name="Groupe 81"/>
          <p:cNvGrpSpPr>
            <a:grpSpLocks/>
          </p:cNvGrpSpPr>
          <p:nvPr/>
        </p:nvGrpSpPr>
        <p:grpSpPr bwMode="auto">
          <a:xfrm>
            <a:off x="6067425" y="554038"/>
            <a:ext cx="2895600" cy="1841500"/>
            <a:chOff x="6066742" y="850003"/>
            <a:chExt cx="2896949" cy="1841680"/>
          </a:xfrm>
        </p:grpSpPr>
        <p:grpSp>
          <p:nvGrpSpPr>
            <p:cNvPr id="232493" name="Groupe 57"/>
            <p:cNvGrpSpPr>
              <a:grpSpLocks/>
            </p:cNvGrpSpPr>
            <p:nvPr/>
          </p:nvGrpSpPr>
          <p:grpSpPr bwMode="auto">
            <a:xfrm>
              <a:off x="6581898" y="850003"/>
              <a:ext cx="805064" cy="1287888"/>
              <a:chOff x="5255372" y="1056066"/>
              <a:chExt cx="805064" cy="1550171"/>
            </a:xfrm>
          </p:grpSpPr>
          <p:sp>
            <p:nvSpPr>
              <p:cNvPr id="34" name="Rectangle 33"/>
              <p:cNvSpPr/>
              <p:nvPr/>
            </p:nvSpPr>
            <p:spPr>
              <a:xfrm>
                <a:off x="5254806" y="1056066"/>
                <a:ext cx="805238" cy="154981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5" name="Étoile à 5 branches 34"/>
              <p:cNvSpPr/>
              <p:nvPr/>
            </p:nvSpPr>
            <p:spPr bwMode="auto">
              <a:xfrm>
                <a:off x="5504160" y="2103287"/>
                <a:ext cx="406589" cy="384108"/>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6" name="Triangle isocèle 35"/>
              <p:cNvSpPr/>
              <p:nvPr/>
            </p:nvSpPr>
            <p:spPr bwMode="auto">
              <a:xfrm>
                <a:off x="5485101" y="1669492"/>
                <a:ext cx="395471" cy="300026"/>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7" name="AutoShape 34"/>
              <p:cNvSpPr>
                <a:spLocks noChangeArrowheads="1"/>
              </p:cNvSpPr>
              <p:nvPr/>
            </p:nvSpPr>
            <p:spPr bwMode="auto">
              <a:xfrm>
                <a:off x="5488277" y="1239521"/>
                <a:ext cx="360530" cy="305758"/>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grpSp>
        <p:grpSp>
          <p:nvGrpSpPr>
            <p:cNvPr id="232494" name="Groupe 60"/>
            <p:cNvGrpSpPr>
              <a:grpSpLocks/>
            </p:cNvGrpSpPr>
            <p:nvPr/>
          </p:nvGrpSpPr>
          <p:grpSpPr bwMode="auto">
            <a:xfrm>
              <a:off x="6388714" y="1004550"/>
              <a:ext cx="805064" cy="1287888"/>
              <a:chOff x="5229614" y="2756077"/>
              <a:chExt cx="805064" cy="1550171"/>
            </a:xfrm>
          </p:grpSpPr>
          <p:sp>
            <p:nvSpPr>
              <p:cNvPr id="38" name="Rectangle 37"/>
              <p:cNvSpPr/>
              <p:nvPr/>
            </p:nvSpPr>
            <p:spPr>
              <a:xfrm>
                <a:off x="5230055" y="2755421"/>
                <a:ext cx="805237" cy="155172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9" name="Étoile à 5 branches 38"/>
              <p:cNvSpPr/>
              <p:nvPr/>
            </p:nvSpPr>
            <p:spPr bwMode="auto">
              <a:xfrm>
                <a:off x="5479408" y="3802642"/>
                <a:ext cx="406589" cy="386019"/>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41" name="AutoShape 34"/>
              <p:cNvSpPr>
                <a:spLocks noChangeArrowheads="1"/>
              </p:cNvSpPr>
              <p:nvPr/>
            </p:nvSpPr>
            <p:spPr bwMode="auto">
              <a:xfrm>
                <a:off x="5476232" y="3378403"/>
                <a:ext cx="360531" cy="305758"/>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32510" name="Ellipse 41"/>
              <p:cNvSpPr>
                <a:spLocks noChangeArrowheads="1"/>
              </p:cNvSpPr>
              <p:nvPr/>
            </p:nvSpPr>
            <p:spPr bwMode="auto">
              <a:xfrm>
                <a:off x="5383369" y="2962141"/>
                <a:ext cx="528034" cy="206062"/>
              </a:xfrm>
              <a:prstGeom prst="ellipse">
                <a:avLst/>
              </a:prstGeom>
              <a:solidFill>
                <a:schemeClr val="bg1"/>
              </a:solidFill>
              <a:ln w="38100"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32495" name="Groupe 66"/>
            <p:cNvGrpSpPr>
              <a:grpSpLocks/>
            </p:cNvGrpSpPr>
            <p:nvPr/>
          </p:nvGrpSpPr>
          <p:grpSpPr bwMode="auto">
            <a:xfrm>
              <a:off x="6247047" y="1210612"/>
              <a:ext cx="805064" cy="1287888"/>
              <a:chOff x="5229614" y="2756077"/>
              <a:chExt cx="805064" cy="1550171"/>
            </a:xfrm>
          </p:grpSpPr>
          <p:sp>
            <p:nvSpPr>
              <p:cNvPr id="68" name="Rectangle 67"/>
              <p:cNvSpPr/>
              <p:nvPr/>
            </p:nvSpPr>
            <p:spPr>
              <a:xfrm>
                <a:off x="5230368" y="2755822"/>
                <a:ext cx="803649" cy="154981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69" name="Étoile à 5 branches 68"/>
              <p:cNvSpPr/>
              <p:nvPr/>
            </p:nvSpPr>
            <p:spPr bwMode="auto">
              <a:xfrm>
                <a:off x="5479723" y="3803043"/>
                <a:ext cx="405001" cy="384109"/>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0" name="AutoShape 34"/>
              <p:cNvSpPr>
                <a:spLocks noChangeArrowheads="1"/>
              </p:cNvSpPr>
              <p:nvPr/>
            </p:nvSpPr>
            <p:spPr bwMode="auto">
              <a:xfrm>
                <a:off x="5476546" y="3376893"/>
                <a:ext cx="358942" cy="305758"/>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32506" name="Ellipse 70"/>
              <p:cNvSpPr>
                <a:spLocks noChangeArrowheads="1"/>
              </p:cNvSpPr>
              <p:nvPr/>
            </p:nvSpPr>
            <p:spPr bwMode="auto">
              <a:xfrm>
                <a:off x="5383369" y="2962141"/>
                <a:ext cx="528034" cy="206062"/>
              </a:xfrm>
              <a:prstGeom prst="ellipse">
                <a:avLst/>
              </a:prstGeom>
              <a:solidFill>
                <a:schemeClr val="bg1"/>
              </a:solidFill>
              <a:ln w="38100"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32496" name="Groupe 71"/>
            <p:cNvGrpSpPr>
              <a:grpSpLocks/>
            </p:cNvGrpSpPr>
            <p:nvPr/>
          </p:nvGrpSpPr>
          <p:grpSpPr bwMode="auto">
            <a:xfrm>
              <a:off x="6066742" y="1403795"/>
              <a:ext cx="805064" cy="1287888"/>
              <a:chOff x="5229614" y="2756077"/>
              <a:chExt cx="805064" cy="1550171"/>
            </a:xfrm>
          </p:grpSpPr>
          <p:sp>
            <p:nvSpPr>
              <p:cNvPr id="73" name="Rectangle 72"/>
              <p:cNvSpPr/>
              <p:nvPr/>
            </p:nvSpPr>
            <p:spPr>
              <a:xfrm>
                <a:off x="5229614" y="2756437"/>
                <a:ext cx="805238" cy="154981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4" name="Étoile à 5 branches 73"/>
              <p:cNvSpPr/>
              <p:nvPr/>
            </p:nvSpPr>
            <p:spPr bwMode="auto">
              <a:xfrm>
                <a:off x="5478968" y="3803658"/>
                <a:ext cx="406589" cy="384109"/>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75" name="AutoShape 34"/>
              <p:cNvSpPr>
                <a:spLocks noChangeArrowheads="1"/>
              </p:cNvSpPr>
              <p:nvPr/>
            </p:nvSpPr>
            <p:spPr bwMode="auto">
              <a:xfrm>
                <a:off x="5475792" y="3377508"/>
                <a:ext cx="360530" cy="305758"/>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32502" name="Ellipse 75"/>
              <p:cNvSpPr>
                <a:spLocks noChangeArrowheads="1"/>
              </p:cNvSpPr>
              <p:nvPr/>
            </p:nvSpPr>
            <p:spPr bwMode="auto">
              <a:xfrm>
                <a:off x="5383369" y="2962141"/>
                <a:ext cx="528034" cy="206062"/>
              </a:xfrm>
              <a:prstGeom prst="ellipse">
                <a:avLst/>
              </a:prstGeom>
              <a:solidFill>
                <a:schemeClr val="bg1"/>
              </a:solidFill>
              <a:ln w="38100"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232497" name="ZoneTexte 77"/>
            <p:cNvSpPr txBox="1">
              <a:spLocks noChangeArrowheads="1"/>
            </p:cNvSpPr>
            <p:nvPr/>
          </p:nvSpPr>
          <p:spPr bwMode="auto">
            <a:xfrm>
              <a:off x="7816420" y="1429556"/>
              <a:ext cx="114727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24 OF</a:t>
              </a:r>
              <a:r>
                <a:rPr lang="fr-FR" altLang="fr-FR" sz="1800" dirty="0">
                  <a:latin typeface="Calibri" panose="020F0502020204030204" pitchFamily="34" charset="0"/>
                </a:rPr>
                <a:t> lancés</a:t>
              </a:r>
            </a:p>
          </p:txBody>
        </p:sp>
        <p:sp>
          <p:nvSpPr>
            <p:cNvPr id="232498" name="Flèche droite 80"/>
            <p:cNvSpPr>
              <a:spLocks noChangeArrowheads="1"/>
            </p:cNvSpPr>
            <p:nvPr/>
          </p:nvSpPr>
          <p:spPr bwMode="auto">
            <a:xfrm flipH="1">
              <a:off x="7534136" y="1609860"/>
              <a:ext cx="386367" cy="296214"/>
            </a:xfrm>
            <a:prstGeom prst="rightArrow">
              <a:avLst>
                <a:gd name="adj1" fmla="val 50000"/>
                <a:gd name="adj2" fmla="val 50000"/>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129" name="Groupe 128"/>
          <p:cNvGrpSpPr>
            <a:grpSpLocks/>
          </p:cNvGrpSpPr>
          <p:nvPr/>
        </p:nvGrpSpPr>
        <p:grpSpPr bwMode="auto">
          <a:xfrm>
            <a:off x="1349375" y="4622800"/>
            <a:ext cx="8120063" cy="2022475"/>
            <a:chOff x="1350023" y="4623515"/>
            <a:chExt cx="8119492" cy="2021983"/>
          </a:xfrm>
        </p:grpSpPr>
        <p:grpSp>
          <p:nvGrpSpPr>
            <p:cNvPr id="232461" name="Groupe 121"/>
            <p:cNvGrpSpPr>
              <a:grpSpLocks/>
            </p:cNvGrpSpPr>
            <p:nvPr/>
          </p:nvGrpSpPr>
          <p:grpSpPr bwMode="auto">
            <a:xfrm>
              <a:off x="1350023" y="4623515"/>
              <a:ext cx="7626551" cy="2021983"/>
              <a:chOff x="1350023" y="4623515"/>
              <a:chExt cx="7626551" cy="2021983"/>
            </a:xfrm>
          </p:grpSpPr>
          <p:grpSp>
            <p:nvGrpSpPr>
              <p:cNvPr id="232463" name="Groupe 93"/>
              <p:cNvGrpSpPr>
                <a:grpSpLocks/>
              </p:cNvGrpSpPr>
              <p:nvPr/>
            </p:nvGrpSpPr>
            <p:grpSpPr bwMode="auto">
              <a:xfrm>
                <a:off x="1350023" y="4927109"/>
                <a:ext cx="1096962" cy="1596377"/>
                <a:chOff x="1530329" y="4888472"/>
                <a:chExt cx="1096962" cy="1596377"/>
              </a:xfrm>
            </p:grpSpPr>
            <p:pic>
              <p:nvPicPr>
                <p:cNvPr id="23249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332" y="4888472"/>
                  <a:ext cx="671959" cy="1274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249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390" y="5030140"/>
                  <a:ext cx="671959" cy="1274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249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29" y="5210444"/>
                  <a:ext cx="671959" cy="1274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2464" name="Picture 5"/>
              <p:cNvPicPr>
                <a:picLocks noChangeAspect="1" noChangeArrowheads="1"/>
              </p:cNvPicPr>
              <p:nvPr/>
            </p:nvPicPr>
            <p:blipFill>
              <a:blip r:embed="rId5">
                <a:extLst>
                  <a:ext uri="{28A0092B-C50C-407E-A947-70E740481C1C}">
                    <a14:useLocalDpi xmlns:a14="http://schemas.microsoft.com/office/drawing/2010/main" val="0"/>
                  </a:ext>
                </a:extLst>
              </a:blip>
              <a:srcRect l="1643" t="14699" r="83786" b="65968"/>
              <a:stretch>
                <a:fillRect/>
              </a:stretch>
            </p:blipFill>
            <p:spPr bwMode="auto">
              <a:xfrm>
                <a:off x="2914384" y="4996480"/>
                <a:ext cx="1271250" cy="1264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2465" name="Picture 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02984" y="5012457"/>
                <a:ext cx="1837969" cy="123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2466" name="Groupe 113"/>
              <p:cNvGrpSpPr>
                <a:grpSpLocks/>
              </p:cNvGrpSpPr>
              <p:nvPr/>
            </p:nvGrpSpPr>
            <p:grpSpPr bwMode="auto">
              <a:xfrm>
                <a:off x="7353837" y="5087154"/>
                <a:ext cx="1184856" cy="1558344"/>
                <a:chOff x="7353837" y="4932608"/>
                <a:chExt cx="1184856" cy="1558344"/>
              </a:xfrm>
            </p:grpSpPr>
            <p:grpSp>
              <p:nvGrpSpPr>
                <p:cNvPr id="232472" name="Groupe 110"/>
                <p:cNvGrpSpPr>
                  <a:grpSpLocks/>
                </p:cNvGrpSpPr>
                <p:nvPr/>
              </p:nvGrpSpPr>
              <p:grpSpPr bwMode="auto">
                <a:xfrm>
                  <a:off x="7495504" y="5100034"/>
                  <a:ext cx="888641" cy="1262129"/>
                  <a:chOff x="7495504" y="5100034"/>
                  <a:chExt cx="888641" cy="1262129"/>
                </a:xfrm>
              </p:grpSpPr>
              <p:grpSp>
                <p:nvGrpSpPr>
                  <p:cNvPr id="232474" name="Groupe 97"/>
                  <p:cNvGrpSpPr>
                    <a:grpSpLocks/>
                  </p:cNvGrpSpPr>
                  <p:nvPr/>
                </p:nvGrpSpPr>
                <p:grpSpPr bwMode="auto">
                  <a:xfrm>
                    <a:off x="7495504" y="5100034"/>
                    <a:ext cx="888641" cy="244698"/>
                    <a:chOff x="7469746" y="5100034"/>
                    <a:chExt cx="888641" cy="244698"/>
                  </a:xfrm>
                </p:grpSpPr>
                <p:sp>
                  <p:nvSpPr>
                    <p:cNvPr id="232487" name="Ellipse 94"/>
                    <p:cNvSpPr>
                      <a:spLocks noChangeArrowheads="1"/>
                    </p:cNvSpPr>
                    <p:nvPr/>
                  </p:nvSpPr>
                  <p:spPr bwMode="auto">
                    <a:xfrm>
                      <a:off x="7469746"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8" name="Ellipse 95"/>
                    <p:cNvSpPr>
                      <a:spLocks noChangeArrowheads="1"/>
                    </p:cNvSpPr>
                    <p:nvPr/>
                  </p:nvSpPr>
                  <p:spPr bwMode="auto">
                    <a:xfrm>
                      <a:off x="7791717"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9" name="Ellipse 96"/>
                    <p:cNvSpPr>
                      <a:spLocks noChangeArrowheads="1"/>
                    </p:cNvSpPr>
                    <p:nvPr/>
                  </p:nvSpPr>
                  <p:spPr bwMode="auto">
                    <a:xfrm>
                      <a:off x="8113689"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32475" name="Groupe 98"/>
                  <p:cNvGrpSpPr>
                    <a:grpSpLocks/>
                  </p:cNvGrpSpPr>
                  <p:nvPr/>
                </p:nvGrpSpPr>
                <p:grpSpPr bwMode="auto">
                  <a:xfrm>
                    <a:off x="7495504" y="5447764"/>
                    <a:ext cx="888641" cy="244698"/>
                    <a:chOff x="7469746" y="5100034"/>
                    <a:chExt cx="888641" cy="244698"/>
                  </a:xfrm>
                </p:grpSpPr>
                <p:sp>
                  <p:nvSpPr>
                    <p:cNvPr id="232484" name="Ellipse 99"/>
                    <p:cNvSpPr>
                      <a:spLocks noChangeArrowheads="1"/>
                    </p:cNvSpPr>
                    <p:nvPr/>
                  </p:nvSpPr>
                  <p:spPr bwMode="auto">
                    <a:xfrm>
                      <a:off x="7469746"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5" name="Ellipse 100"/>
                    <p:cNvSpPr>
                      <a:spLocks noChangeArrowheads="1"/>
                    </p:cNvSpPr>
                    <p:nvPr/>
                  </p:nvSpPr>
                  <p:spPr bwMode="auto">
                    <a:xfrm>
                      <a:off x="7791717"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6" name="Ellipse 101"/>
                    <p:cNvSpPr>
                      <a:spLocks noChangeArrowheads="1"/>
                    </p:cNvSpPr>
                    <p:nvPr/>
                  </p:nvSpPr>
                  <p:spPr bwMode="auto">
                    <a:xfrm>
                      <a:off x="8113689"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32476" name="Groupe 102"/>
                  <p:cNvGrpSpPr>
                    <a:grpSpLocks/>
                  </p:cNvGrpSpPr>
                  <p:nvPr/>
                </p:nvGrpSpPr>
                <p:grpSpPr bwMode="auto">
                  <a:xfrm>
                    <a:off x="7495504" y="5769735"/>
                    <a:ext cx="888641" cy="244698"/>
                    <a:chOff x="7469746" y="5100034"/>
                    <a:chExt cx="888641" cy="244698"/>
                  </a:xfrm>
                </p:grpSpPr>
                <p:sp>
                  <p:nvSpPr>
                    <p:cNvPr id="232481" name="Ellipse 103"/>
                    <p:cNvSpPr>
                      <a:spLocks noChangeArrowheads="1"/>
                    </p:cNvSpPr>
                    <p:nvPr/>
                  </p:nvSpPr>
                  <p:spPr bwMode="auto">
                    <a:xfrm>
                      <a:off x="7469746"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2" name="Ellipse 104"/>
                    <p:cNvSpPr>
                      <a:spLocks noChangeArrowheads="1"/>
                    </p:cNvSpPr>
                    <p:nvPr/>
                  </p:nvSpPr>
                  <p:spPr bwMode="auto">
                    <a:xfrm>
                      <a:off x="7791717"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3" name="Ellipse 105"/>
                    <p:cNvSpPr>
                      <a:spLocks noChangeArrowheads="1"/>
                    </p:cNvSpPr>
                    <p:nvPr/>
                  </p:nvSpPr>
                  <p:spPr bwMode="auto">
                    <a:xfrm>
                      <a:off x="8113689"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32477" name="Groupe 106"/>
                  <p:cNvGrpSpPr>
                    <a:grpSpLocks/>
                  </p:cNvGrpSpPr>
                  <p:nvPr/>
                </p:nvGrpSpPr>
                <p:grpSpPr bwMode="auto">
                  <a:xfrm>
                    <a:off x="7495504" y="6117465"/>
                    <a:ext cx="888641" cy="244698"/>
                    <a:chOff x="7469746" y="5100034"/>
                    <a:chExt cx="888641" cy="244698"/>
                  </a:xfrm>
                </p:grpSpPr>
                <p:sp>
                  <p:nvSpPr>
                    <p:cNvPr id="232478" name="Ellipse 107"/>
                    <p:cNvSpPr>
                      <a:spLocks noChangeArrowheads="1"/>
                    </p:cNvSpPr>
                    <p:nvPr/>
                  </p:nvSpPr>
                  <p:spPr bwMode="auto">
                    <a:xfrm>
                      <a:off x="7469746"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79" name="Ellipse 108"/>
                    <p:cNvSpPr>
                      <a:spLocks noChangeArrowheads="1"/>
                    </p:cNvSpPr>
                    <p:nvPr/>
                  </p:nvSpPr>
                  <p:spPr bwMode="auto">
                    <a:xfrm>
                      <a:off x="7791717"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2480" name="Ellipse 109"/>
                    <p:cNvSpPr>
                      <a:spLocks noChangeArrowheads="1"/>
                    </p:cNvSpPr>
                    <p:nvPr/>
                  </p:nvSpPr>
                  <p:spPr bwMode="auto">
                    <a:xfrm>
                      <a:off x="8113689" y="5100034"/>
                      <a:ext cx="244698" cy="244698"/>
                    </a:xfrm>
                    <a:prstGeom prst="ellipse">
                      <a:avLst/>
                    </a:prstGeom>
                    <a:solidFill>
                      <a:schemeClr val="bg1"/>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sp>
              <p:nvSpPr>
                <p:cNvPr id="232473" name="Rectangle 112"/>
                <p:cNvSpPr>
                  <a:spLocks noChangeArrowheads="1"/>
                </p:cNvSpPr>
                <p:nvPr/>
              </p:nvSpPr>
              <p:spPr bwMode="auto">
                <a:xfrm>
                  <a:off x="7353837" y="4932608"/>
                  <a:ext cx="1184856" cy="1558344"/>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cxnSp>
            <p:nvCxnSpPr>
              <p:cNvPr id="232467" name="Connecteur droit avec flèche 115"/>
              <p:cNvCxnSpPr>
                <a:cxnSpLocks noChangeShapeType="1"/>
              </p:cNvCxnSpPr>
              <p:nvPr/>
            </p:nvCxnSpPr>
            <p:spPr bwMode="auto">
              <a:xfrm rot="10800000" flipV="1">
                <a:off x="2266682" y="4623515"/>
                <a:ext cx="244698" cy="23182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2468" name="Connecteur droit avec flèche 116"/>
              <p:cNvCxnSpPr>
                <a:cxnSpLocks noChangeShapeType="1"/>
              </p:cNvCxnSpPr>
              <p:nvPr/>
            </p:nvCxnSpPr>
            <p:spPr bwMode="auto">
              <a:xfrm rot="10800000" flipV="1">
                <a:off x="3825026" y="4687909"/>
                <a:ext cx="244698" cy="23182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2469" name="Connecteur droit avec flèche 117"/>
              <p:cNvCxnSpPr>
                <a:cxnSpLocks noChangeShapeType="1"/>
                <a:endCxn id="232465" idx="0"/>
              </p:cNvCxnSpPr>
              <p:nvPr/>
            </p:nvCxnSpPr>
            <p:spPr bwMode="auto">
              <a:xfrm rot="5400000">
                <a:off x="5594582" y="4837304"/>
                <a:ext cx="350306"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2470" name="Connecteur droit avec flèche 118"/>
              <p:cNvCxnSpPr>
                <a:cxnSpLocks noChangeShapeType="1"/>
              </p:cNvCxnSpPr>
              <p:nvPr/>
            </p:nvCxnSpPr>
            <p:spPr bwMode="auto">
              <a:xfrm>
                <a:off x="7431109" y="4649273"/>
                <a:ext cx="283336" cy="28333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2471" name="Connecteur droit avec flèche 127"/>
              <p:cNvCxnSpPr>
                <a:cxnSpLocks noChangeShapeType="1"/>
              </p:cNvCxnSpPr>
              <p:nvPr/>
            </p:nvCxnSpPr>
            <p:spPr bwMode="auto">
              <a:xfrm>
                <a:off x="8693238" y="4649273"/>
                <a:ext cx="283336" cy="28333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232462" name="Carré corné 191"/>
            <p:cNvSpPr>
              <a:spLocks noChangeArrowheads="1"/>
            </p:cNvSpPr>
            <p:nvPr/>
          </p:nvSpPr>
          <p:spPr bwMode="auto">
            <a:xfrm>
              <a:off x="8864989" y="5159801"/>
              <a:ext cx="604526" cy="557261"/>
            </a:xfrm>
            <a:prstGeom prst="foldedCorner">
              <a:avLst>
                <a:gd name="adj" fmla="val 22222"/>
              </a:avLst>
            </a:prstGeom>
            <a:solidFill>
              <a:srgbClr val="FFFF00"/>
            </a:solidFill>
            <a:ln w="9525" algn="ctr">
              <a:solidFill>
                <a:schemeClr val="tx1"/>
              </a:solidFill>
              <a:round/>
              <a:headEnd/>
              <a:tailEnd/>
            </a:ln>
          </p:spPr>
          <p:txBody>
            <a:bodyPr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900"/>
                </a:lnSpc>
                <a:spcBef>
                  <a:spcPct val="0"/>
                </a:spcBef>
                <a:buFontTx/>
                <a:buNone/>
              </a:pPr>
              <a:endParaRPr lang="fr-FR" altLang="fr-FR" sz="1200" b="1">
                <a:latin typeface="Bradley Hand ITC" panose="03070402050302030203"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86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Titre 1"/>
          <p:cNvSpPr>
            <a:spLocks noGrp="1"/>
          </p:cNvSpPr>
          <p:nvPr>
            <p:ph type="title"/>
          </p:nvPr>
        </p:nvSpPr>
        <p:spPr/>
        <p:txBody>
          <a:bodyPr/>
          <a:lstStyle/>
          <a:p>
            <a:r>
              <a:rPr lang="fr-FR" altLang="fr-FR"/>
              <a:t>OF traceur</a:t>
            </a:r>
          </a:p>
        </p:txBody>
      </p:sp>
      <p:sp>
        <p:nvSpPr>
          <p:cNvPr id="23449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3450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BF72D6D-B2B6-4AB0-8C4A-E0024787EE97}" type="slidenum">
              <a:rPr lang="fr-FR" altLang="fr-FR" smtClean="0">
                <a:latin typeface="Calibri" panose="020F0502020204030204" pitchFamily="34" charset="0"/>
              </a:rPr>
              <a:pPr>
                <a:spcBef>
                  <a:spcPct val="0"/>
                </a:spcBef>
                <a:buFontTx/>
                <a:buNone/>
              </a:pPr>
              <a:t>108</a:t>
            </a:fld>
            <a:endParaRPr lang="fr-FR" altLang="fr-FR" dirty="0">
              <a:latin typeface="Calibri" panose="020F0502020204030204" pitchFamily="34" charset="0"/>
            </a:endParaRPr>
          </a:p>
        </p:txBody>
      </p:sp>
      <p:cxnSp>
        <p:nvCxnSpPr>
          <p:cNvPr id="6" name="Connecteur droit 5"/>
          <p:cNvCxnSpPr/>
          <p:nvPr/>
        </p:nvCxnSpPr>
        <p:spPr bwMode="auto">
          <a:xfrm>
            <a:off x="2147888" y="1811338"/>
            <a:ext cx="16557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34502" name="Picture 46" descr="TIP3fab 7"/>
          <p:cNvPicPr>
            <a:picLocks noChangeAspect="1" noChangeArrowheads="1"/>
          </p:cNvPicPr>
          <p:nvPr/>
        </p:nvPicPr>
        <p:blipFill>
          <a:blip r:embed="rId3">
            <a:extLst>
              <a:ext uri="{28A0092B-C50C-407E-A947-70E740481C1C}">
                <a14:useLocalDpi xmlns:a14="http://schemas.microsoft.com/office/drawing/2010/main" val="0"/>
              </a:ext>
            </a:extLst>
          </a:blip>
          <a:srcRect l="6909" t="52309" r="26497" b="19960"/>
          <a:stretch>
            <a:fillRect/>
          </a:stretch>
        </p:blipFill>
        <p:spPr bwMode="auto">
          <a:xfrm>
            <a:off x="2925763" y="4357688"/>
            <a:ext cx="5572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503" name="ZoneTexte 146"/>
          <p:cNvSpPr txBox="1">
            <a:spLocks noChangeArrowheads="1"/>
          </p:cNvSpPr>
          <p:nvPr/>
        </p:nvSpPr>
        <p:spPr bwMode="auto">
          <a:xfrm>
            <a:off x="2609850" y="1538288"/>
            <a:ext cx="7715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600"/>
              </a:lnSpc>
              <a:spcBef>
                <a:spcPct val="0"/>
              </a:spcBef>
              <a:buFontTx/>
              <a:buNone/>
            </a:pPr>
            <a:r>
              <a:rPr lang="fr-FR" altLang="fr-FR" sz="1600" dirty="0">
                <a:latin typeface="Calibri" panose="020F0502020204030204" pitchFamily="34" charset="0"/>
              </a:rPr>
              <a:t>OF31</a:t>
            </a:r>
          </a:p>
        </p:txBody>
      </p:sp>
      <p:grpSp>
        <p:nvGrpSpPr>
          <p:cNvPr id="234504" name="Groupe 57"/>
          <p:cNvGrpSpPr>
            <a:grpSpLocks/>
          </p:cNvGrpSpPr>
          <p:nvPr/>
        </p:nvGrpSpPr>
        <p:grpSpPr bwMode="auto">
          <a:xfrm>
            <a:off x="2817813" y="2024063"/>
            <a:ext cx="1100137" cy="2286000"/>
            <a:chOff x="2854946" y="866775"/>
            <a:chExt cx="1100137" cy="2286000"/>
          </a:xfrm>
        </p:grpSpPr>
        <p:sp>
          <p:nvSpPr>
            <p:cNvPr id="10" name="Croix 9"/>
            <p:cNvSpPr/>
            <p:nvPr/>
          </p:nvSpPr>
          <p:spPr bwMode="auto">
            <a:xfrm>
              <a:off x="2983533" y="1320800"/>
              <a:ext cx="584200" cy="539750"/>
            </a:xfrm>
            <a:prstGeom prst="plus">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solidFill>
                  <a:srgbClr val="FF0000"/>
                </a:solidFill>
                <a:latin typeface="Calibri" panose="020F0502020204030204" pitchFamily="34" charset="0"/>
              </a:endParaRPr>
            </a:p>
          </p:txBody>
        </p:sp>
        <p:sp>
          <p:nvSpPr>
            <p:cNvPr id="11" name="Ellipse 10"/>
            <p:cNvSpPr/>
            <p:nvPr/>
          </p:nvSpPr>
          <p:spPr bwMode="auto">
            <a:xfrm>
              <a:off x="2854946" y="866775"/>
              <a:ext cx="946150" cy="357187"/>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2" name="Étoile à 5 branches 11"/>
            <p:cNvSpPr/>
            <p:nvPr/>
          </p:nvSpPr>
          <p:spPr bwMode="auto">
            <a:xfrm>
              <a:off x="2902571" y="2468562"/>
              <a:ext cx="720725" cy="684213"/>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3" name="Triangle isocèle 12"/>
            <p:cNvSpPr/>
            <p:nvPr/>
          </p:nvSpPr>
          <p:spPr bwMode="auto">
            <a:xfrm>
              <a:off x="2967658" y="1931987"/>
              <a:ext cx="615950" cy="468313"/>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4" name="ZoneTexte 146"/>
            <p:cNvSpPr txBox="1">
              <a:spLocks noChangeArrowheads="1"/>
            </p:cNvSpPr>
            <p:nvPr/>
          </p:nvSpPr>
          <p:spPr bwMode="auto">
            <a:xfrm>
              <a:off x="3362946" y="1187450"/>
              <a:ext cx="558800" cy="246062"/>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Bleu</a:t>
              </a:r>
            </a:p>
          </p:txBody>
        </p:sp>
        <p:sp>
          <p:nvSpPr>
            <p:cNvPr id="15" name="ZoneTexte 146"/>
            <p:cNvSpPr txBox="1">
              <a:spLocks noChangeArrowheads="1"/>
            </p:cNvSpPr>
            <p:nvPr/>
          </p:nvSpPr>
          <p:spPr bwMode="auto">
            <a:xfrm>
              <a:off x="3348658" y="1749425"/>
              <a:ext cx="558800" cy="246062"/>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Bleu</a:t>
              </a:r>
            </a:p>
          </p:txBody>
        </p:sp>
        <p:sp>
          <p:nvSpPr>
            <p:cNvPr id="16" name="ZoneTexte 146"/>
            <p:cNvSpPr txBox="1">
              <a:spLocks noChangeArrowheads="1"/>
            </p:cNvSpPr>
            <p:nvPr/>
          </p:nvSpPr>
          <p:spPr bwMode="auto">
            <a:xfrm>
              <a:off x="3386758" y="2032000"/>
              <a:ext cx="558800" cy="246062"/>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Bleu</a:t>
              </a:r>
            </a:p>
          </p:txBody>
        </p:sp>
        <p:sp>
          <p:nvSpPr>
            <p:cNvPr id="17" name="ZoneTexte 146"/>
            <p:cNvSpPr txBox="1">
              <a:spLocks noChangeArrowheads="1"/>
            </p:cNvSpPr>
            <p:nvPr/>
          </p:nvSpPr>
          <p:spPr bwMode="auto">
            <a:xfrm>
              <a:off x="3396283" y="2844800"/>
              <a:ext cx="558800" cy="246062"/>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Bleu</a:t>
              </a:r>
            </a:p>
          </p:txBody>
        </p:sp>
      </p:grpSp>
      <p:sp>
        <p:nvSpPr>
          <p:cNvPr id="18" name="Rectangle 17"/>
          <p:cNvSpPr/>
          <p:nvPr/>
        </p:nvSpPr>
        <p:spPr bwMode="auto">
          <a:xfrm>
            <a:off x="2159000" y="1463675"/>
            <a:ext cx="576263" cy="3133725"/>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nvGrpSpPr>
          <p:cNvPr id="234506" name="Groupe 155"/>
          <p:cNvGrpSpPr>
            <a:grpSpLocks/>
          </p:cNvGrpSpPr>
          <p:nvPr/>
        </p:nvGrpSpPr>
        <p:grpSpPr bwMode="auto">
          <a:xfrm>
            <a:off x="2174875" y="1433513"/>
            <a:ext cx="541338" cy="406400"/>
            <a:chOff x="68254" y="490220"/>
            <a:chExt cx="541023" cy="406441"/>
          </a:xfrm>
        </p:grpSpPr>
        <p:sp>
          <p:nvSpPr>
            <p:cNvPr id="20" name="Rectangle 19"/>
            <p:cNvSpPr/>
            <p:nvPr/>
          </p:nvSpPr>
          <p:spPr bwMode="auto">
            <a:xfrm>
              <a:off x="68254" y="537850"/>
              <a:ext cx="541023" cy="35881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cxnSp>
          <p:nvCxnSpPr>
            <p:cNvPr id="21" name="Connecteur droit 20"/>
            <p:cNvCxnSpPr>
              <a:stCxn id="20" idx="0"/>
              <a:endCxn id="20" idx="2"/>
            </p:cNvCxnSpPr>
            <p:nvPr/>
          </p:nvCxnSpPr>
          <p:spPr>
            <a:xfrm rot="16200000" flipH="1">
              <a:off x="160153" y="717256"/>
              <a:ext cx="358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4543" name="ZoneTexte 151"/>
            <p:cNvSpPr txBox="1">
              <a:spLocks noChangeArrowheads="1"/>
            </p:cNvSpPr>
            <p:nvPr/>
          </p:nvSpPr>
          <p:spPr bwMode="auto">
            <a:xfrm>
              <a:off x="126610" y="496570"/>
              <a:ext cx="161809" cy="180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min.</a:t>
              </a:r>
            </a:p>
          </p:txBody>
        </p:sp>
        <p:sp>
          <p:nvSpPr>
            <p:cNvPr id="234544" name="ZoneTexte 153"/>
            <p:cNvSpPr txBox="1">
              <a:spLocks noChangeArrowheads="1"/>
            </p:cNvSpPr>
            <p:nvPr/>
          </p:nvSpPr>
          <p:spPr bwMode="auto">
            <a:xfrm>
              <a:off x="394969" y="490220"/>
              <a:ext cx="140982" cy="180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sec.</a:t>
              </a:r>
            </a:p>
          </p:txBody>
        </p:sp>
      </p:grpSp>
      <p:grpSp>
        <p:nvGrpSpPr>
          <p:cNvPr id="234507" name="Groupe 195"/>
          <p:cNvGrpSpPr>
            <a:grpSpLocks/>
          </p:cNvGrpSpPr>
          <p:nvPr/>
        </p:nvGrpSpPr>
        <p:grpSpPr bwMode="auto">
          <a:xfrm>
            <a:off x="2174875" y="4138613"/>
            <a:ext cx="541338" cy="406400"/>
            <a:chOff x="68254" y="490220"/>
            <a:chExt cx="541023" cy="406713"/>
          </a:xfrm>
        </p:grpSpPr>
        <p:sp>
          <p:nvSpPr>
            <p:cNvPr id="25" name="Rectangle 24"/>
            <p:cNvSpPr/>
            <p:nvPr/>
          </p:nvSpPr>
          <p:spPr bwMode="auto">
            <a:xfrm>
              <a:off x="68254" y="537882"/>
              <a:ext cx="541023" cy="35905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cxnSp>
          <p:nvCxnSpPr>
            <p:cNvPr id="26" name="Connecteur droit 25"/>
            <p:cNvCxnSpPr>
              <a:stCxn id="25" idx="0"/>
              <a:endCxn id="25" idx="2"/>
            </p:cNvCxnSpPr>
            <p:nvPr/>
          </p:nvCxnSpPr>
          <p:spPr>
            <a:xfrm rot="16200000" flipH="1">
              <a:off x="160033" y="717408"/>
              <a:ext cx="3590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4539" name="ZoneTexte 198"/>
            <p:cNvSpPr txBox="1">
              <a:spLocks noChangeArrowheads="1"/>
            </p:cNvSpPr>
            <p:nvPr/>
          </p:nvSpPr>
          <p:spPr bwMode="auto">
            <a:xfrm>
              <a:off x="126610" y="496570"/>
              <a:ext cx="161809" cy="18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min.</a:t>
              </a:r>
            </a:p>
          </p:txBody>
        </p:sp>
        <p:sp>
          <p:nvSpPr>
            <p:cNvPr id="234540" name="ZoneTexte 200"/>
            <p:cNvSpPr txBox="1">
              <a:spLocks noChangeArrowheads="1"/>
            </p:cNvSpPr>
            <p:nvPr/>
          </p:nvSpPr>
          <p:spPr bwMode="auto">
            <a:xfrm>
              <a:off x="394969" y="490220"/>
              <a:ext cx="140982" cy="18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sec.</a:t>
              </a:r>
            </a:p>
          </p:txBody>
        </p:sp>
      </p:grpSp>
      <p:sp>
        <p:nvSpPr>
          <p:cNvPr id="29" name="Rectangle 28"/>
          <p:cNvSpPr/>
          <p:nvPr/>
        </p:nvSpPr>
        <p:spPr bwMode="auto">
          <a:xfrm>
            <a:off x="2151063" y="1443038"/>
            <a:ext cx="1655762" cy="31686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30" name="Ellipse 29"/>
          <p:cNvSpPr/>
          <p:nvPr/>
        </p:nvSpPr>
        <p:spPr>
          <a:xfrm>
            <a:off x="3260725" y="1466850"/>
            <a:ext cx="503238" cy="503238"/>
          </a:xfrm>
          <a:prstGeom prst="ellipse">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nvGrpSpPr>
          <p:cNvPr id="234510" name="Groupe 80"/>
          <p:cNvGrpSpPr>
            <a:grpSpLocks/>
          </p:cNvGrpSpPr>
          <p:nvPr/>
        </p:nvGrpSpPr>
        <p:grpSpPr bwMode="auto">
          <a:xfrm>
            <a:off x="5364163" y="1408113"/>
            <a:ext cx="1743075" cy="3175000"/>
            <a:chOff x="4720867" y="1214483"/>
            <a:chExt cx="1741890" cy="3176028"/>
          </a:xfrm>
        </p:grpSpPr>
        <p:cxnSp>
          <p:nvCxnSpPr>
            <p:cNvPr id="79" name="Connecteur droit 78"/>
            <p:cNvCxnSpPr/>
            <p:nvPr/>
          </p:nvCxnSpPr>
          <p:spPr bwMode="auto">
            <a:xfrm>
              <a:off x="4720867" y="1590842"/>
              <a:ext cx="16562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bwMode="auto">
            <a:xfrm>
              <a:off x="4724040" y="1222423"/>
              <a:ext cx="1656223" cy="316808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nvGrpSpPr>
            <p:cNvPr id="234514" name="Groupe 81"/>
            <p:cNvGrpSpPr>
              <a:grpSpLocks/>
            </p:cNvGrpSpPr>
            <p:nvPr/>
          </p:nvGrpSpPr>
          <p:grpSpPr bwMode="auto">
            <a:xfrm>
              <a:off x="5237207" y="1830433"/>
              <a:ext cx="1225550" cy="2360612"/>
              <a:chOff x="964810" y="3857625"/>
              <a:chExt cx="1223591" cy="2360613"/>
            </a:xfrm>
          </p:grpSpPr>
          <p:sp>
            <p:nvSpPr>
              <p:cNvPr id="57" name="Étoile à 5 branches 56"/>
              <p:cNvSpPr/>
              <p:nvPr/>
            </p:nvSpPr>
            <p:spPr bwMode="auto">
              <a:xfrm>
                <a:off x="1133534" y="4313584"/>
                <a:ext cx="722251" cy="684435"/>
              </a:xfrm>
              <a:prstGeom prst="star5">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solidFill>
                    <a:srgbClr val="FF0000"/>
                  </a:solidFill>
                  <a:latin typeface="Calibri" panose="020F0502020204030204" pitchFamily="34" charset="0"/>
                </a:endParaRPr>
              </a:p>
            </p:txBody>
          </p:sp>
          <p:sp>
            <p:nvSpPr>
              <p:cNvPr id="58" name="Triangle isocèle 57"/>
              <p:cNvSpPr/>
              <p:nvPr/>
            </p:nvSpPr>
            <p:spPr bwMode="auto">
              <a:xfrm>
                <a:off x="1211144" y="5536355"/>
                <a:ext cx="617715" cy="468465"/>
              </a:xfrm>
              <a:prstGeom prst="triangl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59" name="Rectangle 58"/>
              <p:cNvSpPr/>
              <p:nvPr/>
            </p:nvSpPr>
            <p:spPr bwMode="auto">
              <a:xfrm>
                <a:off x="1109775" y="3857824"/>
                <a:ext cx="847379" cy="33030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60" name="AutoShape 34"/>
              <p:cNvSpPr>
                <a:spLocks noChangeArrowheads="1"/>
              </p:cNvSpPr>
              <p:nvPr/>
            </p:nvSpPr>
            <p:spPr bwMode="auto">
              <a:xfrm>
                <a:off x="1171547" y="5082183"/>
                <a:ext cx="734922" cy="477993"/>
              </a:xfrm>
              <a:prstGeom prst="wave">
                <a:avLst>
                  <a:gd name="adj1" fmla="val 20644"/>
                  <a:gd name="adj2" fmla="val 7681"/>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34533" name="ZoneTexte 146"/>
              <p:cNvSpPr txBox="1">
                <a:spLocks noChangeArrowheads="1"/>
              </p:cNvSpPr>
              <p:nvPr/>
            </p:nvSpPr>
            <p:spPr bwMode="auto">
              <a:xfrm>
                <a:off x="1246981" y="5972023"/>
                <a:ext cx="560386"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dirty="0">
                    <a:latin typeface="Calibri" panose="020F0502020204030204" pitchFamily="34" charset="0"/>
                  </a:rPr>
                  <a:t>Jaune</a:t>
                </a:r>
              </a:p>
            </p:txBody>
          </p:sp>
          <p:sp>
            <p:nvSpPr>
              <p:cNvPr id="234534" name="ZoneTexte 146"/>
              <p:cNvSpPr txBox="1">
                <a:spLocks noChangeArrowheads="1"/>
              </p:cNvSpPr>
              <p:nvPr/>
            </p:nvSpPr>
            <p:spPr bwMode="auto">
              <a:xfrm>
                <a:off x="964810" y="5422748"/>
                <a:ext cx="560386"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dirty="0">
                    <a:latin typeface="Calibri" panose="020F0502020204030204" pitchFamily="34" charset="0"/>
                  </a:rPr>
                  <a:t>Jaune</a:t>
                </a:r>
              </a:p>
            </p:txBody>
          </p:sp>
          <p:sp>
            <p:nvSpPr>
              <p:cNvPr id="234535" name="ZoneTexte 146"/>
              <p:cNvSpPr txBox="1">
                <a:spLocks noChangeArrowheads="1"/>
              </p:cNvSpPr>
              <p:nvPr/>
            </p:nvSpPr>
            <p:spPr bwMode="auto">
              <a:xfrm>
                <a:off x="1628013" y="4654398"/>
                <a:ext cx="560388"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dirty="0">
                    <a:latin typeface="Calibri" panose="020F0502020204030204" pitchFamily="34" charset="0"/>
                  </a:rPr>
                  <a:t>Jaune</a:t>
                </a:r>
              </a:p>
            </p:txBody>
          </p:sp>
          <p:sp>
            <p:nvSpPr>
              <p:cNvPr id="234536" name="ZoneTexte 146"/>
              <p:cNvSpPr txBox="1">
                <a:spLocks noChangeArrowheads="1"/>
              </p:cNvSpPr>
              <p:nvPr/>
            </p:nvSpPr>
            <p:spPr bwMode="auto">
              <a:xfrm>
                <a:off x="1526370" y="4168623"/>
                <a:ext cx="560389"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200"/>
                  </a:lnSpc>
                  <a:spcBef>
                    <a:spcPct val="0"/>
                  </a:spcBef>
                  <a:buFontTx/>
                  <a:buNone/>
                </a:pPr>
                <a:r>
                  <a:rPr lang="fr-FR" altLang="fr-FR" dirty="0">
                    <a:latin typeface="Calibri" panose="020F0502020204030204" pitchFamily="34" charset="0"/>
                  </a:rPr>
                  <a:t>Jaune</a:t>
                </a:r>
              </a:p>
            </p:txBody>
          </p:sp>
        </p:grpSp>
        <p:pic>
          <p:nvPicPr>
            <p:cNvPr id="234515" name="Picture 46" descr="TIP3fab 7"/>
            <p:cNvPicPr>
              <a:picLocks noChangeAspect="1" noChangeArrowheads="1"/>
            </p:cNvPicPr>
            <p:nvPr/>
          </p:nvPicPr>
          <p:blipFill>
            <a:blip r:embed="rId3">
              <a:extLst>
                <a:ext uri="{28A0092B-C50C-407E-A947-70E740481C1C}">
                  <a14:useLocalDpi xmlns:a14="http://schemas.microsoft.com/office/drawing/2010/main" val="0"/>
                </a:ext>
              </a:extLst>
            </a:blip>
            <a:srcRect l="6909" t="52309" r="26497" b="19960"/>
            <a:stretch>
              <a:fillRect/>
            </a:stretch>
          </p:blipFill>
          <p:spPr bwMode="auto">
            <a:xfrm>
              <a:off x="5597569" y="4138658"/>
              <a:ext cx="5556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Rectangle 65"/>
            <p:cNvSpPr/>
            <p:nvPr/>
          </p:nvSpPr>
          <p:spPr bwMode="auto">
            <a:xfrm>
              <a:off x="4735144" y="1244655"/>
              <a:ext cx="577457" cy="3133152"/>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nvGrpSpPr>
            <p:cNvPr id="234517" name="Groupe 155"/>
            <p:cNvGrpSpPr>
              <a:grpSpLocks/>
            </p:cNvGrpSpPr>
            <p:nvPr/>
          </p:nvGrpSpPr>
          <p:grpSpPr bwMode="auto">
            <a:xfrm>
              <a:off x="4751009" y="1214483"/>
              <a:ext cx="540970" cy="406533"/>
              <a:chOff x="67831" y="490220"/>
              <a:chExt cx="540656" cy="406574"/>
            </a:xfrm>
          </p:grpSpPr>
          <p:sp>
            <p:nvSpPr>
              <p:cNvPr id="68" name="Rectangle 67"/>
              <p:cNvSpPr/>
              <p:nvPr/>
            </p:nvSpPr>
            <p:spPr bwMode="auto">
              <a:xfrm>
                <a:off x="67831" y="537865"/>
                <a:ext cx="540656" cy="35892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cxnSp>
            <p:nvCxnSpPr>
              <p:cNvPr id="69" name="Connecteur droit 68"/>
              <p:cNvCxnSpPr>
                <a:stCxn id="68" idx="0"/>
                <a:endCxn id="68" idx="2"/>
              </p:cNvCxnSpPr>
              <p:nvPr/>
            </p:nvCxnSpPr>
            <p:spPr>
              <a:xfrm rot="16200000" flipH="1">
                <a:off x="159487" y="717330"/>
                <a:ext cx="3589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4527" name="ZoneTexte 151"/>
              <p:cNvSpPr txBox="1">
                <a:spLocks noChangeArrowheads="1"/>
              </p:cNvSpPr>
              <p:nvPr/>
            </p:nvSpPr>
            <p:spPr bwMode="auto">
              <a:xfrm>
                <a:off x="126663" y="496570"/>
                <a:ext cx="161699" cy="18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min.</a:t>
                </a:r>
              </a:p>
            </p:txBody>
          </p:sp>
          <p:sp>
            <p:nvSpPr>
              <p:cNvPr id="234528" name="ZoneTexte 153"/>
              <p:cNvSpPr txBox="1">
                <a:spLocks noChangeArrowheads="1"/>
              </p:cNvSpPr>
              <p:nvPr/>
            </p:nvSpPr>
            <p:spPr bwMode="auto">
              <a:xfrm>
                <a:off x="395016" y="490220"/>
                <a:ext cx="140886" cy="180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sec.</a:t>
                </a:r>
              </a:p>
            </p:txBody>
          </p:sp>
        </p:grpSp>
        <p:grpSp>
          <p:nvGrpSpPr>
            <p:cNvPr id="234518" name="Groupe 195"/>
            <p:cNvGrpSpPr>
              <a:grpSpLocks/>
            </p:cNvGrpSpPr>
            <p:nvPr/>
          </p:nvGrpSpPr>
          <p:grpSpPr bwMode="auto">
            <a:xfrm>
              <a:off x="4751009" y="3919582"/>
              <a:ext cx="540970" cy="405820"/>
              <a:chOff x="67831" y="490220"/>
              <a:chExt cx="540656" cy="406133"/>
            </a:xfrm>
          </p:grpSpPr>
          <p:sp>
            <p:nvSpPr>
              <p:cNvPr id="73" name="Rectangle 72"/>
              <p:cNvSpPr/>
              <p:nvPr/>
            </p:nvSpPr>
            <p:spPr bwMode="auto">
              <a:xfrm>
                <a:off x="67831" y="537184"/>
                <a:ext cx="540656" cy="35916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cxnSp>
            <p:nvCxnSpPr>
              <p:cNvPr id="74" name="Connecteur droit 73"/>
              <p:cNvCxnSpPr>
                <a:stCxn id="73" idx="0"/>
                <a:endCxn id="73" idx="2"/>
              </p:cNvCxnSpPr>
              <p:nvPr/>
            </p:nvCxnSpPr>
            <p:spPr>
              <a:xfrm rot="16200000" flipH="1">
                <a:off x="159367" y="716769"/>
                <a:ext cx="359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4523" name="ZoneTexte 198"/>
              <p:cNvSpPr txBox="1">
                <a:spLocks noChangeArrowheads="1"/>
              </p:cNvSpPr>
              <p:nvPr/>
            </p:nvSpPr>
            <p:spPr bwMode="auto">
              <a:xfrm>
                <a:off x="126663" y="496570"/>
                <a:ext cx="161699" cy="180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min.</a:t>
                </a:r>
              </a:p>
            </p:txBody>
          </p:sp>
          <p:sp>
            <p:nvSpPr>
              <p:cNvPr id="234524" name="ZoneTexte 200"/>
              <p:cNvSpPr txBox="1">
                <a:spLocks noChangeArrowheads="1"/>
              </p:cNvSpPr>
              <p:nvPr/>
            </p:nvSpPr>
            <p:spPr bwMode="auto">
              <a:xfrm>
                <a:off x="395016" y="490220"/>
                <a:ext cx="140886" cy="18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36000" rIns="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700" dirty="0">
                    <a:latin typeface="Calibri" panose="020F0502020204030204" pitchFamily="34" charset="0"/>
                  </a:rPr>
                  <a:t>sec.</a:t>
                </a:r>
              </a:p>
            </p:txBody>
          </p:sp>
        </p:grpSp>
        <p:sp>
          <p:nvSpPr>
            <p:cNvPr id="77" name="Ellipse 76"/>
            <p:cNvSpPr/>
            <p:nvPr/>
          </p:nvSpPr>
          <p:spPr>
            <a:xfrm>
              <a:off x="5837707" y="1247831"/>
              <a:ext cx="502895" cy="503401"/>
            </a:xfrm>
            <a:prstGeom prst="ellipse">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34520" name="ZoneTexte 146"/>
            <p:cNvSpPr txBox="1">
              <a:spLocks noChangeArrowheads="1"/>
            </p:cNvSpPr>
            <p:nvPr/>
          </p:nvSpPr>
          <p:spPr bwMode="auto">
            <a:xfrm>
              <a:off x="5235619" y="1339990"/>
              <a:ext cx="685800" cy="28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600"/>
                </a:lnSpc>
                <a:spcBef>
                  <a:spcPct val="0"/>
                </a:spcBef>
                <a:buFontTx/>
                <a:buNone/>
              </a:pPr>
              <a:r>
                <a:rPr lang="fr-FR" altLang="fr-FR" sz="1600" dirty="0">
                  <a:latin typeface="Calibri" panose="020F0502020204030204" pitchFamily="34" charset="0"/>
                </a:rPr>
                <a:t>OF34</a:t>
              </a: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6546" name="Titre 1"/>
          <p:cNvSpPr>
            <a:spLocks noGrp="1"/>
          </p:cNvSpPr>
          <p:nvPr>
            <p:ph type="title"/>
          </p:nvPr>
        </p:nvSpPr>
        <p:spPr/>
        <p:txBody>
          <a:bodyPr/>
          <a:lstStyle/>
          <a:p>
            <a:r>
              <a:rPr lang="fr-FR" altLang="fr-FR"/>
              <a:t>La distribution des surligneurs</a:t>
            </a:r>
          </a:p>
        </p:txBody>
      </p:sp>
      <p:sp>
        <p:nvSpPr>
          <p:cNvPr id="236547" name="Espace réservé du contenu 2"/>
          <p:cNvSpPr>
            <a:spLocks noGrp="1"/>
          </p:cNvSpPr>
          <p:nvPr>
            <p:ph idx="1"/>
          </p:nvPr>
        </p:nvSpPr>
        <p:spPr>
          <a:xfrm>
            <a:off x="1906588" y="655638"/>
            <a:ext cx="6165850" cy="431800"/>
          </a:xfrm>
        </p:spPr>
        <p:txBody>
          <a:bodyPr/>
          <a:lstStyle/>
          <a:p>
            <a:pPr algn="ctr">
              <a:buFontTx/>
              <a:buNone/>
            </a:pPr>
            <a:r>
              <a:rPr lang="fr-FR" altLang="fr-FR"/>
              <a:t>Chaque Atelier reçoit des feutres en état de marche</a:t>
            </a:r>
          </a:p>
        </p:txBody>
      </p:sp>
      <p:sp>
        <p:nvSpPr>
          <p:cNvPr id="23654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36549"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B0CD8D2-7B32-440C-979C-721F77937C43}" type="slidenum">
              <a:rPr lang="fr-FR" altLang="fr-FR" smtClean="0">
                <a:latin typeface="Calibri" panose="020F0502020204030204" pitchFamily="34" charset="0"/>
              </a:rPr>
              <a:pPr>
                <a:spcBef>
                  <a:spcPct val="0"/>
                </a:spcBef>
                <a:buFontTx/>
                <a:buNone/>
              </a:pPr>
              <a:t>109</a:t>
            </a:fld>
            <a:endParaRPr lang="fr-FR" altLang="fr-FR" dirty="0">
              <a:latin typeface="Calibri" panose="020F0502020204030204" pitchFamily="34" charset="0"/>
            </a:endParaRPr>
          </a:p>
        </p:txBody>
      </p:sp>
      <p:graphicFrame>
        <p:nvGraphicFramePr>
          <p:cNvPr id="6" name="Group 171"/>
          <p:cNvGraphicFramePr>
            <a:graphicFrameLocks noGrp="1"/>
          </p:cNvGraphicFramePr>
          <p:nvPr/>
        </p:nvGraphicFramePr>
        <p:xfrm>
          <a:off x="1903413" y="1212850"/>
          <a:ext cx="4219575" cy="2105025"/>
        </p:xfrm>
        <a:graphic>
          <a:graphicData uri="http://schemas.openxmlformats.org/drawingml/2006/table">
            <a:tbl>
              <a:tblPr/>
              <a:tblGrid>
                <a:gridCol w="2285747">
                  <a:extLst>
                    <a:ext uri="{9D8B030D-6E8A-4147-A177-3AD203B41FA5}">
                      <a16:colId xmlns:a16="http://schemas.microsoft.com/office/drawing/2014/main" val="20000"/>
                    </a:ext>
                  </a:extLst>
                </a:gridCol>
                <a:gridCol w="966914">
                  <a:extLst>
                    <a:ext uri="{9D8B030D-6E8A-4147-A177-3AD203B41FA5}">
                      <a16:colId xmlns:a16="http://schemas.microsoft.com/office/drawing/2014/main" val="20001"/>
                    </a:ext>
                  </a:extLst>
                </a:gridCol>
                <a:gridCol w="966914">
                  <a:extLst>
                    <a:ext uri="{9D8B030D-6E8A-4147-A177-3AD203B41FA5}">
                      <a16:colId xmlns:a16="http://schemas.microsoft.com/office/drawing/2014/main" val="20002"/>
                    </a:ext>
                  </a:extLst>
                </a:gridCol>
              </a:tblGrid>
              <a:tr h="344087">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Effectif Atelier 1 ou 3</a:t>
                      </a:r>
                      <a:endParaRPr kumimoji="0" lang="fr-FR" sz="15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89991" marR="89991" marT="17995" marB="17995"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 ou 5</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 ou 7</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1FFFF"/>
                    </a:solidFill>
                  </a:tcPr>
                </a:tc>
                <a:extLst>
                  <a:ext uri="{0D108BD9-81ED-4DB2-BD59-A6C34878D82A}">
                    <a16:rowId xmlns:a16="http://schemas.microsoft.com/office/drawing/2014/main" val="10000"/>
                  </a:ext>
                </a:extLst>
              </a:tr>
              <a:tr h="354018">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BLEUS</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E3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5</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018">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JAUNES</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018">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ROSES</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B9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89991" marR="89991" marT="17995" marB="179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442">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VERTS</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FFFB4"/>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9442">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TOTAL</a:t>
                      </a:r>
                      <a:endPar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13</a:t>
                      </a:r>
                    </a:p>
                  </a:txBody>
                  <a:tcPr marL="89991" marR="89991" marT="17995" marB="179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bl>
          </a:graphicData>
        </a:graphic>
      </p:graphicFrame>
      <p:pic>
        <p:nvPicPr>
          <p:cNvPr id="2365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1600" y="3643313"/>
            <a:ext cx="19827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59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1125" y="1119188"/>
            <a:ext cx="208597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Group 171"/>
          <p:cNvGraphicFramePr>
            <a:graphicFrameLocks noGrp="1"/>
          </p:cNvGraphicFramePr>
          <p:nvPr/>
        </p:nvGraphicFramePr>
        <p:xfrm>
          <a:off x="1916113" y="3659188"/>
          <a:ext cx="4219575" cy="2106612"/>
        </p:xfrm>
        <a:graphic>
          <a:graphicData uri="http://schemas.openxmlformats.org/drawingml/2006/table">
            <a:tbl>
              <a:tblPr/>
              <a:tblGrid>
                <a:gridCol w="2285747">
                  <a:extLst>
                    <a:ext uri="{9D8B030D-6E8A-4147-A177-3AD203B41FA5}">
                      <a16:colId xmlns:a16="http://schemas.microsoft.com/office/drawing/2014/main" val="20000"/>
                    </a:ext>
                  </a:extLst>
                </a:gridCol>
                <a:gridCol w="966914">
                  <a:extLst>
                    <a:ext uri="{9D8B030D-6E8A-4147-A177-3AD203B41FA5}">
                      <a16:colId xmlns:a16="http://schemas.microsoft.com/office/drawing/2014/main" val="20001"/>
                    </a:ext>
                  </a:extLst>
                </a:gridCol>
                <a:gridCol w="966914">
                  <a:extLst>
                    <a:ext uri="{9D8B030D-6E8A-4147-A177-3AD203B41FA5}">
                      <a16:colId xmlns:a16="http://schemas.microsoft.com/office/drawing/2014/main" val="20002"/>
                    </a:ext>
                  </a:extLst>
                </a:gridCol>
              </a:tblGrid>
              <a:tr h="344347">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Effectif Atelier 2</a:t>
                      </a:r>
                      <a:endParaRPr kumimoji="0" lang="fr-FR" sz="15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89991" marR="89991" marT="18008" marB="18008"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 ou 5</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1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6 ou 7</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1FFFF"/>
                    </a:solidFill>
                  </a:tcPr>
                </a:tc>
                <a:extLst>
                  <a:ext uri="{0D108BD9-81ED-4DB2-BD59-A6C34878D82A}">
                    <a16:rowId xmlns:a16="http://schemas.microsoft.com/office/drawing/2014/main" val="10000"/>
                  </a:ext>
                </a:extLst>
              </a:tr>
              <a:tr h="354285">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BLEUS</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E3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285">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JAUNES</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4</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285">
                <a:tc>
                  <a:txBody>
                    <a:bodyPr/>
                    <a:lstStyle/>
                    <a:p>
                      <a:pPr marL="85725" marR="0" lvl="0" indent="-76200" algn="r" defTabSz="914400" rtl="0" eaLnBrk="1" fontAlgn="base" latinLnBrk="0" hangingPunct="1">
                        <a:lnSpc>
                          <a:spcPct val="11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ROSES</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B9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3</a:t>
                      </a:r>
                    </a:p>
                  </a:txBody>
                  <a:tcPr marL="89991" marR="89991" marT="18008" marB="1800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705">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rPr>
                        <a:t>Feutres VERTS</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FFFB4"/>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2</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9705">
                <a:tc>
                  <a:txBody>
                    <a:bodyPr/>
                    <a:lstStyle/>
                    <a:p>
                      <a:pPr marL="342900" marR="0" lvl="0" indent="-342900" algn="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TOTAL</a:t>
                      </a:r>
                      <a:endParaRPr kumimoji="0" lang="fr-FR" sz="1800" b="0" i="0" u="none" strike="noStrike" kern="1200" cap="none" normalizeH="0" baseline="0" dirty="0">
                        <a:ln>
                          <a:noFill/>
                        </a:ln>
                        <a:solidFill>
                          <a:schemeClr val="tx1"/>
                        </a:solidFill>
                        <a:effectLst/>
                        <a:latin typeface="Calibri" panose="020F0502020204030204" pitchFamily="34" charset="0"/>
                        <a:ea typeface="Times New Roman" pitchFamily="18" charset="0"/>
                        <a:cs typeface="Arial" charset="0"/>
                      </a:endParaRP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8</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Calibri" panose="020F0502020204030204" pitchFamily="34" charset="0"/>
                          <a:ea typeface="Times New Roman" pitchFamily="18" charset="0"/>
                          <a:cs typeface="Arial" charset="0"/>
                        </a:rPr>
                        <a:t>13</a:t>
                      </a:r>
                    </a:p>
                  </a:txBody>
                  <a:tcPr marL="89991" marR="89991" marT="18008" marB="180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bl>
          </a:graphicData>
        </a:graphic>
      </p:graphicFrame>
      <p:pic>
        <p:nvPicPr>
          <p:cNvPr id="13" name="Picture 2" descr="C:\Users\BertrandS\Dropbox\Jeux\00. CONCEPTION DES JEUX\photos\Bureau Une Femme 29\iStock_000002139332_Medium ALLEGE.jpg"/>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8594" name="Titre 1"/>
          <p:cNvSpPr>
            <a:spLocks noGrp="1"/>
          </p:cNvSpPr>
          <p:nvPr>
            <p:ph type="title"/>
          </p:nvPr>
        </p:nvSpPr>
        <p:spPr/>
        <p:txBody>
          <a:bodyPr/>
          <a:lstStyle/>
          <a:p>
            <a:r>
              <a:rPr lang="fr-FR" altLang="fr-FR"/>
              <a:t>Mise à jour du Tableau de bord</a:t>
            </a:r>
          </a:p>
        </p:txBody>
      </p:sp>
      <p:sp>
        <p:nvSpPr>
          <p:cNvPr id="23859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3859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3636CB4-89DA-4FB7-9B18-EC8BAAA0E14E}" type="slidenum">
              <a:rPr lang="fr-FR" altLang="fr-FR" smtClean="0">
                <a:latin typeface="Calibri" panose="020F0502020204030204" pitchFamily="34" charset="0"/>
              </a:rPr>
              <a:pPr>
                <a:spcBef>
                  <a:spcPct val="0"/>
                </a:spcBef>
                <a:buFontTx/>
                <a:buNone/>
              </a:pPr>
              <a:t>110</a:t>
            </a:fld>
            <a:endParaRPr lang="fr-FR" altLang="fr-FR" dirty="0">
              <a:latin typeface="Calibri" panose="020F0502020204030204" pitchFamily="34" charset="0"/>
            </a:endParaRPr>
          </a:p>
        </p:txBody>
      </p:sp>
      <p:grpSp>
        <p:nvGrpSpPr>
          <p:cNvPr id="238598" name="Groupe 6"/>
          <p:cNvGrpSpPr>
            <a:grpSpLocks/>
          </p:cNvGrpSpPr>
          <p:nvPr/>
        </p:nvGrpSpPr>
        <p:grpSpPr bwMode="auto">
          <a:xfrm>
            <a:off x="1329345" y="687388"/>
            <a:ext cx="6543068" cy="5683250"/>
            <a:chOff x="247997" y="880194"/>
            <a:chExt cx="6542876" cy="5683281"/>
          </a:xfrm>
        </p:grpSpPr>
        <p:cxnSp>
          <p:nvCxnSpPr>
            <p:cNvPr id="8" name="Connecteur droit 7"/>
            <p:cNvCxnSpPr/>
            <p:nvPr/>
          </p:nvCxnSpPr>
          <p:spPr bwMode="auto">
            <a:xfrm>
              <a:off x="853797" y="4663227"/>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9" name="Connecteur droit 8"/>
            <p:cNvCxnSpPr/>
            <p:nvPr/>
          </p:nvCxnSpPr>
          <p:spPr bwMode="auto">
            <a:xfrm>
              <a:off x="853797" y="4498126"/>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 name="Connecteur droit 9"/>
            <p:cNvCxnSpPr/>
            <p:nvPr/>
          </p:nvCxnSpPr>
          <p:spPr bwMode="auto">
            <a:xfrm>
              <a:off x="853797" y="4993428"/>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 name="Connecteur droit 10"/>
            <p:cNvCxnSpPr/>
            <p:nvPr/>
          </p:nvCxnSpPr>
          <p:spPr bwMode="auto">
            <a:xfrm>
              <a:off x="853797" y="4828328"/>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2" name="Connecteur droit 11"/>
            <p:cNvCxnSpPr/>
            <p:nvPr/>
          </p:nvCxnSpPr>
          <p:spPr bwMode="auto">
            <a:xfrm>
              <a:off x="853797" y="5323630"/>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3" name="Connecteur droit 12"/>
            <p:cNvCxnSpPr/>
            <p:nvPr/>
          </p:nvCxnSpPr>
          <p:spPr bwMode="auto">
            <a:xfrm>
              <a:off x="853797" y="5158529"/>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4" name="Connecteur droit 13"/>
            <p:cNvCxnSpPr/>
            <p:nvPr/>
          </p:nvCxnSpPr>
          <p:spPr bwMode="auto">
            <a:xfrm>
              <a:off x="853797" y="5653832"/>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5" name="Connecteur droit 14"/>
            <p:cNvCxnSpPr/>
            <p:nvPr/>
          </p:nvCxnSpPr>
          <p:spPr bwMode="auto">
            <a:xfrm>
              <a:off x="853797" y="5488731"/>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6" name="Connecteur droit 15"/>
            <p:cNvCxnSpPr/>
            <p:nvPr/>
          </p:nvCxnSpPr>
          <p:spPr bwMode="auto">
            <a:xfrm>
              <a:off x="853797" y="5984034"/>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7" name="Connecteur droit 16"/>
            <p:cNvCxnSpPr/>
            <p:nvPr/>
          </p:nvCxnSpPr>
          <p:spPr bwMode="auto">
            <a:xfrm>
              <a:off x="853797" y="5818933"/>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238619" name="ZoneTexte 17"/>
            <p:cNvSpPr txBox="1">
              <a:spLocks noChangeArrowheads="1"/>
            </p:cNvSpPr>
            <p:nvPr/>
          </p:nvSpPr>
          <p:spPr bwMode="auto">
            <a:xfrm>
              <a:off x="1779822" y="4043904"/>
              <a:ext cx="720000"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QUALITÉ</a:t>
              </a:r>
            </a:p>
          </p:txBody>
        </p:sp>
        <p:sp>
          <p:nvSpPr>
            <p:cNvPr id="19" name="ZoneTexte 18"/>
            <p:cNvSpPr txBox="1"/>
            <p:nvPr/>
          </p:nvSpPr>
          <p:spPr>
            <a:xfrm>
              <a:off x="895457" y="6207873"/>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sp>
          <p:nvSpPr>
            <p:cNvPr id="238621" name="Rectangle 19"/>
            <p:cNvSpPr>
              <a:spLocks noChangeArrowheads="1"/>
            </p:cNvSpPr>
            <p:nvPr/>
          </p:nvSpPr>
          <p:spPr bwMode="auto">
            <a:xfrm>
              <a:off x="924832" y="5640609"/>
              <a:ext cx="468000" cy="523875"/>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30</a:t>
              </a:r>
            </a:p>
          </p:txBody>
        </p:sp>
        <p:sp>
          <p:nvSpPr>
            <p:cNvPr id="238622" name="Rectangle 20"/>
            <p:cNvSpPr>
              <a:spLocks noChangeArrowheads="1"/>
            </p:cNvSpPr>
            <p:nvPr/>
          </p:nvSpPr>
          <p:spPr bwMode="auto">
            <a:xfrm>
              <a:off x="1582057" y="4992910"/>
              <a:ext cx="468000" cy="1171575"/>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70</a:t>
              </a:r>
            </a:p>
          </p:txBody>
        </p:sp>
        <p:cxnSp>
          <p:nvCxnSpPr>
            <p:cNvPr id="238623" name="Connecteur droit 21"/>
            <p:cNvCxnSpPr>
              <a:cxnSpLocks noChangeShapeType="1"/>
            </p:cNvCxnSpPr>
            <p:nvPr/>
          </p:nvCxnSpPr>
          <p:spPr bwMode="auto">
            <a:xfrm rot="5400000" flipH="1" flipV="1">
              <a:off x="-87367" y="5233585"/>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8624" name="Connecteur droit 22"/>
            <p:cNvCxnSpPr>
              <a:cxnSpLocks noChangeShapeType="1"/>
            </p:cNvCxnSpPr>
            <p:nvPr/>
          </p:nvCxnSpPr>
          <p:spPr bwMode="auto">
            <a:xfrm>
              <a:off x="848632" y="6164485"/>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4" name="ZoneTexte 23"/>
            <p:cNvSpPr txBox="1"/>
            <p:nvPr/>
          </p:nvSpPr>
          <p:spPr>
            <a:xfrm>
              <a:off x="457485" y="5984034"/>
              <a:ext cx="156054" cy="230833"/>
            </a:xfrm>
            <a:prstGeom prst="rect">
              <a:avLst/>
            </a:prstGeom>
            <a:solidFill>
              <a:schemeClr val="bg1">
                <a:lumMod val="65000"/>
              </a:schemeClr>
            </a:solidFill>
          </p:spPr>
          <p:txBody>
            <a:bodyPr wrap="none" lIns="36000" rIns="36000">
              <a:spAutoFit/>
            </a:bodyPr>
            <a:lstStyle/>
            <a:p>
              <a:pPr algn="ctr" eaLnBrk="1" hangingPunct="1">
                <a:defRPr/>
              </a:pPr>
              <a:r>
                <a:rPr lang="fr-FR" sz="900" b="1" dirty="0">
                  <a:solidFill>
                    <a:schemeClr val="bg1"/>
                  </a:solidFill>
                  <a:latin typeface="Calibri" panose="020F0502020204030204" pitchFamily="34" charset="0"/>
                  <a:cs typeface="Arial" pitchFamily="34" charset="0"/>
                </a:rPr>
                <a:t>0 </a:t>
              </a:r>
            </a:p>
          </p:txBody>
        </p:sp>
        <p:sp>
          <p:nvSpPr>
            <p:cNvPr id="25" name="ZoneTexte 24"/>
            <p:cNvSpPr txBox="1"/>
            <p:nvPr/>
          </p:nvSpPr>
          <p:spPr>
            <a:xfrm>
              <a:off x="356901" y="5663357"/>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20</a:t>
              </a:r>
            </a:p>
          </p:txBody>
        </p:sp>
        <p:sp>
          <p:nvSpPr>
            <p:cNvPr id="26" name="ZoneTexte 25"/>
            <p:cNvSpPr txBox="1"/>
            <p:nvPr/>
          </p:nvSpPr>
          <p:spPr>
            <a:xfrm>
              <a:off x="356901" y="5342680"/>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40</a:t>
              </a:r>
            </a:p>
          </p:txBody>
        </p:sp>
        <p:sp>
          <p:nvSpPr>
            <p:cNvPr id="27" name="ZoneTexte 26"/>
            <p:cNvSpPr txBox="1"/>
            <p:nvPr/>
          </p:nvSpPr>
          <p:spPr>
            <a:xfrm>
              <a:off x="356901" y="5023592"/>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60</a:t>
              </a:r>
            </a:p>
          </p:txBody>
        </p:sp>
        <p:sp>
          <p:nvSpPr>
            <p:cNvPr id="28" name="ZoneTexte 27"/>
            <p:cNvSpPr txBox="1"/>
            <p:nvPr/>
          </p:nvSpPr>
          <p:spPr>
            <a:xfrm>
              <a:off x="356901" y="4702915"/>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80</a:t>
              </a:r>
            </a:p>
          </p:txBody>
        </p:sp>
        <p:sp>
          <p:nvSpPr>
            <p:cNvPr id="29" name="ZoneTexte 28"/>
            <p:cNvSpPr txBox="1"/>
            <p:nvPr/>
          </p:nvSpPr>
          <p:spPr>
            <a:xfrm>
              <a:off x="266807" y="4383825"/>
              <a:ext cx="383427"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100 </a:t>
              </a:r>
            </a:p>
          </p:txBody>
        </p:sp>
        <p:sp>
          <p:nvSpPr>
            <p:cNvPr id="238631" name="ZoneTexte 29"/>
            <p:cNvSpPr txBox="1">
              <a:spLocks noChangeArrowheads="1"/>
            </p:cNvSpPr>
            <p:nvPr/>
          </p:nvSpPr>
          <p:spPr bwMode="auto">
            <a:xfrm>
              <a:off x="596394" y="5983510"/>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238632" name="ZoneTexte 30"/>
            <p:cNvSpPr txBox="1">
              <a:spLocks noChangeArrowheads="1"/>
            </p:cNvSpPr>
            <p:nvPr/>
          </p:nvSpPr>
          <p:spPr bwMode="auto">
            <a:xfrm>
              <a:off x="596394" y="5663470"/>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16</a:t>
              </a:r>
            </a:p>
          </p:txBody>
        </p:sp>
        <p:sp>
          <p:nvSpPr>
            <p:cNvPr id="238633" name="ZoneTexte 31"/>
            <p:cNvSpPr txBox="1">
              <a:spLocks noChangeArrowheads="1"/>
            </p:cNvSpPr>
            <p:nvPr/>
          </p:nvSpPr>
          <p:spPr bwMode="auto">
            <a:xfrm>
              <a:off x="596394" y="5343430"/>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12</a:t>
              </a:r>
            </a:p>
          </p:txBody>
        </p:sp>
        <p:sp>
          <p:nvSpPr>
            <p:cNvPr id="238634" name="ZoneTexte 32"/>
            <p:cNvSpPr txBox="1">
              <a:spLocks noChangeArrowheads="1"/>
            </p:cNvSpPr>
            <p:nvPr/>
          </p:nvSpPr>
          <p:spPr bwMode="auto">
            <a:xfrm>
              <a:off x="647683" y="5023390"/>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8</a:t>
              </a:r>
            </a:p>
          </p:txBody>
        </p:sp>
        <p:sp>
          <p:nvSpPr>
            <p:cNvPr id="238635" name="ZoneTexte 33"/>
            <p:cNvSpPr txBox="1">
              <a:spLocks noChangeArrowheads="1"/>
            </p:cNvSpPr>
            <p:nvPr/>
          </p:nvSpPr>
          <p:spPr bwMode="auto">
            <a:xfrm>
              <a:off x="647683" y="4703350"/>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4</a:t>
              </a:r>
            </a:p>
          </p:txBody>
        </p:sp>
        <p:sp>
          <p:nvSpPr>
            <p:cNvPr id="238636" name="ZoneTexte 34"/>
            <p:cNvSpPr txBox="1">
              <a:spLocks noChangeArrowheads="1"/>
            </p:cNvSpPr>
            <p:nvPr/>
          </p:nvSpPr>
          <p:spPr bwMode="auto">
            <a:xfrm>
              <a:off x="647683" y="4383310"/>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238637" name="ZoneTexte 35"/>
            <p:cNvSpPr txBox="1">
              <a:spLocks noChangeArrowheads="1"/>
            </p:cNvSpPr>
            <p:nvPr/>
          </p:nvSpPr>
          <p:spPr bwMode="auto">
            <a:xfrm>
              <a:off x="911158" y="4110801"/>
              <a:ext cx="7245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 non conformes</a:t>
              </a:r>
            </a:p>
          </p:txBody>
        </p:sp>
        <p:sp>
          <p:nvSpPr>
            <p:cNvPr id="37" name="ZoneTexte 36"/>
            <p:cNvSpPr txBox="1"/>
            <p:nvPr/>
          </p:nvSpPr>
          <p:spPr>
            <a:xfrm>
              <a:off x="247997" y="3927752"/>
              <a:ext cx="636941" cy="324771"/>
            </a:xfrm>
            <a:prstGeom prst="rect">
              <a:avLst/>
            </a:prstGeom>
            <a:solidFill>
              <a:schemeClr val="bg1">
                <a:lumMod val="65000"/>
              </a:schemeClr>
            </a:solidFill>
          </p:spPr>
          <p:txBody>
            <a:bodyPr wrap="none" lIns="36000" rIns="36000" anchor="ctr">
              <a:spAutoFit/>
            </a:bodyPr>
            <a:lstStyle/>
            <a:p>
              <a:pPr algn="ctr" eaLnBrk="1" hangingPunct="1">
                <a:lnSpc>
                  <a:spcPts val="900"/>
                </a:lnSpc>
                <a:defRPr/>
              </a:pPr>
              <a:r>
                <a:rPr lang="fr-FR" sz="900" b="1" dirty="0">
                  <a:solidFill>
                    <a:schemeClr val="bg1"/>
                  </a:solidFill>
                  <a:latin typeface="Calibri" panose="020F0502020204030204" pitchFamily="34" charset="0"/>
                  <a:cs typeface="Arial" pitchFamily="34" charset="0"/>
                </a:rPr>
                <a:t>Satisfaction</a:t>
              </a:r>
              <a:br>
                <a:rPr lang="fr-FR" sz="900" b="1" dirty="0">
                  <a:solidFill>
                    <a:schemeClr val="bg1"/>
                  </a:solidFill>
                  <a:latin typeface="Calibri" panose="020F0502020204030204" pitchFamily="34" charset="0"/>
                  <a:cs typeface="Arial" pitchFamily="34" charset="0"/>
                </a:rPr>
              </a:br>
              <a:r>
                <a:rPr lang="fr-FR" sz="900" b="1" dirty="0">
                  <a:solidFill>
                    <a:schemeClr val="bg1"/>
                  </a:solidFill>
                  <a:latin typeface="Calibri" panose="020F0502020204030204" pitchFamily="34" charset="0"/>
                  <a:cs typeface="Arial" pitchFamily="34" charset="0"/>
                </a:rPr>
                <a:t>client</a:t>
              </a:r>
            </a:p>
          </p:txBody>
        </p:sp>
        <p:sp>
          <p:nvSpPr>
            <p:cNvPr id="38" name="ZoneTexte 37"/>
            <p:cNvSpPr txBox="1"/>
            <p:nvPr/>
          </p:nvSpPr>
          <p:spPr>
            <a:xfrm>
              <a:off x="4157674" y="6198348"/>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cxnSp>
          <p:nvCxnSpPr>
            <p:cNvPr id="39" name="Connecteur droit 38"/>
            <p:cNvCxnSpPr/>
            <p:nvPr/>
          </p:nvCxnSpPr>
          <p:spPr bwMode="auto">
            <a:xfrm>
              <a:off x="4116013" y="4766415"/>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0" name="Connecteur droit 39"/>
            <p:cNvCxnSpPr/>
            <p:nvPr/>
          </p:nvCxnSpPr>
          <p:spPr bwMode="auto">
            <a:xfrm>
              <a:off x="4116013" y="4488601"/>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1" name="Connecteur droit 40"/>
            <p:cNvCxnSpPr/>
            <p:nvPr/>
          </p:nvCxnSpPr>
          <p:spPr bwMode="auto">
            <a:xfrm>
              <a:off x="4116013" y="5044229"/>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2" name="Connecteur droit 41"/>
            <p:cNvCxnSpPr/>
            <p:nvPr/>
          </p:nvCxnSpPr>
          <p:spPr bwMode="auto">
            <a:xfrm>
              <a:off x="4116013" y="5322043"/>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3" name="Connecteur droit 42"/>
            <p:cNvCxnSpPr/>
            <p:nvPr/>
          </p:nvCxnSpPr>
          <p:spPr bwMode="auto">
            <a:xfrm>
              <a:off x="4116013" y="5599857"/>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44" name="Connecteur droit 43"/>
            <p:cNvCxnSpPr/>
            <p:nvPr/>
          </p:nvCxnSpPr>
          <p:spPr bwMode="auto">
            <a:xfrm>
              <a:off x="4116013" y="5877671"/>
              <a:ext cx="2374830"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238646" name="ZoneTexte 44"/>
            <p:cNvSpPr txBox="1">
              <a:spLocks noChangeArrowheads="1"/>
            </p:cNvSpPr>
            <p:nvPr/>
          </p:nvSpPr>
          <p:spPr bwMode="auto">
            <a:xfrm>
              <a:off x="5070303" y="4043904"/>
              <a:ext cx="720000"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STOCKS</a:t>
              </a:r>
            </a:p>
          </p:txBody>
        </p:sp>
        <p:sp>
          <p:nvSpPr>
            <p:cNvPr id="238647" name="Rectangle 45"/>
            <p:cNvSpPr>
              <a:spLocks noChangeArrowheads="1"/>
            </p:cNvSpPr>
            <p:nvPr/>
          </p:nvSpPr>
          <p:spPr bwMode="auto">
            <a:xfrm>
              <a:off x="4186738" y="4494434"/>
              <a:ext cx="468000" cy="1656000"/>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20 M€</a:t>
              </a:r>
            </a:p>
          </p:txBody>
        </p:sp>
        <p:sp>
          <p:nvSpPr>
            <p:cNvPr id="238648" name="Rectangle 46"/>
            <p:cNvSpPr>
              <a:spLocks noChangeArrowheads="1"/>
            </p:cNvSpPr>
            <p:nvPr/>
          </p:nvSpPr>
          <p:spPr bwMode="auto">
            <a:xfrm>
              <a:off x="4843963" y="5036820"/>
              <a:ext cx="468000" cy="1118139"/>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16 M€</a:t>
              </a:r>
            </a:p>
          </p:txBody>
        </p:sp>
        <p:cxnSp>
          <p:nvCxnSpPr>
            <p:cNvPr id="238649" name="Connecteur droit 47"/>
            <p:cNvCxnSpPr>
              <a:cxnSpLocks noChangeShapeType="1"/>
            </p:cNvCxnSpPr>
            <p:nvPr/>
          </p:nvCxnSpPr>
          <p:spPr bwMode="auto">
            <a:xfrm rot="5400000" flipH="1" flipV="1">
              <a:off x="3174539" y="5224060"/>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8650" name="Connecteur droit 48"/>
            <p:cNvCxnSpPr>
              <a:cxnSpLocks noChangeShapeType="1"/>
            </p:cNvCxnSpPr>
            <p:nvPr/>
          </p:nvCxnSpPr>
          <p:spPr bwMode="auto">
            <a:xfrm>
              <a:off x="4110538" y="6154960"/>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0" name="ZoneTexte 49"/>
            <p:cNvSpPr txBox="1"/>
            <p:nvPr/>
          </p:nvSpPr>
          <p:spPr>
            <a:xfrm>
              <a:off x="3633428" y="6026897"/>
              <a:ext cx="252406" cy="231776"/>
            </a:xfrm>
            <a:prstGeom prst="rect">
              <a:avLst/>
            </a:prstGeom>
            <a:solidFill>
              <a:schemeClr val="bg1">
                <a:lumMod val="65000"/>
              </a:schemeClr>
            </a:solidFill>
          </p:spPr>
          <p:txBody>
            <a:bodyPr lIns="36000" rIns="36000">
              <a:spAutoFit/>
            </a:bodyPr>
            <a:lstStyle/>
            <a:p>
              <a:pPr algn="ctr" eaLnBrk="1" hangingPunct="1">
                <a:defRPr/>
              </a:pPr>
              <a:r>
                <a:rPr lang="fr-FR" sz="900" b="1" dirty="0">
                  <a:solidFill>
                    <a:schemeClr val="bg1"/>
                  </a:solidFill>
                  <a:latin typeface="Calibri" panose="020F0502020204030204" pitchFamily="34" charset="0"/>
                  <a:cs typeface="Arial" pitchFamily="34" charset="0"/>
                </a:rPr>
                <a:t>8</a:t>
              </a:r>
            </a:p>
          </p:txBody>
        </p:sp>
        <p:sp>
          <p:nvSpPr>
            <p:cNvPr id="51" name="ZoneTexte 50"/>
            <p:cNvSpPr txBox="1"/>
            <p:nvPr/>
          </p:nvSpPr>
          <p:spPr>
            <a:xfrm>
              <a:off x="3609594" y="5752258"/>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a:t>
              </a:r>
            </a:p>
          </p:txBody>
        </p:sp>
        <p:sp>
          <p:nvSpPr>
            <p:cNvPr id="52" name="ZoneTexte 51"/>
            <p:cNvSpPr txBox="1"/>
            <p:nvPr/>
          </p:nvSpPr>
          <p:spPr>
            <a:xfrm>
              <a:off x="3609594" y="5476031"/>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12</a:t>
              </a:r>
            </a:p>
          </p:txBody>
        </p:sp>
        <p:sp>
          <p:nvSpPr>
            <p:cNvPr id="53" name="ZoneTexte 52"/>
            <p:cNvSpPr txBox="1"/>
            <p:nvPr/>
          </p:nvSpPr>
          <p:spPr>
            <a:xfrm>
              <a:off x="3609594" y="4648940"/>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18</a:t>
              </a:r>
            </a:p>
          </p:txBody>
        </p:sp>
        <p:sp>
          <p:nvSpPr>
            <p:cNvPr id="54" name="ZoneTexte 53"/>
            <p:cNvSpPr txBox="1"/>
            <p:nvPr/>
          </p:nvSpPr>
          <p:spPr>
            <a:xfrm>
              <a:off x="3609594" y="4374300"/>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20</a:t>
              </a:r>
            </a:p>
          </p:txBody>
        </p:sp>
        <p:sp>
          <p:nvSpPr>
            <p:cNvPr id="238656" name="ZoneTexte 54"/>
            <p:cNvSpPr txBox="1">
              <a:spLocks noChangeArrowheads="1"/>
            </p:cNvSpPr>
            <p:nvPr/>
          </p:nvSpPr>
          <p:spPr bwMode="auto">
            <a:xfrm>
              <a:off x="3909589" y="6012085"/>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238657" name="ZoneTexte 55"/>
            <p:cNvSpPr txBox="1">
              <a:spLocks noChangeArrowheads="1"/>
            </p:cNvSpPr>
            <p:nvPr/>
          </p:nvSpPr>
          <p:spPr bwMode="auto">
            <a:xfrm>
              <a:off x="3909589" y="5745385"/>
              <a:ext cx="19280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238658" name="ZoneTexte 56"/>
            <p:cNvSpPr txBox="1">
              <a:spLocks noChangeArrowheads="1"/>
            </p:cNvSpPr>
            <p:nvPr/>
          </p:nvSpPr>
          <p:spPr bwMode="auto">
            <a:xfrm>
              <a:off x="3858301" y="547868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10</a:t>
              </a:r>
            </a:p>
          </p:txBody>
        </p:sp>
        <p:sp>
          <p:nvSpPr>
            <p:cNvPr id="238659" name="ZoneTexte 57"/>
            <p:cNvSpPr txBox="1">
              <a:spLocks noChangeArrowheads="1"/>
            </p:cNvSpPr>
            <p:nvPr/>
          </p:nvSpPr>
          <p:spPr bwMode="auto">
            <a:xfrm>
              <a:off x="3858301" y="521198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15</a:t>
              </a:r>
            </a:p>
          </p:txBody>
        </p:sp>
        <p:sp>
          <p:nvSpPr>
            <p:cNvPr id="238660" name="ZoneTexte 58"/>
            <p:cNvSpPr txBox="1">
              <a:spLocks noChangeArrowheads="1"/>
            </p:cNvSpPr>
            <p:nvPr/>
          </p:nvSpPr>
          <p:spPr bwMode="auto">
            <a:xfrm>
              <a:off x="3858301" y="493004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20</a:t>
              </a:r>
            </a:p>
          </p:txBody>
        </p:sp>
        <p:sp>
          <p:nvSpPr>
            <p:cNvPr id="238661" name="ZoneTexte 59"/>
            <p:cNvSpPr txBox="1">
              <a:spLocks noChangeArrowheads="1"/>
            </p:cNvSpPr>
            <p:nvPr/>
          </p:nvSpPr>
          <p:spPr bwMode="auto">
            <a:xfrm>
              <a:off x="3858301" y="437378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30</a:t>
              </a:r>
            </a:p>
          </p:txBody>
        </p:sp>
        <p:sp>
          <p:nvSpPr>
            <p:cNvPr id="238662" name="ZoneTexte 60"/>
            <p:cNvSpPr txBox="1">
              <a:spLocks noChangeArrowheads="1"/>
            </p:cNvSpPr>
            <p:nvPr/>
          </p:nvSpPr>
          <p:spPr bwMode="auto">
            <a:xfrm>
              <a:off x="4125619" y="4194259"/>
              <a:ext cx="63306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Quantité</a:t>
              </a:r>
            </a:p>
          </p:txBody>
        </p:sp>
        <p:sp>
          <p:nvSpPr>
            <p:cNvPr id="62" name="ZoneTexte 61"/>
            <p:cNvSpPr txBox="1"/>
            <p:nvPr/>
          </p:nvSpPr>
          <p:spPr>
            <a:xfrm>
              <a:off x="3569929" y="4069498"/>
              <a:ext cx="344478" cy="230189"/>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M€</a:t>
              </a:r>
            </a:p>
          </p:txBody>
        </p:sp>
        <p:sp>
          <p:nvSpPr>
            <p:cNvPr id="63" name="ZoneTexte 62"/>
            <p:cNvSpPr txBox="1"/>
            <p:nvPr/>
          </p:nvSpPr>
          <p:spPr>
            <a:xfrm>
              <a:off x="2476174" y="4261587"/>
              <a:ext cx="617519" cy="246063"/>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238665" name="Rectangle 63"/>
            <p:cNvSpPr>
              <a:spLocks noChangeArrowheads="1"/>
            </p:cNvSpPr>
            <p:nvPr/>
          </p:nvSpPr>
          <p:spPr bwMode="auto">
            <a:xfrm>
              <a:off x="2328528"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666" name="Rectangle 64"/>
            <p:cNvSpPr>
              <a:spLocks noChangeArrowheads="1"/>
            </p:cNvSpPr>
            <p:nvPr/>
          </p:nvSpPr>
          <p:spPr bwMode="auto">
            <a:xfrm>
              <a:off x="2690478" y="4496247"/>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667" name="Rectangle 65"/>
            <p:cNvSpPr>
              <a:spLocks noChangeArrowheads="1"/>
            </p:cNvSpPr>
            <p:nvPr/>
          </p:nvSpPr>
          <p:spPr bwMode="auto">
            <a:xfrm>
              <a:off x="3052428"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668" name="ZoneTexte 66"/>
            <p:cNvSpPr txBox="1">
              <a:spLocks noChangeArrowheads="1"/>
            </p:cNvSpPr>
            <p:nvPr/>
          </p:nvSpPr>
          <p:spPr bwMode="auto">
            <a:xfrm>
              <a:off x="2032392" y="6178754"/>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238669" name="ZoneTexte 67"/>
            <p:cNvSpPr txBox="1">
              <a:spLocks noChangeArrowheads="1"/>
            </p:cNvSpPr>
            <p:nvPr/>
          </p:nvSpPr>
          <p:spPr bwMode="auto">
            <a:xfrm>
              <a:off x="2794392" y="6169229"/>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sp>
          <p:nvSpPr>
            <p:cNvPr id="69" name="ZoneTexte 68"/>
            <p:cNvSpPr txBox="1"/>
            <p:nvPr/>
          </p:nvSpPr>
          <p:spPr>
            <a:xfrm>
              <a:off x="5743154" y="4271112"/>
              <a:ext cx="617519" cy="246063"/>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238671" name="Rectangle 69"/>
            <p:cNvSpPr>
              <a:spLocks noChangeArrowheads="1"/>
            </p:cNvSpPr>
            <p:nvPr/>
          </p:nvSpPr>
          <p:spPr bwMode="auto">
            <a:xfrm>
              <a:off x="5594244"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672" name="Rectangle 70"/>
            <p:cNvSpPr>
              <a:spLocks noChangeArrowheads="1"/>
            </p:cNvSpPr>
            <p:nvPr/>
          </p:nvSpPr>
          <p:spPr bwMode="auto">
            <a:xfrm>
              <a:off x="5956194" y="4496247"/>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673" name="Rectangle 71"/>
            <p:cNvSpPr>
              <a:spLocks noChangeArrowheads="1"/>
            </p:cNvSpPr>
            <p:nvPr/>
          </p:nvSpPr>
          <p:spPr bwMode="auto">
            <a:xfrm>
              <a:off x="6318144" y="4496247"/>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674" name="ZoneTexte 72"/>
            <p:cNvSpPr txBox="1">
              <a:spLocks noChangeArrowheads="1"/>
            </p:cNvSpPr>
            <p:nvPr/>
          </p:nvSpPr>
          <p:spPr bwMode="auto">
            <a:xfrm>
              <a:off x="5298108" y="6159704"/>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238675" name="ZoneTexte 73"/>
            <p:cNvSpPr txBox="1">
              <a:spLocks noChangeArrowheads="1"/>
            </p:cNvSpPr>
            <p:nvPr/>
          </p:nvSpPr>
          <p:spPr bwMode="auto">
            <a:xfrm>
              <a:off x="6060108" y="6159704"/>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cxnSp>
          <p:nvCxnSpPr>
            <p:cNvPr id="75" name="Connecteur droit 74"/>
            <p:cNvCxnSpPr/>
            <p:nvPr/>
          </p:nvCxnSpPr>
          <p:spPr bwMode="auto">
            <a:xfrm>
              <a:off x="4109664" y="1512022"/>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76" name="Connecteur droit 75"/>
            <p:cNvCxnSpPr/>
            <p:nvPr/>
          </p:nvCxnSpPr>
          <p:spPr bwMode="auto">
            <a:xfrm>
              <a:off x="4109664" y="1719986"/>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77" name="Connecteur droit 76"/>
            <p:cNvCxnSpPr/>
            <p:nvPr/>
          </p:nvCxnSpPr>
          <p:spPr bwMode="auto">
            <a:xfrm>
              <a:off x="4109664" y="2137501"/>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78" name="Connecteur droit 77"/>
            <p:cNvCxnSpPr/>
            <p:nvPr/>
          </p:nvCxnSpPr>
          <p:spPr bwMode="auto">
            <a:xfrm>
              <a:off x="4109664" y="1927950"/>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79" name="Connecteur droit 78"/>
            <p:cNvCxnSpPr/>
            <p:nvPr/>
          </p:nvCxnSpPr>
          <p:spPr bwMode="auto">
            <a:xfrm>
              <a:off x="4109664" y="2553428"/>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80" name="Connecteur droit 79"/>
            <p:cNvCxnSpPr/>
            <p:nvPr/>
          </p:nvCxnSpPr>
          <p:spPr bwMode="auto">
            <a:xfrm>
              <a:off x="4109664" y="2345464"/>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81" name="Connecteur droit 80"/>
            <p:cNvCxnSpPr/>
            <p:nvPr/>
          </p:nvCxnSpPr>
          <p:spPr bwMode="auto">
            <a:xfrm>
              <a:off x="4109664" y="2970942"/>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82" name="Connecteur droit 81"/>
            <p:cNvCxnSpPr/>
            <p:nvPr/>
          </p:nvCxnSpPr>
          <p:spPr bwMode="auto">
            <a:xfrm>
              <a:off x="4109664" y="2761391"/>
              <a:ext cx="2376418"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238684" name="ZoneTexte 82"/>
            <p:cNvSpPr txBox="1">
              <a:spLocks noChangeArrowheads="1"/>
            </p:cNvSpPr>
            <p:nvPr/>
          </p:nvSpPr>
          <p:spPr bwMode="auto">
            <a:xfrm>
              <a:off x="4950288" y="938252"/>
              <a:ext cx="720000"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DÉLAIS</a:t>
              </a:r>
            </a:p>
          </p:txBody>
        </p:sp>
        <p:sp>
          <p:nvSpPr>
            <p:cNvPr id="84" name="ZoneTexte 83"/>
            <p:cNvSpPr txBox="1"/>
            <p:nvPr/>
          </p:nvSpPr>
          <p:spPr>
            <a:xfrm>
              <a:off x="4151324" y="3209069"/>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sp>
          <p:nvSpPr>
            <p:cNvPr id="238686" name="Rectangle 84"/>
            <p:cNvSpPr>
              <a:spLocks noChangeArrowheads="1"/>
            </p:cNvSpPr>
            <p:nvPr/>
          </p:nvSpPr>
          <p:spPr bwMode="auto">
            <a:xfrm>
              <a:off x="4181023" y="2133600"/>
              <a:ext cx="468000" cy="1045248"/>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85 jrs.</a:t>
              </a:r>
            </a:p>
          </p:txBody>
        </p:sp>
        <p:sp>
          <p:nvSpPr>
            <p:cNvPr id="238687" name="Rectangle 85"/>
            <p:cNvSpPr>
              <a:spLocks noChangeArrowheads="1"/>
            </p:cNvSpPr>
            <p:nvPr/>
          </p:nvSpPr>
          <p:spPr bwMode="auto">
            <a:xfrm>
              <a:off x="4838248" y="2766060"/>
              <a:ext cx="468000" cy="412788"/>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70 jrs.</a:t>
              </a:r>
            </a:p>
          </p:txBody>
        </p:sp>
        <p:cxnSp>
          <p:nvCxnSpPr>
            <p:cNvPr id="238688" name="Connecteur droit 86"/>
            <p:cNvCxnSpPr>
              <a:cxnSpLocks noChangeShapeType="1"/>
            </p:cNvCxnSpPr>
            <p:nvPr/>
          </p:nvCxnSpPr>
          <p:spPr bwMode="auto">
            <a:xfrm rot="5400000" flipH="1" flipV="1">
              <a:off x="3168824" y="2247948"/>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8689" name="Connecteur droit 87"/>
            <p:cNvCxnSpPr>
              <a:cxnSpLocks noChangeShapeType="1"/>
            </p:cNvCxnSpPr>
            <p:nvPr/>
          </p:nvCxnSpPr>
          <p:spPr bwMode="auto">
            <a:xfrm>
              <a:off x="4104823" y="3178848"/>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89" name="ZoneTexte 88"/>
            <p:cNvSpPr txBox="1"/>
            <p:nvPr/>
          </p:nvSpPr>
          <p:spPr>
            <a:xfrm>
              <a:off x="3631817" y="3013806"/>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60</a:t>
              </a:r>
            </a:p>
          </p:txBody>
        </p:sp>
        <p:sp>
          <p:nvSpPr>
            <p:cNvPr id="90" name="ZoneTexte 89"/>
            <p:cNvSpPr txBox="1"/>
            <p:nvPr/>
          </p:nvSpPr>
          <p:spPr>
            <a:xfrm>
              <a:off x="3631817" y="2601053"/>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70</a:t>
              </a:r>
            </a:p>
          </p:txBody>
        </p:sp>
        <p:sp>
          <p:nvSpPr>
            <p:cNvPr id="91" name="ZoneTexte 90"/>
            <p:cNvSpPr txBox="1"/>
            <p:nvPr/>
          </p:nvSpPr>
          <p:spPr>
            <a:xfrm>
              <a:off x="3631817" y="2197826"/>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80</a:t>
              </a:r>
            </a:p>
          </p:txBody>
        </p:sp>
        <p:sp>
          <p:nvSpPr>
            <p:cNvPr id="92" name="ZoneTexte 91"/>
            <p:cNvSpPr txBox="1"/>
            <p:nvPr/>
          </p:nvSpPr>
          <p:spPr>
            <a:xfrm>
              <a:off x="3631817" y="1794599"/>
              <a:ext cx="300074"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90</a:t>
              </a:r>
            </a:p>
          </p:txBody>
        </p:sp>
        <p:sp>
          <p:nvSpPr>
            <p:cNvPr id="93" name="ZoneTexte 92"/>
            <p:cNvSpPr txBox="1"/>
            <p:nvPr/>
          </p:nvSpPr>
          <p:spPr>
            <a:xfrm>
              <a:off x="3602964" y="1397722"/>
              <a:ext cx="357781"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100</a:t>
              </a:r>
            </a:p>
          </p:txBody>
        </p:sp>
        <p:sp>
          <p:nvSpPr>
            <p:cNvPr id="238695" name="ZoneTexte 93"/>
            <p:cNvSpPr txBox="1">
              <a:spLocks noChangeArrowheads="1"/>
            </p:cNvSpPr>
            <p:nvPr/>
          </p:nvSpPr>
          <p:spPr bwMode="auto">
            <a:xfrm>
              <a:off x="3911159" y="299787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238696" name="ZoneTexte 94"/>
            <p:cNvSpPr txBox="1">
              <a:spLocks noChangeArrowheads="1"/>
            </p:cNvSpPr>
            <p:nvPr/>
          </p:nvSpPr>
          <p:spPr bwMode="auto">
            <a:xfrm>
              <a:off x="3911159" y="25978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a:t>
              </a:r>
            </a:p>
          </p:txBody>
        </p:sp>
        <p:sp>
          <p:nvSpPr>
            <p:cNvPr id="238697" name="ZoneTexte 95"/>
            <p:cNvSpPr txBox="1">
              <a:spLocks noChangeArrowheads="1"/>
            </p:cNvSpPr>
            <p:nvPr/>
          </p:nvSpPr>
          <p:spPr bwMode="auto">
            <a:xfrm>
              <a:off x="3911159" y="219777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4</a:t>
              </a:r>
            </a:p>
          </p:txBody>
        </p:sp>
        <p:sp>
          <p:nvSpPr>
            <p:cNvPr id="238698" name="ZoneTexte 96"/>
            <p:cNvSpPr txBox="1">
              <a:spLocks noChangeArrowheads="1"/>
            </p:cNvSpPr>
            <p:nvPr/>
          </p:nvSpPr>
          <p:spPr bwMode="auto">
            <a:xfrm>
              <a:off x="3911159" y="17977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6</a:t>
              </a:r>
            </a:p>
          </p:txBody>
        </p:sp>
        <p:sp>
          <p:nvSpPr>
            <p:cNvPr id="238699" name="ZoneTexte 97"/>
            <p:cNvSpPr txBox="1">
              <a:spLocks noChangeArrowheads="1"/>
            </p:cNvSpPr>
            <p:nvPr/>
          </p:nvSpPr>
          <p:spPr bwMode="auto">
            <a:xfrm>
              <a:off x="3900379" y="139767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8</a:t>
              </a:r>
            </a:p>
          </p:txBody>
        </p:sp>
        <p:sp>
          <p:nvSpPr>
            <p:cNvPr id="99" name="ZoneTexte 98"/>
            <p:cNvSpPr txBox="1"/>
            <p:nvPr/>
          </p:nvSpPr>
          <p:spPr>
            <a:xfrm>
              <a:off x="3619141" y="1092920"/>
              <a:ext cx="323841" cy="230188"/>
            </a:xfrm>
            <a:prstGeom prst="rect">
              <a:avLst/>
            </a:prstGeom>
            <a:solidFill>
              <a:schemeClr val="bg1">
                <a:lumMod val="65000"/>
              </a:schemeClr>
            </a:solidFill>
          </p:spPr>
          <p:txBody>
            <a:bodyPr wrap="none" lIns="36000" rIns="36000">
              <a:spAutoFit/>
            </a:bodyPr>
            <a:lstStyle/>
            <a:p>
              <a:pPr algn="ctr" eaLnBrk="1" hangingPunct="1">
                <a:defRPr/>
              </a:pPr>
              <a:r>
                <a:rPr lang="fr-FR" sz="900" b="1" dirty="0">
                  <a:solidFill>
                    <a:schemeClr val="bg1"/>
                  </a:solidFill>
                  <a:latin typeface="Calibri" panose="020F0502020204030204" pitchFamily="34" charset="0"/>
                  <a:cs typeface="Arial" pitchFamily="34" charset="0"/>
                </a:rPr>
                <a:t>jours</a:t>
              </a:r>
            </a:p>
          </p:txBody>
        </p:sp>
        <p:sp>
          <p:nvSpPr>
            <p:cNvPr id="238701" name="ZoneTexte 99"/>
            <p:cNvSpPr txBox="1">
              <a:spLocks noChangeArrowheads="1"/>
            </p:cNvSpPr>
            <p:nvPr/>
          </p:nvSpPr>
          <p:spPr bwMode="auto">
            <a:xfrm>
              <a:off x="4128978" y="1193838"/>
              <a:ext cx="58862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Minutes</a:t>
              </a:r>
            </a:p>
          </p:txBody>
        </p:sp>
        <p:sp>
          <p:nvSpPr>
            <p:cNvPr id="238702" name="Freeform 129"/>
            <p:cNvSpPr>
              <a:spLocks/>
            </p:cNvSpPr>
            <p:nvPr/>
          </p:nvSpPr>
          <p:spPr bwMode="auto">
            <a:xfrm>
              <a:off x="3354937" y="2820242"/>
              <a:ext cx="34733" cy="34733"/>
            </a:xfrm>
            <a:custGeom>
              <a:avLst/>
              <a:gdLst>
                <a:gd name="T0" fmla="*/ 2147483646 w 156"/>
                <a:gd name="T1" fmla="*/ 2147483646 h 156"/>
                <a:gd name="T2" fmla="*/ 2147483646 w 156"/>
                <a:gd name="T3" fmla="*/ 2147483646 h 156"/>
                <a:gd name="T4" fmla="*/ 2147483646 w 156"/>
                <a:gd name="T5" fmla="*/ 2147483646 h 156"/>
                <a:gd name="T6" fmla="*/ 2147483646 w 156"/>
                <a:gd name="T7" fmla="*/ 2147483646 h 156"/>
                <a:gd name="T8" fmla="*/ 2147483646 w 156"/>
                <a:gd name="T9" fmla="*/ 2147483646 h 156"/>
                <a:gd name="T10" fmla="*/ 2147483646 w 156"/>
                <a:gd name="T11" fmla="*/ 2147483646 h 156"/>
                <a:gd name="T12" fmla="*/ 2147483646 w 156"/>
                <a:gd name="T13" fmla="*/ 2147483646 h 156"/>
                <a:gd name="T14" fmla="*/ 2147483646 w 156"/>
                <a:gd name="T15" fmla="*/ 2147483646 h 156"/>
                <a:gd name="T16" fmla="*/ 0 w 156"/>
                <a:gd name="T17" fmla="*/ 2147483646 h 156"/>
                <a:gd name="T18" fmla="*/ 2147483646 w 156"/>
                <a:gd name="T19" fmla="*/ 2147483646 h 156"/>
                <a:gd name="T20" fmla="*/ 2147483646 w 156"/>
                <a:gd name="T21" fmla="*/ 2147483646 h 156"/>
                <a:gd name="T22" fmla="*/ 2147483646 w 156"/>
                <a:gd name="T23" fmla="*/ 2147483646 h 156"/>
                <a:gd name="T24" fmla="*/ 2147483646 w 156"/>
                <a:gd name="T25" fmla="*/ 2147483646 h 156"/>
                <a:gd name="T26" fmla="*/ 2147483646 w 156"/>
                <a:gd name="T27" fmla="*/ 2147483646 h 156"/>
                <a:gd name="T28" fmla="*/ 2147483646 w 156"/>
                <a:gd name="T29" fmla="*/ 2147483646 h 156"/>
                <a:gd name="T30" fmla="*/ 2147483646 w 156"/>
                <a:gd name="T31" fmla="*/ 2147483646 h 156"/>
                <a:gd name="T32" fmla="*/ 2147483646 w 156"/>
                <a:gd name="T33" fmla="*/ 0 h 156"/>
                <a:gd name="T34" fmla="*/ 2147483646 w 156"/>
                <a:gd name="T35" fmla="*/ 2147483646 h 156"/>
                <a:gd name="T36" fmla="*/ 2147483646 w 156"/>
                <a:gd name="T37" fmla="*/ 2147483646 h 156"/>
                <a:gd name="T38" fmla="*/ 2147483646 w 156"/>
                <a:gd name="T39" fmla="*/ 2147483646 h 156"/>
                <a:gd name="T40" fmla="*/ 2147483646 w 156"/>
                <a:gd name="T41" fmla="*/ 2147483646 h 156"/>
                <a:gd name="T42" fmla="*/ 2147483646 w 156"/>
                <a:gd name="T43" fmla="*/ 2147483646 h 156"/>
                <a:gd name="T44" fmla="*/ 2147483646 w 156"/>
                <a:gd name="T45" fmla="*/ 2147483646 h 156"/>
                <a:gd name="T46" fmla="*/ 2147483646 w 156"/>
                <a:gd name="T47" fmla="*/ 2147483646 h 156"/>
                <a:gd name="T48" fmla="*/ 2147483646 w 156"/>
                <a:gd name="T49" fmla="*/ 2147483646 h 156"/>
                <a:gd name="T50" fmla="*/ 2147483646 w 156"/>
                <a:gd name="T51" fmla="*/ 2147483646 h 156"/>
                <a:gd name="T52" fmla="*/ 2147483646 w 156"/>
                <a:gd name="T53" fmla="*/ 2147483646 h 156"/>
                <a:gd name="T54" fmla="*/ 2147483646 w 156"/>
                <a:gd name="T55" fmla="*/ 2147483646 h 156"/>
                <a:gd name="T56" fmla="*/ 2147483646 w 156"/>
                <a:gd name="T57" fmla="*/ 2147483646 h 156"/>
                <a:gd name="T58" fmla="*/ 2147483646 w 156"/>
                <a:gd name="T59" fmla="*/ 2147483646 h 156"/>
                <a:gd name="T60" fmla="*/ 2147483646 w 156"/>
                <a:gd name="T61" fmla="*/ 2147483646 h 156"/>
                <a:gd name="T62" fmla="*/ 2147483646 w 156"/>
                <a:gd name="T63" fmla="*/ 2147483646 h 156"/>
                <a:gd name="T64" fmla="*/ 2147483646 w 156"/>
                <a:gd name="T65" fmla="*/ 2147483646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56" h="156">
                  <a:moveTo>
                    <a:pt x="78" y="156"/>
                  </a:moveTo>
                  <a:lnTo>
                    <a:pt x="62" y="155"/>
                  </a:lnTo>
                  <a:lnTo>
                    <a:pt x="48" y="150"/>
                  </a:lnTo>
                  <a:lnTo>
                    <a:pt x="34" y="142"/>
                  </a:lnTo>
                  <a:lnTo>
                    <a:pt x="23" y="133"/>
                  </a:lnTo>
                  <a:lnTo>
                    <a:pt x="14" y="122"/>
                  </a:lnTo>
                  <a:lnTo>
                    <a:pt x="6" y="108"/>
                  </a:lnTo>
                  <a:lnTo>
                    <a:pt x="1" y="94"/>
                  </a:lnTo>
                  <a:lnTo>
                    <a:pt x="0" y="78"/>
                  </a:lnTo>
                  <a:lnTo>
                    <a:pt x="1" y="62"/>
                  </a:lnTo>
                  <a:lnTo>
                    <a:pt x="6" y="48"/>
                  </a:lnTo>
                  <a:lnTo>
                    <a:pt x="14" y="35"/>
                  </a:lnTo>
                  <a:lnTo>
                    <a:pt x="23" y="23"/>
                  </a:lnTo>
                  <a:lnTo>
                    <a:pt x="34" y="14"/>
                  </a:lnTo>
                  <a:lnTo>
                    <a:pt x="48" y="6"/>
                  </a:lnTo>
                  <a:lnTo>
                    <a:pt x="62" y="1"/>
                  </a:lnTo>
                  <a:lnTo>
                    <a:pt x="78" y="0"/>
                  </a:lnTo>
                  <a:lnTo>
                    <a:pt x="94" y="1"/>
                  </a:lnTo>
                  <a:lnTo>
                    <a:pt x="108" y="6"/>
                  </a:lnTo>
                  <a:lnTo>
                    <a:pt x="121" y="14"/>
                  </a:lnTo>
                  <a:lnTo>
                    <a:pt x="133" y="23"/>
                  </a:lnTo>
                  <a:lnTo>
                    <a:pt x="142" y="35"/>
                  </a:lnTo>
                  <a:lnTo>
                    <a:pt x="150" y="48"/>
                  </a:lnTo>
                  <a:lnTo>
                    <a:pt x="155" y="62"/>
                  </a:lnTo>
                  <a:lnTo>
                    <a:pt x="156" y="78"/>
                  </a:lnTo>
                  <a:lnTo>
                    <a:pt x="155" y="94"/>
                  </a:lnTo>
                  <a:lnTo>
                    <a:pt x="150" y="108"/>
                  </a:lnTo>
                  <a:lnTo>
                    <a:pt x="142" y="122"/>
                  </a:lnTo>
                  <a:lnTo>
                    <a:pt x="133" y="133"/>
                  </a:lnTo>
                  <a:lnTo>
                    <a:pt x="121" y="142"/>
                  </a:lnTo>
                  <a:lnTo>
                    <a:pt x="108" y="150"/>
                  </a:lnTo>
                  <a:lnTo>
                    <a:pt x="94" y="155"/>
                  </a:lnTo>
                  <a:lnTo>
                    <a:pt x="78" y="1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cxnSp>
          <p:nvCxnSpPr>
            <p:cNvPr id="102" name="Connecteur droit 101"/>
            <p:cNvCxnSpPr/>
            <p:nvPr/>
          </p:nvCxnSpPr>
          <p:spPr bwMode="auto">
            <a:xfrm>
              <a:off x="841097" y="1658073"/>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3" name="Connecteur droit 102"/>
            <p:cNvCxnSpPr/>
            <p:nvPr/>
          </p:nvCxnSpPr>
          <p:spPr bwMode="auto">
            <a:xfrm>
              <a:off x="841097" y="1492972"/>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4" name="Connecteur droit 103"/>
            <p:cNvCxnSpPr/>
            <p:nvPr/>
          </p:nvCxnSpPr>
          <p:spPr bwMode="auto">
            <a:xfrm>
              <a:off x="841097" y="1988275"/>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5" name="Connecteur droit 104"/>
            <p:cNvCxnSpPr/>
            <p:nvPr/>
          </p:nvCxnSpPr>
          <p:spPr bwMode="auto">
            <a:xfrm>
              <a:off x="841097" y="1823174"/>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6" name="Connecteur droit 105"/>
            <p:cNvCxnSpPr/>
            <p:nvPr/>
          </p:nvCxnSpPr>
          <p:spPr bwMode="auto">
            <a:xfrm>
              <a:off x="841097" y="2318477"/>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7" name="Connecteur droit 106"/>
            <p:cNvCxnSpPr/>
            <p:nvPr/>
          </p:nvCxnSpPr>
          <p:spPr bwMode="auto">
            <a:xfrm>
              <a:off x="841097" y="2153376"/>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8" name="Connecteur droit 107"/>
            <p:cNvCxnSpPr/>
            <p:nvPr/>
          </p:nvCxnSpPr>
          <p:spPr bwMode="auto">
            <a:xfrm>
              <a:off x="841097" y="2648679"/>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09" name="Connecteur droit 108"/>
            <p:cNvCxnSpPr/>
            <p:nvPr/>
          </p:nvCxnSpPr>
          <p:spPr bwMode="auto">
            <a:xfrm>
              <a:off x="841097" y="2483578"/>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0" name="Connecteur droit 109"/>
            <p:cNvCxnSpPr/>
            <p:nvPr/>
          </p:nvCxnSpPr>
          <p:spPr bwMode="auto">
            <a:xfrm>
              <a:off x="841097" y="2978880"/>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cxnSp>
          <p:nvCxnSpPr>
            <p:cNvPr id="111" name="Connecteur droit 110"/>
            <p:cNvCxnSpPr/>
            <p:nvPr/>
          </p:nvCxnSpPr>
          <p:spPr bwMode="auto">
            <a:xfrm>
              <a:off x="841097" y="2813780"/>
              <a:ext cx="2376417" cy="0"/>
            </a:xfrm>
            <a:prstGeom prst="line">
              <a:avLst/>
            </a:prstGeom>
            <a:noFill/>
            <a:ln w="9525" cap="flat" cmpd="sng" algn="ctr">
              <a:solidFill>
                <a:schemeClr val="bg1">
                  <a:lumMod val="65000"/>
                </a:schemeClr>
              </a:solidFill>
              <a:prstDash val="solid"/>
              <a:round/>
              <a:headEnd type="none" w="med" len="med"/>
              <a:tailEnd type="none" w="med" len="med"/>
            </a:ln>
            <a:effectLst/>
          </p:spPr>
        </p:cxnSp>
        <p:sp>
          <p:nvSpPr>
            <p:cNvPr id="238713" name="ZoneTexte 111"/>
            <p:cNvSpPr txBox="1">
              <a:spLocks noChangeArrowheads="1"/>
            </p:cNvSpPr>
            <p:nvPr/>
          </p:nvSpPr>
          <p:spPr bwMode="auto">
            <a:xfrm>
              <a:off x="1942797" y="880196"/>
              <a:ext cx="761326" cy="2593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b="1" dirty="0">
                  <a:solidFill>
                    <a:srgbClr val="000099"/>
                  </a:solidFill>
                  <a:latin typeface="Calibri" panose="020F0502020204030204" pitchFamily="34" charset="0"/>
                  <a:cs typeface="Arial" panose="020B0604020202020204" pitchFamily="34" charset="0"/>
                </a:rPr>
                <a:t>COÛTS</a:t>
              </a:r>
            </a:p>
          </p:txBody>
        </p:sp>
        <p:sp>
          <p:nvSpPr>
            <p:cNvPr id="113" name="ZoneTexte 112"/>
            <p:cNvSpPr txBox="1"/>
            <p:nvPr/>
          </p:nvSpPr>
          <p:spPr>
            <a:xfrm>
              <a:off x="900220" y="3145568"/>
              <a:ext cx="543723" cy="253917"/>
            </a:xfrm>
            <a:prstGeom prst="rect">
              <a:avLst/>
            </a:prstGeom>
            <a:noFill/>
          </p:spPr>
          <p:txBody>
            <a:bodyPr wrap="none">
              <a:spAutoFit/>
            </a:bodyPr>
            <a:lstStyle/>
            <a:p>
              <a:pPr algn="ctr" eaLnBrk="1" hangingPunct="1">
                <a:defRPr/>
              </a:pPr>
              <a:r>
                <a:rPr lang="fr-FR" sz="1050" dirty="0">
                  <a:latin typeface="Calibri" panose="020F0502020204030204" pitchFamily="34" charset="0"/>
                  <a:cs typeface="Arial" pitchFamily="34" charset="0"/>
                </a:rPr>
                <a:t>PALEO</a:t>
              </a:r>
            </a:p>
          </p:txBody>
        </p:sp>
        <p:sp>
          <p:nvSpPr>
            <p:cNvPr id="114" name="ZoneTexte 113"/>
            <p:cNvSpPr txBox="1"/>
            <p:nvPr/>
          </p:nvSpPr>
          <p:spPr>
            <a:xfrm>
              <a:off x="1482252" y="2264502"/>
              <a:ext cx="824241"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115" name="ZoneTexte 114"/>
            <p:cNvSpPr txBox="1"/>
            <p:nvPr/>
          </p:nvSpPr>
          <p:spPr>
            <a:xfrm>
              <a:off x="2485699" y="1258021"/>
              <a:ext cx="617519" cy="246063"/>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238717" name="Rectangle 115"/>
            <p:cNvSpPr>
              <a:spLocks noChangeArrowheads="1"/>
            </p:cNvSpPr>
            <p:nvPr/>
          </p:nvSpPr>
          <p:spPr bwMode="auto">
            <a:xfrm>
              <a:off x="916303" y="1813560"/>
              <a:ext cx="494862" cy="1346238"/>
            </a:xfrm>
            <a:prstGeom prst="rect">
              <a:avLst/>
            </a:prstGeom>
            <a:solidFill>
              <a:srgbClr val="FFC000"/>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14K€</a:t>
              </a:r>
            </a:p>
          </p:txBody>
        </p:sp>
        <p:sp>
          <p:nvSpPr>
            <p:cNvPr id="238718" name="Rectangle 116"/>
            <p:cNvSpPr>
              <a:spLocks noChangeArrowheads="1"/>
            </p:cNvSpPr>
            <p:nvPr/>
          </p:nvSpPr>
          <p:spPr bwMode="auto">
            <a:xfrm>
              <a:off x="1611250" y="2484120"/>
              <a:ext cx="466106" cy="680506"/>
            </a:xfrm>
            <a:prstGeom prst="rect">
              <a:avLst/>
            </a:prstGeom>
            <a:solidFill>
              <a:srgbClr val="65D965"/>
            </a:solidFill>
            <a:ln w="9525" algn="ctr">
              <a:solidFill>
                <a:schemeClr val="tx1"/>
              </a:solidFill>
              <a:round/>
              <a:headEnd/>
              <a:tailEnd/>
            </a:ln>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r>
                <a:rPr lang="fr-FR" altLang="fr-FR" sz="1100" dirty="0">
                  <a:latin typeface="Calibri" panose="020F0502020204030204" pitchFamily="34" charset="0"/>
                  <a:cs typeface="Arial" panose="020B0604020202020204" pitchFamily="34" charset="0"/>
                </a:rPr>
                <a:t>12 K€</a:t>
              </a:r>
            </a:p>
          </p:txBody>
        </p:sp>
        <p:cxnSp>
          <p:nvCxnSpPr>
            <p:cNvPr id="238719" name="Connecteur droit 117"/>
            <p:cNvCxnSpPr>
              <a:cxnSpLocks noChangeShapeType="1"/>
            </p:cNvCxnSpPr>
            <p:nvPr/>
          </p:nvCxnSpPr>
          <p:spPr bwMode="auto">
            <a:xfrm rot="5400000" flipH="1" flipV="1">
              <a:off x="-100270" y="2228898"/>
              <a:ext cx="1872000" cy="0"/>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9" name="ZoneTexte 118"/>
            <p:cNvSpPr txBox="1"/>
            <p:nvPr/>
          </p:nvSpPr>
          <p:spPr>
            <a:xfrm>
              <a:off x="291692" y="2978880"/>
              <a:ext cx="325720"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10 </a:t>
              </a:r>
            </a:p>
          </p:txBody>
        </p:sp>
        <p:sp>
          <p:nvSpPr>
            <p:cNvPr id="120" name="ZoneTexte 119"/>
            <p:cNvSpPr txBox="1"/>
            <p:nvPr/>
          </p:nvSpPr>
          <p:spPr>
            <a:xfrm>
              <a:off x="304514" y="2658204"/>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11</a:t>
              </a:r>
            </a:p>
          </p:txBody>
        </p:sp>
        <p:sp>
          <p:nvSpPr>
            <p:cNvPr id="121" name="ZoneTexte 120"/>
            <p:cNvSpPr txBox="1"/>
            <p:nvPr/>
          </p:nvSpPr>
          <p:spPr>
            <a:xfrm>
              <a:off x="304514" y="2339114"/>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12</a:t>
              </a:r>
            </a:p>
          </p:txBody>
        </p:sp>
        <p:sp>
          <p:nvSpPr>
            <p:cNvPr id="122" name="ZoneTexte 121"/>
            <p:cNvSpPr txBox="1"/>
            <p:nvPr/>
          </p:nvSpPr>
          <p:spPr>
            <a:xfrm>
              <a:off x="304514" y="2018437"/>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13</a:t>
              </a:r>
            </a:p>
          </p:txBody>
        </p:sp>
        <p:sp>
          <p:nvSpPr>
            <p:cNvPr id="123" name="ZoneTexte 122"/>
            <p:cNvSpPr txBox="1"/>
            <p:nvPr/>
          </p:nvSpPr>
          <p:spPr>
            <a:xfrm>
              <a:off x="304514" y="1699348"/>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14</a:t>
              </a:r>
            </a:p>
          </p:txBody>
        </p:sp>
        <p:sp>
          <p:nvSpPr>
            <p:cNvPr id="124" name="ZoneTexte 123"/>
            <p:cNvSpPr txBox="1"/>
            <p:nvPr/>
          </p:nvSpPr>
          <p:spPr>
            <a:xfrm>
              <a:off x="304514" y="1378672"/>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15</a:t>
              </a:r>
            </a:p>
          </p:txBody>
        </p:sp>
        <p:sp>
          <p:nvSpPr>
            <p:cNvPr id="238726" name="ZoneTexte 124"/>
            <p:cNvSpPr txBox="1">
              <a:spLocks noChangeArrowheads="1"/>
            </p:cNvSpPr>
            <p:nvPr/>
          </p:nvSpPr>
          <p:spPr bwMode="auto">
            <a:xfrm>
              <a:off x="657413" y="2978823"/>
              <a:ext cx="242367"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0</a:t>
              </a:r>
            </a:p>
          </p:txBody>
        </p:sp>
        <p:sp>
          <p:nvSpPr>
            <p:cNvPr id="238727" name="ZoneTexte 125"/>
            <p:cNvSpPr txBox="1">
              <a:spLocks noChangeArrowheads="1"/>
            </p:cNvSpPr>
            <p:nvPr/>
          </p:nvSpPr>
          <p:spPr bwMode="auto">
            <a:xfrm>
              <a:off x="647064" y="265878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1</a:t>
              </a:r>
            </a:p>
          </p:txBody>
        </p:sp>
        <p:sp>
          <p:nvSpPr>
            <p:cNvPr id="238728" name="ZoneTexte 126"/>
            <p:cNvSpPr txBox="1">
              <a:spLocks noChangeArrowheads="1"/>
            </p:cNvSpPr>
            <p:nvPr/>
          </p:nvSpPr>
          <p:spPr bwMode="auto">
            <a:xfrm>
              <a:off x="647064" y="233874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2</a:t>
              </a:r>
            </a:p>
          </p:txBody>
        </p:sp>
        <p:sp>
          <p:nvSpPr>
            <p:cNvPr id="238729" name="ZoneTexte 127"/>
            <p:cNvSpPr txBox="1">
              <a:spLocks noChangeArrowheads="1"/>
            </p:cNvSpPr>
            <p:nvPr/>
          </p:nvSpPr>
          <p:spPr bwMode="auto">
            <a:xfrm>
              <a:off x="647064" y="201870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3</a:t>
              </a:r>
            </a:p>
          </p:txBody>
        </p:sp>
        <p:sp>
          <p:nvSpPr>
            <p:cNvPr id="238730" name="ZoneTexte 128"/>
            <p:cNvSpPr txBox="1">
              <a:spLocks noChangeArrowheads="1"/>
            </p:cNvSpPr>
            <p:nvPr/>
          </p:nvSpPr>
          <p:spPr bwMode="auto">
            <a:xfrm>
              <a:off x="647064" y="169866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4</a:t>
              </a:r>
            </a:p>
          </p:txBody>
        </p:sp>
        <p:sp>
          <p:nvSpPr>
            <p:cNvPr id="238731" name="ZoneTexte 129"/>
            <p:cNvSpPr txBox="1">
              <a:spLocks noChangeArrowheads="1"/>
            </p:cNvSpPr>
            <p:nvPr/>
          </p:nvSpPr>
          <p:spPr bwMode="auto">
            <a:xfrm>
              <a:off x="647844" y="1378623"/>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5</a:t>
              </a:r>
            </a:p>
          </p:txBody>
        </p:sp>
        <p:sp>
          <p:nvSpPr>
            <p:cNvPr id="238732" name="Rectangle 130"/>
            <p:cNvSpPr>
              <a:spLocks noChangeArrowheads="1"/>
            </p:cNvSpPr>
            <p:nvPr/>
          </p:nvSpPr>
          <p:spPr bwMode="auto">
            <a:xfrm>
              <a:off x="2338053" y="149292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733" name="ZoneTexte 131"/>
            <p:cNvSpPr txBox="1">
              <a:spLocks noChangeArrowheads="1"/>
            </p:cNvSpPr>
            <p:nvPr/>
          </p:nvSpPr>
          <p:spPr bwMode="auto">
            <a:xfrm>
              <a:off x="765830" y="1064297"/>
              <a:ext cx="8416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min. x </a:t>
              </a:r>
              <a:r>
                <a:rPr lang="fr-FR" altLang="fr-FR" sz="900" dirty="0" err="1">
                  <a:latin typeface="Calibri" panose="020F0502020204030204" pitchFamily="34" charset="0"/>
                  <a:cs typeface="Arial" panose="020B0604020202020204" pitchFamily="34" charset="0"/>
                </a:rPr>
                <a:t>hom</a:t>
              </a:r>
              <a:r>
                <a:rPr lang="fr-FR" altLang="fr-FR" sz="900" dirty="0">
                  <a:latin typeface="Calibri" panose="020F0502020204030204" pitchFamily="34" charset="0"/>
                  <a:cs typeface="Arial" panose="020B0604020202020204" pitchFamily="34" charset="0"/>
                </a:rPr>
                <a:t>.</a:t>
              </a:r>
              <a:br>
                <a:rPr lang="fr-FR" altLang="fr-FR" sz="900" dirty="0">
                  <a:latin typeface="Calibri" panose="020F0502020204030204" pitchFamily="34" charset="0"/>
                  <a:cs typeface="Arial" panose="020B0604020202020204" pitchFamily="34" charset="0"/>
                </a:rPr>
              </a:br>
              <a:r>
                <a:rPr lang="fr-FR" altLang="fr-FR" sz="900" dirty="0">
                  <a:latin typeface="Calibri" panose="020F0502020204030204" pitchFamily="34" charset="0"/>
                  <a:cs typeface="Arial" panose="020B0604020202020204" pitchFamily="34" charset="0"/>
                </a:rPr>
                <a:t>/ produit</a:t>
              </a:r>
            </a:p>
          </p:txBody>
        </p:sp>
        <p:sp>
          <p:nvSpPr>
            <p:cNvPr id="133" name="ZoneTexte 132"/>
            <p:cNvSpPr txBox="1"/>
            <p:nvPr/>
          </p:nvSpPr>
          <p:spPr>
            <a:xfrm>
              <a:off x="307667" y="1051645"/>
              <a:ext cx="304882"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K€</a:t>
              </a:r>
            </a:p>
          </p:txBody>
        </p:sp>
        <p:sp>
          <p:nvSpPr>
            <p:cNvPr id="238735" name="Rectangle 133"/>
            <p:cNvSpPr>
              <a:spLocks noChangeArrowheads="1"/>
            </p:cNvSpPr>
            <p:nvPr/>
          </p:nvSpPr>
          <p:spPr bwMode="auto">
            <a:xfrm>
              <a:off x="2700003" y="1492923"/>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736" name="Rectangle 134"/>
            <p:cNvSpPr>
              <a:spLocks noChangeArrowheads="1"/>
            </p:cNvSpPr>
            <p:nvPr/>
          </p:nvSpPr>
          <p:spPr bwMode="auto">
            <a:xfrm>
              <a:off x="3061953" y="149292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cxnSp>
          <p:nvCxnSpPr>
            <p:cNvPr id="238737" name="Connecteur droit 135"/>
            <p:cNvCxnSpPr>
              <a:cxnSpLocks noChangeShapeType="1"/>
            </p:cNvCxnSpPr>
            <p:nvPr/>
          </p:nvCxnSpPr>
          <p:spPr bwMode="auto">
            <a:xfrm>
              <a:off x="835729" y="3159798"/>
              <a:ext cx="2376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38738" name="ZoneTexte 136"/>
            <p:cNvSpPr txBox="1">
              <a:spLocks noChangeArrowheads="1"/>
            </p:cNvSpPr>
            <p:nvPr/>
          </p:nvSpPr>
          <p:spPr bwMode="auto">
            <a:xfrm>
              <a:off x="2041917" y="314368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238739" name="ZoneTexte 137"/>
            <p:cNvSpPr txBox="1">
              <a:spLocks noChangeArrowheads="1"/>
            </p:cNvSpPr>
            <p:nvPr/>
          </p:nvSpPr>
          <p:spPr bwMode="auto">
            <a:xfrm>
              <a:off x="2803917" y="314368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sp>
          <p:nvSpPr>
            <p:cNvPr id="139" name="ZoneTexte 138"/>
            <p:cNvSpPr txBox="1"/>
            <p:nvPr/>
          </p:nvSpPr>
          <p:spPr>
            <a:xfrm>
              <a:off x="5752678" y="1286596"/>
              <a:ext cx="617519" cy="246063"/>
            </a:xfrm>
            <a:prstGeom prst="rect">
              <a:avLst/>
            </a:prstGeom>
            <a:noFill/>
          </p:spPr>
          <p:txBody>
            <a:bodyPr wrap="none">
              <a:spAutoFit/>
            </a:bodyPr>
            <a:lstStyle/>
            <a:p>
              <a:pPr algn="ctr" eaLnBrk="1" hangingPunct="1">
                <a:defRPr/>
              </a:pPr>
              <a:r>
                <a:rPr lang="fr-FR" dirty="0">
                  <a:solidFill>
                    <a:srgbClr val="FF0000"/>
                  </a:solidFill>
                  <a:latin typeface="Calibri" panose="020F0502020204030204" pitchFamily="34" charset="0"/>
                  <a:cs typeface="Arial" pitchFamily="34" charset="0"/>
                </a:rPr>
                <a:t>Objectif</a:t>
              </a:r>
              <a:endParaRPr lang="fr-FR" sz="1050" dirty="0">
                <a:solidFill>
                  <a:srgbClr val="FF0000"/>
                </a:solidFill>
                <a:latin typeface="Calibri" panose="020F0502020204030204" pitchFamily="34" charset="0"/>
                <a:cs typeface="Arial" pitchFamily="34" charset="0"/>
              </a:endParaRPr>
            </a:p>
          </p:txBody>
        </p:sp>
        <p:sp>
          <p:nvSpPr>
            <p:cNvPr id="238741" name="Rectangle 139"/>
            <p:cNvSpPr>
              <a:spLocks noChangeArrowheads="1"/>
            </p:cNvSpPr>
            <p:nvPr/>
          </p:nvSpPr>
          <p:spPr bwMode="auto">
            <a:xfrm>
              <a:off x="5603769" y="151197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742" name="Rectangle 140"/>
            <p:cNvSpPr>
              <a:spLocks noChangeArrowheads="1"/>
            </p:cNvSpPr>
            <p:nvPr/>
          </p:nvSpPr>
          <p:spPr bwMode="auto">
            <a:xfrm>
              <a:off x="5965719" y="1511973"/>
              <a:ext cx="216000" cy="1666875"/>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743" name="Rectangle 141"/>
            <p:cNvSpPr>
              <a:spLocks noChangeArrowheads="1"/>
            </p:cNvSpPr>
            <p:nvPr/>
          </p:nvSpPr>
          <p:spPr bwMode="auto">
            <a:xfrm>
              <a:off x="6327669" y="1511973"/>
              <a:ext cx="216000" cy="1666875"/>
            </a:xfrm>
            <a:prstGeom prst="rect">
              <a:avLst/>
            </a:prstGeom>
            <a:noFill/>
            <a:ln w="19050"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spcBef>
                  <a:spcPct val="0"/>
                </a:spcBef>
                <a:buFontTx/>
                <a:buNone/>
              </a:pPr>
              <a:endParaRPr lang="fr-FR" altLang="fr-FR" sz="1100" dirty="0">
                <a:latin typeface="Calibri" panose="020F0502020204030204" pitchFamily="34" charset="0"/>
                <a:cs typeface="Arial" panose="020B0604020202020204" pitchFamily="34" charset="0"/>
              </a:endParaRPr>
            </a:p>
          </p:txBody>
        </p:sp>
        <p:sp>
          <p:nvSpPr>
            <p:cNvPr id="238744" name="ZoneTexte 142"/>
            <p:cNvSpPr txBox="1">
              <a:spLocks noChangeArrowheads="1"/>
            </p:cNvSpPr>
            <p:nvPr/>
          </p:nvSpPr>
          <p:spPr bwMode="auto">
            <a:xfrm>
              <a:off x="5307633" y="316273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1</a:t>
              </a:r>
            </a:p>
          </p:txBody>
        </p:sp>
        <p:sp>
          <p:nvSpPr>
            <p:cNvPr id="238745" name="ZoneTexte 143"/>
            <p:cNvSpPr txBox="1">
              <a:spLocks noChangeArrowheads="1"/>
            </p:cNvSpPr>
            <p:nvPr/>
          </p:nvSpPr>
          <p:spPr bwMode="auto">
            <a:xfrm>
              <a:off x="6069633" y="3162730"/>
              <a:ext cx="72124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900" dirty="0">
                  <a:latin typeface="Calibri" panose="020F0502020204030204" pitchFamily="34" charset="0"/>
                  <a:cs typeface="Arial" panose="020B0604020202020204" pitchFamily="34" charset="0"/>
                </a:rPr>
                <a:t>Simulation </a:t>
              </a:r>
              <a:r>
                <a:rPr lang="fr-FR" altLang="fr-FR" b="1" dirty="0">
                  <a:solidFill>
                    <a:srgbClr val="0033CC"/>
                  </a:solidFill>
                  <a:latin typeface="Calibri" panose="020F0502020204030204" pitchFamily="34" charset="0"/>
                  <a:cs typeface="Arial" panose="020B0604020202020204" pitchFamily="34" charset="0"/>
                </a:rPr>
                <a:t>2</a:t>
              </a:r>
            </a:p>
          </p:txBody>
        </p:sp>
        <p:sp>
          <p:nvSpPr>
            <p:cNvPr id="145" name="ZoneTexte 144"/>
            <p:cNvSpPr txBox="1"/>
            <p:nvPr/>
          </p:nvSpPr>
          <p:spPr>
            <a:xfrm>
              <a:off x="4696051" y="2523265"/>
              <a:ext cx="824240"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146" name="ZoneTexte 145"/>
            <p:cNvSpPr txBox="1"/>
            <p:nvPr/>
          </p:nvSpPr>
          <p:spPr>
            <a:xfrm>
              <a:off x="839509" y="880194"/>
              <a:ext cx="761978" cy="258763"/>
            </a:xfrm>
            <a:prstGeom prst="rect">
              <a:avLst/>
            </a:prstGeom>
            <a:solidFill>
              <a:schemeClr val="bg1"/>
            </a:solidFill>
            <a:ln>
              <a:noFill/>
            </a:ln>
          </p:spPr>
          <p:txBody>
            <a:bodyPr wrap="none" anchor="ctr"/>
            <a:lstStyle/>
            <a:p>
              <a:pPr algn="ctr" eaLnBrk="1" hangingPunct="1">
                <a:defRPr/>
              </a:pPr>
              <a:r>
                <a:rPr lang="fr-FR" sz="1050" dirty="0">
                  <a:latin typeface="Calibri" panose="020F0502020204030204" pitchFamily="34" charset="0"/>
                  <a:cs typeface="Arial" pitchFamily="34" charset="0"/>
                </a:rPr>
                <a:t>PRODUCTIVITÉ</a:t>
              </a:r>
            </a:p>
          </p:txBody>
        </p:sp>
        <p:sp>
          <p:nvSpPr>
            <p:cNvPr id="147" name="ZoneTexte 146"/>
            <p:cNvSpPr txBox="1"/>
            <p:nvPr/>
          </p:nvSpPr>
          <p:spPr>
            <a:xfrm>
              <a:off x="1413198" y="4771177"/>
              <a:ext cx="824240"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148" name="ZoneTexte 147"/>
            <p:cNvSpPr txBox="1"/>
            <p:nvPr/>
          </p:nvSpPr>
          <p:spPr>
            <a:xfrm>
              <a:off x="4735738" y="4794990"/>
              <a:ext cx="824240" cy="246222"/>
            </a:xfrm>
            <a:prstGeom prst="rect">
              <a:avLst/>
            </a:prstGeom>
            <a:noFill/>
          </p:spPr>
          <p:txBody>
            <a:bodyPr wrap="none">
              <a:spAutoFit/>
            </a:bodyPr>
            <a:lstStyle/>
            <a:p>
              <a:pPr algn="ctr" eaLnBrk="1" hangingPunct="1">
                <a:defRPr/>
              </a:pPr>
              <a:r>
                <a:rPr lang="fr-FR" dirty="0">
                  <a:latin typeface="Calibri" panose="020F0502020204030204" pitchFamily="34" charset="0"/>
                  <a:cs typeface="Arial" pitchFamily="34" charset="0"/>
                </a:rPr>
                <a:t>Concurrents</a:t>
              </a:r>
              <a:endParaRPr lang="fr-FR" sz="1050" dirty="0">
                <a:latin typeface="Calibri" panose="020F0502020204030204" pitchFamily="34" charset="0"/>
                <a:cs typeface="Arial" pitchFamily="34" charset="0"/>
              </a:endParaRPr>
            </a:p>
          </p:txBody>
        </p:sp>
        <p:sp>
          <p:nvSpPr>
            <p:cNvPr id="238750" name="ZoneTexte 148"/>
            <p:cNvSpPr txBox="1">
              <a:spLocks noChangeArrowheads="1"/>
            </p:cNvSpPr>
            <p:nvPr/>
          </p:nvSpPr>
          <p:spPr bwMode="auto">
            <a:xfrm>
              <a:off x="3858301" y="4648105"/>
              <a:ext cx="244094" cy="23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r" eaLnBrk="1" hangingPunct="1">
                <a:spcBef>
                  <a:spcPct val="0"/>
                </a:spcBef>
                <a:buFontTx/>
                <a:buNone/>
              </a:pPr>
              <a:r>
                <a:rPr lang="fr-FR" altLang="fr-FR" sz="900" dirty="0">
                  <a:latin typeface="Calibri" panose="020F0502020204030204" pitchFamily="34" charset="0"/>
                  <a:cs typeface="Arial" panose="020B0604020202020204" pitchFamily="34" charset="0"/>
                </a:rPr>
                <a:t>25</a:t>
              </a:r>
            </a:p>
          </p:txBody>
        </p:sp>
        <p:sp>
          <p:nvSpPr>
            <p:cNvPr id="150" name="ZoneTexte 149"/>
            <p:cNvSpPr txBox="1"/>
            <p:nvPr/>
          </p:nvSpPr>
          <p:spPr>
            <a:xfrm>
              <a:off x="3609594" y="4925166"/>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16</a:t>
              </a:r>
            </a:p>
          </p:txBody>
        </p:sp>
        <p:sp>
          <p:nvSpPr>
            <p:cNvPr id="151" name="ZoneTexte 150"/>
            <p:cNvSpPr txBox="1"/>
            <p:nvPr/>
          </p:nvSpPr>
          <p:spPr>
            <a:xfrm>
              <a:off x="3609594" y="5199805"/>
              <a:ext cx="300073" cy="230833"/>
            </a:xfrm>
            <a:prstGeom prst="rect">
              <a:avLst/>
            </a:prstGeom>
            <a:solidFill>
              <a:schemeClr val="bg1">
                <a:lumMod val="65000"/>
              </a:schemeClr>
            </a:solidFill>
          </p:spPr>
          <p:txBody>
            <a:bodyPr wrap="none">
              <a:spAutoFit/>
            </a:bodyPr>
            <a:lstStyle/>
            <a:p>
              <a:pPr algn="ctr" eaLnBrk="1" hangingPunct="1">
                <a:defRPr/>
              </a:pPr>
              <a:r>
                <a:rPr lang="fr-FR" sz="900" b="1" dirty="0">
                  <a:solidFill>
                    <a:schemeClr val="bg1"/>
                  </a:solidFill>
                  <a:latin typeface="Calibri" panose="020F0502020204030204" pitchFamily="34" charset="0"/>
                  <a:cs typeface="Arial" pitchFamily="34" charset="0"/>
                </a:rPr>
                <a:t>14</a:t>
              </a:r>
            </a:p>
          </p:txBody>
        </p:sp>
      </p:grpSp>
      <p:sp>
        <p:nvSpPr>
          <p:cNvPr id="238599" name="Rectangle 151"/>
          <p:cNvSpPr>
            <a:spLocks noChangeArrowheads="1"/>
          </p:cNvSpPr>
          <p:nvPr/>
        </p:nvSpPr>
        <p:spPr bwMode="auto">
          <a:xfrm>
            <a:off x="3798888" y="2473325"/>
            <a:ext cx="180975" cy="50165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0" name="Rectangle 152"/>
          <p:cNvSpPr>
            <a:spLocks noChangeArrowheads="1"/>
          </p:cNvSpPr>
          <p:nvPr/>
        </p:nvSpPr>
        <p:spPr bwMode="auto">
          <a:xfrm>
            <a:off x="7070725" y="2651125"/>
            <a:ext cx="190500" cy="33655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1" name="Rectangle 153"/>
          <p:cNvSpPr>
            <a:spLocks noChangeArrowheads="1"/>
          </p:cNvSpPr>
          <p:nvPr/>
        </p:nvSpPr>
        <p:spPr bwMode="auto">
          <a:xfrm>
            <a:off x="3778250" y="4664075"/>
            <a:ext cx="222250" cy="1298575"/>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2" name="Rectangle 154"/>
          <p:cNvSpPr>
            <a:spLocks noChangeArrowheads="1"/>
          </p:cNvSpPr>
          <p:nvPr/>
        </p:nvSpPr>
        <p:spPr bwMode="auto">
          <a:xfrm>
            <a:off x="7050088" y="5203825"/>
            <a:ext cx="196850" cy="746125"/>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3" name="Rectangle 155"/>
          <p:cNvSpPr>
            <a:spLocks noChangeArrowheads="1"/>
          </p:cNvSpPr>
          <p:nvPr/>
        </p:nvSpPr>
        <p:spPr bwMode="auto">
          <a:xfrm>
            <a:off x="3441700" y="1554163"/>
            <a:ext cx="185738" cy="1428750"/>
          </a:xfrm>
          <a:prstGeom prst="rect">
            <a:avLst/>
          </a:prstGeom>
          <a:solidFill>
            <a:srgbClr val="0066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4" name="Rectangle 156"/>
          <p:cNvSpPr>
            <a:spLocks noChangeArrowheads="1"/>
          </p:cNvSpPr>
          <p:nvPr/>
        </p:nvSpPr>
        <p:spPr bwMode="auto">
          <a:xfrm>
            <a:off x="6697663" y="1912938"/>
            <a:ext cx="190500" cy="1082675"/>
          </a:xfrm>
          <a:prstGeom prst="rect">
            <a:avLst/>
          </a:prstGeom>
          <a:solidFill>
            <a:srgbClr val="0066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5" name="Rectangle 157"/>
          <p:cNvSpPr>
            <a:spLocks noChangeArrowheads="1"/>
          </p:cNvSpPr>
          <p:nvPr/>
        </p:nvSpPr>
        <p:spPr bwMode="auto">
          <a:xfrm>
            <a:off x="3421063" y="5799138"/>
            <a:ext cx="220662" cy="171450"/>
          </a:xfrm>
          <a:prstGeom prst="rect">
            <a:avLst/>
          </a:prstGeom>
          <a:solidFill>
            <a:srgbClr val="0066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38606" name="Rectangle 158"/>
          <p:cNvSpPr>
            <a:spLocks noChangeArrowheads="1"/>
          </p:cNvSpPr>
          <p:nvPr/>
        </p:nvSpPr>
        <p:spPr bwMode="auto">
          <a:xfrm>
            <a:off x="6691313" y="4419600"/>
            <a:ext cx="196850" cy="1538288"/>
          </a:xfrm>
          <a:prstGeom prst="rect">
            <a:avLst/>
          </a:prstGeom>
          <a:solidFill>
            <a:srgbClr val="0066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161"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pic>
        <p:nvPicPr>
          <p:cNvPr id="162" name="Picture 1">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2158" y="5195599"/>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240642"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40643"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AD9A47A7-5397-4656-A33F-7496C299917B}" type="slidenum">
              <a:rPr lang="fr-FR" altLang="fr-FR" smtClean="0">
                <a:latin typeface="Calibri" panose="020F0502020204030204" pitchFamily="34" charset="0"/>
              </a:rPr>
              <a:pPr>
                <a:spcBef>
                  <a:spcPct val="0"/>
                </a:spcBef>
                <a:buFontTx/>
                <a:buNone/>
              </a:pPr>
              <a:t>111</a:t>
            </a:fld>
            <a:endParaRPr lang="fr-FR" altLang="fr-FR" dirty="0">
              <a:latin typeface="Calibri" panose="020F0502020204030204" pitchFamily="34" charset="0"/>
            </a:endParaRPr>
          </a:p>
        </p:txBody>
      </p:sp>
      <p:sp>
        <p:nvSpPr>
          <p:cNvPr id="6" name="Rectangle 5"/>
          <p:cNvSpPr/>
          <p:nvPr/>
        </p:nvSpPr>
        <p:spPr>
          <a:xfrm>
            <a:off x="372034" y="1980704"/>
            <a:ext cx="8924366" cy="2308324"/>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Lancement de la Simulation n°2</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0 min</a:t>
            </a:r>
          </a:p>
        </p:txBody>
      </p:sp>
      <p:sp>
        <p:nvSpPr>
          <p:cNvPr id="7" name="ZoneTexte 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9" name="ZoneTexte 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1" name="ZoneTexte 1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3" name="ZoneTexte 1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5" name="ZoneTexte 1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55" name="ZoneTexte 154"/>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 min</a:t>
            </a:r>
          </a:p>
        </p:txBody>
      </p:sp>
      <p:sp>
        <p:nvSpPr>
          <p:cNvPr id="168" name="ZoneTexte 16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69" name="ZoneTexte 16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70" name="ZoneTexte 16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71" name="ZoneTexte 17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72" name="ZoneTexte 17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74" name="ZoneTexte 173"/>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 min</a:t>
            </a:r>
          </a:p>
        </p:txBody>
      </p:sp>
      <p:sp>
        <p:nvSpPr>
          <p:cNvPr id="175" name="ZoneTexte 17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76" name="ZoneTexte 17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77" name="ZoneTexte 17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78" name="ZoneTexte 17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79" name="ZoneTexte 17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81" name="ZoneTexte 180"/>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3 min</a:t>
            </a:r>
          </a:p>
        </p:txBody>
      </p:sp>
      <p:sp>
        <p:nvSpPr>
          <p:cNvPr id="182" name="ZoneTexte 18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83" name="ZoneTexte 18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84" name="ZoneTexte 18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85" name="ZoneTexte 18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86" name="ZoneTexte 18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88" name="ZoneTexte 187"/>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4 min</a:t>
            </a:r>
          </a:p>
        </p:txBody>
      </p:sp>
      <p:sp>
        <p:nvSpPr>
          <p:cNvPr id="189" name="ZoneTexte 18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90" name="ZoneTexte 18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91" name="ZoneTexte 19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92" name="ZoneTexte 19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193" name="ZoneTexte 19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195" name="ZoneTexte 194"/>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5 min</a:t>
            </a:r>
          </a:p>
        </p:txBody>
      </p:sp>
      <p:sp>
        <p:nvSpPr>
          <p:cNvPr id="196" name="ZoneTexte 19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197" name="ZoneTexte 19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198" name="ZoneTexte 19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199" name="ZoneTexte 19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00" name="ZoneTexte 19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02" name="ZoneTexte 201"/>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6 min</a:t>
            </a:r>
          </a:p>
        </p:txBody>
      </p:sp>
      <p:sp>
        <p:nvSpPr>
          <p:cNvPr id="203" name="ZoneTexte 20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04" name="ZoneTexte 20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05" name="ZoneTexte 20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06" name="ZoneTexte 20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07" name="ZoneTexte 20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09" name="ZoneTexte 208"/>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7 min</a:t>
            </a:r>
          </a:p>
        </p:txBody>
      </p:sp>
      <p:sp>
        <p:nvSpPr>
          <p:cNvPr id="210" name="ZoneTexte 20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11" name="ZoneTexte 21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12" name="ZoneTexte 21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13" name="ZoneTexte 21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14" name="ZoneTexte 21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16" name="ZoneTexte 215"/>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8 min</a:t>
            </a:r>
          </a:p>
        </p:txBody>
      </p:sp>
      <p:sp>
        <p:nvSpPr>
          <p:cNvPr id="217" name="ZoneTexte 21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18" name="ZoneTexte 21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19" name="ZoneTexte 21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20" name="ZoneTexte 21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21" name="ZoneTexte 22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23" name="ZoneTexte 222"/>
          <p:cNvSpPr txBox="1">
            <a:spLocks noChangeArrowheads="1"/>
          </p:cNvSpPr>
          <p:nvPr/>
        </p:nvSpPr>
        <p:spPr bwMode="auto">
          <a:xfrm>
            <a:off x="3282892" y="2174875"/>
            <a:ext cx="1266940"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9 min</a:t>
            </a:r>
          </a:p>
        </p:txBody>
      </p:sp>
      <p:sp>
        <p:nvSpPr>
          <p:cNvPr id="224" name="ZoneTexte 22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25" name="ZoneTexte 22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26" name="ZoneTexte 22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27" name="ZoneTexte 22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28" name="ZoneTexte 22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30" name="ZoneTexte 229"/>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10 min</a:t>
            </a:r>
          </a:p>
        </p:txBody>
      </p:sp>
      <p:sp>
        <p:nvSpPr>
          <p:cNvPr id="231" name="ZoneTexte 23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32" name="ZoneTexte 23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33" name="ZoneTexte 23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34" name="ZoneTexte 23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35" name="ZoneTexte 23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37" name="ZoneTexte 236"/>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11 min</a:t>
            </a:r>
          </a:p>
        </p:txBody>
      </p:sp>
      <p:sp>
        <p:nvSpPr>
          <p:cNvPr id="238" name="ZoneTexte 23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39" name="ZoneTexte 23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40" name="ZoneTexte 23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41" name="ZoneTexte 24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42" name="ZoneTexte 24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44" name="ZoneTexte 243"/>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12 min</a:t>
            </a:r>
          </a:p>
        </p:txBody>
      </p:sp>
      <p:sp>
        <p:nvSpPr>
          <p:cNvPr id="245" name="ZoneTexte 24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46" name="ZoneTexte 24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47" name="ZoneTexte 24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48" name="ZoneTexte 24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49" name="ZoneTexte 24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51" name="ZoneTexte 250"/>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13 min</a:t>
            </a:r>
          </a:p>
        </p:txBody>
      </p:sp>
      <p:sp>
        <p:nvSpPr>
          <p:cNvPr id="252" name="ZoneTexte 25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53" name="ZoneTexte 25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54" name="ZoneTexte 25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55" name="ZoneTexte 25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56" name="ZoneTexte 25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58" name="ZoneTexte 257"/>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14 min</a:t>
            </a:r>
          </a:p>
        </p:txBody>
      </p:sp>
      <p:sp>
        <p:nvSpPr>
          <p:cNvPr id="259" name="ZoneTexte 25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60" name="ZoneTexte 25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61" name="ZoneTexte 26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62" name="ZoneTexte 26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63" name="ZoneTexte 26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65" name="ZoneTexte 264"/>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15 min</a:t>
            </a:r>
          </a:p>
        </p:txBody>
      </p:sp>
      <p:sp>
        <p:nvSpPr>
          <p:cNvPr id="266" name="ZoneTexte 26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67" name="ZoneTexte 26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68" name="ZoneTexte 26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69" name="ZoneTexte 26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70" name="ZoneTexte 26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72" name="ZoneTexte 271"/>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16 min</a:t>
            </a:r>
          </a:p>
        </p:txBody>
      </p:sp>
      <p:sp>
        <p:nvSpPr>
          <p:cNvPr id="273" name="ZoneTexte 27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74" name="ZoneTexte 27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75" name="ZoneTexte 27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76" name="ZoneTexte 27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77" name="ZoneTexte 27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79" name="ZoneTexte 278"/>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17 min</a:t>
            </a:r>
          </a:p>
        </p:txBody>
      </p:sp>
      <p:sp>
        <p:nvSpPr>
          <p:cNvPr id="280" name="ZoneTexte 27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81" name="ZoneTexte 28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82" name="ZoneTexte 28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83" name="ZoneTexte 28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84" name="ZoneTexte 28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86" name="ZoneTexte 285"/>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18 min</a:t>
            </a:r>
          </a:p>
        </p:txBody>
      </p:sp>
      <p:sp>
        <p:nvSpPr>
          <p:cNvPr id="287" name="ZoneTexte 28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88" name="ZoneTexte 28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89" name="ZoneTexte 28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90" name="ZoneTexte 28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91" name="ZoneTexte 29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93" name="ZoneTexte 292"/>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19 min</a:t>
            </a:r>
          </a:p>
        </p:txBody>
      </p:sp>
      <p:sp>
        <p:nvSpPr>
          <p:cNvPr id="294" name="ZoneTexte 29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295" name="ZoneTexte 29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296" name="ZoneTexte 29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297" name="ZoneTexte 29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298" name="ZoneTexte 29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00" name="ZoneTexte 299"/>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20 min</a:t>
            </a:r>
          </a:p>
        </p:txBody>
      </p:sp>
      <p:sp>
        <p:nvSpPr>
          <p:cNvPr id="301" name="ZoneTexte 30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02" name="ZoneTexte 30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03" name="ZoneTexte 30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04" name="ZoneTexte 30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05" name="ZoneTexte 30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07" name="ZoneTexte 306"/>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21 min</a:t>
            </a:r>
          </a:p>
        </p:txBody>
      </p:sp>
      <p:sp>
        <p:nvSpPr>
          <p:cNvPr id="308" name="ZoneTexte 30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09" name="ZoneTexte 30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10" name="ZoneTexte 30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11" name="ZoneTexte 31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12" name="ZoneTexte 31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14" name="ZoneTexte 313"/>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22 min</a:t>
            </a:r>
          </a:p>
        </p:txBody>
      </p:sp>
      <p:sp>
        <p:nvSpPr>
          <p:cNvPr id="315" name="ZoneTexte 31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16" name="ZoneTexte 31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17" name="ZoneTexte 31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18" name="ZoneTexte 31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19" name="ZoneTexte 31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21" name="ZoneTexte 320"/>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23 min</a:t>
            </a:r>
          </a:p>
        </p:txBody>
      </p:sp>
      <p:sp>
        <p:nvSpPr>
          <p:cNvPr id="322" name="ZoneTexte 32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23" name="ZoneTexte 32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24" name="ZoneTexte 32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25" name="ZoneTexte 32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26" name="ZoneTexte 32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28" name="ZoneTexte 327"/>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24 min</a:t>
            </a:r>
          </a:p>
        </p:txBody>
      </p:sp>
      <p:sp>
        <p:nvSpPr>
          <p:cNvPr id="329" name="ZoneTexte 32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30" name="ZoneTexte 32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31" name="ZoneTexte 33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32" name="ZoneTexte 33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33" name="ZoneTexte 33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34" name="ZoneTexte 333"/>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25 min</a:t>
            </a:r>
          </a:p>
        </p:txBody>
      </p:sp>
      <p:sp>
        <p:nvSpPr>
          <p:cNvPr id="335" name="ZoneTexte 33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36" name="ZoneTexte 33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37" name="ZoneTexte 33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38" name="ZoneTexte 33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39" name="ZoneTexte 33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40" name="ZoneTexte 339"/>
          <p:cNvSpPr txBox="1">
            <a:spLocks noChangeArrowheads="1"/>
          </p:cNvSpPr>
          <p:nvPr/>
        </p:nvSpPr>
        <p:spPr bwMode="auto">
          <a:xfrm>
            <a:off x="3210757" y="2174875"/>
            <a:ext cx="1411211"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26min</a:t>
            </a:r>
          </a:p>
        </p:txBody>
      </p:sp>
      <p:sp>
        <p:nvSpPr>
          <p:cNvPr id="341" name="ZoneTexte 34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42" name="ZoneTexte 34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43" name="ZoneTexte 34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44" name="ZoneTexte 34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45" name="ZoneTexte 34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46" name="ZoneTexte 345"/>
          <p:cNvSpPr txBox="1">
            <a:spLocks noChangeArrowheads="1"/>
          </p:cNvSpPr>
          <p:nvPr/>
        </p:nvSpPr>
        <p:spPr bwMode="auto">
          <a:xfrm>
            <a:off x="3210757" y="2174875"/>
            <a:ext cx="1411211"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27min</a:t>
            </a:r>
          </a:p>
        </p:txBody>
      </p:sp>
      <p:sp>
        <p:nvSpPr>
          <p:cNvPr id="347" name="ZoneTexte 34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48" name="ZoneTexte 347"/>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49" name="ZoneTexte 34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50" name="ZoneTexte 34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51" name="ZoneTexte 35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52" name="ZoneTexte 351"/>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28 min</a:t>
            </a:r>
          </a:p>
        </p:txBody>
      </p:sp>
      <p:sp>
        <p:nvSpPr>
          <p:cNvPr id="353" name="ZoneTexte 35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54" name="ZoneTexte 353"/>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55" name="ZoneTexte 354"/>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56" name="ZoneTexte 355"/>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57" name="ZoneTexte 356"/>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358" name="ZoneTexte 357"/>
          <p:cNvSpPr txBox="1">
            <a:spLocks noChangeArrowheads="1"/>
          </p:cNvSpPr>
          <p:nvPr/>
        </p:nvSpPr>
        <p:spPr bwMode="auto">
          <a:xfrm>
            <a:off x="3153049" y="2174875"/>
            <a:ext cx="1526627" cy="70788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000" b="1" dirty="0">
                <a:solidFill>
                  <a:schemeClr val="bg1"/>
                </a:solidFill>
                <a:latin typeface="Calibri" panose="020F0502020204030204" pitchFamily="34" charset="0"/>
                <a:cs typeface="Arial" panose="020B0604020202020204" pitchFamily="34" charset="0"/>
              </a:rPr>
              <a:t>29 min</a:t>
            </a:r>
          </a:p>
        </p:txBody>
      </p:sp>
      <p:sp>
        <p:nvSpPr>
          <p:cNvPr id="359" name="ZoneTexte 358"/>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10</a:t>
            </a:r>
          </a:p>
        </p:txBody>
      </p:sp>
      <p:sp>
        <p:nvSpPr>
          <p:cNvPr id="360" name="ZoneTexte 359"/>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20</a:t>
            </a:r>
          </a:p>
        </p:txBody>
      </p:sp>
      <p:sp>
        <p:nvSpPr>
          <p:cNvPr id="361" name="ZoneTexte 360"/>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30</a:t>
            </a:r>
          </a:p>
        </p:txBody>
      </p:sp>
      <p:sp>
        <p:nvSpPr>
          <p:cNvPr id="362" name="ZoneTexte 361"/>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40</a:t>
            </a:r>
          </a:p>
        </p:txBody>
      </p:sp>
      <p:sp>
        <p:nvSpPr>
          <p:cNvPr id="363" name="ZoneTexte 362"/>
          <p:cNvSpPr txBox="1">
            <a:spLocks noChangeArrowheads="1"/>
          </p:cNvSpPr>
          <p:nvPr/>
        </p:nvSpPr>
        <p:spPr bwMode="auto">
          <a:xfrm>
            <a:off x="5072063" y="2190750"/>
            <a:ext cx="1439862" cy="863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36000"/>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4800" dirty="0">
                <a:latin typeface="Calibri" panose="020F0502020204030204" pitchFamily="34" charset="0"/>
                <a:cs typeface="Arial" panose="020B0604020202020204" pitchFamily="34" charset="0"/>
              </a:rPr>
              <a:t>50</a:t>
            </a:r>
          </a:p>
        </p:txBody>
      </p:sp>
      <p:sp>
        <p:nvSpPr>
          <p:cNvPr id="242870" name="ZoneTexte 186"/>
          <p:cNvSpPr txBox="1">
            <a:spLocks noChangeArrowheads="1"/>
          </p:cNvSpPr>
          <p:nvPr/>
        </p:nvSpPr>
        <p:spPr bwMode="auto">
          <a:xfrm>
            <a:off x="2671259" y="1042988"/>
            <a:ext cx="41158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i="1" dirty="0">
                <a:latin typeface="Calibri" panose="020F0502020204030204" pitchFamily="34" charset="0"/>
              </a:rPr>
              <a:t>Cliquez pour  lancer le chronométrage</a:t>
            </a:r>
          </a:p>
        </p:txBody>
      </p:sp>
      <p:sp>
        <p:nvSpPr>
          <p:cNvPr id="242872"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D1CF4B36-AAAD-4788-9113-569F2295D406}" type="slidenum">
              <a:rPr lang="fr-FR" altLang="fr-FR" smtClean="0">
                <a:latin typeface="Calibri" panose="020F0502020204030204" pitchFamily="34" charset="0"/>
              </a:rPr>
              <a:pPr>
                <a:spcBef>
                  <a:spcPct val="0"/>
                </a:spcBef>
                <a:buFontTx/>
                <a:buNone/>
              </a:pPr>
              <a:t>112</a:t>
            </a:fld>
            <a:endParaRPr lang="fr-FR" altLang="fr-FR" dirty="0">
              <a:latin typeface="Calibri" panose="020F0502020204030204" pitchFamily="34" charset="0"/>
            </a:endParaRPr>
          </a:p>
        </p:txBody>
      </p:sp>
      <p:sp>
        <p:nvSpPr>
          <p:cNvPr id="242873" name="Espace réservé du pied de page 7"/>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0"/>
                                  </p:stCondLst>
                                  <p:childTnLst>
                                    <p:set>
                                      <p:cBhvr>
                                        <p:cTn id="9"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par>
                          <p:cTn id="10" fill="hold" nodeType="afterGroup">
                            <p:stCondLst>
                              <p:cond delay="10000"/>
                            </p:stCondLst>
                            <p:childTnLst>
                              <p:par>
                                <p:cTn id="11" presetID="1" presetClass="entr" presetSubtype="0" fill="hold" grpId="0" nodeType="afterEffect">
                                  <p:stCondLst>
                                    <p:cond delay="10000"/>
                                  </p:stCondLst>
                                  <p:childTnLst>
                                    <p:set>
                                      <p:cBhvr>
                                        <p:cTn id="1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par>
                          <p:cTn id="13" fill="hold" nodeType="afterGroup">
                            <p:stCondLst>
                              <p:cond delay="20000"/>
                            </p:stCondLst>
                            <p:childTnLst>
                              <p:par>
                                <p:cTn id="14" presetID="1" presetClass="entr" presetSubtype="0" fill="hold" grpId="0" nodeType="afterEffect">
                                  <p:stCondLst>
                                    <p:cond delay="10000"/>
                                  </p:stCondLst>
                                  <p:childTnLst>
                                    <p:set>
                                      <p:cBhvr>
                                        <p:cTn id="15"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par>
                          <p:cTn id="16" fill="hold" nodeType="afterGroup">
                            <p:stCondLst>
                              <p:cond delay="30000"/>
                            </p:stCondLst>
                            <p:childTnLst>
                              <p:par>
                                <p:cTn id="17" presetID="1" presetClass="entr" presetSubtype="0" fill="hold" grpId="0" nodeType="afterEffect">
                                  <p:stCondLst>
                                    <p:cond delay="10000"/>
                                  </p:stCondLst>
                                  <p:childTnLst>
                                    <p:set>
                                      <p:cBhvr>
                                        <p:cTn id="18"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19" fill="hold" nodeType="afterGroup">
                            <p:stCondLst>
                              <p:cond delay="40000"/>
                            </p:stCondLst>
                            <p:childTnLst>
                              <p:par>
                                <p:cTn id="20" presetID="1" presetClass="entr" presetSubtype="0" fill="hold" grpId="0" nodeType="afterEffect">
                                  <p:stCondLst>
                                    <p:cond delay="10000"/>
                                  </p:stCondLst>
                                  <p:childTnLst>
                                    <p:set>
                                      <p:cBhvr>
                                        <p:cTn id="21"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par>
                          <p:cTn id="22" fill="hold" nodeType="afterGroup">
                            <p:stCondLst>
                              <p:cond delay="50000"/>
                            </p:stCondLst>
                            <p:childTnLst>
                              <p:par>
                                <p:cTn id="23" presetID="1" presetClass="entr" presetSubtype="0" fill="hold" grpId="0" nodeType="afterEffect">
                                  <p:stCondLst>
                                    <p:cond delay="10000"/>
                                  </p:stCondLst>
                                  <p:childTnLst>
                                    <p:set>
                                      <p:cBhvr>
                                        <p:cTn id="24" dur="1" fill="hold">
                                          <p:stCondLst>
                                            <p:cond delay="0"/>
                                          </p:stCondLst>
                                        </p:cTn>
                                        <p:tgtEl>
                                          <p:spTgt spid="155"/>
                                        </p:tgtEl>
                                        <p:attrNameLst>
                                          <p:attrName>style.visibility</p:attrName>
                                        </p:attrNameLst>
                                      </p:cBhvr>
                                      <p:to>
                                        <p:strVal val="visible"/>
                                      </p:to>
                                    </p:set>
                                  </p:childTnLst>
                                </p:cTn>
                              </p:par>
                            </p:childTnLst>
                          </p:cTn>
                        </p:par>
                        <p:par>
                          <p:cTn id="25" fill="hold" nodeType="afterGroup">
                            <p:stCondLst>
                              <p:cond delay="60000"/>
                            </p:stCondLst>
                            <p:childTnLst>
                              <p:par>
                                <p:cTn id="26" presetID="1" presetClass="entr" presetSubtype="0" fill="hold" grpId="0" nodeType="afterEffect">
                                  <p:stCondLst>
                                    <p:cond delay="10000"/>
                                  </p:stCondLst>
                                  <p:childTnLst>
                                    <p:set>
                                      <p:cBhvr>
                                        <p:cTn id="27" dur="1" fill="hold">
                                          <p:stCondLst>
                                            <p:cond delay="0"/>
                                          </p:stCondLst>
                                        </p:cTn>
                                        <p:tgtEl>
                                          <p:spTgt spid="168"/>
                                        </p:tgtEl>
                                        <p:attrNameLst>
                                          <p:attrName>style.visibility</p:attrName>
                                        </p:attrNameLst>
                                      </p:cBhvr>
                                      <p:to>
                                        <p:strVal val="visible"/>
                                      </p:to>
                                    </p:set>
                                  </p:childTnLst>
                                  <p:subTnLst>
                                    <p:set>
                                      <p:cBhvr override="childStyle">
                                        <p:cTn dur="1" fill="hold" display="0" masterRel="nextClick" afterEffect="1"/>
                                        <p:tgtEl>
                                          <p:spTgt spid="168"/>
                                        </p:tgtEl>
                                        <p:attrNameLst>
                                          <p:attrName>style.visibility</p:attrName>
                                        </p:attrNameLst>
                                      </p:cBhvr>
                                      <p:to>
                                        <p:strVal val="hidden"/>
                                      </p:to>
                                    </p:set>
                                  </p:subTnLst>
                                </p:cTn>
                              </p:par>
                            </p:childTnLst>
                          </p:cTn>
                        </p:par>
                        <p:par>
                          <p:cTn id="28" fill="hold" nodeType="afterGroup">
                            <p:stCondLst>
                              <p:cond delay="70000"/>
                            </p:stCondLst>
                            <p:childTnLst>
                              <p:par>
                                <p:cTn id="29" presetID="1" presetClass="entr" presetSubtype="0" fill="hold" grpId="0" nodeType="afterEffect">
                                  <p:stCondLst>
                                    <p:cond delay="10000"/>
                                  </p:stCondLst>
                                  <p:childTnLst>
                                    <p:set>
                                      <p:cBhvr>
                                        <p:cTn id="30" dur="1" fill="hold">
                                          <p:stCondLst>
                                            <p:cond delay="0"/>
                                          </p:stCondLst>
                                        </p:cTn>
                                        <p:tgtEl>
                                          <p:spTgt spid="169"/>
                                        </p:tgtEl>
                                        <p:attrNameLst>
                                          <p:attrName>style.visibility</p:attrName>
                                        </p:attrNameLst>
                                      </p:cBhvr>
                                      <p:to>
                                        <p:strVal val="visible"/>
                                      </p:to>
                                    </p:set>
                                  </p:childTnLst>
                                  <p:subTnLst>
                                    <p:set>
                                      <p:cBhvr override="childStyle">
                                        <p:cTn dur="1" fill="hold" display="0" masterRel="nextClick" afterEffect="1"/>
                                        <p:tgtEl>
                                          <p:spTgt spid="169"/>
                                        </p:tgtEl>
                                        <p:attrNameLst>
                                          <p:attrName>style.visibility</p:attrName>
                                        </p:attrNameLst>
                                      </p:cBhvr>
                                      <p:to>
                                        <p:strVal val="hidden"/>
                                      </p:to>
                                    </p:set>
                                  </p:subTnLst>
                                </p:cTn>
                              </p:par>
                            </p:childTnLst>
                          </p:cTn>
                        </p:par>
                        <p:par>
                          <p:cTn id="31" fill="hold" nodeType="afterGroup">
                            <p:stCondLst>
                              <p:cond delay="80000"/>
                            </p:stCondLst>
                            <p:childTnLst>
                              <p:par>
                                <p:cTn id="32" presetID="1" presetClass="entr" presetSubtype="0" fill="hold" grpId="0" nodeType="afterEffect">
                                  <p:stCondLst>
                                    <p:cond delay="10000"/>
                                  </p:stCondLst>
                                  <p:childTnLst>
                                    <p:set>
                                      <p:cBhvr>
                                        <p:cTn id="33" dur="1" fill="hold">
                                          <p:stCondLst>
                                            <p:cond delay="0"/>
                                          </p:stCondLst>
                                        </p:cTn>
                                        <p:tgtEl>
                                          <p:spTgt spid="170"/>
                                        </p:tgtEl>
                                        <p:attrNameLst>
                                          <p:attrName>style.visibility</p:attrName>
                                        </p:attrNameLst>
                                      </p:cBhvr>
                                      <p:to>
                                        <p:strVal val="visible"/>
                                      </p:to>
                                    </p:set>
                                  </p:childTnLst>
                                  <p:subTnLst>
                                    <p:set>
                                      <p:cBhvr override="childStyle">
                                        <p:cTn dur="1" fill="hold" display="0" masterRel="nextClick" afterEffect="1"/>
                                        <p:tgtEl>
                                          <p:spTgt spid="170"/>
                                        </p:tgtEl>
                                        <p:attrNameLst>
                                          <p:attrName>style.visibility</p:attrName>
                                        </p:attrNameLst>
                                      </p:cBhvr>
                                      <p:to>
                                        <p:strVal val="hidden"/>
                                      </p:to>
                                    </p:set>
                                  </p:subTnLst>
                                </p:cTn>
                              </p:par>
                            </p:childTnLst>
                          </p:cTn>
                        </p:par>
                        <p:par>
                          <p:cTn id="34" fill="hold" nodeType="afterGroup">
                            <p:stCondLst>
                              <p:cond delay="90000"/>
                            </p:stCondLst>
                            <p:childTnLst>
                              <p:par>
                                <p:cTn id="35" presetID="1" presetClass="entr" presetSubtype="0" fill="hold" grpId="0" nodeType="afterEffect">
                                  <p:stCondLst>
                                    <p:cond delay="10000"/>
                                  </p:stCondLst>
                                  <p:childTnLst>
                                    <p:set>
                                      <p:cBhvr>
                                        <p:cTn id="36" dur="1" fill="hold">
                                          <p:stCondLst>
                                            <p:cond delay="0"/>
                                          </p:stCondLst>
                                        </p:cTn>
                                        <p:tgtEl>
                                          <p:spTgt spid="171"/>
                                        </p:tgtEl>
                                        <p:attrNameLst>
                                          <p:attrName>style.visibility</p:attrName>
                                        </p:attrNameLst>
                                      </p:cBhvr>
                                      <p:to>
                                        <p:strVal val="visible"/>
                                      </p:to>
                                    </p:set>
                                  </p:childTnLst>
                                  <p:subTnLst>
                                    <p:set>
                                      <p:cBhvr override="childStyle">
                                        <p:cTn dur="1" fill="hold" display="0" masterRel="nextClick" afterEffect="1"/>
                                        <p:tgtEl>
                                          <p:spTgt spid="171"/>
                                        </p:tgtEl>
                                        <p:attrNameLst>
                                          <p:attrName>style.visibility</p:attrName>
                                        </p:attrNameLst>
                                      </p:cBhvr>
                                      <p:to>
                                        <p:strVal val="hidden"/>
                                      </p:to>
                                    </p:set>
                                  </p:subTnLst>
                                </p:cTn>
                              </p:par>
                            </p:childTnLst>
                          </p:cTn>
                        </p:par>
                        <p:par>
                          <p:cTn id="37" fill="hold" nodeType="afterGroup">
                            <p:stCondLst>
                              <p:cond delay="100000"/>
                            </p:stCondLst>
                            <p:childTnLst>
                              <p:par>
                                <p:cTn id="38" presetID="1" presetClass="entr" presetSubtype="0" fill="hold" grpId="0" nodeType="afterEffect">
                                  <p:stCondLst>
                                    <p:cond delay="10000"/>
                                  </p:stCondLst>
                                  <p:childTnLst>
                                    <p:set>
                                      <p:cBhvr>
                                        <p:cTn id="39" dur="1" fill="hold">
                                          <p:stCondLst>
                                            <p:cond delay="0"/>
                                          </p:stCondLst>
                                        </p:cTn>
                                        <p:tgtEl>
                                          <p:spTgt spid="172"/>
                                        </p:tgtEl>
                                        <p:attrNameLst>
                                          <p:attrName>style.visibility</p:attrName>
                                        </p:attrNameLst>
                                      </p:cBhvr>
                                      <p:to>
                                        <p:strVal val="visible"/>
                                      </p:to>
                                    </p:se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par>
                          <p:cTn id="40" fill="hold" nodeType="afterGroup">
                            <p:stCondLst>
                              <p:cond delay="110000"/>
                            </p:stCondLst>
                            <p:childTnLst>
                              <p:par>
                                <p:cTn id="41" presetID="1" presetClass="entr" presetSubtype="0" fill="hold" grpId="0" nodeType="afterEffect">
                                  <p:stCondLst>
                                    <p:cond delay="10000"/>
                                  </p:stCondLst>
                                  <p:childTnLst>
                                    <p:set>
                                      <p:cBhvr>
                                        <p:cTn id="42" dur="1" fill="hold">
                                          <p:stCondLst>
                                            <p:cond delay="0"/>
                                          </p:stCondLst>
                                        </p:cTn>
                                        <p:tgtEl>
                                          <p:spTgt spid="174"/>
                                        </p:tgtEl>
                                        <p:attrNameLst>
                                          <p:attrName>style.visibility</p:attrName>
                                        </p:attrNameLst>
                                      </p:cBhvr>
                                      <p:to>
                                        <p:strVal val="visible"/>
                                      </p:to>
                                    </p:set>
                                  </p:childTnLst>
                                </p:cTn>
                              </p:par>
                            </p:childTnLst>
                          </p:cTn>
                        </p:par>
                        <p:par>
                          <p:cTn id="43" fill="hold" nodeType="afterGroup">
                            <p:stCondLst>
                              <p:cond delay="120000"/>
                            </p:stCondLst>
                            <p:childTnLst>
                              <p:par>
                                <p:cTn id="44" presetID="1" presetClass="entr" presetSubtype="0" fill="hold" grpId="0" nodeType="afterEffect">
                                  <p:stCondLst>
                                    <p:cond delay="10000"/>
                                  </p:stCondLst>
                                  <p:childTnLst>
                                    <p:set>
                                      <p:cBhvr>
                                        <p:cTn id="45" dur="1" fill="hold">
                                          <p:stCondLst>
                                            <p:cond delay="0"/>
                                          </p:stCondLst>
                                        </p:cTn>
                                        <p:tgtEl>
                                          <p:spTgt spid="175"/>
                                        </p:tgtEl>
                                        <p:attrNameLst>
                                          <p:attrName>style.visibility</p:attrName>
                                        </p:attrNameLst>
                                      </p:cBhvr>
                                      <p:to>
                                        <p:strVal val="visible"/>
                                      </p:to>
                                    </p:set>
                                  </p:childTnLst>
                                  <p:subTnLst>
                                    <p:set>
                                      <p:cBhvr override="childStyle">
                                        <p:cTn dur="1" fill="hold" display="0" masterRel="nextClick" afterEffect="1"/>
                                        <p:tgtEl>
                                          <p:spTgt spid="175"/>
                                        </p:tgtEl>
                                        <p:attrNameLst>
                                          <p:attrName>style.visibility</p:attrName>
                                        </p:attrNameLst>
                                      </p:cBhvr>
                                      <p:to>
                                        <p:strVal val="hidden"/>
                                      </p:to>
                                    </p:set>
                                  </p:subTnLst>
                                </p:cTn>
                              </p:par>
                            </p:childTnLst>
                          </p:cTn>
                        </p:par>
                        <p:par>
                          <p:cTn id="46" fill="hold" nodeType="afterGroup">
                            <p:stCondLst>
                              <p:cond delay="130000"/>
                            </p:stCondLst>
                            <p:childTnLst>
                              <p:par>
                                <p:cTn id="47" presetID="1" presetClass="entr" presetSubtype="0" fill="hold" grpId="0" nodeType="afterEffect">
                                  <p:stCondLst>
                                    <p:cond delay="10000"/>
                                  </p:stCondLst>
                                  <p:childTnLst>
                                    <p:set>
                                      <p:cBhvr>
                                        <p:cTn id="48" dur="1" fill="hold">
                                          <p:stCondLst>
                                            <p:cond delay="0"/>
                                          </p:stCondLst>
                                        </p:cTn>
                                        <p:tgtEl>
                                          <p:spTgt spid="176"/>
                                        </p:tgtEl>
                                        <p:attrNameLst>
                                          <p:attrName>style.visibility</p:attrName>
                                        </p:attrNameLst>
                                      </p:cBhvr>
                                      <p:to>
                                        <p:strVal val="visible"/>
                                      </p:to>
                                    </p:set>
                                  </p:childTnLst>
                                  <p:subTnLst>
                                    <p:set>
                                      <p:cBhvr override="childStyle">
                                        <p:cTn dur="1" fill="hold" display="0" masterRel="nextClick" afterEffect="1"/>
                                        <p:tgtEl>
                                          <p:spTgt spid="176"/>
                                        </p:tgtEl>
                                        <p:attrNameLst>
                                          <p:attrName>style.visibility</p:attrName>
                                        </p:attrNameLst>
                                      </p:cBhvr>
                                      <p:to>
                                        <p:strVal val="hidden"/>
                                      </p:to>
                                    </p:set>
                                  </p:subTnLst>
                                </p:cTn>
                              </p:par>
                            </p:childTnLst>
                          </p:cTn>
                        </p:par>
                        <p:par>
                          <p:cTn id="49" fill="hold" nodeType="afterGroup">
                            <p:stCondLst>
                              <p:cond delay="140000"/>
                            </p:stCondLst>
                            <p:childTnLst>
                              <p:par>
                                <p:cTn id="50" presetID="1" presetClass="entr" presetSubtype="0" fill="hold" grpId="0" nodeType="afterEffect">
                                  <p:stCondLst>
                                    <p:cond delay="10000"/>
                                  </p:stCondLst>
                                  <p:childTnLst>
                                    <p:set>
                                      <p:cBhvr>
                                        <p:cTn id="51" dur="1" fill="hold">
                                          <p:stCondLst>
                                            <p:cond delay="0"/>
                                          </p:stCondLst>
                                        </p:cTn>
                                        <p:tgtEl>
                                          <p:spTgt spid="177"/>
                                        </p:tgtEl>
                                        <p:attrNameLst>
                                          <p:attrName>style.visibility</p:attrName>
                                        </p:attrNameLst>
                                      </p:cBhvr>
                                      <p:to>
                                        <p:strVal val="visible"/>
                                      </p:to>
                                    </p:set>
                                  </p:childTnLst>
                                  <p:subTnLst>
                                    <p:set>
                                      <p:cBhvr override="childStyle">
                                        <p:cTn dur="1" fill="hold" display="0" masterRel="nextClick" afterEffect="1"/>
                                        <p:tgtEl>
                                          <p:spTgt spid="177"/>
                                        </p:tgtEl>
                                        <p:attrNameLst>
                                          <p:attrName>style.visibility</p:attrName>
                                        </p:attrNameLst>
                                      </p:cBhvr>
                                      <p:to>
                                        <p:strVal val="hidden"/>
                                      </p:to>
                                    </p:set>
                                  </p:subTnLst>
                                </p:cTn>
                              </p:par>
                            </p:childTnLst>
                          </p:cTn>
                        </p:par>
                        <p:par>
                          <p:cTn id="52" fill="hold" nodeType="afterGroup">
                            <p:stCondLst>
                              <p:cond delay="150000"/>
                            </p:stCondLst>
                            <p:childTnLst>
                              <p:par>
                                <p:cTn id="53" presetID="1" presetClass="entr" presetSubtype="0" fill="hold" grpId="0" nodeType="afterEffect">
                                  <p:stCondLst>
                                    <p:cond delay="10000"/>
                                  </p:stCondLst>
                                  <p:childTnLst>
                                    <p:set>
                                      <p:cBhvr>
                                        <p:cTn id="54" dur="1" fill="hold">
                                          <p:stCondLst>
                                            <p:cond delay="0"/>
                                          </p:stCondLst>
                                        </p:cTn>
                                        <p:tgtEl>
                                          <p:spTgt spid="178"/>
                                        </p:tgtEl>
                                        <p:attrNameLst>
                                          <p:attrName>style.visibility</p:attrName>
                                        </p:attrNameLst>
                                      </p:cBhvr>
                                      <p:to>
                                        <p:strVal val="visible"/>
                                      </p:to>
                                    </p:se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par>
                          <p:cTn id="55" fill="hold" nodeType="afterGroup">
                            <p:stCondLst>
                              <p:cond delay="160000"/>
                            </p:stCondLst>
                            <p:childTnLst>
                              <p:par>
                                <p:cTn id="56" presetID="1" presetClass="entr" presetSubtype="0" fill="hold" grpId="0" nodeType="afterEffect">
                                  <p:stCondLst>
                                    <p:cond delay="10000"/>
                                  </p:stCondLst>
                                  <p:childTnLst>
                                    <p:set>
                                      <p:cBhvr>
                                        <p:cTn id="57" dur="1" fill="hold">
                                          <p:stCondLst>
                                            <p:cond delay="0"/>
                                          </p:stCondLst>
                                        </p:cTn>
                                        <p:tgtEl>
                                          <p:spTgt spid="179"/>
                                        </p:tgtEl>
                                        <p:attrNameLst>
                                          <p:attrName>style.visibility</p:attrName>
                                        </p:attrNameLst>
                                      </p:cBhvr>
                                      <p:to>
                                        <p:strVal val="visible"/>
                                      </p:to>
                                    </p:se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par>
                          <p:cTn id="58" fill="hold" nodeType="afterGroup">
                            <p:stCondLst>
                              <p:cond delay="170000"/>
                            </p:stCondLst>
                            <p:childTnLst>
                              <p:par>
                                <p:cTn id="59" presetID="1" presetClass="entr" presetSubtype="0" fill="hold" grpId="0" nodeType="afterEffect">
                                  <p:stCondLst>
                                    <p:cond delay="10000"/>
                                  </p:stCondLst>
                                  <p:childTnLst>
                                    <p:set>
                                      <p:cBhvr>
                                        <p:cTn id="60" dur="1" fill="hold">
                                          <p:stCondLst>
                                            <p:cond delay="0"/>
                                          </p:stCondLst>
                                        </p:cTn>
                                        <p:tgtEl>
                                          <p:spTgt spid="181"/>
                                        </p:tgtEl>
                                        <p:attrNameLst>
                                          <p:attrName>style.visibility</p:attrName>
                                        </p:attrNameLst>
                                      </p:cBhvr>
                                      <p:to>
                                        <p:strVal val="visible"/>
                                      </p:to>
                                    </p:set>
                                  </p:childTnLst>
                                </p:cTn>
                              </p:par>
                            </p:childTnLst>
                          </p:cTn>
                        </p:par>
                        <p:par>
                          <p:cTn id="61" fill="hold" nodeType="afterGroup">
                            <p:stCondLst>
                              <p:cond delay="180000"/>
                            </p:stCondLst>
                            <p:childTnLst>
                              <p:par>
                                <p:cTn id="62" presetID="1" presetClass="entr" presetSubtype="0" fill="hold" grpId="0" nodeType="afterEffect">
                                  <p:stCondLst>
                                    <p:cond delay="10000"/>
                                  </p:stCondLst>
                                  <p:childTnLst>
                                    <p:set>
                                      <p:cBhvr>
                                        <p:cTn id="63" dur="1" fill="hold">
                                          <p:stCondLst>
                                            <p:cond delay="0"/>
                                          </p:stCondLst>
                                        </p:cTn>
                                        <p:tgtEl>
                                          <p:spTgt spid="182"/>
                                        </p:tgtEl>
                                        <p:attrNameLst>
                                          <p:attrName>style.visibility</p:attrName>
                                        </p:attrNameLst>
                                      </p:cBhvr>
                                      <p:to>
                                        <p:strVal val="visible"/>
                                      </p:to>
                                    </p:set>
                                  </p:childTnLst>
                                  <p:subTnLst>
                                    <p:set>
                                      <p:cBhvr override="childStyle">
                                        <p:cTn dur="1" fill="hold" display="0" masterRel="nextClick" afterEffect="1"/>
                                        <p:tgtEl>
                                          <p:spTgt spid="182"/>
                                        </p:tgtEl>
                                        <p:attrNameLst>
                                          <p:attrName>style.visibility</p:attrName>
                                        </p:attrNameLst>
                                      </p:cBhvr>
                                      <p:to>
                                        <p:strVal val="hidden"/>
                                      </p:to>
                                    </p:set>
                                  </p:subTnLst>
                                </p:cTn>
                              </p:par>
                            </p:childTnLst>
                          </p:cTn>
                        </p:par>
                        <p:par>
                          <p:cTn id="64" fill="hold" nodeType="afterGroup">
                            <p:stCondLst>
                              <p:cond delay="190000"/>
                            </p:stCondLst>
                            <p:childTnLst>
                              <p:par>
                                <p:cTn id="65" presetID="1" presetClass="entr" presetSubtype="0" fill="hold" grpId="0" nodeType="afterEffect">
                                  <p:stCondLst>
                                    <p:cond delay="10000"/>
                                  </p:stCondLst>
                                  <p:childTnLst>
                                    <p:set>
                                      <p:cBhvr>
                                        <p:cTn id="66" dur="1" fill="hold">
                                          <p:stCondLst>
                                            <p:cond delay="0"/>
                                          </p:stCondLst>
                                        </p:cTn>
                                        <p:tgtEl>
                                          <p:spTgt spid="183"/>
                                        </p:tgtEl>
                                        <p:attrNameLst>
                                          <p:attrName>style.visibility</p:attrName>
                                        </p:attrNameLst>
                                      </p:cBhvr>
                                      <p:to>
                                        <p:strVal val="visible"/>
                                      </p:to>
                                    </p:set>
                                  </p:childTnLst>
                                  <p:subTnLst>
                                    <p:set>
                                      <p:cBhvr override="childStyle">
                                        <p:cTn dur="1" fill="hold" display="0" masterRel="nextClick" afterEffect="1"/>
                                        <p:tgtEl>
                                          <p:spTgt spid="183"/>
                                        </p:tgtEl>
                                        <p:attrNameLst>
                                          <p:attrName>style.visibility</p:attrName>
                                        </p:attrNameLst>
                                      </p:cBhvr>
                                      <p:to>
                                        <p:strVal val="hidden"/>
                                      </p:to>
                                    </p:set>
                                  </p:subTnLst>
                                </p:cTn>
                              </p:par>
                            </p:childTnLst>
                          </p:cTn>
                        </p:par>
                        <p:par>
                          <p:cTn id="67" fill="hold" nodeType="afterGroup">
                            <p:stCondLst>
                              <p:cond delay="200000"/>
                            </p:stCondLst>
                            <p:childTnLst>
                              <p:par>
                                <p:cTn id="68" presetID="1" presetClass="entr" presetSubtype="0" fill="hold" grpId="0" nodeType="afterEffect">
                                  <p:stCondLst>
                                    <p:cond delay="10000"/>
                                  </p:stCondLst>
                                  <p:childTnLst>
                                    <p:set>
                                      <p:cBhvr>
                                        <p:cTn id="69" dur="1" fill="hold">
                                          <p:stCondLst>
                                            <p:cond delay="0"/>
                                          </p:stCondLst>
                                        </p:cTn>
                                        <p:tgtEl>
                                          <p:spTgt spid="184"/>
                                        </p:tgtEl>
                                        <p:attrNameLst>
                                          <p:attrName>style.visibility</p:attrName>
                                        </p:attrNameLst>
                                      </p:cBhvr>
                                      <p:to>
                                        <p:strVal val="visible"/>
                                      </p:to>
                                    </p:set>
                                  </p:childTnLst>
                                  <p:subTnLst>
                                    <p:set>
                                      <p:cBhvr override="childStyle">
                                        <p:cTn dur="1" fill="hold" display="0" masterRel="nextClick" afterEffect="1"/>
                                        <p:tgtEl>
                                          <p:spTgt spid="184"/>
                                        </p:tgtEl>
                                        <p:attrNameLst>
                                          <p:attrName>style.visibility</p:attrName>
                                        </p:attrNameLst>
                                      </p:cBhvr>
                                      <p:to>
                                        <p:strVal val="hidden"/>
                                      </p:to>
                                    </p:set>
                                  </p:subTnLst>
                                </p:cTn>
                              </p:par>
                            </p:childTnLst>
                          </p:cTn>
                        </p:par>
                        <p:par>
                          <p:cTn id="70" fill="hold" nodeType="afterGroup">
                            <p:stCondLst>
                              <p:cond delay="210000"/>
                            </p:stCondLst>
                            <p:childTnLst>
                              <p:par>
                                <p:cTn id="71" presetID="1" presetClass="entr" presetSubtype="0" fill="hold" grpId="0" nodeType="afterEffect">
                                  <p:stCondLst>
                                    <p:cond delay="10000"/>
                                  </p:stCondLst>
                                  <p:childTnLst>
                                    <p:set>
                                      <p:cBhvr>
                                        <p:cTn id="72" dur="1" fill="hold">
                                          <p:stCondLst>
                                            <p:cond delay="0"/>
                                          </p:stCondLst>
                                        </p:cTn>
                                        <p:tgtEl>
                                          <p:spTgt spid="185"/>
                                        </p:tgtEl>
                                        <p:attrNameLst>
                                          <p:attrName>style.visibility</p:attrName>
                                        </p:attrNameLst>
                                      </p:cBhvr>
                                      <p:to>
                                        <p:strVal val="visible"/>
                                      </p:to>
                                    </p:set>
                                  </p:childTnLst>
                                  <p:subTnLst>
                                    <p:set>
                                      <p:cBhvr override="childStyle">
                                        <p:cTn dur="1" fill="hold" display="0" masterRel="nextClick" afterEffect="1"/>
                                        <p:tgtEl>
                                          <p:spTgt spid="185"/>
                                        </p:tgtEl>
                                        <p:attrNameLst>
                                          <p:attrName>style.visibility</p:attrName>
                                        </p:attrNameLst>
                                      </p:cBhvr>
                                      <p:to>
                                        <p:strVal val="hidden"/>
                                      </p:to>
                                    </p:set>
                                  </p:subTnLst>
                                </p:cTn>
                              </p:par>
                            </p:childTnLst>
                          </p:cTn>
                        </p:par>
                        <p:par>
                          <p:cTn id="73" fill="hold" nodeType="afterGroup">
                            <p:stCondLst>
                              <p:cond delay="220000"/>
                            </p:stCondLst>
                            <p:childTnLst>
                              <p:par>
                                <p:cTn id="74" presetID="1" presetClass="entr" presetSubtype="0" fill="hold" grpId="0" nodeType="afterEffect">
                                  <p:stCondLst>
                                    <p:cond delay="10000"/>
                                  </p:stCondLst>
                                  <p:childTnLst>
                                    <p:set>
                                      <p:cBhvr>
                                        <p:cTn id="75" dur="1" fill="hold">
                                          <p:stCondLst>
                                            <p:cond delay="0"/>
                                          </p:stCondLst>
                                        </p:cTn>
                                        <p:tgtEl>
                                          <p:spTgt spid="186"/>
                                        </p:tgtEl>
                                        <p:attrNameLst>
                                          <p:attrName>style.visibility</p:attrName>
                                        </p:attrNameLst>
                                      </p:cBhvr>
                                      <p:to>
                                        <p:strVal val="visible"/>
                                      </p:to>
                                    </p:set>
                                  </p:childTnLst>
                                  <p:subTnLst>
                                    <p:set>
                                      <p:cBhvr override="childStyle">
                                        <p:cTn dur="1" fill="hold" display="0" masterRel="nextClick" afterEffect="1"/>
                                        <p:tgtEl>
                                          <p:spTgt spid="186"/>
                                        </p:tgtEl>
                                        <p:attrNameLst>
                                          <p:attrName>style.visibility</p:attrName>
                                        </p:attrNameLst>
                                      </p:cBhvr>
                                      <p:to>
                                        <p:strVal val="hidden"/>
                                      </p:to>
                                    </p:set>
                                  </p:subTnLst>
                                </p:cTn>
                              </p:par>
                            </p:childTnLst>
                          </p:cTn>
                        </p:par>
                        <p:par>
                          <p:cTn id="76" fill="hold" nodeType="afterGroup">
                            <p:stCondLst>
                              <p:cond delay="230000"/>
                            </p:stCondLst>
                            <p:childTnLst>
                              <p:par>
                                <p:cTn id="77" presetID="1" presetClass="entr" presetSubtype="0" fill="hold" grpId="0" nodeType="afterEffect">
                                  <p:stCondLst>
                                    <p:cond delay="10000"/>
                                  </p:stCondLst>
                                  <p:childTnLst>
                                    <p:set>
                                      <p:cBhvr>
                                        <p:cTn id="78" dur="1" fill="hold">
                                          <p:stCondLst>
                                            <p:cond delay="0"/>
                                          </p:stCondLst>
                                        </p:cTn>
                                        <p:tgtEl>
                                          <p:spTgt spid="188"/>
                                        </p:tgtEl>
                                        <p:attrNameLst>
                                          <p:attrName>style.visibility</p:attrName>
                                        </p:attrNameLst>
                                      </p:cBhvr>
                                      <p:to>
                                        <p:strVal val="visible"/>
                                      </p:to>
                                    </p:set>
                                  </p:childTnLst>
                                </p:cTn>
                              </p:par>
                            </p:childTnLst>
                          </p:cTn>
                        </p:par>
                        <p:par>
                          <p:cTn id="79" fill="hold" nodeType="afterGroup">
                            <p:stCondLst>
                              <p:cond delay="240000"/>
                            </p:stCondLst>
                            <p:childTnLst>
                              <p:par>
                                <p:cTn id="80" presetID="1" presetClass="entr" presetSubtype="0" fill="hold" grpId="0" nodeType="afterEffect">
                                  <p:stCondLst>
                                    <p:cond delay="10000"/>
                                  </p:stCondLst>
                                  <p:childTnLst>
                                    <p:set>
                                      <p:cBhvr>
                                        <p:cTn id="81" dur="1" fill="hold">
                                          <p:stCondLst>
                                            <p:cond delay="0"/>
                                          </p:stCondLst>
                                        </p:cTn>
                                        <p:tgtEl>
                                          <p:spTgt spid="189"/>
                                        </p:tgtEl>
                                        <p:attrNameLst>
                                          <p:attrName>style.visibility</p:attrName>
                                        </p:attrNameLst>
                                      </p:cBhvr>
                                      <p:to>
                                        <p:strVal val="visible"/>
                                      </p:to>
                                    </p:set>
                                  </p:childTnLst>
                                  <p:subTnLst>
                                    <p:set>
                                      <p:cBhvr override="childStyle">
                                        <p:cTn dur="1" fill="hold" display="0" masterRel="nextClick" afterEffect="1"/>
                                        <p:tgtEl>
                                          <p:spTgt spid="189"/>
                                        </p:tgtEl>
                                        <p:attrNameLst>
                                          <p:attrName>style.visibility</p:attrName>
                                        </p:attrNameLst>
                                      </p:cBhvr>
                                      <p:to>
                                        <p:strVal val="hidden"/>
                                      </p:to>
                                    </p:set>
                                  </p:subTnLst>
                                </p:cTn>
                              </p:par>
                            </p:childTnLst>
                          </p:cTn>
                        </p:par>
                        <p:par>
                          <p:cTn id="82" fill="hold" nodeType="afterGroup">
                            <p:stCondLst>
                              <p:cond delay="250000"/>
                            </p:stCondLst>
                            <p:childTnLst>
                              <p:par>
                                <p:cTn id="83" presetID="1" presetClass="entr" presetSubtype="0" fill="hold" grpId="0" nodeType="afterEffect">
                                  <p:stCondLst>
                                    <p:cond delay="10000"/>
                                  </p:stCondLst>
                                  <p:childTnLst>
                                    <p:set>
                                      <p:cBhvr>
                                        <p:cTn id="84" dur="1" fill="hold">
                                          <p:stCondLst>
                                            <p:cond delay="0"/>
                                          </p:stCondLst>
                                        </p:cTn>
                                        <p:tgtEl>
                                          <p:spTgt spid="190"/>
                                        </p:tgtEl>
                                        <p:attrNameLst>
                                          <p:attrName>style.visibility</p:attrName>
                                        </p:attrNameLst>
                                      </p:cBhvr>
                                      <p:to>
                                        <p:strVal val="visible"/>
                                      </p:to>
                                    </p:set>
                                  </p:childTnLst>
                                  <p:subTnLst>
                                    <p:set>
                                      <p:cBhvr override="childStyle">
                                        <p:cTn dur="1" fill="hold" display="0" masterRel="nextClick" afterEffect="1"/>
                                        <p:tgtEl>
                                          <p:spTgt spid="190"/>
                                        </p:tgtEl>
                                        <p:attrNameLst>
                                          <p:attrName>style.visibility</p:attrName>
                                        </p:attrNameLst>
                                      </p:cBhvr>
                                      <p:to>
                                        <p:strVal val="hidden"/>
                                      </p:to>
                                    </p:set>
                                  </p:subTnLst>
                                </p:cTn>
                              </p:par>
                            </p:childTnLst>
                          </p:cTn>
                        </p:par>
                        <p:par>
                          <p:cTn id="85" fill="hold" nodeType="afterGroup">
                            <p:stCondLst>
                              <p:cond delay="260000"/>
                            </p:stCondLst>
                            <p:childTnLst>
                              <p:par>
                                <p:cTn id="86" presetID="1" presetClass="entr" presetSubtype="0" fill="hold" grpId="0" nodeType="afterEffect">
                                  <p:stCondLst>
                                    <p:cond delay="10000"/>
                                  </p:stCondLst>
                                  <p:childTnLst>
                                    <p:set>
                                      <p:cBhvr>
                                        <p:cTn id="87" dur="1" fill="hold">
                                          <p:stCondLst>
                                            <p:cond delay="0"/>
                                          </p:stCondLst>
                                        </p:cTn>
                                        <p:tgtEl>
                                          <p:spTgt spid="191"/>
                                        </p:tgtEl>
                                        <p:attrNameLst>
                                          <p:attrName>style.visibility</p:attrName>
                                        </p:attrNameLst>
                                      </p:cBhvr>
                                      <p:to>
                                        <p:strVal val="visible"/>
                                      </p:to>
                                    </p:set>
                                  </p:childTnLst>
                                  <p:subTnLst>
                                    <p:set>
                                      <p:cBhvr override="childStyle">
                                        <p:cTn dur="1" fill="hold" display="0" masterRel="nextClick" afterEffect="1"/>
                                        <p:tgtEl>
                                          <p:spTgt spid="191"/>
                                        </p:tgtEl>
                                        <p:attrNameLst>
                                          <p:attrName>style.visibility</p:attrName>
                                        </p:attrNameLst>
                                      </p:cBhvr>
                                      <p:to>
                                        <p:strVal val="hidden"/>
                                      </p:to>
                                    </p:set>
                                  </p:subTnLst>
                                </p:cTn>
                              </p:par>
                            </p:childTnLst>
                          </p:cTn>
                        </p:par>
                        <p:par>
                          <p:cTn id="88" fill="hold" nodeType="afterGroup">
                            <p:stCondLst>
                              <p:cond delay="270000"/>
                            </p:stCondLst>
                            <p:childTnLst>
                              <p:par>
                                <p:cTn id="89" presetID="1" presetClass="entr" presetSubtype="0" fill="hold" grpId="0" nodeType="afterEffect">
                                  <p:stCondLst>
                                    <p:cond delay="10000"/>
                                  </p:stCondLst>
                                  <p:childTnLst>
                                    <p:set>
                                      <p:cBhvr>
                                        <p:cTn id="90" dur="1" fill="hold">
                                          <p:stCondLst>
                                            <p:cond delay="0"/>
                                          </p:stCondLst>
                                        </p:cTn>
                                        <p:tgtEl>
                                          <p:spTgt spid="192"/>
                                        </p:tgtEl>
                                        <p:attrNameLst>
                                          <p:attrName>style.visibility</p:attrName>
                                        </p:attrNameLst>
                                      </p:cBhvr>
                                      <p:to>
                                        <p:strVal val="visible"/>
                                      </p:to>
                                    </p:set>
                                  </p:childTnLst>
                                  <p:subTnLst>
                                    <p:set>
                                      <p:cBhvr override="childStyle">
                                        <p:cTn dur="1" fill="hold" display="0" masterRel="nextClick" afterEffect="1"/>
                                        <p:tgtEl>
                                          <p:spTgt spid="192"/>
                                        </p:tgtEl>
                                        <p:attrNameLst>
                                          <p:attrName>style.visibility</p:attrName>
                                        </p:attrNameLst>
                                      </p:cBhvr>
                                      <p:to>
                                        <p:strVal val="hidden"/>
                                      </p:to>
                                    </p:set>
                                  </p:subTnLst>
                                </p:cTn>
                              </p:par>
                            </p:childTnLst>
                          </p:cTn>
                        </p:par>
                        <p:par>
                          <p:cTn id="91" fill="hold" nodeType="afterGroup">
                            <p:stCondLst>
                              <p:cond delay="280000"/>
                            </p:stCondLst>
                            <p:childTnLst>
                              <p:par>
                                <p:cTn id="92" presetID="1" presetClass="entr" presetSubtype="0" fill="hold" grpId="0" nodeType="afterEffect">
                                  <p:stCondLst>
                                    <p:cond delay="10000"/>
                                  </p:stCondLst>
                                  <p:childTnLst>
                                    <p:set>
                                      <p:cBhvr>
                                        <p:cTn id="93" dur="1" fill="hold">
                                          <p:stCondLst>
                                            <p:cond delay="0"/>
                                          </p:stCondLst>
                                        </p:cTn>
                                        <p:tgtEl>
                                          <p:spTgt spid="193"/>
                                        </p:tgtEl>
                                        <p:attrNameLst>
                                          <p:attrName>style.visibility</p:attrName>
                                        </p:attrNameLst>
                                      </p:cBhvr>
                                      <p:to>
                                        <p:strVal val="visible"/>
                                      </p:to>
                                    </p:set>
                                  </p:childTnLst>
                                  <p:subTnLst>
                                    <p:set>
                                      <p:cBhvr override="childStyle">
                                        <p:cTn dur="1" fill="hold" display="0" masterRel="nextClick" afterEffect="1"/>
                                        <p:tgtEl>
                                          <p:spTgt spid="193"/>
                                        </p:tgtEl>
                                        <p:attrNameLst>
                                          <p:attrName>style.visibility</p:attrName>
                                        </p:attrNameLst>
                                      </p:cBhvr>
                                      <p:to>
                                        <p:strVal val="hidden"/>
                                      </p:to>
                                    </p:set>
                                  </p:subTnLst>
                                </p:cTn>
                              </p:par>
                            </p:childTnLst>
                          </p:cTn>
                        </p:par>
                        <p:par>
                          <p:cTn id="94" fill="hold" nodeType="afterGroup">
                            <p:stCondLst>
                              <p:cond delay="290000"/>
                            </p:stCondLst>
                            <p:childTnLst>
                              <p:par>
                                <p:cTn id="95" presetID="1" presetClass="entr" presetSubtype="0" fill="hold" grpId="0" nodeType="afterEffect">
                                  <p:stCondLst>
                                    <p:cond delay="10000"/>
                                  </p:stCondLst>
                                  <p:childTnLst>
                                    <p:set>
                                      <p:cBhvr>
                                        <p:cTn id="96" dur="1" fill="hold">
                                          <p:stCondLst>
                                            <p:cond delay="0"/>
                                          </p:stCondLst>
                                        </p:cTn>
                                        <p:tgtEl>
                                          <p:spTgt spid="195"/>
                                        </p:tgtEl>
                                        <p:attrNameLst>
                                          <p:attrName>style.visibility</p:attrName>
                                        </p:attrNameLst>
                                      </p:cBhvr>
                                      <p:to>
                                        <p:strVal val="visible"/>
                                      </p:to>
                                    </p:set>
                                  </p:childTnLst>
                                </p:cTn>
                              </p:par>
                            </p:childTnLst>
                          </p:cTn>
                        </p:par>
                        <p:par>
                          <p:cTn id="97" fill="hold" nodeType="afterGroup">
                            <p:stCondLst>
                              <p:cond delay="300000"/>
                            </p:stCondLst>
                            <p:childTnLst>
                              <p:par>
                                <p:cTn id="98" presetID="1" presetClass="entr" presetSubtype="0" fill="hold" grpId="0" nodeType="afterEffect">
                                  <p:stCondLst>
                                    <p:cond delay="10000"/>
                                  </p:stCondLst>
                                  <p:childTnLst>
                                    <p:set>
                                      <p:cBhvr>
                                        <p:cTn id="99" dur="1" fill="hold">
                                          <p:stCondLst>
                                            <p:cond delay="0"/>
                                          </p:stCondLst>
                                        </p:cTn>
                                        <p:tgtEl>
                                          <p:spTgt spid="196"/>
                                        </p:tgtEl>
                                        <p:attrNameLst>
                                          <p:attrName>style.visibility</p:attrName>
                                        </p:attrNameLst>
                                      </p:cBhvr>
                                      <p:to>
                                        <p:strVal val="visible"/>
                                      </p:to>
                                    </p:set>
                                  </p:childTnLst>
                                  <p:subTnLst>
                                    <p:set>
                                      <p:cBhvr override="childStyle">
                                        <p:cTn dur="1" fill="hold" display="0" masterRel="nextClick" afterEffect="1"/>
                                        <p:tgtEl>
                                          <p:spTgt spid="196"/>
                                        </p:tgtEl>
                                        <p:attrNameLst>
                                          <p:attrName>style.visibility</p:attrName>
                                        </p:attrNameLst>
                                      </p:cBhvr>
                                      <p:to>
                                        <p:strVal val="hidden"/>
                                      </p:to>
                                    </p:set>
                                  </p:subTnLst>
                                </p:cTn>
                              </p:par>
                            </p:childTnLst>
                          </p:cTn>
                        </p:par>
                        <p:par>
                          <p:cTn id="100" fill="hold" nodeType="afterGroup">
                            <p:stCondLst>
                              <p:cond delay="310000"/>
                            </p:stCondLst>
                            <p:childTnLst>
                              <p:par>
                                <p:cTn id="101" presetID="1" presetClass="entr" presetSubtype="0" fill="hold" grpId="0" nodeType="afterEffect">
                                  <p:stCondLst>
                                    <p:cond delay="10000"/>
                                  </p:stCondLst>
                                  <p:childTnLst>
                                    <p:set>
                                      <p:cBhvr>
                                        <p:cTn id="102" dur="1" fill="hold">
                                          <p:stCondLst>
                                            <p:cond delay="0"/>
                                          </p:stCondLst>
                                        </p:cTn>
                                        <p:tgtEl>
                                          <p:spTgt spid="197"/>
                                        </p:tgtEl>
                                        <p:attrNameLst>
                                          <p:attrName>style.visibility</p:attrName>
                                        </p:attrNameLst>
                                      </p:cBhvr>
                                      <p:to>
                                        <p:strVal val="visible"/>
                                      </p:to>
                                    </p:set>
                                  </p:childTnLst>
                                  <p:subTnLst>
                                    <p:set>
                                      <p:cBhvr override="childStyle">
                                        <p:cTn dur="1" fill="hold" display="0" masterRel="nextClick" afterEffect="1"/>
                                        <p:tgtEl>
                                          <p:spTgt spid="197"/>
                                        </p:tgtEl>
                                        <p:attrNameLst>
                                          <p:attrName>style.visibility</p:attrName>
                                        </p:attrNameLst>
                                      </p:cBhvr>
                                      <p:to>
                                        <p:strVal val="hidden"/>
                                      </p:to>
                                    </p:set>
                                  </p:subTnLst>
                                </p:cTn>
                              </p:par>
                            </p:childTnLst>
                          </p:cTn>
                        </p:par>
                        <p:par>
                          <p:cTn id="103" fill="hold" nodeType="afterGroup">
                            <p:stCondLst>
                              <p:cond delay="320000"/>
                            </p:stCondLst>
                            <p:childTnLst>
                              <p:par>
                                <p:cTn id="104" presetID="1" presetClass="entr" presetSubtype="0" fill="hold" grpId="0" nodeType="afterEffect">
                                  <p:stCondLst>
                                    <p:cond delay="10000"/>
                                  </p:stCondLst>
                                  <p:childTnLst>
                                    <p:set>
                                      <p:cBhvr>
                                        <p:cTn id="105" dur="1" fill="hold">
                                          <p:stCondLst>
                                            <p:cond delay="0"/>
                                          </p:stCondLst>
                                        </p:cTn>
                                        <p:tgtEl>
                                          <p:spTgt spid="198"/>
                                        </p:tgtEl>
                                        <p:attrNameLst>
                                          <p:attrName>style.visibility</p:attrName>
                                        </p:attrNameLst>
                                      </p:cBhvr>
                                      <p:to>
                                        <p:strVal val="visible"/>
                                      </p:to>
                                    </p:set>
                                  </p:childTnLst>
                                  <p:subTnLst>
                                    <p:set>
                                      <p:cBhvr override="childStyle">
                                        <p:cTn dur="1" fill="hold" display="0" masterRel="nextClick" afterEffect="1"/>
                                        <p:tgtEl>
                                          <p:spTgt spid="198"/>
                                        </p:tgtEl>
                                        <p:attrNameLst>
                                          <p:attrName>style.visibility</p:attrName>
                                        </p:attrNameLst>
                                      </p:cBhvr>
                                      <p:to>
                                        <p:strVal val="hidden"/>
                                      </p:to>
                                    </p:set>
                                  </p:subTnLst>
                                </p:cTn>
                              </p:par>
                            </p:childTnLst>
                          </p:cTn>
                        </p:par>
                        <p:par>
                          <p:cTn id="106" fill="hold" nodeType="afterGroup">
                            <p:stCondLst>
                              <p:cond delay="330000"/>
                            </p:stCondLst>
                            <p:childTnLst>
                              <p:par>
                                <p:cTn id="107" presetID="1" presetClass="entr" presetSubtype="0" fill="hold" grpId="0" nodeType="afterEffect">
                                  <p:stCondLst>
                                    <p:cond delay="10000"/>
                                  </p:stCondLst>
                                  <p:childTnLst>
                                    <p:set>
                                      <p:cBhvr>
                                        <p:cTn id="108" dur="1" fill="hold">
                                          <p:stCondLst>
                                            <p:cond delay="0"/>
                                          </p:stCondLst>
                                        </p:cTn>
                                        <p:tgtEl>
                                          <p:spTgt spid="199"/>
                                        </p:tgtEl>
                                        <p:attrNameLst>
                                          <p:attrName>style.visibility</p:attrName>
                                        </p:attrNameLst>
                                      </p:cBhvr>
                                      <p:to>
                                        <p:strVal val="visible"/>
                                      </p:to>
                                    </p:set>
                                  </p:childTnLst>
                                  <p:subTnLst>
                                    <p:set>
                                      <p:cBhvr override="childStyle">
                                        <p:cTn dur="1" fill="hold" display="0" masterRel="nextClick" afterEffect="1"/>
                                        <p:tgtEl>
                                          <p:spTgt spid="199"/>
                                        </p:tgtEl>
                                        <p:attrNameLst>
                                          <p:attrName>style.visibility</p:attrName>
                                        </p:attrNameLst>
                                      </p:cBhvr>
                                      <p:to>
                                        <p:strVal val="hidden"/>
                                      </p:to>
                                    </p:set>
                                  </p:subTnLst>
                                </p:cTn>
                              </p:par>
                            </p:childTnLst>
                          </p:cTn>
                        </p:par>
                        <p:par>
                          <p:cTn id="109" fill="hold" nodeType="afterGroup">
                            <p:stCondLst>
                              <p:cond delay="340000"/>
                            </p:stCondLst>
                            <p:childTnLst>
                              <p:par>
                                <p:cTn id="110" presetID="1" presetClass="entr" presetSubtype="0" fill="hold" grpId="0" nodeType="afterEffect">
                                  <p:stCondLst>
                                    <p:cond delay="10000"/>
                                  </p:stCondLst>
                                  <p:childTnLst>
                                    <p:set>
                                      <p:cBhvr>
                                        <p:cTn id="111" dur="1" fill="hold">
                                          <p:stCondLst>
                                            <p:cond delay="0"/>
                                          </p:stCondLst>
                                        </p:cTn>
                                        <p:tgtEl>
                                          <p:spTgt spid="200"/>
                                        </p:tgtEl>
                                        <p:attrNameLst>
                                          <p:attrName>style.visibility</p:attrName>
                                        </p:attrNameLst>
                                      </p:cBhvr>
                                      <p:to>
                                        <p:strVal val="visible"/>
                                      </p:to>
                                    </p:set>
                                  </p:childTnLst>
                                  <p:subTnLst>
                                    <p:set>
                                      <p:cBhvr override="childStyle">
                                        <p:cTn dur="1" fill="hold" display="0" masterRel="nextClick" afterEffect="1"/>
                                        <p:tgtEl>
                                          <p:spTgt spid="200"/>
                                        </p:tgtEl>
                                        <p:attrNameLst>
                                          <p:attrName>style.visibility</p:attrName>
                                        </p:attrNameLst>
                                      </p:cBhvr>
                                      <p:to>
                                        <p:strVal val="hidden"/>
                                      </p:to>
                                    </p:set>
                                  </p:subTnLst>
                                </p:cTn>
                              </p:par>
                            </p:childTnLst>
                          </p:cTn>
                        </p:par>
                        <p:par>
                          <p:cTn id="112" fill="hold" nodeType="afterGroup">
                            <p:stCondLst>
                              <p:cond delay="350000"/>
                            </p:stCondLst>
                            <p:childTnLst>
                              <p:par>
                                <p:cTn id="113" presetID="1" presetClass="entr" presetSubtype="0" fill="hold" grpId="0" nodeType="afterEffect">
                                  <p:stCondLst>
                                    <p:cond delay="10000"/>
                                  </p:stCondLst>
                                  <p:childTnLst>
                                    <p:set>
                                      <p:cBhvr>
                                        <p:cTn id="114" dur="1" fill="hold">
                                          <p:stCondLst>
                                            <p:cond delay="0"/>
                                          </p:stCondLst>
                                        </p:cTn>
                                        <p:tgtEl>
                                          <p:spTgt spid="202"/>
                                        </p:tgtEl>
                                        <p:attrNameLst>
                                          <p:attrName>style.visibility</p:attrName>
                                        </p:attrNameLst>
                                      </p:cBhvr>
                                      <p:to>
                                        <p:strVal val="visible"/>
                                      </p:to>
                                    </p:set>
                                  </p:childTnLst>
                                </p:cTn>
                              </p:par>
                            </p:childTnLst>
                          </p:cTn>
                        </p:par>
                        <p:par>
                          <p:cTn id="115" fill="hold" nodeType="afterGroup">
                            <p:stCondLst>
                              <p:cond delay="360000"/>
                            </p:stCondLst>
                            <p:childTnLst>
                              <p:par>
                                <p:cTn id="116" presetID="1" presetClass="entr" presetSubtype="0" fill="hold" grpId="0" nodeType="afterEffect">
                                  <p:stCondLst>
                                    <p:cond delay="10000"/>
                                  </p:stCondLst>
                                  <p:childTnLst>
                                    <p:set>
                                      <p:cBhvr>
                                        <p:cTn id="117" dur="1" fill="hold">
                                          <p:stCondLst>
                                            <p:cond delay="0"/>
                                          </p:stCondLst>
                                        </p:cTn>
                                        <p:tgtEl>
                                          <p:spTgt spid="203"/>
                                        </p:tgtEl>
                                        <p:attrNameLst>
                                          <p:attrName>style.visibility</p:attrName>
                                        </p:attrNameLst>
                                      </p:cBhvr>
                                      <p:to>
                                        <p:strVal val="visible"/>
                                      </p:to>
                                    </p:set>
                                  </p:childTnLst>
                                  <p:subTnLst>
                                    <p:set>
                                      <p:cBhvr override="childStyle">
                                        <p:cTn dur="1" fill="hold" display="0" masterRel="nextClick" afterEffect="1"/>
                                        <p:tgtEl>
                                          <p:spTgt spid="203"/>
                                        </p:tgtEl>
                                        <p:attrNameLst>
                                          <p:attrName>style.visibility</p:attrName>
                                        </p:attrNameLst>
                                      </p:cBhvr>
                                      <p:to>
                                        <p:strVal val="hidden"/>
                                      </p:to>
                                    </p:set>
                                  </p:subTnLst>
                                </p:cTn>
                              </p:par>
                            </p:childTnLst>
                          </p:cTn>
                        </p:par>
                        <p:par>
                          <p:cTn id="118" fill="hold" nodeType="afterGroup">
                            <p:stCondLst>
                              <p:cond delay="370000"/>
                            </p:stCondLst>
                            <p:childTnLst>
                              <p:par>
                                <p:cTn id="119" presetID="1" presetClass="entr" presetSubtype="0" fill="hold" grpId="0" nodeType="afterEffect">
                                  <p:stCondLst>
                                    <p:cond delay="10000"/>
                                  </p:stCondLst>
                                  <p:childTnLst>
                                    <p:set>
                                      <p:cBhvr>
                                        <p:cTn id="120" dur="1" fill="hold">
                                          <p:stCondLst>
                                            <p:cond delay="0"/>
                                          </p:stCondLst>
                                        </p:cTn>
                                        <p:tgtEl>
                                          <p:spTgt spid="204"/>
                                        </p:tgtEl>
                                        <p:attrNameLst>
                                          <p:attrName>style.visibility</p:attrName>
                                        </p:attrNameLst>
                                      </p:cBhvr>
                                      <p:to>
                                        <p:strVal val="visible"/>
                                      </p:to>
                                    </p:set>
                                  </p:childTnLst>
                                  <p:subTnLst>
                                    <p:set>
                                      <p:cBhvr override="childStyle">
                                        <p:cTn dur="1" fill="hold" display="0" masterRel="nextClick" afterEffect="1"/>
                                        <p:tgtEl>
                                          <p:spTgt spid="204"/>
                                        </p:tgtEl>
                                        <p:attrNameLst>
                                          <p:attrName>style.visibility</p:attrName>
                                        </p:attrNameLst>
                                      </p:cBhvr>
                                      <p:to>
                                        <p:strVal val="hidden"/>
                                      </p:to>
                                    </p:set>
                                  </p:subTnLst>
                                </p:cTn>
                              </p:par>
                            </p:childTnLst>
                          </p:cTn>
                        </p:par>
                        <p:par>
                          <p:cTn id="121" fill="hold" nodeType="afterGroup">
                            <p:stCondLst>
                              <p:cond delay="380000"/>
                            </p:stCondLst>
                            <p:childTnLst>
                              <p:par>
                                <p:cTn id="122" presetID="1" presetClass="entr" presetSubtype="0" fill="hold" grpId="0" nodeType="afterEffect">
                                  <p:stCondLst>
                                    <p:cond delay="10000"/>
                                  </p:stCondLst>
                                  <p:childTnLst>
                                    <p:set>
                                      <p:cBhvr>
                                        <p:cTn id="123" dur="1" fill="hold">
                                          <p:stCondLst>
                                            <p:cond delay="0"/>
                                          </p:stCondLst>
                                        </p:cTn>
                                        <p:tgtEl>
                                          <p:spTgt spid="205"/>
                                        </p:tgtEl>
                                        <p:attrNameLst>
                                          <p:attrName>style.visibility</p:attrName>
                                        </p:attrNameLst>
                                      </p:cBhvr>
                                      <p:to>
                                        <p:strVal val="visible"/>
                                      </p:to>
                                    </p:set>
                                  </p:childTnLst>
                                  <p:subTnLst>
                                    <p:set>
                                      <p:cBhvr override="childStyle">
                                        <p:cTn dur="1" fill="hold" display="0" masterRel="nextClick" afterEffect="1"/>
                                        <p:tgtEl>
                                          <p:spTgt spid="205"/>
                                        </p:tgtEl>
                                        <p:attrNameLst>
                                          <p:attrName>style.visibility</p:attrName>
                                        </p:attrNameLst>
                                      </p:cBhvr>
                                      <p:to>
                                        <p:strVal val="hidden"/>
                                      </p:to>
                                    </p:set>
                                  </p:subTnLst>
                                </p:cTn>
                              </p:par>
                            </p:childTnLst>
                          </p:cTn>
                        </p:par>
                        <p:par>
                          <p:cTn id="124" fill="hold" nodeType="afterGroup">
                            <p:stCondLst>
                              <p:cond delay="390000"/>
                            </p:stCondLst>
                            <p:childTnLst>
                              <p:par>
                                <p:cTn id="125" presetID="1" presetClass="entr" presetSubtype="0" fill="hold" grpId="0" nodeType="afterEffect">
                                  <p:stCondLst>
                                    <p:cond delay="10000"/>
                                  </p:stCondLst>
                                  <p:childTnLst>
                                    <p:set>
                                      <p:cBhvr>
                                        <p:cTn id="126" dur="1" fill="hold">
                                          <p:stCondLst>
                                            <p:cond delay="0"/>
                                          </p:stCondLst>
                                        </p:cTn>
                                        <p:tgtEl>
                                          <p:spTgt spid="206"/>
                                        </p:tgtEl>
                                        <p:attrNameLst>
                                          <p:attrName>style.visibility</p:attrName>
                                        </p:attrNameLst>
                                      </p:cBhvr>
                                      <p:to>
                                        <p:strVal val="visible"/>
                                      </p:to>
                                    </p:set>
                                  </p:childTnLst>
                                  <p:subTnLst>
                                    <p:set>
                                      <p:cBhvr override="childStyle">
                                        <p:cTn dur="1" fill="hold" display="0" masterRel="nextClick" afterEffect="1"/>
                                        <p:tgtEl>
                                          <p:spTgt spid="206"/>
                                        </p:tgtEl>
                                        <p:attrNameLst>
                                          <p:attrName>style.visibility</p:attrName>
                                        </p:attrNameLst>
                                      </p:cBhvr>
                                      <p:to>
                                        <p:strVal val="hidden"/>
                                      </p:to>
                                    </p:set>
                                  </p:subTnLst>
                                </p:cTn>
                              </p:par>
                            </p:childTnLst>
                          </p:cTn>
                        </p:par>
                        <p:par>
                          <p:cTn id="127" fill="hold" nodeType="afterGroup">
                            <p:stCondLst>
                              <p:cond delay="400000"/>
                            </p:stCondLst>
                            <p:childTnLst>
                              <p:par>
                                <p:cTn id="128" presetID="1" presetClass="entr" presetSubtype="0" fill="hold" grpId="0" nodeType="afterEffect">
                                  <p:stCondLst>
                                    <p:cond delay="10000"/>
                                  </p:stCondLst>
                                  <p:childTnLst>
                                    <p:set>
                                      <p:cBhvr>
                                        <p:cTn id="129" dur="1" fill="hold">
                                          <p:stCondLst>
                                            <p:cond delay="0"/>
                                          </p:stCondLst>
                                        </p:cTn>
                                        <p:tgtEl>
                                          <p:spTgt spid="207"/>
                                        </p:tgtEl>
                                        <p:attrNameLst>
                                          <p:attrName>style.visibility</p:attrName>
                                        </p:attrNameLst>
                                      </p:cBhvr>
                                      <p:to>
                                        <p:strVal val="visible"/>
                                      </p:to>
                                    </p:set>
                                  </p:childTnLst>
                                  <p:subTnLst>
                                    <p:set>
                                      <p:cBhvr override="childStyle">
                                        <p:cTn dur="1" fill="hold" display="0" masterRel="nextClick" afterEffect="1"/>
                                        <p:tgtEl>
                                          <p:spTgt spid="207"/>
                                        </p:tgtEl>
                                        <p:attrNameLst>
                                          <p:attrName>style.visibility</p:attrName>
                                        </p:attrNameLst>
                                      </p:cBhvr>
                                      <p:to>
                                        <p:strVal val="hidden"/>
                                      </p:to>
                                    </p:set>
                                  </p:subTnLst>
                                </p:cTn>
                              </p:par>
                            </p:childTnLst>
                          </p:cTn>
                        </p:par>
                        <p:par>
                          <p:cTn id="130" fill="hold" nodeType="afterGroup">
                            <p:stCondLst>
                              <p:cond delay="410000"/>
                            </p:stCondLst>
                            <p:childTnLst>
                              <p:par>
                                <p:cTn id="131" presetID="1" presetClass="entr" presetSubtype="0" fill="hold" grpId="0" nodeType="afterEffect">
                                  <p:stCondLst>
                                    <p:cond delay="10000"/>
                                  </p:stCondLst>
                                  <p:childTnLst>
                                    <p:set>
                                      <p:cBhvr>
                                        <p:cTn id="132" dur="1" fill="hold">
                                          <p:stCondLst>
                                            <p:cond delay="0"/>
                                          </p:stCondLst>
                                        </p:cTn>
                                        <p:tgtEl>
                                          <p:spTgt spid="209"/>
                                        </p:tgtEl>
                                        <p:attrNameLst>
                                          <p:attrName>style.visibility</p:attrName>
                                        </p:attrNameLst>
                                      </p:cBhvr>
                                      <p:to>
                                        <p:strVal val="visible"/>
                                      </p:to>
                                    </p:set>
                                  </p:childTnLst>
                                </p:cTn>
                              </p:par>
                            </p:childTnLst>
                          </p:cTn>
                        </p:par>
                        <p:par>
                          <p:cTn id="133" fill="hold" nodeType="afterGroup">
                            <p:stCondLst>
                              <p:cond delay="420000"/>
                            </p:stCondLst>
                            <p:childTnLst>
                              <p:par>
                                <p:cTn id="134" presetID="1" presetClass="entr" presetSubtype="0" fill="hold" grpId="0" nodeType="afterEffect">
                                  <p:stCondLst>
                                    <p:cond delay="10000"/>
                                  </p:stCondLst>
                                  <p:childTnLst>
                                    <p:set>
                                      <p:cBhvr>
                                        <p:cTn id="135" dur="1" fill="hold">
                                          <p:stCondLst>
                                            <p:cond delay="0"/>
                                          </p:stCondLst>
                                        </p:cTn>
                                        <p:tgtEl>
                                          <p:spTgt spid="210"/>
                                        </p:tgtEl>
                                        <p:attrNameLst>
                                          <p:attrName>style.visibility</p:attrName>
                                        </p:attrNameLst>
                                      </p:cBhvr>
                                      <p:to>
                                        <p:strVal val="visible"/>
                                      </p:to>
                                    </p:set>
                                  </p:childTnLst>
                                  <p:subTnLst>
                                    <p:set>
                                      <p:cBhvr override="childStyle">
                                        <p:cTn dur="1" fill="hold" display="0" masterRel="nextClick" afterEffect="1"/>
                                        <p:tgtEl>
                                          <p:spTgt spid="210"/>
                                        </p:tgtEl>
                                        <p:attrNameLst>
                                          <p:attrName>style.visibility</p:attrName>
                                        </p:attrNameLst>
                                      </p:cBhvr>
                                      <p:to>
                                        <p:strVal val="hidden"/>
                                      </p:to>
                                    </p:set>
                                  </p:subTnLst>
                                </p:cTn>
                              </p:par>
                            </p:childTnLst>
                          </p:cTn>
                        </p:par>
                        <p:par>
                          <p:cTn id="136" fill="hold" nodeType="afterGroup">
                            <p:stCondLst>
                              <p:cond delay="430000"/>
                            </p:stCondLst>
                            <p:childTnLst>
                              <p:par>
                                <p:cTn id="137" presetID="1" presetClass="entr" presetSubtype="0" fill="hold" grpId="0" nodeType="afterEffect">
                                  <p:stCondLst>
                                    <p:cond delay="10000"/>
                                  </p:stCondLst>
                                  <p:childTnLst>
                                    <p:set>
                                      <p:cBhvr>
                                        <p:cTn id="138" dur="1" fill="hold">
                                          <p:stCondLst>
                                            <p:cond delay="0"/>
                                          </p:stCondLst>
                                        </p:cTn>
                                        <p:tgtEl>
                                          <p:spTgt spid="211"/>
                                        </p:tgtEl>
                                        <p:attrNameLst>
                                          <p:attrName>style.visibility</p:attrName>
                                        </p:attrNameLst>
                                      </p:cBhvr>
                                      <p:to>
                                        <p:strVal val="visible"/>
                                      </p:to>
                                    </p:set>
                                  </p:childTnLst>
                                  <p:subTnLst>
                                    <p:set>
                                      <p:cBhvr override="childStyle">
                                        <p:cTn dur="1" fill="hold" display="0" masterRel="nextClick" afterEffect="1"/>
                                        <p:tgtEl>
                                          <p:spTgt spid="211"/>
                                        </p:tgtEl>
                                        <p:attrNameLst>
                                          <p:attrName>style.visibility</p:attrName>
                                        </p:attrNameLst>
                                      </p:cBhvr>
                                      <p:to>
                                        <p:strVal val="hidden"/>
                                      </p:to>
                                    </p:set>
                                  </p:subTnLst>
                                </p:cTn>
                              </p:par>
                            </p:childTnLst>
                          </p:cTn>
                        </p:par>
                        <p:par>
                          <p:cTn id="139" fill="hold" nodeType="afterGroup">
                            <p:stCondLst>
                              <p:cond delay="440000"/>
                            </p:stCondLst>
                            <p:childTnLst>
                              <p:par>
                                <p:cTn id="140" presetID="1" presetClass="entr" presetSubtype="0" fill="hold" grpId="0" nodeType="afterEffect">
                                  <p:stCondLst>
                                    <p:cond delay="10000"/>
                                  </p:stCondLst>
                                  <p:childTnLst>
                                    <p:set>
                                      <p:cBhvr>
                                        <p:cTn id="141" dur="1" fill="hold">
                                          <p:stCondLst>
                                            <p:cond delay="0"/>
                                          </p:stCondLst>
                                        </p:cTn>
                                        <p:tgtEl>
                                          <p:spTgt spid="212"/>
                                        </p:tgtEl>
                                        <p:attrNameLst>
                                          <p:attrName>style.visibility</p:attrName>
                                        </p:attrNameLst>
                                      </p:cBhvr>
                                      <p:to>
                                        <p:strVal val="visible"/>
                                      </p:to>
                                    </p:set>
                                  </p:childTnLst>
                                  <p:subTnLst>
                                    <p:set>
                                      <p:cBhvr override="childStyle">
                                        <p:cTn dur="1" fill="hold" display="0" masterRel="nextClick" afterEffect="1"/>
                                        <p:tgtEl>
                                          <p:spTgt spid="212"/>
                                        </p:tgtEl>
                                        <p:attrNameLst>
                                          <p:attrName>style.visibility</p:attrName>
                                        </p:attrNameLst>
                                      </p:cBhvr>
                                      <p:to>
                                        <p:strVal val="hidden"/>
                                      </p:to>
                                    </p:set>
                                  </p:subTnLst>
                                </p:cTn>
                              </p:par>
                            </p:childTnLst>
                          </p:cTn>
                        </p:par>
                        <p:par>
                          <p:cTn id="142" fill="hold" nodeType="afterGroup">
                            <p:stCondLst>
                              <p:cond delay="450000"/>
                            </p:stCondLst>
                            <p:childTnLst>
                              <p:par>
                                <p:cTn id="143" presetID="1" presetClass="entr" presetSubtype="0" fill="hold" grpId="0" nodeType="afterEffect">
                                  <p:stCondLst>
                                    <p:cond delay="10000"/>
                                  </p:stCondLst>
                                  <p:childTnLst>
                                    <p:set>
                                      <p:cBhvr>
                                        <p:cTn id="144" dur="1" fill="hold">
                                          <p:stCondLst>
                                            <p:cond delay="0"/>
                                          </p:stCondLst>
                                        </p:cTn>
                                        <p:tgtEl>
                                          <p:spTgt spid="213"/>
                                        </p:tgtEl>
                                        <p:attrNameLst>
                                          <p:attrName>style.visibility</p:attrName>
                                        </p:attrNameLst>
                                      </p:cBhvr>
                                      <p:to>
                                        <p:strVal val="visible"/>
                                      </p:to>
                                    </p:set>
                                  </p:childTnLst>
                                  <p:subTnLst>
                                    <p:set>
                                      <p:cBhvr override="childStyle">
                                        <p:cTn dur="1" fill="hold" display="0" masterRel="nextClick" afterEffect="1"/>
                                        <p:tgtEl>
                                          <p:spTgt spid="213"/>
                                        </p:tgtEl>
                                        <p:attrNameLst>
                                          <p:attrName>style.visibility</p:attrName>
                                        </p:attrNameLst>
                                      </p:cBhvr>
                                      <p:to>
                                        <p:strVal val="hidden"/>
                                      </p:to>
                                    </p:set>
                                  </p:subTnLst>
                                </p:cTn>
                              </p:par>
                            </p:childTnLst>
                          </p:cTn>
                        </p:par>
                        <p:par>
                          <p:cTn id="145" fill="hold" nodeType="afterGroup">
                            <p:stCondLst>
                              <p:cond delay="460000"/>
                            </p:stCondLst>
                            <p:childTnLst>
                              <p:par>
                                <p:cTn id="146" presetID="1" presetClass="entr" presetSubtype="0" fill="hold" grpId="0" nodeType="afterEffect">
                                  <p:stCondLst>
                                    <p:cond delay="10000"/>
                                  </p:stCondLst>
                                  <p:childTnLst>
                                    <p:set>
                                      <p:cBhvr>
                                        <p:cTn id="147" dur="1" fill="hold">
                                          <p:stCondLst>
                                            <p:cond delay="0"/>
                                          </p:stCondLst>
                                        </p:cTn>
                                        <p:tgtEl>
                                          <p:spTgt spid="214"/>
                                        </p:tgtEl>
                                        <p:attrNameLst>
                                          <p:attrName>style.visibility</p:attrName>
                                        </p:attrNameLst>
                                      </p:cBhvr>
                                      <p:to>
                                        <p:strVal val="visible"/>
                                      </p:to>
                                    </p:set>
                                  </p:childTnLst>
                                  <p:subTnLst>
                                    <p:set>
                                      <p:cBhvr override="childStyle">
                                        <p:cTn dur="1" fill="hold" display="0" masterRel="nextClick" afterEffect="1"/>
                                        <p:tgtEl>
                                          <p:spTgt spid="214"/>
                                        </p:tgtEl>
                                        <p:attrNameLst>
                                          <p:attrName>style.visibility</p:attrName>
                                        </p:attrNameLst>
                                      </p:cBhvr>
                                      <p:to>
                                        <p:strVal val="hidden"/>
                                      </p:to>
                                    </p:set>
                                  </p:subTnLst>
                                </p:cTn>
                              </p:par>
                            </p:childTnLst>
                          </p:cTn>
                        </p:par>
                        <p:par>
                          <p:cTn id="148" fill="hold" nodeType="afterGroup">
                            <p:stCondLst>
                              <p:cond delay="470000"/>
                            </p:stCondLst>
                            <p:childTnLst>
                              <p:par>
                                <p:cTn id="149" presetID="1" presetClass="entr" presetSubtype="0" fill="hold" grpId="0" nodeType="afterEffect">
                                  <p:stCondLst>
                                    <p:cond delay="10000"/>
                                  </p:stCondLst>
                                  <p:childTnLst>
                                    <p:set>
                                      <p:cBhvr>
                                        <p:cTn id="150" dur="1" fill="hold">
                                          <p:stCondLst>
                                            <p:cond delay="0"/>
                                          </p:stCondLst>
                                        </p:cTn>
                                        <p:tgtEl>
                                          <p:spTgt spid="216"/>
                                        </p:tgtEl>
                                        <p:attrNameLst>
                                          <p:attrName>style.visibility</p:attrName>
                                        </p:attrNameLst>
                                      </p:cBhvr>
                                      <p:to>
                                        <p:strVal val="visible"/>
                                      </p:to>
                                    </p:set>
                                  </p:childTnLst>
                                </p:cTn>
                              </p:par>
                            </p:childTnLst>
                          </p:cTn>
                        </p:par>
                        <p:par>
                          <p:cTn id="151" fill="hold" nodeType="afterGroup">
                            <p:stCondLst>
                              <p:cond delay="480000"/>
                            </p:stCondLst>
                            <p:childTnLst>
                              <p:par>
                                <p:cTn id="152" presetID="1" presetClass="entr" presetSubtype="0" fill="hold" grpId="0" nodeType="afterEffect">
                                  <p:stCondLst>
                                    <p:cond delay="10000"/>
                                  </p:stCondLst>
                                  <p:childTnLst>
                                    <p:set>
                                      <p:cBhvr>
                                        <p:cTn id="153" dur="1" fill="hold">
                                          <p:stCondLst>
                                            <p:cond delay="0"/>
                                          </p:stCondLst>
                                        </p:cTn>
                                        <p:tgtEl>
                                          <p:spTgt spid="217"/>
                                        </p:tgtEl>
                                        <p:attrNameLst>
                                          <p:attrName>style.visibility</p:attrName>
                                        </p:attrNameLst>
                                      </p:cBhvr>
                                      <p:to>
                                        <p:strVal val="visible"/>
                                      </p:to>
                                    </p:set>
                                  </p:childTnLst>
                                  <p:subTnLst>
                                    <p:set>
                                      <p:cBhvr override="childStyle">
                                        <p:cTn dur="1" fill="hold" display="0" masterRel="nextClick" afterEffect="1"/>
                                        <p:tgtEl>
                                          <p:spTgt spid="217"/>
                                        </p:tgtEl>
                                        <p:attrNameLst>
                                          <p:attrName>style.visibility</p:attrName>
                                        </p:attrNameLst>
                                      </p:cBhvr>
                                      <p:to>
                                        <p:strVal val="hidden"/>
                                      </p:to>
                                    </p:set>
                                  </p:subTnLst>
                                </p:cTn>
                              </p:par>
                            </p:childTnLst>
                          </p:cTn>
                        </p:par>
                        <p:par>
                          <p:cTn id="154" fill="hold" nodeType="afterGroup">
                            <p:stCondLst>
                              <p:cond delay="490000"/>
                            </p:stCondLst>
                            <p:childTnLst>
                              <p:par>
                                <p:cTn id="155" presetID="1" presetClass="entr" presetSubtype="0" fill="hold" grpId="0" nodeType="afterEffect">
                                  <p:stCondLst>
                                    <p:cond delay="10000"/>
                                  </p:stCondLst>
                                  <p:childTnLst>
                                    <p:set>
                                      <p:cBhvr>
                                        <p:cTn id="156" dur="1" fill="hold">
                                          <p:stCondLst>
                                            <p:cond delay="0"/>
                                          </p:stCondLst>
                                        </p:cTn>
                                        <p:tgtEl>
                                          <p:spTgt spid="218"/>
                                        </p:tgtEl>
                                        <p:attrNameLst>
                                          <p:attrName>style.visibility</p:attrName>
                                        </p:attrNameLst>
                                      </p:cBhvr>
                                      <p:to>
                                        <p:strVal val="visible"/>
                                      </p:to>
                                    </p:set>
                                  </p:childTnLst>
                                  <p:subTnLst>
                                    <p:set>
                                      <p:cBhvr override="childStyle">
                                        <p:cTn dur="1" fill="hold" display="0" masterRel="nextClick" afterEffect="1"/>
                                        <p:tgtEl>
                                          <p:spTgt spid="218"/>
                                        </p:tgtEl>
                                        <p:attrNameLst>
                                          <p:attrName>style.visibility</p:attrName>
                                        </p:attrNameLst>
                                      </p:cBhvr>
                                      <p:to>
                                        <p:strVal val="hidden"/>
                                      </p:to>
                                    </p:set>
                                  </p:subTnLst>
                                </p:cTn>
                              </p:par>
                            </p:childTnLst>
                          </p:cTn>
                        </p:par>
                        <p:par>
                          <p:cTn id="157" fill="hold" nodeType="afterGroup">
                            <p:stCondLst>
                              <p:cond delay="500000"/>
                            </p:stCondLst>
                            <p:childTnLst>
                              <p:par>
                                <p:cTn id="158" presetID="1" presetClass="entr" presetSubtype="0" fill="hold" grpId="0" nodeType="afterEffect">
                                  <p:stCondLst>
                                    <p:cond delay="10000"/>
                                  </p:stCondLst>
                                  <p:childTnLst>
                                    <p:set>
                                      <p:cBhvr>
                                        <p:cTn id="159" dur="1" fill="hold">
                                          <p:stCondLst>
                                            <p:cond delay="0"/>
                                          </p:stCondLst>
                                        </p:cTn>
                                        <p:tgtEl>
                                          <p:spTgt spid="219"/>
                                        </p:tgtEl>
                                        <p:attrNameLst>
                                          <p:attrName>style.visibility</p:attrName>
                                        </p:attrNameLst>
                                      </p:cBhvr>
                                      <p:to>
                                        <p:strVal val="visible"/>
                                      </p:to>
                                    </p:set>
                                  </p:childTnLst>
                                  <p:subTnLst>
                                    <p:set>
                                      <p:cBhvr override="childStyle">
                                        <p:cTn dur="1" fill="hold" display="0" masterRel="nextClick" afterEffect="1"/>
                                        <p:tgtEl>
                                          <p:spTgt spid="219"/>
                                        </p:tgtEl>
                                        <p:attrNameLst>
                                          <p:attrName>style.visibility</p:attrName>
                                        </p:attrNameLst>
                                      </p:cBhvr>
                                      <p:to>
                                        <p:strVal val="hidden"/>
                                      </p:to>
                                    </p:set>
                                  </p:subTnLst>
                                </p:cTn>
                              </p:par>
                            </p:childTnLst>
                          </p:cTn>
                        </p:par>
                        <p:par>
                          <p:cTn id="160" fill="hold" nodeType="afterGroup">
                            <p:stCondLst>
                              <p:cond delay="510000"/>
                            </p:stCondLst>
                            <p:childTnLst>
                              <p:par>
                                <p:cTn id="161" presetID="1" presetClass="entr" presetSubtype="0" fill="hold" grpId="0" nodeType="afterEffect">
                                  <p:stCondLst>
                                    <p:cond delay="10000"/>
                                  </p:stCondLst>
                                  <p:childTnLst>
                                    <p:set>
                                      <p:cBhvr>
                                        <p:cTn id="162" dur="1" fill="hold">
                                          <p:stCondLst>
                                            <p:cond delay="0"/>
                                          </p:stCondLst>
                                        </p:cTn>
                                        <p:tgtEl>
                                          <p:spTgt spid="220"/>
                                        </p:tgtEl>
                                        <p:attrNameLst>
                                          <p:attrName>style.visibility</p:attrName>
                                        </p:attrNameLst>
                                      </p:cBhvr>
                                      <p:to>
                                        <p:strVal val="visible"/>
                                      </p:to>
                                    </p:set>
                                  </p:childTnLst>
                                  <p:subTnLst>
                                    <p:set>
                                      <p:cBhvr override="childStyle">
                                        <p:cTn dur="1" fill="hold" display="0" masterRel="nextClick" afterEffect="1"/>
                                        <p:tgtEl>
                                          <p:spTgt spid="220"/>
                                        </p:tgtEl>
                                        <p:attrNameLst>
                                          <p:attrName>style.visibility</p:attrName>
                                        </p:attrNameLst>
                                      </p:cBhvr>
                                      <p:to>
                                        <p:strVal val="hidden"/>
                                      </p:to>
                                    </p:set>
                                  </p:subTnLst>
                                </p:cTn>
                              </p:par>
                            </p:childTnLst>
                          </p:cTn>
                        </p:par>
                        <p:par>
                          <p:cTn id="163" fill="hold" nodeType="afterGroup">
                            <p:stCondLst>
                              <p:cond delay="520000"/>
                            </p:stCondLst>
                            <p:childTnLst>
                              <p:par>
                                <p:cTn id="164" presetID="1" presetClass="entr" presetSubtype="0" fill="hold" grpId="0" nodeType="afterEffect">
                                  <p:stCondLst>
                                    <p:cond delay="10000"/>
                                  </p:stCondLst>
                                  <p:childTnLst>
                                    <p:set>
                                      <p:cBhvr>
                                        <p:cTn id="165" dur="1" fill="hold">
                                          <p:stCondLst>
                                            <p:cond delay="0"/>
                                          </p:stCondLst>
                                        </p:cTn>
                                        <p:tgtEl>
                                          <p:spTgt spid="221"/>
                                        </p:tgtEl>
                                        <p:attrNameLst>
                                          <p:attrName>style.visibility</p:attrName>
                                        </p:attrNameLst>
                                      </p:cBhvr>
                                      <p:to>
                                        <p:strVal val="visible"/>
                                      </p:to>
                                    </p:set>
                                  </p:childTnLst>
                                  <p:subTnLst>
                                    <p:set>
                                      <p:cBhvr override="childStyle">
                                        <p:cTn dur="1" fill="hold" display="0" masterRel="nextClick" afterEffect="1"/>
                                        <p:tgtEl>
                                          <p:spTgt spid="221"/>
                                        </p:tgtEl>
                                        <p:attrNameLst>
                                          <p:attrName>style.visibility</p:attrName>
                                        </p:attrNameLst>
                                      </p:cBhvr>
                                      <p:to>
                                        <p:strVal val="hidden"/>
                                      </p:to>
                                    </p:set>
                                  </p:subTnLst>
                                </p:cTn>
                              </p:par>
                            </p:childTnLst>
                          </p:cTn>
                        </p:par>
                        <p:par>
                          <p:cTn id="166" fill="hold" nodeType="afterGroup">
                            <p:stCondLst>
                              <p:cond delay="530000"/>
                            </p:stCondLst>
                            <p:childTnLst>
                              <p:par>
                                <p:cTn id="167" presetID="1" presetClass="entr" presetSubtype="0" fill="hold" grpId="0" nodeType="afterEffect">
                                  <p:stCondLst>
                                    <p:cond delay="10000"/>
                                  </p:stCondLst>
                                  <p:childTnLst>
                                    <p:set>
                                      <p:cBhvr>
                                        <p:cTn id="168" dur="1" fill="hold">
                                          <p:stCondLst>
                                            <p:cond delay="0"/>
                                          </p:stCondLst>
                                        </p:cTn>
                                        <p:tgtEl>
                                          <p:spTgt spid="223"/>
                                        </p:tgtEl>
                                        <p:attrNameLst>
                                          <p:attrName>style.visibility</p:attrName>
                                        </p:attrNameLst>
                                      </p:cBhvr>
                                      <p:to>
                                        <p:strVal val="visible"/>
                                      </p:to>
                                    </p:set>
                                  </p:childTnLst>
                                </p:cTn>
                              </p:par>
                            </p:childTnLst>
                          </p:cTn>
                        </p:par>
                        <p:par>
                          <p:cTn id="169" fill="hold" nodeType="afterGroup">
                            <p:stCondLst>
                              <p:cond delay="540000"/>
                            </p:stCondLst>
                            <p:childTnLst>
                              <p:par>
                                <p:cTn id="170" presetID="1" presetClass="entr" presetSubtype="0" fill="hold" grpId="0" nodeType="afterEffect">
                                  <p:stCondLst>
                                    <p:cond delay="10000"/>
                                  </p:stCondLst>
                                  <p:childTnLst>
                                    <p:set>
                                      <p:cBhvr>
                                        <p:cTn id="171" dur="1" fill="hold">
                                          <p:stCondLst>
                                            <p:cond delay="0"/>
                                          </p:stCondLst>
                                        </p:cTn>
                                        <p:tgtEl>
                                          <p:spTgt spid="224"/>
                                        </p:tgtEl>
                                        <p:attrNameLst>
                                          <p:attrName>style.visibility</p:attrName>
                                        </p:attrNameLst>
                                      </p:cBhvr>
                                      <p:to>
                                        <p:strVal val="visible"/>
                                      </p:to>
                                    </p:set>
                                  </p:childTnLst>
                                  <p:subTnLst>
                                    <p:set>
                                      <p:cBhvr override="childStyle">
                                        <p:cTn dur="1" fill="hold" display="0" masterRel="nextClick" afterEffect="1"/>
                                        <p:tgtEl>
                                          <p:spTgt spid="224"/>
                                        </p:tgtEl>
                                        <p:attrNameLst>
                                          <p:attrName>style.visibility</p:attrName>
                                        </p:attrNameLst>
                                      </p:cBhvr>
                                      <p:to>
                                        <p:strVal val="hidden"/>
                                      </p:to>
                                    </p:set>
                                  </p:subTnLst>
                                </p:cTn>
                              </p:par>
                            </p:childTnLst>
                          </p:cTn>
                        </p:par>
                        <p:par>
                          <p:cTn id="172" fill="hold" nodeType="afterGroup">
                            <p:stCondLst>
                              <p:cond delay="550000"/>
                            </p:stCondLst>
                            <p:childTnLst>
                              <p:par>
                                <p:cTn id="173" presetID="1" presetClass="entr" presetSubtype="0" fill="hold" grpId="0" nodeType="afterEffect">
                                  <p:stCondLst>
                                    <p:cond delay="10000"/>
                                  </p:stCondLst>
                                  <p:childTnLst>
                                    <p:set>
                                      <p:cBhvr>
                                        <p:cTn id="174" dur="1" fill="hold">
                                          <p:stCondLst>
                                            <p:cond delay="0"/>
                                          </p:stCondLst>
                                        </p:cTn>
                                        <p:tgtEl>
                                          <p:spTgt spid="225"/>
                                        </p:tgtEl>
                                        <p:attrNameLst>
                                          <p:attrName>style.visibility</p:attrName>
                                        </p:attrNameLst>
                                      </p:cBhvr>
                                      <p:to>
                                        <p:strVal val="visible"/>
                                      </p:to>
                                    </p:set>
                                  </p:childTnLst>
                                  <p:subTnLst>
                                    <p:set>
                                      <p:cBhvr override="childStyle">
                                        <p:cTn dur="1" fill="hold" display="0" masterRel="nextClick" afterEffect="1"/>
                                        <p:tgtEl>
                                          <p:spTgt spid="225"/>
                                        </p:tgtEl>
                                        <p:attrNameLst>
                                          <p:attrName>style.visibility</p:attrName>
                                        </p:attrNameLst>
                                      </p:cBhvr>
                                      <p:to>
                                        <p:strVal val="hidden"/>
                                      </p:to>
                                    </p:set>
                                  </p:subTnLst>
                                </p:cTn>
                              </p:par>
                            </p:childTnLst>
                          </p:cTn>
                        </p:par>
                        <p:par>
                          <p:cTn id="175" fill="hold" nodeType="afterGroup">
                            <p:stCondLst>
                              <p:cond delay="560000"/>
                            </p:stCondLst>
                            <p:childTnLst>
                              <p:par>
                                <p:cTn id="176" presetID="1" presetClass="entr" presetSubtype="0" fill="hold" grpId="0" nodeType="afterEffect">
                                  <p:stCondLst>
                                    <p:cond delay="10000"/>
                                  </p:stCondLst>
                                  <p:childTnLst>
                                    <p:set>
                                      <p:cBhvr>
                                        <p:cTn id="177" dur="1" fill="hold">
                                          <p:stCondLst>
                                            <p:cond delay="0"/>
                                          </p:stCondLst>
                                        </p:cTn>
                                        <p:tgtEl>
                                          <p:spTgt spid="226"/>
                                        </p:tgtEl>
                                        <p:attrNameLst>
                                          <p:attrName>style.visibility</p:attrName>
                                        </p:attrNameLst>
                                      </p:cBhvr>
                                      <p:to>
                                        <p:strVal val="visible"/>
                                      </p:to>
                                    </p:set>
                                  </p:childTnLst>
                                  <p:subTnLst>
                                    <p:set>
                                      <p:cBhvr override="childStyle">
                                        <p:cTn dur="1" fill="hold" display="0" masterRel="nextClick" afterEffect="1"/>
                                        <p:tgtEl>
                                          <p:spTgt spid="226"/>
                                        </p:tgtEl>
                                        <p:attrNameLst>
                                          <p:attrName>style.visibility</p:attrName>
                                        </p:attrNameLst>
                                      </p:cBhvr>
                                      <p:to>
                                        <p:strVal val="hidden"/>
                                      </p:to>
                                    </p:set>
                                  </p:subTnLst>
                                </p:cTn>
                              </p:par>
                            </p:childTnLst>
                          </p:cTn>
                        </p:par>
                        <p:par>
                          <p:cTn id="178" fill="hold" nodeType="afterGroup">
                            <p:stCondLst>
                              <p:cond delay="570000"/>
                            </p:stCondLst>
                            <p:childTnLst>
                              <p:par>
                                <p:cTn id="179" presetID="1" presetClass="entr" presetSubtype="0" fill="hold" grpId="0" nodeType="afterEffect">
                                  <p:stCondLst>
                                    <p:cond delay="10000"/>
                                  </p:stCondLst>
                                  <p:childTnLst>
                                    <p:set>
                                      <p:cBhvr>
                                        <p:cTn id="180" dur="1" fill="hold">
                                          <p:stCondLst>
                                            <p:cond delay="0"/>
                                          </p:stCondLst>
                                        </p:cTn>
                                        <p:tgtEl>
                                          <p:spTgt spid="227"/>
                                        </p:tgtEl>
                                        <p:attrNameLst>
                                          <p:attrName>style.visibility</p:attrName>
                                        </p:attrNameLst>
                                      </p:cBhvr>
                                      <p:to>
                                        <p:strVal val="visible"/>
                                      </p:to>
                                    </p:set>
                                  </p:childTnLst>
                                  <p:subTnLst>
                                    <p:set>
                                      <p:cBhvr override="childStyle">
                                        <p:cTn dur="1" fill="hold" display="0" masterRel="nextClick" afterEffect="1"/>
                                        <p:tgtEl>
                                          <p:spTgt spid="227"/>
                                        </p:tgtEl>
                                        <p:attrNameLst>
                                          <p:attrName>style.visibility</p:attrName>
                                        </p:attrNameLst>
                                      </p:cBhvr>
                                      <p:to>
                                        <p:strVal val="hidden"/>
                                      </p:to>
                                    </p:set>
                                  </p:subTnLst>
                                </p:cTn>
                              </p:par>
                            </p:childTnLst>
                          </p:cTn>
                        </p:par>
                        <p:par>
                          <p:cTn id="181" fill="hold" nodeType="afterGroup">
                            <p:stCondLst>
                              <p:cond delay="580000"/>
                            </p:stCondLst>
                            <p:childTnLst>
                              <p:par>
                                <p:cTn id="182" presetID="1" presetClass="entr" presetSubtype="0" fill="hold" grpId="0" nodeType="afterEffect">
                                  <p:stCondLst>
                                    <p:cond delay="10000"/>
                                  </p:stCondLst>
                                  <p:childTnLst>
                                    <p:set>
                                      <p:cBhvr>
                                        <p:cTn id="183" dur="1" fill="hold">
                                          <p:stCondLst>
                                            <p:cond delay="0"/>
                                          </p:stCondLst>
                                        </p:cTn>
                                        <p:tgtEl>
                                          <p:spTgt spid="228"/>
                                        </p:tgtEl>
                                        <p:attrNameLst>
                                          <p:attrName>style.visibility</p:attrName>
                                        </p:attrNameLst>
                                      </p:cBhvr>
                                      <p:to>
                                        <p:strVal val="visible"/>
                                      </p:to>
                                    </p:set>
                                  </p:childTnLst>
                                  <p:subTnLst>
                                    <p:set>
                                      <p:cBhvr override="childStyle">
                                        <p:cTn dur="1" fill="hold" display="0" masterRel="nextClick" afterEffect="1"/>
                                        <p:tgtEl>
                                          <p:spTgt spid="228"/>
                                        </p:tgtEl>
                                        <p:attrNameLst>
                                          <p:attrName>style.visibility</p:attrName>
                                        </p:attrNameLst>
                                      </p:cBhvr>
                                      <p:to>
                                        <p:strVal val="hidden"/>
                                      </p:to>
                                    </p:set>
                                  </p:subTnLst>
                                </p:cTn>
                              </p:par>
                            </p:childTnLst>
                          </p:cTn>
                        </p:par>
                        <p:par>
                          <p:cTn id="184" fill="hold" nodeType="afterGroup">
                            <p:stCondLst>
                              <p:cond delay="590000"/>
                            </p:stCondLst>
                            <p:childTnLst>
                              <p:par>
                                <p:cTn id="185" presetID="1" presetClass="entr" presetSubtype="0" fill="hold" grpId="0" nodeType="afterEffect">
                                  <p:stCondLst>
                                    <p:cond delay="10000"/>
                                  </p:stCondLst>
                                  <p:childTnLst>
                                    <p:set>
                                      <p:cBhvr>
                                        <p:cTn id="186" dur="1" fill="hold">
                                          <p:stCondLst>
                                            <p:cond delay="0"/>
                                          </p:stCondLst>
                                        </p:cTn>
                                        <p:tgtEl>
                                          <p:spTgt spid="230"/>
                                        </p:tgtEl>
                                        <p:attrNameLst>
                                          <p:attrName>style.visibility</p:attrName>
                                        </p:attrNameLst>
                                      </p:cBhvr>
                                      <p:to>
                                        <p:strVal val="visible"/>
                                      </p:to>
                                    </p:set>
                                  </p:childTnLst>
                                </p:cTn>
                              </p:par>
                            </p:childTnLst>
                          </p:cTn>
                        </p:par>
                        <p:par>
                          <p:cTn id="187" fill="hold" nodeType="afterGroup">
                            <p:stCondLst>
                              <p:cond delay="600000"/>
                            </p:stCondLst>
                            <p:childTnLst>
                              <p:par>
                                <p:cTn id="188" presetID="1" presetClass="entr" presetSubtype="0" fill="hold" grpId="0" nodeType="afterEffect">
                                  <p:stCondLst>
                                    <p:cond delay="10000"/>
                                  </p:stCondLst>
                                  <p:childTnLst>
                                    <p:set>
                                      <p:cBhvr>
                                        <p:cTn id="189" dur="1" fill="hold">
                                          <p:stCondLst>
                                            <p:cond delay="0"/>
                                          </p:stCondLst>
                                        </p:cTn>
                                        <p:tgtEl>
                                          <p:spTgt spid="231"/>
                                        </p:tgtEl>
                                        <p:attrNameLst>
                                          <p:attrName>style.visibility</p:attrName>
                                        </p:attrNameLst>
                                      </p:cBhvr>
                                      <p:to>
                                        <p:strVal val="visible"/>
                                      </p:to>
                                    </p:set>
                                  </p:childTnLst>
                                  <p:subTnLst>
                                    <p:set>
                                      <p:cBhvr override="childStyle">
                                        <p:cTn dur="1" fill="hold" display="0" masterRel="nextClick" afterEffect="1"/>
                                        <p:tgtEl>
                                          <p:spTgt spid="231"/>
                                        </p:tgtEl>
                                        <p:attrNameLst>
                                          <p:attrName>style.visibility</p:attrName>
                                        </p:attrNameLst>
                                      </p:cBhvr>
                                      <p:to>
                                        <p:strVal val="hidden"/>
                                      </p:to>
                                    </p:set>
                                  </p:subTnLst>
                                </p:cTn>
                              </p:par>
                            </p:childTnLst>
                          </p:cTn>
                        </p:par>
                        <p:par>
                          <p:cTn id="190" fill="hold" nodeType="afterGroup">
                            <p:stCondLst>
                              <p:cond delay="610000"/>
                            </p:stCondLst>
                            <p:childTnLst>
                              <p:par>
                                <p:cTn id="191" presetID="1" presetClass="entr" presetSubtype="0" fill="hold" grpId="0" nodeType="afterEffect">
                                  <p:stCondLst>
                                    <p:cond delay="10000"/>
                                  </p:stCondLst>
                                  <p:childTnLst>
                                    <p:set>
                                      <p:cBhvr>
                                        <p:cTn id="192" dur="1" fill="hold">
                                          <p:stCondLst>
                                            <p:cond delay="0"/>
                                          </p:stCondLst>
                                        </p:cTn>
                                        <p:tgtEl>
                                          <p:spTgt spid="232"/>
                                        </p:tgtEl>
                                        <p:attrNameLst>
                                          <p:attrName>style.visibility</p:attrName>
                                        </p:attrNameLst>
                                      </p:cBhvr>
                                      <p:to>
                                        <p:strVal val="visible"/>
                                      </p:to>
                                    </p:set>
                                  </p:childTnLst>
                                  <p:subTnLst>
                                    <p:set>
                                      <p:cBhvr override="childStyle">
                                        <p:cTn dur="1" fill="hold" display="0" masterRel="nextClick" afterEffect="1"/>
                                        <p:tgtEl>
                                          <p:spTgt spid="232"/>
                                        </p:tgtEl>
                                        <p:attrNameLst>
                                          <p:attrName>style.visibility</p:attrName>
                                        </p:attrNameLst>
                                      </p:cBhvr>
                                      <p:to>
                                        <p:strVal val="hidden"/>
                                      </p:to>
                                    </p:set>
                                  </p:subTnLst>
                                </p:cTn>
                              </p:par>
                            </p:childTnLst>
                          </p:cTn>
                        </p:par>
                        <p:par>
                          <p:cTn id="193" fill="hold" nodeType="afterGroup">
                            <p:stCondLst>
                              <p:cond delay="620000"/>
                            </p:stCondLst>
                            <p:childTnLst>
                              <p:par>
                                <p:cTn id="194" presetID="1" presetClass="entr" presetSubtype="0" fill="hold" grpId="0" nodeType="afterEffect">
                                  <p:stCondLst>
                                    <p:cond delay="10000"/>
                                  </p:stCondLst>
                                  <p:childTnLst>
                                    <p:set>
                                      <p:cBhvr>
                                        <p:cTn id="195" dur="1" fill="hold">
                                          <p:stCondLst>
                                            <p:cond delay="0"/>
                                          </p:stCondLst>
                                        </p:cTn>
                                        <p:tgtEl>
                                          <p:spTgt spid="233"/>
                                        </p:tgtEl>
                                        <p:attrNameLst>
                                          <p:attrName>style.visibility</p:attrName>
                                        </p:attrNameLst>
                                      </p:cBhvr>
                                      <p:to>
                                        <p:strVal val="visible"/>
                                      </p:to>
                                    </p:set>
                                  </p:childTnLst>
                                  <p:subTnLst>
                                    <p:set>
                                      <p:cBhvr override="childStyle">
                                        <p:cTn dur="1" fill="hold" display="0" masterRel="nextClick" afterEffect="1"/>
                                        <p:tgtEl>
                                          <p:spTgt spid="233"/>
                                        </p:tgtEl>
                                        <p:attrNameLst>
                                          <p:attrName>style.visibility</p:attrName>
                                        </p:attrNameLst>
                                      </p:cBhvr>
                                      <p:to>
                                        <p:strVal val="hidden"/>
                                      </p:to>
                                    </p:set>
                                  </p:subTnLst>
                                </p:cTn>
                              </p:par>
                            </p:childTnLst>
                          </p:cTn>
                        </p:par>
                        <p:par>
                          <p:cTn id="196" fill="hold" nodeType="afterGroup">
                            <p:stCondLst>
                              <p:cond delay="630000"/>
                            </p:stCondLst>
                            <p:childTnLst>
                              <p:par>
                                <p:cTn id="197" presetID="1" presetClass="entr" presetSubtype="0" fill="hold" grpId="0" nodeType="afterEffect">
                                  <p:stCondLst>
                                    <p:cond delay="10000"/>
                                  </p:stCondLst>
                                  <p:childTnLst>
                                    <p:set>
                                      <p:cBhvr>
                                        <p:cTn id="198" dur="1" fill="hold">
                                          <p:stCondLst>
                                            <p:cond delay="0"/>
                                          </p:stCondLst>
                                        </p:cTn>
                                        <p:tgtEl>
                                          <p:spTgt spid="234"/>
                                        </p:tgtEl>
                                        <p:attrNameLst>
                                          <p:attrName>style.visibility</p:attrName>
                                        </p:attrNameLst>
                                      </p:cBhvr>
                                      <p:to>
                                        <p:strVal val="visible"/>
                                      </p:to>
                                    </p:set>
                                  </p:childTnLst>
                                  <p:subTnLst>
                                    <p:set>
                                      <p:cBhvr override="childStyle">
                                        <p:cTn dur="1" fill="hold" display="0" masterRel="nextClick" afterEffect="1"/>
                                        <p:tgtEl>
                                          <p:spTgt spid="234"/>
                                        </p:tgtEl>
                                        <p:attrNameLst>
                                          <p:attrName>style.visibility</p:attrName>
                                        </p:attrNameLst>
                                      </p:cBhvr>
                                      <p:to>
                                        <p:strVal val="hidden"/>
                                      </p:to>
                                    </p:set>
                                  </p:subTnLst>
                                </p:cTn>
                              </p:par>
                            </p:childTnLst>
                          </p:cTn>
                        </p:par>
                        <p:par>
                          <p:cTn id="199" fill="hold" nodeType="afterGroup">
                            <p:stCondLst>
                              <p:cond delay="640000"/>
                            </p:stCondLst>
                            <p:childTnLst>
                              <p:par>
                                <p:cTn id="200" presetID="1" presetClass="entr" presetSubtype="0" fill="hold" grpId="0" nodeType="afterEffect">
                                  <p:stCondLst>
                                    <p:cond delay="10000"/>
                                  </p:stCondLst>
                                  <p:childTnLst>
                                    <p:set>
                                      <p:cBhvr>
                                        <p:cTn id="201" dur="1" fill="hold">
                                          <p:stCondLst>
                                            <p:cond delay="0"/>
                                          </p:stCondLst>
                                        </p:cTn>
                                        <p:tgtEl>
                                          <p:spTgt spid="235"/>
                                        </p:tgtEl>
                                        <p:attrNameLst>
                                          <p:attrName>style.visibility</p:attrName>
                                        </p:attrNameLst>
                                      </p:cBhvr>
                                      <p:to>
                                        <p:strVal val="visible"/>
                                      </p:to>
                                    </p:set>
                                  </p:childTnLst>
                                  <p:subTnLst>
                                    <p:set>
                                      <p:cBhvr override="childStyle">
                                        <p:cTn dur="1" fill="hold" display="0" masterRel="nextClick" afterEffect="1"/>
                                        <p:tgtEl>
                                          <p:spTgt spid="235"/>
                                        </p:tgtEl>
                                        <p:attrNameLst>
                                          <p:attrName>style.visibility</p:attrName>
                                        </p:attrNameLst>
                                      </p:cBhvr>
                                      <p:to>
                                        <p:strVal val="hidden"/>
                                      </p:to>
                                    </p:set>
                                  </p:subTnLst>
                                </p:cTn>
                              </p:par>
                            </p:childTnLst>
                          </p:cTn>
                        </p:par>
                        <p:par>
                          <p:cTn id="202" fill="hold" nodeType="afterGroup">
                            <p:stCondLst>
                              <p:cond delay="650000"/>
                            </p:stCondLst>
                            <p:childTnLst>
                              <p:par>
                                <p:cTn id="203" presetID="1" presetClass="entr" presetSubtype="0" fill="hold" grpId="0" nodeType="afterEffect">
                                  <p:stCondLst>
                                    <p:cond delay="10000"/>
                                  </p:stCondLst>
                                  <p:childTnLst>
                                    <p:set>
                                      <p:cBhvr>
                                        <p:cTn id="204" dur="1" fill="hold">
                                          <p:stCondLst>
                                            <p:cond delay="0"/>
                                          </p:stCondLst>
                                        </p:cTn>
                                        <p:tgtEl>
                                          <p:spTgt spid="237"/>
                                        </p:tgtEl>
                                        <p:attrNameLst>
                                          <p:attrName>style.visibility</p:attrName>
                                        </p:attrNameLst>
                                      </p:cBhvr>
                                      <p:to>
                                        <p:strVal val="visible"/>
                                      </p:to>
                                    </p:set>
                                  </p:childTnLst>
                                </p:cTn>
                              </p:par>
                            </p:childTnLst>
                          </p:cTn>
                        </p:par>
                        <p:par>
                          <p:cTn id="205" fill="hold" nodeType="afterGroup">
                            <p:stCondLst>
                              <p:cond delay="660000"/>
                            </p:stCondLst>
                            <p:childTnLst>
                              <p:par>
                                <p:cTn id="206" presetID="1" presetClass="entr" presetSubtype="0" fill="hold" grpId="0" nodeType="afterEffect">
                                  <p:stCondLst>
                                    <p:cond delay="10000"/>
                                  </p:stCondLst>
                                  <p:childTnLst>
                                    <p:set>
                                      <p:cBhvr>
                                        <p:cTn id="207" dur="1" fill="hold">
                                          <p:stCondLst>
                                            <p:cond delay="0"/>
                                          </p:stCondLst>
                                        </p:cTn>
                                        <p:tgtEl>
                                          <p:spTgt spid="238"/>
                                        </p:tgtEl>
                                        <p:attrNameLst>
                                          <p:attrName>style.visibility</p:attrName>
                                        </p:attrNameLst>
                                      </p:cBhvr>
                                      <p:to>
                                        <p:strVal val="visible"/>
                                      </p:to>
                                    </p:set>
                                  </p:childTnLst>
                                  <p:subTnLst>
                                    <p:set>
                                      <p:cBhvr override="childStyle">
                                        <p:cTn dur="1" fill="hold" display="0" masterRel="nextClick" afterEffect="1"/>
                                        <p:tgtEl>
                                          <p:spTgt spid="238"/>
                                        </p:tgtEl>
                                        <p:attrNameLst>
                                          <p:attrName>style.visibility</p:attrName>
                                        </p:attrNameLst>
                                      </p:cBhvr>
                                      <p:to>
                                        <p:strVal val="hidden"/>
                                      </p:to>
                                    </p:set>
                                  </p:subTnLst>
                                </p:cTn>
                              </p:par>
                            </p:childTnLst>
                          </p:cTn>
                        </p:par>
                        <p:par>
                          <p:cTn id="208" fill="hold" nodeType="afterGroup">
                            <p:stCondLst>
                              <p:cond delay="670000"/>
                            </p:stCondLst>
                            <p:childTnLst>
                              <p:par>
                                <p:cTn id="209" presetID="1" presetClass="entr" presetSubtype="0" fill="hold" grpId="0" nodeType="afterEffect">
                                  <p:stCondLst>
                                    <p:cond delay="10000"/>
                                  </p:stCondLst>
                                  <p:childTnLst>
                                    <p:set>
                                      <p:cBhvr>
                                        <p:cTn id="210" dur="1" fill="hold">
                                          <p:stCondLst>
                                            <p:cond delay="0"/>
                                          </p:stCondLst>
                                        </p:cTn>
                                        <p:tgtEl>
                                          <p:spTgt spid="239"/>
                                        </p:tgtEl>
                                        <p:attrNameLst>
                                          <p:attrName>style.visibility</p:attrName>
                                        </p:attrNameLst>
                                      </p:cBhvr>
                                      <p:to>
                                        <p:strVal val="visible"/>
                                      </p:to>
                                    </p:set>
                                  </p:childTnLst>
                                  <p:subTnLst>
                                    <p:set>
                                      <p:cBhvr override="childStyle">
                                        <p:cTn dur="1" fill="hold" display="0" masterRel="nextClick" afterEffect="1"/>
                                        <p:tgtEl>
                                          <p:spTgt spid="239"/>
                                        </p:tgtEl>
                                        <p:attrNameLst>
                                          <p:attrName>style.visibility</p:attrName>
                                        </p:attrNameLst>
                                      </p:cBhvr>
                                      <p:to>
                                        <p:strVal val="hidden"/>
                                      </p:to>
                                    </p:set>
                                  </p:subTnLst>
                                </p:cTn>
                              </p:par>
                            </p:childTnLst>
                          </p:cTn>
                        </p:par>
                        <p:par>
                          <p:cTn id="211" fill="hold" nodeType="afterGroup">
                            <p:stCondLst>
                              <p:cond delay="680000"/>
                            </p:stCondLst>
                            <p:childTnLst>
                              <p:par>
                                <p:cTn id="212" presetID="1" presetClass="entr" presetSubtype="0" fill="hold" grpId="0" nodeType="afterEffect">
                                  <p:stCondLst>
                                    <p:cond delay="10000"/>
                                  </p:stCondLst>
                                  <p:childTnLst>
                                    <p:set>
                                      <p:cBhvr>
                                        <p:cTn id="213" dur="1" fill="hold">
                                          <p:stCondLst>
                                            <p:cond delay="0"/>
                                          </p:stCondLst>
                                        </p:cTn>
                                        <p:tgtEl>
                                          <p:spTgt spid="240"/>
                                        </p:tgtEl>
                                        <p:attrNameLst>
                                          <p:attrName>style.visibility</p:attrName>
                                        </p:attrNameLst>
                                      </p:cBhvr>
                                      <p:to>
                                        <p:strVal val="visible"/>
                                      </p:to>
                                    </p:set>
                                  </p:childTnLst>
                                  <p:subTnLst>
                                    <p:set>
                                      <p:cBhvr override="childStyle">
                                        <p:cTn dur="1" fill="hold" display="0" masterRel="nextClick" afterEffect="1"/>
                                        <p:tgtEl>
                                          <p:spTgt spid="240"/>
                                        </p:tgtEl>
                                        <p:attrNameLst>
                                          <p:attrName>style.visibility</p:attrName>
                                        </p:attrNameLst>
                                      </p:cBhvr>
                                      <p:to>
                                        <p:strVal val="hidden"/>
                                      </p:to>
                                    </p:set>
                                  </p:subTnLst>
                                </p:cTn>
                              </p:par>
                            </p:childTnLst>
                          </p:cTn>
                        </p:par>
                        <p:par>
                          <p:cTn id="214" fill="hold" nodeType="afterGroup">
                            <p:stCondLst>
                              <p:cond delay="690000"/>
                            </p:stCondLst>
                            <p:childTnLst>
                              <p:par>
                                <p:cTn id="215" presetID="1" presetClass="entr" presetSubtype="0" fill="hold" grpId="0" nodeType="afterEffect">
                                  <p:stCondLst>
                                    <p:cond delay="10000"/>
                                  </p:stCondLst>
                                  <p:childTnLst>
                                    <p:set>
                                      <p:cBhvr>
                                        <p:cTn id="216" dur="1" fill="hold">
                                          <p:stCondLst>
                                            <p:cond delay="0"/>
                                          </p:stCondLst>
                                        </p:cTn>
                                        <p:tgtEl>
                                          <p:spTgt spid="241"/>
                                        </p:tgtEl>
                                        <p:attrNameLst>
                                          <p:attrName>style.visibility</p:attrName>
                                        </p:attrNameLst>
                                      </p:cBhvr>
                                      <p:to>
                                        <p:strVal val="visible"/>
                                      </p:to>
                                    </p:set>
                                  </p:childTnLst>
                                  <p:subTnLst>
                                    <p:set>
                                      <p:cBhvr override="childStyle">
                                        <p:cTn dur="1" fill="hold" display="0" masterRel="nextClick" afterEffect="1"/>
                                        <p:tgtEl>
                                          <p:spTgt spid="241"/>
                                        </p:tgtEl>
                                        <p:attrNameLst>
                                          <p:attrName>style.visibility</p:attrName>
                                        </p:attrNameLst>
                                      </p:cBhvr>
                                      <p:to>
                                        <p:strVal val="hidden"/>
                                      </p:to>
                                    </p:set>
                                  </p:subTnLst>
                                </p:cTn>
                              </p:par>
                            </p:childTnLst>
                          </p:cTn>
                        </p:par>
                        <p:par>
                          <p:cTn id="217" fill="hold" nodeType="afterGroup">
                            <p:stCondLst>
                              <p:cond delay="700000"/>
                            </p:stCondLst>
                            <p:childTnLst>
                              <p:par>
                                <p:cTn id="218" presetID="1" presetClass="entr" presetSubtype="0" fill="hold" grpId="0" nodeType="afterEffect">
                                  <p:stCondLst>
                                    <p:cond delay="10000"/>
                                  </p:stCondLst>
                                  <p:childTnLst>
                                    <p:set>
                                      <p:cBhvr>
                                        <p:cTn id="219" dur="1" fill="hold">
                                          <p:stCondLst>
                                            <p:cond delay="0"/>
                                          </p:stCondLst>
                                        </p:cTn>
                                        <p:tgtEl>
                                          <p:spTgt spid="242"/>
                                        </p:tgtEl>
                                        <p:attrNameLst>
                                          <p:attrName>style.visibility</p:attrName>
                                        </p:attrNameLst>
                                      </p:cBhvr>
                                      <p:to>
                                        <p:strVal val="visible"/>
                                      </p:to>
                                    </p:set>
                                  </p:childTnLst>
                                  <p:subTnLst>
                                    <p:set>
                                      <p:cBhvr override="childStyle">
                                        <p:cTn dur="1" fill="hold" display="0" masterRel="nextClick" afterEffect="1"/>
                                        <p:tgtEl>
                                          <p:spTgt spid="242"/>
                                        </p:tgtEl>
                                        <p:attrNameLst>
                                          <p:attrName>style.visibility</p:attrName>
                                        </p:attrNameLst>
                                      </p:cBhvr>
                                      <p:to>
                                        <p:strVal val="hidden"/>
                                      </p:to>
                                    </p:set>
                                  </p:subTnLst>
                                </p:cTn>
                              </p:par>
                            </p:childTnLst>
                          </p:cTn>
                        </p:par>
                        <p:par>
                          <p:cTn id="220" fill="hold" nodeType="afterGroup">
                            <p:stCondLst>
                              <p:cond delay="710000"/>
                            </p:stCondLst>
                            <p:childTnLst>
                              <p:par>
                                <p:cTn id="221" presetID="1" presetClass="entr" presetSubtype="0" fill="hold" grpId="0" nodeType="afterEffect">
                                  <p:stCondLst>
                                    <p:cond delay="10000"/>
                                  </p:stCondLst>
                                  <p:childTnLst>
                                    <p:set>
                                      <p:cBhvr>
                                        <p:cTn id="222" dur="1" fill="hold">
                                          <p:stCondLst>
                                            <p:cond delay="0"/>
                                          </p:stCondLst>
                                        </p:cTn>
                                        <p:tgtEl>
                                          <p:spTgt spid="244"/>
                                        </p:tgtEl>
                                        <p:attrNameLst>
                                          <p:attrName>style.visibility</p:attrName>
                                        </p:attrNameLst>
                                      </p:cBhvr>
                                      <p:to>
                                        <p:strVal val="visible"/>
                                      </p:to>
                                    </p:set>
                                  </p:childTnLst>
                                </p:cTn>
                              </p:par>
                            </p:childTnLst>
                          </p:cTn>
                        </p:par>
                        <p:par>
                          <p:cTn id="223" fill="hold" nodeType="afterGroup">
                            <p:stCondLst>
                              <p:cond delay="720000"/>
                            </p:stCondLst>
                            <p:childTnLst>
                              <p:par>
                                <p:cTn id="224" presetID="1" presetClass="entr" presetSubtype="0" fill="hold" grpId="0" nodeType="afterEffect">
                                  <p:stCondLst>
                                    <p:cond delay="10000"/>
                                  </p:stCondLst>
                                  <p:childTnLst>
                                    <p:set>
                                      <p:cBhvr>
                                        <p:cTn id="225" dur="1" fill="hold">
                                          <p:stCondLst>
                                            <p:cond delay="0"/>
                                          </p:stCondLst>
                                        </p:cTn>
                                        <p:tgtEl>
                                          <p:spTgt spid="245"/>
                                        </p:tgtEl>
                                        <p:attrNameLst>
                                          <p:attrName>style.visibility</p:attrName>
                                        </p:attrNameLst>
                                      </p:cBhvr>
                                      <p:to>
                                        <p:strVal val="visible"/>
                                      </p:to>
                                    </p:set>
                                  </p:childTnLst>
                                  <p:subTnLst>
                                    <p:set>
                                      <p:cBhvr override="childStyle">
                                        <p:cTn dur="1" fill="hold" display="0" masterRel="nextClick" afterEffect="1"/>
                                        <p:tgtEl>
                                          <p:spTgt spid="245"/>
                                        </p:tgtEl>
                                        <p:attrNameLst>
                                          <p:attrName>style.visibility</p:attrName>
                                        </p:attrNameLst>
                                      </p:cBhvr>
                                      <p:to>
                                        <p:strVal val="hidden"/>
                                      </p:to>
                                    </p:set>
                                  </p:subTnLst>
                                </p:cTn>
                              </p:par>
                            </p:childTnLst>
                          </p:cTn>
                        </p:par>
                        <p:par>
                          <p:cTn id="226" fill="hold" nodeType="afterGroup">
                            <p:stCondLst>
                              <p:cond delay="730000"/>
                            </p:stCondLst>
                            <p:childTnLst>
                              <p:par>
                                <p:cTn id="227" presetID="1" presetClass="entr" presetSubtype="0" fill="hold" grpId="0" nodeType="afterEffect">
                                  <p:stCondLst>
                                    <p:cond delay="10000"/>
                                  </p:stCondLst>
                                  <p:childTnLst>
                                    <p:set>
                                      <p:cBhvr>
                                        <p:cTn id="228" dur="1" fill="hold">
                                          <p:stCondLst>
                                            <p:cond delay="0"/>
                                          </p:stCondLst>
                                        </p:cTn>
                                        <p:tgtEl>
                                          <p:spTgt spid="246"/>
                                        </p:tgtEl>
                                        <p:attrNameLst>
                                          <p:attrName>style.visibility</p:attrName>
                                        </p:attrNameLst>
                                      </p:cBhvr>
                                      <p:to>
                                        <p:strVal val="visible"/>
                                      </p:to>
                                    </p:set>
                                  </p:childTnLst>
                                  <p:subTnLst>
                                    <p:set>
                                      <p:cBhvr override="childStyle">
                                        <p:cTn dur="1" fill="hold" display="0" masterRel="nextClick" afterEffect="1"/>
                                        <p:tgtEl>
                                          <p:spTgt spid="246"/>
                                        </p:tgtEl>
                                        <p:attrNameLst>
                                          <p:attrName>style.visibility</p:attrName>
                                        </p:attrNameLst>
                                      </p:cBhvr>
                                      <p:to>
                                        <p:strVal val="hidden"/>
                                      </p:to>
                                    </p:set>
                                  </p:subTnLst>
                                </p:cTn>
                              </p:par>
                            </p:childTnLst>
                          </p:cTn>
                        </p:par>
                        <p:par>
                          <p:cTn id="229" fill="hold" nodeType="afterGroup">
                            <p:stCondLst>
                              <p:cond delay="740000"/>
                            </p:stCondLst>
                            <p:childTnLst>
                              <p:par>
                                <p:cTn id="230" presetID="1" presetClass="entr" presetSubtype="0" fill="hold" grpId="0" nodeType="afterEffect">
                                  <p:stCondLst>
                                    <p:cond delay="10000"/>
                                  </p:stCondLst>
                                  <p:childTnLst>
                                    <p:set>
                                      <p:cBhvr>
                                        <p:cTn id="231" dur="1" fill="hold">
                                          <p:stCondLst>
                                            <p:cond delay="0"/>
                                          </p:stCondLst>
                                        </p:cTn>
                                        <p:tgtEl>
                                          <p:spTgt spid="247"/>
                                        </p:tgtEl>
                                        <p:attrNameLst>
                                          <p:attrName>style.visibility</p:attrName>
                                        </p:attrNameLst>
                                      </p:cBhvr>
                                      <p:to>
                                        <p:strVal val="visible"/>
                                      </p:to>
                                    </p:set>
                                  </p:childTnLst>
                                  <p:subTnLst>
                                    <p:set>
                                      <p:cBhvr override="childStyle">
                                        <p:cTn dur="1" fill="hold" display="0" masterRel="nextClick" afterEffect="1"/>
                                        <p:tgtEl>
                                          <p:spTgt spid="247"/>
                                        </p:tgtEl>
                                        <p:attrNameLst>
                                          <p:attrName>style.visibility</p:attrName>
                                        </p:attrNameLst>
                                      </p:cBhvr>
                                      <p:to>
                                        <p:strVal val="hidden"/>
                                      </p:to>
                                    </p:set>
                                  </p:subTnLst>
                                </p:cTn>
                              </p:par>
                            </p:childTnLst>
                          </p:cTn>
                        </p:par>
                        <p:par>
                          <p:cTn id="232" fill="hold" nodeType="afterGroup">
                            <p:stCondLst>
                              <p:cond delay="750000"/>
                            </p:stCondLst>
                            <p:childTnLst>
                              <p:par>
                                <p:cTn id="233" presetID="1" presetClass="entr" presetSubtype="0" fill="hold" grpId="0" nodeType="afterEffect">
                                  <p:stCondLst>
                                    <p:cond delay="10000"/>
                                  </p:stCondLst>
                                  <p:childTnLst>
                                    <p:set>
                                      <p:cBhvr>
                                        <p:cTn id="234" dur="1" fill="hold">
                                          <p:stCondLst>
                                            <p:cond delay="0"/>
                                          </p:stCondLst>
                                        </p:cTn>
                                        <p:tgtEl>
                                          <p:spTgt spid="248"/>
                                        </p:tgtEl>
                                        <p:attrNameLst>
                                          <p:attrName>style.visibility</p:attrName>
                                        </p:attrNameLst>
                                      </p:cBhvr>
                                      <p:to>
                                        <p:strVal val="visible"/>
                                      </p:to>
                                    </p:set>
                                  </p:childTnLst>
                                  <p:subTnLst>
                                    <p:set>
                                      <p:cBhvr override="childStyle">
                                        <p:cTn dur="1" fill="hold" display="0" masterRel="nextClick" afterEffect="1"/>
                                        <p:tgtEl>
                                          <p:spTgt spid="248"/>
                                        </p:tgtEl>
                                        <p:attrNameLst>
                                          <p:attrName>style.visibility</p:attrName>
                                        </p:attrNameLst>
                                      </p:cBhvr>
                                      <p:to>
                                        <p:strVal val="hidden"/>
                                      </p:to>
                                    </p:set>
                                  </p:subTnLst>
                                </p:cTn>
                              </p:par>
                            </p:childTnLst>
                          </p:cTn>
                        </p:par>
                        <p:par>
                          <p:cTn id="235" fill="hold" nodeType="afterGroup">
                            <p:stCondLst>
                              <p:cond delay="760000"/>
                            </p:stCondLst>
                            <p:childTnLst>
                              <p:par>
                                <p:cTn id="236" presetID="1" presetClass="entr" presetSubtype="0" fill="hold" grpId="0" nodeType="afterEffect">
                                  <p:stCondLst>
                                    <p:cond delay="10000"/>
                                  </p:stCondLst>
                                  <p:childTnLst>
                                    <p:set>
                                      <p:cBhvr>
                                        <p:cTn id="237" dur="1" fill="hold">
                                          <p:stCondLst>
                                            <p:cond delay="0"/>
                                          </p:stCondLst>
                                        </p:cTn>
                                        <p:tgtEl>
                                          <p:spTgt spid="249"/>
                                        </p:tgtEl>
                                        <p:attrNameLst>
                                          <p:attrName>style.visibility</p:attrName>
                                        </p:attrNameLst>
                                      </p:cBhvr>
                                      <p:to>
                                        <p:strVal val="visible"/>
                                      </p:to>
                                    </p:set>
                                  </p:childTnLst>
                                  <p:subTnLst>
                                    <p:set>
                                      <p:cBhvr override="childStyle">
                                        <p:cTn dur="1" fill="hold" display="0" masterRel="nextClick" afterEffect="1"/>
                                        <p:tgtEl>
                                          <p:spTgt spid="249"/>
                                        </p:tgtEl>
                                        <p:attrNameLst>
                                          <p:attrName>style.visibility</p:attrName>
                                        </p:attrNameLst>
                                      </p:cBhvr>
                                      <p:to>
                                        <p:strVal val="hidden"/>
                                      </p:to>
                                    </p:set>
                                  </p:subTnLst>
                                </p:cTn>
                              </p:par>
                            </p:childTnLst>
                          </p:cTn>
                        </p:par>
                        <p:par>
                          <p:cTn id="238" fill="hold" nodeType="afterGroup">
                            <p:stCondLst>
                              <p:cond delay="770000"/>
                            </p:stCondLst>
                            <p:childTnLst>
                              <p:par>
                                <p:cTn id="239" presetID="1" presetClass="entr" presetSubtype="0" fill="hold" grpId="0" nodeType="afterEffect">
                                  <p:stCondLst>
                                    <p:cond delay="10000"/>
                                  </p:stCondLst>
                                  <p:childTnLst>
                                    <p:set>
                                      <p:cBhvr>
                                        <p:cTn id="240" dur="1" fill="hold">
                                          <p:stCondLst>
                                            <p:cond delay="0"/>
                                          </p:stCondLst>
                                        </p:cTn>
                                        <p:tgtEl>
                                          <p:spTgt spid="251"/>
                                        </p:tgtEl>
                                        <p:attrNameLst>
                                          <p:attrName>style.visibility</p:attrName>
                                        </p:attrNameLst>
                                      </p:cBhvr>
                                      <p:to>
                                        <p:strVal val="visible"/>
                                      </p:to>
                                    </p:set>
                                  </p:childTnLst>
                                </p:cTn>
                              </p:par>
                            </p:childTnLst>
                          </p:cTn>
                        </p:par>
                        <p:par>
                          <p:cTn id="241" fill="hold" nodeType="afterGroup">
                            <p:stCondLst>
                              <p:cond delay="780000"/>
                            </p:stCondLst>
                            <p:childTnLst>
                              <p:par>
                                <p:cTn id="242" presetID="1" presetClass="entr" presetSubtype="0" fill="hold" grpId="0" nodeType="afterEffect">
                                  <p:stCondLst>
                                    <p:cond delay="10000"/>
                                  </p:stCondLst>
                                  <p:childTnLst>
                                    <p:set>
                                      <p:cBhvr>
                                        <p:cTn id="243" dur="1" fill="hold">
                                          <p:stCondLst>
                                            <p:cond delay="0"/>
                                          </p:stCondLst>
                                        </p:cTn>
                                        <p:tgtEl>
                                          <p:spTgt spid="252"/>
                                        </p:tgtEl>
                                        <p:attrNameLst>
                                          <p:attrName>style.visibility</p:attrName>
                                        </p:attrNameLst>
                                      </p:cBhvr>
                                      <p:to>
                                        <p:strVal val="visible"/>
                                      </p:to>
                                    </p:set>
                                  </p:childTnLst>
                                  <p:subTnLst>
                                    <p:set>
                                      <p:cBhvr override="childStyle">
                                        <p:cTn dur="1" fill="hold" display="0" masterRel="nextClick" afterEffect="1"/>
                                        <p:tgtEl>
                                          <p:spTgt spid="252"/>
                                        </p:tgtEl>
                                        <p:attrNameLst>
                                          <p:attrName>style.visibility</p:attrName>
                                        </p:attrNameLst>
                                      </p:cBhvr>
                                      <p:to>
                                        <p:strVal val="hidden"/>
                                      </p:to>
                                    </p:set>
                                  </p:subTnLst>
                                </p:cTn>
                              </p:par>
                            </p:childTnLst>
                          </p:cTn>
                        </p:par>
                        <p:par>
                          <p:cTn id="244" fill="hold" nodeType="afterGroup">
                            <p:stCondLst>
                              <p:cond delay="790000"/>
                            </p:stCondLst>
                            <p:childTnLst>
                              <p:par>
                                <p:cTn id="245" presetID="1" presetClass="entr" presetSubtype="0" fill="hold" grpId="0" nodeType="afterEffect">
                                  <p:stCondLst>
                                    <p:cond delay="10000"/>
                                  </p:stCondLst>
                                  <p:childTnLst>
                                    <p:set>
                                      <p:cBhvr>
                                        <p:cTn id="246" dur="1" fill="hold">
                                          <p:stCondLst>
                                            <p:cond delay="0"/>
                                          </p:stCondLst>
                                        </p:cTn>
                                        <p:tgtEl>
                                          <p:spTgt spid="253"/>
                                        </p:tgtEl>
                                        <p:attrNameLst>
                                          <p:attrName>style.visibility</p:attrName>
                                        </p:attrNameLst>
                                      </p:cBhvr>
                                      <p:to>
                                        <p:strVal val="visible"/>
                                      </p:to>
                                    </p:set>
                                  </p:childTnLst>
                                  <p:subTnLst>
                                    <p:set>
                                      <p:cBhvr override="childStyle">
                                        <p:cTn dur="1" fill="hold" display="0" masterRel="nextClick" afterEffect="1"/>
                                        <p:tgtEl>
                                          <p:spTgt spid="253"/>
                                        </p:tgtEl>
                                        <p:attrNameLst>
                                          <p:attrName>style.visibility</p:attrName>
                                        </p:attrNameLst>
                                      </p:cBhvr>
                                      <p:to>
                                        <p:strVal val="hidden"/>
                                      </p:to>
                                    </p:set>
                                  </p:subTnLst>
                                </p:cTn>
                              </p:par>
                            </p:childTnLst>
                          </p:cTn>
                        </p:par>
                        <p:par>
                          <p:cTn id="247" fill="hold" nodeType="afterGroup">
                            <p:stCondLst>
                              <p:cond delay="800000"/>
                            </p:stCondLst>
                            <p:childTnLst>
                              <p:par>
                                <p:cTn id="248" presetID="1" presetClass="entr" presetSubtype="0" fill="hold" grpId="0" nodeType="afterEffect">
                                  <p:stCondLst>
                                    <p:cond delay="10000"/>
                                  </p:stCondLst>
                                  <p:childTnLst>
                                    <p:set>
                                      <p:cBhvr>
                                        <p:cTn id="249" dur="1" fill="hold">
                                          <p:stCondLst>
                                            <p:cond delay="0"/>
                                          </p:stCondLst>
                                        </p:cTn>
                                        <p:tgtEl>
                                          <p:spTgt spid="254"/>
                                        </p:tgtEl>
                                        <p:attrNameLst>
                                          <p:attrName>style.visibility</p:attrName>
                                        </p:attrNameLst>
                                      </p:cBhvr>
                                      <p:to>
                                        <p:strVal val="visible"/>
                                      </p:to>
                                    </p:set>
                                  </p:childTnLst>
                                  <p:subTnLst>
                                    <p:set>
                                      <p:cBhvr override="childStyle">
                                        <p:cTn dur="1" fill="hold" display="0" masterRel="nextClick" afterEffect="1"/>
                                        <p:tgtEl>
                                          <p:spTgt spid="254"/>
                                        </p:tgtEl>
                                        <p:attrNameLst>
                                          <p:attrName>style.visibility</p:attrName>
                                        </p:attrNameLst>
                                      </p:cBhvr>
                                      <p:to>
                                        <p:strVal val="hidden"/>
                                      </p:to>
                                    </p:set>
                                  </p:subTnLst>
                                </p:cTn>
                              </p:par>
                            </p:childTnLst>
                          </p:cTn>
                        </p:par>
                        <p:par>
                          <p:cTn id="250" fill="hold" nodeType="afterGroup">
                            <p:stCondLst>
                              <p:cond delay="810000"/>
                            </p:stCondLst>
                            <p:childTnLst>
                              <p:par>
                                <p:cTn id="251" presetID="1" presetClass="entr" presetSubtype="0" fill="hold" grpId="0" nodeType="afterEffect">
                                  <p:stCondLst>
                                    <p:cond delay="10000"/>
                                  </p:stCondLst>
                                  <p:childTnLst>
                                    <p:set>
                                      <p:cBhvr>
                                        <p:cTn id="252" dur="1" fill="hold">
                                          <p:stCondLst>
                                            <p:cond delay="0"/>
                                          </p:stCondLst>
                                        </p:cTn>
                                        <p:tgtEl>
                                          <p:spTgt spid="255"/>
                                        </p:tgtEl>
                                        <p:attrNameLst>
                                          <p:attrName>style.visibility</p:attrName>
                                        </p:attrNameLst>
                                      </p:cBhvr>
                                      <p:to>
                                        <p:strVal val="visible"/>
                                      </p:to>
                                    </p:set>
                                  </p:childTnLst>
                                  <p:subTnLst>
                                    <p:set>
                                      <p:cBhvr override="childStyle">
                                        <p:cTn dur="1" fill="hold" display="0" masterRel="nextClick" afterEffect="1"/>
                                        <p:tgtEl>
                                          <p:spTgt spid="255"/>
                                        </p:tgtEl>
                                        <p:attrNameLst>
                                          <p:attrName>style.visibility</p:attrName>
                                        </p:attrNameLst>
                                      </p:cBhvr>
                                      <p:to>
                                        <p:strVal val="hidden"/>
                                      </p:to>
                                    </p:set>
                                  </p:subTnLst>
                                </p:cTn>
                              </p:par>
                            </p:childTnLst>
                          </p:cTn>
                        </p:par>
                        <p:par>
                          <p:cTn id="253" fill="hold" nodeType="afterGroup">
                            <p:stCondLst>
                              <p:cond delay="820000"/>
                            </p:stCondLst>
                            <p:childTnLst>
                              <p:par>
                                <p:cTn id="254" presetID="1" presetClass="entr" presetSubtype="0" fill="hold" grpId="0" nodeType="afterEffect">
                                  <p:stCondLst>
                                    <p:cond delay="10000"/>
                                  </p:stCondLst>
                                  <p:childTnLst>
                                    <p:set>
                                      <p:cBhvr>
                                        <p:cTn id="255" dur="1" fill="hold">
                                          <p:stCondLst>
                                            <p:cond delay="0"/>
                                          </p:stCondLst>
                                        </p:cTn>
                                        <p:tgtEl>
                                          <p:spTgt spid="256"/>
                                        </p:tgtEl>
                                        <p:attrNameLst>
                                          <p:attrName>style.visibility</p:attrName>
                                        </p:attrNameLst>
                                      </p:cBhvr>
                                      <p:to>
                                        <p:strVal val="visible"/>
                                      </p:to>
                                    </p:set>
                                  </p:childTnLst>
                                  <p:subTnLst>
                                    <p:set>
                                      <p:cBhvr override="childStyle">
                                        <p:cTn dur="1" fill="hold" display="0" masterRel="nextClick" afterEffect="1"/>
                                        <p:tgtEl>
                                          <p:spTgt spid="256"/>
                                        </p:tgtEl>
                                        <p:attrNameLst>
                                          <p:attrName>style.visibility</p:attrName>
                                        </p:attrNameLst>
                                      </p:cBhvr>
                                      <p:to>
                                        <p:strVal val="hidden"/>
                                      </p:to>
                                    </p:set>
                                  </p:subTnLst>
                                </p:cTn>
                              </p:par>
                            </p:childTnLst>
                          </p:cTn>
                        </p:par>
                        <p:par>
                          <p:cTn id="256" fill="hold" nodeType="afterGroup">
                            <p:stCondLst>
                              <p:cond delay="830000"/>
                            </p:stCondLst>
                            <p:childTnLst>
                              <p:par>
                                <p:cTn id="257" presetID="1" presetClass="entr" presetSubtype="0" fill="hold" grpId="0" nodeType="afterEffect">
                                  <p:stCondLst>
                                    <p:cond delay="10000"/>
                                  </p:stCondLst>
                                  <p:childTnLst>
                                    <p:set>
                                      <p:cBhvr>
                                        <p:cTn id="258" dur="1" fill="hold">
                                          <p:stCondLst>
                                            <p:cond delay="0"/>
                                          </p:stCondLst>
                                        </p:cTn>
                                        <p:tgtEl>
                                          <p:spTgt spid="258"/>
                                        </p:tgtEl>
                                        <p:attrNameLst>
                                          <p:attrName>style.visibility</p:attrName>
                                        </p:attrNameLst>
                                      </p:cBhvr>
                                      <p:to>
                                        <p:strVal val="visible"/>
                                      </p:to>
                                    </p:set>
                                  </p:childTnLst>
                                </p:cTn>
                              </p:par>
                            </p:childTnLst>
                          </p:cTn>
                        </p:par>
                        <p:par>
                          <p:cTn id="259" fill="hold" nodeType="afterGroup">
                            <p:stCondLst>
                              <p:cond delay="840000"/>
                            </p:stCondLst>
                            <p:childTnLst>
                              <p:par>
                                <p:cTn id="260" presetID="1" presetClass="entr" presetSubtype="0" fill="hold" grpId="0" nodeType="afterEffect">
                                  <p:stCondLst>
                                    <p:cond delay="10000"/>
                                  </p:stCondLst>
                                  <p:childTnLst>
                                    <p:set>
                                      <p:cBhvr>
                                        <p:cTn id="261" dur="1" fill="hold">
                                          <p:stCondLst>
                                            <p:cond delay="0"/>
                                          </p:stCondLst>
                                        </p:cTn>
                                        <p:tgtEl>
                                          <p:spTgt spid="259"/>
                                        </p:tgtEl>
                                        <p:attrNameLst>
                                          <p:attrName>style.visibility</p:attrName>
                                        </p:attrNameLst>
                                      </p:cBhvr>
                                      <p:to>
                                        <p:strVal val="visible"/>
                                      </p:to>
                                    </p:set>
                                  </p:childTnLst>
                                  <p:subTnLst>
                                    <p:set>
                                      <p:cBhvr override="childStyle">
                                        <p:cTn dur="1" fill="hold" display="0" masterRel="nextClick" afterEffect="1"/>
                                        <p:tgtEl>
                                          <p:spTgt spid="259"/>
                                        </p:tgtEl>
                                        <p:attrNameLst>
                                          <p:attrName>style.visibility</p:attrName>
                                        </p:attrNameLst>
                                      </p:cBhvr>
                                      <p:to>
                                        <p:strVal val="hidden"/>
                                      </p:to>
                                    </p:set>
                                  </p:subTnLst>
                                </p:cTn>
                              </p:par>
                            </p:childTnLst>
                          </p:cTn>
                        </p:par>
                        <p:par>
                          <p:cTn id="262" fill="hold" nodeType="afterGroup">
                            <p:stCondLst>
                              <p:cond delay="850000"/>
                            </p:stCondLst>
                            <p:childTnLst>
                              <p:par>
                                <p:cTn id="263" presetID="1" presetClass="entr" presetSubtype="0" fill="hold" grpId="0" nodeType="afterEffect">
                                  <p:stCondLst>
                                    <p:cond delay="10000"/>
                                  </p:stCondLst>
                                  <p:childTnLst>
                                    <p:set>
                                      <p:cBhvr>
                                        <p:cTn id="264" dur="1" fill="hold">
                                          <p:stCondLst>
                                            <p:cond delay="0"/>
                                          </p:stCondLst>
                                        </p:cTn>
                                        <p:tgtEl>
                                          <p:spTgt spid="260"/>
                                        </p:tgtEl>
                                        <p:attrNameLst>
                                          <p:attrName>style.visibility</p:attrName>
                                        </p:attrNameLst>
                                      </p:cBhvr>
                                      <p:to>
                                        <p:strVal val="visible"/>
                                      </p:to>
                                    </p:set>
                                  </p:childTnLst>
                                  <p:subTnLst>
                                    <p:set>
                                      <p:cBhvr override="childStyle">
                                        <p:cTn dur="1" fill="hold" display="0" masterRel="nextClick" afterEffect="1"/>
                                        <p:tgtEl>
                                          <p:spTgt spid="260"/>
                                        </p:tgtEl>
                                        <p:attrNameLst>
                                          <p:attrName>style.visibility</p:attrName>
                                        </p:attrNameLst>
                                      </p:cBhvr>
                                      <p:to>
                                        <p:strVal val="hidden"/>
                                      </p:to>
                                    </p:set>
                                  </p:subTnLst>
                                </p:cTn>
                              </p:par>
                            </p:childTnLst>
                          </p:cTn>
                        </p:par>
                        <p:par>
                          <p:cTn id="265" fill="hold" nodeType="afterGroup">
                            <p:stCondLst>
                              <p:cond delay="860000"/>
                            </p:stCondLst>
                            <p:childTnLst>
                              <p:par>
                                <p:cTn id="266" presetID="1" presetClass="entr" presetSubtype="0" fill="hold" grpId="0" nodeType="afterEffect">
                                  <p:stCondLst>
                                    <p:cond delay="10000"/>
                                  </p:stCondLst>
                                  <p:childTnLst>
                                    <p:set>
                                      <p:cBhvr>
                                        <p:cTn id="267" dur="1" fill="hold">
                                          <p:stCondLst>
                                            <p:cond delay="0"/>
                                          </p:stCondLst>
                                        </p:cTn>
                                        <p:tgtEl>
                                          <p:spTgt spid="261"/>
                                        </p:tgtEl>
                                        <p:attrNameLst>
                                          <p:attrName>style.visibility</p:attrName>
                                        </p:attrNameLst>
                                      </p:cBhvr>
                                      <p:to>
                                        <p:strVal val="visible"/>
                                      </p:to>
                                    </p:set>
                                  </p:childTnLst>
                                  <p:subTnLst>
                                    <p:set>
                                      <p:cBhvr override="childStyle">
                                        <p:cTn dur="1" fill="hold" display="0" masterRel="nextClick" afterEffect="1"/>
                                        <p:tgtEl>
                                          <p:spTgt spid="261"/>
                                        </p:tgtEl>
                                        <p:attrNameLst>
                                          <p:attrName>style.visibility</p:attrName>
                                        </p:attrNameLst>
                                      </p:cBhvr>
                                      <p:to>
                                        <p:strVal val="hidden"/>
                                      </p:to>
                                    </p:set>
                                  </p:subTnLst>
                                </p:cTn>
                              </p:par>
                            </p:childTnLst>
                          </p:cTn>
                        </p:par>
                        <p:par>
                          <p:cTn id="268" fill="hold" nodeType="afterGroup">
                            <p:stCondLst>
                              <p:cond delay="870000"/>
                            </p:stCondLst>
                            <p:childTnLst>
                              <p:par>
                                <p:cTn id="269" presetID="1" presetClass="entr" presetSubtype="0" fill="hold" grpId="0" nodeType="afterEffect">
                                  <p:stCondLst>
                                    <p:cond delay="10000"/>
                                  </p:stCondLst>
                                  <p:childTnLst>
                                    <p:set>
                                      <p:cBhvr>
                                        <p:cTn id="270" dur="1" fill="hold">
                                          <p:stCondLst>
                                            <p:cond delay="0"/>
                                          </p:stCondLst>
                                        </p:cTn>
                                        <p:tgtEl>
                                          <p:spTgt spid="262"/>
                                        </p:tgtEl>
                                        <p:attrNameLst>
                                          <p:attrName>style.visibility</p:attrName>
                                        </p:attrNameLst>
                                      </p:cBhvr>
                                      <p:to>
                                        <p:strVal val="visible"/>
                                      </p:to>
                                    </p:set>
                                  </p:childTnLst>
                                  <p:subTnLst>
                                    <p:set>
                                      <p:cBhvr override="childStyle">
                                        <p:cTn dur="1" fill="hold" display="0" masterRel="nextClick" afterEffect="1"/>
                                        <p:tgtEl>
                                          <p:spTgt spid="262"/>
                                        </p:tgtEl>
                                        <p:attrNameLst>
                                          <p:attrName>style.visibility</p:attrName>
                                        </p:attrNameLst>
                                      </p:cBhvr>
                                      <p:to>
                                        <p:strVal val="hidden"/>
                                      </p:to>
                                    </p:set>
                                  </p:subTnLst>
                                </p:cTn>
                              </p:par>
                            </p:childTnLst>
                          </p:cTn>
                        </p:par>
                        <p:par>
                          <p:cTn id="271" fill="hold" nodeType="afterGroup">
                            <p:stCondLst>
                              <p:cond delay="880000"/>
                            </p:stCondLst>
                            <p:childTnLst>
                              <p:par>
                                <p:cTn id="272" presetID="1" presetClass="entr" presetSubtype="0" fill="hold" grpId="0" nodeType="afterEffect">
                                  <p:stCondLst>
                                    <p:cond delay="10000"/>
                                  </p:stCondLst>
                                  <p:childTnLst>
                                    <p:set>
                                      <p:cBhvr>
                                        <p:cTn id="273" dur="1" fill="hold">
                                          <p:stCondLst>
                                            <p:cond delay="0"/>
                                          </p:stCondLst>
                                        </p:cTn>
                                        <p:tgtEl>
                                          <p:spTgt spid="263"/>
                                        </p:tgtEl>
                                        <p:attrNameLst>
                                          <p:attrName>style.visibility</p:attrName>
                                        </p:attrNameLst>
                                      </p:cBhvr>
                                      <p:to>
                                        <p:strVal val="visible"/>
                                      </p:to>
                                    </p:set>
                                  </p:childTnLst>
                                  <p:subTnLst>
                                    <p:set>
                                      <p:cBhvr override="childStyle">
                                        <p:cTn dur="1" fill="hold" display="0" masterRel="nextClick" afterEffect="1"/>
                                        <p:tgtEl>
                                          <p:spTgt spid="263"/>
                                        </p:tgtEl>
                                        <p:attrNameLst>
                                          <p:attrName>style.visibility</p:attrName>
                                        </p:attrNameLst>
                                      </p:cBhvr>
                                      <p:to>
                                        <p:strVal val="hidden"/>
                                      </p:to>
                                    </p:set>
                                  </p:subTnLst>
                                </p:cTn>
                              </p:par>
                            </p:childTnLst>
                          </p:cTn>
                        </p:par>
                        <p:par>
                          <p:cTn id="274" fill="hold" nodeType="afterGroup">
                            <p:stCondLst>
                              <p:cond delay="890000"/>
                            </p:stCondLst>
                            <p:childTnLst>
                              <p:par>
                                <p:cTn id="275" presetID="1" presetClass="entr" presetSubtype="0" fill="hold" grpId="0" nodeType="afterEffect">
                                  <p:stCondLst>
                                    <p:cond delay="10000"/>
                                  </p:stCondLst>
                                  <p:childTnLst>
                                    <p:set>
                                      <p:cBhvr>
                                        <p:cTn id="276" dur="1" fill="hold">
                                          <p:stCondLst>
                                            <p:cond delay="0"/>
                                          </p:stCondLst>
                                        </p:cTn>
                                        <p:tgtEl>
                                          <p:spTgt spid="265"/>
                                        </p:tgtEl>
                                        <p:attrNameLst>
                                          <p:attrName>style.visibility</p:attrName>
                                        </p:attrNameLst>
                                      </p:cBhvr>
                                      <p:to>
                                        <p:strVal val="visible"/>
                                      </p:to>
                                    </p:set>
                                  </p:childTnLst>
                                </p:cTn>
                              </p:par>
                            </p:childTnLst>
                          </p:cTn>
                        </p:par>
                        <p:par>
                          <p:cTn id="277" fill="hold" nodeType="afterGroup">
                            <p:stCondLst>
                              <p:cond delay="900000"/>
                            </p:stCondLst>
                            <p:childTnLst>
                              <p:par>
                                <p:cTn id="278" presetID="1" presetClass="entr" presetSubtype="0" fill="hold" grpId="0" nodeType="afterEffect">
                                  <p:stCondLst>
                                    <p:cond delay="10000"/>
                                  </p:stCondLst>
                                  <p:childTnLst>
                                    <p:set>
                                      <p:cBhvr>
                                        <p:cTn id="279" dur="1" fill="hold">
                                          <p:stCondLst>
                                            <p:cond delay="0"/>
                                          </p:stCondLst>
                                        </p:cTn>
                                        <p:tgtEl>
                                          <p:spTgt spid="266"/>
                                        </p:tgtEl>
                                        <p:attrNameLst>
                                          <p:attrName>style.visibility</p:attrName>
                                        </p:attrNameLst>
                                      </p:cBhvr>
                                      <p:to>
                                        <p:strVal val="visible"/>
                                      </p:to>
                                    </p:set>
                                  </p:childTnLst>
                                  <p:subTnLst>
                                    <p:set>
                                      <p:cBhvr override="childStyle">
                                        <p:cTn dur="1" fill="hold" display="0" masterRel="nextClick" afterEffect="1"/>
                                        <p:tgtEl>
                                          <p:spTgt spid="266"/>
                                        </p:tgtEl>
                                        <p:attrNameLst>
                                          <p:attrName>style.visibility</p:attrName>
                                        </p:attrNameLst>
                                      </p:cBhvr>
                                      <p:to>
                                        <p:strVal val="hidden"/>
                                      </p:to>
                                    </p:set>
                                  </p:subTnLst>
                                </p:cTn>
                              </p:par>
                            </p:childTnLst>
                          </p:cTn>
                        </p:par>
                        <p:par>
                          <p:cTn id="280" fill="hold" nodeType="afterGroup">
                            <p:stCondLst>
                              <p:cond delay="910000"/>
                            </p:stCondLst>
                            <p:childTnLst>
                              <p:par>
                                <p:cTn id="281" presetID="1" presetClass="entr" presetSubtype="0" fill="hold" grpId="0" nodeType="afterEffect">
                                  <p:stCondLst>
                                    <p:cond delay="10000"/>
                                  </p:stCondLst>
                                  <p:childTnLst>
                                    <p:set>
                                      <p:cBhvr>
                                        <p:cTn id="282" dur="1" fill="hold">
                                          <p:stCondLst>
                                            <p:cond delay="0"/>
                                          </p:stCondLst>
                                        </p:cTn>
                                        <p:tgtEl>
                                          <p:spTgt spid="267"/>
                                        </p:tgtEl>
                                        <p:attrNameLst>
                                          <p:attrName>style.visibility</p:attrName>
                                        </p:attrNameLst>
                                      </p:cBhvr>
                                      <p:to>
                                        <p:strVal val="visible"/>
                                      </p:to>
                                    </p:set>
                                  </p:childTnLst>
                                  <p:subTnLst>
                                    <p:set>
                                      <p:cBhvr override="childStyle">
                                        <p:cTn dur="1" fill="hold" display="0" masterRel="nextClick" afterEffect="1"/>
                                        <p:tgtEl>
                                          <p:spTgt spid="267"/>
                                        </p:tgtEl>
                                        <p:attrNameLst>
                                          <p:attrName>style.visibility</p:attrName>
                                        </p:attrNameLst>
                                      </p:cBhvr>
                                      <p:to>
                                        <p:strVal val="hidden"/>
                                      </p:to>
                                    </p:set>
                                  </p:subTnLst>
                                </p:cTn>
                              </p:par>
                            </p:childTnLst>
                          </p:cTn>
                        </p:par>
                        <p:par>
                          <p:cTn id="283" fill="hold" nodeType="afterGroup">
                            <p:stCondLst>
                              <p:cond delay="920000"/>
                            </p:stCondLst>
                            <p:childTnLst>
                              <p:par>
                                <p:cTn id="284" presetID="1" presetClass="entr" presetSubtype="0" fill="hold" grpId="0" nodeType="afterEffect">
                                  <p:stCondLst>
                                    <p:cond delay="10000"/>
                                  </p:stCondLst>
                                  <p:childTnLst>
                                    <p:set>
                                      <p:cBhvr>
                                        <p:cTn id="285" dur="1" fill="hold">
                                          <p:stCondLst>
                                            <p:cond delay="0"/>
                                          </p:stCondLst>
                                        </p:cTn>
                                        <p:tgtEl>
                                          <p:spTgt spid="268"/>
                                        </p:tgtEl>
                                        <p:attrNameLst>
                                          <p:attrName>style.visibility</p:attrName>
                                        </p:attrNameLst>
                                      </p:cBhvr>
                                      <p:to>
                                        <p:strVal val="visible"/>
                                      </p:to>
                                    </p:set>
                                  </p:childTnLst>
                                  <p:subTnLst>
                                    <p:set>
                                      <p:cBhvr override="childStyle">
                                        <p:cTn dur="1" fill="hold" display="0" masterRel="nextClick" afterEffect="1"/>
                                        <p:tgtEl>
                                          <p:spTgt spid="268"/>
                                        </p:tgtEl>
                                        <p:attrNameLst>
                                          <p:attrName>style.visibility</p:attrName>
                                        </p:attrNameLst>
                                      </p:cBhvr>
                                      <p:to>
                                        <p:strVal val="hidden"/>
                                      </p:to>
                                    </p:set>
                                  </p:subTnLst>
                                </p:cTn>
                              </p:par>
                            </p:childTnLst>
                          </p:cTn>
                        </p:par>
                        <p:par>
                          <p:cTn id="286" fill="hold" nodeType="afterGroup">
                            <p:stCondLst>
                              <p:cond delay="930000"/>
                            </p:stCondLst>
                            <p:childTnLst>
                              <p:par>
                                <p:cTn id="287" presetID="1" presetClass="entr" presetSubtype="0" fill="hold" grpId="0" nodeType="afterEffect">
                                  <p:stCondLst>
                                    <p:cond delay="10000"/>
                                  </p:stCondLst>
                                  <p:childTnLst>
                                    <p:set>
                                      <p:cBhvr>
                                        <p:cTn id="288" dur="1" fill="hold">
                                          <p:stCondLst>
                                            <p:cond delay="0"/>
                                          </p:stCondLst>
                                        </p:cTn>
                                        <p:tgtEl>
                                          <p:spTgt spid="269"/>
                                        </p:tgtEl>
                                        <p:attrNameLst>
                                          <p:attrName>style.visibility</p:attrName>
                                        </p:attrNameLst>
                                      </p:cBhvr>
                                      <p:to>
                                        <p:strVal val="visible"/>
                                      </p:to>
                                    </p:set>
                                  </p:childTnLst>
                                  <p:subTnLst>
                                    <p:set>
                                      <p:cBhvr override="childStyle">
                                        <p:cTn dur="1" fill="hold" display="0" masterRel="nextClick" afterEffect="1"/>
                                        <p:tgtEl>
                                          <p:spTgt spid="269"/>
                                        </p:tgtEl>
                                        <p:attrNameLst>
                                          <p:attrName>style.visibility</p:attrName>
                                        </p:attrNameLst>
                                      </p:cBhvr>
                                      <p:to>
                                        <p:strVal val="hidden"/>
                                      </p:to>
                                    </p:set>
                                  </p:subTnLst>
                                </p:cTn>
                              </p:par>
                            </p:childTnLst>
                          </p:cTn>
                        </p:par>
                        <p:par>
                          <p:cTn id="289" fill="hold" nodeType="afterGroup">
                            <p:stCondLst>
                              <p:cond delay="940000"/>
                            </p:stCondLst>
                            <p:childTnLst>
                              <p:par>
                                <p:cTn id="290" presetID="1" presetClass="entr" presetSubtype="0" fill="hold" grpId="0" nodeType="afterEffect">
                                  <p:stCondLst>
                                    <p:cond delay="10000"/>
                                  </p:stCondLst>
                                  <p:childTnLst>
                                    <p:set>
                                      <p:cBhvr>
                                        <p:cTn id="291" dur="1" fill="hold">
                                          <p:stCondLst>
                                            <p:cond delay="0"/>
                                          </p:stCondLst>
                                        </p:cTn>
                                        <p:tgtEl>
                                          <p:spTgt spid="270"/>
                                        </p:tgtEl>
                                        <p:attrNameLst>
                                          <p:attrName>style.visibility</p:attrName>
                                        </p:attrNameLst>
                                      </p:cBhvr>
                                      <p:to>
                                        <p:strVal val="visible"/>
                                      </p:to>
                                    </p:set>
                                  </p:childTnLst>
                                  <p:subTnLst>
                                    <p:set>
                                      <p:cBhvr override="childStyle">
                                        <p:cTn dur="1" fill="hold" display="0" masterRel="nextClick" afterEffect="1"/>
                                        <p:tgtEl>
                                          <p:spTgt spid="270"/>
                                        </p:tgtEl>
                                        <p:attrNameLst>
                                          <p:attrName>style.visibility</p:attrName>
                                        </p:attrNameLst>
                                      </p:cBhvr>
                                      <p:to>
                                        <p:strVal val="hidden"/>
                                      </p:to>
                                    </p:set>
                                  </p:subTnLst>
                                </p:cTn>
                              </p:par>
                            </p:childTnLst>
                          </p:cTn>
                        </p:par>
                        <p:par>
                          <p:cTn id="292" fill="hold" nodeType="afterGroup">
                            <p:stCondLst>
                              <p:cond delay="950000"/>
                            </p:stCondLst>
                            <p:childTnLst>
                              <p:par>
                                <p:cTn id="293" presetID="1" presetClass="entr" presetSubtype="0" fill="hold" grpId="0" nodeType="afterEffect">
                                  <p:stCondLst>
                                    <p:cond delay="10000"/>
                                  </p:stCondLst>
                                  <p:childTnLst>
                                    <p:set>
                                      <p:cBhvr>
                                        <p:cTn id="294" dur="1" fill="hold">
                                          <p:stCondLst>
                                            <p:cond delay="0"/>
                                          </p:stCondLst>
                                        </p:cTn>
                                        <p:tgtEl>
                                          <p:spTgt spid="272"/>
                                        </p:tgtEl>
                                        <p:attrNameLst>
                                          <p:attrName>style.visibility</p:attrName>
                                        </p:attrNameLst>
                                      </p:cBhvr>
                                      <p:to>
                                        <p:strVal val="visible"/>
                                      </p:to>
                                    </p:set>
                                  </p:childTnLst>
                                </p:cTn>
                              </p:par>
                            </p:childTnLst>
                          </p:cTn>
                        </p:par>
                        <p:par>
                          <p:cTn id="295" fill="hold" nodeType="afterGroup">
                            <p:stCondLst>
                              <p:cond delay="960000"/>
                            </p:stCondLst>
                            <p:childTnLst>
                              <p:par>
                                <p:cTn id="296" presetID="1" presetClass="entr" presetSubtype="0" fill="hold" grpId="0" nodeType="afterEffect">
                                  <p:stCondLst>
                                    <p:cond delay="10000"/>
                                  </p:stCondLst>
                                  <p:childTnLst>
                                    <p:set>
                                      <p:cBhvr>
                                        <p:cTn id="297" dur="1" fill="hold">
                                          <p:stCondLst>
                                            <p:cond delay="0"/>
                                          </p:stCondLst>
                                        </p:cTn>
                                        <p:tgtEl>
                                          <p:spTgt spid="273"/>
                                        </p:tgtEl>
                                        <p:attrNameLst>
                                          <p:attrName>style.visibility</p:attrName>
                                        </p:attrNameLst>
                                      </p:cBhvr>
                                      <p:to>
                                        <p:strVal val="visible"/>
                                      </p:to>
                                    </p:set>
                                  </p:childTnLst>
                                  <p:subTnLst>
                                    <p:set>
                                      <p:cBhvr override="childStyle">
                                        <p:cTn dur="1" fill="hold" display="0" masterRel="nextClick" afterEffect="1"/>
                                        <p:tgtEl>
                                          <p:spTgt spid="273"/>
                                        </p:tgtEl>
                                        <p:attrNameLst>
                                          <p:attrName>style.visibility</p:attrName>
                                        </p:attrNameLst>
                                      </p:cBhvr>
                                      <p:to>
                                        <p:strVal val="hidden"/>
                                      </p:to>
                                    </p:set>
                                  </p:subTnLst>
                                </p:cTn>
                              </p:par>
                            </p:childTnLst>
                          </p:cTn>
                        </p:par>
                        <p:par>
                          <p:cTn id="298" fill="hold" nodeType="afterGroup">
                            <p:stCondLst>
                              <p:cond delay="970000"/>
                            </p:stCondLst>
                            <p:childTnLst>
                              <p:par>
                                <p:cTn id="299" presetID="1" presetClass="entr" presetSubtype="0" fill="hold" grpId="0" nodeType="afterEffect">
                                  <p:stCondLst>
                                    <p:cond delay="10000"/>
                                  </p:stCondLst>
                                  <p:childTnLst>
                                    <p:set>
                                      <p:cBhvr>
                                        <p:cTn id="300" dur="1" fill="hold">
                                          <p:stCondLst>
                                            <p:cond delay="0"/>
                                          </p:stCondLst>
                                        </p:cTn>
                                        <p:tgtEl>
                                          <p:spTgt spid="274"/>
                                        </p:tgtEl>
                                        <p:attrNameLst>
                                          <p:attrName>style.visibility</p:attrName>
                                        </p:attrNameLst>
                                      </p:cBhvr>
                                      <p:to>
                                        <p:strVal val="visible"/>
                                      </p:to>
                                    </p:set>
                                  </p:childTnLst>
                                  <p:subTnLst>
                                    <p:set>
                                      <p:cBhvr override="childStyle">
                                        <p:cTn dur="1" fill="hold" display="0" masterRel="nextClick" afterEffect="1"/>
                                        <p:tgtEl>
                                          <p:spTgt spid="274"/>
                                        </p:tgtEl>
                                        <p:attrNameLst>
                                          <p:attrName>style.visibility</p:attrName>
                                        </p:attrNameLst>
                                      </p:cBhvr>
                                      <p:to>
                                        <p:strVal val="hidden"/>
                                      </p:to>
                                    </p:set>
                                  </p:subTnLst>
                                </p:cTn>
                              </p:par>
                            </p:childTnLst>
                          </p:cTn>
                        </p:par>
                        <p:par>
                          <p:cTn id="301" fill="hold" nodeType="afterGroup">
                            <p:stCondLst>
                              <p:cond delay="980000"/>
                            </p:stCondLst>
                            <p:childTnLst>
                              <p:par>
                                <p:cTn id="302" presetID="1" presetClass="entr" presetSubtype="0" fill="hold" grpId="0" nodeType="afterEffect">
                                  <p:stCondLst>
                                    <p:cond delay="10000"/>
                                  </p:stCondLst>
                                  <p:childTnLst>
                                    <p:set>
                                      <p:cBhvr>
                                        <p:cTn id="303" dur="1" fill="hold">
                                          <p:stCondLst>
                                            <p:cond delay="0"/>
                                          </p:stCondLst>
                                        </p:cTn>
                                        <p:tgtEl>
                                          <p:spTgt spid="275"/>
                                        </p:tgtEl>
                                        <p:attrNameLst>
                                          <p:attrName>style.visibility</p:attrName>
                                        </p:attrNameLst>
                                      </p:cBhvr>
                                      <p:to>
                                        <p:strVal val="visible"/>
                                      </p:to>
                                    </p:set>
                                  </p:childTnLst>
                                  <p:subTnLst>
                                    <p:set>
                                      <p:cBhvr override="childStyle">
                                        <p:cTn dur="1" fill="hold" display="0" masterRel="nextClick" afterEffect="1"/>
                                        <p:tgtEl>
                                          <p:spTgt spid="275"/>
                                        </p:tgtEl>
                                        <p:attrNameLst>
                                          <p:attrName>style.visibility</p:attrName>
                                        </p:attrNameLst>
                                      </p:cBhvr>
                                      <p:to>
                                        <p:strVal val="hidden"/>
                                      </p:to>
                                    </p:set>
                                  </p:subTnLst>
                                </p:cTn>
                              </p:par>
                            </p:childTnLst>
                          </p:cTn>
                        </p:par>
                        <p:par>
                          <p:cTn id="304" fill="hold" nodeType="afterGroup">
                            <p:stCondLst>
                              <p:cond delay="990000"/>
                            </p:stCondLst>
                            <p:childTnLst>
                              <p:par>
                                <p:cTn id="305" presetID="1" presetClass="entr" presetSubtype="0" fill="hold" grpId="0" nodeType="afterEffect">
                                  <p:stCondLst>
                                    <p:cond delay="10000"/>
                                  </p:stCondLst>
                                  <p:childTnLst>
                                    <p:set>
                                      <p:cBhvr>
                                        <p:cTn id="306" dur="1" fill="hold">
                                          <p:stCondLst>
                                            <p:cond delay="0"/>
                                          </p:stCondLst>
                                        </p:cTn>
                                        <p:tgtEl>
                                          <p:spTgt spid="276"/>
                                        </p:tgtEl>
                                        <p:attrNameLst>
                                          <p:attrName>style.visibility</p:attrName>
                                        </p:attrNameLst>
                                      </p:cBhvr>
                                      <p:to>
                                        <p:strVal val="visible"/>
                                      </p:to>
                                    </p:set>
                                  </p:childTnLst>
                                  <p:subTnLst>
                                    <p:set>
                                      <p:cBhvr override="childStyle">
                                        <p:cTn dur="1" fill="hold" display="0" masterRel="nextClick" afterEffect="1"/>
                                        <p:tgtEl>
                                          <p:spTgt spid="276"/>
                                        </p:tgtEl>
                                        <p:attrNameLst>
                                          <p:attrName>style.visibility</p:attrName>
                                        </p:attrNameLst>
                                      </p:cBhvr>
                                      <p:to>
                                        <p:strVal val="hidden"/>
                                      </p:to>
                                    </p:set>
                                  </p:subTnLst>
                                </p:cTn>
                              </p:par>
                            </p:childTnLst>
                          </p:cTn>
                        </p:par>
                        <p:par>
                          <p:cTn id="307" fill="hold" nodeType="afterGroup">
                            <p:stCondLst>
                              <p:cond delay="1000000"/>
                            </p:stCondLst>
                            <p:childTnLst>
                              <p:par>
                                <p:cTn id="308" presetID="1" presetClass="entr" presetSubtype="0" fill="hold" grpId="0" nodeType="afterEffect">
                                  <p:stCondLst>
                                    <p:cond delay="10000"/>
                                  </p:stCondLst>
                                  <p:childTnLst>
                                    <p:set>
                                      <p:cBhvr>
                                        <p:cTn id="309" dur="1" fill="hold">
                                          <p:stCondLst>
                                            <p:cond delay="0"/>
                                          </p:stCondLst>
                                        </p:cTn>
                                        <p:tgtEl>
                                          <p:spTgt spid="277"/>
                                        </p:tgtEl>
                                        <p:attrNameLst>
                                          <p:attrName>style.visibility</p:attrName>
                                        </p:attrNameLst>
                                      </p:cBhvr>
                                      <p:to>
                                        <p:strVal val="visible"/>
                                      </p:to>
                                    </p:set>
                                  </p:childTnLst>
                                  <p:subTnLst>
                                    <p:set>
                                      <p:cBhvr override="childStyle">
                                        <p:cTn dur="1" fill="hold" display="0" masterRel="nextClick" afterEffect="1"/>
                                        <p:tgtEl>
                                          <p:spTgt spid="277"/>
                                        </p:tgtEl>
                                        <p:attrNameLst>
                                          <p:attrName>style.visibility</p:attrName>
                                        </p:attrNameLst>
                                      </p:cBhvr>
                                      <p:to>
                                        <p:strVal val="hidden"/>
                                      </p:to>
                                    </p:set>
                                  </p:subTnLst>
                                </p:cTn>
                              </p:par>
                            </p:childTnLst>
                          </p:cTn>
                        </p:par>
                        <p:par>
                          <p:cTn id="310" fill="hold" nodeType="afterGroup">
                            <p:stCondLst>
                              <p:cond delay="1010000"/>
                            </p:stCondLst>
                            <p:childTnLst>
                              <p:par>
                                <p:cTn id="311" presetID="1" presetClass="entr" presetSubtype="0" fill="hold" grpId="0" nodeType="afterEffect">
                                  <p:stCondLst>
                                    <p:cond delay="10000"/>
                                  </p:stCondLst>
                                  <p:childTnLst>
                                    <p:set>
                                      <p:cBhvr>
                                        <p:cTn id="312" dur="1" fill="hold">
                                          <p:stCondLst>
                                            <p:cond delay="0"/>
                                          </p:stCondLst>
                                        </p:cTn>
                                        <p:tgtEl>
                                          <p:spTgt spid="279"/>
                                        </p:tgtEl>
                                        <p:attrNameLst>
                                          <p:attrName>style.visibility</p:attrName>
                                        </p:attrNameLst>
                                      </p:cBhvr>
                                      <p:to>
                                        <p:strVal val="visible"/>
                                      </p:to>
                                    </p:set>
                                  </p:childTnLst>
                                </p:cTn>
                              </p:par>
                            </p:childTnLst>
                          </p:cTn>
                        </p:par>
                        <p:par>
                          <p:cTn id="313" fill="hold" nodeType="afterGroup">
                            <p:stCondLst>
                              <p:cond delay="1020000"/>
                            </p:stCondLst>
                            <p:childTnLst>
                              <p:par>
                                <p:cTn id="314" presetID="1" presetClass="entr" presetSubtype="0" fill="hold" grpId="0" nodeType="afterEffect">
                                  <p:stCondLst>
                                    <p:cond delay="10000"/>
                                  </p:stCondLst>
                                  <p:childTnLst>
                                    <p:set>
                                      <p:cBhvr>
                                        <p:cTn id="315" dur="1" fill="hold">
                                          <p:stCondLst>
                                            <p:cond delay="0"/>
                                          </p:stCondLst>
                                        </p:cTn>
                                        <p:tgtEl>
                                          <p:spTgt spid="280"/>
                                        </p:tgtEl>
                                        <p:attrNameLst>
                                          <p:attrName>style.visibility</p:attrName>
                                        </p:attrNameLst>
                                      </p:cBhvr>
                                      <p:to>
                                        <p:strVal val="visible"/>
                                      </p:to>
                                    </p:set>
                                  </p:childTnLst>
                                  <p:subTnLst>
                                    <p:set>
                                      <p:cBhvr override="childStyle">
                                        <p:cTn dur="1" fill="hold" display="0" masterRel="nextClick" afterEffect="1"/>
                                        <p:tgtEl>
                                          <p:spTgt spid="280"/>
                                        </p:tgtEl>
                                        <p:attrNameLst>
                                          <p:attrName>style.visibility</p:attrName>
                                        </p:attrNameLst>
                                      </p:cBhvr>
                                      <p:to>
                                        <p:strVal val="hidden"/>
                                      </p:to>
                                    </p:set>
                                  </p:subTnLst>
                                </p:cTn>
                              </p:par>
                            </p:childTnLst>
                          </p:cTn>
                        </p:par>
                        <p:par>
                          <p:cTn id="316" fill="hold" nodeType="afterGroup">
                            <p:stCondLst>
                              <p:cond delay="1030000"/>
                            </p:stCondLst>
                            <p:childTnLst>
                              <p:par>
                                <p:cTn id="317" presetID="1" presetClass="entr" presetSubtype="0" fill="hold" grpId="0" nodeType="afterEffect">
                                  <p:stCondLst>
                                    <p:cond delay="10000"/>
                                  </p:stCondLst>
                                  <p:childTnLst>
                                    <p:set>
                                      <p:cBhvr>
                                        <p:cTn id="318" dur="1" fill="hold">
                                          <p:stCondLst>
                                            <p:cond delay="0"/>
                                          </p:stCondLst>
                                        </p:cTn>
                                        <p:tgtEl>
                                          <p:spTgt spid="281"/>
                                        </p:tgtEl>
                                        <p:attrNameLst>
                                          <p:attrName>style.visibility</p:attrName>
                                        </p:attrNameLst>
                                      </p:cBhvr>
                                      <p:to>
                                        <p:strVal val="visible"/>
                                      </p:to>
                                    </p:set>
                                  </p:childTnLst>
                                  <p:subTnLst>
                                    <p:set>
                                      <p:cBhvr override="childStyle">
                                        <p:cTn dur="1" fill="hold" display="0" masterRel="nextClick" afterEffect="1"/>
                                        <p:tgtEl>
                                          <p:spTgt spid="281"/>
                                        </p:tgtEl>
                                        <p:attrNameLst>
                                          <p:attrName>style.visibility</p:attrName>
                                        </p:attrNameLst>
                                      </p:cBhvr>
                                      <p:to>
                                        <p:strVal val="hidden"/>
                                      </p:to>
                                    </p:set>
                                  </p:subTnLst>
                                </p:cTn>
                              </p:par>
                            </p:childTnLst>
                          </p:cTn>
                        </p:par>
                        <p:par>
                          <p:cTn id="319" fill="hold" nodeType="afterGroup">
                            <p:stCondLst>
                              <p:cond delay="1040000"/>
                            </p:stCondLst>
                            <p:childTnLst>
                              <p:par>
                                <p:cTn id="320" presetID="1" presetClass="entr" presetSubtype="0" fill="hold" grpId="0" nodeType="afterEffect">
                                  <p:stCondLst>
                                    <p:cond delay="10000"/>
                                  </p:stCondLst>
                                  <p:childTnLst>
                                    <p:set>
                                      <p:cBhvr>
                                        <p:cTn id="321" dur="1" fill="hold">
                                          <p:stCondLst>
                                            <p:cond delay="0"/>
                                          </p:stCondLst>
                                        </p:cTn>
                                        <p:tgtEl>
                                          <p:spTgt spid="282"/>
                                        </p:tgtEl>
                                        <p:attrNameLst>
                                          <p:attrName>style.visibility</p:attrName>
                                        </p:attrNameLst>
                                      </p:cBhvr>
                                      <p:to>
                                        <p:strVal val="visible"/>
                                      </p:to>
                                    </p:set>
                                  </p:childTnLst>
                                  <p:subTnLst>
                                    <p:set>
                                      <p:cBhvr override="childStyle">
                                        <p:cTn dur="1" fill="hold" display="0" masterRel="nextClick" afterEffect="1"/>
                                        <p:tgtEl>
                                          <p:spTgt spid="282"/>
                                        </p:tgtEl>
                                        <p:attrNameLst>
                                          <p:attrName>style.visibility</p:attrName>
                                        </p:attrNameLst>
                                      </p:cBhvr>
                                      <p:to>
                                        <p:strVal val="hidden"/>
                                      </p:to>
                                    </p:set>
                                  </p:subTnLst>
                                </p:cTn>
                              </p:par>
                            </p:childTnLst>
                          </p:cTn>
                        </p:par>
                        <p:par>
                          <p:cTn id="322" fill="hold" nodeType="afterGroup">
                            <p:stCondLst>
                              <p:cond delay="1050000"/>
                            </p:stCondLst>
                            <p:childTnLst>
                              <p:par>
                                <p:cTn id="323" presetID="1" presetClass="entr" presetSubtype="0" fill="hold" grpId="0" nodeType="afterEffect">
                                  <p:stCondLst>
                                    <p:cond delay="10000"/>
                                  </p:stCondLst>
                                  <p:childTnLst>
                                    <p:set>
                                      <p:cBhvr>
                                        <p:cTn id="324" dur="1" fill="hold">
                                          <p:stCondLst>
                                            <p:cond delay="0"/>
                                          </p:stCondLst>
                                        </p:cTn>
                                        <p:tgtEl>
                                          <p:spTgt spid="283"/>
                                        </p:tgtEl>
                                        <p:attrNameLst>
                                          <p:attrName>style.visibility</p:attrName>
                                        </p:attrNameLst>
                                      </p:cBhvr>
                                      <p:to>
                                        <p:strVal val="visible"/>
                                      </p:to>
                                    </p:set>
                                  </p:childTnLst>
                                  <p:subTnLst>
                                    <p:set>
                                      <p:cBhvr override="childStyle">
                                        <p:cTn dur="1" fill="hold" display="0" masterRel="nextClick" afterEffect="1"/>
                                        <p:tgtEl>
                                          <p:spTgt spid="283"/>
                                        </p:tgtEl>
                                        <p:attrNameLst>
                                          <p:attrName>style.visibility</p:attrName>
                                        </p:attrNameLst>
                                      </p:cBhvr>
                                      <p:to>
                                        <p:strVal val="hidden"/>
                                      </p:to>
                                    </p:set>
                                  </p:subTnLst>
                                </p:cTn>
                              </p:par>
                            </p:childTnLst>
                          </p:cTn>
                        </p:par>
                        <p:par>
                          <p:cTn id="325" fill="hold" nodeType="afterGroup">
                            <p:stCondLst>
                              <p:cond delay="1060000"/>
                            </p:stCondLst>
                            <p:childTnLst>
                              <p:par>
                                <p:cTn id="326" presetID="1" presetClass="entr" presetSubtype="0" fill="hold" grpId="0" nodeType="afterEffect">
                                  <p:stCondLst>
                                    <p:cond delay="10000"/>
                                  </p:stCondLst>
                                  <p:childTnLst>
                                    <p:set>
                                      <p:cBhvr>
                                        <p:cTn id="327" dur="1" fill="hold">
                                          <p:stCondLst>
                                            <p:cond delay="0"/>
                                          </p:stCondLst>
                                        </p:cTn>
                                        <p:tgtEl>
                                          <p:spTgt spid="284"/>
                                        </p:tgtEl>
                                        <p:attrNameLst>
                                          <p:attrName>style.visibility</p:attrName>
                                        </p:attrNameLst>
                                      </p:cBhvr>
                                      <p:to>
                                        <p:strVal val="visible"/>
                                      </p:to>
                                    </p:set>
                                  </p:childTnLst>
                                  <p:subTnLst>
                                    <p:set>
                                      <p:cBhvr override="childStyle">
                                        <p:cTn dur="1" fill="hold" display="0" masterRel="nextClick" afterEffect="1"/>
                                        <p:tgtEl>
                                          <p:spTgt spid="284"/>
                                        </p:tgtEl>
                                        <p:attrNameLst>
                                          <p:attrName>style.visibility</p:attrName>
                                        </p:attrNameLst>
                                      </p:cBhvr>
                                      <p:to>
                                        <p:strVal val="hidden"/>
                                      </p:to>
                                    </p:set>
                                  </p:subTnLst>
                                </p:cTn>
                              </p:par>
                            </p:childTnLst>
                          </p:cTn>
                        </p:par>
                        <p:par>
                          <p:cTn id="328" fill="hold" nodeType="afterGroup">
                            <p:stCondLst>
                              <p:cond delay="1070000"/>
                            </p:stCondLst>
                            <p:childTnLst>
                              <p:par>
                                <p:cTn id="329" presetID="1" presetClass="entr" presetSubtype="0" fill="hold" grpId="0" nodeType="afterEffect">
                                  <p:stCondLst>
                                    <p:cond delay="10000"/>
                                  </p:stCondLst>
                                  <p:childTnLst>
                                    <p:set>
                                      <p:cBhvr>
                                        <p:cTn id="330" dur="1" fill="hold">
                                          <p:stCondLst>
                                            <p:cond delay="0"/>
                                          </p:stCondLst>
                                        </p:cTn>
                                        <p:tgtEl>
                                          <p:spTgt spid="286"/>
                                        </p:tgtEl>
                                        <p:attrNameLst>
                                          <p:attrName>style.visibility</p:attrName>
                                        </p:attrNameLst>
                                      </p:cBhvr>
                                      <p:to>
                                        <p:strVal val="visible"/>
                                      </p:to>
                                    </p:set>
                                  </p:childTnLst>
                                </p:cTn>
                              </p:par>
                            </p:childTnLst>
                          </p:cTn>
                        </p:par>
                        <p:par>
                          <p:cTn id="331" fill="hold" nodeType="afterGroup">
                            <p:stCondLst>
                              <p:cond delay="1080000"/>
                            </p:stCondLst>
                            <p:childTnLst>
                              <p:par>
                                <p:cTn id="332" presetID="1" presetClass="entr" presetSubtype="0" fill="hold" grpId="0" nodeType="afterEffect">
                                  <p:stCondLst>
                                    <p:cond delay="10000"/>
                                  </p:stCondLst>
                                  <p:childTnLst>
                                    <p:set>
                                      <p:cBhvr>
                                        <p:cTn id="333" dur="1" fill="hold">
                                          <p:stCondLst>
                                            <p:cond delay="0"/>
                                          </p:stCondLst>
                                        </p:cTn>
                                        <p:tgtEl>
                                          <p:spTgt spid="287"/>
                                        </p:tgtEl>
                                        <p:attrNameLst>
                                          <p:attrName>style.visibility</p:attrName>
                                        </p:attrNameLst>
                                      </p:cBhvr>
                                      <p:to>
                                        <p:strVal val="visible"/>
                                      </p:to>
                                    </p:set>
                                  </p:childTnLst>
                                  <p:subTnLst>
                                    <p:set>
                                      <p:cBhvr override="childStyle">
                                        <p:cTn dur="1" fill="hold" display="0" masterRel="nextClick" afterEffect="1"/>
                                        <p:tgtEl>
                                          <p:spTgt spid="287"/>
                                        </p:tgtEl>
                                        <p:attrNameLst>
                                          <p:attrName>style.visibility</p:attrName>
                                        </p:attrNameLst>
                                      </p:cBhvr>
                                      <p:to>
                                        <p:strVal val="hidden"/>
                                      </p:to>
                                    </p:set>
                                  </p:subTnLst>
                                </p:cTn>
                              </p:par>
                            </p:childTnLst>
                          </p:cTn>
                        </p:par>
                        <p:par>
                          <p:cTn id="334" fill="hold" nodeType="afterGroup">
                            <p:stCondLst>
                              <p:cond delay="1090000"/>
                            </p:stCondLst>
                            <p:childTnLst>
                              <p:par>
                                <p:cTn id="335" presetID="1" presetClass="entr" presetSubtype="0" fill="hold" grpId="0" nodeType="afterEffect">
                                  <p:stCondLst>
                                    <p:cond delay="10000"/>
                                  </p:stCondLst>
                                  <p:childTnLst>
                                    <p:set>
                                      <p:cBhvr>
                                        <p:cTn id="336" dur="1" fill="hold">
                                          <p:stCondLst>
                                            <p:cond delay="0"/>
                                          </p:stCondLst>
                                        </p:cTn>
                                        <p:tgtEl>
                                          <p:spTgt spid="288"/>
                                        </p:tgtEl>
                                        <p:attrNameLst>
                                          <p:attrName>style.visibility</p:attrName>
                                        </p:attrNameLst>
                                      </p:cBhvr>
                                      <p:to>
                                        <p:strVal val="visible"/>
                                      </p:to>
                                    </p:set>
                                  </p:childTnLst>
                                  <p:subTnLst>
                                    <p:set>
                                      <p:cBhvr override="childStyle">
                                        <p:cTn dur="1" fill="hold" display="0" masterRel="nextClick" afterEffect="1"/>
                                        <p:tgtEl>
                                          <p:spTgt spid="288"/>
                                        </p:tgtEl>
                                        <p:attrNameLst>
                                          <p:attrName>style.visibility</p:attrName>
                                        </p:attrNameLst>
                                      </p:cBhvr>
                                      <p:to>
                                        <p:strVal val="hidden"/>
                                      </p:to>
                                    </p:set>
                                  </p:subTnLst>
                                </p:cTn>
                              </p:par>
                            </p:childTnLst>
                          </p:cTn>
                        </p:par>
                        <p:par>
                          <p:cTn id="337" fill="hold" nodeType="afterGroup">
                            <p:stCondLst>
                              <p:cond delay="1100000"/>
                            </p:stCondLst>
                            <p:childTnLst>
                              <p:par>
                                <p:cTn id="338" presetID="1" presetClass="entr" presetSubtype="0" fill="hold" grpId="0" nodeType="afterEffect">
                                  <p:stCondLst>
                                    <p:cond delay="10000"/>
                                  </p:stCondLst>
                                  <p:childTnLst>
                                    <p:set>
                                      <p:cBhvr>
                                        <p:cTn id="339" dur="1" fill="hold">
                                          <p:stCondLst>
                                            <p:cond delay="0"/>
                                          </p:stCondLst>
                                        </p:cTn>
                                        <p:tgtEl>
                                          <p:spTgt spid="289"/>
                                        </p:tgtEl>
                                        <p:attrNameLst>
                                          <p:attrName>style.visibility</p:attrName>
                                        </p:attrNameLst>
                                      </p:cBhvr>
                                      <p:to>
                                        <p:strVal val="visible"/>
                                      </p:to>
                                    </p:set>
                                  </p:childTnLst>
                                  <p:subTnLst>
                                    <p:set>
                                      <p:cBhvr override="childStyle">
                                        <p:cTn dur="1" fill="hold" display="0" masterRel="nextClick" afterEffect="1"/>
                                        <p:tgtEl>
                                          <p:spTgt spid="289"/>
                                        </p:tgtEl>
                                        <p:attrNameLst>
                                          <p:attrName>style.visibility</p:attrName>
                                        </p:attrNameLst>
                                      </p:cBhvr>
                                      <p:to>
                                        <p:strVal val="hidden"/>
                                      </p:to>
                                    </p:set>
                                  </p:subTnLst>
                                </p:cTn>
                              </p:par>
                            </p:childTnLst>
                          </p:cTn>
                        </p:par>
                        <p:par>
                          <p:cTn id="340" fill="hold" nodeType="afterGroup">
                            <p:stCondLst>
                              <p:cond delay="1110000"/>
                            </p:stCondLst>
                            <p:childTnLst>
                              <p:par>
                                <p:cTn id="341" presetID="1" presetClass="entr" presetSubtype="0" fill="hold" grpId="0" nodeType="afterEffect">
                                  <p:stCondLst>
                                    <p:cond delay="10000"/>
                                  </p:stCondLst>
                                  <p:childTnLst>
                                    <p:set>
                                      <p:cBhvr>
                                        <p:cTn id="342" dur="1" fill="hold">
                                          <p:stCondLst>
                                            <p:cond delay="0"/>
                                          </p:stCondLst>
                                        </p:cTn>
                                        <p:tgtEl>
                                          <p:spTgt spid="290"/>
                                        </p:tgtEl>
                                        <p:attrNameLst>
                                          <p:attrName>style.visibility</p:attrName>
                                        </p:attrNameLst>
                                      </p:cBhvr>
                                      <p:to>
                                        <p:strVal val="visible"/>
                                      </p:to>
                                    </p:set>
                                  </p:childTnLst>
                                  <p:subTnLst>
                                    <p:set>
                                      <p:cBhvr override="childStyle">
                                        <p:cTn dur="1" fill="hold" display="0" masterRel="nextClick" afterEffect="1"/>
                                        <p:tgtEl>
                                          <p:spTgt spid="290"/>
                                        </p:tgtEl>
                                        <p:attrNameLst>
                                          <p:attrName>style.visibility</p:attrName>
                                        </p:attrNameLst>
                                      </p:cBhvr>
                                      <p:to>
                                        <p:strVal val="hidden"/>
                                      </p:to>
                                    </p:set>
                                  </p:subTnLst>
                                </p:cTn>
                              </p:par>
                            </p:childTnLst>
                          </p:cTn>
                        </p:par>
                        <p:par>
                          <p:cTn id="343" fill="hold" nodeType="afterGroup">
                            <p:stCondLst>
                              <p:cond delay="1120000"/>
                            </p:stCondLst>
                            <p:childTnLst>
                              <p:par>
                                <p:cTn id="344" presetID="1" presetClass="entr" presetSubtype="0" fill="hold" grpId="0" nodeType="afterEffect">
                                  <p:stCondLst>
                                    <p:cond delay="10000"/>
                                  </p:stCondLst>
                                  <p:childTnLst>
                                    <p:set>
                                      <p:cBhvr>
                                        <p:cTn id="345" dur="1" fill="hold">
                                          <p:stCondLst>
                                            <p:cond delay="0"/>
                                          </p:stCondLst>
                                        </p:cTn>
                                        <p:tgtEl>
                                          <p:spTgt spid="291"/>
                                        </p:tgtEl>
                                        <p:attrNameLst>
                                          <p:attrName>style.visibility</p:attrName>
                                        </p:attrNameLst>
                                      </p:cBhvr>
                                      <p:to>
                                        <p:strVal val="visible"/>
                                      </p:to>
                                    </p:set>
                                  </p:childTnLst>
                                  <p:subTnLst>
                                    <p:set>
                                      <p:cBhvr override="childStyle">
                                        <p:cTn dur="1" fill="hold" display="0" masterRel="nextClick" afterEffect="1"/>
                                        <p:tgtEl>
                                          <p:spTgt spid="291"/>
                                        </p:tgtEl>
                                        <p:attrNameLst>
                                          <p:attrName>style.visibility</p:attrName>
                                        </p:attrNameLst>
                                      </p:cBhvr>
                                      <p:to>
                                        <p:strVal val="hidden"/>
                                      </p:to>
                                    </p:set>
                                  </p:subTnLst>
                                </p:cTn>
                              </p:par>
                            </p:childTnLst>
                          </p:cTn>
                        </p:par>
                        <p:par>
                          <p:cTn id="346" fill="hold" nodeType="afterGroup">
                            <p:stCondLst>
                              <p:cond delay="1130000"/>
                            </p:stCondLst>
                            <p:childTnLst>
                              <p:par>
                                <p:cTn id="347" presetID="1" presetClass="entr" presetSubtype="0" fill="hold" grpId="0" nodeType="afterEffect">
                                  <p:stCondLst>
                                    <p:cond delay="10000"/>
                                  </p:stCondLst>
                                  <p:childTnLst>
                                    <p:set>
                                      <p:cBhvr>
                                        <p:cTn id="348" dur="1" fill="hold">
                                          <p:stCondLst>
                                            <p:cond delay="0"/>
                                          </p:stCondLst>
                                        </p:cTn>
                                        <p:tgtEl>
                                          <p:spTgt spid="293"/>
                                        </p:tgtEl>
                                        <p:attrNameLst>
                                          <p:attrName>style.visibility</p:attrName>
                                        </p:attrNameLst>
                                      </p:cBhvr>
                                      <p:to>
                                        <p:strVal val="visible"/>
                                      </p:to>
                                    </p:set>
                                  </p:childTnLst>
                                </p:cTn>
                              </p:par>
                            </p:childTnLst>
                          </p:cTn>
                        </p:par>
                        <p:par>
                          <p:cTn id="349" fill="hold" nodeType="afterGroup">
                            <p:stCondLst>
                              <p:cond delay="1140000"/>
                            </p:stCondLst>
                            <p:childTnLst>
                              <p:par>
                                <p:cTn id="350" presetID="1" presetClass="entr" presetSubtype="0" fill="hold" grpId="0" nodeType="afterEffect">
                                  <p:stCondLst>
                                    <p:cond delay="10000"/>
                                  </p:stCondLst>
                                  <p:childTnLst>
                                    <p:set>
                                      <p:cBhvr>
                                        <p:cTn id="351" dur="1" fill="hold">
                                          <p:stCondLst>
                                            <p:cond delay="0"/>
                                          </p:stCondLst>
                                        </p:cTn>
                                        <p:tgtEl>
                                          <p:spTgt spid="294"/>
                                        </p:tgtEl>
                                        <p:attrNameLst>
                                          <p:attrName>style.visibility</p:attrName>
                                        </p:attrNameLst>
                                      </p:cBhvr>
                                      <p:to>
                                        <p:strVal val="visible"/>
                                      </p:to>
                                    </p:set>
                                  </p:childTnLst>
                                  <p:subTnLst>
                                    <p:set>
                                      <p:cBhvr override="childStyle">
                                        <p:cTn dur="1" fill="hold" display="0" masterRel="nextClick" afterEffect="1"/>
                                        <p:tgtEl>
                                          <p:spTgt spid="294"/>
                                        </p:tgtEl>
                                        <p:attrNameLst>
                                          <p:attrName>style.visibility</p:attrName>
                                        </p:attrNameLst>
                                      </p:cBhvr>
                                      <p:to>
                                        <p:strVal val="hidden"/>
                                      </p:to>
                                    </p:set>
                                  </p:subTnLst>
                                </p:cTn>
                              </p:par>
                            </p:childTnLst>
                          </p:cTn>
                        </p:par>
                        <p:par>
                          <p:cTn id="352" fill="hold" nodeType="afterGroup">
                            <p:stCondLst>
                              <p:cond delay="1150000"/>
                            </p:stCondLst>
                            <p:childTnLst>
                              <p:par>
                                <p:cTn id="353" presetID="1" presetClass="entr" presetSubtype="0" fill="hold" grpId="0" nodeType="afterEffect">
                                  <p:stCondLst>
                                    <p:cond delay="10000"/>
                                  </p:stCondLst>
                                  <p:childTnLst>
                                    <p:set>
                                      <p:cBhvr>
                                        <p:cTn id="354" dur="1" fill="hold">
                                          <p:stCondLst>
                                            <p:cond delay="0"/>
                                          </p:stCondLst>
                                        </p:cTn>
                                        <p:tgtEl>
                                          <p:spTgt spid="295"/>
                                        </p:tgtEl>
                                        <p:attrNameLst>
                                          <p:attrName>style.visibility</p:attrName>
                                        </p:attrNameLst>
                                      </p:cBhvr>
                                      <p:to>
                                        <p:strVal val="visible"/>
                                      </p:to>
                                    </p:set>
                                  </p:childTnLst>
                                  <p:subTnLst>
                                    <p:set>
                                      <p:cBhvr override="childStyle">
                                        <p:cTn dur="1" fill="hold" display="0" masterRel="nextClick" afterEffect="1"/>
                                        <p:tgtEl>
                                          <p:spTgt spid="295"/>
                                        </p:tgtEl>
                                        <p:attrNameLst>
                                          <p:attrName>style.visibility</p:attrName>
                                        </p:attrNameLst>
                                      </p:cBhvr>
                                      <p:to>
                                        <p:strVal val="hidden"/>
                                      </p:to>
                                    </p:set>
                                  </p:subTnLst>
                                </p:cTn>
                              </p:par>
                            </p:childTnLst>
                          </p:cTn>
                        </p:par>
                        <p:par>
                          <p:cTn id="355" fill="hold" nodeType="afterGroup">
                            <p:stCondLst>
                              <p:cond delay="1160000"/>
                            </p:stCondLst>
                            <p:childTnLst>
                              <p:par>
                                <p:cTn id="356" presetID="1" presetClass="entr" presetSubtype="0" fill="hold" grpId="0" nodeType="afterEffect">
                                  <p:stCondLst>
                                    <p:cond delay="10000"/>
                                  </p:stCondLst>
                                  <p:childTnLst>
                                    <p:set>
                                      <p:cBhvr>
                                        <p:cTn id="357" dur="1" fill="hold">
                                          <p:stCondLst>
                                            <p:cond delay="0"/>
                                          </p:stCondLst>
                                        </p:cTn>
                                        <p:tgtEl>
                                          <p:spTgt spid="296"/>
                                        </p:tgtEl>
                                        <p:attrNameLst>
                                          <p:attrName>style.visibility</p:attrName>
                                        </p:attrNameLst>
                                      </p:cBhvr>
                                      <p:to>
                                        <p:strVal val="visible"/>
                                      </p:to>
                                    </p:set>
                                  </p:childTnLst>
                                  <p:subTnLst>
                                    <p:set>
                                      <p:cBhvr override="childStyle">
                                        <p:cTn dur="1" fill="hold" display="0" masterRel="nextClick" afterEffect="1"/>
                                        <p:tgtEl>
                                          <p:spTgt spid="296"/>
                                        </p:tgtEl>
                                        <p:attrNameLst>
                                          <p:attrName>style.visibility</p:attrName>
                                        </p:attrNameLst>
                                      </p:cBhvr>
                                      <p:to>
                                        <p:strVal val="hidden"/>
                                      </p:to>
                                    </p:set>
                                  </p:subTnLst>
                                </p:cTn>
                              </p:par>
                            </p:childTnLst>
                          </p:cTn>
                        </p:par>
                        <p:par>
                          <p:cTn id="358" fill="hold" nodeType="afterGroup">
                            <p:stCondLst>
                              <p:cond delay="1170000"/>
                            </p:stCondLst>
                            <p:childTnLst>
                              <p:par>
                                <p:cTn id="359" presetID="1" presetClass="entr" presetSubtype="0" fill="hold" grpId="0" nodeType="afterEffect">
                                  <p:stCondLst>
                                    <p:cond delay="10000"/>
                                  </p:stCondLst>
                                  <p:childTnLst>
                                    <p:set>
                                      <p:cBhvr>
                                        <p:cTn id="360" dur="1" fill="hold">
                                          <p:stCondLst>
                                            <p:cond delay="0"/>
                                          </p:stCondLst>
                                        </p:cTn>
                                        <p:tgtEl>
                                          <p:spTgt spid="297"/>
                                        </p:tgtEl>
                                        <p:attrNameLst>
                                          <p:attrName>style.visibility</p:attrName>
                                        </p:attrNameLst>
                                      </p:cBhvr>
                                      <p:to>
                                        <p:strVal val="visible"/>
                                      </p:to>
                                    </p:set>
                                  </p:childTnLst>
                                  <p:subTnLst>
                                    <p:set>
                                      <p:cBhvr override="childStyle">
                                        <p:cTn dur="1" fill="hold" display="0" masterRel="nextClick" afterEffect="1"/>
                                        <p:tgtEl>
                                          <p:spTgt spid="297"/>
                                        </p:tgtEl>
                                        <p:attrNameLst>
                                          <p:attrName>style.visibility</p:attrName>
                                        </p:attrNameLst>
                                      </p:cBhvr>
                                      <p:to>
                                        <p:strVal val="hidden"/>
                                      </p:to>
                                    </p:set>
                                  </p:subTnLst>
                                </p:cTn>
                              </p:par>
                            </p:childTnLst>
                          </p:cTn>
                        </p:par>
                        <p:par>
                          <p:cTn id="361" fill="hold" nodeType="afterGroup">
                            <p:stCondLst>
                              <p:cond delay="1180000"/>
                            </p:stCondLst>
                            <p:childTnLst>
                              <p:par>
                                <p:cTn id="362" presetID="1" presetClass="entr" presetSubtype="0" fill="hold" grpId="0" nodeType="afterEffect">
                                  <p:stCondLst>
                                    <p:cond delay="10000"/>
                                  </p:stCondLst>
                                  <p:childTnLst>
                                    <p:set>
                                      <p:cBhvr>
                                        <p:cTn id="363" dur="1" fill="hold">
                                          <p:stCondLst>
                                            <p:cond delay="0"/>
                                          </p:stCondLst>
                                        </p:cTn>
                                        <p:tgtEl>
                                          <p:spTgt spid="298"/>
                                        </p:tgtEl>
                                        <p:attrNameLst>
                                          <p:attrName>style.visibility</p:attrName>
                                        </p:attrNameLst>
                                      </p:cBhvr>
                                      <p:to>
                                        <p:strVal val="visible"/>
                                      </p:to>
                                    </p:set>
                                  </p:childTnLst>
                                  <p:subTnLst>
                                    <p:set>
                                      <p:cBhvr override="childStyle">
                                        <p:cTn dur="1" fill="hold" display="0" masterRel="nextClick" afterEffect="1"/>
                                        <p:tgtEl>
                                          <p:spTgt spid="298"/>
                                        </p:tgtEl>
                                        <p:attrNameLst>
                                          <p:attrName>style.visibility</p:attrName>
                                        </p:attrNameLst>
                                      </p:cBhvr>
                                      <p:to>
                                        <p:strVal val="hidden"/>
                                      </p:to>
                                    </p:set>
                                  </p:subTnLst>
                                </p:cTn>
                              </p:par>
                            </p:childTnLst>
                          </p:cTn>
                        </p:par>
                        <p:par>
                          <p:cTn id="364" fill="hold" nodeType="afterGroup">
                            <p:stCondLst>
                              <p:cond delay="1190000"/>
                            </p:stCondLst>
                            <p:childTnLst>
                              <p:par>
                                <p:cTn id="365" presetID="1" presetClass="entr" presetSubtype="0" fill="hold" grpId="0" nodeType="afterEffect">
                                  <p:stCondLst>
                                    <p:cond delay="10000"/>
                                  </p:stCondLst>
                                  <p:childTnLst>
                                    <p:set>
                                      <p:cBhvr>
                                        <p:cTn id="366" dur="1" fill="hold">
                                          <p:stCondLst>
                                            <p:cond delay="0"/>
                                          </p:stCondLst>
                                        </p:cTn>
                                        <p:tgtEl>
                                          <p:spTgt spid="300"/>
                                        </p:tgtEl>
                                        <p:attrNameLst>
                                          <p:attrName>style.visibility</p:attrName>
                                        </p:attrNameLst>
                                      </p:cBhvr>
                                      <p:to>
                                        <p:strVal val="visible"/>
                                      </p:to>
                                    </p:set>
                                  </p:childTnLst>
                                </p:cTn>
                              </p:par>
                            </p:childTnLst>
                          </p:cTn>
                        </p:par>
                        <p:par>
                          <p:cTn id="367" fill="hold" nodeType="afterGroup">
                            <p:stCondLst>
                              <p:cond delay="1200000"/>
                            </p:stCondLst>
                            <p:childTnLst>
                              <p:par>
                                <p:cTn id="368" presetID="1" presetClass="entr" presetSubtype="0" fill="hold" grpId="0" nodeType="afterEffect">
                                  <p:stCondLst>
                                    <p:cond delay="10000"/>
                                  </p:stCondLst>
                                  <p:childTnLst>
                                    <p:set>
                                      <p:cBhvr>
                                        <p:cTn id="369" dur="1" fill="hold">
                                          <p:stCondLst>
                                            <p:cond delay="0"/>
                                          </p:stCondLst>
                                        </p:cTn>
                                        <p:tgtEl>
                                          <p:spTgt spid="301"/>
                                        </p:tgtEl>
                                        <p:attrNameLst>
                                          <p:attrName>style.visibility</p:attrName>
                                        </p:attrNameLst>
                                      </p:cBhvr>
                                      <p:to>
                                        <p:strVal val="visible"/>
                                      </p:to>
                                    </p:set>
                                  </p:childTnLst>
                                  <p:subTnLst>
                                    <p:set>
                                      <p:cBhvr override="childStyle">
                                        <p:cTn dur="1" fill="hold" display="0" masterRel="nextClick" afterEffect="1"/>
                                        <p:tgtEl>
                                          <p:spTgt spid="301"/>
                                        </p:tgtEl>
                                        <p:attrNameLst>
                                          <p:attrName>style.visibility</p:attrName>
                                        </p:attrNameLst>
                                      </p:cBhvr>
                                      <p:to>
                                        <p:strVal val="hidden"/>
                                      </p:to>
                                    </p:set>
                                  </p:subTnLst>
                                </p:cTn>
                              </p:par>
                            </p:childTnLst>
                          </p:cTn>
                        </p:par>
                        <p:par>
                          <p:cTn id="370" fill="hold" nodeType="afterGroup">
                            <p:stCondLst>
                              <p:cond delay="1210000"/>
                            </p:stCondLst>
                            <p:childTnLst>
                              <p:par>
                                <p:cTn id="371" presetID="1" presetClass="entr" presetSubtype="0" fill="hold" grpId="0" nodeType="afterEffect">
                                  <p:stCondLst>
                                    <p:cond delay="10000"/>
                                  </p:stCondLst>
                                  <p:childTnLst>
                                    <p:set>
                                      <p:cBhvr>
                                        <p:cTn id="372" dur="1" fill="hold">
                                          <p:stCondLst>
                                            <p:cond delay="0"/>
                                          </p:stCondLst>
                                        </p:cTn>
                                        <p:tgtEl>
                                          <p:spTgt spid="302"/>
                                        </p:tgtEl>
                                        <p:attrNameLst>
                                          <p:attrName>style.visibility</p:attrName>
                                        </p:attrNameLst>
                                      </p:cBhvr>
                                      <p:to>
                                        <p:strVal val="visible"/>
                                      </p:to>
                                    </p:set>
                                  </p:childTnLst>
                                  <p:subTnLst>
                                    <p:set>
                                      <p:cBhvr override="childStyle">
                                        <p:cTn dur="1" fill="hold" display="0" masterRel="nextClick" afterEffect="1"/>
                                        <p:tgtEl>
                                          <p:spTgt spid="302"/>
                                        </p:tgtEl>
                                        <p:attrNameLst>
                                          <p:attrName>style.visibility</p:attrName>
                                        </p:attrNameLst>
                                      </p:cBhvr>
                                      <p:to>
                                        <p:strVal val="hidden"/>
                                      </p:to>
                                    </p:set>
                                  </p:subTnLst>
                                </p:cTn>
                              </p:par>
                            </p:childTnLst>
                          </p:cTn>
                        </p:par>
                        <p:par>
                          <p:cTn id="373" fill="hold" nodeType="afterGroup">
                            <p:stCondLst>
                              <p:cond delay="1220000"/>
                            </p:stCondLst>
                            <p:childTnLst>
                              <p:par>
                                <p:cTn id="374" presetID="1" presetClass="entr" presetSubtype="0" fill="hold" grpId="0" nodeType="afterEffect">
                                  <p:stCondLst>
                                    <p:cond delay="10000"/>
                                  </p:stCondLst>
                                  <p:childTnLst>
                                    <p:set>
                                      <p:cBhvr>
                                        <p:cTn id="375" dur="1" fill="hold">
                                          <p:stCondLst>
                                            <p:cond delay="0"/>
                                          </p:stCondLst>
                                        </p:cTn>
                                        <p:tgtEl>
                                          <p:spTgt spid="303"/>
                                        </p:tgtEl>
                                        <p:attrNameLst>
                                          <p:attrName>style.visibility</p:attrName>
                                        </p:attrNameLst>
                                      </p:cBhvr>
                                      <p:to>
                                        <p:strVal val="visible"/>
                                      </p:to>
                                    </p:set>
                                  </p:childTnLst>
                                  <p:subTnLst>
                                    <p:set>
                                      <p:cBhvr override="childStyle">
                                        <p:cTn dur="1" fill="hold" display="0" masterRel="nextClick" afterEffect="1"/>
                                        <p:tgtEl>
                                          <p:spTgt spid="303"/>
                                        </p:tgtEl>
                                        <p:attrNameLst>
                                          <p:attrName>style.visibility</p:attrName>
                                        </p:attrNameLst>
                                      </p:cBhvr>
                                      <p:to>
                                        <p:strVal val="hidden"/>
                                      </p:to>
                                    </p:set>
                                  </p:subTnLst>
                                </p:cTn>
                              </p:par>
                            </p:childTnLst>
                          </p:cTn>
                        </p:par>
                        <p:par>
                          <p:cTn id="376" fill="hold" nodeType="afterGroup">
                            <p:stCondLst>
                              <p:cond delay="1230000"/>
                            </p:stCondLst>
                            <p:childTnLst>
                              <p:par>
                                <p:cTn id="377" presetID="1" presetClass="entr" presetSubtype="0" fill="hold" grpId="0" nodeType="afterEffect">
                                  <p:stCondLst>
                                    <p:cond delay="10000"/>
                                  </p:stCondLst>
                                  <p:childTnLst>
                                    <p:set>
                                      <p:cBhvr>
                                        <p:cTn id="378" dur="1" fill="hold">
                                          <p:stCondLst>
                                            <p:cond delay="0"/>
                                          </p:stCondLst>
                                        </p:cTn>
                                        <p:tgtEl>
                                          <p:spTgt spid="304"/>
                                        </p:tgtEl>
                                        <p:attrNameLst>
                                          <p:attrName>style.visibility</p:attrName>
                                        </p:attrNameLst>
                                      </p:cBhvr>
                                      <p:to>
                                        <p:strVal val="visible"/>
                                      </p:to>
                                    </p:set>
                                  </p:childTnLst>
                                  <p:subTnLst>
                                    <p:set>
                                      <p:cBhvr override="childStyle">
                                        <p:cTn dur="1" fill="hold" display="0" masterRel="nextClick" afterEffect="1"/>
                                        <p:tgtEl>
                                          <p:spTgt spid="304"/>
                                        </p:tgtEl>
                                        <p:attrNameLst>
                                          <p:attrName>style.visibility</p:attrName>
                                        </p:attrNameLst>
                                      </p:cBhvr>
                                      <p:to>
                                        <p:strVal val="hidden"/>
                                      </p:to>
                                    </p:set>
                                  </p:subTnLst>
                                </p:cTn>
                              </p:par>
                            </p:childTnLst>
                          </p:cTn>
                        </p:par>
                        <p:par>
                          <p:cTn id="379" fill="hold" nodeType="afterGroup">
                            <p:stCondLst>
                              <p:cond delay="1240000"/>
                            </p:stCondLst>
                            <p:childTnLst>
                              <p:par>
                                <p:cTn id="380" presetID="1" presetClass="entr" presetSubtype="0" fill="hold" grpId="0" nodeType="afterEffect">
                                  <p:stCondLst>
                                    <p:cond delay="10000"/>
                                  </p:stCondLst>
                                  <p:childTnLst>
                                    <p:set>
                                      <p:cBhvr>
                                        <p:cTn id="381" dur="1" fill="hold">
                                          <p:stCondLst>
                                            <p:cond delay="0"/>
                                          </p:stCondLst>
                                        </p:cTn>
                                        <p:tgtEl>
                                          <p:spTgt spid="305"/>
                                        </p:tgtEl>
                                        <p:attrNameLst>
                                          <p:attrName>style.visibility</p:attrName>
                                        </p:attrNameLst>
                                      </p:cBhvr>
                                      <p:to>
                                        <p:strVal val="visible"/>
                                      </p:to>
                                    </p:set>
                                  </p:childTnLst>
                                  <p:subTnLst>
                                    <p:set>
                                      <p:cBhvr override="childStyle">
                                        <p:cTn dur="1" fill="hold" display="0" masterRel="nextClick" afterEffect="1"/>
                                        <p:tgtEl>
                                          <p:spTgt spid="305"/>
                                        </p:tgtEl>
                                        <p:attrNameLst>
                                          <p:attrName>style.visibility</p:attrName>
                                        </p:attrNameLst>
                                      </p:cBhvr>
                                      <p:to>
                                        <p:strVal val="hidden"/>
                                      </p:to>
                                    </p:set>
                                  </p:subTnLst>
                                </p:cTn>
                              </p:par>
                            </p:childTnLst>
                          </p:cTn>
                        </p:par>
                        <p:par>
                          <p:cTn id="382" fill="hold" nodeType="afterGroup">
                            <p:stCondLst>
                              <p:cond delay="1250000"/>
                            </p:stCondLst>
                            <p:childTnLst>
                              <p:par>
                                <p:cTn id="383" presetID="1" presetClass="entr" presetSubtype="0" fill="hold" grpId="0" nodeType="afterEffect">
                                  <p:stCondLst>
                                    <p:cond delay="10000"/>
                                  </p:stCondLst>
                                  <p:childTnLst>
                                    <p:set>
                                      <p:cBhvr>
                                        <p:cTn id="384" dur="1" fill="hold">
                                          <p:stCondLst>
                                            <p:cond delay="0"/>
                                          </p:stCondLst>
                                        </p:cTn>
                                        <p:tgtEl>
                                          <p:spTgt spid="307"/>
                                        </p:tgtEl>
                                        <p:attrNameLst>
                                          <p:attrName>style.visibility</p:attrName>
                                        </p:attrNameLst>
                                      </p:cBhvr>
                                      <p:to>
                                        <p:strVal val="visible"/>
                                      </p:to>
                                    </p:set>
                                  </p:childTnLst>
                                </p:cTn>
                              </p:par>
                            </p:childTnLst>
                          </p:cTn>
                        </p:par>
                        <p:par>
                          <p:cTn id="385" fill="hold" nodeType="afterGroup">
                            <p:stCondLst>
                              <p:cond delay="1260000"/>
                            </p:stCondLst>
                            <p:childTnLst>
                              <p:par>
                                <p:cTn id="386" presetID="1" presetClass="entr" presetSubtype="0" fill="hold" grpId="0" nodeType="afterEffect">
                                  <p:stCondLst>
                                    <p:cond delay="10000"/>
                                  </p:stCondLst>
                                  <p:childTnLst>
                                    <p:set>
                                      <p:cBhvr>
                                        <p:cTn id="387" dur="1" fill="hold">
                                          <p:stCondLst>
                                            <p:cond delay="0"/>
                                          </p:stCondLst>
                                        </p:cTn>
                                        <p:tgtEl>
                                          <p:spTgt spid="308"/>
                                        </p:tgtEl>
                                        <p:attrNameLst>
                                          <p:attrName>style.visibility</p:attrName>
                                        </p:attrNameLst>
                                      </p:cBhvr>
                                      <p:to>
                                        <p:strVal val="visible"/>
                                      </p:to>
                                    </p:set>
                                  </p:childTnLst>
                                  <p:subTnLst>
                                    <p:set>
                                      <p:cBhvr override="childStyle">
                                        <p:cTn dur="1" fill="hold" display="0" masterRel="nextClick" afterEffect="1"/>
                                        <p:tgtEl>
                                          <p:spTgt spid="308"/>
                                        </p:tgtEl>
                                        <p:attrNameLst>
                                          <p:attrName>style.visibility</p:attrName>
                                        </p:attrNameLst>
                                      </p:cBhvr>
                                      <p:to>
                                        <p:strVal val="hidden"/>
                                      </p:to>
                                    </p:set>
                                  </p:subTnLst>
                                </p:cTn>
                              </p:par>
                            </p:childTnLst>
                          </p:cTn>
                        </p:par>
                        <p:par>
                          <p:cTn id="388" fill="hold" nodeType="afterGroup">
                            <p:stCondLst>
                              <p:cond delay="1270000"/>
                            </p:stCondLst>
                            <p:childTnLst>
                              <p:par>
                                <p:cTn id="389" presetID="1" presetClass="entr" presetSubtype="0" fill="hold" grpId="0" nodeType="afterEffect">
                                  <p:stCondLst>
                                    <p:cond delay="10000"/>
                                  </p:stCondLst>
                                  <p:childTnLst>
                                    <p:set>
                                      <p:cBhvr>
                                        <p:cTn id="390" dur="1" fill="hold">
                                          <p:stCondLst>
                                            <p:cond delay="0"/>
                                          </p:stCondLst>
                                        </p:cTn>
                                        <p:tgtEl>
                                          <p:spTgt spid="309"/>
                                        </p:tgtEl>
                                        <p:attrNameLst>
                                          <p:attrName>style.visibility</p:attrName>
                                        </p:attrNameLst>
                                      </p:cBhvr>
                                      <p:to>
                                        <p:strVal val="visible"/>
                                      </p:to>
                                    </p:set>
                                  </p:childTnLst>
                                  <p:subTnLst>
                                    <p:set>
                                      <p:cBhvr override="childStyle">
                                        <p:cTn dur="1" fill="hold" display="0" masterRel="nextClick" afterEffect="1"/>
                                        <p:tgtEl>
                                          <p:spTgt spid="309"/>
                                        </p:tgtEl>
                                        <p:attrNameLst>
                                          <p:attrName>style.visibility</p:attrName>
                                        </p:attrNameLst>
                                      </p:cBhvr>
                                      <p:to>
                                        <p:strVal val="hidden"/>
                                      </p:to>
                                    </p:set>
                                  </p:subTnLst>
                                </p:cTn>
                              </p:par>
                            </p:childTnLst>
                          </p:cTn>
                        </p:par>
                        <p:par>
                          <p:cTn id="391" fill="hold" nodeType="afterGroup">
                            <p:stCondLst>
                              <p:cond delay="1280000"/>
                            </p:stCondLst>
                            <p:childTnLst>
                              <p:par>
                                <p:cTn id="392" presetID="1" presetClass="entr" presetSubtype="0" fill="hold" grpId="0" nodeType="afterEffect">
                                  <p:stCondLst>
                                    <p:cond delay="10000"/>
                                  </p:stCondLst>
                                  <p:childTnLst>
                                    <p:set>
                                      <p:cBhvr>
                                        <p:cTn id="393" dur="1" fill="hold">
                                          <p:stCondLst>
                                            <p:cond delay="0"/>
                                          </p:stCondLst>
                                        </p:cTn>
                                        <p:tgtEl>
                                          <p:spTgt spid="310"/>
                                        </p:tgtEl>
                                        <p:attrNameLst>
                                          <p:attrName>style.visibility</p:attrName>
                                        </p:attrNameLst>
                                      </p:cBhvr>
                                      <p:to>
                                        <p:strVal val="visible"/>
                                      </p:to>
                                    </p:set>
                                  </p:childTnLst>
                                  <p:subTnLst>
                                    <p:set>
                                      <p:cBhvr override="childStyle">
                                        <p:cTn dur="1" fill="hold" display="0" masterRel="nextClick" afterEffect="1"/>
                                        <p:tgtEl>
                                          <p:spTgt spid="310"/>
                                        </p:tgtEl>
                                        <p:attrNameLst>
                                          <p:attrName>style.visibility</p:attrName>
                                        </p:attrNameLst>
                                      </p:cBhvr>
                                      <p:to>
                                        <p:strVal val="hidden"/>
                                      </p:to>
                                    </p:set>
                                  </p:subTnLst>
                                </p:cTn>
                              </p:par>
                            </p:childTnLst>
                          </p:cTn>
                        </p:par>
                        <p:par>
                          <p:cTn id="394" fill="hold" nodeType="afterGroup">
                            <p:stCondLst>
                              <p:cond delay="1290000"/>
                            </p:stCondLst>
                            <p:childTnLst>
                              <p:par>
                                <p:cTn id="395" presetID="1" presetClass="entr" presetSubtype="0" fill="hold" grpId="0" nodeType="afterEffect">
                                  <p:stCondLst>
                                    <p:cond delay="10000"/>
                                  </p:stCondLst>
                                  <p:childTnLst>
                                    <p:set>
                                      <p:cBhvr>
                                        <p:cTn id="396" dur="1" fill="hold">
                                          <p:stCondLst>
                                            <p:cond delay="0"/>
                                          </p:stCondLst>
                                        </p:cTn>
                                        <p:tgtEl>
                                          <p:spTgt spid="311"/>
                                        </p:tgtEl>
                                        <p:attrNameLst>
                                          <p:attrName>style.visibility</p:attrName>
                                        </p:attrNameLst>
                                      </p:cBhvr>
                                      <p:to>
                                        <p:strVal val="visible"/>
                                      </p:to>
                                    </p:set>
                                  </p:childTnLst>
                                  <p:subTnLst>
                                    <p:set>
                                      <p:cBhvr override="childStyle">
                                        <p:cTn dur="1" fill="hold" display="0" masterRel="nextClick" afterEffect="1"/>
                                        <p:tgtEl>
                                          <p:spTgt spid="311"/>
                                        </p:tgtEl>
                                        <p:attrNameLst>
                                          <p:attrName>style.visibility</p:attrName>
                                        </p:attrNameLst>
                                      </p:cBhvr>
                                      <p:to>
                                        <p:strVal val="hidden"/>
                                      </p:to>
                                    </p:set>
                                  </p:subTnLst>
                                </p:cTn>
                              </p:par>
                            </p:childTnLst>
                          </p:cTn>
                        </p:par>
                        <p:par>
                          <p:cTn id="397" fill="hold" nodeType="afterGroup">
                            <p:stCondLst>
                              <p:cond delay="1300000"/>
                            </p:stCondLst>
                            <p:childTnLst>
                              <p:par>
                                <p:cTn id="398" presetID="1" presetClass="entr" presetSubtype="0" fill="hold" grpId="0" nodeType="afterEffect">
                                  <p:stCondLst>
                                    <p:cond delay="10000"/>
                                  </p:stCondLst>
                                  <p:childTnLst>
                                    <p:set>
                                      <p:cBhvr>
                                        <p:cTn id="399" dur="1" fill="hold">
                                          <p:stCondLst>
                                            <p:cond delay="0"/>
                                          </p:stCondLst>
                                        </p:cTn>
                                        <p:tgtEl>
                                          <p:spTgt spid="312"/>
                                        </p:tgtEl>
                                        <p:attrNameLst>
                                          <p:attrName>style.visibility</p:attrName>
                                        </p:attrNameLst>
                                      </p:cBhvr>
                                      <p:to>
                                        <p:strVal val="visible"/>
                                      </p:to>
                                    </p:set>
                                  </p:childTnLst>
                                  <p:subTnLst>
                                    <p:set>
                                      <p:cBhvr override="childStyle">
                                        <p:cTn dur="1" fill="hold" display="0" masterRel="nextClick" afterEffect="1"/>
                                        <p:tgtEl>
                                          <p:spTgt spid="312"/>
                                        </p:tgtEl>
                                        <p:attrNameLst>
                                          <p:attrName>style.visibility</p:attrName>
                                        </p:attrNameLst>
                                      </p:cBhvr>
                                      <p:to>
                                        <p:strVal val="hidden"/>
                                      </p:to>
                                    </p:set>
                                  </p:subTnLst>
                                </p:cTn>
                              </p:par>
                            </p:childTnLst>
                          </p:cTn>
                        </p:par>
                        <p:par>
                          <p:cTn id="400" fill="hold" nodeType="afterGroup">
                            <p:stCondLst>
                              <p:cond delay="1310000"/>
                            </p:stCondLst>
                            <p:childTnLst>
                              <p:par>
                                <p:cTn id="401" presetID="1" presetClass="entr" presetSubtype="0" fill="hold" grpId="0" nodeType="afterEffect">
                                  <p:stCondLst>
                                    <p:cond delay="10000"/>
                                  </p:stCondLst>
                                  <p:childTnLst>
                                    <p:set>
                                      <p:cBhvr>
                                        <p:cTn id="402" dur="1" fill="hold">
                                          <p:stCondLst>
                                            <p:cond delay="0"/>
                                          </p:stCondLst>
                                        </p:cTn>
                                        <p:tgtEl>
                                          <p:spTgt spid="314"/>
                                        </p:tgtEl>
                                        <p:attrNameLst>
                                          <p:attrName>style.visibility</p:attrName>
                                        </p:attrNameLst>
                                      </p:cBhvr>
                                      <p:to>
                                        <p:strVal val="visible"/>
                                      </p:to>
                                    </p:set>
                                  </p:childTnLst>
                                </p:cTn>
                              </p:par>
                            </p:childTnLst>
                          </p:cTn>
                        </p:par>
                        <p:par>
                          <p:cTn id="403" fill="hold" nodeType="afterGroup">
                            <p:stCondLst>
                              <p:cond delay="1320000"/>
                            </p:stCondLst>
                            <p:childTnLst>
                              <p:par>
                                <p:cTn id="404" presetID="1" presetClass="entr" presetSubtype="0" fill="hold" grpId="0" nodeType="afterEffect">
                                  <p:stCondLst>
                                    <p:cond delay="10000"/>
                                  </p:stCondLst>
                                  <p:childTnLst>
                                    <p:set>
                                      <p:cBhvr>
                                        <p:cTn id="405" dur="1" fill="hold">
                                          <p:stCondLst>
                                            <p:cond delay="0"/>
                                          </p:stCondLst>
                                        </p:cTn>
                                        <p:tgtEl>
                                          <p:spTgt spid="315"/>
                                        </p:tgtEl>
                                        <p:attrNameLst>
                                          <p:attrName>style.visibility</p:attrName>
                                        </p:attrNameLst>
                                      </p:cBhvr>
                                      <p:to>
                                        <p:strVal val="visible"/>
                                      </p:to>
                                    </p:set>
                                  </p:childTnLst>
                                  <p:subTnLst>
                                    <p:set>
                                      <p:cBhvr override="childStyle">
                                        <p:cTn dur="1" fill="hold" display="0" masterRel="nextClick" afterEffect="1"/>
                                        <p:tgtEl>
                                          <p:spTgt spid="315"/>
                                        </p:tgtEl>
                                        <p:attrNameLst>
                                          <p:attrName>style.visibility</p:attrName>
                                        </p:attrNameLst>
                                      </p:cBhvr>
                                      <p:to>
                                        <p:strVal val="hidden"/>
                                      </p:to>
                                    </p:set>
                                  </p:subTnLst>
                                </p:cTn>
                              </p:par>
                            </p:childTnLst>
                          </p:cTn>
                        </p:par>
                        <p:par>
                          <p:cTn id="406" fill="hold" nodeType="afterGroup">
                            <p:stCondLst>
                              <p:cond delay="1330000"/>
                            </p:stCondLst>
                            <p:childTnLst>
                              <p:par>
                                <p:cTn id="407" presetID="1" presetClass="entr" presetSubtype="0" fill="hold" grpId="0" nodeType="afterEffect">
                                  <p:stCondLst>
                                    <p:cond delay="10000"/>
                                  </p:stCondLst>
                                  <p:childTnLst>
                                    <p:set>
                                      <p:cBhvr>
                                        <p:cTn id="408" dur="1" fill="hold">
                                          <p:stCondLst>
                                            <p:cond delay="0"/>
                                          </p:stCondLst>
                                        </p:cTn>
                                        <p:tgtEl>
                                          <p:spTgt spid="316"/>
                                        </p:tgtEl>
                                        <p:attrNameLst>
                                          <p:attrName>style.visibility</p:attrName>
                                        </p:attrNameLst>
                                      </p:cBhvr>
                                      <p:to>
                                        <p:strVal val="visible"/>
                                      </p:to>
                                    </p:set>
                                  </p:childTnLst>
                                  <p:subTnLst>
                                    <p:set>
                                      <p:cBhvr override="childStyle">
                                        <p:cTn dur="1" fill="hold" display="0" masterRel="nextClick" afterEffect="1"/>
                                        <p:tgtEl>
                                          <p:spTgt spid="316"/>
                                        </p:tgtEl>
                                        <p:attrNameLst>
                                          <p:attrName>style.visibility</p:attrName>
                                        </p:attrNameLst>
                                      </p:cBhvr>
                                      <p:to>
                                        <p:strVal val="hidden"/>
                                      </p:to>
                                    </p:set>
                                  </p:subTnLst>
                                </p:cTn>
                              </p:par>
                            </p:childTnLst>
                          </p:cTn>
                        </p:par>
                        <p:par>
                          <p:cTn id="409" fill="hold" nodeType="afterGroup">
                            <p:stCondLst>
                              <p:cond delay="1340000"/>
                            </p:stCondLst>
                            <p:childTnLst>
                              <p:par>
                                <p:cTn id="410" presetID="1" presetClass="entr" presetSubtype="0" fill="hold" grpId="0" nodeType="afterEffect">
                                  <p:stCondLst>
                                    <p:cond delay="10000"/>
                                  </p:stCondLst>
                                  <p:childTnLst>
                                    <p:set>
                                      <p:cBhvr>
                                        <p:cTn id="411" dur="1" fill="hold">
                                          <p:stCondLst>
                                            <p:cond delay="0"/>
                                          </p:stCondLst>
                                        </p:cTn>
                                        <p:tgtEl>
                                          <p:spTgt spid="317"/>
                                        </p:tgtEl>
                                        <p:attrNameLst>
                                          <p:attrName>style.visibility</p:attrName>
                                        </p:attrNameLst>
                                      </p:cBhvr>
                                      <p:to>
                                        <p:strVal val="visible"/>
                                      </p:to>
                                    </p:set>
                                  </p:childTnLst>
                                  <p:subTnLst>
                                    <p:set>
                                      <p:cBhvr override="childStyle">
                                        <p:cTn dur="1" fill="hold" display="0" masterRel="nextClick" afterEffect="1"/>
                                        <p:tgtEl>
                                          <p:spTgt spid="317"/>
                                        </p:tgtEl>
                                        <p:attrNameLst>
                                          <p:attrName>style.visibility</p:attrName>
                                        </p:attrNameLst>
                                      </p:cBhvr>
                                      <p:to>
                                        <p:strVal val="hidden"/>
                                      </p:to>
                                    </p:set>
                                  </p:subTnLst>
                                </p:cTn>
                              </p:par>
                            </p:childTnLst>
                          </p:cTn>
                        </p:par>
                        <p:par>
                          <p:cTn id="412" fill="hold" nodeType="afterGroup">
                            <p:stCondLst>
                              <p:cond delay="1350000"/>
                            </p:stCondLst>
                            <p:childTnLst>
                              <p:par>
                                <p:cTn id="413" presetID="1" presetClass="entr" presetSubtype="0" fill="hold" grpId="0" nodeType="afterEffect">
                                  <p:stCondLst>
                                    <p:cond delay="10000"/>
                                  </p:stCondLst>
                                  <p:childTnLst>
                                    <p:set>
                                      <p:cBhvr>
                                        <p:cTn id="414" dur="1" fill="hold">
                                          <p:stCondLst>
                                            <p:cond delay="0"/>
                                          </p:stCondLst>
                                        </p:cTn>
                                        <p:tgtEl>
                                          <p:spTgt spid="318"/>
                                        </p:tgtEl>
                                        <p:attrNameLst>
                                          <p:attrName>style.visibility</p:attrName>
                                        </p:attrNameLst>
                                      </p:cBhvr>
                                      <p:to>
                                        <p:strVal val="visible"/>
                                      </p:to>
                                    </p:set>
                                  </p:childTnLst>
                                  <p:subTnLst>
                                    <p:set>
                                      <p:cBhvr override="childStyle">
                                        <p:cTn dur="1" fill="hold" display="0" masterRel="nextClick" afterEffect="1"/>
                                        <p:tgtEl>
                                          <p:spTgt spid="318"/>
                                        </p:tgtEl>
                                        <p:attrNameLst>
                                          <p:attrName>style.visibility</p:attrName>
                                        </p:attrNameLst>
                                      </p:cBhvr>
                                      <p:to>
                                        <p:strVal val="hidden"/>
                                      </p:to>
                                    </p:set>
                                  </p:subTnLst>
                                </p:cTn>
                              </p:par>
                            </p:childTnLst>
                          </p:cTn>
                        </p:par>
                        <p:par>
                          <p:cTn id="415" fill="hold" nodeType="afterGroup">
                            <p:stCondLst>
                              <p:cond delay="1360000"/>
                            </p:stCondLst>
                            <p:childTnLst>
                              <p:par>
                                <p:cTn id="416" presetID="1" presetClass="entr" presetSubtype="0" fill="hold" grpId="0" nodeType="afterEffect">
                                  <p:stCondLst>
                                    <p:cond delay="10000"/>
                                  </p:stCondLst>
                                  <p:childTnLst>
                                    <p:set>
                                      <p:cBhvr>
                                        <p:cTn id="417" dur="1" fill="hold">
                                          <p:stCondLst>
                                            <p:cond delay="0"/>
                                          </p:stCondLst>
                                        </p:cTn>
                                        <p:tgtEl>
                                          <p:spTgt spid="319"/>
                                        </p:tgtEl>
                                        <p:attrNameLst>
                                          <p:attrName>style.visibility</p:attrName>
                                        </p:attrNameLst>
                                      </p:cBhvr>
                                      <p:to>
                                        <p:strVal val="visible"/>
                                      </p:to>
                                    </p:set>
                                  </p:childTnLst>
                                  <p:subTnLst>
                                    <p:set>
                                      <p:cBhvr override="childStyle">
                                        <p:cTn dur="1" fill="hold" display="0" masterRel="nextClick" afterEffect="1"/>
                                        <p:tgtEl>
                                          <p:spTgt spid="319"/>
                                        </p:tgtEl>
                                        <p:attrNameLst>
                                          <p:attrName>style.visibility</p:attrName>
                                        </p:attrNameLst>
                                      </p:cBhvr>
                                      <p:to>
                                        <p:strVal val="hidden"/>
                                      </p:to>
                                    </p:set>
                                  </p:subTnLst>
                                </p:cTn>
                              </p:par>
                            </p:childTnLst>
                          </p:cTn>
                        </p:par>
                        <p:par>
                          <p:cTn id="418" fill="hold" nodeType="afterGroup">
                            <p:stCondLst>
                              <p:cond delay="1370000"/>
                            </p:stCondLst>
                            <p:childTnLst>
                              <p:par>
                                <p:cTn id="419" presetID="1" presetClass="entr" presetSubtype="0" fill="hold" grpId="0" nodeType="afterEffect">
                                  <p:stCondLst>
                                    <p:cond delay="10000"/>
                                  </p:stCondLst>
                                  <p:childTnLst>
                                    <p:set>
                                      <p:cBhvr>
                                        <p:cTn id="420" dur="1" fill="hold">
                                          <p:stCondLst>
                                            <p:cond delay="0"/>
                                          </p:stCondLst>
                                        </p:cTn>
                                        <p:tgtEl>
                                          <p:spTgt spid="321"/>
                                        </p:tgtEl>
                                        <p:attrNameLst>
                                          <p:attrName>style.visibility</p:attrName>
                                        </p:attrNameLst>
                                      </p:cBhvr>
                                      <p:to>
                                        <p:strVal val="visible"/>
                                      </p:to>
                                    </p:set>
                                  </p:childTnLst>
                                </p:cTn>
                              </p:par>
                            </p:childTnLst>
                          </p:cTn>
                        </p:par>
                        <p:par>
                          <p:cTn id="421" fill="hold" nodeType="afterGroup">
                            <p:stCondLst>
                              <p:cond delay="1380000"/>
                            </p:stCondLst>
                            <p:childTnLst>
                              <p:par>
                                <p:cTn id="422" presetID="1" presetClass="entr" presetSubtype="0" fill="hold" grpId="0" nodeType="afterEffect">
                                  <p:stCondLst>
                                    <p:cond delay="10000"/>
                                  </p:stCondLst>
                                  <p:childTnLst>
                                    <p:set>
                                      <p:cBhvr>
                                        <p:cTn id="423" dur="1" fill="hold">
                                          <p:stCondLst>
                                            <p:cond delay="0"/>
                                          </p:stCondLst>
                                        </p:cTn>
                                        <p:tgtEl>
                                          <p:spTgt spid="322"/>
                                        </p:tgtEl>
                                        <p:attrNameLst>
                                          <p:attrName>style.visibility</p:attrName>
                                        </p:attrNameLst>
                                      </p:cBhvr>
                                      <p:to>
                                        <p:strVal val="visible"/>
                                      </p:to>
                                    </p:set>
                                  </p:childTnLst>
                                  <p:subTnLst>
                                    <p:set>
                                      <p:cBhvr override="childStyle">
                                        <p:cTn dur="1" fill="hold" display="0" masterRel="nextClick" afterEffect="1"/>
                                        <p:tgtEl>
                                          <p:spTgt spid="322"/>
                                        </p:tgtEl>
                                        <p:attrNameLst>
                                          <p:attrName>style.visibility</p:attrName>
                                        </p:attrNameLst>
                                      </p:cBhvr>
                                      <p:to>
                                        <p:strVal val="hidden"/>
                                      </p:to>
                                    </p:set>
                                  </p:subTnLst>
                                </p:cTn>
                              </p:par>
                            </p:childTnLst>
                          </p:cTn>
                        </p:par>
                        <p:par>
                          <p:cTn id="424" fill="hold" nodeType="afterGroup">
                            <p:stCondLst>
                              <p:cond delay="1390000"/>
                            </p:stCondLst>
                            <p:childTnLst>
                              <p:par>
                                <p:cTn id="425" presetID="1" presetClass="entr" presetSubtype="0" fill="hold" grpId="0" nodeType="afterEffect">
                                  <p:stCondLst>
                                    <p:cond delay="10000"/>
                                  </p:stCondLst>
                                  <p:childTnLst>
                                    <p:set>
                                      <p:cBhvr>
                                        <p:cTn id="426" dur="1" fill="hold">
                                          <p:stCondLst>
                                            <p:cond delay="0"/>
                                          </p:stCondLst>
                                        </p:cTn>
                                        <p:tgtEl>
                                          <p:spTgt spid="323"/>
                                        </p:tgtEl>
                                        <p:attrNameLst>
                                          <p:attrName>style.visibility</p:attrName>
                                        </p:attrNameLst>
                                      </p:cBhvr>
                                      <p:to>
                                        <p:strVal val="visible"/>
                                      </p:to>
                                    </p:set>
                                  </p:childTnLst>
                                  <p:subTnLst>
                                    <p:set>
                                      <p:cBhvr override="childStyle">
                                        <p:cTn dur="1" fill="hold" display="0" masterRel="nextClick" afterEffect="1"/>
                                        <p:tgtEl>
                                          <p:spTgt spid="323"/>
                                        </p:tgtEl>
                                        <p:attrNameLst>
                                          <p:attrName>style.visibility</p:attrName>
                                        </p:attrNameLst>
                                      </p:cBhvr>
                                      <p:to>
                                        <p:strVal val="hidden"/>
                                      </p:to>
                                    </p:set>
                                  </p:subTnLst>
                                </p:cTn>
                              </p:par>
                            </p:childTnLst>
                          </p:cTn>
                        </p:par>
                        <p:par>
                          <p:cTn id="427" fill="hold" nodeType="afterGroup">
                            <p:stCondLst>
                              <p:cond delay="1400000"/>
                            </p:stCondLst>
                            <p:childTnLst>
                              <p:par>
                                <p:cTn id="428" presetID="1" presetClass="entr" presetSubtype="0" fill="hold" grpId="0" nodeType="afterEffect">
                                  <p:stCondLst>
                                    <p:cond delay="10000"/>
                                  </p:stCondLst>
                                  <p:childTnLst>
                                    <p:set>
                                      <p:cBhvr>
                                        <p:cTn id="429" dur="1" fill="hold">
                                          <p:stCondLst>
                                            <p:cond delay="0"/>
                                          </p:stCondLst>
                                        </p:cTn>
                                        <p:tgtEl>
                                          <p:spTgt spid="324"/>
                                        </p:tgtEl>
                                        <p:attrNameLst>
                                          <p:attrName>style.visibility</p:attrName>
                                        </p:attrNameLst>
                                      </p:cBhvr>
                                      <p:to>
                                        <p:strVal val="visible"/>
                                      </p:to>
                                    </p:set>
                                  </p:childTnLst>
                                  <p:subTnLst>
                                    <p:set>
                                      <p:cBhvr override="childStyle">
                                        <p:cTn dur="1" fill="hold" display="0" masterRel="nextClick" afterEffect="1"/>
                                        <p:tgtEl>
                                          <p:spTgt spid="324"/>
                                        </p:tgtEl>
                                        <p:attrNameLst>
                                          <p:attrName>style.visibility</p:attrName>
                                        </p:attrNameLst>
                                      </p:cBhvr>
                                      <p:to>
                                        <p:strVal val="hidden"/>
                                      </p:to>
                                    </p:set>
                                  </p:subTnLst>
                                </p:cTn>
                              </p:par>
                            </p:childTnLst>
                          </p:cTn>
                        </p:par>
                        <p:par>
                          <p:cTn id="430" fill="hold" nodeType="afterGroup">
                            <p:stCondLst>
                              <p:cond delay="1410000"/>
                            </p:stCondLst>
                            <p:childTnLst>
                              <p:par>
                                <p:cTn id="431" presetID="1" presetClass="entr" presetSubtype="0" fill="hold" grpId="0" nodeType="afterEffect">
                                  <p:stCondLst>
                                    <p:cond delay="10000"/>
                                  </p:stCondLst>
                                  <p:childTnLst>
                                    <p:set>
                                      <p:cBhvr>
                                        <p:cTn id="432" dur="1" fill="hold">
                                          <p:stCondLst>
                                            <p:cond delay="0"/>
                                          </p:stCondLst>
                                        </p:cTn>
                                        <p:tgtEl>
                                          <p:spTgt spid="325"/>
                                        </p:tgtEl>
                                        <p:attrNameLst>
                                          <p:attrName>style.visibility</p:attrName>
                                        </p:attrNameLst>
                                      </p:cBhvr>
                                      <p:to>
                                        <p:strVal val="visible"/>
                                      </p:to>
                                    </p:set>
                                  </p:childTnLst>
                                  <p:subTnLst>
                                    <p:set>
                                      <p:cBhvr override="childStyle">
                                        <p:cTn dur="1" fill="hold" display="0" masterRel="nextClick" afterEffect="1"/>
                                        <p:tgtEl>
                                          <p:spTgt spid="325"/>
                                        </p:tgtEl>
                                        <p:attrNameLst>
                                          <p:attrName>style.visibility</p:attrName>
                                        </p:attrNameLst>
                                      </p:cBhvr>
                                      <p:to>
                                        <p:strVal val="hidden"/>
                                      </p:to>
                                    </p:set>
                                  </p:subTnLst>
                                </p:cTn>
                              </p:par>
                            </p:childTnLst>
                          </p:cTn>
                        </p:par>
                        <p:par>
                          <p:cTn id="433" fill="hold" nodeType="afterGroup">
                            <p:stCondLst>
                              <p:cond delay="1420000"/>
                            </p:stCondLst>
                            <p:childTnLst>
                              <p:par>
                                <p:cTn id="434" presetID="1" presetClass="entr" presetSubtype="0" fill="hold" grpId="0" nodeType="afterEffect">
                                  <p:stCondLst>
                                    <p:cond delay="10000"/>
                                  </p:stCondLst>
                                  <p:childTnLst>
                                    <p:set>
                                      <p:cBhvr>
                                        <p:cTn id="435" dur="1" fill="hold">
                                          <p:stCondLst>
                                            <p:cond delay="0"/>
                                          </p:stCondLst>
                                        </p:cTn>
                                        <p:tgtEl>
                                          <p:spTgt spid="326"/>
                                        </p:tgtEl>
                                        <p:attrNameLst>
                                          <p:attrName>style.visibility</p:attrName>
                                        </p:attrNameLst>
                                      </p:cBhvr>
                                      <p:to>
                                        <p:strVal val="visible"/>
                                      </p:to>
                                    </p:set>
                                  </p:childTnLst>
                                  <p:subTnLst>
                                    <p:set>
                                      <p:cBhvr override="childStyle">
                                        <p:cTn dur="1" fill="hold" display="0" masterRel="nextClick" afterEffect="1"/>
                                        <p:tgtEl>
                                          <p:spTgt spid="326"/>
                                        </p:tgtEl>
                                        <p:attrNameLst>
                                          <p:attrName>style.visibility</p:attrName>
                                        </p:attrNameLst>
                                      </p:cBhvr>
                                      <p:to>
                                        <p:strVal val="hidden"/>
                                      </p:to>
                                    </p:set>
                                  </p:subTnLst>
                                </p:cTn>
                              </p:par>
                            </p:childTnLst>
                          </p:cTn>
                        </p:par>
                        <p:par>
                          <p:cTn id="436" fill="hold" nodeType="afterGroup">
                            <p:stCondLst>
                              <p:cond delay="1430000"/>
                            </p:stCondLst>
                            <p:childTnLst>
                              <p:par>
                                <p:cTn id="437" presetID="1" presetClass="entr" presetSubtype="0" fill="hold" grpId="0" nodeType="afterEffect">
                                  <p:stCondLst>
                                    <p:cond delay="10000"/>
                                  </p:stCondLst>
                                  <p:childTnLst>
                                    <p:set>
                                      <p:cBhvr>
                                        <p:cTn id="438" dur="1" fill="hold">
                                          <p:stCondLst>
                                            <p:cond delay="0"/>
                                          </p:stCondLst>
                                        </p:cTn>
                                        <p:tgtEl>
                                          <p:spTgt spid="328"/>
                                        </p:tgtEl>
                                        <p:attrNameLst>
                                          <p:attrName>style.visibility</p:attrName>
                                        </p:attrNameLst>
                                      </p:cBhvr>
                                      <p:to>
                                        <p:strVal val="visible"/>
                                      </p:to>
                                    </p:set>
                                  </p:childTnLst>
                                </p:cTn>
                              </p:par>
                            </p:childTnLst>
                          </p:cTn>
                        </p:par>
                        <p:par>
                          <p:cTn id="439" fill="hold" nodeType="afterGroup">
                            <p:stCondLst>
                              <p:cond delay="1440000"/>
                            </p:stCondLst>
                            <p:childTnLst>
                              <p:par>
                                <p:cTn id="440" presetID="1" presetClass="entr" presetSubtype="0" fill="hold" grpId="0" nodeType="afterEffect">
                                  <p:stCondLst>
                                    <p:cond delay="10000"/>
                                  </p:stCondLst>
                                  <p:childTnLst>
                                    <p:set>
                                      <p:cBhvr>
                                        <p:cTn id="441" dur="1" fill="hold">
                                          <p:stCondLst>
                                            <p:cond delay="0"/>
                                          </p:stCondLst>
                                        </p:cTn>
                                        <p:tgtEl>
                                          <p:spTgt spid="329"/>
                                        </p:tgtEl>
                                        <p:attrNameLst>
                                          <p:attrName>style.visibility</p:attrName>
                                        </p:attrNameLst>
                                      </p:cBhvr>
                                      <p:to>
                                        <p:strVal val="visible"/>
                                      </p:to>
                                    </p:set>
                                  </p:childTnLst>
                                  <p:subTnLst>
                                    <p:set>
                                      <p:cBhvr override="childStyle">
                                        <p:cTn dur="1" fill="hold" display="0" masterRel="nextClick" afterEffect="1"/>
                                        <p:tgtEl>
                                          <p:spTgt spid="329"/>
                                        </p:tgtEl>
                                        <p:attrNameLst>
                                          <p:attrName>style.visibility</p:attrName>
                                        </p:attrNameLst>
                                      </p:cBhvr>
                                      <p:to>
                                        <p:strVal val="hidden"/>
                                      </p:to>
                                    </p:set>
                                  </p:subTnLst>
                                </p:cTn>
                              </p:par>
                            </p:childTnLst>
                          </p:cTn>
                        </p:par>
                        <p:par>
                          <p:cTn id="442" fill="hold" nodeType="afterGroup">
                            <p:stCondLst>
                              <p:cond delay="1450000"/>
                            </p:stCondLst>
                            <p:childTnLst>
                              <p:par>
                                <p:cTn id="443" presetID="1" presetClass="entr" presetSubtype="0" fill="hold" grpId="0" nodeType="afterEffect">
                                  <p:stCondLst>
                                    <p:cond delay="10000"/>
                                  </p:stCondLst>
                                  <p:childTnLst>
                                    <p:set>
                                      <p:cBhvr>
                                        <p:cTn id="444" dur="1" fill="hold">
                                          <p:stCondLst>
                                            <p:cond delay="0"/>
                                          </p:stCondLst>
                                        </p:cTn>
                                        <p:tgtEl>
                                          <p:spTgt spid="330"/>
                                        </p:tgtEl>
                                        <p:attrNameLst>
                                          <p:attrName>style.visibility</p:attrName>
                                        </p:attrNameLst>
                                      </p:cBhvr>
                                      <p:to>
                                        <p:strVal val="visible"/>
                                      </p:to>
                                    </p:set>
                                  </p:childTnLst>
                                  <p:subTnLst>
                                    <p:set>
                                      <p:cBhvr override="childStyle">
                                        <p:cTn dur="1" fill="hold" display="0" masterRel="nextClick" afterEffect="1"/>
                                        <p:tgtEl>
                                          <p:spTgt spid="330"/>
                                        </p:tgtEl>
                                        <p:attrNameLst>
                                          <p:attrName>style.visibility</p:attrName>
                                        </p:attrNameLst>
                                      </p:cBhvr>
                                      <p:to>
                                        <p:strVal val="hidden"/>
                                      </p:to>
                                    </p:set>
                                  </p:subTnLst>
                                </p:cTn>
                              </p:par>
                            </p:childTnLst>
                          </p:cTn>
                        </p:par>
                        <p:par>
                          <p:cTn id="445" fill="hold" nodeType="afterGroup">
                            <p:stCondLst>
                              <p:cond delay="1460000"/>
                            </p:stCondLst>
                            <p:childTnLst>
                              <p:par>
                                <p:cTn id="446" presetID="1" presetClass="entr" presetSubtype="0" fill="hold" grpId="0" nodeType="afterEffect">
                                  <p:stCondLst>
                                    <p:cond delay="10000"/>
                                  </p:stCondLst>
                                  <p:childTnLst>
                                    <p:set>
                                      <p:cBhvr>
                                        <p:cTn id="447" dur="1" fill="hold">
                                          <p:stCondLst>
                                            <p:cond delay="0"/>
                                          </p:stCondLst>
                                        </p:cTn>
                                        <p:tgtEl>
                                          <p:spTgt spid="331"/>
                                        </p:tgtEl>
                                        <p:attrNameLst>
                                          <p:attrName>style.visibility</p:attrName>
                                        </p:attrNameLst>
                                      </p:cBhvr>
                                      <p:to>
                                        <p:strVal val="visible"/>
                                      </p:to>
                                    </p:set>
                                  </p:childTnLst>
                                  <p:subTnLst>
                                    <p:set>
                                      <p:cBhvr override="childStyle">
                                        <p:cTn dur="1" fill="hold" display="0" masterRel="nextClick" afterEffect="1"/>
                                        <p:tgtEl>
                                          <p:spTgt spid="331"/>
                                        </p:tgtEl>
                                        <p:attrNameLst>
                                          <p:attrName>style.visibility</p:attrName>
                                        </p:attrNameLst>
                                      </p:cBhvr>
                                      <p:to>
                                        <p:strVal val="hidden"/>
                                      </p:to>
                                    </p:set>
                                  </p:subTnLst>
                                </p:cTn>
                              </p:par>
                            </p:childTnLst>
                          </p:cTn>
                        </p:par>
                        <p:par>
                          <p:cTn id="448" fill="hold" nodeType="afterGroup">
                            <p:stCondLst>
                              <p:cond delay="1470000"/>
                            </p:stCondLst>
                            <p:childTnLst>
                              <p:par>
                                <p:cTn id="449" presetID="1" presetClass="entr" presetSubtype="0" fill="hold" grpId="0" nodeType="afterEffect">
                                  <p:stCondLst>
                                    <p:cond delay="10000"/>
                                  </p:stCondLst>
                                  <p:childTnLst>
                                    <p:set>
                                      <p:cBhvr>
                                        <p:cTn id="450" dur="1" fill="hold">
                                          <p:stCondLst>
                                            <p:cond delay="0"/>
                                          </p:stCondLst>
                                        </p:cTn>
                                        <p:tgtEl>
                                          <p:spTgt spid="332"/>
                                        </p:tgtEl>
                                        <p:attrNameLst>
                                          <p:attrName>style.visibility</p:attrName>
                                        </p:attrNameLst>
                                      </p:cBhvr>
                                      <p:to>
                                        <p:strVal val="visible"/>
                                      </p:to>
                                    </p:set>
                                  </p:childTnLst>
                                  <p:subTnLst>
                                    <p:set>
                                      <p:cBhvr override="childStyle">
                                        <p:cTn dur="1" fill="hold" display="0" masterRel="nextClick" afterEffect="1"/>
                                        <p:tgtEl>
                                          <p:spTgt spid="332"/>
                                        </p:tgtEl>
                                        <p:attrNameLst>
                                          <p:attrName>style.visibility</p:attrName>
                                        </p:attrNameLst>
                                      </p:cBhvr>
                                      <p:to>
                                        <p:strVal val="hidden"/>
                                      </p:to>
                                    </p:set>
                                  </p:subTnLst>
                                </p:cTn>
                              </p:par>
                            </p:childTnLst>
                          </p:cTn>
                        </p:par>
                        <p:par>
                          <p:cTn id="451" fill="hold" nodeType="afterGroup">
                            <p:stCondLst>
                              <p:cond delay="1480000"/>
                            </p:stCondLst>
                            <p:childTnLst>
                              <p:par>
                                <p:cTn id="452" presetID="1" presetClass="entr" presetSubtype="0" fill="hold" grpId="0" nodeType="afterEffect">
                                  <p:stCondLst>
                                    <p:cond delay="10000"/>
                                  </p:stCondLst>
                                  <p:childTnLst>
                                    <p:set>
                                      <p:cBhvr>
                                        <p:cTn id="453" dur="1" fill="hold">
                                          <p:stCondLst>
                                            <p:cond delay="0"/>
                                          </p:stCondLst>
                                        </p:cTn>
                                        <p:tgtEl>
                                          <p:spTgt spid="333"/>
                                        </p:tgtEl>
                                        <p:attrNameLst>
                                          <p:attrName>style.visibility</p:attrName>
                                        </p:attrNameLst>
                                      </p:cBhvr>
                                      <p:to>
                                        <p:strVal val="visible"/>
                                      </p:to>
                                    </p:set>
                                  </p:childTnLst>
                                  <p:subTnLst>
                                    <p:set>
                                      <p:cBhvr override="childStyle">
                                        <p:cTn dur="1" fill="hold" display="0" masterRel="nextClick" afterEffect="1"/>
                                        <p:tgtEl>
                                          <p:spTgt spid="333"/>
                                        </p:tgtEl>
                                        <p:attrNameLst>
                                          <p:attrName>style.visibility</p:attrName>
                                        </p:attrNameLst>
                                      </p:cBhvr>
                                      <p:to>
                                        <p:strVal val="hidden"/>
                                      </p:to>
                                    </p:set>
                                  </p:subTnLst>
                                </p:cTn>
                              </p:par>
                            </p:childTnLst>
                          </p:cTn>
                        </p:par>
                        <p:par>
                          <p:cTn id="454" fill="hold" nodeType="afterGroup">
                            <p:stCondLst>
                              <p:cond delay="1490000"/>
                            </p:stCondLst>
                            <p:childTnLst>
                              <p:par>
                                <p:cTn id="455" presetID="1" presetClass="entr" presetSubtype="0" fill="hold" grpId="0" nodeType="afterEffect">
                                  <p:stCondLst>
                                    <p:cond delay="10000"/>
                                  </p:stCondLst>
                                  <p:childTnLst>
                                    <p:set>
                                      <p:cBhvr>
                                        <p:cTn id="456" dur="1" fill="hold">
                                          <p:stCondLst>
                                            <p:cond delay="0"/>
                                          </p:stCondLst>
                                        </p:cTn>
                                        <p:tgtEl>
                                          <p:spTgt spid="334"/>
                                        </p:tgtEl>
                                        <p:attrNameLst>
                                          <p:attrName>style.visibility</p:attrName>
                                        </p:attrNameLst>
                                      </p:cBhvr>
                                      <p:to>
                                        <p:strVal val="visible"/>
                                      </p:to>
                                    </p:set>
                                  </p:childTnLst>
                                </p:cTn>
                              </p:par>
                            </p:childTnLst>
                          </p:cTn>
                        </p:par>
                        <p:par>
                          <p:cTn id="457" fill="hold" nodeType="afterGroup">
                            <p:stCondLst>
                              <p:cond delay="1500000"/>
                            </p:stCondLst>
                            <p:childTnLst>
                              <p:par>
                                <p:cTn id="458" presetID="1" presetClass="entr" presetSubtype="0" fill="hold" grpId="0" nodeType="afterEffect">
                                  <p:stCondLst>
                                    <p:cond delay="10000"/>
                                  </p:stCondLst>
                                  <p:childTnLst>
                                    <p:set>
                                      <p:cBhvr>
                                        <p:cTn id="459" dur="1" fill="hold">
                                          <p:stCondLst>
                                            <p:cond delay="0"/>
                                          </p:stCondLst>
                                        </p:cTn>
                                        <p:tgtEl>
                                          <p:spTgt spid="335"/>
                                        </p:tgtEl>
                                        <p:attrNameLst>
                                          <p:attrName>style.visibility</p:attrName>
                                        </p:attrNameLst>
                                      </p:cBhvr>
                                      <p:to>
                                        <p:strVal val="visible"/>
                                      </p:to>
                                    </p:set>
                                  </p:childTnLst>
                                  <p:subTnLst>
                                    <p:set>
                                      <p:cBhvr override="childStyle">
                                        <p:cTn dur="1" fill="hold" display="0" masterRel="nextClick" afterEffect="1"/>
                                        <p:tgtEl>
                                          <p:spTgt spid="335"/>
                                        </p:tgtEl>
                                        <p:attrNameLst>
                                          <p:attrName>style.visibility</p:attrName>
                                        </p:attrNameLst>
                                      </p:cBhvr>
                                      <p:to>
                                        <p:strVal val="hidden"/>
                                      </p:to>
                                    </p:set>
                                  </p:subTnLst>
                                </p:cTn>
                              </p:par>
                            </p:childTnLst>
                          </p:cTn>
                        </p:par>
                        <p:par>
                          <p:cTn id="460" fill="hold" nodeType="afterGroup">
                            <p:stCondLst>
                              <p:cond delay="1510000"/>
                            </p:stCondLst>
                            <p:childTnLst>
                              <p:par>
                                <p:cTn id="461" presetID="1" presetClass="entr" presetSubtype="0" fill="hold" grpId="0" nodeType="afterEffect">
                                  <p:stCondLst>
                                    <p:cond delay="10000"/>
                                  </p:stCondLst>
                                  <p:childTnLst>
                                    <p:set>
                                      <p:cBhvr>
                                        <p:cTn id="462" dur="1" fill="hold">
                                          <p:stCondLst>
                                            <p:cond delay="0"/>
                                          </p:stCondLst>
                                        </p:cTn>
                                        <p:tgtEl>
                                          <p:spTgt spid="336"/>
                                        </p:tgtEl>
                                        <p:attrNameLst>
                                          <p:attrName>style.visibility</p:attrName>
                                        </p:attrNameLst>
                                      </p:cBhvr>
                                      <p:to>
                                        <p:strVal val="visible"/>
                                      </p:to>
                                    </p:set>
                                  </p:childTnLst>
                                  <p:subTnLst>
                                    <p:set>
                                      <p:cBhvr override="childStyle">
                                        <p:cTn dur="1" fill="hold" display="0" masterRel="nextClick" afterEffect="1"/>
                                        <p:tgtEl>
                                          <p:spTgt spid="336"/>
                                        </p:tgtEl>
                                        <p:attrNameLst>
                                          <p:attrName>style.visibility</p:attrName>
                                        </p:attrNameLst>
                                      </p:cBhvr>
                                      <p:to>
                                        <p:strVal val="hidden"/>
                                      </p:to>
                                    </p:set>
                                  </p:subTnLst>
                                </p:cTn>
                              </p:par>
                            </p:childTnLst>
                          </p:cTn>
                        </p:par>
                        <p:par>
                          <p:cTn id="463" fill="hold" nodeType="afterGroup">
                            <p:stCondLst>
                              <p:cond delay="1520000"/>
                            </p:stCondLst>
                            <p:childTnLst>
                              <p:par>
                                <p:cTn id="464" presetID="1" presetClass="entr" presetSubtype="0" fill="hold" grpId="0" nodeType="afterEffect">
                                  <p:stCondLst>
                                    <p:cond delay="10000"/>
                                  </p:stCondLst>
                                  <p:childTnLst>
                                    <p:set>
                                      <p:cBhvr>
                                        <p:cTn id="465" dur="1" fill="hold">
                                          <p:stCondLst>
                                            <p:cond delay="0"/>
                                          </p:stCondLst>
                                        </p:cTn>
                                        <p:tgtEl>
                                          <p:spTgt spid="337"/>
                                        </p:tgtEl>
                                        <p:attrNameLst>
                                          <p:attrName>style.visibility</p:attrName>
                                        </p:attrNameLst>
                                      </p:cBhvr>
                                      <p:to>
                                        <p:strVal val="visible"/>
                                      </p:to>
                                    </p:set>
                                  </p:childTnLst>
                                  <p:subTnLst>
                                    <p:set>
                                      <p:cBhvr override="childStyle">
                                        <p:cTn dur="1" fill="hold" display="0" masterRel="nextClick" afterEffect="1"/>
                                        <p:tgtEl>
                                          <p:spTgt spid="337"/>
                                        </p:tgtEl>
                                        <p:attrNameLst>
                                          <p:attrName>style.visibility</p:attrName>
                                        </p:attrNameLst>
                                      </p:cBhvr>
                                      <p:to>
                                        <p:strVal val="hidden"/>
                                      </p:to>
                                    </p:set>
                                  </p:subTnLst>
                                </p:cTn>
                              </p:par>
                            </p:childTnLst>
                          </p:cTn>
                        </p:par>
                        <p:par>
                          <p:cTn id="466" fill="hold" nodeType="afterGroup">
                            <p:stCondLst>
                              <p:cond delay="1530000"/>
                            </p:stCondLst>
                            <p:childTnLst>
                              <p:par>
                                <p:cTn id="467" presetID="1" presetClass="entr" presetSubtype="0" fill="hold" grpId="0" nodeType="afterEffect">
                                  <p:stCondLst>
                                    <p:cond delay="10000"/>
                                  </p:stCondLst>
                                  <p:childTnLst>
                                    <p:set>
                                      <p:cBhvr>
                                        <p:cTn id="468" dur="1" fill="hold">
                                          <p:stCondLst>
                                            <p:cond delay="0"/>
                                          </p:stCondLst>
                                        </p:cTn>
                                        <p:tgtEl>
                                          <p:spTgt spid="338"/>
                                        </p:tgtEl>
                                        <p:attrNameLst>
                                          <p:attrName>style.visibility</p:attrName>
                                        </p:attrNameLst>
                                      </p:cBhvr>
                                      <p:to>
                                        <p:strVal val="visible"/>
                                      </p:to>
                                    </p:set>
                                  </p:childTnLst>
                                  <p:subTnLst>
                                    <p:set>
                                      <p:cBhvr override="childStyle">
                                        <p:cTn dur="1" fill="hold" display="0" masterRel="nextClick" afterEffect="1"/>
                                        <p:tgtEl>
                                          <p:spTgt spid="338"/>
                                        </p:tgtEl>
                                        <p:attrNameLst>
                                          <p:attrName>style.visibility</p:attrName>
                                        </p:attrNameLst>
                                      </p:cBhvr>
                                      <p:to>
                                        <p:strVal val="hidden"/>
                                      </p:to>
                                    </p:set>
                                  </p:subTnLst>
                                </p:cTn>
                              </p:par>
                            </p:childTnLst>
                          </p:cTn>
                        </p:par>
                        <p:par>
                          <p:cTn id="469" fill="hold" nodeType="afterGroup">
                            <p:stCondLst>
                              <p:cond delay="1540000"/>
                            </p:stCondLst>
                            <p:childTnLst>
                              <p:par>
                                <p:cTn id="470" presetID="1" presetClass="entr" presetSubtype="0" fill="hold" grpId="0" nodeType="afterEffect">
                                  <p:stCondLst>
                                    <p:cond delay="10000"/>
                                  </p:stCondLst>
                                  <p:childTnLst>
                                    <p:set>
                                      <p:cBhvr>
                                        <p:cTn id="471" dur="1" fill="hold">
                                          <p:stCondLst>
                                            <p:cond delay="0"/>
                                          </p:stCondLst>
                                        </p:cTn>
                                        <p:tgtEl>
                                          <p:spTgt spid="339"/>
                                        </p:tgtEl>
                                        <p:attrNameLst>
                                          <p:attrName>style.visibility</p:attrName>
                                        </p:attrNameLst>
                                      </p:cBhvr>
                                      <p:to>
                                        <p:strVal val="visible"/>
                                      </p:to>
                                    </p:set>
                                  </p:childTnLst>
                                  <p:subTnLst>
                                    <p:set>
                                      <p:cBhvr override="childStyle">
                                        <p:cTn dur="1" fill="hold" display="0" masterRel="nextClick" afterEffect="1"/>
                                        <p:tgtEl>
                                          <p:spTgt spid="339"/>
                                        </p:tgtEl>
                                        <p:attrNameLst>
                                          <p:attrName>style.visibility</p:attrName>
                                        </p:attrNameLst>
                                      </p:cBhvr>
                                      <p:to>
                                        <p:strVal val="hidden"/>
                                      </p:to>
                                    </p:set>
                                  </p:subTnLst>
                                </p:cTn>
                              </p:par>
                            </p:childTnLst>
                          </p:cTn>
                        </p:par>
                        <p:par>
                          <p:cTn id="472" fill="hold" nodeType="afterGroup">
                            <p:stCondLst>
                              <p:cond delay="1550000"/>
                            </p:stCondLst>
                            <p:childTnLst>
                              <p:par>
                                <p:cTn id="473" presetID="1" presetClass="entr" presetSubtype="0" fill="hold" grpId="0" nodeType="afterEffect">
                                  <p:stCondLst>
                                    <p:cond delay="10000"/>
                                  </p:stCondLst>
                                  <p:childTnLst>
                                    <p:set>
                                      <p:cBhvr>
                                        <p:cTn id="474" dur="1" fill="hold">
                                          <p:stCondLst>
                                            <p:cond delay="0"/>
                                          </p:stCondLst>
                                        </p:cTn>
                                        <p:tgtEl>
                                          <p:spTgt spid="340"/>
                                        </p:tgtEl>
                                        <p:attrNameLst>
                                          <p:attrName>style.visibility</p:attrName>
                                        </p:attrNameLst>
                                      </p:cBhvr>
                                      <p:to>
                                        <p:strVal val="visible"/>
                                      </p:to>
                                    </p:set>
                                  </p:childTnLst>
                                </p:cTn>
                              </p:par>
                            </p:childTnLst>
                          </p:cTn>
                        </p:par>
                        <p:par>
                          <p:cTn id="475" fill="hold" nodeType="afterGroup">
                            <p:stCondLst>
                              <p:cond delay="1560000"/>
                            </p:stCondLst>
                            <p:childTnLst>
                              <p:par>
                                <p:cTn id="476" presetID="1" presetClass="entr" presetSubtype="0" fill="hold" grpId="0" nodeType="afterEffect">
                                  <p:stCondLst>
                                    <p:cond delay="10000"/>
                                  </p:stCondLst>
                                  <p:childTnLst>
                                    <p:set>
                                      <p:cBhvr>
                                        <p:cTn id="477" dur="1" fill="hold">
                                          <p:stCondLst>
                                            <p:cond delay="0"/>
                                          </p:stCondLst>
                                        </p:cTn>
                                        <p:tgtEl>
                                          <p:spTgt spid="341"/>
                                        </p:tgtEl>
                                        <p:attrNameLst>
                                          <p:attrName>style.visibility</p:attrName>
                                        </p:attrNameLst>
                                      </p:cBhvr>
                                      <p:to>
                                        <p:strVal val="visible"/>
                                      </p:to>
                                    </p:set>
                                  </p:childTnLst>
                                  <p:subTnLst>
                                    <p:set>
                                      <p:cBhvr override="childStyle">
                                        <p:cTn dur="1" fill="hold" display="0" masterRel="nextClick" afterEffect="1"/>
                                        <p:tgtEl>
                                          <p:spTgt spid="341"/>
                                        </p:tgtEl>
                                        <p:attrNameLst>
                                          <p:attrName>style.visibility</p:attrName>
                                        </p:attrNameLst>
                                      </p:cBhvr>
                                      <p:to>
                                        <p:strVal val="hidden"/>
                                      </p:to>
                                    </p:set>
                                  </p:subTnLst>
                                </p:cTn>
                              </p:par>
                            </p:childTnLst>
                          </p:cTn>
                        </p:par>
                        <p:par>
                          <p:cTn id="478" fill="hold" nodeType="afterGroup">
                            <p:stCondLst>
                              <p:cond delay="1570000"/>
                            </p:stCondLst>
                            <p:childTnLst>
                              <p:par>
                                <p:cTn id="479" presetID="1" presetClass="entr" presetSubtype="0" fill="hold" grpId="0" nodeType="afterEffect">
                                  <p:stCondLst>
                                    <p:cond delay="10000"/>
                                  </p:stCondLst>
                                  <p:childTnLst>
                                    <p:set>
                                      <p:cBhvr>
                                        <p:cTn id="480" dur="1" fill="hold">
                                          <p:stCondLst>
                                            <p:cond delay="0"/>
                                          </p:stCondLst>
                                        </p:cTn>
                                        <p:tgtEl>
                                          <p:spTgt spid="342"/>
                                        </p:tgtEl>
                                        <p:attrNameLst>
                                          <p:attrName>style.visibility</p:attrName>
                                        </p:attrNameLst>
                                      </p:cBhvr>
                                      <p:to>
                                        <p:strVal val="visible"/>
                                      </p:to>
                                    </p:set>
                                  </p:childTnLst>
                                  <p:subTnLst>
                                    <p:set>
                                      <p:cBhvr override="childStyle">
                                        <p:cTn dur="1" fill="hold" display="0" masterRel="nextClick" afterEffect="1"/>
                                        <p:tgtEl>
                                          <p:spTgt spid="342"/>
                                        </p:tgtEl>
                                        <p:attrNameLst>
                                          <p:attrName>style.visibility</p:attrName>
                                        </p:attrNameLst>
                                      </p:cBhvr>
                                      <p:to>
                                        <p:strVal val="hidden"/>
                                      </p:to>
                                    </p:set>
                                  </p:subTnLst>
                                </p:cTn>
                              </p:par>
                            </p:childTnLst>
                          </p:cTn>
                        </p:par>
                        <p:par>
                          <p:cTn id="481" fill="hold" nodeType="afterGroup">
                            <p:stCondLst>
                              <p:cond delay="1580000"/>
                            </p:stCondLst>
                            <p:childTnLst>
                              <p:par>
                                <p:cTn id="482" presetID="1" presetClass="entr" presetSubtype="0" fill="hold" grpId="0" nodeType="afterEffect">
                                  <p:stCondLst>
                                    <p:cond delay="10000"/>
                                  </p:stCondLst>
                                  <p:childTnLst>
                                    <p:set>
                                      <p:cBhvr>
                                        <p:cTn id="483" dur="1" fill="hold">
                                          <p:stCondLst>
                                            <p:cond delay="0"/>
                                          </p:stCondLst>
                                        </p:cTn>
                                        <p:tgtEl>
                                          <p:spTgt spid="343"/>
                                        </p:tgtEl>
                                        <p:attrNameLst>
                                          <p:attrName>style.visibility</p:attrName>
                                        </p:attrNameLst>
                                      </p:cBhvr>
                                      <p:to>
                                        <p:strVal val="visible"/>
                                      </p:to>
                                    </p:set>
                                  </p:childTnLst>
                                  <p:subTnLst>
                                    <p:set>
                                      <p:cBhvr override="childStyle">
                                        <p:cTn dur="1" fill="hold" display="0" masterRel="nextClick" afterEffect="1"/>
                                        <p:tgtEl>
                                          <p:spTgt spid="343"/>
                                        </p:tgtEl>
                                        <p:attrNameLst>
                                          <p:attrName>style.visibility</p:attrName>
                                        </p:attrNameLst>
                                      </p:cBhvr>
                                      <p:to>
                                        <p:strVal val="hidden"/>
                                      </p:to>
                                    </p:set>
                                  </p:subTnLst>
                                </p:cTn>
                              </p:par>
                            </p:childTnLst>
                          </p:cTn>
                        </p:par>
                        <p:par>
                          <p:cTn id="484" fill="hold" nodeType="afterGroup">
                            <p:stCondLst>
                              <p:cond delay="1590000"/>
                            </p:stCondLst>
                            <p:childTnLst>
                              <p:par>
                                <p:cTn id="485" presetID="1" presetClass="entr" presetSubtype="0" fill="hold" grpId="0" nodeType="afterEffect">
                                  <p:stCondLst>
                                    <p:cond delay="10000"/>
                                  </p:stCondLst>
                                  <p:childTnLst>
                                    <p:set>
                                      <p:cBhvr>
                                        <p:cTn id="486" dur="1" fill="hold">
                                          <p:stCondLst>
                                            <p:cond delay="0"/>
                                          </p:stCondLst>
                                        </p:cTn>
                                        <p:tgtEl>
                                          <p:spTgt spid="344"/>
                                        </p:tgtEl>
                                        <p:attrNameLst>
                                          <p:attrName>style.visibility</p:attrName>
                                        </p:attrNameLst>
                                      </p:cBhvr>
                                      <p:to>
                                        <p:strVal val="visible"/>
                                      </p:to>
                                    </p:set>
                                  </p:childTnLst>
                                  <p:subTnLst>
                                    <p:set>
                                      <p:cBhvr override="childStyle">
                                        <p:cTn dur="1" fill="hold" display="0" masterRel="nextClick" afterEffect="1"/>
                                        <p:tgtEl>
                                          <p:spTgt spid="344"/>
                                        </p:tgtEl>
                                        <p:attrNameLst>
                                          <p:attrName>style.visibility</p:attrName>
                                        </p:attrNameLst>
                                      </p:cBhvr>
                                      <p:to>
                                        <p:strVal val="hidden"/>
                                      </p:to>
                                    </p:set>
                                  </p:subTnLst>
                                </p:cTn>
                              </p:par>
                            </p:childTnLst>
                          </p:cTn>
                        </p:par>
                        <p:par>
                          <p:cTn id="487" fill="hold" nodeType="afterGroup">
                            <p:stCondLst>
                              <p:cond delay="1600000"/>
                            </p:stCondLst>
                            <p:childTnLst>
                              <p:par>
                                <p:cTn id="488" presetID="1" presetClass="entr" presetSubtype="0" fill="hold" grpId="0" nodeType="afterEffect">
                                  <p:stCondLst>
                                    <p:cond delay="10000"/>
                                  </p:stCondLst>
                                  <p:childTnLst>
                                    <p:set>
                                      <p:cBhvr>
                                        <p:cTn id="489" dur="1" fill="hold">
                                          <p:stCondLst>
                                            <p:cond delay="0"/>
                                          </p:stCondLst>
                                        </p:cTn>
                                        <p:tgtEl>
                                          <p:spTgt spid="345"/>
                                        </p:tgtEl>
                                        <p:attrNameLst>
                                          <p:attrName>style.visibility</p:attrName>
                                        </p:attrNameLst>
                                      </p:cBhvr>
                                      <p:to>
                                        <p:strVal val="visible"/>
                                      </p:to>
                                    </p:set>
                                  </p:childTnLst>
                                  <p:subTnLst>
                                    <p:set>
                                      <p:cBhvr override="childStyle">
                                        <p:cTn dur="1" fill="hold" display="0" masterRel="nextClick" afterEffect="1"/>
                                        <p:tgtEl>
                                          <p:spTgt spid="345"/>
                                        </p:tgtEl>
                                        <p:attrNameLst>
                                          <p:attrName>style.visibility</p:attrName>
                                        </p:attrNameLst>
                                      </p:cBhvr>
                                      <p:to>
                                        <p:strVal val="hidden"/>
                                      </p:to>
                                    </p:set>
                                  </p:subTnLst>
                                </p:cTn>
                              </p:par>
                            </p:childTnLst>
                          </p:cTn>
                        </p:par>
                        <p:par>
                          <p:cTn id="490" fill="hold" nodeType="afterGroup">
                            <p:stCondLst>
                              <p:cond delay="1610000"/>
                            </p:stCondLst>
                            <p:childTnLst>
                              <p:par>
                                <p:cTn id="491" presetID="1" presetClass="entr" presetSubtype="0" fill="hold" grpId="0" nodeType="afterEffect">
                                  <p:stCondLst>
                                    <p:cond delay="10000"/>
                                  </p:stCondLst>
                                  <p:childTnLst>
                                    <p:set>
                                      <p:cBhvr>
                                        <p:cTn id="492" dur="1" fill="hold">
                                          <p:stCondLst>
                                            <p:cond delay="0"/>
                                          </p:stCondLst>
                                        </p:cTn>
                                        <p:tgtEl>
                                          <p:spTgt spid="346"/>
                                        </p:tgtEl>
                                        <p:attrNameLst>
                                          <p:attrName>style.visibility</p:attrName>
                                        </p:attrNameLst>
                                      </p:cBhvr>
                                      <p:to>
                                        <p:strVal val="visible"/>
                                      </p:to>
                                    </p:set>
                                  </p:childTnLst>
                                </p:cTn>
                              </p:par>
                            </p:childTnLst>
                          </p:cTn>
                        </p:par>
                        <p:par>
                          <p:cTn id="493" fill="hold" nodeType="afterGroup">
                            <p:stCondLst>
                              <p:cond delay="1620000"/>
                            </p:stCondLst>
                            <p:childTnLst>
                              <p:par>
                                <p:cTn id="494" presetID="1" presetClass="entr" presetSubtype="0" fill="hold" grpId="0" nodeType="afterEffect">
                                  <p:stCondLst>
                                    <p:cond delay="10000"/>
                                  </p:stCondLst>
                                  <p:childTnLst>
                                    <p:set>
                                      <p:cBhvr>
                                        <p:cTn id="495" dur="1" fill="hold">
                                          <p:stCondLst>
                                            <p:cond delay="0"/>
                                          </p:stCondLst>
                                        </p:cTn>
                                        <p:tgtEl>
                                          <p:spTgt spid="347"/>
                                        </p:tgtEl>
                                        <p:attrNameLst>
                                          <p:attrName>style.visibility</p:attrName>
                                        </p:attrNameLst>
                                      </p:cBhvr>
                                      <p:to>
                                        <p:strVal val="visible"/>
                                      </p:to>
                                    </p:set>
                                  </p:childTnLst>
                                  <p:subTnLst>
                                    <p:set>
                                      <p:cBhvr override="childStyle">
                                        <p:cTn dur="1" fill="hold" display="0" masterRel="nextClick" afterEffect="1"/>
                                        <p:tgtEl>
                                          <p:spTgt spid="347"/>
                                        </p:tgtEl>
                                        <p:attrNameLst>
                                          <p:attrName>style.visibility</p:attrName>
                                        </p:attrNameLst>
                                      </p:cBhvr>
                                      <p:to>
                                        <p:strVal val="hidden"/>
                                      </p:to>
                                    </p:set>
                                  </p:subTnLst>
                                </p:cTn>
                              </p:par>
                            </p:childTnLst>
                          </p:cTn>
                        </p:par>
                        <p:par>
                          <p:cTn id="496" fill="hold" nodeType="afterGroup">
                            <p:stCondLst>
                              <p:cond delay="1630000"/>
                            </p:stCondLst>
                            <p:childTnLst>
                              <p:par>
                                <p:cTn id="497" presetID="1" presetClass="entr" presetSubtype="0" fill="hold" grpId="0" nodeType="afterEffect">
                                  <p:stCondLst>
                                    <p:cond delay="10000"/>
                                  </p:stCondLst>
                                  <p:childTnLst>
                                    <p:set>
                                      <p:cBhvr>
                                        <p:cTn id="498" dur="1" fill="hold">
                                          <p:stCondLst>
                                            <p:cond delay="0"/>
                                          </p:stCondLst>
                                        </p:cTn>
                                        <p:tgtEl>
                                          <p:spTgt spid="348"/>
                                        </p:tgtEl>
                                        <p:attrNameLst>
                                          <p:attrName>style.visibility</p:attrName>
                                        </p:attrNameLst>
                                      </p:cBhvr>
                                      <p:to>
                                        <p:strVal val="visible"/>
                                      </p:to>
                                    </p:set>
                                  </p:childTnLst>
                                  <p:subTnLst>
                                    <p:set>
                                      <p:cBhvr override="childStyle">
                                        <p:cTn dur="1" fill="hold" display="0" masterRel="nextClick" afterEffect="1"/>
                                        <p:tgtEl>
                                          <p:spTgt spid="348"/>
                                        </p:tgtEl>
                                        <p:attrNameLst>
                                          <p:attrName>style.visibility</p:attrName>
                                        </p:attrNameLst>
                                      </p:cBhvr>
                                      <p:to>
                                        <p:strVal val="hidden"/>
                                      </p:to>
                                    </p:set>
                                  </p:subTnLst>
                                </p:cTn>
                              </p:par>
                            </p:childTnLst>
                          </p:cTn>
                        </p:par>
                        <p:par>
                          <p:cTn id="499" fill="hold" nodeType="afterGroup">
                            <p:stCondLst>
                              <p:cond delay="1640000"/>
                            </p:stCondLst>
                            <p:childTnLst>
                              <p:par>
                                <p:cTn id="500" presetID="1" presetClass="entr" presetSubtype="0" fill="hold" grpId="0" nodeType="afterEffect">
                                  <p:stCondLst>
                                    <p:cond delay="10000"/>
                                  </p:stCondLst>
                                  <p:childTnLst>
                                    <p:set>
                                      <p:cBhvr>
                                        <p:cTn id="501" dur="1" fill="hold">
                                          <p:stCondLst>
                                            <p:cond delay="0"/>
                                          </p:stCondLst>
                                        </p:cTn>
                                        <p:tgtEl>
                                          <p:spTgt spid="349"/>
                                        </p:tgtEl>
                                        <p:attrNameLst>
                                          <p:attrName>style.visibility</p:attrName>
                                        </p:attrNameLst>
                                      </p:cBhvr>
                                      <p:to>
                                        <p:strVal val="visible"/>
                                      </p:to>
                                    </p:set>
                                  </p:childTnLst>
                                  <p:subTnLst>
                                    <p:set>
                                      <p:cBhvr override="childStyle">
                                        <p:cTn dur="1" fill="hold" display="0" masterRel="nextClick" afterEffect="1"/>
                                        <p:tgtEl>
                                          <p:spTgt spid="349"/>
                                        </p:tgtEl>
                                        <p:attrNameLst>
                                          <p:attrName>style.visibility</p:attrName>
                                        </p:attrNameLst>
                                      </p:cBhvr>
                                      <p:to>
                                        <p:strVal val="hidden"/>
                                      </p:to>
                                    </p:set>
                                  </p:subTnLst>
                                </p:cTn>
                              </p:par>
                            </p:childTnLst>
                          </p:cTn>
                        </p:par>
                        <p:par>
                          <p:cTn id="502" fill="hold" nodeType="afterGroup">
                            <p:stCondLst>
                              <p:cond delay="1650000"/>
                            </p:stCondLst>
                            <p:childTnLst>
                              <p:par>
                                <p:cTn id="503" presetID="1" presetClass="entr" presetSubtype="0" fill="hold" grpId="0" nodeType="afterEffect">
                                  <p:stCondLst>
                                    <p:cond delay="10000"/>
                                  </p:stCondLst>
                                  <p:childTnLst>
                                    <p:set>
                                      <p:cBhvr>
                                        <p:cTn id="504" dur="1" fill="hold">
                                          <p:stCondLst>
                                            <p:cond delay="0"/>
                                          </p:stCondLst>
                                        </p:cTn>
                                        <p:tgtEl>
                                          <p:spTgt spid="350"/>
                                        </p:tgtEl>
                                        <p:attrNameLst>
                                          <p:attrName>style.visibility</p:attrName>
                                        </p:attrNameLst>
                                      </p:cBhvr>
                                      <p:to>
                                        <p:strVal val="visible"/>
                                      </p:to>
                                    </p:set>
                                  </p:childTnLst>
                                  <p:subTnLst>
                                    <p:set>
                                      <p:cBhvr override="childStyle">
                                        <p:cTn dur="1" fill="hold" display="0" masterRel="nextClick" afterEffect="1"/>
                                        <p:tgtEl>
                                          <p:spTgt spid="350"/>
                                        </p:tgtEl>
                                        <p:attrNameLst>
                                          <p:attrName>style.visibility</p:attrName>
                                        </p:attrNameLst>
                                      </p:cBhvr>
                                      <p:to>
                                        <p:strVal val="hidden"/>
                                      </p:to>
                                    </p:set>
                                  </p:subTnLst>
                                </p:cTn>
                              </p:par>
                            </p:childTnLst>
                          </p:cTn>
                        </p:par>
                        <p:par>
                          <p:cTn id="505" fill="hold" nodeType="afterGroup">
                            <p:stCondLst>
                              <p:cond delay="1660000"/>
                            </p:stCondLst>
                            <p:childTnLst>
                              <p:par>
                                <p:cTn id="506" presetID="1" presetClass="entr" presetSubtype="0" fill="hold" grpId="0" nodeType="afterEffect">
                                  <p:stCondLst>
                                    <p:cond delay="10000"/>
                                  </p:stCondLst>
                                  <p:childTnLst>
                                    <p:set>
                                      <p:cBhvr>
                                        <p:cTn id="507" dur="1" fill="hold">
                                          <p:stCondLst>
                                            <p:cond delay="0"/>
                                          </p:stCondLst>
                                        </p:cTn>
                                        <p:tgtEl>
                                          <p:spTgt spid="351"/>
                                        </p:tgtEl>
                                        <p:attrNameLst>
                                          <p:attrName>style.visibility</p:attrName>
                                        </p:attrNameLst>
                                      </p:cBhvr>
                                      <p:to>
                                        <p:strVal val="visible"/>
                                      </p:to>
                                    </p:set>
                                  </p:childTnLst>
                                  <p:subTnLst>
                                    <p:set>
                                      <p:cBhvr override="childStyle">
                                        <p:cTn dur="1" fill="hold" display="0" masterRel="nextClick" afterEffect="1"/>
                                        <p:tgtEl>
                                          <p:spTgt spid="351"/>
                                        </p:tgtEl>
                                        <p:attrNameLst>
                                          <p:attrName>style.visibility</p:attrName>
                                        </p:attrNameLst>
                                      </p:cBhvr>
                                      <p:to>
                                        <p:strVal val="hidden"/>
                                      </p:to>
                                    </p:set>
                                  </p:subTnLst>
                                </p:cTn>
                              </p:par>
                            </p:childTnLst>
                          </p:cTn>
                        </p:par>
                        <p:par>
                          <p:cTn id="508" fill="hold" nodeType="afterGroup">
                            <p:stCondLst>
                              <p:cond delay="1670000"/>
                            </p:stCondLst>
                            <p:childTnLst>
                              <p:par>
                                <p:cTn id="509" presetID="1" presetClass="entr" presetSubtype="0" fill="hold" grpId="0" nodeType="afterEffect">
                                  <p:stCondLst>
                                    <p:cond delay="10000"/>
                                  </p:stCondLst>
                                  <p:childTnLst>
                                    <p:set>
                                      <p:cBhvr>
                                        <p:cTn id="510" dur="1" fill="hold">
                                          <p:stCondLst>
                                            <p:cond delay="0"/>
                                          </p:stCondLst>
                                        </p:cTn>
                                        <p:tgtEl>
                                          <p:spTgt spid="352"/>
                                        </p:tgtEl>
                                        <p:attrNameLst>
                                          <p:attrName>style.visibility</p:attrName>
                                        </p:attrNameLst>
                                      </p:cBhvr>
                                      <p:to>
                                        <p:strVal val="visible"/>
                                      </p:to>
                                    </p:set>
                                  </p:childTnLst>
                                </p:cTn>
                              </p:par>
                            </p:childTnLst>
                          </p:cTn>
                        </p:par>
                        <p:par>
                          <p:cTn id="511" fill="hold" nodeType="afterGroup">
                            <p:stCondLst>
                              <p:cond delay="1680000"/>
                            </p:stCondLst>
                            <p:childTnLst>
                              <p:par>
                                <p:cTn id="512" presetID="1" presetClass="entr" presetSubtype="0" fill="hold" grpId="0" nodeType="afterEffect">
                                  <p:stCondLst>
                                    <p:cond delay="10000"/>
                                  </p:stCondLst>
                                  <p:childTnLst>
                                    <p:set>
                                      <p:cBhvr>
                                        <p:cTn id="513" dur="1" fill="hold">
                                          <p:stCondLst>
                                            <p:cond delay="0"/>
                                          </p:stCondLst>
                                        </p:cTn>
                                        <p:tgtEl>
                                          <p:spTgt spid="353"/>
                                        </p:tgtEl>
                                        <p:attrNameLst>
                                          <p:attrName>style.visibility</p:attrName>
                                        </p:attrNameLst>
                                      </p:cBhvr>
                                      <p:to>
                                        <p:strVal val="visible"/>
                                      </p:to>
                                    </p:set>
                                  </p:childTnLst>
                                  <p:subTnLst>
                                    <p:set>
                                      <p:cBhvr override="childStyle">
                                        <p:cTn dur="1" fill="hold" display="0" masterRel="nextClick" afterEffect="1"/>
                                        <p:tgtEl>
                                          <p:spTgt spid="353"/>
                                        </p:tgtEl>
                                        <p:attrNameLst>
                                          <p:attrName>style.visibility</p:attrName>
                                        </p:attrNameLst>
                                      </p:cBhvr>
                                      <p:to>
                                        <p:strVal val="hidden"/>
                                      </p:to>
                                    </p:set>
                                  </p:subTnLst>
                                </p:cTn>
                              </p:par>
                            </p:childTnLst>
                          </p:cTn>
                        </p:par>
                        <p:par>
                          <p:cTn id="514" fill="hold" nodeType="afterGroup">
                            <p:stCondLst>
                              <p:cond delay="1690000"/>
                            </p:stCondLst>
                            <p:childTnLst>
                              <p:par>
                                <p:cTn id="515" presetID="1" presetClass="entr" presetSubtype="0" fill="hold" grpId="0" nodeType="afterEffect">
                                  <p:stCondLst>
                                    <p:cond delay="10000"/>
                                  </p:stCondLst>
                                  <p:childTnLst>
                                    <p:set>
                                      <p:cBhvr>
                                        <p:cTn id="516" dur="1" fill="hold">
                                          <p:stCondLst>
                                            <p:cond delay="0"/>
                                          </p:stCondLst>
                                        </p:cTn>
                                        <p:tgtEl>
                                          <p:spTgt spid="354"/>
                                        </p:tgtEl>
                                        <p:attrNameLst>
                                          <p:attrName>style.visibility</p:attrName>
                                        </p:attrNameLst>
                                      </p:cBhvr>
                                      <p:to>
                                        <p:strVal val="visible"/>
                                      </p:to>
                                    </p:set>
                                  </p:childTnLst>
                                  <p:subTnLst>
                                    <p:set>
                                      <p:cBhvr override="childStyle">
                                        <p:cTn dur="1" fill="hold" display="0" masterRel="nextClick" afterEffect="1"/>
                                        <p:tgtEl>
                                          <p:spTgt spid="354"/>
                                        </p:tgtEl>
                                        <p:attrNameLst>
                                          <p:attrName>style.visibility</p:attrName>
                                        </p:attrNameLst>
                                      </p:cBhvr>
                                      <p:to>
                                        <p:strVal val="hidden"/>
                                      </p:to>
                                    </p:set>
                                  </p:subTnLst>
                                </p:cTn>
                              </p:par>
                            </p:childTnLst>
                          </p:cTn>
                        </p:par>
                        <p:par>
                          <p:cTn id="517" fill="hold" nodeType="afterGroup">
                            <p:stCondLst>
                              <p:cond delay="1700000"/>
                            </p:stCondLst>
                            <p:childTnLst>
                              <p:par>
                                <p:cTn id="518" presetID="1" presetClass="entr" presetSubtype="0" fill="hold" grpId="0" nodeType="afterEffect">
                                  <p:stCondLst>
                                    <p:cond delay="10000"/>
                                  </p:stCondLst>
                                  <p:childTnLst>
                                    <p:set>
                                      <p:cBhvr>
                                        <p:cTn id="519" dur="1" fill="hold">
                                          <p:stCondLst>
                                            <p:cond delay="0"/>
                                          </p:stCondLst>
                                        </p:cTn>
                                        <p:tgtEl>
                                          <p:spTgt spid="355"/>
                                        </p:tgtEl>
                                        <p:attrNameLst>
                                          <p:attrName>style.visibility</p:attrName>
                                        </p:attrNameLst>
                                      </p:cBhvr>
                                      <p:to>
                                        <p:strVal val="visible"/>
                                      </p:to>
                                    </p:set>
                                  </p:childTnLst>
                                  <p:subTnLst>
                                    <p:set>
                                      <p:cBhvr override="childStyle">
                                        <p:cTn dur="1" fill="hold" display="0" masterRel="nextClick" afterEffect="1"/>
                                        <p:tgtEl>
                                          <p:spTgt spid="355"/>
                                        </p:tgtEl>
                                        <p:attrNameLst>
                                          <p:attrName>style.visibility</p:attrName>
                                        </p:attrNameLst>
                                      </p:cBhvr>
                                      <p:to>
                                        <p:strVal val="hidden"/>
                                      </p:to>
                                    </p:set>
                                  </p:subTnLst>
                                </p:cTn>
                              </p:par>
                            </p:childTnLst>
                          </p:cTn>
                        </p:par>
                        <p:par>
                          <p:cTn id="520" fill="hold" nodeType="afterGroup">
                            <p:stCondLst>
                              <p:cond delay="1710000"/>
                            </p:stCondLst>
                            <p:childTnLst>
                              <p:par>
                                <p:cTn id="521" presetID="1" presetClass="entr" presetSubtype="0" fill="hold" grpId="0" nodeType="afterEffect">
                                  <p:stCondLst>
                                    <p:cond delay="10000"/>
                                  </p:stCondLst>
                                  <p:childTnLst>
                                    <p:set>
                                      <p:cBhvr>
                                        <p:cTn id="522" dur="1" fill="hold">
                                          <p:stCondLst>
                                            <p:cond delay="0"/>
                                          </p:stCondLst>
                                        </p:cTn>
                                        <p:tgtEl>
                                          <p:spTgt spid="356"/>
                                        </p:tgtEl>
                                        <p:attrNameLst>
                                          <p:attrName>style.visibility</p:attrName>
                                        </p:attrNameLst>
                                      </p:cBhvr>
                                      <p:to>
                                        <p:strVal val="visible"/>
                                      </p:to>
                                    </p:set>
                                  </p:childTnLst>
                                  <p:subTnLst>
                                    <p:set>
                                      <p:cBhvr override="childStyle">
                                        <p:cTn dur="1" fill="hold" display="0" masterRel="nextClick" afterEffect="1"/>
                                        <p:tgtEl>
                                          <p:spTgt spid="356"/>
                                        </p:tgtEl>
                                        <p:attrNameLst>
                                          <p:attrName>style.visibility</p:attrName>
                                        </p:attrNameLst>
                                      </p:cBhvr>
                                      <p:to>
                                        <p:strVal val="hidden"/>
                                      </p:to>
                                    </p:set>
                                  </p:subTnLst>
                                </p:cTn>
                              </p:par>
                            </p:childTnLst>
                          </p:cTn>
                        </p:par>
                        <p:par>
                          <p:cTn id="523" fill="hold" nodeType="afterGroup">
                            <p:stCondLst>
                              <p:cond delay="1720000"/>
                            </p:stCondLst>
                            <p:childTnLst>
                              <p:par>
                                <p:cTn id="524" presetID="1" presetClass="entr" presetSubtype="0" fill="hold" grpId="0" nodeType="afterEffect">
                                  <p:stCondLst>
                                    <p:cond delay="10000"/>
                                  </p:stCondLst>
                                  <p:childTnLst>
                                    <p:set>
                                      <p:cBhvr>
                                        <p:cTn id="525" dur="1" fill="hold">
                                          <p:stCondLst>
                                            <p:cond delay="0"/>
                                          </p:stCondLst>
                                        </p:cTn>
                                        <p:tgtEl>
                                          <p:spTgt spid="357"/>
                                        </p:tgtEl>
                                        <p:attrNameLst>
                                          <p:attrName>style.visibility</p:attrName>
                                        </p:attrNameLst>
                                      </p:cBhvr>
                                      <p:to>
                                        <p:strVal val="visible"/>
                                      </p:to>
                                    </p:set>
                                  </p:childTnLst>
                                  <p:subTnLst>
                                    <p:set>
                                      <p:cBhvr override="childStyle">
                                        <p:cTn dur="1" fill="hold" display="0" masterRel="nextClick" afterEffect="1"/>
                                        <p:tgtEl>
                                          <p:spTgt spid="357"/>
                                        </p:tgtEl>
                                        <p:attrNameLst>
                                          <p:attrName>style.visibility</p:attrName>
                                        </p:attrNameLst>
                                      </p:cBhvr>
                                      <p:to>
                                        <p:strVal val="hidden"/>
                                      </p:to>
                                    </p:set>
                                  </p:subTnLst>
                                </p:cTn>
                              </p:par>
                            </p:childTnLst>
                          </p:cTn>
                        </p:par>
                        <p:par>
                          <p:cTn id="526" fill="hold" nodeType="afterGroup">
                            <p:stCondLst>
                              <p:cond delay="1730000"/>
                            </p:stCondLst>
                            <p:childTnLst>
                              <p:par>
                                <p:cTn id="527" presetID="1" presetClass="entr" presetSubtype="0" fill="hold" grpId="0" nodeType="afterEffect">
                                  <p:stCondLst>
                                    <p:cond delay="10000"/>
                                  </p:stCondLst>
                                  <p:childTnLst>
                                    <p:set>
                                      <p:cBhvr>
                                        <p:cTn id="528" dur="1" fill="hold">
                                          <p:stCondLst>
                                            <p:cond delay="0"/>
                                          </p:stCondLst>
                                        </p:cTn>
                                        <p:tgtEl>
                                          <p:spTgt spid="358"/>
                                        </p:tgtEl>
                                        <p:attrNameLst>
                                          <p:attrName>style.visibility</p:attrName>
                                        </p:attrNameLst>
                                      </p:cBhvr>
                                      <p:to>
                                        <p:strVal val="visible"/>
                                      </p:to>
                                    </p:set>
                                  </p:childTnLst>
                                </p:cTn>
                              </p:par>
                            </p:childTnLst>
                          </p:cTn>
                        </p:par>
                        <p:par>
                          <p:cTn id="529" fill="hold" nodeType="afterGroup">
                            <p:stCondLst>
                              <p:cond delay="1740000"/>
                            </p:stCondLst>
                            <p:childTnLst>
                              <p:par>
                                <p:cTn id="530" presetID="1" presetClass="entr" presetSubtype="0" fill="hold" grpId="0" nodeType="afterEffect">
                                  <p:stCondLst>
                                    <p:cond delay="10000"/>
                                  </p:stCondLst>
                                  <p:childTnLst>
                                    <p:set>
                                      <p:cBhvr>
                                        <p:cTn id="531" dur="1" fill="hold">
                                          <p:stCondLst>
                                            <p:cond delay="0"/>
                                          </p:stCondLst>
                                        </p:cTn>
                                        <p:tgtEl>
                                          <p:spTgt spid="359"/>
                                        </p:tgtEl>
                                        <p:attrNameLst>
                                          <p:attrName>style.visibility</p:attrName>
                                        </p:attrNameLst>
                                      </p:cBhvr>
                                      <p:to>
                                        <p:strVal val="visible"/>
                                      </p:to>
                                    </p:set>
                                  </p:childTnLst>
                                  <p:subTnLst>
                                    <p:set>
                                      <p:cBhvr override="childStyle">
                                        <p:cTn dur="1" fill="hold" display="0" masterRel="nextClick" afterEffect="1"/>
                                        <p:tgtEl>
                                          <p:spTgt spid="359"/>
                                        </p:tgtEl>
                                        <p:attrNameLst>
                                          <p:attrName>style.visibility</p:attrName>
                                        </p:attrNameLst>
                                      </p:cBhvr>
                                      <p:to>
                                        <p:strVal val="hidden"/>
                                      </p:to>
                                    </p:set>
                                  </p:subTnLst>
                                </p:cTn>
                              </p:par>
                            </p:childTnLst>
                          </p:cTn>
                        </p:par>
                        <p:par>
                          <p:cTn id="532" fill="hold" nodeType="afterGroup">
                            <p:stCondLst>
                              <p:cond delay="1750000"/>
                            </p:stCondLst>
                            <p:childTnLst>
                              <p:par>
                                <p:cTn id="533" presetID="1" presetClass="entr" presetSubtype="0" fill="hold" grpId="0" nodeType="afterEffect">
                                  <p:stCondLst>
                                    <p:cond delay="10000"/>
                                  </p:stCondLst>
                                  <p:childTnLst>
                                    <p:set>
                                      <p:cBhvr>
                                        <p:cTn id="534" dur="1" fill="hold">
                                          <p:stCondLst>
                                            <p:cond delay="0"/>
                                          </p:stCondLst>
                                        </p:cTn>
                                        <p:tgtEl>
                                          <p:spTgt spid="360"/>
                                        </p:tgtEl>
                                        <p:attrNameLst>
                                          <p:attrName>style.visibility</p:attrName>
                                        </p:attrNameLst>
                                      </p:cBhvr>
                                      <p:to>
                                        <p:strVal val="visible"/>
                                      </p:to>
                                    </p:set>
                                  </p:childTnLst>
                                  <p:subTnLst>
                                    <p:set>
                                      <p:cBhvr override="childStyle">
                                        <p:cTn dur="1" fill="hold" display="0" masterRel="nextClick" afterEffect="1"/>
                                        <p:tgtEl>
                                          <p:spTgt spid="360"/>
                                        </p:tgtEl>
                                        <p:attrNameLst>
                                          <p:attrName>style.visibility</p:attrName>
                                        </p:attrNameLst>
                                      </p:cBhvr>
                                      <p:to>
                                        <p:strVal val="hidden"/>
                                      </p:to>
                                    </p:set>
                                  </p:subTnLst>
                                </p:cTn>
                              </p:par>
                            </p:childTnLst>
                          </p:cTn>
                        </p:par>
                        <p:par>
                          <p:cTn id="535" fill="hold" nodeType="afterGroup">
                            <p:stCondLst>
                              <p:cond delay="1760000"/>
                            </p:stCondLst>
                            <p:childTnLst>
                              <p:par>
                                <p:cTn id="536" presetID="1" presetClass="entr" presetSubtype="0" fill="hold" grpId="0" nodeType="afterEffect">
                                  <p:stCondLst>
                                    <p:cond delay="10000"/>
                                  </p:stCondLst>
                                  <p:childTnLst>
                                    <p:set>
                                      <p:cBhvr>
                                        <p:cTn id="537" dur="1" fill="hold">
                                          <p:stCondLst>
                                            <p:cond delay="0"/>
                                          </p:stCondLst>
                                        </p:cTn>
                                        <p:tgtEl>
                                          <p:spTgt spid="361"/>
                                        </p:tgtEl>
                                        <p:attrNameLst>
                                          <p:attrName>style.visibility</p:attrName>
                                        </p:attrNameLst>
                                      </p:cBhvr>
                                      <p:to>
                                        <p:strVal val="visible"/>
                                      </p:to>
                                    </p:set>
                                  </p:childTnLst>
                                  <p:subTnLst>
                                    <p:set>
                                      <p:cBhvr override="childStyle">
                                        <p:cTn dur="1" fill="hold" display="0" masterRel="nextClick" afterEffect="1"/>
                                        <p:tgtEl>
                                          <p:spTgt spid="361"/>
                                        </p:tgtEl>
                                        <p:attrNameLst>
                                          <p:attrName>style.visibility</p:attrName>
                                        </p:attrNameLst>
                                      </p:cBhvr>
                                      <p:to>
                                        <p:strVal val="hidden"/>
                                      </p:to>
                                    </p:set>
                                  </p:subTnLst>
                                </p:cTn>
                              </p:par>
                            </p:childTnLst>
                          </p:cTn>
                        </p:par>
                        <p:par>
                          <p:cTn id="538" fill="hold" nodeType="afterGroup">
                            <p:stCondLst>
                              <p:cond delay="1770000"/>
                            </p:stCondLst>
                            <p:childTnLst>
                              <p:par>
                                <p:cTn id="539" presetID="1" presetClass="entr" presetSubtype="0" fill="hold" grpId="0" nodeType="afterEffect">
                                  <p:stCondLst>
                                    <p:cond delay="10000"/>
                                  </p:stCondLst>
                                  <p:childTnLst>
                                    <p:set>
                                      <p:cBhvr>
                                        <p:cTn id="540" dur="1" fill="hold">
                                          <p:stCondLst>
                                            <p:cond delay="0"/>
                                          </p:stCondLst>
                                        </p:cTn>
                                        <p:tgtEl>
                                          <p:spTgt spid="362"/>
                                        </p:tgtEl>
                                        <p:attrNameLst>
                                          <p:attrName>style.visibility</p:attrName>
                                        </p:attrNameLst>
                                      </p:cBhvr>
                                      <p:to>
                                        <p:strVal val="visible"/>
                                      </p:to>
                                    </p:set>
                                  </p:childTnLst>
                                  <p:subTnLst>
                                    <p:set>
                                      <p:cBhvr override="childStyle">
                                        <p:cTn dur="1" fill="hold" display="0" masterRel="nextClick" afterEffect="1"/>
                                        <p:tgtEl>
                                          <p:spTgt spid="362"/>
                                        </p:tgtEl>
                                        <p:attrNameLst>
                                          <p:attrName>style.visibility</p:attrName>
                                        </p:attrNameLst>
                                      </p:cBhvr>
                                      <p:to>
                                        <p:strVal val="hidden"/>
                                      </p:to>
                                    </p:set>
                                  </p:subTnLst>
                                </p:cTn>
                              </p:par>
                            </p:childTnLst>
                          </p:cTn>
                        </p:par>
                        <p:par>
                          <p:cTn id="541" fill="hold" nodeType="afterGroup">
                            <p:stCondLst>
                              <p:cond delay="1780000"/>
                            </p:stCondLst>
                            <p:childTnLst>
                              <p:par>
                                <p:cTn id="542" presetID="1" presetClass="entr" presetSubtype="0" fill="hold" grpId="0" nodeType="afterEffect">
                                  <p:stCondLst>
                                    <p:cond delay="10000"/>
                                  </p:stCondLst>
                                  <p:childTnLst>
                                    <p:set>
                                      <p:cBhvr>
                                        <p:cTn id="543" dur="1" fill="hold">
                                          <p:stCondLst>
                                            <p:cond delay="0"/>
                                          </p:stCondLst>
                                        </p:cTn>
                                        <p:tgtEl>
                                          <p:spTgt spid="363"/>
                                        </p:tgtEl>
                                        <p:attrNameLst>
                                          <p:attrName>style.visibility</p:attrName>
                                        </p:attrNameLst>
                                      </p:cBhvr>
                                      <p:to>
                                        <p:strVal val="visible"/>
                                      </p:to>
                                    </p:set>
                                  </p:childTnLst>
                                  <p:subTnLst>
                                    <p:set>
                                      <p:cBhvr override="childStyle">
                                        <p:cTn dur="1" fill="hold" display="0" masterRel="nextClick" afterEffect="1"/>
                                        <p:tgtEl>
                                          <p:spTgt spid="36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P spid="15" grpId="0" animBg="1"/>
      <p:bldP spid="155" grpId="0" animBg="1"/>
      <p:bldP spid="168" grpId="0" animBg="1"/>
      <p:bldP spid="169" grpId="0" animBg="1"/>
      <p:bldP spid="170" grpId="0" animBg="1"/>
      <p:bldP spid="171" grpId="0" animBg="1"/>
      <p:bldP spid="172" grpId="0" animBg="1"/>
      <p:bldP spid="174" grpId="0" animBg="1"/>
      <p:bldP spid="175" grpId="0" animBg="1"/>
      <p:bldP spid="176" grpId="0" animBg="1"/>
      <p:bldP spid="177" grpId="0" animBg="1"/>
      <p:bldP spid="178" grpId="0" animBg="1"/>
      <p:bldP spid="179" grpId="0" animBg="1"/>
      <p:bldP spid="181" grpId="0" animBg="1"/>
      <p:bldP spid="182" grpId="0" animBg="1"/>
      <p:bldP spid="183" grpId="0" animBg="1"/>
      <p:bldP spid="184" grpId="0" animBg="1"/>
      <p:bldP spid="185" grpId="0" animBg="1"/>
      <p:bldP spid="186" grpId="0" animBg="1"/>
      <p:bldP spid="188" grpId="0" animBg="1"/>
      <p:bldP spid="189" grpId="0" animBg="1"/>
      <p:bldP spid="190" grpId="0" animBg="1"/>
      <p:bldP spid="191" grpId="0" animBg="1"/>
      <p:bldP spid="192" grpId="0" animBg="1"/>
      <p:bldP spid="193" grpId="0" animBg="1"/>
      <p:bldP spid="195" grpId="0" animBg="1"/>
      <p:bldP spid="196" grpId="0" animBg="1"/>
      <p:bldP spid="197" grpId="0" animBg="1"/>
      <p:bldP spid="198" grpId="0" animBg="1"/>
      <p:bldP spid="199" grpId="0" animBg="1"/>
      <p:bldP spid="200" grpId="0" animBg="1"/>
      <p:bldP spid="202" grpId="0" animBg="1"/>
      <p:bldP spid="203" grpId="0" animBg="1"/>
      <p:bldP spid="204" grpId="0" animBg="1"/>
      <p:bldP spid="205" grpId="0" animBg="1"/>
      <p:bldP spid="206" grpId="0" animBg="1"/>
      <p:bldP spid="207" grpId="0" animBg="1"/>
      <p:bldP spid="209" grpId="0" animBg="1"/>
      <p:bldP spid="210" grpId="0" animBg="1"/>
      <p:bldP spid="211" grpId="0" animBg="1"/>
      <p:bldP spid="212" grpId="0" animBg="1"/>
      <p:bldP spid="213" grpId="0" animBg="1"/>
      <p:bldP spid="214" grpId="0" animBg="1"/>
      <p:bldP spid="216" grpId="0" animBg="1"/>
      <p:bldP spid="217" grpId="0" animBg="1"/>
      <p:bldP spid="218" grpId="0" animBg="1"/>
      <p:bldP spid="219" grpId="0" animBg="1"/>
      <p:bldP spid="220" grpId="0" animBg="1"/>
      <p:bldP spid="221" grpId="0" animBg="1"/>
      <p:bldP spid="223" grpId="0" animBg="1"/>
      <p:bldP spid="224" grpId="0" animBg="1"/>
      <p:bldP spid="225" grpId="0" animBg="1"/>
      <p:bldP spid="226" grpId="0" animBg="1"/>
      <p:bldP spid="227" grpId="0" animBg="1"/>
      <p:bldP spid="228" grpId="0" animBg="1"/>
      <p:bldP spid="230" grpId="0" animBg="1"/>
      <p:bldP spid="231" grpId="0" animBg="1"/>
      <p:bldP spid="232" grpId="0" animBg="1"/>
      <p:bldP spid="233" grpId="0" animBg="1"/>
      <p:bldP spid="234" grpId="0" animBg="1"/>
      <p:bldP spid="235" grpId="0" animBg="1"/>
      <p:bldP spid="237" grpId="0" animBg="1"/>
      <p:bldP spid="238" grpId="0" animBg="1"/>
      <p:bldP spid="239" grpId="0" animBg="1"/>
      <p:bldP spid="240" grpId="0" animBg="1"/>
      <p:bldP spid="241" grpId="0" animBg="1"/>
      <p:bldP spid="242" grpId="0" animBg="1"/>
      <p:bldP spid="244" grpId="0" animBg="1"/>
      <p:bldP spid="245" grpId="0" animBg="1"/>
      <p:bldP spid="246" grpId="0" animBg="1"/>
      <p:bldP spid="247" grpId="0" animBg="1"/>
      <p:bldP spid="248" grpId="0" animBg="1"/>
      <p:bldP spid="249" grpId="0" animBg="1"/>
      <p:bldP spid="251" grpId="0" animBg="1"/>
      <p:bldP spid="252" grpId="0" animBg="1"/>
      <p:bldP spid="253" grpId="0" animBg="1"/>
      <p:bldP spid="254" grpId="0" animBg="1"/>
      <p:bldP spid="255" grpId="0" animBg="1"/>
      <p:bldP spid="256" grpId="0" animBg="1"/>
      <p:bldP spid="258" grpId="0" animBg="1"/>
      <p:bldP spid="259" grpId="0" animBg="1"/>
      <p:bldP spid="260" grpId="0" animBg="1"/>
      <p:bldP spid="261" grpId="0" animBg="1"/>
      <p:bldP spid="262" grpId="0" animBg="1"/>
      <p:bldP spid="263" grpId="0" animBg="1"/>
      <p:bldP spid="265" grpId="0" animBg="1"/>
      <p:bldP spid="266" grpId="0" animBg="1"/>
      <p:bldP spid="267" grpId="0" animBg="1"/>
      <p:bldP spid="268" grpId="0" animBg="1"/>
      <p:bldP spid="269" grpId="0" animBg="1"/>
      <p:bldP spid="270" grpId="0" animBg="1"/>
      <p:bldP spid="272" grpId="0" animBg="1"/>
      <p:bldP spid="273" grpId="0" animBg="1"/>
      <p:bldP spid="274" grpId="0" animBg="1"/>
      <p:bldP spid="275" grpId="0" animBg="1"/>
      <p:bldP spid="276" grpId="0" animBg="1"/>
      <p:bldP spid="277" grpId="0" animBg="1"/>
      <p:bldP spid="279" grpId="0" animBg="1"/>
      <p:bldP spid="280" grpId="0" animBg="1"/>
      <p:bldP spid="281" grpId="0" animBg="1"/>
      <p:bldP spid="282" grpId="0" animBg="1"/>
      <p:bldP spid="283" grpId="0" animBg="1"/>
      <p:bldP spid="284" grpId="0" animBg="1"/>
      <p:bldP spid="286" grpId="0" animBg="1"/>
      <p:bldP spid="287" grpId="0" animBg="1"/>
      <p:bldP spid="288" grpId="0" animBg="1"/>
      <p:bldP spid="289" grpId="0" animBg="1"/>
      <p:bldP spid="290" grpId="0" animBg="1"/>
      <p:bldP spid="291" grpId="0" animBg="1"/>
      <p:bldP spid="293" grpId="0" animBg="1"/>
      <p:bldP spid="294" grpId="0" animBg="1"/>
      <p:bldP spid="295" grpId="0" animBg="1"/>
      <p:bldP spid="296" grpId="0" animBg="1"/>
      <p:bldP spid="297" grpId="0" animBg="1"/>
      <p:bldP spid="298" grpId="0" animBg="1"/>
      <p:bldP spid="300" grpId="0" animBg="1"/>
      <p:bldP spid="301" grpId="0" animBg="1"/>
      <p:bldP spid="302" grpId="0" animBg="1"/>
      <p:bldP spid="303" grpId="0" animBg="1"/>
      <p:bldP spid="304" grpId="0" animBg="1"/>
      <p:bldP spid="305" grpId="0" animBg="1"/>
      <p:bldP spid="307" grpId="0" animBg="1"/>
      <p:bldP spid="308" grpId="0" animBg="1"/>
      <p:bldP spid="309" grpId="0" animBg="1"/>
      <p:bldP spid="310" grpId="0" animBg="1"/>
      <p:bldP spid="311" grpId="0" animBg="1"/>
      <p:bldP spid="312" grpId="0" animBg="1"/>
      <p:bldP spid="314" grpId="0" animBg="1"/>
      <p:bldP spid="315" grpId="0" animBg="1"/>
      <p:bldP spid="316" grpId="0" animBg="1"/>
      <p:bldP spid="317" grpId="0" animBg="1"/>
      <p:bldP spid="318" grpId="0" animBg="1"/>
      <p:bldP spid="319" grpId="0" animBg="1"/>
      <p:bldP spid="321" grpId="0" animBg="1"/>
      <p:bldP spid="322" grpId="0" animBg="1"/>
      <p:bldP spid="323" grpId="0" animBg="1"/>
      <p:bldP spid="324" grpId="0" animBg="1"/>
      <p:bldP spid="325" grpId="0" animBg="1"/>
      <p:bldP spid="326" grpId="0" animBg="1"/>
      <p:bldP spid="328" grpId="0" animBg="1"/>
      <p:bldP spid="329" grpId="0" animBg="1"/>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P spid="343" grpId="0" animBg="1"/>
      <p:bldP spid="344" grpId="0" animBg="1"/>
      <p:bldP spid="345" grpId="0" animBg="1"/>
      <p:bldP spid="346" grpId="0" animBg="1"/>
      <p:bldP spid="347" grpId="0" animBg="1"/>
      <p:bldP spid="348" grpId="0" animBg="1"/>
      <p:bldP spid="349" grpId="0" animBg="1"/>
      <p:bldP spid="350" grpId="0" animBg="1"/>
      <p:bldP spid="351" grpId="0" animBg="1"/>
      <p:bldP spid="352" grpId="0" animBg="1"/>
      <p:bldP spid="353" grpId="0" animBg="1"/>
      <p:bldP spid="354" grpId="0" animBg="1"/>
      <p:bldP spid="355" grpId="0" animBg="1"/>
      <p:bldP spid="356" grpId="0" animBg="1"/>
      <p:bldP spid="357" grpId="0" animBg="1"/>
      <p:bldP spid="358" grpId="0" animBg="1"/>
      <p:bldP spid="359" grpId="0" animBg="1"/>
      <p:bldP spid="360" grpId="0" animBg="1"/>
      <p:bldP spid="361" grpId="0" animBg="1"/>
      <p:bldP spid="362" grpId="0" animBg="1"/>
      <p:bldP spid="363"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itre 1"/>
          <p:cNvSpPr>
            <a:spLocks noGrp="1"/>
          </p:cNvSpPr>
          <p:nvPr>
            <p:ph type="title"/>
          </p:nvPr>
        </p:nvSpPr>
        <p:spPr/>
        <p:txBody>
          <a:bodyPr/>
          <a:lstStyle/>
          <a:p>
            <a:r>
              <a:rPr lang="fr-FR" altLang="fr-FR"/>
              <a:t>Résultats de la simulation n°2</a:t>
            </a:r>
          </a:p>
        </p:txBody>
      </p:sp>
      <p:sp>
        <p:nvSpPr>
          <p:cNvPr id="24473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44740"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D12F268-519C-4525-A547-A1F1E83271DD}" type="slidenum">
              <a:rPr lang="fr-FR" altLang="fr-FR" smtClean="0">
                <a:latin typeface="Calibri" panose="020F0502020204030204" pitchFamily="34" charset="0"/>
              </a:rPr>
              <a:pPr>
                <a:spcBef>
                  <a:spcPct val="0"/>
                </a:spcBef>
                <a:buFontTx/>
                <a:buNone/>
              </a:pPr>
              <a:t>113</a:t>
            </a:fld>
            <a:endParaRPr lang="fr-FR" altLang="fr-FR" dirty="0">
              <a:latin typeface="Calibri" panose="020F0502020204030204" pitchFamily="34" charset="0"/>
            </a:endParaRPr>
          </a:p>
        </p:txBody>
      </p:sp>
      <p:sp>
        <p:nvSpPr>
          <p:cNvPr id="244741" name="ZoneTexte 16"/>
          <p:cNvSpPr txBox="1">
            <a:spLocks noChangeArrowheads="1"/>
          </p:cNvSpPr>
          <p:nvPr/>
        </p:nvSpPr>
        <p:spPr bwMode="auto">
          <a:xfrm>
            <a:off x="1144588" y="5164138"/>
            <a:ext cx="7508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400" i="1" dirty="0">
                <a:latin typeface="Calibri" panose="020F0502020204030204" pitchFamily="34" charset="0"/>
                <a:cs typeface="Arial" panose="020B0604020202020204" pitchFamily="34" charset="0"/>
              </a:rPr>
              <a:t>Reportez ces valeurs sur le tableau de bord</a:t>
            </a:r>
          </a:p>
        </p:txBody>
      </p:sp>
      <p:graphicFrame>
        <p:nvGraphicFramePr>
          <p:cNvPr id="18" name="Tableau 17"/>
          <p:cNvGraphicFramePr>
            <a:graphicFrameLocks noGrp="1"/>
          </p:cNvGraphicFramePr>
          <p:nvPr>
            <p:extLst>
              <p:ext uri="{D42A27DB-BD31-4B8C-83A1-F6EECF244321}">
                <p14:modId xmlns:p14="http://schemas.microsoft.com/office/powerpoint/2010/main" val="1881290226"/>
              </p:ext>
            </p:extLst>
          </p:nvPr>
        </p:nvGraphicFramePr>
        <p:xfrm>
          <a:off x="528638" y="1000125"/>
          <a:ext cx="7751761" cy="3811650"/>
        </p:xfrm>
        <a:graphic>
          <a:graphicData uri="http://schemas.openxmlformats.org/drawingml/2006/table">
            <a:tbl>
              <a:tblPr firstRow="1" bandRow="1">
                <a:tableStyleId>{5C22544A-7EE6-4342-B048-85BDC9FD1C3A}</a:tableStyleId>
              </a:tblPr>
              <a:tblGrid>
                <a:gridCol w="3746810">
                  <a:extLst>
                    <a:ext uri="{9D8B030D-6E8A-4147-A177-3AD203B41FA5}">
                      <a16:colId xmlns:a16="http://schemas.microsoft.com/office/drawing/2014/main" val="20000"/>
                    </a:ext>
                  </a:extLst>
                </a:gridCol>
                <a:gridCol w="1008213">
                  <a:extLst>
                    <a:ext uri="{9D8B030D-6E8A-4147-A177-3AD203B41FA5}">
                      <a16:colId xmlns:a16="http://schemas.microsoft.com/office/drawing/2014/main" val="20001"/>
                    </a:ext>
                  </a:extLst>
                </a:gridCol>
                <a:gridCol w="669063">
                  <a:extLst>
                    <a:ext uri="{9D8B030D-6E8A-4147-A177-3AD203B41FA5}">
                      <a16:colId xmlns:a16="http://schemas.microsoft.com/office/drawing/2014/main" val="20002"/>
                    </a:ext>
                  </a:extLst>
                </a:gridCol>
                <a:gridCol w="1338125">
                  <a:extLst>
                    <a:ext uri="{9D8B030D-6E8A-4147-A177-3AD203B41FA5}">
                      <a16:colId xmlns:a16="http://schemas.microsoft.com/office/drawing/2014/main" val="20003"/>
                    </a:ext>
                  </a:extLst>
                </a:gridCol>
                <a:gridCol w="989550">
                  <a:extLst>
                    <a:ext uri="{9D8B030D-6E8A-4147-A177-3AD203B41FA5}">
                      <a16:colId xmlns:a16="http://schemas.microsoft.com/office/drawing/2014/main" val="20004"/>
                    </a:ext>
                  </a:extLst>
                </a:gridCol>
              </a:tblGrid>
              <a:tr h="342365">
                <a:tc gridSpan="2">
                  <a:txBody>
                    <a:bodyPr/>
                    <a:lstStyle/>
                    <a:p>
                      <a:pPr marL="0" marR="0" indent="0" algn="ctr" defTabSz="948873" rtl="0" eaLnBrk="1" fontAlgn="auto" latinLnBrk="0" hangingPunct="1">
                        <a:lnSpc>
                          <a:spcPct val="100000"/>
                        </a:lnSpc>
                        <a:spcBef>
                          <a:spcPts val="0"/>
                        </a:spcBef>
                        <a:spcAft>
                          <a:spcPts val="0"/>
                        </a:spcAft>
                        <a:buClrTx/>
                        <a:buSzTx/>
                        <a:buFontTx/>
                        <a:buNone/>
                        <a:tabLst/>
                        <a:defRPr/>
                      </a:pPr>
                      <a:r>
                        <a:rPr lang="fr-FR" sz="2000" b="1" dirty="0">
                          <a:solidFill>
                            <a:schemeClr val="tx1"/>
                          </a:solidFill>
                          <a:latin typeface="Calibri" panose="020F0502020204030204" pitchFamily="34" charset="0"/>
                          <a:cs typeface="Arial" pitchFamily="34" charset="0"/>
                        </a:rPr>
                        <a:t>QUALITÉ</a:t>
                      </a:r>
                      <a:endParaRPr lang="fr-FR" sz="1800" b="1" dirty="0">
                        <a:solidFill>
                          <a:schemeClr val="tx1"/>
                        </a:solidFill>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hMerge="1">
                  <a:txBody>
                    <a:bodyPr/>
                    <a:lstStyle/>
                    <a:p>
                      <a:endParaRPr lang="fr-FR"/>
                    </a:p>
                  </a:txBody>
                  <a:tcPr/>
                </a:tc>
                <a:tc>
                  <a:txBody>
                    <a:bodyPr/>
                    <a:lstStyle/>
                    <a:p>
                      <a:pPr marL="0" marR="0" indent="0" algn="ctr" defTabSz="948873" rtl="0" eaLnBrk="1" fontAlgn="auto" latinLnBrk="0" hangingPunct="1">
                        <a:lnSpc>
                          <a:spcPct val="100000"/>
                        </a:lnSpc>
                        <a:spcBef>
                          <a:spcPts val="0"/>
                        </a:spcBef>
                        <a:spcAft>
                          <a:spcPts val="0"/>
                        </a:spcAft>
                        <a:buClrTx/>
                        <a:buSzTx/>
                        <a:buFontTx/>
                        <a:buNone/>
                        <a:tabLst/>
                        <a:defRPr/>
                      </a:pPr>
                      <a:endParaRPr lang="fr-FR" sz="1800" b="1" dirty="0">
                        <a:solidFill>
                          <a:schemeClr val="tx1"/>
                        </a:solidFill>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indent="0" algn="ctr" defTabSz="948873" rtl="0" eaLnBrk="1" fontAlgn="auto" latinLnBrk="0" hangingPunct="1">
                        <a:lnSpc>
                          <a:spcPct val="100000"/>
                        </a:lnSpc>
                        <a:spcBef>
                          <a:spcPts val="0"/>
                        </a:spcBef>
                        <a:spcAft>
                          <a:spcPts val="0"/>
                        </a:spcAft>
                        <a:buClrTx/>
                        <a:buSzTx/>
                        <a:buFontTx/>
                        <a:buNone/>
                        <a:tabLst/>
                        <a:defRPr/>
                      </a:pPr>
                      <a:r>
                        <a:rPr lang="fr-FR" sz="2000" b="1" dirty="0">
                          <a:solidFill>
                            <a:schemeClr val="tx1"/>
                          </a:solidFill>
                          <a:latin typeface="Calibri" panose="020F0502020204030204" pitchFamily="34" charset="0"/>
                          <a:cs typeface="Arial" pitchFamily="34" charset="0"/>
                        </a:rPr>
                        <a:t>DÉLAI </a:t>
                      </a:r>
                      <a:r>
                        <a:rPr lang="fr-FR" sz="1800" b="1" dirty="0">
                          <a:solidFill>
                            <a:schemeClr val="tx1"/>
                          </a:solidFill>
                          <a:latin typeface="Calibri" panose="020F0502020204030204" pitchFamily="34" charset="0"/>
                          <a:cs typeface="Arial" pitchFamily="34" charset="0"/>
                        </a:rPr>
                        <a:t>OF traceur</a:t>
                      </a: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7FFA7"/>
                    </a:solidFill>
                  </a:tcPr>
                </a:tc>
                <a:tc hMerge="1">
                  <a:txBody>
                    <a:bodyPr/>
                    <a:lstStyle/>
                    <a:p>
                      <a:pPr marL="0" marR="0" indent="0" algn="ctr" defTabSz="948873" rtl="0" eaLnBrk="1" fontAlgn="auto" latinLnBrk="0" hangingPunct="1">
                        <a:lnSpc>
                          <a:spcPct val="100000"/>
                        </a:lnSpc>
                        <a:spcBef>
                          <a:spcPts val="0"/>
                        </a:spcBef>
                        <a:spcAft>
                          <a:spcPts val="0"/>
                        </a:spcAft>
                        <a:buClrTx/>
                        <a:buSzTx/>
                        <a:buFontTx/>
                        <a:buNone/>
                        <a:tabLst/>
                        <a:defRPr/>
                      </a:pPr>
                      <a:endParaRPr lang="fr-FR" sz="1000" b="1" dirty="0">
                        <a:solidFill>
                          <a:schemeClr val="tx1"/>
                        </a:solidFill>
                        <a:latin typeface="Arial" pitchFamily="34" charset="0"/>
                        <a:cs typeface="Arial"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extLst>
                  <a:ext uri="{0D108BD9-81ED-4DB2-BD59-A6C34878D82A}">
                    <a16:rowId xmlns:a16="http://schemas.microsoft.com/office/drawing/2014/main" val="10000"/>
                  </a:ext>
                </a:extLst>
              </a:tr>
              <a:tr h="518147">
                <a:tc>
                  <a:txBody>
                    <a:bodyPr/>
                    <a:lstStyle/>
                    <a:p>
                      <a:pPr marL="0" marR="0" indent="0" algn="r" defTabSz="948873" rtl="0" eaLnBrk="1" fontAlgn="auto" latinLnBrk="0" hangingPunct="1">
                        <a:lnSpc>
                          <a:spcPct val="100000"/>
                        </a:lnSpc>
                        <a:spcBef>
                          <a:spcPts val="0"/>
                        </a:spcBef>
                        <a:spcAft>
                          <a:spcPts val="0"/>
                        </a:spcAft>
                        <a:buClrTx/>
                        <a:buSzTx/>
                        <a:buFontTx/>
                        <a:buNone/>
                        <a:tabLst/>
                        <a:defRPr/>
                      </a:pPr>
                      <a:r>
                        <a:rPr lang="fr-FR" sz="1800" b="0" dirty="0">
                          <a:solidFill>
                            <a:schemeClr val="tx1"/>
                          </a:solidFill>
                          <a:latin typeface="Calibri" panose="020F0502020204030204" pitchFamily="34" charset="0"/>
                          <a:cs typeface="Arial" pitchFamily="34" charset="0"/>
                        </a:rPr>
                        <a:t>Quantité produite totale</a:t>
                      </a:r>
                      <a:r>
                        <a:rPr lang="fr-FR" sz="1800" b="0" i="1" dirty="0">
                          <a:solidFill>
                            <a:schemeClr val="tx1"/>
                          </a:solidFill>
                          <a:latin typeface="Calibri" panose="020F0502020204030204" pitchFamily="34" charset="0"/>
                          <a:cs typeface="Arial" pitchFamily="34" charset="0"/>
                        </a:rPr>
                        <a:t> </a:t>
                      </a:r>
                      <a:r>
                        <a:rPr lang="fr-FR" sz="1600" b="0" i="1" dirty="0">
                          <a:solidFill>
                            <a:schemeClr val="tx1"/>
                          </a:solidFill>
                          <a:latin typeface="Calibri" panose="020F0502020204030204" pitchFamily="34" charset="0"/>
                          <a:cs typeface="Arial" pitchFamily="34" charset="0"/>
                        </a:rPr>
                        <a:t>(dans votre</a:t>
                      </a:r>
                      <a:r>
                        <a:rPr lang="fr-FR" sz="1600" b="0" i="1" baseline="0" dirty="0">
                          <a:solidFill>
                            <a:schemeClr val="tx1"/>
                          </a:solidFill>
                          <a:latin typeface="Calibri" panose="020F0502020204030204" pitchFamily="34" charset="0"/>
                          <a:cs typeface="Arial" pitchFamily="34" charset="0"/>
                        </a:rPr>
                        <a:t> atelier)</a:t>
                      </a:r>
                      <a:endParaRPr lang="fr-FR" sz="1800" b="0" i="1" dirty="0">
                        <a:solidFill>
                          <a:schemeClr val="tx1"/>
                        </a:solidFill>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fr-FR"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27">
                <a:tc>
                  <a:txBody>
                    <a:bodyPr/>
                    <a:lstStyle/>
                    <a:p>
                      <a:pPr marL="0" marR="0" indent="0" algn="r" defTabSz="948873" rtl="0" eaLnBrk="1" fontAlgn="auto" latinLnBrk="0" hangingPunct="1">
                        <a:lnSpc>
                          <a:spcPct val="100000"/>
                        </a:lnSpc>
                        <a:spcBef>
                          <a:spcPts val="0"/>
                        </a:spcBef>
                        <a:spcAft>
                          <a:spcPts val="0"/>
                        </a:spcAft>
                        <a:buClrTx/>
                        <a:buSzTx/>
                        <a:buFontTx/>
                        <a:buNone/>
                        <a:tabLst/>
                        <a:defRPr/>
                      </a:pPr>
                      <a:r>
                        <a:rPr lang="fr-FR" sz="1800" b="0" dirty="0">
                          <a:solidFill>
                            <a:schemeClr val="tx1"/>
                          </a:solidFill>
                          <a:latin typeface="Calibri" panose="020F0502020204030204" pitchFamily="34" charset="0"/>
                          <a:cs typeface="Arial" pitchFamily="34" charset="0"/>
                        </a:rPr>
                        <a:t>Quantité produite bonne  </a:t>
                      </a:r>
                      <a:r>
                        <a:rPr lang="fr-FR" sz="2000" b="1" dirty="0">
                          <a:solidFill>
                            <a:srgbClr val="33CC33"/>
                          </a:solidFill>
                          <a:latin typeface="Calibri" panose="020F0502020204030204" pitchFamily="34" charset="0"/>
                          <a:cs typeface="Arial" pitchFamily="34" charset="0"/>
                        </a:rPr>
                        <a:t>Q</a:t>
                      </a:r>
                      <a:endParaRPr lang="fr-FR" sz="1800" b="0" dirty="0">
                        <a:solidFill>
                          <a:schemeClr val="tx1"/>
                        </a:solidFill>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fr-FR" sz="2000" b="1" dirty="0">
                          <a:latin typeface="Calibri" panose="020F0502020204030204" pitchFamily="34" charset="0"/>
                          <a:cs typeface="Arial" pitchFamily="34" charset="0"/>
                        </a:rPr>
                        <a:t>STOCKS</a:t>
                      </a:r>
                      <a:r>
                        <a:rPr lang="fr-FR" sz="1800" b="0" i="1" dirty="0">
                          <a:latin typeface="Calibri" panose="020F0502020204030204" pitchFamily="34" charset="0"/>
                          <a:cs typeface="Arial" pitchFamily="34" charset="0"/>
                        </a:rPr>
                        <a:t> </a:t>
                      </a:r>
                      <a:br>
                        <a:rPr lang="fr-FR" sz="1800" b="0" i="1" dirty="0">
                          <a:latin typeface="Calibri" panose="020F0502020204030204" pitchFamily="34" charset="0"/>
                          <a:cs typeface="Arial" pitchFamily="34" charset="0"/>
                        </a:rPr>
                      </a:br>
                      <a:r>
                        <a:rPr lang="fr-FR" sz="1600" b="0" i="1" dirty="0">
                          <a:latin typeface="Calibri" panose="020F0502020204030204" pitchFamily="34" charset="0"/>
                          <a:cs typeface="Arial" pitchFamily="34" charset="0"/>
                        </a:rPr>
                        <a:t>(total des en-cours)</a:t>
                      </a:r>
                      <a:endParaRPr lang="fr-FR" sz="1800" b="0" i="1" dirty="0">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EE5"/>
                    </a:solidFill>
                  </a:tcPr>
                </a:tc>
                <a:tc hMerge="1">
                  <a:txBody>
                    <a:bodyPr/>
                    <a:lstStyle/>
                    <a:p>
                      <a:endParaRPr lang="fr-FR"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7668">
                <a:tc>
                  <a:txBody>
                    <a:bodyPr/>
                    <a:lstStyle/>
                    <a:p>
                      <a:pPr marL="0" marR="0" indent="0" algn="r" defTabSz="948873" rtl="0" eaLnBrk="1" fontAlgn="auto" latinLnBrk="0" hangingPunct="1">
                        <a:lnSpc>
                          <a:spcPct val="100000"/>
                        </a:lnSpc>
                        <a:spcBef>
                          <a:spcPts val="0"/>
                        </a:spcBef>
                        <a:spcAft>
                          <a:spcPts val="0"/>
                        </a:spcAft>
                        <a:buClrTx/>
                        <a:buSzTx/>
                        <a:buFontTx/>
                        <a:buNone/>
                        <a:tabLst/>
                        <a:defRPr/>
                      </a:pPr>
                      <a:r>
                        <a:rPr lang="fr-FR" sz="1800" b="0" dirty="0">
                          <a:solidFill>
                            <a:schemeClr val="tx1"/>
                          </a:solidFill>
                          <a:latin typeface="Calibri" panose="020F0502020204030204" pitchFamily="34" charset="0"/>
                          <a:cs typeface="Arial" pitchFamily="34" charset="0"/>
                        </a:rPr>
                        <a:t>% non conformes</a:t>
                      </a: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fr-FR"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58001">
                <a:tc gridSpan="2">
                  <a:txBody>
                    <a:bodyPr/>
                    <a:lstStyle/>
                    <a:p>
                      <a:pPr algn="ctr"/>
                      <a:r>
                        <a:rPr lang="fr-FR" sz="2000" b="1" dirty="0">
                          <a:solidFill>
                            <a:schemeClr val="tx1"/>
                          </a:solidFill>
                          <a:latin typeface="Calibri" panose="020F0502020204030204" pitchFamily="34" charset="0"/>
                          <a:cs typeface="Arial" pitchFamily="34" charset="0"/>
                        </a:rPr>
                        <a:t>PRODUCTIVITÉ</a:t>
                      </a: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fr-FR"/>
                    </a:p>
                  </a:txBody>
                  <a:tcPr/>
                </a:tc>
                <a:tc>
                  <a:txBody>
                    <a:bodyPr/>
                    <a:lstStyle/>
                    <a:p>
                      <a:pPr algn="ctr"/>
                      <a:endParaRPr lang="fr-FR" sz="2000" b="1" dirty="0">
                        <a:solidFill>
                          <a:schemeClr val="tx1"/>
                        </a:solidFill>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fr-FR" sz="2000" b="1" dirty="0">
                        <a:solidFill>
                          <a:schemeClr val="tx1"/>
                        </a:solidFill>
                        <a:latin typeface="Calibri" panose="020F0502020204030204" pitchFamily="34" charset="0"/>
                        <a:cs typeface="Arial" pitchFamily="34" charset="0"/>
                      </a:endParaRPr>
                    </a:p>
                  </a:txBody>
                  <a:tcPr marL="129902" marR="20457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fr-FR" sz="1100" b="1" dirty="0">
                        <a:solidFill>
                          <a:schemeClr val="tx1"/>
                        </a:solidFill>
                        <a:latin typeface="Arial" pitchFamily="34" charset="0"/>
                        <a:cs typeface="Arial"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04"/>
                  </a:ext>
                </a:extLst>
              </a:tr>
              <a:tr h="487668">
                <a:tc>
                  <a:txBody>
                    <a:bodyPr/>
                    <a:lstStyle/>
                    <a:p>
                      <a:pPr algn="r"/>
                      <a:r>
                        <a:rPr lang="fr-FR" sz="1800" b="0" dirty="0">
                          <a:solidFill>
                            <a:schemeClr val="tx1"/>
                          </a:solidFill>
                          <a:latin typeface="Calibri" panose="020F0502020204030204" pitchFamily="34" charset="0"/>
                          <a:cs typeface="Arial" pitchFamily="34" charset="0"/>
                        </a:rPr>
                        <a:t>Effectif (</a:t>
                      </a:r>
                      <a:r>
                        <a:rPr lang="fr-FR" sz="1800" b="1" dirty="0">
                          <a:solidFill>
                            <a:srgbClr val="FF0000"/>
                          </a:solidFill>
                          <a:latin typeface="Calibri" panose="020F0502020204030204" pitchFamily="34" charset="0"/>
                          <a:cs typeface="Arial" pitchFamily="34" charset="0"/>
                        </a:rPr>
                        <a:t>E</a:t>
                      </a:r>
                      <a:r>
                        <a:rPr lang="fr-FR" sz="1800" b="0" dirty="0">
                          <a:solidFill>
                            <a:schemeClr val="tx1"/>
                          </a:solidFill>
                          <a:latin typeface="Calibri" panose="020F0502020204030204" pitchFamily="34" charset="0"/>
                          <a:cs typeface="Arial" pitchFamily="34" charset="0"/>
                        </a:rPr>
                        <a:t>) </a:t>
                      </a:r>
                      <a:r>
                        <a:rPr lang="fr-FR" sz="1600" b="0" i="1" dirty="0">
                          <a:solidFill>
                            <a:schemeClr val="tx1"/>
                          </a:solidFill>
                          <a:latin typeface="Calibri" panose="020F0502020204030204" pitchFamily="34" charset="0"/>
                          <a:cs typeface="Arial" pitchFamily="34" charset="0"/>
                        </a:rPr>
                        <a:t>(de votre atelier)</a:t>
                      </a: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fr-FR" sz="1800" dirty="0">
                        <a:latin typeface="Calibri" panose="020F0502020204030204" pitchFamily="34" charset="0"/>
                        <a:cs typeface="Arial" pitchFamily="34" charset="0"/>
                      </a:endParaRPr>
                    </a:p>
                  </a:txBody>
                  <a:tcPr marL="129902" marR="20457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fr-FR" sz="1800" dirty="0">
                        <a:latin typeface="Calibri" panose="020F0502020204030204" pitchFamily="34" charset="0"/>
                        <a:cs typeface="Arial" pitchFamily="34" charset="0"/>
                      </a:endParaRPr>
                    </a:p>
                  </a:txBody>
                  <a:tcPr marL="129902" marR="20457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20484">
                <a:tc>
                  <a:txBody>
                    <a:bodyPr/>
                    <a:lstStyle/>
                    <a:p>
                      <a:pPr algn="r"/>
                      <a:r>
                        <a:rPr lang="fr-FR" sz="1800" b="0" dirty="0">
                          <a:solidFill>
                            <a:schemeClr val="tx1"/>
                          </a:solidFill>
                          <a:latin typeface="Calibri" panose="020F0502020204030204" pitchFamily="34" charset="0"/>
                          <a:cs typeface="Arial" pitchFamily="34" charset="0"/>
                        </a:rPr>
                        <a:t>Temps d’ouverture (</a:t>
                      </a:r>
                      <a:r>
                        <a:rPr lang="fr-FR" sz="1800" b="1" kern="1200" baseline="0" dirty="0">
                          <a:solidFill>
                            <a:srgbClr val="0033CC"/>
                          </a:solidFill>
                          <a:latin typeface="Calibri" panose="020F0502020204030204" pitchFamily="34" charset="0"/>
                          <a:ea typeface="+mn-ea"/>
                          <a:cs typeface="Arial" pitchFamily="34" charset="0"/>
                        </a:rPr>
                        <a:t>TO</a:t>
                      </a:r>
                      <a:r>
                        <a:rPr lang="fr-FR" sz="1600" b="0" i="1" dirty="0">
                          <a:solidFill>
                            <a:schemeClr val="tx1"/>
                          </a:solidFill>
                          <a:latin typeface="Calibri" panose="020F0502020204030204" pitchFamily="34" charset="0"/>
                          <a:cs typeface="Arial" pitchFamily="34" charset="0"/>
                        </a:rPr>
                        <a:t>, en min.</a:t>
                      </a:r>
                      <a:r>
                        <a:rPr lang="fr-FR" sz="1800" b="0" dirty="0">
                          <a:solidFill>
                            <a:schemeClr val="tx1"/>
                          </a:solidFill>
                          <a:latin typeface="Calibri" panose="020F0502020204030204" pitchFamily="34" charset="0"/>
                          <a:cs typeface="Arial" pitchFamily="34" charset="0"/>
                        </a:rPr>
                        <a:t>)</a:t>
                      </a: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fr-FR" sz="3200" dirty="0">
                        <a:latin typeface="Calibri" panose="020F0502020204030204" pitchFamily="34" charset="0"/>
                      </a:endParaRPr>
                    </a:p>
                  </a:txBody>
                  <a:tcPr marL="129902" marR="20457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sz="3200" dirty="0">
                        <a:latin typeface="Calibri" panose="020F0502020204030204" pitchFamily="34" charset="0"/>
                      </a:endParaRPr>
                    </a:p>
                  </a:txBody>
                  <a:tcPr marL="129902" marR="20457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548627">
                <a:tc>
                  <a:txBody>
                    <a:bodyPr/>
                    <a:lstStyle/>
                    <a:p>
                      <a:pPr algn="r"/>
                      <a:r>
                        <a:rPr lang="fr-FR" sz="1800" b="0" dirty="0">
                          <a:solidFill>
                            <a:schemeClr val="tx1"/>
                          </a:solidFill>
                          <a:latin typeface="Calibri" panose="020F0502020204030204" pitchFamily="34" charset="0"/>
                          <a:cs typeface="Arial" pitchFamily="34" charset="0"/>
                        </a:rPr>
                        <a:t>Productivité =</a:t>
                      </a:r>
                      <a:r>
                        <a:rPr lang="fr-FR" sz="1800" b="0" baseline="0" dirty="0">
                          <a:solidFill>
                            <a:schemeClr val="tx1"/>
                          </a:solidFill>
                          <a:latin typeface="Calibri" panose="020F0502020204030204" pitchFamily="34" charset="0"/>
                          <a:cs typeface="Arial" pitchFamily="34" charset="0"/>
                        </a:rPr>
                        <a:t> </a:t>
                      </a:r>
                      <a:r>
                        <a:rPr lang="fr-FR" sz="1800" b="1" kern="1200" dirty="0">
                          <a:solidFill>
                            <a:srgbClr val="FF0000"/>
                          </a:solidFill>
                          <a:latin typeface="Calibri" panose="020F0502020204030204" pitchFamily="34" charset="0"/>
                          <a:ea typeface="+mn-ea"/>
                          <a:cs typeface="Arial" pitchFamily="34" charset="0"/>
                        </a:rPr>
                        <a:t>E</a:t>
                      </a:r>
                      <a:r>
                        <a:rPr lang="fr-FR" sz="1800" b="0" baseline="0" dirty="0">
                          <a:solidFill>
                            <a:schemeClr val="tx1"/>
                          </a:solidFill>
                          <a:latin typeface="Calibri" panose="020F0502020204030204" pitchFamily="34" charset="0"/>
                          <a:cs typeface="Arial" pitchFamily="34" charset="0"/>
                        </a:rPr>
                        <a:t> x </a:t>
                      </a:r>
                      <a:r>
                        <a:rPr lang="fr-FR" sz="1800" b="1" baseline="0" dirty="0">
                          <a:solidFill>
                            <a:srgbClr val="0033CC"/>
                          </a:solidFill>
                          <a:latin typeface="Calibri" panose="020F0502020204030204" pitchFamily="34" charset="0"/>
                          <a:cs typeface="Arial" pitchFamily="34" charset="0"/>
                        </a:rPr>
                        <a:t>TO</a:t>
                      </a:r>
                      <a:r>
                        <a:rPr lang="fr-FR" sz="1800" b="0" baseline="0" dirty="0">
                          <a:solidFill>
                            <a:schemeClr val="tx1"/>
                          </a:solidFill>
                          <a:latin typeface="Calibri" panose="020F0502020204030204" pitchFamily="34" charset="0"/>
                          <a:cs typeface="Arial" pitchFamily="34" charset="0"/>
                        </a:rPr>
                        <a:t> / </a:t>
                      </a:r>
                      <a:r>
                        <a:rPr lang="fr-FR" sz="2000" b="1" kern="1200" dirty="0">
                          <a:solidFill>
                            <a:srgbClr val="33CC33"/>
                          </a:solidFill>
                          <a:latin typeface="Calibri" panose="020F0502020204030204" pitchFamily="34" charset="0"/>
                          <a:ea typeface="+mn-ea"/>
                          <a:cs typeface="Arial" pitchFamily="34" charset="0"/>
                        </a:rPr>
                        <a:t>Q </a:t>
                      </a:r>
                      <a:r>
                        <a:rPr lang="fr-FR" sz="1600" b="0" i="1" baseline="0" dirty="0">
                          <a:solidFill>
                            <a:schemeClr val="tx1"/>
                          </a:solidFill>
                          <a:latin typeface="Calibri" panose="020F0502020204030204" pitchFamily="34" charset="0"/>
                          <a:cs typeface="Arial" pitchFamily="34" charset="0"/>
                        </a:rPr>
                        <a:t>(min. / produit fini)</a:t>
                      </a:r>
                      <a:endParaRPr lang="fr-FR" sz="1800" b="0" i="1" dirty="0">
                        <a:solidFill>
                          <a:schemeClr val="tx1"/>
                        </a:solidFill>
                        <a:latin typeface="Calibri" panose="020F0502020204030204" pitchFamily="34" charset="0"/>
                        <a:cs typeface="Arial"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sz="3200" dirty="0">
                        <a:latin typeface="Calibri" panose="020F0502020204030204" pitchFamily="34" charset="0"/>
                      </a:endParaRPr>
                    </a:p>
                  </a:txBody>
                  <a:tcPr marL="129902" marR="20457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fr-FR" sz="3200" dirty="0">
                        <a:latin typeface="Calibri" panose="020F0502020204030204" pitchFamily="34" charset="0"/>
                      </a:endParaRPr>
                    </a:p>
                  </a:txBody>
                  <a:tcPr marL="129902" marR="20457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fr-FR"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pic>
        <p:nvPicPr>
          <p:cNvPr id="9" name="Picture 1">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4825" y="5014119"/>
            <a:ext cx="10572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6786" name="Titre 1"/>
          <p:cNvSpPr>
            <a:spLocks noGrp="1"/>
          </p:cNvSpPr>
          <p:nvPr>
            <p:ph type="title"/>
          </p:nvPr>
        </p:nvSpPr>
        <p:spPr/>
        <p:txBody>
          <a:bodyPr/>
          <a:lstStyle/>
          <a:p>
            <a:r>
              <a:rPr lang="fr-FR" altLang="fr-FR"/>
              <a:t>Mise à jour du Tableau de bord</a:t>
            </a:r>
          </a:p>
        </p:txBody>
      </p:sp>
      <p:sp>
        <p:nvSpPr>
          <p:cNvPr id="24678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46788"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6CACB1CA-31C9-4800-8E2B-C68F30B2E646}" type="slidenum">
              <a:rPr lang="fr-FR" altLang="fr-FR" smtClean="0">
                <a:latin typeface="Calibri" panose="020F0502020204030204" pitchFamily="34" charset="0"/>
              </a:rPr>
              <a:pPr>
                <a:spcBef>
                  <a:spcPct val="0"/>
                </a:spcBef>
                <a:buFontTx/>
                <a:buNone/>
              </a:pPr>
              <a:t>114</a:t>
            </a:fld>
            <a:endParaRPr lang="fr-FR" altLang="fr-FR" dirty="0">
              <a:latin typeface="Calibri" panose="020F0502020204030204" pitchFamily="34" charset="0"/>
            </a:endParaRPr>
          </a:p>
        </p:txBody>
      </p:sp>
      <p:pic>
        <p:nvPicPr>
          <p:cNvPr id="2467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938848"/>
            <a:ext cx="9197975" cy="55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6" name="Connecteur droit avec flèche 165"/>
          <p:cNvCxnSpPr/>
          <p:nvPr/>
        </p:nvCxnSpPr>
        <p:spPr>
          <a:xfrm>
            <a:off x="3098800" y="1151573"/>
            <a:ext cx="325438" cy="2159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7" name="Connecteur droit avec flèche 166"/>
          <p:cNvCxnSpPr/>
          <p:nvPr/>
        </p:nvCxnSpPr>
        <p:spPr>
          <a:xfrm>
            <a:off x="7907338" y="1116648"/>
            <a:ext cx="323850" cy="2159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8" name="Connecteur droit avec flèche 167"/>
          <p:cNvCxnSpPr/>
          <p:nvPr/>
        </p:nvCxnSpPr>
        <p:spPr>
          <a:xfrm>
            <a:off x="7904163" y="3888423"/>
            <a:ext cx="323850" cy="21748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9" name="Connecteur droit avec flèche 168"/>
          <p:cNvCxnSpPr/>
          <p:nvPr/>
        </p:nvCxnSpPr>
        <p:spPr>
          <a:xfrm flipV="1">
            <a:off x="2994025" y="3829685"/>
            <a:ext cx="323850" cy="2159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2" name="Picture 2" descr="C:\Users\BertrandS\Dropbox\Jeux\00. CONCEPTION DES JEUX\photos\Bureau Une Femme 29\iStock_000002139332_Medium ALLEGE.jpg"/>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8834" name="Titre 1"/>
          <p:cNvSpPr>
            <a:spLocks noGrp="1"/>
          </p:cNvSpPr>
          <p:nvPr>
            <p:ph type="title"/>
          </p:nvPr>
        </p:nvSpPr>
        <p:spPr/>
        <p:txBody>
          <a:bodyPr/>
          <a:lstStyle/>
          <a:p>
            <a:r>
              <a:rPr lang="fr-FR" altLang="fr-FR"/>
              <a:t>Le calcul du « stock corrigé »</a:t>
            </a:r>
          </a:p>
        </p:txBody>
      </p:sp>
      <p:sp>
        <p:nvSpPr>
          <p:cNvPr id="24883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48836"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C23EB78D-8BC2-46DF-9B6D-B596DE33BE6B}" type="slidenum">
              <a:rPr lang="fr-FR" altLang="fr-FR" smtClean="0">
                <a:latin typeface="Calibri" panose="020F0502020204030204" pitchFamily="34" charset="0"/>
              </a:rPr>
              <a:pPr>
                <a:spcBef>
                  <a:spcPct val="0"/>
                </a:spcBef>
                <a:buFontTx/>
                <a:buNone/>
              </a:pPr>
              <a:t>115</a:t>
            </a:fld>
            <a:endParaRPr lang="fr-FR" altLang="fr-FR" dirty="0">
              <a:latin typeface="Calibri" panose="020F0502020204030204" pitchFamily="34" charset="0"/>
            </a:endParaRPr>
          </a:p>
        </p:txBody>
      </p:sp>
      <p:sp>
        <p:nvSpPr>
          <p:cNvPr id="22" name="ZoneTexte 21"/>
          <p:cNvSpPr txBox="1">
            <a:spLocks noChangeArrowheads="1"/>
          </p:cNvSpPr>
          <p:nvPr/>
        </p:nvSpPr>
        <p:spPr bwMode="auto">
          <a:xfrm>
            <a:off x="4040188" y="4138613"/>
            <a:ext cx="736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8</a:t>
            </a:r>
          </a:p>
        </p:txBody>
      </p:sp>
      <p:sp>
        <p:nvSpPr>
          <p:cNvPr id="37" name="ZoneTexte 36"/>
          <p:cNvSpPr txBox="1">
            <a:spLocks noChangeArrowheads="1"/>
          </p:cNvSpPr>
          <p:nvPr/>
        </p:nvSpPr>
        <p:spPr bwMode="auto">
          <a:xfrm>
            <a:off x="2727579" y="1479550"/>
            <a:ext cx="899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33CC"/>
                </a:solidFill>
                <a:latin typeface="Calibri" panose="020F0502020204030204" pitchFamily="34" charset="0"/>
              </a:rPr>
              <a:t>24 min.</a:t>
            </a:r>
          </a:p>
        </p:txBody>
      </p:sp>
      <p:sp>
        <p:nvSpPr>
          <p:cNvPr id="38" name="ZoneTexte 37"/>
          <p:cNvSpPr txBox="1">
            <a:spLocks noChangeArrowheads="1"/>
          </p:cNvSpPr>
          <p:nvPr/>
        </p:nvSpPr>
        <p:spPr bwMode="auto">
          <a:xfrm>
            <a:off x="3978300" y="1504950"/>
            <a:ext cx="7825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B050"/>
                </a:solidFill>
                <a:latin typeface="Calibri" panose="020F0502020204030204" pitchFamily="34" charset="0"/>
              </a:rPr>
              <a:t>8 min.</a:t>
            </a:r>
          </a:p>
        </p:txBody>
      </p:sp>
      <p:sp>
        <p:nvSpPr>
          <p:cNvPr id="39" name="ZoneTexte 38"/>
          <p:cNvSpPr txBox="1">
            <a:spLocks noChangeArrowheads="1"/>
          </p:cNvSpPr>
          <p:nvPr/>
        </p:nvSpPr>
        <p:spPr bwMode="auto">
          <a:xfrm>
            <a:off x="2954535" y="2025650"/>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33CC"/>
                </a:solidFill>
                <a:latin typeface="Calibri" panose="020F0502020204030204" pitchFamily="34" charset="0"/>
                <a:cs typeface="Arial" panose="020B0604020202020204" pitchFamily="34" charset="0"/>
              </a:rPr>
              <a:t>48</a:t>
            </a:r>
          </a:p>
        </p:txBody>
      </p:sp>
      <p:sp>
        <p:nvSpPr>
          <p:cNvPr id="40" name="ZoneTexte 39"/>
          <p:cNvSpPr txBox="1">
            <a:spLocks noChangeArrowheads="1"/>
          </p:cNvSpPr>
          <p:nvPr/>
        </p:nvSpPr>
        <p:spPr bwMode="auto">
          <a:xfrm>
            <a:off x="4147542" y="2052638"/>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B050"/>
                </a:solidFill>
                <a:latin typeface="Calibri" panose="020F0502020204030204" pitchFamily="34" charset="0"/>
              </a:rPr>
              <a:t>24</a:t>
            </a:r>
          </a:p>
        </p:txBody>
      </p:sp>
      <p:sp>
        <p:nvSpPr>
          <p:cNvPr id="41" name="ZoneTexte 40"/>
          <p:cNvSpPr txBox="1">
            <a:spLocks noChangeArrowheads="1"/>
          </p:cNvSpPr>
          <p:nvPr/>
        </p:nvSpPr>
        <p:spPr bwMode="auto">
          <a:xfrm>
            <a:off x="2982913" y="254635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33CC"/>
                </a:solidFill>
                <a:latin typeface="Calibri" panose="020F0502020204030204" pitchFamily="34" charset="0"/>
                <a:cs typeface="Arial" panose="020B0604020202020204" pitchFamily="34" charset="0"/>
              </a:rPr>
              <a:t>2</a:t>
            </a:r>
          </a:p>
        </p:txBody>
      </p:sp>
      <p:sp>
        <p:nvSpPr>
          <p:cNvPr id="43" name="ZoneTexte 42"/>
          <p:cNvSpPr txBox="1">
            <a:spLocks noChangeArrowheads="1"/>
          </p:cNvSpPr>
          <p:nvPr/>
        </p:nvSpPr>
        <p:spPr bwMode="auto">
          <a:xfrm>
            <a:off x="4162425" y="256222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00B050"/>
                </a:solidFill>
                <a:latin typeface="Calibri" panose="020F0502020204030204" pitchFamily="34" charset="0"/>
                <a:cs typeface="Arial" panose="020B0604020202020204" pitchFamily="34" charset="0"/>
              </a:rPr>
              <a:t>3</a:t>
            </a:r>
          </a:p>
        </p:txBody>
      </p:sp>
      <p:sp>
        <p:nvSpPr>
          <p:cNvPr id="44" name="ZoneTexte 43"/>
          <p:cNvSpPr txBox="1">
            <a:spLocks noChangeArrowheads="1"/>
          </p:cNvSpPr>
          <p:nvPr/>
        </p:nvSpPr>
        <p:spPr bwMode="auto">
          <a:xfrm>
            <a:off x="4169480" y="3100388"/>
            <a:ext cx="4780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cs typeface="Arial" panose="020B0604020202020204" pitchFamily="34" charset="0"/>
              </a:rPr>
              <a:t>1,5</a:t>
            </a:r>
          </a:p>
        </p:txBody>
      </p:sp>
      <p:sp>
        <p:nvSpPr>
          <p:cNvPr id="54" name="ZoneTexte 53"/>
          <p:cNvSpPr txBox="1">
            <a:spLocks noChangeArrowheads="1"/>
          </p:cNvSpPr>
          <p:nvPr/>
        </p:nvSpPr>
        <p:spPr bwMode="auto">
          <a:xfrm>
            <a:off x="4173735" y="3636963"/>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b="1" dirty="0">
                <a:solidFill>
                  <a:srgbClr val="FF0000"/>
                </a:solidFill>
                <a:latin typeface="Calibri" panose="020F0502020204030204" pitchFamily="34" charset="0"/>
              </a:rPr>
              <a:t>12</a:t>
            </a:r>
          </a:p>
        </p:txBody>
      </p:sp>
      <p:sp>
        <p:nvSpPr>
          <p:cNvPr id="248846" name="ZoneTexte 64"/>
          <p:cNvSpPr txBox="1">
            <a:spLocks noChangeArrowheads="1"/>
          </p:cNvSpPr>
          <p:nvPr/>
        </p:nvSpPr>
        <p:spPr bwMode="auto">
          <a:xfrm>
            <a:off x="5375275" y="3632200"/>
            <a:ext cx="2905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600" dirty="0">
                <a:latin typeface="Calibri" panose="020F0502020204030204" pitchFamily="34" charset="0"/>
                <a:cs typeface="Arial" panose="020B0604020202020204" pitchFamily="34" charset="0"/>
              </a:rPr>
              <a:t>Stock de la 2</a:t>
            </a:r>
            <a:r>
              <a:rPr lang="fr-FR" altLang="fr-FR" sz="1600" baseline="30000" dirty="0">
                <a:latin typeface="Calibri" panose="020F0502020204030204" pitchFamily="34" charset="0"/>
                <a:cs typeface="Arial" panose="020B0604020202020204" pitchFamily="34" charset="0"/>
              </a:rPr>
              <a:t>ème</a:t>
            </a:r>
            <a:r>
              <a:rPr lang="fr-FR" altLang="fr-FR" sz="1600" dirty="0">
                <a:latin typeface="Calibri" panose="020F0502020204030204" pitchFamily="34" charset="0"/>
                <a:cs typeface="Arial" panose="020B0604020202020204" pitchFamily="34" charset="0"/>
              </a:rPr>
              <a:t> simulation</a:t>
            </a:r>
          </a:p>
        </p:txBody>
      </p:sp>
      <p:sp>
        <p:nvSpPr>
          <p:cNvPr id="248847" name="ZoneTexte 65"/>
          <p:cNvSpPr txBox="1">
            <a:spLocks noChangeArrowheads="1"/>
          </p:cNvSpPr>
          <p:nvPr/>
        </p:nvSpPr>
        <p:spPr bwMode="auto">
          <a:xfrm>
            <a:off x="5375275" y="1541463"/>
            <a:ext cx="36528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600" dirty="0">
                <a:latin typeface="Calibri" panose="020F0502020204030204" pitchFamily="34" charset="0"/>
                <a:cs typeface="Arial" panose="020B0604020202020204" pitchFamily="34" charset="0"/>
              </a:rPr>
              <a:t>Notez le TO de chaque simulation</a:t>
            </a:r>
          </a:p>
        </p:txBody>
      </p:sp>
      <p:sp>
        <p:nvSpPr>
          <p:cNvPr id="248848" name="ZoneTexte 66"/>
          <p:cNvSpPr txBox="1">
            <a:spLocks noChangeArrowheads="1"/>
          </p:cNvSpPr>
          <p:nvPr/>
        </p:nvSpPr>
        <p:spPr bwMode="auto">
          <a:xfrm>
            <a:off x="5375275" y="2060575"/>
            <a:ext cx="39227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600" dirty="0">
                <a:latin typeface="Calibri" panose="020F0502020204030204" pitchFamily="34" charset="0"/>
                <a:cs typeface="Arial" panose="020B0604020202020204" pitchFamily="34" charset="0"/>
              </a:rPr>
              <a:t>Production </a:t>
            </a:r>
            <a:r>
              <a:rPr lang="fr-FR" altLang="fr-FR" sz="1600" u="sng" dirty="0">
                <a:latin typeface="Calibri" panose="020F0502020204030204" pitchFamily="34" charset="0"/>
                <a:cs typeface="Arial" panose="020B0604020202020204" pitchFamily="34" charset="0"/>
              </a:rPr>
              <a:t>totale</a:t>
            </a:r>
            <a:r>
              <a:rPr lang="fr-FR" altLang="fr-FR" sz="1600" dirty="0">
                <a:latin typeface="Calibri" panose="020F0502020204030204" pitchFamily="34" charset="0"/>
                <a:cs typeface="Arial" panose="020B0604020202020204" pitchFamily="34" charset="0"/>
              </a:rPr>
              <a:t> de chaque simulation</a:t>
            </a:r>
          </a:p>
        </p:txBody>
      </p:sp>
      <p:cxnSp>
        <p:nvCxnSpPr>
          <p:cNvPr id="248849" name="Connecteur droit avec flèche 67"/>
          <p:cNvCxnSpPr>
            <a:cxnSpLocks noChangeShapeType="1"/>
          </p:cNvCxnSpPr>
          <p:nvPr/>
        </p:nvCxnSpPr>
        <p:spPr bwMode="auto">
          <a:xfrm flipV="1">
            <a:off x="5008563" y="3798888"/>
            <a:ext cx="274637"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8850" name="Connecteur droit avec flèche 68"/>
          <p:cNvCxnSpPr>
            <a:cxnSpLocks noChangeShapeType="1"/>
          </p:cNvCxnSpPr>
          <p:nvPr/>
        </p:nvCxnSpPr>
        <p:spPr bwMode="auto">
          <a:xfrm flipV="1">
            <a:off x="4995863" y="1711325"/>
            <a:ext cx="274637"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8851" name="Connecteur droit avec flèche 69"/>
          <p:cNvCxnSpPr>
            <a:cxnSpLocks noChangeShapeType="1"/>
          </p:cNvCxnSpPr>
          <p:nvPr/>
        </p:nvCxnSpPr>
        <p:spPr bwMode="auto">
          <a:xfrm flipV="1">
            <a:off x="4995863" y="2233613"/>
            <a:ext cx="274637"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aphicFrame>
        <p:nvGraphicFramePr>
          <p:cNvPr id="71" name="Tableau 70"/>
          <p:cNvGraphicFramePr>
            <a:graphicFrameLocks noGrp="1"/>
          </p:cNvGraphicFramePr>
          <p:nvPr/>
        </p:nvGraphicFramePr>
        <p:xfrm>
          <a:off x="463550" y="1008063"/>
          <a:ext cx="4456112" cy="3589337"/>
        </p:xfrm>
        <a:graphic>
          <a:graphicData uri="http://schemas.openxmlformats.org/drawingml/2006/table">
            <a:tbl>
              <a:tblPr firstRow="1" bandRow="1">
                <a:tableStyleId>{5C22544A-7EE6-4342-B048-85BDC9FD1C3A}</a:tableStyleId>
              </a:tblPr>
              <a:tblGrid>
                <a:gridCol w="2073510">
                  <a:extLst>
                    <a:ext uri="{9D8B030D-6E8A-4147-A177-3AD203B41FA5}">
                      <a16:colId xmlns:a16="http://schemas.microsoft.com/office/drawing/2014/main" val="20000"/>
                    </a:ext>
                  </a:extLst>
                </a:gridCol>
                <a:gridCol w="1191301">
                  <a:extLst>
                    <a:ext uri="{9D8B030D-6E8A-4147-A177-3AD203B41FA5}">
                      <a16:colId xmlns:a16="http://schemas.microsoft.com/office/drawing/2014/main" val="20001"/>
                    </a:ext>
                  </a:extLst>
                </a:gridCol>
                <a:gridCol w="1191301">
                  <a:extLst>
                    <a:ext uri="{9D8B030D-6E8A-4147-A177-3AD203B41FA5}">
                      <a16:colId xmlns:a16="http://schemas.microsoft.com/office/drawing/2014/main" val="20002"/>
                    </a:ext>
                  </a:extLst>
                </a:gridCol>
              </a:tblGrid>
              <a:tr h="402707">
                <a:tc>
                  <a:txBody>
                    <a:bodyPr/>
                    <a:lstStyle/>
                    <a:p>
                      <a:pPr algn="r"/>
                      <a:endParaRPr lang="fr-FR" sz="1600" b="0" dirty="0">
                        <a:solidFill>
                          <a:schemeClr val="tx1"/>
                        </a:solidFill>
                        <a:latin typeface="Calibri" panose="020F0502020204030204" pitchFamily="34" charset="0"/>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600" b="0" dirty="0" err="1">
                          <a:solidFill>
                            <a:schemeClr val="tx1"/>
                          </a:solidFill>
                          <a:latin typeface="Calibri" panose="020F0502020204030204" pitchFamily="34" charset="0"/>
                          <a:cs typeface="Arial" pitchFamily="34" charset="0"/>
                        </a:rPr>
                        <a:t>Simul</a:t>
                      </a:r>
                      <a:r>
                        <a:rPr lang="fr-FR" sz="1600" b="0" dirty="0">
                          <a:solidFill>
                            <a:schemeClr val="tx1"/>
                          </a:solidFill>
                          <a:latin typeface="Calibri" panose="020F0502020204030204" pitchFamily="34" charset="0"/>
                          <a:cs typeface="Arial" pitchFamily="34" charset="0"/>
                        </a:rPr>
                        <a:t>.  1</a:t>
                      </a: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600" b="0" dirty="0" err="1">
                          <a:solidFill>
                            <a:schemeClr val="tx1"/>
                          </a:solidFill>
                          <a:latin typeface="Calibri" panose="020F0502020204030204" pitchFamily="34" charset="0"/>
                          <a:cs typeface="Arial" pitchFamily="34" charset="0"/>
                        </a:rPr>
                        <a:t>Simul</a:t>
                      </a:r>
                      <a:r>
                        <a:rPr lang="fr-FR" sz="1600" b="0" dirty="0">
                          <a:solidFill>
                            <a:schemeClr val="tx1"/>
                          </a:solidFill>
                          <a:latin typeface="Calibri" panose="020F0502020204030204" pitchFamily="34" charset="0"/>
                          <a:cs typeface="Arial" pitchFamily="34" charset="0"/>
                        </a:rPr>
                        <a:t>. 2</a:t>
                      </a: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31105">
                <a:tc>
                  <a:txBody>
                    <a:bodyPr/>
                    <a:lstStyle/>
                    <a:p>
                      <a:pPr algn="r"/>
                      <a:r>
                        <a:rPr lang="fr-FR" sz="1600" b="0" dirty="0">
                          <a:solidFill>
                            <a:schemeClr val="tx1"/>
                          </a:solidFill>
                          <a:latin typeface="Calibri" panose="020F0502020204030204" pitchFamily="34" charset="0"/>
                          <a:cs typeface="Arial" pitchFamily="34" charset="0"/>
                        </a:rPr>
                        <a:t>Temps d’ouverture</a:t>
                      </a: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dirty="0">
                        <a:solidFill>
                          <a:schemeClr val="tx1"/>
                        </a:solidFill>
                        <a:latin typeface="Calibri" panose="020F0502020204030204" pitchFamily="34" charset="0"/>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dirty="0">
                        <a:solidFill>
                          <a:schemeClr val="tx1"/>
                        </a:solidFill>
                        <a:latin typeface="Calibri" panose="020F0502020204030204" pitchFamily="34" charset="0"/>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31105">
                <a:tc>
                  <a:txBody>
                    <a:bodyPr/>
                    <a:lstStyle/>
                    <a:p>
                      <a:pPr algn="r"/>
                      <a:r>
                        <a:rPr lang="fr-FR" sz="1600" b="0" dirty="0">
                          <a:solidFill>
                            <a:schemeClr val="tx1"/>
                          </a:solidFill>
                          <a:latin typeface="Calibri" panose="020F0502020204030204" pitchFamily="34" charset="0"/>
                          <a:cs typeface="Arial" pitchFamily="34" charset="0"/>
                        </a:rPr>
                        <a:t>Production réelle</a:t>
                      </a: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dirty="0">
                        <a:solidFill>
                          <a:schemeClr val="tx1"/>
                        </a:solidFill>
                        <a:latin typeface="Calibri" panose="020F0502020204030204" pitchFamily="34" charset="0"/>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kern="1200" dirty="0">
                        <a:solidFill>
                          <a:srgbClr val="FF0000"/>
                        </a:solidFill>
                        <a:latin typeface="Calibri" panose="020F0502020204030204" pitchFamily="34" charset="0"/>
                        <a:ea typeface="+mn-ea"/>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31105">
                <a:tc>
                  <a:txBody>
                    <a:bodyPr/>
                    <a:lstStyle/>
                    <a:p>
                      <a:pPr algn="r"/>
                      <a:r>
                        <a:rPr lang="fr-FR" sz="1600" b="0" dirty="0">
                          <a:solidFill>
                            <a:schemeClr val="tx1"/>
                          </a:solidFill>
                          <a:latin typeface="Calibri" panose="020F0502020204030204" pitchFamily="34" charset="0"/>
                          <a:cs typeface="Arial" pitchFamily="34" charset="0"/>
                        </a:rPr>
                        <a:t>Production / minute</a:t>
                      </a: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dirty="0">
                        <a:solidFill>
                          <a:schemeClr val="tx1"/>
                        </a:solidFill>
                        <a:latin typeface="Calibri" panose="020F0502020204030204" pitchFamily="34" charset="0"/>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kern="1200" baseline="0" dirty="0">
                        <a:solidFill>
                          <a:schemeClr val="tx1"/>
                        </a:solidFill>
                        <a:latin typeface="Calibri" panose="020F0502020204030204" pitchFamily="34" charset="0"/>
                        <a:ea typeface="+mn-ea"/>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31105">
                <a:tc gridSpan="2">
                  <a:txBody>
                    <a:bodyPr/>
                    <a:lstStyle/>
                    <a:p>
                      <a:pPr algn="r"/>
                      <a:r>
                        <a:rPr lang="fr-FR" sz="1600" b="0" dirty="0">
                          <a:solidFill>
                            <a:schemeClr val="tx1"/>
                          </a:solidFill>
                          <a:latin typeface="Calibri" panose="020F0502020204030204" pitchFamily="34" charset="0"/>
                          <a:cs typeface="Arial" pitchFamily="34" charset="0"/>
                        </a:rPr>
                        <a:t>Facteur</a:t>
                      </a:r>
                      <a:r>
                        <a:rPr lang="fr-FR" sz="1600" b="0" baseline="0" dirty="0">
                          <a:solidFill>
                            <a:schemeClr val="tx1"/>
                          </a:solidFill>
                          <a:latin typeface="Calibri" panose="020F0502020204030204" pitchFamily="34" charset="0"/>
                          <a:cs typeface="Arial" pitchFamily="34" charset="0"/>
                        </a:rPr>
                        <a:t> de correction</a:t>
                      </a:r>
                      <a:endParaRPr lang="fr-FR" sz="1600" b="0" dirty="0">
                        <a:solidFill>
                          <a:schemeClr val="tx1"/>
                        </a:solidFill>
                        <a:latin typeface="Calibri" panose="020F0502020204030204" pitchFamily="34" charset="0"/>
                        <a:cs typeface="Arial" pitchFamily="34" charset="0"/>
                      </a:endParaRPr>
                    </a:p>
                  </a:txBody>
                  <a:tcPr marL="72000" marR="72000" marT="36001" marB="3600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fr-FR" sz="1600" b="0" dirty="0">
                        <a:solidFill>
                          <a:schemeClr val="tx1"/>
                        </a:solidFill>
                        <a:latin typeface="Arial" pitchFamily="34" charset="0"/>
                        <a:cs typeface="Arial"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kern="1200" baseline="0" dirty="0">
                        <a:solidFill>
                          <a:srgbClr val="FF0000"/>
                        </a:solidFill>
                        <a:latin typeface="Calibri" panose="020F0502020204030204" pitchFamily="34" charset="0"/>
                        <a:ea typeface="+mn-ea"/>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31105">
                <a:tc gridSpan="2">
                  <a:txBody>
                    <a:bodyPr/>
                    <a:lstStyle/>
                    <a:p>
                      <a:pPr algn="r"/>
                      <a:r>
                        <a:rPr lang="fr-FR" sz="1600" b="0" dirty="0">
                          <a:solidFill>
                            <a:schemeClr val="tx1"/>
                          </a:solidFill>
                          <a:latin typeface="Calibri" panose="020F0502020204030204" pitchFamily="34" charset="0"/>
                          <a:cs typeface="Arial" pitchFamily="34" charset="0"/>
                        </a:rPr>
                        <a:t>Stock mesuré</a:t>
                      </a:r>
                    </a:p>
                  </a:txBody>
                  <a:tcPr marL="72000" marR="72000" marT="36001" marB="3600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fr-FR" sz="1600" b="0" dirty="0">
                        <a:solidFill>
                          <a:schemeClr val="tx1"/>
                        </a:solidFill>
                        <a:latin typeface="Arial" pitchFamily="34" charset="0"/>
                        <a:cs typeface="Arial"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kern="1200" baseline="0" dirty="0">
                        <a:solidFill>
                          <a:srgbClr val="FF0000"/>
                        </a:solidFill>
                        <a:latin typeface="Calibri" panose="020F0502020204030204" pitchFamily="34" charset="0"/>
                        <a:ea typeface="+mn-ea"/>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31105">
                <a:tc gridSpan="2">
                  <a:txBody>
                    <a:bodyPr/>
                    <a:lstStyle/>
                    <a:p>
                      <a:pPr algn="r"/>
                      <a:r>
                        <a:rPr lang="fr-FR" sz="1600" b="0" dirty="0">
                          <a:solidFill>
                            <a:schemeClr val="tx1"/>
                          </a:solidFill>
                          <a:latin typeface="Calibri" panose="020F0502020204030204" pitchFamily="34" charset="0"/>
                          <a:cs typeface="Arial" pitchFamily="34" charset="0"/>
                        </a:rPr>
                        <a:t>Stock corrigé</a:t>
                      </a:r>
                    </a:p>
                  </a:txBody>
                  <a:tcPr marL="72000" marR="72000" marT="36001" marB="36001"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fr-FR" sz="1600" b="0" dirty="0">
                        <a:solidFill>
                          <a:schemeClr val="tx1"/>
                        </a:solidFill>
                        <a:latin typeface="Arial" pitchFamily="34" charset="0"/>
                        <a:cs typeface="Arial"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fr-FR" sz="1600" b="0" kern="1200" baseline="0" dirty="0">
                        <a:solidFill>
                          <a:srgbClr val="FF0000"/>
                        </a:solidFill>
                        <a:latin typeface="Calibri" panose="020F0502020204030204" pitchFamily="34" charset="0"/>
                        <a:ea typeface="+mn-ea"/>
                        <a:cs typeface="Arial" pitchFamily="34" charset="0"/>
                      </a:endParaRPr>
                    </a:p>
                  </a:txBody>
                  <a:tcPr marL="72000" marR="72000" marT="36001" marB="360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248883" name="ZoneTexte 71"/>
          <p:cNvSpPr txBox="1">
            <a:spLocks noChangeArrowheads="1"/>
          </p:cNvSpPr>
          <p:nvPr/>
        </p:nvSpPr>
        <p:spPr bwMode="auto">
          <a:xfrm>
            <a:off x="5375275" y="2590800"/>
            <a:ext cx="3395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600" dirty="0">
                <a:latin typeface="Calibri" panose="020F0502020204030204" pitchFamily="34" charset="0"/>
                <a:cs typeface="Arial" panose="020B0604020202020204" pitchFamily="34" charset="0"/>
              </a:rPr>
              <a:t> Production / temps d’ouverture</a:t>
            </a:r>
          </a:p>
        </p:txBody>
      </p:sp>
      <p:cxnSp>
        <p:nvCxnSpPr>
          <p:cNvPr id="248884" name="Connecteur droit avec flèche 72"/>
          <p:cNvCxnSpPr>
            <a:cxnSpLocks noChangeShapeType="1"/>
          </p:cNvCxnSpPr>
          <p:nvPr/>
        </p:nvCxnSpPr>
        <p:spPr bwMode="auto">
          <a:xfrm flipV="1">
            <a:off x="5008563" y="2711450"/>
            <a:ext cx="274637" cy="31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48885" name="ZoneTexte 73"/>
          <p:cNvSpPr txBox="1">
            <a:spLocks noChangeArrowheads="1"/>
          </p:cNvSpPr>
          <p:nvPr/>
        </p:nvSpPr>
        <p:spPr bwMode="auto">
          <a:xfrm>
            <a:off x="5368925" y="3006725"/>
            <a:ext cx="3132138" cy="595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lnSpc>
                <a:spcPts val="2000"/>
              </a:lnSpc>
              <a:spcBef>
                <a:spcPct val="0"/>
              </a:spcBef>
              <a:buFontTx/>
              <a:buNone/>
            </a:pPr>
            <a:r>
              <a:rPr lang="fr-FR" altLang="fr-FR" sz="1600" dirty="0">
                <a:latin typeface="Calibri" panose="020F0502020204030204" pitchFamily="34" charset="0"/>
                <a:cs typeface="Arial" panose="020B0604020202020204" pitchFamily="34" charset="0"/>
              </a:rPr>
              <a:t>Production / minute Simulation 2 Production / minute Simulation 1</a:t>
            </a:r>
          </a:p>
        </p:txBody>
      </p:sp>
      <p:cxnSp>
        <p:nvCxnSpPr>
          <p:cNvPr id="248886" name="Connecteur droit avec flèche 74"/>
          <p:cNvCxnSpPr>
            <a:cxnSpLocks noChangeShapeType="1"/>
          </p:cNvCxnSpPr>
          <p:nvPr/>
        </p:nvCxnSpPr>
        <p:spPr bwMode="auto">
          <a:xfrm flipV="1">
            <a:off x="4995863" y="3294063"/>
            <a:ext cx="274637"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8887" name="Connecteur droit avec flèche 75"/>
          <p:cNvCxnSpPr>
            <a:cxnSpLocks noChangeShapeType="1"/>
          </p:cNvCxnSpPr>
          <p:nvPr/>
        </p:nvCxnSpPr>
        <p:spPr bwMode="auto">
          <a:xfrm flipV="1">
            <a:off x="5008563" y="4354513"/>
            <a:ext cx="274637"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8888" name="Connecteur droit 76"/>
          <p:cNvCxnSpPr>
            <a:cxnSpLocks noChangeShapeType="1"/>
            <a:stCxn id="248885" idx="1"/>
            <a:endCxn id="248885" idx="3"/>
          </p:cNvCxnSpPr>
          <p:nvPr/>
        </p:nvCxnSpPr>
        <p:spPr bwMode="auto">
          <a:xfrm>
            <a:off x="5368925" y="3304371"/>
            <a:ext cx="313213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48889" name="ZoneTexte 77"/>
          <p:cNvSpPr txBox="1">
            <a:spLocks noChangeArrowheads="1"/>
          </p:cNvSpPr>
          <p:nvPr/>
        </p:nvSpPr>
        <p:spPr bwMode="auto">
          <a:xfrm>
            <a:off x="5394325" y="4057650"/>
            <a:ext cx="21145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2000"/>
              </a:lnSpc>
              <a:spcBef>
                <a:spcPct val="0"/>
              </a:spcBef>
              <a:buFontTx/>
              <a:buNone/>
            </a:pPr>
            <a:r>
              <a:rPr lang="fr-FR" altLang="fr-FR" sz="1600" dirty="0">
                <a:latin typeface="Calibri" panose="020F0502020204030204" pitchFamily="34" charset="0"/>
                <a:cs typeface="Arial" panose="020B0604020202020204" pitchFamily="34" charset="0"/>
              </a:rPr>
              <a:t>Stock mesuré</a:t>
            </a:r>
            <a:br>
              <a:rPr lang="fr-FR" altLang="fr-FR" sz="1600" dirty="0">
                <a:latin typeface="Calibri" panose="020F0502020204030204" pitchFamily="34" charset="0"/>
                <a:cs typeface="Arial" panose="020B0604020202020204" pitchFamily="34" charset="0"/>
              </a:rPr>
            </a:br>
            <a:r>
              <a:rPr lang="fr-FR" altLang="fr-FR" sz="1600" dirty="0">
                <a:latin typeface="Calibri" panose="020F0502020204030204" pitchFamily="34" charset="0"/>
                <a:cs typeface="Arial" panose="020B0604020202020204" pitchFamily="34" charset="0"/>
              </a:rPr>
              <a:t>Facteur de correction</a:t>
            </a:r>
          </a:p>
        </p:txBody>
      </p:sp>
      <p:cxnSp>
        <p:nvCxnSpPr>
          <p:cNvPr id="248890" name="Connecteur droit 78"/>
          <p:cNvCxnSpPr>
            <a:cxnSpLocks noChangeShapeType="1"/>
            <a:stCxn id="248889" idx="1"/>
            <a:endCxn id="248889" idx="3"/>
          </p:cNvCxnSpPr>
          <p:nvPr/>
        </p:nvCxnSpPr>
        <p:spPr bwMode="auto">
          <a:xfrm rot="10800000" flipH="1">
            <a:off x="5394325" y="4359275"/>
            <a:ext cx="21145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pic>
        <p:nvPicPr>
          <p:cNvPr id="31"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7" grpId="0"/>
      <p:bldP spid="38" grpId="0"/>
      <p:bldP spid="39" grpId="0"/>
      <p:bldP spid="40" grpId="0"/>
      <p:bldP spid="41" grpId="0"/>
      <p:bldP spid="43" grpId="0"/>
      <p:bldP spid="44" grpId="0"/>
      <p:bldP spid="54" grpId="0"/>
    </p:bld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Titre 1"/>
          <p:cNvSpPr>
            <a:spLocks noGrp="1"/>
          </p:cNvSpPr>
          <p:nvPr>
            <p:ph type="title"/>
          </p:nvPr>
        </p:nvSpPr>
        <p:spPr/>
        <p:txBody>
          <a:bodyPr/>
          <a:lstStyle/>
          <a:p>
            <a:r>
              <a:rPr lang="fr-FR" altLang="fr-FR"/>
              <a:t>Le calcul du takt time</a:t>
            </a:r>
          </a:p>
        </p:txBody>
      </p:sp>
      <p:sp>
        <p:nvSpPr>
          <p:cNvPr id="250883" name="Espace réservé du contenu 2"/>
          <p:cNvSpPr>
            <a:spLocks noGrp="1"/>
          </p:cNvSpPr>
          <p:nvPr>
            <p:ph idx="1"/>
          </p:nvPr>
        </p:nvSpPr>
        <p:spPr>
          <a:xfrm>
            <a:off x="91440" y="515938"/>
            <a:ext cx="8627505" cy="1325562"/>
          </a:xfrm>
        </p:spPr>
        <p:txBody>
          <a:bodyPr/>
          <a:lstStyle/>
          <a:p>
            <a:pPr marL="0" indent="17463">
              <a:buFontTx/>
              <a:buNone/>
            </a:pPr>
            <a:r>
              <a:rPr lang="fr-FR" altLang="fr-FR" sz="1500" dirty="0"/>
              <a:t>Pour ne pas alourdir la simulation, nous ne proposons pas aux participants de faire un calcul du </a:t>
            </a:r>
            <a:r>
              <a:rPr lang="fr-FR" altLang="fr-FR" sz="1500" dirty="0" err="1"/>
              <a:t>takt</a:t>
            </a:r>
            <a:r>
              <a:rPr lang="fr-FR" altLang="fr-FR" sz="1500" dirty="0"/>
              <a:t> time et de le comparer au cycle. Si l’animateur souhaite cependant le calculer, il peut le faire en annonçant une demande sensiblement supérieure à celle annoncée en simulation 1. En effet, si l’on conservait la même demande, on aboutirait à un cycle (qui s’est amélioré grâce aux gains de productivité) nettement inférieur au </a:t>
            </a:r>
            <a:r>
              <a:rPr lang="fr-FR" altLang="fr-FR" sz="1500" dirty="0" err="1"/>
              <a:t>takt</a:t>
            </a:r>
            <a:r>
              <a:rPr lang="fr-FR" altLang="fr-FR" sz="1500" dirty="0"/>
              <a:t> time et l’on serait en surproduction.</a:t>
            </a:r>
          </a:p>
        </p:txBody>
      </p:sp>
      <p:sp>
        <p:nvSpPr>
          <p:cNvPr id="25088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50885"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E7B551C-1714-4C11-A27F-EE9A1B1A2D23}" type="slidenum">
              <a:rPr lang="fr-FR" altLang="fr-FR" smtClean="0">
                <a:latin typeface="Calibri" panose="020F0502020204030204" pitchFamily="34" charset="0"/>
              </a:rPr>
              <a:pPr>
                <a:spcBef>
                  <a:spcPct val="0"/>
                </a:spcBef>
                <a:buFontTx/>
                <a:buNone/>
              </a:pPr>
              <a:t>116</a:t>
            </a:fld>
            <a:endParaRPr lang="fr-FR" altLang="fr-FR" dirty="0">
              <a:latin typeface="Calibri" panose="020F0502020204030204" pitchFamily="34" charset="0"/>
            </a:endParaRPr>
          </a:p>
        </p:txBody>
      </p:sp>
      <p:graphicFrame>
        <p:nvGraphicFramePr>
          <p:cNvPr id="8" name="Tableau 7"/>
          <p:cNvGraphicFramePr>
            <a:graphicFrameLocks noGrp="1"/>
          </p:cNvGraphicFramePr>
          <p:nvPr>
            <p:extLst>
              <p:ext uri="{D42A27DB-BD31-4B8C-83A1-F6EECF244321}">
                <p14:modId xmlns:p14="http://schemas.microsoft.com/office/powerpoint/2010/main" val="3266441291"/>
              </p:ext>
            </p:extLst>
          </p:nvPr>
        </p:nvGraphicFramePr>
        <p:xfrm>
          <a:off x="296863" y="1970405"/>
          <a:ext cx="8720138" cy="1909763"/>
        </p:xfrm>
        <a:graphic>
          <a:graphicData uri="http://schemas.openxmlformats.org/drawingml/2006/table">
            <a:tbl>
              <a:tblPr/>
              <a:tblGrid>
                <a:gridCol w="2356657">
                  <a:extLst>
                    <a:ext uri="{9D8B030D-6E8A-4147-A177-3AD203B41FA5}">
                      <a16:colId xmlns:a16="http://schemas.microsoft.com/office/drawing/2014/main" val="20000"/>
                    </a:ext>
                  </a:extLst>
                </a:gridCol>
                <a:gridCol w="1048197">
                  <a:extLst>
                    <a:ext uri="{9D8B030D-6E8A-4147-A177-3AD203B41FA5}">
                      <a16:colId xmlns:a16="http://schemas.microsoft.com/office/drawing/2014/main" val="20001"/>
                    </a:ext>
                  </a:extLst>
                </a:gridCol>
                <a:gridCol w="1328821">
                  <a:extLst>
                    <a:ext uri="{9D8B030D-6E8A-4147-A177-3AD203B41FA5}">
                      <a16:colId xmlns:a16="http://schemas.microsoft.com/office/drawing/2014/main" val="20002"/>
                    </a:ext>
                  </a:extLst>
                </a:gridCol>
                <a:gridCol w="1328821">
                  <a:extLst>
                    <a:ext uri="{9D8B030D-6E8A-4147-A177-3AD203B41FA5}">
                      <a16:colId xmlns:a16="http://schemas.microsoft.com/office/drawing/2014/main" val="20003"/>
                    </a:ext>
                  </a:extLst>
                </a:gridCol>
                <a:gridCol w="1328821">
                  <a:extLst>
                    <a:ext uri="{9D8B030D-6E8A-4147-A177-3AD203B41FA5}">
                      <a16:colId xmlns:a16="http://schemas.microsoft.com/office/drawing/2014/main" val="20004"/>
                    </a:ext>
                  </a:extLst>
                </a:gridCol>
                <a:gridCol w="1328821">
                  <a:extLst>
                    <a:ext uri="{9D8B030D-6E8A-4147-A177-3AD203B41FA5}">
                      <a16:colId xmlns:a16="http://schemas.microsoft.com/office/drawing/2014/main" val="20005"/>
                    </a:ext>
                  </a:extLst>
                </a:gridCol>
              </a:tblGrid>
              <a:tr h="274286">
                <a:tc>
                  <a:txBody>
                    <a:bodyPr/>
                    <a:lstStyle/>
                    <a:p>
                      <a:pPr algn="ctr" fontAlgn="b"/>
                      <a:r>
                        <a:rPr lang="fr-FR" sz="1600" b="0" i="0" u="none" strike="noStrike" dirty="0">
                          <a:solidFill>
                            <a:srgbClr val="000000"/>
                          </a:solidFill>
                          <a:latin typeface="Calibri" panose="020F0502020204030204" pitchFamily="34" charset="0"/>
                        </a:rPr>
                        <a:t>Effectif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ctr" fontAlgn="b"/>
                      <a:r>
                        <a:rPr lang="fr-FR" sz="1600" b="0" i="0" u="none" strike="noStrike" dirty="0">
                          <a:solidFill>
                            <a:srgbClr val="000000"/>
                          </a:solidFill>
                          <a:latin typeface="Calibri" panose="020F0502020204030204" pitchFamily="34" charset="0"/>
                        </a:rPr>
                        <a:t>8 à 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10 à 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12 à 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15 à 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18 à 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43839">
                <a:tc>
                  <a:txBody>
                    <a:bodyPr/>
                    <a:lstStyle/>
                    <a:p>
                      <a:pPr algn="ctr" fontAlgn="b"/>
                      <a:r>
                        <a:rPr lang="fr-FR" sz="1600" b="0" i="0" u="none" strike="noStrike" dirty="0">
                          <a:solidFill>
                            <a:srgbClr val="000000"/>
                          </a:solidFill>
                          <a:latin typeface="Calibri" panose="020F0502020204030204" pitchFamily="34" charset="0"/>
                        </a:rPr>
                        <a:t>Ventes / 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5F1"/>
                    </a:solidFill>
                  </a:tcPr>
                </a:tc>
                <a:tc>
                  <a:txBody>
                    <a:bodyPr/>
                    <a:lstStyle/>
                    <a:p>
                      <a:pPr algn="ctr" fontAlgn="b"/>
                      <a:r>
                        <a:rPr lang="fr-FR" sz="1500" b="0" i="0" u="none" strike="noStrike" dirty="0">
                          <a:solidFill>
                            <a:srgbClr val="000000"/>
                          </a:solidFill>
                          <a:latin typeface="Calibri" panose="020F0502020204030204" pitchFamily="34" charset="0"/>
                        </a:rPr>
                        <a:t>800 000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500" b="0" i="0" u="none" strike="noStrike" dirty="0">
                          <a:solidFill>
                            <a:srgbClr val="000000"/>
                          </a:solidFill>
                          <a:latin typeface="Calibri" panose="020F0502020204030204" pitchFamily="34" charset="0"/>
                        </a:rPr>
                        <a:t>900 000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500" b="0" i="0" u="none" strike="noStrike" dirty="0">
                          <a:solidFill>
                            <a:srgbClr val="000000"/>
                          </a:solidFill>
                          <a:latin typeface="Calibri" panose="020F0502020204030204" pitchFamily="34" charset="0"/>
                        </a:rPr>
                        <a:t>1 200 000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500" b="0" i="0" u="none" strike="noStrike" dirty="0">
                          <a:solidFill>
                            <a:srgbClr val="000000"/>
                          </a:solidFill>
                          <a:latin typeface="Calibri" panose="020F0502020204030204" pitchFamily="34" charset="0"/>
                        </a:rPr>
                        <a:t>1 500 000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500" b="0" i="0" u="none" strike="noStrike" dirty="0">
                          <a:solidFill>
                            <a:srgbClr val="000000"/>
                          </a:solidFill>
                          <a:latin typeface="Calibri" panose="020F0502020204030204" pitchFamily="34" charset="0"/>
                        </a:rPr>
                        <a:t>1 800 000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3839">
                <a:tc>
                  <a:txBody>
                    <a:bodyPr/>
                    <a:lstStyle/>
                    <a:p>
                      <a:pPr algn="ctr" fontAlgn="b"/>
                      <a:r>
                        <a:rPr lang="fr-FR" sz="1600" b="0" i="0" u="none" strike="noStrike" dirty="0">
                          <a:solidFill>
                            <a:srgbClr val="000000"/>
                          </a:solidFill>
                          <a:latin typeface="Calibri" panose="020F0502020204030204" pitchFamily="34" charset="0"/>
                        </a:rPr>
                        <a:t>Takt time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600" b="0" i="0" u="none" strike="noStrike" dirty="0">
                          <a:solidFill>
                            <a:srgbClr val="000000"/>
                          </a:solidFill>
                          <a:latin typeface="Calibri" panose="020F0502020204030204" pitchFamily="34" charset="0"/>
                        </a:rPr>
                        <a:t>9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600" b="0" i="0" u="none" strike="noStrike" dirty="0">
                          <a:solidFill>
                            <a:srgbClr val="000000"/>
                          </a:solidFill>
                          <a:latin typeface="Calibri" panose="020F0502020204030204" pitchFamily="34" charset="0"/>
                        </a:rPr>
                        <a:t>8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600" b="0" i="0" u="none" strike="noStrike" dirty="0">
                          <a:solidFill>
                            <a:srgbClr val="000000"/>
                          </a:solidFill>
                          <a:latin typeface="Calibri" panose="020F0502020204030204" pitchFamily="34" charset="0"/>
                        </a:rPr>
                        <a:t>6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600" b="0" i="0" u="none" strike="noStrike" dirty="0">
                          <a:solidFill>
                            <a:srgbClr val="000000"/>
                          </a:solidFill>
                          <a:latin typeface="Calibri" panose="020F0502020204030204" pitchFamily="34" charset="0"/>
                        </a:rPr>
                        <a:t>5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fr-FR" sz="1600" b="0" i="0" u="none" strike="noStrike" dirty="0">
                          <a:solidFill>
                            <a:srgbClr val="000000"/>
                          </a:solidFill>
                          <a:latin typeface="Calibri" panose="020F0502020204030204" pitchFamily="34" charset="0"/>
                        </a:rPr>
                        <a:t>4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382599">
                <a:tc>
                  <a:txBody>
                    <a:bodyPr/>
                    <a:lstStyle/>
                    <a:p>
                      <a:pPr algn="ctr" fontAlgn="b"/>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600" b="0" i="0" u="none" strike="noStrike" dirty="0">
                          <a:solidFill>
                            <a:srgbClr val="000000"/>
                          </a:solidFill>
                          <a:latin typeface="Calibri" panose="020F0502020204030204" pitchFamily="34" charset="0"/>
                        </a:rPr>
                        <a:t>18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16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12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15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12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2599">
                <a:tc>
                  <a:txBody>
                    <a:bodyPr/>
                    <a:lstStyle/>
                    <a:p>
                      <a:pPr algn="ctr" fontAlgn="b"/>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600" b="0" i="0" u="none" strike="noStrike" dirty="0">
                          <a:solidFill>
                            <a:srgbClr val="000000"/>
                          </a:solidFill>
                          <a:latin typeface="Calibri" panose="020F0502020204030204" pitchFamily="34" charset="0"/>
                        </a:rPr>
                        <a:t>18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16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12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15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12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2599">
                <a:tc>
                  <a:txBody>
                    <a:bodyPr/>
                    <a:lstStyle/>
                    <a:p>
                      <a:pPr algn="ctr" fontAlgn="b"/>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fr-FR" sz="1600" b="0" i="0" u="none" strike="noStrike" dirty="0">
                          <a:solidFill>
                            <a:srgbClr val="000000"/>
                          </a:solidFill>
                          <a:latin typeface="Calibri" panose="020F0502020204030204" pitchFamily="34" charset="0"/>
                        </a:rPr>
                        <a:t>15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FR" sz="1600" b="0" i="0" u="none" strike="noStrike" dirty="0">
                          <a:solidFill>
                            <a:srgbClr val="000000"/>
                          </a:solidFill>
                          <a:latin typeface="Calibri" panose="020F0502020204030204" pitchFamily="34" charset="0"/>
                        </a:rPr>
                        <a:t>12</a:t>
                      </a:r>
                      <a:r>
                        <a:rPr lang="fr-FR" sz="1600" b="0" i="0" u="none" strike="noStrike" baseline="0" dirty="0">
                          <a:solidFill>
                            <a:srgbClr val="000000"/>
                          </a:solidFill>
                          <a:latin typeface="Calibri" panose="020F0502020204030204" pitchFamily="34" charset="0"/>
                        </a:rPr>
                        <a:t> s.</a:t>
                      </a:r>
                      <a:endParaRPr lang="fr-FR" sz="1600" b="0" i="0" u="none" strike="noStrike" dirty="0">
                        <a:solidFill>
                          <a:srgbClr val="000000"/>
                        </a:solidFill>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250938" name="Groupe 18"/>
          <p:cNvGrpSpPr>
            <a:grpSpLocks/>
          </p:cNvGrpSpPr>
          <p:nvPr/>
        </p:nvGrpSpPr>
        <p:grpSpPr bwMode="auto">
          <a:xfrm>
            <a:off x="700088" y="2808605"/>
            <a:ext cx="1655762" cy="252413"/>
            <a:chOff x="3267058" y="3212740"/>
            <a:chExt cx="2703339" cy="459653"/>
          </a:xfrm>
        </p:grpSpPr>
        <p:sp>
          <p:nvSpPr>
            <p:cNvPr id="13" name="Ellipse 12"/>
            <p:cNvSpPr/>
            <p:nvPr/>
          </p:nvSpPr>
          <p:spPr bwMode="auto">
            <a:xfrm>
              <a:off x="3267058" y="3354395"/>
              <a:ext cx="658340" cy="211034"/>
            </a:xfrm>
            <a:prstGeom prst="ellipse">
              <a:avLst/>
            </a:prstGeom>
            <a:solidFill>
              <a:srgbClr val="33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4" name="Croix 13"/>
            <p:cNvSpPr/>
            <p:nvPr/>
          </p:nvSpPr>
          <p:spPr bwMode="auto">
            <a:xfrm>
              <a:off x="4124972" y="3287903"/>
              <a:ext cx="453581" cy="384490"/>
            </a:xfrm>
            <a:prstGeom prst="plus">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5" name="Étoile à 5 branches 14"/>
            <p:cNvSpPr/>
            <p:nvPr/>
          </p:nvSpPr>
          <p:spPr bwMode="auto">
            <a:xfrm>
              <a:off x="4762577" y="3212740"/>
              <a:ext cx="562441" cy="456761"/>
            </a:xfrm>
            <a:prstGeom prst="star5">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6" name="Triangle isocèle 15"/>
            <p:cNvSpPr/>
            <p:nvPr/>
          </p:nvSpPr>
          <p:spPr bwMode="auto">
            <a:xfrm>
              <a:off x="5490898" y="3264776"/>
              <a:ext cx="479499" cy="312217"/>
            </a:xfrm>
            <a:prstGeom prst="triangle">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grpSp>
        <p:nvGrpSpPr>
          <p:cNvPr id="250939" name="Groupe 19"/>
          <p:cNvGrpSpPr>
            <a:grpSpLocks/>
          </p:cNvGrpSpPr>
          <p:nvPr/>
        </p:nvGrpSpPr>
        <p:grpSpPr bwMode="auto">
          <a:xfrm>
            <a:off x="700088" y="3184843"/>
            <a:ext cx="1655762" cy="252412"/>
            <a:chOff x="3355156" y="3805168"/>
            <a:chExt cx="2628119" cy="457662"/>
          </a:xfrm>
        </p:grpSpPr>
        <p:sp>
          <p:nvSpPr>
            <p:cNvPr id="11" name="Rectangle 10"/>
            <p:cNvSpPr/>
            <p:nvPr/>
          </p:nvSpPr>
          <p:spPr bwMode="auto">
            <a:xfrm>
              <a:off x="3355156" y="3983628"/>
              <a:ext cx="556868" cy="189973"/>
            </a:xfrm>
            <a:prstGeom prst="rect">
              <a:avLst/>
            </a:prstGeom>
            <a:solidFill>
              <a:srgbClr val="FFFF5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2" name="AutoShape 34"/>
            <p:cNvSpPr>
              <a:spLocks noChangeArrowheads="1"/>
            </p:cNvSpPr>
            <p:nvPr/>
          </p:nvSpPr>
          <p:spPr bwMode="auto">
            <a:xfrm>
              <a:off x="4796464" y="3905911"/>
              <a:ext cx="503954" cy="319501"/>
            </a:xfrm>
            <a:prstGeom prst="wave">
              <a:avLst>
                <a:gd name="adj1" fmla="val 20644"/>
                <a:gd name="adj2" fmla="val 7681"/>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7" name="Étoile à 5 branches 16"/>
            <p:cNvSpPr/>
            <p:nvPr/>
          </p:nvSpPr>
          <p:spPr bwMode="auto">
            <a:xfrm>
              <a:off x="4068250" y="3805168"/>
              <a:ext cx="561909" cy="457662"/>
            </a:xfrm>
            <a:prstGeom prst="star5">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18" name="Triangle isocèle 17"/>
            <p:cNvSpPr/>
            <p:nvPr/>
          </p:nvSpPr>
          <p:spPr bwMode="auto">
            <a:xfrm>
              <a:off x="5504519" y="3842586"/>
              <a:ext cx="478756" cy="313745"/>
            </a:xfrm>
            <a:prstGeom prst="triangle">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grpSp>
        <p:nvGrpSpPr>
          <p:cNvPr id="250940" name="Groupe 20"/>
          <p:cNvGrpSpPr>
            <a:grpSpLocks/>
          </p:cNvGrpSpPr>
          <p:nvPr/>
        </p:nvGrpSpPr>
        <p:grpSpPr bwMode="auto">
          <a:xfrm>
            <a:off x="692150" y="3570605"/>
            <a:ext cx="1655763" cy="252413"/>
            <a:chOff x="3267058" y="3212740"/>
            <a:chExt cx="2703339" cy="459653"/>
          </a:xfrm>
        </p:grpSpPr>
        <p:sp>
          <p:nvSpPr>
            <p:cNvPr id="22" name="Ellipse 21"/>
            <p:cNvSpPr/>
            <p:nvPr/>
          </p:nvSpPr>
          <p:spPr bwMode="auto">
            <a:xfrm>
              <a:off x="3267058" y="3354395"/>
              <a:ext cx="658339" cy="211034"/>
            </a:xfrm>
            <a:prstGeom prst="ellipse">
              <a:avLst/>
            </a:prstGeom>
            <a:solidFill>
              <a:srgbClr val="33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3" name="Croix 22"/>
            <p:cNvSpPr/>
            <p:nvPr/>
          </p:nvSpPr>
          <p:spPr bwMode="auto">
            <a:xfrm>
              <a:off x="4124973" y="3287903"/>
              <a:ext cx="453579" cy="384490"/>
            </a:xfrm>
            <a:prstGeom prst="plus">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4" name="Étoile à 5 branches 23"/>
            <p:cNvSpPr/>
            <p:nvPr/>
          </p:nvSpPr>
          <p:spPr bwMode="auto">
            <a:xfrm>
              <a:off x="4762578" y="3212740"/>
              <a:ext cx="562439" cy="456761"/>
            </a:xfrm>
            <a:prstGeom prst="star5">
              <a:avLst/>
            </a:prstGeom>
            <a:solidFill>
              <a:srgbClr val="EAB6A8"/>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sp>
          <p:nvSpPr>
            <p:cNvPr id="25" name="Triangle isocèle 24"/>
            <p:cNvSpPr/>
            <p:nvPr/>
          </p:nvSpPr>
          <p:spPr bwMode="auto">
            <a:xfrm>
              <a:off x="5490897" y="3264776"/>
              <a:ext cx="479500" cy="312217"/>
            </a:xfrm>
            <a:prstGeom prst="triangle">
              <a:avLst/>
            </a:prstGeom>
            <a:solidFill>
              <a:srgbClr val="B5FDC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dirty="0">
                <a:latin typeface="Calibri" panose="020F0502020204030204" pitchFamily="34" charset="0"/>
              </a:endParaRPr>
            </a:p>
          </p:txBody>
        </p:sp>
      </p:grpSp>
      <p:sp>
        <p:nvSpPr>
          <p:cNvPr id="27" name="Espace réservé du contenu 2"/>
          <p:cNvSpPr txBox="1">
            <a:spLocks/>
          </p:cNvSpPr>
          <p:nvPr/>
        </p:nvSpPr>
        <p:spPr bwMode="auto">
          <a:xfrm>
            <a:off x="166688" y="4034155"/>
            <a:ext cx="9259887" cy="2601913"/>
          </a:xfrm>
          <a:prstGeom prst="rect">
            <a:avLst/>
          </a:prstGeom>
          <a:noFill/>
          <a:ln w="9525">
            <a:noFill/>
            <a:miter lim="800000"/>
            <a:headEnd/>
            <a:tailEnd/>
          </a:ln>
        </p:spPr>
        <p:txBody>
          <a:bodyPr lIns="72000"/>
          <a:lstStyle/>
          <a:p>
            <a:pPr indent="17463">
              <a:spcBef>
                <a:spcPct val="20000"/>
              </a:spcBef>
              <a:defRPr/>
            </a:pPr>
            <a:r>
              <a:rPr lang="fr-FR" sz="1500" kern="0" dirty="0">
                <a:latin typeface="Calibri" panose="020F0502020204030204" pitchFamily="34" charset="0"/>
              </a:rPr>
              <a:t>Ce tableau présente sur la ligne Takt time la valeur résultant de la demande globale, et pour chaque Atelier Produit la valeur qui résulte de la répartition de la demande entre les 2 (ou 3) ateliers. </a:t>
            </a:r>
          </a:p>
          <a:p>
            <a:pPr indent="17463">
              <a:spcBef>
                <a:spcPct val="20000"/>
              </a:spcBef>
              <a:defRPr/>
            </a:pPr>
            <a:r>
              <a:rPr lang="fr-FR" sz="1500" kern="0" dirty="0">
                <a:latin typeface="Calibri" panose="020F0502020204030204" pitchFamily="34" charset="0"/>
              </a:rPr>
              <a:t>En ce qui concerne le cycle il faut souligner qu’il est désormais une caractéristique de la Ligne et non de chaque poste. En effet, le rythme est le même pour tous les postes puisqu’on n’autorise pas la constitution d’en-cours.</a:t>
            </a:r>
          </a:p>
          <a:p>
            <a:pPr indent="17463">
              <a:spcBef>
                <a:spcPct val="20000"/>
              </a:spcBef>
              <a:defRPr/>
            </a:pPr>
            <a:r>
              <a:rPr lang="fr-FR" sz="1500" kern="0" dirty="0">
                <a:latin typeface="Calibri" panose="020F0502020204030204" pitchFamily="34" charset="0"/>
              </a:rPr>
              <a:t>Le cycle peut être évalué soit avant la production, en chronométrant le temps qui sépare deux coloriages (on trouve un temps légèrement supérieur au temps gamme, soit 12 à 18 secondes selon les formes), soit après la production, en divisant pour chaque atelier le temps passé par la quantité produite (20).</a:t>
            </a:r>
          </a:p>
          <a:p>
            <a:pPr indent="17463">
              <a:spcBef>
                <a:spcPct val="20000"/>
              </a:spcBef>
              <a:defRPr/>
            </a:pPr>
            <a:r>
              <a:rPr lang="fr-FR" sz="1500" kern="0" dirty="0">
                <a:latin typeface="Calibri" panose="020F0502020204030204" pitchFamily="34" charset="0"/>
              </a:rPr>
              <a:t>Si le cycle diffère fortement du takt time, l’animateur pourra évoquer avec les participants les dispositions qui peuvent être prises (actions sur la demande, actions sur  la capacité).</a:t>
            </a:r>
          </a:p>
        </p:txBody>
      </p:sp>
      <p:pic>
        <p:nvPicPr>
          <p:cNvPr id="26"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252930"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52931"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333ED985-4A2C-4EF0-A869-32BDCA0A92B3}" type="slidenum">
              <a:rPr lang="fr-FR" altLang="fr-FR" smtClean="0">
                <a:latin typeface="Calibri" panose="020F0502020204030204" pitchFamily="34" charset="0"/>
              </a:rPr>
              <a:pPr>
                <a:spcBef>
                  <a:spcPct val="0"/>
                </a:spcBef>
                <a:buFontTx/>
                <a:buNone/>
              </a:pPr>
              <a:t>117</a:t>
            </a:fld>
            <a:endParaRPr lang="fr-FR" altLang="fr-FR" dirty="0">
              <a:latin typeface="Calibri" panose="020F0502020204030204" pitchFamily="34" charset="0"/>
            </a:endParaRPr>
          </a:p>
        </p:txBody>
      </p:sp>
      <p:sp>
        <p:nvSpPr>
          <p:cNvPr id="6" name="Rectangle 5"/>
          <p:cNvSpPr/>
          <p:nvPr/>
        </p:nvSpPr>
        <p:spPr>
          <a:xfrm>
            <a:off x="372034" y="1980704"/>
            <a:ext cx="8924366" cy="1200329"/>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Synthèse </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4978" name="Titre 1"/>
          <p:cNvSpPr>
            <a:spLocks noGrp="1"/>
          </p:cNvSpPr>
          <p:nvPr>
            <p:ph type="title"/>
          </p:nvPr>
        </p:nvSpPr>
        <p:spPr/>
        <p:txBody>
          <a:bodyPr/>
          <a:lstStyle/>
          <a:p>
            <a:r>
              <a:rPr lang="fr-FR" altLang="fr-FR"/>
              <a:t>Synthèse</a:t>
            </a:r>
          </a:p>
        </p:txBody>
      </p:sp>
      <p:sp>
        <p:nvSpPr>
          <p:cNvPr id="3" name="Espace réservé du contenu 2"/>
          <p:cNvSpPr>
            <a:spLocks noGrp="1"/>
          </p:cNvSpPr>
          <p:nvPr>
            <p:ph idx="1"/>
          </p:nvPr>
        </p:nvSpPr>
        <p:spPr>
          <a:xfrm>
            <a:off x="476250" y="927100"/>
            <a:ext cx="8539163" cy="5324475"/>
          </a:xfrm>
        </p:spPr>
        <p:txBody>
          <a:bodyPr/>
          <a:lstStyle/>
          <a:p>
            <a:pPr marL="0" indent="17463">
              <a:lnSpc>
                <a:spcPts val="2600"/>
              </a:lnSpc>
              <a:buFontTx/>
              <a:buNone/>
              <a:defRPr/>
            </a:pPr>
            <a:r>
              <a:rPr lang="fr-FR" dirty="0"/>
              <a:t>Nous proposons à l’animateur de conclure la simulation en demandant aux participants ce qui les a frappés pendant la séance de simulation.</a:t>
            </a:r>
          </a:p>
          <a:p>
            <a:pPr marL="0" indent="17463">
              <a:lnSpc>
                <a:spcPts val="2600"/>
              </a:lnSpc>
              <a:buFontTx/>
              <a:buNone/>
              <a:defRPr/>
            </a:pPr>
            <a:r>
              <a:rPr lang="fr-FR" dirty="0"/>
              <a:t>Après avoir écouté les uns et les autres, l’animateur peut résumer les points-clé d’une démarche Lean :</a:t>
            </a:r>
          </a:p>
          <a:p>
            <a:pPr>
              <a:lnSpc>
                <a:spcPts val="2600"/>
              </a:lnSpc>
              <a:defRPr/>
            </a:pPr>
            <a:r>
              <a:rPr lang="fr-FR" dirty="0"/>
              <a:t>C’est une méthode globale pour améliorer les performances</a:t>
            </a:r>
          </a:p>
          <a:p>
            <a:pPr>
              <a:lnSpc>
                <a:spcPts val="2600"/>
              </a:lnSpc>
              <a:defRPr/>
            </a:pPr>
            <a:r>
              <a:rPr lang="fr-FR" dirty="0"/>
              <a:t>Elle repose sur l’analyse des processus et des flux.</a:t>
            </a:r>
          </a:p>
          <a:p>
            <a:pPr>
              <a:lnSpc>
                <a:spcPts val="2600"/>
              </a:lnSpc>
              <a:defRPr/>
            </a:pPr>
            <a:r>
              <a:rPr lang="fr-FR" dirty="0"/>
              <a:t>Elle vise à éliminer ou réduire toutes les opérations sans valeur ajoutée pour le produit ou le service (donc pour le client).</a:t>
            </a:r>
          </a:p>
          <a:p>
            <a:pPr>
              <a:lnSpc>
                <a:spcPts val="2600"/>
              </a:lnSpc>
              <a:defRPr/>
            </a:pPr>
            <a:r>
              <a:rPr lang="fr-FR" dirty="0"/>
              <a:t>Elle nécessite d’équilibrer les flux pour éviter toute accumulation ou rupture.</a:t>
            </a:r>
          </a:p>
          <a:p>
            <a:pPr>
              <a:lnSpc>
                <a:spcPts val="2600"/>
              </a:lnSpc>
              <a:defRPr/>
            </a:pPr>
            <a:r>
              <a:rPr lang="fr-FR" dirty="0"/>
              <a:t>Elle implique une coopération étroite des différents services de l’entreprise, et une forte implication du personnel sur le terrain.</a:t>
            </a:r>
          </a:p>
        </p:txBody>
      </p:sp>
      <p:sp>
        <p:nvSpPr>
          <p:cNvPr id="254980"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54981"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1878C412-7D64-486E-9B34-BE917BA1729A}" type="slidenum">
              <a:rPr lang="fr-FR" altLang="fr-FR" smtClean="0">
                <a:latin typeface="Calibri" panose="020F0502020204030204" pitchFamily="34" charset="0"/>
              </a:rPr>
              <a:pPr>
                <a:spcBef>
                  <a:spcPct val="0"/>
                </a:spcBef>
                <a:buFontTx/>
                <a:buNone/>
              </a:pPr>
              <a:t>118</a:t>
            </a:fld>
            <a:endParaRPr lang="fr-FR" altLang="fr-FR" dirty="0">
              <a:latin typeface="Calibri" panose="020F0502020204030204" pitchFamily="34" charset="0"/>
            </a:endParaRPr>
          </a:p>
        </p:txBody>
      </p:sp>
      <p:pic>
        <p:nvPicPr>
          <p:cNvPr id="8" name="Picture 2" descr="C:\Users\BertrandS\Dropbox\Jeux\00. CONCEPTION DES JEUX\photos\Bureau Une Femme 29\iStock_000002139332_Medium ALLEGE.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26675"/>
          <a:stretch/>
        </p:blipFill>
        <p:spPr bwMode="auto">
          <a:xfrm>
            <a:off x="8718945" y="79706"/>
            <a:ext cx="815481" cy="947302"/>
          </a:xfrm>
          <a:prstGeom prst="rect">
            <a:avLst/>
          </a:prstGeom>
          <a:solidFill>
            <a:schemeClr val="bg1"/>
          </a:solidFill>
          <a:ln w="12700">
            <a:solidFill>
              <a:srgbClr val="27A8E0"/>
            </a:solidFill>
          </a:ln>
          <a:effectLst>
            <a:outerShdw blurRad="25400" dist="50800" dir="2700000" algn="ctr" rotWithShape="0">
              <a:srgbClr val="27A8E0"/>
            </a:outerShdw>
          </a:effectLst>
        </p:spPr>
      </p:pic>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showMasterSp="0">
  <p:cSld>
    <p:bg>
      <p:bgPr>
        <a:solidFill>
          <a:srgbClr val="27A8E0"/>
        </a:solidFill>
        <a:effectLst/>
      </p:bgPr>
    </p:bg>
    <p:spTree>
      <p:nvGrpSpPr>
        <p:cNvPr id="1" name=""/>
        <p:cNvGrpSpPr/>
        <p:nvPr/>
      </p:nvGrpSpPr>
      <p:grpSpPr>
        <a:xfrm>
          <a:off x="0" y="0"/>
          <a:ext cx="0" cy="0"/>
          <a:chOff x="0" y="0"/>
          <a:chExt cx="0" cy="0"/>
        </a:xfrm>
      </p:grpSpPr>
      <p:sp>
        <p:nvSpPr>
          <p:cNvPr id="257026"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57027" name="Espace réservé du numéro de diapositive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9A33B9F0-2CF3-469F-AA8D-85800A811406}" type="slidenum">
              <a:rPr lang="fr-FR" altLang="fr-FR" smtClean="0">
                <a:latin typeface="Calibri" panose="020F0502020204030204" pitchFamily="34" charset="0"/>
              </a:rPr>
              <a:pPr>
                <a:spcBef>
                  <a:spcPct val="0"/>
                </a:spcBef>
                <a:buFontTx/>
                <a:buNone/>
              </a:pPr>
              <a:t>119</a:t>
            </a:fld>
            <a:endParaRPr lang="fr-FR" altLang="fr-FR" dirty="0">
              <a:latin typeface="Calibri" panose="020F0502020204030204" pitchFamily="34" charset="0"/>
            </a:endParaRPr>
          </a:p>
        </p:txBody>
      </p:sp>
      <p:sp>
        <p:nvSpPr>
          <p:cNvPr id="6" name="Rectangle 5"/>
          <p:cNvSpPr/>
          <p:nvPr/>
        </p:nvSpPr>
        <p:spPr>
          <a:xfrm>
            <a:off x="372034" y="1980704"/>
            <a:ext cx="8924366" cy="2308324"/>
          </a:xfrm>
          <a:prstGeom prst="rect">
            <a:avLst/>
          </a:prstGeom>
          <a:noFill/>
        </p:spPr>
        <p:txBody>
          <a:bodyPr>
            <a:spAutoFit/>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fr-FR" sz="7200" b="1" dirty="0">
                <a:ln w="50800"/>
                <a:solidFill>
                  <a:schemeClr val="bg1"/>
                </a:solidFill>
                <a:latin typeface="Calibri" panose="020F0502020204030204" pitchFamily="34" charset="0"/>
              </a:rPr>
              <a:t>Quiz de validation des acquis</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Titre 1"/>
          <p:cNvSpPr>
            <a:spLocks noGrp="1"/>
          </p:cNvSpPr>
          <p:nvPr>
            <p:ph type="title"/>
          </p:nvPr>
        </p:nvSpPr>
        <p:spPr/>
        <p:txBody>
          <a:bodyPr/>
          <a:lstStyle/>
          <a:p>
            <a:r>
              <a:rPr lang="fr-FR" altLang="fr-FR"/>
              <a:t>Quiz de validation des acquis</a:t>
            </a:r>
          </a:p>
        </p:txBody>
      </p:sp>
      <p:sp>
        <p:nvSpPr>
          <p:cNvPr id="259075"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pic>
        <p:nvPicPr>
          <p:cNvPr id="259076" name="Image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1942">
            <a:off x="2916238" y="1036638"/>
            <a:ext cx="3779837" cy="5346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5"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120</a:t>
            </a:fld>
            <a:endParaRPr lang="fr-FR" altLang="fr-FR" dirty="0">
              <a:latin typeface="Calibri" panose="020F0502020204030204" pitchFamily="34" charset="0"/>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Titre 1"/>
          <p:cNvSpPr>
            <a:spLocks noGrp="1"/>
          </p:cNvSpPr>
          <p:nvPr>
            <p:ph type="title"/>
          </p:nvPr>
        </p:nvSpPr>
        <p:spPr/>
        <p:txBody>
          <a:bodyPr/>
          <a:lstStyle/>
          <a:p>
            <a:r>
              <a:rPr lang="fr-FR" altLang="fr-FR"/>
              <a:t>Question 1</a:t>
            </a:r>
          </a:p>
        </p:txBody>
      </p:sp>
      <p:sp>
        <p:nvSpPr>
          <p:cNvPr id="261123" name="Espace réservé du contenu 2"/>
          <p:cNvSpPr>
            <a:spLocks noGrp="1"/>
          </p:cNvSpPr>
          <p:nvPr>
            <p:ph idx="1"/>
          </p:nvPr>
        </p:nvSpPr>
        <p:spPr/>
        <p:txBody>
          <a:bodyPr/>
          <a:lstStyle/>
          <a:p>
            <a:pPr marL="0" lvl="1" indent="0">
              <a:buFontTx/>
              <a:buNone/>
            </a:pPr>
            <a:r>
              <a:rPr lang="fr-FR" altLang="fr-FR" sz="2400" dirty="0">
                <a:solidFill>
                  <a:schemeClr val="accent2"/>
                </a:solidFill>
              </a:rPr>
              <a:t>Quel est le délai de passage de l'OF ci-contre ?</a:t>
            </a:r>
          </a:p>
          <a:p>
            <a:pPr marL="0" lvl="1" indent="0">
              <a:buFontTx/>
              <a:buNone/>
            </a:pPr>
            <a:endParaRPr lang="fr-FR" altLang="fr-FR" sz="2400" dirty="0"/>
          </a:p>
          <a:p>
            <a:pPr marL="0" indent="0">
              <a:buFontTx/>
              <a:buNone/>
            </a:pPr>
            <a:r>
              <a:rPr lang="fr-FR" altLang="fr-FR" sz="2400" b="1" dirty="0">
                <a:solidFill>
                  <a:srgbClr val="009900"/>
                </a:solidFill>
              </a:rPr>
              <a:t>a) </a:t>
            </a:r>
            <a:r>
              <a:rPr lang="fr-FR" altLang="fr-FR" sz="2400" dirty="0">
                <a:ea typeface="Calibri" panose="020F0502020204030204" pitchFamily="34" charset="0"/>
                <a:cs typeface="Arial" panose="020B0604020202020204" pitchFamily="34" charset="0"/>
              </a:rPr>
              <a:t> </a:t>
            </a:r>
            <a:r>
              <a:rPr lang="fr-FR" altLang="fr-FR" sz="2400" dirty="0">
                <a:solidFill>
                  <a:schemeClr val="accent2"/>
                </a:solidFill>
              </a:rPr>
              <a:t>12'10</a:t>
            </a:r>
          </a:p>
          <a:p>
            <a:pPr marL="0" indent="0">
              <a:buFontTx/>
              <a:buNone/>
            </a:pPr>
            <a:endParaRPr lang="fr-FR" altLang="fr-FR" sz="2400" dirty="0"/>
          </a:p>
          <a:p>
            <a:pPr marL="0" indent="0">
              <a:buFontTx/>
              <a:buNone/>
            </a:pPr>
            <a:r>
              <a:rPr lang="fr-FR" altLang="fr-FR" sz="2400" b="1" dirty="0">
                <a:solidFill>
                  <a:srgbClr val="009900"/>
                </a:solidFill>
              </a:rPr>
              <a:t>b)  </a:t>
            </a:r>
            <a:r>
              <a:rPr lang="fr-FR" altLang="fr-FR" sz="2400" dirty="0">
                <a:solidFill>
                  <a:schemeClr val="accent2"/>
                </a:solidFill>
              </a:rPr>
              <a:t>16'10</a:t>
            </a:r>
          </a:p>
          <a:p>
            <a:pPr marL="0" indent="0">
              <a:buFontTx/>
              <a:buNone/>
            </a:pPr>
            <a:endParaRPr lang="fr-FR" altLang="fr-FR" sz="2400" dirty="0"/>
          </a:p>
          <a:p>
            <a:pPr marL="0" indent="0">
              <a:buFontTx/>
              <a:buNone/>
            </a:pPr>
            <a:r>
              <a:rPr lang="fr-FR" altLang="fr-FR" sz="2400" b="1" dirty="0">
                <a:solidFill>
                  <a:srgbClr val="009900"/>
                </a:solidFill>
              </a:rPr>
              <a:t>c)  </a:t>
            </a:r>
            <a:r>
              <a:rPr lang="fr-FR" altLang="fr-FR" sz="2400" dirty="0">
                <a:solidFill>
                  <a:schemeClr val="accent2"/>
                </a:solidFill>
              </a:rPr>
              <a:t>19'50</a:t>
            </a:r>
          </a:p>
          <a:p>
            <a:pPr marL="0" indent="0">
              <a:buFontTx/>
              <a:buNone/>
            </a:pPr>
            <a:endParaRPr lang="fr-FR" altLang="fr-FR" sz="2400" dirty="0"/>
          </a:p>
          <a:p>
            <a:pPr marL="0" indent="0">
              <a:buFontTx/>
              <a:buNone/>
            </a:pPr>
            <a:r>
              <a:rPr lang="fr-FR" altLang="fr-FR" sz="2400" b="1" dirty="0">
                <a:solidFill>
                  <a:srgbClr val="009900"/>
                </a:solidFill>
              </a:rPr>
              <a:t>d)  </a:t>
            </a:r>
            <a:r>
              <a:rPr lang="fr-FR" altLang="fr-FR" sz="2400" dirty="0">
                <a:solidFill>
                  <a:schemeClr val="accent2"/>
                </a:solidFill>
              </a:rPr>
              <a:t>Aucune de ces réponses</a:t>
            </a:r>
          </a:p>
          <a:p>
            <a:pPr marL="0" indent="0">
              <a:buFontTx/>
              <a:buNone/>
            </a:pPr>
            <a:endParaRPr lang="fr-FR" altLang="fr-FR" sz="2400" dirty="0"/>
          </a:p>
        </p:txBody>
      </p:sp>
      <p:sp>
        <p:nvSpPr>
          <p:cNvPr id="4" name="Ellipse 3"/>
          <p:cNvSpPr>
            <a:spLocks noChangeArrowheads="1"/>
          </p:cNvSpPr>
          <p:nvPr/>
        </p:nvSpPr>
        <p:spPr bwMode="auto">
          <a:xfrm>
            <a:off x="93663" y="3971925"/>
            <a:ext cx="642937" cy="661988"/>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5" name="Text Box 14"/>
          <p:cNvSpPr txBox="1">
            <a:spLocks noChangeArrowheads="1"/>
          </p:cNvSpPr>
          <p:nvPr/>
        </p:nvSpPr>
        <p:spPr bwMode="auto">
          <a:xfrm>
            <a:off x="1111250" y="4708525"/>
            <a:ext cx="4741863" cy="18415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rIns="54000" anchor="ctr" anchorCtr="1"/>
          <a:lstStyle>
            <a:lvl1pPr marL="342900" indent="-342900">
              <a:spcBef>
                <a:spcPct val="20000"/>
              </a:spcBef>
              <a:buChar char="•"/>
              <a:defRPr>
                <a:solidFill>
                  <a:schemeClr val="tx1"/>
                </a:solidFill>
                <a:latin typeface="Arial" panose="020B0604020202020204" pitchFamily="34" charset="0"/>
              </a:defRPr>
            </a:lvl1pPr>
            <a:lvl2pPr marL="19050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lvl="1" eaLnBrk="1" hangingPunct="1">
              <a:lnSpc>
                <a:spcPct val="140000"/>
              </a:lnSpc>
              <a:buFontTx/>
              <a:buNone/>
            </a:pPr>
            <a:r>
              <a:rPr lang="fr-FR" altLang="fr-FR" sz="2400" dirty="0">
                <a:solidFill>
                  <a:schemeClr val="accent2"/>
                </a:solidFill>
                <a:latin typeface="Calibri" panose="020F0502020204030204" pitchFamily="34" charset="0"/>
              </a:rPr>
              <a:t>Délai de passage :</a:t>
            </a:r>
          </a:p>
          <a:p>
            <a:pPr lvl="1" eaLnBrk="1" hangingPunct="1">
              <a:lnSpc>
                <a:spcPct val="140000"/>
              </a:lnSpc>
              <a:buFontTx/>
              <a:buNone/>
            </a:pPr>
            <a:r>
              <a:rPr lang="fr-FR" altLang="fr-FR" sz="2400" dirty="0">
                <a:solidFill>
                  <a:schemeClr val="accent2"/>
                </a:solidFill>
                <a:latin typeface="Calibri" panose="020F0502020204030204" pitchFamily="34" charset="0"/>
              </a:rPr>
              <a:t>Heure de fin – Heure de début </a:t>
            </a:r>
          </a:p>
          <a:p>
            <a:pPr lvl="1" eaLnBrk="1" hangingPunct="1">
              <a:lnSpc>
                <a:spcPct val="140000"/>
              </a:lnSpc>
              <a:buFontTx/>
              <a:buNone/>
            </a:pPr>
            <a:r>
              <a:rPr lang="fr-FR" altLang="fr-FR" sz="2400" dirty="0">
                <a:solidFill>
                  <a:schemeClr val="accent2"/>
                </a:solidFill>
                <a:latin typeface="Calibri" panose="020F0502020204030204" pitchFamily="34" charset="0"/>
              </a:rPr>
              <a:t>19'50 – 12'10 = 7'40</a:t>
            </a:r>
          </a:p>
        </p:txBody>
      </p:sp>
      <p:grpSp>
        <p:nvGrpSpPr>
          <p:cNvPr id="261126" name="Groupe 5"/>
          <p:cNvGrpSpPr>
            <a:grpSpLocks/>
          </p:cNvGrpSpPr>
          <p:nvPr/>
        </p:nvGrpSpPr>
        <p:grpSpPr bwMode="auto">
          <a:xfrm>
            <a:off x="6645275" y="1158875"/>
            <a:ext cx="2762250" cy="5110163"/>
            <a:chOff x="6645652" y="1159172"/>
            <a:chExt cx="2761256" cy="5110613"/>
          </a:xfrm>
        </p:grpSpPr>
        <p:pic>
          <p:nvPicPr>
            <p:cNvPr id="26112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5652" y="1159172"/>
              <a:ext cx="2761256" cy="511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1129" name="Groupe 30"/>
            <p:cNvGrpSpPr>
              <a:grpSpLocks/>
            </p:cNvGrpSpPr>
            <p:nvPr/>
          </p:nvGrpSpPr>
          <p:grpSpPr bwMode="auto">
            <a:xfrm>
              <a:off x="6693578" y="1346199"/>
              <a:ext cx="875993" cy="400145"/>
              <a:chOff x="1127570" y="965200"/>
              <a:chExt cx="875993" cy="400145"/>
            </a:xfrm>
          </p:grpSpPr>
          <p:sp>
            <p:nvSpPr>
              <p:cNvPr id="261146" name="ZoneTexte 31"/>
              <p:cNvSpPr txBox="1">
                <a:spLocks noChangeArrowheads="1"/>
              </p:cNvSpPr>
              <p:nvPr/>
            </p:nvSpPr>
            <p:spPr bwMode="auto">
              <a:xfrm>
                <a:off x="1127570" y="9652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12</a:t>
                </a:r>
              </a:p>
            </p:txBody>
          </p:sp>
          <p:sp>
            <p:nvSpPr>
              <p:cNvPr id="261147" name="ZoneTexte 32"/>
              <p:cNvSpPr txBox="1">
                <a:spLocks noChangeArrowheads="1"/>
              </p:cNvSpPr>
              <p:nvPr/>
            </p:nvSpPr>
            <p:spPr bwMode="auto">
              <a:xfrm>
                <a:off x="1559371" y="9652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10</a:t>
                </a:r>
              </a:p>
            </p:txBody>
          </p:sp>
        </p:grpSp>
        <p:grpSp>
          <p:nvGrpSpPr>
            <p:cNvPr id="261130" name="Groupe 33"/>
            <p:cNvGrpSpPr>
              <a:grpSpLocks/>
            </p:cNvGrpSpPr>
            <p:nvPr/>
          </p:nvGrpSpPr>
          <p:grpSpPr bwMode="auto">
            <a:xfrm>
              <a:off x="6718978" y="2133599"/>
              <a:ext cx="875993" cy="400145"/>
              <a:chOff x="1152970" y="1752600"/>
              <a:chExt cx="875993" cy="400145"/>
            </a:xfrm>
          </p:grpSpPr>
          <p:sp>
            <p:nvSpPr>
              <p:cNvPr id="261144" name="ZoneTexte 34"/>
              <p:cNvSpPr txBox="1">
                <a:spLocks noChangeArrowheads="1"/>
              </p:cNvSpPr>
              <p:nvPr/>
            </p:nvSpPr>
            <p:spPr bwMode="auto">
              <a:xfrm>
                <a:off x="1152970" y="17526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12</a:t>
                </a:r>
              </a:p>
            </p:txBody>
          </p:sp>
          <p:sp>
            <p:nvSpPr>
              <p:cNvPr id="261145" name="ZoneTexte 35"/>
              <p:cNvSpPr txBox="1">
                <a:spLocks noChangeArrowheads="1"/>
              </p:cNvSpPr>
              <p:nvPr/>
            </p:nvSpPr>
            <p:spPr bwMode="auto">
              <a:xfrm>
                <a:off x="1584771" y="17526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40</a:t>
                </a:r>
              </a:p>
            </p:txBody>
          </p:sp>
        </p:grpSp>
        <p:grpSp>
          <p:nvGrpSpPr>
            <p:cNvPr id="261131" name="Groupe 36"/>
            <p:cNvGrpSpPr>
              <a:grpSpLocks/>
            </p:cNvGrpSpPr>
            <p:nvPr/>
          </p:nvGrpSpPr>
          <p:grpSpPr bwMode="auto">
            <a:xfrm>
              <a:off x="6693578" y="2971799"/>
              <a:ext cx="875993" cy="400145"/>
              <a:chOff x="1127570" y="2590800"/>
              <a:chExt cx="875993" cy="400145"/>
            </a:xfrm>
          </p:grpSpPr>
          <p:sp>
            <p:nvSpPr>
              <p:cNvPr id="261142" name="ZoneTexte 37"/>
              <p:cNvSpPr txBox="1">
                <a:spLocks noChangeArrowheads="1"/>
              </p:cNvSpPr>
              <p:nvPr/>
            </p:nvSpPr>
            <p:spPr bwMode="auto">
              <a:xfrm>
                <a:off x="1127570" y="25908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13</a:t>
                </a:r>
              </a:p>
            </p:txBody>
          </p:sp>
          <p:sp>
            <p:nvSpPr>
              <p:cNvPr id="261143" name="ZoneTexte 38"/>
              <p:cNvSpPr txBox="1">
                <a:spLocks noChangeArrowheads="1"/>
              </p:cNvSpPr>
              <p:nvPr/>
            </p:nvSpPr>
            <p:spPr bwMode="auto">
              <a:xfrm>
                <a:off x="1559371" y="25908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10</a:t>
                </a:r>
              </a:p>
            </p:txBody>
          </p:sp>
        </p:grpSp>
        <p:grpSp>
          <p:nvGrpSpPr>
            <p:cNvPr id="261132" name="Groupe 39"/>
            <p:cNvGrpSpPr>
              <a:grpSpLocks/>
            </p:cNvGrpSpPr>
            <p:nvPr/>
          </p:nvGrpSpPr>
          <p:grpSpPr bwMode="auto">
            <a:xfrm>
              <a:off x="6706278" y="3905535"/>
              <a:ext cx="875993" cy="400145"/>
              <a:chOff x="1140270" y="3429000"/>
              <a:chExt cx="875993" cy="400145"/>
            </a:xfrm>
          </p:grpSpPr>
          <p:sp>
            <p:nvSpPr>
              <p:cNvPr id="261140" name="ZoneTexte 40"/>
              <p:cNvSpPr txBox="1">
                <a:spLocks noChangeArrowheads="1"/>
              </p:cNvSpPr>
              <p:nvPr/>
            </p:nvSpPr>
            <p:spPr bwMode="auto">
              <a:xfrm>
                <a:off x="1140270" y="34290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15</a:t>
                </a:r>
              </a:p>
            </p:txBody>
          </p:sp>
          <p:sp>
            <p:nvSpPr>
              <p:cNvPr id="261141" name="ZoneTexte 41"/>
              <p:cNvSpPr txBox="1">
                <a:spLocks noChangeArrowheads="1"/>
              </p:cNvSpPr>
              <p:nvPr/>
            </p:nvSpPr>
            <p:spPr bwMode="auto">
              <a:xfrm>
                <a:off x="1572071" y="34290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30</a:t>
                </a:r>
              </a:p>
            </p:txBody>
          </p:sp>
        </p:grpSp>
        <p:grpSp>
          <p:nvGrpSpPr>
            <p:cNvPr id="261133" name="Groupe 42"/>
            <p:cNvGrpSpPr>
              <a:grpSpLocks/>
            </p:cNvGrpSpPr>
            <p:nvPr/>
          </p:nvGrpSpPr>
          <p:grpSpPr bwMode="auto">
            <a:xfrm>
              <a:off x="6731678" y="4876799"/>
              <a:ext cx="875993" cy="400145"/>
              <a:chOff x="1165670" y="4495800"/>
              <a:chExt cx="875993" cy="400145"/>
            </a:xfrm>
          </p:grpSpPr>
          <p:sp>
            <p:nvSpPr>
              <p:cNvPr id="261138" name="ZoneTexte 43"/>
              <p:cNvSpPr txBox="1">
                <a:spLocks noChangeArrowheads="1"/>
              </p:cNvSpPr>
              <p:nvPr/>
            </p:nvSpPr>
            <p:spPr bwMode="auto">
              <a:xfrm>
                <a:off x="1165670" y="44958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16</a:t>
                </a:r>
              </a:p>
            </p:txBody>
          </p:sp>
          <p:sp>
            <p:nvSpPr>
              <p:cNvPr id="261139" name="ZoneTexte 44"/>
              <p:cNvSpPr txBox="1">
                <a:spLocks noChangeArrowheads="1"/>
              </p:cNvSpPr>
              <p:nvPr/>
            </p:nvSpPr>
            <p:spPr bwMode="auto">
              <a:xfrm>
                <a:off x="1597471" y="44958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10</a:t>
                </a:r>
              </a:p>
            </p:txBody>
          </p:sp>
        </p:grpSp>
        <p:grpSp>
          <p:nvGrpSpPr>
            <p:cNvPr id="261134" name="Groupe 45"/>
            <p:cNvGrpSpPr>
              <a:grpSpLocks/>
            </p:cNvGrpSpPr>
            <p:nvPr/>
          </p:nvGrpSpPr>
          <p:grpSpPr bwMode="auto">
            <a:xfrm>
              <a:off x="6706278" y="5714999"/>
              <a:ext cx="875993" cy="400145"/>
              <a:chOff x="1140270" y="5334000"/>
              <a:chExt cx="875993" cy="400145"/>
            </a:xfrm>
          </p:grpSpPr>
          <p:sp>
            <p:nvSpPr>
              <p:cNvPr id="261136" name="ZoneTexte 46"/>
              <p:cNvSpPr txBox="1">
                <a:spLocks noChangeArrowheads="1"/>
              </p:cNvSpPr>
              <p:nvPr/>
            </p:nvSpPr>
            <p:spPr bwMode="auto">
              <a:xfrm>
                <a:off x="1140270" y="53340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19</a:t>
                </a:r>
              </a:p>
            </p:txBody>
          </p:sp>
          <p:sp>
            <p:nvSpPr>
              <p:cNvPr id="261137" name="ZoneTexte 47"/>
              <p:cNvSpPr txBox="1">
                <a:spLocks noChangeArrowheads="1"/>
              </p:cNvSpPr>
              <p:nvPr/>
            </p:nvSpPr>
            <p:spPr bwMode="auto">
              <a:xfrm>
                <a:off x="1572071" y="5334000"/>
                <a:ext cx="444192" cy="40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2000" dirty="0">
                    <a:solidFill>
                      <a:srgbClr val="FF0000"/>
                    </a:solidFill>
                    <a:latin typeface="Calibri" panose="020F0502020204030204" pitchFamily="34" charset="0"/>
                  </a:rPr>
                  <a:t>50</a:t>
                </a:r>
              </a:p>
            </p:txBody>
          </p:sp>
        </p:grpSp>
        <p:sp>
          <p:nvSpPr>
            <p:cNvPr id="261135" name="Ellipse 49"/>
            <p:cNvSpPr>
              <a:spLocks noChangeArrowheads="1"/>
            </p:cNvSpPr>
            <p:nvPr/>
          </p:nvSpPr>
          <p:spPr bwMode="auto">
            <a:xfrm>
              <a:off x="8517853" y="1233762"/>
              <a:ext cx="709683" cy="709683"/>
            </a:xfrm>
            <a:prstGeom prst="ellipse">
              <a:avLst/>
            </a:prstGeom>
            <a:solidFill>
              <a:srgbClr val="FF0000">
                <a:alpha val="69803"/>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261127"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8"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121</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42"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out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itre 1"/>
          <p:cNvSpPr>
            <a:spLocks noGrp="1"/>
          </p:cNvSpPr>
          <p:nvPr>
            <p:ph type="title"/>
          </p:nvPr>
        </p:nvSpPr>
        <p:spPr/>
        <p:txBody>
          <a:bodyPr/>
          <a:lstStyle/>
          <a:p>
            <a:r>
              <a:rPr lang="fr-FR" altLang="fr-FR"/>
              <a:t>Question 2</a:t>
            </a:r>
          </a:p>
        </p:txBody>
      </p:sp>
      <p:sp>
        <p:nvSpPr>
          <p:cNvPr id="263171" name="Espace réservé du contenu 2"/>
          <p:cNvSpPr>
            <a:spLocks noGrp="1"/>
          </p:cNvSpPr>
          <p:nvPr>
            <p:ph idx="1"/>
          </p:nvPr>
        </p:nvSpPr>
        <p:spPr/>
        <p:txBody>
          <a:bodyPr/>
          <a:lstStyle/>
          <a:p>
            <a:pPr marL="0" lvl="1" indent="0">
              <a:buFontTx/>
              <a:buNone/>
            </a:pPr>
            <a:r>
              <a:rPr lang="fr-FR" altLang="fr-FR" sz="2400" dirty="0">
                <a:solidFill>
                  <a:schemeClr val="accent2"/>
                </a:solidFill>
              </a:rPr>
              <a:t>Les temps "verts" correspondent à :</a:t>
            </a:r>
          </a:p>
          <a:p>
            <a:pPr marL="0" indent="0">
              <a:buFontTx/>
              <a:buNone/>
            </a:pPr>
            <a:endParaRPr lang="fr-FR" altLang="fr-FR" sz="2400" dirty="0"/>
          </a:p>
          <a:p>
            <a:pPr marL="0" indent="0">
              <a:buFontTx/>
              <a:buNone/>
            </a:pPr>
            <a:endParaRPr lang="fr-FR" altLang="fr-FR" sz="2400" dirty="0"/>
          </a:p>
          <a:p>
            <a:pPr marL="0" indent="0">
              <a:buFontTx/>
              <a:buNone/>
            </a:pPr>
            <a:endParaRPr lang="fr-FR" altLang="fr-FR" sz="2400" dirty="0"/>
          </a:p>
          <a:p>
            <a:pPr marL="0" indent="0">
              <a:buFontTx/>
              <a:buNone/>
            </a:pPr>
            <a:endParaRPr lang="fr-FR" altLang="fr-FR" sz="2400" dirty="0"/>
          </a:p>
          <a:p>
            <a:pPr marL="0" indent="0">
              <a:buFontTx/>
              <a:buNone/>
            </a:pPr>
            <a:endParaRPr lang="fr-FR" altLang="fr-FR" sz="2400" dirty="0"/>
          </a:p>
          <a:p>
            <a:pPr marL="0" indent="0">
              <a:buFontTx/>
              <a:buNone/>
            </a:pPr>
            <a:r>
              <a:rPr lang="fr-FR" altLang="fr-FR" sz="2400" b="1" dirty="0">
                <a:solidFill>
                  <a:srgbClr val="009900"/>
                </a:solidFill>
              </a:rPr>
              <a:t>a) </a:t>
            </a:r>
            <a:r>
              <a:rPr lang="fr-FR" altLang="fr-FR" sz="2400" dirty="0">
                <a:ea typeface="Calibri" panose="020F0502020204030204" pitchFamily="34" charset="0"/>
                <a:cs typeface="Arial" panose="020B0604020202020204" pitchFamily="34" charset="0"/>
              </a:rPr>
              <a:t> </a:t>
            </a:r>
            <a:r>
              <a:rPr lang="fr-FR" altLang="fr-FR" sz="2400" dirty="0">
                <a:solidFill>
                  <a:schemeClr val="accent2"/>
                </a:solidFill>
              </a:rPr>
              <a:t>Des attentes</a:t>
            </a:r>
          </a:p>
          <a:p>
            <a:pPr marL="0" indent="0">
              <a:buFontTx/>
              <a:buNone/>
            </a:pPr>
            <a:endParaRPr lang="fr-FR" altLang="fr-FR" sz="2400" dirty="0"/>
          </a:p>
          <a:p>
            <a:pPr marL="0" indent="0">
              <a:buFontTx/>
              <a:buNone/>
            </a:pPr>
            <a:r>
              <a:rPr lang="fr-FR" altLang="fr-FR" sz="2400" b="1" dirty="0">
                <a:solidFill>
                  <a:srgbClr val="009900"/>
                </a:solidFill>
              </a:rPr>
              <a:t>b)  </a:t>
            </a:r>
            <a:r>
              <a:rPr lang="fr-FR" altLang="fr-FR" sz="2400" dirty="0">
                <a:solidFill>
                  <a:schemeClr val="accent2"/>
                </a:solidFill>
              </a:rPr>
              <a:t>Du stockage</a:t>
            </a:r>
          </a:p>
          <a:p>
            <a:pPr marL="0" indent="0">
              <a:buFontTx/>
              <a:buNone/>
            </a:pPr>
            <a:endParaRPr lang="fr-FR" altLang="fr-FR" sz="2400" dirty="0"/>
          </a:p>
          <a:p>
            <a:pPr marL="0" indent="0">
              <a:buFontTx/>
              <a:buNone/>
            </a:pPr>
            <a:r>
              <a:rPr lang="fr-FR" altLang="fr-FR" sz="2400" b="1" dirty="0">
                <a:solidFill>
                  <a:srgbClr val="009900"/>
                </a:solidFill>
              </a:rPr>
              <a:t>c) </a:t>
            </a:r>
            <a:r>
              <a:rPr lang="fr-FR" altLang="fr-FR" sz="2400" dirty="0">
                <a:ea typeface="Calibri" panose="020F0502020204030204" pitchFamily="34" charset="0"/>
                <a:cs typeface="Calibri" panose="020F0502020204030204" pitchFamily="34" charset="0"/>
              </a:rPr>
              <a:t> </a:t>
            </a:r>
            <a:r>
              <a:rPr lang="fr-FR" altLang="fr-FR" sz="2400" dirty="0">
                <a:solidFill>
                  <a:schemeClr val="accent2"/>
                </a:solidFill>
              </a:rPr>
              <a:t>De la valeur ajoutée</a:t>
            </a:r>
          </a:p>
          <a:p>
            <a:pPr marL="0" indent="0">
              <a:buFontTx/>
              <a:buNone/>
            </a:pPr>
            <a:endParaRPr lang="fr-FR" altLang="fr-FR" sz="2400" dirty="0"/>
          </a:p>
          <a:p>
            <a:pPr marL="0" indent="0">
              <a:buFontTx/>
              <a:buNone/>
            </a:pPr>
            <a:r>
              <a:rPr lang="fr-FR" altLang="fr-FR" sz="2400" b="1" dirty="0">
                <a:solidFill>
                  <a:srgbClr val="009900"/>
                </a:solidFill>
              </a:rPr>
              <a:t>d)  </a:t>
            </a:r>
            <a:r>
              <a:rPr lang="fr-FR" altLang="fr-FR" sz="2400" dirty="0">
                <a:solidFill>
                  <a:schemeClr val="accent2"/>
                </a:solidFill>
              </a:rPr>
              <a:t>Aucune de ces réponses</a:t>
            </a:r>
          </a:p>
          <a:p>
            <a:pPr marL="0" indent="0">
              <a:buFontTx/>
              <a:buNone/>
            </a:pPr>
            <a:endParaRPr lang="fr-FR" altLang="fr-FR" sz="2400" dirty="0"/>
          </a:p>
          <a:p>
            <a:pPr marL="0" indent="0">
              <a:buFontTx/>
              <a:buNone/>
            </a:pPr>
            <a:endParaRPr lang="fr-FR" altLang="fr-FR" sz="2400" dirty="0"/>
          </a:p>
        </p:txBody>
      </p:sp>
      <p:sp>
        <p:nvSpPr>
          <p:cNvPr id="4" name="Ellipse 3"/>
          <p:cNvSpPr>
            <a:spLocks noChangeArrowheads="1"/>
          </p:cNvSpPr>
          <p:nvPr/>
        </p:nvSpPr>
        <p:spPr bwMode="auto">
          <a:xfrm>
            <a:off x="84138" y="4878388"/>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grpSp>
        <p:nvGrpSpPr>
          <p:cNvPr id="263173" name="Groupe 6"/>
          <p:cNvGrpSpPr>
            <a:grpSpLocks/>
          </p:cNvGrpSpPr>
          <p:nvPr/>
        </p:nvGrpSpPr>
        <p:grpSpPr bwMode="auto">
          <a:xfrm>
            <a:off x="1046163" y="1336675"/>
            <a:ext cx="7554912" cy="1446213"/>
            <a:chOff x="516631" y="3261265"/>
            <a:chExt cx="7555023" cy="1447376"/>
          </a:xfrm>
        </p:grpSpPr>
        <p:pic>
          <p:nvPicPr>
            <p:cNvPr id="263175" name="Picture 2"/>
            <p:cNvPicPr>
              <a:picLocks noChangeAspect="1" noChangeArrowheads="1"/>
            </p:cNvPicPr>
            <p:nvPr/>
          </p:nvPicPr>
          <p:blipFill>
            <a:blip r:embed="rId3">
              <a:extLst>
                <a:ext uri="{28A0092B-C50C-407E-A947-70E740481C1C}">
                  <a14:useLocalDpi xmlns:a14="http://schemas.microsoft.com/office/drawing/2010/main" val="0"/>
                </a:ext>
              </a:extLst>
            </a:blip>
            <a:srcRect r="44649"/>
            <a:stretch>
              <a:fillRect/>
            </a:stretch>
          </p:blipFill>
          <p:spPr bwMode="auto">
            <a:xfrm>
              <a:off x="731837" y="3806957"/>
              <a:ext cx="7250113" cy="90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176" name="Rectangle 8"/>
            <p:cNvSpPr>
              <a:spLocks noChangeArrowheads="1"/>
            </p:cNvSpPr>
            <p:nvPr/>
          </p:nvSpPr>
          <p:spPr bwMode="auto">
            <a:xfrm>
              <a:off x="838200" y="4294505"/>
              <a:ext cx="209550" cy="180975"/>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77" name="Rectangle 9"/>
            <p:cNvSpPr>
              <a:spLocks noChangeArrowheads="1"/>
            </p:cNvSpPr>
            <p:nvPr/>
          </p:nvSpPr>
          <p:spPr bwMode="auto">
            <a:xfrm>
              <a:off x="2562225" y="4284980"/>
              <a:ext cx="209550" cy="180975"/>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78" name="Rectangle 10"/>
            <p:cNvSpPr>
              <a:spLocks noChangeArrowheads="1"/>
            </p:cNvSpPr>
            <p:nvPr/>
          </p:nvSpPr>
          <p:spPr bwMode="auto">
            <a:xfrm>
              <a:off x="4038600" y="4284980"/>
              <a:ext cx="209550" cy="180975"/>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79" name="Rectangle 11"/>
            <p:cNvSpPr>
              <a:spLocks noChangeArrowheads="1"/>
            </p:cNvSpPr>
            <p:nvPr/>
          </p:nvSpPr>
          <p:spPr bwMode="auto">
            <a:xfrm>
              <a:off x="5133975" y="4284980"/>
              <a:ext cx="209550" cy="180975"/>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0" name="Rectangle 12"/>
            <p:cNvSpPr>
              <a:spLocks noChangeArrowheads="1"/>
            </p:cNvSpPr>
            <p:nvPr/>
          </p:nvSpPr>
          <p:spPr bwMode="auto">
            <a:xfrm>
              <a:off x="6419850" y="4294505"/>
              <a:ext cx="209550" cy="180975"/>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1" name="Rectangle 13"/>
            <p:cNvSpPr>
              <a:spLocks noChangeArrowheads="1"/>
            </p:cNvSpPr>
            <p:nvPr/>
          </p:nvSpPr>
          <p:spPr bwMode="auto">
            <a:xfrm>
              <a:off x="7705725" y="4294505"/>
              <a:ext cx="209550" cy="180975"/>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2" name="Rectangle 14"/>
            <p:cNvSpPr>
              <a:spLocks noChangeArrowheads="1"/>
            </p:cNvSpPr>
            <p:nvPr/>
          </p:nvSpPr>
          <p:spPr bwMode="auto">
            <a:xfrm>
              <a:off x="1057274" y="4485005"/>
              <a:ext cx="1495425" cy="180975"/>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3" name="Rectangle 15"/>
            <p:cNvSpPr>
              <a:spLocks noChangeArrowheads="1"/>
            </p:cNvSpPr>
            <p:nvPr/>
          </p:nvSpPr>
          <p:spPr bwMode="auto">
            <a:xfrm>
              <a:off x="2781300" y="4475480"/>
              <a:ext cx="1266826" cy="1905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4" name="Rectangle 16"/>
            <p:cNvSpPr>
              <a:spLocks noChangeArrowheads="1"/>
            </p:cNvSpPr>
            <p:nvPr/>
          </p:nvSpPr>
          <p:spPr bwMode="auto">
            <a:xfrm>
              <a:off x="4267200" y="4475480"/>
              <a:ext cx="876300" cy="200025"/>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5" name="Rectangle 17"/>
            <p:cNvSpPr>
              <a:spLocks noChangeArrowheads="1"/>
            </p:cNvSpPr>
            <p:nvPr/>
          </p:nvSpPr>
          <p:spPr bwMode="auto">
            <a:xfrm>
              <a:off x="5343524" y="4475480"/>
              <a:ext cx="1076325" cy="1905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6" name="Rectangle 18"/>
            <p:cNvSpPr>
              <a:spLocks noChangeArrowheads="1"/>
            </p:cNvSpPr>
            <p:nvPr/>
          </p:nvSpPr>
          <p:spPr bwMode="auto">
            <a:xfrm>
              <a:off x="6629399" y="4485005"/>
              <a:ext cx="1076325" cy="190500"/>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87" name="Rectangle 19"/>
            <p:cNvSpPr>
              <a:spLocks noChangeArrowheads="1"/>
            </p:cNvSpPr>
            <p:nvPr/>
          </p:nvSpPr>
          <p:spPr bwMode="auto">
            <a:xfrm>
              <a:off x="2514600" y="3574463"/>
              <a:ext cx="409575" cy="180975"/>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1" name="Étoile à 5 branches 20"/>
            <p:cNvSpPr/>
            <p:nvPr/>
          </p:nvSpPr>
          <p:spPr bwMode="auto">
            <a:xfrm>
              <a:off x="3966319" y="3429675"/>
              <a:ext cx="342905" cy="343176"/>
            </a:xfrm>
            <a:prstGeom prst="star5">
              <a:avLst/>
            </a:prstGeom>
            <a:no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
          <p:nvSpPr>
            <p:cNvPr id="263189" name="Organigramme : Bande perforée 21"/>
            <p:cNvSpPr>
              <a:spLocks noChangeArrowheads="1"/>
            </p:cNvSpPr>
            <p:nvPr/>
          </p:nvSpPr>
          <p:spPr bwMode="auto">
            <a:xfrm>
              <a:off x="5054600" y="3553825"/>
              <a:ext cx="323850" cy="171450"/>
            </a:xfrm>
            <a:prstGeom prst="flowChartPunchedTape">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3190" name="Triangle isocèle 22"/>
            <p:cNvSpPr>
              <a:spLocks noChangeArrowheads="1"/>
            </p:cNvSpPr>
            <p:nvPr/>
          </p:nvSpPr>
          <p:spPr bwMode="auto">
            <a:xfrm>
              <a:off x="6391275" y="3452225"/>
              <a:ext cx="295275" cy="247650"/>
            </a:xfrm>
            <a:prstGeom prst="triangle">
              <a:avLst>
                <a:gd name="adj"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263191" name="Picture 32" descr="TIP5e¦ütu-fin E¦üTU1"/>
            <p:cNvPicPr>
              <a:picLocks noChangeAspect="1" noChangeArrowheads="1"/>
            </p:cNvPicPr>
            <p:nvPr/>
          </p:nvPicPr>
          <p:blipFill>
            <a:blip r:embed="rId4" cstate="print">
              <a:extLst>
                <a:ext uri="{28A0092B-C50C-407E-A947-70E740481C1C}">
                  <a14:useLocalDpi xmlns:a14="http://schemas.microsoft.com/office/drawing/2010/main" val="0"/>
                </a:ext>
              </a:extLst>
            </a:blip>
            <a:srcRect l="8157" t="25005" r="23033" b="14983"/>
            <a:stretch>
              <a:fillRect/>
            </a:stretch>
          </p:blipFill>
          <p:spPr bwMode="auto">
            <a:xfrm>
              <a:off x="516631" y="3261265"/>
              <a:ext cx="646779" cy="57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92" name="Picture 46" descr="TIP3fab 7"/>
            <p:cNvPicPr>
              <a:picLocks noChangeAspect="1" noChangeArrowheads="1"/>
            </p:cNvPicPr>
            <p:nvPr/>
          </p:nvPicPr>
          <p:blipFill>
            <a:blip r:embed="rId5" cstate="print">
              <a:extLst>
                <a:ext uri="{28A0092B-C50C-407E-A947-70E740481C1C}">
                  <a14:useLocalDpi xmlns:a14="http://schemas.microsoft.com/office/drawing/2010/main" val="0"/>
                </a:ext>
              </a:extLst>
            </a:blip>
            <a:srcRect l="6909" t="46571" r="26497" b="12415"/>
            <a:stretch>
              <a:fillRect/>
            </a:stretch>
          </p:blipFill>
          <p:spPr bwMode="auto">
            <a:xfrm>
              <a:off x="7458306" y="3375644"/>
              <a:ext cx="613348" cy="45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3193" name="Connecteur droit avec flèche 25"/>
            <p:cNvCxnSpPr>
              <a:cxnSpLocks noChangeShapeType="1"/>
            </p:cNvCxnSpPr>
            <p:nvPr/>
          </p:nvCxnSpPr>
          <p:spPr bwMode="auto">
            <a:xfrm rot="5400000">
              <a:off x="885361" y="390254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3194" name="Connecteur droit avec flèche 26"/>
            <p:cNvCxnSpPr>
              <a:cxnSpLocks noChangeShapeType="1"/>
            </p:cNvCxnSpPr>
            <p:nvPr/>
          </p:nvCxnSpPr>
          <p:spPr bwMode="auto">
            <a:xfrm rot="5400000">
              <a:off x="2615102" y="387206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3195" name="Connecteur droit avec flèche 27"/>
            <p:cNvCxnSpPr>
              <a:cxnSpLocks noChangeShapeType="1"/>
            </p:cNvCxnSpPr>
            <p:nvPr/>
          </p:nvCxnSpPr>
          <p:spPr bwMode="auto">
            <a:xfrm rot="5400000">
              <a:off x="4032422" y="38568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3196" name="Connecteur droit avec flèche 28"/>
            <p:cNvCxnSpPr>
              <a:cxnSpLocks noChangeShapeType="1"/>
            </p:cNvCxnSpPr>
            <p:nvPr/>
          </p:nvCxnSpPr>
          <p:spPr bwMode="auto">
            <a:xfrm rot="5400000">
              <a:off x="5160182" y="384158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3197" name="Connecteur droit avec flèche 29"/>
            <p:cNvCxnSpPr>
              <a:cxnSpLocks noChangeShapeType="1"/>
            </p:cNvCxnSpPr>
            <p:nvPr/>
          </p:nvCxnSpPr>
          <p:spPr bwMode="auto">
            <a:xfrm rot="5400000">
              <a:off x="644796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3198" name="Connecteur droit avec flèche 30"/>
            <p:cNvCxnSpPr>
              <a:cxnSpLocks noChangeShapeType="1"/>
            </p:cNvCxnSpPr>
            <p:nvPr/>
          </p:nvCxnSpPr>
          <p:spPr bwMode="auto">
            <a:xfrm rot="5400000">
              <a:off x="772050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26317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31"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122</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Titre 1"/>
          <p:cNvSpPr>
            <a:spLocks noGrp="1"/>
          </p:cNvSpPr>
          <p:nvPr>
            <p:ph type="title"/>
          </p:nvPr>
        </p:nvSpPr>
        <p:spPr/>
        <p:txBody>
          <a:bodyPr/>
          <a:lstStyle/>
          <a:p>
            <a:r>
              <a:rPr lang="fr-FR" altLang="fr-FR"/>
              <a:t>Question 3</a:t>
            </a:r>
          </a:p>
        </p:txBody>
      </p:sp>
      <p:sp>
        <p:nvSpPr>
          <p:cNvPr id="265219" name="Espace réservé du contenu 2"/>
          <p:cNvSpPr>
            <a:spLocks noGrp="1"/>
          </p:cNvSpPr>
          <p:nvPr>
            <p:ph idx="1"/>
          </p:nvPr>
        </p:nvSpPr>
        <p:spPr>
          <a:xfrm>
            <a:off x="190500" y="571500"/>
            <a:ext cx="9137650" cy="5538788"/>
          </a:xfrm>
        </p:spPr>
        <p:txBody>
          <a:bodyPr/>
          <a:lstStyle/>
          <a:p>
            <a:pPr marL="0" indent="0">
              <a:lnSpc>
                <a:spcPct val="120000"/>
              </a:lnSpc>
              <a:buFontTx/>
              <a:buNone/>
            </a:pPr>
            <a:r>
              <a:rPr lang="fr-FR" altLang="fr-FR" sz="2400" dirty="0">
                <a:solidFill>
                  <a:schemeClr val="accent2"/>
                </a:solidFill>
              </a:rPr>
              <a:t>Le </a:t>
            </a:r>
            <a:r>
              <a:rPr lang="fr-FR" altLang="fr-FR" sz="2400" dirty="0" err="1">
                <a:solidFill>
                  <a:schemeClr val="accent2"/>
                </a:solidFill>
              </a:rPr>
              <a:t>takt</a:t>
            </a:r>
            <a:r>
              <a:rPr lang="fr-FR" altLang="fr-FR" sz="2400" dirty="0">
                <a:solidFill>
                  <a:schemeClr val="accent2"/>
                </a:solidFill>
              </a:rPr>
              <a:t> time a pour valeur :</a:t>
            </a:r>
          </a:p>
          <a:p>
            <a:pPr marL="0" indent="0">
              <a:buFontTx/>
              <a:buNone/>
            </a:pPr>
            <a:endParaRPr lang="fr-FR" altLang="fr-FR" sz="2400" dirty="0"/>
          </a:p>
          <a:p>
            <a:pPr marL="0" indent="0">
              <a:buFontTx/>
              <a:buNone/>
            </a:pPr>
            <a:r>
              <a:rPr lang="fr-FR" altLang="fr-FR" sz="2400" b="1" dirty="0">
                <a:solidFill>
                  <a:srgbClr val="009900"/>
                </a:solidFill>
              </a:rPr>
              <a:t>a) </a:t>
            </a:r>
            <a:r>
              <a:rPr lang="fr-FR" altLang="fr-FR" sz="2400" dirty="0">
                <a:ea typeface="Calibri" panose="020F0502020204030204" pitchFamily="34" charset="0"/>
                <a:cs typeface="Arial" panose="020B0604020202020204" pitchFamily="34" charset="0"/>
              </a:rPr>
              <a:t> </a:t>
            </a:r>
            <a:r>
              <a:rPr lang="fr-FR" altLang="fr-FR" sz="2400" dirty="0">
                <a:solidFill>
                  <a:schemeClr val="accent2"/>
                </a:solidFill>
              </a:rPr>
              <a:t>7 200 000 s</a:t>
            </a:r>
          </a:p>
          <a:p>
            <a:pPr marL="0" indent="0">
              <a:buFontTx/>
              <a:buNone/>
            </a:pPr>
            <a:endParaRPr lang="fr-FR" altLang="fr-FR" sz="2400" dirty="0"/>
          </a:p>
          <a:p>
            <a:pPr marL="0" indent="0">
              <a:buFontTx/>
              <a:buNone/>
            </a:pPr>
            <a:r>
              <a:rPr lang="fr-FR" altLang="fr-FR" sz="2400" b="1" dirty="0">
                <a:solidFill>
                  <a:srgbClr val="009900"/>
                </a:solidFill>
              </a:rPr>
              <a:t>b)  </a:t>
            </a:r>
            <a:r>
              <a:rPr lang="fr-FR" altLang="fr-FR" sz="2400" dirty="0">
                <a:solidFill>
                  <a:schemeClr val="accent2"/>
                </a:solidFill>
              </a:rPr>
              <a:t>2000 heures</a:t>
            </a:r>
          </a:p>
          <a:p>
            <a:pPr marL="0" indent="0">
              <a:buFontTx/>
              <a:buNone/>
            </a:pPr>
            <a:endParaRPr lang="fr-FR" altLang="fr-FR" sz="2400" dirty="0"/>
          </a:p>
          <a:p>
            <a:pPr marL="0" indent="0">
              <a:buFontTx/>
              <a:buNone/>
            </a:pPr>
            <a:r>
              <a:rPr lang="fr-FR" altLang="fr-FR" sz="2400" b="1" dirty="0">
                <a:solidFill>
                  <a:srgbClr val="009900"/>
                </a:solidFill>
              </a:rPr>
              <a:t>c) </a:t>
            </a:r>
            <a:r>
              <a:rPr lang="fr-FR" altLang="fr-FR" sz="2400" dirty="0">
                <a:ea typeface="Calibri" panose="020F0502020204030204" pitchFamily="34" charset="0"/>
                <a:cs typeface="Calibri" panose="020F0502020204030204" pitchFamily="34" charset="0"/>
              </a:rPr>
              <a:t> </a:t>
            </a:r>
            <a:r>
              <a:rPr lang="fr-FR" altLang="fr-FR" sz="2400" dirty="0">
                <a:solidFill>
                  <a:schemeClr val="accent2"/>
                </a:solidFill>
              </a:rPr>
              <a:t>36 s</a:t>
            </a:r>
          </a:p>
          <a:p>
            <a:pPr marL="0" indent="0">
              <a:buFontTx/>
              <a:buNone/>
            </a:pPr>
            <a:endParaRPr lang="fr-FR" altLang="fr-FR" sz="2400" dirty="0"/>
          </a:p>
          <a:p>
            <a:pPr marL="0" indent="0">
              <a:buFontTx/>
              <a:buNone/>
            </a:pPr>
            <a:r>
              <a:rPr lang="fr-FR" altLang="fr-FR" sz="2400" b="1" dirty="0">
                <a:solidFill>
                  <a:srgbClr val="009900"/>
                </a:solidFill>
              </a:rPr>
              <a:t>d)  </a:t>
            </a:r>
            <a:r>
              <a:rPr lang="fr-FR" altLang="fr-FR" sz="2400" dirty="0">
                <a:solidFill>
                  <a:schemeClr val="accent2"/>
                </a:solidFill>
              </a:rPr>
              <a:t>Aucune de ces réponses</a:t>
            </a:r>
          </a:p>
        </p:txBody>
      </p:sp>
      <p:sp>
        <p:nvSpPr>
          <p:cNvPr id="4" name="Ellipse 3"/>
          <p:cNvSpPr>
            <a:spLocks noChangeArrowheads="1"/>
          </p:cNvSpPr>
          <p:nvPr/>
        </p:nvSpPr>
        <p:spPr bwMode="auto">
          <a:xfrm>
            <a:off x="36513" y="4068763"/>
            <a:ext cx="644525"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5" name="Text Box 38"/>
          <p:cNvSpPr txBox="1">
            <a:spLocks noChangeArrowheads="1"/>
          </p:cNvSpPr>
          <p:nvPr/>
        </p:nvSpPr>
        <p:spPr bwMode="auto">
          <a:xfrm>
            <a:off x="347663" y="5026025"/>
            <a:ext cx="6634162" cy="14382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rIns="54000" anchor="ctr" anchorCtr="1"/>
          <a:lstStyle>
            <a:lvl1pPr marL="342900" indent="-342900">
              <a:spcBef>
                <a:spcPct val="20000"/>
              </a:spcBef>
              <a:buChar char="•"/>
              <a:defRPr>
                <a:solidFill>
                  <a:schemeClr val="tx1"/>
                </a:solidFill>
                <a:latin typeface="Arial" panose="020B0604020202020204" pitchFamily="34" charset="0"/>
              </a:defRPr>
            </a:lvl1pPr>
            <a:lvl2pPr marL="19050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lvl="1" eaLnBrk="1" hangingPunct="1">
              <a:lnSpc>
                <a:spcPct val="140000"/>
              </a:lnSpc>
              <a:buFontTx/>
              <a:buNone/>
            </a:pPr>
            <a:r>
              <a:rPr lang="fr-FR" altLang="fr-FR" sz="2400" dirty="0">
                <a:solidFill>
                  <a:schemeClr val="accent2"/>
                </a:solidFill>
                <a:latin typeface="Calibri" panose="020F0502020204030204" pitchFamily="34" charset="0"/>
              </a:rPr>
              <a:t>7 200 000  /  100 000 triangles</a:t>
            </a:r>
          </a:p>
          <a:p>
            <a:pPr lvl="1" eaLnBrk="1" hangingPunct="1">
              <a:lnSpc>
                <a:spcPct val="140000"/>
              </a:lnSpc>
              <a:buFontTx/>
              <a:buNone/>
            </a:pPr>
            <a:r>
              <a:rPr lang="fr-FR" altLang="fr-FR" sz="2400" dirty="0">
                <a:solidFill>
                  <a:schemeClr val="accent2"/>
                </a:solidFill>
                <a:latin typeface="Calibri" panose="020F0502020204030204" pitchFamily="34" charset="0"/>
              </a:rPr>
              <a:t>= 72 secondes entre 2 triangles (en moyenne)</a:t>
            </a:r>
          </a:p>
        </p:txBody>
      </p:sp>
      <p:grpSp>
        <p:nvGrpSpPr>
          <p:cNvPr id="265222" name="Groupe 148"/>
          <p:cNvGrpSpPr>
            <a:grpSpLocks/>
          </p:cNvGrpSpPr>
          <p:nvPr/>
        </p:nvGrpSpPr>
        <p:grpSpPr bwMode="auto">
          <a:xfrm>
            <a:off x="2574925" y="1236663"/>
            <a:ext cx="2065338" cy="2700496"/>
            <a:chOff x="6512072" y="293003"/>
            <a:chExt cx="2577945" cy="3071765"/>
          </a:xfrm>
        </p:grpSpPr>
        <p:pic>
          <p:nvPicPr>
            <p:cNvPr id="265247" name="Picture 61" descr="fiches info v7"/>
            <p:cNvPicPr>
              <a:picLocks noChangeAspect="1" noChangeArrowheads="1"/>
            </p:cNvPicPr>
            <p:nvPr/>
          </p:nvPicPr>
          <p:blipFill>
            <a:blip r:embed="rId3">
              <a:extLst>
                <a:ext uri="{28A0092B-C50C-407E-A947-70E740481C1C}">
                  <a14:useLocalDpi xmlns:a14="http://schemas.microsoft.com/office/drawing/2010/main" val="0"/>
                </a:ext>
              </a:extLst>
            </a:blip>
            <a:srcRect l="18002" r="28107"/>
            <a:stretch>
              <a:fillRect/>
            </a:stretch>
          </p:blipFill>
          <p:spPr bwMode="auto">
            <a:xfrm>
              <a:off x="8005015" y="1223824"/>
              <a:ext cx="1085002"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5248" name="Groupe 70"/>
            <p:cNvGrpSpPr>
              <a:grpSpLocks/>
            </p:cNvGrpSpPr>
            <p:nvPr/>
          </p:nvGrpSpPr>
          <p:grpSpPr bwMode="auto">
            <a:xfrm>
              <a:off x="6700315" y="1211466"/>
              <a:ext cx="1250332" cy="2153302"/>
              <a:chOff x="6776403" y="3744192"/>
              <a:chExt cx="1696684" cy="2922003"/>
            </a:xfrm>
          </p:grpSpPr>
          <p:sp>
            <p:nvSpPr>
              <p:cNvPr id="10" name="Rectangle 9"/>
              <p:cNvSpPr/>
              <p:nvPr/>
            </p:nvSpPr>
            <p:spPr>
              <a:xfrm>
                <a:off x="6776403" y="3779399"/>
                <a:ext cx="1696684" cy="2820391"/>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1" name="ZoneTexte 146"/>
              <p:cNvSpPr txBox="1">
                <a:spLocks noChangeArrowheads="1"/>
              </p:cNvSpPr>
              <p:nvPr/>
            </p:nvSpPr>
            <p:spPr bwMode="auto">
              <a:xfrm>
                <a:off x="6932358" y="6286141"/>
                <a:ext cx="1336374" cy="380054"/>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Jaune</a:t>
                </a:r>
              </a:p>
            </p:txBody>
          </p:sp>
          <p:sp>
            <p:nvSpPr>
              <p:cNvPr id="265252" name="ZoneTexte 146"/>
              <p:cNvSpPr txBox="1">
                <a:spLocks noChangeArrowheads="1"/>
              </p:cNvSpPr>
              <p:nvPr/>
            </p:nvSpPr>
            <p:spPr bwMode="auto">
              <a:xfrm>
                <a:off x="6848475" y="3744192"/>
                <a:ext cx="1571625" cy="4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400" dirty="0">
                    <a:latin typeface="Calibri" panose="020F0502020204030204" pitchFamily="34" charset="0"/>
                  </a:rPr>
                  <a:t>OF 45</a:t>
                </a:r>
              </a:p>
            </p:txBody>
          </p:sp>
          <p:sp>
            <p:nvSpPr>
              <p:cNvPr id="13" name="Étoile à 5 branches 12"/>
              <p:cNvSpPr/>
              <p:nvPr/>
            </p:nvSpPr>
            <p:spPr bwMode="auto">
              <a:xfrm>
                <a:off x="7241579" y="4124904"/>
                <a:ext cx="720620" cy="683656"/>
              </a:xfrm>
              <a:prstGeom prst="star5">
                <a:avLst/>
              </a:prstGeom>
              <a:solidFill>
                <a:srgbClr val="00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4" name="Triangle isocèle 13"/>
              <p:cNvSpPr/>
              <p:nvPr/>
            </p:nvSpPr>
            <p:spPr bwMode="auto">
              <a:xfrm>
                <a:off x="7289979" y="5823018"/>
                <a:ext cx="618443" cy="468024"/>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5" name="AutoShape 34"/>
              <p:cNvSpPr>
                <a:spLocks noChangeArrowheads="1"/>
              </p:cNvSpPr>
              <p:nvPr/>
            </p:nvSpPr>
            <p:spPr bwMode="auto">
              <a:xfrm>
                <a:off x="7233513" y="5107506"/>
                <a:ext cx="734064" cy="477825"/>
              </a:xfrm>
              <a:prstGeom prst="wave">
                <a:avLst>
                  <a:gd name="adj1" fmla="val 20644"/>
                  <a:gd name="adj2" fmla="val 7681"/>
                </a:avLst>
              </a:prstGeom>
              <a:solidFill>
                <a:srgbClr val="FFCC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16" name="ZoneTexte 146"/>
              <p:cNvSpPr txBox="1">
                <a:spLocks noChangeArrowheads="1"/>
              </p:cNvSpPr>
              <p:nvPr/>
            </p:nvSpPr>
            <p:spPr bwMode="auto">
              <a:xfrm>
                <a:off x="6932358" y="4779155"/>
                <a:ext cx="1336374" cy="380054"/>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Vert</a:t>
                </a:r>
              </a:p>
            </p:txBody>
          </p:sp>
          <p:sp>
            <p:nvSpPr>
              <p:cNvPr id="17" name="ZoneTexte 146"/>
              <p:cNvSpPr txBox="1">
                <a:spLocks noChangeArrowheads="1"/>
              </p:cNvSpPr>
              <p:nvPr/>
            </p:nvSpPr>
            <p:spPr bwMode="auto">
              <a:xfrm>
                <a:off x="6932358" y="5560828"/>
                <a:ext cx="1336374" cy="380054"/>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Rose</a:t>
                </a:r>
              </a:p>
            </p:txBody>
          </p:sp>
        </p:grpSp>
        <p:sp>
          <p:nvSpPr>
            <p:cNvPr id="265249" name="ZoneTexte 8"/>
            <p:cNvSpPr txBox="1">
              <a:spLocks noChangeArrowheads="1"/>
            </p:cNvSpPr>
            <p:nvPr/>
          </p:nvSpPr>
          <p:spPr bwMode="auto">
            <a:xfrm>
              <a:off x="6512072" y="293003"/>
              <a:ext cx="2577945" cy="73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200 000</a:t>
              </a:r>
              <a:endParaRPr lang="fr-FR" altLang="fr-FR" sz="1800" dirty="0">
                <a:latin typeface="Calibri" panose="020F0502020204030204" pitchFamily="34" charset="0"/>
              </a:endParaRPr>
            </a:p>
            <a:p>
              <a:pPr algn="ctr" eaLnBrk="1" hangingPunct="1">
                <a:spcBef>
                  <a:spcPct val="0"/>
                </a:spcBef>
                <a:buFontTx/>
                <a:buNone/>
              </a:pPr>
              <a:r>
                <a:rPr lang="fr-FR" altLang="fr-FR" sz="1800" dirty="0">
                  <a:latin typeface="Calibri" panose="020F0502020204030204" pitchFamily="34" charset="0"/>
                </a:rPr>
                <a:t>produits / an</a:t>
              </a:r>
            </a:p>
          </p:txBody>
        </p:sp>
      </p:grpSp>
      <p:grpSp>
        <p:nvGrpSpPr>
          <p:cNvPr id="265223" name="Groupe 167"/>
          <p:cNvGrpSpPr>
            <a:grpSpLocks/>
          </p:cNvGrpSpPr>
          <p:nvPr/>
        </p:nvGrpSpPr>
        <p:grpSpPr bwMode="auto">
          <a:xfrm>
            <a:off x="7986713" y="1238250"/>
            <a:ext cx="1476375" cy="1727200"/>
            <a:chOff x="301497" y="66690"/>
            <a:chExt cx="1680320" cy="1963377"/>
          </a:xfrm>
        </p:grpSpPr>
        <p:sp>
          <p:nvSpPr>
            <p:cNvPr id="265245" name="ZoneTexte 18"/>
            <p:cNvSpPr txBox="1">
              <a:spLocks noChangeArrowheads="1"/>
            </p:cNvSpPr>
            <p:nvPr/>
          </p:nvSpPr>
          <p:spPr bwMode="auto">
            <a:xfrm>
              <a:off x="301497" y="66690"/>
              <a:ext cx="1680320" cy="73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2000 </a:t>
              </a:r>
              <a:r>
                <a:rPr lang="fr-FR" altLang="fr-FR" sz="1800" dirty="0">
                  <a:latin typeface="Calibri" panose="020F0502020204030204" pitchFamily="34" charset="0"/>
                </a:rPr>
                <a:t>heures par an</a:t>
              </a:r>
            </a:p>
          </p:txBody>
        </p:sp>
        <p:pic>
          <p:nvPicPr>
            <p:cNvPr id="265246" name="Picture 103"/>
            <p:cNvPicPr>
              <a:picLocks noChangeAspect="1" noChangeArrowheads="1"/>
            </p:cNvPicPr>
            <p:nvPr/>
          </p:nvPicPr>
          <p:blipFill>
            <a:blip r:embed="rId4" cstate="print">
              <a:extLst>
                <a:ext uri="{28A0092B-C50C-407E-A947-70E740481C1C}">
                  <a14:useLocalDpi xmlns:a14="http://schemas.microsoft.com/office/drawing/2010/main" val="0"/>
                </a:ext>
              </a:extLst>
            </a:blip>
            <a:srcRect l="-5811" t="-5928" r="-10092" b="-7800"/>
            <a:stretch>
              <a:fillRect/>
            </a:stretch>
          </p:blipFill>
          <p:spPr bwMode="auto">
            <a:xfrm>
              <a:off x="639214" y="1063625"/>
              <a:ext cx="1004887" cy="966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5224" name="Groupe 150"/>
          <p:cNvGrpSpPr>
            <a:grpSpLocks/>
          </p:cNvGrpSpPr>
          <p:nvPr/>
        </p:nvGrpSpPr>
        <p:grpSpPr bwMode="auto">
          <a:xfrm>
            <a:off x="5113338" y="1247775"/>
            <a:ext cx="2727325" cy="2611596"/>
            <a:chOff x="440163" y="317260"/>
            <a:chExt cx="3100982" cy="2971337"/>
          </a:xfrm>
        </p:grpSpPr>
        <p:sp>
          <p:nvSpPr>
            <p:cNvPr id="265232" name="ZoneTexte 21"/>
            <p:cNvSpPr txBox="1">
              <a:spLocks noChangeArrowheads="1"/>
            </p:cNvSpPr>
            <p:nvPr/>
          </p:nvSpPr>
          <p:spPr bwMode="auto">
            <a:xfrm>
              <a:off x="511477" y="317260"/>
              <a:ext cx="3029668" cy="735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rPr>
                <a:t>1 produit sur 2</a:t>
              </a:r>
              <a:r>
                <a:rPr lang="fr-FR" altLang="fr-FR" sz="1800" dirty="0">
                  <a:latin typeface="Calibri" panose="020F0502020204030204" pitchFamily="34" charset="0"/>
                </a:rPr>
                <a:t> contient un triangle</a:t>
              </a:r>
            </a:p>
          </p:txBody>
        </p:sp>
        <p:grpSp>
          <p:nvGrpSpPr>
            <p:cNvPr id="265233" name="Groupe 61"/>
            <p:cNvGrpSpPr>
              <a:grpSpLocks/>
            </p:cNvGrpSpPr>
            <p:nvPr/>
          </p:nvGrpSpPr>
          <p:grpSpPr bwMode="auto">
            <a:xfrm>
              <a:off x="440163" y="1277496"/>
              <a:ext cx="1864744" cy="1556357"/>
              <a:chOff x="1331319" y="1506096"/>
              <a:chExt cx="1864744" cy="1556357"/>
            </a:xfrm>
          </p:grpSpPr>
          <p:pic>
            <p:nvPicPr>
              <p:cNvPr id="265243" name="Picture 37" descr="TIP5e¦ütu-fin E¦üTU12"/>
              <p:cNvPicPr>
                <a:picLocks noChangeAspect="1" noChangeArrowheads="1"/>
              </p:cNvPicPr>
              <p:nvPr/>
            </p:nvPicPr>
            <p:blipFill>
              <a:blip r:embed="rId5">
                <a:extLst>
                  <a:ext uri="{28A0092B-C50C-407E-A947-70E740481C1C}">
                    <a14:useLocalDpi xmlns:a14="http://schemas.microsoft.com/office/drawing/2010/main" val="0"/>
                  </a:ext>
                </a:extLst>
              </a:blip>
              <a:srcRect l="10245" t="6528" r="38445" b="51732"/>
              <a:stretch>
                <a:fillRect/>
              </a:stretch>
            </p:blipFill>
            <p:spPr bwMode="auto">
              <a:xfrm>
                <a:off x="1331319" y="1506096"/>
                <a:ext cx="1864744" cy="1556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riangle isocèle 33"/>
              <p:cNvSpPr/>
              <p:nvPr/>
            </p:nvSpPr>
            <p:spPr bwMode="auto">
              <a:xfrm>
                <a:off x="1926968" y="1880623"/>
                <a:ext cx="953038" cy="722470"/>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900" dirty="0">
                  <a:latin typeface="Calibri" panose="020F0502020204030204" pitchFamily="34" charset="0"/>
                </a:endParaRPr>
              </a:p>
            </p:txBody>
          </p:sp>
        </p:grpSp>
        <p:grpSp>
          <p:nvGrpSpPr>
            <p:cNvPr id="265234" name="Groupe 70"/>
            <p:cNvGrpSpPr>
              <a:grpSpLocks/>
            </p:cNvGrpSpPr>
            <p:nvPr/>
          </p:nvGrpSpPr>
          <p:grpSpPr bwMode="auto">
            <a:xfrm>
              <a:off x="2075490" y="1135225"/>
              <a:ext cx="1250862" cy="2153372"/>
              <a:chOff x="6776577" y="3950944"/>
              <a:chExt cx="1697402" cy="2922099"/>
            </a:xfrm>
          </p:grpSpPr>
          <p:sp>
            <p:nvSpPr>
              <p:cNvPr id="25" name="Rectangle 24"/>
              <p:cNvSpPr/>
              <p:nvPr/>
            </p:nvSpPr>
            <p:spPr>
              <a:xfrm>
                <a:off x="6776577" y="4002728"/>
                <a:ext cx="1697402" cy="28186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6" name="ZoneTexte 146"/>
              <p:cNvSpPr txBox="1">
                <a:spLocks noChangeArrowheads="1"/>
              </p:cNvSpPr>
              <p:nvPr/>
            </p:nvSpPr>
            <p:spPr bwMode="auto">
              <a:xfrm>
                <a:off x="6933336" y="6492900"/>
                <a:ext cx="1334898" cy="380143"/>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Jaune</a:t>
                </a:r>
              </a:p>
            </p:txBody>
          </p:sp>
          <p:sp>
            <p:nvSpPr>
              <p:cNvPr id="265237" name="ZoneTexte 146"/>
              <p:cNvSpPr txBox="1">
                <a:spLocks noChangeArrowheads="1"/>
              </p:cNvSpPr>
              <p:nvPr/>
            </p:nvSpPr>
            <p:spPr bwMode="auto">
              <a:xfrm>
                <a:off x="6848475" y="3950944"/>
                <a:ext cx="1571625" cy="452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lnSpc>
                    <a:spcPts val="1800"/>
                  </a:lnSpc>
                  <a:spcBef>
                    <a:spcPct val="0"/>
                  </a:spcBef>
                  <a:buFontTx/>
                  <a:buNone/>
                </a:pPr>
                <a:r>
                  <a:rPr lang="fr-FR" altLang="fr-FR" sz="1400" dirty="0">
                    <a:latin typeface="Calibri" panose="020F0502020204030204" pitchFamily="34" charset="0"/>
                  </a:rPr>
                  <a:t>OF 45</a:t>
                </a:r>
              </a:p>
            </p:txBody>
          </p:sp>
          <p:sp>
            <p:nvSpPr>
              <p:cNvPr id="28" name="Étoile à 5 branches 27"/>
              <p:cNvSpPr/>
              <p:nvPr/>
            </p:nvSpPr>
            <p:spPr bwMode="auto">
              <a:xfrm>
                <a:off x="7239504" y="4331156"/>
                <a:ext cx="722560" cy="686268"/>
              </a:xfrm>
              <a:prstGeom prst="star5">
                <a:avLst/>
              </a:prstGeom>
              <a:solidFill>
                <a:srgbClr val="00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29" name="Triangle isocèle 28"/>
              <p:cNvSpPr/>
              <p:nvPr/>
            </p:nvSpPr>
            <p:spPr bwMode="auto">
              <a:xfrm>
                <a:off x="7290942" y="6029670"/>
                <a:ext cx="619686" cy="468132"/>
              </a:xfrm>
              <a:prstGeom prst="triangle">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0" name="AutoShape 34"/>
              <p:cNvSpPr>
                <a:spLocks noChangeArrowheads="1"/>
              </p:cNvSpPr>
              <p:nvPr/>
            </p:nvSpPr>
            <p:spPr bwMode="auto">
              <a:xfrm>
                <a:off x="7232157" y="5313991"/>
                <a:ext cx="737255" cy="477936"/>
              </a:xfrm>
              <a:prstGeom prst="wave">
                <a:avLst>
                  <a:gd name="adj1" fmla="val 20644"/>
                  <a:gd name="adj2" fmla="val 7681"/>
                </a:avLst>
              </a:prstGeom>
              <a:solidFill>
                <a:srgbClr val="FFCCFF"/>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800" dirty="0">
                  <a:latin typeface="Calibri" panose="020F0502020204030204" pitchFamily="34" charset="0"/>
                </a:endParaRPr>
              </a:p>
            </p:txBody>
          </p:sp>
          <p:sp>
            <p:nvSpPr>
              <p:cNvPr id="31" name="ZoneTexte 146"/>
              <p:cNvSpPr txBox="1">
                <a:spLocks noChangeArrowheads="1"/>
              </p:cNvSpPr>
              <p:nvPr/>
            </p:nvSpPr>
            <p:spPr bwMode="auto">
              <a:xfrm>
                <a:off x="6933336" y="4985563"/>
                <a:ext cx="1334898" cy="380143"/>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Vert</a:t>
                </a:r>
              </a:p>
            </p:txBody>
          </p:sp>
          <p:sp>
            <p:nvSpPr>
              <p:cNvPr id="32" name="ZoneTexte 146"/>
              <p:cNvSpPr txBox="1">
                <a:spLocks noChangeArrowheads="1"/>
              </p:cNvSpPr>
              <p:nvPr/>
            </p:nvSpPr>
            <p:spPr bwMode="auto">
              <a:xfrm>
                <a:off x="6933336" y="5767417"/>
                <a:ext cx="1334898" cy="380143"/>
              </a:xfrm>
              <a:prstGeom prst="rect">
                <a:avLst/>
              </a:prstGeom>
              <a:noFill/>
              <a:ln w="9525">
                <a:noFill/>
                <a:miter lim="800000"/>
                <a:headEnd/>
                <a:tailEnd/>
              </a:ln>
            </p:spPr>
            <p:txBody>
              <a:bodyPr>
                <a:spAutoFit/>
              </a:bodyPr>
              <a:lstStyle/>
              <a:p>
                <a:pPr algn="ctr" eaLnBrk="1" hangingPunct="1">
                  <a:lnSpc>
                    <a:spcPts val="1200"/>
                  </a:lnSpc>
                  <a:defRPr/>
                </a:pPr>
                <a:r>
                  <a:rPr lang="fr-FR" sz="1050" dirty="0">
                    <a:latin typeface="Calibri" panose="020F0502020204030204" pitchFamily="34" charset="0"/>
                  </a:rPr>
                  <a:t>Rose</a:t>
                </a:r>
              </a:p>
            </p:txBody>
          </p:sp>
        </p:grpSp>
      </p:grpSp>
      <p:grpSp>
        <p:nvGrpSpPr>
          <p:cNvPr id="265225" name="Groupe 168"/>
          <p:cNvGrpSpPr>
            <a:grpSpLocks/>
          </p:cNvGrpSpPr>
          <p:nvPr/>
        </p:nvGrpSpPr>
        <p:grpSpPr bwMode="auto">
          <a:xfrm>
            <a:off x="7883525" y="3138488"/>
            <a:ext cx="1684338" cy="746125"/>
            <a:chOff x="234759" y="1934272"/>
            <a:chExt cx="1915397" cy="848652"/>
          </a:xfrm>
        </p:grpSpPr>
        <p:sp>
          <p:nvSpPr>
            <p:cNvPr id="265230" name="ZoneTexte 35"/>
            <p:cNvSpPr txBox="1">
              <a:spLocks noChangeArrowheads="1"/>
            </p:cNvSpPr>
            <p:nvPr/>
          </p:nvSpPr>
          <p:spPr bwMode="auto">
            <a:xfrm>
              <a:off x="234759" y="2362835"/>
              <a:ext cx="1915397" cy="420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800" dirty="0">
                  <a:solidFill>
                    <a:srgbClr val="FF0000"/>
                  </a:solidFill>
                  <a:latin typeface="Calibri" panose="020F0502020204030204" pitchFamily="34" charset="0"/>
                  <a:cs typeface="Arial" panose="020B0604020202020204" pitchFamily="34" charset="0"/>
                </a:rPr>
                <a:t>7 200 000</a:t>
              </a:r>
              <a:r>
                <a:rPr lang="fr-FR" altLang="fr-FR" sz="1800" dirty="0">
                  <a:latin typeface="Calibri" panose="020F0502020204030204" pitchFamily="34" charset="0"/>
                  <a:cs typeface="Arial" panose="020B0604020202020204" pitchFamily="34" charset="0"/>
                </a:rPr>
                <a:t> sec.</a:t>
              </a:r>
            </a:p>
          </p:txBody>
        </p:sp>
        <p:sp>
          <p:nvSpPr>
            <p:cNvPr id="265231" name="Flèche gauche 36"/>
            <p:cNvSpPr>
              <a:spLocks noChangeArrowheads="1"/>
            </p:cNvSpPr>
            <p:nvPr/>
          </p:nvSpPr>
          <p:spPr bwMode="auto">
            <a:xfrm rot="-5400000">
              <a:off x="1048457" y="1916273"/>
              <a:ext cx="288001" cy="324000"/>
            </a:xfrm>
            <a:prstGeom prst="leftArrow">
              <a:avLst>
                <a:gd name="adj1" fmla="val 50000"/>
                <a:gd name="adj2"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265226" name="Flèche droite 41"/>
          <p:cNvSpPr>
            <a:spLocks noChangeArrowheads="1"/>
          </p:cNvSpPr>
          <p:nvPr/>
        </p:nvSpPr>
        <p:spPr bwMode="auto">
          <a:xfrm>
            <a:off x="4713288" y="2452688"/>
            <a:ext cx="368300" cy="279400"/>
          </a:xfrm>
          <a:prstGeom prst="rightArrow">
            <a:avLst>
              <a:gd name="adj1" fmla="val 50000"/>
              <a:gd name="adj2" fmla="val 49932"/>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5227" name="Flèche droite 42"/>
          <p:cNvSpPr>
            <a:spLocks noChangeArrowheads="1"/>
          </p:cNvSpPr>
          <p:nvPr/>
        </p:nvSpPr>
        <p:spPr bwMode="auto">
          <a:xfrm>
            <a:off x="7810500" y="2452688"/>
            <a:ext cx="368300" cy="279400"/>
          </a:xfrm>
          <a:prstGeom prst="rightArrow">
            <a:avLst>
              <a:gd name="adj1" fmla="val 50000"/>
              <a:gd name="adj2" fmla="val 49932"/>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5228" name="Rectangle 44"/>
          <p:cNvSpPr>
            <a:spLocks noChangeArrowheads="1"/>
          </p:cNvSpPr>
          <p:nvPr/>
        </p:nvSpPr>
        <p:spPr bwMode="auto">
          <a:xfrm>
            <a:off x="2598738" y="1198563"/>
            <a:ext cx="6938962" cy="2976562"/>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522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42"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123</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42"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out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itre 4"/>
          <p:cNvSpPr>
            <a:spLocks noGrp="1"/>
          </p:cNvSpPr>
          <p:nvPr>
            <p:ph type="title"/>
          </p:nvPr>
        </p:nvSpPr>
        <p:spPr/>
        <p:txBody>
          <a:bodyPr/>
          <a:lstStyle/>
          <a:p>
            <a:r>
              <a:rPr lang="fr-FR" altLang="fr-FR"/>
              <a:t>Question 4</a:t>
            </a:r>
          </a:p>
        </p:txBody>
      </p:sp>
      <p:sp>
        <p:nvSpPr>
          <p:cNvPr id="267267" name="Espace réservé du contenu 12"/>
          <p:cNvSpPr>
            <a:spLocks noGrp="1"/>
          </p:cNvSpPr>
          <p:nvPr>
            <p:ph idx="1"/>
          </p:nvPr>
        </p:nvSpPr>
        <p:spPr/>
        <p:txBody>
          <a:bodyPr/>
          <a:lstStyle/>
          <a:p>
            <a:pPr marL="85725" lvl="1" indent="0">
              <a:lnSpc>
                <a:spcPct val="130000"/>
              </a:lnSpc>
              <a:buFontTx/>
              <a:buNone/>
              <a:tabLst>
                <a:tab pos="4387850" algn="l"/>
                <a:tab pos="5426075" algn="l"/>
              </a:tabLst>
            </a:pPr>
            <a:r>
              <a:rPr lang="fr-FR" altLang="fr-FR" sz="2400">
                <a:solidFill>
                  <a:schemeClr val="accent2"/>
                </a:solidFill>
              </a:rPr>
              <a:t>Quelle est la valeur du TRG, dans les conditions ci-dessous ?</a:t>
            </a:r>
          </a:p>
          <a:p>
            <a:pPr marL="85725" lvl="1" indent="0">
              <a:lnSpc>
                <a:spcPct val="130000"/>
              </a:lnSpc>
              <a:buFontTx/>
              <a:buNone/>
              <a:tabLst>
                <a:tab pos="4387850" algn="l"/>
                <a:tab pos="5426075" algn="l"/>
              </a:tabLst>
            </a:pPr>
            <a:r>
              <a:rPr lang="fr-FR" altLang="fr-FR" sz="2400">
                <a:solidFill>
                  <a:schemeClr val="accent2"/>
                </a:solidFill>
              </a:rPr>
              <a:t>- Temps d'ouverture machine = 1h00</a:t>
            </a:r>
          </a:p>
          <a:p>
            <a:pPr marL="85725" lvl="1" indent="0">
              <a:lnSpc>
                <a:spcPct val="130000"/>
              </a:lnSpc>
              <a:buFontTx/>
              <a:buNone/>
              <a:tabLst>
                <a:tab pos="4387850" algn="l"/>
                <a:tab pos="5426075" algn="l"/>
              </a:tabLst>
            </a:pPr>
            <a:r>
              <a:rPr lang="fr-FR" altLang="fr-FR" sz="2400">
                <a:solidFill>
                  <a:schemeClr val="accent2"/>
                </a:solidFill>
              </a:rPr>
              <a:t>- Nombre de pièces fabriquée = 30, dont 24 bonnes</a:t>
            </a:r>
          </a:p>
          <a:p>
            <a:pPr marL="85725" lvl="1" indent="0">
              <a:lnSpc>
                <a:spcPct val="130000"/>
              </a:lnSpc>
              <a:buFontTx/>
              <a:buNone/>
              <a:tabLst>
                <a:tab pos="4387850" algn="l"/>
                <a:tab pos="5426075" algn="l"/>
              </a:tabLst>
            </a:pPr>
            <a:r>
              <a:rPr lang="fr-FR" altLang="fr-FR" sz="2400">
                <a:solidFill>
                  <a:schemeClr val="accent2"/>
                </a:solidFill>
              </a:rPr>
              <a:t>- Temps unitaire de fabrication = 30 secondes</a:t>
            </a:r>
          </a:p>
          <a:p>
            <a:pPr marL="85725" lvl="1" indent="0">
              <a:lnSpc>
                <a:spcPct val="130000"/>
              </a:lnSpc>
              <a:buFontTx/>
              <a:buNone/>
              <a:tabLst>
                <a:tab pos="4387850" algn="l"/>
                <a:tab pos="5426075" algn="l"/>
              </a:tabLst>
            </a:pPr>
            <a:r>
              <a:rPr lang="fr-FR" altLang="fr-FR" sz="2400">
                <a:solidFill>
                  <a:schemeClr val="accent2"/>
                </a:solidFill>
              </a:rPr>
              <a:t>- Temps de changement de fabrication = 30 minutes</a:t>
            </a:r>
          </a:p>
          <a:p>
            <a:pPr marL="0" indent="0">
              <a:lnSpc>
                <a:spcPct val="150000"/>
              </a:lnSpc>
              <a:buFontTx/>
              <a:buNone/>
              <a:tabLst>
                <a:tab pos="4387850" algn="l"/>
                <a:tab pos="5426075" algn="l"/>
              </a:tabLst>
            </a:pPr>
            <a:r>
              <a:rPr lang="fr-FR" altLang="fr-FR" sz="2400" b="1">
                <a:solidFill>
                  <a:srgbClr val="009900"/>
                </a:solidFill>
              </a:rPr>
              <a:t>a)  </a:t>
            </a:r>
            <a:r>
              <a:rPr lang="fr-FR" altLang="fr-FR" sz="2400">
                <a:solidFill>
                  <a:schemeClr val="accent2"/>
                </a:solidFill>
              </a:rPr>
              <a:t>20 %</a:t>
            </a:r>
            <a:endParaRPr lang="fr-FR" altLang="fr-FR" sz="2400"/>
          </a:p>
          <a:p>
            <a:pPr marL="0" indent="0">
              <a:lnSpc>
                <a:spcPct val="150000"/>
              </a:lnSpc>
              <a:buFontTx/>
              <a:buNone/>
              <a:tabLst>
                <a:tab pos="4387850" algn="l"/>
                <a:tab pos="5426075" algn="l"/>
              </a:tabLst>
            </a:pPr>
            <a:r>
              <a:rPr lang="fr-FR" altLang="fr-FR" sz="2400" b="1">
                <a:solidFill>
                  <a:srgbClr val="009900"/>
                </a:solidFill>
              </a:rPr>
              <a:t>b)  </a:t>
            </a:r>
            <a:r>
              <a:rPr lang="fr-FR" altLang="fr-FR" sz="2400">
                <a:solidFill>
                  <a:schemeClr val="accent2"/>
                </a:solidFill>
              </a:rPr>
              <a:t>24 %</a:t>
            </a:r>
            <a:endParaRPr lang="fr-FR" altLang="fr-FR" sz="2400"/>
          </a:p>
          <a:p>
            <a:pPr marL="0" indent="0">
              <a:lnSpc>
                <a:spcPct val="150000"/>
              </a:lnSpc>
              <a:buFontTx/>
              <a:buNone/>
              <a:tabLst>
                <a:tab pos="4387850" algn="l"/>
                <a:tab pos="5426075" algn="l"/>
              </a:tabLst>
            </a:pPr>
            <a:r>
              <a:rPr lang="fr-FR" altLang="fr-FR" sz="2400" b="1">
                <a:solidFill>
                  <a:srgbClr val="009900"/>
                </a:solidFill>
              </a:rPr>
              <a:t>c)  </a:t>
            </a:r>
            <a:r>
              <a:rPr lang="fr-FR" altLang="fr-FR" sz="2400">
                <a:solidFill>
                  <a:schemeClr val="accent2"/>
                </a:solidFill>
              </a:rPr>
              <a:t>50 %</a:t>
            </a:r>
            <a:endParaRPr lang="fr-FR" altLang="fr-FR" sz="2400"/>
          </a:p>
          <a:p>
            <a:pPr marL="0" indent="0">
              <a:lnSpc>
                <a:spcPct val="150000"/>
              </a:lnSpc>
              <a:buFontTx/>
              <a:buNone/>
              <a:tabLst>
                <a:tab pos="4387850" algn="l"/>
                <a:tab pos="5426075" algn="l"/>
              </a:tabLst>
            </a:pPr>
            <a:r>
              <a:rPr lang="fr-FR" altLang="fr-FR" sz="2400" b="1">
                <a:solidFill>
                  <a:srgbClr val="009900"/>
                </a:solidFill>
              </a:rPr>
              <a:t>d)  </a:t>
            </a:r>
            <a:r>
              <a:rPr lang="fr-FR" altLang="fr-FR" sz="2400">
                <a:solidFill>
                  <a:schemeClr val="accent2"/>
                </a:solidFill>
              </a:rPr>
              <a:t>80 %</a:t>
            </a:r>
            <a:endParaRPr lang="fr-FR" altLang="fr-FR" sz="2400"/>
          </a:p>
          <a:p>
            <a:pPr marL="0" indent="0">
              <a:lnSpc>
                <a:spcPct val="150000"/>
              </a:lnSpc>
              <a:buFontTx/>
              <a:buNone/>
              <a:tabLst>
                <a:tab pos="4387850" algn="l"/>
                <a:tab pos="5426075" algn="l"/>
              </a:tabLst>
            </a:pPr>
            <a:r>
              <a:rPr lang="fr-FR" altLang="fr-FR" sz="2400" b="1">
                <a:solidFill>
                  <a:srgbClr val="009900"/>
                </a:solidFill>
              </a:rPr>
              <a:t>e)  </a:t>
            </a:r>
            <a:r>
              <a:rPr lang="fr-FR" altLang="fr-FR" sz="2400">
                <a:solidFill>
                  <a:schemeClr val="accent2"/>
                </a:solidFill>
              </a:rPr>
              <a:t>Aucune de ces réponses</a:t>
            </a:r>
            <a:endParaRPr lang="fr-FR" altLang="fr-FR" sz="2400"/>
          </a:p>
        </p:txBody>
      </p:sp>
      <p:sp>
        <p:nvSpPr>
          <p:cNvPr id="2" name="Ellipse 1"/>
          <p:cNvSpPr>
            <a:spLocks noChangeArrowheads="1"/>
          </p:cNvSpPr>
          <p:nvPr/>
        </p:nvSpPr>
        <p:spPr bwMode="auto">
          <a:xfrm>
            <a:off x="80963" y="3341688"/>
            <a:ext cx="642937" cy="660400"/>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18" name="Text Box 38"/>
          <p:cNvSpPr txBox="1">
            <a:spLocks noChangeArrowheads="1"/>
          </p:cNvSpPr>
          <p:nvPr/>
        </p:nvSpPr>
        <p:spPr bwMode="auto">
          <a:xfrm>
            <a:off x="4033838" y="3900488"/>
            <a:ext cx="5264150" cy="14382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rIns="54000" anchor="ctr" anchorCtr="1"/>
          <a:lstStyle>
            <a:lvl1pPr marL="342900" indent="-342900">
              <a:spcBef>
                <a:spcPct val="20000"/>
              </a:spcBef>
              <a:buChar char="•"/>
              <a:defRPr>
                <a:solidFill>
                  <a:schemeClr val="tx1"/>
                </a:solidFill>
                <a:latin typeface="Arial" panose="020B0604020202020204" pitchFamily="34" charset="0"/>
              </a:defRPr>
            </a:lvl1pPr>
            <a:lvl2pPr marL="19050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lvl="1" eaLnBrk="1" hangingPunct="1">
              <a:lnSpc>
                <a:spcPct val="140000"/>
              </a:lnSpc>
              <a:buFontTx/>
              <a:buNone/>
            </a:pPr>
            <a:r>
              <a:rPr lang="fr-FR" altLang="fr-FR" sz="2400" dirty="0">
                <a:solidFill>
                  <a:schemeClr val="accent2"/>
                </a:solidFill>
                <a:latin typeface="Calibri" panose="020F0502020204030204" pitchFamily="34" charset="0"/>
              </a:rPr>
              <a:t>Temps utile = 24 * 30 s = 12 min.</a:t>
            </a:r>
          </a:p>
          <a:p>
            <a:pPr lvl="1" eaLnBrk="1" hangingPunct="1">
              <a:lnSpc>
                <a:spcPct val="140000"/>
              </a:lnSpc>
              <a:buFontTx/>
              <a:buNone/>
            </a:pPr>
            <a:r>
              <a:rPr lang="fr-FR" altLang="fr-FR" sz="2400" dirty="0">
                <a:solidFill>
                  <a:schemeClr val="accent2"/>
                </a:solidFill>
                <a:latin typeface="Calibri" panose="020F0502020204030204" pitchFamily="34" charset="0"/>
              </a:rPr>
              <a:t>TRG = 12 / 60 = 20%</a:t>
            </a:r>
          </a:p>
        </p:txBody>
      </p:sp>
      <p:sp>
        <p:nvSpPr>
          <p:cNvPr id="267270"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7"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124</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42"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outHorizontal)">
                                      <p:cBhvr>
                                        <p:cTn id="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itre 1"/>
          <p:cNvSpPr>
            <a:spLocks noGrp="1"/>
          </p:cNvSpPr>
          <p:nvPr>
            <p:ph type="title"/>
          </p:nvPr>
        </p:nvSpPr>
        <p:spPr/>
        <p:txBody>
          <a:bodyPr/>
          <a:lstStyle/>
          <a:p>
            <a:r>
              <a:rPr lang="fr-FR" altLang="fr-FR"/>
              <a:t>Question 5</a:t>
            </a:r>
          </a:p>
        </p:txBody>
      </p:sp>
      <p:sp>
        <p:nvSpPr>
          <p:cNvPr id="3" name="Espace réservé du contenu 2"/>
          <p:cNvSpPr>
            <a:spLocks noGrp="1"/>
          </p:cNvSpPr>
          <p:nvPr>
            <p:ph idx="1"/>
          </p:nvPr>
        </p:nvSpPr>
        <p:spPr/>
        <p:txBody>
          <a:bodyPr/>
          <a:lstStyle/>
          <a:p>
            <a:pPr marL="0" indent="0">
              <a:buFontTx/>
              <a:buNone/>
              <a:defRPr/>
            </a:pPr>
            <a:r>
              <a:rPr lang="fr-FR" sz="2400" dirty="0">
                <a:solidFill>
                  <a:schemeClr val="accent2"/>
                </a:solidFill>
              </a:rPr>
              <a:t>Dans le cas de l'étoile,</a:t>
            </a:r>
            <a:br>
              <a:rPr lang="fr-FR" sz="2400" dirty="0">
                <a:solidFill>
                  <a:schemeClr val="accent2"/>
                </a:solidFill>
              </a:rPr>
            </a:br>
            <a:r>
              <a:rPr lang="fr-FR" sz="2400" dirty="0">
                <a:solidFill>
                  <a:schemeClr val="accent2"/>
                </a:solidFill>
              </a:rPr>
              <a:t>que faut-il faire ?</a:t>
            </a:r>
          </a:p>
          <a:p>
            <a:pPr marL="0" indent="0">
              <a:buFontTx/>
              <a:buNone/>
              <a:defRPr/>
            </a:pPr>
            <a:endParaRPr lang="fr-FR" sz="2400" dirty="0">
              <a:solidFill>
                <a:schemeClr val="accent2"/>
              </a:solidFill>
            </a:endParaRPr>
          </a:p>
          <a:p>
            <a:pPr marL="0" indent="12700">
              <a:buFontTx/>
              <a:buNone/>
              <a:defRPr/>
            </a:pPr>
            <a:r>
              <a:rPr lang="fr-FR" sz="2400" b="1" dirty="0">
                <a:solidFill>
                  <a:srgbClr val="009900"/>
                </a:solidFill>
              </a:rPr>
              <a:t>a)  </a:t>
            </a:r>
            <a:r>
              <a:rPr lang="fr-FR" sz="2400" dirty="0">
                <a:solidFill>
                  <a:schemeClr val="accent2"/>
                </a:solidFill>
              </a:rPr>
              <a:t>Monter une équipe</a:t>
            </a:r>
            <a:br>
              <a:rPr lang="fr-FR" sz="2400" dirty="0">
                <a:solidFill>
                  <a:schemeClr val="accent2"/>
                </a:solidFill>
              </a:rPr>
            </a:br>
            <a:r>
              <a:rPr lang="fr-FR" sz="2400" dirty="0">
                <a:solidFill>
                  <a:schemeClr val="accent2"/>
                </a:solidFill>
              </a:rPr>
              <a:t>     supplémentaire</a:t>
            </a:r>
          </a:p>
          <a:p>
            <a:pPr marL="0" indent="0">
              <a:buFontTx/>
              <a:buNone/>
              <a:defRPr/>
            </a:pPr>
            <a:endParaRPr lang="fr-FR" sz="2400" dirty="0">
              <a:solidFill>
                <a:srgbClr val="003FBC"/>
              </a:solidFill>
            </a:endParaRPr>
          </a:p>
          <a:p>
            <a:pPr marL="0" indent="0">
              <a:buFontTx/>
              <a:buNone/>
              <a:defRPr/>
            </a:pPr>
            <a:r>
              <a:rPr lang="fr-FR" sz="2400" b="1" dirty="0">
                <a:solidFill>
                  <a:srgbClr val="009900"/>
                </a:solidFill>
              </a:rPr>
              <a:t>b)  </a:t>
            </a:r>
            <a:r>
              <a:rPr lang="fr-FR" sz="2400" dirty="0">
                <a:solidFill>
                  <a:schemeClr val="accent2"/>
                </a:solidFill>
              </a:rPr>
              <a:t>Développer</a:t>
            </a:r>
            <a:br>
              <a:rPr lang="fr-FR" sz="2400" dirty="0">
                <a:solidFill>
                  <a:schemeClr val="accent2"/>
                </a:solidFill>
              </a:rPr>
            </a:br>
            <a:r>
              <a:rPr lang="fr-FR" sz="2400" dirty="0">
                <a:solidFill>
                  <a:schemeClr val="accent2"/>
                </a:solidFill>
              </a:rPr>
              <a:t>     la polyvalence</a:t>
            </a:r>
          </a:p>
          <a:p>
            <a:pPr marL="0" indent="0">
              <a:buFontTx/>
              <a:buNone/>
              <a:defRPr/>
            </a:pPr>
            <a:endParaRPr lang="fr-FR" sz="2400" dirty="0">
              <a:solidFill>
                <a:srgbClr val="003FBC"/>
              </a:solidFill>
            </a:endParaRPr>
          </a:p>
          <a:p>
            <a:pPr marL="0" indent="0">
              <a:buFontTx/>
              <a:buNone/>
              <a:defRPr/>
            </a:pPr>
            <a:r>
              <a:rPr lang="fr-FR" sz="2400" b="1" dirty="0">
                <a:solidFill>
                  <a:srgbClr val="009900"/>
                </a:solidFill>
              </a:rPr>
              <a:t>c)  </a:t>
            </a:r>
            <a:r>
              <a:rPr lang="fr-FR" sz="2400" dirty="0">
                <a:solidFill>
                  <a:schemeClr val="accent2"/>
                </a:solidFill>
              </a:rPr>
              <a:t>Approvisionner en lots plus importants</a:t>
            </a:r>
          </a:p>
          <a:p>
            <a:pPr marL="0" indent="0">
              <a:buFontTx/>
              <a:buNone/>
              <a:defRPr/>
            </a:pPr>
            <a:endParaRPr lang="fr-FR" sz="2400" dirty="0">
              <a:solidFill>
                <a:srgbClr val="003FBC"/>
              </a:solidFill>
            </a:endParaRPr>
          </a:p>
          <a:p>
            <a:pPr marL="0" indent="0">
              <a:buFontTx/>
              <a:buNone/>
              <a:defRPr/>
            </a:pPr>
            <a:r>
              <a:rPr lang="fr-FR" sz="2400" b="1" dirty="0">
                <a:solidFill>
                  <a:srgbClr val="009900"/>
                </a:solidFill>
              </a:rPr>
              <a:t>d)  </a:t>
            </a:r>
            <a:r>
              <a:rPr lang="fr-FR" sz="2400" dirty="0">
                <a:solidFill>
                  <a:schemeClr val="accent2"/>
                </a:solidFill>
              </a:rPr>
              <a:t>Ralentir le flux en augmentant la taille de lot</a:t>
            </a:r>
            <a:endParaRPr lang="fr-FR" sz="2400" dirty="0">
              <a:solidFill>
                <a:srgbClr val="003FBC"/>
              </a:solidFill>
            </a:endParaRPr>
          </a:p>
          <a:p>
            <a:pPr marL="0" indent="0">
              <a:buFontTx/>
              <a:buNone/>
              <a:defRPr/>
            </a:pPr>
            <a:endParaRPr lang="fr-FR" sz="2400" dirty="0">
              <a:solidFill>
                <a:srgbClr val="003FBC"/>
              </a:solidFill>
            </a:endParaRPr>
          </a:p>
          <a:p>
            <a:pPr marL="0" indent="0">
              <a:buFontTx/>
              <a:buNone/>
              <a:defRPr/>
            </a:pPr>
            <a:r>
              <a:rPr lang="fr-FR" sz="2400" b="1" dirty="0">
                <a:solidFill>
                  <a:srgbClr val="009900"/>
                </a:solidFill>
              </a:rPr>
              <a:t>e)  </a:t>
            </a:r>
            <a:r>
              <a:rPr lang="fr-FR" sz="2400" dirty="0">
                <a:solidFill>
                  <a:schemeClr val="accent2"/>
                </a:solidFill>
              </a:rPr>
              <a:t>Aucune de ces réponses</a:t>
            </a:r>
          </a:p>
        </p:txBody>
      </p:sp>
      <p:sp>
        <p:nvSpPr>
          <p:cNvPr id="5" name="Ellipse 4"/>
          <p:cNvSpPr>
            <a:spLocks noChangeArrowheads="1"/>
          </p:cNvSpPr>
          <p:nvPr/>
        </p:nvSpPr>
        <p:spPr bwMode="auto">
          <a:xfrm>
            <a:off x="55563" y="1741488"/>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pic>
        <p:nvPicPr>
          <p:cNvPr id="269317" name="Picture 4"/>
          <p:cNvPicPr>
            <a:picLocks noChangeAspect="1" noChangeArrowheads="1"/>
          </p:cNvPicPr>
          <p:nvPr/>
        </p:nvPicPr>
        <p:blipFill>
          <a:blip r:embed="rId3">
            <a:extLst>
              <a:ext uri="{28A0092B-C50C-407E-A947-70E740481C1C}">
                <a14:useLocalDpi xmlns:a14="http://schemas.microsoft.com/office/drawing/2010/main" val="0"/>
              </a:ext>
            </a:extLst>
          </a:blip>
          <a:srcRect l="1973" t="1659" r="2460" b="4182"/>
          <a:stretch>
            <a:fillRect/>
          </a:stretch>
        </p:blipFill>
        <p:spPr bwMode="auto">
          <a:xfrm>
            <a:off x="3625850" y="760413"/>
            <a:ext cx="4919663"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318" name="Rectangle 3"/>
          <p:cNvSpPr>
            <a:spLocks noChangeArrowheads="1"/>
          </p:cNvSpPr>
          <p:nvPr/>
        </p:nvSpPr>
        <p:spPr bwMode="auto">
          <a:xfrm>
            <a:off x="8113713" y="1879600"/>
            <a:ext cx="1167618" cy="2881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36000" rIns="7200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400" dirty="0">
                <a:latin typeface="Calibri" panose="020F0502020204030204" pitchFamily="34" charset="0"/>
              </a:rPr>
              <a:t>Temps de cycle</a:t>
            </a:r>
          </a:p>
        </p:txBody>
      </p:sp>
      <p:sp>
        <p:nvSpPr>
          <p:cNvPr id="269319" name="Rectangle 6"/>
          <p:cNvSpPr>
            <a:spLocks noChangeArrowheads="1"/>
          </p:cNvSpPr>
          <p:nvPr/>
        </p:nvSpPr>
        <p:spPr bwMode="auto">
          <a:xfrm>
            <a:off x="8113713" y="2143125"/>
            <a:ext cx="777511" cy="2881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36000" rIns="72000" bIns="36000">
            <a:spAutoFit/>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eaLnBrk="1" hangingPunct="1">
              <a:spcBef>
                <a:spcPct val="0"/>
              </a:spcBef>
              <a:buFontTx/>
              <a:buNone/>
            </a:pPr>
            <a:r>
              <a:rPr lang="fr-FR" altLang="fr-FR" sz="1400" dirty="0" err="1">
                <a:latin typeface="Calibri" panose="020F0502020204030204" pitchFamily="34" charset="0"/>
              </a:rPr>
              <a:t>Takt</a:t>
            </a:r>
            <a:r>
              <a:rPr lang="fr-FR" altLang="fr-FR" sz="1400" dirty="0">
                <a:latin typeface="Calibri" panose="020F0502020204030204" pitchFamily="34" charset="0"/>
              </a:rPr>
              <a:t> Time</a:t>
            </a:r>
          </a:p>
        </p:txBody>
      </p:sp>
      <p:sp>
        <p:nvSpPr>
          <p:cNvPr id="269320" name="Rectangle 7"/>
          <p:cNvSpPr>
            <a:spLocks noChangeArrowheads="1"/>
          </p:cNvSpPr>
          <p:nvPr/>
        </p:nvSpPr>
        <p:spPr bwMode="auto">
          <a:xfrm>
            <a:off x="3500438" y="584200"/>
            <a:ext cx="5989637" cy="2976563"/>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69321" name="Rectangle 8"/>
          <p:cNvSpPr>
            <a:spLocks noChangeArrowheads="1"/>
          </p:cNvSpPr>
          <p:nvPr/>
        </p:nvSpPr>
        <p:spPr bwMode="auto">
          <a:xfrm>
            <a:off x="4697413" y="1709738"/>
            <a:ext cx="615950" cy="1790700"/>
          </a:xfrm>
          <a:prstGeom prst="rect">
            <a:avLst/>
          </a:prstGeom>
          <a:noFill/>
          <a:ln w="57150"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10" name="Ellipse 9"/>
          <p:cNvSpPr>
            <a:spLocks noChangeArrowheads="1"/>
          </p:cNvSpPr>
          <p:nvPr/>
        </p:nvSpPr>
        <p:spPr bwMode="auto">
          <a:xfrm>
            <a:off x="55563" y="2979738"/>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26932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2"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125</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itre 1"/>
          <p:cNvSpPr>
            <a:spLocks noGrp="1"/>
          </p:cNvSpPr>
          <p:nvPr>
            <p:ph type="title"/>
          </p:nvPr>
        </p:nvSpPr>
        <p:spPr/>
        <p:txBody>
          <a:bodyPr/>
          <a:lstStyle/>
          <a:p>
            <a:r>
              <a:rPr lang="fr-FR" altLang="fr-FR"/>
              <a:t>Question 6</a:t>
            </a:r>
          </a:p>
        </p:txBody>
      </p:sp>
      <p:sp>
        <p:nvSpPr>
          <p:cNvPr id="271363" name="Espace réservé du contenu 2"/>
          <p:cNvSpPr>
            <a:spLocks noGrp="1"/>
          </p:cNvSpPr>
          <p:nvPr>
            <p:ph idx="1"/>
          </p:nvPr>
        </p:nvSpPr>
        <p:spPr/>
        <p:txBody>
          <a:bodyPr/>
          <a:lstStyle/>
          <a:p>
            <a:pPr marL="0" indent="0">
              <a:buFontTx/>
              <a:buNone/>
            </a:pPr>
            <a:r>
              <a:rPr lang="fr-FR" altLang="fr-FR" sz="2400">
                <a:solidFill>
                  <a:schemeClr val="accent2"/>
                </a:solidFill>
              </a:rPr>
              <a:t>Dans la décomposition du TRG, le bloc bleu correspond à :</a:t>
            </a:r>
          </a:p>
          <a:p>
            <a:pPr marL="0" indent="0">
              <a:buFontTx/>
              <a:buNone/>
            </a:pPr>
            <a:endParaRPr lang="fr-FR" altLang="fr-FR" sz="2400">
              <a:solidFill>
                <a:schemeClr val="accent2"/>
              </a:solidFill>
            </a:endParaRPr>
          </a:p>
          <a:p>
            <a:pPr marL="0" indent="0">
              <a:buFontTx/>
              <a:buNone/>
            </a:pPr>
            <a:endParaRPr lang="fr-FR" altLang="fr-FR" sz="2400">
              <a:solidFill>
                <a:schemeClr val="accent2"/>
              </a:solidFill>
            </a:endParaRPr>
          </a:p>
          <a:p>
            <a:pPr marL="0" indent="0">
              <a:buFontTx/>
              <a:buNone/>
            </a:pPr>
            <a:r>
              <a:rPr lang="fr-FR" altLang="fr-FR" sz="2400" b="1">
                <a:solidFill>
                  <a:srgbClr val="009900"/>
                </a:solidFill>
              </a:rPr>
              <a:t>a)  </a:t>
            </a:r>
            <a:r>
              <a:rPr lang="fr-FR" altLang="fr-FR" sz="2400">
                <a:solidFill>
                  <a:schemeClr val="accent2"/>
                </a:solidFill>
              </a:rPr>
              <a:t>Ralentissements</a:t>
            </a:r>
          </a:p>
          <a:p>
            <a:pPr marL="0" indent="0">
              <a:buFontTx/>
              <a:buNone/>
            </a:pPr>
            <a:endParaRPr lang="fr-FR" altLang="fr-FR" sz="2400">
              <a:solidFill>
                <a:srgbClr val="003FBC"/>
              </a:solidFill>
            </a:endParaRPr>
          </a:p>
          <a:p>
            <a:pPr marL="0" indent="0">
              <a:buFontTx/>
              <a:buNone/>
            </a:pPr>
            <a:r>
              <a:rPr lang="fr-FR" altLang="fr-FR" sz="2400" b="1">
                <a:solidFill>
                  <a:srgbClr val="009900"/>
                </a:solidFill>
              </a:rPr>
              <a:t>b)  </a:t>
            </a:r>
            <a:r>
              <a:rPr lang="fr-FR" altLang="fr-FR" sz="2400">
                <a:solidFill>
                  <a:schemeClr val="accent2"/>
                </a:solidFill>
              </a:rPr>
              <a:t>Arrêts identifiés</a:t>
            </a:r>
          </a:p>
          <a:p>
            <a:pPr marL="0" indent="0">
              <a:buFontTx/>
              <a:buNone/>
            </a:pPr>
            <a:endParaRPr lang="fr-FR" altLang="fr-FR" sz="2400">
              <a:solidFill>
                <a:srgbClr val="003FBC"/>
              </a:solidFill>
            </a:endParaRPr>
          </a:p>
          <a:p>
            <a:pPr marL="0" indent="0">
              <a:buFontTx/>
              <a:buNone/>
            </a:pPr>
            <a:r>
              <a:rPr lang="fr-FR" altLang="fr-FR" sz="2400" b="1">
                <a:solidFill>
                  <a:srgbClr val="009900"/>
                </a:solidFill>
              </a:rPr>
              <a:t>c)  </a:t>
            </a:r>
            <a:r>
              <a:rPr lang="fr-FR" altLang="fr-FR" sz="2400">
                <a:solidFill>
                  <a:schemeClr val="accent2"/>
                </a:solidFill>
              </a:rPr>
              <a:t>Reprise en production</a:t>
            </a:r>
          </a:p>
          <a:p>
            <a:pPr marL="0" indent="0">
              <a:buFontTx/>
              <a:buNone/>
            </a:pPr>
            <a:endParaRPr lang="fr-FR" altLang="fr-FR" sz="2400">
              <a:solidFill>
                <a:srgbClr val="003FBC"/>
              </a:solidFill>
            </a:endParaRPr>
          </a:p>
          <a:p>
            <a:pPr marL="0" indent="0">
              <a:buFontTx/>
              <a:buNone/>
            </a:pPr>
            <a:r>
              <a:rPr lang="fr-FR" altLang="fr-FR" sz="2400" b="1">
                <a:solidFill>
                  <a:srgbClr val="009900"/>
                </a:solidFill>
              </a:rPr>
              <a:t>d)  </a:t>
            </a:r>
            <a:r>
              <a:rPr lang="fr-FR" altLang="fr-FR" sz="2400">
                <a:solidFill>
                  <a:schemeClr val="accent2"/>
                </a:solidFill>
              </a:rPr>
              <a:t>Retouches et Rebuts</a:t>
            </a:r>
          </a:p>
          <a:p>
            <a:pPr marL="0" indent="0">
              <a:buFontTx/>
              <a:buNone/>
            </a:pPr>
            <a:endParaRPr lang="fr-FR" altLang="fr-FR" sz="2400">
              <a:solidFill>
                <a:srgbClr val="003FBC"/>
              </a:solidFill>
            </a:endParaRPr>
          </a:p>
          <a:p>
            <a:pPr marL="0" indent="0">
              <a:buFontTx/>
              <a:buNone/>
            </a:pPr>
            <a:r>
              <a:rPr lang="fr-FR" altLang="fr-FR" sz="2400" b="1">
                <a:solidFill>
                  <a:srgbClr val="009900"/>
                </a:solidFill>
              </a:rPr>
              <a:t>e)  </a:t>
            </a:r>
            <a:r>
              <a:rPr lang="fr-FR" altLang="fr-FR" sz="2400">
                <a:solidFill>
                  <a:schemeClr val="accent2"/>
                </a:solidFill>
              </a:rPr>
              <a:t>Changement de fabrication</a:t>
            </a:r>
          </a:p>
          <a:p>
            <a:pPr marL="0" indent="0">
              <a:buFontTx/>
              <a:buNone/>
            </a:pPr>
            <a:endParaRPr lang="fr-FR" altLang="fr-FR" sz="2400"/>
          </a:p>
          <a:p>
            <a:pPr marL="0" indent="0">
              <a:buFontTx/>
              <a:buNone/>
            </a:pPr>
            <a:endParaRPr lang="fr-FR" altLang="fr-FR" sz="2400" b="1">
              <a:solidFill>
                <a:srgbClr val="009900"/>
              </a:solidFill>
            </a:endParaRPr>
          </a:p>
          <a:p>
            <a:pPr marL="0" indent="0">
              <a:buFontTx/>
              <a:buNone/>
            </a:pPr>
            <a:endParaRPr lang="fr-FR" altLang="fr-FR" sz="2400" b="1">
              <a:solidFill>
                <a:srgbClr val="009900"/>
              </a:solidFill>
            </a:endParaRPr>
          </a:p>
          <a:p>
            <a:pPr marL="0" indent="0">
              <a:buFontTx/>
              <a:buNone/>
            </a:pPr>
            <a:endParaRPr lang="fr-FR" altLang="fr-FR" sz="2400"/>
          </a:p>
        </p:txBody>
      </p:sp>
      <p:sp>
        <p:nvSpPr>
          <p:cNvPr id="6" name="Ellipse 5"/>
          <p:cNvSpPr>
            <a:spLocks noChangeArrowheads="1"/>
          </p:cNvSpPr>
          <p:nvPr/>
        </p:nvSpPr>
        <p:spPr bwMode="auto">
          <a:xfrm>
            <a:off x="77788" y="2679700"/>
            <a:ext cx="644525" cy="661988"/>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4" name="Rectangle 3"/>
          <p:cNvSpPr/>
          <p:nvPr/>
        </p:nvSpPr>
        <p:spPr bwMode="auto">
          <a:xfrm>
            <a:off x="4479925" y="1181100"/>
            <a:ext cx="5011738" cy="762000"/>
          </a:xfrm>
          <a:prstGeom prst="rect">
            <a:avLst/>
          </a:prstGeom>
          <a:solidFill>
            <a:schemeClr val="bg1">
              <a:lumMod val="95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r>
              <a:rPr lang="fr-FR" sz="1600" dirty="0">
                <a:latin typeface="Calibri" panose="020F0502020204030204" pitchFamily="34" charset="0"/>
              </a:rPr>
              <a:t>Temps d'Ouverture</a:t>
            </a:r>
          </a:p>
        </p:txBody>
      </p:sp>
      <p:sp>
        <p:nvSpPr>
          <p:cNvPr id="31" name="Rectangle 30"/>
          <p:cNvSpPr/>
          <p:nvPr/>
        </p:nvSpPr>
        <p:spPr bwMode="auto">
          <a:xfrm>
            <a:off x="4479925" y="2014538"/>
            <a:ext cx="3946525" cy="760412"/>
          </a:xfrm>
          <a:prstGeom prst="rect">
            <a:avLst/>
          </a:prstGeom>
          <a:solidFill>
            <a:schemeClr val="accent2">
              <a:lumMod val="20000"/>
              <a:lumOff val="80000"/>
            </a:schemeClr>
          </a:solidFill>
          <a:ln w="9525" cap="flat" cmpd="sng" algn="ctr">
            <a:solidFill>
              <a:schemeClr val="tx1"/>
            </a:solidFill>
            <a:prstDash val="solid"/>
            <a:round/>
            <a:headEnd type="none" w="med" len="med"/>
            <a:tailEnd type="triangle" w="med" len="med"/>
          </a:ln>
          <a:effectLst/>
        </p:spPr>
        <p:txBody>
          <a:bodyPr anchor="ctr"/>
          <a:lstStyle/>
          <a:p>
            <a:pPr algn="ctr" eaLnBrk="1" hangingPunct="1">
              <a:defRPr/>
            </a:pPr>
            <a:r>
              <a:rPr lang="fr-FR" sz="1600" dirty="0">
                <a:latin typeface="Calibri" panose="020F0502020204030204" pitchFamily="34" charset="0"/>
              </a:rPr>
              <a:t>Temps brut de Fonctionnement</a:t>
            </a:r>
          </a:p>
        </p:txBody>
      </p:sp>
      <p:sp>
        <p:nvSpPr>
          <p:cNvPr id="271367" name="Rectangle 31"/>
          <p:cNvSpPr>
            <a:spLocks noChangeArrowheads="1"/>
          </p:cNvSpPr>
          <p:nvPr/>
        </p:nvSpPr>
        <p:spPr bwMode="auto">
          <a:xfrm>
            <a:off x="4479925" y="2847975"/>
            <a:ext cx="2522538" cy="760413"/>
          </a:xfrm>
          <a:prstGeom prst="rect">
            <a:avLst/>
          </a:prstGeom>
          <a:solidFill>
            <a:srgbClr val="CC99FF"/>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Temps net</a:t>
            </a:r>
          </a:p>
          <a:p>
            <a:pPr algn="ctr" eaLnBrk="1" hangingPunct="1">
              <a:spcBef>
                <a:spcPct val="0"/>
              </a:spcBef>
              <a:buFontTx/>
              <a:buNone/>
            </a:pPr>
            <a:r>
              <a:rPr lang="fr-FR" altLang="fr-FR" sz="1600" dirty="0">
                <a:latin typeface="Calibri" panose="020F0502020204030204" pitchFamily="34" charset="0"/>
              </a:rPr>
              <a:t>de Fonctionnement</a:t>
            </a:r>
          </a:p>
        </p:txBody>
      </p:sp>
      <p:sp>
        <p:nvSpPr>
          <p:cNvPr id="271368" name="Rectangle 32"/>
          <p:cNvSpPr>
            <a:spLocks noChangeArrowheads="1"/>
          </p:cNvSpPr>
          <p:nvPr/>
        </p:nvSpPr>
        <p:spPr bwMode="auto">
          <a:xfrm>
            <a:off x="4479925" y="3681413"/>
            <a:ext cx="1658938" cy="760412"/>
          </a:xfrm>
          <a:prstGeom prst="rect">
            <a:avLst/>
          </a:prstGeom>
          <a:solidFill>
            <a:srgbClr val="99FF99"/>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Temps Utile</a:t>
            </a:r>
          </a:p>
        </p:txBody>
      </p:sp>
      <p:sp>
        <p:nvSpPr>
          <p:cNvPr id="271369" name="Rectangle 34"/>
          <p:cNvSpPr>
            <a:spLocks noChangeArrowheads="1"/>
          </p:cNvSpPr>
          <p:nvPr/>
        </p:nvSpPr>
        <p:spPr bwMode="auto">
          <a:xfrm>
            <a:off x="8488363" y="2014538"/>
            <a:ext cx="1003300" cy="760412"/>
          </a:xfrm>
          <a:prstGeom prst="rect">
            <a:avLst/>
          </a:prstGeom>
          <a:solidFill>
            <a:srgbClr val="66FFFF"/>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a:t>
            </a:r>
          </a:p>
        </p:txBody>
      </p:sp>
      <p:sp>
        <p:nvSpPr>
          <p:cNvPr id="271370" name="Rectangle 35"/>
          <p:cNvSpPr>
            <a:spLocks noChangeArrowheads="1"/>
          </p:cNvSpPr>
          <p:nvPr/>
        </p:nvSpPr>
        <p:spPr bwMode="auto">
          <a:xfrm>
            <a:off x="7056438" y="2847975"/>
            <a:ext cx="1370012" cy="760413"/>
          </a:xfrm>
          <a:prstGeom prst="rect">
            <a:avLst/>
          </a:prstGeom>
          <a:solidFill>
            <a:srgbClr val="FF99CC"/>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Micro-arrêts</a:t>
            </a:r>
          </a:p>
        </p:txBody>
      </p:sp>
      <p:sp>
        <p:nvSpPr>
          <p:cNvPr id="271371" name="Rectangle 36"/>
          <p:cNvSpPr>
            <a:spLocks noChangeArrowheads="1"/>
          </p:cNvSpPr>
          <p:nvPr/>
        </p:nvSpPr>
        <p:spPr bwMode="auto">
          <a:xfrm>
            <a:off x="6211888" y="3681413"/>
            <a:ext cx="790575" cy="760412"/>
          </a:xfrm>
          <a:prstGeom prst="rect">
            <a:avLst/>
          </a:prstGeom>
          <a:solidFill>
            <a:srgbClr val="FFCDE6"/>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r>
              <a:rPr lang="fr-FR" altLang="fr-FR" sz="1600" dirty="0">
                <a:latin typeface="Calibri" panose="020F0502020204030204" pitchFamily="34" charset="0"/>
              </a:rPr>
              <a:t>Non qualité</a:t>
            </a:r>
          </a:p>
        </p:txBody>
      </p:sp>
      <p:sp>
        <p:nvSpPr>
          <p:cNvPr id="38" name="Ellipse 37"/>
          <p:cNvSpPr>
            <a:spLocks noChangeArrowheads="1"/>
          </p:cNvSpPr>
          <p:nvPr/>
        </p:nvSpPr>
        <p:spPr bwMode="auto">
          <a:xfrm>
            <a:off x="77788" y="5318125"/>
            <a:ext cx="644525" cy="661988"/>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271373"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14"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126</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8"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itre 1"/>
          <p:cNvSpPr>
            <a:spLocks noGrp="1"/>
          </p:cNvSpPr>
          <p:nvPr>
            <p:ph type="title"/>
          </p:nvPr>
        </p:nvSpPr>
        <p:spPr/>
        <p:txBody>
          <a:bodyPr/>
          <a:lstStyle/>
          <a:p>
            <a:r>
              <a:rPr lang="fr-FR" altLang="fr-FR"/>
              <a:t>Question 7</a:t>
            </a:r>
          </a:p>
        </p:txBody>
      </p:sp>
      <p:sp>
        <p:nvSpPr>
          <p:cNvPr id="273411" name="Espace réservé du contenu 2"/>
          <p:cNvSpPr>
            <a:spLocks noGrp="1"/>
          </p:cNvSpPr>
          <p:nvPr>
            <p:ph idx="1"/>
          </p:nvPr>
        </p:nvSpPr>
        <p:spPr/>
        <p:txBody>
          <a:bodyPr/>
          <a:lstStyle/>
          <a:p>
            <a:pPr marL="0" indent="0">
              <a:buFontTx/>
              <a:buNone/>
            </a:pPr>
            <a:r>
              <a:rPr lang="fr-FR" altLang="fr-FR" sz="2400">
                <a:solidFill>
                  <a:schemeClr val="accent2"/>
                </a:solidFill>
              </a:rPr>
              <a:t>Plus les encours sont importants : </a:t>
            </a:r>
          </a:p>
          <a:p>
            <a:pPr marL="0" indent="0">
              <a:buFontTx/>
              <a:buNone/>
            </a:pPr>
            <a:endParaRPr lang="fr-FR" altLang="fr-FR" sz="2400">
              <a:solidFill>
                <a:schemeClr val="accent2"/>
              </a:solidFill>
            </a:endParaRPr>
          </a:p>
          <a:p>
            <a:pPr marL="0" indent="0">
              <a:buFontTx/>
              <a:buNone/>
            </a:pPr>
            <a:endParaRPr lang="fr-FR" altLang="fr-FR" sz="2400">
              <a:solidFill>
                <a:schemeClr val="accent2"/>
              </a:solidFill>
            </a:endParaRPr>
          </a:p>
          <a:p>
            <a:pPr marL="0" indent="0">
              <a:buFontTx/>
              <a:buNone/>
            </a:pPr>
            <a:endParaRPr lang="fr-FR" altLang="fr-FR" sz="2400">
              <a:solidFill>
                <a:schemeClr val="accent2"/>
              </a:solidFill>
            </a:endParaRPr>
          </a:p>
          <a:p>
            <a:pPr marL="0" indent="0">
              <a:buFontTx/>
              <a:buNone/>
            </a:pPr>
            <a:endParaRPr lang="fr-FR" altLang="fr-FR" sz="2400">
              <a:solidFill>
                <a:schemeClr val="accent2"/>
              </a:solidFill>
            </a:endParaRPr>
          </a:p>
          <a:p>
            <a:pPr marL="0" indent="0">
              <a:buFontTx/>
              <a:buNone/>
            </a:pPr>
            <a:endParaRPr lang="fr-FR" altLang="fr-FR" sz="2400">
              <a:solidFill>
                <a:schemeClr val="accent2"/>
              </a:solidFill>
            </a:endParaRPr>
          </a:p>
          <a:p>
            <a:pPr marL="0" indent="0">
              <a:lnSpc>
                <a:spcPct val="150000"/>
              </a:lnSpc>
              <a:buFontTx/>
              <a:buNone/>
            </a:pPr>
            <a:r>
              <a:rPr lang="fr-FR" altLang="fr-FR" sz="2400" b="1">
                <a:solidFill>
                  <a:srgbClr val="009900"/>
                </a:solidFill>
              </a:rPr>
              <a:t>a)  </a:t>
            </a:r>
            <a:r>
              <a:rPr lang="fr-FR" altLang="fr-FR" sz="2400">
                <a:solidFill>
                  <a:schemeClr val="accent2"/>
                </a:solidFill>
              </a:rPr>
              <a:t>Plus le TRG de chaque machine est important</a:t>
            </a:r>
          </a:p>
          <a:p>
            <a:pPr marL="0" indent="0">
              <a:lnSpc>
                <a:spcPct val="150000"/>
              </a:lnSpc>
              <a:buFontTx/>
              <a:buNone/>
            </a:pPr>
            <a:r>
              <a:rPr lang="fr-FR" altLang="fr-FR" sz="2400" b="1">
                <a:solidFill>
                  <a:srgbClr val="009900"/>
                </a:solidFill>
              </a:rPr>
              <a:t>b)  </a:t>
            </a:r>
            <a:r>
              <a:rPr lang="fr-FR" altLang="fr-FR" sz="2400">
                <a:solidFill>
                  <a:schemeClr val="accent2"/>
                </a:solidFill>
              </a:rPr>
              <a:t>Plus le TRG de la machine goulot est important</a:t>
            </a:r>
            <a:endParaRPr lang="fr-FR" altLang="fr-FR" sz="2400">
              <a:solidFill>
                <a:srgbClr val="003FBC"/>
              </a:solidFill>
            </a:endParaRPr>
          </a:p>
          <a:p>
            <a:pPr marL="0" indent="0">
              <a:lnSpc>
                <a:spcPct val="150000"/>
              </a:lnSpc>
              <a:buFontTx/>
              <a:buNone/>
            </a:pPr>
            <a:r>
              <a:rPr lang="fr-FR" altLang="fr-FR" sz="2400" b="1">
                <a:solidFill>
                  <a:srgbClr val="009900"/>
                </a:solidFill>
              </a:rPr>
              <a:t>c)  </a:t>
            </a:r>
            <a:r>
              <a:rPr lang="fr-FR" altLang="fr-FR" sz="2400">
                <a:solidFill>
                  <a:schemeClr val="accent2"/>
                </a:solidFill>
              </a:rPr>
              <a:t>Plus le délai de passage est important</a:t>
            </a:r>
            <a:endParaRPr lang="fr-FR" altLang="fr-FR" sz="2400">
              <a:solidFill>
                <a:srgbClr val="003FBC"/>
              </a:solidFill>
            </a:endParaRPr>
          </a:p>
          <a:p>
            <a:pPr marL="0" indent="0">
              <a:lnSpc>
                <a:spcPct val="150000"/>
              </a:lnSpc>
              <a:buFontTx/>
              <a:buNone/>
            </a:pPr>
            <a:r>
              <a:rPr lang="fr-FR" altLang="fr-FR" sz="2400" b="1">
                <a:solidFill>
                  <a:srgbClr val="009900"/>
                </a:solidFill>
              </a:rPr>
              <a:t>d)  </a:t>
            </a:r>
            <a:r>
              <a:rPr lang="fr-FR" altLang="fr-FR" sz="2400">
                <a:solidFill>
                  <a:schemeClr val="accent2"/>
                </a:solidFill>
              </a:rPr>
              <a:t>Plus les coûts de non-qualité diminuent</a:t>
            </a:r>
            <a:endParaRPr lang="fr-FR" altLang="fr-FR" sz="2400">
              <a:solidFill>
                <a:srgbClr val="003FBC"/>
              </a:solidFill>
            </a:endParaRPr>
          </a:p>
          <a:p>
            <a:pPr marL="0" indent="0">
              <a:lnSpc>
                <a:spcPct val="150000"/>
              </a:lnSpc>
              <a:buFontTx/>
              <a:buNone/>
            </a:pPr>
            <a:r>
              <a:rPr lang="fr-FR" altLang="fr-FR" sz="2400" b="1">
                <a:solidFill>
                  <a:srgbClr val="009900"/>
                </a:solidFill>
              </a:rPr>
              <a:t>e)  </a:t>
            </a:r>
            <a:r>
              <a:rPr lang="fr-FR" altLang="fr-FR" sz="2400">
                <a:solidFill>
                  <a:schemeClr val="accent2"/>
                </a:solidFill>
              </a:rPr>
              <a:t>Aucune de ces réponses</a:t>
            </a:r>
          </a:p>
        </p:txBody>
      </p:sp>
      <p:sp>
        <p:nvSpPr>
          <p:cNvPr id="4" name="Ellipse 3"/>
          <p:cNvSpPr>
            <a:spLocks noChangeArrowheads="1"/>
          </p:cNvSpPr>
          <p:nvPr/>
        </p:nvSpPr>
        <p:spPr bwMode="auto">
          <a:xfrm>
            <a:off x="55563" y="4484688"/>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2400" b="1" dirty="0">
              <a:solidFill>
                <a:srgbClr val="333399"/>
              </a:solidFill>
              <a:latin typeface="Calibri" panose="020F0502020204030204" pitchFamily="34" charset="0"/>
            </a:endParaRPr>
          </a:p>
        </p:txBody>
      </p:sp>
      <p:pic>
        <p:nvPicPr>
          <p:cNvPr id="2734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5844" r="15620" b="26930"/>
          <a:stretch>
            <a:fillRect/>
          </a:stretch>
        </p:blipFill>
        <p:spPr bwMode="auto">
          <a:xfrm>
            <a:off x="236538" y="1073150"/>
            <a:ext cx="9261475"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73414" name="Groupe 32"/>
          <p:cNvGrpSpPr>
            <a:grpSpLocks/>
          </p:cNvGrpSpPr>
          <p:nvPr/>
        </p:nvGrpSpPr>
        <p:grpSpPr bwMode="auto">
          <a:xfrm>
            <a:off x="879475" y="1638300"/>
            <a:ext cx="476250" cy="1254125"/>
            <a:chOff x="878840" y="1637665"/>
            <a:chExt cx="477520" cy="1254125"/>
          </a:xfrm>
        </p:grpSpPr>
        <p:sp>
          <p:nvSpPr>
            <p:cNvPr id="273473" name="Rectangle 7"/>
            <p:cNvSpPr>
              <a:spLocks noChangeArrowheads="1"/>
            </p:cNvSpPr>
            <p:nvPr/>
          </p:nvSpPr>
          <p:spPr bwMode="auto">
            <a:xfrm>
              <a:off x="87884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4" name="Rectangle 8"/>
            <p:cNvSpPr>
              <a:spLocks noChangeArrowheads="1"/>
            </p:cNvSpPr>
            <p:nvPr/>
          </p:nvSpPr>
          <p:spPr bwMode="auto">
            <a:xfrm>
              <a:off x="112268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5" name="Rectangle 9"/>
            <p:cNvSpPr>
              <a:spLocks noChangeArrowheads="1"/>
            </p:cNvSpPr>
            <p:nvPr/>
          </p:nvSpPr>
          <p:spPr bwMode="auto">
            <a:xfrm>
              <a:off x="87884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6" name="Rectangle 10"/>
            <p:cNvSpPr>
              <a:spLocks noChangeArrowheads="1"/>
            </p:cNvSpPr>
            <p:nvPr/>
          </p:nvSpPr>
          <p:spPr bwMode="auto">
            <a:xfrm>
              <a:off x="112268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7" name="Rectangle 11"/>
            <p:cNvSpPr>
              <a:spLocks noChangeArrowheads="1"/>
            </p:cNvSpPr>
            <p:nvPr/>
          </p:nvSpPr>
          <p:spPr bwMode="auto">
            <a:xfrm>
              <a:off x="87884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8" name="Rectangle 12"/>
            <p:cNvSpPr>
              <a:spLocks noChangeArrowheads="1"/>
            </p:cNvSpPr>
            <p:nvPr/>
          </p:nvSpPr>
          <p:spPr bwMode="auto">
            <a:xfrm>
              <a:off x="112268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9" name="Rectangle 13"/>
            <p:cNvSpPr>
              <a:spLocks noChangeArrowheads="1"/>
            </p:cNvSpPr>
            <p:nvPr/>
          </p:nvSpPr>
          <p:spPr bwMode="auto">
            <a:xfrm>
              <a:off x="87884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80" name="Rectangle 14"/>
            <p:cNvSpPr>
              <a:spLocks noChangeArrowheads="1"/>
            </p:cNvSpPr>
            <p:nvPr/>
          </p:nvSpPr>
          <p:spPr bwMode="auto">
            <a:xfrm>
              <a:off x="112268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81" name="Rectangle 15"/>
            <p:cNvSpPr>
              <a:spLocks noChangeArrowheads="1"/>
            </p:cNvSpPr>
            <p:nvPr/>
          </p:nvSpPr>
          <p:spPr bwMode="auto">
            <a:xfrm>
              <a:off x="87884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82" name="Rectangle 16"/>
            <p:cNvSpPr>
              <a:spLocks noChangeArrowheads="1"/>
            </p:cNvSpPr>
            <p:nvPr/>
          </p:nvSpPr>
          <p:spPr bwMode="auto">
            <a:xfrm>
              <a:off x="112268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83" name="Rectangle 17"/>
            <p:cNvSpPr>
              <a:spLocks noChangeArrowheads="1"/>
            </p:cNvSpPr>
            <p:nvPr/>
          </p:nvSpPr>
          <p:spPr bwMode="auto">
            <a:xfrm>
              <a:off x="87884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84" name="Rectangle 18"/>
            <p:cNvSpPr>
              <a:spLocks noChangeArrowheads="1"/>
            </p:cNvSpPr>
            <p:nvPr/>
          </p:nvSpPr>
          <p:spPr bwMode="auto">
            <a:xfrm>
              <a:off x="112268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73415" name="Groupe 31"/>
          <p:cNvGrpSpPr>
            <a:grpSpLocks/>
          </p:cNvGrpSpPr>
          <p:nvPr/>
        </p:nvGrpSpPr>
        <p:grpSpPr bwMode="auto">
          <a:xfrm>
            <a:off x="2847975" y="1638300"/>
            <a:ext cx="477838" cy="1254125"/>
            <a:chOff x="2848610" y="1637665"/>
            <a:chExt cx="477520" cy="1254125"/>
          </a:xfrm>
        </p:grpSpPr>
        <p:sp>
          <p:nvSpPr>
            <p:cNvPr id="273461" name="Rectangle 19"/>
            <p:cNvSpPr>
              <a:spLocks noChangeArrowheads="1"/>
            </p:cNvSpPr>
            <p:nvPr/>
          </p:nvSpPr>
          <p:spPr bwMode="auto">
            <a:xfrm>
              <a:off x="284861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2" name="Rectangle 20"/>
            <p:cNvSpPr>
              <a:spLocks noChangeArrowheads="1"/>
            </p:cNvSpPr>
            <p:nvPr/>
          </p:nvSpPr>
          <p:spPr bwMode="auto">
            <a:xfrm>
              <a:off x="309245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3" name="Rectangle 21"/>
            <p:cNvSpPr>
              <a:spLocks noChangeArrowheads="1"/>
            </p:cNvSpPr>
            <p:nvPr/>
          </p:nvSpPr>
          <p:spPr bwMode="auto">
            <a:xfrm>
              <a:off x="284861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4" name="Rectangle 22"/>
            <p:cNvSpPr>
              <a:spLocks noChangeArrowheads="1"/>
            </p:cNvSpPr>
            <p:nvPr/>
          </p:nvSpPr>
          <p:spPr bwMode="auto">
            <a:xfrm>
              <a:off x="309245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5" name="Rectangle 23"/>
            <p:cNvSpPr>
              <a:spLocks noChangeArrowheads="1"/>
            </p:cNvSpPr>
            <p:nvPr/>
          </p:nvSpPr>
          <p:spPr bwMode="auto">
            <a:xfrm>
              <a:off x="284861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6" name="Rectangle 24"/>
            <p:cNvSpPr>
              <a:spLocks noChangeArrowheads="1"/>
            </p:cNvSpPr>
            <p:nvPr/>
          </p:nvSpPr>
          <p:spPr bwMode="auto">
            <a:xfrm>
              <a:off x="309245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7" name="Rectangle 25"/>
            <p:cNvSpPr>
              <a:spLocks noChangeArrowheads="1"/>
            </p:cNvSpPr>
            <p:nvPr/>
          </p:nvSpPr>
          <p:spPr bwMode="auto">
            <a:xfrm>
              <a:off x="284861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8" name="Rectangle 26"/>
            <p:cNvSpPr>
              <a:spLocks noChangeArrowheads="1"/>
            </p:cNvSpPr>
            <p:nvPr/>
          </p:nvSpPr>
          <p:spPr bwMode="auto">
            <a:xfrm>
              <a:off x="309245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9" name="Rectangle 27"/>
            <p:cNvSpPr>
              <a:spLocks noChangeArrowheads="1"/>
            </p:cNvSpPr>
            <p:nvPr/>
          </p:nvSpPr>
          <p:spPr bwMode="auto">
            <a:xfrm>
              <a:off x="284861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0" name="Rectangle 28"/>
            <p:cNvSpPr>
              <a:spLocks noChangeArrowheads="1"/>
            </p:cNvSpPr>
            <p:nvPr/>
          </p:nvSpPr>
          <p:spPr bwMode="auto">
            <a:xfrm>
              <a:off x="309245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1" name="Rectangle 29"/>
            <p:cNvSpPr>
              <a:spLocks noChangeArrowheads="1"/>
            </p:cNvSpPr>
            <p:nvPr/>
          </p:nvSpPr>
          <p:spPr bwMode="auto">
            <a:xfrm>
              <a:off x="284861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72" name="Rectangle 30"/>
            <p:cNvSpPr>
              <a:spLocks noChangeArrowheads="1"/>
            </p:cNvSpPr>
            <p:nvPr/>
          </p:nvSpPr>
          <p:spPr bwMode="auto">
            <a:xfrm>
              <a:off x="309245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73416" name="Groupe 33"/>
          <p:cNvGrpSpPr>
            <a:grpSpLocks/>
          </p:cNvGrpSpPr>
          <p:nvPr/>
        </p:nvGrpSpPr>
        <p:grpSpPr bwMode="auto">
          <a:xfrm>
            <a:off x="4975225" y="1638300"/>
            <a:ext cx="476250" cy="1254125"/>
            <a:chOff x="2848610" y="1637665"/>
            <a:chExt cx="477520" cy="1254125"/>
          </a:xfrm>
        </p:grpSpPr>
        <p:sp>
          <p:nvSpPr>
            <p:cNvPr id="273449" name="Rectangle 34"/>
            <p:cNvSpPr>
              <a:spLocks noChangeArrowheads="1"/>
            </p:cNvSpPr>
            <p:nvPr/>
          </p:nvSpPr>
          <p:spPr bwMode="auto">
            <a:xfrm>
              <a:off x="284861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0" name="Rectangle 35"/>
            <p:cNvSpPr>
              <a:spLocks noChangeArrowheads="1"/>
            </p:cNvSpPr>
            <p:nvPr/>
          </p:nvSpPr>
          <p:spPr bwMode="auto">
            <a:xfrm>
              <a:off x="309245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1" name="Rectangle 36"/>
            <p:cNvSpPr>
              <a:spLocks noChangeArrowheads="1"/>
            </p:cNvSpPr>
            <p:nvPr/>
          </p:nvSpPr>
          <p:spPr bwMode="auto">
            <a:xfrm>
              <a:off x="284861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2" name="Rectangle 37"/>
            <p:cNvSpPr>
              <a:spLocks noChangeArrowheads="1"/>
            </p:cNvSpPr>
            <p:nvPr/>
          </p:nvSpPr>
          <p:spPr bwMode="auto">
            <a:xfrm>
              <a:off x="309245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3" name="Rectangle 38"/>
            <p:cNvSpPr>
              <a:spLocks noChangeArrowheads="1"/>
            </p:cNvSpPr>
            <p:nvPr/>
          </p:nvSpPr>
          <p:spPr bwMode="auto">
            <a:xfrm>
              <a:off x="284861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4" name="Rectangle 39"/>
            <p:cNvSpPr>
              <a:spLocks noChangeArrowheads="1"/>
            </p:cNvSpPr>
            <p:nvPr/>
          </p:nvSpPr>
          <p:spPr bwMode="auto">
            <a:xfrm>
              <a:off x="309245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5" name="Rectangle 40"/>
            <p:cNvSpPr>
              <a:spLocks noChangeArrowheads="1"/>
            </p:cNvSpPr>
            <p:nvPr/>
          </p:nvSpPr>
          <p:spPr bwMode="auto">
            <a:xfrm>
              <a:off x="284861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6" name="Rectangle 41"/>
            <p:cNvSpPr>
              <a:spLocks noChangeArrowheads="1"/>
            </p:cNvSpPr>
            <p:nvPr/>
          </p:nvSpPr>
          <p:spPr bwMode="auto">
            <a:xfrm>
              <a:off x="309245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7" name="Rectangle 42"/>
            <p:cNvSpPr>
              <a:spLocks noChangeArrowheads="1"/>
            </p:cNvSpPr>
            <p:nvPr/>
          </p:nvSpPr>
          <p:spPr bwMode="auto">
            <a:xfrm>
              <a:off x="284861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8" name="Rectangle 43"/>
            <p:cNvSpPr>
              <a:spLocks noChangeArrowheads="1"/>
            </p:cNvSpPr>
            <p:nvPr/>
          </p:nvSpPr>
          <p:spPr bwMode="auto">
            <a:xfrm>
              <a:off x="309245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59" name="Rectangle 44"/>
            <p:cNvSpPr>
              <a:spLocks noChangeArrowheads="1"/>
            </p:cNvSpPr>
            <p:nvPr/>
          </p:nvSpPr>
          <p:spPr bwMode="auto">
            <a:xfrm>
              <a:off x="284861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60" name="Rectangle 45"/>
            <p:cNvSpPr>
              <a:spLocks noChangeArrowheads="1"/>
            </p:cNvSpPr>
            <p:nvPr/>
          </p:nvSpPr>
          <p:spPr bwMode="auto">
            <a:xfrm>
              <a:off x="309245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73417" name="Groupe 46"/>
          <p:cNvGrpSpPr>
            <a:grpSpLocks/>
          </p:cNvGrpSpPr>
          <p:nvPr/>
        </p:nvGrpSpPr>
        <p:grpSpPr bwMode="auto">
          <a:xfrm>
            <a:off x="6788150" y="1638300"/>
            <a:ext cx="477838" cy="1254125"/>
            <a:chOff x="2848610" y="1637665"/>
            <a:chExt cx="477520" cy="1254125"/>
          </a:xfrm>
        </p:grpSpPr>
        <p:sp>
          <p:nvSpPr>
            <p:cNvPr id="273437" name="Rectangle 47"/>
            <p:cNvSpPr>
              <a:spLocks noChangeArrowheads="1"/>
            </p:cNvSpPr>
            <p:nvPr/>
          </p:nvSpPr>
          <p:spPr bwMode="auto">
            <a:xfrm>
              <a:off x="284861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8" name="Rectangle 48"/>
            <p:cNvSpPr>
              <a:spLocks noChangeArrowheads="1"/>
            </p:cNvSpPr>
            <p:nvPr/>
          </p:nvSpPr>
          <p:spPr bwMode="auto">
            <a:xfrm>
              <a:off x="309245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9" name="Rectangle 49"/>
            <p:cNvSpPr>
              <a:spLocks noChangeArrowheads="1"/>
            </p:cNvSpPr>
            <p:nvPr/>
          </p:nvSpPr>
          <p:spPr bwMode="auto">
            <a:xfrm>
              <a:off x="284861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0" name="Rectangle 50"/>
            <p:cNvSpPr>
              <a:spLocks noChangeArrowheads="1"/>
            </p:cNvSpPr>
            <p:nvPr/>
          </p:nvSpPr>
          <p:spPr bwMode="auto">
            <a:xfrm>
              <a:off x="309245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1" name="Rectangle 51"/>
            <p:cNvSpPr>
              <a:spLocks noChangeArrowheads="1"/>
            </p:cNvSpPr>
            <p:nvPr/>
          </p:nvSpPr>
          <p:spPr bwMode="auto">
            <a:xfrm>
              <a:off x="284861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2" name="Rectangle 52"/>
            <p:cNvSpPr>
              <a:spLocks noChangeArrowheads="1"/>
            </p:cNvSpPr>
            <p:nvPr/>
          </p:nvSpPr>
          <p:spPr bwMode="auto">
            <a:xfrm>
              <a:off x="309245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3" name="Rectangle 53"/>
            <p:cNvSpPr>
              <a:spLocks noChangeArrowheads="1"/>
            </p:cNvSpPr>
            <p:nvPr/>
          </p:nvSpPr>
          <p:spPr bwMode="auto">
            <a:xfrm>
              <a:off x="284861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4" name="Rectangle 54"/>
            <p:cNvSpPr>
              <a:spLocks noChangeArrowheads="1"/>
            </p:cNvSpPr>
            <p:nvPr/>
          </p:nvSpPr>
          <p:spPr bwMode="auto">
            <a:xfrm>
              <a:off x="309245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5" name="Rectangle 55"/>
            <p:cNvSpPr>
              <a:spLocks noChangeArrowheads="1"/>
            </p:cNvSpPr>
            <p:nvPr/>
          </p:nvSpPr>
          <p:spPr bwMode="auto">
            <a:xfrm>
              <a:off x="284861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6" name="Rectangle 56"/>
            <p:cNvSpPr>
              <a:spLocks noChangeArrowheads="1"/>
            </p:cNvSpPr>
            <p:nvPr/>
          </p:nvSpPr>
          <p:spPr bwMode="auto">
            <a:xfrm>
              <a:off x="309245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7" name="Rectangle 57"/>
            <p:cNvSpPr>
              <a:spLocks noChangeArrowheads="1"/>
            </p:cNvSpPr>
            <p:nvPr/>
          </p:nvSpPr>
          <p:spPr bwMode="auto">
            <a:xfrm>
              <a:off x="284861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48" name="Rectangle 58"/>
            <p:cNvSpPr>
              <a:spLocks noChangeArrowheads="1"/>
            </p:cNvSpPr>
            <p:nvPr/>
          </p:nvSpPr>
          <p:spPr bwMode="auto">
            <a:xfrm>
              <a:off x="309245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grpSp>
        <p:nvGrpSpPr>
          <p:cNvPr id="273418" name="Groupe 59"/>
          <p:cNvGrpSpPr>
            <a:grpSpLocks/>
          </p:cNvGrpSpPr>
          <p:nvPr/>
        </p:nvGrpSpPr>
        <p:grpSpPr bwMode="auto">
          <a:xfrm>
            <a:off x="8899525" y="1638300"/>
            <a:ext cx="476250" cy="1254125"/>
            <a:chOff x="2848610" y="1637665"/>
            <a:chExt cx="477520" cy="1254125"/>
          </a:xfrm>
        </p:grpSpPr>
        <p:sp>
          <p:nvSpPr>
            <p:cNvPr id="273425" name="Rectangle 60"/>
            <p:cNvSpPr>
              <a:spLocks noChangeArrowheads="1"/>
            </p:cNvSpPr>
            <p:nvPr/>
          </p:nvSpPr>
          <p:spPr bwMode="auto">
            <a:xfrm>
              <a:off x="284861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6" name="Rectangle 61"/>
            <p:cNvSpPr>
              <a:spLocks noChangeArrowheads="1"/>
            </p:cNvSpPr>
            <p:nvPr/>
          </p:nvSpPr>
          <p:spPr bwMode="auto">
            <a:xfrm>
              <a:off x="3092450" y="269875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7" name="Rectangle 62"/>
            <p:cNvSpPr>
              <a:spLocks noChangeArrowheads="1"/>
            </p:cNvSpPr>
            <p:nvPr/>
          </p:nvSpPr>
          <p:spPr bwMode="auto">
            <a:xfrm>
              <a:off x="284861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8" name="Rectangle 63"/>
            <p:cNvSpPr>
              <a:spLocks noChangeArrowheads="1"/>
            </p:cNvSpPr>
            <p:nvPr/>
          </p:nvSpPr>
          <p:spPr bwMode="auto">
            <a:xfrm>
              <a:off x="3092450" y="248539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9" name="Rectangle 64"/>
            <p:cNvSpPr>
              <a:spLocks noChangeArrowheads="1"/>
            </p:cNvSpPr>
            <p:nvPr/>
          </p:nvSpPr>
          <p:spPr bwMode="auto">
            <a:xfrm>
              <a:off x="284861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0" name="Rectangle 65"/>
            <p:cNvSpPr>
              <a:spLocks noChangeArrowheads="1"/>
            </p:cNvSpPr>
            <p:nvPr/>
          </p:nvSpPr>
          <p:spPr bwMode="auto">
            <a:xfrm>
              <a:off x="3092450" y="2272030"/>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1" name="Rectangle 66"/>
            <p:cNvSpPr>
              <a:spLocks noChangeArrowheads="1"/>
            </p:cNvSpPr>
            <p:nvPr/>
          </p:nvSpPr>
          <p:spPr bwMode="auto">
            <a:xfrm>
              <a:off x="284861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2" name="Rectangle 67"/>
            <p:cNvSpPr>
              <a:spLocks noChangeArrowheads="1"/>
            </p:cNvSpPr>
            <p:nvPr/>
          </p:nvSpPr>
          <p:spPr bwMode="auto">
            <a:xfrm>
              <a:off x="3092450" y="206438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3" name="Rectangle 68"/>
            <p:cNvSpPr>
              <a:spLocks noChangeArrowheads="1"/>
            </p:cNvSpPr>
            <p:nvPr/>
          </p:nvSpPr>
          <p:spPr bwMode="auto">
            <a:xfrm>
              <a:off x="284861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4" name="Rectangle 69"/>
            <p:cNvSpPr>
              <a:spLocks noChangeArrowheads="1"/>
            </p:cNvSpPr>
            <p:nvPr/>
          </p:nvSpPr>
          <p:spPr bwMode="auto">
            <a:xfrm>
              <a:off x="3092450" y="185102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5" name="Rectangle 70"/>
            <p:cNvSpPr>
              <a:spLocks noChangeArrowheads="1"/>
            </p:cNvSpPr>
            <p:nvPr/>
          </p:nvSpPr>
          <p:spPr bwMode="auto">
            <a:xfrm>
              <a:off x="284861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36" name="Rectangle 71"/>
            <p:cNvSpPr>
              <a:spLocks noChangeArrowheads="1"/>
            </p:cNvSpPr>
            <p:nvPr/>
          </p:nvSpPr>
          <p:spPr bwMode="auto">
            <a:xfrm>
              <a:off x="3092450" y="1637665"/>
              <a:ext cx="233680" cy="193040"/>
            </a:xfrm>
            <a:prstGeom prst="rect">
              <a:avLst/>
            </a:prstGeom>
            <a:solidFill>
              <a:srgbClr val="FFFF00"/>
            </a:solidFill>
            <a:ln w="317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grpSp>
      <p:sp>
        <p:nvSpPr>
          <p:cNvPr id="273419" name="Flèche vers le haut 72"/>
          <p:cNvSpPr>
            <a:spLocks noChangeArrowheads="1"/>
          </p:cNvSpPr>
          <p:nvPr/>
        </p:nvSpPr>
        <p:spPr bwMode="auto">
          <a:xfrm>
            <a:off x="8994775" y="1339850"/>
            <a:ext cx="282575" cy="457200"/>
          </a:xfrm>
          <a:prstGeom prst="upArrow">
            <a:avLst>
              <a:gd name="adj1" fmla="val 50000"/>
              <a:gd name="adj2" fmla="val 49820"/>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0" name="Flèche vers le haut 73"/>
          <p:cNvSpPr>
            <a:spLocks noChangeArrowheads="1"/>
          </p:cNvSpPr>
          <p:nvPr/>
        </p:nvSpPr>
        <p:spPr bwMode="auto">
          <a:xfrm>
            <a:off x="6888163" y="1339850"/>
            <a:ext cx="282575" cy="457200"/>
          </a:xfrm>
          <a:prstGeom prst="upArrow">
            <a:avLst>
              <a:gd name="adj1" fmla="val 50000"/>
              <a:gd name="adj2" fmla="val 49820"/>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1" name="Flèche vers le haut 74"/>
          <p:cNvSpPr>
            <a:spLocks noChangeArrowheads="1"/>
          </p:cNvSpPr>
          <p:nvPr/>
        </p:nvSpPr>
        <p:spPr bwMode="auto">
          <a:xfrm>
            <a:off x="5070475" y="1339850"/>
            <a:ext cx="282575" cy="457200"/>
          </a:xfrm>
          <a:prstGeom prst="upArrow">
            <a:avLst>
              <a:gd name="adj1" fmla="val 50000"/>
              <a:gd name="adj2" fmla="val 49820"/>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2" name="Flèche vers le haut 75"/>
          <p:cNvSpPr>
            <a:spLocks noChangeArrowheads="1"/>
          </p:cNvSpPr>
          <p:nvPr/>
        </p:nvSpPr>
        <p:spPr bwMode="auto">
          <a:xfrm>
            <a:off x="2949575" y="1339850"/>
            <a:ext cx="280988" cy="457200"/>
          </a:xfrm>
          <a:prstGeom prst="upArrow">
            <a:avLst>
              <a:gd name="adj1" fmla="val 50000"/>
              <a:gd name="adj2" fmla="val 50102"/>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3" name="Flèche vers le haut 76"/>
          <p:cNvSpPr>
            <a:spLocks noChangeArrowheads="1"/>
          </p:cNvSpPr>
          <p:nvPr/>
        </p:nvSpPr>
        <p:spPr bwMode="auto">
          <a:xfrm>
            <a:off x="979488" y="1339850"/>
            <a:ext cx="280987" cy="457200"/>
          </a:xfrm>
          <a:prstGeom prst="upArrow">
            <a:avLst>
              <a:gd name="adj1" fmla="val 50000"/>
              <a:gd name="adj2" fmla="val 50102"/>
            </a:avLst>
          </a:prstGeom>
          <a:solidFill>
            <a:srgbClr val="FFFF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3424"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77"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127</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Titre 1"/>
          <p:cNvSpPr>
            <a:spLocks noGrp="1"/>
          </p:cNvSpPr>
          <p:nvPr>
            <p:ph type="title"/>
          </p:nvPr>
        </p:nvSpPr>
        <p:spPr/>
        <p:txBody>
          <a:bodyPr/>
          <a:lstStyle/>
          <a:p>
            <a:r>
              <a:rPr lang="fr-FR" altLang="fr-FR"/>
              <a:t>Question 8</a:t>
            </a:r>
          </a:p>
        </p:txBody>
      </p:sp>
      <p:sp>
        <p:nvSpPr>
          <p:cNvPr id="275459" name="Espace réservé du contenu 2"/>
          <p:cNvSpPr>
            <a:spLocks noGrp="1"/>
          </p:cNvSpPr>
          <p:nvPr>
            <p:ph idx="1"/>
          </p:nvPr>
        </p:nvSpPr>
        <p:spPr>
          <a:xfrm>
            <a:off x="498475" y="1122363"/>
            <a:ext cx="8961438" cy="5457825"/>
          </a:xfrm>
        </p:spPr>
        <p:txBody>
          <a:bodyPr/>
          <a:lstStyle/>
          <a:p>
            <a:pPr marL="0" indent="0">
              <a:buFontTx/>
              <a:buNone/>
            </a:pPr>
            <a:r>
              <a:rPr lang="fr-FR" altLang="fr-FR" sz="2400">
                <a:solidFill>
                  <a:schemeClr val="accent2"/>
                </a:solidFill>
              </a:rPr>
              <a:t>Si la taille de lot de transport augmente, alors la taille de lot de fabrication augmente aussi :</a:t>
            </a:r>
          </a:p>
          <a:p>
            <a:pPr marL="0" indent="0">
              <a:buFontTx/>
              <a:buNone/>
            </a:pPr>
            <a:endParaRPr lang="fr-FR" altLang="fr-FR" sz="2400">
              <a:solidFill>
                <a:srgbClr val="003FBC"/>
              </a:solidFill>
            </a:endParaRPr>
          </a:p>
          <a:p>
            <a:pPr marL="0" indent="0">
              <a:buFontTx/>
              <a:buNone/>
            </a:pPr>
            <a:r>
              <a:rPr lang="fr-FR" altLang="fr-FR" sz="2400" b="1">
                <a:solidFill>
                  <a:srgbClr val="009900"/>
                </a:solidFill>
              </a:rPr>
              <a:t>a)</a:t>
            </a:r>
            <a:r>
              <a:rPr lang="fr-FR" altLang="fr-FR" sz="2400" b="1">
                <a:solidFill>
                  <a:srgbClr val="003FBC"/>
                </a:solidFill>
              </a:rPr>
              <a:t>  </a:t>
            </a:r>
            <a:r>
              <a:rPr lang="fr-FR" altLang="fr-FR" sz="2400">
                <a:solidFill>
                  <a:schemeClr val="accent2"/>
                </a:solidFill>
              </a:rPr>
              <a:t>VRAI</a:t>
            </a:r>
          </a:p>
          <a:p>
            <a:pPr marL="0" indent="0">
              <a:buFontTx/>
              <a:buNone/>
            </a:pPr>
            <a:endParaRPr lang="fr-FR" altLang="fr-FR" sz="2400">
              <a:solidFill>
                <a:srgbClr val="003FBC"/>
              </a:solidFill>
            </a:endParaRPr>
          </a:p>
          <a:p>
            <a:pPr marL="0" indent="0">
              <a:buFontTx/>
              <a:buNone/>
            </a:pPr>
            <a:r>
              <a:rPr lang="fr-FR" altLang="fr-FR" sz="2400" b="1">
                <a:solidFill>
                  <a:srgbClr val="009900"/>
                </a:solidFill>
              </a:rPr>
              <a:t>b)</a:t>
            </a:r>
            <a:r>
              <a:rPr lang="fr-FR" altLang="fr-FR" sz="2400" b="1">
                <a:solidFill>
                  <a:srgbClr val="003FBC"/>
                </a:solidFill>
              </a:rPr>
              <a:t>  </a:t>
            </a:r>
            <a:r>
              <a:rPr lang="fr-FR" altLang="fr-FR" sz="2400">
                <a:solidFill>
                  <a:schemeClr val="accent2"/>
                </a:solidFill>
              </a:rPr>
              <a:t>FAUX</a:t>
            </a:r>
          </a:p>
          <a:p>
            <a:pPr marL="0" indent="0">
              <a:buFontTx/>
              <a:buNone/>
            </a:pPr>
            <a:endParaRPr lang="fr-FR" altLang="fr-FR" sz="2400">
              <a:solidFill>
                <a:srgbClr val="003FBC"/>
              </a:solidFill>
            </a:endParaRPr>
          </a:p>
          <a:p>
            <a:pPr marL="0" indent="0">
              <a:buFontTx/>
              <a:buNone/>
            </a:pPr>
            <a:endParaRPr lang="fr-FR" altLang="fr-FR" sz="2400">
              <a:solidFill>
                <a:srgbClr val="003FBC"/>
              </a:solidFill>
            </a:endParaRPr>
          </a:p>
        </p:txBody>
      </p:sp>
      <p:sp>
        <p:nvSpPr>
          <p:cNvPr id="4" name="Ellipse 3"/>
          <p:cNvSpPr>
            <a:spLocks noChangeArrowheads="1"/>
          </p:cNvSpPr>
          <p:nvPr/>
        </p:nvSpPr>
        <p:spPr bwMode="auto">
          <a:xfrm>
            <a:off x="304800" y="3167063"/>
            <a:ext cx="642938"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275461"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6"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128</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Titre 1"/>
          <p:cNvSpPr>
            <a:spLocks noGrp="1"/>
          </p:cNvSpPr>
          <p:nvPr>
            <p:ph type="title"/>
          </p:nvPr>
        </p:nvSpPr>
        <p:spPr/>
        <p:txBody>
          <a:bodyPr/>
          <a:lstStyle/>
          <a:p>
            <a:r>
              <a:rPr lang="fr-FR" altLang="fr-FR"/>
              <a:t>Question 9</a:t>
            </a:r>
          </a:p>
        </p:txBody>
      </p:sp>
      <p:sp>
        <p:nvSpPr>
          <p:cNvPr id="3" name="Espace réservé du contenu 2"/>
          <p:cNvSpPr>
            <a:spLocks noGrp="1"/>
          </p:cNvSpPr>
          <p:nvPr>
            <p:ph idx="1"/>
          </p:nvPr>
        </p:nvSpPr>
        <p:spPr>
          <a:xfrm>
            <a:off x="338138" y="571500"/>
            <a:ext cx="8907462" cy="5538788"/>
          </a:xfrm>
        </p:spPr>
        <p:txBody>
          <a:bodyPr/>
          <a:lstStyle/>
          <a:p>
            <a:pPr marL="0" lvl="1" indent="0">
              <a:buFontTx/>
              <a:buNone/>
              <a:defRPr/>
            </a:pPr>
            <a:r>
              <a:rPr lang="fr-FR" sz="2400" dirty="0">
                <a:solidFill>
                  <a:schemeClr val="accent2"/>
                </a:solidFill>
              </a:rPr>
              <a:t>Réduire les gaspillages peut permettre de :</a:t>
            </a:r>
          </a:p>
          <a:p>
            <a:pPr marL="336522" lvl="1" indent="-336522">
              <a:buFont typeface="Wingdings" pitchFamily="2" charset="2"/>
              <a:buChar char="n"/>
              <a:defRPr/>
            </a:pPr>
            <a:endParaRPr lang="fr-FR" sz="2400" dirty="0"/>
          </a:p>
          <a:p>
            <a:pPr marL="0" indent="0">
              <a:buFontTx/>
              <a:buNone/>
              <a:defRPr/>
            </a:pPr>
            <a:r>
              <a:rPr lang="fr-FR" sz="2400" b="1" dirty="0">
                <a:solidFill>
                  <a:srgbClr val="009900"/>
                </a:solidFill>
              </a:rPr>
              <a:t>a) </a:t>
            </a:r>
            <a:r>
              <a:rPr lang="fr-FR" altLang="fr-FR" sz="2400" dirty="0">
                <a:ea typeface="Calibri" pitchFamily="34" charset="0"/>
                <a:cs typeface="Arial" panose="020B0604020202020204" pitchFamily="34" charset="0"/>
              </a:rPr>
              <a:t> </a:t>
            </a:r>
            <a:r>
              <a:rPr lang="fr-FR" altLang="fr-FR" sz="2400" dirty="0">
                <a:solidFill>
                  <a:schemeClr val="accent2"/>
                </a:solidFill>
              </a:rPr>
              <a:t>Réduire les encours</a:t>
            </a:r>
          </a:p>
          <a:p>
            <a:pPr marL="0" indent="0">
              <a:buFontTx/>
              <a:buNone/>
              <a:defRPr/>
            </a:pPr>
            <a:endParaRPr lang="fr-FR" sz="2400" dirty="0"/>
          </a:p>
          <a:p>
            <a:pPr marL="0" indent="0">
              <a:buFontTx/>
              <a:buNone/>
              <a:defRPr/>
            </a:pPr>
            <a:r>
              <a:rPr lang="fr-FR" sz="2400" b="1" dirty="0">
                <a:solidFill>
                  <a:srgbClr val="009900"/>
                </a:solidFill>
              </a:rPr>
              <a:t>b)  </a:t>
            </a:r>
            <a:r>
              <a:rPr lang="fr-FR" altLang="fr-FR" sz="2400" dirty="0">
                <a:solidFill>
                  <a:schemeClr val="accent2"/>
                </a:solidFill>
              </a:rPr>
              <a:t>Améliorer les TRG des équipements</a:t>
            </a:r>
          </a:p>
          <a:p>
            <a:pPr marL="0" indent="0">
              <a:buFontTx/>
              <a:buNone/>
              <a:defRPr/>
            </a:pPr>
            <a:endParaRPr lang="fr-FR" sz="2400" dirty="0"/>
          </a:p>
          <a:p>
            <a:pPr marL="0" indent="0">
              <a:buFontTx/>
              <a:buNone/>
              <a:defRPr/>
            </a:pPr>
            <a:r>
              <a:rPr lang="fr-FR" sz="2400" b="1" dirty="0">
                <a:solidFill>
                  <a:srgbClr val="009900"/>
                </a:solidFill>
              </a:rPr>
              <a:t>c)  </a:t>
            </a:r>
            <a:r>
              <a:rPr lang="fr-FR" sz="2400" dirty="0">
                <a:solidFill>
                  <a:schemeClr val="accent2"/>
                </a:solidFill>
              </a:rPr>
              <a:t>Réduire les coûts de production</a:t>
            </a:r>
          </a:p>
          <a:p>
            <a:pPr marL="0" indent="0">
              <a:buFontTx/>
              <a:buNone/>
              <a:defRPr/>
            </a:pPr>
            <a:endParaRPr lang="fr-FR" sz="2400" dirty="0"/>
          </a:p>
          <a:p>
            <a:pPr marL="0" indent="0">
              <a:buFontTx/>
              <a:buNone/>
              <a:defRPr/>
            </a:pPr>
            <a:r>
              <a:rPr lang="fr-FR" sz="2400" b="1" dirty="0">
                <a:solidFill>
                  <a:srgbClr val="009900"/>
                </a:solidFill>
              </a:rPr>
              <a:t>d)  </a:t>
            </a:r>
            <a:r>
              <a:rPr lang="fr-FR" altLang="fr-FR" sz="2400" dirty="0">
                <a:solidFill>
                  <a:schemeClr val="accent2"/>
                </a:solidFill>
              </a:rPr>
              <a:t>Améliorer les délais de passage</a:t>
            </a:r>
          </a:p>
          <a:p>
            <a:pPr marL="0" indent="0">
              <a:buFontTx/>
              <a:buNone/>
              <a:defRPr/>
            </a:pPr>
            <a:endParaRPr lang="fr-FR" sz="2400" dirty="0"/>
          </a:p>
          <a:p>
            <a:pPr marL="0" indent="0">
              <a:buFontTx/>
              <a:buNone/>
              <a:defRPr/>
            </a:pPr>
            <a:r>
              <a:rPr lang="fr-FR" sz="2400" b="1" dirty="0">
                <a:solidFill>
                  <a:srgbClr val="009900"/>
                </a:solidFill>
              </a:rPr>
              <a:t>e)  </a:t>
            </a:r>
            <a:r>
              <a:rPr lang="fr-FR" sz="2400" dirty="0">
                <a:solidFill>
                  <a:schemeClr val="accent2"/>
                </a:solidFill>
              </a:rPr>
              <a:t>Optimiser le coût des transports internes</a:t>
            </a:r>
          </a:p>
          <a:p>
            <a:pPr marL="0" indent="0">
              <a:buFontTx/>
              <a:buNone/>
              <a:defRPr/>
            </a:pPr>
            <a:endParaRPr lang="fr-FR" sz="2400" dirty="0">
              <a:solidFill>
                <a:schemeClr val="accent2"/>
              </a:solidFill>
            </a:endParaRPr>
          </a:p>
        </p:txBody>
      </p:sp>
      <p:sp>
        <p:nvSpPr>
          <p:cNvPr id="4" name="Ellipse 3"/>
          <p:cNvSpPr>
            <a:spLocks noChangeArrowheads="1"/>
          </p:cNvSpPr>
          <p:nvPr/>
        </p:nvSpPr>
        <p:spPr bwMode="auto">
          <a:xfrm>
            <a:off x="157163" y="1376363"/>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277509"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8" name="Ellipse 7"/>
          <p:cNvSpPr>
            <a:spLocks noChangeArrowheads="1"/>
          </p:cNvSpPr>
          <p:nvPr/>
        </p:nvSpPr>
        <p:spPr bwMode="auto">
          <a:xfrm>
            <a:off x="157163" y="2254250"/>
            <a:ext cx="642937" cy="661988"/>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9" name="Ellipse 8"/>
          <p:cNvSpPr>
            <a:spLocks noChangeArrowheads="1"/>
          </p:cNvSpPr>
          <p:nvPr/>
        </p:nvSpPr>
        <p:spPr bwMode="auto">
          <a:xfrm>
            <a:off x="157163" y="3133725"/>
            <a:ext cx="642937" cy="661988"/>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10" name="Ellipse 9"/>
          <p:cNvSpPr>
            <a:spLocks noChangeArrowheads="1"/>
          </p:cNvSpPr>
          <p:nvPr/>
        </p:nvSpPr>
        <p:spPr bwMode="auto">
          <a:xfrm>
            <a:off x="157163" y="4011613"/>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11" name="Ellipse 10"/>
          <p:cNvSpPr>
            <a:spLocks noChangeArrowheads="1"/>
          </p:cNvSpPr>
          <p:nvPr/>
        </p:nvSpPr>
        <p:spPr bwMode="auto">
          <a:xfrm>
            <a:off x="157163" y="4891088"/>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sp>
        <p:nvSpPr>
          <p:cNvPr id="12"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129</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Titre 1"/>
          <p:cNvSpPr>
            <a:spLocks noGrp="1"/>
          </p:cNvSpPr>
          <p:nvPr>
            <p:ph type="title"/>
          </p:nvPr>
        </p:nvSpPr>
        <p:spPr/>
        <p:txBody>
          <a:bodyPr/>
          <a:lstStyle/>
          <a:p>
            <a:r>
              <a:rPr lang="fr-FR" altLang="fr-FR"/>
              <a:t>Question 10</a:t>
            </a:r>
          </a:p>
        </p:txBody>
      </p:sp>
      <p:sp>
        <p:nvSpPr>
          <p:cNvPr id="279555" name="Espace réservé du contenu 2"/>
          <p:cNvSpPr>
            <a:spLocks noGrp="1"/>
          </p:cNvSpPr>
          <p:nvPr>
            <p:ph idx="1"/>
          </p:nvPr>
        </p:nvSpPr>
        <p:spPr>
          <a:xfrm>
            <a:off x="361950" y="571500"/>
            <a:ext cx="8886825" cy="5538788"/>
          </a:xfrm>
        </p:spPr>
        <p:txBody>
          <a:bodyPr/>
          <a:lstStyle/>
          <a:p>
            <a:pPr marL="190500" lvl="1" indent="0">
              <a:lnSpc>
                <a:spcPct val="90000"/>
              </a:lnSpc>
              <a:buFontTx/>
              <a:buNone/>
            </a:pPr>
            <a:r>
              <a:rPr lang="fr-FR" altLang="fr-FR" sz="2400">
                <a:solidFill>
                  <a:schemeClr val="accent2"/>
                </a:solidFill>
              </a:rPr>
              <a:t>Le Ratio de Fluidité ci-dessous vaut 20 % (60 sec. / 5 min.)</a:t>
            </a:r>
          </a:p>
          <a:p>
            <a:pPr marL="190500" lvl="1" indent="0">
              <a:lnSpc>
                <a:spcPct val="90000"/>
              </a:lnSpc>
              <a:buFontTx/>
              <a:buNone/>
            </a:pPr>
            <a:endParaRPr lang="fr-FR" altLang="fr-FR" sz="2400">
              <a:solidFill>
                <a:schemeClr val="accent2"/>
              </a:solidFill>
            </a:endParaRPr>
          </a:p>
          <a:p>
            <a:pPr marL="190500" lvl="1" indent="0">
              <a:lnSpc>
                <a:spcPct val="90000"/>
              </a:lnSpc>
              <a:buFontTx/>
              <a:buNone/>
            </a:pPr>
            <a:endParaRPr lang="fr-FR" altLang="fr-FR" sz="2400">
              <a:solidFill>
                <a:schemeClr val="accent2"/>
              </a:solidFill>
            </a:endParaRPr>
          </a:p>
          <a:p>
            <a:pPr marL="190500" lvl="1" indent="0">
              <a:lnSpc>
                <a:spcPct val="90000"/>
              </a:lnSpc>
              <a:buFontTx/>
              <a:buNone/>
            </a:pPr>
            <a:endParaRPr lang="fr-FR" altLang="fr-FR" sz="2400">
              <a:solidFill>
                <a:schemeClr val="accent2"/>
              </a:solidFill>
            </a:endParaRPr>
          </a:p>
          <a:p>
            <a:pPr marL="190500" lvl="1" indent="0">
              <a:lnSpc>
                <a:spcPct val="90000"/>
              </a:lnSpc>
              <a:buFontTx/>
              <a:buNone/>
            </a:pPr>
            <a:endParaRPr lang="fr-FR" altLang="fr-FR" sz="2400">
              <a:solidFill>
                <a:schemeClr val="accent2"/>
              </a:solidFill>
            </a:endParaRPr>
          </a:p>
          <a:p>
            <a:pPr marL="190500" lvl="1" indent="0">
              <a:lnSpc>
                <a:spcPct val="90000"/>
              </a:lnSpc>
              <a:buFontTx/>
              <a:buNone/>
            </a:pPr>
            <a:endParaRPr lang="fr-FR" altLang="fr-FR" sz="2400">
              <a:solidFill>
                <a:schemeClr val="accent2"/>
              </a:solidFill>
            </a:endParaRPr>
          </a:p>
          <a:p>
            <a:pPr marL="190500" lvl="1" indent="0">
              <a:lnSpc>
                <a:spcPct val="90000"/>
              </a:lnSpc>
              <a:buFontTx/>
              <a:buNone/>
            </a:pPr>
            <a:endParaRPr lang="fr-FR" altLang="fr-FR" sz="2400">
              <a:solidFill>
                <a:schemeClr val="accent2"/>
              </a:solidFill>
            </a:endParaRPr>
          </a:p>
          <a:p>
            <a:pPr marL="190500" lvl="1" indent="0">
              <a:lnSpc>
                <a:spcPct val="90000"/>
              </a:lnSpc>
              <a:buFontTx/>
              <a:buNone/>
            </a:pPr>
            <a:endParaRPr lang="fr-FR" altLang="fr-FR" sz="2400">
              <a:solidFill>
                <a:schemeClr val="accent2"/>
              </a:solidFill>
            </a:endParaRPr>
          </a:p>
          <a:p>
            <a:pPr marL="190500" lvl="1" indent="0">
              <a:lnSpc>
                <a:spcPct val="90000"/>
              </a:lnSpc>
              <a:buFontTx/>
              <a:buNone/>
            </a:pPr>
            <a:r>
              <a:rPr lang="fr-FR" altLang="fr-FR" sz="2400">
                <a:solidFill>
                  <a:schemeClr val="accent2"/>
                </a:solidFill>
              </a:rPr>
              <a:t>Cela signifie que le TRG </a:t>
            </a:r>
            <a:r>
              <a:rPr lang="fr-FR" altLang="fr-FR" sz="2400" u="sng">
                <a:solidFill>
                  <a:schemeClr val="accent2"/>
                </a:solidFill>
              </a:rPr>
              <a:t>moyen</a:t>
            </a:r>
            <a:r>
              <a:rPr lang="fr-FR" altLang="fr-FR" sz="2400">
                <a:solidFill>
                  <a:schemeClr val="accent2"/>
                </a:solidFill>
              </a:rPr>
              <a:t> des postes de travail est de 20 % :</a:t>
            </a:r>
          </a:p>
          <a:p>
            <a:pPr marL="0" indent="0">
              <a:buFontTx/>
              <a:buNone/>
            </a:pPr>
            <a:endParaRPr lang="fr-FR" altLang="fr-FR" sz="2400"/>
          </a:p>
          <a:p>
            <a:pPr marL="0" indent="0">
              <a:buFontTx/>
              <a:buNone/>
            </a:pPr>
            <a:r>
              <a:rPr lang="fr-FR" altLang="fr-FR" sz="2400" b="1">
                <a:solidFill>
                  <a:srgbClr val="009900"/>
                </a:solidFill>
              </a:rPr>
              <a:t>  a)  </a:t>
            </a:r>
            <a:r>
              <a:rPr lang="fr-FR" altLang="fr-FR" sz="2400">
                <a:solidFill>
                  <a:schemeClr val="accent2"/>
                </a:solidFill>
              </a:rPr>
              <a:t>VRAI</a:t>
            </a:r>
          </a:p>
          <a:p>
            <a:pPr marL="0" indent="0">
              <a:buFontTx/>
              <a:buNone/>
            </a:pPr>
            <a:endParaRPr lang="fr-FR" altLang="fr-FR" sz="2400"/>
          </a:p>
          <a:p>
            <a:pPr marL="0" indent="0">
              <a:buFontTx/>
              <a:buNone/>
            </a:pPr>
            <a:r>
              <a:rPr lang="fr-FR" altLang="fr-FR" sz="2400" b="1">
                <a:solidFill>
                  <a:srgbClr val="009900"/>
                </a:solidFill>
              </a:rPr>
              <a:t>  b)  </a:t>
            </a:r>
            <a:r>
              <a:rPr lang="fr-FR" altLang="fr-FR" sz="2400">
                <a:solidFill>
                  <a:schemeClr val="accent2"/>
                </a:solidFill>
              </a:rPr>
              <a:t>FAUX</a:t>
            </a:r>
            <a:endParaRPr lang="fr-FR" altLang="fr-FR" sz="2400"/>
          </a:p>
        </p:txBody>
      </p:sp>
      <p:sp>
        <p:nvSpPr>
          <p:cNvPr id="4" name="Ellipse 3"/>
          <p:cNvSpPr>
            <a:spLocks noChangeArrowheads="1"/>
          </p:cNvSpPr>
          <p:nvPr/>
        </p:nvSpPr>
        <p:spPr bwMode="auto">
          <a:xfrm>
            <a:off x="360363" y="5452269"/>
            <a:ext cx="642937" cy="661987"/>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89739" tIns="44870" rIns="89739" bIns="44870" anchor="ctr"/>
          <a:lstStyle>
            <a:lvl1pPr defTabSz="896938">
              <a:spcBef>
                <a:spcPct val="20000"/>
              </a:spcBef>
              <a:buChar char="•"/>
              <a:defRPr>
                <a:solidFill>
                  <a:schemeClr val="tx1"/>
                </a:solidFill>
                <a:latin typeface="Arial" panose="020B0604020202020204" pitchFamily="34" charset="0"/>
              </a:defRPr>
            </a:lvl1pPr>
            <a:lvl2pPr marL="742950" indent="-285750" defTabSz="896938">
              <a:spcBef>
                <a:spcPct val="20000"/>
              </a:spcBef>
              <a:buChar char="–"/>
              <a:defRPr sz="1400">
                <a:solidFill>
                  <a:schemeClr val="tx1"/>
                </a:solidFill>
                <a:latin typeface="Arial" panose="020B0604020202020204" pitchFamily="34" charset="0"/>
              </a:defRPr>
            </a:lvl2pPr>
            <a:lvl3pPr marL="1143000" indent="-228600" defTabSz="896938">
              <a:spcBef>
                <a:spcPct val="20000"/>
              </a:spcBef>
              <a:buChar char="•"/>
              <a:defRPr sz="1200">
                <a:solidFill>
                  <a:schemeClr val="tx1"/>
                </a:solidFill>
                <a:latin typeface="Arial" panose="020B0604020202020204" pitchFamily="34" charset="0"/>
              </a:defRPr>
            </a:lvl3pPr>
            <a:lvl4pPr marL="1600200" indent="-228600" defTabSz="896938">
              <a:spcBef>
                <a:spcPct val="20000"/>
              </a:spcBef>
              <a:buChar char="–"/>
              <a:defRPr sz="1200">
                <a:solidFill>
                  <a:schemeClr val="tx1"/>
                </a:solidFill>
                <a:latin typeface="Arial" panose="020B0604020202020204" pitchFamily="34" charset="0"/>
              </a:defRPr>
            </a:lvl4pPr>
            <a:lvl5pPr marL="2057400" indent="-228600" defTabSz="896938">
              <a:spcBef>
                <a:spcPct val="20000"/>
              </a:spcBef>
              <a:buChar char="»"/>
              <a:defRPr sz="1200">
                <a:solidFill>
                  <a:schemeClr val="tx1"/>
                </a:solidFill>
                <a:latin typeface="Arial" panose="020B0604020202020204" pitchFamily="34" charset="0"/>
              </a:defRPr>
            </a:lvl5pPr>
            <a:lvl6pPr marL="25146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defTabSz="896938"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a:buFontTx/>
              <a:buNone/>
            </a:pPr>
            <a:endParaRPr lang="fr-FR" altLang="fr-FR" sz="1800" b="1" dirty="0">
              <a:solidFill>
                <a:srgbClr val="333399"/>
              </a:solidFill>
              <a:latin typeface="Calibri" panose="020F0502020204030204" pitchFamily="34" charset="0"/>
            </a:endParaRPr>
          </a:p>
        </p:txBody>
      </p:sp>
      <p:grpSp>
        <p:nvGrpSpPr>
          <p:cNvPr id="279557" name="Groupe 5"/>
          <p:cNvGrpSpPr>
            <a:grpSpLocks/>
          </p:cNvGrpSpPr>
          <p:nvPr/>
        </p:nvGrpSpPr>
        <p:grpSpPr bwMode="auto">
          <a:xfrm>
            <a:off x="211138" y="1223963"/>
            <a:ext cx="9278937" cy="1938337"/>
            <a:chOff x="731837" y="3316989"/>
            <a:chExt cx="6660038" cy="1391652"/>
          </a:xfrm>
        </p:grpSpPr>
        <p:pic>
          <p:nvPicPr>
            <p:cNvPr id="279559" name="Picture 2"/>
            <p:cNvPicPr>
              <a:picLocks noChangeAspect="1" noChangeArrowheads="1"/>
            </p:cNvPicPr>
            <p:nvPr/>
          </p:nvPicPr>
          <p:blipFill>
            <a:blip r:embed="rId3">
              <a:extLst>
                <a:ext uri="{28A0092B-C50C-407E-A947-70E740481C1C}">
                  <a14:useLocalDpi xmlns:a14="http://schemas.microsoft.com/office/drawing/2010/main" val="0"/>
                </a:ext>
              </a:extLst>
            </a:blip>
            <a:srcRect r="49155"/>
            <a:stretch>
              <a:fillRect/>
            </a:stretch>
          </p:blipFill>
          <p:spPr bwMode="auto">
            <a:xfrm>
              <a:off x="731837" y="3806957"/>
              <a:ext cx="6660038" cy="90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9560" name="Rectangle 7"/>
            <p:cNvSpPr>
              <a:spLocks noChangeArrowheads="1"/>
            </p:cNvSpPr>
            <p:nvPr/>
          </p:nvSpPr>
          <p:spPr bwMode="auto">
            <a:xfrm>
              <a:off x="840087" y="4298091"/>
              <a:ext cx="221846" cy="197288"/>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1" name="Rectangle 8"/>
            <p:cNvSpPr>
              <a:spLocks noChangeArrowheads="1"/>
            </p:cNvSpPr>
            <p:nvPr/>
          </p:nvSpPr>
          <p:spPr bwMode="auto">
            <a:xfrm>
              <a:off x="2558747" y="4298091"/>
              <a:ext cx="213029" cy="197288"/>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2" name="Rectangle 9"/>
            <p:cNvSpPr>
              <a:spLocks noChangeArrowheads="1"/>
            </p:cNvSpPr>
            <p:nvPr/>
          </p:nvSpPr>
          <p:spPr bwMode="auto">
            <a:xfrm>
              <a:off x="4062090" y="4298091"/>
              <a:ext cx="426723" cy="197288"/>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3" name="Rectangle 10"/>
            <p:cNvSpPr>
              <a:spLocks noChangeArrowheads="1"/>
            </p:cNvSpPr>
            <p:nvPr/>
          </p:nvSpPr>
          <p:spPr bwMode="auto">
            <a:xfrm>
              <a:off x="5133976" y="4298091"/>
              <a:ext cx="209549" cy="197288"/>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4" name="Rectangle 11"/>
            <p:cNvSpPr>
              <a:spLocks noChangeArrowheads="1"/>
            </p:cNvSpPr>
            <p:nvPr/>
          </p:nvSpPr>
          <p:spPr bwMode="auto">
            <a:xfrm>
              <a:off x="6412356" y="4298091"/>
              <a:ext cx="217043" cy="197288"/>
            </a:xfrm>
            <a:prstGeom prst="rect">
              <a:avLst/>
            </a:prstGeom>
            <a:solidFill>
              <a:srgbClr val="66FF33">
                <a:alpha val="87057"/>
              </a:srgbClr>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5" name="Rectangle 13"/>
            <p:cNvSpPr>
              <a:spLocks noChangeArrowheads="1"/>
            </p:cNvSpPr>
            <p:nvPr/>
          </p:nvSpPr>
          <p:spPr bwMode="auto">
            <a:xfrm>
              <a:off x="1061934" y="4492768"/>
              <a:ext cx="1496812" cy="197288"/>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6" name="Rectangle 14"/>
            <p:cNvSpPr>
              <a:spLocks noChangeArrowheads="1"/>
            </p:cNvSpPr>
            <p:nvPr/>
          </p:nvSpPr>
          <p:spPr bwMode="auto">
            <a:xfrm>
              <a:off x="2773952" y="4492768"/>
              <a:ext cx="1288138" cy="197288"/>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7" name="Rectangle 15"/>
            <p:cNvSpPr>
              <a:spLocks noChangeArrowheads="1"/>
            </p:cNvSpPr>
            <p:nvPr/>
          </p:nvSpPr>
          <p:spPr bwMode="auto">
            <a:xfrm>
              <a:off x="4488813" y="4491399"/>
              <a:ext cx="645161" cy="200025"/>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8" name="Rectangle 16"/>
            <p:cNvSpPr>
              <a:spLocks noChangeArrowheads="1"/>
            </p:cNvSpPr>
            <p:nvPr/>
          </p:nvSpPr>
          <p:spPr bwMode="auto">
            <a:xfrm>
              <a:off x="5343524" y="4492768"/>
              <a:ext cx="1068831" cy="197288"/>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69" name="Rectangle 17"/>
            <p:cNvSpPr>
              <a:spLocks noChangeArrowheads="1"/>
            </p:cNvSpPr>
            <p:nvPr/>
          </p:nvSpPr>
          <p:spPr bwMode="auto">
            <a:xfrm>
              <a:off x="6629399" y="4492768"/>
              <a:ext cx="641373" cy="197288"/>
            </a:xfrm>
            <a:prstGeom prst="rect">
              <a:avLst/>
            </a:prstGeom>
            <a:solidFill>
              <a:srgbClr val="FF0000"/>
            </a:solidFill>
            <a:ln w="9525" algn="ctr">
              <a:solidFill>
                <a:schemeClr val="tx1"/>
              </a:solidFill>
              <a:round/>
              <a:headEnd/>
              <a:tailEnd type="triangle" w="med" len="med"/>
            </a:ln>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70" name="Rectangle 18"/>
            <p:cNvSpPr>
              <a:spLocks noChangeArrowheads="1"/>
            </p:cNvSpPr>
            <p:nvPr/>
          </p:nvSpPr>
          <p:spPr bwMode="auto">
            <a:xfrm>
              <a:off x="2514600" y="3574463"/>
              <a:ext cx="409575" cy="180975"/>
            </a:xfrm>
            <a:prstGeom prst="rect">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0" name="Étoile à 5 branches 19"/>
            <p:cNvSpPr/>
            <p:nvPr/>
          </p:nvSpPr>
          <p:spPr bwMode="auto">
            <a:xfrm>
              <a:off x="3965573" y="3429825"/>
              <a:ext cx="342972" cy="343069"/>
            </a:xfrm>
            <a:prstGeom prst="star5">
              <a:avLst/>
            </a:prstGeom>
            <a:noFill/>
            <a:ln w="9525" cap="flat" cmpd="sng" algn="ctr">
              <a:solidFill>
                <a:schemeClr val="tx1"/>
              </a:solidFill>
              <a:prstDash val="solid"/>
              <a:round/>
              <a:headEnd type="none" w="med" len="med"/>
              <a:tailEnd type="triangle" w="med" len="med"/>
            </a:ln>
            <a:effectLst/>
          </p:spPr>
          <p:txBody>
            <a:bodyPr anchor="ctr"/>
            <a:lstStyle/>
            <a:p>
              <a:pPr algn="ctr" eaLnBrk="1" hangingPunct="1">
                <a:defRPr/>
              </a:pPr>
              <a:endParaRPr lang="fr-FR" sz="1600" dirty="0">
                <a:latin typeface="Calibri" panose="020F0502020204030204" pitchFamily="34" charset="0"/>
              </a:endParaRPr>
            </a:p>
          </p:txBody>
        </p:sp>
        <p:sp>
          <p:nvSpPr>
            <p:cNvPr id="279572" name="Organigramme : Bande perforée 20"/>
            <p:cNvSpPr>
              <a:spLocks noChangeArrowheads="1"/>
            </p:cNvSpPr>
            <p:nvPr/>
          </p:nvSpPr>
          <p:spPr bwMode="auto">
            <a:xfrm>
              <a:off x="5054600" y="3553825"/>
              <a:ext cx="323850" cy="171450"/>
            </a:xfrm>
            <a:prstGeom prst="flowChartPunchedTape">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sp>
          <p:nvSpPr>
            <p:cNvPr id="279573" name="Triangle isocèle 21"/>
            <p:cNvSpPr>
              <a:spLocks noChangeArrowheads="1"/>
            </p:cNvSpPr>
            <p:nvPr/>
          </p:nvSpPr>
          <p:spPr bwMode="auto">
            <a:xfrm>
              <a:off x="6391275" y="3452225"/>
              <a:ext cx="295275" cy="247650"/>
            </a:xfrm>
            <a:prstGeom prst="triangle">
              <a:avLst>
                <a:gd name="adj" fmla="val 50000"/>
              </a:avLst>
            </a:prstGeom>
            <a:noFill/>
            <a:ln w="9525" algn="ctr">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lgn="ctr" eaLnBrk="1" hangingPunct="1">
                <a:spcBef>
                  <a:spcPct val="0"/>
                </a:spcBef>
                <a:buFontTx/>
                <a:buNone/>
              </a:pPr>
              <a:endParaRPr lang="fr-FR" altLang="fr-FR" sz="1600" dirty="0">
                <a:latin typeface="Calibri" panose="020F0502020204030204" pitchFamily="34" charset="0"/>
              </a:endParaRPr>
            </a:p>
          </p:txBody>
        </p:sp>
        <p:pic>
          <p:nvPicPr>
            <p:cNvPr id="279574" name="Picture 32" descr="TIP5e¦ütu-fin E¦üTU1"/>
            <p:cNvPicPr>
              <a:picLocks noChangeAspect="1" noChangeArrowheads="1"/>
            </p:cNvPicPr>
            <p:nvPr/>
          </p:nvPicPr>
          <p:blipFill>
            <a:blip r:embed="rId4" cstate="print">
              <a:extLst>
                <a:ext uri="{28A0092B-C50C-407E-A947-70E740481C1C}">
                  <a14:useLocalDpi xmlns:a14="http://schemas.microsoft.com/office/drawing/2010/main" val="0"/>
                </a:ext>
              </a:extLst>
            </a:blip>
            <a:srcRect l="8157" t="25005" r="23033" b="14983"/>
            <a:stretch>
              <a:fillRect/>
            </a:stretch>
          </p:blipFill>
          <p:spPr bwMode="auto">
            <a:xfrm>
              <a:off x="784724" y="3316989"/>
              <a:ext cx="519316" cy="46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9575" name="Connecteur droit avec flèche 24"/>
            <p:cNvCxnSpPr>
              <a:cxnSpLocks noChangeShapeType="1"/>
            </p:cNvCxnSpPr>
            <p:nvPr/>
          </p:nvCxnSpPr>
          <p:spPr bwMode="auto">
            <a:xfrm rot="5400000">
              <a:off x="885361" y="390254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9576" name="Connecteur droit avec flèche 25"/>
            <p:cNvCxnSpPr>
              <a:cxnSpLocks noChangeShapeType="1"/>
            </p:cNvCxnSpPr>
            <p:nvPr/>
          </p:nvCxnSpPr>
          <p:spPr bwMode="auto">
            <a:xfrm rot="5400000">
              <a:off x="2615102" y="387206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9577" name="Connecteur droit avec flèche 26"/>
            <p:cNvCxnSpPr>
              <a:cxnSpLocks noChangeShapeType="1"/>
            </p:cNvCxnSpPr>
            <p:nvPr/>
          </p:nvCxnSpPr>
          <p:spPr bwMode="auto">
            <a:xfrm rot="5400000">
              <a:off x="4032422" y="38568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9578" name="Connecteur droit avec flèche 27"/>
            <p:cNvCxnSpPr>
              <a:cxnSpLocks noChangeShapeType="1"/>
            </p:cNvCxnSpPr>
            <p:nvPr/>
          </p:nvCxnSpPr>
          <p:spPr bwMode="auto">
            <a:xfrm rot="5400000">
              <a:off x="5160182" y="384158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9579" name="Connecteur droit avec flèche 28"/>
            <p:cNvCxnSpPr>
              <a:cxnSpLocks noChangeShapeType="1"/>
            </p:cNvCxnSpPr>
            <p:nvPr/>
          </p:nvCxnSpPr>
          <p:spPr bwMode="auto">
            <a:xfrm rot="5400000">
              <a:off x="6447962" y="3818720"/>
              <a:ext cx="180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279558" name="Espace réservé du pied de page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r>
              <a:rPr lang="fr-FR" altLang="fr-FR" dirty="0">
                <a:latin typeface="Calibri" panose="020F0502020204030204" pitchFamily="34" charset="0"/>
              </a:rPr>
              <a:t>CIPE – Le jeu du Lean </a:t>
            </a:r>
            <a:r>
              <a:rPr lang="fr-FR" altLang="fr-FR" dirty="0" err="1">
                <a:latin typeface="Calibri" panose="020F0502020204030204" pitchFamily="34" charset="0"/>
              </a:rPr>
              <a:t>Manufacturing</a:t>
            </a:r>
            <a:endParaRPr lang="fr-FR" altLang="fr-FR" dirty="0">
              <a:latin typeface="Calibri" panose="020F0502020204030204" pitchFamily="34" charset="0"/>
            </a:endParaRPr>
          </a:p>
        </p:txBody>
      </p:sp>
      <p:sp>
        <p:nvSpPr>
          <p:cNvPr id="28" name="Espace réservé du numéro de diapositive 4"/>
          <p:cNvSpPr>
            <a:spLocks noGrp="1"/>
          </p:cNvSpPr>
          <p:nvPr>
            <p:ph type="sldNum" sz="quarter" idx="11"/>
          </p:nvPr>
        </p:nvSpPr>
        <p:spPr bwMode="auto">
          <a:xfrm>
            <a:off x="7818438" y="6548438"/>
            <a:ext cx="1776412" cy="292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200">
                <a:solidFill>
                  <a:schemeClr val="tx1"/>
                </a:solidFill>
                <a:latin typeface="Arial" panose="020B0604020202020204" pitchFamily="34" charset="0"/>
              </a:defRPr>
            </a:lvl3pPr>
            <a:lvl4pPr marL="1600200" indent="-228600">
              <a:spcBef>
                <a:spcPct val="20000"/>
              </a:spcBef>
              <a:buChar char="–"/>
              <a:defRPr sz="12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a:spcBef>
                <a:spcPct val="0"/>
              </a:spcBef>
              <a:buFontTx/>
              <a:buNone/>
            </a:pPr>
            <a:fld id="{8B734133-7BE2-491E-9BC2-038B201C894A}" type="slidenum">
              <a:rPr lang="fr-FR" altLang="fr-FR" smtClean="0">
                <a:latin typeface="Calibri" panose="020F0502020204030204" pitchFamily="34" charset="0"/>
              </a:rPr>
              <a:pPr>
                <a:spcBef>
                  <a:spcPct val="0"/>
                </a:spcBef>
                <a:buFontTx/>
                <a:buNone/>
              </a:pPr>
              <a:t>130</a:t>
            </a:fld>
            <a:endParaRPr lang="fr-FR" altLang="fr-FR" dirty="0">
              <a:latin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triangle" w="med" len="med"/>
        </a:ln>
        <a:effectLst/>
      </a:spPr>
      <a:bodyPr vert="horz" wrap="square" lIns="91440" tIns="45720" rIns="91440" bIns="45720" numCol="1" rtlCol="0" anchor="ctr" anchorCtr="0" compatLnSpc="1">
        <a:prstTxWarp prst="textNoShape">
          <a:avLst/>
        </a:prstTxWarp>
        <a:no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sz="1600" b="0" i="0" u="none" strike="noStrike" cap="none" normalizeH="0" baseline="0" dirty="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spPr>
      <a:body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47293</TotalTime>
  <Words>25859</Words>
  <Application>Microsoft Office PowerPoint</Application>
  <PresentationFormat>Personnalisé</PresentationFormat>
  <Paragraphs>3554</Paragraphs>
  <Slides>130</Slides>
  <Notes>130</Notes>
  <HiddenSlides>71</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2</vt:i4>
      </vt:variant>
      <vt:variant>
        <vt:lpstr>Titres des diapositives</vt:lpstr>
      </vt:variant>
      <vt:variant>
        <vt:i4>130</vt:i4>
      </vt:variant>
    </vt:vector>
  </HeadingPairs>
  <TitlesOfParts>
    <vt:vector size="138" baseType="lpstr">
      <vt:lpstr>Arial</vt:lpstr>
      <vt:lpstr>Bradley Hand ITC</vt:lpstr>
      <vt:lpstr>Calibri</vt:lpstr>
      <vt:lpstr>Eras Medium ITC</vt:lpstr>
      <vt:lpstr>Wingdings</vt:lpstr>
      <vt:lpstr>Default Design</vt:lpstr>
      <vt:lpstr>Clip</vt:lpstr>
      <vt:lpstr>Chart</vt:lpstr>
      <vt:lpstr>Présentation PowerPoint</vt:lpstr>
      <vt:lpstr>AVERTISSEMENT</vt:lpstr>
      <vt:lpstr>Utilisation en mode diaporama</vt:lpstr>
      <vt:lpstr>Préambule 1/3</vt:lpstr>
      <vt:lpstr>Préambule 2/3</vt:lpstr>
      <vt:lpstr>Préambule 3/3</vt:lpstr>
      <vt:lpstr>Sommaire du diaporama</vt:lpstr>
      <vt:lpstr>Préambule</vt:lpstr>
      <vt:lpstr>Partie destinée à l’animateur</vt:lpstr>
      <vt:lpstr>Check List du matériel : Documents et Matériels</vt:lpstr>
      <vt:lpstr>Check List du matériel : Contenu de la clé USB</vt:lpstr>
      <vt:lpstr>Résumé des consignes</vt:lpstr>
      <vt:lpstr>Objectif  du jeu</vt:lpstr>
      <vt:lpstr>Déroulement de la simulation</vt:lpstr>
      <vt:lpstr>Remarque concernant le déroulement du Jeu</vt:lpstr>
      <vt:lpstr>Le niveau des participants</vt:lpstr>
      <vt:lpstr>Les participants</vt:lpstr>
      <vt:lpstr>Les participants</vt:lpstr>
      <vt:lpstr>Aménagement de la salle (simulation n°1)</vt:lpstr>
      <vt:lpstr>Aménagement de la salle (simulation n°2)</vt:lpstr>
      <vt:lpstr>Variation du nombre d’OF selon le nombre de participants</vt:lpstr>
      <vt:lpstr>Préparation du magasin</vt:lpstr>
      <vt:lpstr>Présentation PowerPoint</vt:lpstr>
      <vt:lpstr>Présentation PowerPoint</vt:lpstr>
      <vt:lpstr>L’entreprise</vt:lpstr>
      <vt:lpstr>L’entreprise</vt:lpstr>
      <vt:lpstr>Les performances</vt:lpstr>
      <vt:lpstr>Le projet LEAN</vt:lpstr>
      <vt:lpstr>Les produits</vt:lpstr>
      <vt:lpstr>La production</vt:lpstr>
      <vt:lpstr>Le magasin d’outillage</vt:lpstr>
      <vt:lpstr>Les déplacements</vt:lpstr>
      <vt:lpstr>Les déplacements (suite)</vt:lpstr>
      <vt:lpstr>Dossiers du participant</vt:lpstr>
      <vt:lpstr>Le choix des mesures</vt:lpstr>
      <vt:lpstr>La mesure de la production</vt:lpstr>
      <vt:lpstr>La mesure de la qualité</vt:lpstr>
      <vt:lpstr>La mesure des délais</vt:lpstr>
      <vt:lpstr>La mesure des stocks</vt:lpstr>
      <vt:lpstr>Recevez le matériel nécessaire à la simulation</vt:lpstr>
      <vt:lpstr>Informations relatives aux OF</vt:lpstr>
      <vt:lpstr>Présentation PowerPoint</vt:lpstr>
      <vt:lpstr>Présentation PowerPoint</vt:lpstr>
      <vt:lpstr>Pendant la simulation</vt:lpstr>
      <vt:lpstr>Après la simulation</vt:lpstr>
      <vt:lpstr>Présentation PowerPoint</vt:lpstr>
      <vt:lpstr>Mise à jour du tableau de bord</vt:lpstr>
      <vt:lpstr>Mise à jour : quantités, qualité</vt:lpstr>
      <vt:lpstr>Mise à jour : productivité, délais, stocks</vt:lpstr>
      <vt:lpstr>Mise à jour des indicateurs</vt:lpstr>
      <vt:lpstr>Commentaires sur les résultats des mesures</vt:lpstr>
      <vt:lpstr>Présentation PowerPoint</vt:lpstr>
      <vt:lpstr>Répartition des rôles</vt:lpstr>
      <vt:lpstr>Le calcul du TRG et du Takt Time</vt:lpstr>
      <vt:lpstr>Définition du TRG</vt:lpstr>
      <vt:lpstr>Calcul du TRG</vt:lpstr>
      <vt:lpstr>Recevez le matériel nécessaire à la mesure des temps gammes</vt:lpstr>
      <vt:lpstr>Debriefing du TRG</vt:lpstr>
      <vt:lpstr>Calcul du Takt Time (exemple du Triangle)</vt:lpstr>
      <vt:lpstr>La détermination du temps de cycle (exemple du Triangle)</vt:lpstr>
      <vt:lpstr>Le calcul du takt time</vt:lpstr>
      <vt:lpstr>La demande commerciale</vt:lpstr>
      <vt:lpstr>Combien d’opérations dans 100 produits finis ? </vt:lpstr>
      <vt:lpstr>Le calcul du temps de cycle</vt:lpstr>
      <vt:lpstr>Présentation PowerPoint</vt:lpstr>
      <vt:lpstr>Présentation PowerPoint</vt:lpstr>
      <vt:lpstr>Mise en place des équipes projet</vt:lpstr>
      <vt:lpstr>La Fiche de mission</vt:lpstr>
      <vt:lpstr>Recevez votre Fiche de mission et vos supports d’analyse</vt:lpstr>
      <vt:lpstr>L'équipe PRODUCTIVITÉ (1/4)</vt:lpstr>
      <vt:lpstr>L'équipe PRODUCTIVITÉ (2/4)</vt:lpstr>
      <vt:lpstr>L'équipe PRODUCTIVITÉ (3/4)</vt:lpstr>
      <vt:lpstr>L'équipe PRODUCTIVITÉ (4/4)</vt:lpstr>
      <vt:lpstr>L'équipe FLUX</vt:lpstr>
      <vt:lpstr>Le graphique de défilement de l’OF traceur</vt:lpstr>
      <vt:lpstr>L'équipe IMPLANTATION</vt:lpstr>
      <vt:lpstr>Nouvelle implantation</vt:lpstr>
      <vt:lpstr>Analyse des trajets</vt:lpstr>
      <vt:lpstr>L'équipe QUALITÉ</vt:lpstr>
      <vt:lpstr>L’ENQUÊTE DE MOTIVATION</vt:lpstr>
      <vt:lpstr>Pendant la préparation des projets</vt:lpstr>
      <vt:lpstr>Comment organiser la présentation des projets ?</vt:lpstr>
      <vt:lpstr>Présentation Productivité (1/2)</vt:lpstr>
      <vt:lpstr>Présentation flux</vt:lpstr>
      <vt:lpstr>Présentation Implantation</vt:lpstr>
      <vt:lpstr>Présentation Qualité</vt:lpstr>
      <vt:lpstr>Présentation Motivation</vt:lpstr>
      <vt:lpstr>Pendant la préparation des projets</vt:lpstr>
      <vt:lpstr>Présentation PowerPoint</vt:lpstr>
      <vt:lpstr>Commentaires sur le projet PRODUCTIVITÉ</vt:lpstr>
      <vt:lpstr>Commentaires sur les échanges de l’équipe PRODUCTIVITÉ</vt:lpstr>
      <vt:lpstr>Commentaires sur le projet FLUX</vt:lpstr>
      <vt:lpstr>Commentaires sur le projet FLUX</vt:lpstr>
      <vt:lpstr>Commentaires sur les échanges de l’équipe FLUX </vt:lpstr>
      <vt:lpstr>Commentaires sur le projet IMPLANTATION</vt:lpstr>
      <vt:lpstr>Commentaires sur les échanges de l’équipe IMPLANTATION</vt:lpstr>
      <vt:lpstr>Commentaires sur le projet QUALITÉ</vt:lpstr>
      <vt:lpstr>Commentaires sur le projet QUALITÉ</vt:lpstr>
      <vt:lpstr>Commentaires sur les échanges de l’équipe QUALITÉ</vt:lpstr>
      <vt:lpstr>Commentaires sur le projet MOTIVATION</vt:lpstr>
      <vt:lpstr>Commentaires sur les échanges de l’équipe MOTIVATION</vt:lpstr>
      <vt:lpstr>Synthèse sur les échanges</vt:lpstr>
      <vt:lpstr>Présentation PowerPoint</vt:lpstr>
      <vt:lpstr>Réimplantation</vt:lpstr>
      <vt:lpstr>Polyvalence</vt:lpstr>
      <vt:lpstr>La qualité</vt:lpstr>
      <vt:lpstr>Durée de la simulation</vt:lpstr>
      <vt:lpstr>OF traceur</vt:lpstr>
      <vt:lpstr>La distribution des surligneurs</vt:lpstr>
      <vt:lpstr>Mise à jour du Tableau de bord</vt:lpstr>
      <vt:lpstr>Présentation PowerPoint</vt:lpstr>
      <vt:lpstr>Présentation PowerPoint</vt:lpstr>
      <vt:lpstr>Résultats de la simulation n°2</vt:lpstr>
      <vt:lpstr>Mise à jour du Tableau de bord</vt:lpstr>
      <vt:lpstr>Le calcul du « stock corrigé »</vt:lpstr>
      <vt:lpstr>Le calcul du takt time</vt:lpstr>
      <vt:lpstr>Présentation PowerPoint</vt:lpstr>
      <vt:lpstr>Synthèse</vt:lpstr>
      <vt:lpstr>Présentation PowerPoint</vt:lpstr>
      <vt:lpstr>Quiz de validation des acquis</vt:lpstr>
      <vt:lpstr>Question 1</vt:lpstr>
      <vt:lpstr>Question 2</vt:lpstr>
      <vt:lpstr>Question 3</vt:lpstr>
      <vt:lpstr>Question 4</vt:lpstr>
      <vt:lpstr>Question 5</vt:lpstr>
      <vt:lpstr>Question 6</vt:lpstr>
      <vt:lpstr>Question 7</vt:lpstr>
      <vt:lpstr>Question 8</vt:lpstr>
      <vt:lpstr>Question 9</vt:lpstr>
      <vt:lpstr>Question 10</vt:lpstr>
    </vt:vector>
  </TitlesOfParts>
  <Company>SO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Michel GREIF</dc:creator>
  <cp:lastModifiedBy>Stéphane JAUBERT</cp:lastModifiedBy>
  <cp:revision>1867</cp:revision>
  <cp:lastPrinted>2023-02-09T10:07:10Z</cp:lastPrinted>
  <dcterms:created xsi:type="dcterms:W3CDTF">2007-08-08T04:19:53Z</dcterms:created>
  <dcterms:modified xsi:type="dcterms:W3CDTF">2026-09-15T08:38:27Z</dcterms:modified>
</cp:coreProperties>
</file>
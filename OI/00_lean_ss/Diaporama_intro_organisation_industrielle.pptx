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deviner. Insister : aucun individu ne maitrise la chaine complete, et pourtant le crayon existe pour quelques centimes. C'est la cooperation economique.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deviner un chiffre avant de reveler. Enchainer sur la diapo de l'empreinte cachee.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garder son telephone plus longtemps et le recycler reduit fortement cette empreinte. Les chiffres varient selon les sources et le modele.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faire prendre conscience que le gaspillage est partout. Enchainer sur l'infographie des fondamentaux du 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7 gaspillages (mudas) un par un, faire trouver des exemples. Puis les 5 principes.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Analogie du supermarche pour expliquer le flux tire et le juste-a-temps.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piliers du Lean : amelioration continue ET respect des personnes, a parite.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roue PDCA et le nouveau standard qui empeche de redescendre. Petits pas vs rupture.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des exemples applicables tout de suite : regle des deux minutes, question de fin de journee.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: la capacite a apprendre est leur meilleur atout.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6974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À L'ORGANISATION INDUSTRIELLE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l'entreprise, le LEAN et les révolutions industrielles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d'accroche  |  Pôle Formation UIMM Centre-Val de Loire  |  S. Jaubert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quoi une entreprise, à quoi ça sert 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produit seul. Tout repose sur la division du travail et la coordination.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 -  L'ENTREPRISE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7452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INSOLITE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452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lancer, puis laisser un silence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Qui dans la salle sait fabriquer un simple crayon à papier, tout seul, de A à Z ? 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389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: personne.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8463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« I, Pencil » (Leonard Read, 1958), popularisé par l'économiste Milton Friedman.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Cèdre des États-Unis, graphite du Sri Lanka, argile, laque, laiton, gomme : plusieurs continents.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milliers, voire des millions de personnes y contribuent, et personne ne pilote l'ensemble.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 -  L'ENTREPRISE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7452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INSOLITE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452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lancer, puis laisser un silence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Combien de matières différentes pensez-vous trouver dans votre téléphone ? 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389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60 éléments chimiques différents.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8463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Près de 80 % des éléments stables du tableau périodique, dont une quarantaine de matières critiques.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 (iPhone) : aluminium ~25 g, cuivre 6 à 15 g, argent ~0,3 g, or ~0,02 à 0,03 g.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 rares (néodyme, dysprosium) pour les aimants ; lithium et cobalt dans la batterie.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L'empreinte cachée d'un smartphone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Derrière un objet de 130 g se cache une chaîne mondiale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44240" cy="1783080"/>
          </a:xfrm>
          <a:prstGeom prst="roundRect">
            <a:avLst>
              <a:gd name="adj" fmla="val 5128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01368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587752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fournissent les composants d'un seul téléphone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58640" y="1600200"/>
            <a:ext cx="3444240" cy="1783080"/>
          </a:xfrm>
          <a:prstGeom prst="roundRect">
            <a:avLst>
              <a:gd name="adj" fmla="val 5128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95800" y="1801368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41520" y="2587752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d'origine des composants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68640" y="1600200"/>
            <a:ext cx="3444240" cy="1783080"/>
          </a:xfrm>
          <a:prstGeom prst="roundRect">
            <a:avLst>
              <a:gd name="adj" fmla="val 5128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5800" y="1801368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237 kg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51520" y="2587752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minerai extrait pour obtenir ~30 g de métaux (ratio 1 : 7900)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444240" cy="1783080"/>
          </a:xfrm>
          <a:prstGeom prst="roundRect">
            <a:avLst>
              <a:gd name="adj" fmla="val 5128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904488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12 000 L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31520" y="4690872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d'eau mobilisés par téléphone (12 000 à 13 000 L selon les sources)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58640" y="3703320"/>
            <a:ext cx="3444240" cy="1783080"/>
          </a:xfrm>
          <a:prstGeom prst="roundRect">
            <a:avLst>
              <a:gd name="adj" fmla="val 5128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95800" y="3904488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à 70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41520" y="4690872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 différentes, extraites partout dans le monde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168640" y="3703320"/>
            <a:ext cx="3444240" cy="1783080"/>
          </a:xfrm>
          <a:prstGeom prst="roundRect">
            <a:avLst>
              <a:gd name="adj" fmla="val 5128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05800" y="3904488"/>
            <a:ext cx="316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351520" y="4690872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l'empreinte totale vient de la fabrication (ADEME)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ADEME, Apple Supply Chain, Compare and Recycle, Chemistry World. Ordres de grandeur, variables selon le modèle.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méthodes LEAN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valeur pour le client, moins de gaspillage, en s'appuyant sur les personnes du terrain.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 -  LE LEAN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7452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INSOLITE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452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lancer, puis laisser un silence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Sur une journée de travail entière, quel pourcentage de votre temps crée vraiment de la valeur pour le client ? 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389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bien moins qu'on ne le croit.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8463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répond souvent 70 à 80 %. La réalité du terrain est fréquemment bien plus basse.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reste, c'est de l'attente, des déplacements, des recherches, des corrections.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réflexe LEAN : rendre visible ce gaspillage invisible.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fondamentaux du Lean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 la valeur pour le client, éliminer les 7 gaspillages, suivre les 5 principes clés</a:t>
            </a:r>
            <a:endParaRPr lang="en-US" sz="1500" dirty="0"/>
          </a:p>
        </p:txBody>
      </p:sp>
      <p:pic>
        <p:nvPicPr>
          <p:cNvPr id="4" name="Image 0" descr="Les fondamentaux du Lean Man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0" y="1417320"/>
            <a:ext cx="8884920" cy="48463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 -  LE LEAN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7452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INSOLITE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452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lancer, puis laisser un silence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Dans un supermarché, qui décide de remettre des yaourts en rayon : le directeur le lundi matin, ou le client qui en prend un ? 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389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client. C'est le flux tiré.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8463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tiré : la consommation réelle déclenche le réapprovisionnement (le client tire).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poussé, à l'inverse : on produit selon des prévisions, en espérant que ça se vende.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Juste-à-temps : la bonne quantité, au bon moment, au bon endroit. Toyota ne stocke presque rien.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 -  LE LEAN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7452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INSOLITE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452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lancer, puis laisser un silence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Pour comprendre un problème, vaut-il mieux rester au bureau avec un tableur, ou aller voir là où le travail se fait ? 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389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sur le terrain : le Gemba.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8463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Gemba veut dire « le lieu réel ». On observe les faits, on parle aux personnes.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connaît le mieux un poste : l'ingénieur qui l'a conçu, ou l'opérateur qui y passe 7 h par jour ?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des personnes : s'appuyer sur l'intelligence de ceux qui font, les rendre acteurs.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L'amélioration continue (Kaizen)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roue PDCA : Planifier, Faire, Vérifier, Réagir. Progresser par petits pas plutôt que stagner</a:t>
            </a:r>
            <a:endParaRPr lang="en-US" sz="1500" dirty="0"/>
          </a:p>
        </p:txBody>
      </p:sp>
      <p:pic>
        <p:nvPicPr>
          <p:cNvPr id="4" name="Image 0" descr="L'amélioration continue (Kaize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0" y="1417320"/>
            <a:ext cx="8884920" cy="48463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utiliser le Kaizen au quotidien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rituels pour l'équipe, des systèmes pour l'entreprise, des habitudes pour soi</a:t>
            </a:r>
            <a:endParaRPr lang="en-US" sz="1500" dirty="0"/>
          </a:p>
        </p:txBody>
      </p:sp>
      <p:pic>
        <p:nvPicPr>
          <p:cNvPr id="4" name="Image 0" descr="Comment utiliser le Kaizen au quotidi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6531" y="1417320"/>
            <a:ext cx="4168459" cy="48463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 -  LES RÉVOLUTIONS INDUSTRIELLES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868680" cy="86868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7452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INSOLITE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7452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lancer, puis laisser un silence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90 % des données du monde ont été créées sur les 2 dernières années. Un métier appris aujourd'hui, combien de temps restera-t-il identique ? 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F4F8FC"/>
          </a:solidFill>
          <a:ln w="12700">
            <a:solidFill>
              <a:srgbClr val="EAF1F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389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sait. Et c'est le message.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48463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volume de données mondial double tous les trois ans.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en pleine industrie 4.0 (usine connectée), au début d'une industrie 5.0 plus humaine.</a:t>
            </a:r>
            <a:endParaRPr lang="en-US" sz="15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former et s'adapter est devenu le vrai métier. Rassurant pour un public en reconversion.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 |   Introduction à l'organisation industrielle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messages à retenir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34340" y="192024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45920" y="224028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1722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Coopération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866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entreprise, personne ne produit seul. Le crayon, le manteau, le smartphone le prouvent.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6260" y="192024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224028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4914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058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valeur avec moins de gaspillage, en s'appuyant sur les gens du terrain.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98180" y="192024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09760" y="224028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48106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Apprendre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7250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L'industrie change vite. La capacité à apprendre est votre meilleur atout.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Centre-Val de Loire  |  S. Jaubert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a l'organisation industrielle</dc:title>
  <dc:subject>PptxGenJS Presentation</dc:subject>
  <dc:creator>S. Jaubert - Pole Formation UIMM CVDL</dc:creator>
  <cp:lastModifiedBy>S. Jaubert - Pole Formation UIMM CVDL</cp:lastModifiedBy>
  <cp:revision>1</cp:revision>
  <dcterms:created xsi:type="dcterms:W3CDTF">2026-06-25T14:53:07Z</dcterms:created>
  <dcterms:modified xsi:type="dcterms:W3CDTF">2026-06-25T14:53:07Z</dcterms:modified>
</cp:coreProperties>
</file>
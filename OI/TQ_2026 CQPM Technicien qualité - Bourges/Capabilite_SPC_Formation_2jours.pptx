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34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8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2 jours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6600" dirty="0"/>
          </a:p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SPC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Destiné à des publics débutants – Demandeurs d'emploi – Profil opérateur</a:t>
            </a:r>
            <a:endParaRPr lang="en-US" sz="12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jours pour maîtriser vos procédés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— CAPABILITÉ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des procédés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(5M)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en cloche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Cm / Cmk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Cp / Cpk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9651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Excel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— SPC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71907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/ spéciales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670048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/ R : construction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145536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621024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réagir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409651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B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&amp; procédé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· Cmk · Cp · Cpk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: un phénomène naturel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de variabilité (5M)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 et les tolérances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Cm et Cmk (machine)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Cp et Cpk (procédé)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PHÉNOMÈNE NATUREL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cuisine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pizzas jamais identiques : épaisseur, garniture, cuisson… La variabilité existe partout.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de fléchettes ne touche jamais exactement la même cible à chaque lancer.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industrie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machine usine des pièces : diamètre, longueur… jamais exactement pareils.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est inévitable. L'objectif : la comprendre et la maîtriser.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la variabilité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— LES 5M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matériaux,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de composition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0370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Usure, jeu mécanique,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vibrations, température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7822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Main-d'œuvre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fatigue,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de l'opérateur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5274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Procédures, réglages,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de travail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2726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Température, humidité,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poussière, vibrations ext.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variation de procédé s'explique par l'une ou plusieurs de ces 5 causes.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naturelle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MESURE À LA LOI NORMALE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374904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du tir à la cible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archer tire 50 flèches sur une cible.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025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exactement au centre.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impacts se regroupent autour d'un point 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la MOYENNE (centrage)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s'écartent plus ou moins 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355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l'ÉCART-TYPE (dispersion)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flèches sont groupées,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0325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procédé est PRÉCIS.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114300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234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05272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9048" y="2560320"/>
            <a:ext cx="228600" cy="18288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5936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92824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3348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4407408"/>
            <a:ext cx="4206240" cy="0"/>
          </a:xfrm>
          <a:prstGeom prst="line">
            <a:avLst/>
          </a:prstGeom>
          <a:noFill/>
          <a:ln w="19050">
            <a:solidFill>
              <a:srgbClr val="2B2E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valeurs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extrêmes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ici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et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LIEN ENTRE LES DEUX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tolérance, c'est ce que le client accepte.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dispersion, c'est ce que la machine produit réellement.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103120"/>
            <a:ext cx="265176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capable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dépasse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103120"/>
            <a:ext cx="2651760" cy="457200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B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tient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dans la tolérance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03120"/>
            <a:ext cx="26517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dans la tolérance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d'avoir une dispersion NETTEMENT inférieure à la tolérance.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machine : Cm et Cmk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— MESURE SUR LA MACHINE SEULE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40233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— Capabilité de dispersion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= IT / (6 × σ)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Intervalle de Tolérance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= Écart-type des mesures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374904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46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mesure si la DISPERSION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machine est assez petite.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  requis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20624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15568"/>
            <a:ext cx="42062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— Capabilité de centrage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= min( (X̄ − Li) , (Ls − X̄) ) / 3σ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Moyenne des mesures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Limite inférieure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Limite supérieure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393192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46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vérifie que la machine 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CENTRÉE dans la tolérance.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≥ 1,67  requis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interpréter Cm et Cmk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LECTURE RAPIDE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Cm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20116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00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&lt; 1,00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155448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5728" y="160020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est trop dispersée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554480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600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machine – maintenance urgente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20116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50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≤ Cm &lt; 1,33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0428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2350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limite, risque élevé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230428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58968" y="235000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prioritaire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2011680" cy="658368"/>
          </a:xfrm>
          <a:prstGeom prst="rect">
            <a:avLst/>
          </a:prstGeom>
          <a:solidFill>
            <a:srgbClr val="FFF9E6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998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 ≤ Cm &lt; 1,67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05409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309981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mais perfectible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3054096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58968" y="309981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régulièrement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20116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849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80390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384962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capable — dispersion maîtrisée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803904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passer au centrage (Cmk)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tableau s'applique à Cmk — mais Cmk mesure le centrage, pas la dispersion.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procédé : Cp et Cpk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— MESURE EN CONDITIONS RÉELLES DE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que Cm / Cmk, mais calculé sur des mesures faites en PRODUCTION réelle (sous-groupes successifs).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la machine seule, en court terme (50 mesures consécutives sans changement d'opérateur, de lot, etc.)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920240"/>
            <a:ext cx="41605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le procédé complet, en long terme, avec les variations réelles (opérateurs différents, lots différents...)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≥ 1,33  et  Cpk ≥ 1,33  sont les seuils minimaux requis par la plupart des normes (IATF, ISO 9001).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situations possibles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&amp; CPK — QUE SE PASSE-T-IL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Dispersé ET décentré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problème → action immédiate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43000"/>
            <a:ext cx="4160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mais mal centré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nécessaire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063240"/>
            <a:ext cx="416052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Centré mais trop dispersé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variabilité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063240"/>
            <a:ext cx="41605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ET centré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 sous contrôle ✓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—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SUR DONNÉES RÉELLES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577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557784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fichier TP_MSP_app.xlsx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50 mesures de diamètre (fichier CSV fourni)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moyenne X̄ et l'écart-type σ calculés automatiquement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limites Li et Ls (tolérances fournies par le formateur)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Cm et Cmk avec les formules de la diapositive précédente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: la machine est-elle capable 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269748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2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6208" y="2103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diamètre_butée.csv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2560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22,00 mm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22,40 mm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= 22,20 mm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mesures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4251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binômes — 45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 machine et procédé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les 5M en sont les sources principales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 mesurent la capabilité de la machine (court terme)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 mesurent la capabilité du procédé (long terme, en production)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à retenir : Cp ≥ 1,33 et Cpk ≥ 1,33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procédé peut être précis mais mal centré — Cp ≠ Cpk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réduire la dispersion ET centrer sur la cible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0" dist="1016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Procédés (SPC)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X̄/R · Limites de contrôle · Ellistat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en continu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et causes spéciales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 : construction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(erreur classique)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détecter les dérives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 et mise en œuvre avec Ellistat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LA NON-QUALITÉ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est une photo prise une fois.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SPC, c'est la caméra qui filme en continu.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tôt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une dérive AVANT de produire des pièces non conformes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alarme détectée tôt coûte 10× moins cher qu'un retour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l'historique de chaque série pour les audits qualité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sur des faits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basées sur des données, pas sur des impressions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de causes de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SHEWHART — LA DISTINCTION FONDAMENTALE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16052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présentes (bruit de fond)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Inhérentes au procédé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les éliminer une par une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usure progressive, température ambiante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Nécessitent une MODIFICATION du procédé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Responsabilité du management, pas de l'opérateur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9728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SPÉCIALES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Apparaissent de temps en temps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Anormales, identifiables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78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 être supprimées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mauvais réglage, outil cassé, erreur humaine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Déclenchent une ALARME sur la carte de contrôle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8679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L'opérateur DOIT agir immédiatement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LIRE UNE CARTE SHEWHART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de contrôle, c'est un graphique qui montre l'évolution d'un procédé dans le temps.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des sous-groupes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mesurer 5 pièces consécutives toutes les heures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moyenne X̄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5 mesures du sous-groupe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l'étendue 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mesure max − mesure min du sous-groupe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limites LCS et LCI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constantes A₂, D₃, D₄ (tableaux fournis)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224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et surveiller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X̄ et R sur les deux cartes — détecter les alarmes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1078992"/>
            <a:ext cx="45720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1170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(exemple)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169164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549640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2468880"/>
            <a:ext cx="4297680" cy="0"/>
          </a:xfrm>
          <a:prstGeom prst="line">
            <a:avLst/>
          </a:prstGeom>
          <a:noFill/>
          <a:ln w="25400">
            <a:solidFill>
              <a:srgbClr val="09B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3957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324612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8549640" y="3172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71416" y="232257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9744" y="22768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48072" y="24597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236829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24728" y="22311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3056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1384" y="230428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39712" y="221284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78040" y="24140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16368" y="2340864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54696" y="20482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93024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0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!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 et constantes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A₂, D₃, D₄ — PAS DE PANIQUE 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les calculer à la main : les tableaux sont fournis, et Ellistat les applique automatiquement.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7432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est le plus courant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1664208"/>
            <a:ext cx="2743200" cy="27432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26480" y="1664208"/>
            <a:ext cx="2743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9632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17920" y="21762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LCS_X̄ = X̄̄ + A₂ × R̄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17920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LCI_X̄  = X̄̄ − A₂ × R̄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1792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1792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LCS_R  = D₄ × R̄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3858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LCI_R   = D₃ × R̄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LA PLUS FRÉQUENTE 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4241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les limites de contrôle et les tolérances sont deux choses DIFFÉRENTES.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91640"/>
            <a:ext cx="4160520" cy="475488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Tolérances (IT)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Fixées par le CLIENT ou la norme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∅ 22,00 à 22,40 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accepte ou non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691640"/>
            <a:ext cx="416052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(LCS / LCI)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Calculées à partir des DONNÉES du procédé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= X̄̄ + A₂ × R̄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d'alerte interne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peut être DANS les tolérances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quand même déclencher une ALARME sur la carte.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une alerte préventive : agir avant que les pièces deviennent non conformes.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: normal ou alarme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RÈGLES À RETENIR EN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hors limites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270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dépasse LCS ou LCI → cause spéciale, agir immédiatement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du même côté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consécutifs au-dessus ou en-dessous de la moyenne → dérive progressive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 croissants/décroissants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monotone → la machine dérive (usure, température...)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sur 3 dans la zone externe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2702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 3 derniers points entre la zone 2σ et LCS/LCI → instabilité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L'OPÉRATEUR EN CAS D'ALARME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41605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la production. Ne pas produire davantage de pièces potentiellement non conformes.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97280"/>
            <a:ext cx="41605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Prévenir le responsable qualité ou le chef d'équipe. Ne pas agir seul sur le procédé.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71800"/>
            <a:ext cx="41605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l'heure, la valeur, la nature du signal. Identifier les pièces concernées (traçabilité).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971800"/>
            <a:ext cx="4160520" cy="53035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responsable : identifier la cause spéciale (5M). Corriger et vérifier l'efficacité.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 SPC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— DÉMONSTRATION ET TP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24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Ellistat pour vous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ou import des données de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574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de X̄, R, 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limites LCS et LCI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43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automatique des cartes X̄/R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264408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369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indices Cp et Cpk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301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alarmes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05079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résultats pour les audits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77840" y="1097280"/>
            <a:ext cx="329184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intégratif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176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Importer les données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2560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Calculer la capabilité initiale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2944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Paramétrer la carte X̄/R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Simuler une dérive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0" y="3712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Identifier l'alarme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0" y="4096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Rédiger la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SPC au plan de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AVEC L'AMDEC ET LE PLAN DE SURVEILLANCE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1965960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188720"/>
            <a:ext cx="19659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2928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87168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7168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procédé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capable (Cp/Cpk)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1188720"/>
            <a:ext cx="19659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00016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quoi mesurer,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combien, à quelle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67144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67144" y="1188720"/>
            <a:ext cx="196596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78624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B2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12864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SPC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en continu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détecter 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est le dernier maillon d'une chaîne qualité — il ne remplace pas l'AMDEC et le plan de surveillance.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surveille le procédé en continu — c'est la caméra, pas la photo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= bruit normal · Causes spéciales = alarme à traiter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X̄/R se construit avec X̄̄, R̄ et les constantes A₂, D₃, D₄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— erreur classique à éviter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règles de détection : 1 hors limites / 9 du même côté / 6 en série / 2/3 externe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d'alarme : STOPPER — ALERTER — CONSIGNER — ANALYSER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complémentaires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 — RESSOURCES EN LIGNE ET LOCALES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15568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locales (dossier formation)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7335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645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TP_MSP_app.xlsx — feuille calcul capabilité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01168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84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diamètre_butée.csv — données réelles TP J1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5000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TP_MSP_relevé1_df1 à df9.csv — données carte X̄/R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688336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660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Cartes de Shewhart.xlsx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026664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999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 de contrôle.pdf — exercices lecture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6499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Ellistat.pdf — guide logiciel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0332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675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 5 Keys to MSP Excellence.pdf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04164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0142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MSP.pdf — référence théorique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115568"/>
            <a:ext cx="4160520" cy="43891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en ligne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169164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Cp/Cpk complet [LeanSixPro]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leansixpro.com/blog/cp-cpk-capabilite-processus-guide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64608" y="207568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SPC Ellistat e-learning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ellistat.com/formation/msp-spc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64608" y="2459736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 vidéo : calculer une capabilité (YouTube)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youtube.com/watch?v=Z0vSxgBDauo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64608" y="2843784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3892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outil MSP [XL Formation]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xl-formation.com — Fiche MSP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64608" y="3227832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3182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SPC prof-mpk.fr (PDF libre)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374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prof-mpk.fr — Cours cartes de contrôle SPC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4608" y="361188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Cartes Shewhart corrigé [sjaubert.github.io]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3758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sjaubert.github.io/SPCR/spc/TP_cartes_Shewhart.html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64608" y="399592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950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— essai gratuit en ligne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4142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ellistat.com/en — SPC gratuit sur vos équipements</a:t>
            </a:r>
            <a:endParaRPr lang="en-US" sz="900" dirty="0"/>
          </a:p>
        </p:txBody>
      </p:sp>
      <p:pic>
        <p:nvPicPr>
          <p:cNvPr id="49" name="Picture 48" descr="logo_uim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FORMATION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emportez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votre rôle est de la maîtriser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01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Cm, Cmk, Cp, Cpk : des indicateurs qui parlent de la réalité de votre machine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054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vous alerte AVANT que le client soit touché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095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vous permet de mettre tout cela en œuvre sans calcul manuel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59352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136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maintenant les outils pour agir sur des faits, pas sur des impressions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  —  5, 6 et 25 novembre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Capabilité &amp; SPC – Formation 2 jours</dc:title>
  <dc:subject>PptxGenJS Presentation</dc:subject>
  <dc:creator>S. Jaubert – Pôle Formation UIMM CVDL</dc:creator>
  <cp:lastModifiedBy>S. Jaubert – Pôle Formation UIMM CVDL</cp:lastModifiedBy>
  <cp:revision>1</cp:revision>
  <dcterms:created xsi:type="dcterms:W3CDTF">2026-06-07T06:53:25Z</dcterms:created>
  <dcterms:modified xsi:type="dcterms:W3CDTF">2026-06-07T06:53:25Z</dcterms:modified>
</cp:coreProperties>
</file>
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3" r:id="rId28"/>
    <p:sldId id="282" r:id="rId2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144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éphane JAUBERT" userId="926aeaf5-0d8d-4569-9635-338e3b4850fc" providerId="ADAL" clId="{C777CAD2-2948-4130-A6C6-8CB11CD7CD00}"/>
    <pc:docChg chg="modSld">
      <pc:chgData name="Stéphane JAUBERT" userId="926aeaf5-0d8d-4569-9635-338e3b4850fc" providerId="ADAL" clId="{C777CAD2-2948-4130-A6C6-8CB11CD7CD00}" dt="2026-07-22T13:15:57.420" v="2" actId="14100"/>
      <pc:docMkLst>
        <pc:docMk/>
      </pc:docMkLst>
      <pc:sldChg chg="modSp mod">
        <pc:chgData name="Stéphane JAUBERT" userId="926aeaf5-0d8d-4569-9635-338e3b4850fc" providerId="ADAL" clId="{C777CAD2-2948-4130-A6C6-8CB11CD7CD00}" dt="2026-07-20T13:51:12.180" v="1" actId="14100"/>
        <pc:sldMkLst>
          <pc:docMk/>
          <pc:sldMk cId="0" sldId="256"/>
        </pc:sldMkLst>
        <pc:picChg chg="mod">
          <ac:chgData name="Stéphane JAUBERT" userId="926aeaf5-0d8d-4569-9635-338e3b4850fc" providerId="ADAL" clId="{C777CAD2-2948-4130-A6C6-8CB11CD7CD00}" dt="2026-07-20T13:51:12.180" v="1" actId="14100"/>
          <ac:picMkLst>
            <pc:docMk/>
            <pc:sldMk cId="0" sldId="256"/>
            <ac:picMk id="9" creationId="{00000000-0000-0000-0000-000000000000}"/>
          </ac:picMkLst>
        </pc:picChg>
      </pc:sldChg>
      <pc:sldChg chg="modSp mod">
        <pc:chgData name="Stéphane JAUBERT" userId="926aeaf5-0d8d-4569-9635-338e3b4850fc" providerId="ADAL" clId="{C777CAD2-2948-4130-A6C6-8CB11CD7CD00}" dt="2026-07-22T13:15:57.420" v="2" actId="14100"/>
        <pc:sldMkLst>
          <pc:docMk/>
          <pc:sldMk cId="0" sldId="258"/>
        </pc:sldMkLst>
        <pc:picChg chg="mod">
          <ac:chgData name="Stéphane JAUBERT" userId="926aeaf5-0d8d-4569-9635-338e3b4850fc" providerId="ADAL" clId="{C777CAD2-2948-4130-A6C6-8CB11CD7CD00}" dt="2026-07-22T13:15:57.420" v="2" actId="14100"/>
          <ac:picMkLst>
            <pc:docMk/>
            <pc:sldMk cId="0" sldId="258"/>
            <ac:picMk id="9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32851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E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PÔLE FORMATION UIMM CVDL  —  S. JAUBERT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2 jours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Capabilité</a:t>
            </a:r>
            <a:endParaRPr lang="en-US" sz="6600" dirty="0"/>
          </a:p>
          <a:p>
            <a:pPr marL="0" indent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SPC</a:t>
            </a:r>
            <a:endParaRPr lang="en-US" sz="6600" dirty="0"/>
          </a:p>
        </p:txBody>
      </p:sp>
      <p:sp>
        <p:nvSpPr>
          <p:cNvPr id="6" name="Shape 4"/>
          <p:cNvSpPr/>
          <p:nvPr/>
        </p:nvSpPr>
        <p:spPr>
          <a:xfrm>
            <a:off x="0" y="3749040"/>
            <a:ext cx="9144000" cy="139446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57200" y="37947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Maîtrise Statistique des Procédés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3708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Destiné à des publics débutants – Demandeurs d'emploi – Profil opérateur</a:t>
            </a:r>
            <a:endParaRPr lang="en-US" sz="1200" dirty="0"/>
          </a:p>
        </p:txBody>
      </p:sp>
      <p:pic>
        <p:nvPicPr>
          <p:cNvPr id="9" name="Picture 8" descr="logo_uim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5788" y="4434840"/>
            <a:ext cx="625332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B2E33"/>
          </a:solidFill>
          <a:ln w="12700">
            <a:solidFill>
              <a:srgbClr val="2B2E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jours pour maîtriser vos procédés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3931920" cy="356616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65760" y="1143000"/>
            <a:ext cx="393192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 1 — CAPABILITÉ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719072"/>
            <a:ext cx="54864" cy="27432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640080" y="167335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variabilité des procédés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54864" cy="27432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5 sources (5M)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670048"/>
            <a:ext cx="54864" cy="27432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640080" y="262432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 en cloche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145536"/>
            <a:ext cx="54864" cy="27432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40080" y="309981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Indices Cm / Cmk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621024"/>
            <a:ext cx="54864" cy="27432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40080" y="357530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Indices Cp / Cpk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096512"/>
            <a:ext cx="54864" cy="27432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640080" y="405079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 pratique Excel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46320" y="1143000"/>
            <a:ext cx="3931920" cy="356616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4846320" y="1143000"/>
            <a:ext cx="3931920" cy="4572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4937760" y="1188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 2 — SPC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937760" y="1719072"/>
            <a:ext cx="54864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5120640" y="167335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surveiller ?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937760" y="2194560"/>
            <a:ext cx="54864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5120640" y="21488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communes / spéciales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937760" y="2670048"/>
            <a:ext cx="54864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5120640" y="262432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X̄ / R : construction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937760" y="3145536"/>
            <a:ext cx="54864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5120640" y="309981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de contrôle ≠ tolérances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937760" y="3621024"/>
            <a:ext cx="54864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5120640" y="357530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une carte et réagir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937760" y="4096512"/>
            <a:ext cx="54864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5120640" y="405079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œuvre avec Ellistat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B2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40080" y="822960"/>
            <a:ext cx="78638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254000" dist="1016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500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1371600"/>
            <a:ext cx="2743200" cy="36576"/>
          </a:xfrm>
          <a:prstGeom prst="rect">
            <a:avLst/>
          </a:prstGeom>
          <a:solidFill>
            <a:srgbClr val="DBDADA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Capabilité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&amp; procédé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57200" y="40690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· Cmk · Cp · Cpk</a:t>
            </a:r>
            <a:endParaRPr lang="en-US" sz="1600" dirty="0"/>
          </a:p>
        </p:txBody>
      </p:sp>
      <p:pic>
        <p:nvPicPr>
          <p:cNvPr id="9" name="Picture 8" descr="logo_uim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1688" y="4434840"/>
            <a:ext cx="619432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500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PROGRAMME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allez apprendre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36576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463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variabilité : un phénomène naturel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167128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21214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5 sources de variabilité (5M)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65760" y="2825496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65760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2779776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courbe en cloche et les tolérances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3483864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365760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3438144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indices Cm et Cmk (machine)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365760" y="4142232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36576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" y="409651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indices Cp et Cpk (procédé)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365760" y="4800600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365760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754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 pratique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variabilité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PHÉNOMÈNE NATUREL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27432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2743200" cy="54864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84048" y="1234440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cuisine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1618488"/>
            <a:ext cx="252374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pizzas jamais identiques : épaisseur, garniture, cuisson… La variabilité existe partout.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143000"/>
            <a:ext cx="27432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3246120" y="1143000"/>
            <a:ext cx="2743200" cy="548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355848" y="1234440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sport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55848" y="1618488"/>
            <a:ext cx="252374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joueur de fléchettes ne touche jamais exactement la même cible à chaque lancer.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143000"/>
            <a:ext cx="27432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6217920" y="1143000"/>
            <a:ext cx="2743200" cy="5486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327648" y="1234440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industrie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27648" y="1618488"/>
            <a:ext cx="252374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machine usine des pièces : diamètre, longueur… jamais exactement pareils.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74320" y="457200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variabilité est inévitable. L'objectif : la comprendre et la maîtriser.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D'où vient la variabilité 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5 SOURCES — LES 5M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1691640" cy="347472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777240" y="1325880"/>
            <a:ext cx="685800" cy="685800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777240" y="13258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9184" y="2103120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Matière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560320"/>
            <a:ext cx="1508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des matériaux,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variations de composition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48840" y="1143000"/>
            <a:ext cx="1691640" cy="347472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2651760" y="1325880"/>
            <a:ext cx="685800" cy="685800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2651760" y="13258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203704" y="2103120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40280" y="2560320"/>
            <a:ext cx="1508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Usure, jeu mécanique,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vibrations, température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023360" y="1143000"/>
            <a:ext cx="1691640" cy="347472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526280" y="1325880"/>
            <a:ext cx="685800" cy="685800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526280" y="13258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078224" y="2103120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Main-d'œuvre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114800" y="2560320"/>
            <a:ext cx="1508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Formation, fatigue,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de l'opérateur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897880" y="1143000"/>
            <a:ext cx="1691640" cy="347472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6400800" y="1325880"/>
            <a:ext cx="685800" cy="685800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6400800" y="13258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52744" y="2103120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989320" y="2560320"/>
            <a:ext cx="1508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Procédures, réglages,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consignes de travail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0" y="1143000"/>
            <a:ext cx="1691640" cy="347472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8275320" y="1325880"/>
            <a:ext cx="685800" cy="685800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8275320" y="13258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827264" y="2103120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Milieu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863840" y="2560320"/>
            <a:ext cx="1508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Température, humidité,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poussière, vibrations ext.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variation de procédé s'explique par l'une ou plusieurs de ces 5 causes.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dispersion naturelle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MESURE À LA LOI NORMALE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3749040" cy="347472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3749040" cy="41148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65760" y="11704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L'analogie du tir à la cible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1664208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archer tire 50 flèches sur une cible.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" y="2002536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Jamais exactement au centre.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11480" y="2340864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impacts se regroupent autour d'un point :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6791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c'est la MOYENNE (centrage)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11480" y="30175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Ils s'écartent plus ou moins :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1480" y="3355848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c'est l'ÉCART-TYPE (dispersion)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3694176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les flèches sont groupées,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11480" y="4032504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le procédé est PRÉCIS.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89120" y="1143000"/>
            <a:ext cx="44805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480560" y="12344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courbe en cloche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17720" y="4331970"/>
            <a:ext cx="228600" cy="5715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4864608" y="4217670"/>
            <a:ext cx="228600" cy="17145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5111496" y="3989070"/>
            <a:ext cx="228600" cy="40005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5358384" y="3646170"/>
            <a:ext cx="228600" cy="74295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5605272" y="3188970"/>
            <a:ext cx="228600" cy="120015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5852160" y="2788920"/>
            <a:ext cx="228600" cy="1600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6099048" y="2560320"/>
            <a:ext cx="228600" cy="18288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6345936" y="2788920"/>
            <a:ext cx="228600" cy="1600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6592824" y="3188970"/>
            <a:ext cx="228600" cy="120015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6839712" y="3646170"/>
            <a:ext cx="228600" cy="74295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7"/>
          <p:cNvSpPr/>
          <p:nvPr/>
        </p:nvSpPr>
        <p:spPr>
          <a:xfrm>
            <a:off x="7086600" y="3989070"/>
            <a:ext cx="228600" cy="40005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7333488" y="4217670"/>
            <a:ext cx="228600" cy="17145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7580376" y="4331970"/>
            <a:ext cx="228600" cy="5715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4526280" y="4407408"/>
            <a:ext cx="4206240" cy="0"/>
          </a:xfrm>
          <a:prstGeom prst="line">
            <a:avLst/>
          </a:prstGeom>
          <a:noFill/>
          <a:ln w="19050">
            <a:solidFill>
              <a:srgbClr val="2B2E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44805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 de valeurs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extrêmes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943600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plupart des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ici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806440" y="44622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Tolérance et capabilité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LE LIEN ENTRE LES DEUX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109728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tolérance, c'est ce que le client accepte.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74320" y="1508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dispersion, c'est ce que la machine produit réellement.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74320" y="2103120"/>
            <a:ext cx="2651760" cy="256032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74320" y="2103120"/>
            <a:ext cx="2651760" cy="45720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21305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capable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69748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65760" y="338328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dispersion dépasse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tolérance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46120" y="2103120"/>
            <a:ext cx="2651760" cy="256032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3246120" y="2103120"/>
            <a:ext cx="2651760" cy="457200"/>
          </a:xfrm>
          <a:prstGeom prst="rect">
            <a:avLst/>
          </a:prstGeom>
          <a:solidFill>
            <a:srgbClr val="DBDADA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337560" y="21305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69080" y="269748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DBDA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3337560" y="338328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dispersion tient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juste dans la tolérance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2103120"/>
            <a:ext cx="2651760" cy="256032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6217920" y="2103120"/>
            <a:ext cx="265176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309360" y="21305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40880" y="269748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309360" y="338328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dispersion est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 dans la tolérance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274320" y="473659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L'objectif est d'avoir une dispersion NETTEMENT inférieure à la tolérance.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capabilité machine : Cm et Cmk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TERME — MESURE SUR LA MACHINE SEULE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15568"/>
            <a:ext cx="4023360" cy="352044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402336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65760" y="11430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— Capabilité de dispersion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7373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= IT / (6 × σ)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= Intervalle de Tolérance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 = Écart-type des mesures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154680"/>
            <a:ext cx="3749040" cy="36576"/>
          </a:xfrm>
          <a:prstGeom prst="rect">
            <a:avLst/>
          </a:prstGeom>
          <a:solidFill>
            <a:srgbClr val="DBDADA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65760" y="32461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mesure si la DISPERSION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machine est assez petite.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023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≥ 1,67  requis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63440" y="1115568"/>
            <a:ext cx="4206240" cy="352044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663440" y="1115568"/>
            <a:ext cx="4206240" cy="4572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754880" y="11430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Cmk — Capabilité de centrage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17373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Cmk = min( (X̄ − Li) , (Ls − X̄) ) / 3σ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23317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X̄ = Moyenne des mesures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= Limite inférieure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= Limite supérieure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3154680"/>
            <a:ext cx="3931920" cy="36576"/>
          </a:xfrm>
          <a:prstGeom prst="rect">
            <a:avLst/>
          </a:prstGeom>
          <a:solidFill>
            <a:srgbClr val="DBDADA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754880" y="32461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Cmk vérifie que la machine est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 CENTRÉE dans la tolérance.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40233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Cmk ≥ 1,67  requis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interpréter Cm et Cmk 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LECTURE RAPIDE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011680" cy="36576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274320" y="1097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de Cm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331720" y="1097280"/>
            <a:ext cx="3017520" cy="36576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331720" y="1097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394960" y="1097280"/>
            <a:ext cx="3474720" cy="36576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5394960" y="1097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recommandée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554480"/>
            <a:ext cx="2011680" cy="658368"/>
          </a:xfrm>
          <a:prstGeom prst="rect">
            <a:avLst/>
          </a:prstGeom>
          <a:solidFill>
            <a:srgbClr val="FEE2E2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20040" y="16002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&lt; 1,00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331720" y="1554480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2395728" y="1600200"/>
            <a:ext cx="2889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machine est trop dispersée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394960" y="1554480"/>
            <a:ext cx="34747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5458968" y="1600200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Arrêt machine – maintenance urgente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304288"/>
            <a:ext cx="201168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320040" y="235000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 ≤ Cm &lt; 1,33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331720" y="2304288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2395728" y="2350008"/>
            <a:ext cx="2889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 limite, risque élevé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394960" y="2304288"/>
            <a:ext cx="34747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5458968" y="2350008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Amélioration prioritaire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3054096"/>
            <a:ext cx="2011680" cy="658368"/>
          </a:xfrm>
          <a:prstGeom prst="rect">
            <a:avLst/>
          </a:prstGeom>
          <a:solidFill>
            <a:srgbClr val="FFF9E6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320040" y="309981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 ≤ Cm &lt; 1,67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331720" y="3054096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2395728" y="3099816"/>
            <a:ext cx="2889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mais perfectible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394960" y="3054096"/>
            <a:ext cx="34747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5458968" y="3099816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Surveiller régulièrement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" y="3803904"/>
            <a:ext cx="2011680" cy="658368"/>
          </a:xfrm>
          <a:prstGeom prst="rect">
            <a:avLst/>
          </a:prstGeom>
          <a:solidFill>
            <a:srgbClr val="D1FAE5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320040" y="384962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≥ 1,67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331720" y="3803904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2395728" y="3849624"/>
            <a:ext cx="2889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capable — dispersion maîtrisée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394960" y="3803904"/>
            <a:ext cx="34747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5458968" y="3849624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— passer au centrage (Cmk)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tableau s'applique à Cmk — mais Cmk mesure le centrage, pas la dispersion.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capabilité procédé : Cp et Cpk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TERME — MESURE EN CONDITIONS RÉELLES DE PRODUCTION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15568"/>
            <a:ext cx="8595360" cy="658368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principe que Cm / Cmk, mais calculé sur des mesures faites en PRODUCTION réelle (sous-groupes successifs).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920240"/>
            <a:ext cx="41605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  <a:effectLst>
            <a:outerShdw blurRad="1016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74320" y="1920240"/>
            <a:ext cx="4160520" cy="50292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1956816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/ Cmk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5760" y="2542032"/>
            <a:ext cx="3977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Mesuré sur la machine seule, en court terme (50 mesures consécutives sans changement d'opérateur, de lot, etc.)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09160" y="1920240"/>
            <a:ext cx="41605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  <a:effectLst>
            <a:outerShdw blurRad="1016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709160" y="1920240"/>
            <a:ext cx="4160520" cy="5029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800600" y="1956816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/ Cpk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00600" y="2542032"/>
            <a:ext cx="3977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Mesuré sur le procédé complet, en long terme, avec les variations réelles (opérateurs différents, lots différents...)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274320" y="473659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≥ 1,33  et  Cpk ≥ 1,33  sont les seuils minimaux requis par la plupart des normes (IATF, ISO 9001).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4 situations possibles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&amp; CPK — QUE SE PASSE-T-IL 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4160520" cy="178308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4160520" cy="45720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65760" y="117043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faible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Cpk faible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673352"/>
            <a:ext cx="3886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Dispersé ET décentré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problème → action immédiate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09160" y="1143000"/>
            <a:ext cx="4160520" cy="178308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4709160" y="1143000"/>
            <a:ext cx="4160520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800600" y="117043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fort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Cpk faible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46320" y="1673352"/>
            <a:ext cx="3886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Précis mais mal centré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Réglage nécessaire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74320" y="3063240"/>
            <a:ext cx="4160520" cy="178308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274320" y="3063240"/>
            <a:ext cx="4160520" cy="4572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365760" y="309067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faible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Cpk fort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" y="3593592"/>
            <a:ext cx="3886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Centré mais trop dispersé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la variabilité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09160" y="3063240"/>
            <a:ext cx="4160520" cy="178308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4709160" y="3063240"/>
            <a:ext cx="416052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800600" y="309067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fort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Cpk fort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3593592"/>
            <a:ext cx="3886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Précis ET centré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Procédé sous contrôle ✓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 pratique — Capabilité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SUR DONNÉES RÉELLES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1005840"/>
            <a:ext cx="9144000" cy="413766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55778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  <a:effectLst>
            <a:outerShdw blurRad="127000" dist="508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5577840" cy="47548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365760" y="1170432"/>
            <a:ext cx="53949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1480" y="1737360"/>
            <a:ext cx="457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1148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17373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le fichier TP_MSP_app.xlsx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11480" y="2194560"/>
            <a:ext cx="457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1148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5840" y="2194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Saisir les 50 mesures de diamètre (fichier CSV fourni)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11480" y="2651760"/>
            <a:ext cx="457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1148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05840" y="26517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la moyenne X̄ et l'écart-type σ calculés automatiquement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11480" y="3108960"/>
            <a:ext cx="457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114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05840" y="31089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Saisir les limites Li et Ls (tolérances fournies par le formateur)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11480" y="3566160"/>
            <a:ext cx="457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4114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05840" y="35661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 Cm et Cmk avec les formules de la diapositive précédente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11480" y="4023360"/>
            <a:ext cx="457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1148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05840" y="40233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Interpréter : la machine est-elle capable ?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126480" y="1143000"/>
            <a:ext cx="2697480" cy="3520440"/>
          </a:xfrm>
          <a:prstGeom prst="rect">
            <a:avLst/>
          </a:prstGeom>
          <a:solidFill>
            <a:srgbClr val="2B2E33"/>
          </a:solidFill>
          <a:ln w="12700">
            <a:solidFill>
              <a:srgbClr val="2B2E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6217920" y="13258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kern="0" spc="200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236208" y="210312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: diamètre_butée.csv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236208" y="256032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= 11,80 mm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36208" y="301752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= 11,96 mm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36208" y="347472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= 11,88 mm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236208" y="393192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50 mesures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236208" y="42519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 en binômes — 45 min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2E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B2E33"/>
          </a:solidFill>
          <a:ln w="12700">
            <a:solidFill>
              <a:srgbClr val="2B2E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RÉSUMÉ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Capabilité machine et procédé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685800" y="11521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variabilité existe toujours — les 5M en sont les sources principales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685800" y="18379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/ Cmk mesurent la capabilité de la machine (court terme)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5603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85800" y="25237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/ Cpk mesurent la capabilité du procédé (long terme, en production)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2461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685800" y="32095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à retenir : Cp ≥ 1,33 et Cpk ≥ 1,33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9319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85800" y="38953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procédé peut être précis mais mal centré — Cp ≠ Cpk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46177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85800" y="45811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: réduire la dispersion ET centrer sur la cible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40080" y="822960"/>
            <a:ext cx="78638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254000" dist="1016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5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1371600"/>
            <a:ext cx="2743200" cy="36576"/>
          </a:xfrm>
          <a:prstGeom prst="rect">
            <a:avLst/>
          </a:prstGeom>
          <a:solidFill>
            <a:srgbClr val="DBDADA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Maîtrise Statistique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Procédés (SPC)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57200" y="40690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X̄/R · Limites de contrôle · Ellistat</a:t>
            </a:r>
            <a:endParaRPr lang="en-US" sz="1600" dirty="0"/>
          </a:p>
        </p:txBody>
      </p:sp>
      <p:pic>
        <p:nvPicPr>
          <p:cNvPr id="9" name="Picture 8" descr="logo_uim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434840"/>
            <a:ext cx="1143000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500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PROGRAMME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allez apprendre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36576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463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surveiller le procédé en continu 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167128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21214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communes et causes spéciales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65760" y="2825496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65760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2779776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carte de contrôle X̄ / R : construction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3483864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365760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3438144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de contrôle ≠ tolérances (erreur classique)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365760" y="4142232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36576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" y="409651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une carte et détecter les dérives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365760" y="4800600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365760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754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Procédure de réaction et mise en œuvre avec Ellistat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surveiller le procédé 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COÛT DE LA NON-QUALITÉ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109728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capabilité est une photo prise une fois.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SPC, c'est la caméra qui filme en continu.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1965960"/>
            <a:ext cx="4160520" cy="128016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411480" y="2057400"/>
            <a:ext cx="502920" cy="502920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1148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20574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Détecter tôt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51560" y="2468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Repérer une dérive AVANT de produire des pièces non conformes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1965960"/>
            <a:ext cx="4160520" cy="128016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846320" y="2057400"/>
            <a:ext cx="502920" cy="502920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84632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0" y="20574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les coûts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0" y="2468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alarme détectée tôt coûte 10× moins cher qu'un retour client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" y="3383280"/>
            <a:ext cx="4160520" cy="128016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411480" y="3474720"/>
            <a:ext cx="502920" cy="502920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41148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51560" y="34747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Tracer la production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886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Conserver l'historique de chaque série pour les audits qualité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09160" y="3383280"/>
            <a:ext cx="4160520" cy="128016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4846320" y="3474720"/>
            <a:ext cx="502920" cy="502920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484632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0" y="34747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Agir sur des faits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0" y="3886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Prendre des décisions basées sur des données, pas sur des impressions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types de causes de variabilité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SHEWHART — LA DISTINCTION FONDAMENTALE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60520" cy="356616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74320" y="1097280"/>
            <a:ext cx="4160520" cy="5029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65760" y="112471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COMMUNES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71907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présentes (bruit de fond)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1488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Inhérentes au procédé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ne peut pas les éliminer une par une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300837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 : usure progressive, température ambiante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11480" y="343814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Nécessitent une MODIFICATION du procédé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" y="38679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Responsabilité du management, pas de l'opérateur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09160" y="1097280"/>
            <a:ext cx="4160520" cy="356616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4709160" y="1097280"/>
            <a:ext cx="4160520" cy="50292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800600" y="112471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SPÉCIALES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54880" y="17190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Apparaissent de temps en temps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21488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Anormales, identifiables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257860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Peuvent être supprimées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300837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 : mauvais réglage, outil cassé, erreur humaine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54880" y="343814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Déclenchent une ALARME sur la carte de contrôle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0" y="386791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L'opérateur DOIT agir immédiatement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carte de contrôle X̄ / 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CONSTRUIRE ET LIRE UNE CARTE SHEWHART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109728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carte de contrôle, c'est un graphique qui montre l'évolution d'un procédé dans le temps.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691640"/>
            <a:ext cx="457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743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166420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Prélever des sous-groupes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19019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 : mesurer 5 pièces consécutives toutes les heures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4320" y="2331720"/>
            <a:ext cx="457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27432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" y="23042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 la moyenne X̄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25420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 des 5 mesures du sous-groupe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74320" y="2971800"/>
            <a:ext cx="457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27432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68680" y="29443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 l'étendue 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" y="318211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mesure max − mesure min du sous-groupe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74320" y="3611880"/>
            <a:ext cx="457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27432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68680" y="35844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 les limites LCS et LCI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68680" y="38221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partir des constantes A₂, D₃, D₄ (tableaux fournis)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74320" y="4251960"/>
            <a:ext cx="457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2743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68680" y="422452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Tracer et surveiller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68680" y="44622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Reporter X̄ et R sur les deux cartes — détecter les alarmes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297680" y="1078992"/>
            <a:ext cx="4572000" cy="3657600"/>
          </a:xfrm>
          <a:prstGeom prst="rect">
            <a:avLst/>
          </a:prstGeom>
          <a:solidFill>
            <a:srgbClr val="F8FAFC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4480560" y="11704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X̄ (exemple)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434840" y="1691640"/>
            <a:ext cx="4297680" cy="0"/>
          </a:xfrm>
          <a:prstGeom prst="line">
            <a:avLst/>
          </a:prstGeom>
          <a:noFill/>
          <a:ln w="19050">
            <a:solidFill>
              <a:srgbClr val="E87722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8549640" y="16276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434840" y="2468880"/>
            <a:ext cx="4297680" cy="0"/>
          </a:xfrm>
          <a:prstGeom prst="line">
            <a:avLst/>
          </a:prstGeom>
          <a:noFill/>
          <a:ln w="254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8549640" y="239572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X̄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434840" y="3246120"/>
            <a:ext cx="4297680" cy="0"/>
          </a:xfrm>
          <a:prstGeom prst="line">
            <a:avLst/>
          </a:prstGeom>
          <a:noFill/>
          <a:ln w="19050">
            <a:solidFill>
              <a:srgbClr val="E87722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8549640" y="317296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471416" y="2322576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Shape 34"/>
          <p:cNvSpPr/>
          <p:nvPr/>
        </p:nvSpPr>
        <p:spPr>
          <a:xfrm>
            <a:off x="4809744" y="2276856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Shape 35"/>
          <p:cNvSpPr/>
          <p:nvPr/>
        </p:nvSpPr>
        <p:spPr>
          <a:xfrm>
            <a:off x="5148072" y="2459736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Shape 36"/>
          <p:cNvSpPr/>
          <p:nvPr/>
        </p:nvSpPr>
        <p:spPr>
          <a:xfrm>
            <a:off x="5486400" y="2368296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Shape 37"/>
          <p:cNvSpPr/>
          <p:nvPr/>
        </p:nvSpPr>
        <p:spPr>
          <a:xfrm>
            <a:off x="5824728" y="2231136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Shape 38"/>
          <p:cNvSpPr/>
          <p:nvPr/>
        </p:nvSpPr>
        <p:spPr>
          <a:xfrm>
            <a:off x="6163056" y="2185416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Shape 39"/>
          <p:cNvSpPr/>
          <p:nvPr/>
        </p:nvSpPr>
        <p:spPr>
          <a:xfrm>
            <a:off x="6501384" y="2304288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Shape 40"/>
          <p:cNvSpPr/>
          <p:nvPr/>
        </p:nvSpPr>
        <p:spPr>
          <a:xfrm>
            <a:off x="6839712" y="2212848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Shape 41"/>
          <p:cNvSpPr/>
          <p:nvPr/>
        </p:nvSpPr>
        <p:spPr>
          <a:xfrm>
            <a:off x="7178040" y="2414016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Shape 42"/>
          <p:cNvSpPr/>
          <p:nvPr/>
        </p:nvSpPr>
        <p:spPr>
          <a:xfrm>
            <a:off x="7516368" y="2340864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Shape 43"/>
          <p:cNvSpPr/>
          <p:nvPr/>
        </p:nvSpPr>
        <p:spPr>
          <a:xfrm>
            <a:off x="7854696" y="2048256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Shape 44"/>
          <p:cNvSpPr/>
          <p:nvPr/>
        </p:nvSpPr>
        <p:spPr>
          <a:xfrm>
            <a:off x="8193024" y="2185416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5"/>
          <p:cNvSpPr/>
          <p:nvPr/>
        </p:nvSpPr>
        <p:spPr>
          <a:xfrm>
            <a:off x="7863840" y="196596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Alarme !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formules et constantes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A₂, D₃, D₄ — PAS DE PANIQUE !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109728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besoin de les calculer à la main : les tableaux sont fournis, et Ellistat les applique automatiquement.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664208"/>
            <a:ext cx="137160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74320" y="16642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691640" y="1664208"/>
            <a:ext cx="137160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1691640" y="16642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108960" y="1664208"/>
            <a:ext cx="137160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108960" y="16642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26280" y="1664208"/>
            <a:ext cx="137160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526280" y="16642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D₄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" y="2103120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274320" y="21031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691640" y="2103120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1691640" y="21031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1,880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108960" y="2103120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3108960" y="21031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26280" y="2103120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4526280" y="21031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3,267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74320" y="2487168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274320" y="24871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691640" y="2487168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1691640" y="24871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1,023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108960" y="2487168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3108960" y="24871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26280" y="2487168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4526280" y="24871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2,574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74320" y="2871216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274320" y="287121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1691640" y="2871216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1691640" y="287121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0,729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108960" y="2871216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3108960" y="287121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26280" y="2871216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4526280" y="287121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2,282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74320" y="3255264"/>
            <a:ext cx="1371600" cy="384048"/>
          </a:xfrm>
          <a:prstGeom prst="rect">
            <a:avLst/>
          </a:prstGeom>
          <a:solidFill>
            <a:srgbClr val="E0F2FE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274320" y="325526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1691640" y="3255264"/>
            <a:ext cx="1371600" cy="384048"/>
          </a:xfrm>
          <a:prstGeom prst="rect">
            <a:avLst/>
          </a:prstGeom>
          <a:solidFill>
            <a:srgbClr val="E0F2FE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1691640" y="325526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0,577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108960" y="3255264"/>
            <a:ext cx="1371600" cy="384048"/>
          </a:xfrm>
          <a:prstGeom prst="rect">
            <a:avLst/>
          </a:prstGeom>
          <a:solidFill>
            <a:srgbClr val="E0F2FE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3108960" y="325526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526280" y="3255264"/>
            <a:ext cx="1371600" cy="384048"/>
          </a:xfrm>
          <a:prstGeom prst="rect">
            <a:avLst/>
          </a:prstGeom>
          <a:solidFill>
            <a:srgbClr val="E0F2FE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4"/>
          <p:cNvSpPr/>
          <p:nvPr/>
        </p:nvSpPr>
        <p:spPr>
          <a:xfrm>
            <a:off x="4526280" y="325526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2,115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74320" y="3639312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Text 46"/>
          <p:cNvSpPr/>
          <p:nvPr/>
        </p:nvSpPr>
        <p:spPr>
          <a:xfrm>
            <a:off x="274320" y="363931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1691640" y="3639312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Text 48"/>
          <p:cNvSpPr/>
          <p:nvPr/>
        </p:nvSpPr>
        <p:spPr>
          <a:xfrm>
            <a:off x="1691640" y="363931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0,483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3108960" y="3639312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2" name="Text 50"/>
          <p:cNvSpPr/>
          <p:nvPr/>
        </p:nvSpPr>
        <p:spPr>
          <a:xfrm>
            <a:off x="3108960" y="363931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4526280" y="3639312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Text 52"/>
          <p:cNvSpPr/>
          <p:nvPr/>
        </p:nvSpPr>
        <p:spPr>
          <a:xfrm>
            <a:off x="4526280" y="363931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2,004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74320" y="40690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n=5 est le plus courant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126480" y="1664208"/>
            <a:ext cx="2743200" cy="274320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7" name="Shape 55"/>
          <p:cNvSpPr/>
          <p:nvPr/>
        </p:nvSpPr>
        <p:spPr>
          <a:xfrm>
            <a:off x="6126480" y="1664208"/>
            <a:ext cx="2743200" cy="38404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Text 56"/>
          <p:cNvSpPr/>
          <p:nvPr/>
        </p:nvSpPr>
        <p:spPr>
          <a:xfrm>
            <a:off x="6199632" y="1682496"/>
            <a:ext cx="2596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Formules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6217920" y="217627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LCS_X̄ = X̄̄ + A₂ × R̄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6217920" y="259689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LCI_X̄  = X̄̄ − A₂ × R̄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217920" y="30175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6217920" y="343814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LCS_R  = D₄ × R̄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6217920" y="38587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LCI_R   = D₃ × R̄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de contrôle ≠ Tolérances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L'ERREUR LA PLUS FRÉQUENTE !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1005840"/>
            <a:ext cx="9144000" cy="566928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274320" y="1042416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: les limites de contrôle et les tolérances sont deux choses DIFFÉRENTES.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691640"/>
            <a:ext cx="4160520" cy="237744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4160520" cy="475488"/>
          </a:xfrm>
          <a:prstGeom prst="rect">
            <a:avLst/>
          </a:prstGeom>
          <a:solidFill>
            <a:srgbClr val="2B2E33"/>
          </a:solidFill>
          <a:ln w="12700">
            <a:solidFill>
              <a:srgbClr val="2B2E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171907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Tolérances (IT)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" y="2240280"/>
            <a:ext cx="3977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Fixées par le CLIENT ou la norme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 : ∅ 22,00 à 22,40 mm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accepte ou non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46320" y="1691640"/>
            <a:ext cx="4160520" cy="237744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846320" y="1691640"/>
            <a:ext cx="4160520" cy="47548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937760" y="171907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de contrôle (LCS / LCI)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2240280"/>
            <a:ext cx="3977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Calculées à partir des DONNÉES du procédé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LCS = X̄̄ + A₂ × R̄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d'alerte interne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0" y="4160520"/>
            <a:ext cx="9144000" cy="98298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274320" y="4224528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pièce peut être DANS les tolérances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quand même déclencher une ALARME sur la carte.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74320" y="4736592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C'est une alerte préventive : agir avant que les pièces deviennent non conformes.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une carte : normal ou alarme 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4 RÈGLES À RETENIR EN PRODUCTION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8595360" cy="804672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502920" cy="80467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74320" y="114300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118872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point hors limites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1527048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 dépasse LCS ou LCI → cause spéciale, agir immédiatement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4320" y="2057400"/>
            <a:ext cx="8595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274320" y="2057400"/>
            <a:ext cx="502920" cy="8046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274320" y="205740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210312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points du même côté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441448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points consécutifs au-dessus ou en-dessous de la moyenne → dérive progressive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74320" y="2971800"/>
            <a:ext cx="8595360" cy="804672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274320" y="2971800"/>
            <a:ext cx="502920" cy="80467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274320" y="297180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" y="301752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points croissants/décroissants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3355848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Tendance monotone → la machine dérive (usure, température...)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74320" y="3886200"/>
            <a:ext cx="8595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274320" y="3886200"/>
            <a:ext cx="502920" cy="804672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274320" y="388620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4400" y="393192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sur 3 dans la zone externe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4400" y="4270248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des 3 derniers points entre la zone 2σ et LCS/LCI → instabilité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Procédure de réaction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FAIT L'OPÉRATEUR EN CAS D'ALARME 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60520" cy="1719072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74320" y="1097280"/>
            <a:ext cx="4160520" cy="5303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384048" y="117043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384048" y="1170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11887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" y="173736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Arrêter la production. Ne pas produire davantage de pièces potentiellement non conformes.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1097280"/>
            <a:ext cx="4160520" cy="1719072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709160" y="1097280"/>
            <a:ext cx="4160520" cy="5303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4818888" y="117043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818888" y="1170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03520" y="11887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846320" y="173736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Prévenir le responsable qualité ou le chef d'équipe. Ne pas agir seul sur le procédé.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971800"/>
            <a:ext cx="4160520" cy="1719072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274320" y="2971800"/>
            <a:ext cx="4160520" cy="53035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384048" y="304495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384048" y="3044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68680" y="30632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CONSIGNER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11480" y="361188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Noter l'heure, la valeur, la nature du signal. Identifier les pièces concernées (traçabilité).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09160" y="2971800"/>
            <a:ext cx="4160520" cy="1719072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4709160" y="2971800"/>
            <a:ext cx="4160520" cy="530352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4818888" y="304495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4818888" y="3044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03520" y="30632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846320" y="361188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le responsable : identifier la cause spéciale (5M). Corriger et vérifier l'efficacité.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œuvre avec Ellistat SPC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LOGICIEL — DÉMONSTRATION ET TP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5029200" cy="352044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74320" y="1097280"/>
            <a:ext cx="5029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65760" y="11247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fait Ellistat pour vous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1691640"/>
            <a:ext cx="54864" cy="256032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594360" y="1664208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ou import des données de production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11480" y="2084832"/>
            <a:ext cx="54864" cy="256032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94360" y="205740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 automatique de X̄, R, σ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11480" y="2478024"/>
            <a:ext cx="54864" cy="256032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594360" y="2450592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 des limites LCS et LCI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11480" y="2871216"/>
            <a:ext cx="54864" cy="256032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94360" y="2843784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Tracé automatique des cartes X̄/R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11480" y="3264408"/>
            <a:ext cx="54864" cy="256032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594360" y="3236976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 des indices Cp et Cpk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11480" y="3657600"/>
            <a:ext cx="54864" cy="256032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594360" y="3630168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automatique des alarmes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11480" y="4050792"/>
            <a:ext cx="54864" cy="256032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594360" y="402336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des résultats pour les audits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577840" y="1097280"/>
            <a:ext cx="3291840" cy="3520440"/>
          </a:xfrm>
          <a:prstGeom prst="rect">
            <a:avLst/>
          </a:prstGeom>
          <a:solidFill>
            <a:srgbClr val="2B2E33"/>
          </a:solidFill>
          <a:ln w="12700">
            <a:solidFill>
              <a:srgbClr val="2B2E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5669280" y="12344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669280" y="171907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Scénario intégratif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669280" y="217627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Importer les données CSV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0" y="25603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Calculer la capabilité initiale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69280" y="294436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Paramétrer la carte X̄/R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669280" y="3328416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Simuler une dérive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0" y="371246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Identifier l'alarme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0" y="409651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Rédiger la conclusion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SPC au plan de surveillance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LIEN AVEC L'AMDEC ET LE PLAN DE SURVEILLANCE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1188720"/>
            <a:ext cx="1965960" cy="320040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28600" y="1188720"/>
            <a:ext cx="1965960" cy="475488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1143000" cy="1143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640080" y="1828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74320" y="1207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AMDEC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306324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les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caractéristiques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94560" y="2395728"/>
            <a:ext cx="246888" cy="0"/>
          </a:xfrm>
          <a:prstGeom prst="line">
            <a:avLst/>
          </a:prstGeom>
          <a:noFill/>
          <a:ln w="254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2441448" y="1188720"/>
            <a:ext cx="1965960" cy="320040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2441448" y="1188720"/>
            <a:ext cx="1965960" cy="4754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2852928" y="1828800"/>
            <a:ext cx="1143000" cy="1143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2852928" y="1828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2487168" y="1207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Capabilité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487168" y="306324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que le procédé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 capable (Cp/Cpk)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07408" y="2395728"/>
            <a:ext cx="246888" cy="0"/>
          </a:xfrm>
          <a:prstGeom prst="line">
            <a:avLst/>
          </a:prstGeom>
          <a:noFill/>
          <a:ln w="254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4654296" y="1188720"/>
            <a:ext cx="1965960" cy="320040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4654296" y="1188720"/>
            <a:ext cx="1965960" cy="47548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5065776" y="1828800"/>
            <a:ext cx="1143000" cy="1143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5065776" y="1828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4700016" y="1207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00016" y="306324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Définir quoi mesurer,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combien, à quelle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fréquence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620256" y="2395728"/>
            <a:ext cx="246888" cy="0"/>
          </a:xfrm>
          <a:prstGeom prst="line">
            <a:avLst/>
          </a:prstGeom>
          <a:noFill/>
          <a:ln w="254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6867144" y="1188720"/>
            <a:ext cx="1965960" cy="320040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6867144" y="1188720"/>
            <a:ext cx="1965960" cy="47548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7"/>
          <p:cNvSpPr/>
          <p:nvPr/>
        </p:nvSpPr>
        <p:spPr>
          <a:xfrm>
            <a:off x="7278624" y="1828800"/>
            <a:ext cx="1143000" cy="1143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7278624" y="1828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6912864" y="1207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de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SPC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12864" y="306324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Surveiller en continu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détecter les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dérives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274320" y="452628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SPC est le dernier maillon d'une chaîne qualité — il ne remplace pas l'AMDEC et le plan de surveillance.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B2E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B2E33"/>
          </a:solidFill>
          <a:ln w="12700">
            <a:solidFill>
              <a:srgbClr val="2B2E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RÉSUMÉ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Maîtrise Statistique des Procédés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685800" y="11521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SPC surveille le procédé en continu — c'est la caméra, pas la photo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685800" y="18379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communes = bruit normal · Causes spéciales = alarme à traiter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5603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85800" y="25237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carte X̄/R se construit avec X̄̄, R̄ et les constantes A₂, D₃, D₄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2461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685800" y="32095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de contrôle ≠ Tolérances — erreur classique à éviter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9319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85800" y="38953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règles de détection : 1 hors limites / 9 du même côté / 6 en série / 2/3 externe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46177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85800" y="45811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cas d'alarme : STOPPER — ALERTER — CONSIGNER — ANALYSER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complémentaires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ALLER PLUS LOIN — RESSOURCES EN LIGNE ET LOCALES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1115568"/>
            <a:ext cx="4160520" cy="365760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28600" y="1115568"/>
            <a:ext cx="4160520" cy="43891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20040" y="114300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locales (dossier formation)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7472" y="1673352"/>
            <a:ext cx="54864" cy="2194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512064" y="164592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TP_MSP_app.xlsx — feuille calcul capabilité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7472" y="2011680"/>
            <a:ext cx="54864" cy="2194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12064" y="198424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diamètre_butée.csv — données réelles TP J1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7472" y="2350008"/>
            <a:ext cx="54864" cy="2194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512064" y="232257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TP_MSP_relevé1_df1 à df9.csv — données carte X̄/R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7472" y="2688336"/>
            <a:ext cx="54864" cy="2194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12064" y="26609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Exercices Cartes de Shewhart.xlsx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7472" y="3026664"/>
            <a:ext cx="54864" cy="2194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512064" y="299923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Carte de contrôle.pdf — exercices lecture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7472" y="3364992"/>
            <a:ext cx="54864" cy="2194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512064" y="33375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 Ellistat.pdf — guide logiciel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7472" y="3703320"/>
            <a:ext cx="54864" cy="2194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512064" y="367588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 5 Keys to MSP Excellence.pdf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47472" y="4041648"/>
            <a:ext cx="54864" cy="2194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512064" y="401421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 MSP.pdf — référence théorique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1115568"/>
            <a:ext cx="4160520" cy="365760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4754880" y="1115568"/>
            <a:ext cx="4160520" cy="438912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4846320" y="114300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en ligne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864608" y="1691640"/>
            <a:ext cx="201168" cy="20116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5138928" y="16459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Cp/Cpk complet [LeanSixPro]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38928" y="183794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leansixpro.com/blog/cp-cpk-capabilite-processus-guide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64608" y="2075688"/>
            <a:ext cx="201168" cy="20116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5138928" y="20299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SPC Ellistat e-learning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138928" y="22219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ellistat.com/formation/msp-spc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64608" y="2459736"/>
            <a:ext cx="201168" cy="20116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5138928" y="241401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 vidéo : calculer une capabilité (YouTube)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138928" y="26060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youtube.com/watch?v=Z0vSxgBDauo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64608" y="2843784"/>
            <a:ext cx="201168" cy="20116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5138928" y="2798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 outil MSP [XL Formation]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138928" y="299008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xl-formation.com — Fiche MSP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64608" y="3227832"/>
            <a:ext cx="201168" cy="20116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Text 39"/>
          <p:cNvSpPr/>
          <p:nvPr/>
        </p:nvSpPr>
        <p:spPr>
          <a:xfrm>
            <a:off x="5138928" y="31821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 SPC prof-mpk.fr (PDF libre)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138928" y="33741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prof-mpk.fr — Cours cartes de contrôle SPC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64608" y="3611880"/>
            <a:ext cx="201168" cy="20116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5138928" y="356616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Cartes Shewhart corrigé [sjaubert.github.io]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138928" y="3758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sjaubert.github.io/SPCR/spc/TP_cartes_Shewhart.html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64608" y="3995928"/>
            <a:ext cx="201168" cy="20116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5"/>
          <p:cNvSpPr/>
          <p:nvPr/>
        </p:nvSpPr>
        <p:spPr>
          <a:xfrm>
            <a:off x="5138928" y="395020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Ellistat — essai gratuit en ligne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138928" y="41422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ellistat.com/en — SPC gratuit sur vos équipements</a:t>
            </a:r>
            <a:endParaRPr lang="en-US" sz="900" dirty="0"/>
          </a:p>
        </p:txBody>
      </p:sp>
      <p:pic>
        <p:nvPicPr>
          <p:cNvPr id="49" name="Picture 48" descr="logo_uim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4434840"/>
            <a:ext cx="1143000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B2E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B2E33"/>
          </a:solidFill>
          <a:ln w="12700">
            <a:solidFill>
              <a:srgbClr val="2B2E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DE FORMATION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emportez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5720" cy="41148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658368" y="1097280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variabilité existe toujours — votre rôle est de la maîtriser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47088"/>
            <a:ext cx="45720" cy="41148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658368" y="1801368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Cm, Cmk, Cp, Cpk : des indicateurs qui parlent de la réalité de votre machine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51176"/>
            <a:ext cx="45720" cy="41148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58368" y="2505456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carte de contrôle vous alerte AVANT que le client soit touché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255264"/>
            <a:ext cx="45720" cy="41148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658368" y="320954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Ellistat vous permet de mettre tout cela en œuvre sans calcul manuel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959352"/>
            <a:ext cx="45720" cy="41148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58368" y="391363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avez maintenant les outils pour agir sur des faits, pas sur des impressions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274320" y="449884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Pôle Formation UIMM CVDL  —  S. Jaubert  —  5, 6 et 25 novembre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2387</Words>
  <Application>Microsoft Office PowerPoint</Application>
  <PresentationFormat>Affichage à l'écran (16:9)</PresentationFormat>
  <Paragraphs>458</Paragraphs>
  <Slides>28</Slides>
  <Notes>27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Capabilité &amp; SPC – Formation 2 jours</dc:title>
  <dc:subject>PptxGenJS Presentation</dc:subject>
  <dc:creator>S. Jaubert – Pôle Formation UIMM CVDL</dc:creator>
  <cp:lastModifiedBy>Stéphane JAUBERT</cp:lastModifiedBy>
  <cp:revision>1</cp:revision>
  <dcterms:created xsi:type="dcterms:W3CDTF">2026-06-07T06:53:25Z</dcterms:created>
  <dcterms:modified xsi:type="dcterms:W3CDTF">2026-07-22T13:16:00Z</dcterms:modified>
</cp:coreProperties>
</file>
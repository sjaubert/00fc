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60"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117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Pas de tour de table classique : on passe directement à « ma cote critique » (une cote que chacun contrôle à son poste). On note tout au paperboard : le mur des cotes servira jusqu’au 25 novembre. La pièce en photo est l’une des 20 butées des TP.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la règle du jeu : pas plus de 30 minutes de diaporama d’affilée, tout le reste se fait sur les pièces. Les calculs sont faits par Excel ; ce qui compte, c’est lire et décider. Entre le 6 et le 25 : mission en entreprise sur une cote critique, sans chiffre confidentiel.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projeter après le flash mesure en aveugle sur les butées n° 1 à 5 (fiche A), une fois les post-it affichés. La photo montre le micromètre numérique de la formation (0-25 mm, résolution 0,001 mm) sur le petit diamètre d’une butée. Ne pas répondre : laisser le débat s’installer. Relever les causes citées (endroit de mesure sur la butée, pression des becs du pied ou serrage avec ou sans cliquet du micromètre, lecture du vernier et parallaxe sur le pied, propreté des touches, zéro, température). Conclure : on ne connaîtra jamais la vraie valeur, seulement une valeur mesurée. On y revient le 25 avec l’étude R&amp;R.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 11,942 : lecture réelle du micromètre sur une butée (photo de la diapo 3). Détail pour le formateur : on modélise la valeur lue comme Y = X + E, où X est la vraie valeur de la pièce et E l’erreur de mesure, supposées indépendantes. Les variances s’ajoutent : σ²(lue) = σ²(pièces) + σ²(mesure). C’est exactement ce que l’étude R&amp;R décompose le jour 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citer des exemples vécus à chaque stagiaire, sur leur propre production (KNDS, Compositec, Thales). Relier au module AMDEC et au diagramme d’Ishikawa qu’ils connaissent. Message : la variabilité n’est pas une faute, c’est une propriété du procédé.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Construire l’histogramme mural avec les gommettes pendant le TP B, puis montrer cette diapo comme « mise au propre ». Insister : on ne regarde pas les pièces une par une, on regarde la forme du tas. Détail : la loi normale apparaît quand beaucoup de petites causes indépendantes s’additionnent (théorème central limite). Ne pas en faire un cours.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du tir. Demander : lequel des trois tireurs corrige-t-on en tournant la molette du viseur ? Le troisième. Le deuxième, aucune molette ne le sauvera. Pour le formateur : écart-type d’échantillon s = racine de la somme des carrés des écarts à la moyenne divisée par n − 1. Excel : ECARTYPE (ou ECARTYPE.STANDARD).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de la loi normale : 68,3 % à ±1σ, 95,4 % à ±2σ, 99,73 % à ±3σ. Donc environ 2 700 pièces par million hors de ±3σ (1 350 de chaque côté). C’est cette largeur 6σ qu’on va comparer à la tolérance. Valable si l’histogramme a une forme de cloche : sinon, le dire et ne pas sur-interpréter.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attendues. A : procédé stable, causes communes seulement. B : deux populations mélangées (deux machines, deux réglages, deux lots matière, deux équipes). C : pièces triées, on a retiré celles sous la tolérance basse (le contrôle à 100 % masque le problème). D : distribution dissymétrique, typique d’une limite physique (une cote qui ne peut pas descendre sous une valeur, un faux-rond, une rugosité) ou d’une dérive d’usure pendant la série. Faire défendre chaque hypothèse.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 de transition vers la capabilité, juste après le tir sur cible (TP09). Garage = intervalle de tolérance IT, du plan. Voiture = largeur naturelle du procédé, 6 écarts-types. On ne peut pas élargir le garage (c’est le client) : on peut rétrécir la voiture (réduire la dispersion) ou mieux la garer (recentrer).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 = (TS − TI) / (6σ). Ne dépend que de la dispersion, pas du centrage : c’est le potentiel du procédé s’il était parfaitement réglé. Exemple sur les butées : IT = 12,00 − 11,85 = 0,15 mm ; avec σ = 0,015 mm, Cp = 0,15 / 0,09 ≈ 1,67.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Cpk = min(TS − moyenne ; moyenne − TI) / (3σ). On divise par 3σ et non 6σ car on ne regarde qu’une moitié de la voiture. Exemple sur les butées : TI 11,85, TS 12,00, moyenne 11,95, σ 0,015 : Cpk = min(0,05 ; 0,10) / 0,045 ≈ 1,11 alors que Cp ≈ 1,67. Le procédé est bon, mal réglé.</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deviner le verdict avant de dévoiler le texte (le formateur peut masquer la ligne du bas). Lien avec le TP C : client 2 (serré) = cas 3 ; client 3 (décentré) = cas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Valeurs de la loi normale (queue unilatérale) : P(Z &gt; 3) ≈ 0,00135 ; P(Z &gt; 4) ≈ 3,2·10⁻⁵ ; P(Z &gt; 5) ≈ 2,9·10⁻⁷ ; P(Z &gt; 6) ≈ 1·10⁻⁹. Ce sont des ordres de grandeur : ils supposent une loi normale et un procédé stable. Demander aux stagiaires ce qu’exigent KNDS, Compositec et Thales (cahier des charges, PPAP, plan de surveillance) plutôt que d’imposer 1,33.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Mêmes formules, pas les mêmes données. Cm = IT / 6σ court terme, Cmk idem avec le centrage. Le seuil machine est plus haut parce que le procédé ajoutera forcément de la dispersion. Nos pièces du jour 1 : lot dont on ne connaît pas l’ordre de fabrication, donc en toute rigueur des indices de performance Pp/Ppk (écart-type global). Le dire en une phrase.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en relation avec l’étude de cas TP4 (le client exige Cpk ≥ 1,33). Rappeler qu’on vérifie d’abord la mesure : un mauvais instrument gonfle σ et fait chuter Cp (jour 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de la séquence SPC, après l’entonnoir de Deming. SPC = Statistical Process Control, en français MSP (maîtrise statistique des procédés). Idée : passer de la détection (trier les mauvaises pièces) à la prévention (réagir sur le procédé avant les mauvaises pièces).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de Shewhart et Deming. Un procédé « sous contrôle » (stable) ne présente que des causes communes : il est prévisible, ce qui ne veut pas dire capable. Faire classer par les stagiaires des exemples de leur atelier dans les deux colonnes.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Expérience de l’entonnoir de Deming (TP08). Règle 2 : après chaque bille, on déplace l’entonnoir de l’opposé de l’écart constaté. La variance double, donc l’écart-type est multiplié par √2 ≈ 1,41. Règles 3 et 4 (corriger depuis la cible, ou se placer sur la dernière bille) font pire, jusqu’à la dérive. Comparer aux résultats obtenus par le groupe.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carte X̄ : la moyenne de chaque sous-groupe. Sur la carte R, juste en dessous dans la pratique : l’étendue (max − min) du sous-groupe, qui surveille la dispersion. Pour n = 3 : LSC = X̄̄ + A₂R̄ avec A₂ = 1,023 ; LSC(R) = D₄R̄ avec D₄ = 2,574 ; LIC(R) = 0. Le classeur 2 fait ces calculs. Ici, le dernier point sort : alarme.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limites de contrôle sont calculées sur les mesures du procédé : elles disent ce que le procédé fait normalement. Les tolérances sont écrites sur le plan : elles disent ce que le client accepte. Les limites de la carte X̄ portent sur des moyennes, plus resserrées que les pièces individuelles : on ne peut donc pas les comparer aux tolérances. Sur le mur, carte A1 : deux couleurs.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simplifiée pour l’atelier, programmée dans le classeur 2. Les seuils varient selon les référentiels et les clients : règles de Western Electric, de Nelson, AIAG (7, 8 ou 9 points du même côté selon les cas). Vérifier ce qu’utilise l’entreprise des stagiaires. Ce qui compte : chaque règle correspond à un événement improbable si seules les causes communes agissent.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OCAP : Outil de Contrôle d’Action Préventive, aussi appelé fiche réflexe. Ces cinq questions sont une grille de lecture : se caler sur la structure de l’OCAP du TP10 et sur celles que les stagiaires rapportent de leur entreprise. Le point important : décider à froid, avant l’alarme, pour ne pas improviser à chaud.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referme la boucle ouverte le premier jour. Rappeler les écarts constatés au flash mesure (les post-it sont encore au mur, si possible). L’étude R&amp;R est une partie de la MSA (Measurement System Analysis, analyse des systèmes de mesure).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qualitatif, proportions choisies pour l’illustration. Pour le formateur : ce sont les variances qui s’additionnent, σ²(total) = σ²(pièces) + σ²(R&amp;R), pas les écarts-types. C’est pourquoi le classeur calcule TV = √(GRR² + PV²), et pourquoi les pourcentages %EV, %AV, %GRR, %PV ne font pas 100 % en somme.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 (equipment variation) = répétabilité, AV (appraiser variation) = reproductibilité, GRR = √(EV² + AV²). Une bonne question pour lancer : « Si on n’avait qu’un seul opérateur, laquelle des deux pourrait-on mesurer ?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Méthode moyenne-étendue (AIAG MSA, 4e édition). Constantes pour 2 essais, 3 opérateurs, 10 pièces : K1 = 0,8862, K2 = 0,5231, K3 = 0,3146. EV = R̄̄·K1 ; AV = √((X̄diff·K2)² − EV²/(n·r)) ; PV = Rp·K3. Le classeur 3 fait tout. Rotation des rôles : voir fiche E. Prévoir 30 à 45 min de mesure par instrument.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Seuils AIAG MSA. Le %R&amp;R se calcule de deux façons dans le classeur : par rapport à la variation totale observée (%VT) et par rapport à la tolérance (%Tol = 6·GRR / IT). Avec des pièces très proches les unes des autres, le %VT est sévère : d’où le choix de 10 pièces couvrant toute l’étendue. ndc = 1,41 × PV / GRR, tronqué.</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Règle usuelle en métrologie d’atelier (AIAG MSA la formule aussi). Butées : IT = 0,15 mm, donc résolution maxi 0,015 mm. Le pied à coulisse au 1/50 (0,02) ne convient pas. Le micromètre de la formation est numérique, 0-25 mm, au 0,001 mm : il respecte la règle avec une marge de 15. Un micromètre au 0,01 la respecterait de peu. L’étude R&amp;R du jour doit confirmer que la répétabilité suit.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les résultats obtenus dans l’étude du matin : le classeur indique le point faible principal. Le cliquet du micromètre est un bon exemple concret de réduction de la reproductibilité.</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chiffré si besoin : σ vue = 0,015 et σ mesure = 0,006 donnent σ pièces = √(0,015² − 0,006²) ≈ 0,0137. Le Cp passe de IT/0,090 à IT/0,082, soit environ +9 %. Faire le calcul avec les vraies valeurs du groupe (classeur 1 et classeur 3, étude micromètre).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finale, avant les affiches du cas intégratif (fiche F). Chaque case correspond à une case de l’affiche « plan de maîtrise d’une cote ». Tour de table de clôture : ce que je change au poste lundi.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80158"/>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B2A4A"/>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87878"/>
            <a:ext cx="10566400" cy="3957322"/>
          </a:xfrm>
          <a:prstGeom prst="rect">
            <a:avLst/>
          </a:prstGeom>
          <a:noFill/>
          <a:ln/>
        </p:spPr>
        <p:txBody>
          <a:bodyPr wrap="square" lIns="0" tIns="0" rIns="0" bIns="0" rtlCol="0" anchor="t"/>
          <a:lstStyle>
            <a:lvl1pPr marL="0" indent="0" algn="l">
              <a:lnSpc>
                <a:spcPct val="140000"/>
              </a:lnSpc>
              <a:buNone/>
              <a:defRPr lang="en-US" sz="1600" dirty="0">
                <a:solidFill>
                  <a:srgbClr val="1B2A4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pic>
        <p:nvPicPr>
          <p:cNvPr id="2" name="Image 0" descr="Une butée tenue entre les doigts : la pièce des TP"/>
          <p:cNvPicPr>
            <a:picLocks noChangeAspect="1"/>
          </p:cNvPicPr>
          <p:nvPr/>
        </p:nvPicPr>
        <p:blipFill>
          <a:blip r:embed="rId3"/>
          <a:srcRect t="15" b="15"/>
          <a:stretch/>
        </p:blipFill>
        <p:spPr>
          <a:xfrm>
            <a:off x="7315200" y="0"/>
            <a:ext cx="4876800" cy="6858000"/>
          </a:xfrm>
          <a:prstGeom prst="rect">
            <a:avLst/>
          </a:prstGeom>
        </p:spPr>
      </p:pic>
      <p:sp>
        <p:nvSpPr>
          <p:cNvPr id="3" name="Text 0"/>
          <p:cNvSpPr/>
          <p:nvPr/>
        </p:nvSpPr>
        <p:spPr>
          <a:xfrm>
            <a:off x="812800" y="2067560"/>
            <a:ext cx="588645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37E"/>
                </a:solidFill>
                <a:latin typeface="IBM Plex Sans" pitchFamily="34" charset="0"/>
                <a:ea typeface="IBM Plex Sans" pitchFamily="34" charset="-122"/>
                <a:cs typeface="IBM Plex Sans" pitchFamily="34" charset="-120"/>
              </a:rPr>
              <a:t>CQPM TECHNICIEN QUALITÉ · PROMO TQ6</a:t>
            </a:r>
            <a:endParaRPr lang="en-US" sz="1200" dirty="0"/>
          </a:p>
        </p:txBody>
      </p:sp>
      <p:sp>
        <p:nvSpPr>
          <p:cNvPr id="4" name="Text 1"/>
          <p:cNvSpPr>
            <a:spLocks noGrp="1"/>
          </p:cNvSpPr>
          <p:nvPr>
            <p:ph type="title"/>
          </p:nvPr>
        </p:nvSpPr>
        <p:spPr>
          <a:xfrm>
            <a:off x="812800" y="2484120"/>
            <a:ext cx="5886450" cy="8255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F7F5F0"/>
                </a:solidFill>
                <a:latin typeface="Oswald" pitchFamily="34" charset="0"/>
                <a:ea typeface="Oswald" pitchFamily="34" charset="-122"/>
                <a:cs typeface="Oswald" pitchFamily="34" charset="-120"/>
              </a:rPr>
              <a:t>Capabilité et SPC</a:t>
            </a:r>
            <a:endParaRPr lang="en-US" sz="6000" dirty="0"/>
          </a:p>
        </p:txBody>
      </p:sp>
      <p:sp>
        <p:nvSpPr>
          <p:cNvPr id="5" name="Text 2"/>
          <p:cNvSpPr/>
          <p:nvPr/>
        </p:nvSpPr>
        <p:spPr>
          <a:xfrm>
            <a:off x="812800" y="3487420"/>
            <a:ext cx="5886450"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6E8"/>
                </a:solidFill>
                <a:latin typeface="IBM Plex Sans" pitchFamily="34" charset="0"/>
                <a:ea typeface="IBM Plex Sans" pitchFamily="34" charset="-122"/>
                <a:cs typeface="IBM Plex Sans" pitchFamily="34" charset="-120"/>
              </a:rPr>
              <a:t>Mesurer, surveiller, réagir</a:t>
            </a:r>
            <a:endParaRPr lang="en-US" sz="2200" dirty="0"/>
          </a:p>
        </p:txBody>
      </p:sp>
      <p:sp>
        <p:nvSpPr>
          <p:cNvPr id="6" name="Text 3"/>
          <p:cNvSpPr/>
          <p:nvPr/>
        </p:nvSpPr>
        <p:spPr>
          <a:xfrm>
            <a:off x="812800" y="4257040"/>
            <a:ext cx="588645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C9D6E8"/>
                </a:solidFill>
                <a:latin typeface="IBM Plex Sans" pitchFamily="34" charset="0"/>
                <a:ea typeface="IBM Plex Sans" pitchFamily="34" charset="-122"/>
                <a:cs typeface="IBM Plex Sans" pitchFamily="34" charset="-120"/>
              </a:rPr>
              <a:t>5, 6 et 25 novembre 2026 · AFPI Bourges</a:t>
            </a:r>
            <a:endParaRPr lang="en-US" sz="1400" dirty="0"/>
          </a:p>
          <a:p>
            <a:pPr marL="0" indent="0" algn="l">
              <a:lnSpc>
                <a:spcPts val="2100"/>
              </a:lnSpc>
              <a:buNone/>
            </a:pPr>
            <a:r>
              <a:rPr lang="en-US" sz="1400" dirty="0">
                <a:solidFill>
                  <a:srgbClr val="C9D6E8"/>
                </a:solidFill>
                <a:latin typeface="IBM Plex Sans" pitchFamily="34" charset="0"/>
                <a:ea typeface="IBM Plex Sans" pitchFamily="34" charset="-122"/>
                <a:cs typeface="IBM Plex Sans" pitchFamily="34" charset="-120"/>
              </a:rPr>
              <a:t>S. Jaubert · Pôle Formation UIMM Centre-Val de Loire</a:t>
            </a:r>
            <a:endParaRPr lang="en-US" sz="1400" dirty="0"/>
          </a:p>
        </p:txBody>
      </p:sp>
      <p:pic>
        <p:nvPicPr>
          <p:cNvPr id="7" name="Image 1" descr="Logo Pôle Formation UIMM"/>
          <p:cNvPicPr>
            <a:picLocks noChangeAspect="1"/>
          </p:cNvPicPr>
          <p:nvPr/>
        </p:nvPicPr>
        <p:blipFill>
          <a:blip r:embed="rId4"/>
          <a:srcRect l="-172" r="-172"/>
          <a:stretch/>
        </p:blipFill>
        <p:spPr>
          <a:xfrm>
            <a:off x="812800" y="5334000"/>
            <a:ext cx="596900" cy="635000"/>
          </a:xfrm>
          <a:prstGeom prst="roundRect">
            <a:avLst>
              <a:gd name="adj" fmla="val 8511"/>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LE PARCOURS</a:t>
            </a:r>
            <a:endParaRPr lang="en-US" sz="1200" dirty="0"/>
          </a:p>
        </p:txBody>
      </p:sp>
      <p:sp>
        <p:nvSpPr>
          <p:cNvPr id="3" name="Text 1"/>
          <p:cNvSpPr>
            <a:spLocks noGrp="1"/>
          </p:cNvSpPr>
          <p:nvPr>
            <p:ph type="title"/>
          </p:nvPr>
        </p:nvSpPr>
        <p:spPr>
          <a:xfrm>
            <a:off x="812800" y="128016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Trois jours, une seule question : peut-on faire confiance à nos pièces ?</a:t>
            </a:r>
            <a:endParaRPr lang="en-US" sz="3600" dirty="0"/>
          </a:p>
        </p:txBody>
      </p:sp>
      <p:sp>
        <p:nvSpPr>
          <p:cNvPr id="4" name="Shape 2"/>
          <p:cNvSpPr/>
          <p:nvPr/>
        </p:nvSpPr>
        <p:spPr>
          <a:xfrm>
            <a:off x="819150" y="2546350"/>
            <a:ext cx="3373953" cy="2113280"/>
          </a:xfrm>
          <a:prstGeom prst="roundRect">
            <a:avLst>
              <a:gd name="adj" fmla="val 4507"/>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79500" y="2806700"/>
            <a:ext cx="29388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Jeudi 5 novembre</a:t>
            </a:r>
            <a:endParaRPr lang="en-US" sz="1200" dirty="0"/>
          </a:p>
        </p:txBody>
      </p:sp>
      <p:sp>
        <p:nvSpPr>
          <p:cNvPr id="20" name="Text 3"/>
          <p:cNvSpPr/>
          <p:nvPr/>
        </p:nvSpPr>
        <p:spPr>
          <a:xfrm>
            <a:off x="1079500" y="2806700"/>
            <a:ext cx="29388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Jeudi 5 novembre</a:t>
            </a:r>
            <a:endParaRPr lang="en-US" sz="1200" dirty="0"/>
          </a:p>
        </p:txBody>
      </p:sp>
      <p:sp>
        <p:nvSpPr>
          <p:cNvPr id="6" name="Text 4"/>
          <p:cNvSpPr/>
          <p:nvPr/>
        </p:nvSpPr>
        <p:spPr>
          <a:xfrm>
            <a:off x="1079500" y="3121660"/>
            <a:ext cx="2938851"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1B2A4A"/>
                </a:solidFill>
                <a:latin typeface="Oswald" pitchFamily="34" charset="0"/>
                <a:ea typeface="Oswald" pitchFamily="34" charset="-122"/>
                <a:cs typeface="Oswald" pitchFamily="34" charset="-120"/>
              </a:rPr>
              <a:t>Toute mesure varie</a:t>
            </a:r>
            <a:endParaRPr lang="en-US" sz="2200" dirty="0"/>
          </a:p>
        </p:txBody>
      </p:sp>
      <p:sp>
        <p:nvSpPr>
          <p:cNvPr id="7" name="Text 5"/>
          <p:cNvSpPr/>
          <p:nvPr/>
        </p:nvSpPr>
        <p:spPr>
          <a:xfrm>
            <a:off x="1079500" y="3544570"/>
            <a:ext cx="293885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le lot. On juge s’il plaît au client.</a:t>
            </a:r>
            <a:endParaRPr lang="en-US" sz="1500" dirty="0"/>
          </a:p>
        </p:txBody>
      </p:sp>
      <p:sp>
        <p:nvSpPr>
          <p:cNvPr id="8" name="Shape 6"/>
          <p:cNvSpPr/>
          <p:nvPr/>
        </p:nvSpPr>
        <p:spPr>
          <a:xfrm>
            <a:off x="4409003" y="2546350"/>
            <a:ext cx="3373993" cy="2113280"/>
          </a:xfrm>
          <a:prstGeom prst="roundRect">
            <a:avLst>
              <a:gd name="adj" fmla="val 4507"/>
            </a:avLst>
          </a:prstGeom>
          <a:solidFill>
            <a:srgbClr val="FFFFFF"/>
          </a:solidFill>
          <a:ln w="12700">
            <a:solidFill>
              <a:srgbClr val="D5DCE6"/>
            </a:solidFill>
            <a:prstDash val="solid"/>
          </a:ln>
        </p:spPr>
        <p:txBody>
          <a:bodyPr/>
          <a:lstStyle/>
          <a:p>
            <a:endParaRPr lang="fr-FR"/>
          </a:p>
        </p:txBody>
      </p:sp>
      <p:sp>
        <p:nvSpPr>
          <p:cNvPr id="9" name="Text 7"/>
          <p:cNvSpPr/>
          <p:nvPr/>
        </p:nvSpPr>
        <p:spPr>
          <a:xfrm>
            <a:off x="4669353" y="2806700"/>
            <a:ext cx="29388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Vendredi 6 novembre</a:t>
            </a:r>
            <a:endParaRPr lang="en-US" sz="1200" dirty="0"/>
          </a:p>
        </p:txBody>
      </p:sp>
      <p:sp>
        <p:nvSpPr>
          <p:cNvPr id="21" name="Text 7"/>
          <p:cNvSpPr/>
          <p:nvPr/>
        </p:nvSpPr>
        <p:spPr>
          <a:xfrm>
            <a:off x="4669353" y="2806700"/>
            <a:ext cx="29388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Vendredi 6 novembre</a:t>
            </a:r>
            <a:endParaRPr lang="en-US" sz="1200" dirty="0"/>
          </a:p>
        </p:txBody>
      </p:sp>
      <p:sp>
        <p:nvSpPr>
          <p:cNvPr id="10" name="Text 8"/>
          <p:cNvSpPr/>
          <p:nvPr/>
        </p:nvSpPr>
        <p:spPr>
          <a:xfrm>
            <a:off x="4669353" y="3121660"/>
            <a:ext cx="2938892"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1B2A4A"/>
                </a:solidFill>
                <a:latin typeface="Oswald" pitchFamily="34" charset="0"/>
                <a:ea typeface="Oswald" pitchFamily="34" charset="-122"/>
                <a:cs typeface="Oswald" pitchFamily="34" charset="-120"/>
              </a:rPr>
              <a:t>Du cliché au film</a:t>
            </a:r>
            <a:endParaRPr lang="en-US" sz="2200" dirty="0"/>
          </a:p>
        </p:txBody>
      </p:sp>
      <p:sp>
        <p:nvSpPr>
          <p:cNvPr id="11" name="Text 9"/>
          <p:cNvSpPr/>
          <p:nvPr/>
        </p:nvSpPr>
        <p:spPr>
          <a:xfrm>
            <a:off x="4669353" y="3544570"/>
            <a:ext cx="29388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fait tourner une production. On la surveille. On réagit.</a:t>
            </a:r>
            <a:endParaRPr lang="en-US" sz="1500" dirty="0"/>
          </a:p>
        </p:txBody>
      </p:sp>
      <p:sp>
        <p:nvSpPr>
          <p:cNvPr id="12" name="Shape 10"/>
          <p:cNvSpPr/>
          <p:nvPr/>
        </p:nvSpPr>
        <p:spPr>
          <a:xfrm>
            <a:off x="7998897" y="2546350"/>
            <a:ext cx="3373953" cy="2113280"/>
          </a:xfrm>
          <a:prstGeom prst="roundRect">
            <a:avLst>
              <a:gd name="adj" fmla="val 4507"/>
            </a:avLst>
          </a:prstGeom>
          <a:solidFill>
            <a:srgbClr val="FFFFFF"/>
          </a:solidFill>
          <a:ln w="12700">
            <a:solidFill>
              <a:srgbClr val="D5DCE6"/>
            </a:solidFill>
            <a:prstDash val="solid"/>
          </a:ln>
        </p:spPr>
        <p:txBody>
          <a:bodyPr/>
          <a:lstStyle/>
          <a:p>
            <a:endParaRPr lang="fr-FR"/>
          </a:p>
        </p:txBody>
      </p:sp>
      <p:sp>
        <p:nvSpPr>
          <p:cNvPr id="13" name="Text 11"/>
          <p:cNvSpPr/>
          <p:nvPr/>
        </p:nvSpPr>
        <p:spPr>
          <a:xfrm>
            <a:off x="8259247" y="2806700"/>
            <a:ext cx="29388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Mercredi 25 novembre</a:t>
            </a:r>
            <a:endParaRPr lang="en-US" sz="1200" dirty="0"/>
          </a:p>
        </p:txBody>
      </p:sp>
      <p:sp>
        <p:nvSpPr>
          <p:cNvPr id="22" name="Text 11"/>
          <p:cNvSpPr/>
          <p:nvPr/>
        </p:nvSpPr>
        <p:spPr>
          <a:xfrm>
            <a:off x="8259247" y="2806700"/>
            <a:ext cx="29388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530F"/>
                </a:solidFill>
                <a:latin typeface="IBM Plex Sans" pitchFamily="34" charset="0"/>
                <a:ea typeface="IBM Plex Sans" pitchFamily="34" charset="-122"/>
                <a:cs typeface="IBM Plex Sans" pitchFamily="34" charset="-120"/>
              </a:rPr>
              <a:t>Mercredi 25 novembre</a:t>
            </a:r>
            <a:endParaRPr lang="en-US" sz="1200" dirty="0"/>
          </a:p>
        </p:txBody>
      </p:sp>
      <p:sp>
        <p:nvSpPr>
          <p:cNvPr id="14" name="Text 12"/>
          <p:cNvSpPr/>
          <p:nvPr/>
        </p:nvSpPr>
        <p:spPr>
          <a:xfrm>
            <a:off x="8259247" y="3121660"/>
            <a:ext cx="2938851" cy="66802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1B2A4A"/>
                </a:solidFill>
                <a:latin typeface="Oswald" pitchFamily="34" charset="0"/>
                <a:ea typeface="Oswald" pitchFamily="34" charset="-122"/>
                <a:cs typeface="Oswald" pitchFamily="34" charset="-120"/>
              </a:rPr>
              <a:t>Peut-on croire la mesure ?</a:t>
            </a:r>
            <a:endParaRPr lang="en-US" sz="2200" dirty="0"/>
          </a:p>
        </p:txBody>
      </p:sp>
      <p:sp>
        <p:nvSpPr>
          <p:cNvPr id="15" name="Text 13"/>
          <p:cNvSpPr/>
          <p:nvPr/>
        </p:nvSpPr>
        <p:spPr>
          <a:xfrm>
            <a:off x="8259247" y="3865880"/>
            <a:ext cx="293885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teste nos instruments. On assemble tout.</a:t>
            </a:r>
            <a:endParaRPr lang="en-US" sz="1500" dirty="0"/>
          </a:p>
        </p:txBody>
      </p:sp>
      <p:sp>
        <p:nvSpPr>
          <p:cNvPr id="16" name="Text 14"/>
          <p:cNvSpPr/>
          <p:nvPr/>
        </p:nvSpPr>
        <p:spPr>
          <a:xfrm>
            <a:off x="812800" y="62890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Ouverture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pic>
        <p:nvPicPr>
          <p:cNvPr id="2" name="Image 0" descr="Micromètre numérique 0-25 mm au 0,001 mm affichant 11,942 sur le petit diamètre d’une butée"/>
          <p:cNvPicPr>
            <a:picLocks noChangeAspect="1"/>
          </p:cNvPicPr>
          <p:nvPr/>
        </p:nvPicPr>
        <p:blipFill>
          <a:blip r:embed="rId3"/>
          <a:srcRect l="3263" r="3263"/>
          <a:stretch/>
        </p:blipFill>
        <p:spPr>
          <a:xfrm>
            <a:off x="406400" y="1397000"/>
            <a:ext cx="6731000" cy="4064000"/>
          </a:xfrm>
          <a:prstGeom prst="roundRect">
            <a:avLst>
              <a:gd name="adj" fmla="val 2500"/>
            </a:avLst>
          </a:prstGeom>
        </p:spPr>
      </p:pic>
      <p:sp>
        <p:nvSpPr>
          <p:cNvPr id="3" name="Text 0"/>
          <p:cNvSpPr/>
          <p:nvPr/>
        </p:nvSpPr>
        <p:spPr>
          <a:xfrm>
            <a:off x="7556500" y="1524000"/>
            <a:ext cx="3937381"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FLASH MESURE</a:t>
            </a:r>
            <a:endParaRPr lang="en-US" sz="1200" dirty="0"/>
          </a:p>
        </p:txBody>
      </p:sp>
      <p:sp>
        <p:nvSpPr>
          <p:cNvPr id="4" name="Text 1"/>
          <p:cNvSpPr>
            <a:spLocks noGrp="1"/>
          </p:cNvSpPr>
          <p:nvPr>
            <p:ph type="title"/>
          </p:nvPr>
        </p:nvSpPr>
        <p:spPr>
          <a:xfrm>
            <a:off x="7556500" y="1965961"/>
            <a:ext cx="3937381" cy="153416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Le micromètre affiche 11,942. Est-ce la vraie valeur ?</a:t>
            </a:r>
            <a:endParaRPr lang="en-US" sz="3600" dirty="0"/>
          </a:p>
        </p:txBody>
      </p:sp>
      <p:sp>
        <p:nvSpPr>
          <p:cNvPr id="5" name="Text 2"/>
          <p:cNvSpPr/>
          <p:nvPr/>
        </p:nvSpPr>
        <p:spPr>
          <a:xfrm>
            <a:off x="7556500" y="3703320"/>
            <a:ext cx="3937381"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A5568"/>
                </a:solidFill>
                <a:latin typeface="IBM Plex Sans" pitchFamily="34" charset="0"/>
                <a:ea typeface="IBM Plex Sans" pitchFamily="34" charset="-122"/>
                <a:cs typeface="IBM Plex Sans" pitchFamily="34" charset="-120"/>
              </a:rPr>
              <a:t>Six personnes, six mesures. Qui a raison ?</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CE QUE LIT L’INSTRUMENT</a:t>
            </a:r>
            <a:endParaRPr lang="en-US" sz="1200" dirty="0"/>
          </a:p>
        </p:txBody>
      </p:sp>
      <p:sp>
        <p:nvSpPr>
          <p:cNvPr id="3" name="Text 1"/>
          <p:cNvSpPr>
            <a:spLocks noGrp="1"/>
          </p:cNvSpPr>
          <p:nvPr>
            <p:ph type="title"/>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Une mesure, c’est la pièce plus l’erreur de mesure</a:t>
            </a:r>
            <a:endParaRPr lang="en-US" sz="3600" dirty="0"/>
          </a:p>
        </p:txBody>
      </p:sp>
      <p:sp>
        <p:nvSpPr>
          <p:cNvPr id="4" name="Shape 2"/>
          <p:cNvSpPr/>
          <p:nvPr/>
        </p:nvSpPr>
        <p:spPr>
          <a:xfrm>
            <a:off x="812800" y="2049780"/>
            <a:ext cx="3065582" cy="1483360"/>
          </a:xfrm>
          <a:prstGeom prst="roundRect">
            <a:avLst>
              <a:gd name="adj" fmla="val 6849"/>
            </a:avLst>
          </a:prstGeom>
          <a:solidFill>
            <a:srgbClr val="1B2A4A"/>
          </a:solidFill>
          <a:ln/>
        </p:spPr>
        <p:txBody>
          <a:bodyPr/>
          <a:lstStyle/>
          <a:p>
            <a:endParaRPr lang="fr-FR"/>
          </a:p>
        </p:txBody>
      </p:sp>
      <p:sp>
        <p:nvSpPr>
          <p:cNvPr id="5" name="Text 3"/>
          <p:cNvSpPr/>
          <p:nvPr/>
        </p:nvSpPr>
        <p:spPr>
          <a:xfrm>
            <a:off x="1117600" y="2354580"/>
            <a:ext cx="252966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8"/>
                </a:solidFill>
                <a:latin typeface="IBM Plex Sans" pitchFamily="34" charset="0"/>
                <a:ea typeface="IBM Plex Sans" pitchFamily="34" charset="-122"/>
                <a:cs typeface="IBM Plex Sans" pitchFamily="34" charset="-120"/>
              </a:rPr>
              <a:t>ce qu’on lit</a:t>
            </a:r>
            <a:endParaRPr lang="en-US" sz="1400" dirty="0"/>
          </a:p>
        </p:txBody>
      </p:sp>
      <p:sp>
        <p:nvSpPr>
          <p:cNvPr id="6" name="Text 4"/>
          <p:cNvSpPr/>
          <p:nvPr/>
        </p:nvSpPr>
        <p:spPr>
          <a:xfrm>
            <a:off x="1117600" y="2679700"/>
            <a:ext cx="2529661" cy="574040"/>
          </a:xfrm>
          <a:prstGeom prst="rect">
            <a:avLst/>
          </a:prstGeom>
          <a:noFill/>
          <a:ln/>
        </p:spPr>
        <p:txBody>
          <a:bodyPr wrap="square" lIns="0" tIns="0" rIns="0" bIns="0" rtlCol="0" anchor="t">
            <a:normAutofit/>
          </a:bodyPr>
          <a:lstStyle/>
          <a:p>
            <a:pPr marL="0" indent="0" algn="l">
              <a:lnSpc>
                <a:spcPts val="4320"/>
              </a:lnSpc>
              <a:buNone/>
            </a:pPr>
            <a:r>
              <a:rPr lang="en-US" sz="3600" dirty="0">
                <a:solidFill>
                  <a:srgbClr val="F7F5F0"/>
                </a:solidFill>
                <a:latin typeface="Oswald" pitchFamily="34" charset="0"/>
                <a:ea typeface="Oswald" pitchFamily="34" charset="-122"/>
                <a:cs typeface="Oswald" pitchFamily="34" charset="-120"/>
              </a:rPr>
              <a:t>11,942</a:t>
            </a:r>
            <a:endParaRPr lang="en-US" sz="3600" dirty="0"/>
          </a:p>
        </p:txBody>
      </p:sp>
      <p:sp>
        <p:nvSpPr>
          <p:cNvPr id="7" name="Text 5"/>
          <p:cNvSpPr/>
          <p:nvPr/>
        </p:nvSpPr>
        <p:spPr>
          <a:xfrm>
            <a:off x="4081581" y="2364741"/>
            <a:ext cx="303808" cy="878840"/>
          </a:xfrm>
          <a:prstGeom prst="rect">
            <a:avLst/>
          </a:prstGeom>
          <a:noFill/>
          <a:ln/>
        </p:spPr>
        <p:txBody>
          <a:bodyPr wrap="square" lIns="0" tIns="0" rIns="0" bIns="0" rtlCol="0" anchor="t">
            <a:normAutofit/>
          </a:bodyPr>
          <a:lstStyle/>
          <a:p>
            <a:pPr marL="0" indent="0" algn="l">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8" name="Shape 6"/>
          <p:cNvSpPr/>
          <p:nvPr/>
        </p:nvSpPr>
        <p:spPr>
          <a:xfrm>
            <a:off x="4544139" y="2043430"/>
            <a:ext cx="3078321" cy="1496060"/>
          </a:xfrm>
          <a:prstGeom prst="roundRect">
            <a:avLst>
              <a:gd name="adj" fmla="val 6367"/>
            </a:avLst>
          </a:prstGeom>
          <a:solidFill>
            <a:srgbClr val="FFFFFF"/>
          </a:solidFill>
          <a:ln w="12700">
            <a:solidFill>
              <a:srgbClr val="D5DCE6"/>
            </a:solidFill>
            <a:prstDash val="solid"/>
          </a:ln>
        </p:spPr>
        <p:txBody>
          <a:bodyPr/>
          <a:lstStyle/>
          <a:p>
            <a:endParaRPr lang="fr-FR"/>
          </a:p>
        </p:txBody>
      </p:sp>
      <p:sp>
        <p:nvSpPr>
          <p:cNvPr id="9" name="Text 7"/>
          <p:cNvSpPr/>
          <p:nvPr/>
        </p:nvSpPr>
        <p:spPr>
          <a:xfrm>
            <a:off x="4855289" y="2354580"/>
            <a:ext cx="252970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la vraie valeur</a:t>
            </a:r>
            <a:endParaRPr lang="en-US" sz="1400" dirty="0"/>
          </a:p>
        </p:txBody>
      </p:sp>
      <p:sp>
        <p:nvSpPr>
          <p:cNvPr id="10" name="Text 8"/>
          <p:cNvSpPr/>
          <p:nvPr/>
        </p:nvSpPr>
        <p:spPr>
          <a:xfrm>
            <a:off x="4855289" y="2679700"/>
            <a:ext cx="2529702" cy="574040"/>
          </a:xfrm>
          <a:prstGeom prst="rect">
            <a:avLst/>
          </a:prstGeom>
          <a:noFill/>
          <a:ln/>
        </p:spPr>
        <p:txBody>
          <a:bodyPr wrap="square" lIns="0" tIns="0" rIns="0" bIns="0" rtlCol="0" anchor="t">
            <a:normAutofit/>
          </a:bodyPr>
          <a:lstStyle/>
          <a:p>
            <a:pPr marL="0" indent="0" algn="l">
              <a:lnSpc>
                <a:spcPts val="4320"/>
              </a:lnSpc>
              <a:buNone/>
            </a:pPr>
            <a:r>
              <a:rPr lang="en-US" sz="3600" dirty="0">
                <a:solidFill>
                  <a:srgbClr val="1B2A4A"/>
                </a:solidFill>
                <a:latin typeface="Oswald" pitchFamily="34" charset="0"/>
                <a:ea typeface="Oswald" pitchFamily="34" charset="-122"/>
                <a:cs typeface="Oswald" pitchFamily="34" charset="-120"/>
              </a:rPr>
              <a:t>?</a:t>
            </a:r>
            <a:endParaRPr lang="en-US" sz="3600" dirty="0"/>
          </a:p>
        </p:txBody>
      </p:sp>
      <p:sp>
        <p:nvSpPr>
          <p:cNvPr id="11" name="Text 9"/>
          <p:cNvSpPr/>
          <p:nvPr/>
        </p:nvSpPr>
        <p:spPr>
          <a:xfrm>
            <a:off x="7832011" y="2364741"/>
            <a:ext cx="303808" cy="878840"/>
          </a:xfrm>
          <a:prstGeom prst="rect">
            <a:avLst/>
          </a:prstGeom>
          <a:noFill/>
          <a:ln/>
        </p:spPr>
        <p:txBody>
          <a:bodyPr wrap="square" lIns="0" tIns="0" rIns="0" bIns="0" rtlCol="0" anchor="t">
            <a:normAutofit/>
          </a:bodyPr>
          <a:lstStyle/>
          <a:p>
            <a:pPr marL="0" indent="0" algn="l">
              <a:lnSpc>
                <a:spcPts val="6720"/>
              </a:lnSpc>
              <a:buNone/>
            </a:pPr>
            <a:r>
              <a:rPr lang="en-US" sz="4800" dirty="0">
                <a:solidFill>
                  <a:srgbClr val="4A5568"/>
                </a:solidFill>
                <a:latin typeface="Oswald" pitchFamily="34" charset="0"/>
                <a:ea typeface="Oswald" pitchFamily="34" charset="-122"/>
                <a:cs typeface="Oswald" pitchFamily="34" charset="-120"/>
              </a:rPr>
              <a:t>+</a:t>
            </a:r>
            <a:endParaRPr lang="en-US" sz="4800" dirty="0"/>
          </a:p>
        </p:txBody>
      </p:sp>
      <p:sp>
        <p:nvSpPr>
          <p:cNvPr id="12" name="Shape 10"/>
          <p:cNvSpPr/>
          <p:nvPr/>
        </p:nvSpPr>
        <p:spPr>
          <a:xfrm>
            <a:off x="8294569" y="2043430"/>
            <a:ext cx="3078282" cy="1496060"/>
          </a:xfrm>
          <a:prstGeom prst="roundRect">
            <a:avLst>
              <a:gd name="adj" fmla="val 6367"/>
            </a:avLst>
          </a:prstGeom>
          <a:solidFill>
            <a:srgbClr val="FBEADF"/>
          </a:solidFill>
          <a:ln w="12700">
            <a:solidFill>
              <a:srgbClr val="B4530F"/>
            </a:solidFill>
            <a:prstDash val="solid"/>
          </a:ln>
        </p:spPr>
        <p:txBody>
          <a:bodyPr/>
          <a:lstStyle/>
          <a:p>
            <a:endParaRPr lang="fr-FR"/>
          </a:p>
        </p:txBody>
      </p:sp>
      <p:sp>
        <p:nvSpPr>
          <p:cNvPr id="13" name="Text 11"/>
          <p:cNvSpPr/>
          <p:nvPr/>
        </p:nvSpPr>
        <p:spPr>
          <a:xfrm>
            <a:off x="8605719" y="2354580"/>
            <a:ext cx="252966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30F"/>
                </a:solidFill>
                <a:latin typeface="IBM Plex Sans" pitchFamily="34" charset="0"/>
                <a:ea typeface="IBM Plex Sans" pitchFamily="34" charset="-122"/>
                <a:cs typeface="IBM Plex Sans" pitchFamily="34" charset="-120"/>
              </a:rPr>
              <a:t>l’erreur de mesure</a:t>
            </a:r>
            <a:endParaRPr lang="en-US" sz="1400" dirty="0"/>
          </a:p>
        </p:txBody>
      </p:sp>
      <p:sp>
        <p:nvSpPr>
          <p:cNvPr id="14" name="Text 12"/>
          <p:cNvSpPr/>
          <p:nvPr/>
        </p:nvSpPr>
        <p:spPr>
          <a:xfrm>
            <a:off x="8605719" y="2679700"/>
            <a:ext cx="2529661" cy="574040"/>
          </a:xfrm>
          <a:prstGeom prst="rect">
            <a:avLst/>
          </a:prstGeom>
          <a:noFill/>
          <a:ln/>
        </p:spPr>
        <p:txBody>
          <a:bodyPr wrap="square" lIns="0" tIns="0" rIns="0" bIns="0" rtlCol="0" anchor="t">
            <a:normAutofit/>
          </a:bodyPr>
          <a:lstStyle/>
          <a:p>
            <a:pPr marL="0" indent="0" algn="l">
              <a:lnSpc>
                <a:spcPts val="4320"/>
              </a:lnSpc>
              <a:buNone/>
            </a:pPr>
            <a:r>
              <a:rPr lang="en-US" sz="3600" dirty="0">
                <a:solidFill>
                  <a:srgbClr val="B4530F"/>
                </a:solidFill>
                <a:latin typeface="Oswald" pitchFamily="34" charset="0"/>
                <a:ea typeface="Oswald" pitchFamily="34" charset="-122"/>
                <a:cs typeface="Oswald" pitchFamily="34" charset="-120"/>
              </a:rPr>
              <a:t>±</a:t>
            </a:r>
            <a:endParaRPr lang="en-US" sz="3600" dirty="0"/>
          </a:p>
        </p:txBody>
      </p:sp>
      <p:sp>
        <p:nvSpPr>
          <p:cNvPr id="15" name="Text 13"/>
          <p:cNvSpPr/>
          <p:nvPr/>
        </p:nvSpPr>
        <p:spPr>
          <a:xfrm>
            <a:off x="812800" y="3799841"/>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L’erreur vient de l’instrument, de la méthode, de l’opérateur, du milieu. Elle ne disparaît jamais. On peut seulement la mesurer et la rendre petite.</a:t>
            </a:r>
            <a:endParaRPr lang="en-US" sz="1600" dirty="0"/>
          </a:p>
        </p:txBody>
      </p:sp>
      <p:sp>
        <p:nvSpPr>
          <p:cNvPr id="16" name="Text 14"/>
          <p:cNvSpPr/>
          <p:nvPr/>
        </p:nvSpPr>
        <p:spPr>
          <a:xfrm>
            <a:off x="812800" y="62890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POURQUOI LES PIÈCES DIFFÈRENT</a:t>
            </a:r>
            <a:endParaRPr lang="en-US" sz="1200" dirty="0"/>
          </a:p>
        </p:txBody>
      </p:sp>
      <p:sp>
        <p:nvSpPr>
          <p:cNvPr id="3" name="Text 1"/>
          <p:cNvSpPr>
            <a:spLocks noGrp="1"/>
          </p:cNvSpPr>
          <p:nvPr>
            <p:ph type="title"/>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Deux pièces identiques, ça n’existe pas</a:t>
            </a:r>
            <a:endParaRPr lang="en-US" sz="3600" dirty="0"/>
          </a:p>
        </p:txBody>
      </p:sp>
      <p:sp>
        <p:nvSpPr>
          <p:cNvPr id="4" name="Shape 2"/>
          <p:cNvSpPr/>
          <p:nvPr/>
        </p:nvSpPr>
        <p:spPr>
          <a:xfrm>
            <a:off x="819150" y="2043432"/>
            <a:ext cx="1978660" cy="1310640"/>
          </a:xfrm>
          <a:prstGeom prst="roundRect">
            <a:avLst>
              <a:gd name="adj" fmla="val 7267"/>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28700" y="2252982"/>
            <a:ext cx="1610360"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2E6DA4"/>
                </a:solidFill>
                <a:latin typeface="Oswald" pitchFamily="34" charset="0"/>
                <a:ea typeface="Oswald" pitchFamily="34" charset="-122"/>
                <a:cs typeface="Oswald" pitchFamily="34" charset="-120"/>
              </a:rPr>
              <a:t>Machine</a:t>
            </a:r>
            <a:endParaRPr lang="en-US" sz="2000" dirty="0"/>
          </a:p>
        </p:txBody>
      </p:sp>
      <p:sp>
        <p:nvSpPr>
          <p:cNvPr id="6" name="Text 4"/>
          <p:cNvSpPr/>
          <p:nvPr/>
        </p:nvSpPr>
        <p:spPr>
          <a:xfrm>
            <a:off x="1028700" y="2646682"/>
            <a:ext cx="161036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jeu, usure d’outil, échauffement</a:t>
            </a:r>
            <a:endParaRPr lang="en-US" sz="1400" dirty="0"/>
          </a:p>
        </p:txBody>
      </p:sp>
      <p:sp>
        <p:nvSpPr>
          <p:cNvPr id="7" name="Shape 5"/>
          <p:cNvSpPr/>
          <p:nvPr/>
        </p:nvSpPr>
        <p:spPr>
          <a:xfrm>
            <a:off x="2962910" y="2043432"/>
            <a:ext cx="1978660" cy="1310640"/>
          </a:xfrm>
          <a:prstGeom prst="roundRect">
            <a:avLst>
              <a:gd name="adj" fmla="val 7267"/>
            </a:avLst>
          </a:prstGeom>
          <a:solidFill>
            <a:srgbClr val="FFFFFF"/>
          </a:solidFill>
          <a:ln w="12700">
            <a:solidFill>
              <a:srgbClr val="D5DCE6"/>
            </a:solidFill>
            <a:prstDash val="solid"/>
          </a:ln>
        </p:spPr>
        <p:txBody>
          <a:bodyPr/>
          <a:lstStyle/>
          <a:p>
            <a:endParaRPr lang="fr-FR"/>
          </a:p>
        </p:txBody>
      </p:sp>
      <p:sp>
        <p:nvSpPr>
          <p:cNvPr id="8" name="Text 6"/>
          <p:cNvSpPr/>
          <p:nvPr/>
        </p:nvSpPr>
        <p:spPr>
          <a:xfrm>
            <a:off x="3172460" y="2252982"/>
            <a:ext cx="1610360"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2E6DA4"/>
                </a:solidFill>
                <a:latin typeface="Oswald" pitchFamily="34" charset="0"/>
                <a:ea typeface="Oswald" pitchFamily="34" charset="-122"/>
                <a:cs typeface="Oswald" pitchFamily="34" charset="-120"/>
              </a:rPr>
              <a:t>Méthode</a:t>
            </a:r>
            <a:endParaRPr lang="en-US" sz="2000" dirty="0"/>
          </a:p>
        </p:txBody>
      </p:sp>
      <p:sp>
        <p:nvSpPr>
          <p:cNvPr id="9" name="Text 7"/>
          <p:cNvSpPr/>
          <p:nvPr/>
        </p:nvSpPr>
        <p:spPr>
          <a:xfrm>
            <a:off x="3172460" y="2646682"/>
            <a:ext cx="161036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gamme, vitesse de coupe, serrage</a:t>
            </a:r>
            <a:endParaRPr lang="en-US" sz="1400" dirty="0"/>
          </a:p>
        </p:txBody>
      </p:sp>
      <p:sp>
        <p:nvSpPr>
          <p:cNvPr id="10" name="Shape 8"/>
          <p:cNvSpPr/>
          <p:nvPr/>
        </p:nvSpPr>
        <p:spPr>
          <a:xfrm>
            <a:off x="5106670" y="2043432"/>
            <a:ext cx="1978660" cy="1310640"/>
          </a:xfrm>
          <a:prstGeom prst="roundRect">
            <a:avLst>
              <a:gd name="adj" fmla="val 7267"/>
            </a:avLst>
          </a:prstGeom>
          <a:solidFill>
            <a:srgbClr val="FFFFFF"/>
          </a:solidFill>
          <a:ln w="12700">
            <a:solidFill>
              <a:srgbClr val="D5DCE6"/>
            </a:solidFill>
            <a:prstDash val="solid"/>
          </a:ln>
        </p:spPr>
        <p:txBody>
          <a:bodyPr/>
          <a:lstStyle/>
          <a:p>
            <a:endParaRPr lang="fr-FR"/>
          </a:p>
        </p:txBody>
      </p:sp>
      <p:sp>
        <p:nvSpPr>
          <p:cNvPr id="11" name="Text 9"/>
          <p:cNvSpPr/>
          <p:nvPr/>
        </p:nvSpPr>
        <p:spPr>
          <a:xfrm>
            <a:off x="5316220" y="2252982"/>
            <a:ext cx="1610360"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2E6DA4"/>
                </a:solidFill>
                <a:latin typeface="Oswald" pitchFamily="34" charset="0"/>
                <a:ea typeface="Oswald" pitchFamily="34" charset="-122"/>
                <a:cs typeface="Oswald" pitchFamily="34" charset="-120"/>
              </a:rPr>
              <a:t>Matière</a:t>
            </a:r>
            <a:endParaRPr lang="en-US" sz="2000" dirty="0"/>
          </a:p>
        </p:txBody>
      </p:sp>
      <p:sp>
        <p:nvSpPr>
          <p:cNvPr id="12" name="Text 10"/>
          <p:cNvSpPr/>
          <p:nvPr/>
        </p:nvSpPr>
        <p:spPr>
          <a:xfrm>
            <a:off x="5316220" y="2646682"/>
            <a:ext cx="176276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dureté, lot de barre</a:t>
            </a:r>
            <a:endParaRPr lang="en-US" sz="1400" dirty="0"/>
          </a:p>
        </p:txBody>
      </p:sp>
      <p:sp>
        <p:nvSpPr>
          <p:cNvPr id="13" name="Shape 11"/>
          <p:cNvSpPr/>
          <p:nvPr/>
        </p:nvSpPr>
        <p:spPr>
          <a:xfrm>
            <a:off x="7250430" y="2043432"/>
            <a:ext cx="1978660" cy="1310640"/>
          </a:xfrm>
          <a:prstGeom prst="roundRect">
            <a:avLst>
              <a:gd name="adj" fmla="val 7267"/>
            </a:avLst>
          </a:prstGeom>
          <a:solidFill>
            <a:srgbClr val="FFFFFF"/>
          </a:solidFill>
          <a:ln w="12700">
            <a:solidFill>
              <a:srgbClr val="D5DCE6"/>
            </a:solidFill>
            <a:prstDash val="solid"/>
          </a:ln>
        </p:spPr>
        <p:txBody>
          <a:bodyPr/>
          <a:lstStyle/>
          <a:p>
            <a:endParaRPr lang="fr-FR"/>
          </a:p>
        </p:txBody>
      </p:sp>
      <p:sp>
        <p:nvSpPr>
          <p:cNvPr id="14" name="Text 12"/>
          <p:cNvSpPr/>
          <p:nvPr/>
        </p:nvSpPr>
        <p:spPr>
          <a:xfrm>
            <a:off x="7459980" y="2252982"/>
            <a:ext cx="1610360"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2E6DA4"/>
                </a:solidFill>
                <a:latin typeface="Oswald" pitchFamily="34" charset="0"/>
                <a:ea typeface="Oswald" pitchFamily="34" charset="-122"/>
                <a:cs typeface="Oswald" pitchFamily="34" charset="-120"/>
              </a:rPr>
              <a:t>Main-d’œuvre</a:t>
            </a:r>
            <a:endParaRPr lang="en-US" sz="2000" dirty="0"/>
          </a:p>
        </p:txBody>
      </p:sp>
      <p:sp>
        <p:nvSpPr>
          <p:cNvPr id="15" name="Text 13"/>
          <p:cNvSpPr/>
          <p:nvPr/>
        </p:nvSpPr>
        <p:spPr>
          <a:xfrm>
            <a:off x="7459980" y="2646682"/>
            <a:ext cx="161036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réglage, habitudes</a:t>
            </a:r>
            <a:endParaRPr lang="en-US" sz="1400" dirty="0"/>
          </a:p>
        </p:txBody>
      </p:sp>
      <p:sp>
        <p:nvSpPr>
          <p:cNvPr id="16" name="Shape 14"/>
          <p:cNvSpPr/>
          <p:nvPr/>
        </p:nvSpPr>
        <p:spPr>
          <a:xfrm>
            <a:off x="9394190" y="2043432"/>
            <a:ext cx="1978660" cy="1310640"/>
          </a:xfrm>
          <a:prstGeom prst="roundRect">
            <a:avLst>
              <a:gd name="adj" fmla="val 7267"/>
            </a:avLst>
          </a:prstGeom>
          <a:solidFill>
            <a:srgbClr val="FFFFFF"/>
          </a:solidFill>
          <a:ln w="12700">
            <a:solidFill>
              <a:srgbClr val="D5DCE6"/>
            </a:solidFill>
            <a:prstDash val="solid"/>
          </a:ln>
        </p:spPr>
        <p:txBody>
          <a:bodyPr/>
          <a:lstStyle/>
          <a:p>
            <a:endParaRPr lang="fr-FR"/>
          </a:p>
        </p:txBody>
      </p:sp>
      <p:sp>
        <p:nvSpPr>
          <p:cNvPr id="17" name="Text 15"/>
          <p:cNvSpPr/>
          <p:nvPr/>
        </p:nvSpPr>
        <p:spPr>
          <a:xfrm>
            <a:off x="9603740" y="2252982"/>
            <a:ext cx="1610360"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2E6DA4"/>
                </a:solidFill>
                <a:latin typeface="Oswald" pitchFamily="34" charset="0"/>
                <a:ea typeface="Oswald" pitchFamily="34" charset="-122"/>
                <a:cs typeface="Oswald" pitchFamily="34" charset="-120"/>
              </a:rPr>
              <a:t>Milieu</a:t>
            </a:r>
            <a:endParaRPr lang="en-US" sz="2000" dirty="0"/>
          </a:p>
        </p:txBody>
      </p:sp>
      <p:sp>
        <p:nvSpPr>
          <p:cNvPr id="18" name="Text 16"/>
          <p:cNvSpPr/>
          <p:nvPr/>
        </p:nvSpPr>
        <p:spPr>
          <a:xfrm>
            <a:off x="9603740" y="2646682"/>
            <a:ext cx="161036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température, vibrations</a:t>
            </a:r>
            <a:endParaRPr lang="en-US" sz="1400" dirty="0"/>
          </a:p>
        </p:txBody>
      </p:sp>
      <p:sp>
        <p:nvSpPr>
          <p:cNvPr id="19" name="Text 17"/>
          <p:cNvSpPr/>
          <p:nvPr/>
        </p:nvSpPr>
        <p:spPr>
          <a:xfrm>
            <a:off x="812800" y="3614421"/>
            <a:ext cx="10883392"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B2A4A"/>
                </a:solidFill>
                <a:latin typeface="IBM Plex Sans" pitchFamily="34" charset="0"/>
                <a:ea typeface="IBM Plex Sans" pitchFamily="34" charset="-122"/>
                <a:cs typeface="IBM Plex Sans" pitchFamily="34" charset="-120"/>
              </a:rPr>
              <a:t>Ces petites causes agissent toutes en même temps. Leur somme donne la variabilité naturelle du procédé.</a:t>
            </a:r>
            <a:endParaRPr lang="en-US" sz="1800" dirty="0"/>
          </a:p>
        </p:txBody>
      </p:sp>
      <p:sp>
        <p:nvSpPr>
          <p:cNvPr id="20" name="Text 18"/>
          <p:cNvSpPr/>
          <p:nvPr/>
        </p:nvSpPr>
        <p:spPr>
          <a:xfrm>
            <a:off x="812800" y="62890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LE LOT EN IMAGE</a:t>
            </a:r>
            <a:endParaRPr lang="en-US" sz="1200" dirty="0"/>
          </a:p>
        </p:txBody>
      </p:sp>
      <p:sp>
        <p:nvSpPr>
          <p:cNvPr id="3" name="Text 1"/>
          <p:cNvSpPr>
            <a:spLocks noGrp="1"/>
          </p:cNvSpPr>
          <p:nvPr>
            <p:ph type="title"/>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L’histogramme montre la forme de la variabilité</a:t>
            </a:r>
            <a:endParaRPr lang="en-US" sz="3600" dirty="0"/>
          </a:p>
        </p:txBody>
      </p:sp>
      <p:pic>
        <p:nvPicPr>
          <p:cNvPr id="4" name="Image 0" descr="Histogramme en cloche des diamètres avec la courbe de Gauss superposée"/>
          <p:cNvPicPr>
            <a:picLocks noChangeAspect="1"/>
          </p:cNvPicPr>
          <p:nvPr/>
        </p:nvPicPr>
        <p:blipFill>
          <a:blip r:embed="rId3"/>
          <a:srcRect l="-14" r="-14"/>
          <a:stretch/>
        </p:blipFill>
        <p:spPr>
          <a:xfrm>
            <a:off x="812800" y="2159000"/>
            <a:ext cx="7620000" cy="3556000"/>
          </a:xfrm>
          <a:prstGeom prst="rect">
            <a:avLst/>
          </a:prstGeom>
        </p:spPr>
      </p:pic>
      <p:sp>
        <p:nvSpPr>
          <p:cNvPr id="5" name="Text 2"/>
          <p:cNvSpPr/>
          <p:nvPr/>
        </p:nvSpPr>
        <p:spPr>
          <a:xfrm>
            <a:off x="8763000" y="2286000"/>
            <a:ext cx="269468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Chaque barre compte les pièces d’une même tranche de diamètre.</a:t>
            </a:r>
            <a:endParaRPr lang="en-US" sz="1500" dirty="0"/>
          </a:p>
        </p:txBody>
      </p:sp>
      <p:sp>
        <p:nvSpPr>
          <p:cNvPr id="6" name="Text 3"/>
          <p:cNvSpPr/>
          <p:nvPr/>
        </p:nvSpPr>
        <p:spPr>
          <a:xfrm>
            <a:off x="8763000" y="3263900"/>
            <a:ext cx="269468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Beaucoup au milieu, peu sur les bords : c’est la cloche.</a:t>
            </a:r>
            <a:endParaRPr lang="en-US" sz="1500" dirty="0"/>
          </a:p>
        </p:txBody>
      </p:sp>
      <p:sp>
        <p:nvSpPr>
          <p:cNvPr id="7" name="Text 4"/>
          <p:cNvSpPr/>
          <p:nvPr/>
        </p:nvSpPr>
        <p:spPr>
          <a:xfrm>
            <a:off x="8763000" y="3975100"/>
            <a:ext cx="269468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0F"/>
                </a:solidFill>
                <a:latin typeface="IBM Plex Sans" pitchFamily="34" charset="0"/>
                <a:ea typeface="IBM Plex Sans" pitchFamily="34" charset="-122"/>
                <a:cs typeface="IBM Plex Sans" pitchFamily="34" charset="-120"/>
              </a:rPr>
              <a:t>La courbe orange est la loi normale, le modèle de cette cloche.</a:t>
            </a:r>
            <a:endParaRPr lang="en-US" sz="1500" dirty="0"/>
          </a:p>
        </p:txBody>
      </p:sp>
      <p:sp>
        <p:nvSpPr>
          <p:cNvPr id="8" name="Text 5"/>
          <p:cNvSpPr/>
          <p:nvPr/>
        </p:nvSpPr>
        <p:spPr>
          <a:xfrm>
            <a:off x="812800" y="62890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DEUX NOMBRES SUFFISENT</a:t>
            </a:r>
            <a:endParaRPr lang="en-US" sz="1200" dirty="0"/>
          </a:p>
        </p:txBody>
      </p:sp>
      <p:sp>
        <p:nvSpPr>
          <p:cNvPr id="3" name="Text 1"/>
          <p:cNvSpPr>
            <a:spLocks noGrp="1"/>
          </p:cNvSpPr>
          <p:nvPr>
            <p:ph type="title"/>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Où vise le procédé ? Combien bouge-t-il ?</a:t>
            </a:r>
            <a:endParaRPr lang="en-US" sz="3600" dirty="0"/>
          </a:p>
        </p:txBody>
      </p:sp>
      <p:pic>
        <p:nvPicPr>
          <p:cNvPr id="4" name="Image 0" descr="Trois cibles : tirs groupés au centre, tirs dispersés, tirs groupés mais décalés"/>
          <p:cNvPicPr>
            <a:picLocks noChangeAspect="1"/>
          </p:cNvPicPr>
          <p:nvPr/>
        </p:nvPicPr>
        <p:blipFill>
          <a:blip r:embed="rId3"/>
          <a:srcRect l="-16" r="-16"/>
          <a:stretch/>
        </p:blipFill>
        <p:spPr>
          <a:xfrm>
            <a:off x="812800" y="2286000"/>
            <a:ext cx="7239000" cy="2159000"/>
          </a:xfrm>
          <a:prstGeom prst="rect">
            <a:avLst/>
          </a:prstGeom>
        </p:spPr>
      </p:pic>
      <p:sp>
        <p:nvSpPr>
          <p:cNvPr id="5" name="Text 2"/>
          <p:cNvSpPr/>
          <p:nvPr/>
        </p:nvSpPr>
        <p:spPr>
          <a:xfrm>
            <a:off x="780415" y="4572000"/>
            <a:ext cx="2223770" cy="71882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centré</a:t>
            </a:r>
            <a:endParaRPr lang="en-US" sz="1300" dirty="0"/>
          </a:p>
          <a:p>
            <a:pPr marL="0" indent="0" algn="ctr">
              <a:lnSpc>
                <a:spcPts val="1820"/>
              </a:lnSpc>
              <a:buNone/>
            </a:pPr>
            <a:r>
              <a:rPr lang="en-US" sz="1300" dirty="0">
                <a:solidFill>
                  <a:srgbClr val="1B2A4A"/>
                </a:solidFill>
                <a:latin typeface="IBM Plex Sans" pitchFamily="34" charset="0"/>
                <a:ea typeface="IBM Plex Sans" pitchFamily="34" charset="-122"/>
                <a:cs typeface="IBM Plex Sans" pitchFamily="34" charset="-120"/>
              </a:rPr>
              <a:t>bonne moyenne, petit écart-type</a:t>
            </a:r>
            <a:endParaRPr lang="en-US" sz="1300" dirty="0"/>
          </a:p>
        </p:txBody>
      </p:sp>
      <p:sp>
        <p:nvSpPr>
          <p:cNvPr id="6" name="Text 3"/>
          <p:cNvSpPr/>
          <p:nvPr/>
        </p:nvSpPr>
        <p:spPr>
          <a:xfrm>
            <a:off x="3320415" y="4572000"/>
            <a:ext cx="2223770" cy="71882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Dispersé</a:t>
            </a:r>
            <a:endParaRPr lang="en-US" sz="1300" dirty="0"/>
          </a:p>
          <a:p>
            <a:pPr marL="0" indent="0" algn="ctr">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correcte, grand écart-type</a:t>
            </a:r>
            <a:endParaRPr lang="en-US" sz="1300" dirty="0"/>
          </a:p>
        </p:txBody>
      </p:sp>
      <p:sp>
        <p:nvSpPr>
          <p:cNvPr id="7" name="Text 4"/>
          <p:cNvSpPr/>
          <p:nvPr/>
        </p:nvSpPr>
        <p:spPr>
          <a:xfrm>
            <a:off x="5860415" y="4572000"/>
            <a:ext cx="2223770" cy="71882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B2A4A"/>
                </a:solidFill>
                <a:latin typeface="IBM Plex Sans" pitchFamily="34" charset="0"/>
                <a:ea typeface="IBM Plex Sans" pitchFamily="34" charset="-122"/>
                <a:cs typeface="IBM Plex Sans" pitchFamily="34" charset="-120"/>
              </a:rPr>
              <a:t>Groupé, décalé</a:t>
            </a:r>
            <a:endParaRPr lang="en-US" sz="1300" dirty="0"/>
          </a:p>
          <a:p>
            <a:pPr marL="0" indent="0" algn="ctr">
              <a:lnSpc>
                <a:spcPts val="1820"/>
              </a:lnSpc>
              <a:buNone/>
            </a:pPr>
            <a:r>
              <a:rPr lang="en-US" sz="1300" dirty="0">
                <a:solidFill>
                  <a:srgbClr val="1B2A4A"/>
                </a:solidFill>
                <a:latin typeface="IBM Plex Sans" pitchFamily="34" charset="0"/>
                <a:ea typeface="IBM Plex Sans" pitchFamily="34" charset="-122"/>
                <a:cs typeface="IBM Plex Sans" pitchFamily="34" charset="-120"/>
              </a:rPr>
              <a:t>moyenne fausse, petit écart-type</a:t>
            </a:r>
            <a:endParaRPr lang="en-US" sz="1300" dirty="0"/>
          </a:p>
        </p:txBody>
      </p:sp>
      <p:sp>
        <p:nvSpPr>
          <p:cNvPr id="8" name="Shape 5"/>
          <p:cNvSpPr/>
          <p:nvPr/>
        </p:nvSpPr>
        <p:spPr>
          <a:xfrm>
            <a:off x="8509000" y="2413000"/>
            <a:ext cx="2870200" cy="1145540"/>
          </a:xfrm>
          <a:prstGeom prst="roundRect">
            <a:avLst>
              <a:gd name="adj" fmla="val 4435"/>
            </a:avLst>
          </a:prstGeom>
          <a:solidFill>
            <a:srgbClr val="FFFFFF"/>
          </a:solidFill>
          <a:ln/>
        </p:spPr>
        <p:txBody>
          <a:bodyPr/>
          <a:lstStyle/>
          <a:p>
            <a:endParaRPr lang="fr-FR"/>
          </a:p>
        </p:txBody>
      </p:sp>
      <p:sp>
        <p:nvSpPr>
          <p:cNvPr id="9" name="Shape 6"/>
          <p:cNvSpPr/>
          <p:nvPr/>
        </p:nvSpPr>
        <p:spPr>
          <a:xfrm>
            <a:off x="8509000" y="2413000"/>
            <a:ext cx="2870200" cy="1145540"/>
          </a:xfrm>
          <a:custGeom>
            <a:avLst/>
            <a:gdLst/>
            <a:ahLst/>
            <a:cxnLst/>
            <a:rect l="l" t="t" r="r" b="b"/>
            <a:pathLst>
              <a:path w="2870200" h="1145540">
                <a:moveTo>
                  <a:pt x="50800" y="1145540"/>
                </a:moveTo>
                <a:lnTo>
                  <a:pt x="50800" y="1145540"/>
                </a:lnTo>
                <a:arcTo wR="50800" hR="50800" stAng="5400000" swAng="5400000"/>
                <a:lnTo>
                  <a:pt x="0" y="50800"/>
                </a:lnTo>
                <a:arcTo wR="50800" hR="50800" stAng="10800000" swAng="5400000"/>
                <a:lnTo>
                  <a:pt x="50800" y="0"/>
                </a:lnTo>
                <a:lnTo>
                  <a:pt x="50800" y="1145540"/>
                </a:lnTo>
                <a:close/>
              </a:path>
            </a:pathLst>
          </a:custGeom>
          <a:solidFill>
            <a:srgbClr val="2E6DA4"/>
          </a:solidFill>
          <a:ln/>
        </p:spPr>
        <p:txBody>
          <a:bodyPr/>
          <a:lstStyle/>
          <a:p>
            <a:endParaRPr lang="fr-FR"/>
          </a:p>
        </p:txBody>
      </p:sp>
      <p:sp>
        <p:nvSpPr>
          <p:cNvPr id="10" name="Text 7"/>
          <p:cNvSpPr/>
          <p:nvPr/>
        </p:nvSpPr>
        <p:spPr>
          <a:xfrm>
            <a:off x="8737600" y="2590800"/>
            <a:ext cx="2537714"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2E6DA4"/>
                </a:solidFill>
                <a:latin typeface="Oswald" pitchFamily="34" charset="0"/>
                <a:ea typeface="Oswald" pitchFamily="34" charset="-122"/>
                <a:cs typeface="Oswald" pitchFamily="34" charset="-120"/>
              </a:rPr>
              <a:t>Moyenne</a:t>
            </a:r>
            <a:endParaRPr lang="en-US" sz="2000" dirty="0"/>
          </a:p>
        </p:txBody>
      </p:sp>
      <p:sp>
        <p:nvSpPr>
          <p:cNvPr id="11" name="Text 8"/>
          <p:cNvSpPr/>
          <p:nvPr/>
        </p:nvSpPr>
        <p:spPr>
          <a:xfrm>
            <a:off x="8737600" y="2882900"/>
            <a:ext cx="253771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Où on vise. Le régleur la corrige.</a:t>
            </a:r>
            <a:endParaRPr lang="en-US" sz="1400" dirty="0"/>
          </a:p>
        </p:txBody>
      </p:sp>
      <p:sp>
        <p:nvSpPr>
          <p:cNvPr id="12" name="Shape 9"/>
          <p:cNvSpPr/>
          <p:nvPr/>
        </p:nvSpPr>
        <p:spPr>
          <a:xfrm>
            <a:off x="8509000" y="3761739"/>
            <a:ext cx="2870200" cy="1145540"/>
          </a:xfrm>
          <a:prstGeom prst="roundRect">
            <a:avLst>
              <a:gd name="adj" fmla="val 4435"/>
            </a:avLst>
          </a:prstGeom>
          <a:solidFill>
            <a:srgbClr val="FFFFFF"/>
          </a:solidFill>
          <a:ln/>
        </p:spPr>
        <p:txBody>
          <a:bodyPr/>
          <a:lstStyle/>
          <a:p>
            <a:endParaRPr lang="fr-FR"/>
          </a:p>
        </p:txBody>
      </p:sp>
      <p:sp>
        <p:nvSpPr>
          <p:cNvPr id="13" name="Shape 10"/>
          <p:cNvSpPr/>
          <p:nvPr/>
        </p:nvSpPr>
        <p:spPr>
          <a:xfrm>
            <a:off x="8509000" y="3761739"/>
            <a:ext cx="2870200" cy="1145540"/>
          </a:xfrm>
          <a:custGeom>
            <a:avLst/>
            <a:gdLst/>
            <a:ahLst/>
            <a:cxnLst/>
            <a:rect l="l" t="t" r="r" b="b"/>
            <a:pathLst>
              <a:path w="2870200" h="1145540">
                <a:moveTo>
                  <a:pt x="50800" y="1145540"/>
                </a:moveTo>
                <a:lnTo>
                  <a:pt x="50800" y="1145540"/>
                </a:lnTo>
                <a:arcTo wR="50800" hR="50800" stAng="5400000" swAng="5400000"/>
                <a:lnTo>
                  <a:pt x="0" y="50800"/>
                </a:lnTo>
                <a:arcTo wR="50800" hR="50800" stAng="10800000" swAng="5400000"/>
                <a:lnTo>
                  <a:pt x="50800" y="0"/>
                </a:lnTo>
                <a:lnTo>
                  <a:pt x="50800" y="1145540"/>
                </a:lnTo>
                <a:close/>
              </a:path>
            </a:pathLst>
          </a:custGeom>
          <a:solidFill>
            <a:srgbClr val="B4530F"/>
          </a:solidFill>
          <a:ln/>
        </p:spPr>
        <p:txBody>
          <a:bodyPr/>
          <a:lstStyle/>
          <a:p>
            <a:endParaRPr lang="fr-FR"/>
          </a:p>
        </p:txBody>
      </p:sp>
      <p:sp>
        <p:nvSpPr>
          <p:cNvPr id="14" name="Text 11"/>
          <p:cNvSpPr/>
          <p:nvPr/>
        </p:nvSpPr>
        <p:spPr>
          <a:xfrm>
            <a:off x="8737600" y="3939539"/>
            <a:ext cx="2537714"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B4530F"/>
                </a:solidFill>
                <a:latin typeface="Oswald" pitchFamily="34" charset="0"/>
                <a:ea typeface="Oswald" pitchFamily="34" charset="-122"/>
                <a:cs typeface="Oswald" pitchFamily="34" charset="-120"/>
              </a:rPr>
              <a:t>Écart-type</a:t>
            </a:r>
            <a:endParaRPr lang="en-US" sz="2000" dirty="0"/>
          </a:p>
        </p:txBody>
      </p:sp>
      <p:sp>
        <p:nvSpPr>
          <p:cNvPr id="15" name="Text 12"/>
          <p:cNvSpPr/>
          <p:nvPr/>
        </p:nvSpPr>
        <p:spPr>
          <a:xfrm>
            <a:off x="8737600" y="4231639"/>
            <a:ext cx="253771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Combien ça bouge. Il faut agir sur le procédé.</a:t>
            </a:r>
            <a:endParaRPr lang="en-US" sz="1400" dirty="0"/>
          </a:p>
        </p:txBody>
      </p:sp>
      <p:sp>
        <p:nvSpPr>
          <p:cNvPr id="16" name="Text 13"/>
          <p:cNvSpPr/>
          <p:nvPr/>
        </p:nvSpPr>
        <p:spPr>
          <a:xfrm>
            <a:off x="812800" y="62890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LA LARGEUR NATURELLE</a:t>
            </a:r>
            <a:endParaRPr lang="en-US" sz="1200" dirty="0"/>
          </a:p>
        </p:txBody>
      </p:sp>
      <p:sp>
        <p:nvSpPr>
          <p:cNvPr id="3" name="Text 1"/>
          <p:cNvSpPr>
            <a:spLocks noGrp="1"/>
          </p:cNvSpPr>
          <p:nvPr>
            <p:ph type="title"/>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Six écarts-types : la place que prend le procédé</a:t>
            </a:r>
            <a:endParaRPr lang="en-US" sz="3600" dirty="0"/>
          </a:p>
        </p:txBody>
      </p:sp>
      <p:pic>
        <p:nvPicPr>
          <p:cNvPr id="4" name="Image 0" descr="Courbe en cloche avec repères à plus ou moins 1, 2 et 3 écarts-types et la largeur de 6 écarts-types"/>
          <p:cNvPicPr>
            <a:picLocks noChangeAspect="1"/>
          </p:cNvPicPr>
          <p:nvPr/>
        </p:nvPicPr>
        <p:blipFill>
          <a:blip r:embed="rId3"/>
          <a:srcRect l="-29" r="-29"/>
          <a:stretch/>
        </p:blipFill>
        <p:spPr>
          <a:xfrm>
            <a:off x="1270000" y="2095500"/>
            <a:ext cx="9652000" cy="3429000"/>
          </a:xfrm>
          <a:prstGeom prst="rect">
            <a:avLst/>
          </a:prstGeom>
        </p:spPr>
      </p:pic>
      <p:sp>
        <p:nvSpPr>
          <p:cNvPr id="5" name="Text 2"/>
          <p:cNvSpPr/>
          <p:nvPr/>
        </p:nvSpPr>
        <p:spPr>
          <a:xfrm>
            <a:off x="6159500" y="2413000"/>
            <a:ext cx="132080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moyenne</a:t>
            </a:r>
            <a:endParaRPr lang="en-US" sz="1300" dirty="0"/>
          </a:p>
        </p:txBody>
      </p:sp>
      <p:sp>
        <p:nvSpPr>
          <p:cNvPr id="6" name="Text 3"/>
          <p:cNvSpPr/>
          <p:nvPr/>
        </p:nvSpPr>
        <p:spPr>
          <a:xfrm>
            <a:off x="3479800" y="5499100"/>
            <a:ext cx="52324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B4530F"/>
                </a:solidFill>
                <a:latin typeface="IBM Plex Sans" pitchFamily="34" charset="0"/>
                <a:ea typeface="IBM Plex Sans" pitchFamily="34" charset="-122"/>
                <a:cs typeface="IBM Plex Sans" pitchFamily="34" charset="-120"/>
              </a:rPr>
              <a:t>6 écarts-types = 99,7 % des pièces</a:t>
            </a:r>
            <a:endParaRPr lang="en-US" sz="1600" dirty="0"/>
          </a:p>
        </p:txBody>
      </p:sp>
      <p:sp>
        <p:nvSpPr>
          <p:cNvPr id="7" name="Text 4"/>
          <p:cNvSpPr/>
          <p:nvPr/>
        </p:nvSpPr>
        <p:spPr>
          <a:xfrm>
            <a:off x="3213100" y="5130800"/>
            <a:ext cx="812800" cy="223520"/>
          </a:xfrm>
          <a:prstGeom prst="rect">
            <a:avLst/>
          </a:prstGeom>
          <a:noFill/>
          <a:ln/>
        </p:spPr>
        <p:txBody>
          <a:bodyPr wrap="square" lIns="0" tIns="0" rIns="0" bIns="0" rtlCol="0" anchor="t">
            <a:normAutofit/>
          </a:bodyPr>
          <a:lstStyle/>
          <a:p>
            <a:pPr marL="0" indent="0" algn="ctr">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8" name="Text 5"/>
          <p:cNvSpPr/>
          <p:nvPr/>
        </p:nvSpPr>
        <p:spPr>
          <a:xfrm>
            <a:off x="8166100" y="5130800"/>
            <a:ext cx="812800" cy="223520"/>
          </a:xfrm>
          <a:prstGeom prst="rect">
            <a:avLst/>
          </a:prstGeom>
          <a:noFill/>
          <a:ln/>
        </p:spPr>
        <p:txBody>
          <a:bodyPr wrap="square" lIns="0" tIns="0" rIns="0" bIns="0" rtlCol="0" anchor="t">
            <a:normAutofit/>
          </a:bodyPr>
          <a:lstStyle/>
          <a:p>
            <a:pPr marL="0" indent="0" algn="ctr">
              <a:lnSpc>
                <a:spcPts val="1560"/>
              </a:lnSpc>
              <a:buNone/>
            </a:pPr>
            <a:r>
              <a:rPr lang="en-US" sz="1300" dirty="0">
                <a:solidFill>
                  <a:srgbClr val="4A5568"/>
                </a:solidFill>
                <a:latin typeface="IBM Plex Sans" pitchFamily="34" charset="0"/>
                <a:ea typeface="IBM Plex Sans" pitchFamily="34" charset="-122"/>
                <a:cs typeface="IBM Plex Sans" pitchFamily="34" charset="-120"/>
              </a:rPr>
              <a:t>+ 3σ</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JEU · PAR ÉQUIPE</a:t>
            </a:r>
            <a:endParaRPr lang="en-US" sz="1200" dirty="0"/>
          </a:p>
        </p:txBody>
      </p:sp>
      <p:sp>
        <p:nvSpPr>
          <p:cNvPr id="3" name="Text 1"/>
          <p:cNvSpPr>
            <a:spLocks noGrp="1"/>
          </p:cNvSpPr>
          <p:nvPr>
            <p:ph type="title"/>
          </p:nvPr>
        </p:nvSpPr>
        <p:spPr>
          <a:xfrm>
            <a:off x="812800" y="12801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Que s’est-il passé à l’atelier ?</a:t>
            </a:r>
            <a:endParaRPr lang="en-US" sz="3600" dirty="0"/>
          </a:p>
        </p:txBody>
      </p:sp>
      <p:pic>
        <p:nvPicPr>
          <p:cNvPr id="4" name="Image 0" descr="Quatre histogrammes : en cloche, à deux bosses, coupé net à gauche, étalé à droite"/>
          <p:cNvPicPr>
            <a:picLocks noChangeAspect="1"/>
          </p:cNvPicPr>
          <p:nvPr/>
        </p:nvPicPr>
        <p:blipFill>
          <a:blip r:embed="rId3"/>
          <a:srcRect t="-31" b="-31"/>
          <a:stretch/>
        </p:blipFill>
        <p:spPr>
          <a:xfrm>
            <a:off x="889000" y="2349500"/>
            <a:ext cx="10414000" cy="1587500"/>
          </a:xfrm>
          <a:prstGeom prst="rect">
            <a:avLst/>
          </a:prstGeom>
        </p:spPr>
      </p:pic>
      <p:sp>
        <p:nvSpPr>
          <p:cNvPr id="5" name="Text 2"/>
          <p:cNvSpPr/>
          <p:nvPr/>
        </p:nvSpPr>
        <p:spPr>
          <a:xfrm>
            <a:off x="852805" y="4064000"/>
            <a:ext cx="2485390"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2A4A"/>
                </a:solidFill>
                <a:latin typeface="Oswald" pitchFamily="34" charset="0"/>
                <a:ea typeface="Oswald" pitchFamily="34" charset="-122"/>
                <a:cs typeface="Oswald" pitchFamily="34" charset="-120"/>
              </a:rPr>
              <a:t>A</a:t>
            </a:r>
            <a:endParaRPr lang="en-US" sz="2200" dirty="0"/>
          </a:p>
        </p:txBody>
      </p:sp>
      <p:sp>
        <p:nvSpPr>
          <p:cNvPr id="6" name="Text 3"/>
          <p:cNvSpPr/>
          <p:nvPr/>
        </p:nvSpPr>
        <p:spPr>
          <a:xfrm>
            <a:off x="3456305" y="4064000"/>
            <a:ext cx="2485390"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2A4A"/>
                </a:solidFill>
                <a:latin typeface="Oswald" pitchFamily="34" charset="0"/>
                <a:ea typeface="Oswald" pitchFamily="34" charset="-122"/>
                <a:cs typeface="Oswald" pitchFamily="34" charset="-120"/>
              </a:rPr>
              <a:t>B</a:t>
            </a:r>
            <a:endParaRPr lang="en-US" sz="2200" dirty="0"/>
          </a:p>
        </p:txBody>
      </p:sp>
      <p:sp>
        <p:nvSpPr>
          <p:cNvPr id="7" name="Text 4"/>
          <p:cNvSpPr/>
          <p:nvPr/>
        </p:nvSpPr>
        <p:spPr>
          <a:xfrm>
            <a:off x="6059805" y="4064000"/>
            <a:ext cx="2485390"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2A4A"/>
                </a:solidFill>
                <a:latin typeface="Oswald" pitchFamily="34" charset="0"/>
                <a:ea typeface="Oswald" pitchFamily="34" charset="-122"/>
                <a:cs typeface="Oswald" pitchFamily="34" charset="-120"/>
              </a:rPr>
              <a:t>C</a:t>
            </a:r>
            <a:endParaRPr lang="en-US" sz="2200" dirty="0"/>
          </a:p>
        </p:txBody>
      </p:sp>
      <p:sp>
        <p:nvSpPr>
          <p:cNvPr id="8" name="Text 5"/>
          <p:cNvSpPr/>
          <p:nvPr/>
        </p:nvSpPr>
        <p:spPr>
          <a:xfrm>
            <a:off x="8663305" y="4064000"/>
            <a:ext cx="2485390" cy="416560"/>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1B2A4A"/>
                </a:solidFill>
                <a:latin typeface="Oswald" pitchFamily="34" charset="0"/>
                <a:ea typeface="Oswald" pitchFamily="34" charset="-122"/>
                <a:cs typeface="Oswald" pitchFamily="34" charset="-120"/>
              </a:rPr>
              <a:t>D</a:t>
            </a:r>
            <a:endParaRPr lang="en-US" sz="2200" dirty="0"/>
          </a:p>
        </p:txBody>
      </p:sp>
      <p:sp>
        <p:nvSpPr>
          <p:cNvPr id="9" name="Text 6"/>
          <p:cNvSpPr/>
          <p:nvPr/>
        </p:nvSpPr>
        <p:spPr>
          <a:xfrm>
            <a:off x="812800" y="48260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4A"/>
                </a:solidFill>
                <a:latin typeface="IBM Plex Sans" pitchFamily="34" charset="0"/>
                <a:ea typeface="IBM Plex Sans" pitchFamily="34" charset="-122"/>
                <a:cs typeface="IBM Plex Sans" pitchFamily="34" charset="-120"/>
              </a:rPr>
              <a:t>Pour chaque forme, racontez l’histoire de l’atelier qui a produit ces pièces.</a:t>
            </a:r>
            <a:endParaRPr lang="en-US" sz="16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A · La variabilité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12800" y="2077721"/>
            <a:ext cx="719455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37E"/>
                </a:solidFill>
                <a:latin typeface="IBM Plex Sans" pitchFamily="34" charset="0"/>
                <a:ea typeface="IBM Plex Sans" pitchFamily="34" charset="-122"/>
                <a:cs typeface="IBM Plex Sans" pitchFamily="34" charset="-120"/>
              </a:rPr>
              <a:t>L’IMAGE À GARDER</a:t>
            </a:r>
            <a:endParaRPr lang="en-US" sz="1200" dirty="0"/>
          </a:p>
        </p:txBody>
      </p:sp>
      <p:sp>
        <p:nvSpPr>
          <p:cNvPr id="3" name="Text 1"/>
          <p:cNvSpPr>
            <a:spLocks noGrp="1"/>
          </p:cNvSpPr>
          <p:nvPr>
            <p:ph type="title"/>
          </p:nvPr>
        </p:nvSpPr>
        <p:spPr>
          <a:xfrm>
            <a:off x="812800" y="2545079"/>
            <a:ext cx="7194550" cy="1366520"/>
          </a:xfrm>
          <a:prstGeom prst="rect">
            <a:avLst/>
          </a:prstGeom>
          <a:noFill/>
          <a:ln/>
        </p:spPr>
        <p:txBody>
          <a:bodyPr wrap="square" lIns="0" tIns="0" rIns="0" bIns="0" rtlCol="0" anchor="t">
            <a:normAutofit/>
          </a:bodyPr>
          <a:lstStyle/>
          <a:p>
            <a:pPr marL="0" indent="0" algn="l">
              <a:lnSpc>
                <a:spcPts val="5280"/>
              </a:lnSpc>
              <a:buNone/>
            </a:pPr>
            <a:r>
              <a:rPr lang="en-US" sz="4800" b="0" i="0" dirty="0">
                <a:solidFill>
                  <a:srgbClr val="F7F5F0"/>
                </a:solidFill>
                <a:latin typeface="Oswald" pitchFamily="34" charset="0"/>
                <a:ea typeface="Oswald" pitchFamily="34" charset="-122"/>
                <a:cs typeface="Oswald" pitchFamily="34" charset="-120"/>
              </a:rPr>
              <a:t>La tolérance est le garage. Le procédé est la voiture.</a:t>
            </a:r>
            <a:endParaRPr lang="en-US" sz="4800" dirty="0"/>
          </a:p>
        </p:txBody>
      </p:sp>
      <p:sp>
        <p:nvSpPr>
          <p:cNvPr id="4" name="Text 2"/>
          <p:cNvSpPr/>
          <p:nvPr/>
        </p:nvSpPr>
        <p:spPr>
          <a:xfrm>
            <a:off x="812800" y="4140200"/>
            <a:ext cx="719455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client fixe la largeur du garage. L’atelier fabrique la voiture. La capabilité dit si elle rentre, et si elle est garée au milieu.</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CP</a:t>
            </a:r>
            <a:endParaRPr lang="en-US" sz="1200" dirty="0"/>
          </a:p>
        </p:txBody>
      </p:sp>
      <p:sp>
        <p:nvSpPr>
          <p:cNvPr id="13"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CP</a:t>
            </a:r>
            <a:endParaRPr lang="en-US" sz="1200" dirty="0"/>
          </a:p>
        </p:txBody>
      </p:sp>
      <p:sp>
        <p:nvSpPr>
          <p:cNvPr id="3" name="Text 1"/>
          <p:cNvSpPr>
            <a:spLocks noGrp="1"/>
          </p:cNvSpPr>
          <p:nvPr>
            <p:ph type="title"/>
          </p:nvPr>
        </p:nvSpPr>
        <p:spPr>
          <a:xfrm>
            <a:off x="812800" y="12801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Cp : la voiture rentre-t-elle dans le garage ?</a:t>
            </a:r>
            <a:endParaRPr lang="en-US" sz="3600" dirty="0"/>
          </a:p>
        </p:txBody>
      </p:sp>
      <p:pic>
        <p:nvPicPr>
          <p:cNvPr id="4" name="Image 0" descr="Garage large avec une voiture plus étroite, centrée"/>
          <p:cNvPicPr>
            <a:picLocks noChangeAspect="1"/>
          </p:cNvPicPr>
          <p:nvPr/>
        </p:nvPicPr>
        <p:blipFill>
          <a:blip r:embed="rId3"/>
          <a:srcRect/>
          <a:stretch/>
        </p:blipFill>
        <p:spPr>
          <a:xfrm>
            <a:off x="812800" y="2413000"/>
            <a:ext cx="6223000" cy="2286000"/>
          </a:xfrm>
          <a:prstGeom prst="rect">
            <a:avLst/>
          </a:prstGeom>
        </p:spPr>
      </p:pic>
      <p:sp>
        <p:nvSpPr>
          <p:cNvPr id="5" name="Text 2"/>
          <p:cNvSpPr/>
          <p:nvPr/>
        </p:nvSpPr>
        <p:spPr>
          <a:xfrm>
            <a:off x="719455" y="2032000"/>
            <a:ext cx="6409690" cy="238760"/>
          </a:xfrm>
          <a:prstGeom prst="rect">
            <a:avLst/>
          </a:prstGeom>
          <a:noFill/>
          <a:ln/>
        </p:spPr>
        <p:txBody>
          <a:bodyPr wrap="square" lIns="0" tIns="0" rIns="0" bIns="0" rtlCol="0" anchor="t">
            <a:normAutofit/>
          </a:bodyPr>
          <a:lstStyle/>
          <a:p>
            <a:pPr marL="0" indent="0" algn="ctr">
              <a:lnSpc>
                <a:spcPts val="1680"/>
              </a:lnSpc>
              <a:buNone/>
            </a:pPr>
            <a:r>
              <a:rPr lang="en-US" sz="1400" b="1" dirty="0">
                <a:solidFill>
                  <a:srgbClr val="1B2A4A"/>
                </a:solidFill>
                <a:latin typeface="IBM Plex Sans" pitchFamily="34" charset="0"/>
                <a:ea typeface="IBM Plex Sans" pitchFamily="34" charset="-122"/>
                <a:cs typeface="IBM Plex Sans" pitchFamily="34" charset="-120"/>
              </a:rPr>
              <a:t>largeur du garage = IT (tolérance)</a:t>
            </a:r>
            <a:endParaRPr lang="en-US" sz="1400" dirty="0"/>
          </a:p>
        </p:txBody>
      </p:sp>
      <p:sp>
        <p:nvSpPr>
          <p:cNvPr id="6" name="Text 3"/>
          <p:cNvSpPr/>
          <p:nvPr/>
        </p:nvSpPr>
        <p:spPr>
          <a:xfrm>
            <a:off x="1700530" y="4572000"/>
            <a:ext cx="4447540" cy="238760"/>
          </a:xfrm>
          <a:prstGeom prst="rect">
            <a:avLst/>
          </a:prstGeom>
          <a:noFill/>
          <a:ln/>
        </p:spPr>
        <p:txBody>
          <a:bodyPr wrap="square" lIns="0" tIns="0" rIns="0" bIns="0" rtlCol="0" anchor="t">
            <a:normAutofit/>
          </a:bodyPr>
          <a:lstStyle/>
          <a:p>
            <a:pPr marL="0" indent="0" algn="ctr">
              <a:lnSpc>
                <a:spcPts val="1680"/>
              </a:lnSpc>
              <a:buNone/>
            </a:pPr>
            <a:r>
              <a:rPr lang="en-US" sz="1400" b="1" dirty="0">
                <a:solidFill>
                  <a:srgbClr val="2E6DA4"/>
                </a:solidFill>
                <a:latin typeface="IBM Plex Sans" pitchFamily="34" charset="0"/>
                <a:ea typeface="IBM Plex Sans" pitchFamily="34" charset="-122"/>
                <a:cs typeface="IBM Plex Sans" pitchFamily="34" charset="-120"/>
              </a:rPr>
              <a:t>largeur de la voiture = 6 écarts-types</a:t>
            </a:r>
            <a:endParaRPr lang="en-US" sz="1400" dirty="0"/>
          </a:p>
        </p:txBody>
      </p:sp>
      <p:sp>
        <p:nvSpPr>
          <p:cNvPr id="7" name="Text 4"/>
          <p:cNvSpPr/>
          <p:nvPr/>
        </p:nvSpPr>
        <p:spPr>
          <a:xfrm>
            <a:off x="7626350" y="2165350"/>
            <a:ext cx="3746500" cy="967740"/>
          </a:xfrm>
          <a:prstGeom prst="roundRect">
            <a:avLst>
              <a:gd name="adj" fmla="val 9843"/>
            </a:avLst>
          </a:prstGeom>
          <a:solidFill>
            <a:srgbClr val="FFFFFF"/>
          </a:solidFill>
          <a:ln w="12700">
            <a:solidFill>
              <a:srgbClr val="D5DCE6"/>
            </a:solidFill>
            <a:prstDash val="solid"/>
          </a:ln>
        </p:spPr>
        <p:txBody>
          <a:bodyPr wrap="square" lIns="157903" tIns="207052" rIns="157903" bIns="181652" rtlCol="0" anchor="t">
            <a:normAutofit/>
          </a:bodyPr>
          <a:lstStyle/>
          <a:p>
            <a:pPr marL="0" indent="0" algn="ctr">
              <a:lnSpc>
                <a:spcPts val="3920"/>
              </a:lnSpc>
              <a:buNone/>
            </a:pPr>
            <a:r>
              <a:rPr lang="en-US" sz="2800" dirty="0">
                <a:solidFill>
                  <a:srgbClr val="1B2A4A"/>
                </a:solidFill>
                <a:latin typeface="Oswald" pitchFamily="34" charset="0"/>
                <a:ea typeface="Oswald" pitchFamily="34" charset="-122"/>
                <a:cs typeface="Oswald" pitchFamily="34" charset="-120"/>
              </a:rPr>
              <a:t>Cp = IT / 6σ</a:t>
            </a:r>
            <a:endParaRPr lang="en-US" sz="2800" dirty="0"/>
          </a:p>
        </p:txBody>
      </p:sp>
      <p:sp>
        <p:nvSpPr>
          <p:cNvPr id="8" name="Text 5"/>
          <p:cNvSpPr/>
          <p:nvPr/>
        </p:nvSpPr>
        <p:spPr>
          <a:xfrm>
            <a:off x="7620000" y="3317242"/>
            <a:ext cx="38719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1 : la voiture touche les deux murs.</a:t>
            </a:r>
            <a:endParaRPr lang="en-US" sz="1500" dirty="0"/>
          </a:p>
        </p:txBody>
      </p:sp>
      <p:sp>
        <p:nvSpPr>
          <p:cNvPr id="9" name="Text 6"/>
          <p:cNvSpPr/>
          <p:nvPr/>
        </p:nvSpPr>
        <p:spPr>
          <a:xfrm>
            <a:off x="7620000" y="3761742"/>
            <a:ext cx="38719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Cp = 2 : il reste une voiture de marge.</a:t>
            </a:r>
            <a:endParaRPr lang="en-US" sz="1500" dirty="0"/>
          </a:p>
        </p:txBody>
      </p:sp>
      <p:sp>
        <p:nvSpPr>
          <p:cNvPr id="10" name="Text 7"/>
          <p:cNvSpPr/>
          <p:nvPr/>
        </p:nvSpPr>
        <p:spPr>
          <a:xfrm>
            <a:off x="7620000" y="4206242"/>
            <a:ext cx="38719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0F"/>
                </a:solidFill>
                <a:latin typeface="IBM Plex Sans" pitchFamily="34" charset="0"/>
                <a:ea typeface="IBM Plex Sans" pitchFamily="34" charset="-122"/>
                <a:cs typeface="IBM Plex Sans" pitchFamily="34" charset="-120"/>
              </a:rPr>
              <a:t>Cp ne regarde pas où la voiture est garée.</a:t>
            </a:r>
            <a:endParaRPr lang="en-US" sz="1500" dirty="0"/>
          </a:p>
        </p:txBody>
      </p:sp>
      <p:sp>
        <p:nvSpPr>
          <p:cNvPr id="11" name="Text 8"/>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CPK</a:t>
            </a:r>
            <a:endParaRPr lang="en-US" sz="1200" dirty="0"/>
          </a:p>
        </p:txBody>
      </p:sp>
      <p:sp>
        <p:nvSpPr>
          <p:cNvPr id="11"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CPK</a:t>
            </a:r>
            <a:endParaRPr lang="en-US" sz="1200" dirty="0"/>
          </a:p>
        </p:txBody>
      </p:sp>
      <p:sp>
        <p:nvSpPr>
          <p:cNvPr id="3" name="Text 1"/>
          <p:cNvSpPr>
            <a:spLocks noGrp="1"/>
          </p:cNvSpPr>
          <p:nvPr>
            <p:ph type="title"/>
          </p:nvPr>
        </p:nvSpPr>
        <p:spPr>
          <a:xfrm>
            <a:off x="812800" y="12801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Cpk : la voiture est-elle garée au milieu ?</a:t>
            </a:r>
            <a:endParaRPr lang="en-US" sz="3600" dirty="0"/>
          </a:p>
        </p:txBody>
      </p:sp>
      <p:pic>
        <p:nvPicPr>
          <p:cNvPr id="4" name="Image 0" descr="Même garage, voiture décalée vers le mur de droite"/>
          <p:cNvPicPr>
            <a:picLocks noChangeAspect="1"/>
          </p:cNvPicPr>
          <p:nvPr/>
        </p:nvPicPr>
        <p:blipFill>
          <a:blip r:embed="rId3"/>
          <a:srcRect/>
          <a:stretch/>
        </p:blipFill>
        <p:spPr>
          <a:xfrm>
            <a:off x="812800" y="2413000"/>
            <a:ext cx="6223000" cy="2286000"/>
          </a:xfrm>
          <a:prstGeom prst="rect">
            <a:avLst/>
          </a:prstGeom>
        </p:spPr>
      </p:pic>
      <p:sp>
        <p:nvSpPr>
          <p:cNvPr id="5" name="Text 2"/>
          <p:cNvSpPr/>
          <p:nvPr/>
        </p:nvSpPr>
        <p:spPr>
          <a:xfrm>
            <a:off x="5610225" y="2032000"/>
            <a:ext cx="1962150" cy="223520"/>
          </a:xfrm>
          <a:prstGeom prst="rect">
            <a:avLst/>
          </a:prstGeom>
          <a:noFill/>
          <a:ln/>
        </p:spPr>
        <p:txBody>
          <a:bodyPr wrap="square" lIns="0" tIns="0" rIns="0" bIns="0" rtlCol="0" anchor="t">
            <a:normAutofit/>
          </a:bodyPr>
          <a:lstStyle/>
          <a:p>
            <a:pPr marL="0" indent="0" algn="ctr">
              <a:lnSpc>
                <a:spcPts val="1560"/>
              </a:lnSpc>
              <a:buNone/>
            </a:pPr>
            <a:r>
              <a:rPr lang="en-US" sz="1300" b="1" dirty="0">
                <a:solidFill>
                  <a:srgbClr val="B4530F"/>
                </a:solidFill>
                <a:latin typeface="IBM Plex Sans" pitchFamily="34" charset="0"/>
                <a:ea typeface="IBM Plex Sans" pitchFamily="34" charset="-122"/>
                <a:cs typeface="IBM Plex Sans" pitchFamily="34" charset="-120"/>
              </a:rPr>
              <a:t>mur le plus proche</a:t>
            </a:r>
            <a:endParaRPr lang="en-US" sz="1300" dirty="0"/>
          </a:p>
        </p:txBody>
      </p:sp>
      <p:sp>
        <p:nvSpPr>
          <p:cNvPr id="6" name="Text 3"/>
          <p:cNvSpPr/>
          <p:nvPr/>
        </p:nvSpPr>
        <p:spPr>
          <a:xfrm>
            <a:off x="7626350" y="2165350"/>
            <a:ext cx="3746500" cy="1130300"/>
          </a:xfrm>
          <a:prstGeom prst="roundRect">
            <a:avLst>
              <a:gd name="adj" fmla="val 8427"/>
            </a:avLst>
          </a:prstGeom>
          <a:solidFill>
            <a:srgbClr val="FFFFFF"/>
          </a:solidFill>
          <a:ln w="12700">
            <a:solidFill>
              <a:srgbClr val="D5DCE6"/>
            </a:solidFill>
            <a:prstDash val="solid"/>
          </a:ln>
        </p:spPr>
        <p:txBody>
          <a:bodyPr wrap="square" lIns="157903" tIns="207052" rIns="157903" bIns="181652" rtlCol="0" anchor="t">
            <a:normAutofit/>
          </a:bodyPr>
          <a:lstStyle/>
          <a:p>
            <a:pPr marL="0" indent="0" algn="ctr">
              <a:lnSpc>
                <a:spcPts val="2600"/>
              </a:lnSpc>
              <a:buNone/>
            </a:pPr>
            <a:r>
              <a:rPr lang="en-US" sz="2000" dirty="0">
                <a:solidFill>
                  <a:srgbClr val="1B2A4A"/>
                </a:solidFill>
                <a:latin typeface="Oswald" pitchFamily="34" charset="0"/>
                <a:ea typeface="Oswald" pitchFamily="34" charset="-122"/>
                <a:cs typeface="Oswald" pitchFamily="34" charset="-120"/>
              </a:rPr>
              <a:t>Cpk = distance au mur le plus proche / 3σ</a:t>
            </a:r>
            <a:endParaRPr lang="en-US" sz="2000" dirty="0"/>
          </a:p>
        </p:txBody>
      </p:sp>
      <p:sp>
        <p:nvSpPr>
          <p:cNvPr id="7" name="Text 4"/>
          <p:cNvSpPr/>
          <p:nvPr/>
        </p:nvSpPr>
        <p:spPr>
          <a:xfrm>
            <a:off x="7620000" y="3479800"/>
            <a:ext cx="38719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mesure depuis le milieu de la voiture (la moyenne) jusqu’au mur le plus proche.</a:t>
            </a:r>
            <a:endParaRPr lang="en-US" sz="1500" dirty="0"/>
          </a:p>
        </p:txBody>
      </p:sp>
      <p:sp>
        <p:nvSpPr>
          <p:cNvPr id="8" name="Text 5"/>
          <p:cNvSpPr/>
          <p:nvPr/>
        </p:nvSpPr>
        <p:spPr>
          <a:xfrm>
            <a:off x="7620000" y="4191000"/>
            <a:ext cx="38719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530F"/>
                </a:solidFill>
                <a:latin typeface="IBM Plex Sans" pitchFamily="34" charset="0"/>
                <a:ea typeface="IBM Plex Sans" pitchFamily="34" charset="-122"/>
                <a:cs typeface="IBM Plex Sans" pitchFamily="34" charset="-120"/>
              </a:rPr>
              <a:t>Cpk est toujours inférieur ou égal à Cp. Égal si on est centré.</a:t>
            </a:r>
            <a:endParaRPr lang="en-US" sz="15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LES QUATRE SITUATIONS</a:t>
            </a:r>
            <a:endParaRPr lang="en-US" sz="1200" dirty="0"/>
          </a:p>
        </p:txBody>
      </p:sp>
      <p:sp>
        <p:nvSpPr>
          <p:cNvPr id="3" name="Text 1"/>
          <p:cNvSpPr>
            <a:spLocks noGrp="1"/>
          </p:cNvSpPr>
          <p:nvPr>
            <p:ph type="title"/>
          </p:nvPr>
        </p:nvSpPr>
        <p:spPr>
          <a:xfrm>
            <a:off x="812800" y="12801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Même garage, quatre voitures</a:t>
            </a:r>
            <a:endParaRPr lang="en-US" sz="3600" dirty="0"/>
          </a:p>
        </p:txBody>
      </p:sp>
      <p:pic>
        <p:nvPicPr>
          <p:cNvPr id="4" name="Image 0" descr="Quatre cas : étroit et centré, étroit et décalé, large et centré, large et décalé"/>
          <p:cNvPicPr>
            <a:picLocks noChangeAspect="1"/>
          </p:cNvPicPr>
          <p:nvPr/>
        </p:nvPicPr>
        <p:blipFill>
          <a:blip r:embed="rId3"/>
          <a:srcRect l="-20" r="-20"/>
          <a:stretch/>
        </p:blipFill>
        <p:spPr>
          <a:xfrm>
            <a:off x="812800" y="2095500"/>
            <a:ext cx="10566400" cy="1016000"/>
          </a:xfrm>
          <a:prstGeom prst="rect">
            <a:avLst/>
          </a:prstGeom>
        </p:spPr>
      </p:pic>
      <p:sp>
        <p:nvSpPr>
          <p:cNvPr id="5" name="Text 2"/>
          <p:cNvSpPr/>
          <p:nvPr/>
        </p:nvSpPr>
        <p:spPr>
          <a:xfrm>
            <a:off x="812800" y="3302000"/>
            <a:ext cx="2563876" cy="288290"/>
          </a:xfrm>
          <a:prstGeom prst="rect">
            <a:avLst/>
          </a:prstGeom>
          <a:noFill/>
          <a:ln/>
        </p:spPr>
        <p:txBody>
          <a:bodyPr wrap="square" lIns="0" tIns="0" rIns="0" bIns="0" rtlCol="0" anchor="t">
            <a:normAutofit/>
          </a:bodyPr>
          <a:lstStyle/>
          <a:p>
            <a:pPr marL="0" indent="0" algn="l">
              <a:lnSpc>
                <a:spcPts val="2070"/>
              </a:lnSpc>
              <a:buNone/>
            </a:pPr>
            <a:r>
              <a:rPr lang="en-US" sz="1800" dirty="0">
                <a:solidFill>
                  <a:srgbClr val="2F7D4F"/>
                </a:solidFill>
                <a:latin typeface="Oswald" pitchFamily="34" charset="0"/>
                <a:ea typeface="Oswald" pitchFamily="34" charset="-122"/>
                <a:cs typeface="Oswald" pitchFamily="34" charset="-120"/>
              </a:rPr>
              <a:t>Capable</a:t>
            </a:r>
            <a:endParaRPr lang="en-US" sz="1800" dirty="0"/>
          </a:p>
        </p:txBody>
      </p:sp>
      <p:sp>
        <p:nvSpPr>
          <p:cNvPr id="6" name="Text 3"/>
          <p:cNvSpPr/>
          <p:nvPr/>
        </p:nvSpPr>
        <p:spPr>
          <a:xfrm>
            <a:off x="812800" y="3641092"/>
            <a:ext cx="256387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bon. On surveille.</a:t>
            </a:r>
            <a:endParaRPr lang="en-US" sz="1400" dirty="0"/>
          </a:p>
        </p:txBody>
      </p:sp>
      <p:sp>
        <p:nvSpPr>
          <p:cNvPr id="7" name="Text 4"/>
          <p:cNvSpPr/>
          <p:nvPr/>
        </p:nvSpPr>
        <p:spPr>
          <a:xfrm>
            <a:off x="3505200" y="3302000"/>
            <a:ext cx="2563876" cy="288290"/>
          </a:xfrm>
          <a:prstGeom prst="rect">
            <a:avLst/>
          </a:prstGeom>
          <a:noFill/>
          <a:ln/>
        </p:spPr>
        <p:txBody>
          <a:bodyPr wrap="square" lIns="0" tIns="0" rIns="0" bIns="0" rtlCol="0" anchor="t">
            <a:normAutofit/>
          </a:bodyPr>
          <a:lstStyle/>
          <a:p>
            <a:pPr marL="0" indent="0" algn="l">
              <a:lnSpc>
                <a:spcPts val="2070"/>
              </a:lnSpc>
              <a:buNone/>
            </a:pPr>
            <a:r>
              <a:rPr lang="en-US" sz="1800" dirty="0">
                <a:solidFill>
                  <a:srgbClr val="8A5A00"/>
                </a:solidFill>
                <a:latin typeface="Oswald" pitchFamily="34" charset="0"/>
                <a:ea typeface="Oswald" pitchFamily="34" charset="-122"/>
                <a:cs typeface="Oswald" pitchFamily="34" charset="-120"/>
              </a:rPr>
              <a:t>À recentrer</a:t>
            </a:r>
            <a:endParaRPr lang="en-US" sz="1800" dirty="0"/>
          </a:p>
        </p:txBody>
      </p:sp>
      <p:sp>
        <p:nvSpPr>
          <p:cNvPr id="8" name="Text 5"/>
          <p:cNvSpPr/>
          <p:nvPr/>
        </p:nvSpPr>
        <p:spPr>
          <a:xfrm>
            <a:off x="3505200" y="3641092"/>
            <a:ext cx="256387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bon, Cpk faible. Un réglage suffit.</a:t>
            </a:r>
            <a:endParaRPr lang="en-US" sz="1400" dirty="0"/>
          </a:p>
        </p:txBody>
      </p:sp>
      <p:sp>
        <p:nvSpPr>
          <p:cNvPr id="9" name="Text 6"/>
          <p:cNvSpPr/>
          <p:nvPr/>
        </p:nvSpPr>
        <p:spPr>
          <a:xfrm>
            <a:off x="6197600" y="3302000"/>
            <a:ext cx="2563876" cy="288290"/>
          </a:xfrm>
          <a:prstGeom prst="rect">
            <a:avLst/>
          </a:prstGeom>
          <a:noFill/>
          <a:ln/>
        </p:spPr>
        <p:txBody>
          <a:bodyPr wrap="square" lIns="0" tIns="0" rIns="0" bIns="0" rtlCol="0" anchor="t">
            <a:normAutofit/>
          </a:bodyPr>
          <a:lstStyle/>
          <a:p>
            <a:pPr marL="0" indent="0" algn="l">
              <a:lnSpc>
                <a:spcPts val="2070"/>
              </a:lnSpc>
              <a:buNone/>
            </a:pPr>
            <a:r>
              <a:rPr lang="en-US" sz="1800" dirty="0">
                <a:solidFill>
                  <a:srgbClr val="B42318"/>
                </a:solidFill>
                <a:latin typeface="Oswald" pitchFamily="34" charset="0"/>
                <a:ea typeface="Oswald" pitchFamily="34" charset="-122"/>
                <a:cs typeface="Oswald" pitchFamily="34" charset="-120"/>
              </a:rPr>
              <a:t>Trop dispersé</a:t>
            </a:r>
            <a:endParaRPr lang="en-US" sz="1800" dirty="0"/>
          </a:p>
        </p:txBody>
      </p:sp>
      <p:sp>
        <p:nvSpPr>
          <p:cNvPr id="10" name="Text 7"/>
          <p:cNvSpPr/>
          <p:nvPr/>
        </p:nvSpPr>
        <p:spPr>
          <a:xfrm>
            <a:off x="6197600" y="3641092"/>
            <a:ext cx="256387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faible. Régler ne suffit pas.</a:t>
            </a:r>
            <a:endParaRPr lang="en-US" sz="1400" dirty="0"/>
          </a:p>
        </p:txBody>
      </p:sp>
      <p:sp>
        <p:nvSpPr>
          <p:cNvPr id="11" name="Text 8"/>
          <p:cNvSpPr/>
          <p:nvPr/>
        </p:nvSpPr>
        <p:spPr>
          <a:xfrm>
            <a:off x="8890000" y="3302000"/>
            <a:ext cx="2563876" cy="288290"/>
          </a:xfrm>
          <a:prstGeom prst="rect">
            <a:avLst/>
          </a:prstGeom>
          <a:noFill/>
          <a:ln/>
        </p:spPr>
        <p:txBody>
          <a:bodyPr wrap="square" lIns="0" tIns="0" rIns="0" bIns="0" rtlCol="0" anchor="t">
            <a:normAutofit/>
          </a:bodyPr>
          <a:lstStyle/>
          <a:p>
            <a:pPr marL="0" indent="0" algn="l">
              <a:lnSpc>
                <a:spcPts val="2070"/>
              </a:lnSpc>
              <a:buNone/>
            </a:pPr>
            <a:r>
              <a:rPr lang="en-US" sz="1800" dirty="0">
                <a:solidFill>
                  <a:srgbClr val="B42318"/>
                </a:solidFill>
                <a:latin typeface="Oswald" pitchFamily="34" charset="0"/>
                <a:ea typeface="Oswald" pitchFamily="34" charset="-122"/>
                <a:cs typeface="Oswald" pitchFamily="34" charset="-120"/>
              </a:rPr>
              <a:t>Les deux</a:t>
            </a:r>
            <a:endParaRPr lang="en-US" sz="1800" dirty="0"/>
          </a:p>
        </p:txBody>
      </p:sp>
      <p:sp>
        <p:nvSpPr>
          <p:cNvPr id="12" name="Text 9"/>
          <p:cNvSpPr/>
          <p:nvPr/>
        </p:nvSpPr>
        <p:spPr>
          <a:xfrm>
            <a:off x="8890000" y="3641092"/>
            <a:ext cx="256387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Cp et Cpk faibles. Réduire la dispersion, puis recentrer.</a:t>
            </a:r>
            <a:endParaRPr lang="en-US" sz="1400" dirty="0"/>
          </a:p>
        </p:txBody>
      </p:sp>
      <p:sp>
        <p:nvSpPr>
          <p:cNvPr id="13" name="Text 10"/>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COMBIEN DE PIÈCES HORS TOLÉRANCE ?</a:t>
            </a:r>
            <a:endParaRPr lang="en-US" sz="1200" dirty="0"/>
          </a:p>
        </p:txBody>
      </p:sp>
      <p:sp>
        <p:nvSpPr>
          <p:cNvPr id="3" name="Text 1"/>
          <p:cNvSpPr>
            <a:spLocks noGrp="1"/>
          </p:cNvSpPr>
          <p:nvPr>
            <p:ph type="title"/>
          </p:nvPr>
        </p:nvSpPr>
        <p:spPr>
          <a:xfrm>
            <a:off x="812800" y="12801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Ce que veut dire un Cpk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768455521"/>
              </p:ext>
            </p:extLst>
          </p:nvPr>
        </p:nvGraphicFramePr>
        <p:xfrm>
          <a:off x="825500" y="2049779"/>
          <a:ext cx="10553700" cy="2197100"/>
        </p:xfrm>
        <a:graphic>
          <a:graphicData uri="http://schemas.openxmlformats.org/drawingml/2006/table">
            <a:tbl>
              <a:tblPr/>
              <a:tblGrid>
                <a:gridCol w="2321814">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439420">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Cpk</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Mur le plus proche à…</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Pièces hors tolérance de ce côté</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1,00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3 écarts-types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 1 350 par million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1,33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4 écarts-types</a:t>
                      </a:r>
                      <a:endParaRPr lang="en-US" sz="1600" dirty="0">
                        <a:latin typeface="IBM Plex Sans" charset="0"/>
                        <a:ea typeface="IBM Plex Sans" charset="0"/>
                        <a:cs typeface="IBM Plex Sans" charset="0"/>
                      </a:endParaRPr>
                    </a:p>
                  </a:txBody>
                  <a:tcPr marL="71120" marR="71120" marT="71120" marB="71120">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 32 par million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extLst>
                  <a:ext uri="{0D108BD9-81ED-4DB2-BD59-A6C34878D82A}">
                    <a16:rowId xmlns:a16="http://schemas.microsoft.com/office/drawing/2014/main" val="10002"/>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1,67</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5 écarts-types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0,3 par million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2,00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6 écarts-types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 0,001 par million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500879"/>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Seuils courants : 1,33 pour un procédé, 1,67 pour une machine. Votre client peut exiger autre chose : c’est lui qui fixe la barre.</a:t>
            </a:r>
            <a:endParaRPr lang="en-US" sz="1500" dirty="0"/>
          </a:p>
        </p:txBody>
      </p:sp>
      <p:sp>
        <p:nvSpPr>
          <p:cNvPr id="6" name="Text 3"/>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MACHINE OU PROCÉDÉ ?</a:t>
            </a:r>
            <a:endParaRPr lang="en-US" sz="1200" dirty="0"/>
          </a:p>
        </p:txBody>
      </p:sp>
      <p:sp>
        <p:nvSpPr>
          <p:cNvPr id="3" name="Text 1"/>
          <p:cNvSpPr>
            <a:spLocks noGrp="1"/>
          </p:cNvSpPr>
          <p:nvPr>
            <p:ph type="title"/>
          </p:nvPr>
        </p:nvSpPr>
        <p:spPr>
          <a:xfrm>
            <a:off x="812800" y="1280164"/>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Cm, Cmk : la machine seule. Cp, Cpk : le procédé dans la durée.</a:t>
            </a:r>
            <a:endParaRPr lang="en-US" sz="3600" dirty="0"/>
          </a:p>
        </p:txBody>
      </p:sp>
      <p:sp>
        <p:nvSpPr>
          <p:cNvPr id="4" name="Shape 2"/>
          <p:cNvSpPr/>
          <p:nvPr/>
        </p:nvSpPr>
        <p:spPr>
          <a:xfrm>
            <a:off x="819150" y="2546350"/>
            <a:ext cx="5168900" cy="2498090"/>
          </a:xfrm>
          <a:prstGeom prst="roundRect">
            <a:avLst>
              <a:gd name="adj" fmla="val 3813"/>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79500" y="2806700"/>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2E6DA4"/>
                </a:solidFill>
                <a:latin typeface="Oswald" pitchFamily="34" charset="0"/>
                <a:ea typeface="Oswald" pitchFamily="34" charset="-122"/>
                <a:cs typeface="Oswald" pitchFamily="34" charset="-120"/>
              </a:rPr>
              <a:t>Machine · Cm, Cmk</a:t>
            </a:r>
            <a:endParaRPr lang="en-US" sz="2200" dirty="0"/>
          </a:p>
        </p:txBody>
      </p:sp>
      <p:sp>
        <p:nvSpPr>
          <p:cNvPr id="6" name="Text 4"/>
          <p:cNvSpPr/>
          <p:nvPr/>
        </p:nvSpPr>
        <p:spPr>
          <a:xfrm>
            <a:off x="1079500" y="3229614"/>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Une courte série produite d’affilée, sans retouche du réglage (souvent 50 pièces).</a:t>
            </a:r>
            <a:endParaRPr lang="en-US" sz="1500" dirty="0"/>
          </a:p>
        </p:txBody>
      </p:sp>
      <p:sp>
        <p:nvSpPr>
          <p:cNvPr id="7" name="Text 5"/>
          <p:cNvSpPr/>
          <p:nvPr/>
        </p:nvSpPr>
        <p:spPr>
          <a:xfrm>
            <a:off x="1079500" y="3864614"/>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Une seule matière, un seul opérateur, peu de temps : on voit la machine.</a:t>
            </a:r>
            <a:endParaRPr lang="en-US" sz="1500" dirty="0"/>
          </a:p>
        </p:txBody>
      </p:sp>
      <p:sp>
        <p:nvSpPr>
          <p:cNvPr id="8" name="Text 6"/>
          <p:cNvSpPr/>
          <p:nvPr/>
        </p:nvSpPr>
        <p:spPr>
          <a:xfrm>
            <a:off x="1079500" y="4499614"/>
            <a:ext cx="478764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1,67</a:t>
            </a:r>
            <a:endParaRPr lang="en-US" sz="1600" dirty="0"/>
          </a:p>
        </p:txBody>
      </p:sp>
      <p:sp>
        <p:nvSpPr>
          <p:cNvPr id="9" name="Shape 7"/>
          <p:cNvSpPr/>
          <p:nvPr/>
        </p:nvSpPr>
        <p:spPr>
          <a:xfrm>
            <a:off x="6203950" y="2546350"/>
            <a:ext cx="5168900" cy="2498090"/>
          </a:xfrm>
          <a:prstGeom prst="roundRect">
            <a:avLst>
              <a:gd name="adj" fmla="val 3813"/>
            </a:avLst>
          </a:prstGeom>
          <a:solidFill>
            <a:srgbClr val="FFFFFF"/>
          </a:solidFill>
          <a:ln w="12700">
            <a:solidFill>
              <a:srgbClr val="D5DCE6"/>
            </a:solidFill>
            <a:prstDash val="solid"/>
          </a:ln>
        </p:spPr>
        <p:txBody>
          <a:bodyPr/>
          <a:lstStyle/>
          <a:p>
            <a:endParaRPr lang="fr-FR"/>
          </a:p>
        </p:txBody>
      </p:sp>
      <p:sp>
        <p:nvSpPr>
          <p:cNvPr id="10" name="Text 8"/>
          <p:cNvSpPr/>
          <p:nvPr/>
        </p:nvSpPr>
        <p:spPr>
          <a:xfrm>
            <a:off x="6464300" y="2806700"/>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B4530F"/>
                </a:solidFill>
                <a:latin typeface="Oswald" pitchFamily="34" charset="0"/>
                <a:ea typeface="Oswald" pitchFamily="34" charset="-122"/>
                <a:cs typeface="Oswald" pitchFamily="34" charset="-120"/>
              </a:rPr>
              <a:t>Procédé · Cp, Cpk</a:t>
            </a:r>
            <a:endParaRPr lang="en-US" sz="2200" dirty="0"/>
          </a:p>
        </p:txBody>
      </p:sp>
      <p:sp>
        <p:nvSpPr>
          <p:cNvPr id="11" name="Text 9"/>
          <p:cNvSpPr/>
          <p:nvPr/>
        </p:nvSpPr>
        <p:spPr>
          <a:xfrm>
            <a:off x="6464300" y="3229614"/>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Des prélèvements répartis sur des jours ou des semaines.</a:t>
            </a:r>
            <a:endParaRPr lang="en-US" sz="1500" dirty="0"/>
          </a:p>
        </p:txBody>
      </p:sp>
      <p:sp>
        <p:nvSpPr>
          <p:cNvPr id="12" name="Text 10"/>
          <p:cNvSpPr/>
          <p:nvPr/>
        </p:nvSpPr>
        <p:spPr>
          <a:xfrm>
            <a:off x="6464300" y="3864614"/>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Tous les 5M jouent : changements d’outil, de lot, d’équipe.</a:t>
            </a:r>
            <a:endParaRPr lang="en-US" sz="1500" dirty="0"/>
          </a:p>
        </p:txBody>
      </p:sp>
      <p:sp>
        <p:nvSpPr>
          <p:cNvPr id="13" name="Text 11"/>
          <p:cNvSpPr/>
          <p:nvPr/>
        </p:nvSpPr>
        <p:spPr>
          <a:xfrm>
            <a:off x="6464300" y="4499614"/>
            <a:ext cx="478764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Seuil courant : 1,33</a:t>
            </a:r>
            <a:endParaRPr lang="en-US" sz="1600" dirty="0"/>
          </a:p>
        </p:txBody>
      </p:sp>
      <p:sp>
        <p:nvSpPr>
          <p:cNvPr id="14" name="Text 12"/>
          <p:cNvSpPr/>
          <p:nvPr/>
        </p:nvSpPr>
        <p:spPr>
          <a:xfrm>
            <a:off x="812800" y="5304792"/>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4A"/>
                </a:solidFill>
                <a:latin typeface="IBM Plex Sans" pitchFamily="34" charset="0"/>
                <a:ea typeface="IBM Plex Sans" pitchFamily="34" charset="-122"/>
                <a:cs typeface="IBM Plex Sans" pitchFamily="34" charset="-120"/>
              </a:rPr>
              <a:t>La machine est toujours plus capable que le procédé : la durée ajoute de la variabilité.</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DÉCIDER</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Le procédé n’est pas capable : que fait-on ?</a:t>
            </a:r>
            <a:endParaRPr lang="en-US" sz="3600" dirty="0"/>
          </a:p>
        </p:txBody>
      </p:sp>
      <p:sp>
        <p:nvSpPr>
          <p:cNvPr id="4" name="Shape 2"/>
          <p:cNvSpPr/>
          <p:nvPr/>
        </p:nvSpPr>
        <p:spPr>
          <a:xfrm>
            <a:off x="819150" y="2043435"/>
            <a:ext cx="3001407" cy="1791970"/>
          </a:xfrm>
          <a:prstGeom prst="roundRect">
            <a:avLst>
              <a:gd name="adj" fmla="val 5315"/>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79500" y="2303785"/>
            <a:ext cx="25551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Si</a:t>
            </a:r>
            <a:endParaRPr lang="en-US" sz="1200" dirty="0"/>
          </a:p>
        </p:txBody>
      </p:sp>
      <p:sp>
        <p:nvSpPr>
          <p:cNvPr id="6" name="Text 4"/>
          <p:cNvSpPr/>
          <p:nvPr/>
        </p:nvSpPr>
        <p:spPr>
          <a:xfrm>
            <a:off x="1079500" y="2618742"/>
            <a:ext cx="2555128"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2F7D4F"/>
                </a:solidFill>
                <a:latin typeface="Oswald" pitchFamily="34" charset="0"/>
                <a:ea typeface="Oswald" pitchFamily="34" charset="-122"/>
                <a:cs typeface="Oswald" pitchFamily="34" charset="-120"/>
              </a:rPr>
              <a:t>Cpk ≥ seuil</a:t>
            </a:r>
            <a:endParaRPr lang="en-US" sz="2200" dirty="0"/>
          </a:p>
        </p:txBody>
      </p:sp>
      <p:sp>
        <p:nvSpPr>
          <p:cNvPr id="7" name="Text 5"/>
          <p:cNvSpPr/>
          <p:nvPr/>
        </p:nvSpPr>
        <p:spPr>
          <a:xfrm>
            <a:off x="1079500" y="3041650"/>
            <a:ext cx="255512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Capable. On surveille avec une carte.</a:t>
            </a:r>
            <a:endParaRPr lang="en-US" sz="1500" dirty="0"/>
          </a:p>
        </p:txBody>
      </p:sp>
      <p:pic>
        <p:nvPicPr>
          <p:cNvPr id="8" name="Image 0" descr="arrow-right"/>
          <p:cNvPicPr>
            <a:picLocks noChangeAspect="1"/>
          </p:cNvPicPr>
          <p:nvPr/>
        </p:nvPicPr>
        <p:blipFill>
          <a:blip r:embed="rId3"/>
          <a:srcRect/>
          <a:stretch/>
        </p:blipFill>
        <p:spPr>
          <a:xfrm>
            <a:off x="3979307" y="2812417"/>
            <a:ext cx="457200" cy="254000"/>
          </a:xfrm>
          <a:prstGeom prst="rect">
            <a:avLst/>
          </a:prstGeom>
        </p:spPr>
      </p:pic>
      <p:sp>
        <p:nvSpPr>
          <p:cNvPr id="9" name="Shape 6"/>
          <p:cNvSpPr/>
          <p:nvPr/>
        </p:nvSpPr>
        <p:spPr>
          <a:xfrm>
            <a:off x="4595257" y="2043435"/>
            <a:ext cx="3001447" cy="1791970"/>
          </a:xfrm>
          <a:prstGeom prst="roundRect">
            <a:avLst>
              <a:gd name="adj" fmla="val 5315"/>
            </a:avLst>
          </a:prstGeom>
          <a:solidFill>
            <a:srgbClr val="FFFFFF"/>
          </a:solidFill>
          <a:ln w="12700">
            <a:solidFill>
              <a:srgbClr val="D5DCE6"/>
            </a:solidFill>
            <a:prstDash val="solid"/>
          </a:ln>
        </p:spPr>
        <p:txBody>
          <a:bodyPr/>
          <a:lstStyle/>
          <a:p>
            <a:endParaRPr lang="fr-FR"/>
          </a:p>
        </p:txBody>
      </p:sp>
      <p:sp>
        <p:nvSpPr>
          <p:cNvPr id="10" name="Text 7"/>
          <p:cNvSpPr/>
          <p:nvPr/>
        </p:nvSpPr>
        <p:spPr>
          <a:xfrm>
            <a:off x="4855607" y="2303785"/>
            <a:ext cx="25551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 si</a:t>
            </a:r>
            <a:endParaRPr lang="en-US" sz="1200" dirty="0"/>
          </a:p>
        </p:txBody>
      </p:sp>
      <p:sp>
        <p:nvSpPr>
          <p:cNvPr id="11" name="Text 8"/>
          <p:cNvSpPr/>
          <p:nvPr/>
        </p:nvSpPr>
        <p:spPr>
          <a:xfrm>
            <a:off x="4855607" y="2618742"/>
            <a:ext cx="2555169"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8A5A00"/>
                </a:solidFill>
                <a:latin typeface="Oswald" pitchFamily="34" charset="0"/>
                <a:ea typeface="Oswald" pitchFamily="34" charset="-122"/>
                <a:cs typeface="Oswald" pitchFamily="34" charset="-120"/>
              </a:rPr>
              <a:t>Cp ≥ seuil</a:t>
            </a:r>
            <a:endParaRPr lang="en-US" sz="2200" dirty="0"/>
          </a:p>
        </p:txBody>
      </p:sp>
      <p:sp>
        <p:nvSpPr>
          <p:cNvPr id="12" name="Text 9"/>
          <p:cNvSpPr/>
          <p:nvPr/>
        </p:nvSpPr>
        <p:spPr>
          <a:xfrm>
            <a:off x="4855607" y="3041650"/>
            <a:ext cx="2555169"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procédé est bon mais mal réglé. On recentre.</a:t>
            </a:r>
            <a:endParaRPr lang="en-US" sz="1500" dirty="0"/>
          </a:p>
        </p:txBody>
      </p:sp>
      <p:pic>
        <p:nvPicPr>
          <p:cNvPr id="13" name="Image 1" descr="arrow-right"/>
          <p:cNvPicPr>
            <a:picLocks noChangeAspect="1"/>
          </p:cNvPicPr>
          <p:nvPr/>
        </p:nvPicPr>
        <p:blipFill>
          <a:blip r:embed="rId3"/>
          <a:srcRect/>
          <a:stretch/>
        </p:blipFill>
        <p:spPr>
          <a:xfrm>
            <a:off x="7755454" y="2812417"/>
            <a:ext cx="457200" cy="254000"/>
          </a:xfrm>
          <a:prstGeom prst="rect">
            <a:avLst/>
          </a:prstGeom>
        </p:spPr>
      </p:pic>
      <p:sp>
        <p:nvSpPr>
          <p:cNvPr id="14" name="Shape 10"/>
          <p:cNvSpPr/>
          <p:nvPr/>
        </p:nvSpPr>
        <p:spPr>
          <a:xfrm>
            <a:off x="8371404" y="2043435"/>
            <a:ext cx="3001447" cy="1791970"/>
          </a:xfrm>
          <a:prstGeom prst="roundRect">
            <a:avLst>
              <a:gd name="adj" fmla="val 5315"/>
            </a:avLst>
          </a:prstGeom>
          <a:solidFill>
            <a:srgbClr val="FFFFFF"/>
          </a:solidFill>
          <a:ln w="12700">
            <a:solidFill>
              <a:srgbClr val="D5DCE6"/>
            </a:solidFill>
            <a:prstDash val="solid"/>
          </a:ln>
        </p:spPr>
        <p:txBody>
          <a:bodyPr/>
          <a:lstStyle/>
          <a:p>
            <a:endParaRPr lang="fr-FR"/>
          </a:p>
        </p:txBody>
      </p:sp>
      <p:sp>
        <p:nvSpPr>
          <p:cNvPr id="15" name="Text 11"/>
          <p:cNvSpPr/>
          <p:nvPr/>
        </p:nvSpPr>
        <p:spPr>
          <a:xfrm>
            <a:off x="8631754" y="2303785"/>
            <a:ext cx="25551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Sinon</a:t>
            </a:r>
            <a:endParaRPr lang="en-US" sz="1200" dirty="0"/>
          </a:p>
        </p:txBody>
      </p:sp>
      <p:sp>
        <p:nvSpPr>
          <p:cNvPr id="16" name="Text 12"/>
          <p:cNvSpPr/>
          <p:nvPr/>
        </p:nvSpPr>
        <p:spPr>
          <a:xfrm>
            <a:off x="8631754" y="2618742"/>
            <a:ext cx="2555169"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B42318"/>
                </a:solidFill>
                <a:latin typeface="Oswald" pitchFamily="34" charset="0"/>
                <a:ea typeface="Oswald" pitchFamily="34" charset="-122"/>
                <a:cs typeface="Oswald" pitchFamily="34" charset="-120"/>
              </a:rPr>
              <a:t>Cp &lt; seuil</a:t>
            </a:r>
            <a:endParaRPr lang="en-US" sz="2200" dirty="0"/>
          </a:p>
        </p:txBody>
      </p:sp>
      <p:sp>
        <p:nvSpPr>
          <p:cNvPr id="17" name="Text 13"/>
          <p:cNvSpPr/>
          <p:nvPr/>
        </p:nvSpPr>
        <p:spPr>
          <a:xfrm>
            <a:off x="8631754" y="3041650"/>
            <a:ext cx="2555169"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Il faut réduire la dispersion : 5M, maintenance, méthode.</a:t>
            </a:r>
            <a:endParaRPr lang="en-US" sz="1500" dirty="0"/>
          </a:p>
        </p:txBody>
      </p:sp>
      <p:sp>
        <p:nvSpPr>
          <p:cNvPr id="18" name="Text 14"/>
          <p:cNvSpPr/>
          <p:nvPr/>
        </p:nvSpPr>
        <p:spPr>
          <a:xfrm>
            <a:off x="812800" y="4095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En attendant l’amélioration : contrôle renforcé ou tri, décidés avec le client. Le tri ne rend pas le procédé capable.</a:t>
            </a:r>
            <a:endParaRPr lang="en-US" sz="1500" dirty="0"/>
          </a:p>
        </p:txBody>
      </p:sp>
      <p:sp>
        <p:nvSpPr>
          <p:cNvPr id="19" name="Text 15"/>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B · La capabilité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12800" y="1948185"/>
            <a:ext cx="784860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37E"/>
                </a:solidFill>
                <a:latin typeface="IBM Plex Sans" pitchFamily="34" charset="0"/>
                <a:ea typeface="IBM Plex Sans" pitchFamily="34" charset="-122"/>
                <a:cs typeface="IBM Plex Sans" pitchFamily="34" charset="-120"/>
              </a:rPr>
              <a:t>JOUR 2</a:t>
            </a:r>
            <a:endParaRPr lang="en-US" sz="1200" dirty="0"/>
          </a:p>
        </p:txBody>
      </p:sp>
      <p:sp>
        <p:nvSpPr>
          <p:cNvPr id="6" name="Text 0"/>
          <p:cNvSpPr/>
          <p:nvPr/>
        </p:nvSpPr>
        <p:spPr>
          <a:xfrm>
            <a:off x="812800" y="1948185"/>
            <a:ext cx="784860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37E"/>
                </a:solidFill>
                <a:latin typeface="IBM Plex Sans" pitchFamily="34" charset="0"/>
                <a:ea typeface="IBM Plex Sans" pitchFamily="34" charset="-122"/>
                <a:cs typeface="IBM Plex Sans" pitchFamily="34" charset="-120"/>
              </a:rPr>
              <a:t>JOUR 2</a:t>
            </a:r>
            <a:endParaRPr lang="en-US" sz="1200" dirty="0"/>
          </a:p>
        </p:txBody>
      </p:sp>
      <p:sp>
        <p:nvSpPr>
          <p:cNvPr id="3" name="Text 1"/>
          <p:cNvSpPr>
            <a:spLocks noGrp="1"/>
          </p:cNvSpPr>
          <p:nvPr>
            <p:ph type="title"/>
          </p:nvPr>
        </p:nvSpPr>
        <p:spPr>
          <a:xfrm>
            <a:off x="812800" y="2415542"/>
            <a:ext cx="7848600" cy="16256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F7F5F0"/>
                </a:solidFill>
                <a:latin typeface="Oswald" pitchFamily="34" charset="0"/>
                <a:ea typeface="Oswald" pitchFamily="34" charset="-122"/>
                <a:cs typeface="Oswald" pitchFamily="34" charset="-120"/>
              </a:rPr>
              <a:t>La capabilité est une photo. Le SPC est le film.</a:t>
            </a:r>
            <a:endParaRPr lang="en-US" sz="6000" dirty="0"/>
          </a:p>
        </p:txBody>
      </p:sp>
      <p:sp>
        <p:nvSpPr>
          <p:cNvPr id="4" name="Text 2"/>
          <p:cNvSpPr/>
          <p:nvPr/>
        </p:nvSpPr>
        <p:spPr>
          <a:xfrm>
            <a:off x="812800" y="4269742"/>
            <a:ext cx="78486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8"/>
                </a:solidFill>
                <a:latin typeface="IBM Plex Sans" pitchFamily="34" charset="0"/>
                <a:ea typeface="IBM Plex Sans" pitchFamily="34" charset="-122"/>
                <a:cs typeface="IBM Plex Sans" pitchFamily="34" charset="-120"/>
              </a:rPr>
              <a:t>Une photo dit si le lot était bon. Le film dit si le procédé est en train de changer, avant que les pièces sortent de la tolérance.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DEUX FAMILLES DE CAUSES</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Le bruit de fond et l’événement</a:t>
            </a:r>
            <a:endParaRPr lang="en-US" sz="3600" dirty="0"/>
          </a:p>
        </p:txBody>
      </p:sp>
      <p:sp>
        <p:nvSpPr>
          <p:cNvPr id="4" name="Shape 2"/>
          <p:cNvSpPr/>
          <p:nvPr/>
        </p:nvSpPr>
        <p:spPr>
          <a:xfrm>
            <a:off x="819150" y="2043435"/>
            <a:ext cx="5168900" cy="2711450"/>
          </a:xfrm>
          <a:prstGeom prst="roundRect">
            <a:avLst>
              <a:gd name="adj" fmla="val 3513"/>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79500" y="2303785"/>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2E6DA4"/>
                </a:solidFill>
                <a:latin typeface="Oswald" pitchFamily="34" charset="0"/>
                <a:ea typeface="Oswald" pitchFamily="34" charset="-122"/>
                <a:cs typeface="Oswald" pitchFamily="34" charset="-120"/>
              </a:rPr>
              <a:t>Causes communes</a:t>
            </a:r>
            <a:endParaRPr lang="en-US" sz="2200" dirty="0"/>
          </a:p>
        </p:txBody>
      </p:sp>
      <p:sp>
        <p:nvSpPr>
          <p:cNvPr id="6" name="Text 4"/>
          <p:cNvSpPr/>
          <p:nvPr/>
        </p:nvSpPr>
        <p:spPr>
          <a:xfrm>
            <a:off x="1079500" y="2726692"/>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Toujours là, nombreuses, petites. Elles font la largeur de la cloche.</a:t>
            </a:r>
            <a:endParaRPr lang="en-US" sz="1500" dirty="0"/>
          </a:p>
        </p:txBody>
      </p:sp>
      <p:sp>
        <p:nvSpPr>
          <p:cNvPr id="7" name="Text 5"/>
          <p:cNvSpPr/>
          <p:nvPr/>
        </p:nvSpPr>
        <p:spPr>
          <a:xfrm>
            <a:off x="1079500" y="3361692"/>
            <a:ext cx="478764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jeu normal, petites variations de température, matière.</a:t>
            </a:r>
            <a:endParaRPr lang="en-US" sz="1400" dirty="0"/>
          </a:p>
        </p:txBody>
      </p:sp>
      <p:sp>
        <p:nvSpPr>
          <p:cNvPr id="8" name="Text 6"/>
          <p:cNvSpPr/>
          <p:nvPr/>
        </p:nvSpPr>
        <p:spPr>
          <a:xfrm>
            <a:off x="1079500" y="3961135"/>
            <a:ext cx="478764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ne touche pas au réglage.</a:t>
            </a:r>
            <a:r>
              <a:rPr lang="en-US" sz="1500" dirty="0">
                <a:solidFill>
                  <a:srgbClr val="1B2A4A"/>
                </a:solidFill>
                <a:latin typeface="IBM Plex Sans" pitchFamily="34" charset="0"/>
                <a:ea typeface="IBM Plex Sans" pitchFamily="34" charset="-122"/>
                <a:cs typeface="IBM Plex Sans" pitchFamily="34" charset="-120"/>
              </a:rPr>
              <a:t> On améliore le procédé, en projet.</a:t>
            </a:r>
            <a:endParaRPr lang="en-US" sz="1500" dirty="0"/>
          </a:p>
        </p:txBody>
      </p:sp>
      <p:sp>
        <p:nvSpPr>
          <p:cNvPr id="9" name="Shape 7"/>
          <p:cNvSpPr/>
          <p:nvPr/>
        </p:nvSpPr>
        <p:spPr>
          <a:xfrm>
            <a:off x="6203950" y="2043435"/>
            <a:ext cx="5168900" cy="2711450"/>
          </a:xfrm>
          <a:prstGeom prst="roundRect">
            <a:avLst>
              <a:gd name="adj" fmla="val 3513"/>
            </a:avLst>
          </a:prstGeom>
          <a:solidFill>
            <a:srgbClr val="FFFFFF"/>
          </a:solidFill>
          <a:ln w="12700">
            <a:solidFill>
              <a:srgbClr val="B4530F"/>
            </a:solidFill>
            <a:prstDash val="solid"/>
          </a:ln>
        </p:spPr>
        <p:txBody>
          <a:bodyPr/>
          <a:lstStyle/>
          <a:p>
            <a:endParaRPr lang="fr-FR"/>
          </a:p>
        </p:txBody>
      </p:sp>
      <p:sp>
        <p:nvSpPr>
          <p:cNvPr id="10" name="Text 8"/>
          <p:cNvSpPr/>
          <p:nvPr/>
        </p:nvSpPr>
        <p:spPr>
          <a:xfrm>
            <a:off x="6464300" y="2303785"/>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B4530F"/>
                </a:solidFill>
                <a:latin typeface="Oswald" pitchFamily="34" charset="0"/>
                <a:ea typeface="Oswald" pitchFamily="34" charset="-122"/>
                <a:cs typeface="Oswald" pitchFamily="34" charset="-120"/>
              </a:rPr>
              <a:t>Causes spéciales</a:t>
            </a:r>
            <a:endParaRPr lang="en-US" sz="2200" dirty="0"/>
          </a:p>
        </p:txBody>
      </p:sp>
      <p:sp>
        <p:nvSpPr>
          <p:cNvPr id="11" name="Text 9"/>
          <p:cNvSpPr/>
          <p:nvPr/>
        </p:nvSpPr>
        <p:spPr>
          <a:xfrm>
            <a:off x="6464300" y="2726692"/>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Rares, identifiables. Elles déplacent ou élargissent la cloche.</a:t>
            </a:r>
            <a:endParaRPr lang="en-US" sz="1500" dirty="0"/>
          </a:p>
        </p:txBody>
      </p:sp>
      <p:sp>
        <p:nvSpPr>
          <p:cNvPr id="12" name="Text 10"/>
          <p:cNvSpPr/>
          <p:nvPr/>
        </p:nvSpPr>
        <p:spPr>
          <a:xfrm>
            <a:off x="6464300" y="3361692"/>
            <a:ext cx="478764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Exemples : outil cassé, nouveau lot de barre, mauvais bridage.</a:t>
            </a:r>
            <a:endParaRPr lang="en-US" sz="1400" dirty="0"/>
          </a:p>
        </p:txBody>
      </p:sp>
      <p:sp>
        <p:nvSpPr>
          <p:cNvPr id="13" name="Text 11"/>
          <p:cNvSpPr/>
          <p:nvPr/>
        </p:nvSpPr>
        <p:spPr>
          <a:xfrm>
            <a:off x="6464300" y="3961135"/>
            <a:ext cx="478764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On réagit tout de suite.</a:t>
            </a:r>
            <a:r>
              <a:rPr lang="en-US" sz="1500" dirty="0">
                <a:solidFill>
                  <a:srgbClr val="1B2A4A"/>
                </a:solidFill>
                <a:latin typeface="IBM Plex Sans" pitchFamily="34" charset="0"/>
                <a:ea typeface="IBM Plex Sans" pitchFamily="34" charset="-122"/>
                <a:cs typeface="IBM Plex Sans" pitchFamily="34" charset="-120"/>
              </a:rPr>
              <a:t> On cherche la cause et on la supprime.</a:t>
            </a:r>
            <a:endParaRPr lang="en-US" sz="1500" dirty="0"/>
          </a:p>
        </p:txBody>
      </p:sp>
      <p:sp>
        <p:nvSpPr>
          <p:cNvPr id="14" name="Text 12"/>
          <p:cNvSpPr/>
          <p:nvPr/>
        </p:nvSpPr>
        <p:spPr>
          <a:xfrm>
            <a:off x="812800" y="5015235"/>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4A"/>
                </a:solidFill>
                <a:latin typeface="IBM Plex Sans" pitchFamily="34" charset="0"/>
                <a:ea typeface="IBM Plex Sans" pitchFamily="34" charset="-122"/>
                <a:cs typeface="IBM Plex Sans" pitchFamily="34" charset="-120"/>
              </a:rPr>
              <a:t>La carte de contrôle sert à une seule chose : dire laquelle des deux est à l’œuvre.</a:t>
            </a:r>
            <a:endParaRPr lang="en-US" sz="1600" dirty="0"/>
          </a:p>
        </p:txBody>
      </p:sp>
      <p:sp>
        <p:nvSpPr>
          <p:cNvPr id="15" name="Text 13"/>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CE QUE MONTRE L’ENTONNOIR</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Corriger à chaque pièce augmente la dispersion</a:t>
            </a:r>
            <a:endParaRPr lang="en-US" sz="3600" dirty="0"/>
          </a:p>
        </p:txBody>
      </p:sp>
      <p:sp>
        <p:nvSpPr>
          <p:cNvPr id="4" name="Shape 2"/>
          <p:cNvSpPr/>
          <p:nvPr/>
        </p:nvSpPr>
        <p:spPr>
          <a:xfrm>
            <a:off x="819150" y="2043435"/>
            <a:ext cx="5168900" cy="1525270"/>
          </a:xfrm>
          <a:prstGeom prst="roundRect">
            <a:avLst>
              <a:gd name="adj" fmla="val 6245"/>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79500" y="2303785"/>
            <a:ext cx="47876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1</a:t>
            </a:r>
            <a:endParaRPr lang="en-US" sz="1200" dirty="0"/>
          </a:p>
        </p:txBody>
      </p:sp>
      <p:sp>
        <p:nvSpPr>
          <p:cNvPr id="6" name="Text 4"/>
          <p:cNvSpPr/>
          <p:nvPr/>
        </p:nvSpPr>
        <p:spPr>
          <a:xfrm>
            <a:off x="1079500" y="2618742"/>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2F7D4F"/>
                </a:solidFill>
                <a:latin typeface="Oswald" pitchFamily="34" charset="0"/>
                <a:ea typeface="Oswald" pitchFamily="34" charset="-122"/>
                <a:cs typeface="Oswald" pitchFamily="34" charset="-120"/>
              </a:rPr>
              <a:t>On ne touche à rien</a:t>
            </a:r>
            <a:endParaRPr lang="en-US" sz="2200" dirty="0"/>
          </a:p>
        </p:txBody>
      </p:sp>
      <p:sp>
        <p:nvSpPr>
          <p:cNvPr id="7" name="Text 5"/>
          <p:cNvSpPr/>
          <p:nvPr/>
        </p:nvSpPr>
        <p:spPr>
          <a:xfrm>
            <a:off x="1079500" y="3041650"/>
            <a:ext cx="478764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naturelle.</a:t>
            </a:r>
            <a:endParaRPr lang="en-US" sz="1500" dirty="0"/>
          </a:p>
        </p:txBody>
      </p:sp>
      <p:sp>
        <p:nvSpPr>
          <p:cNvPr id="8" name="Shape 6"/>
          <p:cNvSpPr/>
          <p:nvPr/>
        </p:nvSpPr>
        <p:spPr>
          <a:xfrm>
            <a:off x="6203950" y="2043435"/>
            <a:ext cx="5168900" cy="1525270"/>
          </a:xfrm>
          <a:prstGeom prst="roundRect">
            <a:avLst>
              <a:gd name="adj" fmla="val 6245"/>
            </a:avLst>
          </a:prstGeom>
          <a:solidFill>
            <a:srgbClr val="FFFFFF"/>
          </a:solidFill>
          <a:ln w="12700">
            <a:solidFill>
              <a:srgbClr val="D5DCE6"/>
            </a:solidFill>
            <a:prstDash val="solid"/>
          </a:ln>
        </p:spPr>
        <p:txBody>
          <a:bodyPr/>
          <a:lstStyle/>
          <a:p>
            <a:endParaRPr lang="fr-FR"/>
          </a:p>
        </p:txBody>
      </p:sp>
      <p:sp>
        <p:nvSpPr>
          <p:cNvPr id="9" name="Text 7"/>
          <p:cNvSpPr/>
          <p:nvPr/>
        </p:nvSpPr>
        <p:spPr>
          <a:xfrm>
            <a:off x="6464300" y="2303785"/>
            <a:ext cx="47876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Règle 2</a:t>
            </a:r>
            <a:endParaRPr lang="en-US" sz="1200" dirty="0"/>
          </a:p>
        </p:txBody>
      </p:sp>
      <p:sp>
        <p:nvSpPr>
          <p:cNvPr id="10" name="Text 8"/>
          <p:cNvSpPr/>
          <p:nvPr/>
        </p:nvSpPr>
        <p:spPr>
          <a:xfrm>
            <a:off x="6464300" y="2618742"/>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B42318"/>
                </a:solidFill>
                <a:latin typeface="Oswald" pitchFamily="34" charset="0"/>
                <a:ea typeface="Oswald" pitchFamily="34" charset="-122"/>
                <a:cs typeface="Oswald" pitchFamily="34" charset="-120"/>
              </a:rPr>
              <a:t>On compense le dernier écart</a:t>
            </a:r>
            <a:endParaRPr lang="en-US" sz="2200" dirty="0"/>
          </a:p>
        </p:txBody>
      </p:sp>
      <p:sp>
        <p:nvSpPr>
          <p:cNvPr id="11" name="Text 9"/>
          <p:cNvSpPr/>
          <p:nvPr/>
        </p:nvSpPr>
        <p:spPr>
          <a:xfrm>
            <a:off x="6464300" y="3041650"/>
            <a:ext cx="478764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Dispersion multipliée par environ 1,4.</a:t>
            </a:r>
            <a:endParaRPr lang="en-US" sz="1500" dirty="0"/>
          </a:p>
        </p:txBody>
      </p:sp>
      <p:sp>
        <p:nvSpPr>
          <p:cNvPr id="12" name="Text 10"/>
          <p:cNvSpPr/>
          <p:nvPr/>
        </p:nvSpPr>
        <p:spPr>
          <a:xfrm>
            <a:off x="812800" y="382905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4A"/>
                </a:solidFill>
                <a:latin typeface="IBM Plex Sans" pitchFamily="34" charset="0"/>
                <a:ea typeface="IBM Plex Sans" pitchFamily="34" charset="-122"/>
                <a:cs typeface="IBM Plex Sans" pitchFamily="34" charset="-120"/>
              </a:rPr>
              <a:t>Un opérateur consciencieux qui retouche le réglage sur une cause commune dégrade le procédé. La carte dit quand il faut agir, et surtout quand il ne faut pas.</a:t>
            </a:r>
            <a:endParaRPr lang="en-US" sz="1600" dirty="0"/>
          </a:p>
        </p:txBody>
      </p:sp>
      <p:sp>
        <p:nvSpPr>
          <p:cNvPr id="13" name="Text 11"/>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ANATOMIE</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Une carte X̄ : les moyennes, dans le temps</a:t>
            </a:r>
            <a:endParaRPr lang="en-US" sz="3600" dirty="0"/>
          </a:p>
        </p:txBody>
      </p:sp>
      <p:pic>
        <p:nvPicPr>
          <p:cNvPr id="4" name="Image 0" descr="Carte de contrôle : points reliés, ligne centrale verte, limites rouges pointillées, les derniers points montent et sortent par le haut"/>
          <p:cNvPicPr>
            <a:picLocks noChangeAspect="1"/>
          </p:cNvPicPr>
          <p:nvPr/>
        </p:nvPicPr>
        <p:blipFill>
          <a:blip r:embed="rId3"/>
          <a:srcRect l="-14" r="-14"/>
          <a:stretch/>
        </p:blipFill>
        <p:spPr>
          <a:xfrm>
            <a:off x="812800" y="2095500"/>
            <a:ext cx="7874000" cy="3048000"/>
          </a:xfrm>
          <a:prstGeom prst="rect">
            <a:avLst/>
          </a:prstGeom>
        </p:spPr>
      </p:pic>
      <p:sp>
        <p:nvSpPr>
          <p:cNvPr id="5" name="Text 2"/>
          <p:cNvSpPr/>
          <p:nvPr/>
        </p:nvSpPr>
        <p:spPr>
          <a:xfrm>
            <a:off x="8788400" y="2679700"/>
            <a:ext cx="261620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supérieure de contrôle</a:t>
            </a:r>
            <a:endParaRPr lang="en-US" sz="1300" dirty="0"/>
          </a:p>
        </p:txBody>
      </p:sp>
      <p:sp>
        <p:nvSpPr>
          <p:cNvPr id="6" name="Text 3"/>
          <p:cNvSpPr/>
          <p:nvPr/>
        </p:nvSpPr>
        <p:spPr>
          <a:xfrm>
            <a:off x="8788400" y="3505200"/>
            <a:ext cx="261620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F7D4F"/>
                </a:solidFill>
                <a:latin typeface="IBM Plex Sans" pitchFamily="34" charset="0"/>
                <a:ea typeface="IBM Plex Sans" pitchFamily="34" charset="-122"/>
                <a:cs typeface="IBM Plex Sans" pitchFamily="34" charset="-120"/>
              </a:rPr>
              <a:t>ligne centrale</a:t>
            </a:r>
            <a:endParaRPr lang="en-US" sz="1300" dirty="0"/>
          </a:p>
        </p:txBody>
      </p:sp>
      <p:sp>
        <p:nvSpPr>
          <p:cNvPr id="7" name="Text 4"/>
          <p:cNvSpPr/>
          <p:nvPr/>
        </p:nvSpPr>
        <p:spPr>
          <a:xfrm>
            <a:off x="8788400" y="4330700"/>
            <a:ext cx="2616200"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limite inférieure de contrôle</a:t>
            </a:r>
            <a:endParaRPr lang="en-US" sz="1300" dirty="0"/>
          </a:p>
        </p:txBody>
      </p:sp>
      <p:sp>
        <p:nvSpPr>
          <p:cNvPr id="8" name="Text 5"/>
          <p:cNvSpPr/>
          <p:nvPr/>
        </p:nvSpPr>
        <p:spPr>
          <a:xfrm>
            <a:off x="8788400" y="4762500"/>
            <a:ext cx="2616200" cy="42164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E6DA4"/>
                </a:solidFill>
                <a:latin typeface="IBM Plex Sans" pitchFamily="34" charset="0"/>
                <a:ea typeface="IBM Plex Sans" pitchFamily="34" charset="-122"/>
                <a:cs typeface="IBM Plex Sans" pitchFamily="34" charset="-120"/>
              </a:rPr>
              <a:t>un point = 3 pièces mesurées, leur moyenne</a:t>
            </a:r>
            <a:endParaRPr lang="en-US" sz="1300" dirty="0"/>
          </a:p>
        </p:txBody>
      </p:sp>
      <p:sp>
        <p:nvSpPr>
          <p:cNvPr id="9" name="Text 6"/>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L’ERREUR À NE JAMAIS FAIRE</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Limites de contrôle ≠ tolérances</a:t>
            </a:r>
            <a:endParaRPr lang="en-US" sz="3600" dirty="0"/>
          </a:p>
        </p:txBody>
      </p:sp>
      <p:pic>
        <p:nvPicPr>
          <p:cNvPr id="4" name="Image 0" descr="Tolérances en traits noirs épais à l’extérieur, limites de contrôle en pointillés rouges à l’intérieur"/>
          <p:cNvPicPr>
            <a:picLocks noChangeAspect="1"/>
          </p:cNvPicPr>
          <p:nvPr/>
        </p:nvPicPr>
        <p:blipFill>
          <a:blip r:embed="rId3"/>
          <a:srcRect l="-26" r="-26"/>
          <a:stretch/>
        </p:blipFill>
        <p:spPr>
          <a:xfrm>
            <a:off x="812800" y="2095500"/>
            <a:ext cx="7747000" cy="2794000"/>
          </a:xfrm>
          <a:prstGeom prst="rect">
            <a:avLst/>
          </a:prstGeom>
        </p:spPr>
      </p:pic>
      <p:sp>
        <p:nvSpPr>
          <p:cNvPr id="5" name="Text 2"/>
          <p:cNvSpPr/>
          <p:nvPr/>
        </p:nvSpPr>
        <p:spPr>
          <a:xfrm>
            <a:off x="8699500" y="2362200"/>
            <a:ext cx="2760091"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TS · voix du client (plan)</a:t>
            </a:r>
            <a:endParaRPr lang="en-US" sz="1300" dirty="0"/>
          </a:p>
        </p:txBody>
      </p:sp>
      <p:sp>
        <p:nvSpPr>
          <p:cNvPr id="6" name="Text 3"/>
          <p:cNvSpPr/>
          <p:nvPr/>
        </p:nvSpPr>
        <p:spPr>
          <a:xfrm>
            <a:off x="8699500" y="2870200"/>
            <a:ext cx="2760091"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LSC · voix du procédé (mesures)</a:t>
            </a:r>
            <a:endParaRPr lang="en-US" sz="1300" dirty="0"/>
          </a:p>
        </p:txBody>
      </p:sp>
      <p:sp>
        <p:nvSpPr>
          <p:cNvPr id="7" name="Text 4"/>
          <p:cNvSpPr/>
          <p:nvPr/>
        </p:nvSpPr>
        <p:spPr>
          <a:xfrm>
            <a:off x="8699500" y="3886200"/>
            <a:ext cx="2760091"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B42318"/>
                </a:solidFill>
                <a:latin typeface="IBM Plex Sans" pitchFamily="34" charset="0"/>
                <a:ea typeface="IBM Plex Sans" pitchFamily="34" charset="-122"/>
                <a:cs typeface="IBM Plex Sans" pitchFamily="34" charset="-120"/>
              </a:rPr>
              <a:t>LIC · voix du procédé (mesures)</a:t>
            </a:r>
            <a:endParaRPr lang="en-US" sz="1300" dirty="0"/>
          </a:p>
        </p:txBody>
      </p:sp>
      <p:sp>
        <p:nvSpPr>
          <p:cNvPr id="8" name="Text 5"/>
          <p:cNvSpPr/>
          <p:nvPr/>
        </p:nvSpPr>
        <p:spPr>
          <a:xfrm>
            <a:off x="8699500" y="4394200"/>
            <a:ext cx="2760091"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A4A"/>
                </a:solidFill>
                <a:latin typeface="IBM Plex Sans" pitchFamily="34" charset="0"/>
                <a:ea typeface="IBM Plex Sans" pitchFamily="34" charset="-122"/>
                <a:cs typeface="IBM Plex Sans" pitchFamily="34" charset="-120"/>
              </a:rPr>
              <a:t>TI · voix du client (plan)</a:t>
            </a:r>
            <a:endParaRPr lang="en-US" sz="1300" dirty="0"/>
          </a:p>
        </p:txBody>
      </p:sp>
      <p:sp>
        <p:nvSpPr>
          <p:cNvPr id="9" name="Text 6"/>
          <p:cNvSpPr/>
          <p:nvPr/>
        </p:nvSpPr>
        <p:spPr>
          <a:xfrm>
            <a:off x="812800" y="508000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Un point hors limites de contrôle, avec une pièce bonne : c’est un avertissement, pas un rebut. On n’écrit jamais la tolérance sur une carte X̄.</a:t>
            </a:r>
            <a:endParaRPr lang="en-US" sz="1500" dirty="0"/>
          </a:p>
        </p:txBody>
      </p:sp>
      <p:sp>
        <p:nvSpPr>
          <p:cNvPr id="10" name="Text 7"/>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QUAND LA CARTE SONNE</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Trois règles à connaître par cœur</a:t>
            </a:r>
            <a:endParaRPr lang="en-US" sz="3600" dirty="0"/>
          </a:p>
        </p:txBody>
      </p:sp>
      <p:sp>
        <p:nvSpPr>
          <p:cNvPr id="4" name="Shape 2"/>
          <p:cNvSpPr/>
          <p:nvPr/>
        </p:nvSpPr>
        <p:spPr>
          <a:xfrm>
            <a:off x="819150" y="2043435"/>
            <a:ext cx="3373953" cy="2145030"/>
          </a:xfrm>
          <a:prstGeom prst="roundRect">
            <a:avLst>
              <a:gd name="adj" fmla="val 4440"/>
            </a:avLst>
          </a:prstGeom>
          <a:solidFill>
            <a:srgbClr val="FFFFFF"/>
          </a:solidFill>
          <a:ln w="12700">
            <a:solidFill>
              <a:srgbClr val="D5DCE6"/>
            </a:solidFill>
            <a:prstDash val="solid"/>
          </a:ln>
        </p:spPr>
        <p:txBody>
          <a:bodyPr/>
          <a:lstStyle/>
          <a:p>
            <a:endParaRPr lang="fr-FR"/>
          </a:p>
        </p:txBody>
      </p:sp>
      <p:pic>
        <p:nvPicPr>
          <p:cNvPr id="5" name="Image 0" descr="Un point au-dessus de la limite supérieure"/>
          <p:cNvPicPr>
            <a:picLocks noChangeAspect="1"/>
          </p:cNvPicPr>
          <p:nvPr/>
        </p:nvPicPr>
        <p:blipFill>
          <a:blip r:embed="rId3"/>
          <a:srcRect/>
          <a:stretch/>
        </p:blipFill>
        <p:spPr>
          <a:xfrm>
            <a:off x="1028700" y="2252985"/>
            <a:ext cx="2286000" cy="762000"/>
          </a:xfrm>
          <a:prstGeom prst="rect">
            <a:avLst/>
          </a:prstGeom>
        </p:spPr>
      </p:pic>
      <p:sp>
        <p:nvSpPr>
          <p:cNvPr id="6" name="Text 3"/>
          <p:cNvSpPr/>
          <p:nvPr/>
        </p:nvSpPr>
        <p:spPr>
          <a:xfrm>
            <a:off x="1028700" y="3116585"/>
            <a:ext cx="3043499" cy="288290"/>
          </a:xfrm>
          <a:prstGeom prst="rect">
            <a:avLst/>
          </a:prstGeom>
          <a:noFill/>
          <a:ln/>
        </p:spPr>
        <p:txBody>
          <a:bodyPr wrap="square" lIns="0" tIns="0" rIns="0" bIns="0" rtlCol="0" anchor="t">
            <a:normAutofit/>
          </a:bodyPr>
          <a:lstStyle/>
          <a:p>
            <a:pPr marL="0" indent="0" algn="l">
              <a:lnSpc>
                <a:spcPts val="2070"/>
              </a:lnSpc>
              <a:buNone/>
            </a:pPr>
            <a:r>
              <a:rPr lang="en-US" sz="1800" dirty="0">
                <a:solidFill>
                  <a:srgbClr val="1B2A4A"/>
                </a:solidFill>
                <a:latin typeface="Oswald" pitchFamily="34" charset="0"/>
                <a:ea typeface="Oswald" pitchFamily="34" charset="-122"/>
                <a:cs typeface="Oswald" pitchFamily="34" charset="-120"/>
              </a:rPr>
              <a:t>1 point dehors</a:t>
            </a:r>
            <a:endParaRPr lang="en-US" sz="1800" dirty="0"/>
          </a:p>
        </p:txBody>
      </p:sp>
      <p:sp>
        <p:nvSpPr>
          <p:cNvPr id="7" name="Text 4"/>
          <p:cNvSpPr/>
          <p:nvPr/>
        </p:nvSpPr>
        <p:spPr>
          <a:xfrm>
            <a:off x="1028700" y="3481077"/>
            <a:ext cx="304349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point hors des limites de contrôle.</a:t>
            </a:r>
            <a:endParaRPr lang="en-US" sz="1400" dirty="0"/>
          </a:p>
        </p:txBody>
      </p:sp>
      <p:sp>
        <p:nvSpPr>
          <p:cNvPr id="8" name="Shape 5"/>
          <p:cNvSpPr/>
          <p:nvPr/>
        </p:nvSpPr>
        <p:spPr>
          <a:xfrm>
            <a:off x="4409003" y="2043435"/>
            <a:ext cx="3373993" cy="2145030"/>
          </a:xfrm>
          <a:prstGeom prst="roundRect">
            <a:avLst>
              <a:gd name="adj" fmla="val 4440"/>
            </a:avLst>
          </a:prstGeom>
          <a:solidFill>
            <a:srgbClr val="FFFFFF"/>
          </a:solidFill>
          <a:ln w="12700">
            <a:solidFill>
              <a:srgbClr val="D5DCE6"/>
            </a:solidFill>
            <a:prstDash val="solid"/>
          </a:ln>
        </p:spPr>
        <p:txBody>
          <a:bodyPr/>
          <a:lstStyle/>
          <a:p>
            <a:endParaRPr lang="fr-FR"/>
          </a:p>
        </p:txBody>
      </p:sp>
      <p:pic>
        <p:nvPicPr>
          <p:cNvPr id="9" name="Image 1" descr="Sept points au-dessus de la ligne centrale"/>
          <p:cNvPicPr>
            <a:picLocks noChangeAspect="1"/>
          </p:cNvPicPr>
          <p:nvPr/>
        </p:nvPicPr>
        <p:blipFill>
          <a:blip r:embed="rId4"/>
          <a:srcRect/>
          <a:stretch/>
        </p:blipFill>
        <p:spPr>
          <a:xfrm>
            <a:off x="4618553" y="2252985"/>
            <a:ext cx="2286000" cy="762000"/>
          </a:xfrm>
          <a:prstGeom prst="rect">
            <a:avLst/>
          </a:prstGeom>
        </p:spPr>
      </p:pic>
      <p:sp>
        <p:nvSpPr>
          <p:cNvPr id="10" name="Text 6"/>
          <p:cNvSpPr/>
          <p:nvPr/>
        </p:nvSpPr>
        <p:spPr>
          <a:xfrm>
            <a:off x="4618553" y="3116585"/>
            <a:ext cx="3043540" cy="288290"/>
          </a:xfrm>
          <a:prstGeom prst="rect">
            <a:avLst/>
          </a:prstGeom>
          <a:noFill/>
          <a:ln/>
        </p:spPr>
        <p:txBody>
          <a:bodyPr wrap="square" lIns="0" tIns="0" rIns="0" bIns="0" rtlCol="0" anchor="t">
            <a:normAutofit/>
          </a:bodyPr>
          <a:lstStyle/>
          <a:p>
            <a:pPr marL="0" indent="0" algn="l">
              <a:lnSpc>
                <a:spcPts val="2070"/>
              </a:lnSpc>
              <a:buNone/>
            </a:pPr>
            <a:r>
              <a:rPr lang="en-US" sz="1800" dirty="0">
                <a:solidFill>
                  <a:srgbClr val="1B2A4A"/>
                </a:solidFill>
                <a:latin typeface="Oswald" pitchFamily="34" charset="0"/>
                <a:ea typeface="Oswald" pitchFamily="34" charset="-122"/>
                <a:cs typeface="Oswald" pitchFamily="34" charset="-120"/>
              </a:rPr>
              <a:t>7 du même côté</a:t>
            </a:r>
            <a:endParaRPr lang="en-US" sz="1800" dirty="0"/>
          </a:p>
        </p:txBody>
      </p:sp>
      <p:sp>
        <p:nvSpPr>
          <p:cNvPr id="11" name="Text 7"/>
          <p:cNvSpPr/>
          <p:nvPr/>
        </p:nvSpPr>
        <p:spPr>
          <a:xfrm>
            <a:off x="4618553" y="3481077"/>
            <a:ext cx="30435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Le réglage s’est décalé.</a:t>
            </a:r>
            <a:endParaRPr lang="en-US" sz="1400" dirty="0"/>
          </a:p>
        </p:txBody>
      </p:sp>
      <p:sp>
        <p:nvSpPr>
          <p:cNvPr id="12" name="Shape 8"/>
          <p:cNvSpPr/>
          <p:nvPr/>
        </p:nvSpPr>
        <p:spPr>
          <a:xfrm>
            <a:off x="7998897" y="2043435"/>
            <a:ext cx="3373953" cy="2145030"/>
          </a:xfrm>
          <a:prstGeom prst="roundRect">
            <a:avLst>
              <a:gd name="adj" fmla="val 4440"/>
            </a:avLst>
          </a:prstGeom>
          <a:solidFill>
            <a:srgbClr val="FFFFFF"/>
          </a:solidFill>
          <a:ln w="12700">
            <a:solidFill>
              <a:srgbClr val="D5DCE6"/>
            </a:solidFill>
            <a:prstDash val="solid"/>
          </a:ln>
        </p:spPr>
        <p:txBody>
          <a:bodyPr/>
          <a:lstStyle/>
          <a:p>
            <a:endParaRPr lang="fr-FR"/>
          </a:p>
        </p:txBody>
      </p:sp>
      <p:pic>
        <p:nvPicPr>
          <p:cNvPr id="13" name="Image 2" descr="Six points qui descendent"/>
          <p:cNvPicPr>
            <a:picLocks noChangeAspect="1"/>
          </p:cNvPicPr>
          <p:nvPr/>
        </p:nvPicPr>
        <p:blipFill>
          <a:blip r:embed="rId5"/>
          <a:srcRect/>
          <a:stretch/>
        </p:blipFill>
        <p:spPr>
          <a:xfrm>
            <a:off x="8208447" y="2252985"/>
            <a:ext cx="2286000" cy="762000"/>
          </a:xfrm>
          <a:prstGeom prst="rect">
            <a:avLst/>
          </a:prstGeom>
        </p:spPr>
      </p:pic>
      <p:sp>
        <p:nvSpPr>
          <p:cNvPr id="14" name="Text 9"/>
          <p:cNvSpPr/>
          <p:nvPr/>
        </p:nvSpPr>
        <p:spPr>
          <a:xfrm>
            <a:off x="8208447" y="3116585"/>
            <a:ext cx="3043499" cy="288290"/>
          </a:xfrm>
          <a:prstGeom prst="rect">
            <a:avLst/>
          </a:prstGeom>
          <a:noFill/>
          <a:ln/>
        </p:spPr>
        <p:txBody>
          <a:bodyPr wrap="square" lIns="0" tIns="0" rIns="0" bIns="0" rtlCol="0" anchor="t">
            <a:normAutofit/>
          </a:bodyPr>
          <a:lstStyle/>
          <a:p>
            <a:pPr marL="0" indent="0" algn="l">
              <a:lnSpc>
                <a:spcPts val="2070"/>
              </a:lnSpc>
              <a:buNone/>
            </a:pPr>
            <a:r>
              <a:rPr lang="en-US" sz="1800" dirty="0">
                <a:solidFill>
                  <a:srgbClr val="1B2A4A"/>
                </a:solidFill>
                <a:latin typeface="Oswald" pitchFamily="34" charset="0"/>
                <a:ea typeface="Oswald" pitchFamily="34" charset="-122"/>
                <a:cs typeface="Oswald" pitchFamily="34" charset="-120"/>
              </a:rPr>
              <a:t>6 en pente</a:t>
            </a:r>
            <a:endParaRPr lang="en-US" sz="1800" dirty="0"/>
          </a:p>
        </p:txBody>
      </p:sp>
      <p:sp>
        <p:nvSpPr>
          <p:cNvPr id="15" name="Text 10"/>
          <p:cNvSpPr/>
          <p:nvPr/>
        </p:nvSpPr>
        <p:spPr>
          <a:xfrm>
            <a:off x="8208447" y="3481077"/>
            <a:ext cx="304349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Usure, échauffement, dérive.</a:t>
            </a:r>
            <a:endParaRPr lang="en-US" sz="1400" dirty="0"/>
          </a:p>
        </p:txBody>
      </p:sp>
      <p:sp>
        <p:nvSpPr>
          <p:cNvPr id="16" name="Text 11"/>
          <p:cNvSpPr/>
          <p:nvPr/>
        </p:nvSpPr>
        <p:spPr>
          <a:xfrm>
            <a:off x="812800" y="444880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Quatrième règle : tout ce qui vous paraît bizarre. Un pilote de carte qui doute s’arrête et demande.</a:t>
            </a:r>
            <a:endParaRPr lang="en-US" sz="1500" dirty="0"/>
          </a:p>
        </p:txBody>
      </p:sp>
      <p:sp>
        <p:nvSpPr>
          <p:cNvPr id="17" name="Text 12"/>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RÉAGIR</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Une OCAP répond à l’avance à cinq questions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3137679480"/>
              </p:ext>
            </p:extLst>
          </p:nvPr>
        </p:nvGraphicFramePr>
        <p:xfrm>
          <a:off x="825500" y="2049785"/>
          <a:ext cx="10553700" cy="2636520"/>
        </p:xfrm>
        <a:graphic>
          <a:graphicData uri="http://schemas.openxmlformats.org/drawingml/2006/table">
            <a:tbl>
              <a:tblPr/>
              <a:tblGrid>
                <a:gridCol w="3799332">
                  <a:extLst>
                    <a:ext uri="{9D8B030D-6E8A-4147-A177-3AD203B41FA5}">
                      <a16:colId xmlns:a16="http://schemas.microsoft.com/office/drawing/2014/main" val="20000"/>
                    </a:ext>
                  </a:extLst>
                </a:gridCol>
                <a:gridCol w="6754368">
                  <a:extLst>
                    <a:ext uri="{9D8B030D-6E8A-4147-A177-3AD203B41FA5}">
                      <a16:colId xmlns:a16="http://schemas.microsoft.com/office/drawing/2014/main" val="20001"/>
                    </a:ext>
                  </a:extLst>
                </a:gridCol>
              </a:tblGrid>
              <a:tr h="439420">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Question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Exemple de réponse écrite</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arrête ?</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sans demander l’autorisation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Que fait-on des pièces ?</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isole tout depuis le dernier point normal</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Qui cherche la cause ?</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L’opérateur avec le régleur, grille 5M</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Quand redémarre-t-on ?</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Après correction et un prélèvement conforme</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Où trace-t-on ?</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Sur la carte et dans le cahier de bord</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C · Le SPC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a:effectLst/>
      </p:bgPr>
    </p:bg>
    <p:spTree>
      <p:nvGrpSpPr>
        <p:cNvPr id="1" name=""/>
        <p:cNvGrpSpPr/>
        <p:nvPr/>
      </p:nvGrpSpPr>
      <p:grpSpPr>
        <a:xfrm>
          <a:off x="0" y="0"/>
          <a:ext cx="0" cy="0"/>
          <a:chOff x="0" y="0"/>
          <a:chExt cx="0" cy="0"/>
        </a:xfrm>
      </p:grpSpPr>
      <p:pic>
        <p:nvPicPr>
          <p:cNvPr id="2" name="Image 0" descr="Butée vue de face, avec le petit diamètre mesuré coté 11,85 / 12,00 mm"/>
          <p:cNvPicPr>
            <a:picLocks noChangeAspect="1"/>
          </p:cNvPicPr>
          <p:nvPr/>
        </p:nvPicPr>
        <p:blipFill>
          <a:blip r:embed="rId3"/>
          <a:srcRect l="58" r="58"/>
          <a:stretch/>
        </p:blipFill>
        <p:spPr>
          <a:xfrm>
            <a:off x="6985000" y="0"/>
            <a:ext cx="5207000" cy="6858000"/>
          </a:xfrm>
          <a:prstGeom prst="rect">
            <a:avLst/>
          </a:prstGeom>
        </p:spPr>
      </p:pic>
      <p:sp>
        <p:nvSpPr>
          <p:cNvPr id="3" name="Text 0"/>
          <p:cNvSpPr/>
          <p:nvPr/>
        </p:nvSpPr>
        <p:spPr>
          <a:xfrm>
            <a:off x="812800" y="1948185"/>
            <a:ext cx="57556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37E"/>
                </a:solidFill>
                <a:latin typeface="IBM Plex Sans" pitchFamily="34" charset="0"/>
                <a:ea typeface="IBM Plex Sans" pitchFamily="34" charset="-122"/>
                <a:cs typeface="IBM Plex Sans" pitchFamily="34" charset="-120"/>
              </a:rPr>
              <a:t>25 NOVEMBRE</a:t>
            </a:r>
            <a:endParaRPr lang="en-US" sz="1200" dirty="0"/>
          </a:p>
        </p:txBody>
      </p:sp>
      <p:sp>
        <p:nvSpPr>
          <p:cNvPr id="7" name="Text 0"/>
          <p:cNvSpPr/>
          <p:nvPr/>
        </p:nvSpPr>
        <p:spPr>
          <a:xfrm>
            <a:off x="812800" y="1948185"/>
            <a:ext cx="57556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37E"/>
                </a:solidFill>
                <a:latin typeface="IBM Plex Sans" pitchFamily="34" charset="0"/>
                <a:ea typeface="IBM Plex Sans" pitchFamily="34" charset="-122"/>
                <a:cs typeface="IBM Plex Sans" pitchFamily="34" charset="-120"/>
              </a:rPr>
              <a:t>25 NOVEMBRE</a:t>
            </a:r>
            <a:endParaRPr lang="en-US" sz="1200" dirty="0"/>
          </a:p>
        </p:txBody>
      </p:sp>
      <p:sp>
        <p:nvSpPr>
          <p:cNvPr id="4" name="Text 1"/>
          <p:cNvSpPr>
            <a:spLocks noGrp="1"/>
          </p:cNvSpPr>
          <p:nvPr>
            <p:ph type="title"/>
          </p:nvPr>
        </p:nvSpPr>
        <p:spPr>
          <a:xfrm>
            <a:off x="812800" y="2415542"/>
            <a:ext cx="5755640" cy="1625600"/>
          </a:xfrm>
          <a:prstGeom prst="rect">
            <a:avLst/>
          </a:prstGeom>
          <a:noFill/>
          <a:ln/>
        </p:spPr>
        <p:txBody>
          <a:bodyPr wrap="square" lIns="0" tIns="0" rIns="0" bIns="0" rtlCol="0" anchor="t">
            <a:normAutofit/>
          </a:bodyPr>
          <a:lstStyle/>
          <a:p>
            <a:pPr marL="0" indent="0" algn="l">
              <a:lnSpc>
                <a:spcPts val="6300"/>
              </a:lnSpc>
              <a:buNone/>
            </a:pPr>
            <a:r>
              <a:rPr lang="en-US" sz="6000" b="0" i="0" dirty="0">
                <a:solidFill>
                  <a:srgbClr val="F7F5F0"/>
                </a:solidFill>
                <a:latin typeface="Oswald" pitchFamily="34" charset="0"/>
                <a:ea typeface="Oswald" pitchFamily="34" charset="-122"/>
                <a:cs typeface="Oswald" pitchFamily="34" charset="-120"/>
              </a:rPr>
              <a:t>Peut-on croire la mesure ?</a:t>
            </a:r>
            <a:endParaRPr lang="en-US" sz="6000" dirty="0"/>
          </a:p>
        </p:txBody>
      </p:sp>
      <p:sp>
        <p:nvSpPr>
          <p:cNvPr id="5" name="Text 2"/>
          <p:cNvSpPr/>
          <p:nvPr/>
        </p:nvSpPr>
        <p:spPr>
          <a:xfrm>
            <a:off x="812800" y="4269742"/>
            <a:ext cx="575564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E8"/>
                </a:solidFill>
                <a:latin typeface="IBM Plex Sans" pitchFamily="34" charset="0"/>
                <a:ea typeface="IBM Plex Sans" pitchFamily="34" charset="-122"/>
                <a:cs typeface="IBM Plex Sans" pitchFamily="34" charset="-120"/>
              </a:rPr>
              <a:t>Le 5 novembre, six mesures de la même pièce ne concordaient pas. Aujourd’hui, on chiffre cet écart.</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LE BUDGET DE VARIATION</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Ce qu’on voit bouger = les pièces + la mesure</a:t>
            </a:r>
            <a:endParaRPr lang="en-US" sz="3600" dirty="0"/>
          </a:p>
        </p:txBody>
      </p:sp>
      <p:sp>
        <p:nvSpPr>
          <p:cNvPr id="4" name="Text 2"/>
          <p:cNvSpPr/>
          <p:nvPr/>
        </p:nvSpPr>
        <p:spPr>
          <a:xfrm>
            <a:off x="812800" y="2183135"/>
            <a:ext cx="22237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Bon instrument</a:t>
            </a:r>
            <a:endParaRPr lang="en-US" sz="1500" dirty="0"/>
          </a:p>
        </p:txBody>
      </p:sp>
      <p:sp>
        <p:nvSpPr>
          <p:cNvPr id="5" name="Shape 3"/>
          <p:cNvSpPr/>
          <p:nvPr/>
        </p:nvSpPr>
        <p:spPr>
          <a:xfrm>
            <a:off x="3124200" y="2037085"/>
            <a:ext cx="7493000" cy="558800"/>
          </a:xfrm>
          <a:prstGeom prst="rect">
            <a:avLst/>
          </a:prstGeom>
          <a:solidFill>
            <a:srgbClr val="2E6DA4"/>
          </a:solidFill>
          <a:ln/>
        </p:spPr>
        <p:txBody>
          <a:bodyPr/>
          <a:lstStyle/>
          <a:p>
            <a:endParaRPr lang="fr-FR"/>
          </a:p>
        </p:txBody>
      </p:sp>
      <p:sp>
        <p:nvSpPr>
          <p:cNvPr id="6" name="Shape 4"/>
          <p:cNvSpPr/>
          <p:nvPr/>
        </p:nvSpPr>
        <p:spPr>
          <a:xfrm>
            <a:off x="10617200" y="2037085"/>
            <a:ext cx="762000" cy="558800"/>
          </a:xfrm>
          <a:prstGeom prst="rect">
            <a:avLst/>
          </a:prstGeom>
          <a:solidFill>
            <a:srgbClr val="B4530F"/>
          </a:solidFill>
          <a:ln/>
        </p:spPr>
        <p:txBody>
          <a:bodyPr/>
          <a:lstStyle/>
          <a:p>
            <a:endParaRPr lang="fr-FR"/>
          </a:p>
        </p:txBody>
      </p:sp>
      <p:sp>
        <p:nvSpPr>
          <p:cNvPr id="7" name="Text 5"/>
          <p:cNvSpPr/>
          <p:nvPr/>
        </p:nvSpPr>
        <p:spPr>
          <a:xfrm>
            <a:off x="812800" y="2919735"/>
            <a:ext cx="22237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Instrument limite</a:t>
            </a:r>
            <a:endParaRPr lang="en-US" sz="1500" dirty="0"/>
          </a:p>
        </p:txBody>
      </p:sp>
      <p:sp>
        <p:nvSpPr>
          <p:cNvPr id="8" name="Shape 6"/>
          <p:cNvSpPr/>
          <p:nvPr/>
        </p:nvSpPr>
        <p:spPr>
          <a:xfrm>
            <a:off x="3124200" y="2773685"/>
            <a:ext cx="5778500" cy="558800"/>
          </a:xfrm>
          <a:prstGeom prst="rect">
            <a:avLst/>
          </a:prstGeom>
          <a:solidFill>
            <a:srgbClr val="2E6DA4"/>
          </a:solidFill>
          <a:ln/>
        </p:spPr>
        <p:txBody>
          <a:bodyPr/>
          <a:lstStyle/>
          <a:p>
            <a:endParaRPr lang="fr-FR"/>
          </a:p>
        </p:txBody>
      </p:sp>
      <p:sp>
        <p:nvSpPr>
          <p:cNvPr id="9" name="Shape 7"/>
          <p:cNvSpPr/>
          <p:nvPr/>
        </p:nvSpPr>
        <p:spPr>
          <a:xfrm>
            <a:off x="8902700" y="2773685"/>
            <a:ext cx="2476500" cy="558800"/>
          </a:xfrm>
          <a:prstGeom prst="rect">
            <a:avLst/>
          </a:prstGeom>
          <a:solidFill>
            <a:srgbClr val="B4530F"/>
          </a:solidFill>
          <a:ln/>
        </p:spPr>
        <p:txBody>
          <a:bodyPr/>
          <a:lstStyle/>
          <a:p>
            <a:endParaRPr lang="fr-FR"/>
          </a:p>
        </p:txBody>
      </p:sp>
      <p:sp>
        <p:nvSpPr>
          <p:cNvPr id="10" name="Text 8"/>
          <p:cNvSpPr/>
          <p:nvPr/>
        </p:nvSpPr>
        <p:spPr>
          <a:xfrm>
            <a:off x="812800" y="3656335"/>
            <a:ext cx="22237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Mauvais instrument</a:t>
            </a:r>
            <a:endParaRPr lang="en-US" sz="1500" dirty="0"/>
          </a:p>
        </p:txBody>
      </p:sp>
      <p:sp>
        <p:nvSpPr>
          <p:cNvPr id="11" name="Shape 9"/>
          <p:cNvSpPr/>
          <p:nvPr/>
        </p:nvSpPr>
        <p:spPr>
          <a:xfrm>
            <a:off x="3124200" y="3510285"/>
            <a:ext cx="3302000" cy="558800"/>
          </a:xfrm>
          <a:prstGeom prst="rect">
            <a:avLst/>
          </a:prstGeom>
          <a:solidFill>
            <a:srgbClr val="2E6DA4"/>
          </a:solidFill>
          <a:ln/>
        </p:spPr>
        <p:txBody>
          <a:bodyPr/>
          <a:lstStyle/>
          <a:p>
            <a:endParaRPr lang="fr-FR"/>
          </a:p>
        </p:txBody>
      </p:sp>
      <p:sp>
        <p:nvSpPr>
          <p:cNvPr id="12" name="Shape 10"/>
          <p:cNvSpPr/>
          <p:nvPr/>
        </p:nvSpPr>
        <p:spPr>
          <a:xfrm>
            <a:off x="6426200" y="3510285"/>
            <a:ext cx="4953000" cy="558800"/>
          </a:xfrm>
          <a:prstGeom prst="rect">
            <a:avLst/>
          </a:prstGeom>
          <a:solidFill>
            <a:srgbClr val="B4530F"/>
          </a:solidFill>
          <a:ln/>
        </p:spPr>
        <p:txBody>
          <a:bodyPr/>
          <a:lstStyle/>
          <a:p>
            <a:endParaRPr lang="fr-FR"/>
          </a:p>
        </p:txBody>
      </p:sp>
      <p:sp>
        <p:nvSpPr>
          <p:cNvPr id="13" name="Text 11"/>
          <p:cNvSpPr/>
          <p:nvPr/>
        </p:nvSpPr>
        <p:spPr>
          <a:xfrm>
            <a:off x="812800" y="4323085"/>
            <a:ext cx="35687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E6DA4"/>
                </a:solidFill>
                <a:latin typeface="IBM Plex Sans" pitchFamily="34" charset="0"/>
                <a:ea typeface="IBM Plex Sans" pitchFamily="34" charset="-122"/>
                <a:cs typeface="IBM Plex Sans" pitchFamily="34" charset="-120"/>
              </a:rPr>
              <a:t>■</a:t>
            </a:r>
            <a:r>
              <a:rPr lang="en-US" sz="1400" dirty="0">
                <a:solidFill>
                  <a:srgbClr val="1B2A4A"/>
                </a:solidFill>
                <a:latin typeface="IBM Plex Sans" pitchFamily="34" charset="0"/>
                <a:ea typeface="IBM Plex Sans" pitchFamily="34" charset="-122"/>
                <a:cs typeface="IBM Plex Sans" pitchFamily="34" charset="-120"/>
              </a:rPr>
              <a:t> variation des pièces : ce qu’on veut voir</a:t>
            </a:r>
            <a:endParaRPr lang="en-US" sz="1400" dirty="0"/>
          </a:p>
        </p:txBody>
      </p:sp>
      <p:sp>
        <p:nvSpPr>
          <p:cNvPr id="14" name="Text 12"/>
          <p:cNvSpPr/>
          <p:nvPr/>
        </p:nvSpPr>
        <p:spPr>
          <a:xfrm>
            <a:off x="4381500" y="4323085"/>
            <a:ext cx="313748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30F"/>
                </a:solidFill>
                <a:latin typeface="IBM Plex Sans" pitchFamily="34" charset="0"/>
                <a:ea typeface="IBM Plex Sans" pitchFamily="34" charset="-122"/>
                <a:cs typeface="IBM Plex Sans" pitchFamily="34" charset="-120"/>
              </a:rPr>
              <a:t>■</a:t>
            </a:r>
            <a:r>
              <a:rPr lang="en-US" sz="1400" dirty="0">
                <a:solidFill>
                  <a:srgbClr val="1B2A4A"/>
                </a:solidFill>
                <a:latin typeface="IBM Plex Sans" pitchFamily="34" charset="0"/>
                <a:ea typeface="IBM Plex Sans" pitchFamily="34" charset="-122"/>
                <a:cs typeface="IBM Plex Sans" pitchFamily="34" charset="-120"/>
              </a:rPr>
              <a:t> variation de la mesure : le bruit</a:t>
            </a:r>
            <a:endParaRPr lang="en-US" sz="1400" dirty="0"/>
          </a:p>
        </p:txBody>
      </p:sp>
      <p:sp>
        <p:nvSpPr>
          <p:cNvPr id="15" name="Text 13"/>
          <p:cNvSpPr/>
          <p:nvPr/>
        </p:nvSpPr>
        <p:spPr>
          <a:xfrm>
            <a:off x="812800" y="48260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4A"/>
                </a:solidFill>
                <a:latin typeface="IBM Plex Sans" pitchFamily="34" charset="0"/>
                <a:ea typeface="IBM Plex Sans" pitchFamily="34" charset="-122"/>
                <a:cs typeface="IBM Plex Sans" pitchFamily="34" charset="-120"/>
              </a:rPr>
              <a:t>Si la mesure prend trop de place, on juge l’instrument au lieu de juger les pièces.</a:t>
            </a:r>
            <a:endParaRPr lang="en-US" sz="1600" dirty="0"/>
          </a:p>
        </p:txBody>
      </p:sp>
      <p:sp>
        <p:nvSpPr>
          <p:cNvPr id="16" name="Text 14"/>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Le Gage R&amp;R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DEUX SOURCES D’ERREUR</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Répétabilité et reproductibilité</a:t>
            </a:r>
            <a:endParaRPr lang="en-US" sz="3600" dirty="0"/>
          </a:p>
        </p:txBody>
      </p:sp>
      <p:sp>
        <p:nvSpPr>
          <p:cNvPr id="4" name="Shape 2"/>
          <p:cNvSpPr/>
          <p:nvPr/>
        </p:nvSpPr>
        <p:spPr>
          <a:xfrm>
            <a:off x="819150" y="2043435"/>
            <a:ext cx="5168900" cy="2386330"/>
          </a:xfrm>
          <a:prstGeom prst="roundRect">
            <a:avLst>
              <a:gd name="adj" fmla="val 3991"/>
            </a:avLst>
          </a:prstGeom>
          <a:solidFill>
            <a:srgbClr val="FFFFFF"/>
          </a:solidFill>
          <a:ln w="12700">
            <a:solidFill>
              <a:srgbClr val="D5DCE6"/>
            </a:solidFill>
            <a:prstDash val="solid"/>
          </a:ln>
        </p:spPr>
        <p:txBody>
          <a:bodyPr/>
          <a:lstStyle/>
          <a:p>
            <a:endParaRPr lang="fr-FR"/>
          </a:p>
        </p:txBody>
      </p:sp>
      <p:pic>
        <p:nvPicPr>
          <p:cNvPr id="5" name="Image 0" descr="Tool"/>
          <p:cNvPicPr>
            <a:picLocks noChangeAspect="1"/>
          </p:cNvPicPr>
          <p:nvPr/>
        </p:nvPicPr>
        <p:blipFill>
          <a:blip r:embed="rId3"/>
          <a:srcRect/>
          <a:stretch/>
        </p:blipFill>
        <p:spPr>
          <a:xfrm>
            <a:off x="1079500" y="2303785"/>
            <a:ext cx="457200" cy="457200"/>
          </a:xfrm>
          <a:prstGeom prst="rect">
            <a:avLst/>
          </a:prstGeom>
        </p:spPr>
      </p:pic>
      <p:sp>
        <p:nvSpPr>
          <p:cNvPr id="6" name="Text 3"/>
          <p:cNvSpPr/>
          <p:nvPr/>
        </p:nvSpPr>
        <p:spPr>
          <a:xfrm>
            <a:off x="1079500" y="2862585"/>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2E6DA4"/>
                </a:solidFill>
                <a:latin typeface="Oswald" pitchFamily="34" charset="0"/>
                <a:ea typeface="Oswald" pitchFamily="34" charset="-122"/>
                <a:cs typeface="Oswald" pitchFamily="34" charset="-120"/>
              </a:rPr>
              <a:t>Répétabilité</a:t>
            </a:r>
            <a:endParaRPr lang="en-US" sz="2200" dirty="0"/>
          </a:p>
        </p:txBody>
      </p:sp>
      <p:sp>
        <p:nvSpPr>
          <p:cNvPr id="7" name="Text 4"/>
          <p:cNvSpPr/>
          <p:nvPr/>
        </p:nvSpPr>
        <p:spPr>
          <a:xfrm>
            <a:off x="1079500" y="3285492"/>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Le même opérateur mesure la même pièce plusieurs fois. Retrouve-t-il la même valeur ?</a:t>
            </a:r>
            <a:endParaRPr lang="en-US" sz="1500" dirty="0"/>
          </a:p>
        </p:txBody>
      </p:sp>
      <p:sp>
        <p:nvSpPr>
          <p:cNvPr id="8" name="Text 5"/>
          <p:cNvSpPr/>
          <p:nvPr/>
        </p:nvSpPr>
        <p:spPr>
          <a:xfrm>
            <a:off x="1079500" y="3920492"/>
            <a:ext cx="47876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Révèle surtout l’instrument et la façon de le tenir.</a:t>
            </a:r>
            <a:endParaRPr lang="en-US" sz="1400" dirty="0"/>
          </a:p>
        </p:txBody>
      </p:sp>
      <p:sp>
        <p:nvSpPr>
          <p:cNvPr id="9" name="Shape 6"/>
          <p:cNvSpPr/>
          <p:nvPr/>
        </p:nvSpPr>
        <p:spPr>
          <a:xfrm>
            <a:off x="6203950" y="2043435"/>
            <a:ext cx="5168900" cy="2386330"/>
          </a:xfrm>
          <a:prstGeom prst="roundRect">
            <a:avLst>
              <a:gd name="adj" fmla="val 3991"/>
            </a:avLst>
          </a:prstGeom>
          <a:solidFill>
            <a:srgbClr val="FFFFFF"/>
          </a:solidFill>
          <a:ln w="12700">
            <a:solidFill>
              <a:srgbClr val="D5DCE6"/>
            </a:solidFill>
            <a:prstDash val="solid"/>
          </a:ln>
        </p:spPr>
        <p:txBody>
          <a:bodyPr/>
          <a:lstStyle/>
          <a:p>
            <a:endParaRPr lang="fr-FR"/>
          </a:p>
        </p:txBody>
      </p:sp>
      <p:pic>
        <p:nvPicPr>
          <p:cNvPr id="10" name="Image 1" descr="Users"/>
          <p:cNvPicPr>
            <a:picLocks noChangeAspect="1"/>
          </p:cNvPicPr>
          <p:nvPr/>
        </p:nvPicPr>
        <p:blipFill>
          <a:blip r:embed="rId4"/>
          <a:srcRect/>
          <a:stretch/>
        </p:blipFill>
        <p:spPr>
          <a:xfrm>
            <a:off x="6464300" y="2303785"/>
            <a:ext cx="457200" cy="457200"/>
          </a:xfrm>
          <a:prstGeom prst="rect">
            <a:avLst/>
          </a:prstGeom>
        </p:spPr>
      </p:pic>
      <p:sp>
        <p:nvSpPr>
          <p:cNvPr id="11" name="Text 7"/>
          <p:cNvSpPr/>
          <p:nvPr/>
        </p:nvSpPr>
        <p:spPr>
          <a:xfrm>
            <a:off x="6464300" y="2862585"/>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B4530F"/>
                </a:solidFill>
                <a:latin typeface="Oswald" pitchFamily="34" charset="0"/>
                <a:ea typeface="Oswald" pitchFamily="34" charset="-122"/>
                <a:cs typeface="Oswald" pitchFamily="34" charset="-120"/>
              </a:rPr>
              <a:t>Reproductibilité</a:t>
            </a:r>
            <a:endParaRPr lang="en-US" sz="2200" dirty="0"/>
          </a:p>
        </p:txBody>
      </p:sp>
      <p:sp>
        <p:nvSpPr>
          <p:cNvPr id="12" name="Text 8"/>
          <p:cNvSpPr/>
          <p:nvPr/>
        </p:nvSpPr>
        <p:spPr>
          <a:xfrm>
            <a:off x="6464300" y="3285492"/>
            <a:ext cx="4787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Plusieurs opérateurs mesurent la même pièce. Trouvent-ils la même valeur ?</a:t>
            </a:r>
            <a:endParaRPr lang="en-US" sz="1500" dirty="0"/>
          </a:p>
        </p:txBody>
      </p:sp>
      <p:sp>
        <p:nvSpPr>
          <p:cNvPr id="13" name="Text 9"/>
          <p:cNvSpPr/>
          <p:nvPr/>
        </p:nvSpPr>
        <p:spPr>
          <a:xfrm>
            <a:off x="6464300" y="3920492"/>
            <a:ext cx="47876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Révèle surtout la méthode et la formation.</a:t>
            </a:r>
            <a:endParaRPr lang="en-US" sz="1400" dirty="0"/>
          </a:p>
        </p:txBody>
      </p:sp>
      <p:sp>
        <p:nvSpPr>
          <p:cNvPr id="14" name="Text 10"/>
          <p:cNvSpPr/>
          <p:nvPr/>
        </p:nvSpPr>
        <p:spPr>
          <a:xfrm>
            <a:off x="812800" y="469010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R&amp;R = Répétabilité et Reproductibilité. Les deux ensemble donnent l’erreur totale du moyen de mesure.</a:t>
            </a:r>
            <a:endParaRPr lang="en-US" sz="1500" dirty="0"/>
          </a:p>
        </p:txBody>
      </p:sp>
      <p:sp>
        <p:nvSpPr>
          <p:cNvPr id="15" name="Text 11"/>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Le Gage R&amp;R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L’ÉTUDE D’AUJOURD’HUI</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10 pièces, 3 opérateurs, 2 essais, en aveugle</a:t>
            </a:r>
            <a:endParaRPr lang="en-US" sz="3600" dirty="0"/>
          </a:p>
        </p:txBody>
      </p:sp>
      <p:sp>
        <p:nvSpPr>
          <p:cNvPr id="4" name="Shape 2"/>
          <p:cNvSpPr/>
          <p:nvPr/>
        </p:nvSpPr>
        <p:spPr>
          <a:xfrm>
            <a:off x="819150" y="2043435"/>
            <a:ext cx="2476500" cy="1765300"/>
          </a:xfrm>
          <a:prstGeom prst="roundRect">
            <a:avLst>
              <a:gd name="adj" fmla="val 5396"/>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79500" y="2303785"/>
            <a:ext cx="2014474"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2E6DA4"/>
                </a:solidFill>
                <a:latin typeface="Oswald" pitchFamily="34" charset="0"/>
                <a:ea typeface="Oswald" pitchFamily="34" charset="-122"/>
                <a:cs typeface="Oswald" pitchFamily="34" charset="-120"/>
              </a:rPr>
              <a:t>10</a:t>
            </a:r>
            <a:endParaRPr lang="en-US" sz="4800" dirty="0"/>
          </a:p>
        </p:txBody>
      </p:sp>
      <p:sp>
        <p:nvSpPr>
          <p:cNvPr id="6" name="Text 4"/>
          <p:cNvSpPr/>
          <p:nvPr/>
        </p:nvSpPr>
        <p:spPr>
          <a:xfrm>
            <a:off x="1079500" y="3014985"/>
            <a:ext cx="20144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pièces qui couvrent toute l’étendue du lot</a:t>
            </a:r>
            <a:endParaRPr lang="en-US" sz="1500" dirty="0"/>
          </a:p>
        </p:txBody>
      </p:sp>
      <p:sp>
        <p:nvSpPr>
          <p:cNvPr id="7" name="Shape 5"/>
          <p:cNvSpPr/>
          <p:nvPr/>
        </p:nvSpPr>
        <p:spPr>
          <a:xfrm>
            <a:off x="3511550" y="2043435"/>
            <a:ext cx="2476500" cy="1765300"/>
          </a:xfrm>
          <a:prstGeom prst="roundRect">
            <a:avLst>
              <a:gd name="adj" fmla="val 5396"/>
            </a:avLst>
          </a:prstGeom>
          <a:solidFill>
            <a:srgbClr val="FFFFFF"/>
          </a:solidFill>
          <a:ln w="12700">
            <a:solidFill>
              <a:srgbClr val="D5DCE6"/>
            </a:solidFill>
            <a:prstDash val="solid"/>
          </a:ln>
        </p:spPr>
        <p:txBody>
          <a:bodyPr/>
          <a:lstStyle/>
          <a:p>
            <a:endParaRPr lang="fr-FR"/>
          </a:p>
        </p:txBody>
      </p:sp>
      <p:sp>
        <p:nvSpPr>
          <p:cNvPr id="8" name="Text 6"/>
          <p:cNvSpPr/>
          <p:nvPr/>
        </p:nvSpPr>
        <p:spPr>
          <a:xfrm>
            <a:off x="3771900" y="2303785"/>
            <a:ext cx="2014474"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2E6DA4"/>
                </a:solidFill>
                <a:latin typeface="Oswald" pitchFamily="34" charset="0"/>
                <a:ea typeface="Oswald" pitchFamily="34" charset="-122"/>
                <a:cs typeface="Oswald" pitchFamily="34" charset="-120"/>
              </a:rPr>
              <a:t>3</a:t>
            </a:r>
            <a:endParaRPr lang="en-US" sz="4800" dirty="0"/>
          </a:p>
        </p:txBody>
      </p:sp>
      <p:sp>
        <p:nvSpPr>
          <p:cNvPr id="9" name="Text 7"/>
          <p:cNvSpPr/>
          <p:nvPr/>
        </p:nvSpPr>
        <p:spPr>
          <a:xfrm>
            <a:off x="3771900" y="3014985"/>
            <a:ext cx="20144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opérateurs, avec le même instrument</a:t>
            </a:r>
            <a:endParaRPr lang="en-US" sz="1500" dirty="0"/>
          </a:p>
        </p:txBody>
      </p:sp>
      <p:sp>
        <p:nvSpPr>
          <p:cNvPr id="10" name="Shape 8"/>
          <p:cNvSpPr/>
          <p:nvPr/>
        </p:nvSpPr>
        <p:spPr>
          <a:xfrm>
            <a:off x="6203950" y="2043435"/>
            <a:ext cx="2476500" cy="1765300"/>
          </a:xfrm>
          <a:prstGeom prst="roundRect">
            <a:avLst>
              <a:gd name="adj" fmla="val 5396"/>
            </a:avLst>
          </a:prstGeom>
          <a:solidFill>
            <a:srgbClr val="FFFFFF"/>
          </a:solidFill>
          <a:ln w="12700">
            <a:solidFill>
              <a:srgbClr val="D5DCE6"/>
            </a:solidFill>
            <a:prstDash val="solid"/>
          </a:ln>
        </p:spPr>
        <p:txBody>
          <a:bodyPr/>
          <a:lstStyle/>
          <a:p>
            <a:endParaRPr lang="fr-FR"/>
          </a:p>
        </p:txBody>
      </p:sp>
      <p:sp>
        <p:nvSpPr>
          <p:cNvPr id="11" name="Text 9"/>
          <p:cNvSpPr/>
          <p:nvPr/>
        </p:nvSpPr>
        <p:spPr>
          <a:xfrm>
            <a:off x="6464300" y="2303785"/>
            <a:ext cx="2014474"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2E6DA4"/>
                </a:solidFill>
                <a:latin typeface="Oswald" pitchFamily="34" charset="0"/>
                <a:ea typeface="Oswald" pitchFamily="34" charset="-122"/>
                <a:cs typeface="Oswald" pitchFamily="34" charset="-120"/>
              </a:rPr>
              <a:t>2</a:t>
            </a:r>
            <a:endParaRPr lang="en-US" sz="4800" dirty="0"/>
          </a:p>
        </p:txBody>
      </p:sp>
      <p:sp>
        <p:nvSpPr>
          <p:cNvPr id="12" name="Text 10"/>
          <p:cNvSpPr/>
          <p:nvPr/>
        </p:nvSpPr>
        <p:spPr>
          <a:xfrm>
            <a:off x="6464300" y="3014985"/>
            <a:ext cx="20144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essais chacun, sans voir le premier</a:t>
            </a:r>
            <a:endParaRPr lang="en-US" sz="1500" dirty="0"/>
          </a:p>
        </p:txBody>
      </p:sp>
      <p:sp>
        <p:nvSpPr>
          <p:cNvPr id="13" name="Shape 11"/>
          <p:cNvSpPr/>
          <p:nvPr/>
        </p:nvSpPr>
        <p:spPr>
          <a:xfrm>
            <a:off x="8896350" y="2043435"/>
            <a:ext cx="2476500" cy="1765300"/>
          </a:xfrm>
          <a:prstGeom prst="roundRect">
            <a:avLst>
              <a:gd name="adj" fmla="val 5396"/>
            </a:avLst>
          </a:prstGeom>
          <a:solidFill>
            <a:srgbClr val="FFFFFF"/>
          </a:solidFill>
          <a:ln w="12700">
            <a:solidFill>
              <a:srgbClr val="D5DCE6"/>
            </a:solidFill>
            <a:prstDash val="solid"/>
          </a:ln>
        </p:spPr>
        <p:txBody>
          <a:bodyPr/>
          <a:lstStyle/>
          <a:p>
            <a:endParaRPr lang="fr-FR"/>
          </a:p>
        </p:txBody>
      </p:sp>
      <p:sp>
        <p:nvSpPr>
          <p:cNvPr id="14" name="Text 12"/>
          <p:cNvSpPr/>
          <p:nvPr/>
        </p:nvSpPr>
        <p:spPr>
          <a:xfrm>
            <a:off x="9156700" y="2303785"/>
            <a:ext cx="2014474"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B4530F"/>
                </a:solidFill>
                <a:latin typeface="Oswald" pitchFamily="34" charset="0"/>
                <a:ea typeface="Oswald" pitchFamily="34" charset="-122"/>
                <a:cs typeface="Oswald" pitchFamily="34" charset="-120"/>
              </a:rPr>
              <a:t>60</a:t>
            </a:r>
            <a:endParaRPr lang="en-US" sz="4800" dirty="0"/>
          </a:p>
        </p:txBody>
      </p:sp>
      <p:sp>
        <p:nvSpPr>
          <p:cNvPr id="15" name="Text 13"/>
          <p:cNvSpPr/>
          <p:nvPr/>
        </p:nvSpPr>
        <p:spPr>
          <a:xfrm>
            <a:off x="9156700" y="3014985"/>
            <a:ext cx="20144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mesures par instrument</a:t>
            </a:r>
            <a:endParaRPr lang="en-US" sz="1500" dirty="0"/>
          </a:p>
        </p:txBody>
      </p:sp>
      <p:sp>
        <p:nvSpPr>
          <p:cNvPr id="16" name="Text 14"/>
          <p:cNvSpPr/>
          <p:nvPr/>
        </p:nvSpPr>
        <p:spPr>
          <a:xfrm>
            <a:off x="812800" y="4069085"/>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Numéros cachés, ordre tiré au sort : sinon on se souvient de sa première valeur et la répétabilité paraît meilleure qu’elle n’est.</a:t>
            </a:r>
            <a:endParaRPr lang="en-US" sz="1500" dirty="0"/>
          </a:p>
        </p:txBody>
      </p:sp>
      <p:sp>
        <p:nvSpPr>
          <p:cNvPr id="17" name="Text 15"/>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Le Gage R&amp;R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LIRE LE VERDICT</a:t>
            </a:r>
            <a:endParaRPr lang="en-US" sz="1200" dirty="0"/>
          </a:p>
        </p:txBody>
      </p:sp>
      <p:sp>
        <p:nvSpPr>
          <p:cNvPr id="3" name="Text 1"/>
          <p:cNvSpPr>
            <a:spLocks noGrp="1"/>
          </p:cNvSpPr>
          <p:nvPr>
            <p:ph type="title"/>
          </p:nvPr>
        </p:nvSpPr>
        <p:spPr>
          <a:xfrm>
            <a:off x="812800" y="1280158"/>
            <a:ext cx="11379200"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Le %R&amp;R : quelle part de la variation vient de la mesure ?</a:t>
            </a:r>
            <a:endParaRPr lang="en-US" sz="3600" dirty="0"/>
          </a:p>
        </p:txBody>
      </p:sp>
      <p:sp>
        <p:nvSpPr>
          <p:cNvPr id="4" name="Text 2"/>
          <p:cNvSpPr/>
          <p:nvPr/>
        </p:nvSpPr>
        <p:spPr>
          <a:xfrm>
            <a:off x="812800" y="2037085"/>
            <a:ext cx="1905000" cy="762000"/>
          </a:xfrm>
          <a:custGeom>
            <a:avLst/>
            <a:gdLst/>
            <a:ahLst/>
            <a:cxnLst/>
            <a:rect l="l" t="t" r="r" b="b"/>
            <a:pathLst>
              <a:path w="1905000" h="762000">
                <a:moveTo>
                  <a:pt x="0" y="101600"/>
                </a:moveTo>
                <a:arcTo wR="101600" hR="101600" stAng="10800000" swAng="5400000"/>
                <a:lnTo>
                  <a:pt x="1905000" y="0"/>
                </a:lnTo>
                <a:lnTo>
                  <a:pt x="1905000" y="762000"/>
                </a:lnTo>
                <a:lnTo>
                  <a:pt x="101600" y="762000"/>
                </a:lnTo>
                <a:arcTo wR="101600" hR="101600" stAng="5400000" swAng="5400000"/>
                <a:close/>
              </a:path>
            </a:pathLst>
          </a:custGeom>
          <a:solidFill>
            <a:srgbClr val="D7EBDD"/>
          </a:solidFill>
          <a:ln/>
        </p:spPr>
        <p:txBody>
          <a:bodyPr wrap="square" lIns="152400" tIns="152400" rIns="101600" bIns="152400" rtlCol="0" anchor="ctr">
            <a:normAutofit/>
          </a:bodyPr>
          <a:lstStyle/>
          <a:p>
            <a:pPr marL="0" indent="0" algn="l">
              <a:lnSpc>
                <a:spcPts val="2240"/>
              </a:lnSpc>
              <a:buNone/>
            </a:pPr>
            <a:r>
              <a:rPr lang="en-US" sz="1600" b="1" dirty="0">
                <a:solidFill>
                  <a:srgbClr val="2F7D4F"/>
                </a:solidFill>
                <a:latin typeface="IBM Plex Sans" pitchFamily="34" charset="0"/>
                <a:ea typeface="IBM Plex Sans" pitchFamily="34" charset="-122"/>
                <a:cs typeface="IBM Plex Sans" pitchFamily="34" charset="-120"/>
              </a:rPr>
              <a:t>moins de 10 %</a:t>
            </a:r>
            <a:endParaRPr lang="en-US" sz="1600" dirty="0"/>
          </a:p>
        </p:txBody>
      </p:sp>
      <p:sp>
        <p:nvSpPr>
          <p:cNvPr id="5" name="Text 3"/>
          <p:cNvSpPr/>
          <p:nvPr/>
        </p:nvSpPr>
        <p:spPr>
          <a:xfrm>
            <a:off x="2717800" y="2037085"/>
            <a:ext cx="4445000" cy="762000"/>
          </a:xfrm>
          <a:prstGeom prst="rect">
            <a:avLst/>
          </a:prstGeom>
          <a:solidFill>
            <a:srgbClr val="F6E7C8"/>
          </a:solidFill>
          <a:ln/>
        </p:spPr>
        <p:txBody>
          <a:bodyPr wrap="square" lIns="152400" tIns="152400" rIns="28194" bIns="152400" rtlCol="0" anchor="ctr">
            <a:normAutofit/>
          </a:bodyPr>
          <a:lstStyle/>
          <a:p>
            <a:pPr marL="0" indent="0" algn="l">
              <a:lnSpc>
                <a:spcPts val="2240"/>
              </a:lnSpc>
              <a:buNone/>
            </a:pPr>
            <a:r>
              <a:rPr lang="en-US" sz="1600" b="1" dirty="0">
                <a:solidFill>
                  <a:srgbClr val="8A5A00"/>
                </a:solidFill>
                <a:latin typeface="IBM Plex Sans" pitchFamily="34" charset="0"/>
                <a:ea typeface="IBM Plex Sans" pitchFamily="34" charset="-122"/>
                <a:cs typeface="IBM Plex Sans" pitchFamily="34" charset="-120"/>
              </a:rPr>
              <a:t>de 10 à 30 %</a:t>
            </a:r>
            <a:endParaRPr lang="en-US" sz="1600" dirty="0"/>
          </a:p>
        </p:txBody>
      </p:sp>
      <p:sp>
        <p:nvSpPr>
          <p:cNvPr id="6" name="Text 4"/>
          <p:cNvSpPr/>
          <p:nvPr/>
        </p:nvSpPr>
        <p:spPr>
          <a:xfrm>
            <a:off x="7162800" y="2037085"/>
            <a:ext cx="4216400" cy="762000"/>
          </a:xfrm>
          <a:custGeom>
            <a:avLst/>
            <a:gdLst/>
            <a:ahLst/>
            <a:cxnLst/>
            <a:rect l="l" t="t" r="r" b="b"/>
            <a:pathLst>
              <a:path w="4216400" h="762000">
                <a:moveTo>
                  <a:pt x="4114800" y="0"/>
                </a:moveTo>
                <a:arcTo wR="101600" hR="101600" stAng="16200000" swAng="5400000"/>
                <a:lnTo>
                  <a:pt x="4216400" y="660400"/>
                </a:lnTo>
                <a:arcTo wR="101600" hR="101600" stAng="0" swAng="5400000"/>
                <a:lnTo>
                  <a:pt x="0" y="762000"/>
                </a:lnTo>
                <a:lnTo>
                  <a:pt x="0" y="0"/>
                </a:lnTo>
                <a:close/>
              </a:path>
            </a:pathLst>
          </a:custGeom>
          <a:solidFill>
            <a:srgbClr val="F5D5D1"/>
          </a:solidFill>
          <a:ln/>
        </p:spPr>
        <p:txBody>
          <a:bodyPr wrap="square" lIns="152400" tIns="152400" rIns="35052" bIns="152400" rtlCol="0" anchor="ctr">
            <a:normAutofit/>
          </a:bodyPr>
          <a:lstStyle/>
          <a:p>
            <a:pPr marL="0" indent="0" algn="l">
              <a:lnSpc>
                <a:spcPts val="2240"/>
              </a:lnSpc>
              <a:buNone/>
            </a:pPr>
            <a:r>
              <a:rPr lang="en-US" sz="1600" b="1" dirty="0">
                <a:solidFill>
                  <a:srgbClr val="B42318"/>
                </a:solidFill>
                <a:latin typeface="IBM Plex Sans" pitchFamily="34" charset="0"/>
                <a:ea typeface="IBM Plex Sans" pitchFamily="34" charset="-122"/>
                <a:cs typeface="IBM Plex Sans" pitchFamily="34" charset="-120"/>
              </a:rPr>
              <a:t>plus de 30 %</a:t>
            </a:r>
            <a:endParaRPr lang="en-US" sz="1600" dirty="0"/>
          </a:p>
        </p:txBody>
      </p:sp>
      <p:sp>
        <p:nvSpPr>
          <p:cNvPr id="7" name="Text 5"/>
          <p:cNvSpPr/>
          <p:nvPr/>
        </p:nvSpPr>
        <p:spPr>
          <a:xfrm>
            <a:off x="965200" y="3053085"/>
            <a:ext cx="165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Accepté</a:t>
            </a:r>
            <a:endParaRPr lang="en-US" sz="1500" dirty="0"/>
          </a:p>
        </p:txBody>
      </p:sp>
      <p:sp>
        <p:nvSpPr>
          <p:cNvPr id="8" name="Text 6"/>
          <p:cNvSpPr/>
          <p:nvPr/>
        </p:nvSpPr>
        <p:spPr>
          <a:xfrm>
            <a:off x="2870200" y="3053085"/>
            <a:ext cx="426440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Acceptable selon l’enjeu de la cote et le coût d’un meilleur moyen</a:t>
            </a:r>
            <a:endParaRPr lang="en-US" sz="1500" dirty="0"/>
          </a:p>
        </p:txBody>
      </p:sp>
      <p:sp>
        <p:nvSpPr>
          <p:cNvPr id="9" name="Text 7"/>
          <p:cNvSpPr/>
          <p:nvPr/>
        </p:nvSpPr>
        <p:spPr>
          <a:xfrm>
            <a:off x="7315200" y="3053085"/>
            <a:ext cx="402894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Refusé</a:t>
            </a:r>
            <a:endParaRPr lang="en-US" sz="1500" dirty="0"/>
          </a:p>
        </p:txBody>
      </p:sp>
      <p:sp>
        <p:nvSpPr>
          <p:cNvPr id="10" name="Text 8"/>
          <p:cNvSpPr/>
          <p:nvPr/>
        </p:nvSpPr>
        <p:spPr>
          <a:xfrm>
            <a:off x="812800" y="3840485"/>
            <a:ext cx="113792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Et le nombre de catégories distinctes doit être au moins 5 : l’instrument doit savoir ranger les pièces en au moins 5 familles.</a:t>
            </a:r>
            <a:endParaRPr lang="en-US" sz="1500" dirty="0"/>
          </a:p>
        </p:txBody>
      </p:sp>
      <p:sp>
        <p:nvSpPr>
          <p:cNvPr id="11" name="Text 9"/>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Le Gage R&amp;R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RÈGLE DE BASE</a:t>
            </a:r>
            <a:endParaRPr lang="en-US" sz="1200" dirty="0"/>
          </a:p>
        </p:txBody>
      </p:sp>
      <p:sp>
        <p:nvSpPr>
          <p:cNvPr id="3" name="Text 1"/>
          <p:cNvSpPr>
            <a:spLocks noGrp="1"/>
          </p:cNvSpPr>
          <p:nvPr>
            <p:ph type="title"/>
          </p:nvPr>
        </p:nvSpPr>
        <p:spPr>
          <a:xfrm>
            <a:off x="812800" y="1280158"/>
            <a:ext cx="11379200"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La résolution doit valoir au plus un dixième de la tolérance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2269560603"/>
              </p:ext>
            </p:extLst>
          </p:nvPr>
        </p:nvGraphicFramePr>
        <p:xfrm>
          <a:off x="825500" y="2049785"/>
          <a:ext cx="10553700" cy="1757680"/>
        </p:xfrm>
        <a:graphic>
          <a:graphicData uri="http://schemas.openxmlformats.org/drawingml/2006/table">
            <a:tbl>
              <a:tblPr/>
              <a:tblGrid>
                <a:gridCol w="3588258">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tblGrid>
              <a:tr h="439420">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Instrument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Résolution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Butées : IT 0,15 mm</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2240"/>
                        </a:lnSpc>
                        <a:buNone/>
                      </a:pPr>
                      <a:r>
                        <a:rPr lang="en-US" sz="1600" b="1" dirty="0">
                          <a:solidFill>
                            <a:srgbClr val="1B2A4A"/>
                          </a:solidFill>
                          <a:latin typeface="IBM Plex Sans" pitchFamily="34" charset="0"/>
                          <a:ea typeface="IBM Plex Sans" pitchFamily="34" charset="-122"/>
                          <a:cs typeface="IBM Plex Sans" pitchFamily="34" charset="-120"/>
                        </a:rPr>
                        <a:t>IT 0,40 mm</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Pied à coulisse 1/50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0,02 mm</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B42318"/>
                          </a:solidFill>
                          <a:latin typeface="IBM Plex Sans" pitchFamily="34" charset="0"/>
                          <a:ea typeface="IBM Plex Sans" pitchFamily="34" charset="-122"/>
                          <a:cs typeface="IBM Plex Sans" pitchFamily="34" charset="-120"/>
                        </a:rPr>
                        <a:t>trop gros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0,01 mm</a:t>
                      </a:r>
                      <a:endParaRPr lang="en-US" sz="1600" dirty="0">
                        <a:latin typeface="IBM Plex Sans" charset="0"/>
                        <a:ea typeface="IBM Plex Sans" charset="0"/>
                        <a:cs typeface="IBM Plex Sans" charset="0"/>
                      </a:endParaRPr>
                    </a:p>
                  </a:txBody>
                  <a:tcPr marL="71120" marR="71120" marT="71120" marB="71120">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marL="0" indent="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marL="0" indent="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extLst>
                  <a:ext uri="{0D108BD9-81ED-4DB2-BD59-A6C34878D82A}">
                    <a16:rowId xmlns:a16="http://schemas.microsoft.com/office/drawing/2014/main" val="10002"/>
                  </a:ext>
                </a:extLst>
              </a:tr>
              <a:tr h="439420">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Micromètre au 1/1000 (le nôtre)</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1B2A4A"/>
                          </a:solidFill>
                          <a:latin typeface="IBM Plex Sans" pitchFamily="34" charset="0"/>
                          <a:ea typeface="IBM Plex Sans" pitchFamily="34" charset="-122"/>
                          <a:cs typeface="IBM Plex Sans" pitchFamily="34" charset="-120"/>
                        </a:rPr>
                        <a:t>0,001 mm</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 largement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F7D4F"/>
                          </a:solidFill>
                          <a:latin typeface="IBM Plex Sans" pitchFamily="34" charset="0"/>
                          <a:ea typeface="IBM Plex Sans" pitchFamily="34" charset="-122"/>
                          <a:cs typeface="IBM Plex Sans" pitchFamily="34" charset="-120"/>
                        </a:rPr>
                        <a:t>convient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06145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A4A"/>
                </a:solidFill>
                <a:latin typeface="IBM Plex Sans" pitchFamily="34" charset="0"/>
                <a:ea typeface="IBM Plex Sans" pitchFamily="34" charset="-122"/>
                <a:cs typeface="IBM Plex Sans" pitchFamily="34" charset="-120"/>
              </a:rPr>
              <a:t>Condition nécessaire, pas suffisante : un instrument fin mal utilisé peut quand même échouer à l’étude R&amp;R.</a:t>
            </a:r>
            <a:endParaRPr lang="en-US" sz="1500" dirty="0"/>
          </a:p>
        </p:txBody>
      </p:sp>
      <p:sp>
        <p:nvSpPr>
          <p:cNvPr id="6" name="Text 3"/>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Le Gage R&amp;R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AMÉLIORER LA MESURE</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Le verdict dit aussi où agir</a:t>
            </a:r>
            <a:endParaRPr lang="en-US" sz="3600" dirty="0"/>
          </a:p>
        </p:txBody>
      </p:sp>
      <p:sp>
        <p:nvSpPr>
          <p:cNvPr id="4" name="Shape 2"/>
          <p:cNvSpPr/>
          <p:nvPr/>
        </p:nvSpPr>
        <p:spPr>
          <a:xfrm>
            <a:off x="819150" y="2043435"/>
            <a:ext cx="5168900" cy="1800860"/>
          </a:xfrm>
          <a:prstGeom prst="roundRect">
            <a:avLst>
              <a:gd name="adj" fmla="val 5289"/>
            </a:avLst>
          </a:prstGeom>
          <a:solidFill>
            <a:srgbClr val="FFFFFF"/>
          </a:solidFill>
          <a:ln w="12700">
            <a:solidFill>
              <a:srgbClr val="D5DCE6"/>
            </a:solidFill>
            <a:prstDash val="solid"/>
          </a:ln>
        </p:spPr>
        <p:txBody>
          <a:bodyPr/>
          <a:lstStyle/>
          <a:p>
            <a:endParaRPr lang="fr-FR"/>
          </a:p>
        </p:txBody>
      </p:sp>
      <p:sp>
        <p:nvSpPr>
          <p:cNvPr id="5" name="Text 3"/>
          <p:cNvSpPr/>
          <p:nvPr/>
        </p:nvSpPr>
        <p:spPr>
          <a:xfrm>
            <a:off x="1079500" y="2303785"/>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2E6DA4"/>
                </a:solidFill>
                <a:latin typeface="Oswald" pitchFamily="34" charset="0"/>
                <a:ea typeface="Oswald" pitchFamily="34" charset="-122"/>
                <a:cs typeface="Oswald" pitchFamily="34" charset="-120"/>
              </a:rPr>
              <a:t>La répétabilité domine</a:t>
            </a:r>
            <a:endParaRPr lang="en-US" sz="2200" dirty="0"/>
          </a:p>
        </p:txBody>
      </p:sp>
      <p:sp>
        <p:nvSpPr>
          <p:cNvPr id="6" name="Text 4"/>
          <p:cNvSpPr/>
          <p:nvPr/>
        </p:nvSpPr>
        <p:spPr>
          <a:xfrm>
            <a:off x="1125220" y="2726692"/>
            <a:ext cx="4735068" cy="8826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1B2A4A"/>
                </a:solidFill>
                <a:latin typeface="IBM Plex Sans" pitchFamily="34" charset="0"/>
                <a:ea typeface="IBM Plex Sans" pitchFamily="34" charset="-122"/>
                <a:cs typeface="IBM Plex Sans" pitchFamily="34" charset="-120"/>
              </a:rPr>
              <a:t>instrument plus fin ou mieux entretenu</a:t>
            </a:r>
            <a:endParaRPr lang="en-US" sz="1500" dirty="0"/>
          </a:p>
          <a:p>
            <a:pPr marL="182880" indent="-182880" algn="l">
              <a:lnSpc>
                <a:spcPts val="2250"/>
              </a:lnSpc>
              <a:buSzPct val="100000"/>
              <a:buChar char="•"/>
            </a:pPr>
            <a:r>
              <a:rPr lang="en-US" sz="1500" dirty="0">
                <a:solidFill>
                  <a:srgbClr val="1B2A4A"/>
                </a:solidFill>
                <a:latin typeface="IBM Plex Sans" pitchFamily="34" charset="0"/>
                <a:ea typeface="IBM Plex Sans" pitchFamily="34" charset="-122"/>
                <a:cs typeface="IBM Plex Sans" pitchFamily="34" charset="-120"/>
              </a:rPr>
              <a:t>montage, butée, appui de la pièce</a:t>
            </a:r>
            <a:endParaRPr lang="en-US" sz="1500" dirty="0"/>
          </a:p>
          <a:p>
            <a:pPr marL="182880" indent="-182880" algn="l">
              <a:lnSpc>
                <a:spcPts val="2250"/>
              </a:lnSpc>
              <a:buSzPct val="100000"/>
              <a:buChar char="•"/>
            </a:pPr>
            <a:r>
              <a:rPr lang="en-US" sz="1500" dirty="0">
                <a:solidFill>
                  <a:srgbClr val="1B2A4A"/>
                </a:solidFill>
                <a:latin typeface="IBM Plex Sans" pitchFamily="34" charset="0"/>
                <a:ea typeface="IBM Plex Sans" pitchFamily="34" charset="-122"/>
                <a:cs typeface="IBM Plex Sans" pitchFamily="34" charset="-120"/>
              </a:rPr>
              <a:t>endroit de mesure repéré</a:t>
            </a:r>
            <a:endParaRPr lang="en-US" sz="1500" dirty="0"/>
          </a:p>
        </p:txBody>
      </p:sp>
      <p:sp>
        <p:nvSpPr>
          <p:cNvPr id="7" name="Shape 5"/>
          <p:cNvSpPr/>
          <p:nvPr/>
        </p:nvSpPr>
        <p:spPr>
          <a:xfrm>
            <a:off x="6203950" y="2043435"/>
            <a:ext cx="5168900" cy="1800860"/>
          </a:xfrm>
          <a:prstGeom prst="roundRect">
            <a:avLst>
              <a:gd name="adj" fmla="val 5289"/>
            </a:avLst>
          </a:prstGeom>
          <a:solidFill>
            <a:srgbClr val="FFFFFF"/>
          </a:solidFill>
          <a:ln w="12700">
            <a:solidFill>
              <a:srgbClr val="B4530F"/>
            </a:solidFill>
            <a:prstDash val="solid"/>
          </a:ln>
        </p:spPr>
        <p:txBody>
          <a:bodyPr/>
          <a:lstStyle/>
          <a:p>
            <a:endParaRPr lang="fr-FR"/>
          </a:p>
        </p:txBody>
      </p:sp>
      <p:sp>
        <p:nvSpPr>
          <p:cNvPr id="8" name="Text 6"/>
          <p:cNvSpPr/>
          <p:nvPr/>
        </p:nvSpPr>
        <p:spPr>
          <a:xfrm>
            <a:off x="6464300" y="2303785"/>
            <a:ext cx="4787646" cy="346710"/>
          </a:xfrm>
          <a:prstGeom prst="rect">
            <a:avLst/>
          </a:prstGeom>
          <a:noFill/>
          <a:ln/>
        </p:spPr>
        <p:txBody>
          <a:bodyPr wrap="square" lIns="0" tIns="0" rIns="0" bIns="0" rtlCol="0" anchor="t">
            <a:normAutofit/>
          </a:bodyPr>
          <a:lstStyle/>
          <a:p>
            <a:pPr marL="0" indent="0" algn="l">
              <a:lnSpc>
                <a:spcPts val="2530"/>
              </a:lnSpc>
              <a:buNone/>
            </a:pPr>
            <a:r>
              <a:rPr lang="en-US" sz="2200" dirty="0">
                <a:solidFill>
                  <a:srgbClr val="B4530F"/>
                </a:solidFill>
                <a:latin typeface="Oswald" pitchFamily="34" charset="0"/>
                <a:ea typeface="Oswald" pitchFamily="34" charset="-122"/>
                <a:cs typeface="Oswald" pitchFamily="34" charset="-120"/>
              </a:rPr>
              <a:t>La reproductibilité domine</a:t>
            </a:r>
            <a:endParaRPr lang="en-US" sz="2200" dirty="0"/>
          </a:p>
        </p:txBody>
      </p:sp>
      <p:sp>
        <p:nvSpPr>
          <p:cNvPr id="9" name="Text 7"/>
          <p:cNvSpPr/>
          <p:nvPr/>
        </p:nvSpPr>
        <p:spPr>
          <a:xfrm>
            <a:off x="6510020" y="2726692"/>
            <a:ext cx="4735068" cy="8826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1B2A4A"/>
                </a:solidFill>
                <a:latin typeface="IBM Plex Sans" pitchFamily="34" charset="0"/>
                <a:ea typeface="IBM Plex Sans" pitchFamily="34" charset="-122"/>
                <a:cs typeface="IBM Plex Sans" pitchFamily="34" charset="-120"/>
              </a:rPr>
              <a:t>mode opératoire écrit</a:t>
            </a:r>
            <a:endParaRPr lang="en-US" sz="1500" dirty="0"/>
          </a:p>
          <a:p>
            <a:pPr marL="182880" indent="-182880" algn="l">
              <a:lnSpc>
                <a:spcPts val="2250"/>
              </a:lnSpc>
              <a:buSzPct val="100000"/>
              <a:buChar char="•"/>
            </a:pPr>
            <a:r>
              <a:rPr lang="en-US" sz="1500" dirty="0">
                <a:solidFill>
                  <a:srgbClr val="1B2A4A"/>
                </a:solidFill>
                <a:latin typeface="IBM Plex Sans" pitchFamily="34" charset="0"/>
                <a:ea typeface="IBM Plex Sans" pitchFamily="34" charset="-122"/>
                <a:cs typeface="IBM Plex Sans" pitchFamily="34" charset="-120"/>
              </a:rPr>
              <a:t>formation commune</a:t>
            </a:r>
            <a:endParaRPr lang="en-US" sz="1500" dirty="0"/>
          </a:p>
          <a:p>
            <a:pPr marL="182880" indent="-182880" algn="l">
              <a:lnSpc>
                <a:spcPts val="2250"/>
              </a:lnSpc>
              <a:buSzPct val="100000"/>
              <a:buChar char="•"/>
            </a:pPr>
            <a:r>
              <a:rPr lang="en-US" sz="1500" dirty="0">
                <a:solidFill>
                  <a:srgbClr val="1B2A4A"/>
                </a:solidFill>
                <a:latin typeface="IBM Plex Sans" pitchFamily="34" charset="0"/>
                <a:ea typeface="IBM Plex Sans" pitchFamily="34" charset="-122"/>
                <a:cs typeface="IBM Plex Sans" pitchFamily="34" charset="-120"/>
              </a:rPr>
              <a:t>même force de serrage (cliquet)</a:t>
            </a:r>
            <a:endParaRPr lang="en-US" sz="1500" dirty="0"/>
          </a:p>
        </p:txBody>
      </p:sp>
      <p:sp>
        <p:nvSpPr>
          <p:cNvPr id="10" name="Text 8"/>
          <p:cNvSpPr/>
          <p:nvPr/>
        </p:nvSpPr>
        <p:spPr>
          <a:xfrm>
            <a:off x="812800" y="4104642"/>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4A"/>
                </a:solidFill>
                <a:latin typeface="IBM Plex Sans" pitchFamily="34" charset="0"/>
                <a:ea typeface="IBM Plex Sans" pitchFamily="34" charset="-122"/>
                <a:cs typeface="IBM Plex Sans" pitchFamily="34" charset="-120"/>
              </a:rPr>
              <a:t>On refait l’étude après chaque action : c’est la seule preuve que ça a marché.</a:t>
            </a:r>
            <a:endParaRPr lang="en-US" sz="1600" dirty="0"/>
          </a:p>
        </p:txBody>
      </p:sp>
      <p:sp>
        <p:nvSpPr>
          <p:cNvPr id="11" name="Text 9"/>
          <p:cNvSpPr/>
          <p:nvPr/>
        </p:nvSpPr>
        <p:spPr>
          <a:xfrm>
            <a:off x="812800" y="62890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Le Gage R&amp;R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RETOUR AU 5 NOVEMBRE</a:t>
            </a:r>
            <a:endParaRPr lang="en-US" sz="1200" dirty="0"/>
          </a:p>
        </p:txBody>
      </p:sp>
      <p:sp>
        <p:nvSpPr>
          <p:cNvPr id="9"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IBM Plex Sans" pitchFamily="34" charset="0"/>
                <a:ea typeface="IBM Plex Sans" pitchFamily="34" charset="-122"/>
                <a:cs typeface="IBM Plex Sans" pitchFamily="34" charset="-120"/>
              </a:rPr>
              <a:t>RETOUR AU 5 NOVEMBRE</a:t>
            </a:r>
            <a:endParaRPr lang="en-US" sz="1200" dirty="0"/>
          </a:p>
        </p:txBody>
      </p:sp>
      <p:sp>
        <p:nvSpPr>
          <p:cNvPr id="3" name="Text 1"/>
          <p:cNvSpPr>
            <a:spLocks noGrp="1"/>
          </p:cNvSpPr>
          <p:nvPr>
            <p:ph type="title"/>
          </p:nvPr>
        </p:nvSpPr>
        <p:spPr>
          <a:xfrm>
            <a:off x="812800" y="12801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B2A4A"/>
                </a:solidFill>
                <a:latin typeface="Oswald" pitchFamily="34" charset="0"/>
                <a:ea typeface="Oswald" pitchFamily="34" charset="-122"/>
                <a:cs typeface="Oswald" pitchFamily="34" charset="-120"/>
              </a:rPr>
              <a:t>Nos Cp étaient-ils justes ?</a:t>
            </a:r>
            <a:endParaRPr lang="en-US" sz="3600" dirty="0"/>
          </a:p>
        </p:txBody>
      </p:sp>
      <p:sp>
        <p:nvSpPr>
          <p:cNvPr id="4" name="Text 2"/>
          <p:cNvSpPr/>
          <p:nvPr/>
        </p:nvSpPr>
        <p:spPr>
          <a:xfrm>
            <a:off x="819150" y="2043435"/>
            <a:ext cx="10553700" cy="916940"/>
          </a:xfrm>
          <a:prstGeom prst="roundRect">
            <a:avLst>
              <a:gd name="adj" fmla="val 10388"/>
            </a:avLst>
          </a:prstGeom>
          <a:solidFill>
            <a:srgbClr val="FFFFFF"/>
          </a:solidFill>
          <a:ln w="12700">
            <a:solidFill>
              <a:srgbClr val="D5DCE6"/>
            </a:solidFill>
            <a:prstDash val="solid"/>
          </a:ln>
        </p:spPr>
        <p:txBody>
          <a:bodyPr wrap="square" lIns="81957" tIns="232452" rIns="81957" bIns="207052" rtlCol="0" anchor="t">
            <a:normAutofit/>
          </a:bodyPr>
          <a:lstStyle/>
          <a:p>
            <a:pPr marL="0" indent="0" algn="ctr">
              <a:lnSpc>
                <a:spcPts val="3120"/>
              </a:lnSpc>
              <a:buNone/>
            </a:pPr>
            <a:r>
              <a:rPr lang="en-US" sz="2400" dirty="0">
                <a:solidFill>
                  <a:srgbClr val="1B2A4A"/>
                </a:solidFill>
                <a:latin typeface="Oswald" pitchFamily="34" charset="0"/>
                <a:ea typeface="Oswald" pitchFamily="34" charset="-122"/>
                <a:cs typeface="Oswald" pitchFamily="34" charset="-120"/>
              </a:rPr>
              <a:t>dispersion vue² = dispersion pièces² + dispersion mesure²</a:t>
            </a:r>
            <a:endParaRPr lang="en-US" sz="2400" dirty="0"/>
          </a:p>
        </p:txBody>
      </p:sp>
      <p:sp>
        <p:nvSpPr>
          <p:cNvPr id="5" name="Text 3"/>
          <p:cNvSpPr/>
          <p:nvPr/>
        </p:nvSpPr>
        <p:spPr>
          <a:xfrm>
            <a:off x="812800" y="3220715"/>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A4A"/>
                </a:solidFill>
                <a:latin typeface="IBM Plex Sans" pitchFamily="34" charset="0"/>
                <a:ea typeface="IBM Plex Sans" pitchFamily="34" charset="-122"/>
                <a:cs typeface="IBM Plex Sans" pitchFamily="34" charset="-120"/>
              </a:rPr>
              <a:t>Une partie de l’écart-type mesuré le premier jour venait de l’instrument. Le vrai procédé est un peu meilleur que ce qu’on a calculé.</a:t>
            </a:r>
            <a:endParaRPr lang="en-US" sz="1600" dirty="0"/>
          </a:p>
        </p:txBody>
      </p:sp>
      <p:sp>
        <p:nvSpPr>
          <p:cNvPr id="6" name="Text 4"/>
          <p:cNvSpPr/>
          <p:nvPr/>
        </p:nvSpPr>
        <p:spPr>
          <a:xfrm>
            <a:off x="812800" y="4043685"/>
            <a:ext cx="10883392"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B4530F"/>
                </a:solidFill>
                <a:latin typeface="IBM Plex Sans" pitchFamily="34" charset="0"/>
                <a:ea typeface="IBM Plex Sans" pitchFamily="34" charset="-122"/>
                <a:cs typeface="IBM Plex Sans" pitchFamily="34" charset="-120"/>
              </a:rPr>
              <a:t>Moralité : on valide l’instrument avant de juger un procédé, jamais après.</a:t>
            </a:r>
            <a:endParaRPr lang="en-US" sz="1800" dirty="0"/>
          </a:p>
        </p:txBody>
      </p:sp>
      <p:sp>
        <p:nvSpPr>
          <p:cNvPr id="7" name="Text 5"/>
          <p:cNvSpPr/>
          <p:nvPr/>
        </p:nvSpPr>
        <p:spPr>
          <a:xfrm>
            <a:off x="812800" y="62890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673"/>
                </a:solidFill>
                <a:latin typeface="IBM Plex Sans" pitchFamily="34" charset="0"/>
                <a:ea typeface="IBM Plex Sans" pitchFamily="34" charset="-122"/>
                <a:cs typeface="IBM Plex Sans" pitchFamily="34" charset="-120"/>
              </a:rPr>
              <a:t>Séquence D · Le Gage R&amp;R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12800" y="198881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37E"/>
                </a:solidFill>
                <a:latin typeface="IBM Plex Sans" pitchFamily="34" charset="0"/>
                <a:ea typeface="IBM Plex Sans" pitchFamily="34" charset="-122"/>
                <a:cs typeface="IBM Plex Sans" pitchFamily="34" charset="-120"/>
              </a:rPr>
              <a:t>À EMPORTER</a:t>
            </a:r>
            <a:endParaRPr lang="en-US" sz="1200" dirty="0"/>
          </a:p>
        </p:txBody>
      </p:sp>
      <p:sp>
        <p:nvSpPr>
          <p:cNvPr id="3" name="Text 1"/>
          <p:cNvSpPr>
            <a:spLocks noGrp="1"/>
          </p:cNvSpPr>
          <p:nvPr>
            <p:ph type="title"/>
          </p:nvPr>
        </p:nvSpPr>
        <p:spPr>
          <a:xfrm>
            <a:off x="812800" y="2557785"/>
            <a:ext cx="10883392" cy="695960"/>
          </a:xfrm>
          <a:prstGeom prst="rect">
            <a:avLst/>
          </a:prstGeom>
          <a:noFill/>
          <a:ln/>
        </p:spPr>
        <p:txBody>
          <a:bodyPr wrap="square" lIns="0" tIns="0" rIns="0" bIns="0" rtlCol="0" anchor="t">
            <a:normAutofit/>
          </a:bodyPr>
          <a:lstStyle/>
          <a:p>
            <a:pPr marL="0" indent="0" algn="l">
              <a:lnSpc>
                <a:spcPts val="5280"/>
              </a:lnSpc>
              <a:buNone/>
            </a:pPr>
            <a:r>
              <a:rPr lang="en-US" sz="4800" b="0" i="0" dirty="0">
                <a:solidFill>
                  <a:srgbClr val="F7F5F0"/>
                </a:solidFill>
                <a:latin typeface="Oswald" pitchFamily="34" charset="0"/>
                <a:ea typeface="Oswald" pitchFamily="34" charset="-122"/>
                <a:cs typeface="Oswald" pitchFamily="34" charset="-120"/>
              </a:rPr>
              <a:t>Mesurer, juger, surveiller, réagir</a:t>
            </a:r>
            <a:endParaRPr lang="en-US" sz="4800" dirty="0"/>
          </a:p>
        </p:txBody>
      </p:sp>
      <p:sp>
        <p:nvSpPr>
          <p:cNvPr id="4" name="Shape 2"/>
          <p:cNvSpPr/>
          <p:nvPr/>
        </p:nvSpPr>
        <p:spPr>
          <a:xfrm>
            <a:off x="812800" y="3583955"/>
            <a:ext cx="2108200" cy="1285240"/>
          </a:xfrm>
          <a:prstGeom prst="roundRect">
            <a:avLst>
              <a:gd name="adj" fmla="val 7905"/>
            </a:avLst>
          </a:prstGeom>
          <a:solidFill>
            <a:srgbClr val="24375C"/>
          </a:solidFill>
          <a:ln/>
        </p:spPr>
        <p:txBody>
          <a:bodyPr/>
          <a:lstStyle/>
          <a:p>
            <a:endParaRPr lang="fr-FR"/>
          </a:p>
        </p:txBody>
      </p:sp>
      <p:sp>
        <p:nvSpPr>
          <p:cNvPr id="5" name="Text 3"/>
          <p:cNvSpPr/>
          <p:nvPr/>
        </p:nvSpPr>
        <p:spPr>
          <a:xfrm>
            <a:off x="1016000" y="3787155"/>
            <a:ext cx="1752854"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0B37E"/>
                </a:solidFill>
                <a:latin typeface="Oswald" pitchFamily="34" charset="0"/>
                <a:ea typeface="Oswald" pitchFamily="34" charset="-122"/>
                <a:cs typeface="Oswald" pitchFamily="34" charset="-120"/>
              </a:rPr>
              <a:t>Mesurer</a:t>
            </a:r>
            <a:endParaRPr lang="en-US" sz="2000" dirty="0"/>
          </a:p>
        </p:txBody>
      </p:sp>
      <p:sp>
        <p:nvSpPr>
          <p:cNvPr id="6" name="Text 4"/>
          <p:cNvSpPr/>
          <p:nvPr/>
        </p:nvSpPr>
        <p:spPr>
          <a:xfrm>
            <a:off x="1016000" y="4168155"/>
            <a:ext cx="175285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8"/>
                </a:solidFill>
                <a:latin typeface="IBM Plex Sans" pitchFamily="34" charset="0"/>
                <a:ea typeface="IBM Plex Sans" pitchFamily="34" charset="-122"/>
                <a:cs typeface="IBM Plex Sans" pitchFamily="34" charset="-120"/>
              </a:rPr>
              <a:t>Instrument validé par une étude R&amp;R</a:t>
            </a:r>
            <a:endParaRPr lang="en-US" sz="1400" dirty="0"/>
          </a:p>
        </p:txBody>
      </p:sp>
      <p:pic>
        <p:nvPicPr>
          <p:cNvPr id="7" name="Image 0" descr="arrow-right"/>
          <p:cNvPicPr>
            <a:picLocks noChangeAspect="1"/>
          </p:cNvPicPr>
          <p:nvPr/>
        </p:nvPicPr>
        <p:blipFill>
          <a:blip r:embed="rId3"/>
          <a:srcRect/>
          <a:stretch/>
        </p:blipFill>
        <p:spPr>
          <a:xfrm>
            <a:off x="3073400" y="4112270"/>
            <a:ext cx="406400" cy="228600"/>
          </a:xfrm>
          <a:prstGeom prst="rect">
            <a:avLst/>
          </a:prstGeom>
        </p:spPr>
      </p:pic>
      <p:sp>
        <p:nvSpPr>
          <p:cNvPr id="8" name="Shape 5"/>
          <p:cNvSpPr/>
          <p:nvPr/>
        </p:nvSpPr>
        <p:spPr>
          <a:xfrm>
            <a:off x="3632200" y="3583955"/>
            <a:ext cx="2108200" cy="1285240"/>
          </a:xfrm>
          <a:prstGeom prst="roundRect">
            <a:avLst>
              <a:gd name="adj" fmla="val 7905"/>
            </a:avLst>
          </a:prstGeom>
          <a:solidFill>
            <a:srgbClr val="24375C"/>
          </a:solidFill>
          <a:ln/>
        </p:spPr>
        <p:txBody>
          <a:bodyPr/>
          <a:lstStyle/>
          <a:p>
            <a:endParaRPr lang="fr-FR"/>
          </a:p>
        </p:txBody>
      </p:sp>
      <p:sp>
        <p:nvSpPr>
          <p:cNvPr id="9" name="Text 6"/>
          <p:cNvSpPr/>
          <p:nvPr/>
        </p:nvSpPr>
        <p:spPr>
          <a:xfrm>
            <a:off x="3835400" y="3787155"/>
            <a:ext cx="1752854"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0B37E"/>
                </a:solidFill>
                <a:latin typeface="Oswald" pitchFamily="34" charset="0"/>
                <a:ea typeface="Oswald" pitchFamily="34" charset="-122"/>
                <a:cs typeface="Oswald" pitchFamily="34" charset="-120"/>
              </a:rPr>
              <a:t>Juger</a:t>
            </a:r>
            <a:endParaRPr lang="en-US" sz="2000" dirty="0"/>
          </a:p>
        </p:txBody>
      </p:sp>
      <p:sp>
        <p:nvSpPr>
          <p:cNvPr id="10" name="Text 7"/>
          <p:cNvSpPr/>
          <p:nvPr/>
        </p:nvSpPr>
        <p:spPr>
          <a:xfrm>
            <a:off x="3835400" y="4168155"/>
            <a:ext cx="175285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8"/>
                </a:solidFill>
                <a:latin typeface="IBM Plex Sans" pitchFamily="34" charset="0"/>
                <a:ea typeface="IBM Plex Sans" pitchFamily="34" charset="-122"/>
                <a:cs typeface="IBM Plex Sans" pitchFamily="34" charset="-120"/>
              </a:rPr>
              <a:t>Cp et Cpk face à l’exigence du client</a:t>
            </a:r>
            <a:endParaRPr lang="en-US" sz="1400" dirty="0"/>
          </a:p>
        </p:txBody>
      </p:sp>
      <p:pic>
        <p:nvPicPr>
          <p:cNvPr id="11" name="Image 1" descr="arrow-right"/>
          <p:cNvPicPr>
            <a:picLocks noChangeAspect="1"/>
          </p:cNvPicPr>
          <p:nvPr/>
        </p:nvPicPr>
        <p:blipFill>
          <a:blip r:embed="rId3"/>
          <a:srcRect/>
          <a:stretch/>
        </p:blipFill>
        <p:spPr>
          <a:xfrm>
            <a:off x="5892800" y="4112270"/>
            <a:ext cx="406400" cy="228600"/>
          </a:xfrm>
          <a:prstGeom prst="rect">
            <a:avLst/>
          </a:prstGeom>
        </p:spPr>
      </p:pic>
      <p:sp>
        <p:nvSpPr>
          <p:cNvPr id="12" name="Shape 8"/>
          <p:cNvSpPr/>
          <p:nvPr/>
        </p:nvSpPr>
        <p:spPr>
          <a:xfrm>
            <a:off x="6451600" y="3583955"/>
            <a:ext cx="2108200" cy="1285240"/>
          </a:xfrm>
          <a:prstGeom prst="roundRect">
            <a:avLst>
              <a:gd name="adj" fmla="val 7905"/>
            </a:avLst>
          </a:prstGeom>
          <a:solidFill>
            <a:srgbClr val="24375C"/>
          </a:solidFill>
          <a:ln/>
        </p:spPr>
        <p:txBody>
          <a:bodyPr/>
          <a:lstStyle/>
          <a:p>
            <a:endParaRPr lang="fr-FR"/>
          </a:p>
        </p:txBody>
      </p:sp>
      <p:sp>
        <p:nvSpPr>
          <p:cNvPr id="13" name="Text 9"/>
          <p:cNvSpPr/>
          <p:nvPr/>
        </p:nvSpPr>
        <p:spPr>
          <a:xfrm>
            <a:off x="6654800" y="3787155"/>
            <a:ext cx="1752854"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0B37E"/>
                </a:solidFill>
                <a:latin typeface="Oswald" pitchFamily="34" charset="0"/>
                <a:ea typeface="Oswald" pitchFamily="34" charset="-122"/>
                <a:cs typeface="Oswald" pitchFamily="34" charset="-120"/>
              </a:rPr>
              <a:t>Surveiller</a:t>
            </a:r>
            <a:endParaRPr lang="en-US" sz="2000" dirty="0"/>
          </a:p>
        </p:txBody>
      </p:sp>
      <p:sp>
        <p:nvSpPr>
          <p:cNvPr id="14" name="Text 10"/>
          <p:cNvSpPr/>
          <p:nvPr/>
        </p:nvSpPr>
        <p:spPr>
          <a:xfrm>
            <a:off x="6654800" y="4168155"/>
            <a:ext cx="175285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8"/>
                </a:solidFill>
                <a:latin typeface="IBM Plex Sans" pitchFamily="34" charset="0"/>
                <a:ea typeface="IBM Plex Sans" pitchFamily="34" charset="-122"/>
                <a:cs typeface="IBM Plex Sans" pitchFamily="34" charset="-120"/>
              </a:rPr>
              <a:t>Carte X̄/R, limites du procédé</a:t>
            </a:r>
            <a:endParaRPr lang="en-US" sz="1400" dirty="0"/>
          </a:p>
        </p:txBody>
      </p:sp>
      <p:pic>
        <p:nvPicPr>
          <p:cNvPr id="15" name="Image 2" descr="arrow-right"/>
          <p:cNvPicPr>
            <a:picLocks noChangeAspect="1"/>
          </p:cNvPicPr>
          <p:nvPr/>
        </p:nvPicPr>
        <p:blipFill>
          <a:blip r:embed="rId3"/>
          <a:srcRect/>
          <a:stretch/>
        </p:blipFill>
        <p:spPr>
          <a:xfrm>
            <a:off x="8712200" y="4112270"/>
            <a:ext cx="406400" cy="228600"/>
          </a:xfrm>
          <a:prstGeom prst="rect">
            <a:avLst/>
          </a:prstGeom>
        </p:spPr>
      </p:pic>
      <p:sp>
        <p:nvSpPr>
          <p:cNvPr id="16" name="Shape 11"/>
          <p:cNvSpPr/>
          <p:nvPr/>
        </p:nvSpPr>
        <p:spPr>
          <a:xfrm>
            <a:off x="9271000" y="3583955"/>
            <a:ext cx="2108200" cy="1285240"/>
          </a:xfrm>
          <a:prstGeom prst="roundRect">
            <a:avLst>
              <a:gd name="adj" fmla="val 7905"/>
            </a:avLst>
          </a:prstGeom>
          <a:solidFill>
            <a:srgbClr val="24375C"/>
          </a:solidFill>
          <a:ln/>
        </p:spPr>
        <p:txBody>
          <a:bodyPr/>
          <a:lstStyle/>
          <a:p>
            <a:endParaRPr lang="fr-FR"/>
          </a:p>
        </p:txBody>
      </p:sp>
      <p:sp>
        <p:nvSpPr>
          <p:cNvPr id="17" name="Text 12"/>
          <p:cNvSpPr/>
          <p:nvPr/>
        </p:nvSpPr>
        <p:spPr>
          <a:xfrm>
            <a:off x="9474200" y="3787155"/>
            <a:ext cx="1752854"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0B37E"/>
                </a:solidFill>
                <a:latin typeface="Oswald" pitchFamily="34" charset="0"/>
                <a:ea typeface="Oswald" pitchFamily="34" charset="-122"/>
                <a:cs typeface="Oswald" pitchFamily="34" charset="-120"/>
              </a:rPr>
              <a:t>Réagir</a:t>
            </a:r>
            <a:endParaRPr lang="en-US" sz="2000" dirty="0"/>
          </a:p>
        </p:txBody>
      </p:sp>
      <p:sp>
        <p:nvSpPr>
          <p:cNvPr id="18" name="Text 13"/>
          <p:cNvSpPr/>
          <p:nvPr/>
        </p:nvSpPr>
        <p:spPr>
          <a:xfrm>
            <a:off x="9474200" y="4168155"/>
            <a:ext cx="175285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8"/>
                </a:solidFill>
                <a:latin typeface="IBM Plex Sans" pitchFamily="34" charset="0"/>
                <a:ea typeface="IBM Plex Sans" pitchFamily="34" charset="-122"/>
                <a:cs typeface="IBM Plex Sans" pitchFamily="34" charset="-120"/>
              </a:rPr>
              <a:t>OCAP écrite à l’avance</a:t>
            </a:r>
            <a:endParaRPr lang="en-US" sz="1400" dirty="0"/>
          </a:p>
        </p:txBody>
      </p:sp>
    </p:spTree>
  </p:cSld>
  <p:clrMapOvr>
    <a:masterClrMapping/>
  </p:clrMapOvr>
</p:sld>
</file>

<file path=ppt/theme/theme1.xml><?xml version="1.0" encoding="utf-8"?>
<a:theme xmlns:a="http://schemas.openxmlformats.org/drawingml/2006/main" name="Capabilité et SPC · TQ6">
  <a:themeElements>
    <a:clrScheme name="Capabilité et SPC · TQ6">
      <a:dk1>
        <a:srgbClr val="1B2A4A"/>
      </a:dk1>
      <a:lt1>
        <a:srgbClr val="F7F5F0"/>
      </a:lt1>
      <a:dk2>
        <a:srgbClr val="525D74"/>
      </a:dk2>
      <a:lt2>
        <a:srgbClr val="E1E1DF"/>
      </a:lt2>
      <a:accent1>
        <a:srgbClr val="B4530F"/>
      </a:accent1>
      <a:accent2>
        <a:srgbClr val="2E6DA4"/>
      </a:accent2>
      <a:accent3>
        <a:srgbClr val="F0B37E"/>
      </a:accent3>
      <a:accent4>
        <a:srgbClr val="B42318"/>
      </a:accent4>
      <a:accent5>
        <a:srgbClr val="2F7D4F"/>
      </a:accent5>
      <a:accent6>
        <a:srgbClr val="8A5A00"/>
      </a:accent6>
      <a:hlink>
        <a:srgbClr val="0563C1"/>
      </a:hlink>
      <a:folHlink>
        <a:srgbClr val="954F72"/>
      </a:folHlink>
    </a:clrScheme>
    <a:fontScheme name="Capabilité et SPC · TQ6">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4253</Words>
  <Application>Microsoft Office PowerPoint</Application>
  <PresentationFormat>Grand écran</PresentationFormat>
  <Paragraphs>383</Paragraphs>
  <Slides>32</Slides>
  <Notes>32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32</vt:i4>
      </vt:variant>
    </vt:vector>
  </HeadingPairs>
  <TitlesOfParts>
    <vt:vector size="36" baseType="lpstr">
      <vt:lpstr>Arial</vt:lpstr>
      <vt:lpstr>IBM Plex Sans</vt:lpstr>
      <vt:lpstr>Oswald</vt:lpstr>
      <vt:lpstr>Capabilité et SPC · TQ6</vt:lpstr>
      <vt:lpstr>Capabilité et SPC</vt:lpstr>
      <vt:lpstr>Trois jours, une seule question : peut-on faire confiance à nos pièces ?</vt:lpstr>
      <vt:lpstr>Le micromètre affiche 11,942. Est-ce la vraie valeur ?</vt:lpstr>
      <vt:lpstr>Une mesure, c’est la pièce plus l’erreur de mesure</vt:lpstr>
      <vt:lpstr>Deux pièces identiques, ça n’existe pas</vt:lpstr>
      <vt:lpstr>L’histogramme montre la forme de la variabilité</vt:lpstr>
      <vt:lpstr>Où vise le procédé ? Combien bouge-t-il ?</vt:lpstr>
      <vt:lpstr>Six écarts-types : la place que prend le procédé</vt:lpstr>
      <vt:lpstr>Que s’est-il passé à l’atelier ?</vt:lpstr>
      <vt:lpstr>La tolérance est le garage. Le procédé est la voiture.</vt:lpstr>
      <vt:lpstr>Cp : la voiture rentre-t-elle dans le garage ?</vt:lpstr>
      <vt:lpstr>Cpk : la voiture est-elle garée au milieu ?</vt:lpstr>
      <vt:lpstr>Même garage, quatre voitures</vt:lpstr>
      <vt:lpstr>Ce que veut dire un Cpk</vt:lpstr>
      <vt:lpstr>Cm, Cmk : la machine seule. Cp, Cpk : le procédé dans la durée.</vt:lpstr>
      <vt:lpstr>Le procédé n’est pas capable : que fait-on ?</vt:lpstr>
      <vt:lpstr>La capabilité est une photo. Le SPC est le film.</vt:lpstr>
      <vt:lpstr>Le bruit de fond et l’événement</vt:lpstr>
      <vt:lpstr>Corriger à chaque pièce augmente la dispersion</vt:lpstr>
      <vt:lpstr>Une carte X̄ : les moyennes, dans le temps</vt:lpstr>
      <vt:lpstr>Limites de contrôle ≠ tolérances</vt:lpstr>
      <vt:lpstr>Trois règles à connaître par cœur</vt:lpstr>
      <vt:lpstr>Une OCAP répond à l’avance à cinq questions</vt:lpstr>
      <vt:lpstr>Peut-on croire la mesure ?</vt:lpstr>
      <vt:lpstr>Ce qu’on voit bouger = les pièces + la mesure</vt:lpstr>
      <vt:lpstr>Répétabilité et reproductibilité</vt:lpstr>
      <vt:lpstr>10 pièces, 3 opérateurs, 2 essais, en aveugle</vt:lpstr>
      <vt:lpstr>Le %R&amp;R : quelle part de la variation vient de la mesure ?</vt:lpstr>
      <vt:lpstr>La résolution doit valoir au plus un dixième de la tolérance</vt:lpstr>
      <vt:lpstr>Le verdict dit aussi où agir</vt:lpstr>
      <vt:lpstr>Nos Cp étaient-ils justes ?</vt:lpstr>
      <vt:lpstr>Mesurer, juger, surveiller, réagir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Capabilité et SPC · TQ6</dc:title>
  <dc:subject/>
  <dc:creator/>
  <cp:lastModifiedBy>Stéphane JAUBERT</cp:lastModifiedBy>
  <cp:revision>1</cp:revision>
  <dcterms:created xsi:type="dcterms:W3CDTF">2026-10-01T12:24:52Z</dcterms:created>
  <dcterms:modified xsi:type="dcterms:W3CDTF">2026-10-01T12:25:29Z</dcterms:modified>
</cp:coreProperties>
</file>
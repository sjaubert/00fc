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Pas de tour de table classique : on passe directement à « ma cote critique » (une cote que chacun contrôle à son poste). On note tout au paperboard : le mur des cotes servira jusqu’au 25 novembre. La pièce en photo est l’une des 20 butées des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la règle du jeu : pas plus de 30 minutes de diaporama d’affilée, tout le reste se fait sur les pièces. Pas de classeur tout fait : chacun construit ses feuilles Excel à partir des fichiers bruts, formule par formule, et repart avec. Entre le 6 et le 25 : mission en entreprise sur une cote critique, sans chiffre confidentiel.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projeter après le flash mesure en aveugle sur les butées n° 1 à 5 (fiche A), une fois les post-it affichés. La photo montre le micromètre numérique de la formation (0-25 mm, résolution 0,001 mm) sur le petit diamètre d’une butée. Ne pas répondre : laisser le débat s’installer. Relever les causes citées (endroit de mesure sur la butée, pression des becs du pied ou serrage avec ou sans cliquet du micromètre, lecture du vernier et parallaxe sur le pied, propreté des touches, zéro, température). Conclure : on ne connaîtra jamais la vraie valeur, seulement une valeur mesurée. On y revient le 25 avec l’étude Cg/Cgk.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 11,942 : lecture réelle du micromètre sur une butée (photo de la diapo 3). Détail pour le formateur : on modélise la valeur lue comme Y = X + E, où X est la vraie valeur de la pièce et E l’erreur de mesure, supposées indépendantes. Les variances s’ajoutent : σ²(lue) = σ²(pièces) + σ²(mesure). C’est ce que l’étude Cg/Cgk du jour 3 permet de chiffrer pour l’instrument.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citer des exemples vécus à chaque stagiaire, sur leur propre production (KNDS, Compositec, Thales). Relier au module AMDEC et au diagramme d’Ishikawa qu’ils connaissent. Message : la variabilité n’est pas une faute, c’est une propriété du procédé.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Construire l’histogramme mural avec les gommettes pendant le TP B, puis montrer cette diapo comme « mise au propre ». Insister : on ne regarde pas les pièces une par une, on regarde la forme du tas. Détail : la loi normale apparaît quand beaucoup de petites causes indépendantes s’additionnent (théorème central limite). Ne pas en faire un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du tir. Demander : lequel des trois tireurs corrige-t-on en tournant la molette du viseur ? Le troisième. Le deuxième, aucune molette ne le sauvera. Pour le formateur : écart-type d’échantillon s = racine de la somme des carrés des écarts à la moyenne divisée par n − 1. Excel : ECARTYPE.STANDARD, la fonction utilisée dans le livret.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de la loi normale : 68,3 % à ±1σ, 95,4 % à ±2σ, 99,73 % à ±3σ. Donc environ 2 700 pièces par million hors de ±3σ (1 350 de chaque côté). C’est cette largeur 6σ qu’on va comparer à la tolérance. Valable si l’histogramme a une forme de cloche : sinon, le dire et ne pas sur-interpréter.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attendues. A : procédé stable, causes communes seulement. B : deux populations mélangées (deux machines, deux réglages, deux lots matière, deux équipes). C : pièces triées, on a retiré celles sous la tolérance basse (le contrôle à 100 % masque le problème). D : distribution dissymétrique, typique d’une limite physique (une cote qui ne peut pas descendre sous une valeur, un faux-rond, une rugosité) ou d’une dérive d’usure pendant la série. Faire défendre chaque hypothèse.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dans Excel : rang k, k-ième plus petite valeur (PETITE.VALEUR), proportion (k − 0,5)/n, score z = LOI.NORMALE.STANDARD.INVERSE.N(proportion). Nuage de points : mesure en abscisse, z en ordonnée. C’est un test à l’œil ; les logiciels donnent un test chiffré (Shapiro-Wilk sous R ou Ellistat). Avec des mesures au 0,01, attendre des paliers horizontaux : plusieurs rangs pour une même valeur. Le schéma de droite est une illustration, pas des données réelles.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 de transition vers la capabilité, juste après le tir sur cible (TP09) ou le cas client. On regarde la voiture de dessus : c’est sa largeur qui compte, comparée à la largeur du garage. Garage = intervalle de tolérance IT, du plan. Voiture = largeur naturelle du procédé, 6 écarts-types. On ne peut pas élargir le garage (c’est le client) : on peut rétrécir la voiture (réduire la dispersion) ou mieux la garer (recentrer).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 dessus : les deux murs latéraux du garage sont les tolérances TI et TS, la largeur de la voiture est la largeur naturelle du procédé (6σ). Ici Cp ≈ 1,6. Cp = (TS − TI) / (6σ). Ne dépend que de la dispersion, pas du centrage : c’est le potentiel du procédé s’il était parfaitement réglé. Exemple sur les butées : IT = 12,00 − 11,85 = 0,15 mm ; avec σ = 0,015 mm, Cp = 0,15 / 0,09 ≈ 1,67. Dans le livret (fiche C), σ est estimé de deux façons : R̄/d₂ pour Cp, s global pour 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Cpk = min(TS − moyenne ; moyenne − TI) / (3σ). On divise par 3σ et non 6σ car on ne regarde qu’une moitié de la voiture : du milieu (pointillés orange) au mur. Exemple sur les butées : TI 11,85, TS 12,00, moyenne 11,95, σ 0,015 : Cpk = min(0,05 ; 0,10) / 0,045 ≈ 1,11 alors que Cp ≈ 1,67. Le procédé est bon, mal réglé. Sur les 30 valeurs du TP butée, c’est l’inverse : le procédé vise trop bas (moyenne 11,887).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deviner le verdict avant de dévoiler le texte (le formateur peut masquer la ligne du bas). Lien avec le TP C : client 2 (serré) = cas 3 ; client 3 (décentré) = cas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d₂ = 2,326 pour des échantillons de 5. Sur les 30 valeurs du TP butée (échantillons 1 à 6) : R̄ = 0,050, σ instantané = 0,0215, s global = 0,0264 ; Cp = 1,16, Cpk = 0,57 ; Pp = 0,95, Ppk = 0,46. Les moyennes d’échantillons montent de 11,862 à 11,910 : c’est cette dérive que s voit et que R̄ ne voit pas. Refaire le constat avec les 50 valeurs du jour (fiche C). Vocabulaire : selon les entreprises, on parle aussi de capabilité court terme et long terme.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Valeurs de la loi normale (queue unilatérale) : P(Z &gt; 3) ≈ 0,00135 ; P(Z &gt; 4) ≈ 3,2·10⁻⁵ ; P(Z &gt; 5) ≈ 2,9·10⁻⁷ ; P(Z &gt; 6) ≈ 1·10⁻⁹. Ce sont des ordres de grandeur : ils supposent une loi normale et un procédé stable. Demander aux stagiaires ce qu’exigent KNDS, Compositec et Thales (cahier des charges, PPAP, plan de surveillance) plutôt que d’imposer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Mêmes formules, pas les mêmes données. Cm = IT / 6σ court terme, Cmk idem avec le centrage. Le seuil machine est plus haut parce que le procédé ajoutera forcément de la dispersion. Nos pièces du jour 1 : lot dont on ne connaît pas l’ordre de fabrication, donc en toute rigueur des indices de performance Pp/Ppk (écart-type global). Le dire en une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en relation avec l’étude de cas TP4 (le client exige Cpk ≥ 1,33). Rappeler qu’on vérifie d’abord la mesure : un mauvais instrument gonfle σ et fait chuter Cp (jour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de la séquence SPC, après l’entonnoir de Deming. SPC = Statistical Process Control, en français MSP (maîtrise statistique des procédés). Idée : passer de la détection (trier les mauvaises pièces) à la prévention (réagir sur le procédé avant les mauvaises pièces).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de Shewhart et Deming. Un procédé « sous contrôle » (stable) ne présente que des causes communes : il est prévisible, ce qui ne veut pas dire capable. Faire classer par les stagiaires des exemples de leur atelier dans les deux colonnes.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Expérience de l’entonnoir de Deming (TP08). Règle 2 : après chaque bille, on déplace l’entonnoir de l’opposé de l’écart constaté. La variance double, donc l’écart-type est multiplié par √2 ≈ 1,41. Règles 3 et 4 (corriger depuis la cible, ou se placer sur la dernière bille) font pire, jusqu’à la dérive. Comparer aux résultats obtenus par le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carte X̄ : la moyenne de chaque sous-groupe. Sur la carte R, juste en dessous dans la pratique : l’étendue (max − min) du sous-groupe, qui surveille la dispersion. Pour n = 5 (nos butées) : LSC = X̄̄ + A₂R̄ avec A₂ = 0,577 ; LSC(R) = D₄R̄ avec D₄ = 2,114 ; LIC(R) = 0. En AFNOR : A'c = 0,594 et D'c2 = 2,36 (diapo suivante). Les stagiaires construisent ces calculs dans leur feuille (fiche D). Ici, le dernier point sort : alarme.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limites de contrôle sont calculées sur les mesures du procédé : elles disent ce que le procédé fait normalement. Les tolérances sont écrites sur le plan : elles disent ce que le client accepte. Les limites de la carte X̄ portent sur des moyennes, plus resserrées que les pièces individuelles : on ne peut donc pas les comparer aux tolérances. Sur le mur, carte A1 : deux couleurs.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Origine des coefficients, vérifiable sur le tableau du TP : A'c = 3,09 / (d₂√n) et A's = 1,96 / (d₂√n) ; A₂ = 3 / (d₂√n). 3,09 et 1,96 sont les quantiles de la loi normale à 0,999 et 0,975. Les coefficients D' de la carte R viennent des quantiles de la loi de l’étendue. Norme française de référence citée dans les cours d’atelier : NF X 06-031. La règle de la zone de surveillance est une règle usuelle d’atelier : vérifier la règle écrite dans l’entreprise de chaque stagiaire. Sur les 30 valeurs du TP butée, aucun point ne sort à 3 sigmas, mais les échantillons 1 et 2 tombent dans la zone de surveillance basse : AFNOR aurait fait régler.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simplifiée pour l’atelier, celle du livret (fiche D et aide-mémoire R). Pour les cartes AFNOR, s’ajoute la règle de la zone de surveillance (diapo précédente). Les seuils varient selon les référentiels et les clients : règles de Western Electric, de Nelson, AIAG (7, 8 ou 9 points du même côté selon les cas). Vérifier ce qu’utilise l’entreprise des stagiaires. Ce qui compte : chaque règle correspond à un événement improbable si seules les causes communes agissent.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 = étendue mobile = |xᵢ − xᵢ₋₁|. 2,66 = 3 / 1,128 (d₂ pour n = 2) et 3,267 = D₄ pour n = 2. Exemple de l’enquête E2 (liquide) : sur 15 lots, moyenne 38,33, m̄R = 2,36, limites 32,06 et 44,60, limite mR 7,70. Le lot 17 (44) reste sous 44,60 mais son étendue mobile vaut 10 : alarme sur la carte mR seulement. Enquête E5 : même carte pour montrer le sur-réglage.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OCAP : de l’anglais Out of Control Action Plan, plan d’action hors contrôle, aussi appelé fiche réflexe. Ces cinq questions sont une grille de lecture : se caler sur la structure de l’OCAP du TP10 et sur celles que les stagiaires rapportent de leur entreprise. Le point important : décider à froid, avant l’alarme, pour ne pas improviser à chaud.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referme la boucle ouverte le premier jour. Rappeler les écarts constatés au flash mesure (les post-it sont encore au mur, si possible). L’étude Cg/Cgk (méthode Bosch, procédure 1) est la première marche de la MSA (Measurement System Analysis, analyse des systèmes de mesure). L’étude R&amp;R vient ensuite, quand on veut aussi chiffrer l’effet des opérateurs.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Robert Bosch GmbH, Booklet No. 10, Capability of Measurement and Test Processes, édition 2019, procédure 1 (étude de type 1). Cg = 0,2·T / (6·s), exigence Cg ≥ 1,33. Au moins 25 mesures, 50 conseillées, sur un étalon stable. Même logique que Cp : un garage (0,2 T) et une voiture (6 s). Butées : 0,2 × 0,15 = 0,03 mm ; Cg ≥ 1,33 demande s ≤ 0,0038 mm environ. D’autres référentiels ou règles maison existent : demander celle de l’entreprise.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Bosch, Booklet No. 10 (2019), procédure 1 : Cgk = (0,1·T − |x̄ − xm|) / (3·s). Le biais exige une valeur de référence connue : un étalon dont l’incertitude d’étalonnage est petite devant T (Bosch : au moins Ucal &lt; 0,1 T, idéalement 0,01 T). Notre butée R est mesurée au micromètre par le formateur : ce n’est pas un étalon certifié, le Cgk du jour est indicatif. Le dire franchement.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Bosch, Booklet No. 10 (2019) : résolution inférieure à 5 % de T, au minimum inférieure à 10 % de T. La règle du 1/10 de l’atelier correspond au seuil de 10 %. Butées : 5 % de 0,15 = 0,0075 mm ; 10 % = 0,015 mm. Le pied à coulisse échoue aux deux seuils avant même de mesurer. Conséquence pratique au pied : très peu de valeurs différentes sur 25 lectures, donc un écart-type mal estimé et un Cg qui ne veut rien dire.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 I du livret. Séries 1 et 2 : deux opérateurs différents au micromètre, la comparaison des deux moyennes donne un premier regard sur l’effet opérateur. Série 3 : pied à coulisse, en parallèle de la série 1. Pendant les mesures, les autres construisent la feuille Excel (moyenne, s, biais, Cg, Cgk, recopiés vers les trois colonnes grâce aux $). Bosch demande au moins 25 mesures, 50 de préférence.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Ordre logique en entreprise : résolution, puis Cg/Cgk (type 1, l’instrument seul), puis R&amp;R (type 2, avec plusieurs opérateurs et plusieurs pièces de production). On s’arrête ici au type 1, plus direct pour ce public. Pour l’écart entre les séries 1 et 2, le livret propose de le comparer à 0,1 T = 0,015 mm : c’est un repère pédagogique, pas un critère normalisé.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chiffré si besoin : σ vue = 0,015 et σ mesure = 0,006 donnent σ pièces = √(0,015² − 0,006²) ≈ 0,0137. Le Cp passe de IT/0,090 à IT/0,082, soit environ +9 %. Faire le calcul avec les vraies valeurs du groupe (fiche C pour le lot, fiche I pour l’écart-type de la série micromètre).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les cartes aux attributs (fiche G). Demander d’abord : dans vos ateliers, qu’est-ce qu’on compte au lieu de le mesurer ? Noter les réponses : taux de rebut, nombre de défauts d’aspect, contrôle au calibre.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D’après le support « Cartes de contrôle aux attributs » du Bachelor. p et np : loi binomiale (pièce conforme ou non). c et u : loi de Poisson (nombre de défauts). Pièce non conforme et défaut ne sont pas la même chose : une pièce rejetée peut porter trois rayures. Exercice G1 : 120 lots de 150 unités, p̄ = 4,73 %, LCS(p) = 9,93 %, lots 59, 68 et 112 hors limites ; la carte np donne les mêmes lots car la taille est constante.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finale, avant les affiches du cas intégratif (fiche F). Chaque case correspond à une case de l’affiche « plan de maîtrise d’une cote ». Tour de table de clôture : ce que je change au poste lundi.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A4A"/>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80"/>
            <a:ext cx="10566400" cy="3957320"/>
          </a:xfrm>
          <a:prstGeom prst="rect">
            <a:avLst/>
          </a:prstGeom>
          <a:noFill/>
          <a:ln/>
        </p:spPr>
        <p:txBody>
          <a:bodyPr wrap="square" lIns="0" tIns="0" rIns="0" bIns="0" rtlCol="0" anchor="t"/>
          <a:lstStyle>
            <a:lvl1pPr algn="l" indent="0" marL="0">
              <a:lnSpc>
                <a:spcPct val="140000"/>
              </a:lnSpc>
              <a:buNone/>
              <a:defRPr lang="en-US" sz="1600" dirty="0">
                <a:solidFill>
                  <a:srgbClr val="1B2A4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A4A"/>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80"/>
            <a:ext cx="10566400" cy="3957320"/>
          </a:xfrm>
          <a:prstGeom prst="rect">
            <a:avLst/>
          </a:prstGeom>
          <a:noFill/>
          <a:ln/>
        </p:spPr>
        <p:txBody>
          <a:bodyPr wrap="square" lIns="0" tIns="0" rIns="0" bIns="0" rtlCol="0" anchor="t"/>
          <a:lstStyle>
            <a:lvl1pPr algn="l" indent="0" marL="0">
              <a:lnSpc>
                <a:spcPct val="140000"/>
              </a:lnSpc>
              <a:buNone/>
              <a:defRPr lang="en-US" sz="1600" dirty="0">
                <a:solidFill>
                  <a:srgbClr val="1B2A4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pic>
        <p:nvPicPr>
          <p:cNvPr id="2" name="Image 0" descr="Une butée tenue entre les doigts : la pièce des TP">    </p:cNvPr>
          <p:cNvPicPr>
            <a:picLocks noChangeAspect="1"/>
          </p:cNvPicPr>
          <p:nvPr/>
        </p:nvPicPr>
        <p:blipFill>
          <a:blip r:embed="rId1"/>
          <a:srcRect l="0" r="0" t="15" b="15"/>
          <a:stretch/>
        </p:blipFill>
        <p:spPr>
          <a:xfrm>
            <a:off x="7315200" y="0"/>
            <a:ext cx="4876800" cy="6858000"/>
          </a:xfrm>
          <a:prstGeom prst="rect">
            <a:avLst/>
          </a:prstGeom>
        </p:spPr>
      </p:pic>
      <p:sp>
        <p:nvSpPr>
          <p:cNvPr id="3" name="Text 0"/>
          <p:cNvSpPr/>
          <p:nvPr/>
        </p:nvSpPr>
        <p:spPr>
          <a:xfrm>
            <a:off x="812800" y="206756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CQPM TECHNICIEN QUALITÉ · PROMO TQ6</a:t>
            </a:r>
            <a:endParaRPr lang="en-US" sz="1200" dirty="0"/>
          </a:p>
        </p:txBody>
      </p:sp>
      <p:sp>
        <p:nvSpPr>
          <p:cNvPr id="4" name="Text 1"/>
          <p:cNvSpPr/>
          <p:nvPr>
            <p:ph type="title"/>
          </p:nvPr>
        </p:nvSpPr>
        <p:spPr>
          <a:xfrm>
            <a:off x="812800" y="2484120"/>
            <a:ext cx="5886450"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Capabilité et SPC</a:t>
            </a:r>
            <a:endParaRPr lang="en-US" sz="6000" dirty="0"/>
          </a:p>
        </p:txBody>
      </p:sp>
      <p:sp>
        <p:nvSpPr>
          <p:cNvPr id="5" name="Text 2"/>
          <p:cNvSpPr/>
          <p:nvPr/>
        </p:nvSpPr>
        <p:spPr>
          <a:xfrm>
            <a:off x="812800" y="3487420"/>
            <a:ext cx="588645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6E8"/>
                </a:solidFill>
                <a:latin typeface="IBM Plex Sans" pitchFamily="34" charset="0"/>
                <a:ea typeface="IBM Plex Sans" pitchFamily="34" charset="-122"/>
                <a:cs typeface="IBM Plex Sans" pitchFamily="34" charset="-120"/>
              </a:rPr>
              <a:t>Mesurer, surveiller, réagir</a:t>
            </a:r>
            <a:endParaRPr lang="en-US" sz="2200" dirty="0"/>
          </a:p>
        </p:txBody>
      </p:sp>
      <p:sp>
        <p:nvSpPr>
          <p:cNvPr id="6" name="Text 3"/>
          <p:cNvSpPr/>
          <p:nvPr/>
        </p:nvSpPr>
        <p:spPr>
          <a:xfrm>
            <a:off x="812800" y="4257040"/>
            <a:ext cx="588645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6E8"/>
                </a:solidFill>
                <a:latin typeface="IBM Plex Sans" pitchFamily="34" charset="0"/>
                <a:ea typeface="IBM Plex Sans" pitchFamily="34" charset="-122"/>
                <a:cs typeface="IBM Plex Sans" pitchFamily="34" charset="-120"/>
              </a:rPr>
              <a:t>5, 6 et 25 novembre 2026 · AFPI Bourges</a:t>
            </a:r>
            <a:endParaRPr lang="en-US" sz="1400" dirty="0"/>
          </a:p>
          <a:p>
            <a:pPr algn="l" indent="0" marL="0">
              <a:lnSpc>
                <a:spcPts val="2100"/>
              </a:lnSpc>
              <a:buNone/>
            </a:pPr>
            <a:r>
              <a:rPr lang="en-US" sz="1400" dirty="0">
                <a:solidFill>
                  <a:srgbClr val="C9D6E8"/>
                </a:solidFill>
                <a:latin typeface="IBM Plex Sans" pitchFamily="34" charset="0"/>
                <a:ea typeface="IBM Plex Sans" pitchFamily="34" charset="-122"/>
                <a:cs typeface="IBM Plex Sans" pitchFamily="34" charset="-120"/>
              </a:rPr>
              <a:t>S. Jaubert · Pôle Formation UIMM Centre-Val de Loire</a:t>
            </a:r>
            <a:endParaRPr lang="en-US" sz="1400" dirty="0"/>
          </a:p>
        </p:txBody>
      </p:sp>
      <p:pic>
        <p:nvPicPr>
          <p:cNvPr id="7" name="Image 1" descr="Logo Pôle Formation UIMM">    </p:cNvPr>
          <p:cNvPicPr>
            <a:picLocks noChangeAspect="1"/>
          </p:cNvPicPr>
          <p:nvPr/>
        </p:nvPicPr>
        <p:blipFill>
          <a:blip r:embed="rId2"/>
          <a:srcRect l="-172" r="-172" t="0" b="0"/>
          <a:stretch/>
        </p:blipFill>
        <p:spPr>
          <a:xfrm>
            <a:off x="812800" y="5334000"/>
            <a:ext cx="596900" cy="635000"/>
          </a:xfrm>
          <a:prstGeom prst="roundRect">
            <a:avLst>
              <a:gd name="adj" fmla="val 8511"/>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 PARCOURS</a:t>
            </a:r>
            <a:endParaRPr lang="en-US" sz="1200" dirty="0"/>
          </a:p>
        </p:txBody>
      </p:sp>
      <p:sp>
        <p:nvSpPr>
          <p:cNvPr id="3" name="Text 1"/>
          <p:cNvSpPr/>
          <p:nvPr>
            <p:ph type="title"/>
          </p:nvPr>
        </p:nvSpPr>
        <p:spPr>
          <a:xfrm>
            <a:off x="812800" y="128016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Trois jours, une seule question : peut-on faire confiance à nos pièces ?</a:t>
            </a:r>
            <a:endParaRPr lang="en-US" sz="3600" dirty="0"/>
          </a:p>
        </p:txBody>
      </p:sp>
      <p:sp>
        <p:nvSpPr>
          <p:cNvPr id="4" name="Shape 2"/>
          <p:cNvSpPr/>
          <p:nvPr/>
        </p:nvSpPr>
        <p:spPr>
          <a:xfrm>
            <a:off x="819150" y="2546350"/>
            <a:ext cx="3373953" cy="2379980"/>
          </a:xfrm>
          <a:prstGeom prst="roundRect">
            <a:avLst>
              <a:gd name="adj" fmla="val 4002"/>
            </a:avLst>
          </a:prstGeom>
          <a:solidFill>
            <a:srgbClr val="FFFFFF"/>
          </a:solidFill>
          <a:ln w="12700">
            <a:solidFill>
              <a:srgbClr val="D5DCE6"/>
            </a:solidFill>
            <a:prstDash val="solid"/>
          </a:ln>
        </p:spPr>
      </p:sp>
      <p:sp>
        <p:nvSpPr>
          <p:cNvPr id="5" name="Text 3"/>
          <p:cNvSpPr/>
          <p:nvPr/>
        </p:nvSpPr>
        <p:spPr>
          <a:xfrm>
            <a:off x="1079500" y="2806700"/>
            <a:ext cx="2938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Jeudi 5 novembre</a:t>
            </a:r>
            <a:endParaRPr lang="en-US" sz="1200" dirty="0"/>
          </a:p>
        </p:txBody>
      </p:sp>
      <p:sp>
        <p:nvSpPr>
          <p:cNvPr id="6" name="Text 4"/>
          <p:cNvSpPr/>
          <p:nvPr/>
        </p:nvSpPr>
        <p:spPr>
          <a:xfrm>
            <a:off x="1079500" y="3121660"/>
            <a:ext cx="2938851"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Toute mesure varie</a:t>
            </a:r>
            <a:endParaRPr lang="en-US" sz="2200" dirty="0"/>
          </a:p>
        </p:txBody>
      </p:sp>
      <p:sp>
        <p:nvSpPr>
          <p:cNvPr id="7" name="Text 5"/>
          <p:cNvSpPr/>
          <p:nvPr/>
        </p:nvSpPr>
        <p:spPr>
          <a:xfrm>
            <a:off x="1079500" y="3544570"/>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mesure le lot. On construit sa feuille Excel. On juge s’il plaît au client.</a:t>
            </a:r>
            <a:endParaRPr lang="en-US" sz="1500" dirty="0"/>
          </a:p>
        </p:txBody>
      </p:sp>
      <p:sp>
        <p:nvSpPr>
          <p:cNvPr id="8" name="Shape 6"/>
          <p:cNvSpPr/>
          <p:nvPr/>
        </p:nvSpPr>
        <p:spPr>
          <a:xfrm>
            <a:off x="4409003" y="2546350"/>
            <a:ext cx="3373993" cy="2379980"/>
          </a:xfrm>
          <a:prstGeom prst="roundRect">
            <a:avLst>
              <a:gd name="adj" fmla="val 4002"/>
            </a:avLst>
          </a:prstGeom>
          <a:solidFill>
            <a:srgbClr val="FFFFFF"/>
          </a:solidFill>
          <a:ln w="12700">
            <a:solidFill>
              <a:srgbClr val="D5DCE6"/>
            </a:solidFill>
            <a:prstDash val="solid"/>
          </a:ln>
        </p:spPr>
      </p:sp>
      <p:sp>
        <p:nvSpPr>
          <p:cNvPr id="9" name="Text 7"/>
          <p:cNvSpPr/>
          <p:nvPr/>
        </p:nvSpPr>
        <p:spPr>
          <a:xfrm>
            <a:off x="4669353" y="2806700"/>
            <a:ext cx="29388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Vendredi 6 novembre</a:t>
            </a:r>
            <a:endParaRPr lang="en-US" sz="1200" dirty="0"/>
          </a:p>
        </p:txBody>
      </p:sp>
      <p:sp>
        <p:nvSpPr>
          <p:cNvPr id="10" name="Text 8"/>
          <p:cNvSpPr/>
          <p:nvPr/>
        </p:nvSpPr>
        <p:spPr>
          <a:xfrm>
            <a:off x="4669353" y="3121660"/>
            <a:ext cx="2938892"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Du cliché au film</a:t>
            </a:r>
            <a:endParaRPr lang="en-US" sz="2200" dirty="0"/>
          </a:p>
        </p:txBody>
      </p:sp>
      <p:sp>
        <p:nvSpPr>
          <p:cNvPr id="11" name="Text 9"/>
          <p:cNvSpPr/>
          <p:nvPr/>
        </p:nvSpPr>
        <p:spPr>
          <a:xfrm>
            <a:off x="4669353" y="3544570"/>
            <a:ext cx="29388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construit la carte de contrôle. On enquête sur cinq procédés.</a:t>
            </a:r>
            <a:endParaRPr lang="en-US" sz="1500" dirty="0"/>
          </a:p>
        </p:txBody>
      </p:sp>
      <p:sp>
        <p:nvSpPr>
          <p:cNvPr id="12" name="Shape 10"/>
          <p:cNvSpPr/>
          <p:nvPr/>
        </p:nvSpPr>
        <p:spPr>
          <a:xfrm>
            <a:off x="7998897" y="2546350"/>
            <a:ext cx="3373953" cy="2379980"/>
          </a:xfrm>
          <a:prstGeom prst="roundRect">
            <a:avLst>
              <a:gd name="adj" fmla="val 4002"/>
            </a:avLst>
          </a:prstGeom>
          <a:solidFill>
            <a:srgbClr val="FFFFFF"/>
          </a:solidFill>
          <a:ln w="12700">
            <a:solidFill>
              <a:srgbClr val="D5DCE6"/>
            </a:solidFill>
            <a:prstDash val="solid"/>
          </a:ln>
        </p:spPr>
      </p:sp>
      <p:sp>
        <p:nvSpPr>
          <p:cNvPr id="13" name="Text 11"/>
          <p:cNvSpPr/>
          <p:nvPr/>
        </p:nvSpPr>
        <p:spPr>
          <a:xfrm>
            <a:off x="8259247" y="2806700"/>
            <a:ext cx="2938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Mercredi 25 novembre</a:t>
            </a:r>
            <a:endParaRPr lang="en-US" sz="1200" dirty="0"/>
          </a:p>
        </p:txBody>
      </p:sp>
      <p:sp>
        <p:nvSpPr>
          <p:cNvPr id="14" name="Text 12"/>
          <p:cNvSpPr/>
          <p:nvPr/>
        </p:nvSpPr>
        <p:spPr>
          <a:xfrm>
            <a:off x="8259247" y="3121660"/>
            <a:ext cx="2938851" cy="66802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Peut-on croire la mesure ?</a:t>
            </a:r>
            <a:endParaRPr lang="en-US" sz="2200" dirty="0"/>
          </a:p>
        </p:txBody>
      </p:sp>
      <p:sp>
        <p:nvSpPr>
          <p:cNvPr id="15" name="Text 13"/>
          <p:cNvSpPr/>
          <p:nvPr/>
        </p:nvSpPr>
        <p:spPr>
          <a:xfrm>
            <a:off x="8259247" y="3865880"/>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teste nos instruments. On compte les défauts. On assemble tout.</a:t>
            </a:r>
            <a:endParaRPr lang="en-US" sz="1500" dirty="0"/>
          </a:p>
        </p:txBody>
      </p:sp>
      <p:sp>
        <p:nvSpPr>
          <p:cNvPr id="16" name="Text 14"/>
          <p:cNvSpPr/>
          <p:nvPr/>
        </p:nvSpPr>
        <p:spPr>
          <a:xfrm>
            <a:off x="812800" y="62890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Ouverture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pic>
        <p:nvPicPr>
          <p:cNvPr id="2" name="Image 0" descr="Micromètre numérique 0-25 mm au 0,001 mm affichant 11,942 sur le petit diamètre d’une butée">    </p:cNvPr>
          <p:cNvPicPr>
            <a:picLocks noChangeAspect="1"/>
          </p:cNvPicPr>
          <p:nvPr/>
        </p:nvPicPr>
        <p:blipFill>
          <a:blip r:embed="rId1"/>
          <a:srcRect l="3263" r="3263" t="0" b="0"/>
          <a:stretch/>
        </p:blipFill>
        <p:spPr>
          <a:xfrm>
            <a:off x="406400" y="1397000"/>
            <a:ext cx="6731000" cy="4064000"/>
          </a:xfrm>
          <a:prstGeom prst="roundRect">
            <a:avLst>
              <a:gd name="adj" fmla="val 2500"/>
            </a:avLst>
          </a:prstGeom>
        </p:spPr>
      </p:pic>
      <p:sp>
        <p:nvSpPr>
          <p:cNvPr id="3" name="Text 0"/>
          <p:cNvSpPr/>
          <p:nvPr/>
        </p:nvSpPr>
        <p:spPr>
          <a:xfrm>
            <a:off x="7556500" y="1524000"/>
            <a:ext cx="393738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FLASH MESURE</a:t>
            </a:r>
            <a:endParaRPr lang="en-US" sz="1200" dirty="0"/>
          </a:p>
        </p:txBody>
      </p:sp>
      <p:sp>
        <p:nvSpPr>
          <p:cNvPr id="4" name="Text 1"/>
          <p:cNvSpPr/>
          <p:nvPr>
            <p:ph type="title"/>
          </p:nvPr>
        </p:nvSpPr>
        <p:spPr>
          <a:xfrm>
            <a:off x="7556500" y="1965961"/>
            <a:ext cx="3937381" cy="153416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micromètre affiche 11,942. Est-ce la vraie valeur ?</a:t>
            </a:r>
            <a:endParaRPr lang="en-US" sz="3600" dirty="0"/>
          </a:p>
        </p:txBody>
      </p:sp>
      <p:sp>
        <p:nvSpPr>
          <p:cNvPr id="5" name="Text 2"/>
          <p:cNvSpPr/>
          <p:nvPr/>
        </p:nvSpPr>
        <p:spPr>
          <a:xfrm>
            <a:off x="7556500" y="3703320"/>
            <a:ext cx="3937381"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IBM Plex Sans" pitchFamily="34" charset="0"/>
                <a:ea typeface="IBM Plex Sans" pitchFamily="34" charset="-122"/>
                <a:cs typeface="IBM Plex Sans" pitchFamily="34" charset="-120"/>
              </a:rPr>
              <a:t>Six personnes, six mesures. Qui a raison ?</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LIT L’INSTRUMENT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mesure, c’est la pièce plus l’erreur de mesure</a:t>
            </a:r>
            <a:endParaRPr lang="en-US" sz="3600" dirty="0"/>
          </a:p>
        </p:txBody>
      </p:sp>
      <p:sp>
        <p:nvSpPr>
          <p:cNvPr id="4" name="Shape 2"/>
          <p:cNvSpPr/>
          <p:nvPr/>
        </p:nvSpPr>
        <p:spPr>
          <a:xfrm>
            <a:off x="812800" y="2049780"/>
            <a:ext cx="3065582" cy="1483360"/>
          </a:xfrm>
          <a:prstGeom prst="roundRect">
            <a:avLst>
              <a:gd name="adj" fmla="val 6849"/>
            </a:avLst>
          </a:prstGeom>
          <a:solidFill>
            <a:srgbClr val="1B2A4A"/>
          </a:solidFill>
          <a:ln/>
        </p:spPr>
      </p:sp>
      <p:sp>
        <p:nvSpPr>
          <p:cNvPr id="5" name="Text 3"/>
          <p:cNvSpPr/>
          <p:nvPr/>
        </p:nvSpPr>
        <p:spPr>
          <a:xfrm>
            <a:off x="1117600" y="2354580"/>
            <a:ext cx="252966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ce qu’on lit</a:t>
            </a:r>
            <a:endParaRPr lang="en-US" sz="1400" dirty="0"/>
          </a:p>
        </p:txBody>
      </p:sp>
      <p:sp>
        <p:nvSpPr>
          <p:cNvPr id="6" name="Text 4"/>
          <p:cNvSpPr/>
          <p:nvPr/>
        </p:nvSpPr>
        <p:spPr>
          <a:xfrm>
            <a:off x="1117600" y="2679700"/>
            <a:ext cx="2529661"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F7F5F0"/>
                </a:solidFill>
                <a:latin typeface="Oswald" pitchFamily="34" charset="0"/>
                <a:ea typeface="Oswald" pitchFamily="34" charset="-122"/>
                <a:cs typeface="Oswald" pitchFamily="34" charset="-120"/>
              </a:rPr>
              <a:t>11,942</a:t>
            </a:r>
            <a:endParaRPr lang="en-US" sz="3600" dirty="0"/>
          </a:p>
        </p:txBody>
      </p:sp>
      <p:sp>
        <p:nvSpPr>
          <p:cNvPr id="7" name="Text 5"/>
          <p:cNvSpPr/>
          <p:nvPr/>
        </p:nvSpPr>
        <p:spPr>
          <a:xfrm>
            <a:off x="4081581" y="2364741"/>
            <a:ext cx="303808" cy="878840"/>
          </a:xfrm>
          <a:prstGeom prst="rect">
            <a:avLst/>
          </a:prstGeom>
          <a:noFill/>
          <a:ln/>
        </p:spPr>
        <p:txBody>
          <a:bodyPr wrap="square" lIns="0" tIns="0" rIns="0" bIns="0" rtlCol="0" anchor="t">
            <a:normAutofit/>
          </a:bodyPr>
          <a:lstStyle/>
          <a:p>
            <a:pPr algn="l" indent="0" marL="0">
              <a:lnSpc>
                <a:spcPts val="6720"/>
              </a:lnSpc>
              <a:buNone/>
            </a:pPr>
            <a:r>
              <a:rPr lang="en-US" sz="4800" dirty="0">
                <a:solidFill>
                  <a:srgbClr val="4A5568"/>
                </a:solidFill>
                <a:latin typeface="Oswald" pitchFamily="34" charset="0"/>
                <a:ea typeface="Oswald" pitchFamily="34" charset="-122"/>
                <a:cs typeface="Oswald" pitchFamily="34" charset="-120"/>
              </a:rPr>
              <a:t>=</a:t>
            </a:r>
            <a:endParaRPr lang="en-US" sz="4800" dirty="0"/>
          </a:p>
        </p:txBody>
      </p:sp>
      <p:sp>
        <p:nvSpPr>
          <p:cNvPr id="8" name="Shape 6"/>
          <p:cNvSpPr/>
          <p:nvPr/>
        </p:nvSpPr>
        <p:spPr>
          <a:xfrm>
            <a:off x="4544139" y="2043430"/>
            <a:ext cx="3078321" cy="1496060"/>
          </a:xfrm>
          <a:prstGeom prst="roundRect">
            <a:avLst>
              <a:gd name="adj" fmla="val 6367"/>
            </a:avLst>
          </a:prstGeom>
          <a:solidFill>
            <a:srgbClr val="FFFFFF"/>
          </a:solidFill>
          <a:ln w="12700">
            <a:solidFill>
              <a:srgbClr val="D5DCE6"/>
            </a:solidFill>
            <a:prstDash val="solid"/>
          </a:ln>
        </p:spPr>
      </p:sp>
      <p:sp>
        <p:nvSpPr>
          <p:cNvPr id="9" name="Text 7"/>
          <p:cNvSpPr/>
          <p:nvPr/>
        </p:nvSpPr>
        <p:spPr>
          <a:xfrm>
            <a:off x="4855289" y="2354580"/>
            <a:ext cx="2529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la vraie valeur</a:t>
            </a:r>
            <a:endParaRPr lang="en-US" sz="1400" dirty="0"/>
          </a:p>
        </p:txBody>
      </p:sp>
      <p:sp>
        <p:nvSpPr>
          <p:cNvPr id="10" name="Text 8"/>
          <p:cNvSpPr/>
          <p:nvPr/>
        </p:nvSpPr>
        <p:spPr>
          <a:xfrm>
            <a:off x="4855289" y="2679700"/>
            <a:ext cx="2529702"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1B2A4A"/>
                </a:solidFill>
                <a:latin typeface="Oswald" pitchFamily="34" charset="0"/>
                <a:ea typeface="Oswald" pitchFamily="34" charset="-122"/>
                <a:cs typeface="Oswald" pitchFamily="34" charset="-120"/>
              </a:rPr>
              <a:t>?</a:t>
            </a:r>
            <a:endParaRPr lang="en-US" sz="3600" dirty="0"/>
          </a:p>
        </p:txBody>
      </p:sp>
      <p:sp>
        <p:nvSpPr>
          <p:cNvPr id="11" name="Text 9"/>
          <p:cNvSpPr/>
          <p:nvPr/>
        </p:nvSpPr>
        <p:spPr>
          <a:xfrm>
            <a:off x="7832011" y="2364741"/>
            <a:ext cx="303808" cy="878840"/>
          </a:xfrm>
          <a:prstGeom prst="rect">
            <a:avLst/>
          </a:prstGeom>
          <a:noFill/>
          <a:ln/>
        </p:spPr>
        <p:txBody>
          <a:bodyPr wrap="square" lIns="0" tIns="0" rIns="0" bIns="0" rtlCol="0" anchor="t">
            <a:normAutofit/>
          </a:bodyPr>
          <a:lstStyle/>
          <a:p>
            <a:pPr algn="l" indent="0" marL="0">
              <a:lnSpc>
                <a:spcPts val="6720"/>
              </a:lnSpc>
              <a:buNone/>
            </a:pPr>
            <a:r>
              <a:rPr lang="en-US" sz="4800" dirty="0">
                <a:solidFill>
                  <a:srgbClr val="4A5568"/>
                </a:solidFill>
                <a:latin typeface="Oswald" pitchFamily="34" charset="0"/>
                <a:ea typeface="Oswald" pitchFamily="34" charset="-122"/>
                <a:cs typeface="Oswald" pitchFamily="34" charset="-120"/>
              </a:rPr>
              <a:t>+</a:t>
            </a:r>
            <a:endParaRPr lang="en-US" sz="4800" dirty="0"/>
          </a:p>
        </p:txBody>
      </p:sp>
      <p:sp>
        <p:nvSpPr>
          <p:cNvPr id="12" name="Shape 10"/>
          <p:cNvSpPr/>
          <p:nvPr/>
        </p:nvSpPr>
        <p:spPr>
          <a:xfrm>
            <a:off x="8294569" y="2043430"/>
            <a:ext cx="3078282" cy="1496060"/>
          </a:xfrm>
          <a:prstGeom prst="roundRect">
            <a:avLst>
              <a:gd name="adj" fmla="val 6367"/>
            </a:avLst>
          </a:prstGeom>
          <a:solidFill>
            <a:srgbClr val="FBEADF"/>
          </a:solidFill>
          <a:ln w="12700">
            <a:solidFill>
              <a:srgbClr val="B4530F"/>
            </a:solidFill>
            <a:prstDash val="solid"/>
          </a:ln>
        </p:spPr>
      </p:sp>
      <p:sp>
        <p:nvSpPr>
          <p:cNvPr id="13" name="Text 11"/>
          <p:cNvSpPr/>
          <p:nvPr/>
        </p:nvSpPr>
        <p:spPr>
          <a:xfrm>
            <a:off x="8605719" y="2354580"/>
            <a:ext cx="252966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530F"/>
                </a:solidFill>
                <a:latin typeface="IBM Plex Sans" pitchFamily="34" charset="0"/>
                <a:ea typeface="IBM Plex Sans" pitchFamily="34" charset="-122"/>
                <a:cs typeface="IBM Plex Sans" pitchFamily="34" charset="-120"/>
              </a:rPr>
              <a:t>l’erreur de mesure</a:t>
            </a:r>
            <a:endParaRPr lang="en-US" sz="1400" dirty="0"/>
          </a:p>
        </p:txBody>
      </p:sp>
      <p:sp>
        <p:nvSpPr>
          <p:cNvPr id="14" name="Text 12"/>
          <p:cNvSpPr/>
          <p:nvPr/>
        </p:nvSpPr>
        <p:spPr>
          <a:xfrm>
            <a:off x="8605719" y="2679700"/>
            <a:ext cx="2529661"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B4530F"/>
                </a:solidFill>
                <a:latin typeface="Oswald" pitchFamily="34" charset="0"/>
                <a:ea typeface="Oswald" pitchFamily="34" charset="-122"/>
                <a:cs typeface="Oswald" pitchFamily="34" charset="-120"/>
              </a:rPr>
              <a:t>±</a:t>
            </a:r>
            <a:endParaRPr lang="en-US" sz="3600" dirty="0"/>
          </a:p>
        </p:txBody>
      </p:sp>
      <p:sp>
        <p:nvSpPr>
          <p:cNvPr id="15" name="Text 13"/>
          <p:cNvSpPr/>
          <p:nvPr/>
        </p:nvSpPr>
        <p:spPr>
          <a:xfrm>
            <a:off x="812800" y="379984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L’erreur vient de l’instrument, de la méthode, de l’opérateur, du milieu. Elle ne disparaît jamais. On peut seulement la mesurer et la rendre petite.</a:t>
            </a:r>
            <a:endParaRPr lang="en-US" sz="1600" dirty="0"/>
          </a:p>
        </p:txBody>
      </p:sp>
      <p:sp>
        <p:nvSpPr>
          <p:cNvPr id="16" name="Text 14"/>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POURQUOI LES PIÈCES DIFFÈRENT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Deux pièces identiques, ça n’existe pas</a:t>
            </a:r>
            <a:endParaRPr lang="en-US" sz="3600" dirty="0"/>
          </a:p>
        </p:txBody>
      </p:sp>
      <p:sp>
        <p:nvSpPr>
          <p:cNvPr id="4" name="Shape 2"/>
          <p:cNvSpPr/>
          <p:nvPr/>
        </p:nvSpPr>
        <p:spPr>
          <a:xfrm>
            <a:off x="819150" y="2043432"/>
            <a:ext cx="1978660" cy="1310640"/>
          </a:xfrm>
          <a:prstGeom prst="roundRect">
            <a:avLst>
              <a:gd name="adj" fmla="val 7267"/>
            </a:avLst>
          </a:prstGeom>
          <a:solidFill>
            <a:srgbClr val="FFFFFF"/>
          </a:solidFill>
          <a:ln w="12700">
            <a:solidFill>
              <a:srgbClr val="D5DCE6"/>
            </a:solidFill>
            <a:prstDash val="solid"/>
          </a:ln>
        </p:spPr>
      </p:sp>
      <p:sp>
        <p:nvSpPr>
          <p:cNvPr id="5" name="Text 3"/>
          <p:cNvSpPr/>
          <p:nvPr/>
        </p:nvSpPr>
        <p:spPr>
          <a:xfrm>
            <a:off x="102870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Machine</a:t>
            </a:r>
            <a:endParaRPr lang="en-US" sz="2000" dirty="0"/>
          </a:p>
        </p:txBody>
      </p:sp>
      <p:sp>
        <p:nvSpPr>
          <p:cNvPr id="6" name="Text 4"/>
          <p:cNvSpPr/>
          <p:nvPr/>
        </p:nvSpPr>
        <p:spPr>
          <a:xfrm>
            <a:off x="102870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jeu, usure d’outil, échauffement</a:t>
            </a:r>
            <a:endParaRPr lang="en-US" sz="1400" dirty="0"/>
          </a:p>
        </p:txBody>
      </p:sp>
      <p:sp>
        <p:nvSpPr>
          <p:cNvPr id="7" name="Shape 5"/>
          <p:cNvSpPr/>
          <p:nvPr/>
        </p:nvSpPr>
        <p:spPr>
          <a:xfrm>
            <a:off x="2962910" y="2043432"/>
            <a:ext cx="1978660" cy="1310640"/>
          </a:xfrm>
          <a:prstGeom prst="roundRect">
            <a:avLst>
              <a:gd name="adj" fmla="val 7267"/>
            </a:avLst>
          </a:prstGeom>
          <a:solidFill>
            <a:srgbClr val="FFFFFF"/>
          </a:solidFill>
          <a:ln w="12700">
            <a:solidFill>
              <a:srgbClr val="D5DCE6"/>
            </a:solidFill>
            <a:prstDash val="solid"/>
          </a:ln>
        </p:spPr>
      </p:sp>
      <p:sp>
        <p:nvSpPr>
          <p:cNvPr id="8" name="Text 6"/>
          <p:cNvSpPr/>
          <p:nvPr/>
        </p:nvSpPr>
        <p:spPr>
          <a:xfrm>
            <a:off x="317246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Méthode</a:t>
            </a:r>
            <a:endParaRPr lang="en-US" sz="2000" dirty="0"/>
          </a:p>
        </p:txBody>
      </p:sp>
      <p:sp>
        <p:nvSpPr>
          <p:cNvPr id="9" name="Text 7"/>
          <p:cNvSpPr/>
          <p:nvPr/>
        </p:nvSpPr>
        <p:spPr>
          <a:xfrm>
            <a:off x="317246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gamme, vitesse de coupe, serrage</a:t>
            </a:r>
            <a:endParaRPr lang="en-US" sz="1400" dirty="0"/>
          </a:p>
        </p:txBody>
      </p:sp>
      <p:sp>
        <p:nvSpPr>
          <p:cNvPr id="10" name="Shape 8"/>
          <p:cNvSpPr/>
          <p:nvPr/>
        </p:nvSpPr>
        <p:spPr>
          <a:xfrm>
            <a:off x="5106670" y="2043432"/>
            <a:ext cx="1978660" cy="1310640"/>
          </a:xfrm>
          <a:prstGeom prst="roundRect">
            <a:avLst>
              <a:gd name="adj" fmla="val 7267"/>
            </a:avLst>
          </a:prstGeom>
          <a:solidFill>
            <a:srgbClr val="FFFFFF"/>
          </a:solidFill>
          <a:ln w="12700">
            <a:solidFill>
              <a:srgbClr val="D5DCE6"/>
            </a:solidFill>
            <a:prstDash val="solid"/>
          </a:ln>
        </p:spPr>
      </p:sp>
      <p:sp>
        <p:nvSpPr>
          <p:cNvPr id="11" name="Text 9"/>
          <p:cNvSpPr/>
          <p:nvPr/>
        </p:nvSpPr>
        <p:spPr>
          <a:xfrm>
            <a:off x="531622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Matière</a:t>
            </a:r>
            <a:endParaRPr lang="en-US" sz="2000" dirty="0"/>
          </a:p>
        </p:txBody>
      </p:sp>
      <p:sp>
        <p:nvSpPr>
          <p:cNvPr id="12" name="Text 10"/>
          <p:cNvSpPr/>
          <p:nvPr/>
        </p:nvSpPr>
        <p:spPr>
          <a:xfrm>
            <a:off x="5316220" y="2646682"/>
            <a:ext cx="17627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dureté, lot de barre</a:t>
            </a:r>
            <a:endParaRPr lang="en-US" sz="1400" dirty="0"/>
          </a:p>
        </p:txBody>
      </p:sp>
      <p:sp>
        <p:nvSpPr>
          <p:cNvPr id="13" name="Shape 11"/>
          <p:cNvSpPr/>
          <p:nvPr/>
        </p:nvSpPr>
        <p:spPr>
          <a:xfrm>
            <a:off x="7250430" y="2043432"/>
            <a:ext cx="1978660" cy="1310640"/>
          </a:xfrm>
          <a:prstGeom prst="roundRect">
            <a:avLst>
              <a:gd name="adj" fmla="val 7267"/>
            </a:avLst>
          </a:prstGeom>
          <a:solidFill>
            <a:srgbClr val="FFFFFF"/>
          </a:solidFill>
          <a:ln w="12700">
            <a:solidFill>
              <a:srgbClr val="D5DCE6"/>
            </a:solidFill>
            <a:prstDash val="solid"/>
          </a:ln>
        </p:spPr>
      </p:sp>
      <p:sp>
        <p:nvSpPr>
          <p:cNvPr id="14" name="Text 12"/>
          <p:cNvSpPr/>
          <p:nvPr/>
        </p:nvSpPr>
        <p:spPr>
          <a:xfrm>
            <a:off x="745998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Main-d’œuvre</a:t>
            </a:r>
            <a:endParaRPr lang="en-US" sz="2000" dirty="0"/>
          </a:p>
        </p:txBody>
      </p:sp>
      <p:sp>
        <p:nvSpPr>
          <p:cNvPr id="15" name="Text 13"/>
          <p:cNvSpPr/>
          <p:nvPr/>
        </p:nvSpPr>
        <p:spPr>
          <a:xfrm>
            <a:off x="7459980" y="2646682"/>
            <a:ext cx="16103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réglage, habitudes</a:t>
            </a:r>
            <a:endParaRPr lang="en-US" sz="1400" dirty="0"/>
          </a:p>
        </p:txBody>
      </p:sp>
      <p:sp>
        <p:nvSpPr>
          <p:cNvPr id="16" name="Shape 14"/>
          <p:cNvSpPr/>
          <p:nvPr/>
        </p:nvSpPr>
        <p:spPr>
          <a:xfrm>
            <a:off x="9394190" y="2043432"/>
            <a:ext cx="1978660" cy="1310640"/>
          </a:xfrm>
          <a:prstGeom prst="roundRect">
            <a:avLst>
              <a:gd name="adj" fmla="val 7267"/>
            </a:avLst>
          </a:prstGeom>
          <a:solidFill>
            <a:srgbClr val="FFFFFF"/>
          </a:solidFill>
          <a:ln w="12700">
            <a:solidFill>
              <a:srgbClr val="D5DCE6"/>
            </a:solidFill>
            <a:prstDash val="solid"/>
          </a:ln>
        </p:spPr>
      </p:sp>
      <p:sp>
        <p:nvSpPr>
          <p:cNvPr id="17" name="Text 15"/>
          <p:cNvSpPr/>
          <p:nvPr/>
        </p:nvSpPr>
        <p:spPr>
          <a:xfrm>
            <a:off x="960374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Milieu</a:t>
            </a:r>
            <a:endParaRPr lang="en-US" sz="2000" dirty="0"/>
          </a:p>
        </p:txBody>
      </p:sp>
      <p:sp>
        <p:nvSpPr>
          <p:cNvPr id="18" name="Text 16"/>
          <p:cNvSpPr/>
          <p:nvPr/>
        </p:nvSpPr>
        <p:spPr>
          <a:xfrm>
            <a:off x="960374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température, vibrations</a:t>
            </a:r>
            <a:endParaRPr lang="en-US" sz="1400" dirty="0"/>
          </a:p>
        </p:txBody>
      </p:sp>
      <p:sp>
        <p:nvSpPr>
          <p:cNvPr id="19" name="Text 17"/>
          <p:cNvSpPr/>
          <p:nvPr/>
        </p:nvSpPr>
        <p:spPr>
          <a:xfrm>
            <a:off x="812800" y="3614421"/>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A"/>
                </a:solidFill>
                <a:latin typeface="IBM Plex Sans" pitchFamily="34" charset="0"/>
                <a:ea typeface="IBM Plex Sans" pitchFamily="34" charset="-122"/>
                <a:cs typeface="IBM Plex Sans" pitchFamily="34" charset="-120"/>
              </a:rPr>
              <a:t>Ces petites causes agissent toutes en même temps. Leur somme donne la variabilité naturelle du procédé.</a:t>
            </a:r>
            <a:endParaRPr lang="en-US" sz="1800" dirty="0"/>
          </a:p>
        </p:txBody>
      </p:sp>
      <p:sp>
        <p:nvSpPr>
          <p:cNvPr id="20" name="Text 18"/>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 LOT EN IMAGE</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L’histogramme montre la forme de la variabilité</a:t>
            </a:r>
            <a:endParaRPr lang="en-US" sz="3600" dirty="0"/>
          </a:p>
        </p:txBody>
      </p:sp>
      <p:pic>
        <p:nvPicPr>
          <p:cNvPr id="4" name="Image 0" descr="Histogramme en cloche des diamètres avec la courbe de Gauss superposée">    </p:cNvPr>
          <p:cNvPicPr>
            <a:picLocks noChangeAspect="1"/>
          </p:cNvPicPr>
          <p:nvPr/>
        </p:nvPicPr>
        <p:blipFill>
          <a:blip r:embed="rId1"/>
          <a:srcRect l="-14" r="-14" t="0" b="0"/>
          <a:stretch/>
        </p:blipFill>
        <p:spPr>
          <a:xfrm>
            <a:off x="812800" y="2159000"/>
            <a:ext cx="7620000" cy="3556000"/>
          </a:xfrm>
          <a:prstGeom prst="rect">
            <a:avLst/>
          </a:prstGeom>
        </p:spPr>
      </p:pic>
      <p:sp>
        <p:nvSpPr>
          <p:cNvPr id="5" name="Text 2"/>
          <p:cNvSpPr/>
          <p:nvPr/>
        </p:nvSpPr>
        <p:spPr>
          <a:xfrm>
            <a:off x="8763000" y="2286000"/>
            <a:ext cx="269468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Chaque barre compte les pièces d’une même tranche de diamètre.</a:t>
            </a:r>
            <a:endParaRPr lang="en-US" sz="1500" dirty="0"/>
          </a:p>
        </p:txBody>
      </p:sp>
      <p:sp>
        <p:nvSpPr>
          <p:cNvPr id="6" name="Text 3"/>
          <p:cNvSpPr/>
          <p:nvPr/>
        </p:nvSpPr>
        <p:spPr>
          <a:xfrm>
            <a:off x="8763000" y="3263900"/>
            <a:ext cx="26946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Beaucoup au milieu, peu sur les bords : c’est la cloche.</a:t>
            </a:r>
            <a:endParaRPr lang="en-US" sz="1500" dirty="0"/>
          </a:p>
        </p:txBody>
      </p:sp>
      <p:sp>
        <p:nvSpPr>
          <p:cNvPr id="7" name="Text 4"/>
          <p:cNvSpPr/>
          <p:nvPr/>
        </p:nvSpPr>
        <p:spPr>
          <a:xfrm>
            <a:off x="8763000" y="3975100"/>
            <a:ext cx="269468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La courbe orange est la loi normale, le modèle de cette cloche.</a:t>
            </a:r>
            <a:endParaRPr lang="en-US" sz="1500" dirty="0"/>
          </a:p>
        </p:txBody>
      </p:sp>
      <p:sp>
        <p:nvSpPr>
          <p:cNvPr id="8" name="Text 5"/>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NOMBRES SUFFISENT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Où vise le procédé ? Combien bouge-t-il ?</a:t>
            </a:r>
            <a:endParaRPr lang="en-US" sz="3600" dirty="0"/>
          </a:p>
        </p:txBody>
      </p:sp>
      <p:pic>
        <p:nvPicPr>
          <p:cNvPr id="4" name="Image 0" descr="Trois cibles : tirs groupés au centre, tirs dispersés, tirs groupés mais décalés">    </p:cNvPr>
          <p:cNvPicPr>
            <a:picLocks noChangeAspect="1"/>
          </p:cNvPicPr>
          <p:nvPr/>
        </p:nvPicPr>
        <p:blipFill>
          <a:blip r:embed="rId1"/>
          <a:srcRect l="-16" r="-16" t="0" b="0"/>
          <a:stretch/>
        </p:blipFill>
        <p:spPr>
          <a:xfrm>
            <a:off x="812800" y="2286000"/>
            <a:ext cx="7239000" cy="2159000"/>
          </a:xfrm>
          <a:prstGeom prst="rect">
            <a:avLst/>
          </a:prstGeom>
        </p:spPr>
      </p:pic>
      <p:sp>
        <p:nvSpPr>
          <p:cNvPr id="5" name="Text 2"/>
          <p:cNvSpPr/>
          <p:nvPr/>
        </p:nvSpPr>
        <p:spPr>
          <a:xfrm>
            <a:off x="78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Groupé, centré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bonne moyenne, petit écart-type</a:t>
            </a:r>
            <a:endParaRPr lang="en-US" sz="1300" dirty="0"/>
          </a:p>
        </p:txBody>
      </p:sp>
      <p:sp>
        <p:nvSpPr>
          <p:cNvPr id="6" name="Text 3"/>
          <p:cNvSpPr/>
          <p:nvPr/>
        </p:nvSpPr>
        <p:spPr>
          <a:xfrm>
            <a:off x="332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Dispersé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moyenne correcte, grand écart-type</a:t>
            </a:r>
            <a:endParaRPr lang="en-US" sz="1300" dirty="0"/>
          </a:p>
        </p:txBody>
      </p:sp>
      <p:sp>
        <p:nvSpPr>
          <p:cNvPr id="7" name="Text 4"/>
          <p:cNvSpPr/>
          <p:nvPr/>
        </p:nvSpPr>
        <p:spPr>
          <a:xfrm>
            <a:off x="586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Groupé, décalé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moyenne fausse, petit écart-type</a:t>
            </a:r>
            <a:endParaRPr lang="en-US" sz="1300" dirty="0"/>
          </a:p>
        </p:txBody>
      </p:sp>
      <p:sp>
        <p:nvSpPr>
          <p:cNvPr id="8" name="Shape 5"/>
          <p:cNvSpPr/>
          <p:nvPr/>
        </p:nvSpPr>
        <p:spPr>
          <a:xfrm>
            <a:off x="8509000" y="2413000"/>
            <a:ext cx="2870200" cy="1145540"/>
          </a:xfrm>
          <a:prstGeom prst="roundRect">
            <a:avLst>
              <a:gd name="adj" fmla="val 4435"/>
            </a:avLst>
          </a:prstGeom>
          <a:solidFill>
            <a:srgbClr val="FFFFFF"/>
          </a:solidFill>
          <a:ln/>
        </p:spPr>
      </p:sp>
      <p:sp>
        <p:nvSpPr>
          <p:cNvPr id="9" name="Shape 6"/>
          <p:cNvSpPr/>
          <p:nvPr/>
        </p:nvSpPr>
        <p:spPr>
          <a:xfrm>
            <a:off x="8509000" y="2413000"/>
            <a:ext cx="2870200" cy="1145540"/>
          </a:xfrm>
          <a:custGeom>
            <a:avLst/>
            <a:gdLst/>
            <a:ahLst/>
            <a:cxnLst/>
            <a:rect l="l" t="t" r="r" b="b"/>
            <a:pathLst>
              <a:path w="2870200" h="1145540">
                <a:moveTo>
                  <a:pt x="50800" y="1145540"/>
                </a:moveTo>
                <a:lnTo>
                  <a:pt x="50800" y="1145540"/>
                </a:lnTo>
                <a:arcTo hR="50800" wR="50800" stAng="5400000" swAng="5400000"/>
                <a:lnTo>
                  <a:pt x="0" y="50800"/>
                </a:lnTo>
                <a:arcTo hR="50800" wR="50800" stAng="10800000" swAng="5400000"/>
                <a:lnTo>
                  <a:pt x="50800" y="0"/>
                </a:lnTo>
                <a:lnTo>
                  <a:pt x="50800" y="1145540"/>
                </a:lnTo>
                <a:close/>
              </a:path>
            </a:pathLst>
          </a:custGeom>
          <a:solidFill>
            <a:srgbClr val="2E6DA4"/>
          </a:solidFill>
          <a:ln/>
        </p:spPr>
      </p:sp>
      <p:sp>
        <p:nvSpPr>
          <p:cNvPr id="10" name="Text 7"/>
          <p:cNvSpPr/>
          <p:nvPr/>
        </p:nvSpPr>
        <p:spPr>
          <a:xfrm>
            <a:off x="8737600" y="2590800"/>
            <a:ext cx="253771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Moyenne</a:t>
            </a:r>
            <a:endParaRPr lang="en-US" sz="2000" dirty="0"/>
          </a:p>
        </p:txBody>
      </p:sp>
      <p:sp>
        <p:nvSpPr>
          <p:cNvPr id="11" name="Text 8"/>
          <p:cNvSpPr/>
          <p:nvPr/>
        </p:nvSpPr>
        <p:spPr>
          <a:xfrm>
            <a:off x="8737600" y="2882900"/>
            <a:ext cx="25377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Où on vise. Le régleur la corrige.</a:t>
            </a:r>
            <a:endParaRPr lang="en-US" sz="1400" dirty="0"/>
          </a:p>
        </p:txBody>
      </p:sp>
      <p:sp>
        <p:nvSpPr>
          <p:cNvPr id="12" name="Shape 9"/>
          <p:cNvSpPr/>
          <p:nvPr/>
        </p:nvSpPr>
        <p:spPr>
          <a:xfrm>
            <a:off x="8509000" y="3761739"/>
            <a:ext cx="2870200" cy="1145540"/>
          </a:xfrm>
          <a:prstGeom prst="roundRect">
            <a:avLst>
              <a:gd name="adj" fmla="val 4435"/>
            </a:avLst>
          </a:prstGeom>
          <a:solidFill>
            <a:srgbClr val="FFFFFF"/>
          </a:solidFill>
          <a:ln/>
        </p:spPr>
      </p:sp>
      <p:sp>
        <p:nvSpPr>
          <p:cNvPr id="13" name="Shape 10"/>
          <p:cNvSpPr/>
          <p:nvPr/>
        </p:nvSpPr>
        <p:spPr>
          <a:xfrm>
            <a:off x="8509000" y="3761739"/>
            <a:ext cx="2870200" cy="1145540"/>
          </a:xfrm>
          <a:custGeom>
            <a:avLst/>
            <a:gdLst/>
            <a:ahLst/>
            <a:cxnLst/>
            <a:rect l="l" t="t" r="r" b="b"/>
            <a:pathLst>
              <a:path w="2870200" h="1145540">
                <a:moveTo>
                  <a:pt x="50800" y="1145540"/>
                </a:moveTo>
                <a:lnTo>
                  <a:pt x="50800" y="1145540"/>
                </a:lnTo>
                <a:arcTo hR="50800" wR="50800" stAng="5400000" swAng="5400000"/>
                <a:lnTo>
                  <a:pt x="0" y="50800"/>
                </a:lnTo>
                <a:arcTo hR="50800" wR="50800" stAng="10800000" swAng="5400000"/>
                <a:lnTo>
                  <a:pt x="50800" y="0"/>
                </a:lnTo>
                <a:lnTo>
                  <a:pt x="50800" y="1145540"/>
                </a:lnTo>
                <a:close/>
              </a:path>
            </a:pathLst>
          </a:custGeom>
          <a:solidFill>
            <a:srgbClr val="B4530F"/>
          </a:solidFill>
          <a:ln/>
        </p:spPr>
      </p:sp>
      <p:sp>
        <p:nvSpPr>
          <p:cNvPr id="14" name="Text 11"/>
          <p:cNvSpPr/>
          <p:nvPr/>
        </p:nvSpPr>
        <p:spPr>
          <a:xfrm>
            <a:off x="8737600" y="3939539"/>
            <a:ext cx="253771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B4530F"/>
                </a:solidFill>
                <a:latin typeface="Oswald" pitchFamily="34" charset="0"/>
                <a:ea typeface="Oswald" pitchFamily="34" charset="-122"/>
                <a:cs typeface="Oswald" pitchFamily="34" charset="-120"/>
              </a:rPr>
              <a:t>Écart-type</a:t>
            </a:r>
            <a:endParaRPr lang="en-US" sz="2000" dirty="0"/>
          </a:p>
        </p:txBody>
      </p:sp>
      <p:sp>
        <p:nvSpPr>
          <p:cNvPr id="15" name="Text 12"/>
          <p:cNvSpPr/>
          <p:nvPr/>
        </p:nvSpPr>
        <p:spPr>
          <a:xfrm>
            <a:off x="8737600" y="4231639"/>
            <a:ext cx="25377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Combien ça bouge. Il faut agir sur le procédé.</a:t>
            </a:r>
            <a:endParaRPr lang="en-US" sz="1400" dirty="0"/>
          </a:p>
        </p:txBody>
      </p:sp>
      <p:sp>
        <p:nvSpPr>
          <p:cNvPr id="16" name="Text 13"/>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LA LARGEUR NATURELLE</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Six écarts-types : la place que prend le procédé</a:t>
            </a:r>
            <a:endParaRPr lang="en-US" sz="3600" dirty="0"/>
          </a:p>
        </p:txBody>
      </p:sp>
      <p:pic>
        <p:nvPicPr>
          <p:cNvPr id="4" name="Image 0" descr="Courbe en cloche avec repères à plus ou moins 1, 2 et 3 écarts-types et la largeur de 6 écarts-types">    </p:cNvPr>
          <p:cNvPicPr>
            <a:picLocks noChangeAspect="1"/>
          </p:cNvPicPr>
          <p:nvPr/>
        </p:nvPicPr>
        <p:blipFill>
          <a:blip r:embed="rId1"/>
          <a:srcRect l="-29" r="-29" t="0" b="0"/>
          <a:stretch/>
        </p:blipFill>
        <p:spPr>
          <a:xfrm>
            <a:off x="1270000" y="2095500"/>
            <a:ext cx="9652000" cy="3429000"/>
          </a:xfrm>
          <a:prstGeom prst="rect">
            <a:avLst/>
          </a:prstGeom>
        </p:spPr>
      </p:pic>
      <p:sp>
        <p:nvSpPr>
          <p:cNvPr id="5" name="Text 2"/>
          <p:cNvSpPr/>
          <p:nvPr/>
        </p:nvSpPr>
        <p:spPr>
          <a:xfrm>
            <a:off x="6159500" y="2413000"/>
            <a:ext cx="13208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moyenne</a:t>
            </a:r>
            <a:endParaRPr lang="en-US" sz="1300" dirty="0"/>
          </a:p>
        </p:txBody>
      </p:sp>
      <p:sp>
        <p:nvSpPr>
          <p:cNvPr id="6" name="Text 3"/>
          <p:cNvSpPr/>
          <p:nvPr/>
        </p:nvSpPr>
        <p:spPr>
          <a:xfrm>
            <a:off x="3479800" y="5499100"/>
            <a:ext cx="5232400"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B4530F"/>
                </a:solidFill>
                <a:latin typeface="IBM Plex Sans" pitchFamily="34" charset="0"/>
                <a:ea typeface="IBM Plex Sans" pitchFamily="34" charset="-122"/>
                <a:cs typeface="IBM Plex Sans" pitchFamily="34" charset="-120"/>
              </a:rPr>
              <a:t>6 écarts-types = 99,7 % des pièces</a:t>
            </a:r>
            <a:endParaRPr lang="en-US" sz="1600" dirty="0"/>
          </a:p>
        </p:txBody>
      </p:sp>
      <p:sp>
        <p:nvSpPr>
          <p:cNvPr id="7" name="Text 4"/>
          <p:cNvSpPr/>
          <p:nvPr/>
        </p:nvSpPr>
        <p:spPr>
          <a:xfrm>
            <a:off x="3213100" y="5130800"/>
            <a:ext cx="812800" cy="223520"/>
          </a:xfrm>
          <a:prstGeom prst="rect">
            <a:avLst/>
          </a:prstGeom>
          <a:noFill/>
          <a:ln/>
        </p:spPr>
        <p:txBody>
          <a:bodyPr wrap="square" lIns="0" tIns="0" rIns="0" bIns="0" rtlCol="0" anchor="t">
            <a:normAutofit/>
          </a:bodyPr>
          <a:lstStyle/>
          <a:p>
            <a:pPr algn="ctr" indent="0" marL="0">
              <a:lnSpc>
                <a:spcPts val="1560"/>
              </a:lnSpc>
              <a:buNone/>
            </a:pPr>
            <a:r>
              <a:rPr lang="en-US" sz="1300" dirty="0">
                <a:solidFill>
                  <a:srgbClr val="4A5568"/>
                </a:solidFill>
                <a:latin typeface="IBM Plex Sans" pitchFamily="34" charset="0"/>
                <a:ea typeface="IBM Plex Sans" pitchFamily="34" charset="-122"/>
                <a:cs typeface="IBM Plex Sans" pitchFamily="34" charset="-120"/>
              </a:rPr>
              <a:t>− 3σ</a:t>
            </a:r>
            <a:endParaRPr lang="en-US" sz="1300" dirty="0"/>
          </a:p>
        </p:txBody>
      </p:sp>
      <p:sp>
        <p:nvSpPr>
          <p:cNvPr id="8" name="Text 5"/>
          <p:cNvSpPr/>
          <p:nvPr/>
        </p:nvSpPr>
        <p:spPr>
          <a:xfrm>
            <a:off x="8166100" y="5130800"/>
            <a:ext cx="812800" cy="223520"/>
          </a:xfrm>
          <a:prstGeom prst="rect">
            <a:avLst/>
          </a:prstGeom>
          <a:noFill/>
          <a:ln/>
        </p:spPr>
        <p:txBody>
          <a:bodyPr wrap="square" lIns="0" tIns="0" rIns="0" bIns="0" rtlCol="0" anchor="t">
            <a:normAutofit/>
          </a:bodyPr>
          <a:lstStyle/>
          <a:p>
            <a:pPr algn="ctr" indent="0" marL="0">
              <a:lnSpc>
                <a:spcPts val="1560"/>
              </a:lnSpc>
              <a:buNone/>
            </a:pPr>
            <a:r>
              <a:rPr lang="en-US" sz="1300" dirty="0">
                <a:solidFill>
                  <a:srgbClr val="4A5568"/>
                </a:solidFill>
                <a:latin typeface="IBM Plex Sans" pitchFamily="34" charset="0"/>
                <a:ea typeface="IBM Plex Sans" pitchFamily="34" charset="-122"/>
                <a:cs typeface="IBM Plex Sans" pitchFamily="34" charset="-120"/>
              </a:rPr>
              <a:t>+ 3σ</a:t>
            </a:r>
            <a:endParaRPr lang="en-US" sz="13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JEU · PAR ÉQUIPE</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Que s’est-il passé à l’atelier ?</a:t>
            </a:r>
            <a:endParaRPr lang="en-US" sz="3600" dirty="0"/>
          </a:p>
        </p:txBody>
      </p:sp>
      <p:pic>
        <p:nvPicPr>
          <p:cNvPr id="4" name="Image 0" descr="Quatre histogrammes : en cloche, à deux bosses, coupé net à gauche, étalé à droite">    </p:cNvPr>
          <p:cNvPicPr>
            <a:picLocks noChangeAspect="1"/>
          </p:cNvPicPr>
          <p:nvPr/>
        </p:nvPicPr>
        <p:blipFill>
          <a:blip r:embed="rId1"/>
          <a:srcRect l="0" r="0" t="-31" b="-31"/>
          <a:stretch/>
        </p:blipFill>
        <p:spPr>
          <a:xfrm>
            <a:off x="889000" y="2349500"/>
            <a:ext cx="10414000" cy="1587500"/>
          </a:xfrm>
          <a:prstGeom prst="rect">
            <a:avLst/>
          </a:prstGeom>
        </p:spPr>
      </p:pic>
      <p:sp>
        <p:nvSpPr>
          <p:cNvPr id="5" name="Text 2"/>
          <p:cNvSpPr/>
          <p:nvPr/>
        </p:nvSpPr>
        <p:spPr>
          <a:xfrm>
            <a:off x="8528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A</a:t>
            </a:r>
            <a:endParaRPr lang="en-US" sz="2200" dirty="0"/>
          </a:p>
        </p:txBody>
      </p:sp>
      <p:sp>
        <p:nvSpPr>
          <p:cNvPr id="6" name="Text 3"/>
          <p:cNvSpPr/>
          <p:nvPr/>
        </p:nvSpPr>
        <p:spPr>
          <a:xfrm>
            <a:off x="34563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B</a:t>
            </a:r>
            <a:endParaRPr lang="en-US" sz="2200" dirty="0"/>
          </a:p>
        </p:txBody>
      </p:sp>
      <p:sp>
        <p:nvSpPr>
          <p:cNvPr id="7" name="Text 4"/>
          <p:cNvSpPr/>
          <p:nvPr/>
        </p:nvSpPr>
        <p:spPr>
          <a:xfrm>
            <a:off x="60598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C</a:t>
            </a:r>
            <a:endParaRPr lang="en-US" sz="2200" dirty="0"/>
          </a:p>
        </p:txBody>
      </p:sp>
      <p:sp>
        <p:nvSpPr>
          <p:cNvPr id="8" name="Text 5"/>
          <p:cNvSpPr/>
          <p:nvPr/>
        </p:nvSpPr>
        <p:spPr>
          <a:xfrm>
            <a:off x="86633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D</a:t>
            </a:r>
            <a:endParaRPr lang="en-US" sz="2200" dirty="0"/>
          </a:p>
        </p:txBody>
      </p:sp>
      <p:sp>
        <p:nvSpPr>
          <p:cNvPr id="9" name="Text 6"/>
          <p:cNvSpPr/>
          <p:nvPr/>
        </p:nvSpPr>
        <p:spPr>
          <a:xfrm>
            <a:off x="812800" y="48260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Pour chaque forme, racontez l’histoire de l’atelier qui a produit ces pièces.</a:t>
            </a:r>
            <a:endParaRPr lang="en-US" sz="1600" dirty="0"/>
          </a:p>
        </p:txBody>
      </p:sp>
      <p:sp>
        <p:nvSpPr>
          <p:cNvPr id="10"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6498"/>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B4530F"/>
                </a:solidFill>
                <a:latin typeface="IBM Plex Sans" pitchFamily="34" charset="0"/>
                <a:ea typeface="IBM Plex Sans" pitchFamily="34" charset="-122"/>
                <a:cs typeface="IBM Plex Sans" pitchFamily="34" charset="-120"/>
              </a:rPr>
              <a:t>LA FORME EN CLOCHE</a:t>
            </a:r>
            <a:endParaRPr lang="en-US" sz="1196" dirty="0"/>
          </a:p>
        </p:txBody>
      </p:sp>
      <p:sp>
        <p:nvSpPr>
          <p:cNvPr id="3" name="Text 1"/>
          <p:cNvSpPr/>
          <p:nvPr>
            <p:ph type="title"/>
          </p:nvPr>
        </p:nvSpPr>
        <p:spPr>
          <a:xfrm>
            <a:off x="812800" y="1277900"/>
            <a:ext cx="10883392" cy="523002"/>
          </a:xfrm>
          <a:prstGeom prst="rect">
            <a:avLst/>
          </a:prstGeom>
          <a:noFill/>
          <a:ln/>
        </p:spPr>
        <p:txBody>
          <a:bodyPr wrap="square" lIns="0" tIns="0" rIns="0" bIns="0" rtlCol="0" anchor="t">
            <a:normAutofit/>
          </a:bodyPr>
          <a:lstStyle/>
          <a:p>
            <a:pPr algn="l" indent="0" marL="0">
              <a:lnSpc>
                <a:spcPts val="3923"/>
              </a:lnSpc>
              <a:buNone/>
            </a:pPr>
            <a:r>
              <a:rPr lang="en-US" sz="3566" b="0" i="0" dirty="0">
                <a:solidFill>
                  <a:srgbClr val="1B2A4A"/>
                </a:solidFill>
                <a:latin typeface="Oswald" pitchFamily="34" charset="0"/>
                <a:ea typeface="Oswald" pitchFamily="34" charset="-122"/>
                <a:cs typeface="Oswald" pitchFamily="34" charset="-120"/>
              </a:rPr>
              <a:t>Une cloche, ça se vérifie : la droite de Henry</a:t>
            </a:r>
            <a:endParaRPr lang="en-US" sz="3566" dirty="0"/>
          </a:p>
        </p:txBody>
      </p:sp>
      <p:sp>
        <p:nvSpPr>
          <p:cNvPr id="4" name="Shape 2"/>
          <p:cNvSpPr/>
          <p:nvPr/>
        </p:nvSpPr>
        <p:spPr>
          <a:xfrm>
            <a:off x="819150" y="2035851"/>
            <a:ext cx="5168900" cy="3281918"/>
          </a:xfrm>
          <a:prstGeom prst="roundRect">
            <a:avLst>
              <a:gd name="adj" fmla="val 2902"/>
            </a:avLst>
          </a:prstGeom>
          <a:solidFill>
            <a:srgbClr val="FFFFFF"/>
          </a:solidFill>
          <a:ln w="12700">
            <a:solidFill>
              <a:srgbClr val="D5DCE6"/>
            </a:solidFill>
            <a:prstDash val="solid"/>
          </a:ln>
        </p:spPr>
      </p:sp>
      <p:pic>
        <p:nvPicPr>
          <p:cNvPr id="5" name="Image 0" descr="Points alignés sur une droite">    </p:cNvPr>
          <p:cNvPicPr>
            <a:picLocks noChangeAspect="1"/>
          </p:cNvPicPr>
          <p:nvPr/>
        </p:nvPicPr>
        <p:blipFill>
          <a:blip r:embed="rId1"/>
          <a:srcRect l="-664" r="-664" t="0" b="0"/>
          <a:stretch/>
        </p:blipFill>
        <p:spPr>
          <a:xfrm>
            <a:off x="1028700" y="2245401"/>
            <a:ext cx="4699000" cy="1880037"/>
          </a:xfrm>
          <a:prstGeom prst="rect">
            <a:avLst/>
          </a:prstGeom>
        </p:spPr>
      </p:pic>
      <p:sp>
        <p:nvSpPr>
          <p:cNvPr id="6" name="Text 3"/>
          <p:cNvSpPr/>
          <p:nvPr/>
        </p:nvSpPr>
        <p:spPr>
          <a:xfrm>
            <a:off x="1028700" y="4227035"/>
            <a:ext cx="4892294" cy="313650"/>
          </a:xfrm>
          <a:prstGeom prst="rect">
            <a:avLst/>
          </a:prstGeom>
          <a:noFill/>
          <a:ln/>
        </p:spPr>
        <p:txBody>
          <a:bodyPr wrap="square" lIns="0" tIns="0" rIns="0" bIns="0" rtlCol="0" anchor="t">
            <a:normAutofit/>
          </a:bodyPr>
          <a:lstStyle/>
          <a:p>
            <a:pPr algn="l" indent="0" marL="0">
              <a:lnSpc>
                <a:spcPts val="2271"/>
              </a:lnSpc>
              <a:buNone/>
            </a:pPr>
            <a:r>
              <a:rPr lang="en-US" sz="1975" dirty="0">
                <a:solidFill>
                  <a:srgbClr val="2F7D4F"/>
                </a:solidFill>
                <a:latin typeface="Oswald" pitchFamily="34" charset="0"/>
                <a:ea typeface="Oswald" pitchFamily="34" charset="-122"/>
                <a:cs typeface="Oswald" pitchFamily="34" charset="-120"/>
              </a:rPr>
              <a:t>Points alignés</a:t>
            </a:r>
            <a:endParaRPr lang="en-US" sz="1975" dirty="0"/>
          </a:p>
        </p:txBody>
      </p:sp>
      <p:sp>
        <p:nvSpPr>
          <p:cNvPr id="7" name="Text 4"/>
          <p:cNvSpPr/>
          <p:nvPr/>
        </p:nvSpPr>
        <p:spPr>
          <a:xfrm>
            <a:off x="1028700" y="4616890"/>
            <a:ext cx="4892294" cy="516731"/>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4A5568"/>
                </a:solidFill>
                <a:latin typeface="IBM Plex Sans" pitchFamily="34" charset="0"/>
                <a:ea typeface="IBM Plex Sans" pitchFamily="34" charset="-122"/>
                <a:cs typeface="IBM Plex Sans" pitchFamily="34" charset="-120"/>
              </a:rPr>
              <a:t>La loi normale est plausible. Cp, Cpk et limites classiques ont du sens.</a:t>
            </a:r>
            <a:endParaRPr lang="en-US" sz="1383" dirty="0"/>
          </a:p>
        </p:txBody>
      </p:sp>
      <p:sp>
        <p:nvSpPr>
          <p:cNvPr id="8" name="Shape 5"/>
          <p:cNvSpPr/>
          <p:nvPr/>
        </p:nvSpPr>
        <p:spPr>
          <a:xfrm>
            <a:off x="6203950" y="2035851"/>
            <a:ext cx="5168900" cy="3281918"/>
          </a:xfrm>
          <a:prstGeom prst="roundRect">
            <a:avLst>
              <a:gd name="adj" fmla="val 2902"/>
            </a:avLst>
          </a:prstGeom>
          <a:solidFill>
            <a:srgbClr val="FFFFFF"/>
          </a:solidFill>
          <a:ln w="12700">
            <a:solidFill>
              <a:srgbClr val="D5DCE6"/>
            </a:solidFill>
            <a:prstDash val="solid"/>
          </a:ln>
        </p:spPr>
      </p:sp>
      <p:pic>
        <p:nvPicPr>
          <p:cNvPr id="9" name="Image 1" descr="Points formant un S autour de la droite">    </p:cNvPr>
          <p:cNvPicPr>
            <a:picLocks noChangeAspect="1"/>
          </p:cNvPicPr>
          <p:nvPr/>
        </p:nvPicPr>
        <p:blipFill>
          <a:blip r:embed="rId2"/>
          <a:srcRect l="-664" r="-664" t="0" b="0"/>
          <a:stretch/>
        </p:blipFill>
        <p:spPr>
          <a:xfrm>
            <a:off x="6413500" y="2245401"/>
            <a:ext cx="4699000" cy="1880037"/>
          </a:xfrm>
          <a:prstGeom prst="rect">
            <a:avLst/>
          </a:prstGeom>
        </p:spPr>
      </p:pic>
      <p:sp>
        <p:nvSpPr>
          <p:cNvPr id="10" name="Text 6"/>
          <p:cNvSpPr/>
          <p:nvPr/>
        </p:nvSpPr>
        <p:spPr>
          <a:xfrm>
            <a:off x="6413500" y="4227035"/>
            <a:ext cx="4892294" cy="313650"/>
          </a:xfrm>
          <a:prstGeom prst="rect">
            <a:avLst/>
          </a:prstGeom>
          <a:noFill/>
          <a:ln/>
        </p:spPr>
        <p:txBody>
          <a:bodyPr wrap="square" lIns="0" tIns="0" rIns="0" bIns="0" rtlCol="0" anchor="t">
            <a:normAutofit/>
          </a:bodyPr>
          <a:lstStyle/>
          <a:p>
            <a:pPr algn="l" indent="0" marL="0">
              <a:lnSpc>
                <a:spcPts val="2271"/>
              </a:lnSpc>
              <a:buNone/>
            </a:pPr>
            <a:r>
              <a:rPr lang="en-US" sz="1975" dirty="0">
                <a:solidFill>
                  <a:srgbClr val="B4530F"/>
                </a:solidFill>
                <a:latin typeface="Oswald" pitchFamily="34" charset="0"/>
                <a:ea typeface="Oswald" pitchFamily="34" charset="-122"/>
                <a:cs typeface="Oswald" pitchFamily="34" charset="-120"/>
              </a:rPr>
              <a:t>Points en S, en arc, en paliers</a:t>
            </a:r>
            <a:endParaRPr lang="en-US" sz="1975" dirty="0"/>
          </a:p>
        </p:txBody>
      </p:sp>
      <p:sp>
        <p:nvSpPr>
          <p:cNvPr id="11" name="Text 7"/>
          <p:cNvSpPr/>
          <p:nvPr/>
        </p:nvSpPr>
        <p:spPr>
          <a:xfrm>
            <a:off x="6413500" y="4616890"/>
            <a:ext cx="4892294" cy="516731"/>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4A5568"/>
                </a:solidFill>
                <a:latin typeface="IBM Plex Sans" pitchFamily="34" charset="0"/>
                <a:ea typeface="IBM Plex Sans" pitchFamily="34" charset="-122"/>
                <a:cs typeface="IBM Plex Sans" pitchFamily="34" charset="-120"/>
              </a:rPr>
              <a:t>Mélange de deux populations, pièces triées, forme non normale : prudence.</a:t>
            </a:r>
            <a:endParaRPr lang="en-US" sz="1383" dirty="0"/>
          </a:p>
        </p:txBody>
      </p:sp>
      <p:sp>
        <p:nvSpPr>
          <p:cNvPr id="12" name="Text 8"/>
          <p:cNvSpPr/>
          <p:nvPr/>
        </p:nvSpPr>
        <p:spPr>
          <a:xfrm>
            <a:off x="812800" y="5578122"/>
            <a:ext cx="10883392" cy="28928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On range les mesures, on les compare à ce que donnerait une cloche parfaite. Excel le fait en quatre colonnes (fiche H).</a:t>
            </a:r>
            <a:endParaRPr lang="en-US" sz="1500" dirty="0"/>
          </a:p>
        </p:txBody>
      </p:sp>
      <p:sp>
        <p:nvSpPr>
          <p:cNvPr id="13" name="Text 9"/>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509000" y="952500"/>
            <a:ext cx="2870200" cy="4953000"/>
          </a:xfrm>
          <a:prstGeom prst="roundRect">
            <a:avLst>
              <a:gd name="adj" fmla="val 5310"/>
            </a:avLst>
          </a:prstGeom>
          <a:solidFill>
            <a:srgbClr val="F7F5F0"/>
          </a:solidFill>
          <a:ln/>
        </p:spPr>
      </p:sp>
      <p:pic>
        <p:nvPicPr>
          <p:cNvPr id="3" name="Image 0" descr="Voiture vue de dessus : on regarde sa largeur">    </p:cNvPr>
          <p:cNvPicPr>
            <a:picLocks noChangeAspect="1"/>
          </p:cNvPicPr>
          <p:nvPr/>
        </p:nvPicPr>
        <p:blipFill>
          <a:blip r:embed="rId1"/>
          <a:srcRect l="0" r="0" t="-12697" b="-12697"/>
          <a:stretch/>
        </p:blipFill>
        <p:spPr>
          <a:xfrm>
            <a:off x="8928100" y="1270000"/>
            <a:ext cx="2032000" cy="4318000"/>
          </a:xfrm>
          <a:prstGeom prst="rect">
            <a:avLst/>
          </a:prstGeom>
        </p:spPr>
      </p:pic>
      <p:sp>
        <p:nvSpPr>
          <p:cNvPr id="4" name="Text 1"/>
          <p:cNvSpPr/>
          <p:nvPr/>
        </p:nvSpPr>
        <p:spPr>
          <a:xfrm>
            <a:off x="812800" y="2077721"/>
            <a:ext cx="71945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L’IMAGE À GARDER</a:t>
            </a:r>
            <a:endParaRPr lang="en-US" sz="1200" dirty="0"/>
          </a:p>
        </p:txBody>
      </p:sp>
      <p:sp>
        <p:nvSpPr>
          <p:cNvPr id="5" name="Text 2"/>
          <p:cNvSpPr/>
          <p:nvPr>
            <p:ph type="title"/>
          </p:nvPr>
        </p:nvSpPr>
        <p:spPr>
          <a:xfrm>
            <a:off x="812800" y="2545079"/>
            <a:ext cx="7194550" cy="136652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7F5F0"/>
                </a:solidFill>
                <a:latin typeface="Oswald" pitchFamily="34" charset="0"/>
                <a:ea typeface="Oswald" pitchFamily="34" charset="-122"/>
                <a:cs typeface="Oswald" pitchFamily="34" charset="-120"/>
              </a:rPr>
              <a:t>La tolérance est le garage. Le procédé est la voiture.</a:t>
            </a:r>
            <a:endParaRPr lang="en-US" sz="4800" dirty="0"/>
          </a:p>
        </p:txBody>
      </p:sp>
      <p:sp>
        <p:nvSpPr>
          <p:cNvPr id="6" name="Text 3"/>
          <p:cNvSpPr/>
          <p:nvPr/>
        </p:nvSpPr>
        <p:spPr>
          <a:xfrm>
            <a:off x="812800" y="4140200"/>
            <a:ext cx="71945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Le client fixe la largeur du garage. L’atelier fabrique la voiture. La capabilité dit si elle rentre, et si elle est garée au milieu.</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CP</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Cp : la voiture rentre-t-elle dans le garage ?</a:t>
            </a:r>
            <a:endParaRPr lang="en-US" sz="3600" dirty="0"/>
          </a:p>
        </p:txBody>
      </p:sp>
      <p:pic>
        <p:nvPicPr>
          <p:cNvPr id="4" name="Image 0" descr="Garage vu de dessus : trois murs, ouvert vers le bas">    </p:cNvPr>
          <p:cNvPicPr>
            <a:picLocks noChangeAspect="1"/>
          </p:cNvPicPr>
          <p:nvPr/>
        </p:nvPicPr>
        <p:blipFill>
          <a:blip r:embed="rId1"/>
          <a:srcRect l="0" r="0" t="0" b="0"/>
          <a:stretch/>
        </p:blipFill>
        <p:spPr>
          <a:xfrm>
            <a:off x="812800" y="2413000"/>
            <a:ext cx="6223000" cy="3429000"/>
          </a:xfrm>
          <a:prstGeom prst="rect">
            <a:avLst/>
          </a:prstGeom>
        </p:spPr>
      </p:pic>
      <p:pic>
        <p:nvPicPr>
          <p:cNvPr id="5" name="Image 1" descr="Voiture vue de dessus, garée au milieu du garage, avec de la marge de chaque côté">    </p:cNvPr>
          <p:cNvPicPr>
            <a:picLocks noChangeAspect="1"/>
          </p:cNvPicPr>
          <p:nvPr/>
        </p:nvPicPr>
        <p:blipFill>
          <a:blip r:embed="rId2"/>
          <a:srcRect l="-53" r="-53" t="0" b="0"/>
          <a:stretch/>
        </p:blipFill>
        <p:spPr>
          <a:xfrm>
            <a:off x="3035300" y="2667000"/>
            <a:ext cx="1778000" cy="3009900"/>
          </a:xfrm>
          <a:prstGeom prst="rect">
            <a:avLst/>
          </a:prstGeom>
        </p:spPr>
      </p:pic>
      <p:pic>
        <p:nvPicPr>
          <p:cNvPr id="6" name="Image 2" descr="Flèche de cote sur la largeur de la voiture">    </p:cNvPr>
          <p:cNvPicPr>
            <a:picLocks noChangeAspect="1"/>
          </p:cNvPicPr>
          <p:nvPr/>
        </p:nvPicPr>
        <p:blipFill>
          <a:blip r:embed="rId3"/>
          <a:srcRect l="0" r="0" t="0" b="0"/>
          <a:stretch/>
        </p:blipFill>
        <p:spPr>
          <a:xfrm>
            <a:off x="812800" y="2413000"/>
            <a:ext cx="6223000" cy="3429000"/>
          </a:xfrm>
          <a:prstGeom prst="rect">
            <a:avLst/>
          </a:prstGeom>
        </p:spPr>
      </p:pic>
      <p:sp>
        <p:nvSpPr>
          <p:cNvPr id="7" name="Text 2"/>
          <p:cNvSpPr/>
          <p:nvPr/>
        </p:nvSpPr>
        <p:spPr>
          <a:xfrm>
            <a:off x="719455" y="2032000"/>
            <a:ext cx="6409690"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B2A4A"/>
                </a:solidFill>
                <a:latin typeface="IBM Plex Sans" pitchFamily="34" charset="0"/>
                <a:ea typeface="IBM Plex Sans" pitchFamily="34" charset="-122"/>
                <a:cs typeface="IBM Plex Sans" pitchFamily="34" charset="-120"/>
              </a:rPr>
              <a:t>largeur du garage = IT (tolérance)</a:t>
            </a:r>
            <a:endParaRPr lang="en-US" sz="1400" dirty="0"/>
          </a:p>
        </p:txBody>
      </p:sp>
      <p:sp>
        <p:nvSpPr>
          <p:cNvPr id="8" name="Text 3"/>
          <p:cNvSpPr/>
          <p:nvPr/>
        </p:nvSpPr>
        <p:spPr>
          <a:xfrm>
            <a:off x="812800" y="3683000"/>
            <a:ext cx="157480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E6DA4"/>
                </a:solidFill>
                <a:latin typeface="IBM Plex Sans" pitchFamily="34" charset="0"/>
                <a:ea typeface="IBM Plex Sans" pitchFamily="34" charset="-122"/>
                <a:cs typeface="IBM Plex Sans" pitchFamily="34" charset="-120"/>
              </a:rPr>
              <a:t>largeur de la voiture = 6 écarts-types</a:t>
            </a:r>
            <a:endParaRPr lang="en-US" sz="1400" dirty="0"/>
          </a:p>
        </p:txBody>
      </p:sp>
      <p:sp>
        <p:nvSpPr>
          <p:cNvPr id="9" name="Text 4"/>
          <p:cNvSpPr/>
          <p:nvPr/>
        </p:nvSpPr>
        <p:spPr>
          <a:xfrm>
            <a:off x="7626350" y="2165350"/>
            <a:ext cx="3746500" cy="967740"/>
          </a:xfrm>
          <a:prstGeom prst="roundRect">
            <a:avLst>
              <a:gd name="adj" fmla="val 9843"/>
            </a:avLst>
          </a:prstGeom>
          <a:solidFill>
            <a:srgbClr val="FFFFFF"/>
          </a:solidFill>
          <a:ln w="12700">
            <a:solidFill>
              <a:srgbClr val="D5DCE6"/>
            </a:solidFill>
            <a:prstDash val="solid"/>
          </a:ln>
        </p:spPr>
        <p:txBody>
          <a:bodyPr wrap="square" lIns="157903" tIns="207052" rIns="157903" bIns="181652" rtlCol="0" anchor="t">
            <a:normAutofit/>
          </a:bodyPr>
          <a:lstStyle/>
          <a:p>
            <a:pPr algn="ctr" indent="0" marL="0">
              <a:lnSpc>
                <a:spcPts val="3920"/>
              </a:lnSpc>
              <a:buNone/>
            </a:pPr>
            <a:r>
              <a:rPr lang="en-US" sz="2800" dirty="0">
                <a:solidFill>
                  <a:srgbClr val="1B2A4A"/>
                </a:solidFill>
                <a:latin typeface="Oswald" pitchFamily="34" charset="0"/>
                <a:ea typeface="Oswald" pitchFamily="34" charset="-122"/>
                <a:cs typeface="Oswald" pitchFamily="34" charset="-120"/>
              </a:rPr>
              <a:t>Cp = IT / 6σ</a:t>
            </a:r>
            <a:endParaRPr lang="en-US" sz="2800" dirty="0"/>
          </a:p>
        </p:txBody>
      </p:sp>
      <p:sp>
        <p:nvSpPr>
          <p:cNvPr id="10" name="Text 5"/>
          <p:cNvSpPr/>
          <p:nvPr/>
        </p:nvSpPr>
        <p:spPr>
          <a:xfrm>
            <a:off x="7620000" y="33172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Cp = 1 : la voiture touche les deux murs.</a:t>
            </a:r>
            <a:endParaRPr lang="en-US" sz="1500" dirty="0"/>
          </a:p>
        </p:txBody>
      </p:sp>
      <p:sp>
        <p:nvSpPr>
          <p:cNvPr id="11" name="Text 6"/>
          <p:cNvSpPr/>
          <p:nvPr/>
        </p:nvSpPr>
        <p:spPr>
          <a:xfrm>
            <a:off x="7620000" y="37617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Cp = 2 : il reste une voiture de marge.</a:t>
            </a:r>
            <a:endParaRPr lang="en-US" sz="1500" dirty="0"/>
          </a:p>
        </p:txBody>
      </p:sp>
      <p:sp>
        <p:nvSpPr>
          <p:cNvPr id="12" name="Text 7"/>
          <p:cNvSpPr/>
          <p:nvPr/>
        </p:nvSpPr>
        <p:spPr>
          <a:xfrm>
            <a:off x="7620000" y="42062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Cp ne regarde pas où la voiture est garée.</a:t>
            </a:r>
            <a:endParaRPr lang="en-US" sz="1500" dirty="0"/>
          </a:p>
        </p:txBody>
      </p:sp>
      <p:sp>
        <p:nvSpPr>
          <p:cNvPr id="13" name="Text 8"/>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CPK</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Cpk : la voiture est-elle garée au milieu ?</a:t>
            </a:r>
            <a:endParaRPr lang="en-US" sz="3600" dirty="0"/>
          </a:p>
        </p:txBody>
      </p:sp>
      <p:pic>
        <p:nvPicPr>
          <p:cNvPr id="4" name="Image 0" descr="Même garage vu de dessus, milieu du garage en pointillés">    </p:cNvPr>
          <p:cNvPicPr>
            <a:picLocks noChangeAspect="1"/>
          </p:cNvPicPr>
          <p:nvPr/>
        </p:nvPicPr>
        <p:blipFill>
          <a:blip r:embed="rId1"/>
          <a:srcRect l="0" r="0" t="0" b="0"/>
          <a:stretch/>
        </p:blipFill>
        <p:spPr>
          <a:xfrm>
            <a:off x="812800" y="2413000"/>
            <a:ext cx="6223000" cy="3429000"/>
          </a:xfrm>
          <a:prstGeom prst="rect">
            <a:avLst/>
          </a:prstGeom>
        </p:spPr>
      </p:pic>
      <p:pic>
        <p:nvPicPr>
          <p:cNvPr id="5" name="Image 1" descr="La même voiture vue de dessus, décalée vers le mur de droite">    </p:cNvPr>
          <p:cNvPicPr>
            <a:picLocks noChangeAspect="1"/>
          </p:cNvPicPr>
          <p:nvPr/>
        </p:nvPicPr>
        <p:blipFill>
          <a:blip r:embed="rId2"/>
          <a:srcRect l="-53" r="-53" t="0" b="0"/>
          <a:stretch/>
        </p:blipFill>
        <p:spPr>
          <a:xfrm>
            <a:off x="3441700" y="2667000"/>
            <a:ext cx="1778000" cy="3009900"/>
          </a:xfrm>
          <a:prstGeom prst="rect">
            <a:avLst/>
          </a:prstGeom>
        </p:spPr>
      </p:pic>
      <p:pic>
        <p:nvPicPr>
          <p:cNvPr id="6" name="Image 2" descr="Flèche orange du milieu de la voiture au mur le plus proche">    </p:cNvPr>
          <p:cNvPicPr>
            <a:picLocks noChangeAspect="1"/>
          </p:cNvPicPr>
          <p:nvPr/>
        </p:nvPicPr>
        <p:blipFill>
          <a:blip r:embed="rId3"/>
          <a:srcRect l="0" r="0" t="0" b="0"/>
          <a:stretch/>
        </p:blipFill>
        <p:spPr>
          <a:xfrm>
            <a:off x="812800" y="2413000"/>
            <a:ext cx="6223000" cy="3429000"/>
          </a:xfrm>
          <a:prstGeom prst="rect">
            <a:avLst/>
          </a:prstGeom>
        </p:spPr>
      </p:pic>
      <p:sp>
        <p:nvSpPr>
          <p:cNvPr id="7" name="Text 2"/>
          <p:cNvSpPr/>
          <p:nvPr/>
        </p:nvSpPr>
        <p:spPr>
          <a:xfrm>
            <a:off x="4365625" y="2032000"/>
            <a:ext cx="196215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B4530F"/>
                </a:solidFill>
                <a:latin typeface="IBM Plex Sans" pitchFamily="34" charset="0"/>
                <a:ea typeface="IBM Plex Sans" pitchFamily="34" charset="-122"/>
                <a:cs typeface="IBM Plex Sans" pitchFamily="34" charset="-120"/>
              </a:rPr>
              <a:t>mur le plus proche</a:t>
            </a:r>
            <a:endParaRPr lang="en-US" sz="1300" dirty="0"/>
          </a:p>
        </p:txBody>
      </p:sp>
      <p:sp>
        <p:nvSpPr>
          <p:cNvPr id="8" name="Text 3"/>
          <p:cNvSpPr/>
          <p:nvPr/>
        </p:nvSpPr>
        <p:spPr>
          <a:xfrm>
            <a:off x="812800" y="3683000"/>
            <a:ext cx="15748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5F6673"/>
                </a:solidFill>
                <a:latin typeface="IBM Plex Sans" pitchFamily="34" charset="0"/>
                <a:ea typeface="IBM Plex Sans" pitchFamily="34" charset="-122"/>
                <a:cs typeface="IBM Plex Sans" pitchFamily="34" charset="-120"/>
              </a:rPr>
              <a:t>milieu du garage (pointillés gris)</a:t>
            </a:r>
            <a:endParaRPr lang="en-US" sz="1400" dirty="0"/>
          </a:p>
        </p:txBody>
      </p:sp>
      <p:sp>
        <p:nvSpPr>
          <p:cNvPr id="9" name="Text 4"/>
          <p:cNvSpPr/>
          <p:nvPr/>
        </p:nvSpPr>
        <p:spPr>
          <a:xfrm>
            <a:off x="7626350" y="2165350"/>
            <a:ext cx="3746500" cy="1130300"/>
          </a:xfrm>
          <a:prstGeom prst="roundRect">
            <a:avLst>
              <a:gd name="adj" fmla="val 8427"/>
            </a:avLst>
          </a:prstGeom>
          <a:solidFill>
            <a:srgbClr val="FFFFFF"/>
          </a:solidFill>
          <a:ln w="12700">
            <a:solidFill>
              <a:srgbClr val="D5DCE6"/>
            </a:solidFill>
            <a:prstDash val="solid"/>
          </a:ln>
        </p:spPr>
        <p:txBody>
          <a:bodyPr wrap="square" lIns="157903" tIns="207052" rIns="157903" bIns="181652" rtlCol="0" anchor="t">
            <a:normAutofit/>
          </a:bodyPr>
          <a:lstStyle/>
          <a:p>
            <a:pPr algn="ctr" indent="0" marL="0">
              <a:lnSpc>
                <a:spcPts val="2600"/>
              </a:lnSpc>
              <a:buNone/>
            </a:pPr>
            <a:r>
              <a:rPr lang="en-US" sz="2000" dirty="0">
                <a:solidFill>
                  <a:srgbClr val="1B2A4A"/>
                </a:solidFill>
                <a:latin typeface="Oswald" pitchFamily="34" charset="0"/>
                <a:ea typeface="Oswald" pitchFamily="34" charset="-122"/>
                <a:cs typeface="Oswald" pitchFamily="34" charset="-120"/>
              </a:rPr>
              <a:t>Cpk = distance au mur le plus proche / 3σ</a:t>
            </a:r>
            <a:endParaRPr lang="en-US" sz="2000" dirty="0"/>
          </a:p>
        </p:txBody>
      </p:sp>
      <p:sp>
        <p:nvSpPr>
          <p:cNvPr id="10" name="Text 5"/>
          <p:cNvSpPr/>
          <p:nvPr/>
        </p:nvSpPr>
        <p:spPr>
          <a:xfrm>
            <a:off x="7620000" y="3479800"/>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mesure depuis le milieu de la voiture (la moyenne) jusqu’au mur le plus proche.</a:t>
            </a:r>
            <a:endParaRPr lang="en-US" sz="1500" dirty="0"/>
          </a:p>
        </p:txBody>
      </p:sp>
      <p:sp>
        <p:nvSpPr>
          <p:cNvPr id="11" name="Text 6"/>
          <p:cNvSpPr/>
          <p:nvPr/>
        </p:nvSpPr>
        <p:spPr>
          <a:xfrm>
            <a:off x="7620000" y="4191000"/>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Cpk est toujours inférieur ou égal à Cp. Égal si on est centré.</a:t>
            </a:r>
            <a:endParaRPr lang="en-US" sz="1500" dirty="0"/>
          </a:p>
        </p:txBody>
      </p:sp>
      <p:sp>
        <p:nvSpPr>
          <p:cNvPr id="12"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LES QUATRE SITUATIONS</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Même garage, quatre voitures</a:t>
            </a:r>
            <a:endParaRPr lang="en-US" sz="3600" dirty="0"/>
          </a:p>
        </p:txBody>
      </p:sp>
      <p:pic>
        <p:nvPicPr>
          <p:cNvPr id="4" name="Image 0" descr="Quatre cas : étroit et centré, étroit et décalé, large et centré, large et décalé">    </p:cNvPr>
          <p:cNvPicPr>
            <a:picLocks noChangeAspect="1"/>
          </p:cNvPicPr>
          <p:nvPr/>
        </p:nvPicPr>
        <p:blipFill>
          <a:blip r:embed="rId1"/>
          <a:srcRect l="-20" r="-20" t="0" b="0"/>
          <a:stretch/>
        </p:blipFill>
        <p:spPr>
          <a:xfrm>
            <a:off x="812800" y="2095500"/>
            <a:ext cx="10566400" cy="1016000"/>
          </a:xfrm>
          <a:prstGeom prst="rect">
            <a:avLst/>
          </a:prstGeom>
        </p:spPr>
      </p:pic>
      <p:sp>
        <p:nvSpPr>
          <p:cNvPr id="5" name="Text 2"/>
          <p:cNvSpPr/>
          <p:nvPr/>
        </p:nvSpPr>
        <p:spPr>
          <a:xfrm>
            <a:off x="8128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2F7D4F"/>
                </a:solidFill>
                <a:latin typeface="Oswald" pitchFamily="34" charset="0"/>
                <a:ea typeface="Oswald" pitchFamily="34" charset="-122"/>
                <a:cs typeface="Oswald" pitchFamily="34" charset="-120"/>
              </a:rPr>
              <a:t>Capable</a:t>
            </a:r>
            <a:endParaRPr lang="en-US" sz="1800" dirty="0"/>
          </a:p>
        </p:txBody>
      </p:sp>
      <p:sp>
        <p:nvSpPr>
          <p:cNvPr id="6" name="Text 3"/>
          <p:cNvSpPr/>
          <p:nvPr/>
        </p:nvSpPr>
        <p:spPr>
          <a:xfrm>
            <a:off x="812800" y="3641092"/>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bon, Cpk bon. On surveille.</a:t>
            </a:r>
            <a:endParaRPr lang="en-US" sz="1400" dirty="0"/>
          </a:p>
        </p:txBody>
      </p:sp>
      <p:sp>
        <p:nvSpPr>
          <p:cNvPr id="7" name="Text 4"/>
          <p:cNvSpPr/>
          <p:nvPr/>
        </p:nvSpPr>
        <p:spPr>
          <a:xfrm>
            <a:off x="35052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8A5A00"/>
                </a:solidFill>
                <a:latin typeface="Oswald" pitchFamily="34" charset="0"/>
                <a:ea typeface="Oswald" pitchFamily="34" charset="-122"/>
                <a:cs typeface="Oswald" pitchFamily="34" charset="-120"/>
              </a:rPr>
              <a:t>À recentrer</a:t>
            </a:r>
            <a:endParaRPr lang="en-US" sz="1800" dirty="0"/>
          </a:p>
        </p:txBody>
      </p:sp>
      <p:sp>
        <p:nvSpPr>
          <p:cNvPr id="8" name="Text 5"/>
          <p:cNvSpPr/>
          <p:nvPr/>
        </p:nvSpPr>
        <p:spPr>
          <a:xfrm>
            <a:off x="3505200" y="3641092"/>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bon, Cpk faible. Un réglage suffit.</a:t>
            </a:r>
            <a:endParaRPr lang="en-US" sz="1400" dirty="0"/>
          </a:p>
        </p:txBody>
      </p:sp>
      <p:sp>
        <p:nvSpPr>
          <p:cNvPr id="9" name="Text 6"/>
          <p:cNvSpPr/>
          <p:nvPr/>
        </p:nvSpPr>
        <p:spPr>
          <a:xfrm>
            <a:off x="61976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B42318"/>
                </a:solidFill>
                <a:latin typeface="Oswald" pitchFamily="34" charset="0"/>
                <a:ea typeface="Oswald" pitchFamily="34" charset="-122"/>
                <a:cs typeface="Oswald" pitchFamily="34" charset="-120"/>
              </a:rPr>
              <a:t>Trop dispersé</a:t>
            </a:r>
            <a:endParaRPr lang="en-US" sz="1800" dirty="0"/>
          </a:p>
        </p:txBody>
      </p:sp>
      <p:sp>
        <p:nvSpPr>
          <p:cNvPr id="10" name="Text 7"/>
          <p:cNvSpPr/>
          <p:nvPr/>
        </p:nvSpPr>
        <p:spPr>
          <a:xfrm>
            <a:off x="6197600" y="3641092"/>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faible. Régler ne suffit pas.</a:t>
            </a:r>
            <a:endParaRPr lang="en-US" sz="1400" dirty="0"/>
          </a:p>
        </p:txBody>
      </p:sp>
      <p:sp>
        <p:nvSpPr>
          <p:cNvPr id="11" name="Text 8"/>
          <p:cNvSpPr/>
          <p:nvPr/>
        </p:nvSpPr>
        <p:spPr>
          <a:xfrm>
            <a:off x="88900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B42318"/>
                </a:solidFill>
                <a:latin typeface="Oswald" pitchFamily="34" charset="0"/>
                <a:ea typeface="Oswald" pitchFamily="34" charset="-122"/>
                <a:cs typeface="Oswald" pitchFamily="34" charset="-120"/>
              </a:rPr>
              <a:t>Les deux</a:t>
            </a:r>
            <a:endParaRPr lang="en-US" sz="1800" dirty="0"/>
          </a:p>
        </p:txBody>
      </p:sp>
      <p:sp>
        <p:nvSpPr>
          <p:cNvPr id="12" name="Text 9"/>
          <p:cNvSpPr/>
          <p:nvPr/>
        </p:nvSpPr>
        <p:spPr>
          <a:xfrm>
            <a:off x="8890000" y="3641092"/>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et Cpk faibles. Réduire la dispersion, puis recentrer.</a:t>
            </a:r>
            <a:endParaRPr lang="en-US" sz="1400" dirty="0"/>
          </a:p>
        </p:txBody>
      </p:sp>
      <p:sp>
        <p:nvSpPr>
          <p:cNvPr id="13" name="Text 10"/>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QUEL ÉCART-TYPE ?</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que le procédé sait faire, ce que le client a reçu</a:t>
            </a:r>
            <a:endParaRPr lang="en-US" sz="3600" dirty="0"/>
          </a:p>
        </p:txBody>
      </p:sp>
      <p:sp>
        <p:nvSpPr>
          <p:cNvPr id="4" name="Shape 2"/>
          <p:cNvSpPr/>
          <p:nvPr/>
        </p:nvSpPr>
        <p:spPr>
          <a:xfrm>
            <a:off x="819150" y="2043429"/>
            <a:ext cx="5168900" cy="2005330"/>
          </a:xfrm>
          <a:prstGeom prst="roundRect">
            <a:avLst>
              <a:gd name="adj" fmla="val 4750"/>
            </a:avLst>
          </a:prstGeom>
          <a:solidFill>
            <a:srgbClr val="FFFFFF"/>
          </a:solidFill>
          <a:ln w="12700">
            <a:solidFill>
              <a:srgbClr val="D5DCE6"/>
            </a:solidFill>
            <a:prstDash val="solid"/>
          </a:ln>
        </p:spPr>
      </p:sp>
      <p:sp>
        <p:nvSpPr>
          <p:cNvPr id="5" name="Text 3"/>
          <p:cNvSpPr/>
          <p:nvPr/>
        </p:nvSpPr>
        <p:spPr>
          <a:xfrm>
            <a:off x="1079500" y="2303779"/>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σ instantané = R̄ / d₂</a:t>
            </a:r>
            <a:endParaRPr lang="en-US" sz="2200" dirty="0"/>
          </a:p>
        </p:txBody>
      </p:sp>
      <p:sp>
        <p:nvSpPr>
          <p:cNvPr id="6" name="Text 4"/>
          <p:cNvSpPr/>
          <p:nvPr/>
        </p:nvSpPr>
        <p:spPr>
          <a:xfrm>
            <a:off x="10795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Calculé dans les échantillons, sur un temps court. Ne voit pas les déplacements du réglage.</a:t>
            </a:r>
            <a:endParaRPr lang="en-US" sz="1500" dirty="0"/>
          </a:p>
        </p:txBody>
      </p:sp>
      <p:sp>
        <p:nvSpPr>
          <p:cNvPr id="7" name="Text 5"/>
          <p:cNvSpPr/>
          <p:nvPr/>
        </p:nvSpPr>
        <p:spPr>
          <a:xfrm>
            <a:off x="1079500" y="3361692"/>
            <a:ext cx="4787646"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2E6DA4"/>
                </a:solidFill>
                <a:latin typeface="Oswald" pitchFamily="34" charset="0"/>
                <a:ea typeface="Oswald" pitchFamily="34" charset="-122"/>
                <a:cs typeface="Oswald" pitchFamily="34" charset="-120"/>
              </a:rPr>
              <a:t>Cp et Cpk</a:t>
            </a:r>
            <a:endParaRPr lang="en-US" sz="2400" dirty="0"/>
          </a:p>
        </p:txBody>
      </p:sp>
      <p:sp>
        <p:nvSpPr>
          <p:cNvPr id="8" name="Shape 6"/>
          <p:cNvSpPr/>
          <p:nvPr/>
        </p:nvSpPr>
        <p:spPr>
          <a:xfrm>
            <a:off x="6203950" y="2043429"/>
            <a:ext cx="5168900" cy="2005330"/>
          </a:xfrm>
          <a:prstGeom prst="roundRect">
            <a:avLst>
              <a:gd name="adj" fmla="val 4750"/>
            </a:avLst>
          </a:prstGeom>
          <a:solidFill>
            <a:srgbClr val="FFFFFF"/>
          </a:solidFill>
          <a:ln w="12700">
            <a:solidFill>
              <a:srgbClr val="D5DCE6"/>
            </a:solidFill>
            <a:prstDash val="solid"/>
          </a:ln>
        </p:spPr>
      </p:sp>
      <p:sp>
        <p:nvSpPr>
          <p:cNvPr id="9" name="Text 7"/>
          <p:cNvSpPr/>
          <p:nvPr/>
        </p:nvSpPr>
        <p:spPr>
          <a:xfrm>
            <a:off x="6464300" y="2303779"/>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s global</a:t>
            </a:r>
            <a:endParaRPr lang="en-US" sz="2200" dirty="0"/>
          </a:p>
        </p:txBody>
      </p:sp>
      <p:sp>
        <p:nvSpPr>
          <p:cNvPr id="10" name="Text 8"/>
          <p:cNvSpPr/>
          <p:nvPr/>
        </p:nvSpPr>
        <p:spPr>
          <a:xfrm>
            <a:off x="64643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Calculé sur toutes les pièces. Voit aussi tout ce qui a bougé entre les échantillons.</a:t>
            </a:r>
            <a:endParaRPr lang="en-US" sz="1500" dirty="0"/>
          </a:p>
        </p:txBody>
      </p:sp>
      <p:sp>
        <p:nvSpPr>
          <p:cNvPr id="11" name="Text 9"/>
          <p:cNvSpPr/>
          <p:nvPr/>
        </p:nvSpPr>
        <p:spPr>
          <a:xfrm>
            <a:off x="6464300" y="3361692"/>
            <a:ext cx="4787646"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4530F"/>
                </a:solidFill>
                <a:latin typeface="Oswald" pitchFamily="34" charset="0"/>
                <a:ea typeface="Oswald" pitchFamily="34" charset="-122"/>
                <a:cs typeface="Oswald" pitchFamily="34" charset="-120"/>
              </a:rPr>
              <a:t>Pp et Ppk</a:t>
            </a:r>
            <a:endParaRPr lang="en-US" sz="2400" dirty="0"/>
          </a:p>
        </p:txBody>
      </p:sp>
      <p:sp>
        <p:nvSpPr>
          <p:cNvPr id="12" name="Text 10"/>
          <p:cNvSpPr/>
          <p:nvPr/>
        </p:nvSpPr>
        <p:spPr>
          <a:xfrm>
            <a:off x="812800" y="430911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Pp nettement plus petit que Cp : le procédé bouge dans le temps. La carte de contrôle va le montrer.</a:t>
            </a:r>
            <a:endParaRPr lang="en-US" sz="1600" dirty="0"/>
          </a:p>
        </p:txBody>
      </p:sp>
      <p:sp>
        <p:nvSpPr>
          <p:cNvPr id="13" name="Text 11"/>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COMBIEN DE PIÈCES HORS TOLÉRANCE ?</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que veut dire un Cpk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197100"/>
        </p:xfrm>
        <a:graphic>
          <a:graphicData uri="http://schemas.openxmlformats.org/drawingml/2006/table">
            <a:tbl>
              <a:tblPr/>
              <a:tblGrid>
                <a:gridCol w="2321814"/>
                <a:gridCol w="4010406"/>
                <a:gridCol w="4221480"/>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Cpk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Mur le plus proche à…</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Pièces hors tolérance de ce côté</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3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1 350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1,33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4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32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1,67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5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0,3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2,00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6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0,001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50088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Seuils courants : 1,33 pour un procédé, 1,67 pour une machine. Votre client peut exiger autre chose : c’est lui qui fixe la barre.</a:t>
            </a:r>
            <a:endParaRPr lang="en-US" sz="1500" dirty="0"/>
          </a:p>
        </p:txBody>
      </p:sp>
      <p:sp>
        <p:nvSpPr>
          <p:cNvPr id="6" name="Text 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MACHINE OU PROCÉDÉ ?</a:t>
            </a:r>
            <a:endParaRPr lang="en-US" sz="1200" dirty="0"/>
          </a:p>
        </p:txBody>
      </p:sp>
      <p:sp>
        <p:nvSpPr>
          <p:cNvPr id="3" name="Text 1"/>
          <p:cNvSpPr/>
          <p:nvPr>
            <p:ph type="title"/>
          </p:nvPr>
        </p:nvSpPr>
        <p:spPr>
          <a:xfrm>
            <a:off x="812800" y="1280158"/>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Cm, Cmk : la machine seule. Cp, Cpk : le procédé dans la durée.</a:t>
            </a:r>
            <a:endParaRPr lang="en-US" sz="3600" dirty="0"/>
          </a:p>
        </p:txBody>
      </p:sp>
      <p:sp>
        <p:nvSpPr>
          <p:cNvPr id="4" name="Shape 2"/>
          <p:cNvSpPr/>
          <p:nvPr/>
        </p:nvSpPr>
        <p:spPr>
          <a:xfrm>
            <a:off x="819150" y="2546350"/>
            <a:ext cx="5168900" cy="2498090"/>
          </a:xfrm>
          <a:prstGeom prst="roundRect">
            <a:avLst>
              <a:gd name="adj" fmla="val 3813"/>
            </a:avLst>
          </a:prstGeom>
          <a:solidFill>
            <a:srgbClr val="FFFFFF"/>
          </a:solidFill>
          <a:ln w="12700">
            <a:solidFill>
              <a:srgbClr val="D5DCE6"/>
            </a:solidFill>
            <a:prstDash val="solid"/>
          </a:ln>
        </p:spPr>
      </p:sp>
      <p:sp>
        <p:nvSpPr>
          <p:cNvPr id="5" name="Text 3"/>
          <p:cNvSpPr/>
          <p:nvPr/>
        </p:nvSpPr>
        <p:spPr>
          <a:xfrm>
            <a:off x="1079500" y="28067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Machine · Cm, Cmk</a:t>
            </a:r>
            <a:endParaRPr lang="en-US" sz="2200" dirty="0"/>
          </a:p>
        </p:txBody>
      </p:sp>
      <p:sp>
        <p:nvSpPr>
          <p:cNvPr id="6" name="Text 4"/>
          <p:cNvSpPr/>
          <p:nvPr/>
        </p:nvSpPr>
        <p:spPr>
          <a:xfrm>
            <a:off x="1079500" y="32296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Une courte série produite d’affilée, sans retouche du réglage (souvent 50 pièces).</a:t>
            </a:r>
            <a:endParaRPr lang="en-US" sz="1500" dirty="0"/>
          </a:p>
        </p:txBody>
      </p:sp>
      <p:sp>
        <p:nvSpPr>
          <p:cNvPr id="7" name="Text 5"/>
          <p:cNvSpPr/>
          <p:nvPr/>
        </p:nvSpPr>
        <p:spPr>
          <a:xfrm>
            <a:off x="1079500" y="38646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Une seule matière, un seul opérateur, peu de temps : on voit la machine.</a:t>
            </a:r>
            <a:endParaRPr lang="en-US" sz="1500" dirty="0"/>
          </a:p>
        </p:txBody>
      </p:sp>
      <p:sp>
        <p:nvSpPr>
          <p:cNvPr id="8" name="Text 6"/>
          <p:cNvSpPr/>
          <p:nvPr/>
        </p:nvSpPr>
        <p:spPr>
          <a:xfrm>
            <a:off x="1079500" y="4499608"/>
            <a:ext cx="478764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Seuil courant : 1,67</a:t>
            </a:r>
            <a:endParaRPr lang="en-US" sz="1600" dirty="0"/>
          </a:p>
        </p:txBody>
      </p:sp>
      <p:sp>
        <p:nvSpPr>
          <p:cNvPr id="9" name="Shape 7"/>
          <p:cNvSpPr/>
          <p:nvPr/>
        </p:nvSpPr>
        <p:spPr>
          <a:xfrm>
            <a:off x="6203950" y="2546350"/>
            <a:ext cx="5168900" cy="2498090"/>
          </a:xfrm>
          <a:prstGeom prst="roundRect">
            <a:avLst>
              <a:gd name="adj" fmla="val 3813"/>
            </a:avLst>
          </a:prstGeom>
          <a:solidFill>
            <a:srgbClr val="FFFFFF"/>
          </a:solidFill>
          <a:ln w="12700">
            <a:solidFill>
              <a:srgbClr val="D5DCE6"/>
            </a:solidFill>
            <a:prstDash val="solid"/>
          </a:ln>
        </p:spPr>
      </p:sp>
      <p:sp>
        <p:nvSpPr>
          <p:cNvPr id="10" name="Text 8"/>
          <p:cNvSpPr/>
          <p:nvPr/>
        </p:nvSpPr>
        <p:spPr>
          <a:xfrm>
            <a:off x="6464300" y="28067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Procédé · Cp, Cpk</a:t>
            </a:r>
            <a:endParaRPr lang="en-US" sz="2200" dirty="0"/>
          </a:p>
        </p:txBody>
      </p:sp>
      <p:sp>
        <p:nvSpPr>
          <p:cNvPr id="11" name="Text 9"/>
          <p:cNvSpPr/>
          <p:nvPr/>
        </p:nvSpPr>
        <p:spPr>
          <a:xfrm>
            <a:off x="6464300" y="32296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Des prélèvements répartis sur des jours ou des semaines.</a:t>
            </a:r>
            <a:endParaRPr lang="en-US" sz="1500" dirty="0"/>
          </a:p>
        </p:txBody>
      </p:sp>
      <p:sp>
        <p:nvSpPr>
          <p:cNvPr id="12" name="Text 10"/>
          <p:cNvSpPr/>
          <p:nvPr/>
        </p:nvSpPr>
        <p:spPr>
          <a:xfrm>
            <a:off x="6464300" y="38646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Tous les 5M jouent : changements d’outil, de lot, d’équipe.</a:t>
            </a:r>
            <a:endParaRPr lang="en-US" sz="1500" dirty="0"/>
          </a:p>
        </p:txBody>
      </p:sp>
      <p:sp>
        <p:nvSpPr>
          <p:cNvPr id="13" name="Text 11"/>
          <p:cNvSpPr/>
          <p:nvPr/>
        </p:nvSpPr>
        <p:spPr>
          <a:xfrm>
            <a:off x="6464300" y="4499608"/>
            <a:ext cx="478764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Seuil courant : 1,33</a:t>
            </a:r>
            <a:endParaRPr lang="en-US" sz="1600" dirty="0"/>
          </a:p>
        </p:txBody>
      </p:sp>
      <p:sp>
        <p:nvSpPr>
          <p:cNvPr id="14" name="Text 12"/>
          <p:cNvSpPr/>
          <p:nvPr/>
        </p:nvSpPr>
        <p:spPr>
          <a:xfrm>
            <a:off x="812800" y="530479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La machine est toujours plus capable que le procédé : la durée ajoute de la variabilité.</a:t>
            </a:r>
            <a:endParaRPr lang="en-US" sz="1600" dirty="0"/>
          </a:p>
        </p:txBody>
      </p:sp>
      <p:sp>
        <p:nvSpPr>
          <p:cNvPr id="15" name="Text 1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DÉCIDER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procédé n’est pas capable : que fait-on ?</a:t>
            </a:r>
            <a:endParaRPr lang="en-US" sz="3600" dirty="0"/>
          </a:p>
        </p:txBody>
      </p:sp>
      <p:sp>
        <p:nvSpPr>
          <p:cNvPr id="4" name="Shape 2"/>
          <p:cNvSpPr/>
          <p:nvPr/>
        </p:nvSpPr>
        <p:spPr>
          <a:xfrm>
            <a:off x="819150" y="2043435"/>
            <a:ext cx="3001407" cy="1791970"/>
          </a:xfrm>
          <a:prstGeom prst="roundRect">
            <a:avLst>
              <a:gd name="adj" fmla="val 5315"/>
            </a:avLst>
          </a:prstGeom>
          <a:solidFill>
            <a:srgbClr val="FFFFFF"/>
          </a:solidFill>
          <a:ln w="12700">
            <a:solidFill>
              <a:srgbClr val="D5DCE6"/>
            </a:solidFill>
            <a:prstDash val="solid"/>
          </a:ln>
        </p:spPr>
      </p:sp>
      <p:sp>
        <p:nvSpPr>
          <p:cNvPr id="5" name="Text 3"/>
          <p:cNvSpPr/>
          <p:nvPr/>
        </p:nvSpPr>
        <p:spPr>
          <a:xfrm>
            <a:off x="1079500" y="2303785"/>
            <a:ext cx="25551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a:t>
            </a:r>
            <a:endParaRPr lang="en-US" sz="1200" dirty="0"/>
          </a:p>
        </p:txBody>
      </p:sp>
      <p:sp>
        <p:nvSpPr>
          <p:cNvPr id="6" name="Text 4"/>
          <p:cNvSpPr/>
          <p:nvPr/>
        </p:nvSpPr>
        <p:spPr>
          <a:xfrm>
            <a:off x="1079500" y="2618742"/>
            <a:ext cx="2555128"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F7D4F"/>
                </a:solidFill>
                <a:latin typeface="Oswald" pitchFamily="34" charset="0"/>
                <a:ea typeface="Oswald" pitchFamily="34" charset="-122"/>
                <a:cs typeface="Oswald" pitchFamily="34" charset="-120"/>
              </a:rPr>
              <a:t>Cpk ≥ seuil</a:t>
            </a:r>
            <a:endParaRPr lang="en-US" sz="2200" dirty="0"/>
          </a:p>
        </p:txBody>
      </p:sp>
      <p:sp>
        <p:nvSpPr>
          <p:cNvPr id="7" name="Text 5"/>
          <p:cNvSpPr/>
          <p:nvPr/>
        </p:nvSpPr>
        <p:spPr>
          <a:xfrm>
            <a:off x="1079500" y="3041650"/>
            <a:ext cx="255512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Capable. On surveille avec une carte.</a:t>
            </a:r>
            <a:endParaRPr lang="en-US" sz="1500" dirty="0"/>
          </a:p>
        </p:txBody>
      </p:sp>
      <p:pic>
        <p:nvPicPr>
          <p:cNvPr id="8" name="Image 0" descr="arrow-right">    </p:cNvPr>
          <p:cNvPicPr>
            <a:picLocks noChangeAspect="1"/>
          </p:cNvPicPr>
          <p:nvPr/>
        </p:nvPicPr>
        <p:blipFill>
          <a:blip r:embed="rId1"/>
          <a:srcRect l="0" r="0" t="0" b="0"/>
          <a:stretch/>
        </p:blipFill>
        <p:spPr>
          <a:xfrm>
            <a:off x="3979307" y="2812417"/>
            <a:ext cx="457200" cy="254000"/>
          </a:xfrm>
          <a:prstGeom prst="rect">
            <a:avLst/>
          </a:prstGeom>
        </p:spPr>
      </p:pic>
      <p:sp>
        <p:nvSpPr>
          <p:cNvPr id="9" name="Shape 6"/>
          <p:cNvSpPr/>
          <p:nvPr/>
        </p:nvSpPr>
        <p:spPr>
          <a:xfrm>
            <a:off x="4595257" y="2043435"/>
            <a:ext cx="3001447" cy="1791970"/>
          </a:xfrm>
          <a:prstGeom prst="roundRect">
            <a:avLst>
              <a:gd name="adj" fmla="val 5315"/>
            </a:avLst>
          </a:prstGeom>
          <a:solidFill>
            <a:srgbClr val="FFFFFF"/>
          </a:solidFill>
          <a:ln w="12700">
            <a:solidFill>
              <a:srgbClr val="D5DCE6"/>
            </a:solidFill>
            <a:prstDash val="solid"/>
          </a:ln>
        </p:spPr>
      </p:sp>
      <p:sp>
        <p:nvSpPr>
          <p:cNvPr id="10" name="Text 7"/>
          <p:cNvSpPr/>
          <p:nvPr/>
        </p:nvSpPr>
        <p:spPr>
          <a:xfrm>
            <a:off x="4855607" y="2303785"/>
            <a:ext cx="2555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Sinon, si</a:t>
            </a:r>
            <a:endParaRPr lang="en-US" sz="1200" dirty="0"/>
          </a:p>
        </p:txBody>
      </p:sp>
      <p:sp>
        <p:nvSpPr>
          <p:cNvPr id="11" name="Text 8"/>
          <p:cNvSpPr/>
          <p:nvPr/>
        </p:nvSpPr>
        <p:spPr>
          <a:xfrm>
            <a:off x="4855607" y="2618742"/>
            <a:ext cx="2555169"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8A5A00"/>
                </a:solidFill>
                <a:latin typeface="Oswald" pitchFamily="34" charset="0"/>
                <a:ea typeface="Oswald" pitchFamily="34" charset="-122"/>
                <a:cs typeface="Oswald" pitchFamily="34" charset="-120"/>
              </a:rPr>
              <a:t>Cp ≥ seuil</a:t>
            </a:r>
            <a:endParaRPr lang="en-US" sz="2200" dirty="0"/>
          </a:p>
        </p:txBody>
      </p:sp>
      <p:sp>
        <p:nvSpPr>
          <p:cNvPr id="12" name="Text 9"/>
          <p:cNvSpPr/>
          <p:nvPr/>
        </p:nvSpPr>
        <p:spPr>
          <a:xfrm>
            <a:off x="4855607" y="3041650"/>
            <a:ext cx="25551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procédé est bon mais mal réglé. On recentre.</a:t>
            </a:r>
            <a:endParaRPr lang="en-US" sz="1500" dirty="0"/>
          </a:p>
        </p:txBody>
      </p:sp>
      <p:pic>
        <p:nvPicPr>
          <p:cNvPr id="13" name="Image 1" descr="arrow-right">    </p:cNvPr>
          <p:cNvPicPr>
            <a:picLocks noChangeAspect="1"/>
          </p:cNvPicPr>
          <p:nvPr/>
        </p:nvPicPr>
        <p:blipFill>
          <a:blip r:embed="rId2"/>
          <a:srcRect l="0" r="0" t="0" b="0"/>
          <a:stretch/>
        </p:blipFill>
        <p:spPr>
          <a:xfrm>
            <a:off x="7755454" y="2812417"/>
            <a:ext cx="457200" cy="254000"/>
          </a:xfrm>
          <a:prstGeom prst="rect">
            <a:avLst/>
          </a:prstGeom>
        </p:spPr>
      </p:pic>
      <p:sp>
        <p:nvSpPr>
          <p:cNvPr id="14" name="Shape 10"/>
          <p:cNvSpPr/>
          <p:nvPr/>
        </p:nvSpPr>
        <p:spPr>
          <a:xfrm>
            <a:off x="8371404" y="2043435"/>
            <a:ext cx="3001447" cy="1791970"/>
          </a:xfrm>
          <a:prstGeom prst="roundRect">
            <a:avLst>
              <a:gd name="adj" fmla="val 5315"/>
            </a:avLst>
          </a:prstGeom>
          <a:solidFill>
            <a:srgbClr val="FFFFFF"/>
          </a:solidFill>
          <a:ln w="12700">
            <a:solidFill>
              <a:srgbClr val="D5DCE6"/>
            </a:solidFill>
            <a:prstDash val="solid"/>
          </a:ln>
        </p:spPr>
      </p:sp>
      <p:sp>
        <p:nvSpPr>
          <p:cNvPr id="15" name="Text 11"/>
          <p:cNvSpPr/>
          <p:nvPr/>
        </p:nvSpPr>
        <p:spPr>
          <a:xfrm>
            <a:off x="8631754" y="2303785"/>
            <a:ext cx="2555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Sinon</a:t>
            </a:r>
            <a:endParaRPr lang="en-US" sz="1200" dirty="0"/>
          </a:p>
        </p:txBody>
      </p:sp>
      <p:sp>
        <p:nvSpPr>
          <p:cNvPr id="16" name="Text 12"/>
          <p:cNvSpPr/>
          <p:nvPr/>
        </p:nvSpPr>
        <p:spPr>
          <a:xfrm>
            <a:off x="8631754" y="2618742"/>
            <a:ext cx="2555169"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2318"/>
                </a:solidFill>
                <a:latin typeface="Oswald" pitchFamily="34" charset="0"/>
                <a:ea typeface="Oswald" pitchFamily="34" charset="-122"/>
                <a:cs typeface="Oswald" pitchFamily="34" charset="-120"/>
              </a:rPr>
              <a:t>Cp &lt; seuil</a:t>
            </a:r>
            <a:endParaRPr lang="en-US" sz="2200" dirty="0"/>
          </a:p>
        </p:txBody>
      </p:sp>
      <p:sp>
        <p:nvSpPr>
          <p:cNvPr id="17" name="Text 13"/>
          <p:cNvSpPr/>
          <p:nvPr/>
        </p:nvSpPr>
        <p:spPr>
          <a:xfrm>
            <a:off x="8631754" y="3041650"/>
            <a:ext cx="25551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Il faut réduire la dispersion : 5M, maintenance, méthode.</a:t>
            </a:r>
            <a:endParaRPr lang="en-US" sz="1500" dirty="0"/>
          </a:p>
        </p:txBody>
      </p:sp>
      <p:sp>
        <p:nvSpPr>
          <p:cNvPr id="18" name="Text 14"/>
          <p:cNvSpPr/>
          <p:nvPr/>
        </p:nvSpPr>
        <p:spPr>
          <a:xfrm>
            <a:off x="812800" y="40957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En attendant l’amélioration : contrôle renforcé ou tri, décidés avec le client. Le tri ne rend pas le procédé capable.</a:t>
            </a:r>
            <a:endParaRPr lang="en-US" sz="1500" dirty="0"/>
          </a:p>
        </p:txBody>
      </p:sp>
      <p:sp>
        <p:nvSpPr>
          <p:cNvPr id="19" name="Text 1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48185"/>
            <a:ext cx="78486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JOUR 2</a:t>
            </a:r>
            <a:endParaRPr lang="en-US" sz="1200" dirty="0"/>
          </a:p>
        </p:txBody>
      </p:sp>
      <p:sp>
        <p:nvSpPr>
          <p:cNvPr id="3" name="Text 1"/>
          <p:cNvSpPr/>
          <p:nvPr>
            <p:ph type="title"/>
          </p:nvPr>
        </p:nvSpPr>
        <p:spPr>
          <a:xfrm>
            <a:off x="812800" y="2415542"/>
            <a:ext cx="784860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La capabilité est une photo. Le SPC est le film.</a:t>
            </a:r>
            <a:endParaRPr lang="en-US" sz="6000" dirty="0"/>
          </a:p>
        </p:txBody>
      </p:sp>
      <p:sp>
        <p:nvSpPr>
          <p:cNvPr id="4" name="Text 2"/>
          <p:cNvSpPr/>
          <p:nvPr/>
        </p:nvSpPr>
        <p:spPr>
          <a:xfrm>
            <a:off x="812800" y="4269742"/>
            <a:ext cx="78486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Une photo dit si le lot était bon. Le film dit si le procédé est en train de changer, avant que les pièces sortent de la tolérance.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FAMILLES DE CAUSES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bruit de fond et l’événement</a:t>
            </a:r>
            <a:endParaRPr lang="en-US" sz="3600" dirty="0"/>
          </a:p>
        </p:txBody>
      </p:sp>
      <p:sp>
        <p:nvSpPr>
          <p:cNvPr id="4" name="Shape 2"/>
          <p:cNvSpPr/>
          <p:nvPr/>
        </p:nvSpPr>
        <p:spPr>
          <a:xfrm>
            <a:off x="819150" y="2043435"/>
            <a:ext cx="5168900" cy="2711450"/>
          </a:xfrm>
          <a:prstGeom prst="roundRect">
            <a:avLst>
              <a:gd name="adj" fmla="val 3513"/>
            </a:avLst>
          </a:prstGeom>
          <a:solidFill>
            <a:srgbClr val="FFFFFF"/>
          </a:solidFill>
          <a:ln w="12700">
            <a:solidFill>
              <a:srgbClr val="D5DCE6"/>
            </a:solidFill>
            <a:prstDash val="solid"/>
          </a:ln>
        </p:spPr>
      </p:sp>
      <p:sp>
        <p:nvSpPr>
          <p:cNvPr id="5" name="Text 3"/>
          <p:cNvSpPr/>
          <p:nvPr/>
        </p:nvSpPr>
        <p:spPr>
          <a:xfrm>
            <a:off x="1079500" y="2303785"/>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Causes communes</a:t>
            </a:r>
            <a:endParaRPr lang="en-US" sz="2200" dirty="0"/>
          </a:p>
        </p:txBody>
      </p:sp>
      <p:sp>
        <p:nvSpPr>
          <p:cNvPr id="6" name="Text 4"/>
          <p:cNvSpPr/>
          <p:nvPr/>
        </p:nvSpPr>
        <p:spPr>
          <a:xfrm>
            <a:off x="10795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Toujours là, nombreuses, petites. Elles font la largeur de la cloche.</a:t>
            </a:r>
            <a:endParaRPr lang="en-US" sz="1500" dirty="0"/>
          </a:p>
        </p:txBody>
      </p:sp>
      <p:sp>
        <p:nvSpPr>
          <p:cNvPr id="7" name="Text 5"/>
          <p:cNvSpPr/>
          <p:nvPr/>
        </p:nvSpPr>
        <p:spPr>
          <a:xfrm>
            <a:off x="1079500" y="3361692"/>
            <a:ext cx="47876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Exemples : jeu normal, petites variations de température, matière.</a:t>
            </a:r>
            <a:endParaRPr lang="en-US" sz="1400" dirty="0"/>
          </a:p>
        </p:txBody>
      </p:sp>
      <p:sp>
        <p:nvSpPr>
          <p:cNvPr id="8" name="Text 6"/>
          <p:cNvSpPr/>
          <p:nvPr/>
        </p:nvSpPr>
        <p:spPr>
          <a:xfrm>
            <a:off x="1079500" y="3961135"/>
            <a:ext cx="47876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ne touche pas au réglage.</a:t>
            </a:r>
            <a:r>
              <a:rPr lang="en-US" sz="1500" dirty="0">
                <a:solidFill>
                  <a:srgbClr val="1B2A4A"/>
                </a:solidFill>
                <a:latin typeface="IBM Plex Sans" pitchFamily="34" charset="0"/>
                <a:ea typeface="IBM Plex Sans" pitchFamily="34" charset="-122"/>
                <a:cs typeface="IBM Plex Sans" pitchFamily="34" charset="-120"/>
              </a:rPr>
              <a:t> On améliore le procédé, en projet.</a:t>
            </a:r>
            <a:endParaRPr lang="en-US" sz="1500" dirty="0"/>
          </a:p>
        </p:txBody>
      </p:sp>
      <p:sp>
        <p:nvSpPr>
          <p:cNvPr id="9" name="Shape 7"/>
          <p:cNvSpPr/>
          <p:nvPr/>
        </p:nvSpPr>
        <p:spPr>
          <a:xfrm>
            <a:off x="6203950" y="2043435"/>
            <a:ext cx="5168900" cy="2711450"/>
          </a:xfrm>
          <a:prstGeom prst="roundRect">
            <a:avLst>
              <a:gd name="adj" fmla="val 3513"/>
            </a:avLst>
          </a:prstGeom>
          <a:solidFill>
            <a:srgbClr val="FFFFFF"/>
          </a:solidFill>
          <a:ln w="12700">
            <a:solidFill>
              <a:srgbClr val="B4530F"/>
            </a:solidFill>
            <a:prstDash val="solid"/>
          </a:ln>
        </p:spPr>
      </p:sp>
      <p:sp>
        <p:nvSpPr>
          <p:cNvPr id="10" name="Text 8"/>
          <p:cNvSpPr/>
          <p:nvPr/>
        </p:nvSpPr>
        <p:spPr>
          <a:xfrm>
            <a:off x="6464300" y="2303785"/>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Causes spéciales</a:t>
            </a:r>
            <a:endParaRPr lang="en-US" sz="2200" dirty="0"/>
          </a:p>
        </p:txBody>
      </p:sp>
      <p:sp>
        <p:nvSpPr>
          <p:cNvPr id="11" name="Text 9"/>
          <p:cNvSpPr/>
          <p:nvPr/>
        </p:nvSpPr>
        <p:spPr>
          <a:xfrm>
            <a:off x="64643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Rares, identifiables. Elles déplacent ou élargissent la cloche.</a:t>
            </a:r>
            <a:endParaRPr lang="en-US" sz="1500" dirty="0"/>
          </a:p>
        </p:txBody>
      </p:sp>
      <p:sp>
        <p:nvSpPr>
          <p:cNvPr id="12" name="Text 10"/>
          <p:cNvSpPr/>
          <p:nvPr/>
        </p:nvSpPr>
        <p:spPr>
          <a:xfrm>
            <a:off x="6464300" y="3361692"/>
            <a:ext cx="47876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Exemples : outil cassé, nouveau lot de barre, mauvais bridage.</a:t>
            </a:r>
            <a:endParaRPr lang="en-US" sz="1400" dirty="0"/>
          </a:p>
        </p:txBody>
      </p:sp>
      <p:sp>
        <p:nvSpPr>
          <p:cNvPr id="13" name="Text 11"/>
          <p:cNvSpPr/>
          <p:nvPr/>
        </p:nvSpPr>
        <p:spPr>
          <a:xfrm>
            <a:off x="6464300" y="3961135"/>
            <a:ext cx="47876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réagit tout de suite.</a:t>
            </a:r>
            <a:r>
              <a:rPr lang="en-US" sz="1500" dirty="0">
                <a:solidFill>
                  <a:srgbClr val="1B2A4A"/>
                </a:solidFill>
                <a:latin typeface="IBM Plex Sans" pitchFamily="34" charset="0"/>
                <a:ea typeface="IBM Plex Sans" pitchFamily="34" charset="-122"/>
                <a:cs typeface="IBM Plex Sans" pitchFamily="34" charset="-120"/>
              </a:rPr>
              <a:t> On cherche la cause et on la supprime.</a:t>
            </a:r>
            <a:endParaRPr lang="en-US" sz="1500" dirty="0"/>
          </a:p>
        </p:txBody>
      </p:sp>
      <p:sp>
        <p:nvSpPr>
          <p:cNvPr id="14" name="Text 12"/>
          <p:cNvSpPr/>
          <p:nvPr/>
        </p:nvSpPr>
        <p:spPr>
          <a:xfrm>
            <a:off x="812800" y="501523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La carte de contrôle sert à une seule chose : dire laquelle des deux est à l’œuvre.</a:t>
            </a:r>
            <a:endParaRPr lang="en-US" sz="1600" dirty="0"/>
          </a:p>
        </p:txBody>
      </p:sp>
      <p:sp>
        <p:nvSpPr>
          <p:cNvPr id="15" name="Text 1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MONTRE L’ENTONNOIR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Corriger à chaque pièce augmente la dispersion</a:t>
            </a:r>
            <a:endParaRPr lang="en-US" sz="3600" dirty="0"/>
          </a:p>
        </p:txBody>
      </p:sp>
      <p:sp>
        <p:nvSpPr>
          <p:cNvPr id="4" name="Shape 2"/>
          <p:cNvSpPr/>
          <p:nvPr/>
        </p:nvSpPr>
        <p:spPr>
          <a:xfrm>
            <a:off x="819150" y="2043435"/>
            <a:ext cx="5168900" cy="1525270"/>
          </a:xfrm>
          <a:prstGeom prst="roundRect">
            <a:avLst>
              <a:gd name="adj" fmla="val 6245"/>
            </a:avLst>
          </a:prstGeom>
          <a:solidFill>
            <a:srgbClr val="FFFFFF"/>
          </a:solidFill>
          <a:ln w="12700">
            <a:solidFill>
              <a:srgbClr val="D5DCE6"/>
            </a:solidFill>
            <a:prstDash val="solid"/>
          </a:ln>
        </p:spPr>
      </p:sp>
      <p:sp>
        <p:nvSpPr>
          <p:cNvPr id="5" name="Text 3"/>
          <p:cNvSpPr/>
          <p:nvPr/>
        </p:nvSpPr>
        <p:spPr>
          <a:xfrm>
            <a:off x="1079500" y="230378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Règle 1</a:t>
            </a:r>
            <a:endParaRPr lang="en-US" sz="1200" dirty="0"/>
          </a:p>
        </p:txBody>
      </p:sp>
      <p:sp>
        <p:nvSpPr>
          <p:cNvPr id="6" name="Text 4"/>
          <p:cNvSpPr/>
          <p:nvPr/>
        </p:nvSpPr>
        <p:spPr>
          <a:xfrm>
            <a:off x="1079500" y="2618742"/>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F7D4F"/>
                </a:solidFill>
                <a:latin typeface="Oswald" pitchFamily="34" charset="0"/>
                <a:ea typeface="Oswald" pitchFamily="34" charset="-122"/>
                <a:cs typeface="Oswald" pitchFamily="34" charset="-120"/>
              </a:rPr>
              <a:t>On ne touche à rien</a:t>
            </a:r>
            <a:endParaRPr lang="en-US" sz="2200" dirty="0"/>
          </a:p>
        </p:txBody>
      </p:sp>
      <p:sp>
        <p:nvSpPr>
          <p:cNvPr id="7" name="Text 5"/>
          <p:cNvSpPr/>
          <p:nvPr/>
        </p:nvSpPr>
        <p:spPr>
          <a:xfrm>
            <a:off x="1079500" y="3041650"/>
            <a:ext cx="47876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Dispersion naturelle.</a:t>
            </a:r>
            <a:endParaRPr lang="en-US" sz="1500" dirty="0"/>
          </a:p>
        </p:txBody>
      </p:sp>
      <p:sp>
        <p:nvSpPr>
          <p:cNvPr id="8" name="Shape 6"/>
          <p:cNvSpPr/>
          <p:nvPr/>
        </p:nvSpPr>
        <p:spPr>
          <a:xfrm>
            <a:off x="6203950" y="2043435"/>
            <a:ext cx="5168900" cy="1525270"/>
          </a:xfrm>
          <a:prstGeom prst="roundRect">
            <a:avLst>
              <a:gd name="adj" fmla="val 6245"/>
            </a:avLst>
          </a:prstGeom>
          <a:solidFill>
            <a:srgbClr val="FFFFFF"/>
          </a:solidFill>
          <a:ln w="12700">
            <a:solidFill>
              <a:srgbClr val="D5DCE6"/>
            </a:solidFill>
            <a:prstDash val="solid"/>
          </a:ln>
        </p:spPr>
      </p:sp>
      <p:sp>
        <p:nvSpPr>
          <p:cNvPr id="9" name="Text 7"/>
          <p:cNvSpPr/>
          <p:nvPr/>
        </p:nvSpPr>
        <p:spPr>
          <a:xfrm>
            <a:off x="6464300" y="230378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Règle 2</a:t>
            </a:r>
            <a:endParaRPr lang="en-US" sz="1200" dirty="0"/>
          </a:p>
        </p:txBody>
      </p:sp>
      <p:sp>
        <p:nvSpPr>
          <p:cNvPr id="10" name="Text 8"/>
          <p:cNvSpPr/>
          <p:nvPr/>
        </p:nvSpPr>
        <p:spPr>
          <a:xfrm>
            <a:off x="6464300" y="2618742"/>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2318"/>
                </a:solidFill>
                <a:latin typeface="Oswald" pitchFamily="34" charset="0"/>
                <a:ea typeface="Oswald" pitchFamily="34" charset="-122"/>
                <a:cs typeface="Oswald" pitchFamily="34" charset="-120"/>
              </a:rPr>
              <a:t>On compense le dernier écart</a:t>
            </a:r>
            <a:endParaRPr lang="en-US" sz="2200" dirty="0"/>
          </a:p>
        </p:txBody>
      </p:sp>
      <p:sp>
        <p:nvSpPr>
          <p:cNvPr id="11" name="Text 9"/>
          <p:cNvSpPr/>
          <p:nvPr/>
        </p:nvSpPr>
        <p:spPr>
          <a:xfrm>
            <a:off x="6464300" y="3041650"/>
            <a:ext cx="47876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Dispersion multipliée par environ 1,4.</a:t>
            </a:r>
            <a:endParaRPr lang="en-US" sz="1500" dirty="0"/>
          </a:p>
        </p:txBody>
      </p:sp>
      <p:sp>
        <p:nvSpPr>
          <p:cNvPr id="12" name="Text 10"/>
          <p:cNvSpPr/>
          <p:nvPr/>
        </p:nvSpPr>
        <p:spPr>
          <a:xfrm>
            <a:off x="812800" y="382905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Un opérateur consciencieux qui retouche le réglage sur une cause commune dégrade le procédé. La carte dit quand il faut agir, et surtout quand il ne faut pas.</a:t>
            </a:r>
            <a:endParaRPr lang="en-US" sz="1600" dirty="0"/>
          </a:p>
        </p:txBody>
      </p:sp>
      <p:sp>
        <p:nvSpPr>
          <p:cNvPr id="13" name="Text 11"/>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ANATOMIE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carte X̄ : les moyennes, dans le temps</a:t>
            </a:r>
            <a:endParaRPr lang="en-US" sz="3600" dirty="0"/>
          </a:p>
        </p:txBody>
      </p:sp>
      <p:pic>
        <p:nvPicPr>
          <p:cNvPr id="4" name="Image 0" descr="Carte de contrôle : points reliés, ligne centrale verte, limites rouges pointillées, les derniers points montent et sortent par le haut">    </p:cNvPr>
          <p:cNvPicPr>
            <a:picLocks noChangeAspect="1"/>
          </p:cNvPicPr>
          <p:nvPr/>
        </p:nvPicPr>
        <p:blipFill>
          <a:blip r:embed="rId1"/>
          <a:srcRect l="-14" r="-14" t="0" b="0"/>
          <a:stretch/>
        </p:blipFill>
        <p:spPr>
          <a:xfrm>
            <a:off x="812800" y="2095500"/>
            <a:ext cx="7874000" cy="3048000"/>
          </a:xfrm>
          <a:prstGeom prst="rect">
            <a:avLst/>
          </a:prstGeom>
        </p:spPr>
      </p:pic>
      <p:sp>
        <p:nvSpPr>
          <p:cNvPr id="5" name="Text 2"/>
          <p:cNvSpPr/>
          <p:nvPr/>
        </p:nvSpPr>
        <p:spPr>
          <a:xfrm>
            <a:off x="8788400" y="26797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limite supérieure de contrôle</a:t>
            </a:r>
            <a:endParaRPr lang="en-US" sz="1300" dirty="0"/>
          </a:p>
        </p:txBody>
      </p:sp>
      <p:sp>
        <p:nvSpPr>
          <p:cNvPr id="6" name="Text 3"/>
          <p:cNvSpPr/>
          <p:nvPr/>
        </p:nvSpPr>
        <p:spPr>
          <a:xfrm>
            <a:off x="8788400" y="35052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F7D4F"/>
                </a:solidFill>
                <a:latin typeface="IBM Plex Sans" pitchFamily="34" charset="0"/>
                <a:ea typeface="IBM Plex Sans" pitchFamily="34" charset="-122"/>
                <a:cs typeface="IBM Plex Sans" pitchFamily="34" charset="-120"/>
              </a:rPr>
              <a:t>ligne centrale</a:t>
            </a:r>
            <a:endParaRPr lang="en-US" sz="1300" dirty="0"/>
          </a:p>
        </p:txBody>
      </p:sp>
      <p:sp>
        <p:nvSpPr>
          <p:cNvPr id="7" name="Text 4"/>
          <p:cNvSpPr/>
          <p:nvPr/>
        </p:nvSpPr>
        <p:spPr>
          <a:xfrm>
            <a:off x="8788400" y="43307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limite inférieure de contrôle</a:t>
            </a:r>
            <a:endParaRPr lang="en-US" sz="1300" dirty="0"/>
          </a:p>
        </p:txBody>
      </p:sp>
      <p:sp>
        <p:nvSpPr>
          <p:cNvPr id="8" name="Text 5"/>
          <p:cNvSpPr/>
          <p:nvPr/>
        </p:nvSpPr>
        <p:spPr>
          <a:xfrm>
            <a:off x="8788400" y="4762500"/>
            <a:ext cx="2616200" cy="42164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E6DA4"/>
                </a:solidFill>
                <a:latin typeface="IBM Plex Sans" pitchFamily="34" charset="0"/>
                <a:ea typeface="IBM Plex Sans" pitchFamily="34" charset="-122"/>
                <a:cs typeface="IBM Plex Sans" pitchFamily="34" charset="-120"/>
              </a:rPr>
              <a:t>un point = 3 pièces mesurées, leur moyenne</a:t>
            </a:r>
            <a:endParaRPr lang="en-US" sz="13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L’ERREUR À NE JAMAIS FAIRE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Limites de contrôle ≠ tolérances</a:t>
            </a:r>
            <a:endParaRPr lang="en-US" sz="3600" dirty="0"/>
          </a:p>
        </p:txBody>
      </p:sp>
      <p:pic>
        <p:nvPicPr>
          <p:cNvPr id="4" name="Image 0" descr="Tolérances en traits noirs épais à l’extérieur, limites de contrôle en pointillés rouges à l’intérieur">    </p:cNvPr>
          <p:cNvPicPr>
            <a:picLocks noChangeAspect="1"/>
          </p:cNvPicPr>
          <p:nvPr/>
        </p:nvPicPr>
        <p:blipFill>
          <a:blip r:embed="rId1"/>
          <a:srcRect l="-26" r="-26" t="0" b="0"/>
          <a:stretch/>
        </p:blipFill>
        <p:spPr>
          <a:xfrm>
            <a:off x="812800" y="2095500"/>
            <a:ext cx="7747000" cy="2794000"/>
          </a:xfrm>
          <a:prstGeom prst="rect">
            <a:avLst/>
          </a:prstGeom>
        </p:spPr>
      </p:pic>
      <p:sp>
        <p:nvSpPr>
          <p:cNvPr id="5" name="Text 2"/>
          <p:cNvSpPr/>
          <p:nvPr/>
        </p:nvSpPr>
        <p:spPr>
          <a:xfrm>
            <a:off x="8699500" y="2362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TS · voix du client (plan)</a:t>
            </a:r>
            <a:endParaRPr lang="en-US" sz="1300" dirty="0"/>
          </a:p>
        </p:txBody>
      </p:sp>
      <p:sp>
        <p:nvSpPr>
          <p:cNvPr id="6" name="Text 3"/>
          <p:cNvSpPr/>
          <p:nvPr/>
        </p:nvSpPr>
        <p:spPr>
          <a:xfrm>
            <a:off x="8699500" y="2870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LSC · voix du procédé (mesures)</a:t>
            </a:r>
            <a:endParaRPr lang="en-US" sz="1300" dirty="0"/>
          </a:p>
        </p:txBody>
      </p:sp>
      <p:sp>
        <p:nvSpPr>
          <p:cNvPr id="7" name="Text 4"/>
          <p:cNvSpPr/>
          <p:nvPr/>
        </p:nvSpPr>
        <p:spPr>
          <a:xfrm>
            <a:off x="8699500" y="3886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LIC · voix du procédé (mesures)</a:t>
            </a:r>
            <a:endParaRPr lang="en-US" sz="1300" dirty="0"/>
          </a:p>
        </p:txBody>
      </p:sp>
      <p:sp>
        <p:nvSpPr>
          <p:cNvPr id="8" name="Text 5"/>
          <p:cNvSpPr/>
          <p:nvPr/>
        </p:nvSpPr>
        <p:spPr>
          <a:xfrm>
            <a:off x="8699500" y="4394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TI · voix du client (plan)</a:t>
            </a:r>
            <a:endParaRPr lang="en-US" sz="1300" dirty="0"/>
          </a:p>
        </p:txBody>
      </p:sp>
      <p:sp>
        <p:nvSpPr>
          <p:cNvPr id="9" name="Text 6"/>
          <p:cNvSpPr/>
          <p:nvPr/>
        </p:nvSpPr>
        <p:spPr>
          <a:xfrm>
            <a:off x="812800" y="50800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Un point hors limites de contrôle, avec une pièce bonne : c’est un avertissement, pas un rebut. On n’écrit jamais la tolérance sur une carte X̄.</a:t>
            </a:r>
            <a:endParaRPr lang="en-US" sz="1500" dirty="0"/>
          </a:p>
        </p:txBody>
      </p:sp>
      <p:sp>
        <p:nvSpPr>
          <p:cNvPr id="10"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CONVENTIONS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AFNOR ou 3 sigmas : deux façons de tracer les limites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63750"/>
        </p:xfrm>
        <a:graphic>
          <a:graphicData uri="http://schemas.openxmlformats.org/drawingml/2006/table">
            <a:tbl>
              <a:tblPr/>
              <a:tblGrid>
                <a:gridCol w="2955036"/>
                <a:gridCol w="3799332"/>
                <a:gridCol w="3799332"/>
              </a:tblGrid>
              <a:tr h="412750">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Carte X̄, n = 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AFNOR (dossier du TP)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Shewhart (logiciels)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Limites de contrôle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0,594 R̄ (3,09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0,577 R̄ (3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Sortie sans raison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1 fois sur 1 000 de chaque côté</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1,35 fois sur 1 000 de chaque côté</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Limites de surveillance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0,377 R̄ (1,96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aucune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Carte R, limite haute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2,36 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2,114 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bl>
          </a:graphicData>
        </a:graphic>
      </p:graphicFrame>
      <p:sp>
        <p:nvSpPr>
          <p:cNvPr id="5" name="Text 2"/>
          <p:cNvSpPr/>
          <p:nvPr/>
        </p:nvSpPr>
        <p:spPr>
          <a:xfrm>
            <a:off x="812800" y="436753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Très proches. Ce qui compte : utiliser celle de son client et de son logiciel, et l’écrire sur la carte.</a:t>
            </a:r>
            <a:endParaRPr lang="en-US" sz="1600" dirty="0"/>
          </a:p>
        </p:txBody>
      </p:sp>
      <p:sp>
        <p:nvSpPr>
          <p:cNvPr id="6" name="Text 3"/>
          <p:cNvSpPr/>
          <p:nvPr/>
        </p:nvSpPr>
        <p:spPr>
          <a:xfrm>
            <a:off x="812800" y="490600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F"/>
                </a:solidFill>
                <a:latin typeface="IBM Plex Sans" pitchFamily="34" charset="0"/>
                <a:ea typeface="IBM Plex Sans" pitchFamily="34" charset="-122"/>
                <a:cs typeface="IBM Plex Sans" pitchFamily="34" charset="-120"/>
              </a:rPr>
              <a:t>AFNOR : un point dans la zone de surveillance, on refait un prélèvement tout de suite.</a:t>
            </a:r>
            <a:endParaRPr lang="en-US" sz="1500" dirty="0"/>
          </a:p>
        </p:txBody>
      </p:sp>
      <p:sp>
        <p:nvSpPr>
          <p:cNvPr id="7" name="Text 4"/>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QUAND LA CARTE SONNE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Trois règles à connaître par cœur</a:t>
            </a:r>
            <a:endParaRPr lang="en-US" sz="3600" dirty="0"/>
          </a:p>
        </p:txBody>
      </p:sp>
      <p:sp>
        <p:nvSpPr>
          <p:cNvPr id="4" name="Shape 2"/>
          <p:cNvSpPr/>
          <p:nvPr/>
        </p:nvSpPr>
        <p:spPr>
          <a:xfrm>
            <a:off x="819150" y="2043435"/>
            <a:ext cx="3373953" cy="2145030"/>
          </a:xfrm>
          <a:prstGeom prst="roundRect">
            <a:avLst>
              <a:gd name="adj" fmla="val 4440"/>
            </a:avLst>
          </a:prstGeom>
          <a:solidFill>
            <a:srgbClr val="FFFFFF"/>
          </a:solidFill>
          <a:ln w="12700">
            <a:solidFill>
              <a:srgbClr val="D5DCE6"/>
            </a:solidFill>
            <a:prstDash val="solid"/>
          </a:ln>
        </p:spPr>
      </p:sp>
      <p:pic>
        <p:nvPicPr>
          <p:cNvPr id="5" name="Image 0" descr="Un point au-dessus de la limite supérieure">    </p:cNvPr>
          <p:cNvPicPr>
            <a:picLocks noChangeAspect="1"/>
          </p:cNvPicPr>
          <p:nvPr/>
        </p:nvPicPr>
        <p:blipFill>
          <a:blip r:embed="rId1"/>
          <a:srcRect l="0" r="0" t="0" b="0"/>
          <a:stretch/>
        </p:blipFill>
        <p:spPr>
          <a:xfrm>
            <a:off x="1028700" y="2252985"/>
            <a:ext cx="2286000" cy="762000"/>
          </a:xfrm>
          <a:prstGeom prst="rect">
            <a:avLst/>
          </a:prstGeom>
        </p:spPr>
      </p:pic>
      <p:sp>
        <p:nvSpPr>
          <p:cNvPr id="6" name="Text 3"/>
          <p:cNvSpPr/>
          <p:nvPr/>
        </p:nvSpPr>
        <p:spPr>
          <a:xfrm>
            <a:off x="1028700" y="3116585"/>
            <a:ext cx="3043499"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1 point dehors</a:t>
            </a:r>
            <a:endParaRPr lang="en-US" sz="1800" dirty="0"/>
          </a:p>
        </p:txBody>
      </p:sp>
      <p:sp>
        <p:nvSpPr>
          <p:cNvPr id="7" name="Text 4"/>
          <p:cNvSpPr/>
          <p:nvPr/>
        </p:nvSpPr>
        <p:spPr>
          <a:xfrm>
            <a:off x="1028700" y="3481077"/>
            <a:ext cx="304349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point hors des limites de contrôle.</a:t>
            </a:r>
            <a:endParaRPr lang="en-US" sz="1400" dirty="0"/>
          </a:p>
        </p:txBody>
      </p:sp>
      <p:sp>
        <p:nvSpPr>
          <p:cNvPr id="8" name="Shape 5"/>
          <p:cNvSpPr/>
          <p:nvPr/>
        </p:nvSpPr>
        <p:spPr>
          <a:xfrm>
            <a:off x="4409003" y="2043435"/>
            <a:ext cx="3373993" cy="2145030"/>
          </a:xfrm>
          <a:prstGeom prst="roundRect">
            <a:avLst>
              <a:gd name="adj" fmla="val 4440"/>
            </a:avLst>
          </a:prstGeom>
          <a:solidFill>
            <a:srgbClr val="FFFFFF"/>
          </a:solidFill>
          <a:ln w="12700">
            <a:solidFill>
              <a:srgbClr val="D5DCE6"/>
            </a:solidFill>
            <a:prstDash val="solid"/>
          </a:ln>
        </p:spPr>
      </p:sp>
      <p:pic>
        <p:nvPicPr>
          <p:cNvPr id="9" name="Image 1" descr="Sept points au-dessus de la ligne centrale">    </p:cNvPr>
          <p:cNvPicPr>
            <a:picLocks noChangeAspect="1"/>
          </p:cNvPicPr>
          <p:nvPr/>
        </p:nvPicPr>
        <p:blipFill>
          <a:blip r:embed="rId2"/>
          <a:srcRect l="0" r="0" t="0" b="0"/>
          <a:stretch/>
        </p:blipFill>
        <p:spPr>
          <a:xfrm>
            <a:off x="4618553" y="2252985"/>
            <a:ext cx="2286000" cy="762000"/>
          </a:xfrm>
          <a:prstGeom prst="rect">
            <a:avLst/>
          </a:prstGeom>
        </p:spPr>
      </p:pic>
      <p:sp>
        <p:nvSpPr>
          <p:cNvPr id="10" name="Text 6"/>
          <p:cNvSpPr/>
          <p:nvPr/>
        </p:nvSpPr>
        <p:spPr>
          <a:xfrm>
            <a:off x="4618553" y="3116585"/>
            <a:ext cx="3043540"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7 du même côté</a:t>
            </a:r>
            <a:endParaRPr lang="en-US" sz="1800" dirty="0"/>
          </a:p>
        </p:txBody>
      </p:sp>
      <p:sp>
        <p:nvSpPr>
          <p:cNvPr id="11" name="Text 7"/>
          <p:cNvSpPr/>
          <p:nvPr/>
        </p:nvSpPr>
        <p:spPr>
          <a:xfrm>
            <a:off x="4618553" y="3481077"/>
            <a:ext cx="30435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Le réglage s’est décalé.</a:t>
            </a:r>
            <a:endParaRPr lang="en-US" sz="1400" dirty="0"/>
          </a:p>
        </p:txBody>
      </p:sp>
      <p:sp>
        <p:nvSpPr>
          <p:cNvPr id="12" name="Shape 8"/>
          <p:cNvSpPr/>
          <p:nvPr/>
        </p:nvSpPr>
        <p:spPr>
          <a:xfrm>
            <a:off x="7998897" y="2043435"/>
            <a:ext cx="3373953" cy="2145030"/>
          </a:xfrm>
          <a:prstGeom prst="roundRect">
            <a:avLst>
              <a:gd name="adj" fmla="val 4440"/>
            </a:avLst>
          </a:prstGeom>
          <a:solidFill>
            <a:srgbClr val="FFFFFF"/>
          </a:solidFill>
          <a:ln w="12700">
            <a:solidFill>
              <a:srgbClr val="D5DCE6"/>
            </a:solidFill>
            <a:prstDash val="solid"/>
          </a:ln>
        </p:spPr>
      </p:sp>
      <p:pic>
        <p:nvPicPr>
          <p:cNvPr id="13" name="Image 2" descr="Six points qui descendent">    </p:cNvPr>
          <p:cNvPicPr>
            <a:picLocks noChangeAspect="1"/>
          </p:cNvPicPr>
          <p:nvPr/>
        </p:nvPicPr>
        <p:blipFill>
          <a:blip r:embed="rId3"/>
          <a:srcRect l="0" r="0" t="0" b="0"/>
          <a:stretch/>
        </p:blipFill>
        <p:spPr>
          <a:xfrm>
            <a:off x="8208447" y="2252985"/>
            <a:ext cx="2286000" cy="762000"/>
          </a:xfrm>
          <a:prstGeom prst="rect">
            <a:avLst/>
          </a:prstGeom>
        </p:spPr>
      </p:pic>
      <p:sp>
        <p:nvSpPr>
          <p:cNvPr id="14" name="Text 9"/>
          <p:cNvSpPr/>
          <p:nvPr/>
        </p:nvSpPr>
        <p:spPr>
          <a:xfrm>
            <a:off x="8208447" y="3116585"/>
            <a:ext cx="3043499"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6 en pente</a:t>
            </a:r>
            <a:endParaRPr lang="en-US" sz="1800" dirty="0"/>
          </a:p>
        </p:txBody>
      </p:sp>
      <p:sp>
        <p:nvSpPr>
          <p:cNvPr id="15" name="Text 10"/>
          <p:cNvSpPr/>
          <p:nvPr/>
        </p:nvSpPr>
        <p:spPr>
          <a:xfrm>
            <a:off x="8208447" y="3481077"/>
            <a:ext cx="30434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Usure, échauffement, dérive.</a:t>
            </a:r>
            <a:endParaRPr lang="en-US" sz="1400" dirty="0"/>
          </a:p>
        </p:txBody>
      </p:sp>
      <p:sp>
        <p:nvSpPr>
          <p:cNvPr id="16" name="Text 11"/>
          <p:cNvSpPr/>
          <p:nvPr/>
        </p:nvSpPr>
        <p:spPr>
          <a:xfrm>
            <a:off x="812800" y="444880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Quatrième règle : tout ce qui vous paraît bizarre. Un pilote de carte qui doute s’arrête et demande.</a:t>
            </a:r>
            <a:endParaRPr lang="en-US" sz="1500" dirty="0"/>
          </a:p>
        </p:txBody>
      </p:sp>
      <p:sp>
        <p:nvSpPr>
          <p:cNvPr id="17" name="Text 1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UNE VALEUR À LA FOIS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Pas d’échantillon possible : la carte XmR</a:t>
            </a:r>
            <a:endParaRPr lang="en-US" sz="3600" dirty="0"/>
          </a:p>
        </p:txBody>
      </p:sp>
      <p:sp>
        <p:nvSpPr>
          <p:cNvPr id="4" name="Shape 2"/>
          <p:cNvSpPr/>
          <p:nvPr/>
        </p:nvSpPr>
        <p:spPr>
          <a:xfrm>
            <a:off x="819150" y="2043435"/>
            <a:ext cx="3373953" cy="1714500"/>
          </a:xfrm>
          <a:prstGeom prst="roundRect">
            <a:avLst>
              <a:gd name="adj" fmla="val 5556"/>
            </a:avLst>
          </a:prstGeom>
          <a:solidFill>
            <a:srgbClr val="FFFFFF"/>
          </a:solidFill>
          <a:ln w="12700">
            <a:solidFill>
              <a:srgbClr val="D5DCE6"/>
            </a:solidFill>
            <a:prstDash val="solid"/>
          </a:ln>
        </p:spPr>
      </p:sp>
      <p:sp>
        <p:nvSpPr>
          <p:cNvPr id="5" name="Text 3"/>
          <p:cNvSpPr/>
          <p:nvPr/>
        </p:nvSpPr>
        <p:spPr>
          <a:xfrm>
            <a:off x="1079500" y="2303785"/>
            <a:ext cx="2938851"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B2A4A"/>
                </a:solidFill>
                <a:latin typeface="Oswald" pitchFamily="34" charset="0"/>
                <a:ea typeface="Oswald" pitchFamily="34" charset="-122"/>
                <a:cs typeface="Oswald" pitchFamily="34" charset="-120"/>
              </a:rPr>
              <a:t>Quand ?</a:t>
            </a:r>
            <a:endParaRPr lang="en-US" sz="2000" dirty="0"/>
          </a:p>
        </p:txBody>
      </p:sp>
      <p:sp>
        <p:nvSpPr>
          <p:cNvPr id="6" name="Text 4"/>
          <p:cNvSpPr/>
          <p:nvPr/>
        </p:nvSpPr>
        <p:spPr>
          <a:xfrm>
            <a:off x="1079500" y="2697485"/>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 lot homogène, une mesure longue ou chère, une valeur par jour.</a:t>
            </a:r>
            <a:endParaRPr lang="en-US" sz="1500" dirty="0"/>
          </a:p>
        </p:txBody>
      </p:sp>
      <p:sp>
        <p:nvSpPr>
          <p:cNvPr id="7" name="Shape 5"/>
          <p:cNvSpPr/>
          <p:nvPr/>
        </p:nvSpPr>
        <p:spPr>
          <a:xfrm>
            <a:off x="4409003" y="2043435"/>
            <a:ext cx="3373993" cy="1714500"/>
          </a:xfrm>
          <a:prstGeom prst="roundRect">
            <a:avLst>
              <a:gd name="adj" fmla="val 5556"/>
            </a:avLst>
          </a:prstGeom>
          <a:solidFill>
            <a:srgbClr val="FFFFFF"/>
          </a:solidFill>
          <a:ln w="12700">
            <a:solidFill>
              <a:srgbClr val="D5DCE6"/>
            </a:solidFill>
            <a:prstDash val="solid"/>
          </a:ln>
        </p:spPr>
      </p:sp>
      <p:sp>
        <p:nvSpPr>
          <p:cNvPr id="8" name="Text 6"/>
          <p:cNvSpPr/>
          <p:nvPr/>
        </p:nvSpPr>
        <p:spPr>
          <a:xfrm>
            <a:off x="4669353" y="2303785"/>
            <a:ext cx="2938892"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Carte X</a:t>
            </a:r>
            <a:endParaRPr lang="en-US" sz="2000" dirty="0"/>
          </a:p>
        </p:txBody>
      </p:sp>
      <p:sp>
        <p:nvSpPr>
          <p:cNvPr id="9" name="Text 7"/>
          <p:cNvSpPr/>
          <p:nvPr/>
        </p:nvSpPr>
        <p:spPr>
          <a:xfrm>
            <a:off x="4669353" y="2697485"/>
            <a:ext cx="29388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Chaque valeur. Limites : moyenne ± 2,66 × m̄R</a:t>
            </a:r>
            <a:endParaRPr lang="en-US" sz="1500" dirty="0"/>
          </a:p>
        </p:txBody>
      </p:sp>
      <p:sp>
        <p:nvSpPr>
          <p:cNvPr id="10" name="Shape 8"/>
          <p:cNvSpPr/>
          <p:nvPr/>
        </p:nvSpPr>
        <p:spPr>
          <a:xfrm>
            <a:off x="7998897" y="2043435"/>
            <a:ext cx="3373953" cy="1714500"/>
          </a:xfrm>
          <a:prstGeom prst="roundRect">
            <a:avLst>
              <a:gd name="adj" fmla="val 5556"/>
            </a:avLst>
          </a:prstGeom>
          <a:solidFill>
            <a:srgbClr val="FFFFFF"/>
          </a:solidFill>
          <a:ln w="12700">
            <a:solidFill>
              <a:srgbClr val="D5DCE6"/>
            </a:solidFill>
            <a:prstDash val="solid"/>
          </a:ln>
        </p:spPr>
      </p:sp>
      <p:sp>
        <p:nvSpPr>
          <p:cNvPr id="11" name="Text 9"/>
          <p:cNvSpPr/>
          <p:nvPr/>
        </p:nvSpPr>
        <p:spPr>
          <a:xfrm>
            <a:off x="8259247" y="2303785"/>
            <a:ext cx="2938851"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B4530F"/>
                </a:solidFill>
                <a:latin typeface="Oswald" pitchFamily="34" charset="0"/>
                <a:ea typeface="Oswald" pitchFamily="34" charset="-122"/>
                <a:cs typeface="Oswald" pitchFamily="34" charset="-120"/>
              </a:rPr>
              <a:t>Carte mR</a:t>
            </a:r>
            <a:endParaRPr lang="en-US" sz="2000" dirty="0"/>
          </a:p>
        </p:txBody>
      </p:sp>
      <p:sp>
        <p:nvSpPr>
          <p:cNvPr id="12" name="Text 10"/>
          <p:cNvSpPr/>
          <p:nvPr/>
        </p:nvSpPr>
        <p:spPr>
          <a:xfrm>
            <a:off x="8259247" y="2697485"/>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L’écart entre deux valeurs successives. Limite haute : 3,267 × m̄R</a:t>
            </a:r>
            <a:endParaRPr lang="en-US" sz="1500" dirty="0"/>
          </a:p>
        </p:txBody>
      </p:sp>
      <p:sp>
        <p:nvSpPr>
          <p:cNvPr id="13" name="Text 11"/>
          <p:cNvSpPr/>
          <p:nvPr/>
        </p:nvSpPr>
        <p:spPr>
          <a:xfrm>
            <a:off x="812800" y="401828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On regarde toujours les deux cartes : un saut brutal peut rester dans les limites de X et sortir sur mR.</a:t>
            </a:r>
            <a:endParaRPr lang="en-US" sz="1600" dirty="0"/>
          </a:p>
        </p:txBody>
      </p:sp>
      <p:sp>
        <p:nvSpPr>
          <p:cNvPr id="14" name="Text 1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RÉAGIR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OCAP répond à l’avance à cinq questions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636520"/>
        </p:xfrm>
        <a:graphic>
          <a:graphicData uri="http://schemas.openxmlformats.org/drawingml/2006/table">
            <a:tbl>
              <a:tblPr/>
              <a:tblGrid>
                <a:gridCol w="3799332"/>
                <a:gridCol w="6754368"/>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Question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Exemple de réponse écrite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Qui arrête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L’opérateur, sans demander l’autorisation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Que fait-on des pièces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On isole tout depuis le dernier point normal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Qui cherche la cause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L’opérateur avec le régleur, grille 5M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Quand redémarre-t-on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Après correction et un prélèvement conforme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Où trace-t-on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Sur la carte et dans le cahier de bord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p:bgPr>
    </p:bg>
    <p:spTree>
      <p:nvGrpSpPr>
        <p:cNvPr id="1" name=""/>
        <p:cNvGrpSpPr/>
        <p:nvPr/>
      </p:nvGrpSpPr>
      <p:grpSpPr>
        <a:xfrm>
          <a:off x="0" y="0"/>
          <a:ext cx="0" cy="0"/>
          <a:chOff x="0" y="0"/>
          <a:chExt cx="0" cy="0"/>
        </a:xfrm>
      </p:grpSpPr>
      <p:pic>
        <p:nvPicPr>
          <p:cNvPr id="2" name="Image 0" descr="Butée vue de face, avec le petit diamètre mesuré coté 11,85 / 12,00 mm">    </p:cNvPr>
          <p:cNvPicPr>
            <a:picLocks noChangeAspect="1"/>
          </p:cNvPicPr>
          <p:nvPr/>
        </p:nvPicPr>
        <p:blipFill>
          <a:blip r:embed="rId1"/>
          <a:srcRect l="58" r="58" t="0" b="0"/>
          <a:stretch/>
        </p:blipFill>
        <p:spPr>
          <a:xfrm>
            <a:off x="6985000" y="0"/>
            <a:ext cx="5207000" cy="6858000"/>
          </a:xfrm>
          <a:prstGeom prst="rect">
            <a:avLst/>
          </a:prstGeom>
        </p:spPr>
      </p:pic>
      <p:sp>
        <p:nvSpPr>
          <p:cNvPr id="3" name="Text 0"/>
          <p:cNvSpPr/>
          <p:nvPr/>
        </p:nvSpPr>
        <p:spPr>
          <a:xfrm>
            <a:off x="812800" y="1948185"/>
            <a:ext cx="57556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25 NOVEMBRE</a:t>
            </a:r>
            <a:endParaRPr lang="en-US" sz="1200" dirty="0"/>
          </a:p>
        </p:txBody>
      </p:sp>
      <p:sp>
        <p:nvSpPr>
          <p:cNvPr id="4" name="Text 1"/>
          <p:cNvSpPr/>
          <p:nvPr>
            <p:ph type="title"/>
          </p:nvPr>
        </p:nvSpPr>
        <p:spPr>
          <a:xfrm>
            <a:off x="812800" y="2415542"/>
            <a:ext cx="575564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Peut-on croire la mesure ?</a:t>
            </a:r>
            <a:endParaRPr lang="en-US" sz="6000" dirty="0"/>
          </a:p>
        </p:txBody>
      </p:sp>
      <p:sp>
        <p:nvSpPr>
          <p:cNvPr id="5" name="Text 2"/>
          <p:cNvSpPr/>
          <p:nvPr/>
        </p:nvSpPr>
        <p:spPr>
          <a:xfrm>
            <a:off x="812800" y="4269742"/>
            <a:ext cx="575564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Le 5 novembre, six mesures de la même pièce ne concordaient pas. Aujourd’hui, on chiffre cet écart.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CG</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Cg : la capabilité, appliquée à l’instrument</a:t>
            </a:r>
            <a:endParaRPr lang="en-US" sz="3600" dirty="0"/>
          </a:p>
        </p:txBody>
      </p:sp>
      <p:pic>
        <p:nvPicPr>
          <p:cNvPr id="4" name="Image 0" descr="Bande de tolérance T ; au centre, la part de 20 % accordée à l'instrument ; dedans, la cloche étroite des 25 mesures d'une même pièce">    </p:cNvPr>
          <p:cNvPicPr>
            <a:picLocks noChangeAspect="1"/>
          </p:cNvPicPr>
          <p:nvPr/>
        </p:nvPicPr>
        <p:blipFill>
          <a:blip r:embed="rId1"/>
          <a:srcRect l="0" r="0" t="-31" b="-31"/>
          <a:stretch/>
        </p:blipFill>
        <p:spPr>
          <a:xfrm>
            <a:off x="812800" y="2037085"/>
            <a:ext cx="10566400" cy="1905000"/>
          </a:xfrm>
          <a:prstGeom prst="rect">
            <a:avLst/>
          </a:prstGeom>
        </p:spPr>
      </p:pic>
      <p:sp>
        <p:nvSpPr>
          <p:cNvPr id="5" name="Text 2"/>
          <p:cNvSpPr/>
          <p:nvPr/>
        </p:nvSpPr>
        <p:spPr>
          <a:xfrm>
            <a:off x="819150" y="4202435"/>
            <a:ext cx="5410200" cy="967740"/>
          </a:xfrm>
          <a:prstGeom prst="roundRect">
            <a:avLst>
              <a:gd name="adj" fmla="val 9843"/>
            </a:avLst>
          </a:prstGeom>
          <a:solidFill>
            <a:srgbClr val="FFFFFF"/>
          </a:solidFill>
          <a:ln w="12700">
            <a:solidFill>
              <a:srgbClr val="D5DCE6"/>
            </a:solidFill>
            <a:prstDash val="solid"/>
          </a:ln>
        </p:spPr>
        <p:txBody>
          <a:bodyPr wrap="square" lIns="132948" tIns="207052" rIns="132948" bIns="181652" rtlCol="0" anchor="t">
            <a:normAutofit/>
          </a:bodyPr>
          <a:lstStyle/>
          <a:p>
            <a:pPr algn="ctr" indent="0" marL="0">
              <a:lnSpc>
                <a:spcPts val="3920"/>
              </a:lnSpc>
              <a:buNone/>
            </a:pPr>
            <a:r>
              <a:rPr lang="en-US" sz="2800" dirty="0">
                <a:solidFill>
                  <a:srgbClr val="1B2A4A"/>
                </a:solidFill>
                <a:latin typeface="Oswald" pitchFamily="34" charset="0"/>
                <a:ea typeface="Oswald" pitchFamily="34" charset="-122"/>
                <a:cs typeface="Oswald" pitchFamily="34" charset="-120"/>
              </a:rPr>
              <a:t>Cg = 0,2 × T / 6 s ≥ 1,33</a:t>
            </a:r>
            <a:endParaRPr lang="en-US" sz="2800" dirty="0"/>
          </a:p>
        </p:txBody>
      </p:sp>
      <p:sp>
        <p:nvSpPr>
          <p:cNvPr id="6" name="Text 3"/>
          <p:cNvSpPr/>
          <p:nvPr/>
        </p:nvSpPr>
        <p:spPr>
          <a:xfrm>
            <a:off x="6438900" y="4235450"/>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s : écart-type de 25 mesures de la </a:t>
            </a:r>
            <a:r>
              <a:rPr lang="en-US" sz="1500" b="1" dirty="0">
                <a:solidFill>
                  <a:srgbClr val="4A5568"/>
                </a:solidFill>
                <a:latin typeface="IBM Plex Sans" pitchFamily="34" charset="0"/>
                <a:ea typeface="IBM Plex Sans" pitchFamily="34" charset="-122"/>
                <a:cs typeface="IBM Plex Sans" pitchFamily="34" charset="-120"/>
              </a:rPr>
              <a:t>même</a:t>
            </a:r>
            <a:r>
              <a:rPr lang="en-US" sz="1500" dirty="0">
                <a:solidFill>
                  <a:srgbClr val="4A5568"/>
                </a:solidFill>
                <a:latin typeface="IBM Plex Sans" pitchFamily="34" charset="0"/>
                <a:ea typeface="IBM Plex Sans" pitchFamily="34" charset="-122"/>
                <a:cs typeface="IBM Plex Sans" pitchFamily="34" charset="-120"/>
              </a:rPr>
              <a:t> pièce. Toute la dispersion vient de la mesure.</a:t>
            </a:r>
            <a:endParaRPr lang="en-US" sz="1500" dirty="0"/>
          </a:p>
        </p:txBody>
      </p:sp>
      <p:sp>
        <p:nvSpPr>
          <p:cNvPr id="7" name="Text 4"/>
          <p:cNvSpPr/>
          <p:nvPr/>
        </p:nvSpPr>
        <p:spPr>
          <a:xfrm>
            <a:off x="6438900" y="4870450"/>
            <a:ext cx="508850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E6DA4"/>
                </a:solidFill>
                <a:latin typeface="IBM Plex Sans" pitchFamily="34" charset="0"/>
                <a:ea typeface="IBM Plex Sans" pitchFamily="34" charset="-122"/>
                <a:cs typeface="IBM Plex Sans" pitchFamily="34" charset="-120"/>
              </a:rPr>
              <a:t>La cloche bleue doit tenir à l’aise dans la case orange.</a:t>
            </a:r>
            <a:endParaRPr lang="en-US" sz="1500" dirty="0"/>
          </a:p>
        </p:txBody>
      </p:sp>
      <p:sp>
        <p:nvSpPr>
          <p:cNvPr id="8" name="Text 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CGK</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Cgk : fidèle, et juste</a:t>
            </a:r>
            <a:endParaRPr lang="en-US" sz="3600" dirty="0"/>
          </a:p>
        </p:txBody>
      </p:sp>
      <p:pic>
        <p:nvPicPr>
          <p:cNvPr id="4" name="Image 0" descr="Valeur de référence au centre de la case orange ; la cloche des mesures est décalée vers la droite : c'est le biais">    </p:cNvPr>
          <p:cNvPicPr>
            <a:picLocks noChangeAspect="1"/>
          </p:cNvPicPr>
          <p:nvPr/>
        </p:nvPicPr>
        <p:blipFill>
          <a:blip r:embed="rId1"/>
          <a:srcRect l="0" r="0" t="-31" b="-31"/>
          <a:stretch/>
        </p:blipFill>
        <p:spPr>
          <a:xfrm>
            <a:off x="812800" y="2037085"/>
            <a:ext cx="10566400" cy="1905000"/>
          </a:xfrm>
          <a:prstGeom prst="rect">
            <a:avLst/>
          </a:prstGeom>
        </p:spPr>
      </p:pic>
      <p:sp>
        <p:nvSpPr>
          <p:cNvPr id="5" name="Text 2"/>
          <p:cNvSpPr/>
          <p:nvPr/>
        </p:nvSpPr>
        <p:spPr>
          <a:xfrm>
            <a:off x="819150" y="4363727"/>
            <a:ext cx="5410200" cy="833120"/>
          </a:xfrm>
          <a:prstGeom prst="roundRect">
            <a:avLst>
              <a:gd name="adj" fmla="val 11433"/>
            </a:avLst>
          </a:prstGeom>
          <a:solidFill>
            <a:srgbClr val="FFFFFF"/>
          </a:solidFill>
          <a:ln w="12700">
            <a:solidFill>
              <a:srgbClr val="D5DCE6"/>
            </a:solidFill>
            <a:prstDash val="solid"/>
          </a:ln>
        </p:spPr>
        <p:txBody>
          <a:bodyPr wrap="square" lIns="132948" tIns="207052" rIns="132948" bIns="181652" rtlCol="0" anchor="t">
            <a:normAutofit/>
          </a:bodyPr>
          <a:lstStyle/>
          <a:p>
            <a:pPr algn="ctr" indent="0" marL="0">
              <a:lnSpc>
                <a:spcPts val="2860"/>
              </a:lnSpc>
              <a:buNone/>
            </a:pPr>
            <a:r>
              <a:rPr lang="en-US" sz="2200" dirty="0">
                <a:solidFill>
                  <a:srgbClr val="1B2A4A"/>
                </a:solidFill>
                <a:latin typeface="Oswald" pitchFamily="34" charset="0"/>
                <a:ea typeface="Oswald" pitchFamily="34" charset="-122"/>
                <a:cs typeface="Oswald" pitchFamily="34" charset="-120"/>
              </a:rPr>
              <a:t>Cgk = (0,1 × T − |biais|) / 3 s ≥ 1,33</a:t>
            </a:r>
            <a:endParaRPr lang="en-US" sz="2200" dirty="0"/>
          </a:p>
        </p:txBody>
      </p:sp>
      <p:sp>
        <p:nvSpPr>
          <p:cNvPr id="6" name="Text 3"/>
          <p:cNvSpPr/>
          <p:nvPr/>
        </p:nvSpPr>
        <p:spPr>
          <a:xfrm>
            <a:off x="6438900" y="4196085"/>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Biais = moyenne lue − valeur de référence. Comme Cpk : on mesure jusqu’au mur le plus proche.</a:t>
            </a:r>
            <a:endParaRPr lang="en-US" sz="1500" dirty="0"/>
          </a:p>
        </p:txBody>
      </p:sp>
      <p:sp>
        <p:nvSpPr>
          <p:cNvPr id="7" name="Text 4"/>
          <p:cNvSpPr/>
          <p:nvPr/>
        </p:nvSpPr>
        <p:spPr>
          <a:xfrm>
            <a:off x="6438900" y="4831085"/>
            <a:ext cx="508850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F"/>
                </a:solidFill>
                <a:latin typeface="IBM Plex Sans" pitchFamily="34" charset="0"/>
                <a:ea typeface="IBM Plex Sans" pitchFamily="34" charset="-122"/>
                <a:cs typeface="IBM Plex Sans" pitchFamily="34" charset="-120"/>
              </a:rPr>
              <a:t>Cgk bien plus petit que Cg : l’instrument est décalé. On le règle, on l’étalonne.</a:t>
            </a:r>
            <a:endParaRPr lang="en-US" sz="1500" dirty="0"/>
          </a:p>
        </p:txBody>
      </p:sp>
      <p:sp>
        <p:nvSpPr>
          <p:cNvPr id="8" name="Text 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AVANT DE MESURER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La résolution : au plus 5 % de la tolérance, à défaut 10 %</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42160"/>
        </p:xfrm>
        <a:graphic>
          <a:graphicData uri="http://schemas.openxmlformats.org/drawingml/2006/table">
            <a:tbl>
              <a:tblPr/>
              <a:tblGrid>
                <a:gridCol w="3588258"/>
                <a:gridCol w="2110740"/>
                <a:gridCol w="2321814"/>
                <a:gridCol w="2532888"/>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Instrument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Résolution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Part de T = 0,15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Verdict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Pied à coulisse 1/50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0,02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13 %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B42318"/>
                          </a:solidFill>
                          <a:latin typeface="IBM Plex Sans" pitchFamily="34" charset="0"/>
                          <a:ea typeface="IBM Plex Sans" pitchFamily="34" charset="-122"/>
                          <a:cs typeface="IBM Plex Sans" pitchFamily="34" charset="-120"/>
                        </a:rPr>
                        <a:t>trop gros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72390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Micromètre au 1/100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0,01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6,7 %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8A5A00"/>
                          </a:solidFill>
                          <a:latin typeface="IBM Plex Sans" pitchFamily="34" charset="0"/>
                          <a:ea typeface="IBM Plex Sans" pitchFamily="34" charset="-122"/>
                          <a:cs typeface="IBM Plex Sans" pitchFamily="34" charset="-120"/>
                        </a:rPr>
                        <a:t>limite (passe 10 %, pas 5 %)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Micromètre au 1/1000 (le nôtre)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0,001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0,7 %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2F7D4F"/>
                          </a:solidFill>
                          <a:latin typeface="IBM Plex Sans" pitchFamily="34" charset="0"/>
                          <a:ea typeface="IBM Plex Sans" pitchFamily="34" charset="-122"/>
                          <a:cs typeface="IBM Plex Sans" pitchFamily="34" charset="-120"/>
                        </a:rPr>
                        <a:t>convient largement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34595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Condition nécessaire, pas suffisante : un instrument fin mal utilisé peut quand même échouer à l’étude Cg/Cgk.</a:t>
            </a:r>
            <a:endParaRPr lang="en-US" sz="1500" dirty="0"/>
          </a:p>
        </p:txBody>
      </p:sp>
      <p:sp>
        <p:nvSpPr>
          <p:cNvPr id="6" name="Text 3"/>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L’ÉTUDE D’AUJOURD’HUI</a:t>
            </a:r>
            <a:endParaRPr lang="en-US" sz="1200" dirty="0"/>
          </a:p>
        </p:txBody>
      </p:sp>
      <p:sp>
        <p:nvSpPr>
          <p:cNvPr id="3" name="Text 1"/>
          <p:cNvSpPr/>
          <p:nvPr>
            <p:ph type="title"/>
          </p:nvPr>
        </p:nvSpPr>
        <p:spPr>
          <a:xfrm>
            <a:off x="812800" y="12801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pièce de référence, 25 mesures, en aveugle</a:t>
            </a:r>
            <a:endParaRPr lang="en-US" sz="3600" dirty="0"/>
          </a:p>
        </p:txBody>
      </p:sp>
      <p:sp>
        <p:nvSpPr>
          <p:cNvPr id="4" name="Shape 2"/>
          <p:cNvSpPr/>
          <p:nvPr/>
        </p:nvSpPr>
        <p:spPr>
          <a:xfrm>
            <a:off x="819150" y="2043435"/>
            <a:ext cx="2476500" cy="2032000"/>
          </a:xfrm>
          <a:prstGeom prst="roundRect">
            <a:avLst>
              <a:gd name="adj" fmla="val 4688"/>
            </a:avLst>
          </a:prstGeom>
          <a:solidFill>
            <a:srgbClr val="FFFFFF"/>
          </a:solidFill>
          <a:ln w="12700">
            <a:solidFill>
              <a:srgbClr val="D5DCE6"/>
            </a:solidFill>
            <a:prstDash val="solid"/>
          </a:ln>
        </p:spPr>
      </p:sp>
      <p:sp>
        <p:nvSpPr>
          <p:cNvPr id="5" name="Text 3"/>
          <p:cNvSpPr/>
          <p:nvPr/>
        </p:nvSpPr>
        <p:spPr>
          <a:xfrm>
            <a:off x="1079500" y="230378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1</a:t>
            </a:r>
            <a:endParaRPr lang="en-US" sz="4800" dirty="0"/>
          </a:p>
        </p:txBody>
      </p:sp>
      <p:sp>
        <p:nvSpPr>
          <p:cNvPr id="6" name="Text 4"/>
          <p:cNvSpPr/>
          <p:nvPr/>
        </p:nvSpPr>
        <p:spPr>
          <a:xfrm>
            <a:off x="1079500" y="3014985"/>
            <a:ext cx="201447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butée de référence R, valeur connue</a:t>
            </a:r>
            <a:endParaRPr lang="en-US" sz="1500" dirty="0"/>
          </a:p>
        </p:txBody>
      </p:sp>
      <p:sp>
        <p:nvSpPr>
          <p:cNvPr id="7" name="Shape 5"/>
          <p:cNvSpPr/>
          <p:nvPr/>
        </p:nvSpPr>
        <p:spPr>
          <a:xfrm>
            <a:off x="3511550" y="2043435"/>
            <a:ext cx="2476500" cy="2032000"/>
          </a:xfrm>
          <a:prstGeom prst="roundRect">
            <a:avLst>
              <a:gd name="adj" fmla="val 4688"/>
            </a:avLst>
          </a:prstGeom>
          <a:solidFill>
            <a:srgbClr val="FFFFFF"/>
          </a:solidFill>
          <a:ln w="12700">
            <a:solidFill>
              <a:srgbClr val="D5DCE6"/>
            </a:solidFill>
            <a:prstDash val="solid"/>
          </a:ln>
        </p:spPr>
      </p:sp>
      <p:sp>
        <p:nvSpPr>
          <p:cNvPr id="8" name="Text 6"/>
          <p:cNvSpPr/>
          <p:nvPr/>
        </p:nvSpPr>
        <p:spPr>
          <a:xfrm>
            <a:off x="3771900" y="230378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25</a:t>
            </a:r>
            <a:endParaRPr lang="en-US" sz="4800" dirty="0"/>
          </a:p>
        </p:txBody>
      </p:sp>
      <p:sp>
        <p:nvSpPr>
          <p:cNvPr id="9" name="Text 7"/>
          <p:cNvSpPr/>
          <p:nvPr/>
        </p:nvSpPr>
        <p:spPr>
          <a:xfrm>
            <a:off x="3771900" y="301498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mesures par série, pièce reposée à chaque fois</a:t>
            </a:r>
            <a:endParaRPr lang="en-US" sz="1500" dirty="0"/>
          </a:p>
        </p:txBody>
      </p:sp>
      <p:sp>
        <p:nvSpPr>
          <p:cNvPr id="10" name="Shape 8"/>
          <p:cNvSpPr/>
          <p:nvPr/>
        </p:nvSpPr>
        <p:spPr>
          <a:xfrm>
            <a:off x="6203950" y="2043435"/>
            <a:ext cx="2476500" cy="2032000"/>
          </a:xfrm>
          <a:prstGeom prst="roundRect">
            <a:avLst>
              <a:gd name="adj" fmla="val 4688"/>
            </a:avLst>
          </a:prstGeom>
          <a:solidFill>
            <a:srgbClr val="FFFFFF"/>
          </a:solidFill>
          <a:ln w="12700">
            <a:solidFill>
              <a:srgbClr val="D5DCE6"/>
            </a:solidFill>
            <a:prstDash val="solid"/>
          </a:ln>
        </p:spPr>
      </p:sp>
      <p:sp>
        <p:nvSpPr>
          <p:cNvPr id="11" name="Text 9"/>
          <p:cNvSpPr/>
          <p:nvPr/>
        </p:nvSpPr>
        <p:spPr>
          <a:xfrm>
            <a:off x="6464300" y="230378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3</a:t>
            </a:r>
            <a:endParaRPr lang="en-US" sz="4800" dirty="0"/>
          </a:p>
        </p:txBody>
      </p:sp>
      <p:sp>
        <p:nvSpPr>
          <p:cNvPr id="12" name="Text 10"/>
          <p:cNvSpPr/>
          <p:nvPr/>
        </p:nvSpPr>
        <p:spPr>
          <a:xfrm>
            <a:off x="6464300" y="301498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séries : 2 au micromètre, 1 au pied à coulisse</a:t>
            </a:r>
            <a:endParaRPr lang="en-US" sz="1500" dirty="0"/>
          </a:p>
        </p:txBody>
      </p:sp>
      <p:sp>
        <p:nvSpPr>
          <p:cNvPr id="13" name="Shape 11"/>
          <p:cNvSpPr/>
          <p:nvPr/>
        </p:nvSpPr>
        <p:spPr>
          <a:xfrm>
            <a:off x="8896350" y="2043435"/>
            <a:ext cx="2476500" cy="2032000"/>
          </a:xfrm>
          <a:prstGeom prst="roundRect">
            <a:avLst>
              <a:gd name="adj" fmla="val 4688"/>
            </a:avLst>
          </a:prstGeom>
          <a:solidFill>
            <a:srgbClr val="FFFFFF"/>
          </a:solidFill>
          <a:ln w="12700">
            <a:solidFill>
              <a:srgbClr val="D5DCE6"/>
            </a:solidFill>
            <a:prstDash val="solid"/>
          </a:ln>
        </p:spPr>
      </p:sp>
      <p:sp>
        <p:nvSpPr>
          <p:cNvPr id="14" name="Text 12"/>
          <p:cNvSpPr/>
          <p:nvPr/>
        </p:nvSpPr>
        <p:spPr>
          <a:xfrm>
            <a:off x="9156700" y="230378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4530F"/>
                </a:solidFill>
                <a:latin typeface="Oswald" pitchFamily="34" charset="0"/>
                <a:ea typeface="Oswald" pitchFamily="34" charset="-122"/>
                <a:cs typeface="Oswald" pitchFamily="34" charset="-120"/>
              </a:rPr>
              <a:t>75</a:t>
            </a:r>
            <a:endParaRPr lang="en-US" sz="4800" dirty="0"/>
          </a:p>
        </p:txBody>
      </p:sp>
      <p:sp>
        <p:nvSpPr>
          <p:cNvPr id="15" name="Text 13"/>
          <p:cNvSpPr/>
          <p:nvPr/>
        </p:nvSpPr>
        <p:spPr>
          <a:xfrm>
            <a:off x="9156700" y="3014985"/>
            <a:ext cx="201447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mesures en tout</a:t>
            </a:r>
            <a:endParaRPr lang="en-US" sz="1500" dirty="0"/>
          </a:p>
        </p:txBody>
      </p:sp>
      <p:sp>
        <p:nvSpPr>
          <p:cNvPr id="16" name="Text 14"/>
          <p:cNvSpPr/>
          <p:nvPr/>
        </p:nvSpPr>
        <p:spPr>
          <a:xfrm>
            <a:off x="812800" y="433578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L’opérateur annonce, le secrétaire écrit sans montrer : sinon on « retrouve » sa première valeur et l’instrument paraît meilleur qu’il n’est.</a:t>
            </a:r>
            <a:endParaRPr lang="en-US" sz="1500" dirty="0"/>
          </a:p>
        </p:txBody>
      </p:sp>
      <p:sp>
        <p:nvSpPr>
          <p:cNvPr id="17" name="Text 15"/>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CG NE DIT PAS</a:t>
            </a:r>
            <a:endParaRPr lang="en-US" sz="1200" dirty="0"/>
          </a:p>
        </p:txBody>
      </p:sp>
      <p:sp>
        <p:nvSpPr>
          <p:cNvPr id="3" name="Text 1"/>
          <p:cNvSpPr/>
          <p:nvPr>
            <p:ph type="title"/>
          </p:nvPr>
        </p:nvSpPr>
        <p:spPr>
          <a:xfrm>
            <a:off x="812800" y="128017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pièce, un opérateur à la fois : il reste deux angles morts</a:t>
            </a:r>
            <a:endParaRPr lang="en-US" sz="3600" dirty="0"/>
          </a:p>
        </p:txBody>
      </p:sp>
      <p:sp>
        <p:nvSpPr>
          <p:cNvPr id="4" name="Shape 2"/>
          <p:cNvSpPr/>
          <p:nvPr/>
        </p:nvSpPr>
        <p:spPr>
          <a:xfrm>
            <a:off x="819150" y="2546350"/>
            <a:ext cx="5168900" cy="2035810"/>
          </a:xfrm>
          <a:prstGeom prst="roundRect">
            <a:avLst>
              <a:gd name="adj" fmla="val 4679"/>
            </a:avLst>
          </a:prstGeom>
          <a:solidFill>
            <a:srgbClr val="FFFFFF"/>
          </a:solidFill>
          <a:ln w="12700">
            <a:solidFill>
              <a:srgbClr val="D5DCE6"/>
            </a:solidFill>
            <a:prstDash val="solid"/>
          </a:ln>
        </p:spPr>
      </p:sp>
      <p:pic>
        <p:nvPicPr>
          <p:cNvPr id="5" name="Image 0" descr="Users">    </p:cNvPr>
          <p:cNvPicPr>
            <a:picLocks noChangeAspect="1"/>
          </p:cNvPicPr>
          <p:nvPr/>
        </p:nvPicPr>
        <p:blipFill>
          <a:blip r:embed="rId1"/>
          <a:srcRect l="0" r="0" t="0" b="0"/>
          <a:stretch/>
        </p:blipFill>
        <p:spPr>
          <a:xfrm>
            <a:off x="1079500" y="2806700"/>
            <a:ext cx="457200" cy="457200"/>
          </a:xfrm>
          <a:prstGeom prst="rect">
            <a:avLst/>
          </a:prstGeom>
        </p:spPr>
      </p:pic>
      <p:sp>
        <p:nvSpPr>
          <p:cNvPr id="6" name="Text 3"/>
          <p:cNvSpPr/>
          <p:nvPr/>
        </p:nvSpPr>
        <p:spPr>
          <a:xfrm>
            <a:off x="1079500" y="33655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Les opérateurs</a:t>
            </a:r>
            <a:endParaRPr lang="en-US" sz="2200" dirty="0"/>
          </a:p>
        </p:txBody>
      </p:sp>
      <p:sp>
        <p:nvSpPr>
          <p:cNvPr id="7" name="Text 4"/>
          <p:cNvSpPr/>
          <p:nvPr/>
        </p:nvSpPr>
        <p:spPr>
          <a:xfrm>
            <a:off x="1079500" y="37884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Deux personnes, deux gestes, deux moyennes. Nos séries 1 et 2 en donnent un aperçu.</a:t>
            </a:r>
            <a:endParaRPr lang="en-US" sz="1500" dirty="0"/>
          </a:p>
        </p:txBody>
      </p:sp>
      <p:sp>
        <p:nvSpPr>
          <p:cNvPr id="8" name="Shape 5"/>
          <p:cNvSpPr/>
          <p:nvPr/>
        </p:nvSpPr>
        <p:spPr>
          <a:xfrm>
            <a:off x="6203950" y="2546350"/>
            <a:ext cx="5168900" cy="2035810"/>
          </a:xfrm>
          <a:prstGeom prst="roundRect">
            <a:avLst>
              <a:gd name="adj" fmla="val 4679"/>
            </a:avLst>
          </a:prstGeom>
          <a:solidFill>
            <a:srgbClr val="FFFFFF"/>
          </a:solidFill>
          <a:ln w="12700">
            <a:solidFill>
              <a:srgbClr val="D5DCE6"/>
            </a:solidFill>
            <a:prstDash val="solid"/>
          </a:ln>
        </p:spPr>
      </p:sp>
      <p:pic>
        <p:nvPicPr>
          <p:cNvPr id="9" name="Image 1" descr="Tool">    </p:cNvPr>
          <p:cNvPicPr>
            <a:picLocks noChangeAspect="1"/>
          </p:cNvPicPr>
          <p:nvPr/>
        </p:nvPicPr>
        <p:blipFill>
          <a:blip r:embed="rId2"/>
          <a:srcRect l="0" r="0" t="0" b="0"/>
          <a:stretch/>
        </p:blipFill>
        <p:spPr>
          <a:xfrm>
            <a:off x="6464300" y="2806700"/>
            <a:ext cx="457200" cy="457200"/>
          </a:xfrm>
          <a:prstGeom prst="rect">
            <a:avLst/>
          </a:prstGeom>
        </p:spPr>
      </p:pic>
      <p:sp>
        <p:nvSpPr>
          <p:cNvPr id="10" name="Text 6"/>
          <p:cNvSpPr/>
          <p:nvPr/>
        </p:nvSpPr>
        <p:spPr>
          <a:xfrm>
            <a:off x="6464300" y="33655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Les pièces</a:t>
            </a:r>
            <a:endParaRPr lang="en-US" sz="2200" dirty="0"/>
          </a:p>
        </p:txBody>
      </p:sp>
      <p:sp>
        <p:nvSpPr>
          <p:cNvPr id="11" name="Text 7"/>
          <p:cNvSpPr/>
          <p:nvPr/>
        </p:nvSpPr>
        <p:spPr>
          <a:xfrm>
            <a:off x="6464300" y="37884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Une pièce de référence propre et parfaite. Les pièces de production ont des défauts de forme.</a:t>
            </a:r>
            <a:endParaRPr lang="en-US" sz="1500" dirty="0"/>
          </a:p>
        </p:txBody>
      </p:sp>
      <p:sp>
        <p:nvSpPr>
          <p:cNvPr id="12" name="Text 8"/>
          <p:cNvSpPr/>
          <p:nvPr/>
        </p:nvSpPr>
        <p:spPr>
          <a:xfrm>
            <a:off x="812800" y="484252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L’étude qui chiffre tout cela s’appelle </a:t>
            </a:r>
            <a:r>
              <a:rPr lang="en-US" sz="1600" b="1" dirty="0">
                <a:solidFill>
                  <a:srgbClr val="1B2A4A"/>
                </a:solidFill>
                <a:latin typeface="IBM Plex Sans" pitchFamily="34" charset="0"/>
                <a:ea typeface="IBM Plex Sans" pitchFamily="34" charset="-122"/>
                <a:cs typeface="IBM Plex Sans" pitchFamily="34" charset="-120"/>
              </a:rPr>
              <a:t>étude R&amp;R</a:t>
            </a:r>
            <a:r>
              <a:rPr lang="en-US" sz="1600" dirty="0">
                <a:solidFill>
                  <a:srgbClr val="1B2A4A"/>
                </a:solidFill>
                <a:latin typeface="IBM Plex Sans" pitchFamily="34" charset="0"/>
                <a:ea typeface="IBM Plex Sans" pitchFamily="34" charset="-122"/>
                <a:cs typeface="IBM Plex Sans" pitchFamily="34" charset="-120"/>
              </a:rPr>
              <a:t> (répétabilité et reproductibilité). Vous la croiserez peut-être dans votre entreprise.</a:t>
            </a:r>
            <a:endParaRPr lang="en-US" sz="1600" dirty="0"/>
          </a:p>
        </p:txBody>
      </p:sp>
      <p:sp>
        <p:nvSpPr>
          <p:cNvPr id="13" name="Text 9"/>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RETOUR AU 5 NOVEMBRE</a:t>
            </a:r>
            <a:endParaRPr lang="en-US" sz="1200" dirty="0"/>
          </a:p>
        </p:txBody>
      </p:sp>
      <p:sp>
        <p:nvSpPr>
          <p:cNvPr id="3" name="Text 1"/>
          <p:cNvSpPr/>
          <p:nvPr>
            <p:ph type="title"/>
          </p:nvPr>
        </p:nvSpPr>
        <p:spPr>
          <a:xfrm>
            <a:off x="812800" y="12801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Nos Cp étaient-ils justes ?</a:t>
            </a:r>
            <a:endParaRPr lang="en-US" sz="3600" dirty="0"/>
          </a:p>
        </p:txBody>
      </p:sp>
      <p:sp>
        <p:nvSpPr>
          <p:cNvPr id="4" name="Text 2"/>
          <p:cNvSpPr/>
          <p:nvPr/>
        </p:nvSpPr>
        <p:spPr>
          <a:xfrm>
            <a:off x="819150" y="2043435"/>
            <a:ext cx="10553700" cy="916940"/>
          </a:xfrm>
          <a:prstGeom prst="roundRect">
            <a:avLst>
              <a:gd name="adj" fmla="val 10388"/>
            </a:avLst>
          </a:prstGeom>
          <a:solidFill>
            <a:srgbClr val="FFFFFF"/>
          </a:solidFill>
          <a:ln w="12700">
            <a:solidFill>
              <a:srgbClr val="D5DCE6"/>
            </a:solidFill>
            <a:prstDash val="solid"/>
          </a:ln>
        </p:spPr>
        <p:txBody>
          <a:bodyPr wrap="square" lIns="81957" tIns="232452" rIns="81957" bIns="207052" rtlCol="0" anchor="t">
            <a:normAutofit/>
          </a:bodyPr>
          <a:lstStyle/>
          <a:p>
            <a:pPr algn="ctr" indent="0" marL="0">
              <a:lnSpc>
                <a:spcPts val="3120"/>
              </a:lnSpc>
              <a:buNone/>
            </a:pPr>
            <a:r>
              <a:rPr lang="en-US" sz="2400" dirty="0">
                <a:solidFill>
                  <a:srgbClr val="1B2A4A"/>
                </a:solidFill>
                <a:latin typeface="Oswald" pitchFamily="34" charset="0"/>
                <a:ea typeface="Oswald" pitchFamily="34" charset="-122"/>
                <a:cs typeface="Oswald" pitchFamily="34" charset="-120"/>
              </a:rPr>
              <a:t>dispersion vue² = dispersion pièces² + dispersion mesure²</a:t>
            </a:r>
            <a:endParaRPr lang="en-US" sz="2400" dirty="0"/>
          </a:p>
        </p:txBody>
      </p:sp>
      <p:sp>
        <p:nvSpPr>
          <p:cNvPr id="5" name="Text 3"/>
          <p:cNvSpPr/>
          <p:nvPr/>
        </p:nvSpPr>
        <p:spPr>
          <a:xfrm>
            <a:off x="812800" y="3220715"/>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Une partie de l’écart-type mesuré le premier jour venait de l’instrument. Le vrai procédé est un peu meilleur que ce qu’on a calculé.</a:t>
            </a:r>
            <a:endParaRPr lang="en-US" sz="1600" dirty="0"/>
          </a:p>
        </p:txBody>
      </p:sp>
      <p:sp>
        <p:nvSpPr>
          <p:cNvPr id="6" name="Text 4"/>
          <p:cNvSpPr/>
          <p:nvPr/>
        </p:nvSpPr>
        <p:spPr>
          <a:xfrm>
            <a:off x="812800" y="4043685"/>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4530F"/>
                </a:solidFill>
                <a:latin typeface="IBM Plex Sans" pitchFamily="34" charset="0"/>
                <a:ea typeface="IBM Plex Sans" pitchFamily="34" charset="-122"/>
                <a:cs typeface="IBM Plex Sans" pitchFamily="34" charset="-120"/>
              </a:rPr>
              <a:t>Moralité : on valide l’instrument avant de juger un procédé, jamais après.</a:t>
            </a:r>
            <a:endParaRPr lang="en-US" sz="1800" dirty="0"/>
          </a:p>
        </p:txBody>
      </p:sp>
      <p:sp>
        <p:nvSpPr>
          <p:cNvPr id="7" name="Text 5"/>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48185"/>
            <a:ext cx="91567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SÉQUENCE E</a:t>
            </a:r>
            <a:endParaRPr lang="en-US" sz="1200" dirty="0"/>
          </a:p>
        </p:txBody>
      </p:sp>
      <p:sp>
        <p:nvSpPr>
          <p:cNvPr id="3" name="Text 1"/>
          <p:cNvSpPr/>
          <p:nvPr>
            <p:ph type="title"/>
          </p:nvPr>
        </p:nvSpPr>
        <p:spPr>
          <a:xfrm>
            <a:off x="812800" y="2415555"/>
            <a:ext cx="915670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Parfois on ne mesure pas : on compte</a:t>
            </a:r>
            <a:endParaRPr lang="en-US" sz="6000" dirty="0"/>
          </a:p>
        </p:txBody>
      </p:sp>
      <p:sp>
        <p:nvSpPr>
          <p:cNvPr id="4" name="Text 2"/>
          <p:cNvSpPr/>
          <p:nvPr/>
        </p:nvSpPr>
        <p:spPr>
          <a:xfrm>
            <a:off x="812800" y="4269755"/>
            <a:ext cx="91567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Un calibre qui passe ou ne passe pas, une rayure, un rebut. Ça aussi, ça se surveille avec une carte.</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CARTES AUX ATTRIBUTS</a:t>
            </a:r>
            <a:endParaRPr lang="en-US" sz="1200" dirty="0"/>
          </a:p>
        </p:txBody>
      </p:sp>
      <p:sp>
        <p:nvSpPr>
          <p:cNvPr id="3" name="Text 1"/>
          <p:cNvSpPr/>
          <p:nvPr>
            <p:ph type="title"/>
          </p:nvPr>
        </p:nvSpPr>
        <p:spPr>
          <a:xfrm>
            <a:off x="812800" y="12801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qu’on compte décide de la carte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63750"/>
        </p:xfrm>
        <a:graphic>
          <a:graphicData uri="http://schemas.openxmlformats.org/drawingml/2006/table">
            <a:tbl>
              <a:tblPr/>
              <a:tblGrid>
                <a:gridCol w="1266444"/>
                <a:gridCol w="4643628"/>
                <a:gridCol w="4643628"/>
              </a:tblGrid>
              <a:tr h="412750">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Carte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compte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Limites (3 sigmas)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la proportion de pièces rejetées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p̄ ± 3 √( p̄(1 − p̄) / n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np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nombre de pièces rejetées, lots de même taille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np̄ ± 3 √( np̄(1 − p̄)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nombre de défauts par unité de contrôle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 ± 3 √c̄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les défauts par unité, tailles variables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ū ± 3 √( ū / n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bl>
          </a:graphicData>
        </a:graphic>
      </p:graphicFrame>
      <p:sp>
        <p:nvSpPr>
          <p:cNvPr id="5" name="Text 2"/>
          <p:cNvSpPr/>
          <p:nvPr/>
        </p:nvSpPr>
        <p:spPr>
          <a:xfrm>
            <a:off x="812800" y="436753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Mêmes règles de lecture qu’avant. Limite basse négative : on la remplace par 0. Il faut de gros échantillons, souvent plusieurs centaines d’unités.</a:t>
            </a:r>
            <a:endParaRPr lang="en-US" sz="1500" dirty="0"/>
          </a:p>
        </p:txBody>
      </p:sp>
      <p:sp>
        <p:nvSpPr>
          <p:cNvPr id="6" name="Text 3"/>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E · Les attributs · 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8881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À EMPORTER</a:t>
            </a:r>
            <a:endParaRPr lang="en-US" sz="1200" dirty="0"/>
          </a:p>
        </p:txBody>
      </p:sp>
      <p:sp>
        <p:nvSpPr>
          <p:cNvPr id="3" name="Text 1"/>
          <p:cNvSpPr/>
          <p:nvPr>
            <p:ph type="title"/>
          </p:nvPr>
        </p:nvSpPr>
        <p:spPr>
          <a:xfrm>
            <a:off x="812800" y="2557785"/>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7F5F0"/>
                </a:solidFill>
                <a:latin typeface="Oswald" pitchFamily="34" charset="0"/>
                <a:ea typeface="Oswald" pitchFamily="34" charset="-122"/>
                <a:cs typeface="Oswald" pitchFamily="34" charset="-120"/>
              </a:rPr>
              <a:t>Mesurer, juger, surveiller, réagir</a:t>
            </a:r>
            <a:endParaRPr lang="en-US" sz="4800" dirty="0"/>
          </a:p>
        </p:txBody>
      </p:sp>
      <p:sp>
        <p:nvSpPr>
          <p:cNvPr id="4" name="Shape 2"/>
          <p:cNvSpPr/>
          <p:nvPr/>
        </p:nvSpPr>
        <p:spPr>
          <a:xfrm>
            <a:off x="812800" y="3583955"/>
            <a:ext cx="2108200" cy="1285240"/>
          </a:xfrm>
          <a:prstGeom prst="roundRect">
            <a:avLst>
              <a:gd name="adj" fmla="val 7905"/>
            </a:avLst>
          </a:prstGeom>
          <a:solidFill>
            <a:srgbClr val="24375C"/>
          </a:solidFill>
          <a:ln/>
        </p:spPr>
      </p:sp>
      <p:sp>
        <p:nvSpPr>
          <p:cNvPr id="5" name="Text 3"/>
          <p:cNvSpPr/>
          <p:nvPr/>
        </p:nvSpPr>
        <p:spPr>
          <a:xfrm>
            <a:off x="10160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Mesurer</a:t>
            </a:r>
            <a:endParaRPr lang="en-US" sz="2000" dirty="0"/>
          </a:p>
        </p:txBody>
      </p:sp>
      <p:sp>
        <p:nvSpPr>
          <p:cNvPr id="6" name="Text 4"/>
          <p:cNvSpPr/>
          <p:nvPr/>
        </p:nvSpPr>
        <p:spPr>
          <a:xfrm>
            <a:off x="10160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Instrument validé : résolution, Cg et Cgk</a:t>
            </a:r>
            <a:endParaRPr lang="en-US" sz="1400" dirty="0"/>
          </a:p>
        </p:txBody>
      </p:sp>
      <p:pic>
        <p:nvPicPr>
          <p:cNvPr id="7" name="Image 0" descr="arrow-right">    </p:cNvPr>
          <p:cNvPicPr>
            <a:picLocks noChangeAspect="1"/>
          </p:cNvPicPr>
          <p:nvPr/>
        </p:nvPicPr>
        <p:blipFill>
          <a:blip r:embed="rId1"/>
          <a:srcRect l="0" r="0" t="0" b="0"/>
          <a:stretch/>
        </p:blipFill>
        <p:spPr>
          <a:xfrm>
            <a:off x="3073400" y="4112270"/>
            <a:ext cx="406400" cy="228600"/>
          </a:xfrm>
          <a:prstGeom prst="rect">
            <a:avLst/>
          </a:prstGeom>
        </p:spPr>
      </p:pic>
      <p:sp>
        <p:nvSpPr>
          <p:cNvPr id="8" name="Shape 5"/>
          <p:cNvSpPr/>
          <p:nvPr/>
        </p:nvSpPr>
        <p:spPr>
          <a:xfrm>
            <a:off x="3632200" y="3583955"/>
            <a:ext cx="2108200" cy="1285240"/>
          </a:xfrm>
          <a:prstGeom prst="roundRect">
            <a:avLst>
              <a:gd name="adj" fmla="val 7905"/>
            </a:avLst>
          </a:prstGeom>
          <a:solidFill>
            <a:srgbClr val="24375C"/>
          </a:solidFill>
          <a:ln/>
        </p:spPr>
      </p:sp>
      <p:sp>
        <p:nvSpPr>
          <p:cNvPr id="9" name="Text 6"/>
          <p:cNvSpPr/>
          <p:nvPr/>
        </p:nvSpPr>
        <p:spPr>
          <a:xfrm>
            <a:off x="38354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Juger</a:t>
            </a:r>
            <a:endParaRPr lang="en-US" sz="2000" dirty="0"/>
          </a:p>
        </p:txBody>
      </p:sp>
      <p:sp>
        <p:nvSpPr>
          <p:cNvPr id="10" name="Text 7"/>
          <p:cNvSpPr/>
          <p:nvPr/>
        </p:nvSpPr>
        <p:spPr>
          <a:xfrm>
            <a:off x="38354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Cp et Cpk face à l’exigence du client</a:t>
            </a:r>
            <a:endParaRPr lang="en-US" sz="1400" dirty="0"/>
          </a:p>
        </p:txBody>
      </p:sp>
      <p:pic>
        <p:nvPicPr>
          <p:cNvPr id="11" name="Image 1" descr="arrow-right">    </p:cNvPr>
          <p:cNvPicPr>
            <a:picLocks noChangeAspect="1"/>
          </p:cNvPicPr>
          <p:nvPr/>
        </p:nvPicPr>
        <p:blipFill>
          <a:blip r:embed="rId2"/>
          <a:srcRect l="0" r="0" t="0" b="0"/>
          <a:stretch/>
        </p:blipFill>
        <p:spPr>
          <a:xfrm>
            <a:off x="5892800" y="4112270"/>
            <a:ext cx="406400" cy="228600"/>
          </a:xfrm>
          <a:prstGeom prst="rect">
            <a:avLst/>
          </a:prstGeom>
        </p:spPr>
      </p:pic>
      <p:sp>
        <p:nvSpPr>
          <p:cNvPr id="12" name="Shape 8"/>
          <p:cNvSpPr/>
          <p:nvPr/>
        </p:nvSpPr>
        <p:spPr>
          <a:xfrm>
            <a:off x="6451600" y="3583955"/>
            <a:ext cx="2108200" cy="1285240"/>
          </a:xfrm>
          <a:prstGeom prst="roundRect">
            <a:avLst>
              <a:gd name="adj" fmla="val 7905"/>
            </a:avLst>
          </a:prstGeom>
          <a:solidFill>
            <a:srgbClr val="24375C"/>
          </a:solidFill>
          <a:ln/>
        </p:spPr>
      </p:sp>
      <p:sp>
        <p:nvSpPr>
          <p:cNvPr id="13" name="Text 9"/>
          <p:cNvSpPr/>
          <p:nvPr/>
        </p:nvSpPr>
        <p:spPr>
          <a:xfrm>
            <a:off x="66548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Surveiller</a:t>
            </a:r>
            <a:endParaRPr lang="en-US" sz="2000" dirty="0"/>
          </a:p>
        </p:txBody>
      </p:sp>
      <p:sp>
        <p:nvSpPr>
          <p:cNvPr id="14" name="Text 10"/>
          <p:cNvSpPr/>
          <p:nvPr/>
        </p:nvSpPr>
        <p:spPr>
          <a:xfrm>
            <a:off x="66548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Carte X̄/R, limites du procédé</a:t>
            </a:r>
            <a:endParaRPr lang="en-US" sz="1400" dirty="0"/>
          </a:p>
        </p:txBody>
      </p:sp>
      <p:pic>
        <p:nvPicPr>
          <p:cNvPr id="15" name="Image 2" descr="arrow-right">    </p:cNvPr>
          <p:cNvPicPr>
            <a:picLocks noChangeAspect="1"/>
          </p:cNvPicPr>
          <p:nvPr/>
        </p:nvPicPr>
        <p:blipFill>
          <a:blip r:embed="rId3"/>
          <a:srcRect l="0" r="0" t="0" b="0"/>
          <a:stretch/>
        </p:blipFill>
        <p:spPr>
          <a:xfrm>
            <a:off x="8712200" y="4112270"/>
            <a:ext cx="406400" cy="228600"/>
          </a:xfrm>
          <a:prstGeom prst="rect">
            <a:avLst/>
          </a:prstGeom>
        </p:spPr>
      </p:pic>
      <p:sp>
        <p:nvSpPr>
          <p:cNvPr id="16" name="Shape 11"/>
          <p:cNvSpPr/>
          <p:nvPr/>
        </p:nvSpPr>
        <p:spPr>
          <a:xfrm>
            <a:off x="9271000" y="3583955"/>
            <a:ext cx="2108200" cy="1285240"/>
          </a:xfrm>
          <a:prstGeom prst="roundRect">
            <a:avLst>
              <a:gd name="adj" fmla="val 7905"/>
            </a:avLst>
          </a:prstGeom>
          <a:solidFill>
            <a:srgbClr val="24375C"/>
          </a:solidFill>
          <a:ln/>
        </p:spPr>
      </p:sp>
      <p:sp>
        <p:nvSpPr>
          <p:cNvPr id="17" name="Text 12"/>
          <p:cNvSpPr/>
          <p:nvPr/>
        </p:nvSpPr>
        <p:spPr>
          <a:xfrm>
            <a:off x="94742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Réagir</a:t>
            </a:r>
            <a:endParaRPr lang="en-US" sz="2000" dirty="0"/>
          </a:p>
        </p:txBody>
      </p:sp>
      <p:sp>
        <p:nvSpPr>
          <p:cNvPr id="18" name="Text 13"/>
          <p:cNvSpPr/>
          <p:nvPr/>
        </p:nvSpPr>
        <p:spPr>
          <a:xfrm>
            <a:off x="94742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OCAP écrite à l’avance</a:t>
            </a:r>
            <a:endParaRPr lang="en-US" sz="1400" dirty="0"/>
          </a:p>
        </p:txBody>
      </p:sp>
    </p:spTree>
  </p:cSld>
  <p:clrMapOvr>
    <a:masterClrMapping/>
  </p:clrMapOvr>
</p:sld>
</file>

<file path=ppt/theme/theme1.xml><?xml version="1.0" encoding="utf-8"?>
<a:theme xmlns:a="http://schemas.openxmlformats.org/drawingml/2006/main" name="Capabilité et SPC · TQ6 · V3">
  <a:themeElements>
    <a:clrScheme name="Capabilité et SPC · TQ6 · V3">
      <a:dk1>
        <a:srgbClr val="1B2A4A"/>
      </a:dk1>
      <a:lt1>
        <a:srgbClr val="F7F5F0"/>
      </a:lt1>
      <a:dk2>
        <a:srgbClr val="525D74"/>
      </a:dk2>
      <a:lt2>
        <a:srgbClr val="E1E1DF"/>
      </a:lt2>
      <a:accent1>
        <a:srgbClr val="B4530F"/>
      </a:accent1>
      <a:accent2>
        <a:srgbClr val="2E6DA4"/>
      </a:accent2>
      <a:accent3>
        <a:srgbClr val="F0B37E"/>
      </a:accent3>
      <a:accent4>
        <a:srgbClr val="B42318"/>
      </a:accent4>
      <a:accent5>
        <a:srgbClr val="2F7D4F"/>
      </a:accent5>
      <a:accent6>
        <a:srgbClr val="8A5A00"/>
      </a:accent6>
      <a:hlink>
        <a:srgbClr val="0563C1"/>
      </a:hlink>
      <a:folHlink>
        <a:srgbClr val="954F72"/>
      </a:folHlink>
    </a:clrScheme>
    <a:fontScheme name="Capabilité et SPC · TQ6 · V3">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Capabilité et SPC · TQ6 · V3</dc:title>
  <dc:subject/>
  <dc:creator/>
  <cp:lastModifiedBy/>
  <cp:revision>1</cp:revision>
  <dcterms:created xsi:type="dcterms:W3CDTF">2026-10-02T06:19:14Z</dcterms:created>
  <dcterms:modified xsi:type="dcterms:W3CDTF">2026-10-02T06:19:14Z</dcterms:modified>
</cp:coreProperties>
</file>
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14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éphane JAUBERT" userId="926aeaf5-0d8d-4569-9635-338e3b4850fc" providerId="ADAL" clId="{C777CAD2-2948-4130-A6C6-8CB11CD7CD00}"/>
    <pc:docChg chg="modSld">
      <pc:chgData name="Stéphane JAUBERT" userId="926aeaf5-0d8d-4569-9635-338e3b4850fc" providerId="ADAL" clId="{C777CAD2-2948-4130-A6C6-8CB11CD7CD00}" dt="2026-07-22T13:15:57.420" v="2" actId="14100"/>
      <pc:docMkLst>
        <pc:docMk/>
      </pc:docMkLst>
      <pc:sldChg chg="modSp mod">
        <pc:chgData name="Stéphane JAUBERT" userId="926aeaf5-0d8d-4569-9635-338e3b4850fc" providerId="ADAL" clId="{C777CAD2-2948-4130-A6C6-8CB11CD7CD00}" dt="2026-07-20T13:51:12.180" v="1" actId="14100"/>
        <pc:sldMkLst>
          <pc:docMk/>
          <pc:sldMk cId="0" sldId="256"/>
        </pc:sldMkLst>
        <pc:picChg chg="mod">
          <ac:chgData name="Stéphane JAUBERT" userId="926aeaf5-0d8d-4569-9635-338e3b4850fc" providerId="ADAL" clId="{C777CAD2-2948-4130-A6C6-8CB11CD7CD00}" dt="2026-07-20T13:51:12.180" v="1" actId="14100"/>
          <ac:picMkLst>
            <pc:docMk/>
            <pc:sldMk cId="0" sldId="256"/>
            <ac:picMk id="9" creationId="{00000000-0000-0000-0000-000000000000}"/>
          </ac:picMkLst>
        </pc:picChg>
      </pc:sldChg>
      <pc:sldChg chg="modSp mod">
        <pc:chgData name="Stéphane JAUBERT" userId="926aeaf5-0d8d-4569-9635-338e3b4850fc" providerId="ADAL" clId="{C777CAD2-2948-4130-A6C6-8CB11CD7CD00}" dt="2026-07-22T13:15:57.420" v="2" actId="14100"/>
        <pc:sldMkLst>
          <pc:docMk/>
          <pc:sldMk cId="0" sldId="258"/>
        </pc:sldMkLst>
        <pc:picChg chg="mod">
          <ac:chgData name="Stéphane JAUBERT" userId="926aeaf5-0d8d-4569-9635-338e3b4850fc" providerId="ADAL" clId="{C777CAD2-2948-4130-A6C6-8CB11CD7CD00}" dt="2026-07-22T13:15:57.420" v="2" actId="14100"/>
          <ac:picMkLst>
            <pc:docMk/>
            <pc:sldMk cId="0" sldId="258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285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CVDL  —  S. JAUBERT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2 jours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6600" dirty="0"/>
          </a:p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SPC</a:t>
            </a:r>
            <a:endParaRPr lang="en-US" sz="6600" dirty="0"/>
          </a:p>
        </p:txBody>
      </p:sp>
      <p:sp>
        <p:nvSpPr>
          <p:cNvPr id="6" name="Shape 4"/>
          <p:cNvSpPr/>
          <p:nvPr/>
        </p:nvSpPr>
        <p:spPr>
          <a:xfrm>
            <a:off x="0" y="3749040"/>
            <a:ext cx="9144000" cy="13944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 des Procédés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Destiné à des publics débutants – Demandeurs d'emploi – Profil opérateur</a:t>
            </a:r>
            <a:endParaRPr lang="en-US" sz="12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788" y="4434840"/>
            <a:ext cx="62533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jours pour maîtriser vos procédés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93192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 — CAPABILITÉ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des procédés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(5M)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70048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4008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 en cloche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Cm / Cmk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21024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Cp / Cpk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096512"/>
            <a:ext cx="54864" cy="2743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4008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Excel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846320" y="1143000"/>
            <a:ext cx="393192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93776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 — SPC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719072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0" y="167335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194560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120640" y="214884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/ spéciales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670048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120640" y="26243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 / R : construction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3145536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120640" y="309981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621024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120640" y="35753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et réagir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4096512"/>
            <a:ext cx="54864" cy="274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120640" y="40507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avec Ellistat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B2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1016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&amp; procédé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· Cmk · Cp · Cpk</a:t>
            </a:r>
            <a:endParaRPr lang="en-US" sz="16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688" y="4434840"/>
            <a:ext cx="61943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: un phénomène naturel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de variabilité (5M)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en cloche et les tolérances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indices Cm et Cmk (machine)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indices Cp et Cpk (procédé)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PHÉNOMÈNE NATUREL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2743200" cy="54864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840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cuisine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pizzas jamais identiques : épaisseur, garniture, cuisson… La variabilité existe partout.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743200" cy="548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3558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sport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joueur de fléchettes ne touche jamais exactement la même cible à chaque lancer.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217920" y="1143000"/>
            <a:ext cx="274320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327648" y="12344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industrie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27648" y="1618488"/>
            <a:ext cx="25237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machine usine des pièces : diamètre, longueur… jamais exactement pareils.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est inévitable. L'objectif : la comprendre et la maîtriser.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vient la variabilité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5 SOURCES — LES 5M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des matériaux,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variations de composition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65176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65176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0370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Usure, jeu mécanique,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vibrations, température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2336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2628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2628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7822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Main-d'œuvre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Formation, fatigue,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de l'opérateur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40080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40080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5274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8932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Procédures, réglages,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 de travail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1143000"/>
            <a:ext cx="16916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8275320" y="1325880"/>
            <a:ext cx="685800" cy="68580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8275320" y="1325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827264" y="2103120"/>
            <a:ext cx="1581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63840" y="2560320"/>
            <a:ext cx="1508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Température, humidité,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poussière, vibrations ext.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variation de procédé s'explique par l'une ou plusieurs de ces 5 causes.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naturelle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MESURE À LA LOI NORMALE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749040" cy="347472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374904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du tir à la cible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642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archer tire 50 flèches sur une cible.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20025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exactement au centre.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1480" y="23408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impacts se regroupent autour d'un point 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6791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la MOYENNE (centrage)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30175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s'écartent plus ou moins :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33558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c'est l'ÉCART-TYPE (dispersion)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" y="36941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flèches sont groupées,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40325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 procédé est PRÉCIS.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9120" y="1143000"/>
            <a:ext cx="44805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480560" y="1234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courbe en cloche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4331970"/>
            <a:ext cx="228600" cy="57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864608" y="4217670"/>
            <a:ext cx="228600" cy="1714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111496" y="3989070"/>
            <a:ext cx="228600" cy="4000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358384" y="3646170"/>
            <a:ext cx="228600" cy="7429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5605272" y="3188970"/>
            <a:ext cx="228600" cy="1200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852160" y="2788920"/>
            <a:ext cx="228600" cy="1600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6099048" y="2560320"/>
            <a:ext cx="228600" cy="18288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345936" y="2788920"/>
            <a:ext cx="228600" cy="1600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592824" y="3188970"/>
            <a:ext cx="228600" cy="1200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839712" y="3646170"/>
            <a:ext cx="228600" cy="7429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086600" y="3989070"/>
            <a:ext cx="228600" cy="4000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333488" y="4217670"/>
            <a:ext cx="228600" cy="1714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580376" y="4331970"/>
            <a:ext cx="228600" cy="5715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526280" y="4407408"/>
            <a:ext cx="4206240" cy="0"/>
          </a:xfrm>
          <a:prstGeom prst="line">
            <a:avLst/>
          </a:prstGeom>
          <a:noFill/>
          <a:ln w="1905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48056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valeurs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extrêmes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0" y="19202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des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ici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4462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et capabilité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LIEN ENTRE LES DEUX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tolérance, c'est ce que le client accepte.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dispersion, c'est ce que la machine produit réellement.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265176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capable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657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dépasse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tolérance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46120" y="2103120"/>
            <a:ext cx="2651760" cy="457200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BD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3375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tient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 dans la tolérance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51760" cy="256032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65176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309360" y="21305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40880" y="26974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dispersion 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dans la tolérance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est d'avoir une dispersion NETTEMENT inférieure à la tolérance.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machine : Cm et Cmk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 — MESURE SUR LA MACHINE SEULE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402336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402336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— Capabilité de dispersion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= IT / (6 × σ)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= Intervalle de Tolérance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= Écart-type des mesures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374904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32461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mesure si la DISPERSION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machine est assez petite.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≥ 1,67  requis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115568"/>
            <a:ext cx="420624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20624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0" y="1143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— Capabilité de centrage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737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= min( (X̄ − Li) , (Ls − X̄) ) / 3σ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 = Moyenne des mesures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Limite inférieure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= Limite supérieure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154680"/>
            <a:ext cx="393192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0" y="3246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vérifie que la machine 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CENTRÉE dans la tolérance.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Cmk ≥ 1,67  requis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interpréter Cm et Cmk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LECTURE RAPIDE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01168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 de Cm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1097280"/>
            <a:ext cx="301752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331720" y="1097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097280"/>
            <a:ext cx="3474720" cy="3657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39496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recommandée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2011680" cy="658368"/>
          </a:xfrm>
          <a:prstGeom prst="rect">
            <a:avLst/>
          </a:prstGeom>
          <a:solidFill>
            <a:srgbClr val="FEE2E2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0040" y="16002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&lt; 1,00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31720" y="1554480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95728" y="160020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machine est trop dispersée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94960" y="1554480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458968" y="1600200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 machine – maintenance urgente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304288"/>
            <a:ext cx="201168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0040" y="23500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 ≤ Cm &lt; 1,33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31720" y="230428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395728" y="2350008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limite, risque élevé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2304288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458968" y="2350008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 prioritaire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2011680" cy="658368"/>
          </a:xfrm>
          <a:prstGeom prst="rect">
            <a:avLst/>
          </a:prstGeom>
          <a:solidFill>
            <a:srgbClr val="FFF9E6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0040" y="309981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 ≤ Cm &lt; 1,67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3054096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395728" y="3099816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mais perfectible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94960" y="3054096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458968" y="3099816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régulièrement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2011680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320040" y="3849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≥ 1,67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331720" y="3803904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395728" y="384962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capable — dispersion maîtrisée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803904"/>
            <a:ext cx="34747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458968" y="3849624"/>
            <a:ext cx="3346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— passer au centrage (Cmk)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tableau s'applique à Cmk — mais Cmk mesure le centrage, pas la dispersion.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procédé : Cp et Cpk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 — MESURE EN CONDITIONS RÉELLES DE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58368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principe que Cm / Cmk, mais calculé sur des mesures faites en PRODUCTION réelle (sous-groupes successifs).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4160520" cy="5029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Cmk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la machine seule, en court terme (50 mesures consécutives sans changement d'opérateur, de lot, etc.)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920240"/>
            <a:ext cx="4160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016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920240"/>
            <a:ext cx="416052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00600" y="195681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/ Cpk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0600" y="2542032"/>
            <a:ext cx="3977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sur le procédé complet, en long terme, avec les variations réelles (opérateurs différents, lots différents...)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≥ 1,33  et  Cpk ≥ 1,33  sont les seuils minimaux requis par la plupart des normes (IATF, ISO 9001).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situations possibles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&amp; CPK — QUE SE PASSE-T-IL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4160520" cy="4572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faible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faible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Dispersé ET décentré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problème → action immédiate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60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fort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faible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mais mal centré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Réglage nécessaire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60520" cy="457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090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faible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59359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Centré mais trop dispersé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la variabilité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60520" cy="178308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09160" y="3063240"/>
            <a:ext cx="416052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00600" y="30906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fort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Cpk fort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59359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ET centré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Procédé sous contrôle ✓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pratique — Capabilité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SUR DONNÉES RÉELLES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41376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577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  <a:effectLst>
            <a:outerShdw blurRad="127000" dist="508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74320" y="1143000"/>
            <a:ext cx="557784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5394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37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fichier TP_MSP_app.xlsx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1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50 mesures de diamètre (fichier CSV fourni)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114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2651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la moyenne X̄ et l'écart-type σ calculés automatiquement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limites Li et Ls (tolérances fournies par le formateur)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566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Cm et Cmk avec les formules de la diapositive précédente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114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023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Interpréter : la machine est-elle capable 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1143000"/>
            <a:ext cx="2697480" cy="35204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217920" y="1325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kern="0" spc="2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6208" y="21031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diamètre_butée.csv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25603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= 11,80 mm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36208" y="30175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= 11,96 mm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4747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= 11,88 mm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393192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 mesures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42519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binômes — 45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 machine et procédé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existe toujours — les 5M en sont les sources principales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/ Cmk mesurent la capabilité de la machine (court terme)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/ Cpk mesurent la capabilité du procédé (long terme, en production)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3209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à retenir : Cp ≥ 1,33 et Cpk ≥ 1,33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procédé peut être précis mais mal centré — Cp ≠ Cpk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4581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réduire la dispersion ET centrer sur la cible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40080" y="822960"/>
            <a:ext cx="7863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254000" dist="1016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36576"/>
          </a:xfrm>
          <a:prstGeom prst="rect">
            <a:avLst/>
          </a:prstGeom>
          <a:solidFill>
            <a:srgbClr val="DBDADA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Procédés (SPC)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4069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X̄/R · Limites de contrôle · Ellistat</a:t>
            </a:r>
            <a:endParaRPr lang="en-US" sz="1600" dirty="0"/>
          </a:p>
        </p:txBody>
      </p:sp>
      <p:pic>
        <p:nvPicPr>
          <p:cNvPr id="9" name="Picture 8" descr="logo_ui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allez apprendre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procédé en continu 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167128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214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et causes spéciales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6576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27797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X̄ / R : construction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65760" y="3483864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576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4381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 (erreur classique)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65760" y="4142232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0965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et détecter les dérives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65760" y="4800600"/>
            <a:ext cx="384048" cy="38404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754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réaction et mise en œuvre avec Ellistat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surveiller le procédé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DE LA NON-QUALITÉ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capabilité est une photo prise une fois.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SPC, c'est la caméra qui filme en continu.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tôt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468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Repérer une dérive AVANT de produire des pièces non conformes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96596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205740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20574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coûts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24688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alarme détectée tôt coûte 10× moins cher qu'un retour client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38328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474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la 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l'historique de chaque série pour les audits qualité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4160520" cy="128016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502920" cy="502920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0" y="3474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 sur des faits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3886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Prendre des décisions basées sur des données, pas sur des impressions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types de causes de variabilité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SHEWHART — LA DISTINCTION FONDAMENTALE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6052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24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présentes (bruit de fond)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Inhérentes au procédé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peut pas les éliminer une par une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0083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usure progressive, température ambiante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343814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Nécessitent une MODIFICATION du procédé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8679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Responsabilité du management, pas de l'opérateur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60520" cy="356616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4709160" y="1097280"/>
            <a:ext cx="4160520" cy="50292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800600" y="11247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SPÉCIALES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17190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Apparaissent de temps en temps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48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Anormales, identifiables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57860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Peuvent être supprimées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: mauvais réglage, outil cassé, erreur humaine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4381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Déclenchent une ALARME sur la carte de contrôle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8679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L'opérateur DOIT agir immédiatement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X̄ /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ET LIRE UNE CARTE SHEWHART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carte de contrôle, c'est un graphique qui montre l'évolution d'un procédé dans le temps.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des sous-groupes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01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mesurer 5 pièces consécutives toutes les heures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23042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moyenne X̄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542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5 mesures du sous-groupe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9443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l'étendue 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182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mesure max − mesure min du sous-groupe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limites LCS et LCI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822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des constantes A₂, D₃, D₄ (tableaux fournis)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457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42245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et surveiller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462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 X̄ et R sur les deux cartes — détecter les alarmes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297680" y="1078992"/>
            <a:ext cx="457200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480560" y="11704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X̄ (exemple)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434840" y="1691640"/>
            <a:ext cx="4297680" cy="0"/>
          </a:xfrm>
          <a:prstGeom prst="line">
            <a:avLst/>
          </a:prstGeom>
          <a:noFill/>
          <a:ln w="19050">
            <a:solidFill>
              <a:srgbClr val="E8772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549640" y="162763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2468880"/>
            <a:ext cx="4297680" cy="0"/>
          </a:xfrm>
          <a:prstGeom prst="line">
            <a:avLst/>
          </a:prstGeom>
          <a:noFill/>
          <a:ln w="254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549640" y="239572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X̄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4840" y="3246120"/>
            <a:ext cx="4297680" cy="0"/>
          </a:xfrm>
          <a:prstGeom prst="line">
            <a:avLst/>
          </a:prstGeom>
          <a:noFill/>
          <a:ln w="19050">
            <a:solidFill>
              <a:srgbClr val="E8772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8549640" y="31729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471416" y="232257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809744" y="227685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5148072" y="245973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5486400" y="236829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5824728" y="223113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6163056" y="21854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501384" y="2304288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6839712" y="2212848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41"/>
          <p:cNvSpPr/>
          <p:nvPr/>
        </p:nvSpPr>
        <p:spPr>
          <a:xfrm>
            <a:off x="7178040" y="24140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Shape 42"/>
          <p:cNvSpPr/>
          <p:nvPr/>
        </p:nvSpPr>
        <p:spPr>
          <a:xfrm>
            <a:off x="7516368" y="2340864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854696" y="204825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8193024" y="2185416"/>
            <a:ext cx="118872" cy="118872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863840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!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formules et constantes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A₂, D₃, D₄ — PAS DE PANIQUE !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les calculer à la main : les tableaux sont fournis, et Ellistat les applique automatiquement.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69164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10896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1664208"/>
            <a:ext cx="137160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26280" y="166420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7432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9164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169164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1,880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0896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10896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26280" y="210312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2628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3,267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9164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169164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10896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10896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26280" y="2487168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526280" y="24871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2,574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7432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9164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69164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0,729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10896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26280" y="2871216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526280" y="28712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2,282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7432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69164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169164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0,577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10896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310896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26280" y="3255264"/>
            <a:ext cx="1371600" cy="384048"/>
          </a:xfrm>
          <a:prstGeom prst="rect">
            <a:avLst/>
          </a:prstGeom>
          <a:solidFill>
            <a:srgbClr val="E0F2FE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526280" y="32552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2,115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7432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69164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169164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0,483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10896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10896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26280" y="3639312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526280" y="363931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27432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est le plus courant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26480" y="1664208"/>
            <a:ext cx="2743200" cy="27432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6126480" y="1664208"/>
            <a:ext cx="274320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6199632" y="1682496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217920" y="21762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LCS_X̄ = X̄̄ + A₂ × R̄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217920" y="25968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LCI_X̄  = X̄̄ − A₂ × R̄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217920" y="30175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17920" y="34381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LCS_R  = D₄ × R̄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17920" y="385876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LCI_R   = D₃ × R̄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L'ERREUR LA PLUS FRÉQUENTE !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1005840"/>
            <a:ext cx="9144000" cy="5669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274320" y="104241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les limites de contrôle et les tolérances sont deux choses DIFFÉRENTES.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4160520" cy="237744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4160520" cy="475488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Tolérances (IT)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Fixées par le CLIENT ou la norme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∅ 22,00 à 22,40 mm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accepte ou non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691640"/>
            <a:ext cx="4160520" cy="237744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846320" y="1691640"/>
            <a:ext cx="416052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(LCS / LCI)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240280"/>
            <a:ext cx="3977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Calculées à partir des DONNÉES du procédé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LCS = X̄̄ + A₂ × R̄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d'alerte interne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224528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peut être DANS les tolérances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quand même déclencher une ALARME sur la carte.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74320" y="473659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C'est une alerte préventive : agir avant que les pièces deviennent non conformes.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carte : normal ou alarme 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RÈGLES À RETENIR EN PRODUCTION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502920" cy="8046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point hors limites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5270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point dépasse LCS ou LCI → cause spéciale, agir immédiatement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0574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 du même côté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points consécutifs au-dessus ou en-dessous de la moyenne → dérive progressive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8595360" cy="8046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274320" y="29718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0175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points croissants/décroissants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3558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monotone → la machine dérive (usure, température...)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502920" cy="80467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886200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39319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sur 3 dans la zone externe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270248"/>
            <a:ext cx="7818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des 3 derniers points entre la zone 2σ et LCS/LCI → instabilité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réaction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FAIT L'OPÉRATEUR EN CAS D'ALARME 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4160520" cy="5303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84048" y="1170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8404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Arrêter la production. Ne pas produire davantage de pièces potentiellement non conformes.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160520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818888" y="11704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18888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0" y="11887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Prévenir le responsable qualité ou le chef d'équipe. Ne pas agir seul sur le procédé.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41605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84048" y="30449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l'heure, la valeur, la nature du signal. Identifier les pièces concernées (traçabilité).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971800"/>
            <a:ext cx="4160520" cy="1719072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4160520" cy="53035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818888" y="304495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18888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0632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le responsable : identifier la cause spéciale (5M). Corriger et vérifier l'efficacité.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avec Ellistat SPC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— DÉMONSTRATION ET TP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29200" cy="352044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5029200" cy="45720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124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fait Ellistat pour vous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ou import des données de production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94360" y="205740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de X̄, R, σ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478024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2450592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limites LCS et LCI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94360" y="2843784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Tracé automatique des cartes X̄/R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264408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94360" y="3236976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indices Cp et Cpk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657600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94360" y="3630168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des alarmes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4050792"/>
            <a:ext cx="54864" cy="25603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94360" y="4023360"/>
            <a:ext cx="4526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résultats pour les audits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577840" y="1097280"/>
            <a:ext cx="3291840" cy="352044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669280" y="1234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669280" y="17190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intégratif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21762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Importer les données CSV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0" y="25603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Calculer la capabilité initiale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2944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Paramétrer la carte X̄/R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69280" y="332841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Simuler une dérive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0" y="371246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Identifier l'alarme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0" y="40965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Rédiger la conclusion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SPC au plan de surveillance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AVEC L'AMDEC ET LE PLAN DE SURVEILLANCE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1965960" cy="47548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441448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441448" y="1188720"/>
            <a:ext cx="196596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852928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852928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487168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7168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que le procédé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capable (Cp/Cpk)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54296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654296" y="1188720"/>
            <a:ext cx="196596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5065776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065776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00016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0016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quoi mesurer,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combien, à quelle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0256" y="2395728"/>
            <a:ext cx="246888" cy="0"/>
          </a:xfrm>
          <a:prstGeom prst="line">
            <a:avLst/>
          </a:prstGeom>
          <a:noFill/>
          <a:ln w="254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6867144" y="1188720"/>
            <a:ext cx="1965960" cy="3200400"/>
          </a:xfrm>
          <a:prstGeom prst="rect">
            <a:avLst/>
          </a:prstGeom>
          <a:solidFill>
            <a:srgbClr val="F1F2F1"/>
          </a:solidFill>
          <a:ln w="12700">
            <a:solidFill>
              <a:srgbClr val="DBDAD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867144" y="1188720"/>
            <a:ext cx="1965960" cy="47548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7278624" y="1828800"/>
            <a:ext cx="1143000" cy="1143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278624" y="182880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9B2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912864" y="12070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SPC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12864" y="3063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Surveiller en continu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détecter les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 est le dernier maillon d'une chaîne qualité — il ne remplace pas l'AMDEC et le plan de surveillance.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Statistique des Procédés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85800" y="1152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SPC surveille le procédé en continu — c'est la caméra, pas la photo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85800" y="18379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communes = bruit normal · Causes spéciales = alarme à traiter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85800" y="25237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X̄/R se construit avec X̄̄, R̄ et les constantes A₂, D₃, D₄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85800" y="3209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de contrôle ≠ Tolérances — erreur classique à éviter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85800" y="38953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règles de détection : 1 hors limites / 9 du même côté / 6 en série / 2/3 externe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45720" cy="38404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85800" y="45811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d'alarme : STOPPER — ALERTER — CONSIGNER — ANALYSER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complémentaires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713232"/>
            <a:ext cx="9144000" cy="292608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ALLER PLUS LOIN — RESSOURCES EN LIGNE ET LOCALES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60520" cy="36576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28600" y="1115568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locales (dossier formation)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673352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12064" y="16459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TP_MSP_app.xlsx — feuille calcul capabilité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011680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12064" y="198424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diamètre_butée.csv — données réelles TP J1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2350008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12064" y="2322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TP_MSP_relevé1_df1 à df9.csv — données carte X̄/R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688336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12064" y="26609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Cartes de Shewhart.xlsx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026664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12064" y="29992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Carte de contrôle.pdf — exercices lecture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364992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512064" y="33375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SPC Ellistat.pdf — guide logiciel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703320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12064" y="36758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DIAPO 5 Keys to MSP Excellence.pdf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4041648"/>
            <a:ext cx="54864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12064" y="401421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MSP.pdf — référence théorique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115568"/>
            <a:ext cx="4160520" cy="3657600"/>
          </a:xfrm>
          <a:prstGeom prst="rect">
            <a:avLst/>
          </a:prstGeom>
          <a:solidFill>
            <a:srgbClr val="F1F2F1"/>
          </a:solidFill>
          <a:ln w="12700">
            <a:solidFill>
              <a:srgbClr val="F1F2F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754880" y="1115568"/>
            <a:ext cx="4160520" cy="438912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11430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en ligne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64608" y="1691640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5138928" y="1645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Cp/Cpk complet [LeanSixPro]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38928" y="1837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leansixpro.com/blog/cp-cpk-capabilite-processus-guide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64608" y="2075688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138928" y="2029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SPC Ellistat e-learning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8928" y="2221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ellistat.com/formation/msp-spc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64608" y="2459736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5138928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 vidéo : calculer une capabilité (YouTube)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38928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youtube.com/watch?v=Z0vSxgBDauo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64608" y="2843784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138928" y="27980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outil MSP [XL Formation]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38928" y="2990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xl-formation.com — Fiche MSP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64608" y="3227832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5138928" y="31821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SPC prof-mpk.fr (PDF libre)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38928" y="33741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prof-mpk.fr — Cours cartes de contrôle SPC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64608" y="3611880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138928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Cartes Shewhart corrigé [sjaubert.github.io]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138928" y="37581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sjaubert.github.io/SPCR/spc/TP_cartes_Shewhart.html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864608" y="3995928"/>
            <a:ext cx="201168" cy="201168"/>
          </a:xfrm>
          <a:prstGeom prst="ellipse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138928" y="39502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 — essai gratuit en ligne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138928" y="4142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ellistat.com/en — SPC gratuit sur vos équipements</a:t>
            </a:r>
            <a:endParaRPr lang="en-US" sz="900" dirty="0"/>
          </a:p>
        </p:txBody>
      </p:sp>
      <p:pic>
        <p:nvPicPr>
          <p:cNvPr id="49" name="Picture 48" descr="logo_uim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4434840"/>
            <a:ext cx="1143000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B2E33"/>
          </a:solidFill>
          <a:ln w="12700">
            <a:solidFill>
              <a:srgbClr val="2B2E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FORMATION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emportez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8368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existe toujours — votre rôle est de la maîtriser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58368" y="180136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Cm, Cmk, Cp, Cpk : des indicateurs qui parlent de la réalité de votre machine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58368" y="250545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de contrôle vous alerte AVANT que le client soit touché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" y="320954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Ellistat vous permet de mettre tout cela en œuvre sans calcul manuel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59352"/>
            <a:ext cx="45720" cy="41148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" y="391363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avez maintenant les outils pour agir sur des faits, pas sur des impressions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9B2DD"/>
          </a:solidFill>
          <a:ln w="12700">
            <a:solidFill>
              <a:srgbClr val="09B2D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Formation UIMM CVDL  —  S. Jaubert  —  5, 6 et 25 novembre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2387</Words>
  <Application>Microsoft Office PowerPoint</Application>
  <PresentationFormat>Affichage à l'écran (16:9)</PresentationFormat>
  <Paragraphs>458</Paragraphs>
  <Slides>28</Slides>
  <Notes>27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Capabilité &amp; SPC – Formation 2 jours</dc:title>
  <dc:subject>PptxGenJS Presentation</dc:subject>
  <dc:creator>S. Jaubert – Pôle Formation UIMM CVDL</dc:creator>
  <cp:lastModifiedBy>Stéphane JAUBERT</cp:lastModifiedBy>
  <cp:revision>1</cp:revision>
  <dcterms:created xsi:type="dcterms:W3CDTF">2026-06-07T06:53:25Z</dcterms:created>
  <dcterms:modified xsi:type="dcterms:W3CDTF">2026-07-22T13:16:00Z</dcterms:modified>
</cp:coreProperties>
</file>
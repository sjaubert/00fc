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22" d="100"/>
          <a:sy n="122" d="100"/>
        </p:scale>
        <p:origin x="75" y="3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modSld">
      <pc:chgData name="Stéphane JAUBERT" userId="926aeaf5-0d8d-4569-9635-338e3b4850fc" providerId="ADAL" clId="{C777CAD2-2948-4130-A6C6-8CB11CD7CD00}" dt="2026-03-17T06:10:41.800" v="0" actId="14100"/>
      <pc:docMkLst>
        <pc:docMk/>
      </pc:docMkLst>
      <pc:sldChg chg="modSp mod">
        <pc:chgData name="Stéphane JAUBERT" userId="926aeaf5-0d8d-4569-9635-338e3b4850fc" providerId="ADAL" clId="{C777CAD2-2948-4130-A6C6-8CB11CD7CD00}" dt="2026-03-17T06:10:41.800" v="0" actId="14100"/>
        <pc:sldMkLst>
          <pc:docMk/>
          <pc:sldMk cId="0" sldId="256"/>
        </pc:sldMkLst>
        <pc:spChg chg="mod">
          <ac:chgData name="Stéphane JAUBERT" userId="926aeaf5-0d8d-4569-9635-338e3b4850fc" providerId="ADAL" clId="{C777CAD2-2948-4130-A6C6-8CB11CD7CD00}" dt="2026-03-17T06:10:41.800" v="0" actId="141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uimm_placeholder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5800" y="1193800"/>
            <a:ext cx="270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Logo UIMM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231" y="734646"/>
            <a:ext cx="8315569" cy="3859977"/>
          </a:xfrm>
        </p:spPr>
        <p:txBody>
          <a:bodyPr/>
          <a:lstStyle/>
          <a:p>
            <a:pPr marL="0" lvl="0" indent="0">
              <a:buNone/>
            </a:pPr>
            <a:r>
              <a:rPr b="1" dirty="0" err="1"/>
              <a:t>Pôle</a:t>
            </a:r>
            <a:r>
              <a:rPr b="1" dirty="0"/>
              <a:t> Formation UIMM - CVDL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Les Indicateurs des Flux de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Synthèse pour l’Atelier Cocotte 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Pourquoi mesurer le flux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Rendre visible</a:t>
            </a:r>
            <a:r>
              <a:t> la performance (Qualité, Délais, Productivité)</a:t>
            </a:r>
          </a:p>
          <a:p>
            <a:pPr lvl="0"/>
            <a:r>
              <a:rPr b="1"/>
              <a:t>Identifier les gaspillages</a:t>
            </a:r>
            <a:r>
              <a:t> (Muda) et les goulots d’étranglement</a:t>
            </a:r>
          </a:p>
          <a:p>
            <a:pPr lvl="0"/>
            <a:r>
              <a:rPr b="1"/>
              <a:t>Fixer un cap</a:t>
            </a:r>
            <a:r>
              <a:t> : mesurer permet de savoir d’où l’on part pour s’améliorer (Kaizen)</a:t>
            </a:r>
          </a:p>
          <a:p>
            <a:pPr lvl="0"/>
            <a:r>
              <a:t>Trois piliers interdépendants mesurés dans cet atelier : </a:t>
            </a:r>
            <a:r>
              <a:rPr b="1"/>
              <a:t>WIP, Débit et Lead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Le Taux de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Principe : La conformité passe toujours avant la quantité.</a:t>
            </a:r>
          </a:p>
          <a:p>
            <a:pPr lvl="0"/>
            <a:r>
              <a:rPr b="1"/>
              <a:t>Production Totale</a:t>
            </a:r>
            <a:r>
              <a:t> = Nombre de cocottes terminées (bonnes + défectueuses)</a:t>
            </a:r>
          </a:p>
          <a:p>
            <a:pPr lvl="0"/>
            <a:r>
              <a:rPr b="1"/>
              <a:t>Taux de Qualité</a:t>
            </a:r>
            <a:r>
              <a:t> = </a:t>
            </a:r>
            <a:r>
              <a:rPr>
                <a:latin typeface="Courier"/>
              </a:rPr>
              <a:t>(Cocottes conformes / Cocottes terminées) × 100</a:t>
            </a:r>
            <a:r>
              <a:t>%</a:t>
            </a:r>
          </a:p>
          <a:p>
            <a:pPr lvl="0"/>
            <a:r>
              <a:rPr b="1"/>
              <a:t>Règle d’or</a:t>
            </a:r>
            <a:r>
              <a:t> : Une cocotte présentant un défaut (symétrie, mobilité, propreté) n’est jamais recomptée en production bonne.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Le WIP (Work In Progress / En-cours)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Indicateur : Les en-cours de production.</a:t>
            </a:r>
          </a:p>
          <a:p>
            <a:pPr lvl="0"/>
            <a:r>
              <a:rPr b="1"/>
              <a:t>Définition</a:t>
            </a:r>
            <a:r>
              <a:t> : Nombre total de pièces en cours de fabrication à un instant précis.</a:t>
            </a:r>
          </a:p>
          <a:p>
            <a:pPr lvl="0"/>
            <a:r>
              <a:rPr b="1"/>
              <a:t>Périmètre</a:t>
            </a:r>
            <a:r>
              <a:t> : Toutes les cocottes ayant quitté le stock de matière première, mais qui n’ont pas encore passé le contrôle qualité (P5).</a:t>
            </a:r>
          </a:p>
          <a:p>
            <a:pPr lvl="0"/>
            <a:r>
              <a:rPr b="1"/>
              <a:t>Constat</a:t>
            </a:r>
            <a:r>
              <a:t> : Un WIP élevé masque les vrais problèmes, engendre du stress et allonge drastiquement les délais de livraison.</a:t>
            </a:r>
          </a:p>
          <a:p>
            <a:pPr lvl="0"/>
            <a:r>
              <a:rPr b="1"/>
              <a:t>Solution</a:t>
            </a:r>
            <a:r>
              <a:t> : Le Kanban limite mathématiquement le WIP (Round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Le Débit (Throughput) et le Goulot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Indicateur : La vitesse de sortie du système.</a:t>
            </a:r>
          </a:p>
          <a:p>
            <a:pPr lvl="0"/>
            <a:r>
              <a:rPr b="1"/>
              <a:t>Définition</a:t>
            </a:r>
            <a:r>
              <a:t> : Le nombre de cocottes terminées par unité de temps.</a:t>
            </a:r>
          </a:p>
          <a:p>
            <a:pPr lvl="0"/>
            <a:r>
              <a:rPr b="1"/>
              <a:t>Calcul</a:t>
            </a:r>
            <a:r>
              <a:t> : </a:t>
            </a:r>
            <a:r>
              <a:rPr>
                <a:latin typeface="Courier"/>
              </a:rPr>
              <a:t>Débit = Cocottes terminées / Durée (en minutes)</a:t>
            </a:r>
          </a:p>
          <a:p>
            <a:pPr lvl="0"/>
            <a:r>
              <a:rPr b="1"/>
              <a:t>Le Goulot</a:t>
            </a:r>
            <a:r>
              <a:t> : Le débit global de toute la ligne est dicté par le poste le plus lent. Augmenter la capacité des autres postes ne sert à rien s’ils ne sont pas le goulot.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Le Lead Time (Temps de traversée)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Indicateur : Le délai promis au client.</a:t>
            </a:r>
          </a:p>
          <a:p>
            <a:pPr lvl="0"/>
            <a:r>
              <a:rPr b="1"/>
              <a:t>Définition</a:t>
            </a:r>
            <a:r>
              <a:t> : Le temps total qui s’écoule entre l’entrée d’une feuille brute au Poste 1 et la sortie d’une cocotte terminée au Poste 5.</a:t>
            </a:r>
          </a:p>
          <a:p>
            <a:pPr lvl="0"/>
            <a:r>
              <a:rPr b="1"/>
              <a:t>Enjeux</a:t>
            </a:r>
            <a:r>
              <a:t> : Plus le système est chargé en en-cours (Round 1), plus une pièce met du temps à le traverser. (Ex : ~18 min)</a:t>
            </a:r>
          </a:p>
          <a:p>
            <a:pPr lvl="0"/>
            <a:r>
              <a:t>Réduire le Lead Time, c’est gagner en agilité logistique et en temps de réponse aux clients. (Ex : ~5 min en flux tiré Kanban)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La Loi de Little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L’équation fondamentale de gestion des flux de production.</a:t>
            </a:r>
          </a:p>
          <a:p>
            <a:pPr marL="1270000" lvl="0" indent="0">
              <a:buNone/>
            </a:pPr>
            <a:r>
              <a:rPr sz="2000" b="1"/>
              <a:t>WIP = Débit × Lead Time</a:t>
            </a:r>
          </a:p>
          <a:p>
            <a:pPr lvl="0"/>
            <a:r>
              <a:rPr b="1"/>
              <a:t>Ce que cela signifie :</a:t>
            </a:r>
            <a:r>
              <a:t> Si l’on cherche à réduire nos délais (Lead Time) pour un débit donné, il n’y a qu’une méthode efficace et immédiate : </a:t>
            </a:r>
            <a:r>
              <a:rPr b="1"/>
              <a:t>il faut réduire le nombre d’en-cours (WIP) sur les lignes</a:t>
            </a:r>
            <a: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Le Takt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Indicateur : Le rythme du monde extérieur.</a:t>
            </a:r>
          </a:p>
          <a:p>
            <a:pPr lvl="0"/>
            <a:r>
              <a:rPr b="1"/>
              <a:t>Définition</a:t>
            </a:r>
            <a:r>
              <a:t> : Le rythme de production imposé par la demande du client.</a:t>
            </a:r>
          </a:p>
          <a:p>
            <a:pPr lvl="0"/>
            <a:r>
              <a:rPr b="1"/>
              <a:t>Calcul</a:t>
            </a:r>
            <a:r>
              <a:t> : </a:t>
            </a:r>
            <a:r>
              <a:rPr>
                <a:latin typeface="Courier"/>
              </a:rPr>
              <a:t>Takt Time = Temps d'ouverture / Demande client</a:t>
            </a:r>
          </a:p>
          <a:p>
            <a:pPr lvl="0"/>
            <a:r>
              <a:rPr b="1"/>
              <a:t>Exemple</a:t>
            </a:r>
            <a:r>
              <a:t> : Demande de 100 cocottes sur 60 minutes disponibles = 1 pièce demandée toutes les 36 secondes. </a:t>
            </a:r>
            <a:r>
              <a:rPr b="1"/>
              <a:t>Aucun</a:t>
            </a:r>
            <a:r>
              <a:t> poste ne doit consommer un temps de cycle supérieur à ce Takt Time sous peine de générer des retards sur toute la ligne.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8. Le TRG (Taux de Rendement Global)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Indicateur : La mesure universelle de performance.</a:t>
            </a:r>
          </a:p>
          <a:p>
            <a:pPr lvl="0"/>
            <a:r>
              <a:rPr b="1"/>
              <a:t>Définition</a:t>
            </a:r>
            <a:r>
              <a:t> : Mesure synthétique évaluant la performance des moyens disponibles.</a:t>
            </a:r>
          </a:p>
          <a:p>
            <a:pPr lvl="0"/>
            <a:r>
              <a:rPr>
                <a:latin typeface="Courier"/>
              </a:rPr>
              <a:t>TRG = Disponibilité × Performance × Qualité</a:t>
            </a:r>
          </a:p>
          <a:p>
            <a:pPr lvl="0"/>
            <a:r>
              <a:rPr b="1"/>
              <a:t>Le voyage vers l’excellence :</a:t>
            </a:r>
          </a:p>
          <a:p>
            <a:pPr lvl="1"/>
            <a:r>
              <a:rPr b="1"/>
              <a:t>Round 1 (Poussé)</a:t>
            </a:r>
            <a:r>
              <a:t> : ~45% (La quantité ne compense pas les défauts)</a:t>
            </a:r>
          </a:p>
          <a:p>
            <a:pPr lvl="1"/>
            <a:r>
              <a:rPr b="1"/>
              <a:t>Round 3 (Kaizen)</a:t>
            </a:r>
            <a:r>
              <a:t> : &gt; 90% (Classe mondiale, sérénité au poste)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Synthèse Conclusion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Indicateur clé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Pourquoi le suivre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Taux de Qualité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S’assurer qu’on produit utile et conforme.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WIP (En-cours)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C’est le cholestérol de l’atelier ! À réduire.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C’est le délai subi par notre client.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Débit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Prouve la régularité et la capacité de la ligne.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Takt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C’est le “métronome” calé sur les commandes.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TRG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L’indicateur final qui atteste de l’Excellence.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Affichage à l'écran (16:9)</PresentationFormat>
  <Paragraphs>61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</vt:lpstr>
      <vt:lpstr>Office Theme</vt:lpstr>
      <vt:lpstr>Présentation PowerPoint</vt:lpstr>
      <vt:lpstr>Les Indicateurs des Flux de Production</vt:lpstr>
      <vt:lpstr>Synthèse pour l’Atelier Cocotte LEAN</vt:lpstr>
      <vt:lpstr>1. Pourquoi mesurer le flux ?</vt:lpstr>
      <vt:lpstr>2. Le Taux de Qualité</vt:lpstr>
      <vt:lpstr>3. Le WIP (Work In Progress / En-cours)</vt:lpstr>
      <vt:lpstr>4. Le Débit (Throughput) et le Goulot</vt:lpstr>
      <vt:lpstr>5. Le Lead Time (Temps de traversée)</vt:lpstr>
      <vt:lpstr>6. La Loi de Little</vt:lpstr>
      <vt:lpstr>7. Le Takt Time</vt:lpstr>
      <vt:lpstr>8. Le TRG (Taux de Rendement Global)</vt:lpstr>
      <vt:lpstr>Synthèse Conclusion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Stéphane JAUBERT</cp:lastModifiedBy>
  <cp:revision>1</cp:revision>
  <dcterms:created xsi:type="dcterms:W3CDTF">2026-03-17T06:10:04Z</dcterms:created>
  <dcterms:modified xsi:type="dcterms:W3CDTF">2026-03-17T06:10:50Z</dcterms:modified>
</cp:coreProperties>
</file>
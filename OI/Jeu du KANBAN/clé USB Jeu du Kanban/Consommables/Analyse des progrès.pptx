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553" r:id="rId2"/>
    <p:sldId id="554" r:id="rId3"/>
    <p:sldId id="555" r:id="rId4"/>
  </p:sldIdLst>
  <p:sldSz cx="9144000" cy="6858000" type="screen4x3"/>
  <p:notesSz cx="6888163" cy="9228138"/>
  <p:defaultTextStyle>
    <a:defPPr>
      <a:defRPr lang="fr-FR"/>
    </a:defPPr>
    <a:lvl1pPr algn="ctr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13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1300"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22B00"/>
    <a:srgbClr val="FF6D4B"/>
    <a:srgbClr val="FF6600"/>
    <a:srgbClr val="FC2C1C"/>
    <a:srgbClr val="FFFF00"/>
    <a:srgbClr val="00CC66"/>
    <a:srgbClr val="FFFF99"/>
    <a:srgbClr val="CC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vertBarState="minimized" horzBarState="maximized">
    <p:restoredLeft sz="15620"/>
    <p:restoredTop sz="63770" autoAdjust="0"/>
  </p:normalViewPr>
  <p:slideViewPr>
    <p:cSldViewPr snapToGrid="0">
      <p:cViewPr varScale="1">
        <p:scale>
          <a:sx n="85" d="100"/>
          <a:sy n="85" d="100"/>
        </p:scale>
        <p:origin x="-2098" y="-86"/>
      </p:cViewPr>
      <p:guideLst>
        <p:guide orient="horz" pos="2096"/>
        <p:guide orient="horz" pos="491"/>
        <p:guide orient="horz" pos="813"/>
        <p:guide pos="2371"/>
        <p:guide pos="4512"/>
        <p:guide pos="238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-2490" y="-258"/>
      </p:cViewPr>
      <p:guideLst>
        <p:guide orient="horz" pos="2752"/>
        <p:guide pos="2170"/>
        <p:guide pos="346"/>
        <p:guide pos="3994"/>
        <p:guide pos="114"/>
        <p:guide pos="42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2075" y="0"/>
            <a:ext cx="2986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839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66175"/>
            <a:ext cx="2986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839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2075" y="8766175"/>
            <a:ext cx="2986088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EAC2DAB1-EA84-4566-BB38-A0C1F7E50115}" type="slidenum">
              <a:rPr lang="fr-FR" altLang="fr-FR"/>
              <a:pPr/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418749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5543550" y="8985250"/>
            <a:ext cx="1344613" cy="23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2232" tIns="41116" rIns="82232" bIns="41116">
            <a:spAutoFit/>
          </a:bodyPr>
          <a:lstStyle>
            <a:lvl1pPr algn="l" defTabSz="822325">
              <a:defRPr sz="2400">
                <a:solidFill>
                  <a:schemeClr val="tx1"/>
                </a:solidFill>
                <a:latin typeface="Arial" charset="0"/>
              </a:defRPr>
            </a:lvl1pPr>
            <a:lvl2pPr marL="411163" algn="l" defTabSz="822325">
              <a:defRPr sz="2400">
                <a:solidFill>
                  <a:schemeClr val="tx1"/>
                </a:solidFill>
                <a:latin typeface="Arial" charset="0"/>
              </a:defRPr>
            </a:lvl2pPr>
            <a:lvl3pPr marL="822325" algn="l" defTabSz="822325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33488" algn="l" defTabSz="822325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44650" algn="l" defTabSz="822325">
              <a:defRPr sz="2400">
                <a:solidFill>
                  <a:schemeClr val="tx1"/>
                </a:solidFill>
                <a:latin typeface="Arial" charset="0"/>
              </a:defRPr>
            </a:lvl5pPr>
            <a:lvl6pPr marL="21018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590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162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734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0" hangingPunct="0"/>
            <a:r>
              <a:rPr lang="fr-FR" altLang="fr-FR" sz="1000" b="1">
                <a:solidFill>
                  <a:srgbClr val="474747"/>
                </a:solidFill>
              </a:rPr>
              <a:t>diapo </a:t>
            </a:r>
            <a:fld id="{7B748461-9A43-4595-96D1-4F752B6E1AB9}" type="slidenum">
              <a:rPr lang="fr-FR" altLang="fr-FR" sz="1000" b="1">
                <a:solidFill>
                  <a:srgbClr val="474747"/>
                </a:solidFill>
              </a:rPr>
              <a:pPr algn="r" eaLnBrk="0" hangingPunct="0"/>
              <a:t>‹N°›</a:t>
            </a:fld>
            <a:endParaRPr lang="fr-FR" altLang="fr-FR" sz="1000" b="1">
              <a:solidFill>
                <a:srgbClr val="474747"/>
              </a:solidFill>
            </a:endParaRPr>
          </a:p>
        </p:txBody>
      </p:sp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60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ctr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2075" y="0"/>
            <a:ext cx="29860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1249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555625" y="22225"/>
            <a:ext cx="5791200" cy="4343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03238" y="4559300"/>
            <a:ext cx="5883275" cy="1227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53989" tIns="45711" rIns="53989" bIns="45711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4113"/>
            <a:ext cx="2986088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FF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Times New Roman" pitchFamily="18" charset="0"/>
              </a:defRPr>
            </a:lvl1pPr>
          </a:lstStyle>
          <a:p>
            <a:endParaRPr lang="fr-FR" altLang="fr-FR"/>
          </a:p>
        </p:txBody>
      </p:sp>
      <p:sp>
        <p:nvSpPr>
          <p:cNvPr id="124936" name="Rectangle 8"/>
          <p:cNvSpPr>
            <a:spLocks noChangeArrowheads="1"/>
          </p:cNvSpPr>
          <p:nvPr/>
        </p:nvSpPr>
        <p:spPr bwMode="auto">
          <a:xfrm>
            <a:off x="4168775" y="9004300"/>
            <a:ext cx="1374775" cy="215900"/>
          </a:xfrm>
          <a:prstGeom prst="rect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8592" tIns="44296" rIns="88592" bIns="44296" anchor="b"/>
          <a:lstStyle>
            <a:lvl1pPr algn="l" defTabSz="885825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2913" algn="l" defTabSz="885825">
              <a:defRPr sz="2400">
                <a:solidFill>
                  <a:schemeClr val="tx1"/>
                </a:solidFill>
                <a:latin typeface="Arial" charset="0"/>
              </a:defRPr>
            </a:lvl2pPr>
            <a:lvl3pPr marL="885825" algn="l" defTabSz="885825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28738" algn="l" defTabSz="885825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71650" algn="l" defTabSz="885825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28850" defTabSz="8858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686050" defTabSz="8858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43250" defTabSz="8858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00450" defTabSz="8858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0" hangingPunct="0"/>
            <a:r>
              <a:rPr lang="fr-FR" altLang="fr-FR" sz="900" b="1"/>
              <a:t>SIMULATION</a:t>
            </a:r>
          </a:p>
        </p:txBody>
      </p:sp>
      <p:pic>
        <p:nvPicPr>
          <p:cNvPr id="12493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986838"/>
            <a:ext cx="576263" cy="24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557213" y="9024938"/>
            <a:ext cx="2828925" cy="18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82232" tIns="41116" rIns="82232" bIns="41116">
            <a:spAutoFit/>
          </a:bodyPr>
          <a:lstStyle>
            <a:lvl1pPr algn="l" defTabSz="822325">
              <a:defRPr sz="2400">
                <a:solidFill>
                  <a:schemeClr val="tx1"/>
                </a:solidFill>
                <a:latin typeface="Arial" charset="0"/>
              </a:defRPr>
            </a:lvl1pPr>
            <a:lvl2pPr marL="411163" algn="l" defTabSz="822325">
              <a:defRPr sz="2400">
                <a:solidFill>
                  <a:schemeClr val="tx1"/>
                </a:solidFill>
                <a:latin typeface="Arial" charset="0"/>
              </a:defRPr>
            </a:lvl2pPr>
            <a:lvl3pPr marL="822325" algn="l" defTabSz="822325">
              <a:defRPr sz="2400">
                <a:solidFill>
                  <a:schemeClr val="tx1"/>
                </a:solidFill>
                <a:latin typeface="Arial" charset="0"/>
              </a:defRPr>
            </a:lvl3pPr>
            <a:lvl4pPr marL="1233488" algn="l" defTabSz="822325">
              <a:defRPr sz="2400">
                <a:solidFill>
                  <a:schemeClr val="tx1"/>
                </a:solidFill>
                <a:latin typeface="Arial" charset="0"/>
              </a:defRPr>
            </a:lvl4pPr>
            <a:lvl5pPr marL="1644650" algn="l" defTabSz="822325">
              <a:defRPr sz="2400">
                <a:solidFill>
                  <a:schemeClr val="tx1"/>
                </a:solidFill>
                <a:latin typeface="Arial" charset="0"/>
              </a:defRPr>
            </a:lvl5pPr>
            <a:lvl6pPr marL="21018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5590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0162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473450" defTabSz="822325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0" hangingPunct="0"/>
            <a:r>
              <a:rPr lang="fr-FR" altLang="fr-FR" sz="700">
                <a:solidFill>
                  <a:srgbClr val="474747"/>
                </a:solidFill>
              </a:rPr>
              <a:t>HORIZON, LE JEU DES PROJETS</a:t>
            </a:r>
            <a:r>
              <a:rPr lang="fr-FR" altLang="fr-FR" sz="700" baseline="30000">
                <a:solidFill>
                  <a:srgbClr val="474747"/>
                </a:solidFill>
                <a:cs typeface="Arial" charset="0"/>
              </a:rPr>
              <a:t>©</a:t>
            </a:r>
            <a:r>
              <a:rPr lang="fr-FR" altLang="fr-FR" sz="700">
                <a:solidFill>
                  <a:srgbClr val="474747"/>
                </a:solidFill>
              </a:rPr>
              <a:t> - CIPE / Tous Droits Réservés</a:t>
            </a:r>
          </a:p>
        </p:txBody>
      </p:sp>
    </p:spTree>
    <p:extLst>
      <p:ext uri="{BB962C8B-B14F-4D97-AF65-F5344CB8AC3E}">
        <p14:creationId xmlns:p14="http://schemas.microsoft.com/office/powerpoint/2010/main" val="37539482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b="1" kern="1200">
        <a:solidFill>
          <a:schemeClr val="accent2"/>
        </a:solidFill>
        <a:latin typeface="Arial" charset="0"/>
        <a:ea typeface="+mn-ea"/>
        <a:cs typeface="+mn-cs"/>
      </a:defRPr>
    </a:lvl1pPr>
    <a:lvl2pPr marL="1905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4559300"/>
            <a:ext cx="5883275" cy="274638"/>
          </a:xfrm>
        </p:spPr>
        <p:txBody>
          <a:bodyPr/>
          <a:lstStyle/>
          <a:p>
            <a:endParaRPr lang="fr-FR" altLang="fr-FR" b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4559300"/>
            <a:ext cx="5883275" cy="3767138"/>
          </a:xfrm>
        </p:spPr>
        <p:txBody>
          <a:bodyPr/>
          <a:lstStyle/>
          <a:p>
            <a:r>
              <a:rPr lang="fr-FR" altLang="fr-FR" b="0"/>
              <a:t>Les points de progrès sont initialement rangés dans la réserve. L’animateur déplace les points de chaque équipe vers les postes correspondants à son choix. En fin de partie, il utilise l’animation du diaporama pour faire apparaître la succession des choix des équipes, depuis le début de la semaine 2 jusqu’à la fin de la partie.</a:t>
            </a:r>
          </a:p>
          <a:p>
            <a:r>
              <a:rPr lang="fr-FR" altLang="fr-FR" b="0"/>
              <a:t>Attention : le poste « Montage » nécessite deux points d’un coup, il n’est pas possible sur ces postes de ne placer qu’un seul point.</a:t>
            </a:r>
          </a:p>
          <a:p>
            <a:r>
              <a:rPr lang="fr-FR" altLang="fr-FR" b="0"/>
              <a:t>Remarque : nous présentons une cartographie pour 3 équipes et une autre pour 2 équipes, à choisir selon le nombre d’équipes. En effet, si l’on utilise la cartographie 3 équipes alors qu’il n’y a que 2 équipes participantes, les points verts restés dans la réserve sont animés dans le diaporama, ce qui paraît étrange …</a:t>
            </a:r>
          </a:p>
          <a:p>
            <a:endParaRPr lang="fr-FR" altLang="fr-FR" b="0"/>
          </a:p>
          <a:p>
            <a:r>
              <a:rPr lang="fr-FR" altLang="fr-FR" b="0" u="sng"/>
              <a:t>Commentaires sur la cartographie des progrès</a:t>
            </a:r>
          </a:p>
          <a:p>
            <a:r>
              <a:rPr lang="fr-FR" altLang="fr-FR" b="0"/>
              <a:t>L’animateur projette la diapo qui met en évidence les choix faits par les équipes aux différentes étapes de la simulation. Il demande à chaque équipe d’expliquer son choix.</a:t>
            </a:r>
          </a:p>
          <a:p>
            <a:r>
              <a:rPr lang="fr-FR" altLang="fr-FR" b="0"/>
              <a:t>En synthèse, l’animateur peut projeter la diapo du debriefing (diaporama principal), qui présente une justification possible du choix des progrès.</a:t>
            </a:r>
          </a:p>
          <a:p>
            <a:endParaRPr lang="fr-FR" altLang="fr-FR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03238" y="4559300"/>
            <a:ext cx="5883275" cy="274638"/>
          </a:xfrm>
        </p:spPr>
        <p:txBody>
          <a:bodyPr/>
          <a:lstStyle/>
          <a:p>
            <a:r>
              <a:rPr lang="fr-FR" altLang="fr-FR" b="0"/>
              <a:t>Utiliser cette diapo s’il n’y a que 2 équipes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75062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41677839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077913"/>
            <a:ext cx="4038600" cy="5048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077913"/>
            <a:ext cx="4038600" cy="50482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0450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1165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570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097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44019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3085462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4977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3050" y="152400"/>
            <a:ext cx="2063750" cy="5973763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30213" y="152400"/>
            <a:ext cx="6040437" cy="5973763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8479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Rectangle 262"/>
          <p:cNvSpPr>
            <a:spLocks noGrp="1" noChangeArrowheads="1"/>
          </p:cNvSpPr>
          <p:nvPr>
            <p:ph type="title"/>
          </p:nvPr>
        </p:nvSpPr>
        <p:spPr bwMode="auto">
          <a:xfrm>
            <a:off x="430213" y="152400"/>
            <a:ext cx="82296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287" name="Rectangle 26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7913"/>
            <a:ext cx="8229600" cy="504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grpSp>
        <p:nvGrpSpPr>
          <p:cNvPr id="1490" name="Group 466"/>
          <p:cNvGrpSpPr>
            <a:grpSpLocks/>
          </p:cNvGrpSpPr>
          <p:nvPr userDrawn="1"/>
        </p:nvGrpSpPr>
        <p:grpSpPr bwMode="auto">
          <a:xfrm>
            <a:off x="1862138" y="1568450"/>
            <a:ext cx="7215187" cy="4333875"/>
            <a:chOff x="1095" y="941"/>
            <a:chExt cx="4623" cy="2777"/>
          </a:xfrm>
        </p:grpSpPr>
        <p:sp>
          <p:nvSpPr>
            <p:cNvPr id="1289" name="Text Box 265"/>
            <p:cNvSpPr txBox="1">
              <a:spLocks noChangeArrowheads="1"/>
            </p:cNvSpPr>
            <p:nvPr userDrawn="1"/>
          </p:nvSpPr>
          <p:spPr bwMode="auto">
            <a:xfrm>
              <a:off x="1166" y="1330"/>
              <a:ext cx="1505" cy="2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6699"/>
              </a:outerShdw>
            </a:effec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fr-FR" altLang="fr-FR" sz="1400"/>
                <a:t>Engrenages</a:t>
              </a:r>
            </a:p>
          </p:txBody>
        </p:sp>
        <p:sp>
          <p:nvSpPr>
            <p:cNvPr id="1290" name="Text Box 266"/>
            <p:cNvSpPr txBox="1">
              <a:spLocks noChangeArrowheads="1"/>
            </p:cNvSpPr>
            <p:nvPr userDrawn="1"/>
          </p:nvSpPr>
          <p:spPr bwMode="auto">
            <a:xfrm>
              <a:off x="3004" y="1317"/>
              <a:ext cx="1518" cy="20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6699"/>
              </a:outerShdw>
            </a:effec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fr-FR" altLang="fr-FR" sz="1400"/>
                <a:t>Carters</a:t>
              </a:r>
            </a:p>
          </p:txBody>
        </p:sp>
        <p:sp>
          <p:nvSpPr>
            <p:cNvPr id="1291" name="Text Box 267"/>
            <p:cNvSpPr txBox="1">
              <a:spLocks noChangeArrowheads="1"/>
            </p:cNvSpPr>
            <p:nvPr userDrawn="1"/>
          </p:nvSpPr>
          <p:spPr bwMode="auto">
            <a:xfrm>
              <a:off x="4678" y="1700"/>
              <a:ext cx="732" cy="33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6699"/>
              </a:outerShdw>
            </a:effec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fr-FR" altLang="fr-FR" sz="1400"/>
                <a:t>Couronnes</a:t>
              </a:r>
            </a:p>
            <a:p>
              <a:pPr eaLnBrk="0" hangingPunct="0"/>
              <a:r>
                <a:rPr lang="fr-FR" altLang="fr-FR" sz="1400"/>
                <a:t>(ph. A)</a:t>
              </a:r>
            </a:p>
          </p:txBody>
        </p:sp>
        <p:sp>
          <p:nvSpPr>
            <p:cNvPr id="1292" name="Text Box 268"/>
            <p:cNvSpPr txBox="1">
              <a:spLocks noChangeArrowheads="1"/>
            </p:cNvSpPr>
            <p:nvPr userDrawn="1"/>
          </p:nvSpPr>
          <p:spPr bwMode="auto">
            <a:xfrm>
              <a:off x="3033" y="3124"/>
              <a:ext cx="1478" cy="20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6699"/>
              </a:outerShdw>
            </a:effectLst>
          </p:spPr>
          <p:txBody>
            <a:bodyPr anchor="ctr">
              <a:spAutoFit/>
            </a:bodyPr>
            <a:lstStyle/>
            <a:p>
              <a:pPr eaLnBrk="0" hangingPunct="0"/>
              <a:r>
                <a:rPr lang="fr-FR" altLang="fr-FR" sz="1400"/>
                <a:t>Couronnes (ph. B)</a:t>
              </a:r>
            </a:p>
          </p:txBody>
        </p:sp>
        <p:sp>
          <p:nvSpPr>
            <p:cNvPr id="1293" name="Text Box 269"/>
            <p:cNvSpPr txBox="1">
              <a:spLocks noChangeArrowheads="1"/>
            </p:cNvSpPr>
            <p:nvPr userDrawn="1"/>
          </p:nvSpPr>
          <p:spPr bwMode="auto">
            <a:xfrm>
              <a:off x="1195" y="3134"/>
              <a:ext cx="1495" cy="18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63500" dir="2212194" algn="ctr" rotWithShape="0">
                <a:srgbClr val="336699"/>
              </a:outerShdw>
            </a:effectLst>
          </p:spPr>
          <p:txBody>
            <a:bodyPr anchor="ctr">
              <a:spAutoFit/>
            </a:bodyPr>
            <a:lstStyle/>
            <a:p>
              <a:pPr eaLnBrk="0" hangingPunct="0">
                <a:lnSpc>
                  <a:spcPct val="85000"/>
                </a:lnSpc>
              </a:pPr>
              <a:r>
                <a:rPr lang="fr-FR" altLang="fr-FR" sz="1400"/>
                <a:t>Montage</a:t>
              </a:r>
            </a:p>
          </p:txBody>
        </p:sp>
        <p:grpSp>
          <p:nvGrpSpPr>
            <p:cNvPr id="1294" name="Group 270"/>
            <p:cNvGrpSpPr>
              <a:grpSpLocks/>
            </p:cNvGrpSpPr>
            <p:nvPr userDrawn="1"/>
          </p:nvGrpSpPr>
          <p:grpSpPr bwMode="auto">
            <a:xfrm>
              <a:off x="1722" y="3395"/>
              <a:ext cx="451" cy="278"/>
              <a:chOff x="2102" y="1800"/>
              <a:chExt cx="787" cy="480"/>
            </a:xfrm>
          </p:grpSpPr>
          <p:sp>
            <p:nvSpPr>
              <p:cNvPr id="1295" name="Oval 271"/>
              <p:cNvSpPr>
                <a:spLocks noChangeArrowheads="1"/>
              </p:cNvSpPr>
              <p:nvPr/>
            </p:nvSpPr>
            <p:spPr bwMode="auto">
              <a:xfrm>
                <a:off x="2135" y="1833"/>
                <a:ext cx="701" cy="320"/>
              </a:xfrm>
              <a:prstGeom prst="ellipse">
                <a:avLst/>
              </a:prstGeom>
              <a:noFill/>
              <a:ln w="3810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296" name="Rectangle 272"/>
              <p:cNvSpPr>
                <a:spLocks noChangeArrowheads="1"/>
              </p:cNvSpPr>
              <p:nvPr/>
            </p:nvSpPr>
            <p:spPr bwMode="auto">
              <a:xfrm>
                <a:off x="2102" y="1800"/>
                <a:ext cx="787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297" name="Oval 273"/>
              <p:cNvSpPr>
                <a:spLocks noChangeArrowheads="1"/>
              </p:cNvSpPr>
              <p:nvPr/>
            </p:nvSpPr>
            <p:spPr bwMode="auto">
              <a:xfrm>
                <a:off x="2338" y="1987"/>
                <a:ext cx="293" cy="293"/>
              </a:xfrm>
              <a:prstGeom prst="ellipse">
                <a:avLst/>
              </a:prstGeom>
              <a:solidFill>
                <a:srgbClr val="4D4D4D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298" name="Group 274"/>
            <p:cNvGrpSpPr>
              <a:grpSpLocks/>
            </p:cNvGrpSpPr>
            <p:nvPr userDrawn="1"/>
          </p:nvGrpSpPr>
          <p:grpSpPr bwMode="auto">
            <a:xfrm>
              <a:off x="3499" y="3440"/>
              <a:ext cx="452" cy="278"/>
              <a:chOff x="2102" y="1800"/>
              <a:chExt cx="787" cy="480"/>
            </a:xfrm>
          </p:grpSpPr>
          <p:sp>
            <p:nvSpPr>
              <p:cNvPr id="1299" name="Oval 275"/>
              <p:cNvSpPr>
                <a:spLocks noChangeArrowheads="1"/>
              </p:cNvSpPr>
              <p:nvPr/>
            </p:nvSpPr>
            <p:spPr bwMode="auto">
              <a:xfrm>
                <a:off x="2135" y="1833"/>
                <a:ext cx="701" cy="320"/>
              </a:xfrm>
              <a:prstGeom prst="ellipse">
                <a:avLst/>
              </a:prstGeom>
              <a:noFill/>
              <a:ln w="3810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0" name="Rectangle 276"/>
              <p:cNvSpPr>
                <a:spLocks noChangeArrowheads="1"/>
              </p:cNvSpPr>
              <p:nvPr/>
            </p:nvSpPr>
            <p:spPr bwMode="auto">
              <a:xfrm>
                <a:off x="2102" y="1800"/>
                <a:ext cx="787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1" name="Oval 277"/>
              <p:cNvSpPr>
                <a:spLocks noChangeArrowheads="1"/>
              </p:cNvSpPr>
              <p:nvPr/>
            </p:nvSpPr>
            <p:spPr bwMode="auto">
              <a:xfrm>
                <a:off x="2338" y="1987"/>
                <a:ext cx="293" cy="293"/>
              </a:xfrm>
              <a:prstGeom prst="ellipse">
                <a:avLst/>
              </a:prstGeom>
              <a:solidFill>
                <a:srgbClr val="4D4D4D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02" name="Group 278"/>
            <p:cNvGrpSpPr>
              <a:grpSpLocks/>
            </p:cNvGrpSpPr>
            <p:nvPr userDrawn="1"/>
          </p:nvGrpSpPr>
          <p:grpSpPr bwMode="auto">
            <a:xfrm rot="-5400000">
              <a:off x="5352" y="1929"/>
              <a:ext cx="457" cy="275"/>
              <a:chOff x="2102" y="1800"/>
              <a:chExt cx="787" cy="480"/>
            </a:xfrm>
          </p:grpSpPr>
          <p:sp>
            <p:nvSpPr>
              <p:cNvPr id="1303" name="Oval 279"/>
              <p:cNvSpPr>
                <a:spLocks noChangeArrowheads="1"/>
              </p:cNvSpPr>
              <p:nvPr/>
            </p:nvSpPr>
            <p:spPr bwMode="auto">
              <a:xfrm>
                <a:off x="2135" y="1833"/>
                <a:ext cx="701" cy="320"/>
              </a:xfrm>
              <a:prstGeom prst="ellipse">
                <a:avLst/>
              </a:prstGeom>
              <a:noFill/>
              <a:ln w="3810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4" name="Rectangle 280"/>
              <p:cNvSpPr>
                <a:spLocks noChangeArrowheads="1"/>
              </p:cNvSpPr>
              <p:nvPr/>
            </p:nvSpPr>
            <p:spPr bwMode="auto">
              <a:xfrm>
                <a:off x="2102" y="1800"/>
                <a:ext cx="787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5" name="Oval 281"/>
              <p:cNvSpPr>
                <a:spLocks noChangeArrowheads="1"/>
              </p:cNvSpPr>
              <p:nvPr/>
            </p:nvSpPr>
            <p:spPr bwMode="auto">
              <a:xfrm>
                <a:off x="2338" y="1987"/>
                <a:ext cx="293" cy="293"/>
              </a:xfrm>
              <a:prstGeom prst="ellipse">
                <a:avLst/>
              </a:prstGeom>
              <a:solidFill>
                <a:srgbClr val="4D4D4D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06" name="Group 282"/>
            <p:cNvGrpSpPr>
              <a:grpSpLocks/>
            </p:cNvGrpSpPr>
            <p:nvPr userDrawn="1"/>
          </p:nvGrpSpPr>
          <p:grpSpPr bwMode="auto">
            <a:xfrm flipV="1">
              <a:off x="3401" y="941"/>
              <a:ext cx="452" cy="278"/>
              <a:chOff x="2102" y="1800"/>
              <a:chExt cx="787" cy="480"/>
            </a:xfrm>
          </p:grpSpPr>
          <p:sp>
            <p:nvSpPr>
              <p:cNvPr id="1307" name="Oval 283"/>
              <p:cNvSpPr>
                <a:spLocks noChangeArrowheads="1"/>
              </p:cNvSpPr>
              <p:nvPr/>
            </p:nvSpPr>
            <p:spPr bwMode="auto">
              <a:xfrm>
                <a:off x="2135" y="1833"/>
                <a:ext cx="701" cy="320"/>
              </a:xfrm>
              <a:prstGeom prst="ellipse">
                <a:avLst/>
              </a:prstGeom>
              <a:noFill/>
              <a:ln w="3810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8" name="Rectangle 284"/>
              <p:cNvSpPr>
                <a:spLocks noChangeArrowheads="1"/>
              </p:cNvSpPr>
              <p:nvPr/>
            </p:nvSpPr>
            <p:spPr bwMode="auto">
              <a:xfrm>
                <a:off x="2102" y="1800"/>
                <a:ext cx="787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09" name="Oval 285"/>
              <p:cNvSpPr>
                <a:spLocks noChangeArrowheads="1"/>
              </p:cNvSpPr>
              <p:nvPr/>
            </p:nvSpPr>
            <p:spPr bwMode="auto">
              <a:xfrm>
                <a:off x="2338" y="1987"/>
                <a:ext cx="293" cy="293"/>
              </a:xfrm>
              <a:prstGeom prst="ellipse">
                <a:avLst/>
              </a:prstGeom>
              <a:solidFill>
                <a:srgbClr val="4D4D4D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310" name="Group 286"/>
            <p:cNvGrpSpPr>
              <a:grpSpLocks/>
            </p:cNvGrpSpPr>
            <p:nvPr userDrawn="1"/>
          </p:nvGrpSpPr>
          <p:grpSpPr bwMode="auto">
            <a:xfrm flipV="1">
              <a:off x="1754" y="980"/>
              <a:ext cx="451" cy="278"/>
              <a:chOff x="2102" y="1800"/>
              <a:chExt cx="787" cy="480"/>
            </a:xfrm>
          </p:grpSpPr>
          <p:sp>
            <p:nvSpPr>
              <p:cNvPr id="1311" name="Oval 287"/>
              <p:cNvSpPr>
                <a:spLocks noChangeArrowheads="1"/>
              </p:cNvSpPr>
              <p:nvPr/>
            </p:nvSpPr>
            <p:spPr bwMode="auto">
              <a:xfrm>
                <a:off x="2135" y="1833"/>
                <a:ext cx="701" cy="320"/>
              </a:xfrm>
              <a:prstGeom prst="ellipse">
                <a:avLst/>
              </a:prstGeom>
              <a:noFill/>
              <a:ln w="3810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12" name="Rectangle 288"/>
              <p:cNvSpPr>
                <a:spLocks noChangeArrowheads="1"/>
              </p:cNvSpPr>
              <p:nvPr/>
            </p:nvSpPr>
            <p:spPr bwMode="auto">
              <a:xfrm>
                <a:off x="2102" y="1800"/>
                <a:ext cx="787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3810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13" name="Oval 289"/>
              <p:cNvSpPr>
                <a:spLocks noChangeArrowheads="1"/>
              </p:cNvSpPr>
              <p:nvPr/>
            </p:nvSpPr>
            <p:spPr bwMode="auto">
              <a:xfrm>
                <a:off x="2338" y="1987"/>
                <a:ext cx="293" cy="293"/>
              </a:xfrm>
              <a:prstGeom prst="ellipse">
                <a:avLst/>
              </a:prstGeom>
              <a:solidFill>
                <a:srgbClr val="4D4D4D"/>
              </a:solidFill>
              <a:ln w="6350" algn="ctr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sp>
          <p:nvSpPr>
            <p:cNvPr id="1314" name="Rectangle 290"/>
            <p:cNvSpPr>
              <a:spLocks noChangeArrowheads="1"/>
            </p:cNvSpPr>
            <p:nvPr userDrawn="1"/>
          </p:nvSpPr>
          <p:spPr bwMode="auto">
            <a:xfrm>
              <a:off x="1095" y="1204"/>
              <a:ext cx="4434" cy="228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315" name="Group 291"/>
            <p:cNvGrpSpPr>
              <a:grpSpLocks/>
            </p:cNvGrpSpPr>
            <p:nvPr userDrawn="1"/>
          </p:nvGrpSpPr>
          <p:grpSpPr bwMode="auto">
            <a:xfrm>
              <a:off x="1176" y="1605"/>
              <a:ext cx="750" cy="505"/>
              <a:chOff x="1334" y="2027"/>
              <a:chExt cx="697" cy="469"/>
            </a:xfrm>
          </p:grpSpPr>
          <p:sp>
            <p:nvSpPr>
              <p:cNvPr id="1316" name="Rectangle 292"/>
              <p:cNvSpPr>
                <a:spLocks noChangeArrowheads="1"/>
              </p:cNvSpPr>
              <p:nvPr/>
            </p:nvSpPr>
            <p:spPr bwMode="auto">
              <a:xfrm>
                <a:off x="1353" y="2033"/>
                <a:ext cx="673" cy="459"/>
              </a:xfrm>
              <a:prstGeom prst="rect">
                <a:avLst/>
              </a:prstGeom>
              <a:noFill/>
              <a:ln w="6350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17" name="Text Box 293"/>
              <p:cNvSpPr txBox="1">
                <a:spLocks noChangeArrowheads="1"/>
              </p:cNvSpPr>
              <p:nvPr/>
            </p:nvSpPr>
            <p:spPr bwMode="auto">
              <a:xfrm>
                <a:off x="1442" y="2332"/>
                <a:ext cx="486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200"/>
                  <a:t>Flexibilité</a:t>
                </a:r>
              </a:p>
            </p:txBody>
          </p:sp>
          <p:sp>
            <p:nvSpPr>
              <p:cNvPr id="1318" name="Text Box 294"/>
              <p:cNvSpPr txBox="1">
                <a:spLocks noChangeArrowheads="1"/>
              </p:cNvSpPr>
              <p:nvPr/>
            </p:nvSpPr>
            <p:spPr bwMode="auto">
              <a:xfrm>
                <a:off x="1336" y="2195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1</a:t>
                </a:r>
              </a:p>
            </p:txBody>
          </p:sp>
          <p:sp>
            <p:nvSpPr>
              <p:cNvPr id="1319" name="Text Box 295"/>
              <p:cNvSpPr txBox="1">
                <a:spLocks noChangeArrowheads="1"/>
              </p:cNvSpPr>
              <p:nvPr/>
            </p:nvSpPr>
            <p:spPr bwMode="auto">
              <a:xfrm>
                <a:off x="1334" y="2027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2</a:t>
                </a:r>
              </a:p>
            </p:txBody>
          </p:sp>
          <p:sp>
            <p:nvSpPr>
              <p:cNvPr id="1320" name="Line 296"/>
              <p:cNvSpPr>
                <a:spLocks noChangeShapeType="1"/>
              </p:cNvSpPr>
              <p:nvPr/>
            </p:nvSpPr>
            <p:spPr bwMode="auto">
              <a:xfrm>
                <a:off x="1355" y="2188"/>
                <a:ext cx="676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21" name="Line 297"/>
              <p:cNvSpPr>
                <a:spLocks noChangeShapeType="1"/>
              </p:cNvSpPr>
              <p:nvPr/>
            </p:nvSpPr>
            <p:spPr bwMode="auto">
              <a:xfrm>
                <a:off x="1350" y="2343"/>
                <a:ext cx="681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22" name="Line 298"/>
              <p:cNvSpPr>
                <a:spLocks noChangeShapeType="1"/>
              </p:cNvSpPr>
              <p:nvPr/>
            </p:nvSpPr>
            <p:spPr bwMode="auto">
              <a:xfrm flipV="1">
                <a:off x="1535" y="2035"/>
                <a:ext cx="0" cy="307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323" name="Group 299"/>
              <p:cNvGrpSpPr>
                <a:grpSpLocks/>
              </p:cNvGrpSpPr>
              <p:nvPr/>
            </p:nvGrpSpPr>
            <p:grpSpPr bwMode="auto">
              <a:xfrm>
                <a:off x="1573" y="2059"/>
                <a:ext cx="99" cy="260"/>
                <a:chOff x="1799" y="579"/>
                <a:chExt cx="99" cy="260"/>
              </a:xfrm>
            </p:grpSpPr>
            <p:sp>
              <p:nvSpPr>
                <p:cNvPr id="1324" name="Oval 300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5" name="Oval 301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26" name="Group 302"/>
              <p:cNvGrpSpPr>
                <a:grpSpLocks/>
              </p:cNvGrpSpPr>
              <p:nvPr/>
            </p:nvGrpSpPr>
            <p:grpSpPr bwMode="auto">
              <a:xfrm>
                <a:off x="1724" y="2059"/>
                <a:ext cx="99" cy="260"/>
                <a:chOff x="1799" y="579"/>
                <a:chExt cx="99" cy="260"/>
              </a:xfrm>
            </p:grpSpPr>
            <p:sp>
              <p:nvSpPr>
                <p:cNvPr id="1327" name="Oval 303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28" name="Oval 304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29" name="Group 305"/>
              <p:cNvGrpSpPr>
                <a:grpSpLocks/>
              </p:cNvGrpSpPr>
              <p:nvPr/>
            </p:nvGrpSpPr>
            <p:grpSpPr bwMode="auto">
              <a:xfrm>
                <a:off x="1876" y="2059"/>
                <a:ext cx="99" cy="260"/>
                <a:chOff x="1799" y="579"/>
                <a:chExt cx="99" cy="260"/>
              </a:xfrm>
            </p:grpSpPr>
            <p:sp>
              <p:nvSpPr>
                <p:cNvPr id="1330" name="Oval 306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31" name="Oval 307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332" name="Group 308"/>
            <p:cNvGrpSpPr>
              <a:grpSpLocks/>
            </p:cNvGrpSpPr>
            <p:nvPr userDrawn="1"/>
          </p:nvGrpSpPr>
          <p:grpSpPr bwMode="auto">
            <a:xfrm>
              <a:off x="1970" y="1605"/>
              <a:ext cx="750" cy="505"/>
              <a:chOff x="2071" y="2027"/>
              <a:chExt cx="697" cy="469"/>
            </a:xfrm>
          </p:grpSpPr>
          <p:grpSp>
            <p:nvGrpSpPr>
              <p:cNvPr id="1333" name="Group 309"/>
              <p:cNvGrpSpPr>
                <a:grpSpLocks/>
              </p:cNvGrpSpPr>
              <p:nvPr/>
            </p:nvGrpSpPr>
            <p:grpSpPr bwMode="auto">
              <a:xfrm>
                <a:off x="2071" y="2027"/>
                <a:ext cx="697" cy="469"/>
                <a:chOff x="1383" y="1769"/>
                <a:chExt cx="697" cy="469"/>
              </a:xfrm>
            </p:grpSpPr>
            <p:sp>
              <p:nvSpPr>
                <p:cNvPr id="1334" name="Rectangle 310"/>
                <p:cNvSpPr>
                  <a:spLocks noChangeArrowheads="1"/>
                </p:cNvSpPr>
                <p:nvPr/>
              </p:nvSpPr>
              <p:spPr bwMode="auto">
                <a:xfrm>
                  <a:off x="1402" y="1775"/>
                  <a:ext cx="673" cy="459"/>
                </a:xfrm>
                <a:prstGeom prst="rect">
                  <a:avLst/>
                </a:prstGeom>
                <a:noFill/>
                <a:ln w="63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5" name="Text Box 311"/>
                <p:cNvSpPr txBox="1">
                  <a:spLocks noChangeArrowheads="1"/>
                </p:cNvSpPr>
                <p:nvPr/>
              </p:nvSpPr>
              <p:spPr bwMode="auto">
                <a:xfrm>
                  <a:off x="1526" y="2074"/>
                  <a:ext cx="420" cy="1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200"/>
                    <a:t>Fiabilité</a:t>
                  </a:r>
                </a:p>
              </p:txBody>
            </p:sp>
            <p:sp>
              <p:nvSpPr>
                <p:cNvPr id="1336" name="Text Box 312"/>
                <p:cNvSpPr txBox="1">
                  <a:spLocks noChangeArrowheads="1"/>
                </p:cNvSpPr>
                <p:nvPr/>
              </p:nvSpPr>
              <p:spPr bwMode="auto">
                <a:xfrm>
                  <a:off x="1385" y="1937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1</a:t>
                  </a:r>
                </a:p>
              </p:txBody>
            </p:sp>
            <p:sp>
              <p:nvSpPr>
                <p:cNvPr id="1337" name="Text Box 313"/>
                <p:cNvSpPr txBox="1">
                  <a:spLocks noChangeArrowheads="1"/>
                </p:cNvSpPr>
                <p:nvPr/>
              </p:nvSpPr>
              <p:spPr bwMode="auto">
                <a:xfrm>
                  <a:off x="1383" y="1769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2</a:t>
                  </a:r>
                </a:p>
              </p:txBody>
            </p:sp>
            <p:sp>
              <p:nvSpPr>
                <p:cNvPr id="1338" name="Line 314"/>
                <p:cNvSpPr>
                  <a:spLocks noChangeShapeType="1"/>
                </p:cNvSpPr>
                <p:nvPr/>
              </p:nvSpPr>
              <p:spPr bwMode="auto">
                <a:xfrm>
                  <a:off x="1404" y="1930"/>
                  <a:ext cx="676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39" name="Line 315"/>
                <p:cNvSpPr>
                  <a:spLocks noChangeShapeType="1"/>
                </p:cNvSpPr>
                <p:nvPr/>
              </p:nvSpPr>
              <p:spPr bwMode="auto">
                <a:xfrm>
                  <a:off x="1399" y="2085"/>
                  <a:ext cx="681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40" name="Line 316"/>
                <p:cNvSpPr>
                  <a:spLocks noChangeShapeType="1"/>
                </p:cNvSpPr>
                <p:nvPr/>
              </p:nvSpPr>
              <p:spPr bwMode="auto">
                <a:xfrm flipV="1">
                  <a:off x="1584" y="1777"/>
                  <a:ext cx="0" cy="307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341" name="Group 317"/>
              <p:cNvGrpSpPr>
                <a:grpSpLocks/>
              </p:cNvGrpSpPr>
              <p:nvPr/>
            </p:nvGrpSpPr>
            <p:grpSpPr bwMode="auto">
              <a:xfrm>
                <a:off x="2310" y="2059"/>
                <a:ext cx="99" cy="260"/>
                <a:chOff x="1799" y="579"/>
                <a:chExt cx="99" cy="260"/>
              </a:xfrm>
            </p:grpSpPr>
            <p:sp>
              <p:nvSpPr>
                <p:cNvPr id="1342" name="Oval 318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3" name="Oval 319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44" name="Group 320"/>
              <p:cNvGrpSpPr>
                <a:grpSpLocks/>
              </p:cNvGrpSpPr>
              <p:nvPr/>
            </p:nvGrpSpPr>
            <p:grpSpPr bwMode="auto">
              <a:xfrm>
                <a:off x="2461" y="2059"/>
                <a:ext cx="99" cy="260"/>
                <a:chOff x="1799" y="579"/>
                <a:chExt cx="99" cy="260"/>
              </a:xfrm>
            </p:grpSpPr>
            <p:sp>
              <p:nvSpPr>
                <p:cNvPr id="1345" name="Oval 321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6" name="Oval 322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47" name="Group 323"/>
              <p:cNvGrpSpPr>
                <a:grpSpLocks/>
              </p:cNvGrpSpPr>
              <p:nvPr/>
            </p:nvGrpSpPr>
            <p:grpSpPr bwMode="auto">
              <a:xfrm>
                <a:off x="2613" y="2059"/>
                <a:ext cx="99" cy="260"/>
                <a:chOff x="1799" y="579"/>
                <a:chExt cx="99" cy="260"/>
              </a:xfrm>
            </p:grpSpPr>
            <p:sp>
              <p:nvSpPr>
                <p:cNvPr id="1348" name="Oval 324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49" name="Oval 325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350" name="Group 326"/>
            <p:cNvGrpSpPr>
              <a:grpSpLocks/>
            </p:cNvGrpSpPr>
            <p:nvPr userDrawn="1"/>
          </p:nvGrpSpPr>
          <p:grpSpPr bwMode="auto">
            <a:xfrm>
              <a:off x="3000" y="1611"/>
              <a:ext cx="751" cy="505"/>
              <a:chOff x="1334" y="2027"/>
              <a:chExt cx="697" cy="469"/>
            </a:xfrm>
          </p:grpSpPr>
          <p:sp>
            <p:nvSpPr>
              <p:cNvPr id="1351" name="Rectangle 327"/>
              <p:cNvSpPr>
                <a:spLocks noChangeArrowheads="1"/>
              </p:cNvSpPr>
              <p:nvPr/>
            </p:nvSpPr>
            <p:spPr bwMode="auto">
              <a:xfrm>
                <a:off x="1353" y="2033"/>
                <a:ext cx="673" cy="459"/>
              </a:xfrm>
              <a:prstGeom prst="rect">
                <a:avLst/>
              </a:prstGeom>
              <a:noFill/>
              <a:ln w="6350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52" name="Text Box 328"/>
              <p:cNvSpPr txBox="1">
                <a:spLocks noChangeArrowheads="1"/>
              </p:cNvSpPr>
              <p:nvPr/>
            </p:nvSpPr>
            <p:spPr bwMode="auto">
              <a:xfrm>
                <a:off x="1443" y="2332"/>
                <a:ext cx="485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200"/>
                  <a:t>Flexibilité</a:t>
                </a:r>
              </a:p>
            </p:txBody>
          </p:sp>
          <p:sp>
            <p:nvSpPr>
              <p:cNvPr id="1353" name="Text Box 329"/>
              <p:cNvSpPr txBox="1">
                <a:spLocks noChangeArrowheads="1"/>
              </p:cNvSpPr>
              <p:nvPr/>
            </p:nvSpPr>
            <p:spPr bwMode="auto">
              <a:xfrm>
                <a:off x="1336" y="2195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1</a:t>
                </a:r>
              </a:p>
            </p:txBody>
          </p:sp>
          <p:sp>
            <p:nvSpPr>
              <p:cNvPr id="1354" name="Text Box 330"/>
              <p:cNvSpPr txBox="1">
                <a:spLocks noChangeArrowheads="1"/>
              </p:cNvSpPr>
              <p:nvPr/>
            </p:nvSpPr>
            <p:spPr bwMode="auto">
              <a:xfrm>
                <a:off x="1334" y="2027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2</a:t>
                </a:r>
              </a:p>
            </p:txBody>
          </p:sp>
          <p:sp>
            <p:nvSpPr>
              <p:cNvPr id="1355" name="Line 331"/>
              <p:cNvSpPr>
                <a:spLocks noChangeShapeType="1"/>
              </p:cNvSpPr>
              <p:nvPr/>
            </p:nvSpPr>
            <p:spPr bwMode="auto">
              <a:xfrm>
                <a:off x="1355" y="2188"/>
                <a:ext cx="676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56" name="Line 332"/>
              <p:cNvSpPr>
                <a:spLocks noChangeShapeType="1"/>
              </p:cNvSpPr>
              <p:nvPr/>
            </p:nvSpPr>
            <p:spPr bwMode="auto">
              <a:xfrm>
                <a:off x="1350" y="2343"/>
                <a:ext cx="681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57" name="Line 333"/>
              <p:cNvSpPr>
                <a:spLocks noChangeShapeType="1"/>
              </p:cNvSpPr>
              <p:nvPr/>
            </p:nvSpPr>
            <p:spPr bwMode="auto">
              <a:xfrm flipV="1">
                <a:off x="1535" y="2035"/>
                <a:ext cx="0" cy="307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358" name="Group 334"/>
              <p:cNvGrpSpPr>
                <a:grpSpLocks/>
              </p:cNvGrpSpPr>
              <p:nvPr/>
            </p:nvGrpSpPr>
            <p:grpSpPr bwMode="auto">
              <a:xfrm>
                <a:off x="1573" y="2059"/>
                <a:ext cx="99" cy="260"/>
                <a:chOff x="1799" y="579"/>
                <a:chExt cx="99" cy="260"/>
              </a:xfrm>
            </p:grpSpPr>
            <p:sp>
              <p:nvSpPr>
                <p:cNvPr id="1359" name="Oval 335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0" name="Oval 336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61" name="Group 337"/>
              <p:cNvGrpSpPr>
                <a:grpSpLocks/>
              </p:cNvGrpSpPr>
              <p:nvPr/>
            </p:nvGrpSpPr>
            <p:grpSpPr bwMode="auto">
              <a:xfrm>
                <a:off x="1724" y="2059"/>
                <a:ext cx="99" cy="260"/>
                <a:chOff x="1799" y="579"/>
                <a:chExt cx="99" cy="260"/>
              </a:xfrm>
            </p:grpSpPr>
            <p:sp>
              <p:nvSpPr>
                <p:cNvPr id="1362" name="Oval 338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3" name="Oval 339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64" name="Group 340"/>
              <p:cNvGrpSpPr>
                <a:grpSpLocks/>
              </p:cNvGrpSpPr>
              <p:nvPr/>
            </p:nvGrpSpPr>
            <p:grpSpPr bwMode="auto">
              <a:xfrm>
                <a:off x="1876" y="2059"/>
                <a:ext cx="99" cy="260"/>
                <a:chOff x="1799" y="579"/>
                <a:chExt cx="99" cy="260"/>
              </a:xfrm>
            </p:grpSpPr>
            <p:sp>
              <p:nvSpPr>
                <p:cNvPr id="1365" name="Oval 341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66" name="Oval 342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367" name="Group 343"/>
            <p:cNvGrpSpPr>
              <a:grpSpLocks/>
            </p:cNvGrpSpPr>
            <p:nvPr userDrawn="1"/>
          </p:nvGrpSpPr>
          <p:grpSpPr bwMode="auto">
            <a:xfrm>
              <a:off x="3794" y="1611"/>
              <a:ext cx="750" cy="505"/>
              <a:chOff x="2071" y="2027"/>
              <a:chExt cx="697" cy="469"/>
            </a:xfrm>
          </p:grpSpPr>
          <p:grpSp>
            <p:nvGrpSpPr>
              <p:cNvPr id="1368" name="Group 344"/>
              <p:cNvGrpSpPr>
                <a:grpSpLocks/>
              </p:cNvGrpSpPr>
              <p:nvPr/>
            </p:nvGrpSpPr>
            <p:grpSpPr bwMode="auto">
              <a:xfrm>
                <a:off x="2071" y="2027"/>
                <a:ext cx="697" cy="469"/>
                <a:chOff x="1383" y="1769"/>
                <a:chExt cx="697" cy="469"/>
              </a:xfrm>
            </p:grpSpPr>
            <p:sp>
              <p:nvSpPr>
                <p:cNvPr id="1369" name="Rectangle 345"/>
                <p:cNvSpPr>
                  <a:spLocks noChangeArrowheads="1"/>
                </p:cNvSpPr>
                <p:nvPr/>
              </p:nvSpPr>
              <p:spPr bwMode="auto">
                <a:xfrm>
                  <a:off x="1402" y="1775"/>
                  <a:ext cx="673" cy="459"/>
                </a:xfrm>
                <a:prstGeom prst="rect">
                  <a:avLst/>
                </a:prstGeom>
                <a:noFill/>
                <a:ln w="63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70" name="Text Box 346"/>
                <p:cNvSpPr txBox="1">
                  <a:spLocks noChangeArrowheads="1"/>
                </p:cNvSpPr>
                <p:nvPr/>
              </p:nvSpPr>
              <p:spPr bwMode="auto">
                <a:xfrm>
                  <a:off x="1526" y="2074"/>
                  <a:ext cx="420" cy="1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200"/>
                    <a:t>Fiabilité</a:t>
                  </a:r>
                </a:p>
              </p:txBody>
            </p:sp>
            <p:sp>
              <p:nvSpPr>
                <p:cNvPr id="1371" name="Text Box 347"/>
                <p:cNvSpPr txBox="1">
                  <a:spLocks noChangeArrowheads="1"/>
                </p:cNvSpPr>
                <p:nvPr/>
              </p:nvSpPr>
              <p:spPr bwMode="auto">
                <a:xfrm>
                  <a:off x="1385" y="1937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1</a:t>
                  </a:r>
                </a:p>
              </p:txBody>
            </p:sp>
            <p:sp>
              <p:nvSpPr>
                <p:cNvPr id="1372" name="Text Box 348"/>
                <p:cNvSpPr txBox="1">
                  <a:spLocks noChangeArrowheads="1"/>
                </p:cNvSpPr>
                <p:nvPr/>
              </p:nvSpPr>
              <p:spPr bwMode="auto">
                <a:xfrm>
                  <a:off x="1383" y="1769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2</a:t>
                  </a:r>
                </a:p>
              </p:txBody>
            </p:sp>
            <p:sp>
              <p:nvSpPr>
                <p:cNvPr id="1373" name="Line 349"/>
                <p:cNvSpPr>
                  <a:spLocks noChangeShapeType="1"/>
                </p:cNvSpPr>
                <p:nvPr/>
              </p:nvSpPr>
              <p:spPr bwMode="auto">
                <a:xfrm>
                  <a:off x="1404" y="1930"/>
                  <a:ext cx="676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74" name="Line 350"/>
                <p:cNvSpPr>
                  <a:spLocks noChangeShapeType="1"/>
                </p:cNvSpPr>
                <p:nvPr/>
              </p:nvSpPr>
              <p:spPr bwMode="auto">
                <a:xfrm>
                  <a:off x="1399" y="2085"/>
                  <a:ext cx="681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375" name="Line 351"/>
                <p:cNvSpPr>
                  <a:spLocks noChangeShapeType="1"/>
                </p:cNvSpPr>
                <p:nvPr/>
              </p:nvSpPr>
              <p:spPr bwMode="auto">
                <a:xfrm flipV="1">
                  <a:off x="1584" y="1777"/>
                  <a:ext cx="0" cy="307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376" name="Group 352"/>
              <p:cNvGrpSpPr>
                <a:grpSpLocks/>
              </p:cNvGrpSpPr>
              <p:nvPr/>
            </p:nvGrpSpPr>
            <p:grpSpPr bwMode="auto">
              <a:xfrm>
                <a:off x="2310" y="2059"/>
                <a:ext cx="99" cy="260"/>
                <a:chOff x="1799" y="579"/>
                <a:chExt cx="99" cy="260"/>
              </a:xfrm>
            </p:grpSpPr>
            <p:sp>
              <p:nvSpPr>
                <p:cNvPr id="1377" name="Oval 353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78" name="Oval 354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79" name="Group 355"/>
              <p:cNvGrpSpPr>
                <a:grpSpLocks/>
              </p:cNvGrpSpPr>
              <p:nvPr/>
            </p:nvGrpSpPr>
            <p:grpSpPr bwMode="auto">
              <a:xfrm>
                <a:off x="2461" y="2059"/>
                <a:ext cx="99" cy="260"/>
                <a:chOff x="1799" y="579"/>
                <a:chExt cx="99" cy="260"/>
              </a:xfrm>
            </p:grpSpPr>
            <p:sp>
              <p:nvSpPr>
                <p:cNvPr id="1380" name="Oval 356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1" name="Oval 357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82" name="Group 358"/>
              <p:cNvGrpSpPr>
                <a:grpSpLocks/>
              </p:cNvGrpSpPr>
              <p:nvPr/>
            </p:nvGrpSpPr>
            <p:grpSpPr bwMode="auto">
              <a:xfrm>
                <a:off x="2613" y="2059"/>
                <a:ext cx="99" cy="260"/>
                <a:chOff x="1799" y="579"/>
                <a:chExt cx="99" cy="260"/>
              </a:xfrm>
            </p:grpSpPr>
            <p:sp>
              <p:nvSpPr>
                <p:cNvPr id="1383" name="Oval 359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84" name="Oval 360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385" name="Group 361"/>
            <p:cNvGrpSpPr>
              <a:grpSpLocks/>
            </p:cNvGrpSpPr>
            <p:nvPr userDrawn="1"/>
          </p:nvGrpSpPr>
          <p:grpSpPr bwMode="auto">
            <a:xfrm>
              <a:off x="2996" y="2557"/>
              <a:ext cx="750" cy="505"/>
              <a:chOff x="1334" y="2027"/>
              <a:chExt cx="697" cy="469"/>
            </a:xfrm>
          </p:grpSpPr>
          <p:sp>
            <p:nvSpPr>
              <p:cNvPr id="1386" name="Rectangle 362"/>
              <p:cNvSpPr>
                <a:spLocks noChangeArrowheads="1"/>
              </p:cNvSpPr>
              <p:nvPr/>
            </p:nvSpPr>
            <p:spPr bwMode="auto">
              <a:xfrm>
                <a:off x="1353" y="2033"/>
                <a:ext cx="673" cy="459"/>
              </a:xfrm>
              <a:prstGeom prst="rect">
                <a:avLst/>
              </a:prstGeom>
              <a:noFill/>
              <a:ln w="6350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87" name="Text Box 363"/>
              <p:cNvSpPr txBox="1">
                <a:spLocks noChangeArrowheads="1"/>
              </p:cNvSpPr>
              <p:nvPr/>
            </p:nvSpPr>
            <p:spPr bwMode="auto">
              <a:xfrm>
                <a:off x="1442" y="2332"/>
                <a:ext cx="486" cy="16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200"/>
                  <a:t>Flexibilité</a:t>
                </a:r>
              </a:p>
            </p:txBody>
          </p:sp>
          <p:sp>
            <p:nvSpPr>
              <p:cNvPr id="1388" name="Text Box 364"/>
              <p:cNvSpPr txBox="1">
                <a:spLocks noChangeArrowheads="1"/>
              </p:cNvSpPr>
              <p:nvPr/>
            </p:nvSpPr>
            <p:spPr bwMode="auto">
              <a:xfrm>
                <a:off x="1336" y="2195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1</a:t>
                </a:r>
              </a:p>
            </p:txBody>
          </p:sp>
          <p:sp>
            <p:nvSpPr>
              <p:cNvPr id="1389" name="Text Box 365"/>
              <p:cNvSpPr txBox="1">
                <a:spLocks noChangeArrowheads="1"/>
              </p:cNvSpPr>
              <p:nvPr/>
            </p:nvSpPr>
            <p:spPr bwMode="auto">
              <a:xfrm>
                <a:off x="1334" y="2027"/>
                <a:ext cx="227" cy="1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2</a:t>
                </a:r>
              </a:p>
            </p:txBody>
          </p:sp>
          <p:sp>
            <p:nvSpPr>
              <p:cNvPr id="1390" name="Line 366"/>
              <p:cNvSpPr>
                <a:spLocks noChangeShapeType="1"/>
              </p:cNvSpPr>
              <p:nvPr/>
            </p:nvSpPr>
            <p:spPr bwMode="auto">
              <a:xfrm>
                <a:off x="1355" y="2188"/>
                <a:ext cx="676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91" name="Line 367"/>
              <p:cNvSpPr>
                <a:spLocks noChangeShapeType="1"/>
              </p:cNvSpPr>
              <p:nvPr/>
            </p:nvSpPr>
            <p:spPr bwMode="auto">
              <a:xfrm>
                <a:off x="1350" y="2343"/>
                <a:ext cx="681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392" name="Line 368"/>
              <p:cNvSpPr>
                <a:spLocks noChangeShapeType="1"/>
              </p:cNvSpPr>
              <p:nvPr/>
            </p:nvSpPr>
            <p:spPr bwMode="auto">
              <a:xfrm flipV="1">
                <a:off x="1535" y="2035"/>
                <a:ext cx="0" cy="307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393" name="Group 369"/>
              <p:cNvGrpSpPr>
                <a:grpSpLocks/>
              </p:cNvGrpSpPr>
              <p:nvPr/>
            </p:nvGrpSpPr>
            <p:grpSpPr bwMode="auto">
              <a:xfrm>
                <a:off x="1573" y="2059"/>
                <a:ext cx="99" cy="260"/>
                <a:chOff x="1799" y="579"/>
                <a:chExt cx="99" cy="260"/>
              </a:xfrm>
            </p:grpSpPr>
            <p:sp>
              <p:nvSpPr>
                <p:cNvPr id="1394" name="Oval 370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5" name="Oval 371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96" name="Group 372"/>
              <p:cNvGrpSpPr>
                <a:grpSpLocks/>
              </p:cNvGrpSpPr>
              <p:nvPr/>
            </p:nvGrpSpPr>
            <p:grpSpPr bwMode="auto">
              <a:xfrm>
                <a:off x="1724" y="2059"/>
                <a:ext cx="99" cy="260"/>
                <a:chOff x="1799" y="579"/>
                <a:chExt cx="99" cy="260"/>
              </a:xfrm>
            </p:grpSpPr>
            <p:sp>
              <p:nvSpPr>
                <p:cNvPr id="1397" name="Oval 373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98" name="Oval 374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399" name="Group 375"/>
              <p:cNvGrpSpPr>
                <a:grpSpLocks/>
              </p:cNvGrpSpPr>
              <p:nvPr/>
            </p:nvGrpSpPr>
            <p:grpSpPr bwMode="auto">
              <a:xfrm>
                <a:off x="1876" y="2059"/>
                <a:ext cx="99" cy="260"/>
                <a:chOff x="1799" y="579"/>
                <a:chExt cx="99" cy="260"/>
              </a:xfrm>
            </p:grpSpPr>
            <p:sp>
              <p:nvSpPr>
                <p:cNvPr id="1400" name="Oval 376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01" name="Oval 377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402" name="Group 378"/>
            <p:cNvGrpSpPr>
              <a:grpSpLocks/>
            </p:cNvGrpSpPr>
            <p:nvPr userDrawn="1"/>
          </p:nvGrpSpPr>
          <p:grpSpPr bwMode="auto">
            <a:xfrm>
              <a:off x="3790" y="2557"/>
              <a:ext cx="750" cy="505"/>
              <a:chOff x="2071" y="2027"/>
              <a:chExt cx="697" cy="469"/>
            </a:xfrm>
          </p:grpSpPr>
          <p:grpSp>
            <p:nvGrpSpPr>
              <p:cNvPr id="1403" name="Group 379"/>
              <p:cNvGrpSpPr>
                <a:grpSpLocks/>
              </p:cNvGrpSpPr>
              <p:nvPr/>
            </p:nvGrpSpPr>
            <p:grpSpPr bwMode="auto">
              <a:xfrm>
                <a:off x="2071" y="2027"/>
                <a:ext cx="697" cy="469"/>
                <a:chOff x="1383" y="1769"/>
                <a:chExt cx="697" cy="469"/>
              </a:xfrm>
            </p:grpSpPr>
            <p:sp>
              <p:nvSpPr>
                <p:cNvPr id="1404" name="Rectangle 380"/>
                <p:cNvSpPr>
                  <a:spLocks noChangeArrowheads="1"/>
                </p:cNvSpPr>
                <p:nvPr/>
              </p:nvSpPr>
              <p:spPr bwMode="auto">
                <a:xfrm>
                  <a:off x="1402" y="1775"/>
                  <a:ext cx="673" cy="459"/>
                </a:xfrm>
                <a:prstGeom prst="rect">
                  <a:avLst/>
                </a:prstGeom>
                <a:noFill/>
                <a:ln w="63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05" name="Text Box 381"/>
                <p:cNvSpPr txBox="1">
                  <a:spLocks noChangeArrowheads="1"/>
                </p:cNvSpPr>
                <p:nvPr/>
              </p:nvSpPr>
              <p:spPr bwMode="auto">
                <a:xfrm>
                  <a:off x="1525" y="2074"/>
                  <a:ext cx="421" cy="16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200"/>
                    <a:t>Fiabilité</a:t>
                  </a:r>
                </a:p>
              </p:txBody>
            </p:sp>
            <p:sp>
              <p:nvSpPr>
                <p:cNvPr id="1406" name="Text Box 382"/>
                <p:cNvSpPr txBox="1">
                  <a:spLocks noChangeArrowheads="1"/>
                </p:cNvSpPr>
                <p:nvPr/>
              </p:nvSpPr>
              <p:spPr bwMode="auto">
                <a:xfrm>
                  <a:off x="1385" y="1937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1</a:t>
                  </a:r>
                </a:p>
              </p:txBody>
            </p:sp>
            <p:sp>
              <p:nvSpPr>
                <p:cNvPr id="1407" name="Text Box 383"/>
                <p:cNvSpPr txBox="1">
                  <a:spLocks noChangeArrowheads="1"/>
                </p:cNvSpPr>
                <p:nvPr/>
              </p:nvSpPr>
              <p:spPr bwMode="auto">
                <a:xfrm>
                  <a:off x="1383" y="1769"/>
                  <a:ext cx="227" cy="14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2</a:t>
                  </a:r>
                </a:p>
              </p:txBody>
            </p:sp>
            <p:sp>
              <p:nvSpPr>
                <p:cNvPr id="1408" name="Line 384"/>
                <p:cNvSpPr>
                  <a:spLocks noChangeShapeType="1"/>
                </p:cNvSpPr>
                <p:nvPr/>
              </p:nvSpPr>
              <p:spPr bwMode="auto">
                <a:xfrm>
                  <a:off x="1404" y="1930"/>
                  <a:ext cx="676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09" name="Line 385"/>
                <p:cNvSpPr>
                  <a:spLocks noChangeShapeType="1"/>
                </p:cNvSpPr>
                <p:nvPr/>
              </p:nvSpPr>
              <p:spPr bwMode="auto">
                <a:xfrm>
                  <a:off x="1399" y="2085"/>
                  <a:ext cx="681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10" name="Line 386"/>
                <p:cNvSpPr>
                  <a:spLocks noChangeShapeType="1"/>
                </p:cNvSpPr>
                <p:nvPr/>
              </p:nvSpPr>
              <p:spPr bwMode="auto">
                <a:xfrm flipV="1">
                  <a:off x="1584" y="1777"/>
                  <a:ext cx="0" cy="307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411" name="Group 387"/>
              <p:cNvGrpSpPr>
                <a:grpSpLocks/>
              </p:cNvGrpSpPr>
              <p:nvPr/>
            </p:nvGrpSpPr>
            <p:grpSpPr bwMode="auto">
              <a:xfrm>
                <a:off x="2310" y="2059"/>
                <a:ext cx="99" cy="260"/>
                <a:chOff x="1799" y="579"/>
                <a:chExt cx="99" cy="260"/>
              </a:xfrm>
            </p:grpSpPr>
            <p:sp>
              <p:nvSpPr>
                <p:cNvPr id="1412" name="Oval 388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3" name="Oval 389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14" name="Group 390"/>
              <p:cNvGrpSpPr>
                <a:grpSpLocks/>
              </p:cNvGrpSpPr>
              <p:nvPr/>
            </p:nvGrpSpPr>
            <p:grpSpPr bwMode="auto">
              <a:xfrm>
                <a:off x="2461" y="2059"/>
                <a:ext cx="99" cy="260"/>
                <a:chOff x="1799" y="579"/>
                <a:chExt cx="99" cy="260"/>
              </a:xfrm>
            </p:grpSpPr>
            <p:sp>
              <p:nvSpPr>
                <p:cNvPr id="1415" name="Oval 391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6" name="Oval 392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17" name="Group 393"/>
              <p:cNvGrpSpPr>
                <a:grpSpLocks/>
              </p:cNvGrpSpPr>
              <p:nvPr/>
            </p:nvGrpSpPr>
            <p:grpSpPr bwMode="auto">
              <a:xfrm>
                <a:off x="2613" y="2059"/>
                <a:ext cx="99" cy="260"/>
                <a:chOff x="1799" y="579"/>
                <a:chExt cx="99" cy="260"/>
              </a:xfrm>
            </p:grpSpPr>
            <p:sp>
              <p:nvSpPr>
                <p:cNvPr id="1418" name="Oval 394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19" name="Oval 395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420" name="Group 396"/>
            <p:cNvGrpSpPr>
              <a:grpSpLocks/>
            </p:cNvGrpSpPr>
            <p:nvPr userDrawn="1"/>
          </p:nvGrpSpPr>
          <p:grpSpPr bwMode="auto">
            <a:xfrm>
              <a:off x="1995" y="2566"/>
              <a:ext cx="751" cy="504"/>
              <a:chOff x="2071" y="2027"/>
              <a:chExt cx="697" cy="468"/>
            </a:xfrm>
          </p:grpSpPr>
          <p:grpSp>
            <p:nvGrpSpPr>
              <p:cNvPr id="1421" name="Group 397"/>
              <p:cNvGrpSpPr>
                <a:grpSpLocks/>
              </p:cNvGrpSpPr>
              <p:nvPr/>
            </p:nvGrpSpPr>
            <p:grpSpPr bwMode="auto">
              <a:xfrm>
                <a:off x="2071" y="2027"/>
                <a:ext cx="697" cy="468"/>
                <a:chOff x="1383" y="1769"/>
                <a:chExt cx="697" cy="468"/>
              </a:xfrm>
            </p:grpSpPr>
            <p:sp>
              <p:nvSpPr>
                <p:cNvPr id="1422" name="Rectangle 398"/>
                <p:cNvSpPr>
                  <a:spLocks noChangeArrowheads="1"/>
                </p:cNvSpPr>
                <p:nvPr/>
              </p:nvSpPr>
              <p:spPr bwMode="auto">
                <a:xfrm>
                  <a:off x="1402" y="1775"/>
                  <a:ext cx="673" cy="459"/>
                </a:xfrm>
                <a:prstGeom prst="rect">
                  <a:avLst/>
                </a:prstGeom>
                <a:noFill/>
                <a:ln w="63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23" name="Text Box 399"/>
                <p:cNvSpPr txBox="1">
                  <a:spLocks noChangeArrowheads="1"/>
                </p:cNvSpPr>
                <p:nvPr/>
              </p:nvSpPr>
              <p:spPr bwMode="auto">
                <a:xfrm>
                  <a:off x="1526" y="2074"/>
                  <a:ext cx="420" cy="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200"/>
                    <a:t>Fiabilité</a:t>
                  </a:r>
                </a:p>
              </p:txBody>
            </p:sp>
            <p:sp>
              <p:nvSpPr>
                <p:cNvPr id="1424" name="Text Box 400"/>
                <p:cNvSpPr txBox="1">
                  <a:spLocks noChangeArrowheads="1"/>
                </p:cNvSpPr>
                <p:nvPr/>
              </p:nvSpPr>
              <p:spPr bwMode="auto">
                <a:xfrm>
                  <a:off x="1385" y="1937"/>
                  <a:ext cx="227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1</a:t>
                  </a:r>
                </a:p>
              </p:txBody>
            </p:sp>
            <p:sp>
              <p:nvSpPr>
                <p:cNvPr id="1425" name="Text Box 401"/>
                <p:cNvSpPr txBox="1">
                  <a:spLocks noChangeArrowheads="1"/>
                </p:cNvSpPr>
                <p:nvPr/>
              </p:nvSpPr>
              <p:spPr bwMode="auto">
                <a:xfrm>
                  <a:off x="1383" y="1769"/>
                  <a:ext cx="227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2</a:t>
                  </a:r>
                </a:p>
              </p:txBody>
            </p:sp>
            <p:sp>
              <p:nvSpPr>
                <p:cNvPr id="1426" name="Line 402"/>
                <p:cNvSpPr>
                  <a:spLocks noChangeShapeType="1"/>
                </p:cNvSpPr>
                <p:nvPr/>
              </p:nvSpPr>
              <p:spPr bwMode="auto">
                <a:xfrm>
                  <a:off x="1404" y="1930"/>
                  <a:ext cx="676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27" name="Line 403"/>
                <p:cNvSpPr>
                  <a:spLocks noChangeShapeType="1"/>
                </p:cNvSpPr>
                <p:nvPr/>
              </p:nvSpPr>
              <p:spPr bwMode="auto">
                <a:xfrm>
                  <a:off x="1399" y="2085"/>
                  <a:ext cx="681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28" name="Line 404"/>
                <p:cNvSpPr>
                  <a:spLocks noChangeShapeType="1"/>
                </p:cNvSpPr>
                <p:nvPr/>
              </p:nvSpPr>
              <p:spPr bwMode="auto">
                <a:xfrm flipV="1">
                  <a:off x="1584" y="1777"/>
                  <a:ext cx="0" cy="307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429" name="Group 405"/>
              <p:cNvGrpSpPr>
                <a:grpSpLocks/>
              </p:cNvGrpSpPr>
              <p:nvPr/>
            </p:nvGrpSpPr>
            <p:grpSpPr bwMode="auto">
              <a:xfrm>
                <a:off x="2310" y="2059"/>
                <a:ext cx="99" cy="260"/>
                <a:chOff x="1799" y="579"/>
                <a:chExt cx="99" cy="260"/>
              </a:xfrm>
            </p:grpSpPr>
            <p:sp>
              <p:nvSpPr>
                <p:cNvPr id="1430" name="Oval 406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31" name="Oval 407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32" name="Group 408"/>
              <p:cNvGrpSpPr>
                <a:grpSpLocks/>
              </p:cNvGrpSpPr>
              <p:nvPr/>
            </p:nvGrpSpPr>
            <p:grpSpPr bwMode="auto">
              <a:xfrm>
                <a:off x="2461" y="2059"/>
                <a:ext cx="99" cy="260"/>
                <a:chOff x="1799" y="579"/>
                <a:chExt cx="99" cy="260"/>
              </a:xfrm>
            </p:grpSpPr>
            <p:sp>
              <p:nvSpPr>
                <p:cNvPr id="1433" name="Oval 409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34" name="Oval 410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35" name="Group 411"/>
              <p:cNvGrpSpPr>
                <a:grpSpLocks/>
              </p:cNvGrpSpPr>
              <p:nvPr/>
            </p:nvGrpSpPr>
            <p:grpSpPr bwMode="auto">
              <a:xfrm>
                <a:off x="2613" y="2059"/>
                <a:ext cx="99" cy="260"/>
                <a:chOff x="1799" y="579"/>
                <a:chExt cx="99" cy="260"/>
              </a:xfrm>
            </p:grpSpPr>
            <p:sp>
              <p:nvSpPr>
                <p:cNvPr id="1436" name="Oval 412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37" name="Oval 413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sp>
          <p:nvSpPr>
            <p:cNvPr id="1438" name="Rectangle 414"/>
            <p:cNvSpPr>
              <a:spLocks noChangeArrowheads="1"/>
            </p:cNvSpPr>
            <p:nvPr userDrawn="1"/>
          </p:nvSpPr>
          <p:spPr bwMode="auto">
            <a:xfrm>
              <a:off x="1218" y="2566"/>
              <a:ext cx="725" cy="494"/>
            </a:xfrm>
            <a:prstGeom prst="rect">
              <a:avLst/>
            </a:prstGeom>
            <a:noFill/>
            <a:ln w="6350" algn="ctr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39" name="Text Box 415"/>
            <p:cNvSpPr txBox="1">
              <a:spLocks noChangeArrowheads="1"/>
            </p:cNvSpPr>
            <p:nvPr userDrawn="1"/>
          </p:nvSpPr>
          <p:spPr bwMode="auto">
            <a:xfrm>
              <a:off x="1314" y="2888"/>
              <a:ext cx="523" cy="1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200"/>
                <a:t>Flexibilité</a:t>
              </a:r>
            </a:p>
          </p:txBody>
        </p:sp>
        <p:sp>
          <p:nvSpPr>
            <p:cNvPr id="1440" name="Text Box 416"/>
            <p:cNvSpPr txBox="1">
              <a:spLocks noChangeArrowheads="1"/>
            </p:cNvSpPr>
            <p:nvPr userDrawn="1"/>
          </p:nvSpPr>
          <p:spPr bwMode="auto">
            <a:xfrm>
              <a:off x="1191" y="2650"/>
              <a:ext cx="244" cy="15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altLang="fr-FR" sz="1000"/>
                <a:t>N 2</a:t>
              </a:r>
            </a:p>
          </p:txBody>
        </p:sp>
        <p:sp>
          <p:nvSpPr>
            <p:cNvPr id="1441" name="Line 417"/>
            <p:cNvSpPr>
              <a:spLocks noChangeShapeType="1"/>
            </p:cNvSpPr>
            <p:nvPr userDrawn="1"/>
          </p:nvSpPr>
          <p:spPr bwMode="auto">
            <a:xfrm>
              <a:off x="1215" y="2904"/>
              <a:ext cx="733" cy="0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1442" name="Line 418"/>
            <p:cNvSpPr>
              <a:spLocks noChangeShapeType="1"/>
            </p:cNvSpPr>
            <p:nvPr userDrawn="1"/>
          </p:nvSpPr>
          <p:spPr bwMode="auto">
            <a:xfrm flipV="1">
              <a:off x="1414" y="2568"/>
              <a:ext cx="0" cy="331"/>
            </a:xfrm>
            <a:prstGeom prst="line">
              <a:avLst/>
            </a:prstGeom>
            <a:noFill/>
            <a:ln w="63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grpSp>
          <p:nvGrpSpPr>
            <p:cNvPr id="1443" name="Group 419"/>
            <p:cNvGrpSpPr>
              <a:grpSpLocks/>
            </p:cNvGrpSpPr>
            <p:nvPr userDrawn="1"/>
          </p:nvGrpSpPr>
          <p:grpSpPr bwMode="auto">
            <a:xfrm>
              <a:off x="4678" y="2102"/>
              <a:ext cx="751" cy="504"/>
              <a:chOff x="1334" y="2027"/>
              <a:chExt cx="697" cy="468"/>
            </a:xfrm>
          </p:grpSpPr>
          <p:sp>
            <p:nvSpPr>
              <p:cNvPr id="1444" name="Rectangle 420"/>
              <p:cNvSpPr>
                <a:spLocks noChangeArrowheads="1"/>
              </p:cNvSpPr>
              <p:nvPr/>
            </p:nvSpPr>
            <p:spPr bwMode="auto">
              <a:xfrm>
                <a:off x="1353" y="2033"/>
                <a:ext cx="673" cy="459"/>
              </a:xfrm>
              <a:prstGeom prst="rect">
                <a:avLst/>
              </a:prstGeom>
              <a:noFill/>
              <a:ln w="6350" algn="ctr">
                <a:solidFill>
                  <a:schemeClr val="tx2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45" name="Text Box 421"/>
              <p:cNvSpPr txBox="1">
                <a:spLocks noChangeArrowheads="1"/>
              </p:cNvSpPr>
              <p:nvPr/>
            </p:nvSpPr>
            <p:spPr bwMode="auto">
              <a:xfrm>
                <a:off x="1443" y="2332"/>
                <a:ext cx="485" cy="16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200"/>
                  <a:t>Flexibilité</a:t>
                </a:r>
              </a:p>
            </p:txBody>
          </p:sp>
          <p:sp>
            <p:nvSpPr>
              <p:cNvPr id="1446" name="Text Box 422"/>
              <p:cNvSpPr txBox="1">
                <a:spLocks noChangeArrowheads="1"/>
              </p:cNvSpPr>
              <p:nvPr/>
            </p:nvSpPr>
            <p:spPr bwMode="auto">
              <a:xfrm>
                <a:off x="1336" y="2195"/>
                <a:ext cx="227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1</a:t>
                </a:r>
              </a:p>
            </p:txBody>
          </p:sp>
          <p:sp>
            <p:nvSpPr>
              <p:cNvPr id="1447" name="Text Box 423"/>
              <p:cNvSpPr txBox="1">
                <a:spLocks noChangeArrowheads="1"/>
              </p:cNvSpPr>
              <p:nvPr/>
            </p:nvSpPr>
            <p:spPr bwMode="auto">
              <a:xfrm>
                <a:off x="1334" y="2027"/>
                <a:ext cx="227" cy="14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6350" algn="ctr">
                    <a:solidFill>
                      <a:schemeClr val="tx2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fr-FR" altLang="fr-FR" sz="1000"/>
                  <a:t>N 2</a:t>
                </a:r>
              </a:p>
            </p:txBody>
          </p:sp>
          <p:sp>
            <p:nvSpPr>
              <p:cNvPr id="1448" name="Line 424"/>
              <p:cNvSpPr>
                <a:spLocks noChangeShapeType="1"/>
              </p:cNvSpPr>
              <p:nvPr/>
            </p:nvSpPr>
            <p:spPr bwMode="auto">
              <a:xfrm>
                <a:off x="1355" y="2188"/>
                <a:ext cx="676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49" name="Line 425"/>
              <p:cNvSpPr>
                <a:spLocks noChangeShapeType="1"/>
              </p:cNvSpPr>
              <p:nvPr/>
            </p:nvSpPr>
            <p:spPr bwMode="auto">
              <a:xfrm>
                <a:off x="1350" y="2343"/>
                <a:ext cx="681" cy="0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1450" name="Line 426"/>
              <p:cNvSpPr>
                <a:spLocks noChangeShapeType="1"/>
              </p:cNvSpPr>
              <p:nvPr/>
            </p:nvSpPr>
            <p:spPr bwMode="auto">
              <a:xfrm flipV="1">
                <a:off x="1535" y="2035"/>
                <a:ext cx="0" cy="307"/>
              </a:xfrm>
              <a:prstGeom prst="line">
                <a:avLst/>
              </a:prstGeom>
              <a:noFill/>
              <a:ln w="6350">
                <a:solidFill>
                  <a:schemeClr val="tx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  <p:grpSp>
            <p:nvGrpSpPr>
              <p:cNvPr id="1451" name="Group 427"/>
              <p:cNvGrpSpPr>
                <a:grpSpLocks/>
              </p:cNvGrpSpPr>
              <p:nvPr/>
            </p:nvGrpSpPr>
            <p:grpSpPr bwMode="auto">
              <a:xfrm>
                <a:off x="1573" y="2059"/>
                <a:ext cx="99" cy="260"/>
                <a:chOff x="1799" y="579"/>
                <a:chExt cx="99" cy="260"/>
              </a:xfrm>
            </p:grpSpPr>
            <p:sp>
              <p:nvSpPr>
                <p:cNvPr id="1452" name="Oval 428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3" name="Oval 429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54" name="Group 430"/>
              <p:cNvGrpSpPr>
                <a:grpSpLocks/>
              </p:cNvGrpSpPr>
              <p:nvPr/>
            </p:nvGrpSpPr>
            <p:grpSpPr bwMode="auto">
              <a:xfrm>
                <a:off x="1724" y="2059"/>
                <a:ext cx="99" cy="260"/>
                <a:chOff x="1799" y="579"/>
                <a:chExt cx="99" cy="260"/>
              </a:xfrm>
            </p:grpSpPr>
            <p:sp>
              <p:nvSpPr>
                <p:cNvPr id="1455" name="Oval 431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6" name="Oval 432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57" name="Group 433"/>
              <p:cNvGrpSpPr>
                <a:grpSpLocks/>
              </p:cNvGrpSpPr>
              <p:nvPr/>
            </p:nvGrpSpPr>
            <p:grpSpPr bwMode="auto">
              <a:xfrm>
                <a:off x="1876" y="2059"/>
                <a:ext cx="99" cy="260"/>
                <a:chOff x="1799" y="579"/>
                <a:chExt cx="99" cy="260"/>
              </a:xfrm>
            </p:grpSpPr>
            <p:sp>
              <p:nvSpPr>
                <p:cNvPr id="1458" name="Oval 434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59" name="Oval 435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460" name="Group 436"/>
            <p:cNvGrpSpPr>
              <a:grpSpLocks/>
            </p:cNvGrpSpPr>
            <p:nvPr userDrawn="1"/>
          </p:nvGrpSpPr>
          <p:grpSpPr bwMode="auto">
            <a:xfrm>
              <a:off x="4684" y="2638"/>
              <a:ext cx="750" cy="504"/>
              <a:chOff x="2071" y="2027"/>
              <a:chExt cx="697" cy="468"/>
            </a:xfrm>
          </p:grpSpPr>
          <p:grpSp>
            <p:nvGrpSpPr>
              <p:cNvPr id="1461" name="Group 437"/>
              <p:cNvGrpSpPr>
                <a:grpSpLocks/>
              </p:cNvGrpSpPr>
              <p:nvPr/>
            </p:nvGrpSpPr>
            <p:grpSpPr bwMode="auto">
              <a:xfrm>
                <a:off x="2071" y="2027"/>
                <a:ext cx="697" cy="468"/>
                <a:chOff x="1383" y="1769"/>
                <a:chExt cx="697" cy="468"/>
              </a:xfrm>
            </p:grpSpPr>
            <p:sp>
              <p:nvSpPr>
                <p:cNvPr id="1462" name="Rectangle 438"/>
                <p:cNvSpPr>
                  <a:spLocks noChangeArrowheads="1"/>
                </p:cNvSpPr>
                <p:nvPr/>
              </p:nvSpPr>
              <p:spPr bwMode="auto">
                <a:xfrm>
                  <a:off x="1402" y="1775"/>
                  <a:ext cx="673" cy="459"/>
                </a:xfrm>
                <a:prstGeom prst="rect">
                  <a:avLst/>
                </a:prstGeom>
                <a:noFill/>
                <a:ln w="6350" algn="ctr">
                  <a:solidFill>
                    <a:schemeClr val="tx2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bg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63" name="Text Box 439"/>
                <p:cNvSpPr txBox="1">
                  <a:spLocks noChangeArrowheads="1"/>
                </p:cNvSpPr>
                <p:nvPr/>
              </p:nvSpPr>
              <p:spPr bwMode="auto">
                <a:xfrm>
                  <a:off x="1526" y="2074"/>
                  <a:ext cx="420" cy="16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200"/>
                    <a:t>Fiabilité</a:t>
                  </a:r>
                </a:p>
              </p:txBody>
            </p:sp>
            <p:sp>
              <p:nvSpPr>
                <p:cNvPr id="1464" name="Text Box 440"/>
                <p:cNvSpPr txBox="1">
                  <a:spLocks noChangeArrowheads="1"/>
                </p:cNvSpPr>
                <p:nvPr/>
              </p:nvSpPr>
              <p:spPr bwMode="auto">
                <a:xfrm>
                  <a:off x="1385" y="1937"/>
                  <a:ext cx="227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1</a:t>
                  </a:r>
                </a:p>
              </p:txBody>
            </p:sp>
            <p:sp>
              <p:nvSpPr>
                <p:cNvPr id="1465" name="Text Box 441"/>
                <p:cNvSpPr txBox="1">
                  <a:spLocks noChangeArrowheads="1"/>
                </p:cNvSpPr>
                <p:nvPr/>
              </p:nvSpPr>
              <p:spPr bwMode="auto">
                <a:xfrm>
                  <a:off x="1383" y="1769"/>
                  <a:ext cx="227" cy="1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6350" algn="ctr">
                      <a:solidFill>
                        <a:schemeClr val="tx2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fr-FR" altLang="fr-FR" sz="1000"/>
                    <a:t>N 2</a:t>
                  </a:r>
                </a:p>
              </p:txBody>
            </p:sp>
            <p:sp>
              <p:nvSpPr>
                <p:cNvPr id="1466" name="Line 442"/>
                <p:cNvSpPr>
                  <a:spLocks noChangeShapeType="1"/>
                </p:cNvSpPr>
                <p:nvPr/>
              </p:nvSpPr>
              <p:spPr bwMode="auto">
                <a:xfrm>
                  <a:off x="1404" y="1930"/>
                  <a:ext cx="676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67" name="Line 443"/>
                <p:cNvSpPr>
                  <a:spLocks noChangeShapeType="1"/>
                </p:cNvSpPr>
                <p:nvPr/>
              </p:nvSpPr>
              <p:spPr bwMode="auto">
                <a:xfrm>
                  <a:off x="1399" y="2085"/>
                  <a:ext cx="681" cy="0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  <p:sp>
              <p:nvSpPr>
                <p:cNvPr id="1468" name="Line 444"/>
                <p:cNvSpPr>
                  <a:spLocks noChangeShapeType="1"/>
                </p:cNvSpPr>
                <p:nvPr/>
              </p:nvSpPr>
              <p:spPr bwMode="auto">
                <a:xfrm flipV="1">
                  <a:off x="1584" y="1777"/>
                  <a:ext cx="0" cy="307"/>
                </a:xfrm>
                <a:prstGeom prst="line">
                  <a:avLst/>
                </a:prstGeom>
                <a:noFill/>
                <a:ln w="6350">
                  <a:solidFill>
                    <a:schemeClr val="tx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/>
                </a:p>
              </p:txBody>
            </p:sp>
          </p:grpSp>
          <p:grpSp>
            <p:nvGrpSpPr>
              <p:cNvPr id="1469" name="Group 445"/>
              <p:cNvGrpSpPr>
                <a:grpSpLocks/>
              </p:cNvGrpSpPr>
              <p:nvPr/>
            </p:nvGrpSpPr>
            <p:grpSpPr bwMode="auto">
              <a:xfrm>
                <a:off x="2310" y="2059"/>
                <a:ext cx="99" cy="260"/>
                <a:chOff x="1799" y="579"/>
                <a:chExt cx="99" cy="260"/>
              </a:xfrm>
            </p:grpSpPr>
            <p:sp>
              <p:nvSpPr>
                <p:cNvPr id="1470" name="Oval 446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1" name="Oval 447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noFill/>
                <a:ln w="12700" algn="ctr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2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72" name="Group 448"/>
              <p:cNvGrpSpPr>
                <a:grpSpLocks/>
              </p:cNvGrpSpPr>
              <p:nvPr/>
            </p:nvGrpSpPr>
            <p:grpSpPr bwMode="auto">
              <a:xfrm>
                <a:off x="2461" y="2059"/>
                <a:ext cx="99" cy="260"/>
                <a:chOff x="1799" y="579"/>
                <a:chExt cx="99" cy="260"/>
              </a:xfrm>
            </p:grpSpPr>
            <p:sp>
              <p:nvSpPr>
                <p:cNvPr id="1473" name="Oval 449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4" name="Oval 450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FC2C1C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  <p:grpSp>
            <p:nvGrpSpPr>
              <p:cNvPr id="1475" name="Group 451"/>
              <p:cNvGrpSpPr>
                <a:grpSpLocks/>
              </p:cNvGrpSpPr>
              <p:nvPr/>
            </p:nvGrpSpPr>
            <p:grpSpPr bwMode="auto">
              <a:xfrm>
                <a:off x="2613" y="2059"/>
                <a:ext cx="99" cy="260"/>
                <a:chOff x="1799" y="579"/>
                <a:chExt cx="99" cy="260"/>
              </a:xfrm>
            </p:grpSpPr>
            <p:sp>
              <p:nvSpPr>
                <p:cNvPr id="1476" name="Oval 452"/>
                <p:cNvSpPr>
                  <a:spLocks noChangeArrowheads="1"/>
                </p:cNvSpPr>
                <p:nvPr/>
              </p:nvSpPr>
              <p:spPr bwMode="auto">
                <a:xfrm>
                  <a:off x="1799" y="579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77" name="Oval 453"/>
                <p:cNvSpPr>
                  <a:spLocks noChangeArrowheads="1"/>
                </p:cNvSpPr>
                <p:nvPr/>
              </p:nvSpPr>
              <p:spPr bwMode="auto">
                <a:xfrm>
                  <a:off x="1800" y="741"/>
                  <a:ext cx="98" cy="98"/>
                </a:xfrm>
                <a:prstGeom prst="ellipse">
                  <a:avLst/>
                </a:prstGeom>
                <a:solidFill>
                  <a:schemeClr val="bg1"/>
                </a:solidFill>
                <a:ln w="12700" algn="ctr">
                  <a:solidFill>
                    <a:srgbClr val="00CC66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fr-FR" altLang="fr-FR" sz="1200" b="1">
                    <a:solidFill>
                      <a:schemeClr val="bg1"/>
                    </a:solidFill>
                  </a:endParaRPr>
                </a:p>
              </p:txBody>
            </p:sp>
          </p:grpSp>
        </p:grpSp>
        <p:grpSp>
          <p:nvGrpSpPr>
            <p:cNvPr id="1478" name="Group 454"/>
            <p:cNvGrpSpPr>
              <a:grpSpLocks/>
            </p:cNvGrpSpPr>
            <p:nvPr userDrawn="1"/>
          </p:nvGrpSpPr>
          <p:grpSpPr bwMode="auto">
            <a:xfrm>
              <a:off x="1620" y="2613"/>
              <a:ext cx="111" cy="258"/>
              <a:chOff x="1362" y="2490"/>
              <a:chExt cx="111" cy="258"/>
            </a:xfrm>
          </p:grpSpPr>
          <p:sp>
            <p:nvSpPr>
              <p:cNvPr id="1479" name="Oval 455"/>
              <p:cNvSpPr>
                <a:spLocks noChangeArrowheads="1"/>
              </p:cNvSpPr>
              <p:nvPr/>
            </p:nvSpPr>
            <p:spPr bwMode="auto">
              <a:xfrm>
                <a:off x="1363" y="249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0" name="Oval 456"/>
              <p:cNvSpPr>
                <a:spLocks noChangeArrowheads="1"/>
              </p:cNvSpPr>
              <p:nvPr/>
            </p:nvSpPr>
            <p:spPr bwMode="auto">
              <a:xfrm>
                <a:off x="1363" y="264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1" name="AutoShape 457"/>
              <p:cNvSpPr>
                <a:spLocks noChangeArrowheads="1"/>
              </p:cNvSpPr>
              <p:nvPr/>
            </p:nvSpPr>
            <p:spPr bwMode="auto">
              <a:xfrm>
                <a:off x="1362" y="2490"/>
                <a:ext cx="111" cy="258"/>
              </a:xfrm>
              <a:prstGeom prst="roundRect">
                <a:avLst>
                  <a:gd name="adj" fmla="val 41440"/>
                </a:avLst>
              </a:prstGeom>
              <a:noFill/>
              <a:ln w="12700" algn="ctr">
                <a:solidFill>
                  <a:srgbClr val="FC2C1C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82" name="Group 458"/>
            <p:cNvGrpSpPr>
              <a:grpSpLocks/>
            </p:cNvGrpSpPr>
            <p:nvPr userDrawn="1"/>
          </p:nvGrpSpPr>
          <p:grpSpPr bwMode="auto">
            <a:xfrm>
              <a:off x="1446" y="2613"/>
              <a:ext cx="111" cy="258"/>
              <a:chOff x="1203" y="2490"/>
              <a:chExt cx="111" cy="258"/>
            </a:xfrm>
          </p:grpSpPr>
          <p:sp>
            <p:nvSpPr>
              <p:cNvPr id="1483" name="Oval 459"/>
              <p:cNvSpPr>
                <a:spLocks noChangeArrowheads="1"/>
              </p:cNvSpPr>
              <p:nvPr/>
            </p:nvSpPr>
            <p:spPr bwMode="auto">
              <a:xfrm>
                <a:off x="1204" y="249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4" name="Oval 460"/>
              <p:cNvSpPr>
                <a:spLocks noChangeArrowheads="1"/>
              </p:cNvSpPr>
              <p:nvPr/>
            </p:nvSpPr>
            <p:spPr bwMode="auto">
              <a:xfrm>
                <a:off x="1204" y="264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5" name="AutoShape 461"/>
              <p:cNvSpPr>
                <a:spLocks noChangeArrowheads="1"/>
              </p:cNvSpPr>
              <p:nvPr/>
            </p:nvSpPr>
            <p:spPr bwMode="auto">
              <a:xfrm>
                <a:off x="1203" y="2490"/>
                <a:ext cx="111" cy="258"/>
              </a:xfrm>
              <a:prstGeom prst="roundRect">
                <a:avLst>
                  <a:gd name="adj" fmla="val 41440"/>
                </a:avLst>
              </a:prstGeom>
              <a:noFill/>
              <a:ln w="12700" algn="ctr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  <p:grpSp>
          <p:nvGrpSpPr>
            <p:cNvPr id="1486" name="Group 462"/>
            <p:cNvGrpSpPr>
              <a:grpSpLocks/>
            </p:cNvGrpSpPr>
            <p:nvPr userDrawn="1"/>
          </p:nvGrpSpPr>
          <p:grpSpPr bwMode="auto">
            <a:xfrm>
              <a:off x="1785" y="2616"/>
              <a:ext cx="111" cy="258"/>
              <a:chOff x="1521" y="2490"/>
              <a:chExt cx="111" cy="258"/>
            </a:xfrm>
          </p:grpSpPr>
          <p:sp>
            <p:nvSpPr>
              <p:cNvPr id="1487" name="Oval 463"/>
              <p:cNvSpPr>
                <a:spLocks noChangeArrowheads="1"/>
              </p:cNvSpPr>
              <p:nvPr/>
            </p:nvSpPr>
            <p:spPr bwMode="auto">
              <a:xfrm>
                <a:off x="1522" y="249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8" name="Oval 464"/>
              <p:cNvSpPr>
                <a:spLocks noChangeArrowheads="1"/>
              </p:cNvSpPr>
              <p:nvPr/>
            </p:nvSpPr>
            <p:spPr bwMode="auto">
              <a:xfrm>
                <a:off x="1522" y="2641"/>
                <a:ext cx="106" cy="105"/>
              </a:xfrm>
              <a:prstGeom prst="ellipse">
                <a:avLst/>
              </a:prstGeom>
              <a:noFill/>
              <a:ln w="9525" algn="ctr">
                <a:solidFill>
                  <a:schemeClr val="folHlink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 altLang="fr-FR" sz="1200" b="1">
                  <a:solidFill>
                    <a:schemeClr val="bg1"/>
                  </a:solidFill>
                </a:endParaRPr>
              </a:p>
            </p:txBody>
          </p:sp>
          <p:sp>
            <p:nvSpPr>
              <p:cNvPr id="1489" name="AutoShape 465"/>
              <p:cNvSpPr>
                <a:spLocks noChangeArrowheads="1"/>
              </p:cNvSpPr>
              <p:nvPr/>
            </p:nvSpPr>
            <p:spPr bwMode="auto">
              <a:xfrm>
                <a:off x="1521" y="2490"/>
                <a:ext cx="111" cy="258"/>
              </a:xfrm>
              <a:prstGeom prst="roundRect">
                <a:avLst>
                  <a:gd name="adj" fmla="val 41440"/>
                </a:avLst>
              </a:prstGeom>
              <a:noFill/>
              <a:ln w="12700" algn="ctr">
                <a:solidFill>
                  <a:srgbClr val="00CC66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fr-FR"/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000">
          <a:solidFill>
            <a:schemeClr val="accent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>
          <a:solidFill>
            <a:schemeClr val="accent2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1600">
          <a:solidFill>
            <a:schemeClr val="accent2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1600">
          <a:solidFill>
            <a:schemeClr val="accent2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accent2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accent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accent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accent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600">
          <a:solidFill>
            <a:schemeClr val="accent2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220" name="Rectangle 524"/>
          <p:cNvSpPr>
            <a:spLocks noGrp="1" noChangeArrowheads="1"/>
          </p:cNvSpPr>
          <p:nvPr>
            <p:ph type="title"/>
          </p:nvPr>
        </p:nvSpPr>
        <p:spPr>
          <a:xfrm>
            <a:off x="1912938" y="47625"/>
            <a:ext cx="5024437" cy="460375"/>
          </a:xfrm>
          <a:noFill/>
          <a:ln/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fr-FR" alt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Analyse des Progrès </a:t>
            </a:r>
            <a:r>
              <a:rPr lang="fr-FR" altLang="fr-F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 équipes)</a:t>
            </a:r>
          </a:p>
        </p:txBody>
      </p:sp>
      <p:sp>
        <p:nvSpPr>
          <p:cNvPr id="670238" name="Oval 542"/>
          <p:cNvSpPr>
            <a:spLocks noChangeArrowheads="1"/>
          </p:cNvSpPr>
          <p:nvPr/>
        </p:nvSpPr>
        <p:spPr bwMode="auto">
          <a:xfrm>
            <a:off x="700088" y="34559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39" name="Oval 543"/>
          <p:cNvSpPr>
            <a:spLocks noChangeArrowheads="1"/>
          </p:cNvSpPr>
          <p:nvPr/>
        </p:nvSpPr>
        <p:spPr bwMode="auto">
          <a:xfrm>
            <a:off x="700088" y="36877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40" name="Oval 544"/>
          <p:cNvSpPr>
            <a:spLocks noChangeArrowheads="1"/>
          </p:cNvSpPr>
          <p:nvPr/>
        </p:nvSpPr>
        <p:spPr bwMode="auto">
          <a:xfrm>
            <a:off x="700088" y="43211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41" name="Oval 545"/>
          <p:cNvSpPr>
            <a:spLocks noChangeArrowheads="1"/>
          </p:cNvSpPr>
          <p:nvPr/>
        </p:nvSpPr>
        <p:spPr bwMode="auto">
          <a:xfrm>
            <a:off x="700088" y="45529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42" name="Oval 546"/>
          <p:cNvSpPr>
            <a:spLocks noChangeArrowheads="1"/>
          </p:cNvSpPr>
          <p:nvPr/>
        </p:nvSpPr>
        <p:spPr bwMode="auto">
          <a:xfrm>
            <a:off x="700088" y="478472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43" name="Oval 547"/>
          <p:cNvSpPr>
            <a:spLocks noChangeArrowheads="1"/>
          </p:cNvSpPr>
          <p:nvPr/>
        </p:nvSpPr>
        <p:spPr bwMode="auto">
          <a:xfrm>
            <a:off x="700088" y="50149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44" name="Oval 548"/>
          <p:cNvSpPr>
            <a:spLocks noChangeArrowheads="1"/>
          </p:cNvSpPr>
          <p:nvPr/>
        </p:nvSpPr>
        <p:spPr bwMode="auto">
          <a:xfrm>
            <a:off x="700088" y="54752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45" name="Oval 549"/>
          <p:cNvSpPr>
            <a:spLocks noChangeArrowheads="1"/>
          </p:cNvSpPr>
          <p:nvPr/>
        </p:nvSpPr>
        <p:spPr bwMode="auto">
          <a:xfrm>
            <a:off x="700088" y="57070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46" name="Oval 550"/>
          <p:cNvSpPr>
            <a:spLocks noChangeArrowheads="1"/>
          </p:cNvSpPr>
          <p:nvPr/>
        </p:nvSpPr>
        <p:spPr bwMode="auto">
          <a:xfrm>
            <a:off x="700088" y="593883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47" name="Oval 551"/>
          <p:cNvSpPr>
            <a:spLocks noChangeArrowheads="1"/>
          </p:cNvSpPr>
          <p:nvPr/>
        </p:nvSpPr>
        <p:spPr bwMode="auto">
          <a:xfrm>
            <a:off x="700088" y="61706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48" name="Oval 552"/>
          <p:cNvSpPr>
            <a:spLocks noChangeArrowheads="1"/>
          </p:cNvSpPr>
          <p:nvPr/>
        </p:nvSpPr>
        <p:spPr bwMode="auto">
          <a:xfrm>
            <a:off x="690563" y="15430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49" name="Oval 553"/>
          <p:cNvSpPr>
            <a:spLocks noChangeArrowheads="1"/>
          </p:cNvSpPr>
          <p:nvPr/>
        </p:nvSpPr>
        <p:spPr bwMode="auto">
          <a:xfrm>
            <a:off x="700088" y="13128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50" name="Oval 554"/>
          <p:cNvSpPr>
            <a:spLocks noChangeArrowheads="1"/>
          </p:cNvSpPr>
          <p:nvPr/>
        </p:nvSpPr>
        <p:spPr bwMode="auto">
          <a:xfrm>
            <a:off x="700088" y="21875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251" name="Oval 555"/>
          <p:cNvSpPr>
            <a:spLocks noChangeArrowheads="1"/>
          </p:cNvSpPr>
          <p:nvPr/>
        </p:nvSpPr>
        <p:spPr bwMode="auto">
          <a:xfrm>
            <a:off x="700088" y="195580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252" name="Oval 556"/>
          <p:cNvSpPr>
            <a:spLocks noChangeArrowheads="1"/>
          </p:cNvSpPr>
          <p:nvPr/>
        </p:nvSpPr>
        <p:spPr bwMode="auto">
          <a:xfrm>
            <a:off x="700088" y="259080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53" name="Oval 557"/>
          <p:cNvSpPr>
            <a:spLocks noChangeArrowheads="1"/>
          </p:cNvSpPr>
          <p:nvPr/>
        </p:nvSpPr>
        <p:spPr bwMode="auto">
          <a:xfrm>
            <a:off x="700088" y="28209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54" name="Oval 558"/>
          <p:cNvSpPr>
            <a:spLocks noChangeArrowheads="1"/>
          </p:cNvSpPr>
          <p:nvPr/>
        </p:nvSpPr>
        <p:spPr bwMode="auto">
          <a:xfrm>
            <a:off x="703263" y="30781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55" name="Oval 559"/>
          <p:cNvSpPr>
            <a:spLocks noChangeArrowheads="1"/>
          </p:cNvSpPr>
          <p:nvPr/>
        </p:nvSpPr>
        <p:spPr bwMode="auto">
          <a:xfrm>
            <a:off x="700088" y="39179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670256" name="Group 560"/>
          <p:cNvGrpSpPr>
            <a:grpSpLocks/>
          </p:cNvGrpSpPr>
          <p:nvPr/>
        </p:nvGrpSpPr>
        <p:grpSpPr bwMode="auto">
          <a:xfrm>
            <a:off x="601663" y="1216025"/>
            <a:ext cx="1052512" cy="5200650"/>
            <a:chOff x="407" y="682"/>
            <a:chExt cx="310" cy="3276"/>
          </a:xfrm>
        </p:grpSpPr>
        <p:sp>
          <p:nvSpPr>
            <p:cNvPr id="670257" name="Rectangle 561"/>
            <p:cNvSpPr>
              <a:spLocks noChangeArrowheads="1"/>
            </p:cNvSpPr>
            <p:nvPr/>
          </p:nvSpPr>
          <p:spPr bwMode="auto">
            <a:xfrm>
              <a:off x="407" y="682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0258" name="Rectangle 562"/>
            <p:cNvSpPr>
              <a:spLocks noChangeArrowheads="1"/>
            </p:cNvSpPr>
            <p:nvPr/>
          </p:nvSpPr>
          <p:spPr bwMode="auto">
            <a:xfrm>
              <a:off x="407" y="1090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0259" name="Rectangle 563"/>
            <p:cNvSpPr>
              <a:spLocks noChangeArrowheads="1"/>
            </p:cNvSpPr>
            <p:nvPr/>
          </p:nvSpPr>
          <p:spPr bwMode="auto">
            <a:xfrm>
              <a:off x="407" y="1493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0260" name="Rectangle 564"/>
            <p:cNvSpPr>
              <a:spLocks noChangeArrowheads="1"/>
            </p:cNvSpPr>
            <p:nvPr/>
          </p:nvSpPr>
          <p:spPr bwMode="auto">
            <a:xfrm>
              <a:off x="407" y="2038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0261" name="Rectangle 565"/>
            <p:cNvSpPr>
              <a:spLocks noChangeArrowheads="1"/>
            </p:cNvSpPr>
            <p:nvPr/>
          </p:nvSpPr>
          <p:spPr bwMode="auto">
            <a:xfrm>
              <a:off x="407" y="2583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0262" name="Rectangle 566"/>
            <p:cNvSpPr>
              <a:spLocks noChangeArrowheads="1"/>
            </p:cNvSpPr>
            <p:nvPr/>
          </p:nvSpPr>
          <p:spPr bwMode="auto">
            <a:xfrm>
              <a:off x="407" y="3320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70263" name="Text Box 567"/>
          <p:cNvSpPr txBox="1">
            <a:spLocks noChangeArrowheads="1"/>
          </p:cNvSpPr>
          <p:nvPr/>
        </p:nvSpPr>
        <p:spPr bwMode="auto">
          <a:xfrm>
            <a:off x="57150" y="44338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70264" name="Text Box 568"/>
          <p:cNvSpPr txBox="1">
            <a:spLocks noChangeArrowheads="1"/>
          </p:cNvSpPr>
          <p:nvPr/>
        </p:nvSpPr>
        <p:spPr bwMode="auto">
          <a:xfrm>
            <a:off x="57150" y="54911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70265" name="Text Box 569"/>
          <p:cNvSpPr txBox="1">
            <a:spLocks noChangeArrowheads="1"/>
          </p:cNvSpPr>
          <p:nvPr/>
        </p:nvSpPr>
        <p:spPr bwMode="auto">
          <a:xfrm>
            <a:off x="57150" y="12017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70266" name="Text Box 570"/>
          <p:cNvSpPr txBox="1">
            <a:spLocks noChangeArrowheads="1"/>
          </p:cNvSpPr>
          <p:nvPr/>
        </p:nvSpPr>
        <p:spPr bwMode="auto">
          <a:xfrm>
            <a:off x="57150" y="17541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70267" name="Text Box 571"/>
          <p:cNvSpPr txBox="1">
            <a:spLocks noChangeArrowheads="1"/>
          </p:cNvSpPr>
          <p:nvPr/>
        </p:nvSpPr>
        <p:spPr bwMode="auto">
          <a:xfrm>
            <a:off x="57150" y="25225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70268" name="Text Box 572"/>
          <p:cNvSpPr txBox="1">
            <a:spLocks noChangeArrowheads="1"/>
          </p:cNvSpPr>
          <p:nvPr/>
        </p:nvSpPr>
        <p:spPr bwMode="auto">
          <a:xfrm>
            <a:off x="57150" y="33607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70269" name="Oval 573"/>
          <p:cNvSpPr>
            <a:spLocks noChangeArrowheads="1"/>
          </p:cNvSpPr>
          <p:nvPr/>
        </p:nvSpPr>
        <p:spPr bwMode="auto">
          <a:xfrm>
            <a:off x="1012825" y="34655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70" name="Oval 574"/>
          <p:cNvSpPr>
            <a:spLocks noChangeArrowheads="1"/>
          </p:cNvSpPr>
          <p:nvPr/>
        </p:nvSpPr>
        <p:spPr bwMode="auto">
          <a:xfrm>
            <a:off x="1012825" y="369728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71" name="Oval 575"/>
          <p:cNvSpPr>
            <a:spLocks noChangeArrowheads="1"/>
          </p:cNvSpPr>
          <p:nvPr/>
        </p:nvSpPr>
        <p:spPr bwMode="auto">
          <a:xfrm>
            <a:off x="1012825" y="43307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72" name="Oval 576"/>
          <p:cNvSpPr>
            <a:spLocks noChangeArrowheads="1"/>
          </p:cNvSpPr>
          <p:nvPr/>
        </p:nvSpPr>
        <p:spPr bwMode="auto">
          <a:xfrm>
            <a:off x="1012825" y="45624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73" name="Oval 577"/>
          <p:cNvSpPr>
            <a:spLocks noChangeArrowheads="1"/>
          </p:cNvSpPr>
          <p:nvPr/>
        </p:nvSpPr>
        <p:spPr bwMode="auto">
          <a:xfrm>
            <a:off x="1012825" y="479425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74" name="Oval 578"/>
          <p:cNvSpPr>
            <a:spLocks noChangeArrowheads="1"/>
          </p:cNvSpPr>
          <p:nvPr/>
        </p:nvSpPr>
        <p:spPr bwMode="auto">
          <a:xfrm>
            <a:off x="1012825" y="50244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75" name="Oval 579"/>
          <p:cNvSpPr>
            <a:spLocks noChangeArrowheads="1"/>
          </p:cNvSpPr>
          <p:nvPr/>
        </p:nvSpPr>
        <p:spPr bwMode="auto">
          <a:xfrm>
            <a:off x="1012825" y="54848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76" name="Oval 580"/>
          <p:cNvSpPr>
            <a:spLocks noChangeArrowheads="1"/>
          </p:cNvSpPr>
          <p:nvPr/>
        </p:nvSpPr>
        <p:spPr bwMode="auto">
          <a:xfrm>
            <a:off x="1012825" y="571658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77" name="Oval 581"/>
          <p:cNvSpPr>
            <a:spLocks noChangeArrowheads="1"/>
          </p:cNvSpPr>
          <p:nvPr/>
        </p:nvSpPr>
        <p:spPr bwMode="auto">
          <a:xfrm>
            <a:off x="1012825" y="59483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78" name="Oval 582"/>
          <p:cNvSpPr>
            <a:spLocks noChangeArrowheads="1"/>
          </p:cNvSpPr>
          <p:nvPr/>
        </p:nvSpPr>
        <p:spPr bwMode="auto">
          <a:xfrm>
            <a:off x="1012825" y="61801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79" name="Oval 583"/>
          <p:cNvSpPr>
            <a:spLocks noChangeArrowheads="1"/>
          </p:cNvSpPr>
          <p:nvPr/>
        </p:nvSpPr>
        <p:spPr bwMode="auto">
          <a:xfrm>
            <a:off x="1012825" y="15525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80" name="Oval 584"/>
          <p:cNvSpPr>
            <a:spLocks noChangeArrowheads="1"/>
          </p:cNvSpPr>
          <p:nvPr/>
        </p:nvSpPr>
        <p:spPr bwMode="auto">
          <a:xfrm>
            <a:off x="1012825" y="13128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81" name="Oval 585"/>
          <p:cNvSpPr>
            <a:spLocks noChangeArrowheads="1"/>
          </p:cNvSpPr>
          <p:nvPr/>
        </p:nvSpPr>
        <p:spPr bwMode="auto">
          <a:xfrm>
            <a:off x="1012825" y="21971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282" name="Oval 586"/>
          <p:cNvSpPr>
            <a:spLocks noChangeArrowheads="1"/>
          </p:cNvSpPr>
          <p:nvPr/>
        </p:nvSpPr>
        <p:spPr bwMode="auto">
          <a:xfrm>
            <a:off x="1012825" y="196532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283" name="Oval 587"/>
          <p:cNvSpPr>
            <a:spLocks noChangeArrowheads="1"/>
          </p:cNvSpPr>
          <p:nvPr/>
        </p:nvSpPr>
        <p:spPr bwMode="auto">
          <a:xfrm>
            <a:off x="1012825" y="260032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84" name="Oval 588"/>
          <p:cNvSpPr>
            <a:spLocks noChangeArrowheads="1"/>
          </p:cNvSpPr>
          <p:nvPr/>
        </p:nvSpPr>
        <p:spPr bwMode="auto">
          <a:xfrm>
            <a:off x="1012825" y="28305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85" name="Oval 589"/>
          <p:cNvSpPr>
            <a:spLocks noChangeArrowheads="1"/>
          </p:cNvSpPr>
          <p:nvPr/>
        </p:nvSpPr>
        <p:spPr bwMode="auto">
          <a:xfrm>
            <a:off x="1001713" y="30781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286" name="Oval 590"/>
          <p:cNvSpPr>
            <a:spLocks noChangeArrowheads="1"/>
          </p:cNvSpPr>
          <p:nvPr/>
        </p:nvSpPr>
        <p:spPr bwMode="auto">
          <a:xfrm>
            <a:off x="1012825" y="39274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87" name="Oval 591"/>
          <p:cNvSpPr>
            <a:spLocks noChangeArrowheads="1"/>
          </p:cNvSpPr>
          <p:nvPr/>
        </p:nvSpPr>
        <p:spPr bwMode="auto">
          <a:xfrm>
            <a:off x="1357313" y="34655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88" name="Oval 592"/>
          <p:cNvSpPr>
            <a:spLocks noChangeArrowheads="1"/>
          </p:cNvSpPr>
          <p:nvPr/>
        </p:nvSpPr>
        <p:spPr bwMode="auto">
          <a:xfrm>
            <a:off x="1357313" y="369728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0289" name="Oval 593"/>
          <p:cNvSpPr>
            <a:spLocks noChangeArrowheads="1"/>
          </p:cNvSpPr>
          <p:nvPr/>
        </p:nvSpPr>
        <p:spPr bwMode="auto">
          <a:xfrm>
            <a:off x="1357313" y="433070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90" name="Oval 594"/>
          <p:cNvSpPr>
            <a:spLocks noChangeArrowheads="1"/>
          </p:cNvSpPr>
          <p:nvPr/>
        </p:nvSpPr>
        <p:spPr bwMode="auto">
          <a:xfrm>
            <a:off x="1357313" y="456247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91" name="Oval 595"/>
          <p:cNvSpPr>
            <a:spLocks noChangeArrowheads="1"/>
          </p:cNvSpPr>
          <p:nvPr/>
        </p:nvSpPr>
        <p:spPr bwMode="auto">
          <a:xfrm>
            <a:off x="1357313" y="479425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92" name="Oval 596"/>
          <p:cNvSpPr>
            <a:spLocks noChangeArrowheads="1"/>
          </p:cNvSpPr>
          <p:nvPr/>
        </p:nvSpPr>
        <p:spPr bwMode="auto">
          <a:xfrm>
            <a:off x="1357313" y="502443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0293" name="Oval 597"/>
          <p:cNvSpPr>
            <a:spLocks noChangeArrowheads="1"/>
          </p:cNvSpPr>
          <p:nvPr/>
        </p:nvSpPr>
        <p:spPr bwMode="auto">
          <a:xfrm>
            <a:off x="1357313" y="54848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94" name="Oval 598"/>
          <p:cNvSpPr>
            <a:spLocks noChangeArrowheads="1"/>
          </p:cNvSpPr>
          <p:nvPr/>
        </p:nvSpPr>
        <p:spPr bwMode="auto">
          <a:xfrm>
            <a:off x="1357313" y="571658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95" name="Oval 599"/>
          <p:cNvSpPr>
            <a:spLocks noChangeArrowheads="1"/>
          </p:cNvSpPr>
          <p:nvPr/>
        </p:nvSpPr>
        <p:spPr bwMode="auto">
          <a:xfrm>
            <a:off x="1357313" y="594836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96" name="Oval 600"/>
          <p:cNvSpPr>
            <a:spLocks noChangeArrowheads="1"/>
          </p:cNvSpPr>
          <p:nvPr/>
        </p:nvSpPr>
        <p:spPr bwMode="auto">
          <a:xfrm>
            <a:off x="1357313" y="618013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0297" name="Oval 601"/>
          <p:cNvSpPr>
            <a:spLocks noChangeArrowheads="1"/>
          </p:cNvSpPr>
          <p:nvPr/>
        </p:nvSpPr>
        <p:spPr bwMode="auto">
          <a:xfrm>
            <a:off x="1357313" y="155257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98" name="Oval 602"/>
          <p:cNvSpPr>
            <a:spLocks noChangeArrowheads="1"/>
          </p:cNvSpPr>
          <p:nvPr/>
        </p:nvSpPr>
        <p:spPr bwMode="auto">
          <a:xfrm>
            <a:off x="1357313" y="131286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70299" name="Oval 603"/>
          <p:cNvSpPr>
            <a:spLocks noChangeArrowheads="1"/>
          </p:cNvSpPr>
          <p:nvPr/>
        </p:nvSpPr>
        <p:spPr bwMode="auto">
          <a:xfrm>
            <a:off x="1357313" y="219710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300" name="Oval 604"/>
          <p:cNvSpPr>
            <a:spLocks noChangeArrowheads="1"/>
          </p:cNvSpPr>
          <p:nvPr/>
        </p:nvSpPr>
        <p:spPr bwMode="auto">
          <a:xfrm>
            <a:off x="1357313" y="196532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70301" name="Oval 605"/>
          <p:cNvSpPr>
            <a:spLocks noChangeArrowheads="1"/>
          </p:cNvSpPr>
          <p:nvPr/>
        </p:nvSpPr>
        <p:spPr bwMode="auto">
          <a:xfrm>
            <a:off x="1357313" y="260032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302" name="Oval 606"/>
          <p:cNvSpPr>
            <a:spLocks noChangeArrowheads="1"/>
          </p:cNvSpPr>
          <p:nvPr/>
        </p:nvSpPr>
        <p:spPr bwMode="auto">
          <a:xfrm>
            <a:off x="1357313" y="28305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303" name="Oval 607"/>
          <p:cNvSpPr>
            <a:spLocks noChangeArrowheads="1"/>
          </p:cNvSpPr>
          <p:nvPr/>
        </p:nvSpPr>
        <p:spPr bwMode="auto">
          <a:xfrm>
            <a:off x="1357313" y="307816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0304" name="Oval 608"/>
          <p:cNvSpPr>
            <a:spLocks noChangeArrowheads="1"/>
          </p:cNvSpPr>
          <p:nvPr/>
        </p:nvSpPr>
        <p:spPr bwMode="auto">
          <a:xfrm>
            <a:off x="1357313" y="392747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70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70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70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70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67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7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70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70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670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670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67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67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70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670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67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670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670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670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67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7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67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6" dur="500"/>
                                        <p:tgtEl>
                                          <p:spTgt spid="670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670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670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500"/>
                                        <p:tgtEl>
                                          <p:spTgt spid="670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67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670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4" dur="500"/>
                                        <p:tgtEl>
                                          <p:spTgt spid="670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670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670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5" dur="500"/>
                                        <p:tgtEl>
                                          <p:spTgt spid="670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670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1" dur="500"/>
                                        <p:tgtEl>
                                          <p:spTgt spid="670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4" dur="500"/>
                                        <p:tgtEl>
                                          <p:spTgt spid="670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67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670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3" dur="500"/>
                                        <p:tgtEl>
                                          <p:spTgt spid="670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6" dur="500"/>
                                        <p:tgtEl>
                                          <p:spTgt spid="670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670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2" dur="500"/>
                                        <p:tgtEl>
                                          <p:spTgt spid="67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5" dur="500"/>
                                        <p:tgtEl>
                                          <p:spTgt spid="670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8" dur="500"/>
                                        <p:tgtEl>
                                          <p:spTgt spid="67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3" dur="500"/>
                                        <p:tgtEl>
                                          <p:spTgt spid="670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500"/>
                                        <p:tgtEl>
                                          <p:spTgt spid="670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500"/>
                                        <p:tgtEl>
                                          <p:spTgt spid="670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500"/>
                                        <p:tgtEl>
                                          <p:spTgt spid="67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500"/>
                                        <p:tgtEl>
                                          <p:spTgt spid="670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8" dur="500"/>
                                        <p:tgtEl>
                                          <p:spTgt spid="670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1" dur="500"/>
                                        <p:tgtEl>
                                          <p:spTgt spid="670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4" dur="500"/>
                                        <p:tgtEl>
                                          <p:spTgt spid="670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7" dur="500"/>
                                        <p:tgtEl>
                                          <p:spTgt spid="67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0" dur="500"/>
                                        <p:tgtEl>
                                          <p:spTgt spid="670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3" dur="500"/>
                                        <p:tgtEl>
                                          <p:spTgt spid="67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6" dur="500"/>
                                        <p:tgtEl>
                                          <p:spTgt spid="670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0238" grpId="0" animBg="1"/>
      <p:bldP spid="670239" grpId="0" animBg="1"/>
      <p:bldP spid="670240" grpId="0" animBg="1"/>
      <p:bldP spid="670241" grpId="0" animBg="1"/>
      <p:bldP spid="670242" grpId="0" animBg="1"/>
      <p:bldP spid="670243" grpId="0" animBg="1"/>
      <p:bldP spid="670244" grpId="0" animBg="1"/>
      <p:bldP spid="670245" grpId="0" animBg="1"/>
      <p:bldP spid="670246" grpId="0" animBg="1"/>
      <p:bldP spid="670247" grpId="0" animBg="1"/>
      <p:bldP spid="670248" grpId="0" animBg="1"/>
      <p:bldP spid="670249" grpId="0" animBg="1"/>
      <p:bldP spid="670250" grpId="0" animBg="1"/>
      <p:bldP spid="670251" grpId="0" animBg="1"/>
      <p:bldP spid="670252" grpId="0" animBg="1"/>
      <p:bldP spid="670253" grpId="0" animBg="1"/>
      <p:bldP spid="670254" grpId="0" animBg="1"/>
      <p:bldP spid="670255" grpId="0" animBg="1"/>
      <p:bldP spid="670269" grpId="0" animBg="1"/>
      <p:bldP spid="670270" grpId="0" animBg="1"/>
      <p:bldP spid="670271" grpId="0" animBg="1"/>
      <p:bldP spid="670272" grpId="0" animBg="1"/>
      <p:bldP spid="670273" grpId="0" animBg="1"/>
      <p:bldP spid="670274" grpId="0" animBg="1"/>
      <p:bldP spid="670275" grpId="0" animBg="1"/>
      <p:bldP spid="670276" grpId="0" animBg="1"/>
      <p:bldP spid="670277" grpId="0" animBg="1"/>
      <p:bldP spid="670278" grpId="0" animBg="1"/>
      <p:bldP spid="670279" grpId="0" animBg="1"/>
      <p:bldP spid="670280" grpId="0" animBg="1"/>
      <p:bldP spid="670281" grpId="0" animBg="1"/>
      <p:bldP spid="670282" grpId="0" animBg="1"/>
      <p:bldP spid="670283" grpId="0" animBg="1"/>
      <p:bldP spid="670284" grpId="0" animBg="1"/>
      <p:bldP spid="670285" grpId="0" animBg="1"/>
      <p:bldP spid="670286" grpId="0" animBg="1"/>
      <p:bldP spid="670287" grpId="0" animBg="1"/>
      <p:bldP spid="670288" grpId="0" animBg="1"/>
      <p:bldP spid="670289" grpId="0" animBg="1"/>
      <p:bldP spid="670290" grpId="0" animBg="1"/>
      <p:bldP spid="670291" grpId="0" animBg="1"/>
      <p:bldP spid="670292" grpId="0" animBg="1"/>
      <p:bldP spid="670293" grpId="0" animBg="1"/>
      <p:bldP spid="670294" grpId="0" animBg="1"/>
      <p:bldP spid="670295" grpId="0" animBg="1"/>
      <p:bldP spid="670296" grpId="0" animBg="1"/>
      <p:bldP spid="670297" grpId="0" animBg="1"/>
      <p:bldP spid="670298" grpId="0" animBg="1"/>
      <p:bldP spid="670299" grpId="0" animBg="1"/>
      <p:bldP spid="670300" grpId="0" animBg="1"/>
      <p:bldP spid="670301" grpId="0" animBg="1"/>
      <p:bldP spid="670302" grpId="0" animBg="1"/>
      <p:bldP spid="670303" grpId="0" animBg="1"/>
      <p:bldP spid="67030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819" name="Oval 27"/>
          <p:cNvSpPr>
            <a:spLocks noChangeArrowheads="1"/>
          </p:cNvSpPr>
          <p:nvPr/>
        </p:nvSpPr>
        <p:spPr bwMode="auto">
          <a:xfrm>
            <a:off x="804863" y="36179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820" name="Oval 28"/>
          <p:cNvSpPr>
            <a:spLocks noChangeArrowheads="1"/>
          </p:cNvSpPr>
          <p:nvPr/>
        </p:nvSpPr>
        <p:spPr bwMode="auto">
          <a:xfrm>
            <a:off x="804863" y="38496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821" name="Oval 29"/>
          <p:cNvSpPr>
            <a:spLocks noChangeArrowheads="1"/>
          </p:cNvSpPr>
          <p:nvPr/>
        </p:nvSpPr>
        <p:spPr bwMode="auto">
          <a:xfrm>
            <a:off x="804863" y="448310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22" name="Oval 30"/>
          <p:cNvSpPr>
            <a:spLocks noChangeArrowheads="1"/>
          </p:cNvSpPr>
          <p:nvPr/>
        </p:nvSpPr>
        <p:spPr bwMode="auto">
          <a:xfrm>
            <a:off x="804863" y="47148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23" name="Oval 31"/>
          <p:cNvSpPr>
            <a:spLocks noChangeArrowheads="1"/>
          </p:cNvSpPr>
          <p:nvPr/>
        </p:nvSpPr>
        <p:spPr bwMode="auto">
          <a:xfrm>
            <a:off x="804863" y="49466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24" name="Oval 32"/>
          <p:cNvSpPr>
            <a:spLocks noChangeArrowheads="1"/>
          </p:cNvSpPr>
          <p:nvPr/>
        </p:nvSpPr>
        <p:spPr bwMode="auto">
          <a:xfrm>
            <a:off x="804863" y="517683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25" name="Oval 33"/>
          <p:cNvSpPr>
            <a:spLocks noChangeArrowheads="1"/>
          </p:cNvSpPr>
          <p:nvPr/>
        </p:nvSpPr>
        <p:spPr bwMode="auto">
          <a:xfrm>
            <a:off x="804863" y="56372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26" name="Oval 34"/>
          <p:cNvSpPr>
            <a:spLocks noChangeArrowheads="1"/>
          </p:cNvSpPr>
          <p:nvPr/>
        </p:nvSpPr>
        <p:spPr bwMode="auto">
          <a:xfrm>
            <a:off x="804863" y="58689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27" name="Oval 35"/>
          <p:cNvSpPr>
            <a:spLocks noChangeArrowheads="1"/>
          </p:cNvSpPr>
          <p:nvPr/>
        </p:nvSpPr>
        <p:spPr bwMode="auto">
          <a:xfrm>
            <a:off x="804863" y="61007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28" name="Oval 36"/>
          <p:cNvSpPr>
            <a:spLocks noChangeArrowheads="1"/>
          </p:cNvSpPr>
          <p:nvPr/>
        </p:nvSpPr>
        <p:spPr bwMode="auto">
          <a:xfrm>
            <a:off x="804863" y="633253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67" name="Rectangle 75"/>
          <p:cNvSpPr>
            <a:spLocks noGrp="1" noChangeArrowheads="1"/>
          </p:cNvSpPr>
          <p:nvPr>
            <p:ph type="title"/>
          </p:nvPr>
        </p:nvSpPr>
        <p:spPr>
          <a:xfrm>
            <a:off x="38100" y="42863"/>
            <a:ext cx="5543550" cy="371475"/>
          </a:xfrm>
          <a:noFill/>
          <a:ln/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fr-FR" altLang="fr-FR" sz="1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Mode d’emploi de la Cartographie des Progrès</a:t>
            </a:r>
          </a:p>
        </p:txBody>
      </p:sp>
      <p:sp>
        <p:nvSpPr>
          <p:cNvPr id="673872" name="Oval 80"/>
          <p:cNvSpPr>
            <a:spLocks noChangeArrowheads="1"/>
          </p:cNvSpPr>
          <p:nvPr/>
        </p:nvSpPr>
        <p:spPr bwMode="auto">
          <a:xfrm>
            <a:off x="804863" y="275272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873" name="Oval 81"/>
          <p:cNvSpPr>
            <a:spLocks noChangeArrowheads="1"/>
          </p:cNvSpPr>
          <p:nvPr/>
        </p:nvSpPr>
        <p:spPr bwMode="auto">
          <a:xfrm>
            <a:off x="804863" y="29829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874" name="Oval 82"/>
          <p:cNvSpPr>
            <a:spLocks noChangeArrowheads="1"/>
          </p:cNvSpPr>
          <p:nvPr/>
        </p:nvSpPr>
        <p:spPr bwMode="auto">
          <a:xfrm>
            <a:off x="804863" y="32146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875" name="Oval 83"/>
          <p:cNvSpPr>
            <a:spLocks noChangeArrowheads="1"/>
          </p:cNvSpPr>
          <p:nvPr/>
        </p:nvSpPr>
        <p:spPr bwMode="auto">
          <a:xfrm>
            <a:off x="804863" y="40798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673876" name="Group 84"/>
          <p:cNvGrpSpPr>
            <a:grpSpLocks/>
          </p:cNvGrpSpPr>
          <p:nvPr/>
        </p:nvGrpSpPr>
        <p:grpSpPr bwMode="auto">
          <a:xfrm>
            <a:off x="665163" y="1397000"/>
            <a:ext cx="1052512" cy="5200650"/>
            <a:chOff x="407" y="682"/>
            <a:chExt cx="310" cy="3276"/>
          </a:xfrm>
        </p:grpSpPr>
        <p:sp>
          <p:nvSpPr>
            <p:cNvPr id="673877" name="Rectangle 85"/>
            <p:cNvSpPr>
              <a:spLocks noChangeArrowheads="1"/>
            </p:cNvSpPr>
            <p:nvPr/>
          </p:nvSpPr>
          <p:spPr bwMode="auto">
            <a:xfrm>
              <a:off x="407" y="682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3878" name="Rectangle 86"/>
            <p:cNvSpPr>
              <a:spLocks noChangeArrowheads="1"/>
            </p:cNvSpPr>
            <p:nvPr/>
          </p:nvSpPr>
          <p:spPr bwMode="auto">
            <a:xfrm>
              <a:off x="407" y="1090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3879" name="Rectangle 87"/>
            <p:cNvSpPr>
              <a:spLocks noChangeArrowheads="1"/>
            </p:cNvSpPr>
            <p:nvPr/>
          </p:nvSpPr>
          <p:spPr bwMode="auto">
            <a:xfrm>
              <a:off x="407" y="1493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3880" name="Rectangle 88"/>
            <p:cNvSpPr>
              <a:spLocks noChangeArrowheads="1"/>
            </p:cNvSpPr>
            <p:nvPr/>
          </p:nvSpPr>
          <p:spPr bwMode="auto">
            <a:xfrm>
              <a:off x="407" y="2038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3881" name="Rectangle 89"/>
            <p:cNvSpPr>
              <a:spLocks noChangeArrowheads="1"/>
            </p:cNvSpPr>
            <p:nvPr/>
          </p:nvSpPr>
          <p:spPr bwMode="auto">
            <a:xfrm>
              <a:off x="407" y="2583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73882" name="Rectangle 90"/>
            <p:cNvSpPr>
              <a:spLocks noChangeArrowheads="1"/>
            </p:cNvSpPr>
            <p:nvPr/>
          </p:nvSpPr>
          <p:spPr bwMode="auto">
            <a:xfrm>
              <a:off x="407" y="3320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73883" name="Text Box 91"/>
          <p:cNvSpPr txBox="1">
            <a:spLocks noChangeArrowheads="1"/>
          </p:cNvSpPr>
          <p:nvPr/>
        </p:nvSpPr>
        <p:spPr bwMode="auto">
          <a:xfrm>
            <a:off x="76200" y="474821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73884" name="Text Box 92"/>
          <p:cNvSpPr txBox="1">
            <a:spLocks noChangeArrowheads="1"/>
          </p:cNvSpPr>
          <p:nvPr/>
        </p:nvSpPr>
        <p:spPr bwMode="auto">
          <a:xfrm>
            <a:off x="76200" y="58054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73885" name="Text Box 93"/>
          <p:cNvSpPr txBox="1">
            <a:spLocks noChangeArrowheads="1"/>
          </p:cNvSpPr>
          <p:nvPr/>
        </p:nvSpPr>
        <p:spPr bwMode="auto">
          <a:xfrm>
            <a:off x="76200" y="15160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73886" name="Text Box 94"/>
          <p:cNvSpPr txBox="1">
            <a:spLocks noChangeArrowheads="1"/>
          </p:cNvSpPr>
          <p:nvPr/>
        </p:nvSpPr>
        <p:spPr bwMode="auto">
          <a:xfrm>
            <a:off x="76200" y="206851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73887" name="Text Box 95"/>
          <p:cNvSpPr txBox="1">
            <a:spLocks noChangeArrowheads="1"/>
          </p:cNvSpPr>
          <p:nvPr/>
        </p:nvSpPr>
        <p:spPr bwMode="auto">
          <a:xfrm>
            <a:off x="76200" y="28368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73888" name="Text Box 96"/>
          <p:cNvSpPr txBox="1">
            <a:spLocks noChangeArrowheads="1"/>
          </p:cNvSpPr>
          <p:nvPr/>
        </p:nvSpPr>
        <p:spPr bwMode="auto">
          <a:xfrm>
            <a:off x="76200" y="36750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73889" name="Oval 97"/>
          <p:cNvSpPr>
            <a:spLocks noChangeArrowheads="1"/>
          </p:cNvSpPr>
          <p:nvPr/>
        </p:nvSpPr>
        <p:spPr bwMode="auto">
          <a:xfrm>
            <a:off x="1117600" y="36274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890" name="Oval 98"/>
          <p:cNvSpPr>
            <a:spLocks noChangeArrowheads="1"/>
          </p:cNvSpPr>
          <p:nvPr/>
        </p:nvSpPr>
        <p:spPr bwMode="auto">
          <a:xfrm>
            <a:off x="1117600" y="38592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891" name="Oval 99"/>
          <p:cNvSpPr>
            <a:spLocks noChangeArrowheads="1"/>
          </p:cNvSpPr>
          <p:nvPr/>
        </p:nvSpPr>
        <p:spPr bwMode="auto">
          <a:xfrm>
            <a:off x="1117600" y="449262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92" name="Oval 100"/>
          <p:cNvSpPr>
            <a:spLocks noChangeArrowheads="1"/>
          </p:cNvSpPr>
          <p:nvPr/>
        </p:nvSpPr>
        <p:spPr bwMode="auto">
          <a:xfrm>
            <a:off x="1117600" y="47244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93" name="Oval 101"/>
          <p:cNvSpPr>
            <a:spLocks noChangeArrowheads="1"/>
          </p:cNvSpPr>
          <p:nvPr/>
        </p:nvSpPr>
        <p:spPr bwMode="auto">
          <a:xfrm>
            <a:off x="1117600" y="49561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94" name="Oval 102"/>
          <p:cNvSpPr>
            <a:spLocks noChangeArrowheads="1"/>
          </p:cNvSpPr>
          <p:nvPr/>
        </p:nvSpPr>
        <p:spPr bwMode="auto">
          <a:xfrm>
            <a:off x="1117600" y="51863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895" name="Oval 103"/>
          <p:cNvSpPr>
            <a:spLocks noChangeArrowheads="1"/>
          </p:cNvSpPr>
          <p:nvPr/>
        </p:nvSpPr>
        <p:spPr bwMode="auto">
          <a:xfrm>
            <a:off x="1117600" y="56467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96" name="Oval 104"/>
          <p:cNvSpPr>
            <a:spLocks noChangeArrowheads="1"/>
          </p:cNvSpPr>
          <p:nvPr/>
        </p:nvSpPr>
        <p:spPr bwMode="auto">
          <a:xfrm>
            <a:off x="1117600" y="58785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97" name="Oval 105"/>
          <p:cNvSpPr>
            <a:spLocks noChangeArrowheads="1"/>
          </p:cNvSpPr>
          <p:nvPr/>
        </p:nvSpPr>
        <p:spPr bwMode="auto">
          <a:xfrm>
            <a:off x="1117600" y="611028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898" name="Oval 106"/>
          <p:cNvSpPr>
            <a:spLocks noChangeArrowheads="1"/>
          </p:cNvSpPr>
          <p:nvPr/>
        </p:nvSpPr>
        <p:spPr bwMode="auto">
          <a:xfrm>
            <a:off x="1117600" y="63420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903" name="Oval 111"/>
          <p:cNvSpPr>
            <a:spLocks noChangeArrowheads="1"/>
          </p:cNvSpPr>
          <p:nvPr/>
        </p:nvSpPr>
        <p:spPr bwMode="auto">
          <a:xfrm>
            <a:off x="1117600" y="276225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04" name="Oval 112"/>
          <p:cNvSpPr>
            <a:spLocks noChangeArrowheads="1"/>
          </p:cNvSpPr>
          <p:nvPr/>
        </p:nvSpPr>
        <p:spPr bwMode="auto">
          <a:xfrm>
            <a:off x="1117600" y="29924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05" name="Oval 113"/>
          <p:cNvSpPr>
            <a:spLocks noChangeArrowheads="1"/>
          </p:cNvSpPr>
          <p:nvPr/>
        </p:nvSpPr>
        <p:spPr bwMode="auto">
          <a:xfrm>
            <a:off x="1117600" y="32242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06" name="Oval 114"/>
          <p:cNvSpPr>
            <a:spLocks noChangeArrowheads="1"/>
          </p:cNvSpPr>
          <p:nvPr/>
        </p:nvSpPr>
        <p:spPr bwMode="auto">
          <a:xfrm>
            <a:off x="1117600" y="40894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907" name="Oval 115"/>
          <p:cNvSpPr>
            <a:spLocks noChangeArrowheads="1"/>
          </p:cNvSpPr>
          <p:nvPr/>
        </p:nvSpPr>
        <p:spPr bwMode="auto">
          <a:xfrm>
            <a:off x="1462088" y="362743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908" name="Oval 116"/>
          <p:cNvSpPr>
            <a:spLocks noChangeArrowheads="1"/>
          </p:cNvSpPr>
          <p:nvPr/>
        </p:nvSpPr>
        <p:spPr bwMode="auto">
          <a:xfrm>
            <a:off x="1462088" y="38592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3909" name="Oval 117"/>
          <p:cNvSpPr>
            <a:spLocks noChangeArrowheads="1"/>
          </p:cNvSpPr>
          <p:nvPr/>
        </p:nvSpPr>
        <p:spPr bwMode="auto">
          <a:xfrm>
            <a:off x="1462088" y="449262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910" name="Oval 118"/>
          <p:cNvSpPr>
            <a:spLocks noChangeArrowheads="1"/>
          </p:cNvSpPr>
          <p:nvPr/>
        </p:nvSpPr>
        <p:spPr bwMode="auto">
          <a:xfrm>
            <a:off x="1462088" y="472440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911" name="Oval 119"/>
          <p:cNvSpPr>
            <a:spLocks noChangeArrowheads="1"/>
          </p:cNvSpPr>
          <p:nvPr/>
        </p:nvSpPr>
        <p:spPr bwMode="auto">
          <a:xfrm>
            <a:off x="1462088" y="4956175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912" name="Oval 120"/>
          <p:cNvSpPr>
            <a:spLocks noChangeArrowheads="1"/>
          </p:cNvSpPr>
          <p:nvPr/>
        </p:nvSpPr>
        <p:spPr bwMode="auto">
          <a:xfrm>
            <a:off x="1462088" y="518636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73913" name="Oval 121"/>
          <p:cNvSpPr>
            <a:spLocks noChangeArrowheads="1"/>
          </p:cNvSpPr>
          <p:nvPr/>
        </p:nvSpPr>
        <p:spPr bwMode="auto">
          <a:xfrm>
            <a:off x="1462088" y="564673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914" name="Oval 122"/>
          <p:cNvSpPr>
            <a:spLocks noChangeArrowheads="1"/>
          </p:cNvSpPr>
          <p:nvPr/>
        </p:nvSpPr>
        <p:spPr bwMode="auto">
          <a:xfrm>
            <a:off x="1462088" y="58785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915" name="Oval 123"/>
          <p:cNvSpPr>
            <a:spLocks noChangeArrowheads="1"/>
          </p:cNvSpPr>
          <p:nvPr/>
        </p:nvSpPr>
        <p:spPr bwMode="auto">
          <a:xfrm>
            <a:off x="1462088" y="611028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916" name="Oval 124"/>
          <p:cNvSpPr>
            <a:spLocks noChangeArrowheads="1"/>
          </p:cNvSpPr>
          <p:nvPr/>
        </p:nvSpPr>
        <p:spPr bwMode="auto">
          <a:xfrm>
            <a:off x="1462088" y="634206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73921" name="Oval 129"/>
          <p:cNvSpPr>
            <a:spLocks noChangeArrowheads="1"/>
          </p:cNvSpPr>
          <p:nvPr/>
        </p:nvSpPr>
        <p:spPr bwMode="auto">
          <a:xfrm>
            <a:off x="1462088" y="276225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22" name="Oval 130"/>
          <p:cNvSpPr>
            <a:spLocks noChangeArrowheads="1"/>
          </p:cNvSpPr>
          <p:nvPr/>
        </p:nvSpPr>
        <p:spPr bwMode="auto">
          <a:xfrm>
            <a:off x="1462088" y="2992438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23" name="Oval 131"/>
          <p:cNvSpPr>
            <a:spLocks noChangeArrowheads="1"/>
          </p:cNvSpPr>
          <p:nvPr/>
        </p:nvSpPr>
        <p:spPr bwMode="auto">
          <a:xfrm>
            <a:off x="1462088" y="3224213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73924" name="Oval 132"/>
          <p:cNvSpPr>
            <a:spLocks noChangeArrowheads="1"/>
          </p:cNvSpPr>
          <p:nvPr/>
        </p:nvSpPr>
        <p:spPr bwMode="auto">
          <a:xfrm>
            <a:off x="1462088" y="4089400"/>
            <a:ext cx="184150" cy="184150"/>
          </a:xfrm>
          <a:prstGeom prst="ellipse">
            <a:avLst/>
          </a:prstGeom>
          <a:solidFill>
            <a:srgbClr val="00CC66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74121" name="Text Box 329"/>
          <p:cNvSpPr txBox="1">
            <a:spLocks noChangeArrowheads="1"/>
          </p:cNvSpPr>
          <p:nvPr/>
        </p:nvSpPr>
        <p:spPr bwMode="auto">
          <a:xfrm>
            <a:off x="646113" y="1016000"/>
            <a:ext cx="1062037" cy="314325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>
            <a:outerShdw dist="63500" dir="2212194" algn="ctr" rotWithShape="0">
              <a:srgbClr val="336699"/>
            </a:outerShdw>
          </a:effectLst>
        </p:spPr>
        <p:txBody>
          <a:bodyPr anchor="ctr">
            <a:spAutoFit/>
          </a:bodyPr>
          <a:lstStyle/>
          <a:p>
            <a:pPr eaLnBrk="0" hangingPunct="0"/>
            <a:r>
              <a:rPr lang="fr-FR" altLang="fr-FR" sz="1400"/>
              <a:t>Réserve</a:t>
            </a:r>
          </a:p>
        </p:txBody>
      </p:sp>
      <p:sp>
        <p:nvSpPr>
          <p:cNvPr id="674122" name="AutoShape 330"/>
          <p:cNvSpPr>
            <a:spLocks noChangeArrowheads="1"/>
          </p:cNvSpPr>
          <p:nvPr/>
        </p:nvSpPr>
        <p:spPr bwMode="auto">
          <a:xfrm>
            <a:off x="4481513" y="6583363"/>
            <a:ext cx="527050" cy="246062"/>
          </a:xfrm>
          <a:prstGeom prst="downArrowCallout">
            <a:avLst>
              <a:gd name="adj1" fmla="val 53548"/>
              <a:gd name="adj2" fmla="val 53548"/>
              <a:gd name="adj3" fmla="val 16667"/>
              <a:gd name="adj4" fmla="val 66667"/>
            </a:avLst>
          </a:prstGeom>
          <a:solidFill>
            <a:srgbClr val="FFFF99"/>
          </a:solidFill>
          <a:ln w="6350" algn="ctr">
            <a:solidFill>
              <a:schemeClr val="tx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fr-FR"/>
          </a:p>
        </p:txBody>
      </p:sp>
      <p:pic>
        <p:nvPicPr>
          <p:cNvPr id="674123" name="Picture 331">
            <a:hlinkClick r:id="rId3" action="ppaction://hlinksldjump"/>
          </p:cNvPr>
          <p:cNvPicPr>
            <a:picLocks noChangeAspect="1" noChangeArrowheads="1"/>
          </p:cNvPicPr>
          <p:nvPr/>
        </p:nvPicPr>
        <p:blipFill>
          <a:blip r:embed="rId4">
            <a:lum bright="-6000" contrast="2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" t="95439" r="95325" b="275"/>
          <a:stretch>
            <a:fillRect/>
          </a:stretch>
        </p:blipFill>
        <p:spPr bwMode="auto">
          <a:xfrm>
            <a:off x="8380413" y="6070600"/>
            <a:ext cx="712787" cy="566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4191" name="Group 399"/>
          <p:cNvGrpSpPr>
            <a:grpSpLocks/>
          </p:cNvGrpSpPr>
          <p:nvPr/>
        </p:nvGrpSpPr>
        <p:grpSpPr bwMode="auto">
          <a:xfrm>
            <a:off x="2400300" y="438150"/>
            <a:ext cx="3082925" cy="4170363"/>
            <a:chOff x="1512" y="264"/>
            <a:chExt cx="1942" cy="2627"/>
          </a:xfrm>
        </p:grpSpPr>
        <p:sp>
          <p:nvSpPr>
            <p:cNvPr id="674120" name="AutoShape 328"/>
            <p:cNvSpPr>
              <a:spLocks/>
            </p:cNvSpPr>
            <p:nvPr/>
          </p:nvSpPr>
          <p:spPr bwMode="auto">
            <a:xfrm>
              <a:off x="2104" y="264"/>
              <a:ext cx="1350" cy="656"/>
            </a:xfrm>
            <a:prstGeom prst="borderCallout2">
              <a:avLst>
                <a:gd name="adj1" fmla="val 10977"/>
                <a:gd name="adj2" fmla="val -3556"/>
                <a:gd name="adj3" fmla="val 10977"/>
                <a:gd name="adj4" fmla="val -16074"/>
                <a:gd name="adj5" fmla="val 239329"/>
                <a:gd name="adj6" fmla="val -28889"/>
              </a:avLst>
            </a:prstGeom>
            <a:solidFill>
              <a:srgbClr val="FFFF99"/>
            </a:solidFill>
            <a:ln w="6350" algn="ctr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fr-FR" altLang="fr-FR"/>
                <a:t>L’animateur déplace  les points 1 depuis la réserve vers les postes choisis par les équipes en semaine 1.</a:t>
              </a:r>
            </a:p>
          </p:txBody>
        </p:sp>
        <p:sp>
          <p:nvSpPr>
            <p:cNvPr id="674124" name="Oval 332"/>
            <p:cNvSpPr>
              <a:spLocks noChangeArrowheads="1"/>
            </p:cNvSpPr>
            <p:nvPr/>
          </p:nvSpPr>
          <p:spPr bwMode="auto">
            <a:xfrm>
              <a:off x="1512" y="2775"/>
              <a:ext cx="116" cy="116"/>
            </a:xfrm>
            <a:prstGeom prst="ellipse">
              <a:avLst/>
            </a:prstGeom>
            <a:solidFill>
              <a:schemeClr val="accent2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4125" name="Oval 333"/>
            <p:cNvSpPr>
              <a:spLocks noChangeArrowheads="1"/>
            </p:cNvSpPr>
            <p:nvPr/>
          </p:nvSpPr>
          <p:spPr bwMode="auto">
            <a:xfrm>
              <a:off x="1512" y="2624"/>
              <a:ext cx="116" cy="116"/>
            </a:xfrm>
            <a:prstGeom prst="ellipse">
              <a:avLst/>
            </a:prstGeom>
            <a:solidFill>
              <a:schemeClr val="accent2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4126" name="Oval 334"/>
            <p:cNvSpPr>
              <a:spLocks noChangeArrowheads="1"/>
            </p:cNvSpPr>
            <p:nvPr/>
          </p:nvSpPr>
          <p:spPr bwMode="auto">
            <a:xfrm>
              <a:off x="2423" y="1849"/>
              <a:ext cx="116" cy="116"/>
            </a:xfrm>
            <a:prstGeom prst="ellipse">
              <a:avLst/>
            </a:prstGeom>
            <a:solidFill>
              <a:srgbClr val="FC2C1C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4127" name="Oval 335"/>
            <p:cNvSpPr>
              <a:spLocks noChangeArrowheads="1"/>
            </p:cNvSpPr>
            <p:nvPr/>
          </p:nvSpPr>
          <p:spPr bwMode="auto">
            <a:xfrm>
              <a:off x="1655" y="1839"/>
              <a:ext cx="116" cy="116"/>
            </a:xfrm>
            <a:prstGeom prst="ellipse">
              <a:avLst/>
            </a:prstGeom>
            <a:solidFill>
              <a:srgbClr val="FC2C1C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4130" name="Oval 338"/>
            <p:cNvSpPr>
              <a:spLocks noChangeArrowheads="1"/>
            </p:cNvSpPr>
            <p:nvPr/>
          </p:nvSpPr>
          <p:spPr bwMode="auto">
            <a:xfrm>
              <a:off x="2599" y="1836"/>
              <a:ext cx="116" cy="116"/>
            </a:xfrm>
            <a:prstGeom prst="ellipse">
              <a:avLst/>
            </a:prstGeom>
            <a:solidFill>
              <a:srgbClr val="00CC66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674131" name="Oval 339"/>
            <p:cNvSpPr>
              <a:spLocks noChangeArrowheads="1"/>
            </p:cNvSpPr>
            <p:nvPr/>
          </p:nvSpPr>
          <p:spPr bwMode="auto">
            <a:xfrm>
              <a:off x="2594" y="1666"/>
              <a:ext cx="116" cy="116"/>
            </a:xfrm>
            <a:prstGeom prst="ellipse">
              <a:avLst/>
            </a:prstGeom>
            <a:solidFill>
              <a:srgbClr val="00CC66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674190" name="Group 398"/>
          <p:cNvGrpSpPr>
            <a:grpSpLocks/>
          </p:cNvGrpSpPr>
          <p:nvPr/>
        </p:nvGrpSpPr>
        <p:grpSpPr bwMode="auto">
          <a:xfrm>
            <a:off x="2663825" y="2954338"/>
            <a:ext cx="5387975" cy="2859087"/>
            <a:chOff x="1678" y="1849"/>
            <a:chExt cx="3394" cy="1801"/>
          </a:xfrm>
        </p:grpSpPr>
        <p:sp>
          <p:nvSpPr>
            <p:cNvPr id="674128" name="Oval 336"/>
            <p:cNvSpPr>
              <a:spLocks noChangeArrowheads="1"/>
            </p:cNvSpPr>
            <p:nvPr/>
          </p:nvSpPr>
          <p:spPr bwMode="auto">
            <a:xfrm>
              <a:off x="1678" y="2623"/>
              <a:ext cx="116" cy="116"/>
            </a:xfrm>
            <a:prstGeom prst="ellipse">
              <a:avLst/>
            </a:prstGeom>
            <a:solidFill>
              <a:srgbClr val="FC2C1C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4129" name="Oval 337"/>
            <p:cNvSpPr>
              <a:spLocks noChangeArrowheads="1"/>
            </p:cNvSpPr>
            <p:nvPr/>
          </p:nvSpPr>
          <p:spPr bwMode="auto">
            <a:xfrm>
              <a:off x="1678" y="2775"/>
              <a:ext cx="116" cy="116"/>
            </a:xfrm>
            <a:prstGeom prst="ellipse">
              <a:avLst/>
            </a:prstGeom>
            <a:solidFill>
              <a:srgbClr val="FC2C1C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4132" name="Oval 340"/>
            <p:cNvSpPr>
              <a:spLocks noChangeArrowheads="1"/>
            </p:cNvSpPr>
            <p:nvPr/>
          </p:nvSpPr>
          <p:spPr bwMode="auto">
            <a:xfrm>
              <a:off x="3458" y="1849"/>
              <a:ext cx="116" cy="116"/>
            </a:xfrm>
            <a:prstGeom prst="ellipse">
              <a:avLst/>
            </a:prstGeom>
            <a:solidFill>
              <a:srgbClr val="00CC66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4133" name="Oval 341"/>
            <p:cNvSpPr>
              <a:spLocks noChangeArrowheads="1"/>
            </p:cNvSpPr>
            <p:nvPr/>
          </p:nvSpPr>
          <p:spPr bwMode="auto">
            <a:xfrm>
              <a:off x="2469" y="2781"/>
              <a:ext cx="116" cy="116"/>
            </a:xfrm>
            <a:prstGeom prst="ellipse">
              <a:avLst/>
            </a:prstGeom>
            <a:solidFill>
              <a:srgbClr val="00CC66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4187" name="AutoShape 395"/>
            <p:cNvSpPr>
              <a:spLocks/>
            </p:cNvSpPr>
            <p:nvPr/>
          </p:nvSpPr>
          <p:spPr bwMode="auto">
            <a:xfrm>
              <a:off x="2446" y="3396"/>
              <a:ext cx="870" cy="254"/>
            </a:xfrm>
            <a:prstGeom prst="borderCallout2">
              <a:avLst>
                <a:gd name="adj1" fmla="val 28347"/>
                <a:gd name="adj2" fmla="val -5519"/>
                <a:gd name="adj3" fmla="val 28347"/>
                <a:gd name="adj4" fmla="val -37588"/>
                <a:gd name="adj5" fmla="val -218111"/>
                <a:gd name="adj6" fmla="val -70343"/>
              </a:avLst>
            </a:prstGeom>
            <a:solidFill>
              <a:srgbClr val="FFFF99"/>
            </a:solidFill>
            <a:ln w="6350" algn="ctr">
              <a:solidFill>
                <a:srgbClr val="000000"/>
              </a:solidFill>
              <a:miter lim="800000"/>
              <a:headEnd/>
              <a:tailEnd type="triangl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r>
                <a:rPr lang="fr-FR" altLang="fr-FR"/>
                <a:t>Idem en semaine 2.</a:t>
              </a:r>
            </a:p>
          </p:txBody>
        </p:sp>
        <p:sp>
          <p:nvSpPr>
            <p:cNvPr id="674188" name="Oval 396"/>
            <p:cNvSpPr>
              <a:spLocks noChangeArrowheads="1"/>
            </p:cNvSpPr>
            <p:nvPr/>
          </p:nvSpPr>
          <p:spPr bwMode="auto">
            <a:xfrm>
              <a:off x="4956" y="2679"/>
              <a:ext cx="116" cy="116"/>
            </a:xfrm>
            <a:prstGeom prst="ellipse">
              <a:avLst/>
            </a:prstGeom>
            <a:solidFill>
              <a:schemeClr val="accent2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674189" name="Oval 397"/>
            <p:cNvSpPr>
              <a:spLocks noChangeArrowheads="1"/>
            </p:cNvSpPr>
            <p:nvPr/>
          </p:nvSpPr>
          <p:spPr bwMode="auto">
            <a:xfrm>
              <a:off x="4938" y="2324"/>
              <a:ext cx="116" cy="116"/>
            </a:xfrm>
            <a:prstGeom prst="ellipse">
              <a:avLst/>
            </a:prstGeom>
            <a:solidFill>
              <a:schemeClr val="accent2"/>
            </a:solidFill>
            <a:ln w="6350" algn="ctr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r>
                <a:rPr lang="fr-FR" altLang="fr-FR" sz="1200" b="1">
                  <a:solidFill>
                    <a:schemeClr val="bg1"/>
                  </a:solidFill>
                </a:rPr>
                <a:t>2</a:t>
              </a:r>
            </a:p>
          </p:txBody>
        </p:sp>
      </p:grpSp>
      <p:pic>
        <p:nvPicPr>
          <p:cNvPr id="78" name="Picture 2" descr="C:\Users\BertrandS\Dropbox\Jeux\00. CONCEPTION DES JEUX\photos\Bureau Une Femme 29\iStock_000002139332_Medium ALLEGE.jpg"/>
          <p:cNvPicPr>
            <a:picLocks noChangeAspect="1" noChangeArrowheads="1"/>
          </p:cNvPicPr>
          <p:nvPr/>
        </p:nvPicPr>
        <p:blipFill rotWithShape="1"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75"/>
          <a:stretch/>
        </p:blipFill>
        <p:spPr bwMode="auto">
          <a:xfrm>
            <a:off x="8248783" y="45838"/>
            <a:ext cx="815481" cy="947302"/>
          </a:xfrm>
          <a:prstGeom prst="rect">
            <a:avLst/>
          </a:prstGeom>
          <a:solidFill>
            <a:schemeClr val="bg1"/>
          </a:solidFill>
          <a:ln w="12700">
            <a:solidFill>
              <a:srgbClr val="27A8E0"/>
            </a:solidFill>
          </a:ln>
          <a:effectLst>
            <a:outerShdw blurRad="25400" dist="50800" dir="2700000" algn="ctr" rotWithShape="0">
              <a:srgbClr val="27A8E0"/>
            </a:outerShdw>
          </a:effectLst>
          <a:ex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1912938" y="47625"/>
            <a:ext cx="5024437" cy="460375"/>
          </a:xfrm>
          <a:noFill/>
          <a:ln/>
        </p:spPr>
        <p:txBody>
          <a:bodyPr/>
          <a:lstStyle/>
          <a:p>
            <a:pPr algn="l">
              <a:lnSpc>
                <a:spcPct val="110000"/>
              </a:lnSpc>
            </a:pPr>
            <a:r>
              <a:rPr lang="fr-FR" altLang="fr-FR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Analyse des Progrès </a:t>
            </a:r>
            <a:r>
              <a:rPr lang="fr-FR" altLang="fr-FR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(2 équipes)</a:t>
            </a:r>
          </a:p>
        </p:txBody>
      </p:sp>
      <p:sp>
        <p:nvSpPr>
          <p:cNvPr id="697347" name="Oval 3"/>
          <p:cNvSpPr>
            <a:spLocks noChangeArrowheads="1"/>
          </p:cNvSpPr>
          <p:nvPr/>
        </p:nvSpPr>
        <p:spPr bwMode="auto">
          <a:xfrm>
            <a:off x="700088" y="34559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7348" name="Oval 4"/>
          <p:cNvSpPr>
            <a:spLocks noChangeArrowheads="1"/>
          </p:cNvSpPr>
          <p:nvPr/>
        </p:nvSpPr>
        <p:spPr bwMode="auto">
          <a:xfrm>
            <a:off x="700088" y="36877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7349" name="Oval 5"/>
          <p:cNvSpPr>
            <a:spLocks noChangeArrowheads="1"/>
          </p:cNvSpPr>
          <p:nvPr/>
        </p:nvSpPr>
        <p:spPr bwMode="auto">
          <a:xfrm>
            <a:off x="700088" y="43211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50" name="Oval 6"/>
          <p:cNvSpPr>
            <a:spLocks noChangeArrowheads="1"/>
          </p:cNvSpPr>
          <p:nvPr/>
        </p:nvSpPr>
        <p:spPr bwMode="auto">
          <a:xfrm>
            <a:off x="700088" y="45529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51" name="Oval 7"/>
          <p:cNvSpPr>
            <a:spLocks noChangeArrowheads="1"/>
          </p:cNvSpPr>
          <p:nvPr/>
        </p:nvSpPr>
        <p:spPr bwMode="auto">
          <a:xfrm>
            <a:off x="700088" y="478472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52" name="Oval 8"/>
          <p:cNvSpPr>
            <a:spLocks noChangeArrowheads="1"/>
          </p:cNvSpPr>
          <p:nvPr/>
        </p:nvSpPr>
        <p:spPr bwMode="auto">
          <a:xfrm>
            <a:off x="700088" y="50149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53" name="Oval 9"/>
          <p:cNvSpPr>
            <a:spLocks noChangeArrowheads="1"/>
          </p:cNvSpPr>
          <p:nvPr/>
        </p:nvSpPr>
        <p:spPr bwMode="auto">
          <a:xfrm>
            <a:off x="700088" y="54752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54" name="Oval 10"/>
          <p:cNvSpPr>
            <a:spLocks noChangeArrowheads="1"/>
          </p:cNvSpPr>
          <p:nvPr/>
        </p:nvSpPr>
        <p:spPr bwMode="auto">
          <a:xfrm>
            <a:off x="700088" y="57070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55" name="Oval 11"/>
          <p:cNvSpPr>
            <a:spLocks noChangeArrowheads="1"/>
          </p:cNvSpPr>
          <p:nvPr/>
        </p:nvSpPr>
        <p:spPr bwMode="auto">
          <a:xfrm>
            <a:off x="700088" y="593883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56" name="Oval 12"/>
          <p:cNvSpPr>
            <a:spLocks noChangeArrowheads="1"/>
          </p:cNvSpPr>
          <p:nvPr/>
        </p:nvSpPr>
        <p:spPr bwMode="auto">
          <a:xfrm>
            <a:off x="700088" y="617061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57" name="Oval 13"/>
          <p:cNvSpPr>
            <a:spLocks noChangeArrowheads="1"/>
          </p:cNvSpPr>
          <p:nvPr/>
        </p:nvSpPr>
        <p:spPr bwMode="auto">
          <a:xfrm>
            <a:off x="690563" y="15430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7358" name="Oval 14"/>
          <p:cNvSpPr>
            <a:spLocks noChangeArrowheads="1"/>
          </p:cNvSpPr>
          <p:nvPr/>
        </p:nvSpPr>
        <p:spPr bwMode="auto">
          <a:xfrm>
            <a:off x="700088" y="13128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7359" name="Oval 15"/>
          <p:cNvSpPr>
            <a:spLocks noChangeArrowheads="1"/>
          </p:cNvSpPr>
          <p:nvPr/>
        </p:nvSpPr>
        <p:spPr bwMode="auto">
          <a:xfrm>
            <a:off x="700088" y="2187575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97360" name="Oval 16"/>
          <p:cNvSpPr>
            <a:spLocks noChangeArrowheads="1"/>
          </p:cNvSpPr>
          <p:nvPr/>
        </p:nvSpPr>
        <p:spPr bwMode="auto">
          <a:xfrm>
            <a:off x="700088" y="195580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97361" name="Oval 17"/>
          <p:cNvSpPr>
            <a:spLocks noChangeArrowheads="1"/>
          </p:cNvSpPr>
          <p:nvPr/>
        </p:nvSpPr>
        <p:spPr bwMode="auto">
          <a:xfrm>
            <a:off x="700088" y="259080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62" name="Oval 18"/>
          <p:cNvSpPr>
            <a:spLocks noChangeArrowheads="1"/>
          </p:cNvSpPr>
          <p:nvPr/>
        </p:nvSpPr>
        <p:spPr bwMode="auto">
          <a:xfrm>
            <a:off x="700088" y="2820988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63" name="Oval 19"/>
          <p:cNvSpPr>
            <a:spLocks noChangeArrowheads="1"/>
          </p:cNvSpPr>
          <p:nvPr/>
        </p:nvSpPr>
        <p:spPr bwMode="auto">
          <a:xfrm>
            <a:off x="703263" y="3078163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64" name="Oval 20"/>
          <p:cNvSpPr>
            <a:spLocks noChangeArrowheads="1"/>
          </p:cNvSpPr>
          <p:nvPr/>
        </p:nvSpPr>
        <p:spPr bwMode="auto">
          <a:xfrm>
            <a:off x="700088" y="3917950"/>
            <a:ext cx="184150" cy="184150"/>
          </a:xfrm>
          <a:prstGeom prst="ellipse">
            <a:avLst/>
          </a:prstGeom>
          <a:solidFill>
            <a:schemeClr val="accent2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grpSp>
        <p:nvGrpSpPr>
          <p:cNvPr id="697365" name="Group 21"/>
          <p:cNvGrpSpPr>
            <a:grpSpLocks/>
          </p:cNvGrpSpPr>
          <p:nvPr/>
        </p:nvGrpSpPr>
        <p:grpSpPr bwMode="auto">
          <a:xfrm>
            <a:off x="601663" y="1216025"/>
            <a:ext cx="1052512" cy="5200650"/>
            <a:chOff x="407" y="682"/>
            <a:chExt cx="310" cy="3276"/>
          </a:xfrm>
        </p:grpSpPr>
        <p:sp>
          <p:nvSpPr>
            <p:cNvPr id="697366" name="Rectangle 22"/>
            <p:cNvSpPr>
              <a:spLocks noChangeArrowheads="1"/>
            </p:cNvSpPr>
            <p:nvPr/>
          </p:nvSpPr>
          <p:spPr bwMode="auto">
            <a:xfrm>
              <a:off x="407" y="682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7367" name="Rectangle 23"/>
            <p:cNvSpPr>
              <a:spLocks noChangeArrowheads="1"/>
            </p:cNvSpPr>
            <p:nvPr/>
          </p:nvSpPr>
          <p:spPr bwMode="auto">
            <a:xfrm>
              <a:off x="407" y="1090"/>
              <a:ext cx="310" cy="352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7368" name="Rectangle 24"/>
            <p:cNvSpPr>
              <a:spLocks noChangeArrowheads="1"/>
            </p:cNvSpPr>
            <p:nvPr/>
          </p:nvSpPr>
          <p:spPr bwMode="auto">
            <a:xfrm>
              <a:off x="407" y="1493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7369" name="Rectangle 25"/>
            <p:cNvSpPr>
              <a:spLocks noChangeArrowheads="1"/>
            </p:cNvSpPr>
            <p:nvPr/>
          </p:nvSpPr>
          <p:spPr bwMode="auto">
            <a:xfrm>
              <a:off x="407" y="2038"/>
              <a:ext cx="310" cy="483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7370" name="Rectangle 26"/>
            <p:cNvSpPr>
              <a:spLocks noChangeArrowheads="1"/>
            </p:cNvSpPr>
            <p:nvPr/>
          </p:nvSpPr>
          <p:spPr bwMode="auto">
            <a:xfrm>
              <a:off x="407" y="2583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  <p:sp>
          <p:nvSpPr>
            <p:cNvPr id="697371" name="Rectangle 27"/>
            <p:cNvSpPr>
              <a:spLocks noChangeArrowheads="1"/>
            </p:cNvSpPr>
            <p:nvPr/>
          </p:nvSpPr>
          <p:spPr bwMode="auto">
            <a:xfrm>
              <a:off x="407" y="3320"/>
              <a:ext cx="310" cy="638"/>
            </a:xfrm>
            <a:prstGeom prst="rect">
              <a:avLst/>
            </a:prstGeom>
            <a:noFill/>
            <a:ln w="6350" algn="ctr">
              <a:solidFill>
                <a:schemeClr val="fol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fr-FR"/>
            </a:p>
          </p:txBody>
        </p:sp>
      </p:grpSp>
      <p:sp>
        <p:nvSpPr>
          <p:cNvPr id="697372" name="Text Box 28"/>
          <p:cNvSpPr txBox="1">
            <a:spLocks noChangeArrowheads="1"/>
          </p:cNvSpPr>
          <p:nvPr/>
        </p:nvSpPr>
        <p:spPr bwMode="auto">
          <a:xfrm>
            <a:off x="57150" y="44338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97373" name="Text Box 29"/>
          <p:cNvSpPr txBox="1">
            <a:spLocks noChangeArrowheads="1"/>
          </p:cNvSpPr>
          <p:nvPr/>
        </p:nvSpPr>
        <p:spPr bwMode="auto">
          <a:xfrm>
            <a:off x="57150" y="5491163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4</a:t>
            </a:r>
          </a:p>
        </p:txBody>
      </p:sp>
      <p:sp>
        <p:nvSpPr>
          <p:cNvPr id="697374" name="Text Box 30"/>
          <p:cNvSpPr txBox="1">
            <a:spLocks noChangeArrowheads="1"/>
          </p:cNvSpPr>
          <p:nvPr/>
        </p:nvSpPr>
        <p:spPr bwMode="auto">
          <a:xfrm>
            <a:off x="57150" y="12017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97375" name="Text Box 31"/>
          <p:cNvSpPr txBox="1">
            <a:spLocks noChangeArrowheads="1"/>
          </p:cNvSpPr>
          <p:nvPr/>
        </p:nvSpPr>
        <p:spPr bwMode="auto">
          <a:xfrm>
            <a:off x="57150" y="175418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2</a:t>
            </a:r>
          </a:p>
        </p:txBody>
      </p:sp>
      <p:sp>
        <p:nvSpPr>
          <p:cNvPr id="697376" name="Text Box 32"/>
          <p:cNvSpPr txBox="1">
            <a:spLocks noChangeArrowheads="1"/>
          </p:cNvSpPr>
          <p:nvPr/>
        </p:nvSpPr>
        <p:spPr bwMode="auto">
          <a:xfrm>
            <a:off x="57150" y="25225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début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97377" name="Text Box 33"/>
          <p:cNvSpPr txBox="1">
            <a:spLocks noChangeArrowheads="1"/>
          </p:cNvSpPr>
          <p:nvPr/>
        </p:nvSpPr>
        <p:spPr bwMode="auto">
          <a:xfrm>
            <a:off x="57150" y="3360738"/>
            <a:ext cx="49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18000" rIns="18000">
            <a:spAutoFit/>
          </a:bodyPr>
          <a:lstStyle/>
          <a:p>
            <a:pPr algn="r"/>
            <a:r>
              <a:rPr lang="fr-FR" altLang="fr-FR" sz="1200"/>
              <a:t>milieu</a:t>
            </a:r>
            <a:br>
              <a:rPr lang="fr-FR" altLang="fr-FR" sz="1200"/>
            </a:br>
            <a:r>
              <a:rPr lang="fr-FR" altLang="fr-FR" sz="1200"/>
              <a:t>sem. 3</a:t>
            </a:r>
          </a:p>
        </p:txBody>
      </p:sp>
      <p:sp>
        <p:nvSpPr>
          <p:cNvPr id="697378" name="Oval 34"/>
          <p:cNvSpPr>
            <a:spLocks noChangeArrowheads="1"/>
          </p:cNvSpPr>
          <p:nvPr/>
        </p:nvSpPr>
        <p:spPr bwMode="auto">
          <a:xfrm>
            <a:off x="1012825" y="34655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7379" name="Oval 35"/>
          <p:cNvSpPr>
            <a:spLocks noChangeArrowheads="1"/>
          </p:cNvSpPr>
          <p:nvPr/>
        </p:nvSpPr>
        <p:spPr bwMode="auto">
          <a:xfrm>
            <a:off x="1012825" y="369728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697380" name="Oval 36"/>
          <p:cNvSpPr>
            <a:spLocks noChangeArrowheads="1"/>
          </p:cNvSpPr>
          <p:nvPr/>
        </p:nvSpPr>
        <p:spPr bwMode="auto">
          <a:xfrm>
            <a:off x="1012825" y="43307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81" name="Oval 37"/>
          <p:cNvSpPr>
            <a:spLocks noChangeArrowheads="1"/>
          </p:cNvSpPr>
          <p:nvPr/>
        </p:nvSpPr>
        <p:spPr bwMode="auto">
          <a:xfrm>
            <a:off x="1012825" y="45624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82" name="Oval 38"/>
          <p:cNvSpPr>
            <a:spLocks noChangeArrowheads="1"/>
          </p:cNvSpPr>
          <p:nvPr/>
        </p:nvSpPr>
        <p:spPr bwMode="auto">
          <a:xfrm>
            <a:off x="1012825" y="479425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83" name="Oval 39"/>
          <p:cNvSpPr>
            <a:spLocks noChangeArrowheads="1"/>
          </p:cNvSpPr>
          <p:nvPr/>
        </p:nvSpPr>
        <p:spPr bwMode="auto">
          <a:xfrm>
            <a:off x="1012825" y="50244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697384" name="Oval 40"/>
          <p:cNvSpPr>
            <a:spLocks noChangeArrowheads="1"/>
          </p:cNvSpPr>
          <p:nvPr/>
        </p:nvSpPr>
        <p:spPr bwMode="auto">
          <a:xfrm>
            <a:off x="1012825" y="54848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85" name="Oval 41"/>
          <p:cNvSpPr>
            <a:spLocks noChangeArrowheads="1"/>
          </p:cNvSpPr>
          <p:nvPr/>
        </p:nvSpPr>
        <p:spPr bwMode="auto">
          <a:xfrm>
            <a:off x="1012825" y="571658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86" name="Oval 42"/>
          <p:cNvSpPr>
            <a:spLocks noChangeArrowheads="1"/>
          </p:cNvSpPr>
          <p:nvPr/>
        </p:nvSpPr>
        <p:spPr bwMode="auto">
          <a:xfrm>
            <a:off x="1012825" y="59483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87" name="Oval 43"/>
          <p:cNvSpPr>
            <a:spLocks noChangeArrowheads="1"/>
          </p:cNvSpPr>
          <p:nvPr/>
        </p:nvSpPr>
        <p:spPr bwMode="auto">
          <a:xfrm>
            <a:off x="1012825" y="6180138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697388" name="Oval 44"/>
          <p:cNvSpPr>
            <a:spLocks noChangeArrowheads="1"/>
          </p:cNvSpPr>
          <p:nvPr/>
        </p:nvSpPr>
        <p:spPr bwMode="auto">
          <a:xfrm>
            <a:off x="1012825" y="15525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7389" name="Oval 45"/>
          <p:cNvSpPr>
            <a:spLocks noChangeArrowheads="1"/>
          </p:cNvSpPr>
          <p:nvPr/>
        </p:nvSpPr>
        <p:spPr bwMode="auto">
          <a:xfrm>
            <a:off x="1012825" y="13128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697390" name="Oval 46"/>
          <p:cNvSpPr>
            <a:spLocks noChangeArrowheads="1"/>
          </p:cNvSpPr>
          <p:nvPr/>
        </p:nvSpPr>
        <p:spPr bwMode="auto">
          <a:xfrm>
            <a:off x="1012825" y="2197100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97391" name="Oval 47"/>
          <p:cNvSpPr>
            <a:spLocks noChangeArrowheads="1"/>
          </p:cNvSpPr>
          <p:nvPr/>
        </p:nvSpPr>
        <p:spPr bwMode="auto">
          <a:xfrm>
            <a:off x="1012825" y="196532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697392" name="Oval 48"/>
          <p:cNvSpPr>
            <a:spLocks noChangeArrowheads="1"/>
          </p:cNvSpPr>
          <p:nvPr/>
        </p:nvSpPr>
        <p:spPr bwMode="auto">
          <a:xfrm>
            <a:off x="1012825" y="260032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93" name="Oval 49"/>
          <p:cNvSpPr>
            <a:spLocks noChangeArrowheads="1"/>
          </p:cNvSpPr>
          <p:nvPr/>
        </p:nvSpPr>
        <p:spPr bwMode="auto">
          <a:xfrm>
            <a:off x="1012825" y="283051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94" name="Oval 50"/>
          <p:cNvSpPr>
            <a:spLocks noChangeArrowheads="1"/>
          </p:cNvSpPr>
          <p:nvPr/>
        </p:nvSpPr>
        <p:spPr bwMode="auto">
          <a:xfrm>
            <a:off x="1001713" y="3078163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697395" name="Oval 51"/>
          <p:cNvSpPr>
            <a:spLocks noChangeArrowheads="1"/>
          </p:cNvSpPr>
          <p:nvPr/>
        </p:nvSpPr>
        <p:spPr bwMode="auto">
          <a:xfrm>
            <a:off x="1012825" y="3927475"/>
            <a:ext cx="184150" cy="184150"/>
          </a:xfrm>
          <a:prstGeom prst="ellipse">
            <a:avLst/>
          </a:prstGeom>
          <a:solidFill>
            <a:srgbClr val="FC2C1C"/>
          </a:solidFill>
          <a:ln w="6350" algn="ctr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altLang="fr-FR" sz="1200" b="1">
                <a:solidFill>
                  <a:schemeClr val="bg1"/>
                </a:solidFill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97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697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697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697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697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697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97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697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697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697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697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697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697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697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97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697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697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697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697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697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5" dur="500"/>
                                        <p:tgtEl>
                                          <p:spTgt spid="697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697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697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4" dur="500"/>
                                        <p:tgtEl>
                                          <p:spTgt spid="697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697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0" dur="500"/>
                                        <p:tgtEl>
                                          <p:spTgt spid="697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500"/>
                                        <p:tgtEl>
                                          <p:spTgt spid="697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697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1" dur="500"/>
                                        <p:tgtEl>
                                          <p:spTgt spid="697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697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697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697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697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697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9" dur="500"/>
                                        <p:tgtEl>
                                          <p:spTgt spid="697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697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7" grpId="0" animBg="1"/>
      <p:bldP spid="697348" grpId="0" animBg="1"/>
      <p:bldP spid="697349" grpId="0" animBg="1"/>
      <p:bldP spid="697350" grpId="0" animBg="1"/>
      <p:bldP spid="697351" grpId="0" animBg="1"/>
      <p:bldP spid="697352" grpId="0" animBg="1"/>
      <p:bldP spid="697353" grpId="0" animBg="1"/>
      <p:bldP spid="697354" grpId="0" animBg="1"/>
      <p:bldP spid="697355" grpId="0" animBg="1"/>
      <p:bldP spid="697356" grpId="0" animBg="1"/>
      <p:bldP spid="697357" grpId="0" animBg="1"/>
      <p:bldP spid="697358" grpId="0" animBg="1"/>
      <p:bldP spid="697359" grpId="0" animBg="1"/>
      <p:bldP spid="697360" grpId="0" animBg="1"/>
      <p:bldP spid="697361" grpId="0" animBg="1"/>
      <p:bldP spid="697362" grpId="0" animBg="1"/>
      <p:bldP spid="697363" grpId="0" animBg="1"/>
      <p:bldP spid="697364" grpId="0" animBg="1"/>
      <p:bldP spid="697378" grpId="0" animBg="1"/>
      <p:bldP spid="697379" grpId="0" animBg="1"/>
      <p:bldP spid="697380" grpId="0" animBg="1"/>
      <p:bldP spid="697381" grpId="0" animBg="1"/>
      <p:bldP spid="697382" grpId="0" animBg="1"/>
      <p:bldP spid="697383" grpId="0" animBg="1"/>
      <p:bldP spid="697384" grpId="0" animBg="1"/>
      <p:bldP spid="697385" grpId="0" animBg="1"/>
      <p:bldP spid="697386" grpId="0" animBg="1"/>
      <p:bldP spid="697387" grpId="0" animBg="1"/>
      <p:bldP spid="697388" grpId="0" animBg="1"/>
      <p:bldP spid="697389" grpId="0" animBg="1"/>
      <p:bldP spid="697390" grpId="0" animBg="1"/>
      <p:bldP spid="697391" grpId="0" animBg="1"/>
      <p:bldP spid="697392" grpId="0" animBg="1"/>
      <p:bldP spid="697393" grpId="0" animBg="1"/>
      <p:bldP spid="697394" grpId="0" animBg="1"/>
      <p:bldP spid="697395" grpId="0" animBg="1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fr-FR" altLang="fr-FR" sz="1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10270</TotalTime>
  <Words>282</Words>
  <Application>Microsoft Office PowerPoint</Application>
  <PresentationFormat>Affichage à l'écran (4:3)</PresentationFormat>
  <Paragraphs>176</Paragraphs>
  <Slides>3</Slides>
  <Notes>3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4" baseType="lpstr">
      <vt:lpstr>Modèle par défaut</vt:lpstr>
      <vt:lpstr>Analyse des Progrès (3 équipes)</vt:lpstr>
      <vt:lpstr>Mode d’emploi de la Cartographie des Progrès</vt:lpstr>
      <vt:lpstr>Analyse des Progrès (2 équipes)</vt:lpstr>
    </vt:vector>
  </TitlesOfParts>
  <Company>PROCONSEIL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CIPE</dc:creator>
  <cp:lastModifiedBy>BertrandS</cp:lastModifiedBy>
  <cp:revision>242</cp:revision>
  <cp:lastPrinted>2002-11-19T07:39:04Z</cp:lastPrinted>
  <dcterms:created xsi:type="dcterms:W3CDTF">2002-08-09T10:40:13Z</dcterms:created>
  <dcterms:modified xsi:type="dcterms:W3CDTF">2015-02-15T18:04:01Z</dcterms:modified>
</cp:coreProperties>
</file>
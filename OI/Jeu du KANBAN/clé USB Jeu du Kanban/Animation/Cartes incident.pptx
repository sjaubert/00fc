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366" r:id="rId2"/>
    <p:sldId id="360" r:id="rId3"/>
    <p:sldId id="359" r:id="rId4"/>
    <p:sldId id="266" r:id="rId5"/>
    <p:sldId id="264" r:id="rId6"/>
    <p:sldId id="285" r:id="rId7"/>
    <p:sldId id="280" r:id="rId8"/>
    <p:sldId id="345" r:id="rId9"/>
    <p:sldId id="364" r:id="rId10"/>
    <p:sldId id="288" r:id="rId11"/>
    <p:sldId id="281" r:id="rId12"/>
    <p:sldId id="294" r:id="rId13"/>
    <p:sldId id="299" r:id="rId14"/>
    <p:sldId id="363" r:id="rId15"/>
    <p:sldId id="327" r:id="rId16"/>
    <p:sldId id="329" r:id="rId17"/>
    <p:sldId id="291" r:id="rId18"/>
    <p:sldId id="301" r:id="rId19"/>
    <p:sldId id="259" r:id="rId20"/>
    <p:sldId id="261" r:id="rId21"/>
    <p:sldId id="344" r:id="rId22"/>
    <p:sldId id="335" r:id="rId23"/>
    <p:sldId id="269" r:id="rId24"/>
    <p:sldId id="273" r:id="rId25"/>
    <p:sldId id="271" r:id="rId26"/>
    <p:sldId id="342" r:id="rId27"/>
    <p:sldId id="321" r:id="rId28"/>
    <p:sldId id="309" r:id="rId29"/>
    <p:sldId id="361" r:id="rId30"/>
    <p:sldId id="349" r:id="rId31"/>
    <p:sldId id="323" r:id="rId32"/>
    <p:sldId id="307" r:id="rId33"/>
    <p:sldId id="289" r:id="rId34"/>
    <p:sldId id="332" r:id="rId35"/>
    <p:sldId id="330" r:id="rId36"/>
    <p:sldId id="350" r:id="rId37"/>
    <p:sldId id="365" r:id="rId38"/>
    <p:sldId id="283" r:id="rId39"/>
    <p:sldId id="362" r:id="rId40"/>
    <p:sldId id="358" r:id="rId41"/>
    <p:sldId id="346" r:id="rId42"/>
    <p:sldId id="348" r:id="rId43"/>
    <p:sldId id="311" r:id="rId44"/>
    <p:sldId id="315" r:id="rId45"/>
    <p:sldId id="262" r:id="rId46"/>
    <p:sldId id="316" r:id="rId47"/>
    <p:sldId id="272" r:id="rId48"/>
    <p:sldId id="257" r:id="rId49"/>
    <p:sldId id="260" r:id="rId50"/>
    <p:sldId id="286" r:id="rId51"/>
    <p:sldId id="333" r:id="rId52"/>
    <p:sldId id="256" r:id="rId53"/>
    <p:sldId id="357" r:id="rId54"/>
    <p:sldId id="336" r:id="rId55"/>
    <p:sldId id="337" r:id="rId56"/>
    <p:sldId id="295" r:id="rId57"/>
    <p:sldId id="340" r:id="rId58"/>
    <p:sldId id="339" r:id="rId59"/>
    <p:sldId id="297" r:id="rId60"/>
    <p:sldId id="258" r:id="rId61"/>
    <p:sldId id="282" r:id="rId62"/>
    <p:sldId id="313" r:id="rId63"/>
    <p:sldId id="293" r:id="rId64"/>
    <p:sldId id="300" r:id="rId65"/>
    <p:sldId id="341" r:id="rId66"/>
    <p:sldId id="317" r:id="rId67"/>
    <p:sldId id="318" r:id="rId68"/>
    <p:sldId id="352" r:id="rId69"/>
    <p:sldId id="320" r:id="rId70"/>
    <p:sldId id="268" r:id="rId71"/>
    <p:sldId id="326" r:id="rId72"/>
    <p:sldId id="312" r:id="rId73"/>
    <p:sldId id="304" r:id="rId74"/>
    <p:sldId id="279" r:id="rId75"/>
    <p:sldId id="298" r:id="rId76"/>
    <p:sldId id="322" r:id="rId77"/>
    <p:sldId id="303" r:id="rId78"/>
    <p:sldId id="354" r:id="rId79"/>
    <p:sldId id="284" r:id="rId80"/>
    <p:sldId id="331" r:id="rId81"/>
    <p:sldId id="325" r:id="rId82"/>
    <p:sldId id="328" r:id="rId83"/>
    <p:sldId id="302" r:id="rId84"/>
    <p:sldId id="296" r:id="rId85"/>
  </p:sldIdLst>
  <p:sldSz cx="9144000" cy="6858000" type="screen4x3"/>
  <p:notesSz cx="6858000" cy="9144000"/>
  <p:defaultTextStyle>
    <a:defPPr>
      <a:defRPr lang="fr-FR"/>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A8E0"/>
    <a:srgbClr val="3399FF"/>
    <a:srgbClr val="66CCFF"/>
    <a:srgbClr val="0033CC"/>
    <a:srgbClr val="FFCC66"/>
    <a:srgbClr val="FFFF99"/>
    <a:srgbClr val="0066FF"/>
    <a:srgbClr val="FFFF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15620"/>
    <p:restoredTop sz="91213" autoAdjust="0"/>
  </p:normalViewPr>
  <p:slideViewPr>
    <p:cSldViewPr snapToGrid="0">
      <p:cViewPr>
        <p:scale>
          <a:sx n="66" d="100"/>
          <a:sy n="66" d="100"/>
        </p:scale>
        <p:origin x="-2650" y="-763"/>
      </p:cViewPr>
      <p:guideLst>
        <p:guide orient="horz" pos="2160"/>
        <p:guide pos="2880"/>
      </p:guideLst>
    </p:cSldViewPr>
  </p:slid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64" d="100"/>
          <a:sy n="64" d="100"/>
        </p:scale>
        <p:origin x="-3173"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atin typeface="Arial" pitchFamily="34" charset="0"/>
              </a:defRPr>
            </a:lvl1pPr>
          </a:lstStyle>
          <a:p>
            <a:pPr>
              <a:defRPr/>
            </a:pPr>
            <a:endParaRPr lang="fr-FR"/>
          </a:p>
        </p:txBody>
      </p:sp>
      <p:sp>
        <p:nvSpPr>
          <p:cNvPr id="614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pitchFamily="34" charset="0"/>
              </a:defRPr>
            </a:lvl1pPr>
          </a:lstStyle>
          <a:p>
            <a:pPr>
              <a:defRPr/>
            </a:pPr>
            <a:endParaRPr lang="fr-FR"/>
          </a:p>
        </p:txBody>
      </p:sp>
      <p:sp>
        <p:nvSpPr>
          <p:cNvPr id="880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14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atin typeface="Arial" pitchFamily="34" charset="0"/>
              </a:defRPr>
            </a:lvl1pPr>
          </a:lstStyle>
          <a:p>
            <a:pPr>
              <a:defRPr/>
            </a:pPr>
            <a:endParaRPr lang="fr-FR"/>
          </a:p>
        </p:txBody>
      </p:sp>
      <p:sp>
        <p:nvSpPr>
          <p:cNvPr id="614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atin typeface="Arial" pitchFamily="34" charset="0"/>
              </a:defRPr>
            </a:lvl1pPr>
          </a:lstStyle>
          <a:p>
            <a:pPr>
              <a:defRPr/>
            </a:pPr>
            <a:fld id="{A2BF3CA1-DD47-49D3-B4A0-6BF2B2EA2E0E}" type="slidenum">
              <a:rPr lang="fr-FR"/>
              <a:pPr>
                <a:defRPr/>
              </a:pPr>
              <a:t>‹N°›</a:t>
            </a:fld>
            <a:endParaRPr lang="fr-FR"/>
          </a:p>
        </p:txBody>
      </p:sp>
    </p:spTree>
    <p:extLst>
      <p:ext uri="{BB962C8B-B14F-4D97-AF65-F5344CB8AC3E}">
        <p14:creationId xmlns:p14="http://schemas.microsoft.com/office/powerpoint/2010/main" val="878386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image" Target="../media/image2.jpe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image des diapositives 4"/>
          <p:cNvSpPr>
            <a:spLocks noGrp="1" noRot="1" noChangeAspect="1"/>
          </p:cNvSpPr>
          <p:nvPr>
            <p:ph type="sldImg"/>
          </p:nvPr>
        </p:nvSpPr>
        <p:spPr>
          <a:xfrm>
            <a:off x="966788" y="179388"/>
            <a:ext cx="5214937" cy="3910012"/>
          </a:xfrm>
        </p:spPr>
      </p:sp>
      <p:sp>
        <p:nvSpPr>
          <p:cNvPr id="2" name="Rectangle 1"/>
          <p:cNvSpPr/>
          <p:nvPr/>
        </p:nvSpPr>
        <p:spPr>
          <a:xfrm>
            <a:off x="3" y="3"/>
            <a:ext cx="6858000" cy="9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6490" tIns="43244" rIns="86490" bIns="43244" rtlCol="0" anchor="ctr"/>
          <a:lstStyle/>
          <a:p>
            <a:pPr algn="ctr"/>
            <a:endParaRPr lang="fr-FR" dirty="0">
              <a:latin typeface="Calibri" pitchFamily="34" charset="0"/>
            </a:endParaRPr>
          </a:p>
        </p:txBody>
      </p:sp>
      <p:sp>
        <p:nvSpPr>
          <p:cNvPr id="15" name="Rectangle 14"/>
          <p:cNvSpPr/>
          <p:nvPr/>
        </p:nvSpPr>
        <p:spPr>
          <a:xfrm>
            <a:off x="564454" y="235096"/>
            <a:ext cx="6022185" cy="8279551"/>
          </a:xfrm>
          <a:prstGeom prst="rect">
            <a:avLst/>
          </a:prstGeom>
          <a:solidFill>
            <a:schemeClr val="bg1"/>
          </a:solidFill>
          <a:ln>
            <a:solidFill>
              <a:srgbClr val="27A8E0"/>
            </a:solidFill>
          </a:ln>
          <a:effectLst>
            <a:outerShdw blurRad="1397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6490" tIns="43244" rIns="86490" bIns="43244" rtlCol="0" anchor="ctr"/>
          <a:lstStyle/>
          <a:p>
            <a:pPr algn="ctr"/>
            <a:endParaRPr lang="fr-FR" dirty="0">
              <a:latin typeface="Calibri" pitchFamily="34" charset="0"/>
            </a:endParaRPr>
          </a:p>
        </p:txBody>
      </p:sp>
      <p:sp>
        <p:nvSpPr>
          <p:cNvPr id="18" name="Rectangle 629"/>
          <p:cNvSpPr>
            <a:spLocks noChangeArrowheads="1"/>
          </p:cNvSpPr>
          <p:nvPr/>
        </p:nvSpPr>
        <p:spPr bwMode="auto">
          <a:xfrm>
            <a:off x="958160" y="8660753"/>
            <a:ext cx="5234777" cy="456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9" tIns="43251" rIns="86499" bIns="43251">
            <a:spAutoFit/>
          </a:bodyPr>
          <a:lstStyle/>
          <a:p>
            <a:pPr algn="ctr"/>
            <a:r>
              <a:rPr lang="fr-FR" sz="1200" dirty="0">
                <a:solidFill>
                  <a:schemeClr val="tx1">
                    <a:lumMod val="65000"/>
                    <a:lumOff val="35000"/>
                  </a:schemeClr>
                </a:solidFill>
                <a:latin typeface="Calibri" pitchFamily="34" charset="0"/>
                <a:cs typeface="Times New Roman" pitchFamily="18" charset="0"/>
              </a:rPr>
              <a:t>CIPE  –  Centre International de la Pédagogie d'Entreprise</a:t>
            </a:r>
          </a:p>
          <a:p>
            <a:pPr algn="ctr" eaLnBrk="0" hangingPunct="0"/>
            <a:r>
              <a:rPr lang="fr-FR" sz="1200" dirty="0">
                <a:solidFill>
                  <a:schemeClr val="tx1">
                    <a:lumMod val="65000"/>
                    <a:lumOff val="35000"/>
                  </a:schemeClr>
                </a:solidFill>
                <a:latin typeface="Calibri" pitchFamily="34" charset="0"/>
                <a:cs typeface="Times New Roman" pitchFamily="18" charset="0"/>
              </a:rPr>
              <a:t>40 bd Edgar Quinet 75014 PARIS   –   info@cipe.fr   –   www.cipe.fr</a:t>
            </a:r>
            <a:endParaRPr lang="fr-FR" sz="1200" dirty="0">
              <a:solidFill>
                <a:schemeClr val="tx1">
                  <a:lumMod val="65000"/>
                  <a:lumOff val="35000"/>
                </a:schemeClr>
              </a:solidFill>
              <a:latin typeface="Calibri" pitchFamily="34" charset="0"/>
            </a:endParaRPr>
          </a:p>
        </p:txBody>
      </p:sp>
      <p:pic>
        <p:nvPicPr>
          <p:cNvPr id="19" name="Picture 10" descr="C:\Users\bertrands\Dropbox\Marketing\Logo Cipe\Logo CIPE Baseline image Couleurs bureautiqu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4517" y="7603786"/>
            <a:ext cx="2142063" cy="72016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081"/>
          <p:cNvSpPr>
            <a:spLocks noChangeArrowheads="1"/>
          </p:cNvSpPr>
          <p:nvPr/>
        </p:nvSpPr>
        <p:spPr bwMode="auto">
          <a:xfrm>
            <a:off x="1001961" y="4969798"/>
            <a:ext cx="5147172" cy="1015467"/>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8100" tIns="45623" rIns="88100" bIns="45623">
            <a:spAutoFit/>
          </a:bodyPr>
          <a:lstStyle/>
          <a:p>
            <a:pPr defTabSz="887295"/>
            <a:r>
              <a:rPr lang="fr-FR" sz="3000" b="1" dirty="0">
                <a:solidFill>
                  <a:srgbClr val="27A8E0"/>
                </a:solidFill>
                <a:latin typeface="Calibri" pitchFamily="34" charset="0"/>
              </a:rPr>
              <a:t>Guide</a:t>
            </a:r>
          </a:p>
          <a:p>
            <a:pPr defTabSz="887295"/>
            <a:r>
              <a:rPr lang="fr-FR" sz="3000" b="1" dirty="0">
                <a:solidFill>
                  <a:srgbClr val="27A8E0"/>
                </a:solidFill>
                <a:latin typeface="Calibri" pitchFamily="34" charset="0"/>
              </a:rPr>
              <a:t>de l'Animateur</a:t>
            </a:r>
          </a:p>
        </p:txBody>
      </p:sp>
      <p:pic>
        <p:nvPicPr>
          <p:cNvPr id="416770" name="Picture 2" descr="C:\Users\BertrandS\Dropbox\Marketing\logos Jeux\a logos 300 dpi\kanban_300dpi.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7165" y="1544426"/>
            <a:ext cx="3356767" cy="2512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265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90BF7F93-BAC8-4B1E-B3FD-F884FC82536B}" type="slidenum">
              <a:rPr lang="fr-FR" altLang="fr-FR"/>
              <a:pPr eaLnBrk="1" hangingPunct="1"/>
              <a:t>5</a:t>
            </a:fld>
            <a:endParaRPr lang="fr-FR" altLang="fr-F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pPr eaLnBrk="1" hangingPunct="1"/>
            <a:r>
              <a:rPr lang="fr-FR" altLang="fr-FR" smtClean="0">
                <a:latin typeface="Arial" charset="0"/>
              </a:rPr>
              <a:t>Utilisation des autres élévateurs, qui sont polyvalents.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CBDE514-DD6C-42A6-A099-D7AAC2B8BB99}" type="slidenum">
              <a:rPr lang="fr-FR" altLang="fr-FR"/>
              <a:pPr eaLnBrk="1" hangingPunct="1"/>
              <a:t>6</a:t>
            </a:fld>
            <a:endParaRPr lang="fr-FR" altLang="fr-F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pPr eaLnBrk="1" hangingPunct="1"/>
            <a:r>
              <a:rPr lang="fr-FR" altLang="fr-FR" smtClean="0">
                <a:latin typeface="Arial" charset="0"/>
              </a:rPr>
              <a:t>Le retraité avait consigné ses connaissances sur des modes opératoires très précis. La montée en compétences est rapide.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F498A002-5AD5-43D5-93AA-DEA0C4EB987D}" type="slidenum">
              <a:rPr lang="fr-FR" altLang="fr-FR"/>
              <a:pPr eaLnBrk="1" hangingPunct="1"/>
              <a:t>7</a:t>
            </a:fld>
            <a:endParaRPr lang="fr-FR" altLang="fr-F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pPr eaLnBrk="1" hangingPunct="1"/>
            <a:r>
              <a:rPr lang="fr-FR" altLang="fr-FR" smtClean="0">
                <a:latin typeface="Arial" charset="0"/>
              </a:rPr>
              <a:t>La société avait prévenu des risques de grève. La majorité du personnel est venue en transport individuel.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7D04F29-3F9F-4A53-9922-311A40637A54}" type="slidenum">
              <a:rPr lang="fr-FR" altLang="fr-FR"/>
              <a:pPr eaLnBrk="1" hangingPunct="1"/>
              <a:t>8</a:t>
            </a:fld>
            <a:endParaRPr lang="fr-FR" altLang="fr-F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pPr eaLnBrk="1" hangingPunct="1"/>
            <a:r>
              <a:rPr lang="fr-FR" altLang="fr-FR" smtClean="0">
                <a:latin typeface="Arial" charset="0"/>
              </a:rPr>
              <a:t>Le service des méthodes a prévu les essais de façon à limiter au maximum l’arrêt des machines.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B0435766-C535-4374-939A-B7DC077770C4}" type="slidenum">
              <a:rPr lang="fr-FR" altLang="fr-FR"/>
              <a:pPr eaLnBrk="1" hangingPunct="1"/>
              <a:t>9</a:t>
            </a:fld>
            <a:endParaRPr lang="fr-FR" altLang="fr-F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pPr eaLnBrk="1" hangingPunct="1"/>
            <a:r>
              <a:rPr lang="fr-FR" altLang="fr-FR" smtClean="0">
                <a:latin typeface="Arial" charset="0"/>
              </a:rPr>
              <a:t>Une machine du même type avait été équipée récemment d’un dispositif de sécurité, ce qui a permis d’équiper rapidement la machine arrêtée.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FDCF2118-4E6E-4D9A-A967-8D7D2FB0E297}" type="slidenum">
              <a:rPr lang="fr-FR" altLang="fr-FR"/>
              <a:pPr eaLnBrk="1" hangingPunct="1"/>
              <a:t>10</a:t>
            </a:fld>
            <a:endParaRPr lang="fr-FR" altLang="fr-F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eaLnBrk="1" hangingPunct="1"/>
            <a:r>
              <a:rPr lang="fr-FR" altLang="fr-FR" smtClean="0">
                <a:latin typeface="Arial" charset="0"/>
              </a:rPr>
              <a:t>L’opérateur portait des gants de protection. L’arrêt d’une heure est nécessaire pour déclarer l’incident.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B382D5D-1254-4460-AAEF-F6AB1342A25F}" type="slidenum">
              <a:rPr lang="fr-FR" altLang="fr-FR"/>
              <a:pPr eaLnBrk="1" hangingPunct="1"/>
              <a:t>11</a:t>
            </a:fld>
            <a:endParaRPr lang="fr-FR" altLang="fr-F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r>
              <a:rPr lang="fr-FR" altLang="fr-FR" smtClean="0">
                <a:latin typeface="Arial" charset="0"/>
              </a:rPr>
              <a:t>La chef de fabrication annonce immédiatement au personnel que capot sera réparé rapidement. Il distribue des bouchons d’oreille à ceux qui le veulent.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EFC6B3B3-8C82-4B9E-BFA8-ACE9AB7C9DB2}" type="slidenum">
              <a:rPr lang="fr-FR" altLang="fr-FR"/>
              <a:pPr eaLnBrk="1" hangingPunct="1"/>
              <a:t>12</a:t>
            </a:fld>
            <a:endParaRPr lang="fr-FR" altLang="fr-F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r>
              <a:rPr lang="fr-FR" altLang="fr-FR" smtClean="0">
                <a:latin typeface="Arial" charset="0"/>
              </a:rPr>
              <a:t>Le bureau de production a étudié très soigneusement la répartition du personnel et la production s’effectue sans difficulté.</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B6A0404-1FF5-41E4-BE2A-C38979157C64}" type="slidenum">
              <a:rPr lang="fr-FR" altLang="fr-FR"/>
              <a:pPr eaLnBrk="1" hangingPunct="1"/>
              <a:t>13</a:t>
            </a:fld>
            <a:endParaRPr lang="fr-FR" altLang="fr-F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r>
              <a:rPr lang="fr-FR" altLang="fr-FR" smtClean="0">
                <a:latin typeface="Arial" charset="0"/>
              </a:rPr>
              <a:t>Le dispositif avait été testé sur une autre machine avant d’être monté. Le montage se fait en quelques minutes.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1E2E2D3-0279-4753-8CF6-331B4BF4E04B}" type="slidenum">
              <a:rPr lang="fr-FR" altLang="fr-FR"/>
              <a:pPr eaLnBrk="1" hangingPunct="1"/>
              <a:t>14</a:t>
            </a:fld>
            <a:endParaRPr lang="fr-FR" altLang="fr-F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r>
              <a:rPr lang="fr-FR" altLang="fr-FR" smtClean="0">
                <a:latin typeface="Arial" charset="0"/>
              </a:rPr>
              <a:t>Bon rangement des ateliers, l’inventaire est rapide.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E390B4B-2207-4408-92DE-42C657AEC3CA}" type="slidenum">
              <a:rPr lang="fr-FR" altLang="fr-FR"/>
              <a:pPr eaLnBrk="1" hangingPunct="1"/>
              <a:t>15</a:t>
            </a:fld>
            <a:endParaRPr lang="fr-FR" altLang="fr-F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p:spPr>
        <p:txBody>
          <a:bodyPr/>
          <a:lstStyle/>
          <a:p>
            <a:pPr eaLnBrk="1" hangingPunct="1"/>
            <a:r>
              <a:rPr lang="fr-FR" altLang="fr-FR" smtClean="0">
                <a:latin typeface="Arial" charset="0"/>
              </a:rPr>
              <a:t>Le fournisseur s’est aperçu lui-même du défaut. Il a pris les dispositions nécessaires pour ne pas arrêter la production chez son client.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A3B155D6-7B96-445F-B291-D57CB2DEDAEA}" type="slidenum">
              <a:rPr lang="fr-FR" altLang="fr-FR"/>
              <a:pPr eaLnBrk="1" hangingPunct="1"/>
              <a:t>16</a:t>
            </a:fld>
            <a:endParaRPr lang="fr-FR" altLang="fr-F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r>
              <a:rPr lang="fr-FR" altLang="fr-FR" smtClean="0">
                <a:latin typeface="Arial" charset="0"/>
              </a:rPr>
              <a:t>L’opérateur vérifie lui-même les pièces, le défaut est détecté à temps et les conséquences sont limitées.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80980C9-1B8F-47CC-B986-743620ABA5BA}" type="slidenum">
              <a:rPr lang="fr-FR" altLang="fr-FR"/>
              <a:pPr eaLnBrk="1" hangingPunct="1"/>
              <a:t>17</a:t>
            </a:fld>
            <a:endParaRPr lang="fr-FR" altLang="fr-F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pPr eaLnBrk="1" hangingPunct="1"/>
            <a:r>
              <a:rPr lang="fr-FR" altLang="fr-FR" smtClean="0">
                <a:latin typeface="Arial" charset="0"/>
              </a:rPr>
              <a:t>Les opérateurs ont l’habitude de changer régulièrement de poste au sein de l’équipe. Un autre opérateur le remplace.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CBA99AA-F01D-4AF5-B8BB-5E5B2496BD06}" type="slidenum">
              <a:rPr lang="fr-FR" altLang="fr-FR"/>
              <a:pPr eaLnBrk="1" hangingPunct="1"/>
              <a:t>18</a:t>
            </a:fld>
            <a:endParaRPr lang="fr-FR" altLang="fr-F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p:spPr>
        <p:txBody>
          <a:bodyPr/>
          <a:lstStyle/>
          <a:p>
            <a:pPr eaLnBrk="1" hangingPunct="1"/>
            <a:r>
              <a:rPr lang="fr-FR" altLang="fr-FR" smtClean="0">
                <a:latin typeface="Arial" charset="0"/>
              </a:rPr>
              <a:t>Le vieillissement avait été détecté lors d’une visite de routine. Un remplacement préventif a été programmé.</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76D52D09-471A-48C0-97A8-62D206B44DF6}" type="slidenum">
              <a:rPr lang="fr-FR" altLang="fr-FR"/>
              <a:pPr eaLnBrk="1" hangingPunct="1"/>
              <a:t>19</a:t>
            </a:fld>
            <a:endParaRPr lang="fr-FR" altLang="fr-F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p:spPr>
        <p:txBody>
          <a:bodyPr/>
          <a:lstStyle/>
          <a:p>
            <a:pPr eaLnBrk="1" hangingPunct="1"/>
            <a:r>
              <a:rPr lang="fr-FR" altLang="fr-FR" smtClean="0">
                <a:latin typeface="Arial" charset="0"/>
              </a:rPr>
              <a:t>Les intérimaires ont été bien accueillis et formés.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0746F77-5126-4C43-8E52-67FB1BE7F493}" type="slidenum">
              <a:rPr lang="fr-FR" altLang="fr-FR"/>
              <a:pPr eaLnBrk="1" hangingPunct="1"/>
              <a:t>20</a:t>
            </a:fld>
            <a:endParaRPr lang="fr-FR" altLang="fr-F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p:spPr>
        <p:txBody>
          <a:bodyPr/>
          <a:lstStyle/>
          <a:p>
            <a:pPr eaLnBrk="1" hangingPunct="1"/>
            <a:r>
              <a:rPr lang="fr-FR" altLang="fr-FR" smtClean="0">
                <a:latin typeface="Arial" charset="0"/>
              </a:rPr>
              <a:t>Le responsable de fabrication a utilisé une procédure de sauvegarde non informatisée.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E4EEC618-1B91-4A5E-BA49-6545CBAF4B23}" type="slidenum">
              <a:rPr lang="fr-FR" altLang="fr-FR"/>
              <a:pPr eaLnBrk="1" hangingPunct="1"/>
              <a:t>21</a:t>
            </a:fld>
            <a:endParaRPr lang="fr-FR" altLang="fr-F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p:spPr>
        <p:txBody>
          <a:bodyPr/>
          <a:lstStyle/>
          <a:p>
            <a:pPr eaLnBrk="1" hangingPunct="1"/>
            <a:r>
              <a:rPr lang="fr-FR" altLang="fr-FR" smtClean="0">
                <a:latin typeface="Arial" charset="0"/>
              </a:rPr>
              <a:t>Le fournisseur avait constaté le défaut et pris contact avec l’usine avant la livraison. Le responsable qualité fait en sorte que le défaut puisse être corrigé.</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50AAA4D-3E7E-4163-A7A9-4639482B0B64}" type="slidenum">
              <a:rPr lang="fr-FR" altLang="fr-FR"/>
              <a:pPr eaLnBrk="1" hangingPunct="1"/>
              <a:t>22</a:t>
            </a:fld>
            <a:endParaRPr lang="fr-FR" altLang="fr-F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pPr eaLnBrk="1" hangingPunct="1"/>
            <a:r>
              <a:rPr lang="fr-FR" altLang="fr-FR" smtClean="0">
                <a:latin typeface="Arial" charset="0"/>
              </a:rPr>
              <a:t>la client accepte qu’un technicien vienne chez lui pour réparer l’erreur.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0A8CAE3-D93F-4AFC-9DAD-C6B6B1366021}" type="slidenum">
              <a:rPr lang="fr-FR" altLang="fr-FR"/>
              <a:pPr eaLnBrk="1" hangingPunct="1"/>
              <a:t>23</a:t>
            </a:fld>
            <a:endParaRPr lang="fr-FR" altLang="fr-F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pPr eaLnBrk="1" hangingPunct="1"/>
            <a:r>
              <a:rPr lang="fr-FR" altLang="fr-FR" smtClean="0">
                <a:latin typeface="Arial" charset="0"/>
              </a:rPr>
              <a:t>On utilise un tire-palette manuel. Chacun y met du sien pour ne pas arrêter la production trop longtemps.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F756D01-093E-490A-A6D8-420390370DEA}" type="slidenum">
              <a:rPr lang="fr-FR" altLang="fr-FR"/>
              <a:pPr eaLnBrk="1" hangingPunct="1"/>
              <a:t>24</a:t>
            </a:fld>
            <a:endParaRPr lang="fr-FR" altLang="fr-F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p:spPr>
        <p:txBody>
          <a:bodyPr/>
          <a:lstStyle/>
          <a:p>
            <a:pPr eaLnBrk="1" hangingPunct="1"/>
            <a:r>
              <a:rPr lang="fr-FR" altLang="fr-FR" smtClean="0">
                <a:latin typeface="Arial" charset="0"/>
              </a:rPr>
              <a:t>Le service achats était au courant, il a prévu un stock de sécurité.</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5174381A-3656-48BC-A649-28EF847CA29D}" type="slidenum">
              <a:rPr lang="fr-FR" altLang="fr-FR"/>
              <a:pPr eaLnBrk="1" hangingPunct="1"/>
              <a:t>25</a:t>
            </a:fld>
            <a:endParaRPr lang="fr-FR" altLang="fr-F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r>
              <a:rPr lang="fr-FR" altLang="fr-FR" smtClean="0">
                <a:latin typeface="Arial" charset="0"/>
              </a:rPr>
              <a:t>Compte tenu du risque, un stock de sécurité avait été prévu.</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94766895-A027-4268-B7D2-E7AD45DEFD3D}" type="slidenum">
              <a:rPr lang="fr-FR" altLang="fr-FR"/>
              <a:pPr eaLnBrk="1" hangingPunct="1"/>
              <a:t>26</a:t>
            </a:fld>
            <a:endParaRPr lang="fr-FR" altLang="fr-F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p:spPr>
        <p:txBody>
          <a:bodyPr/>
          <a:lstStyle/>
          <a:p>
            <a:pPr eaLnBrk="1" hangingPunct="1"/>
            <a:r>
              <a:rPr lang="fr-FR" altLang="fr-FR" smtClean="0">
                <a:latin typeface="Arial" charset="0"/>
              </a:rPr>
              <a:t>L’opérateur constate une anomalie et prévient son responsable. Les dégâts sont limités.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BB7F8C76-40A5-441C-83BF-8AF88AC2C836}" type="slidenum">
              <a:rPr lang="fr-FR" altLang="fr-FR"/>
              <a:pPr eaLnBrk="1" hangingPunct="1"/>
              <a:t>27</a:t>
            </a:fld>
            <a:endParaRPr lang="fr-FR" altLang="fr-F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r>
              <a:rPr lang="fr-FR" altLang="fr-FR" smtClean="0">
                <a:latin typeface="Arial" charset="0"/>
              </a:rPr>
              <a:t>Des fusibles sont disponibles près de la machine, on peut redémarrer en attendant de trouver l’origine de la panne.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1DD8B273-F244-4E83-9680-FCE13B67CF87}" type="slidenum">
              <a:rPr lang="fr-FR" altLang="fr-FR"/>
              <a:pPr eaLnBrk="1" hangingPunct="1"/>
              <a:t>28</a:t>
            </a:fld>
            <a:endParaRPr lang="fr-FR" altLang="fr-F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p:spPr>
        <p:txBody>
          <a:bodyPr/>
          <a:lstStyle/>
          <a:p>
            <a:pPr eaLnBrk="1" hangingPunct="1"/>
            <a:r>
              <a:rPr lang="fr-FR" altLang="fr-FR" smtClean="0">
                <a:latin typeface="Arial" charset="0"/>
              </a:rPr>
              <a:t>Dépannage rapide grâce à l’échange standard d’un module complet.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742FD310-699B-416A-AE34-FB8AA4C3752B}" type="slidenum">
              <a:rPr lang="fr-FR" altLang="fr-FR"/>
              <a:pPr eaLnBrk="1" hangingPunct="1"/>
              <a:t>29</a:t>
            </a:fld>
            <a:endParaRPr lang="fr-FR" altLang="fr-F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pPr eaLnBrk="1" hangingPunct="1"/>
            <a:r>
              <a:rPr lang="fr-FR" altLang="fr-FR" smtClean="0">
                <a:latin typeface="Arial" charset="0"/>
              </a:rPr>
              <a:t>Le service commercial a prévenu à temps le service de fabrication qui a pu prendre des dispositions.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5299E2B2-3035-4943-889F-717644B57D42}" type="slidenum">
              <a:rPr lang="fr-FR" altLang="fr-FR"/>
              <a:pPr eaLnBrk="1" hangingPunct="1"/>
              <a:t>30</a:t>
            </a:fld>
            <a:endParaRPr lang="fr-FR" altLang="fr-F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p:spPr>
        <p:txBody>
          <a:bodyPr/>
          <a:lstStyle/>
          <a:p>
            <a:pPr eaLnBrk="1" hangingPunct="1"/>
            <a:r>
              <a:rPr lang="fr-FR" altLang="fr-FR" smtClean="0">
                <a:latin typeface="Arial" charset="0"/>
              </a:rPr>
              <a:t>Les piles de conteneurs ne sont pas très hautes. Les dégâts sont limités.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55733C3-C56A-41CB-9EFD-4C91F8693599}" type="slidenum">
              <a:rPr lang="fr-FR" altLang="fr-FR"/>
              <a:pPr eaLnBrk="1" hangingPunct="1"/>
              <a:t>31</a:t>
            </a:fld>
            <a:endParaRPr lang="fr-FR" altLang="fr-F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pPr eaLnBrk="1" hangingPunct="1"/>
            <a:r>
              <a:rPr lang="fr-FR" altLang="fr-FR" smtClean="0">
                <a:latin typeface="Arial" charset="0"/>
              </a:rPr>
              <a:t>La machine est équipée d’un dispositif qui signale l’échauffement de l’huile. Le régleur intervient avant qu’il ne soit trop tard.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CBC2C6B-A73F-4F96-8A21-4B510A6104FA}" type="slidenum">
              <a:rPr lang="fr-FR" altLang="fr-FR"/>
              <a:pPr eaLnBrk="1" hangingPunct="1"/>
              <a:t>32</a:t>
            </a:fld>
            <a:endParaRPr lang="fr-FR" altLang="fr-F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p:spPr>
        <p:txBody>
          <a:bodyPr/>
          <a:lstStyle/>
          <a:p>
            <a:pPr eaLnBrk="1" hangingPunct="1"/>
            <a:r>
              <a:rPr lang="fr-FR" altLang="fr-FR" smtClean="0">
                <a:latin typeface="Arial" charset="0"/>
              </a:rPr>
              <a:t>L’opérateur avait vu qu’elle vibrait de façon anormale. Il a prévenu le dépanneur avant qu’elle ne tombe en panne.</a:t>
            </a:r>
          </a:p>
          <a:p>
            <a:pPr eaLnBrk="1" hangingPunct="1"/>
            <a:endParaRPr lang="fr-FR" altLang="fr-FR" smtClean="0">
              <a:latin typeface="Arial"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3A82722-D9F8-45F3-9B0D-9A53329887DD}" type="slidenum">
              <a:rPr lang="fr-FR" altLang="fr-FR"/>
              <a:pPr eaLnBrk="1" hangingPunct="1"/>
              <a:t>33</a:t>
            </a:fld>
            <a:endParaRPr lang="fr-FR" altLang="fr-F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p:spPr>
        <p:txBody>
          <a:bodyPr/>
          <a:lstStyle/>
          <a:p>
            <a:pPr eaLnBrk="1" hangingPunct="1"/>
            <a:r>
              <a:rPr lang="fr-FR" altLang="fr-FR" smtClean="0">
                <a:latin typeface="Arial" charset="0"/>
              </a:rPr>
              <a:t>Un autre opérateur accepte de rattraper le retard en heures supplémentaires.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A746CA29-6CF3-42A1-85F7-DBA654999A4C}" type="slidenum">
              <a:rPr lang="fr-FR" altLang="fr-FR"/>
              <a:pPr eaLnBrk="1" hangingPunct="1"/>
              <a:t>34</a:t>
            </a:fld>
            <a:endParaRPr lang="fr-FR" altLang="fr-F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r>
              <a:rPr lang="fr-FR" altLang="fr-FR" smtClean="0">
                <a:latin typeface="Arial" charset="0"/>
              </a:rPr>
              <a:t>Le fournisseur contrôle lui-même ses produits. Il réagit très vite pour respecter les délais promis.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61977F1-6B62-4B2D-896E-A1E0AC91F66C}" type="slidenum">
              <a:rPr lang="fr-FR" altLang="fr-FR"/>
              <a:pPr eaLnBrk="1" hangingPunct="1"/>
              <a:t>35</a:t>
            </a:fld>
            <a:endParaRPr lang="fr-FR" altLang="fr-F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p:spPr>
        <p:txBody>
          <a:bodyPr/>
          <a:lstStyle/>
          <a:p>
            <a:pPr eaLnBrk="1" hangingPunct="1"/>
            <a:r>
              <a:rPr lang="fr-FR" altLang="fr-FR" smtClean="0">
                <a:latin typeface="Arial" charset="0"/>
              </a:rPr>
              <a:t>L’opérateur a comme consigne de vérifier la matière qui lui est livrée. Il constate l’erreur à temps.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91E06D53-D297-4899-8138-F9EE28AEC530}" type="slidenum">
              <a:rPr lang="fr-FR" altLang="fr-FR"/>
              <a:pPr eaLnBrk="1" hangingPunct="1"/>
              <a:t>36</a:t>
            </a:fld>
            <a:endParaRPr lang="fr-FR" altLang="fr-F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p:spPr>
        <p:txBody>
          <a:bodyPr/>
          <a:lstStyle/>
          <a:p>
            <a:pPr eaLnBrk="1" hangingPunct="1"/>
            <a:r>
              <a:rPr lang="fr-FR" altLang="fr-FR" smtClean="0">
                <a:latin typeface="Arial" charset="0"/>
              </a:rPr>
              <a:t>Une barrière de protection délimite les allées de circulation. Les dégâts sont limités.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482D497-4435-4D36-87EE-B3C2394D5C56}" type="slidenum">
              <a:rPr lang="fr-FR" altLang="fr-FR"/>
              <a:pPr eaLnBrk="1" hangingPunct="1"/>
              <a:t>37</a:t>
            </a:fld>
            <a:endParaRPr lang="fr-FR" altLang="fr-F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p:spPr>
        <p:txBody>
          <a:bodyPr/>
          <a:lstStyle/>
          <a:p>
            <a:pPr eaLnBrk="1" hangingPunct="1"/>
            <a:r>
              <a:rPr lang="fr-FR" altLang="fr-FR" smtClean="0">
                <a:latin typeface="Arial" charset="0"/>
              </a:rPr>
              <a:t>Il existe un système de secours.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5F4C372-E88D-4109-9ABB-D70F2A4F49ED}" type="slidenum">
              <a:rPr lang="fr-FR" altLang="fr-FR"/>
              <a:pPr eaLnBrk="1" hangingPunct="1"/>
              <a:t>38</a:t>
            </a:fld>
            <a:endParaRPr lang="fr-FR" altLang="fr-F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p:spPr>
        <p:txBody>
          <a:bodyPr/>
          <a:lstStyle/>
          <a:p>
            <a:pPr eaLnBrk="1" hangingPunct="1"/>
            <a:r>
              <a:rPr lang="fr-FR" altLang="fr-FR" smtClean="0">
                <a:latin typeface="Arial" charset="0"/>
              </a:rPr>
              <a:t>La plupart des opérateurs de l’équipe sont polyvalents. Un collègue apporte de l’aide en attendant de trouver un remplaçant.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E43B3285-EC40-4DF3-AB2B-78A40C191F5F}" type="slidenum">
              <a:rPr lang="fr-FR" altLang="fr-FR"/>
              <a:pPr eaLnBrk="1" hangingPunct="1"/>
              <a:t>39</a:t>
            </a:fld>
            <a:endParaRPr lang="fr-FR" altLang="fr-F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p:spPr>
        <p:txBody>
          <a:bodyPr/>
          <a:lstStyle/>
          <a:p>
            <a:pPr eaLnBrk="1" hangingPunct="1"/>
            <a:r>
              <a:rPr lang="fr-FR" altLang="fr-FR" smtClean="0">
                <a:latin typeface="Arial" charset="0"/>
              </a:rPr>
              <a:t>L’usine est bien rangée en temps normal, une légère remise à niveau est suffisante.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D0A9AEB-A30C-49AF-9055-D2D288EEB52A}" type="slidenum">
              <a:rPr lang="fr-FR" altLang="fr-FR"/>
              <a:pPr eaLnBrk="1" hangingPunct="1"/>
              <a:t>40</a:t>
            </a:fld>
            <a:endParaRPr lang="fr-FR" altLang="fr-F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p:spPr>
        <p:txBody>
          <a:bodyPr/>
          <a:lstStyle/>
          <a:p>
            <a:pPr eaLnBrk="1" hangingPunct="1"/>
            <a:r>
              <a:rPr lang="fr-FR" altLang="fr-FR" smtClean="0">
                <a:latin typeface="Arial" charset="0"/>
              </a:rPr>
              <a:t>Le poste suivant a vu le défaut immédiatement car il y avait peu de stock d’en cours entre les deux opérations. Les dégâts sont limités.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5AEBE8E-13CD-4FFE-B4B0-7D6255BF91AB}" type="slidenum">
              <a:rPr lang="fr-FR" altLang="fr-FR"/>
              <a:pPr eaLnBrk="1" hangingPunct="1"/>
              <a:t>41</a:t>
            </a:fld>
            <a:endParaRPr lang="fr-FR" altLang="fr-F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p:spPr>
        <p:txBody>
          <a:bodyPr/>
          <a:lstStyle/>
          <a:p>
            <a:pPr eaLnBrk="1" hangingPunct="1"/>
            <a:r>
              <a:rPr lang="fr-FR" altLang="fr-FR" smtClean="0">
                <a:latin typeface="Arial" charset="0"/>
              </a:rPr>
              <a:t>La visite médicale d’embauche a permis de constater qu’il était daltonien. Il a été placé sur un poste qui ne dépend pas des couleurs.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3C4EBE4-54E9-49E7-B09F-ED768FB6883A}" type="slidenum">
              <a:rPr lang="fr-FR" altLang="fr-FR"/>
              <a:pPr eaLnBrk="1" hangingPunct="1"/>
              <a:t>42</a:t>
            </a:fld>
            <a:endParaRPr lang="fr-FR" altLang="fr-F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p:spPr>
        <p:txBody>
          <a:bodyPr/>
          <a:lstStyle/>
          <a:p>
            <a:pPr eaLnBrk="1" hangingPunct="1"/>
            <a:r>
              <a:rPr lang="fr-FR" altLang="fr-FR" smtClean="0">
                <a:latin typeface="Arial" charset="0"/>
              </a:rPr>
              <a:t>Le fournisseur s’est aperçu du défaut au moment du contrôle. Il a fabriqué en urgence des pièces bonnes.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7C96326-7B3A-419D-9E90-F45DE39D225F}" type="slidenum">
              <a:rPr lang="fr-FR" altLang="fr-FR"/>
              <a:pPr eaLnBrk="1" hangingPunct="1"/>
              <a:t>43</a:t>
            </a:fld>
            <a:endParaRPr lang="fr-FR" altLang="fr-F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p:spPr>
        <p:txBody>
          <a:bodyPr/>
          <a:lstStyle/>
          <a:p>
            <a:pPr eaLnBrk="1" hangingPunct="1"/>
            <a:r>
              <a:rPr lang="fr-FR" altLang="fr-FR" smtClean="0">
                <a:latin typeface="Arial" charset="0"/>
              </a:rPr>
              <a:t>Le programme a été conçu en installant des fonctions de détection d’anomalies. Il est corrigé rapidement.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8188C3C-BF91-431F-AEEC-7E3F6866C6B7}" type="slidenum">
              <a:rPr lang="fr-FR" altLang="fr-FR"/>
              <a:pPr eaLnBrk="1" hangingPunct="1"/>
              <a:t>44</a:t>
            </a:fld>
            <a:endParaRPr lang="fr-FR" altLang="fr-F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p:spPr>
        <p:txBody>
          <a:bodyPr/>
          <a:lstStyle/>
          <a:p>
            <a:pPr eaLnBrk="1" hangingPunct="1"/>
            <a:r>
              <a:rPr lang="fr-FR" altLang="fr-FR" smtClean="0">
                <a:latin typeface="Arial" charset="0"/>
              </a:rPr>
              <a:t>Le soudeur du service entretien, conscient de la gravité de l’incident, intervient rapidement.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13F60A1-F968-438D-841D-DBAF4FF10CBA}" type="slidenum">
              <a:rPr lang="fr-FR" altLang="fr-FR"/>
              <a:pPr eaLnBrk="1" hangingPunct="1"/>
              <a:t>45</a:t>
            </a:fld>
            <a:endParaRPr lang="fr-FR" altLang="fr-F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p:spPr>
        <p:txBody>
          <a:bodyPr/>
          <a:lstStyle/>
          <a:p>
            <a:pPr eaLnBrk="1" hangingPunct="1"/>
            <a:r>
              <a:rPr lang="fr-FR" altLang="fr-FR" smtClean="0">
                <a:latin typeface="Arial" charset="0"/>
              </a:rPr>
              <a:t>Un trajet de remplacement a été étudié pour éviter toute perturbation.</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B7FFA10D-C33B-47B3-AB5E-DE5D3CFC36D3}" type="slidenum">
              <a:rPr lang="fr-FR" altLang="fr-FR"/>
              <a:pPr eaLnBrk="1" hangingPunct="1"/>
              <a:t>46</a:t>
            </a:fld>
            <a:endParaRPr lang="fr-FR" altLang="fr-F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p:spPr>
        <p:txBody>
          <a:bodyPr/>
          <a:lstStyle/>
          <a:p>
            <a:pPr eaLnBrk="1" hangingPunct="1"/>
            <a:r>
              <a:rPr lang="fr-FR" altLang="fr-FR" smtClean="0">
                <a:latin typeface="Arial" charset="0"/>
              </a:rPr>
              <a:t>Le fournisseur de robot avait bien formé le personnel du service maintenance, qui peut dépanner rapidement.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B3582FDD-61D2-4E8E-BB19-20EC95D7BB4F}" type="slidenum">
              <a:rPr lang="fr-FR" altLang="fr-FR"/>
              <a:pPr eaLnBrk="1" hangingPunct="1"/>
              <a:t>47</a:t>
            </a:fld>
            <a:endParaRPr lang="fr-FR" altLang="fr-F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p:spPr>
        <p:txBody>
          <a:bodyPr/>
          <a:lstStyle/>
          <a:p>
            <a:pPr eaLnBrk="1" hangingPunct="1"/>
            <a:r>
              <a:rPr lang="fr-FR" altLang="fr-FR" smtClean="0">
                <a:latin typeface="Arial" charset="0"/>
              </a:rPr>
              <a:t>Le service des achats avait prévu les difficultés en écoutant les prévisions météorologiques, une livraison spéciale de pièces urgentes a été faite par une autre route.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EE1448B-AFD4-486A-9263-236824C166C1}" type="slidenum">
              <a:rPr lang="fr-FR" altLang="fr-FR"/>
              <a:pPr eaLnBrk="1" hangingPunct="1"/>
              <a:t>48</a:t>
            </a:fld>
            <a:endParaRPr lang="fr-FR" altLang="fr-F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p:spPr>
        <p:txBody>
          <a:bodyPr/>
          <a:lstStyle/>
          <a:p>
            <a:pPr eaLnBrk="1" hangingPunct="1"/>
            <a:r>
              <a:rPr lang="fr-FR" altLang="fr-FR" smtClean="0">
                <a:latin typeface="Arial" charset="0"/>
              </a:rPr>
              <a:t>Il a laissé des consignes claires. Un de ses employés le remplace.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D6E9EE1-6D25-460A-BD88-18AA1929324C}" type="slidenum">
              <a:rPr lang="fr-FR" altLang="fr-FR"/>
              <a:pPr eaLnBrk="1" hangingPunct="1"/>
              <a:t>49</a:t>
            </a:fld>
            <a:endParaRPr lang="fr-FR" altLang="fr-F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r>
              <a:rPr lang="fr-FR" altLang="fr-FR" smtClean="0">
                <a:latin typeface="Arial" charset="0"/>
              </a:rPr>
              <a:t>Le magasinier s’est aperçu de l’écart en circulant dans le magasin. Le fournisseur, prévenu immédiatement, a réagi rapidement et les pièces sont arrivées à temps.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80015B1-AD41-4356-9922-7C2246A55526}" type="slidenum">
              <a:rPr lang="fr-FR" altLang="fr-FR"/>
              <a:pPr eaLnBrk="1" hangingPunct="1"/>
              <a:t>50</a:t>
            </a:fld>
            <a:endParaRPr lang="fr-FR" altLang="fr-F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r>
              <a:rPr lang="fr-FR" altLang="fr-FR" smtClean="0">
                <a:latin typeface="Arial" charset="0"/>
              </a:rPr>
              <a:t>Les opérateurs participent au planning des formations. Ils s’organisent avec leur responsable pour limiter les perturbations.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293B4C9-6974-45C9-BD76-7C93160C5906}" type="slidenum">
              <a:rPr lang="fr-FR" altLang="fr-FR"/>
              <a:pPr eaLnBrk="1" hangingPunct="1"/>
              <a:t>51</a:t>
            </a:fld>
            <a:endParaRPr lang="fr-FR" altLang="fr-F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r>
              <a:rPr lang="fr-FR" altLang="fr-FR" smtClean="0">
                <a:latin typeface="Arial" charset="0"/>
              </a:rPr>
              <a:t>Le défaut a été détecté très rapidement grâce à l’utilisation des cartes de contrôle (maîtrise statistique des processus).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7E8AED8-BFF6-40AB-8BE4-58FAA00BFE60}" type="slidenum">
              <a:rPr lang="fr-FR" altLang="fr-FR"/>
              <a:pPr eaLnBrk="1" hangingPunct="1"/>
              <a:t>52</a:t>
            </a:fld>
            <a:endParaRPr lang="fr-FR" altLang="fr-F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p:spPr>
        <p:txBody>
          <a:bodyPr/>
          <a:lstStyle/>
          <a:p>
            <a:pPr eaLnBrk="1" hangingPunct="1"/>
            <a:r>
              <a:rPr lang="fr-FR" altLang="fr-FR" smtClean="0">
                <a:latin typeface="Arial" charset="0"/>
              </a:rPr>
              <a:t>Le fournisseur avait été averti suffisamment tôt de cette augmentation, ce qui lui a permis de réduire au maximum son retard.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6C50074F-95B9-4E10-ABCF-637F79442F6D}" type="slidenum">
              <a:rPr lang="fr-FR" altLang="fr-FR"/>
              <a:pPr eaLnBrk="1" hangingPunct="1"/>
              <a:t>53</a:t>
            </a:fld>
            <a:endParaRPr lang="fr-FR" altLang="fr-F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r>
              <a:rPr lang="fr-FR" altLang="fr-FR" smtClean="0">
                <a:latin typeface="Arial" charset="0"/>
              </a:rPr>
              <a:t>L’opérateur a vu le défaut sur son gabarit de contrôle et le réglage de la machine est corrigé.</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A89D732-A3FD-4730-971C-2EA970DB1366}" type="slidenum">
              <a:rPr lang="fr-FR" altLang="fr-FR"/>
              <a:pPr eaLnBrk="1" hangingPunct="1"/>
              <a:t>54</a:t>
            </a:fld>
            <a:endParaRPr lang="fr-FR" altLang="fr-F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p:spPr>
        <p:txBody>
          <a:bodyPr/>
          <a:lstStyle/>
          <a:p>
            <a:pPr eaLnBrk="1" hangingPunct="1"/>
            <a:r>
              <a:rPr lang="fr-FR" altLang="fr-FR" smtClean="0">
                <a:latin typeface="Arial" charset="0"/>
              </a:rPr>
              <a:t>Le transporteur fait le nécessaire pour bien arrimer les palettes pendant le transport. Les défauts sont des rayures superficielles sans conséquences sur la qualité des produits.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A2E265D1-1F69-4429-9FFB-6AC0625959D0}" type="slidenum">
              <a:rPr lang="fr-FR" altLang="fr-FR"/>
              <a:pPr eaLnBrk="1" hangingPunct="1"/>
              <a:t>55</a:t>
            </a:fld>
            <a:endParaRPr lang="fr-FR" altLang="fr-F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p:spPr>
        <p:txBody>
          <a:bodyPr/>
          <a:lstStyle/>
          <a:p>
            <a:pPr eaLnBrk="1" hangingPunct="1"/>
            <a:r>
              <a:rPr lang="fr-FR" altLang="fr-FR" smtClean="0">
                <a:latin typeface="Arial" charset="0"/>
              </a:rPr>
              <a:t>Le magasin est régulièrement débarrassé des matières obsolètes. Les dégâts sont limités.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D5061C4-B614-4DA0-9DC0-AD95E8B9E45C}" type="slidenum">
              <a:rPr lang="fr-FR" altLang="fr-FR"/>
              <a:pPr eaLnBrk="1" hangingPunct="1"/>
              <a:t>56</a:t>
            </a:fld>
            <a:endParaRPr lang="fr-FR" altLang="fr-F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p:spPr>
        <p:txBody>
          <a:bodyPr/>
          <a:lstStyle/>
          <a:p>
            <a:pPr eaLnBrk="1" hangingPunct="1"/>
            <a:r>
              <a:rPr lang="fr-FR" altLang="fr-FR" smtClean="0">
                <a:latin typeface="Arial" charset="0"/>
              </a:rPr>
              <a:t>La machine disposait d’un mécanisme d’arrêt d’urgence qui a pu être activé à temps. Une heure perdue pour remplir la déclaration d’incident.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294F667-DD0C-4487-813B-602B7E65EF34}" type="slidenum">
              <a:rPr lang="fr-FR" altLang="fr-FR"/>
              <a:pPr eaLnBrk="1" hangingPunct="1"/>
              <a:t>57</a:t>
            </a:fld>
            <a:endParaRPr lang="fr-FR" altLang="fr-F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r>
              <a:rPr lang="fr-FR" altLang="fr-FR" smtClean="0">
                <a:latin typeface="Arial" charset="0"/>
              </a:rPr>
              <a:t>L’emballage a résisté au choc. Il faut peu de temps pour réparer l’incident.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C55CDDD-3CCB-40C7-8DE5-8E71AB45DE11}" type="slidenum">
              <a:rPr lang="fr-FR" altLang="fr-FR"/>
              <a:pPr eaLnBrk="1" hangingPunct="1"/>
              <a:t>58</a:t>
            </a:fld>
            <a:endParaRPr lang="fr-FR" altLang="fr-F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p:spPr>
        <p:txBody>
          <a:bodyPr/>
          <a:lstStyle/>
          <a:p>
            <a:pPr eaLnBrk="1" hangingPunct="1"/>
            <a:r>
              <a:rPr lang="fr-FR" altLang="fr-FR" smtClean="0">
                <a:latin typeface="Arial" charset="0"/>
              </a:rPr>
              <a:t>Le bureau d’études, conscient des difficultés, était présent au début de la fabrication. Il aide à régler la machine.</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26A6B51-283F-43F9-A33E-1B0DCAA6F870}" type="slidenum">
              <a:rPr lang="fr-FR" altLang="fr-FR"/>
              <a:pPr eaLnBrk="1" hangingPunct="1"/>
              <a:t>59</a:t>
            </a:fld>
            <a:endParaRPr lang="fr-FR" altLang="fr-F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p:spPr>
        <p:txBody>
          <a:bodyPr/>
          <a:lstStyle/>
          <a:p>
            <a:pPr eaLnBrk="1" hangingPunct="1"/>
            <a:r>
              <a:rPr lang="fr-FR" altLang="fr-FR" smtClean="0">
                <a:latin typeface="Arial" charset="0"/>
              </a:rPr>
              <a:t>Le planning des réunions est établi avec les opérateurs de façon à minimiser les conséquences sur la production.</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AC80311A-EFB3-42BF-ACC3-DD95DFED7A63}" type="slidenum">
              <a:rPr lang="fr-FR" altLang="fr-FR"/>
              <a:pPr eaLnBrk="1" hangingPunct="1"/>
              <a:t>60</a:t>
            </a:fld>
            <a:endParaRPr lang="fr-FR" altLang="fr-F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p:spPr>
        <p:txBody>
          <a:bodyPr/>
          <a:lstStyle/>
          <a:p>
            <a:pPr eaLnBrk="1" hangingPunct="1"/>
            <a:r>
              <a:rPr lang="fr-FR" altLang="fr-FR" smtClean="0">
                <a:latin typeface="Arial" charset="0"/>
              </a:rPr>
              <a:t>Le fournisseur s’est douté de l’anomalie, qui a pu être corrigée à temps.</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55553017-D87B-45E3-BBB8-4B39E23582B9}" type="slidenum">
              <a:rPr lang="fr-FR" altLang="fr-FR"/>
              <a:pPr eaLnBrk="1" hangingPunct="1"/>
              <a:t>61</a:t>
            </a:fld>
            <a:endParaRPr lang="fr-FR" altLang="fr-F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p:spPr>
        <p:txBody>
          <a:bodyPr/>
          <a:lstStyle/>
          <a:p>
            <a:pPr eaLnBrk="1" hangingPunct="1"/>
            <a:r>
              <a:rPr lang="fr-FR" altLang="fr-FR" smtClean="0">
                <a:latin typeface="Arial" charset="0"/>
              </a:rPr>
              <a:t>Le responsable de la paie reconnaît immédiatement l’erreur et annonce qu’elle sera rapidement corrigée.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B6188EF-5D86-4515-A471-47B243AEFCED}" type="slidenum">
              <a:rPr lang="fr-FR" altLang="fr-FR"/>
              <a:pPr eaLnBrk="1" hangingPunct="1"/>
              <a:t>62</a:t>
            </a:fld>
            <a:endParaRPr lang="fr-FR" altLang="fr-F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p:spPr>
        <p:txBody>
          <a:bodyPr/>
          <a:lstStyle/>
          <a:p>
            <a:pPr eaLnBrk="1" hangingPunct="1"/>
            <a:r>
              <a:rPr lang="fr-FR" altLang="fr-FR" smtClean="0">
                <a:latin typeface="Arial" charset="0"/>
              </a:rPr>
              <a:t>L’armoire de rangement des clefs était parfaitement organisée, avec des clefs identifiées par des étiquettes.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1E98CD0-ECA7-4883-A231-8345CE4E6F3E}" type="slidenum">
              <a:rPr lang="fr-FR" altLang="fr-FR"/>
              <a:pPr eaLnBrk="1" hangingPunct="1"/>
              <a:t>63</a:t>
            </a:fld>
            <a:endParaRPr lang="fr-FR" altLang="fr-F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p:spPr>
        <p:txBody>
          <a:bodyPr/>
          <a:lstStyle/>
          <a:p>
            <a:pPr eaLnBrk="1" hangingPunct="1"/>
            <a:r>
              <a:rPr lang="fr-FR" altLang="fr-FR" smtClean="0">
                <a:latin typeface="Arial" charset="0"/>
              </a:rPr>
              <a:t>Il était le seul à avoir refusé le vaccin. Les autres membres de l’équipe sont en pleine forme et le remplacent au pied levé.</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4C9A3EC-6D86-44E8-A987-EE64F42DE882}" type="slidenum">
              <a:rPr lang="fr-FR" altLang="fr-FR"/>
              <a:pPr eaLnBrk="1" hangingPunct="1"/>
              <a:t>64</a:t>
            </a:fld>
            <a:endParaRPr lang="fr-FR" altLang="fr-F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p:spPr>
        <p:txBody>
          <a:bodyPr/>
          <a:lstStyle/>
          <a:p>
            <a:pPr eaLnBrk="1" hangingPunct="1"/>
            <a:r>
              <a:rPr lang="fr-FR" altLang="fr-FR" smtClean="0">
                <a:latin typeface="Arial" charset="0"/>
              </a:rPr>
              <a:t>L’opérateur a été formé au réglage. Il peut intervenir dans les cas simples.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F687DF2-A90E-4006-9F64-9576AED1E23E}" type="slidenum">
              <a:rPr lang="fr-FR" altLang="fr-FR"/>
              <a:pPr eaLnBrk="1" hangingPunct="1"/>
              <a:t>65</a:t>
            </a:fld>
            <a:endParaRPr lang="fr-FR" altLang="fr-F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r>
              <a:rPr lang="fr-FR" altLang="fr-FR" smtClean="0">
                <a:latin typeface="Arial" charset="0"/>
              </a:rPr>
              <a:t>Le magasinier s’est aperçu de l’erreur sur le listing de contrôle. Il a averti le transporter et le camion fait demi-tour. L’erreur est corrigée.</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1AC792D0-4CC9-4984-98E9-D234C8DF53B5}" type="slidenum">
              <a:rPr lang="fr-FR" altLang="fr-FR"/>
              <a:pPr eaLnBrk="1" hangingPunct="1"/>
              <a:t>66</a:t>
            </a:fld>
            <a:endParaRPr lang="fr-FR" altLang="fr-F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p:spPr>
        <p:txBody>
          <a:bodyPr/>
          <a:lstStyle/>
          <a:p>
            <a:pPr eaLnBrk="1" hangingPunct="1"/>
            <a:r>
              <a:rPr lang="fr-FR" altLang="fr-FR" smtClean="0">
                <a:latin typeface="Arial" charset="0"/>
              </a:rPr>
              <a:t>Le système manuel a été conservé en attendant que le système automatique soit au point. On l’utilise comme secours.</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16DE9D40-2784-430A-855D-759462467323}" type="slidenum">
              <a:rPr lang="fr-FR" altLang="fr-FR"/>
              <a:pPr eaLnBrk="1" hangingPunct="1"/>
              <a:t>67</a:t>
            </a:fld>
            <a:endParaRPr lang="fr-FR" altLang="fr-F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pPr eaLnBrk="1" hangingPunct="1"/>
            <a:r>
              <a:rPr lang="fr-FR" altLang="fr-FR" smtClean="0">
                <a:latin typeface="Arial" charset="0"/>
              </a:rPr>
              <a:t>Les systèmes de sécurité ont été conçus pour empêcher les fausses manœuvres.</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1646EC5-5775-454F-B387-5CF2F1243C88}" type="slidenum">
              <a:rPr lang="fr-FR" altLang="fr-FR"/>
              <a:pPr eaLnBrk="1" hangingPunct="1"/>
              <a:t>68</a:t>
            </a:fld>
            <a:endParaRPr lang="fr-FR" altLang="fr-F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p:spPr>
        <p:txBody>
          <a:bodyPr/>
          <a:lstStyle/>
          <a:p>
            <a:pPr eaLnBrk="1" hangingPunct="1"/>
            <a:r>
              <a:rPr lang="fr-FR" altLang="fr-FR" smtClean="0">
                <a:latin typeface="Arial" charset="0"/>
              </a:rPr>
              <a:t>Il existe un outillage de rechange.</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9675A0F3-7CAC-4152-8658-1F0F523E69FC}" type="slidenum">
              <a:rPr lang="fr-FR" altLang="fr-FR"/>
              <a:pPr eaLnBrk="1" hangingPunct="1"/>
              <a:t>69</a:t>
            </a:fld>
            <a:endParaRPr lang="fr-FR" altLang="fr-F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r>
              <a:rPr lang="fr-FR" altLang="fr-FR" smtClean="0">
                <a:latin typeface="Arial" charset="0"/>
              </a:rPr>
              <a:t>L’opérateur avait noté que l’outillage était usé. Un ré-usinage avait été prévu.</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672487A-5F21-4131-990F-D7D9AF9AA46D}" type="slidenum">
              <a:rPr lang="fr-FR" altLang="fr-FR"/>
              <a:pPr eaLnBrk="1" hangingPunct="1"/>
              <a:t>70</a:t>
            </a:fld>
            <a:endParaRPr lang="fr-FR" altLang="fr-F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pPr eaLnBrk="1" hangingPunct="1"/>
            <a:r>
              <a:rPr lang="fr-FR" altLang="fr-FR" smtClean="0">
                <a:latin typeface="Arial" charset="0"/>
              </a:rPr>
              <a:t>Le manutentionnaire connaît parfaitement le magasin, les conteneurs sont retrouvés rapidement.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C9BEF6F-B733-4CC7-A078-EC6B4C07A1B3}" type="slidenum">
              <a:rPr lang="fr-FR" altLang="fr-FR"/>
              <a:pPr eaLnBrk="1" hangingPunct="1"/>
              <a:t>71</a:t>
            </a:fld>
            <a:endParaRPr lang="fr-FR" altLang="fr-F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r>
              <a:rPr lang="fr-FR" altLang="fr-FR" smtClean="0">
                <a:latin typeface="Arial" charset="0"/>
              </a:rPr>
              <a:t>La visite était prévue et le chef de fabrication a pris ses dispositions pour que d’autres pièces puissent alimenter le montage pendant le contrôle.</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5F5682C-4399-4B19-A857-91626D7CDC22}" type="slidenum">
              <a:rPr lang="fr-FR" altLang="fr-FR"/>
              <a:pPr eaLnBrk="1" hangingPunct="1"/>
              <a:t>72</a:t>
            </a:fld>
            <a:endParaRPr lang="fr-FR" altLang="fr-F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r>
              <a:rPr lang="fr-FR" altLang="fr-FR" smtClean="0">
                <a:latin typeface="Arial" charset="0"/>
              </a:rPr>
              <a:t>La maintenance a été décentralisée dans l’atelier. Le technicien intervient rapidement.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B29C2D7E-6CAC-46CC-900D-78D40A4F6393}" type="slidenum">
              <a:rPr lang="fr-FR" altLang="fr-FR"/>
              <a:pPr eaLnBrk="1" hangingPunct="1"/>
              <a:t>73</a:t>
            </a:fld>
            <a:endParaRPr lang="fr-FR" altLang="fr-F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r>
              <a:rPr lang="fr-FR" altLang="fr-FR" smtClean="0">
                <a:latin typeface="Arial" charset="0"/>
              </a:rPr>
              <a:t>Les régleurs savent régler plusieurs machines grâce au fait que les consignes de réglage sont très claires. Pas de perturbation.</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7A817F86-F9E5-4BAB-B16E-29DA0EB34DF2}" type="slidenum">
              <a:rPr lang="fr-FR" altLang="fr-FR"/>
              <a:pPr eaLnBrk="1" hangingPunct="1"/>
              <a:t>74</a:t>
            </a:fld>
            <a:endParaRPr lang="fr-FR" altLang="fr-F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r>
              <a:rPr lang="fr-FR" altLang="fr-FR" smtClean="0">
                <a:latin typeface="Arial" charset="0"/>
              </a:rPr>
              <a:t>Le poste a été aménagé pour ne pas avoir à transporter des charges lourdes (avec un élévateur de pièces).</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994627B-CC1B-4330-89F0-CE446FB30A2C}" type="slidenum">
              <a:rPr lang="fr-FR" altLang="fr-FR"/>
              <a:pPr eaLnBrk="1" hangingPunct="1"/>
              <a:t>75</a:t>
            </a:fld>
            <a:endParaRPr lang="fr-FR" altLang="fr-F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p:spPr>
        <p:txBody>
          <a:bodyPr/>
          <a:lstStyle/>
          <a:p>
            <a:pPr eaLnBrk="1" hangingPunct="1"/>
            <a:r>
              <a:rPr lang="fr-FR" altLang="fr-FR" smtClean="0">
                <a:latin typeface="Arial" charset="0"/>
              </a:rPr>
              <a:t>Le fournisseur fait lui-même le contrôle avant l’expédition. Il s’est aperçu de l’erreur et l’a corrigée rapidement.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920A9A7-F683-4DA3-B68D-4093950EBE3F}" type="slidenum">
              <a:rPr lang="fr-FR" altLang="fr-FR"/>
              <a:pPr eaLnBrk="1" hangingPunct="1"/>
              <a:t>76</a:t>
            </a:fld>
            <a:endParaRPr lang="fr-FR" altLang="fr-F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r>
              <a:rPr lang="fr-FR" altLang="fr-FR" smtClean="0">
                <a:latin typeface="Arial" charset="0"/>
              </a:rPr>
              <a:t>L’usure avait été détectée lors d’une visite de routine, une vis de remplacement avait été préparée.</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AA7B969-E88C-4015-88BC-6CD9EEC9E0D8}" type="slidenum">
              <a:rPr lang="fr-FR" altLang="fr-FR"/>
              <a:pPr eaLnBrk="1" hangingPunct="1"/>
              <a:t>77</a:t>
            </a:fld>
            <a:endParaRPr lang="fr-FR" altLang="fr-F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p:spPr>
        <p:txBody>
          <a:bodyPr/>
          <a:lstStyle/>
          <a:p>
            <a:pPr eaLnBrk="1" hangingPunct="1"/>
            <a:r>
              <a:rPr lang="fr-FR" altLang="fr-FR" smtClean="0">
                <a:latin typeface="Arial" charset="0"/>
              </a:rPr>
              <a:t>Les intérimaires sont formés au moment de l’accueil et ils respectent les consignes de sécurité.</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951AA555-6BF8-41F7-9BF4-985F294A7B0D}" type="slidenum">
              <a:rPr lang="fr-FR" altLang="fr-FR"/>
              <a:pPr eaLnBrk="1" hangingPunct="1"/>
              <a:t>78</a:t>
            </a:fld>
            <a:endParaRPr lang="fr-FR" altLang="fr-F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r>
              <a:rPr lang="fr-FR" altLang="fr-FR" smtClean="0">
                <a:latin typeface="Arial" charset="0"/>
              </a:rPr>
              <a:t>Le magasinier a vu l’erreur à temps. Le fournisseur effectue un dépannage d’urgence.</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5D6B0FBD-F256-4DC0-B504-E84F027AFA0B}" type="slidenum">
              <a:rPr lang="fr-FR" altLang="fr-FR"/>
              <a:pPr eaLnBrk="1" hangingPunct="1"/>
              <a:t>79</a:t>
            </a:fld>
            <a:endParaRPr lang="fr-FR" altLang="fr-F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r>
              <a:rPr lang="fr-FR" altLang="fr-FR" smtClean="0">
                <a:latin typeface="Arial" charset="0"/>
              </a:rPr>
              <a:t>Le bâtiment est bien isolé. Un chauffage d’appoint permet de maintenir la température à un niveau satisfaisant.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AD664D18-A61B-4BDD-8AF8-4D11500A9F2C}" type="slidenum">
              <a:rPr lang="fr-FR" altLang="fr-FR"/>
              <a:pPr eaLnBrk="1" hangingPunct="1"/>
              <a:t>80</a:t>
            </a:fld>
            <a:endParaRPr lang="fr-FR" altLang="fr-F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r>
              <a:rPr lang="fr-FR" altLang="fr-FR" smtClean="0">
                <a:latin typeface="Arial" charset="0"/>
              </a:rPr>
              <a:t>Grâce à ses bonnes relations avec le client, le bureau d’études a été informé très tôt de ce changement. Le responsable des approvisionnements a pris ses dispositions.</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1C4C0D9-7753-487F-BD0C-E1D635759E90}" type="slidenum">
              <a:rPr lang="fr-FR" altLang="fr-FR"/>
              <a:pPr eaLnBrk="1" hangingPunct="1"/>
              <a:t>81</a:t>
            </a:fld>
            <a:endParaRPr lang="fr-FR" altLang="fr-F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r>
              <a:rPr lang="fr-FR" altLang="fr-FR" smtClean="0">
                <a:latin typeface="Arial" charset="0"/>
              </a:rPr>
              <a:t>La machine est équipée d’un système de contrôle. Le défaut est détecté avant d’entraîner des conséquences plus graves.</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96F8A615-B161-4AC2-8F0E-85B1B821AD39}" type="slidenum">
              <a:rPr lang="fr-FR" altLang="fr-FR"/>
              <a:pPr eaLnBrk="1" hangingPunct="1"/>
              <a:t>82</a:t>
            </a:fld>
            <a:endParaRPr lang="fr-FR" altLang="fr-F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r>
              <a:rPr lang="fr-FR" altLang="fr-FR" smtClean="0">
                <a:latin typeface="Arial" charset="0"/>
              </a:rPr>
              <a:t>La dérive a été constatée par l’opérateur grâce aux cartes de contrôle (maîtrise statistique des procédés). Le régleur intervient rapidement.</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69A99B4-7A0E-4C21-A751-6E791C0C6801}" type="slidenum">
              <a:rPr lang="fr-FR" altLang="fr-FR"/>
              <a:pPr eaLnBrk="1" hangingPunct="1"/>
              <a:t>83</a:t>
            </a:fld>
            <a:endParaRPr lang="fr-FR" altLang="fr-F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r>
              <a:rPr lang="fr-FR" altLang="fr-FR" smtClean="0">
                <a:latin typeface="Arial" charset="0"/>
              </a:rPr>
              <a:t>L’opérateur sait faire lui-même le remplacement, qui ne prend que quelques minutes.</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EF3F715-F9EC-41B0-8FC6-76139B1A68B1}" type="slidenum">
              <a:rPr lang="fr-FR" altLang="fr-FR"/>
              <a:pPr eaLnBrk="1" hangingPunct="1"/>
              <a:t>84</a:t>
            </a:fld>
            <a:endParaRPr lang="fr-FR" altLang="fr-FR"/>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p:spPr>
        <p:txBody>
          <a:bodyPr/>
          <a:lstStyle/>
          <a:p>
            <a:pPr eaLnBrk="1" hangingPunct="1"/>
            <a:r>
              <a:rPr lang="fr-FR" altLang="fr-FR" smtClean="0">
                <a:latin typeface="Arial" charset="0"/>
              </a:rPr>
              <a:t>Il portait des lunettes de sécurité.</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a:prstGeom prst="rect">
            <a:avLst/>
          </a:prstGeo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Modifiez le style des sous-titres du masque</a:t>
            </a:r>
            <a:endParaRPr lang="fr-FR"/>
          </a:p>
        </p:txBody>
      </p:sp>
      <p:sp>
        <p:nvSpPr>
          <p:cNvPr id="4" name="Rectangle 5"/>
          <p:cNvSpPr>
            <a:spLocks noGrp="1" noChangeArrowheads="1"/>
          </p:cNvSpPr>
          <p:nvPr>
            <p:ph type="ftr" sz="quarter" idx="10"/>
          </p:nvPr>
        </p:nvSpPr>
        <p:spPr>
          <a:ln/>
        </p:spPr>
        <p:txBody>
          <a:bodyPr/>
          <a:lstStyle>
            <a:lvl1pPr>
              <a:defRPr/>
            </a:lvl1pPr>
          </a:lstStyle>
          <a:p>
            <a:pPr>
              <a:defRPr/>
            </a:pPr>
            <a:endParaRPr lang="fr-FR"/>
          </a:p>
        </p:txBody>
      </p:sp>
      <p:sp>
        <p:nvSpPr>
          <p:cNvPr id="5" name="Rectangle 6"/>
          <p:cNvSpPr>
            <a:spLocks noGrp="1" noChangeArrowheads="1"/>
          </p:cNvSpPr>
          <p:nvPr>
            <p:ph type="sldNum" sz="quarter" idx="11"/>
          </p:nvPr>
        </p:nvSpPr>
        <p:spPr>
          <a:ln/>
        </p:spPr>
        <p:txBody>
          <a:bodyPr/>
          <a:lstStyle>
            <a:lvl1pPr>
              <a:defRPr/>
            </a:lvl1pPr>
          </a:lstStyle>
          <a:p>
            <a:pPr>
              <a:defRPr/>
            </a:pPr>
            <a:fld id="{8AD55A46-5F5A-4488-9F2F-CDF76F54A313}" type="slidenum">
              <a:rPr lang="fr-FR"/>
              <a:pPr>
                <a:defRPr/>
              </a:pPr>
              <a:t>‹N°›</a:t>
            </a:fld>
            <a:endParaRPr lang="fr-FR"/>
          </a:p>
        </p:txBody>
      </p:sp>
    </p:spTree>
    <p:extLst>
      <p:ext uri="{BB962C8B-B14F-4D97-AF65-F5344CB8AC3E}">
        <p14:creationId xmlns:p14="http://schemas.microsoft.com/office/powerpoint/2010/main" val="222064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Modifiez le style du titre</a:t>
            </a:r>
            <a:endParaRPr lang="fr-FR"/>
          </a:p>
        </p:txBody>
      </p:sp>
      <p:sp>
        <p:nvSpPr>
          <p:cNvPr id="3" name="Espace réservé du contenu 2"/>
          <p:cNvSpPr>
            <a:spLocks noGrp="1"/>
          </p:cNvSpPr>
          <p:nvPr>
            <p:ph idx="1"/>
          </p:nvPr>
        </p:nvSpPr>
        <p:spPr>
          <a:xfrm>
            <a:off x="457200" y="1600200"/>
            <a:ext cx="8229600" cy="4525963"/>
          </a:xfrm>
          <a:prstGeom prst="rect">
            <a:avLst/>
          </a:prstGeo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5"/>
          <p:cNvSpPr>
            <a:spLocks noGrp="1" noChangeArrowheads="1"/>
          </p:cNvSpPr>
          <p:nvPr>
            <p:ph type="ftr" sz="quarter" idx="10"/>
          </p:nvPr>
        </p:nvSpPr>
        <p:spPr>
          <a:ln/>
        </p:spPr>
        <p:txBody>
          <a:bodyPr/>
          <a:lstStyle>
            <a:lvl1pPr>
              <a:defRPr/>
            </a:lvl1pPr>
          </a:lstStyle>
          <a:p>
            <a:pPr>
              <a:defRPr/>
            </a:pPr>
            <a:endParaRPr lang="fr-FR"/>
          </a:p>
        </p:txBody>
      </p:sp>
      <p:sp>
        <p:nvSpPr>
          <p:cNvPr id="5" name="Rectangle 6"/>
          <p:cNvSpPr>
            <a:spLocks noGrp="1" noChangeArrowheads="1"/>
          </p:cNvSpPr>
          <p:nvPr>
            <p:ph type="sldNum" sz="quarter" idx="11"/>
          </p:nvPr>
        </p:nvSpPr>
        <p:spPr>
          <a:ln/>
        </p:spPr>
        <p:txBody>
          <a:bodyPr/>
          <a:lstStyle>
            <a:lvl1pPr>
              <a:defRPr/>
            </a:lvl1pPr>
          </a:lstStyle>
          <a:p>
            <a:pPr>
              <a:defRPr/>
            </a:pPr>
            <a:fld id="{F3B40018-079B-4B9B-8CCF-978DBBF25279}" type="slidenum">
              <a:rPr lang="fr-FR"/>
              <a:pPr>
                <a:defRPr/>
              </a:pPr>
              <a:t>‹N°›</a:t>
            </a:fld>
            <a:endParaRPr lang="fr-FR"/>
          </a:p>
        </p:txBody>
      </p:sp>
    </p:spTree>
    <p:extLst>
      <p:ext uri="{BB962C8B-B14F-4D97-AF65-F5344CB8AC3E}">
        <p14:creationId xmlns:p14="http://schemas.microsoft.com/office/powerpoint/2010/main" val="270571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Modifiez les styles du texte du masque</a:t>
            </a:r>
          </a:p>
        </p:txBody>
      </p:sp>
      <p:sp>
        <p:nvSpPr>
          <p:cNvPr id="4" name="Rectangle 5"/>
          <p:cNvSpPr>
            <a:spLocks noGrp="1" noChangeArrowheads="1"/>
          </p:cNvSpPr>
          <p:nvPr>
            <p:ph type="ftr" sz="quarter" idx="10"/>
          </p:nvPr>
        </p:nvSpPr>
        <p:spPr>
          <a:ln/>
        </p:spPr>
        <p:txBody>
          <a:bodyPr/>
          <a:lstStyle>
            <a:lvl1pPr>
              <a:defRPr/>
            </a:lvl1pPr>
          </a:lstStyle>
          <a:p>
            <a:pPr>
              <a:defRPr/>
            </a:pPr>
            <a:endParaRPr lang="fr-FR"/>
          </a:p>
        </p:txBody>
      </p:sp>
      <p:sp>
        <p:nvSpPr>
          <p:cNvPr id="5" name="Rectangle 6"/>
          <p:cNvSpPr>
            <a:spLocks noGrp="1" noChangeArrowheads="1"/>
          </p:cNvSpPr>
          <p:nvPr>
            <p:ph type="sldNum" sz="quarter" idx="11"/>
          </p:nvPr>
        </p:nvSpPr>
        <p:spPr>
          <a:ln/>
        </p:spPr>
        <p:txBody>
          <a:bodyPr/>
          <a:lstStyle>
            <a:lvl1pPr>
              <a:defRPr/>
            </a:lvl1pPr>
          </a:lstStyle>
          <a:p>
            <a:pPr>
              <a:defRPr/>
            </a:pPr>
            <a:fld id="{9F5C597D-A43E-4303-B07A-F9837CC58CD5}" type="slidenum">
              <a:rPr lang="fr-FR"/>
              <a:pPr>
                <a:defRPr/>
              </a:pPr>
              <a:t>‹N°›</a:t>
            </a:fld>
            <a:endParaRPr lang="fr-FR"/>
          </a:p>
        </p:txBody>
      </p:sp>
    </p:spTree>
    <p:extLst>
      <p:ext uri="{BB962C8B-B14F-4D97-AF65-F5344CB8AC3E}">
        <p14:creationId xmlns:p14="http://schemas.microsoft.com/office/powerpoint/2010/main" val="1232932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5"/>
          <p:cNvSpPr>
            <a:spLocks noGrp="1" noChangeArrowheads="1"/>
          </p:cNvSpPr>
          <p:nvPr>
            <p:ph type="ftr" sz="quarter" idx="10"/>
          </p:nvPr>
        </p:nvSpPr>
        <p:spPr>
          <a:ln/>
        </p:spPr>
        <p:txBody>
          <a:bodyPr/>
          <a:lstStyle>
            <a:lvl1pPr>
              <a:defRPr/>
            </a:lvl1pPr>
          </a:lstStyle>
          <a:p>
            <a:pPr>
              <a:defRPr/>
            </a:pPr>
            <a:endParaRPr lang="fr-FR"/>
          </a:p>
        </p:txBody>
      </p:sp>
      <p:sp>
        <p:nvSpPr>
          <p:cNvPr id="6" name="Rectangle 6"/>
          <p:cNvSpPr>
            <a:spLocks noGrp="1" noChangeArrowheads="1"/>
          </p:cNvSpPr>
          <p:nvPr>
            <p:ph type="sldNum" sz="quarter" idx="11"/>
          </p:nvPr>
        </p:nvSpPr>
        <p:spPr>
          <a:ln/>
        </p:spPr>
        <p:txBody>
          <a:bodyPr/>
          <a:lstStyle>
            <a:lvl1pPr>
              <a:defRPr/>
            </a:lvl1pPr>
          </a:lstStyle>
          <a:p>
            <a:pPr>
              <a:defRPr/>
            </a:pPr>
            <a:fld id="{9A922EED-39B3-4B7E-BADC-89DBC702AA5C}" type="slidenum">
              <a:rPr lang="fr-FR"/>
              <a:pPr>
                <a:defRPr/>
              </a:pPr>
              <a:t>‹N°›</a:t>
            </a:fld>
            <a:endParaRPr lang="fr-FR"/>
          </a:p>
        </p:txBody>
      </p:sp>
    </p:spTree>
    <p:extLst>
      <p:ext uri="{BB962C8B-B14F-4D97-AF65-F5344CB8AC3E}">
        <p14:creationId xmlns:p14="http://schemas.microsoft.com/office/powerpoint/2010/main" val="33538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5"/>
          <p:cNvSpPr>
            <a:spLocks noGrp="1" noChangeArrowheads="1"/>
          </p:cNvSpPr>
          <p:nvPr>
            <p:ph type="ftr" sz="quarter" idx="10"/>
          </p:nvPr>
        </p:nvSpPr>
        <p:spPr>
          <a:ln/>
        </p:spPr>
        <p:txBody>
          <a:bodyPr/>
          <a:lstStyle>
            <a:lvl1pPr>
              <a:defRPr/>
            </a:lvl1pPr>
          </a:lstStyle>
          <a:p>
            <a:pPr>
              <a:defRPr/>
            </a:pPr>
            <a:endParaRPr lang="fr-FR"/>
          </a:p>
        </p:txBody>
      </p:sp>
      <p:sp>
        <p:nvSpPr>
          <p:cNvPr id="8" name="Rectangle 6"/>
          <p:cNvSpPr>
            <a:spLocks noGrp="1" noChangeArrowheads="1"/>
          </p:cNvSpPr>
          <p:nvPr>
            <p:ph type="sldNum" sz="quarter" idx="11"/>
          </p:nvPr>
        </p:nvSpPr>
        <p:spPr>
          <a:ln/>
        </p:spPr>
        <p:txBody>
          <a:bodyPr/>
          <a:lstStyle>
            <a:lvl1pPr>
              <a:defRPr/>
            </a:lvl1pPr>
          </a:lstStyle>
          <a:p>
            <a:pPr>
              <a:defRPr/>
            </a:pPr>
            <a:fld id="{AD58FF74-AE5F-45B4-B396-90C7F48CA83D}" type="slidenum">
              <a:rPr lang="fr-FR"/>
              <a:pPr>
                <a:defRPr/>
              </a:pPr>
              <a:t>‹N°›</a:t>
            </a:fld>
            <a:endParaRPr lang="fr-FR"/>
          </a:p>
        </p:txBody>
      </p:sp>
    </p:spTree>
    <p:extLst>
      <p:ext uri="{BB962C8B-B14F-4D97-AF65-F5344CB8AC3E}">
        <p14:creationId xmlns:p14="http://schemas.microsoft.com/office/powerpoint/2010/main" val="1096257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Modifiez le style du titre</a:t>
            </a:r>
            <a:endParaRPr lang="fr-FR"/>
          </a:p>
        </p:txBody>
      </p:sp>
      <p:sp>
        <p:nvSpPr>
          <p:cNvPr id="3" name="Rectangle 5"/>
          <p:cNvSpPr>
            <a:spLocks noGrp="1" noChangeArrowheads="1"/>
          </p:cNvSpPr>
          <p:nvPr>
            <p:ph type="ftr" sz="quarter" idx="10"/>
          </p:nvPr>
        </p:nvSpPr>
        <p:spPr>
          <a:ln/>
        </p:spPr>
        <p:txBody>
          <a:bodyPr/>
          <a:lstStyle>
            <a:lvl1pPr>
              <a:defRPr/>
            </a:lvl1pPr>
          </a:lstStyle>
          <a:p>
            <a:pPr>
              <a:defRPr/>
            </a:pPr>
            <a:endParaRPr lang="fr-FR"/>
          </a:p>
        </p:txBody>
      </p:sp>
      <p:sp>
        <p:nvSpPr>
          <p:cNvPr id="4" name="Rectangle 6"/>
          <p:cNvSpPr>
            <a:spLocks noGrp="1" noChangeArrowheads="1"/>
          </p:cNvSpPr>
          <p:nvPr>
            <p:ph type="sldNum" sz="quarter" idx="11"/>
          </p:nvPr>
        </p:nvSpPr>
        <p:spPr>
          <a:ln/>
        </p:spPr>
        <p:txBody>
          <a:bodyPr/>
          <a:lstStyle>
            <a:lvl1pPr>
              <a:defRPr/>
            </a:lvl1pPr>
          </a:lstStyle>
          <a:p>
            <a:pPr>
              <a:defRPr/>
            </a:pPr>
            <a:fld id="{4212DC8B-2B95-4DFA-9CA5-7646090FF0A2}" type="slidenum">
              <a:rPr lang="fr-FR"/>
              <a:pPr>
                <a:defRPr/>
              </a:pPr>
              <a:t>‹N°›</a:t>
            </a:fld>
            <a:endParaRPr lang="fr-FR"/>
          </a:p>
        </p:txBody>
      </p:sp>
    </p:spTree>
    <p:extLst>
      <p:ext uri="{BB962C8B-B14F-4D97-AF65-F5344CB8AC3E}">
        <p14:creationId xmlns:p14="http://schemas.microsoft.com/office/powerpoint/2010/main" val="2482232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fr-FR"/>
          </a:p>
        </p:txBody>
      </p:sp>
      <p:sp>
        <p:nvSpPr>
          <p:cNvPr id="3" name="Rectangle 6"/>
          <p:cNvSpPr>
            <a:spLocks noGrp="1" noChangeArrowheads="1"/>
          </p:cNvSpPr>
          <p:nvPr>
            <p:ph type="sldNum" sz="quarter" idx="11"/>
          </p:nvPr>
        </p:nvSpPr>
        <p:spPr>
          <a:ln/>
        </p:spPr>
        <p:txBody>
          <a:bodyPr/>
          <a:lstStyle>
            <a:lvl1pPr>
              <a:defRPr/>
            </a:lvl1pPr>
          </a:lstStyle>
          <a:p>
            <a:pPr>
              <a:defRPr/>
            </a:pPr>
            <a:fld id="{546A8779-48F2-41C4-BDD6-EEE0FE4C3A4A}" type="slidenum">
              <a:rPr lang="fr-FR"/>
              <a:pPr>
                <a:defRPr/>
              </a:pPr>
              <a:t>‹N°›</a:t>
            </a:fld>
            <a:endParaRPr lang="fr-FR"/>
          </a:p>
        </p:txBody>
      </p:sp>
    </p:spTree>
    <p:extLst>
      <p:ext uri="{BB962C8B-B14F-4D97-AF65-F5344CB8AC3E}">
        <p14:creationId xmlns:p14="http://schemas.microsoft.com/office/powerpoint/2010/main" val="3040878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a:prstGeom prst="rect">
            <a:avLst/>
          </a:prstGeo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5"/>
          <p:cNvSpPr>
            <a:spLocks noGrp="1" noChangeArrowheads="1"/>
          </p:cNvSpPr>
          <p:nvPr>
            <p:ph type="ftr" sz="quarter" idx="10"/>
          </p:nvPr>
        </p:nvSpPr>
        <p:spPr>
          <a:ln/>
        </p:spPr>
        <p:txBody>
          <a:bodyPr/>
          <a:lstStyle>
            <a:lvl1pPr>
              <a:defRPr/>
            </a:lvl1pPr>
          </a:lstStyle>
          <a:p>
            <a:pPr>
              <a:defRPr/>
            </a:pPr>
            <a:endParaRPr lang="fr-FR"/>
          </a:p>
        </p:txBody>
      </p:sp>
      <p:sp>
        <p:nvSpPr>
          <p:cNvPr id="6" name="Rectangle 6"/>
          <p:cNvSpPr>
            <a:spLocks noGrp="1" noChangeArrowheads="1"/>
          </p:cNvSpPr>
          <p:nvPr>
            <p:ph type="sldNum" sz="quarter" idx="11"/>
          </p:nvPr>
        </p:nvSpPr>
        <p:spPr>
          <a:ln/>
        </p:spPr>
        <p:txBody>
          <a:bodyPr/>
          <a:lstStyle>
            <a:lvl1pPr>
              <a:defRPr/>
            </a:lvl1pPr>
          </a:lstStyle>
          <a:p>
            <a:pPr>
              <a:defRPr/>
            </a:pPr>
            <a:fld id="{08AFA6DB-62DD-4245-9889-C07B8DEE3494}" type="slidenum">
              <a:rPr lang="fr-FR"/>
              <a:pPr>
                <a:defRPr/>
              </a:pPr>
              <a:t>‹N°›</a:t>
            </a:fld>
            <a:endParaRPr lang="fr-FR"/>
          </a:p>
        </p:txBody>
      </p:sp>
    </p:spTree>
    <p:extLst>
      <p:ext uri="{BB962C8B-B14F-4D97-AF65-F5344CB8AC3E}">
        <p14:creationId xmlns:p14="http://schemas.microsoft.com/office/powerpoint/2010/main" val="576204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5"/>
          <p:cNvSpPr>
            <a:spLocks noGrp="1" noChangeArrowheads="1"/>
          </p:cNvSpPr>
          <p:nvPr>
            <p:ph type="ftr" sz="quarter" idx="10"/>
          </p:nvPr>
        </p:nvSpPr>
        <p:spPr>
          <a:ln/>
        </p:spPr>
        <p:txBody>
          <a:bodyPr/>
          <a:lstStyle>
            <a:lvl1pPr>
              <a:defRPr/>
            </a:lvl1pPr>
          </a:lstStyle>
          <a:p>
            <a:pPr>
              <a:defRPr/>
            </a:pPr>
            <a:endParaRPr lang="fr-FR"/>
          </a:p>
        </p:txBody>
      </p:sp>
      <p:sp>
        <p:nvSpPr>
          <p:cNvPr id="6" name="Rectangle 6"/>
          <p:cNvSpPr>
            <a:spLocks noGrp="1" noChangeArrowheads="1"/>
          </p:cNvSpPr>
          <p:nvPr>
            <p:ph type="sldNum" sz="quarter" idx="11"/>
          </p:nvPr>
        </p:nvSpPr>
        <p:spPr>
          <a:ln/>
        </p:spPr>
        <p:txBody>
          <a:bodyPr/>
          <a:lstStyle>
            <a:lvl1pPr>
              <a:defRPr/>
            </a:lvl1pPr>
          </a:lstStyle>
          <a:p>
            <a:pPr>
              <a:defRPr/>
            </a:pPr>
            <a:fld id="{6FFB9C2B-824C-4A4C-BFCA-04B116685B2F}" type="slidenum">
              <a:rPr lang="fr-FR"/>
              <a:pPr>
                <a:defRPr/>
              </a:pPr>
              <a:t>‹N°›</a:t>
            </a:fld>
            <a:endParaRPr lang="fr-FR"/>
          </a:p>
        </p:txBody>
      </p:sp>
    </p:spTree>
    <p:extLst>
      <p:ext uri="{BB962C8B-B14F-4D97-AF65-F5344CB8AC3E}">
        <p14:creationId xmlns:p14="http://schemas.microsoft.com/office/powerpoint/2010/main" val="2159542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1600200"/>
            <a:ext cx="8229600" cy="4525963"/>
          </a:xfrm>
          <a:prstGeom prst="rect">
            <a:avLst/>
          </a:prstGeo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5"/>
          <p:cNvSpPr>
            <a:spLocks noGrp="1" noChangeArrowheads="1"/>
          </p:cNvSpPr>
          <p:nvPr>
            <p:ph type="ftr" sz="quarter" idx="10"/>
          </p:nvPr>
        </p:nvSpPr>
        <p:spPr>
          <a:ln/>
        </p:spPr>
        <p:txBody>
          <a:bodyPr/>
          <a:lstStyle>
            <a:lvl1pPr>
              <a:defRPr/>
            </a:lvl1pPr>
          </a:lstStyle>
          <a:p>
            <a:pPr>
              <a:defRPr/>
            </a:pPr>
            <a:endParaRPr lang="fr-FR"/>
          </a:p>
        </p:txBody>
      </p:sp>
      <p:sp>
        <p:nvSpPr>
          <p:cNvPr id="5" name="Rectangle 6"/>
          <p:cNvSpPr>
            <a:spLocks noGrp="1" noChangeArrowheads="1"/>
          </p:cNvSpPr>
          <p:nvPr>
            <p:ph type="sldNum" sz="quarter" idx="11"/>
          </p:nvPr>
        </p:nvSpPr>
        <p:spPr>
          <a:ln/>
        </p:spPr>
        <p:txBody>
          <a:bodyPr/>
          <a:lstStyle>
            <a:lvl1pPr>
              <a:defRPr/>
            </a:lvl1pPr>
          </a:lstStyle>
          <a:p>
            <a:pPr>
              <a:defRPr/>
            </a:pPr>
            <a:fld id="{97241756-717E-4FD5-80FD-50471B9CCC94}" type="slidenum">
              <a:rPr lang="fr-FR"/>
              <a:pPr>
                <a:defRPr/>
              </a:pPr>
              <a:t>‹N°›</a:t>
            </a:fld>
            <a:endParaRPr lang="fr-FR"/>
          </a:p>
        </p:txBody>
      </p:sp>
    </p:spTree>
    <p:extLst>
      <p:ext uri="{BB962C8B-B14F-4D97-AF65-F5344CB8AC3E}">
        <p14:creationId xmlns:p14="http://schemas.microsoft.com/office/powerpoint/2010/main" val="339068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a:prstGeom prst="rect">
            <a:avLst/>
          </a:prstGeo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a:prstGeom prst="rect">
            <a:avLst/>
          </a:prstGeo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5"/>
          <p:cNvSpPr>
            <a:spLocks noGrp="1" noChangeArrowheads="1"/>
          </p:cNvSpPr>
          <p:nvPr>
            <p:ph type="ftr" sz="quarter" idx="10"/>
          </p:nvPr>
        </p:nvSpPr>
        <p:spPr>
          <a:ln/>
        </p:spPr>
        <p:txBody>
          <a:bodyPr/>
          <a:lstStyle>
            <a:lvl1pPr>
              <a:defRPr/>
            </a:lvl1pPr>
          </a:lstStyle>
          <a:p>
            <a:pPr>
              <a:defRPr/>
            </a:pPr>
            <a:endParaRPr lang="fr-FR"/>
          </a:p>
        </p:txBody>
      </p:sp>
      <p:sp>
        <p:nvSpPr>
          <p:cNvPr id="5" name="Rectangle 6"/>
          <p:cNvSpPr>
            <a:spLocks noGrp="1" noChangeArrowheads="1"/>
          </p:cNvSpPr>
          <p:nvPr>
            <p:ph type="sldNum" sz="quarter" idx="11"/>
          </p:nvPr>
        </p:nvSpPr>
        <p:spPr>
          <a:ln/>
        </p:spPr>
        <p:txBody>
          <a:bodyPr/>
          <a:lstStyle>
            <a:lvl1pPr>
              <a:defRPr/>
            </a:lvl1pPr>
          </a:lstStyle>
          <a:p>
            <a:pPr>
              <a:defRPr/>
            </a:pPr>
            <a:fld id="{D41C27C3-C1BC-4CC2-9D30-C6F533A89FEE}" type="slidenum">
              <a:rPr lang="fr-FR"/>
              <a:pPr>
                <a:defRPr/>
              </a:pPr>
              <a:t>‹N°›</a:t>
            </a:fld>
            <a:endParaRPr lang="fr-FR"/>
          </a:p>
        </p:txBody>
      </p:sp>
    </p:spTree>
    <p:extLst>
      <p:ext uri="{BB962C8B-B14F-4D97-AF65-F5344CB8AC3E}">
        <p14:creationId xmlns:p14="http://schemas.microsoft.com/office/powerpoint/2010/main" val="2064470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A8E0"/>
        </a:solidFill>
        <a:effectLst/>
      </p:bgPr>
    </p:bg>
    <p:spTree>
      <p:nvGrpSpPr>
        <p:cNvPr id="1" name=""/>
        <p:cNvGrpSpPr/>
        <p:nvPr/>
      </p:nvGrpSpPr>
      <p:grpSpPr>
        <a:xfrm>
          <a:off x="0" y="0"/>
          <a:ext cx="0" cy="0"/>
          <a:chOff x="0" y="0"/>
          <a:chExt cx="0" cy="0"/>
        </a:xfrm>
      </p:grpSpPr>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pitchFamily="34" charset="0"/>
              </a:defRPr>
            </a:lvl1pPr>
          </a:lstStyle>
          <a:p>
            <a:pPr>
              <a:defRPr/>
            </a:pPr>
            <a:endParaRPr lang="fr-F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atin typeface="Arial" pitchFamily="34" charset="0"/>
              </a:defRPr>
            </a:lvl1pPr>
          </a:lstStyle>
          <a:p>
            <a:pPr>
              <a:defRPr/>
            </a:pPr>
            <a:fld id="{2A558F78-47C6-4756-8E9E-92C7FC395674}" type="slidenum">
              <a:rPr lang="fr-FR"/>
              <a:pPr>
                <a:defRPr/>
              </a:pPr>
              <a:t>‹N°›</a:t>
            </a:fld>
            <a:endParaRPr lang="fr-FR"/>
          </a:p>
        </p:txBody>
      </p:sp>
      <p:sp>
        <p:nvSpPr>
          <p:cNvPr id="1028" name="AutoShape 7"/>
          <p:cNvSpPr>
            <a:spLocks noChangeArrowheads="1"/>
          </p:cNvSpPr>
          <p:nvPr userDrawn="1"/>
        </p:nvSpPr>
        <p:spPr bwMode="auto">
          <a:xfrm>
            <a:off x="417513" y="338138"/>
            <a:ext cx="8356600" cy="5973762"/>
          </a:xfrm>
          <a:prstGeom prst="roundRect">
            <a:avLst>
              <a:gd name="adj" fmla="val 16667"/>
            </a:avLst>
          </a:prstGeom>
          <a:solidFill>
            <a:schemeClr val="bg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 name="Text Box 13"/>
          <p:cNvSpPr txBox="1">
            <a:spLocks noChangeArrowheads="1"/>
          </p:cNvSpPr>
          <p:nvPr userDrawn="1"/>
        </p:nvSpPr>
        <p:spPr bwMode="auto">
          <a:xfrm>
            <a:off x="3924300" y="6618288"/>
            <a:ext cx="1257300"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b">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1200">
                <a:solidFill>
                  <a:schemeClr val="bg1"/>
                </a:solidFill>
              </a:rPr>
              <a:t>Incidents</a:t>
            </a:r>
          </a:p>
        </p:txBody>
      </p:sp>
      <p:sp>
        <p:nvSpPr>
          <p:cNvPr id="1041" name="Text Box 17"/>
          <p:cNvSpPr txBox="1">
            <a:spLocks noChangeArrowheads="1"/>
          </p:cNvSpPr>
          <p:nvPr userDrawn="1"/>
        </p:nvSpPr>
        <p:spPr bwMode="auto">
          <a:xfrm>
            <a:off x="0" y="6669088"/>
            <a:ext cx="2135188"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232" tIns="41116" rIns="82232" bIns="41116">
            <a:spAutoFit/>
          </a:bodyPr>
          <a:lstStyle>
            <a:lvl1pPr algn="l" defTabSz="822325">
              <a:defRPr>
                <a:solidFill>
                  <a:schemeClr val="tx1"/>
                </a:solidFill>
                <a:latin typeface="Arial" pitchFamily="34" charset="0"/>
              </a:defRPr>
            </a:lvl1pPr>
            <a:lvl2pPr marL="411163" algn="l" defTabSz="822325">
              <a:defRPr>
                <a:solidFill>
                  <a:schemeClr val="tx1"/>
                </a:solidFill>
                <a:latin typeface="Arial" pitchFamily="34" charset="0"/>
              </a:defRPr>
            </a:lvl2pPr>
            <a:lvl3pPr marL="822325" algn="l" defTabSz="822325">
              <a:defRPr>
                <a:solidFill>
                  <a:schemeClr val="tx1"/>
                </a:solidFill>
                <a:latin typeface="Arial" pitchFamily="34" charset="0"/>
              </a:defRPr>
            </a:lvl3pPr>
            <a:lvl4pPr marL="1233488" algn="l" defTabSz="822325">
              <a:defRPr>
                <a:solidFill>
                  <a:schemeClr val="tx1"/>
                </a:solidFill>
                <a:latin typeface="Arial" pitchFamily="34" charset="0"/>
              </a:defRPr>
            </a:lvl4pPr>
            <a:lvl5pPr marL="1644650" algn="l" defTabSz="822325">
              <a:defRPr>
                <a:solidFill>
                  <a:schemeClr val="tx1"/>
                </a:solidFill>
                <a:latin typeface="Arial" pitchFamily="34" charset="0"/>
              </a:defRPr>
            </a:lvl5pPr>
            <a:lvl6pPr marL="2101850" defTabSz="822325" fontAlgn="base">
              <a:spcBef>
                <a:spcPct val="0"/>
              </a:spcBef>
              <a:spcAft>
                <a:spcPct val="0"/>
              </a:spcAft>
              <a:defRPr>
                <a:solidFill>
                  <a:schemeClr val="tx1"/>
                </a:solidFill>
                <a:latin typeface="Arial" pitchFamily="34" charset="0"/>
              </a:defRPr>
            </a:lvl6pPr>
            <a:lvl7pPr marL="2559050" defTabSz="822325" fontAlgn="base">
              <a:spcBef>
                <a:spcPct val="0"/>
              </a:spcBef>
              <a:spcAft>
                <a:spcPct val="0"/>
              </a:spcAft>
              <a:defRPr>
                <a:solidFill>
                  <a:schemeClr val="tx1"/>
                </a:solidFill>
                <a:latin typeface="Arial" pitchFamily="34" charset="0"/>
              </a:defRPr>
            </a:lvl7pPr>
            <a:lvl8pPr marL="3016250" defTabSz="822325" fontAlgn="base">
              <a:spcBef>
                <a:spcPct val="0"/>
              </a:spcBef>
              <a:spcAft>
                <a:spcPct val="0"/>
              </a:spcAft>
              <a:defRPr>
                <a:solidFill>
                  <a:schemeClr val="tx1"/>
                </a:solidFill>
                <a:latin typeface="Arial" pitchFamily="34" charset="0"/>
              </a:defRPr>
            </a:lvl8pPr>
            <a:lvl9pPr marL="3473450" defTabSz="822325" fontAlgn="base">
              <a:spcBef>
                <a:spcPct val="0"/>
              </a:spcBef>
              <a:spcAft>
                <a:spcPct val="0"/>
              </a:spcAft>
              <a:defRPr>
                <a:solidFill>
                  <a:schemeClr val="tx1"/>
                </a:solidFill>
                <a:latin typeface="Arial" pitchFamily="34" charset="0"/>
              </a:defRPr>
            </a:lvl9pPr>
          </a:lstStyle>
          <a:p>
            <a:pPr eaLnBrk="0" hangingPunct="0">
              <a:defRPr/>
            </a:pPr>
            <a:r>
              <a:rPr lang="fr-FR" sz="700" smtClean="0">
                <a:solidFill>
                  <a:schemeClr val="bg1"/>
                </a:solidFill>
              </a:rPr>
              <a:t>JEU DU KANBAN</a:t>
            </a:r>
            <a:r>
              <a:rPr lang="fr-FR" sz="700" baseline="30000" smtClean="0">
                <a:solidFill>
                  <a:schemeClr val="bg1"/>
                </a:solidFill>
                <a:cs typeface="Arial" pitchFamily="34" charset="0"/>
              </a:rPr>
              <a:t>®</a:t>
            </a:r>
            <a:r>
              <a:rPr lang="fr-FR" sz="700" smtClean="0">
                <a:solidFill>
                  <a:schemeClr val="bg1"/>
                </a:solidFill>
              </a:rPr>
              <a:t> - CIPE / Tous Droits Réservés</a:t>
            </a:r>
          </a:p>
        </p:txBody>
      </p:sp>
      <p:grpSp>
        <p:nvGrpSpPr>
          <p:cNvPr id="1031" name="Group 18"/>
          <p:cNvGrpSpPr>
            <a:grpSpLocks/>
          </p:cNvGrpSpPr>
          <p:nvPr userDrawn="1"/>
        </p:nvGrpSpPr>
        <p:grpSpPr bwMode="auto">
          <a:xfrm>
            <a:off x="1246188" y="2211388"/>
            <a:ext cx="6688137" cy="3735387"/>
            <a:chOff x="785" y="1393"/>
            <a:chExt cx="4213" cy="2353"/>
          </a:xfrm>
        </p:grpSpPr>
        <p:sp>
          <p:nvSpPr>
            <p:cNvPr id="1032" name="Line 19"/>
            <p:cNvSpPr>
              <a:spLocks noChangeShapeType="1"/>
            </p:cNvSpPr>
            <p:nvPr userDrawn="1"/>
          </p:nvSpPr>
          <p:spPr bwMode="auto">
            <a:xfrm>
              <a:off x="785" y="2431"/>
              <a:ext cx="4210" cy="0"/>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33" name="Line 20"/>
            <p:cNvSpPr>
              <a:spLocks noChangeShapeType="1"/>
            </p:cNvSpPr>
            <p:nvPr userDrawn="1"/>
          </p:nvSpPr>
          <p:spPr bwMode="auto">
            <a:xfrm>
              <a:off x="785" y="3089"/>
              <a:ext cx="4206" cy="0"/>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34" name="Rectangle 21"/>
            <p:cNvSpPr>
              <a:spLocks noChangeArrowheads="1"/>
            </p:cNvSpPr>
            <p:nvPr userDrawn="1"/>
          </p:nvSpPr>
          <p:spPr bwMode="auto">
            <a:xfrm>
              <a:off x="789" y="1706"/>
              <a:ext cx="4207" cy="204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35" name="Rectangle 22"/>
            <p:cNvSpPr>
              <a:spLocks noChangeArrowheads="1"/>
            </p:cNvSpPr>
            <p:nvPr userDrawn="1"/>
          </p:nvSpPr>
          <p:spPr bwMode="auto">
            <a:xfrm>
              <a:off x="789" y="1393"/>
              <a:ext cx="4209" cy="315"/>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sz="2400">
                <a:solidFill>
                  <a:srgbClr val="0033CC"/>
                </a:solidFill>
              </a:endParaRPr>
            </a:p>
          </p:txBody>
        </p:sp>
        <p:sp>
          <p:nvSpPr>
            <p:cNvPr id="1036" name="Line 23"/>
            <p:cNvSpPr>
              <a:spLocks noChangeShapeType="1"/>
            </p:cNvSpPr>
            <p:nvPr userDrawn="1"/>
          </p:nvSpPr>
          <p:spPr bwMode="auto">
            <a:xfrm>
              <a:off x="2880" y="1712"/>
              <a:ext cx="0" cy="2032"/>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2" descr="C:\Users\bertrands\Dropbox\PRODUCTION\2013 Illustrations Logo jeux\06-Logos jeux Validés\JPG rvb 240dpi A5\2012-LogoBL CIPE-72dpi-RVB.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6820" y="5805265"/>
            <a:ext cx="2130359" cy="84450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C:\Users\BertrandS\Dropbox\Marketing\logos Jeux\a logos 300 dpi\kanban_300dpi.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3587" y="595485"/>
            <a:ext cx="4656826" cy="350232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p:cNvSpPr txBox="1">
            <a:spLocks noChangeArrowheads="1"/>
          </p:cNvSpPr>
          <p:nvPr/>
        </p:nvSpPr>
        <p:spPr bwMode="auto">
          <a:xfrm>
            <a:off x="430213" y="4516056"/>
            <a:ext cx="8229600" cy="6477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r>
              <a:rPr lang="fr-FR" altLang="fr-FR" sz="3600" b="1" kern="0" dirty="0" smtClean="0">
                <a:solidFill>
                  <a:srgbClr val="27A8E0"/>
                </a:solidFill>
                <a:latin typeface="Calibri" panose="020F0502020204030204" pitchFamily="34" charset="0"/>
              </a:rPr>
              <a:t>Dossier Incidents</a:t>
            </a:r>
          </a:p>
        </p:txBody>
      </p:sp>
    </p:spTree>
    <p:extLst>
      <p:ext uri="{BB962C8B-B14F-4D97-AF65-F5344CB8AC3E}">
        <p14:creationId xmlns:p14="http://schemas.microsoft.com/office/powerpoint/2010/main" val="5501315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show="0">
  <p:cSld>
    <p:bg>
      <p:bgPr>
        <a:solidFill>
          <a:schemeClr val="bg1"/>
        </a:solidFill>
        <a:effectLst/>
      </p:bgPr>
    </p:bg>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bwMode="auto">
          <a:xfrm>
            <a:off x="430213" y="152400"/>
            <a:ext cx="8229600" cy="6477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eaLnBrk="1" hangingPunct="1"/>
            <a:r>
              <a:rPr lang="fr-FR" altLang="fr-FR" sz="3000" dirty="0" smtClean="0">
                <a:solidFill>
                  <a:srgbClr val="0033CC"/>
                </a:solidFill>
              </a:rPr>
              <a:t>Conseils pour l’animateur</a:t>
            </a:r>
          </a:p>
        </p:txBody>
      </p:sp>
      <p:sp>
        <p:nvSpPr>
          <p:cNvPr id="3075" name="Rectangle 5"/>
          <p:cNvSpPr>
            <a:spLocks noGrp="1" noChangeArrowheads="1"/>
          </p:cNvSpPr>
          <p:nvPr>
            <p:ph type="body" idx="1"/>
          </p:nvPr>
        </p:nvSpPr>
        <p:spPr bwMode="auto">
          <a:xfrm>
            <a:off x="334963" y="1203325"/>
            <a:ext cx="8453437" cy="16875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274638" indent="-274638" eaLnBrk="1" hangingPunct="1">
              <a:spcBef>
                <a:spcPct val="0"/>
              </a:spcBef>
            </a:pPr>
            <a:r>
              <a:rPr lang="fr-FR" altLang="fr-FR" sz="2000" smtClean="0">
                <a:solidFill>
                  <a:schemeClr val="accent2"/>
                </a:solidFill>
              </a:rPr>
              <a:t>Certaines des diapos qui suivent sont destinées à l’animateur, d’autres aux participants.</a:t>
            </a:r>
          </a:p>
          <a:p>
            <a:pPr marL="274638" indent="-274638" eaLnBrk="1" hangingPunct="1">
              <a:spcBef>
                <a:spcPct val="0"/>
              </a:spcBef>
            </a:pPr>
            <a:endParaRPr lang="fr-FR" altLang="fr-FR" sz="2000" smtClean="0">
              <a:solidFill>
                <a:schemeClr val="accent2"/>
              </a:solidFill>
            </a:endParaRPr>
          </a:p>
          <a:p>
            <a:pPr marL="274638" indent="-274638" eaLnBrk="1" hangingPunct="1">
              <a:spcBef>
                <a:spcPct val="0"/>
              </a:spcBef>
            </a:pPr>
            <a:r>
              <a:rPr lang="fr-FR" altLang="fr-FR" sz="2000" smtClean="0">
                <a:solidFill>
                  <a:schemeClr val="accent2"/>
                </a:solidFill>
              </a:rPr>
              <a:t>Les diapos destinées à l’animateur sont masquées au moment de la projection et signalées par le logo ci-dessous.</a:t>
            </a:r>
          </a:p>
        </p:txBody>
      </p:sp>
      <p:pic>
        <p:nvPicPr>
          <p:cNvPr id="5" name="Picture 2" descr="C:\Users\BertrandS\Dropbox\Jeux\00. CONCEPTION DES JEUX\photos\Bureau Une Femme 29\iStock_000002139332_Medium ALLEGE.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3800769" y="3300482"/>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show="0">
  <p:cSld>
    <p:bg>
      <p:bgPr>
        <a:solidFill>
          <a:schemeClr val="bg1"/>
        </a:solidFill>
        <a:effectLst/>
      </p:bgPr>
    </p:bg>
    <p:spTree>
      <p:nvGrpSpPr>
        <p:cNvPr id="1" name=""/>
        <p:cNvGrpSpPr/>
        <p:nvPr/>
      </p:nvGrpSpPr>
      <p:grpSpPr>
        <a:xfrm>
          <a:off x="0" y="0"/>
          <a:ext cx="0" cy="0"/>
          <a:chOff x="0" y="0"/>
          <a:chExt cx="0" cy="0"/>
        </a:xfrm>
      </p:grpSpPr>
      <p:sp>
        <p:nvSpPr>
          <p:cNvPr id="4098" name="Rectangle 3"/>
          <p:cNvSpPr>
            <a:spLocks noGrp="1" noChangeArrowheads="1"/>
          </p:cNvSpPr>
          <p:nvPr>
            <p:ph type="body" idx="1"/>
          </p:nvPr>
        </p:nvSpPr>
        <p:spPr bwMode="auto">
          <a:xfrm>
            <a:off x="400050" y="1222375"/>
            <a:ext cx="8477250" cy="50942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r>
              <a:rPr lang="fr-FR" altLang="fr-FR" sz="1800" smtClean="0">
                <a:solidFill>
                  <a:srgbClr val="0033CC"/>
                </a:solidFill>
              </a:rPr>
              <a:t>Tirage au sort</a:t>
            </a:r>
          </a:p>
          <a:p>
            <a:pPr lvl="1" eaLnBrk="1" hangingPunct="1"/>
            <a:r>
              <a:rPr lang="fr-FR" altLang="fr-FR" sz="1600" smtClean="0">
                <a:solidFill>
                  <a:srgbClr val="0033CC"/>
                </a:solidFill>
              </a:rPr>
              <a:t>Un incident survient quand le dé tombe sur un 1 ou un 6.</a:t>
            </a:r>
          </a:p>
          <a:p>
            <a:pPr lvl="1" eaLnBrk="1" hangingPunct="1"/>
            <a:r>
              <a:rPr lang="fr-FR" altLang="fr-FR" sz="1600" smtClean="0">
                <a:solidFill>
                  <a:srgbClr val="0033CC"/>
                </a:solidFill>
              </a:rPr>
              <a:t>Le tirage d’une table s’applique à toutes les tables. Chaque table tire le dé à son tour, de façon à mieux répartir la responsabilité du tirage.</a:t>
            </a:r>
          </a:p>
          <a:p>
            <a:pPr lvl="1" eaLnBrk="1" hangingPunct="1"/>
            <a:r>
              <a:rPr lang="fr-FR" altLang="fr-FR" sz="1600" smtClean="0">
                <a:solidFill>
                  <a:srgbClr val="0033CC"/>
                </a:solidFill>
              </a:rPr>
              <a:t>En cas d’incident l’animateur appelle le diaporama Incidents à l’écran.</a:t>
            </a:r>
          </a:p>
          <a:p>
            <a:pPr lvl="1" eaLnBrk="1" hangingPunct="1"/>
            <a:r>
              <a:rPr lang="fr-FR" altLang="fr-FR" sz="1600" smtClean="0">
                <a:solidFill>
                  <a:srgbClr val="0033CC"/>
                </a:solidFill>
              </a:rPr>
              <a:t>L’animateur lit l’incident et chaque table effectue alors un deuxième tirage qui détermine la gravité de l’incident.</a:t>
            </a:r>
          </a:p>
          <a:p>
            <a:pPr lvl="1" eaLnBrk="1" hangingPunct="1"/>
            <a:r>
              <a:rPr lang="fr-FR" altLang="fr-FR" sz="1600" smtClean="0">
                <a:solidFill>
                  <a:srgbClr val="0033CC"/>
                </a:solidFill>
              </a:rPr>
              <a:t>Ce deuxième tirage, contrairement au premier, s’applique séparément à chaque table.</a:t>
            </a:r>
          </a:p>
          <a:p>
            <a:pPr eaLnBrk="1" hangingPunct="1"/>
            <a:r>
              <a:rPr lang="fr-FR" altLang="fr-FR" sz="1800" smtClean="0">
                <a:solidFill>
                  <a:srgbClr val="0033CC"/>
                </a:solidFill>
              </a:rPr>
              <a:t>Commentaires sur les incidents</a:t>
            </a:r>
          </a:p>
          <a:p>
            <a:pPr lvl="1" eaLnBrk="1" hangingPunct="1"/>
            <a:r>
              <a:rPr lang="fr-FR" altLang="fr-FR" sz="1600" smtClean="0">
                <a:solidFill>
                  <a:srgbClr val="0033CC"/>
                </a:solidFill>
              </a:rPr>
              <a:t>Nous n’expliquons pas sur les cartes pourquoi un incident donné a des conséquences différentes suivant le tirage du dé.</a:t>
            </a:r>
          </a:p>
          <a:p>
            <a:pPr lvl="1" eaLnBrk="1" hangingPunct="1"/>
            <a:r>
              <a:rPr lang="fr-FR" altLang="fr-FR" sz="1600" smtClean="0">
                <a:solidFill>
                  <a:srgbClr val="0033CC"/>
                </a:solidFill>
              </a:rPr>
              <a:t>Nous conseillons à l’animateur de poser la question aux participants.</a:t>
            </a:r>
          </a:p>
          <a:p>
            <a:pPr lvl="1" eaLnBrk="1" hangingPunct="1"/>
            <a:r>
              <a:rPr lang="fr-FR" altLang="fr-FR" sz="1600" smtClean="0">
                <a:solidFill>
                  <a:srgbClr val="0033CC"/>
                </a:solidFill>
              </a:rPr>
              <a:t>Une réponse est donnée dans la zone Commentaires de la diapositive.</a:t>
            </a:r>
          </a:p>
          <a:p>
            <a:pPr eaLnBrk="1" hangingPunct="1"/>
            <a:endParaRPr lang="fr-FR" altLang="fr-FR" sz="1800" smtClean="0">
              <a:solidFill>
                <a:srgbClr val="0033CC"/>
              </a:solidFill>
            </a:endParaRPr>
          </a:p>
        </p:txBody>
      </p:sp>
      <p:sp>
        <p:nvSpPr>
          <p:cNvPr id="4099" name="Rectangle 5"/>
          <p:cNvSpPr>
            <a:spLocks noGrp="1" noChangeArrowheads="1"/>
          </p:cNvSpPr>
          <p:nvPr>
            <p:ph type="title"/>
          </p:nvPr>
        </p:nvSpPr>
        <p:spPr bwMode="auto">
          <a:xfrm>
            <a:off x="1157288" y="168275"/>
            <a:ext cx="6459537" cy="5508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r>
              <a:rPr lang="fr-FR" altLang="fr-FR" sz="3000" smtClean="0">
                <a:solidFill>
                  <a:srgbClr val="0033CC"/>
                </a:solidFill>
              </a:rPr>
              <a:t>Tirage des incidents</a:t>
            </a:r>
          </a:p>
        </p:txBody>
      </p:sp>
      <p:grpSp>
        <p:nvGrpSpPr>
          <p:cNvPr id="4101" name="Group 7"/>
          <p:cNvGrpSpPr>
            <a:grpSpLocks/>
          </p:cNvGrpSpPr>
          <p:nvPr/>
        </p:nvGrpSpPr>
        <p:grpSpPr bwMode="auto">
          <a:xfrm>
            <a:off x="4094163" y="781050"/>
            <a:ext cx="525462" cy="630238"/>
            <a:chOff x="868" y="1439"/>
            <a:chExt cx="811" cy="972"/>
          </a:xfrm>
        </p:grpSpPr>
        <p:sp>
          <p:nvSpPr>
            <p:cNvPr id="4102" name="Freeform 8"/>
            <p:cNvSpPr>
              <a:spLocks/>
            </p:cNvSpPr>
            <p:nvPr/>
          </p:nvSpPr>
          <p:spPr bwMode="auto">
            <a:xfrm>
              <a:off x="1548" y="2014"/>
              <a:ext cx="123" cy="100"/>
            </a:xfrm>
            <a:custGeom>
              <a:avLst/>
              <a:gdLst>
                <a:gd name="T0" fmla="*/ 122 w 618"/>
                <a:gd name="T1" fmla="*/ 0 h 502"/>
                <a:gd name="T2" fmla="*/ 121 w 618"/>
                <a:gd name="T3" fmla="*/ 0 h 502"/>
                <a:gd name="T4" fmla="*/ 0 w 618"/>
                <a:gd name="T5" fmla="*/ 98 h 502"/>
                <a:gd name="T6" fmla="*/ 2 w 618"/>
                <a:gd name="T7" fmla="*/ 100 h 502"/>
                <a:gd name="T8" fmla="*/ 123 w 618"/>
                <a:gd name="T9" fmla="*/ 3 h 502"/>
                <a:gd name="T10" fmla="*/ 122 w 618"/>
                <a:gd name="T11" fmla="*/ 3 h 502"/>
                <a:gd name="T12" fmla="*/ 123 w 618"/>
                <a:gd name="T13" fmla="*/ 3 h 502"/>
                <a:gd name="T14" fmla="*/ 123 w 618"/>
                <a:gd name="T15" fmla="*/ 2 h 502"/>
                <a:gd name="T16" fmla="*/ 123 w 618"/>
                <a:gd name="T17" fmla="*/ 1 h 502"/>
                <a:gd name="T18" fmla="*/ 122 w 618"/>
                <a:gd name="T19" fmla="*/ 0 h 502"/>
                <a:gd name="T20" fmla="*/ 121 w 618"/>
                <a:gd name="T21" fmla="*/ 0 h 502"/>
                <a:gd name="T22" fmla="*/ 122 w 618"/>
                <a:gd name="T23" fmla="*/ 0 h 5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18" h="502">
                  <a:moveTo>
                    <a:pt x="611" y="0"/>
                  </a:moveTo>
                  <a:lnTo>
                    <a:pt x="606" y="2"/>
                  </a:lnTo>
                  <a:lnTo>
                    <a:pt x="0" y="490"/>
                  </a:lnTo>
                  <a:lnTo>
                    <a:pt x="10" y="502"/>
                  </a:lnTo>
                  <a:lnTo>
                    <a:pt x="616" y="14"/>
                  </a:lnTo>
                  <a:lnTo>
                    <a:pt x="611" y="16"/>
                  </a:lnTo>
                  <a:lnTo>
                    <a:pt x="616" y="14"/>
                  </a:lnTo>
                  <a:lnTo>
                    <a:pt x="618" y="9"/>
                  </a:lnTo>
                  <a:lnTo>
                    <a:pt x="617" y="3"/>
                  </a:lnTo>
                  <a:lnTo>
                    <a:pt x="612" y="1"/>
                  </a:lnTo>
                  <a:lnTo>
                    <a:pt x="606" y="2"/>
                  </a:lnTo>
                  <a:lnTo>
                    <a:pt x="6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3" name="Freeform 9"/>
            <p:cNvSpPr>
              <a:spLocks/>
            </p:cNvSpPr>
            <p:nvPr/>
          </p:nvSpPr>
          <p:spPr bwMode="auto">
            <a:xfrm>
              <a:off x="876" y="1852"/>
              <a:ext cx="82" cy="373"/>
            </a:xfrm>
            <a:custGeom>
              <a:avLst/>
              <a:gdLst>
                <a:gd name="T0" fmla="*/ 79 w 413"/>
                <a:gd name="T1" fmla="*/ 373 h 1865"/>
                <a:gd name="T2" fmla="*/ 82 w 413"/>
                <a:gd name="T3" fmla="*/ 371 h 1865"/>
                <a:gd name="T4" fmla="*/ 3 w 413"/>
                <a:gd name="T5" fmla="*/ 0 h 1865"/>
                <a:gd name="T6" fmla="*/ 0 w 413"/>
                <a:gd name="T7" fmla="*/ 0 h 1865"/>
                <a:gd name="T8" fmla="*/ 79 w 413"/>
                <a:gd name="T9" fmla="*/ 372 h 1865"/>
                <a:gd name="T10" fmla="*/ 81 w 413"/>
                <a:gd name="T11" fmla="*/ 370 h 1865"/>
                <a:gd name="T12" fmla="*/ 79 w 413"/>
                <a:gd name="T13" fmla="*/ 372 h 1865"/>
                <a:gd name="T14" fmla="*/ 79 w 413"/>
                <a:gd name="T15" fmla="*/ 373 h 1865"/>
                <a:gd name="T16" fmla="*/ 81 w 413"/>
                <a:gd name="T17" fmla="*/ 373 h 1865"/>
                <a:gd name="T18" fmla="*/ 81 w 413"/>
                <a:gd name="T19" fmla="*/ 372 h 1865"/>
                <a:gd name="T20" fmla="*/ 82 w 413"/>
                <a:gd name="T21" fmla="*/ 371 h 1865"/>
                <a:gd name="T22" fmla="*/ 79 w 413"/>
                <a:gd name="T23" fmla="*/ 373 h 18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3" h="1865">
                  <a:moveTo>
                    <a:pt x="400" y="1864"/>
                  </a:moveTo>
                  <a:lnTo>
                    <a:pt x="413" y="1856"/>
                  </a:lnTo>
                  <a:lnTo>
                    <a:pt x="17" y="0"/>
                  </a:lnTo>
                  <a:lnTo>
                    <a:pt x="0" y="2"/>
                  </a:lnTo>
                  <a:lnTo>
                    <a:pt x="396" y="1858"/>
                  </a:lnTo>
                  <a:lnTo>
                    <a:pt x="409" y="1850"/>
                  </a:lnTo>
                  <a:lnTo>
                    <a:pt x="396" y="1858"/>
                  </a:lnTo>
                  <a:lnTo>
                    <a:pt x="400" y="1864"/>
                  </a:lnTo>
                  <a:lnTo>
                    <a:pt x="406" y="1865"/>
                  </a:lnTo>
                  <a:lnTo>
                    <a:pt x="410" y="1862"/>
                  </a:lnTo>
                  <a:lnTo>
                    <a:pt x="413" y="1856"/>
                  </a:lnTo>
                  <a:lnTo>
                    <a:pt x="400" y="18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4" name="Freeform 10"/>
            <p:cNvSpPr>
              <a:spLocks/>
            </p:cNvSpPr>
            <p:nvPr/>
          </p:nvSpPr>
          <p:spPr bwMode="auto">
            <a:xfrm>
              <a:off x="1282" y="1533"/>
              <a:ext cx="35" cy="161"/>
            </a:xfrm>
            <a:custGeom>
              <a:avLst/>
              <a:gdLst>
                <a:gd name="T0" fmla="*/ 34 w 175"/>
                <a:gd name="T1" fmla="*/ 148 h 807"/>
                <a:gd name="T2" fmla="*/ 34 w 175"/>
                <a:gd name="T3" fmla="*/ 147 h 807"/>
                <a:gd name="T4" fmla="*/ 30 w 175"/>
                <a:gd name="T5" fmla="*/ 139 h 807"/>
                <a:gd name="T6" fmla="*/ 27 w 175"/>
                <a:gd name="T7" fmla="*/ 131 h 807"/>
                <a:gd name="T8" fmla="*/ 24 w 175"/>
                <a:gd name="T9" fmla="*/ 122 h 807"/>
                <a:gd name="T10" fmla="*/ 22 w 175"/>
                <a:gd name="T11" fmla="*/ 113 h 807"/>
                <a:gd name="T12" fmla="*/ 20 w 175"/>
                <a:gd name="T13" fmla="*/ 104 h 807"/>
                <a:gd name="T14" fmla="*/ 19 w 175"/>
                <a:gd name="T15" fmla="*/ 94 h 807"/>
                <a:gd name="T16" fmla="*/ 19 w 175"/>
                <a:gd name="T17" fmla="*/ 85 h 807"/>
                <a:gd name="T18" fmla="*/ 19 w 175"/>
                <a:gd name="T19" fmla="*/ 75 h 807"/>
                <a:gd name="T20" fmla="*/ 19 w 175"/>
                <a:gd name="T21" fmla="*/ 66 h 807"/>
                <a:gd name="T22" fmla="*/ 20 w 175"/>
                <a:gd name="T23" fmla="*/ 56 h 807"/>
                <a:gd name="T24" fmla="*/ 21 w 175"/>
                <a:gd name="T25" fmla="*/ 47 h 807"/>
                <a:gd name="T26" fmla="*/ 23 w 175"/>
                <a:gd name="T27" fmla="*/ 39 h 807"/>
                <a:gd name="T28" fmla="*/ 25 w 175"/>
                <a:gd name="T29" fmla="*/ 31 h 807"/>
                <a:gd name="T30" fmla="*/ 28 w 175"/>
                <a:gd name="T31" fmla="*/ 23 h 807"/>
                <a:gd name="T32" fmla="*/ 31 w 175"/>
                <a:gd name="T33" fmla="*/ 15 h 807"/>
                <a:gd name="T34" fmla="*/ 34 w 175"/>
                <a:gd name="T35" fmla="*/ 9 h 807"/>
                <a:gd name="T36" fmla="*/ 17 w 175"/>
                <a:gd name="T37" fmla="*/ 0 h 807"/>
                <a:gd name="T38" fmla="*/ 14 w 175"/>
                <a:gd name="T39" fmla="*/ 8 h 807"/>
                <a:gd name="T40" fmla="*/ 10 w 175"/>
                <a:gd name="T41" fmla="*/ 16 h 807"/>
                <a:gd name="T42" fmla="*/ 7 w 175"/>
                <a:gd name="T43" fmla="*/ 25 h 807"/>
                <a:gd name="T44" fmla="*/ 5 w 175"/>
                <a:gd name="T45" fmla="*/ 35 h 807"/>
                <a:gd name="T46" fmla="*/ 3 w 175"/>
                <a:gd name="T47" fmla="*/ 44 h 807"/>
                <a:gd name="T48" fmla="*/ 1 w 175"/>
                <a:gd name="T49" fmla="*/ 54 h 807"/>
                <a:gd name="T50" fmla="*/ 0 w 175"/>
                <a:gd name="T51" fmla="*/ 64 h 807"/>
                <a:gd name="T52" fmla="*/ 0 w 175"/>
                <a:gd name="T53" fmla="*/ 75 h 807"/>
                <a:gd name="T54" fmla="*/ 0 w 175"/>
                <a:gd name="T55" fmla="*/ 85 h 807"/>
                <a:gd name="T56" fmla="*/ 0 w 175"/>
                <a:gd name="T57" fmla="*/ 96 h 807"/>
                <a:gd name="T58" fmla="*/ 2 w 175"/>
                <a:gd name="T59" fmla="*/ 106 h 807"/>
                <a:gd name="T60" fmla="*/ 3 w 175"/>
                <a:gd name="T61" fmla="*/ 117 h 807"/>
                <a:gd name="T62" fmla="*/ 6 w 175"/>
                <a:gd name="T63" fmla="*/ 127 h 807"/>
                <a:gd name="T64" fmla="*/ 9 w 175"/>
                <a:gd name="T65" fmla="*/ 137 h 807"/>
                <a:gd name="T66" fmla="*/ 13 w 175"/>
                <a:gd name="T67" fmla="*/ 147 h 807"/>
                <a:gd name="T68" fmla="*/ 17 w 175"/>
                <a:gd name="T69" fmla="*/ 156 h 807"/>
                <a:gd name="T70" fmla="*/ 17 w 175"/>
                <a:gd name="T71" fmla="*/ 156 h 807"/>
                <a:gd name="T72" fmla="*/ 17 w 175"/>
                <a:gd name="T73" fmla="*/ 156 h 807"/>
                <a:gd name="T74" fmla="*/ 20 w 175"/>
                <a:gd name="T75" fmla="*/ 159 h 807"/>
                <a:gd name="T76" fmla="*/ 23 w 175"/>
                <a:gd name="T77" fmla="*/ 161 h 807"/>
                <a:gd name="T78" fmla="*/ 27 w 175"/>
                <a:gd name="T79" fmla="*/ 161 h 807"/>
                <a:gd name="T80" fmla="*/ 30 w 175"/>
                <a:gd name="T81" fmla="*/ 160 h 807"/>
                <a:gd name="T82" fmla="*/ 33 w 175"/>
                <a:gd name="T83" fmla="*/ 158 h 807"/>
                <a:gd name="T84" fmla="*/ 35 w 175"/>
                <a:gd name="T85" fmla="*/ 155 h 807"/>
                <a:gd name="T86" fmla="*/ 35 w 175"/>
                <a:gd name="T87" fmla="*/ 151 h 807"/>
                <a:gd name="T88" fmla="*/ 34 w 175"/>
                <a:gd name="T89" fmla="*/ 147 h 807"/>
                <a:gd name="T90" fmla="*/ 34 w 175"/>
                <a:gd name="T91" fmla="*/ 148 h 80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75" h="807">
                  <a:moveTo>
                    <a:pt x="169" y="740"/>
                  </a:moveTo>
                  <a:lnTo>
                    <a:pt x="169" y="739"/>
                  </a:lnTo>
                  <a:lnTo>
                    <a:pt x="149" y="698"/>
                  </a:lnTo>
                  <a:lnTo>
                    <a:pt x="133" y="656"/>
                  </a:lnTo>
                  <a:lnTo>
                    <a:pt x="120" y="611"/>
                  </a:lnTo>
                  <a:lnTo>
                    <a:pt x="108" y="565"/>
                  </a:lnTo>
                  <a:lnTo>
                    <a:pt x="100" y="520"/>
                  </a:lnTo>
                  <a:lnTo>
                    <a:pt x="96" y="472"/>
                  </a:lnTo>
                  <a:lnTo>
                    <a:pt x="93" y="425"/>
                  </a:lnTo>
                  <a:lnTo>
                    <a:pt x="93" y="377"/>
                  </a:lnTo>
                  <a:lnTo>
                    <a:pt x="96" y="330"/>
                  </a:lnTo>
                  <a:lnTo>
                    <a:pt x="100" y="283"/>
                  </a:lnTo>
                  <a:lnTo>
                    <a:pt x="106" y="238"/>
                  </a:lnTo>
                  <a:lnTo>
                    <a:pt x="115" y="195"/>
                  </a:lnTo>
                  <a:lnTo>
                    <a:pt x="126" y="153"/>
                  </a:lnTo>
                  <a:lnTo>
                    <a:pt x="139" y="114"/>
                  </a:lnTo>
                  <a:lnTo>
                    <a:pt x="153" y="77"/>
                  </a:lnTo>
                  <a:lnTo>
                    <a:pt x="169" y="43"/>
                  </a:lnTo>
                  <a:lnTo>
                    <a:pt x="87" y="0"/>
                  </a:lnTo>
                  <a:lnTo>
                    <a:pt x="69" y="39"/>
                  </a:lnTo>
                  <a:lnTo>
                    <a:pt x="52" y="81"/>
                  </a:lnTo>
                  <a:lnTo>
                    <a:pt x="37" y="127"/>
                  </a:lnTo>
                  <a:lnTo>
                    <a:pt x="24" y="174"/>
                  </a:lnTo>
                  <a:lnTo>
                    <a:pt x="15" y="222"/>
                  </a:lnTo>
                  <a:lnTo>
                    <a:pt x="7" y="271"/>
                  </a:lnTo>
                  <a:lnTo>
                    <a:pt x="2" y="323"/>
                  </a:lnTo>
                  <a:lnTo>
                    <a:pt x="0" y="374"/>
                  </a:lnTo>
                  <a:lnTo>
                    <a:pt x="0" y="427"/>
                  </a:lnTo>
                  <a:lnTo>
                    <a:pt x="2" y="479"/>
                  </a:lnTo>
                  <a:lnTo>
                    <a:pt x="9" y="531"/>
                  </a:lnTo>
                  <a:lnTo>
                    <a:pt x="17" y="584"/>
                  </a:lnTo>
                  <a:lnTo>
                    <a:pt x="29" y="635"/>
                  </a:lnTo>
                  <a:lnTo>
                    <a:pt x="44" y="686"/>
                  </a:lnTo>
                  <a:lnTo>
                    <a:pt x="65" y="736"/>
                  </a:lnTo>
                  <a:lnTo>
                    <a:pt x="87" y="784"/>
                  </a:lnTo>
                  <a:lnTo>
                    <a:pt x="87" y="782"/>
                  </a:lnTo>
                  <a:lnTo>
                    <a:pt x="87" y="784"/>
                  </a:lnTo>
                  <a:lnTo>
                    <a:pt x="100" y="799"/>
                  </a:lnTo>
                  <a:lnTo>
                    <a:pt x="117" y="807"/>
                  </a:lnTo>
                  <a:lnTo>
                    <a:pt x="134" y="807"/>
                  </a:lnTo>
                  <a:lnTo>
                    <a:pt x="151" y="801"/>
                  </a:lnTo>
                  <a:lnTo>
                    <a:pt x="164" y="791"/>
                  </a:lnTo>
                  <a:lnTo>
                    <a:pt x="173" y="777"/>
                  </a:lnTo>
                  <a:lnTo>
                    <a:pt x="175" y="759"/>
                  </a:lnTo>
                  <a:lnTo>
                    <a:pt x="169" y="739"/>
                  </a:lnTo>
                  <a:lnTo>
                    <a:pt x="169" y="7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5" name="Freeform 11"/>
            <p:cNvSpPr>
              <a:spLocks/>
            </p:cNvSpPr>
            <p:nvPr/>
          </p:nvSpPr>
          <p:spPr bwMode="auto">
            <a:xfrm>
              <a:off x="1299" y="1681"/>
              <a:ext cx="157" cy="281"/>
            </a:xfrm>
            <a:custGeom>
              <a:avLst/>
              <a:gdLst>
                <a:gd name="T0" fmla="*/ 156 w 787"/>
                <a:gd name="T1" fmla="*/ 267 h 1404"/>
                <a:gd name="T2" fmla="*/ 156 w 787"/>
                <a:gd name="T3" fmla="*/ 268 h 1404"/>
                <a:gd name="T4" fmla="*/ 16 w 787"/>
                <a:gd name="T5" fmla="*/ 0 h 1404"/>
                <a:gd name="T6" fmla="*/ 0 w 787"/>
                <a:gd name="T7" fmla="*/ 8 h 1404"/>
                <a:gd name="T8" fmla="*/ 139 w 787"/>
                <a:gd name="T9" fmla="*/ 276 h 1404"/>
                <a:gd name="T10" fmla="*/ 139 w 787"/>
                <a:gd name="T11" fmla="*/ 276 h 1404"/>
                <a:gd name="T12" fmla="*/ 139 w 787"/>
                <a:gd name="T13" fmla="*/ 276 h 1404"/>
                <a:gd name="T14" fmla="*/ 142 w 787"/>
                <a:gd name="T15" fmla="*/ 279 h 1404"/>
                <a:gd name="T16" fmla="*/ 145 w 787"/>
                <a:gd name="T17" fmla="*/ 281 h 1404"/>
                <a:gd name="T18" fmla="*/ 148 w 787"/>
                <a:gd name="T19" fmla="*/ 281 h 1404"/>
                <a:gd name="T20" fmla="*/ 152 w 787"/>
                <a:gd name="T21" fmla="*/ 280 h 1404"/>
                <a:gd name="T22" fmla="*/ 155 w 787"/>
                <a:gd name="T23" fmla="*/ 278 h 1404"/>
                <a:gd name="T24" fmla="*/ 156 w 787"/>
                <a:gd name="T25" fmla="*/ 275 h 1404"/>
                <a:gd name="T26" fmla="*/ 157 w 787"/>
                <a:gd name="T27" fmla="*/ 272 h 1404"/>
                <a:gd name="T28" fmla="*/ 156 w 787"/>
                <a:gd name="T29" fmla="*/ 268 h 1404"/>
                <a:gd name="T30" fmla="*/ 156 w 787"/>
                <a:gd name="T31" fmla="*/ 267 h 14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87" h="1404">
                  <a:moveTo>
                    <a:pt x="781" y="1334"/>
                  </a:moveTo>
                  <a:lnTo>
                    <a:pt x="781" y="1337"/>
                  </a:lnTo>
                  <a:lnTo>
                    <a:pt x="82" y="0"/>
                  </a:lnTo>
                  <a:lnTo>
                    <a:pt x="0" y="42"/>
                  </a:lnTo>
                  <a:lnTo>
                    <a:pt x="699" y="1379"/>
                  </a:lnTo>
                  <a:lnTo>
                    <a:pt x="699" y="1381"/>
                  </a:lnTo>
                  <a:lnTo>
                    <a:pt x="699" y="1379"/>
                  </a:lnTo>
                  <a:lnTo>
                    <a:pt x="712" y="1395"/>
                  </a:lnTo>
                  <a:lnTo>
                    <a:pt x="727" y="1402"/>
                  </a:lnTo>
                  <a:lnTo>
                    <a:pt x="744" y="1404"/>
                  </a:lnTo>
                  <a:lnTo>
                    <a:pt x="761" y="1398"/>
                  </a:lnTo>
                  <a:lnTo>
                    <a:pt x="775" y="1388"/>
                  </a:lnTo>
                  <a:lnTo>
                    <a:pt x="784" y="1373"/>
                  </a:lnTo>
                  <a:lnTo>
                    <a:pt x="787" y="1357"/>
                  </a:lnTo>
                  <a:lnTo>
                    <a:pt x="781" y="1337"/>
                  </a:lnTo>
                  <a:lnTo>
                    <a:pt x="781" y="13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6" name="Freeform 12"/>
            <p:cNvSpPr>
              <a:spLocks/>
            </p:cNvSpPr>
            <p:nvPr/>
          </p:nvSpPr>
          <p:spPr bwMode="auto">
            <a:xfrm>
              <a:off x="1439" y="1948"/>
              <a:ext cx="125" cy="76"/>
            </a:xfrm>
            <a:custGeom>
              <a:avLst/>
              <a:gdLst>
                <a:gd name="T0" fmla="*/ 116 w 628"/>
                <a:gd name="T1" fmla="*/ 57 h 383"/>
                <a:gd name="T2" fmla="*/ 116 w 628"/>
                <a:gd name="T3" fmla="*/ 57 h 383"/>
                <a:gd name="T4" fmla="*/ 108 w 628"/>
                <a:gd name="T5" fmla="*/ 57 h 383"/>
                <a:gd name="T6" fmla="*/ 100 w 628"/>
                <a:gd name="T7" fmla="*/ 56 h 383"/>
                <a:gd name="T8" fmla="*/ 92 w 628"/>
                <a:gd name="T9" fmla="*/ 55 h 383"/>
                <a:gd name="T10" fmla="*/ 84 w 628"/>
                <a:gd name="T11" fmla="*/ 53 h 383"/>
                <a:gd name="T12" fmla="*/ 77 w 628"/>
                <a:gd name="T13" fmla="*/ 51 h 383"/>
                <a:gd name="T14" fmla="*/ 70 w 628"/>
                <a:gd name="T15" fmla="*/ 48 h 383"/>
                <a:gd name="T16" fmla="*/ 64 w 628"/>
                <a:gd name="T17" fmla="*/ 45 h 383"/>
                <a:gd name="T18" fmla="*/ 57 w 628"/>
                <a:gd name="T19" fmla="*/ 41 h 383"/>
                <a:gd name="T20" fmla="*/ 51 w 628"/>
                <a:gd name="T21" fmla="*/ 38 h 383"/>
                <a:gd name="T22" fmla="*/ 45 w 628"/>
                <a:gd name="T23" fmla="*/ 33 h 383"/>
                <a:gd name="T24" fmla="*/ 39 w 628"/>
                <a:gd name="T25" fmla="*/ 29 h 383"/>
                <a:gd name="T26" fmla="*/ 34 w 628"/>
                <a:gd name="T27" fmla="*/ 24 h 383"/>
                <a:gd name="T28" fmla="*/ 29 w 628"/>
                <a:gd name="T29" fmla="*/ 18 h 383"/>
                <a:gd name="T30" fmla="*/ 24 w 628"/>
                <a:gd name="T31" fmla="*/ 13 h 383"/>
                <a:gd name="T32" fmla="*/ 20 w 628"/>
                <a:gd name="T33" fmla="*/ 7 h 383"/>
                <a:gd name="T34" fmla="*/ 16 w 628"/>
                <a:gd name="T35" fmla="*/ 0 h 383"/>
                <a:gd name="T36" fmla="*/ 0 w 628"/>
                <a:gd name="T37" fmla="*/ 9 h 383"/>
                <a:gd name="T38" fmla="*/ 5 w 628"/>
                <a:gd name="T39" fmla="*/ 17 h 383"/>
                <a:gd name="T40" fmla="*/ 10 w 628"/>
                <a:gd name="T41" fmla="*/ 24 h 383"/>
                <a:gd name="T42" fmla="*/ 15 w 628"/>
                <a:gd name="T43" fmla="*/ 30 h 383"/>
                <a:gd name="T44" fmla="*/ 21 w 628"/>
                <a:gd name="T45" fmla="*/ 37 h 383"/>
                <a:gd name="T46" fmla="*/ 27 w 628"/>
                <a:gd name="T47" fmla="*/ 43 h 383"/>
                <a:gd name="T48" fmla="*/ 34 w 628"/>
                <a:gd name="T49" fmla="*/ 48 h 383"/>
                <a:gd name="T50" fmla="*/ 41 w 628"/>
                <a:gd name="T51" fmla="*/ 53 h 383"/>
                <a:gd name="T52" fmla="*/ 48 w 628"/>
                <a:gd name="T53" fmla="*/ 57 h 383"/>
                <a:gd name="T54" fmla="*/ 55 w 628"/>
                <a:gd name="T55" fmla="*/ 61 h 383"/>
                <a:gd name="T56" fmla="*/ 63 w 628"/>
                <a:gd name="T57" fmla="*/ 65 h 383"/>
                <a:gd name="T58" fmla="*/ 71 w 628"/>
                <a:gd name="T59" fmla="*/ 68 h 383"/>
                <a:gd name="T60" fmla="*/ 80 w 628"/>
                <a:gd name="T61" fmla="*/ 71 h 383"/>
                <a:gd name="T62" fmla="*/ 88 w 628"/>
                <a:gd name="T63" fmla="*/ 73 h 383"/>
                <a:gd name="T64" fmla="*/ 97 w 628"/>
                <a:gd name="T65" fmla="*/ 74 h 383"/>
                <a:gd name="T66" fmla="*/ 106 w 628"/>
                <a:gd name="T67" fmla="*/ 75 h 383"/>
                <a:gd name="T68" fmla="*/ 115 w 628"/>
                <a:gd name="T69" fmla="*/ 76 h 383"/>
                <a:gd name="T70" fmla="*/ 116 w 628"/>
                <a:gd name="T71" fmla="*/ 76 h 383"/>
                <a:gd name="T72" fmla="*/ 115 w 628"/>
                <a:gd name="T73" fmla="*/ 76 h 383"/>
                <a:gd name="T74" fmla="*/ 119 w 628"/>
                <a:gd name="T75" fmla="*/ 75 h 383"/>
                <a:gd name="T76" fmla="*/ 122 w 628"/>
                <a:gd name="T77" fmla="*/ 73 h 383"/>
                <a:gd name="T78" fmla="*/ 124 w 628"/>
                <a:gd name="T79" fmla="*/ 70 h 383"/>
                <a:gd name="T80" fmla="*/ 125 w 628"/>
                <a:gd name="T81" fmla="*/ 67 h 383"/>
                <a:gd name="T82" fmla="*/ 124 w 628"/>
                <a:gd name="T83" fmla="*/ 63 h 383"/>
                <a:gd name="T84" fmla="*/ 123 w 628"/>
                <a:gd name="T85" fmla="*/ 60 h 383"/>
                <a:gd name="T86" fmla="*/ 120 w 628"/>
                <a:gd name="T87" fmla="*/ 58 h 383"/>
                <a:gd name="T88" fmla="*/ 116 w 628"/>
                <a:gd name="T89" fmla="*/ 57 h 383"/>
                <a:gd name="T90" fmla="*/ 116 w 628"/>
                <a:gd name="T91" fmla="*/ 57 h 38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28" h="383">
                  <a:moveTo>
                    <a:pt x="581" y="289"/>
                  </a:moveTo>
                  <a:lnTo>
                    <a:pt x="582" y="289"/>
                  </a:lnTo>
                  <a:lnTo>
                    <a:pt x="541" y="287"/>
                  </a:lnTo>
                  <a:lnTo>
                    <a:pt x="500" y="283"/>
                  </a:lnTo>
                  <a:lnTo>
                    <a:pt x="462" y="276"/>
                  </a:lnTo>
                  <a:lnTo>
                    <a:pt x="424" y="268"/>
                  </a:lnTo>
                  <a:lnTo>
                    <a:pt x="389" y="255"/>
                  </a:lnTo>
                  <a:lnTo>
                    <a:pt x="352" y="242"/>
                  </a:lnTo>
                  <a:lnTo>
                    <a:pt x="320" y="227"/>
                  </a:lnTo>
                  <a:lnTo>
                    <a:pt x="287" y="209"/>
                  </a:lnTo>
                  <a:lnTo>
                    <a:pt x="255" y="189"/>
                  </a:lnTo>
                  <a:lnTo>
                    <a:pt x="226" y="168"/>
                  </a:lnTo>
                  <a:lnTo>
                    <a:pt x="198" y="145"/>
                  </a:lnTo>
                  <a:lnTo>
                    <a:pt x="172" y="119"/>
                  </a:lnTo>
                  <a:lnTo>
                    <a:pt x="146" y="92"/>
                  </a:lnTo>
                  <a:lnTo>
                    <a:pt x="122" y="64"/>
                  </a:lnTo>
                  <a:lnTo>
                    <a:pt x="100" y="33"/>
                  </a:lnTo>
                  <a:lnTo>
                    <a:pt x="82" y="0"/>
                  </a:lnTo>
                  <a:lnTo>
                    <a:pt x="0" y="47"/>
                  </a:lnTo>
                  <a:lnTo>
                    <a:pt x="23" y="85"/>
                  </a:lnTo>
                  <a:lnTo>
                    <a:pt x="49" y="120"/>
                  </a:lnTo>
                  <a:lnTo>
                    <a:pt x="76" y="153"/>
                  </a:lnTo>
                  <a:lnTo>
                    <a:pt x="104" y="185"/>
                  </a:lnTo>
                  <a:lnTo>
                    <a:pt x="137" y="215"/>
                  </a:lnTo>
                  <a:lnTo>
                    <a:pt x="170" y="241"/>
                  </a:lnTo>
                  <a:lnTo>
                    <a:pt x="204" y="267"/>
                  </a:lnTo>
                  <a:lnTo>
                    <a:pt x="240" y="289"/>
                  </a:lnTo>
                  <a:lnTo>
                    <a:pt x="277" y="309"/>
                  </a:lnTo>
                  <a:lnTo>
                    <a:pt x="317" y="329"/>
                  </a:lnTo>
                  <a:lnTo>
                    <a:pt x="358" y="344"/>
                  </a:lnTo>
                  <a:lnTo>
                    <a:pt x="400" y="357"/>
                  </a:lnTo>
                  <a:lnTo>
                    <a:pt x="444" y="367"/>
                  </a:lnTo>
                  <a:lnTo>
                    <a:pt x="488" y="374"/>
                  </a:lnTo>
                  <a:lnTo>
                    <a:pt x="534" y="380"/>
                  </a:lnTo>
                  <a:lnTo>
                    <a:pt x="580" y="383"/>
                  </a:lnTo>
                  <a:lnTo>
                    <a:pt x="581" y="383"/>
                  </a:lnTo>
                  <a:lnTo>
                    <a:pt x="580" y="383"/>
                  </a:lnTo>
                  <a:lnTo>
                    <a:pt x="600" y="379"/>
                  </a:lnTo>
                  <a:lnTo>
                    <a:pt x="615" y="369"/>
                  </a:lnTo>
                  <a:lnTo>
                    <a:pt x="624" y="353"/>
                  </a:lnTo>
                  <a:lnTo>
                    <a:pt x="628" y="337"/>
                  </a:lnTo>
                  <a:lnTo>
                    <a:pt x="625" y="319"/>
                  </a:lnTo>
                  <a:lnTo>
                    <a:pt x="617" y="304"/>
                  </a:lnTo>
                  <a:lnTo>
                    <a:pt x="602" y="294"/>
                  </a:lnTo>
                  <a:lnTo>
                    <a:pt x="582" y="289"/>
                  </a:lnTo>
                  <a:lnTo>
                    <a:pt x="581" y="28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7" name="Freeform 13"/>
            <p:cNvSpPr>
              <a:spLocks/>
            </p:cNvSpPr>
            <p:nvPr/>
          </p:nvSpPr>
          <p:spPr bwMode="auto">
            <a:xfrm>
              <a:off x="1587" y="1880"/>
              <a:ext cx="85" cy="49"/>
            </a:xfrm>
            <a:custGeom>
              <a:avLst/>
              <a:gdLst>
                <a:gd name="T0" fmla="*/ 85 w 426"/>
                <a:gd name="T1" fmla="*/ 0 h 245"/>
                <a:gd name="T2" fmla="*/ 85 w 426"/>
                <a:gd name="T3" fmla="*/ 0 h 245"/>
                <a:gd name="T4" fmla="*/ 77 w 426"/>
                <a:gd name="T5" fmla="*/ 0 h 245"/>
                <a:gd name="T6" fmla="*/ 68 w 426"/>
                <a:gd name="T7" fmla="*/ 1 h 245"/>
                <a:gd name="T8" fmla="*/ 60 w 426"/>
                <a:gd name="T9" fmla="*/ 2 h 245"/>
                <a:gd name="T10" fmla="*/ 52 w 426"/>
                <a:gd name="T11" fmla="*/ 4 h 245"/>
                <a:gd name="T12" fmla="*/ 45 w 426"/>
                <a:gd name="T13" fmla="*/ 6 h 245"/>
                <a:gd name="T14" fmla="*/ 38 w 426"/>
                <a:gd name="T15" fmla="*/ 8 h 245"/>
                <a:gd name="T16" fmla="*/ 31 w 426"/>
                <a:gd name="T17" fmla="*/ 11 h 245"/>
                <a:gd name="T18" fmla="*/ 25 w 426"/>
                <a:gd name="T19" fmla="*/ 14 h 245"/>
                <a:gd name="T20" fmla="*/ 20 w 426"/>
                <a:gd name="T21" fmla="*/ 18 h 245"/>
                <a:gd name="T22" fmla="*/ 15 w 426"/>
                <a:gd name="T23" fmla="*/ 21 h 245"/>
                <a:gd name="T24" fmla="*/ 10 w 426"/>
                <a:gd name="T25" fmla="*/ 25 h 245"/>
                <a:gd name="T26" fmla="*/ 7 w 426"/>
                <a:gd name="T27" fmla="*/ 30 h 245"/>
                <a:gd name="T28" fmla="*/ 4 w 426"/>
                <a:gd name="T29" fmla="*/ 34 h 245"/>
                <a:gd name="T30" fmla="*/ 2 w 426"/>
                <a:gd name="T31" fmla="*/ 39 h 245"/>
                <a:gd name="T32" fmla="*/ 1 w 426"/>
                <a:gd name="T33" fmla="*/ 44 h 245"/>
                <a:gd name="T34" fmla="*/ 0 w 426"/>
                <a:gd name="T35" fmla="*/ 49 h 245"/>
                <a:gd name="T36" fmla="*/ 2 w 426"/>
                <a:gd name="T37" fmla="*/ 49 h 245"/>
                <a:gd name="T38" fmla="*/ 3 w 426"/>
                <a:gd name="T39" fmla="*/ 44 h 245"/>
                <a:gd name="T40" fmla="*/ 4 w 426"/>
                <a:gd name="T41" fmla="*/ 40 h 245"/>
                <a:gd name="T42" fmla="*/ 6 w 426"/>
                <a:gd name="T43" fmla="*/ 36 h 245"/>
                <a:gd name="T44" fmla="*/ 9 w 426"/>
                <a:gd name="T45" fmla="*/ 31 h 245"/>
                <a:gd name="T46" fmla="*/ 12 w 426"/>
                <a:gd name="T47" fmla="*/ 27 h 245"/>
                <a:gd name="T48" fmla="*/ 16 w 426"/>
                <a:gd name="T49" fmla="*/ 23 h 245"/>
                <a:gd name="T50" fmla="*/ 21 w 426"/>
                <a:gd name="T51" fmla="*/ 20 h 245"/>
                <a:gd name="T52" fmla="*/ 27 w 426"/>
                <a:gd name="T53" fmla="*/ 16 h 245"/>
                <a:gd name="T54" fmla="*/ 32 w 426"/>
                <a:gd name="T55" fmla="*/ 13 h 245"/>
                <a:gd name="T56" fmla="*/ 39 w 426"/>
                <a:gd name="T57" fmla="*/ 10 h 245"/>
                <a:gd name="T58" fmla="*/ 46 w 426"/>
                <a:gd name="T59" fmla="*/ 8 h 245"/>
                <a:gd name="T60" fmla="*/ 53 w 426"/>
                <a:gd name="T61" fmla="*/ 6 h 245"/>
                <a:gd name="T62" fmla="*/ 60 w 426"/>
                <a:gd name="T63" fmla="*/ 4 h 245"/>
                <a:gd name="T64" fmla="*/ 68 w 426"/>
                <a:gd name="T65" fmla="*/ 3 h 245"/>
                <a:gd name="T66" fmla="*/ 77 w 426"/>
                <a:gd name="T67" fmla="*/ 2 h 245"/>
                <a:gd name="T68" fmla="*/ 85 w 426"/>
                <a:gd name="T69" fmla="*/ 2 h 245"/>
                <a:gd name="T70" fmla="*/ 85 w 426"/>
                <a:gd name="T71" fmla="*/ 2 h 245"/>
                <a:gd name="T72" fmla="*/ 85 w 426"/>
                <a:gd name="T73" fmla="*/ 0 h 24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26" h="245">
                  <a:moveTo>
                    <a:pt x="426" y="0"/>
                  </a:moveTo>
                  <a:lnTo>
                    <a:pt x="426" y="0"/>
                  </a:lnTo>
                  <a:lnTo>
                    <a:pt x="384" y="1"/>
                  </a:lnTo>
                  <a:lnTo>
                    <a:pt x="340" y="4"/>
                  </a:lnTo>
                  <a:lnTo>
                    <a:pt x="300" y="10"/>
                  </a:lnTo>
                  <a:lnTo>
                    <a:pt x="262" y="18"/>
                  </a:lnTo>
                  <a:lnTo>
                    <a:pt x="224" y="29"/>
                  </a:lnTo>
                  <a:lnTo>
                    <a:pt x="189" y="41"/>
                  </a:lnTo>
                  <a:lnTo>
                    <a:pt x="157" y="55"/>
                  </a:lnTo>
                  <a:lnTo>
                    <a:pt x="126" y="70"/>
                  </a:lnTo>
                  <a:lnTo>
                    <a:pt x="99" y="89"/>
                  </a:lnTo>
                  <a:lnTo>
                    <a:pt x="74" y="106"/>
                  </a:lnTo>
                  <a:lnTo>
                    <a:pt x="52" y="126"/>
                  </a:lnTo>
                  <a:lnTo>
                    <a:pt x="34" y="148"/>
                  </a:lnTo>
                  <a:lnTo>
                    <a:pt x="19" y="171"/>
                  </a:lnTo>
                  <a:lnTo>
                    <a:pt x="9" y="194"/>
                  </a:lnTo>
                  <a:lnTo>
                    <a:pt x="3" y="219"/>
                  </a:lnTo>
                  <a:lnTo>
                    <a:pt x="0" y="245"/>
                  </a:lnTo>
                  <a:lnTo>
                    <a:pt x="12" y="245"/>
                  </a:lnTo>
                  <a:lnTo>
                    <a:pt x="15" y="221"/>
                  </a:lnTo>
                  <a:lnTo>
                    <a:pt x="20" y="199"/>
                  </a:lnTo>
                  <a:lnTo>
                    <a:pt x="31" y="178"/>
                  </a:lnTo>
                  <a:lnTo>
                    <a:pt x="44" y="156"/>
                  </a:lnTo>
                  <a:lnTo>
                    <a:pt x="61" y="136"/>
                  </a:lnTo>
                  <a:lnTo>
                    <a:pt x="81" y="116"/>
                  </a:lnTo>
                  <a:lnTo>
                    <a:pt x="106" y="98"/>
                  </a:lnTo>
                  <a:lnTo>
                    <a:pt x="133" y="82"/>
                  </a:lnTo>
                  <a:lnTo>
                    <a:pt x="162" y="66"/>
                  </a:lnTo>
                  <a:lnTo>
                    <a:pt x="194" y="52"/>
                  </a:lnTo>
                  <a:lnTo>
                    <a:pt x="229" y="41"/>
                  </a:lnTo>
                  <a:lnTo>
                    <a:pt x="264" y="30"/>
                  </a:lnTo>
                  <a:lnTo>
                    <a:pt x="303" y="22"/>
                  </a:lnTo>
                  <a:lnTo>
                    <a:pt x="343" y="16"/>
                  </a:lnTo>
                  <a:lnTo>
                    <a:pt x="384" y="12"/>
                  </a:lnTo>
                  <a:lnTo>
                    <a:pt x="426" y="11"/>
                  </a:lnTo>
                  <a:lnTo>
                    <a:pt x="4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8" name="Freeform 14"/>
            <p:cNvSpPr>
              <a:spLocks/>
            </p:cNvSpPr>
            <p:nvPr/>
          </p:nvSpPr>
          <p:spPr bwMode="auto">
            <a:xfrm>
              <a:off x="1587" y="1929"/>
              <a:ext cx="85" cy="49"/>
            </a:xfrm>
            <a:custGeom>
              <a:avLst/>
              <a:gdLst>
                <a:gd name="T0" fmla="*/ 0 w 426"/>
                <a:gd name="T1" fmla="*/ 0 h 245"/>
                <a:gd name="T2" fmla="*/ 0 w 426"/>
                <a:gd name="T3" fmla="*/ 0 h 245"/>
                <a:gd name="T4" fmla="*/ 1 w 426"/>
                <a:gd name="T5" fmla="*/ 5 h 245"/>
                <a:gd name="T6" fmla="*/ 2 w 426"/>
                <a:gd name="T7" fmla="*/ 10 h 245"/>
                <a:gd name="T8" fmla="*/ 4 w 426"/>
                <a:gd name="T9" fmla="*/ 15 h 245"/>
                <a:gd name="T10" fmla="*/ 7 w 426"/>
                <a:gd name="T11" fmla="*/ 19 h 245"/>
                <a:gd name="T12" fmla="*/ 10 w 426"/>
                <a:gd name="T13" fmla="*/ 24 h 245"/>
                <a:gd name="T14" fmla="*/ 15 w 426"/>
                <a:gd name="T15" fmla="*/ 28 h 245"/>
                <a:gd name="T16" fmla="*/ 20 w 426"/>
                <a:gd name="T17" fmla="*/ 31 h 245"/>
                <a:gd name="T18" fmla="*/ 25 w 426"/>
                <a:gd name="T19" fmla="*/ 35 h 245"/>
                <a:gd name="T20" fmla="*/ 31 w 426"/>
                <a:gd name="T21" fmla="*/ 38 h 245"/>
                <a:gd name="T22" fmla="*/ 38 w 426"/>
                <a:gd name="T23" fmla="*/ 41 h 245"/>
                <a:gd name="T24" fmla="*/ 45 w 426"/>
                <a:gd name="T25" fmla="*/ 43 h 245"/>
                <a:gd name="T26" fmla="*/ 52 w 426"/>
                <a:gd name="T27" fmla="*/ 45 h 245"/>
                <a:gd name="T28" fmla="*/ 60 w 426"/>
                <a:gd name="T29" fmla="*/ 47 h 245"/>
                <a:gd name="T30" fmla="*/ 68 w 426"/>
                <a:gd name="T31" fmla="*/ 48 h 245"/>
                <a:gd name="T32" fmla="*/ 77 w 426"/>
                <a:gd name="T33" fmla="*/ 49 h 245"/>
                <a:gd name="T34" fmla="*/ 85 w 426"/>
                <a:gd name="T35" fmla="*/ 49 h 245"/>
                <a:gd name="T36" fmla="*/ 85 w 426"/>
                <a:gd name="T37" fmla="*/ 47 h 245"/>
                <a:gd name="T38" fmla="*/ 77 w 426"/>
                <a:gd name="T39" fmla="*/ 46 h 245"/>
                <a:gd name="T40" fmla="*/ 68 w 426"/>
                <a:gd name="T41" fmla="*/ 46 h 245"/>
                <a:gd name="T42" fmla="*/ 60 w 426"/>
                <a:gd name="T43" fmla="*/ 44 h 245"/>
                <a:gd name="T44" fmla="*/ 53 w 426"/>
                <a:gd name="T45" fmla="*/ 43 h 245"/>
                <a:gd name="T46" fmla="*/ 46 w 426"/>
                <a:gd name="T47" fmla="*/ 41 h 245"/>
                <a:gd name="T48" fmla="*/ 39 w 426"/>
                <a:gd name="T49" fmla="*/ 38 h 245"/>
                <a:gd name="T50" fmla="*/ 32 w 426"/>
                <a:gd name="T51" fmla="*/ 36 h 245"/>
                <a:gd name="T52" fmla="*/ 27 w 426"/>
                <a:gd name="T53" fmla="*/ 33 h 245"/>
                <a:gd name="T54" fmla="*/ 21 w 426"/>
                <a:gd name="T55" fmla="*/ 29 h 245"/>
                <a:gd name="T56" fmla="*/ 16 w 426"/>
                <a:gd name="T57" fmla="*/ 26 h 245"/>
                <a:gd name="T58" fmla="*/ 12 w 426"/>
                <a:gd name="T59" fmla="*/ 22 h 245"/>
                <a:gd name="T60" fmla="*/ 9 w 426"/>
                <a:gd name="T61" fmla="*/ 18 h 245"/>
                <a:gd name="T62" fmla="*/ 6 w 426"/>
                <a:gd name="T63" fmla="*/ 13 h 245"/>
                <a:gd name="T64" fmla="*/ 4 w 426"/>
                <a:gd name="T65" fmla="*/ 9 h 245"/>
                <a:gd name="T66" fmla="*/ 3 w 426"/>
                <a:gd name="T67" fmla="*/ 5 h 245"/>
                <a:gd name="T68" fmla="*/ 2 w 426"/>
                <a:gd name="T69" fmla="*/ 0 h 245"/>
                <a:gd name="T70" fmla="*/ 2 w 426"/>
                <a:gd name="T71" fmla="*/ 0 h 245"/>
                <a:gd name="T72" fmla="*/ 0 w 426"/>
                <a:gd name="T73" fmla="*/ 0 h 24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26" h="245">
                  <a:moveTo>
                    <a:pt x="0" y="0"/>
                  </a:moveTo>
                  <a:lnTo>
                    <a:pt x="0" y="0"/>
                  </a:lnTo>
                  <a:lnTo>
                    <a:pt x="3" y="25"/>
                  </a:lnTo>
                  <a:lnTo>
                    <a:pt x="9" y="50"/>
                  </a:lnTo>
                  <a:lnTo>
                    <a:pt x="19" y="73"/>
                  </a:lnTo>
                  <a:lnTo>
                    <a:pt x="34" y="96"/>
                  </a:lnTo>
                  <a:lnTo>
                    <a:pt x="52" y="118"/>
                  </a:lnTo>
                  <a:lnTo>
                    <a:pt x="74" y="138"/>
                  </a:lnTo>
                  <a:lnTo>
                    <a:pt x="99" y="156"/>
                  </a:lnTo>
                  <a:lnTo>
                    <a:pt x="126" y="174"/>
                  </a:lnTo>
                  <a:lnTo>
                    <a:pt x="157" y="190"/>
                  </a:lnTo>
                  <a:lnTo>
                    <a:pt x="189" y="204"/>
                  </a:lnTo>
                  <a:lnTo>
                    <a:pt x="224" y="215"/>
                  </a:lnTo>
                  <a:lnTo>
                    <a:pt x="262" y="226"/>
                  </a:lnTo>
                  <a:lnTo>
                    <a:pt x="300" y="234"/>
                  </a:lnTo>
                  <a:lnTo>
                    <a:pt x="340" y="240"/>
                  </a:lnTo>
                  <a:lnTo>
                    <a:pt x="384" y="244"/>
                  </a:lnTo>
                  <a:lnTo>
                    <a:pt x="426" y="245"/>
                  </a:lnTo>
                  <a:lnTo>
                    <a:pt x="426" y="233"/>
                  </a:lnTo>
                  <a:lnTo>
                    <a:pt x="384" y="232"/>
                  </a:lnTo>
                  <a:lnTo>
                    <a:pt x="343" y="228"/>
                  </a:lnTo>
                  <a:lnTo>
                    <a:pt x="303" y="222"/>
                  </a:lnTo>
                  <a:lnTo>
                    <a:pt x="264" y="214"/>
                  </a:lnTo>
                  <a:lnTo>
                    <a:pt x="229" y="204"/>
                  </a:lnTo>
                  <a:lnTo>
                    <a:pt x="194" y="192"/>
                  </a:lnTo>
                  <a:lnTo>
                    <a:pt x="162" y="178"/>
                  </a:lnTo>
                  <a:lnTo>
                    <a:pt x="133" y="163"/>
                  </a:lnTo>
                  <a:lnTo>
                    <a:pt x="106" y="146"/>
                  </a:lnTo>
                  <a:lnTo>
                    <a:pt x="81" y="129"/>
                  </a:lnTo>
                  <a:lnTo>
                    <a:pt x="61" y="109"/>
                  </a:lnTo>
                  <a:lnTo>
                    <a:pt x="44" y="89"/>
                  </a:lnTo>
                  <a:lnTo>
                    <a:pt x="31" y="66"/>
                  </a:lnTo>
                  <a:lnTo>
                    <a:pt x="20" y="45"/>
                  </a:lnTo>
                  <a:lnTo>
                    <a:pt x="15" y="23"/>
                  </a:lnTo>
                  <a:lnTo>
                    <a:pt x="1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9" name="Freeform 15"/>
            <p:cNvSpPr>
              <a:spLocks/>
            </p:cNvSpPr>
            <p:nvPr/>
          </p:nvSpPr>
          <p:spPr bwMode="auto">
            <a:xfrm>
              <a:off x="878" y="1448"/>
              <a:ext cx="792" cy="954"/>
            </a:xfrm>
            <a:custGeom>
              <a:avLst/>
              <a:gdLst>
                <a:gd name="T0" fmla="*/ 332 w 3960"/>
                <a:gd name="T1" fmla="*/ 940 h 4768"/>
                <a:gd name="T2" fmla="*/ 347 w 3960"/>
                <a:gd name="T3" fmla="*/ 947 h 4768"/>
                <a:gd name="T4" fmla="*/ 364 w 3960"/>
                <a:gd name="T5" fmla="*/ 951 h 4768"/>
                <a:gd name="T6" fmla="*/ 380 w 3960"/>
                <a:gd name="T7" fmla="*/ 953 h 4768"/>
                <a:gd name="T8" fmla="*/ 398 w 3960"/>
                <a:gd name="T9" fmla="*/ 954 h 4768"/>
                <a:gd name="T10" fmla="*/ 415 w 3960"/>
                <a:gd name="T11" fmla="*/ 953 h 4768"/>
                <a:gd name="T12" fmla="*/ 431 w 3960"/>
                <a:gd name="T13" fmla="*/ 951 h 4768"/>
                <a:gd name="T14" fmla="*/ 446 w 3960"/>
                <a:gd name="T15" fmla="*/ 946 h 4768"/>
                <a:gd name="T16" fmla="*/ 459 w 3960"/>
                <a:gd name="T17" fmla="*/ 940 h 4768"/>
                <a:gd name="T18" fmla="*/ 735 w 3960"/>
                <a:gd name="T19" fmla="*/ 759 h 4768"/>
                <a:gd name="T20" fmla="*/ 748 w 3960"/>
                <a:gd name="T21" fmla="*/ 745 h 4768"/>
                <a:gd name="T22" fmla="*/ 759 w 3960"/>
                <a:gd name="T23" fmla="*/ 729 h 4768"/>
                <a:gd name="T24" fmla="*/ 769 w 3960"/>
                <a:gd name="T25" fmla="*/ 711 h 4768"/>
                <a:gd name="T26" fmla="*/ 778 w 3960"/>
                <a:gd name="T27" fmla="*/ 691 h 4768"/>
                <a:gd name="T28" fmla="*/ 784 w 3960"/>
                <a:gd name="T29" fmla="*/ 671 h 4768"/>
                <a:gd name="T30" fmla="*/ 789 w 3960"/>
                <a:gd name="T31" fmla="*/ 650 h 4768"/>
                <a:gd name="T32" fmla="*/ 791 w 3960"/>
                <a:gd name="T33" fmla="*/ 629 h 4768"/>
                <a:gd name="T34" fmla="*/ 792 w 3960"/>
                <a:gd name="T35" fmla="*/ 263 h 4768"/>
                <a:gd name="T36" fmla="*/ 790 w 3960"/>
                <a:gd name="T37" fmla="*/ 246 h 4768"/>
                <a:gd name="T38" fmla="*/ 786 w 3960"/>
                <a:gd name="T39" fmla="*/ 230 h 4768"/>
                <a:gd name="T40" fmla="*/ 780 w 3960"/>
                <a:gd name="T41" fmla="*/ 215 h 4768"/>
                <a:gd name="T42" fmla="*/ 773 w 3960"/>
                <a:gd name="T43" fmla="*/ 201 h 4768"/>
                <a:gd name="T44" fmla="*/ 765 w 3960"/>
                <a:gd name="T45" fmla="*/ 188 h 4768"/>
                <a:gd name="T46" fmla="*/ 754 w 3960"/>
                <a:gd name="T47" fmla="*/ 177 h 4768"/>
                <a:gd name="T48" fmla="*/ 743 w 3960"/>
                <a:gd name="T49" fmla="*/ 167 h 4768"/>
                <a:gd name="T50" fmla="*/ 730 w 3960"/>
                <a:gd name="T51" fmla="*/ 159 h 4768"/>
                <a:gd name="T52" fmla="*/ 470 w 3960"/>
                <a:gd name="T53" fmla="*/ 13 h 4768"/>
                <a:gd name="T54" fmla="*/ 454 w 3960"/>
                <a:gd name="T55" fmla="*/ 7 h 4768"/>
                <a:gd name="T56" fmla="*/ 436 w 3960"/>
                <a:gd name="T57" fmla="*/ 3 h 4768"/>
                <a:gd name="T58" fmla="*/ 416 w 3960"/>
                <a:gd name="T59" fmla="*/ 1 h 4768"/>
                <a:gd name="T60" fmla="*/ 396 w 3960"/>
                <a:gd name="T61" fmla="*/ 0 h 4768"/>
                <a:gd name="T62" fmla="*/ 376 w 3960"/>
                <a:gd name="T63" fmla="*/ 2 h 4768"/>
                <a:gd name="T64" fmla="*/ 357 w 3960"/>
                <a:gd name="T65" fmla="*/ 6 h 4768"/>
                <a:gd name="T66" fmla="*/ 338 w 3960"/>
                <a:gd name="T67" fmla="*/ 12 h 4768"/>
                <a:gd name="T68" fmla="*/ 62 w 3960"/>
                <a:gd name="T69" fmla="*/ 156 h 4768"/>
                <a:gd name="T70" fmla="*/ 49 w 3960"/>
                <a:gd name="T71" fmla="*/ 165 h 4768"/>
                <a:gd name="T72" fmla="*/ 37 w 3960"/>
                <a:gd name="T73" fmla="*/ 176 h 4768"/>
                <a:gd name="T74" fmla="*/ 26 w 3960"/>
                <a:gd name="T75" fmla="*/ 188 h 4768"/>
                <a:gd name="T76" fmla="*/ 17 w 3960"/>
                <a:gd name="T77" fmla="*/ 201 h 4768"/>
                <a:gd name="T78" fmla="*/ 10 w 3960"/>
                <a:gd name="T79" fmla="*/ 215 h 4768"/>
                <a:gd name="T80" fmla="*/ 5 w 3960"/>
                <a:gd name="T81" fmla="*/ 231 h 4768"/>
                <a:gd name="T82" fmla="*/ 1 w 3960"/>
                <a:gd name="T83" fmla="*/ 247 h 4768"/>
                <a:gd name="T84" fmla="*/ 0 w 3960"/>
                <a:gd name="T85" fmla="*/ 265 h 4768"/>
                <a:gd name="T86" fmla="*/ 0 w 3960"/>
                <a:gd name="T87" fmla="*/ 630 h 4768"/>
                <a:gd name="T88" fmla="*/ 3 w 3960"/>
                <a:gd name="T89" fmla="*/ 652 h 4768"/>
                <a:gd name="T90" fmla="*/ 8 w 3960"/>
                <a:gd name="T91" fmla="*/ 673 h 4768"/>
                <a:gd name="T92" fmla="*/ 16 w 3960"/>
                <a:gd name="T93" fmla="*/ 695 h 4768"/>
                <a:gd name="T94" fmla="*/ 25 w 3960"/>
                <a:gd name="T95" fmla="*/ 716 h 4768"/>
                <a:gd name="T96" fmla="*/ 37 w 3960"/>
                <a:gd name="T97" fmla="*/ 734 h 4768"/>
                <a:gd name="T98" fmla="*/ 49 w 3960"/>
                <a:gd name="T99" fmla="*/ 751 h 4768"/>
                <a:gd name="T100" fmla="*/ 63 w 3960"/>
                <a:gd name="T101" fmla="*/ 765 h 476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960" h="4768">
                  <a:moveTo>
                    <a:pt x="353" y="3849"/>
                  </a:moveTo>
                  <a:lnTo>
                    <a:pt x="1661" y="4700"/>
                  </a:lnTo>
                  <a:lnTo>
                    <a:pt x="1697" y="4717"/>
                  </a:lnTo>
                  <a:lnTo>
                    <a:pt x="1736" y="4731"/>
                  </a:lnTo>
                  <a:lnTo>
                    <a:pt x="1776" y="4742"/>
                  </a:lnTo>
                  <a:lnTo>
                    <a:pt x="1818" y="4753"/>
                  </a:lnTo>
                  <a:lnTo>
                    <a:pt x="1860" y="4760"/>
                  </a:lnTo>
                  <a:lnTo>
                    <a:pt x="1902" y="4765"/>
                  </a:lnTo>
                  <a:lnTo>
                    <a:pt x="1946" y="4768"/>
                  </a:lnTo>
                  <a:lnTo>
                    <a:pt x="1988" y="4768"/>
                  </a:lnTo>
                  <a:lnTo>
                    <a:pt x="2031" y="4767"/>
                  </a:lnTo>
                  <a:lnTo>
                    <a:pt x="2073" y="4763"/>
                  </a:lnTo>
                  <a:lnTo>
                    <a:pt x="2114" y="4758"/>
                  </a:lnTo>
                  <a:lnTo>
                    <a:pt x="2154" y="4751"/>
                  </a:lnTo>
                  <a:lnTo>
                    <a:pt x="2193" y="4740"/>
                  </a:lnTo>
                  <a:lnTo>
                    <a:pt x="2230" y="4729"/>
                  </a:lnTo>
                  <a:lnTo>
                    <a:pt x="2264" y="4715"/>
                  </a:lnTo>
                  <a:lnTo>
                    <a:pt x="2297" y="4700"/>
                  </a:lnTo>
                  <a:lnTo>
                    <a:pt x="3639" y="3825"/>
                  </a:lnTo>
                  <a:lnTo>
                    <a:pt x="3673" y="3795"/>
                  </a:lnTo>
                  <a:lnTo>
                    <a:pt x="3707" y="3761"/>
                  </a:lnTo>
                  <a:lnTo>
                    <a:pt x="3738" y="3725"/>
                  </a:lnTo>
                  <a:lnTo>
                    <a:pt x="3768" y="3685"/>
                  </a:lnTo>
                  <a:lnTo>
                    <a:pt x="3796" y="3644"/>
                  </a:lnTo>
                  <a:lnTo>
                    <a:pt x="3821" y="3599"/>
                  </a:lnTo>
                  <a:lnTo>
                    <a:pt x="3846" y="3553"/>
                  </a:lnTo>
                  <a:lnTo>
                    <a:pt x="3868" y="3505"/>
                  </a:lnTo>
                  <a:lnTo>
                    <a:pt x="3888" y="3456"/>
                  </a:lnTo>
                  <a:lnTo>
                    <a:pt x="3907" y="3406"/>
                  </a:lnTo>
                  <a:lnTo>
                    <a:pt x="3922" y="3354"/>
                  </a:lnTo>
                  <a:lnTo>
                    <a:pt x="3935" y="3303"/>
                  </a:lnTo>
                  <a:lnTo>
                    <a:pt x="3946" y="3250"/>
                  </a:lnTo>
                  <a:lnTo>
                    <a:pt x="3953" y="3197"/>
                  </a:lnTo>
                  <a:lnTo>
                    <a:pt x="3957" y="3144"/>
                  </a:lnTo>
                  <a:lnTo>
                    <a:pt x="3960" y="3092"/>
                  </a:lnTo>
                  <a:lnTo>
                    <a:pt x="3959" y="1313"/>
                  </a:lnTo>
                  <a:lnTo>
                    <a:pt x="3955" y="1271"/>
                  </a:lnTo>
                  <a:lnTo>
                    <a:pt x="3949" y="1229"/>
                  </a:lnTo>
                  <a:lnTo>
                    <a:pt x="3941" y="1189"/>
                  </a:lnTo>
                  <a:lnTo>
                    <a:pt x="3930" y="1149"/>
                  </a:lnTo>
                  <a:lnTo>
                    <a:pt x="3918" y="1111"/>
                  </a:lnTo>
                  <a:lnTo>
                    <a:pt x="3902" y="1075"/>
                  </a:lnTo>
                  <a:lnTo>
                    <a:pt x="3886" y="1040"/>
                  </a:lnTo>
                  <a:lnTo>
                    <a:pt x="3867" y="1006"/>
                  </a:lnTo>
                  <a:lnTo>
                    <a:pt x="3846" y="973"/>
                  </a:lnTo>
                  <a:lnTo>
                    <a:pt x="3823" y="942"/>
                  </a:lnTo>
                  <a:lnTo>
                    <a:pt x="3798" y="913"/>
                  </a:lnTo>
                  <a:lnTo>
                    <a:pt x="3771" y="886"/>
                  </a:lnTo>
                  <a:lnTo>
                    <a:pt x="3743" y="860"/>
                  </a:lnTo>
                  <a:lnTo>
                    <a:pt x="3714" y="837"/>
                  </a:lnTo>
                  <a:lnTo>
                    <a:pt x="3682" y="816"/>
                  </a:lnTo>
                  <a:lnTo>
                    <a:pt x="3649" y="796"/>
                  </a:lnTo>
                  <a:lnTo>
                    <a:pt x="2386" y="83"/>
                  </a:lnTo>
                  <a:lnTo>
                    <a:pt x="2350" y="65"/>
                  </a:lnTo>
                  <a:lnTo>
                    <a:pt x="2310" y="50"/>
                  </a:lnTo>
                  <a:lnTo>
                    <a:pt x="2268" y="36"/>
                  </a:lnTo>
                  <a:lnTo>
                    <a:pt x="2223" y="24"/>
                  </a:lnTo>
                  <a:lnTo>
                    <a:pt x="2178" y="15"/>
                  </a:lnTo>
                  <a:lnTo>
                    <a:pt x="2131" y="8"/>
                  </a:lnTo>
                  <a:lnTo>
                    <a:pt x="2082" y="3"/>
                  </a:lnTo>
                  <a:lnTo>
                    <a:pt x="2032" y="0"/>
                  </a:lnTo>
                  <a:lnTo>
                    <a:pt x="1982" y="1"/>
                  </a:lnTo>
                  <a:lnTo>
                    <a:pt x="1933" y="3"/>
                  </a:lnTo>
                  <a:lnTo>
                    <a:pt x="1882" y="9"/>
                  </a:lnTo>
                  <a:lnTo>
                    <a:pt x="1833" y="17"/>
                  </a:lnTo>
                  <a:lnTo>
                    <a:pt x="1785" y="29"/>
                  </a:lnTo>
                  <a:lnTo>
                    <a:pt x="1737" y="43"/>
                  </a:lnTo>
                  <a:lnTo>
                    <a:pt x="1691" y="62"/>
                  </a:lnTo>
                  <a:lnTo>
                    <a:pt x="1647" y="83"/>
                  </a:lnTo>
                  <a:lnTo>
                    <a:pt x="311" y="782"/>
                  </a:lnTo>
                  <a:lnTo>
                    <a:pt x="276" y="803"/>
                  </a:lnTo>
                  <a:lnTo>
                    <a:pt x="243" y="826"/>
                  </a:lnTo>
                  <a:lnTo>
                    <a:pt x="213" y="852"/>
                  </a:lnTo>
                  <a:lnTo>
                    <a:pt x="184" y="879"/>
                  </a:lnTo>
                  <a:lnTo>
                    <a:pt x="155" y="908"/>
                  </a:lnTo>
                  <a:lnTo>
                    <a:pt x="131" y="939"/>
                  </a:lnTo>
                  <a:lnTo>
                    <a:pt x="107" y="971"/>
                  </a:lnTo>
                  <a:lnTo>
                    <a:pt x="86" y="1005"/>
                  </a:lnTo>
                  <a:lnTo>
                    <a:pt x="68" y="1040"/>
                  </a:lnTo>
                  <a:lnTo>
                    <a:pt x="50" y="1076"/>
                  </a:lnTo>
                  <a:lnTo>
                    <a:pt x="36" y="1115"/>
                  </a:lnTo>
                  <a:lnTo>
                    <a:pt x="23" y="1153"/>
                  </a:lnTo>
                  <a:lnTo>
                    <a:pt x="14" y="1195"/>
                  </a:lnTo>
                  <a:lnTo>
                    <a:pt x="7" y="1236"/>
                  </a:lnTo>
                  <a:lnTo>
                    <a:pt x="2" y="1279"/>
                  </a:lnTo>
                  <a:lnTo>
                    <a:pt x="0" y="1322"/>
                  </a:lnTo>
                  <a:lnTo>
                    <a:pt x="0" y="3093"/>
                  </a:lnTo>
                  <a:lnTo>
                    <a:pt x="2" y="3147"/>
                  </a:lnTo>
                  <a:lnTo>
                    <a:pt x="7" y="3202"/>
                  </a:lnTo>
                  <a:lnTo>
                    <a:pt x="15" y="3257"/>
                  </a:lnTo>
                  <a:lnTo>
                    <a:pt x="27" y="3312"/>
                  </a:lnTo>
                  <a:lnTo>
                    <a:pt x="42" y="3366"/>
                  </a:lnTo>
                  <a:lnTo>
                    <a:pt x="59" y="3420"/>
                  </a:lnTo>
                  <a:lnTo>
                    <a:pt x="79" y="3474"/>
                  </a:lnTo>
                  <a:lnTo>
                    <a:pt x="102" y="3525"/>
                  </a:lnTo>
                  <a:lnTo>
                    <a:pt x="127" y="3576"/>
                  </a:lnTo>
                  <a:lnTo>
                    <a:pt x="154" y="3624"/>
                  </a:lnTo>
                  <a:lnTo>
                    <a:pt x="184" y="3670"/>
                  </a:lnTo>
                  <a:lnTo>
                    <a:pt x="214" y="3712"/>
                  </a:lnTo>
                  <a:lnTo>
                    <a:pt x="247" y="3752"/>
                  </a:lnTo>
                  <a:lnTo>
                    <a:pt x="281" y="3788"/>
                  </a:lnTo>
                  <a:lnTo>
                    <a:pt x="317" y="3821"/>
                  </a:lnTo>
                  <a:lnTo>
                    <a:pt x="353" y="38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0" name="Freeform 16"/>
            <p:cNvSpPr>
              <a:spLocks/>
            </p:cNvSpPr>
            <p:nvPr/>
          </p:nvSpPr>
          <p:spPr bwMode="auto">
            <a:xfrm>
              <a:off x="943" y="2210"/>
              <a:ext cx="276" cy="187"/>
            </a:xfrm>
            <a:custGeom>
              <a:avLst/>
              <a:gdLst>
                <a:gd name="T0" fmla="*/ 271 w 1380"/>
                <a:gd name="T1" fmla="*/ 169 h 937"/>
                <a:gd name="T2" fmla="*/ 272 w 1380"/>
                <a:gd name="T3" fmla="*/ 170 h 937"/>
                <a:gd name="T4" fmla="*/ 10 w 1380"/>
                <a:gd name="T5" fmla="*/ 0 h 937"/>
                <a:gd name="T6" fmla="*/ 0 w 1380"/>
                <a:gd name="T7" fmla="*/ 16 h 937"/>
                <a:gd name="T8" fmla="*/ 261 w 1380"/>
                <a:gd name="T9" fmla="*/ 185 h 937"/>
                <a:gd name="T10" fmla="*/ 262 w 1380"/>
                <a:gd name="T11" fmla="*/ 186 h 937"/>
                <a:gd name="T12" fmla="*/ 261 w 1380"/>
                <a:gd name="T13" fmla="*/ 185 h 937"/>
                <a:gd name="T14" fmla="*/ 265 w 1380"/>
                <a:gd name="T15" fmla="*/ 187 h 937"/>
                <a:gd name="T16" fmla="*/ 269 w 1380"/>
                <a:gd name="T17" fmla="*/ 187 h 937"/>
                <a:gd name="T18" fmla="*/ 272 w 1380"/>
                <a:gd name="T19" fmla="*/ 185 h 937"/>
                <a:gd name="T20" fmla="*/ 274 w 1380"/>
                <a:gd name="T21" fmla="*/ 183 h 937"/>
                <a:gd name="T22" fmla="*/ 276 w 1380"/>
                <a:gd name="T23" fmla="*/ 179 h 937"/>
                <a:gd name="T24" fmla="*/ 276 w 1380"/>
                <a:gd name="T25" fmla="*/ 176 h 937"/>
                <a:gd name="T26" fmla="*/ 275 w 1380"/>
                <a:gd name="T27" fmla="*/ 173 h 937"/>
                <a:gd name="T28" fmla="*/ 272 w 1380"/>
                <a:gd name="T29" fmla="*/ 170 h 937"/>
                <a:gd name="T30" fmla="*/ 271 w 1380"/>
                <a:gd name="T31" fmla="*/ 169 h 9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80" h="937">
                  <a:moveTo>
                    <a:pt x="1354" y="848"/>
                  </a:moveTo>
                  <a:lnTo>
                    <a:pt x="1359" y="851"/>
                  </a:lnTo>
                  <a:lnTo>
                    <a:pt x="51" y="0"/>
                  </a:lnTo>
                  <a:lnTo>
                    <a:pt x="0" y="78"/>
                  </a:lnTo>
                  <a:lnTo>
                    <a:pt x="1307" y="929"/>
                  </a:lnTo>
                  <a:lnTo>
                    <a:pt x="1312" y="932"/>
                  </a:lnTo>
                  <a:lnTo>
                    <a:pt x="1307" y="929"/>
                  </a:lnTo>
                  <a:lnTo>
                    <a:pt x="1326" y="937"/>
                  </a:lnTo>
                  <a:lnTo>
                    <a:pt x="1345" y="936"/>
                  </a:lnTo>
                  <a:lnTo>
                    <a:pt x="1360" y="929"/>
                  </a:lnTo>
                  <a:lnTo>
                    <a:pt x="1372" y="916"/>
                  </a:lnTo>
                  <a:lnTo>
                    <a:pt x="1379" y="899"/>
                  </a:lnTo>
                  <a:lnTo>
                    <a:pt x="1380" y="883"/>
                  </a:lnTo>
                  <a:lnTo>
                    <a:pt x="1374" y="865"/>
                  </a:lnTo>
                  <a:lnTo>
                    <a:pt x="1359" y="851"/>
                  </a:lnTo>
                  <a:lnTo>
                    <a:pt x="1354" y="8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1" name="Freeform 17"/>
            <p:cNvSpPr>
              <a:spLocks/>
            </p:cNvSpPr>
            <p:nvPr/>
          </p:nvSpPr>
          <p:spPr bwMode="auto">
            <a:xfrm>
              <a:off x="1206" y="2379"/>
              <a:ext cx="140" cy="32"/>
            </a:xfrm>
            <a:custGeom>
              <a:avLst/>
              <a:gdLst>
                <a:gd name="T0" fmla="*/ 126 w 703"/>
                <a:gd name="T1" fmla="*/ 2 h 162"/>
                <a:gd name="T2" fmla="*/ 127 w 703"/>
                <a:gd name="T3" fmla="*/ 1 h 162"/>
                <a:gd name="T4" fmla="*/ 121 w 703"/>
                <a:gd name="T5" fmla="*/ 4 h 162"/>
                <a:gd name="T6" fmla="*/ 115 w 703"/>
                <a:gd name="T7" fmla="*/ 6 h 162"/>
                <a:gd name="T8" fmla="*/ 108 w 703"/>
                <a:gd name="T9" fmla="*/ 8 h 162"/>
                <a:gd name="T10" fmla="*/ 100 w 703"/>
                <a:gd name="T11" fmla="*/ 10 h 162"/>
                <a:gd name="T12" fmla="*/ 93 w 703"/>
                <a:gd name="T13" fmla="*/ 12 h 162"/>
                <a:gd name="T14" fmla="*/ 85 w 703"/>
                <a:gd name="T15" fmla="*/ 13 h 162"/>
                <a:gd name="T16" fmla="*/ 77 w 703"/>
                <a:gd name="T17" fmla="*/ 13 h 162"/>
                <a:gd name="T18" fmla="*/ 69 w 703"/>
                <a:gd name="T19" fmla="*/ 13 h 162"/>
                <a:gd name="T20" fmla="*/ 61 w 703"/>
                <a:gd name="T21" fmla="*/ 13 h 162"/>
                <a:gd name="T22" fmla="*/ 53 w 703"/>
                <a:gd name="T23" fmla="*/ 13 h 162"/>
                <a:gd name="T24" fmla="*/ 45 w 703"/>
                <a:gd name="T25" fmla="*/ 12 h 162"/>
                <a:gd name="T26" fmla="*/ 37 w 703"/>
                <a:gd name="T27" fmla="*/ 11 h 162"/>
                <a:gd name="T28" fmla="*/ 29 w 703"/>
                <a:gd name="T29" fmla="*/ 9 h 162"/>
                <a:gd name="T30" fmla="*/ 22 w 703"/>
                <a:gd name="T31" fmla="*/ 7 h 162"/>
                <a:gd name="T32" fmla="*/ 15 w 703"/>
                <a:gd name="T33" fmla="*/ 4 h 162"/>
                <a:gd name="T34" fmla="*/ 8 w 703"/>
                <a:gd name="T35" fmla="*/ 1 h 162"/>
                <a:gd name="T36" fmla="*/ 0 w 703"/>
                <a:gd name="T37" fmla="*/ 18 h 162"/>
                <a:gd name="T38" fmla="*/ 8 w 703"/>
                <a:gd name="T39" fmla="*/ 21 h 162"/>
                <a:gd name="T40" fmla="*/ 16 w 703"/>
                <a:gd name="T41" fmla="*/ 24 h 162"/>
                <a:gd name="T42" fmla="*/ 25 w 703"/>
                <a:gd name="T43" fmla="*/ 27 h 162"/>
                <a:gd name="T44" fmla="*/ 34 w 703"/>
                <a:gd name="T45" fmla="*/ 29 h 162"/>
                <a:gd name="T46" fmla="*/ 43 w 703"/>
                <a:gd name="T47" fmla="*/ 30 h 162"/>
                <a:gd name="T48" fmla="*/ 51 w 703"/>
                <a:gd name="T49" fmla="*/ 31 h 162"/>
                <a:gd name="T50" fmla="*/ 60 w 703"/>
                <a:gd name="T51" fmla="*/ 32 h 162"/>
                <a:gd name="T52" fmla="*/ 69 w 703"/>
                <a:gd name="T53" fmla="*/ 32 h 162"/>
                <a:gd name="T54" fmla="*/ 78 w 703"/>
                <a:gd name="T55" fmla="*/ 32 h 162"/>
                <a:gd name="T56" fmla="*/ 87 w 703"/>
                <a:gd name="T57" fmla="*/ 31 h 162"/>
                <a:gd name="T58" fmla="*/ 96 w 703"/>
                <a:gd name="T59" fmla="*/ 30 h 162"/>
                <a:gd name="T60" fmla="*/ 105 w 703"/>
                <a:gd name="T61" fmla="*/ 28 h 162"/>
                <a:gd name="T62" fmla="*/ 113 w 703"/>
                <a:gd name="T63" fmla="*/ 26 h 162"/>
                <a:gd name="T64" fmla="*/ 121 w 703"/>
                <a:gd name="T65" fmla="*/ 24 h 162"/>
                <a:gd name="T66" fmla="*/ 128 w 703"/>
                <a:gd name="T67" fmla="*/ 21 h 162"/>
                <a:gd name="T68" fmla="*/ 135 w 703"/>
                <a:gd name="T69" fmla="*/ 17 h 162"/>
                <a:gd name="T70" fmla="*/ 136 w 703"/>
                <a:gd name="T71" fmla="*/ 17 h 162"/>
                <a:gd name="T72" fmla="*/ 135 w 703"/>
                <a:gd name="T73" fmla="*/ 17 h 162"/>
                <a:gd name="T74" fmla="*/ 138 w 703"/>
                <a:gd name="T75" fmla="*/ 15 h 162"/>
                <a:gd name="T76" fmla="*/ 140 w 703"/>
                <a:gd name="T77" fmla="*/ 12 h 162"/>
                <a:gd name="T78" fmla="*/ 140 w 703"/>
                <a:gd name="T79" fmla="*/ 8 h 162"/>
                <a:gd name="T80" fmla="*/ 139 w 703"/>
                <a:gd name="T81" fmla="*/ 5 h 162"/>
                <a:gd name="T82" fmla="*/ 137 w 703"/>
                <a:gd name="T83" fmla="*/ 2 h 162"/>
                <a:gd name="T84" fmla="*/ 134 w 703"/>
                <a:gd name="T85" fmla="*/ 1 h 162"/>
                <a:gd name="T86" fmla="*/ 131 w 703"/>
                <a:gd name="T87" fmla="*/ 0 h 162"/>
                <a:gd name="T88" fmla="*/ 127 w 703"/>
                <a:gd name="T89" fmla="*/ 1 h 162"/>
                <a:gd name="T90" fmla="*/ 126 w 703"/>
                <a:gd name="T91" fmla="*/ 2 h 16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162">
                  <a:moveTo>
                    <a:pt x="631" y="8"/>
                  </a:moveTo>
                  <a:lnTo>
                    <a:pt x="636" y="6"/>
                  </a:lnTo>
                  <a:lnTo>
                    <a:pt x="606" y="20"/>
                  </a:lnTo>
                  <a:lnTo>
                    <a:pt x="575" y="32"/>
                  </a:lnTo>
                  <a:lnTo>
                    <a:pt x="540" y="42"/>
                  </a:lnTo>
                  <a:lnTo>
                    <a:pt x="504" y="52"/>
                  </a:lnTo>
                  <a:lnTo>
                    <a:pt x="467" y="59"/>
                  </a:lnTo>
                  <a:lnTo>
                    <a:pt x="428" y="64"/>
                  </a:lnTo>
                  <a:lnTo>
                    <a:pt x="389" y="67"/>
                  </a:lnTo>
                  <a:lnTo>
                    <a:pt x="348" y="68"/>
                  </a:lnTo>
                  <a:lnTo>
                    <a:pt x="308" y="68"/>
                  </a:lnTo>
                  <a:lnTo>
                    <a:pt x="267" y="65"/>
                  </a:lnTo>
                  <a:lnTo>
                    <a:pt x="226" y="61"/>
                  </a:lnTo>
                  <a:lnTo>
                    <a:pt x="187" y="54"/>
                  </a:lnTo>
                  <a:lnTo>
                    <a:pt x="148" y="44"/>
                  </a:lnTo>
                  <a:lnTo>
                    <a:pt x="110" y="33"/>
                  </a:lnTo>
                  <a:lnTo>
                    <a:pt x="75" y="20"/>
                  </a:lnTo>
                  <a:lnTo>
                    <a:pt x="42" y="5"/>
                  </a:lnTo>
                  <a:lnTo>
                    <a:pt x="0" y="89"/>
                  </a:lnTo>
                  <a:lnTo>
                    <a:pt x="40" y="107"/>
                  </a:lnTo>
                  <a:lnTo>
                    <a:pt x="82" y="122"/>
                  </a:lnTo>
                  <a:lnTo>
                    <a:pt x="124" y="135"/>
                  </a:lnTo>
                  <a:lnTo>
                    <a:pt x="169" y="146"/>
                  </a:lnTo>
                  <a:lnTo>
                    <a:pt x="214" y="153"/>
                  </a:lnTo>
                  <a:lnTo>
                    <a:pt x="258" y="158"/>
                  </a:lnTo>
                  <a:lnTo>
                    <a:pt x="303" y="162"/>
                  </a:lnTo>
                  <a:lnTo>
                    <a:pt x="348" y="162"/>
                  </a:lnTo>
                  <a:lnTo>
                    <a:pt x="394" y="161"/>
                  </a:lnTo>
                  <a:lnTo>
                    <a:pt x="439" y="157"/>
                  </a:lnTo>
                  <a:lnTo>
                    <a:pt x="481" y="150"/>
                  </a:lnTo>
                  <a:lnTo>
                    <a:pt x="525" y="143"/>
                  </a:lnTo>
                  <a:lnTo>
                    <a:pt x="566" y="132"/>
                  </a:lnTo>
                  <a:lnTo>
                    <a:pt x="606" y="121"/>
                  </a:lnTo>
                  <a:lnTo>
                    <a:pt x="643" y="105"/>
                  </a:lnTo>
                  <a:lnTo>
                    <a:pt x="678" y="88"/>
                  </a:lnTo>
                  <a:lnTo>
                    <a:pt x="683" y="86"/>
                  </a:lnTo>
                  <a:lnTo>
                    <a:pt x="678" y="88"/>
                  </a:lnTo>
                  <a:lnTo>
                    <a:pt x="695" y="75"/>
                  </a:lnTo>
                  <a:lnTo>
                    <a:pt x="702" y="60"/>
                  </a:lnTo>
                  <a:lnTo>
                    <a:pt x="703" y="42"/>
                  </a:lnTo>
                  <a:lnTo>
                    <a:pt x="698" y="26"/>
                  </a:lnTo>
                  <a:lnTo>
                    <a:pt x="688" y="12"/>
                  </a:lnTo>
                  <a:lnTo>
                    <a:pt x="674" y="3"/>
                  </a:lnTo>
                  <a:lnTo>
                    <a:pt x="656" y="0"/>
                  </a:lnTo>
                  <a:lnTo>
                    <a:pt x="636" y="6"/>
                  </a:lnTo>
                  <a:lnTo>
                    <a:pt x="63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2" name="Freeform 18"/>
            <p:cNvSpPr>
              <a:spLocks/>
            </p:cNvSpPr>
            <p:nvPr/>
          </p:nvSpPr>
          <p:spPr bwMode="auto">
            <a:xfrm>
              <a:off x="1332" y="2204"/>
              <a:ext cx="283" cy="192"/>
            </a:xfrm>
            <a:custGeom>
              <a:avLst/>
              <a:gdLst>
                <a:gd name="T0" fmla="*/ 268 w 1415"/>
                <a:gd name="T1" fmla="*/ 2 h 960"/>
                <a:gd name="T2" fmla="*/ 268 w 1415"/>
                <a:gd name="T3" fmla="*/ 2 h 960"/>
                <a:gd name="T4" fmla="*/ 0 w 1415"/>
                <a:gd name="T5" fmla="*/ 176 h 960"/>
                <a:gd name="T6" fmla="*/ 10 w 1415"/>
                <a:gd name="T7" fmla="*/ 192 h 960"/>
                <a:gd name="T8" fmla="*/ 279 w 1415"/>
                <a:gd name="T9" fmla="*/ 17 h 960"/>
                <a:gd name="T10" fmla="*/ 279 w 1415"/>
                <a:gd name="T11" fmla="*/ 17 h 960"/>
                <a:gd name="T12" fmla="*/ 279 w 1415"/>
                <a:gd name="T13" fmla="*/ 17 h 960"/>
                <a:gd name="T14" fmla="*/ 282 w 1415"/>
                <a:gd name="T15" fmla="*/ 14 h 960"/>
                <a:gd name="T16" fmla="*/ 283 w 1415"/>
                <a:gd name="T17" fmla="*/ 11 h 960"/>
                <a:gd name="T18" fmla="*/ 283 w 1415"/>
                <a:gd name="T19" fmla="*/ 7 h 960"/>
                <a:gd name="T20" fmla="*/ 281 w 1415"/>
                <a:gd name="T21" fmla="*/ 4 h 960"/>
                <a:gd name="T22" fmla="*/ 279 w 1415"/>
                <a:gd name="T23" fmla="*/ 2 h 960"/>
                <a:gd name="T24" fmla="*/ 276 w 1415"/>
                <a:gd name="T25" fmla="*/ 0 h 960"/>
                <a:gd name="T26" fmla="*/ 272 w 1415"/>
                <a:gd name="T27" fmla="*/ 0 h 960"/>
                <a:gd name="T28" fmla="*/ 268 w 1415"/>
                <a:gd name="T29" fmla="*/ 2 h 960"/>
                <a:gd name="T30" fmla="*/ 268 w 1415"/>
                <a:gd name="T31" fmla="*/ 2 h 96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15" h="960">
                  <a:moveTo>
                    <a:pt x="1338" y="10"/>
                  </a:moveTo>
                  <a:lnTo>
                    <a:pt x="1342" y="8"/>
                  </a:lnTo>
                  <a:lnTo>
                    <a:pt x="0" y="882"/>
                  </a:lnTo>
                  <a:lnTo>
                    <a:pt x="52" y="960"/>
                  </a:lnTo>
                  <a:lnTo>
                    <a:pt x="1393" y="85"/>
                  </a:lnTo>
                  <a:lnTo>
                    <a:pt x="1397" y="83"/>
                  </a:lnTo>
                  <a:lnTo>
                    <a:pt x="1393" y="85"/>
                  </a:lnTo>
                  <a:lnTo>
                    <a:pt x="1409" y="71"/>
                  </a:lnTo>
                  <a:lnTo>
                    <a:pt x="1415" y="53"/>
                  </a:lnTo>
                  <a:lnTo>
                    <a:pt x="1413" y="37"/>
                  </a:lnTo>
                  <a:lnTo>
                    <a:pt x="1406" y="21"/>
                  </a:lnTo>
                  <a:lnTo>
                    <a:pt x="1395" y="8"/>
                  </a:lnTo>
                  <a:lnTo>
                    <a:pt x="1379" y="1"/>
                  </a:lnTo>
                  <a:lnTo>
                    <a:pt x="1361" y="0"/>
                  </a:lnTo>
                  <a:lnTo>
                    <a:pt x="1342" y="8"/>
                  </a:lnTo>
                  <a:lnTo>
                    <a:pt x="1338"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3" name="Freeform 19"/>
            <p:cNvSpPr>
              <a:spLocks/>
            </p:cNvSpPr>
            <p:nvPr/>
          </p:nvSpPr>
          <p:spPr bwMode="auto">
            <a:xfrm>
              <a:off x="1599" y="2057"/>
              <a:ext cx="80" cy="163"/>
            </a:xfrm>
            <a:custGeom>
              <a:avLst/>
              <a:gdLst>
                <a:gd name="T0" fmla="*/ 61 w 398"/>
                <a:gd name="T1" fmla="*/ 9 h 817"/>
                <a:gd name="T2" fmla="*/ 61 w 398"/>
                <a:gd name="T3" fmla="*/ 9 h 817"/>
                <a:gd name="T4" fmla="*/ 61 w 398"/>
                <a:gd name="T5" fmla="*/ 19 h 817"/>
                <a:gd name="T6" fmla="*/ 60 w 398"/>
                <a:gd name="T7" fmla="*/ 29 h 817"/>
                <a:gd name="T8" fmla="*/ 58 w 398"/>
                <a:gd name="T9" fmla="*/ 40 h 817"/>
                <a:gd name="T10" fmla="*/ 56 w 398"/>
                <a:gd name="T11" fmla="*/ 49 h 817"/>
                <a:gd name="T12" fmla="*/ 54 w 398"/>
                <a:gd name="T13" fmla="*/ 59 h 817"/>
                <a:gd name="T14" fmla="*/ 51 w 398"/>
                <a:gd name="T15" fmla="*/ 69 h 817"/>
                <a:gd name="T16" fmla="*/ 47 w 398"/>
                <a:gd name="T17" fmla="*/ 79 h 817"/>
                <a:gd name="T18" fmla="*/ 44 w 398"/>
                <a:gd name="T19" fmla="*/ 88 h 817"/>
                <a:gd name="T20" fmla="*/ 39 w 398"/>
                <a:gd name="T21" fmla="*/ 97 h 817"/>
                <a:gd name="T22" fmla="*/ 34 w 398"/>
                <a:gd name="T23" fmla="*/ 106 h 817"/>
                <a:gd name="T24" fmla="*/ 30 w 398"/>
                <a:gd name="T25" fmla="*/ 115 h 817"/>
                <a:gd name="T26" fmla="*/ 24 w 398"/>
                <a:gd name="T27" fmla="*/ 122 h 817"/>
                <a:gd name="T28" fmla="*/ 19 w 398"/>
                <a:gd name="T29" fmla="*/ 130 h 817"/>
                <a:gd name="T30" fmla="*/ 13 w 398"/>
                <a:gd name="T31" fmla="*/ 136 h 817"/>
                <a:gd name="T32" fmla="*/ 6 w 398"/>
                <a:gd name="T33" fmla="*/ 143 h 817"/>
                <a:gd name="T34" fmla="*/ 0 w 398"/>
                <a:gd name="T35" fmla="*/ 148 h 817"/>
                <a:gd name="T36" fmla="*/ 12 w 398"/>
                <a:gd name="T37" fmla="*/ 163 h 817"/>
                <a:gd name="T38" fmla="*/ 19 w 398"/>
                <a:gd name="T39" fmla="*/ 156 h 817"/>
                <a:gd name="T40" fmla="*/ 27 w 398"/>
                <a:gd name="T41" fmla="*/ 149 h 817"/>
                <a:gd name="T42" fmla="*/ 33 w 398"/>
                <a:gd name="T43" fmla="*/ 141 h 817"/>
                <a:gd name="T44" fmla="*/ 39 w 398"/>
                <a:gd name="T45" fmla="*/ 133 h 817"/>
                <a:gd name="T46" fmla="*/ 46 w 398"/>
                <a:gd name="T47" fmla="*/ 124 h 817"/>
                <a:gd name="T48" fmla="*/ 51 w 398"/>
                <a:gd name="T49" fmla="*/ 115 h 817"/>
                <a:gd name="T50" fmla="*/ 56 w 398"/>
                <a:gd name="T51" fmla="*/ 106 h 817"/>
                <a:gd name="T52" fmla="*/ 61 w 398"/>
                <a:gd name="T53" fmla="*/ 96 h 817"/>
                <a:gd name="T54" fmla="*/ 65 w 398"/>
                <a:gd name="T55" fmla="*/ 85 h 817"/>
                <a:gd name="T56" fmla="*/ 69 w 398"/>
                <a:gd name="T57" fmla="*/ 75 h 817"/>
                <a:gd name="T58" fmla="*/ 72 w 398"/>
                <a:gd name="T59" fmla="*/ 64 h 817"/>
                <a:gd name="T60" fmla="*/ 75 w 398"/>
                <a:gd name="T61" fmla="*/ 53 h 817"/>
                <a:gd name="T62" fmla="*/ 77 w 398"/>
                <a:gd name="T63" fmla="*/ 42 h 817"/>
                <a:gd name="T64" fmla="*/ 79 w 398"/>
                <a:gd name="T65" fmla="*/ 31 h 817"/>
                <a:gd name="T66" fmla="*/ 79 w 398"/>
                <a:gd name="T67" fmla="*/ 20 h 817"/>
                <a:gd name="T68" fmla="*/ 80 w 398"/>
                <a:gd name="T69" fmla="*/ 9 h 817"/>
                <a:gd name="T70" fmla="*/ 80 w 398"/>
                <a:gd name="T71" fmla="*/ 9 h 817"/>
                <a:gd name="T72" fmla="*/ 80 w 398"/>
                <a:gd name="T73" fmla="*/ 9 h 817"/>
                <a:gd name="T74" fmla="*/ 79 w 398"/>
                <a:gd name="T75" fmla="*/ 5 h 817"/>
                <a:gd name="T76" fmla="*/ 77 w 398"/>
                <a:gd name="T77" fmla="*/ 2 h 817"/>
                <a:gd name="T78" fmla="*/ 74 w 398"/>
                <a:gd name="T79" fmla="*/ 1 h 817"/>
                <a:gd name="T80" fmla="*/ 71 w 398"/>
                <a:gd name="T81" fmla="*/ 0 h 817"/>
                <a:gd name="T82" fmla="*/ 67 w 398"/>
                <a:gd name="T83" fmla="*/ 1 h 817"/>
                <a:gd name="T84" fmla="*/ 64 w 398"/>
                <a:gd name="T85" fmla="*/ 2 h 817"/>
                <a:gd name="T86" fmla="*/ 62 w 398"/>
                <a:gd name="T87" fmla="*/ 5 h 817"/>
                <a:gd name="T88" fmla="*/ 61 w 398"/>
                <a:gd name="T89" fmla="*/ 9 h 8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98" h="817">
                  <a:moveTo>
                    <a:pt x="304" y="47"/>
                  </a:moveTo>
                  <a:lnTo>
                    <a:pt x="304" y="47"/>
                  </a:lnTo>
                  <a:lnTo>
                    <a:pt x="301" y="97"/>
                  </a:lnTo>
                  <a:lnTo>
                    <a:pt x="297" y="147"/>
                  </a:lnTo>
                  <a:lnTo>
                    <a:pt x="291" y="198"/>
                  </a:lnTo>
                  <a:lnTo>
                    <a:pt x="280" y="247"/>
                  </a:lnTo>
                  <a:lnTo>
                    <a:pt x="268" y="297"/>
                  </a:lnTo>
                  <a:lnTo>
                    <a:pt x="253" y="347"/>
                  </a:lnTo>
                  <a:lnTo>
                    <a:pt x="236" y="395"/>
                  </a:lnTo>
                  <a:lnTo>
                    <a:pt x="217" y="442"/>
                  </a:lnTo>
                  <a:lnTo>
                    <a:pt x="195" y="487"/>
                  </a:lnTo>
                  <a:lnTo>
                    <a:pt x="171" y="532"/>
                  </a:lnTo>
                  <a:lnTo>
                    <a:pt x="147" y="574"/>
                  </a:lnTo>
                  <a:lnTo>
                    <a:pt x="121" y="613"/>
                  </a:lnTo>
                  <a:lnTo>
                    <a:pt x="93" y="650"/>
                  </a:lnTo>
                  <a:lnTo>
                    <a:pt x="64" y="684"/>
                  </a:lnTo>
                  <a:lnTo>
                    <a:pt x="32" y="716"/>
                  </a:lnTo>
                  <a:lnTo>
                    <a:pt x="0" y="744"/>
                  </a:lnTo>
                  <a:lnTo>
                    <a:pt x="59" y="817"/>
                  </a:lnTo>
                  <a:lnTo>
                    <a:pt x="95" y="784"/>
                  </a:lnTo>
                  <a:lnTo>
                    <a:pt x="132" y="748"/>
                  </a:lnTo>
                  <a:lnTo>
                    <a:pt x="166" y="709"/>
                  </a:lnTo>
                  <a:lnTo>
                    <a:pt x="196" y="667"/>
                  </a:lnTo>
                  <a:lnTo>
                    <a:pt x="227" y="623"/>
                  </a:lnTo>
                  <a:lnTo>
                    <a:pt x="253" y="576"/>
                  </a:lnTo>
                  <a:lnTo>
                    <a:pt x="279" y="530"/>
                  </a:lnTo>
                  <a:lnTo>
                    <a:pt x="301" y="479"/>
                  </a:lnTo>
                  <a:lnTo>
                    <a:pt x="323" y="428"/>
                  </a:lnTo>
                  <a:lnTo>
                    <a:pt x="342" y="375"/>
                  </a:lnTo>
                  <a:lnTo>
                    <a:pt x="359" y="321"/>
                  </a:lnTo>
                  <a:lnTo>
                    <a:pt x="372" y="268"/>
                  </a:lnTo>
                  <a:lnTo>
                    <a:pt x="382" y="212"/>
                  </a:lnTo>
                  <a:lnTo>
                    <a:pt x="391" y="157"/>
                  </a:lnTo>
                  <a:lnTo>
                    <a:pt x="395" y="102"/>
                  </a:lnTo>
                  <a:lnTo>
                    <a:pt x="398" y="47"/>
                  </a:lnTo>
                  <a:lnTo>
                    <a:pt x="394" y="27"/>
                  </a:lnTo>
                  <a:lnTo>
                    <a:pt x="383" y="11"/>
                  </a:lnTo>
                  <a:lnTo>
                    <a:pt x="368" y="3"/>
                  </a:lnTo>
                  <a:lnTo>
                    <a:pt x="351" y="0"/>
                  </a:lnTo>
                  <a:lnTo>
                    <a:pt x="333" y="3"/>
                  </a:lnTo>
                  <a:lnTo>
                    <a:pt x="319" y="11"/>
                  </a:lnTo>
                  <a:lnTo>
                    <a:pt x="307" y="27"/>
                  </a:lnTo>
                  <a:lnTo>
                    <a:pt x="304"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4" name="Freeform 20"/>
            <p:cNvSpPr>
              <a:spLocks/>
            </p:cNvSpPr>
            <p:nvPr/>
          </p:nvSpPr>
          <p:spPr bwMode="auto">
            <a:xfrm>
              <a:off x="1660" y="1701"/>
              <a:ext cx="19" cy="365"/>
            </a:xfrm>
            <a:custGeom>
              <a:avLst/>
              <a:gdLst>
                <a:gd name="T0" fmla="*/ 0 w 95"/>
                <a:gd name="T1" fmla="*/ 10 h 1826"/>
                <a:gd name="T2" fmla="*/ 0 w 95"/>
                <a:gd name="T3" fmla="*/ 9 h 1826"/>
                <a:gd name="T4" fmla="*/ 0 w 95"/>
                <a:gd name="T5" fmla="*/ 365 h 1826"/>
                <a:gd name="T6" fmla="*/ 19 w 95"/>
                <a:gd name="T7" fmla="*/ 365 h 1826"/>
                <a:gd name="T8" fmla="*/ 19 w 95"/>
                <a:gd name="T9" fmla="*/ 9 h 1826"/>
                <a:gd name="T10" fmla="*/ 19 w 95"/>
                <a:gd name="T11" fmla="*/ 9 h 1826"/>
                <a:gd name="T12" fmla="*/ 19 w 95"/>
                <a:gd name="T13" fmla="*/ 9 h 1826"/>
                <a:gd name="T14" fmla="*/ 18 w 95"/>
                <a:gd name="T15" fmla="*/ 5 h 1826"/>
                <a:gd name="T16" fmla="*/ 16 w 95"/>
                <a:gd name="T17" fmla="*/ 2 h 1826"/>
                <a:gd name="T18" fmla="*/ 13 w 95"/>
                <a:gd name="T19" fmla="*/ 1 h 1826"/>
                <a:gd name="T20" fmla="*/ 9 w 95"/>
                <a:gd name="T21" fmla="*/ 0 h 1826"/>
                <a:gd name="T22" fmla="*/ 6 w 95"/>
                <a:gd name="T23" fmla="*/ 1 h 1826"/>
                <a:gd name="T24" fmla="*/ 3 w 95"/>
                <a:gd name="T25" fmla="*/ 2 h 1826"/>
                <a:gd name="T26" fmla="*/ 1 w 95"/>
                <a:gd name="T27" fmla="*/ 5 h 1826"/>
                <a:gd name="T28" fmla="*/ 0 w 95"/>
                <a:gd name="T29" fmla="*/ 9 h 1826"/>
                <a:gd name="T30" fmla="*/ 0 w 95"/>
                <a:gd name="T31" fmla="*/ 10 h 18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5" h="1826">
                  <a:moveTo>
                    <a:pt x="0" y="49"/>
                  </a:moveTo>
                  <a:lnTo>
                    <a:pt x="0" y="47"/>
                  </a:lnTo>
                  <a:lnTo>
                    <a:pt x="1" y="1826"/>
                  </a:lnTo>
                  <a:lnTo>
                    <a:pt x="95" y="1826"/>
                  </a:lnTo>
                  <a:lnTo>
                    <a:pt x="93" y="47"/>
                  </a:lnTo>
                  <a:lnTo>
                    <a:pt x="93" y="45"/>
                  </a:lnTo>
                  <a:lnTo>
                    <a:pt x="93" y="47"/>
                  </a:lnTo>
                  <a:lnTo>
                    <a:pt x="90" y="27"/>
                  </a:lnTo>
                  <a:lnTo>
                    <a:pt x="79" y="12"/>
                  </a:lnTo>
                  <a:lnTo>
                    <a:pt x="64" y="4"/>
                  </a:lnTo>
                  <a:lnTo>
                    <a:pt x="47" y="0"/>
                  </a:lnTo>
                  <a:lnTo>
                    <a:pt x="29" y="4"/>
                  </a:lnTo>
                  <a:lnTo>
                    <a:pt x="15" y="12"/>
                  </a:lnTo>
                  <a:lnTo>
                    <a:pt x="3" y="27"/>
                  </a:lnTo>
                  <a:lnTo>
                    <a:pt x="0" y="47"/>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5" name="Freeform 21"/>
            <p:cNvSpPr>
              <a:spLocks/>
            </p:cNvSpPr>
            <p:nvPr/>
          </p:nvSpPr>
          <p:spPr bwMode="auto">
            <a:xfrm>
              <a:off x="1598" y="1598"/>
              <a:ext cx="81" cy="113"/>
            </a:xfrm>
            <a:custGeom>
              <a:avLst/>
              <a:gdLst>
                <a:gd name="T0" fmla="*/ 5 w 401"/>
                <a:gd name="T1" fmla="*/ 18 h 566"/>
                <a:gd name="T2" fmla="*/ 5 w 401"/>
                <a:gd name="T3" fmla="*/ 18 h 566"/>
                <a:gd name="T4" fmla="*/ 11 w 401"/>
                <a:gd name="T5" fmla="*/ 21 h 566"/>
                <a:gd name="T6" fmla="*/ 17 w 401"/>
                <a:gd name="T7" fmla="*/ 25 h 566"/>
                <a:gd name="T8" fmla="*/ 22 w 401"/>
                <a:gd name="T9" fmla="*/ 29 h 566"/>
                <a:gd name="T10" fmla="*/ 27 w 401"/>
                <a:gd name="T11" fmla="*/ 34 h 566"/>
                <a:gd name="T12" fmla="*/ 32 w 401"/>
                <a:gd name="T13" fmla="*/ 39 h 566"/>
                <a:gd name="T14" fmla="*/ 37 w 401"/>
                <a:gd name="T15" fmla="*/ 45 h 566"/>
                <a:gd name="T16" fmla="*/ 41 w 401"/>
                <a:gd name="T17" fmla="*/ 50 h 566"/>
                <a:gd name="T18" fmla="*/ 45 w 401"/>
                <a:gd name="T19" fmla="*/ 56 h 566"/>
                <a:gd name="T20" fmla="*/ 48 w 401"/>
                <a:gd name="T21" fmla="*/ 62 h 566"/>
                <a:gd name="T22" fmla="*/ 52 w 401"/>
                <a:gd name="T23" fmla="*/ 69 h 566"/>
                <a:gd name="T24" fmla="*/ 55 w 401"/>
                <a:gd name="T25" fmla="*/ 76 h 566"/>
                <a:gd name="T26" fmla="*/ 57 w 401"/>
                <a:gd name="T27" fmla="*/ 83 h 566"/>
                <a:gd name="T28" fmla="*/ 59 w 401"/>
                <a:gd name="T29" fmla="*/ 90 h 566"/>
                <a:gd name="T30" fmla="*/ 60 w 401"/>
                <a:gd name="T31" fmla="*/ 97 h 566"/>
                <a:gd name="T32" fmla="*/ 61 w 401"/>
                <a:gd name="T33" fmla="*/ 105 h 566"/>
                <a:gd name="T34" fmla="*/ 62 w 401"/>
                <a:gd name="T35" fmla="*/ 113 h 566"/>
                <a:gd name="T36" fmla="*/ 81 w 401"/>
                <a:gd name="T37" fmla="*/ 112 h 566"/>
                <a:gd name="T38" fmla="*/ 80 w 401"/>
                <a:gd name="T39" fmla="*/ 103 h 566"/>
                <a:gd name="T40" fmla="*/ 79 w 401"/>
                <a:gd name="T41" fmla="*/ 94 h 566"/>
                <a:gd name="T42" fmla="*/ 77 w 401"/>
                <a:gd name="T43" fmla="*/ 86 h 566"/>
                <a:gd name="T44" fmla="*/ 75 w 401"/>
                <a:gd name="T45" fmla="*/ 77 h 566"/>
                <a:gd name="T46" fmla="*/ 72 w 401"/>
                <a:gd name="T47" fmla="*/ 69 h 566"/>
                <a:gd name="T48" fmla="*/ 69 w 401"/>
                <a:gd name="T49" fmla="*/ 61 h 566"/>
                <a:gd name="T50" fmla="*/ 65 w 401"/>
                <a:gd name="T51" fmla="*/ 54 h 566"/>
                <a:gd name="T52" fmla="*/ 61 w 401"/>
                <a:gd name="T53" fmla="*/ 46 h 566"/>
                <a:gd name="T54" fmla="*/ 57 w 401"/>
                <a:gd name="T55" fmla="*/ 39 h 566"/>
                <a:gd name="T56" fmla="*/ 52 w 401"/>
                <a:gd name="T57" fmla="*/ 33 h 566"/>
                <a:gd name="T58" fmla="*/ 46 w 401"/>
                <a:gd name="T59" fmla="*/ 26 h 566"/>
                <a:gd name="T60" fmla="*/ 40 w 401"/>
                <a:gd name="T61" fmla="*/ 21 h 566"/>
                <a:gd name="T62" fmla="*/ 34 w 401"/>
                <a:gd name="T63" fmla="*/ 15 h 566"/>
                <a:gd name="T64" fmla="*/ 28 w 401"/>
                <a:gd name="T65" fmla="*/ 10 h 566"/>
                <a:gd name="T66" fmla="*/ 21 w 401"/>
                <a:gd name="T67" fmla="*/ 5 h 566"/>
                <a:gd name="T68" fmla="*/ 14 w 401"/>
                <a:gd name="T69" fmla="*/ 1 h 566"/>
                <a:gd name="T70" fmla="*/ 14 w 401"/>
                <a:gd name="T71" fmla="*/ 1 h 566"/>
                <a:gd name="T72" fmla="*/ 14 w 401"/>
                <a:gd name="T73" fmla="*/ 1 h 566"/>
                <a:gd name="T74" fmla="*/ 10 w 401"/>
                <a:gd name="T75" fmla="*/ 0 h 566"/>
                <a:gd name="T76" fmla="*/ 6 w 401"/>
                <a:gd name="T77" fmla="*/ 0 h 566"/>
                <a:gd name="T78" fmla="*/ 3 w 401"/>
                <a:gd name="T79" fmla="*/ 2 h 566"/>
                <a:gd name="T80" fmla="*/ 1 w 401"/>
                <a:gd name="T81" fmla="*/ 5 h 566"/>
                <a:gd name="T82" fmla="*/ 0 w 401"/>
                <a:gd name="T83" fmla="*/ 8 h 566"/>
                <a:gd name="T84" fmla="*/ 0 w 401"/>
                <a:gd name="T85" fmla="*/ 12 h 566"/>
                <a:gd name="T86" fmla="*/ 2 w 401"/>
                <a:gd name="T87" fmla="*/ 15 h 566"/>
                <a:gd name="T88" fmla="*/ 5 w 401"/>
                <a:gd name="T89" fmla="*/ 18 h 56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01" h="566">
                  <a:moveTo>
                    <a:pt x="23" y="88"/>
                  </a:moveTo>
                  <a:lnTo>
                    <a:pt x="23" y="88"/>
                  </a:lnTo>
                  <a:lnTo>
                    <a:pt x="53" y="107"/>
                  </a:lnTo>
                  <a:lnTo>
                    <a:pt x="83" y="125"/>
                  </a:lnTo>
                  <a:lnTo>
                    <a:pt x="108" y="147"/>
                  </a:lnTo>
                  <a:lnTo>
                    <a:pt x="135" y="171"/>
                  </a:lnTo>
                  <a:lnTo>
                    <a:pt x="160" y="196"/>
                  </a:lnTo>
                  <a:lnTo>
                    <a:pt x="182" y="223"/>
                  </a:lnTo>
                  <a:lnTo>
                    <a:pt x="205" y="251"/>
                  </a:lnTo>
                  <a:lnTo>
                    <a:pt x="223" y="281"/>
                  </a:lnTo>
                  <a:lnTo>
                    <a:pt x="240" y="312"/>
                  </a:lnTo>
                  <a:lnTo>
                    <a:pt x="256" y="345"/>
                  </a:lnTo>
                  <a:lnTo>
                    <a:pt x="270" y="379"/>
                  </a:lnTo>
                  <a:lnTo>
                    <a:pt x="282" y="414"/>
                  </a:lnTo>
                  <a:lnTo>
                    <a:pt x="291" y="450"/>
                  </a:lnTo>
                  <a:lnTo>
                    <a:pt x="299" y="488"/>
                  </a:lnTo>
                  <a:lnTo>
                    <a:pt x="304" y="526"/>
                  </a:lnTo>
                  <a:lnTo>
                    <a:pt x="308" y="566"/>
                  </a:lnTo>
                  <a:lnTo>
                    <a:pt x="401" y="562"/>
                  </a:lnTo>
                  <a:lnTo>
                    <a:pt x="398" y="517"/>
                  </a:lnTo>
                  <a:lnTo>
                    <a:pt x="391" y="471"/>
                  </a:lnTo>
                  <a:lnTo>
                    <a:pt x="383" y="429"/>
                  </a:lnTo>
                  <a:lnTo>
                    <a:pt x="371" y="386"/>
                  </a:lnTo>
                  <a:lnTo>
                    <a:pt x="357" y="346"/>
                  </a:lnTo>
                  <a:lnTo>
                    <a:pt x="340" y="307"/>
                  </a:lnTo>
                  <a:lnTo>
                    <a:pt x="324" y="270"/>
                  </a:lnTo>
                  <a:lnTo>
                    <a:pt x="303" y="232"/>
                  </a:lnTo>
                  <a:lnTo>
                    <a:pt x="280" y="197"/>
                  </a:lnTo>
                  <a:lnTo>
                    <a:pt x="255" y="164"/>
                  </a:lnTo>
                  <a:lnTo>
                    <a:pt x="228" y="132"/>
                  </a:lnTo>
                  <a:lnTo>
                    <a:pt x="199" y="103"/>
                  </a:lnTo>
                  <a:lnTo>
                    <a:pt x="169" y="76"/>
                  </a:lnTo>
                  <a:lnTo>
                    <a:pt x="137" y="50"/>
                  </a:lnTo>
                  <a:lnTo>
                    <a:pt x="103" y="27"/>
                  </a:lnTo>
                  <a:lnTo>
                    <a:pt x="67" y="6"/>
                  </a:lnTo>
                  <a:lnTo>
                    <a:pt x="48" y="0"/>
                  </a:lnTo>
                  <a:lnTo>
                    <a:pt x="30" y="2"/>
                  </a:lnTo>
                  <a:lnTo>
                    <a:pt x="16" y="12"/>
                  </a:lnTo>
                  <a:lnTo>
                    <a:pt x="5" y="25"/>
                  </a:lnTo>
                  <a:lnTo>
                    <a:pt x="0" y="41"/>
                  </a:lnTo>
                  <a:lnTo>
                    <a:pt x="0" y="59"/>
                  </a:lnTo>
                  <a:lnTo>
                    <a:pt x="8" y="75"/>
                  </a:lnTo>
                  <a:lnTo>
                    <a:pt x="23"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6" name="Freeform 22"/>
            <p:cNvSpPr>
              <a:spLocks/>
            </p:cNvSpPr>
            <p:nvPr/>
          </p:nvSpPr>
          <p:spPr bwMode="auto">
            <a:xfrm>
              <a:off x="1346" y="1455"/>
              <a:ext cx="266" cy="160"/>
            </a:xfrm>
            <a:custGeom>
              <a:avLst/>
              <a:gdLst>
                <a:gd name="T0" fmla="*/ 5 w 1330"/>
                <a:gd name="T1" fmla="*/ 18 h 801"/>
                <a:gd name="T2" fmla="*/ 5 w 1330"/>
                <a:gd name="T3" fmla="*/ 18 h 801"/>
                <a:gd name="T4" fmla="*/ 257 w 1330"/>
                <a:gd name="T5" fmla="*/ 160 h 801"/>
                <a:gd name="T6" fmla="*/ 266 w 1330"/>
                <a:gd name="T7" fmla="*/ 144 h 801"/>
                <a:gd name="T8" fmla="*/ 13 w 1330"/>
                <a:gd name="T9" fmla="*/ 1 h 801"/>
                <a:gd name="T10" fmla="*/ 13 w 1330"/>
                <a:gd name="T11" fmla="*/ 1 h 801"/>
                <a:gd name="T12" fmla="*/ 13 w 1330"/>
                <a:gd name="T13" fmla="*/ 1 h 801"/>
                <a:gd name="T14" fmla="*/ 10 w 1330"/>
                <a:gd name="T15" fmla="*/ 0 h 801"/>
                <a:gd name="T16" fmla="*/ 6 w 1330"/>
                <a:gd name="T17" fmla="*/ 0 h 801"/>
                <a:gd name="T18" fmla="*/ 3 w 1330"/>
                <a:gd name="T19" fmla="*/ 2 h 801"/>
                <a:gd name="T20" fmla="*/ 1 w 1330"/>
                <a:gd name="T21" fmla="*/ 5 h 801"/>
                <a:gd name="T22" fmla="*/ 0 w 1330"/>
                <a:gd name="T23" fmla="*/ 8 h 801"/>
                <a:gd name="T24" fmla="*/ 0 w 1330"/>
                <a:gd name="T25" fmla="*/ 12 h 801"/>
                <a:gd name="T26" fmla="*/ 2 w 1330"/>
                <a:gd name="T27" fmla="*/ 15 h 801"/>
                <a:gd name="T28" fmla="*/ 5 w 1330"/>
                <a:gd name="T29" fmla="*/ 18 h 801"/>
                <a:gd name="T30" fmla="*/ 5 w 1330"/>
                <a:gd name="T31" fmla="*/ 18 h 8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30" h="801">
                  <a:moveTo>
                    <a:pt x="24" y="88"/>
                  </a:moveTo>
                  <a:lnTo>
                    <a:pt x="23" y="88"/>
                  </a:lnTo>
                  <a:lnTo>
                    <a:pt x="1286" y="801"/>
                  </a:lnTo>
                  <a:lnTo>
                    <a:pt x="1330" y="719"/>
                  </a:lnTo>
                  <a:lnTo>
                    <a:pt x="67" y="6"/>
                  </a:lnTo>
                  <a:lnTo>
                    <a:pt x="66" y="6"/>
                  </a:lnTo>
                  <a:lnTo>
                    <a:pt x="67" y="6"/>
                  </a:lnTo>
                  <a:lnTo>
                    <a:pt x="48" y="0"/>
                  </a:lnTo>
                  <a:lnTo>
                    <a:pt x="30" y="2"/>
                  </a:lnTo>
                  <a:lnTo>
                    <a:pt x="16" y="12"/>
                  </a:lnTo>
                  <a:lnTo>
                    <a:pt x="5" y="25"/>
                  </a:lnTo>
                  <a:lnTo>
                    <a:pt x="0" y="41"/>
                  </a:lnTo>
                  <a:lnTo>
                    <a:pt x="0" y="59"/>
                  </a:lnTo>
                  <a:lnTo>
                    <a:pt x="8" y="75"/>
                  </a:lnTo>
                  <a:lnTo>
                    <a:pt x="23" y="88"/>
                  </a:lnTo>
                  <a:lnTo>
                    <a:pt x="24"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7" name="Freeform 23"/>
            <p:cNvSpPr>
              <a:spLocks/>
            </p:cNvSpPr>
            <p:nvPr/>
          </p:nvSpPr>
          <p:spPr bwMode="auto">
            <a:xfrm>
              <a:off x="1198" y="1439"/>
              <a:ext cx="161" cy="35"/>
            </a:xfrm>
            <a:custGeom>
              <a:avLst/>
              <a:gdLst>
                <a:gd name="T0" fmla="*/ 13 w 806"/>
                <a:gd name="T1" fmla="*/ 34 h 177"/>
                <a:gd name="T2" fmla="*/ 14 w 806"/>
                <a:gd name="T3" fmla="*/ 34 h 177"/>
                <a:gd name="T4" fmla="*/ 22 w 806"/>
                <a:gd name="T5" fmla="*/ 30 h 177"/>
                <a:gd name="T6" fmla="*/ 30 w 806"/>
                <a:gd name="T7" fmla="*/ 27 h 177"/>
                <a:gd name="T8" fmla="*/ 39 w 806"/>
                <a:gd name="T9" fmla="*/ 24 h 177"/>
                <a:gd name="T10" fmla="*/ 48 w 806"/>
                <a:gd name="T11" fmla="*/ 22 h 177"/>
                <a:gd name="T12" fmla="*/ 57 w 806"/>
                <a:gd name="T13" fmla="*/ 20 h 177"/>
                <a:gd name="T14" fmla="*/ 67 w 806"/>
                <a:gd name="T15" fmla="*/ 19 h 177"/>
                <a:gd name="T16" fmla="*/ 76 w 806"/>
                <a:gd name="T17" fmla="*/ 19 h 177"/>
                <a:gd name="T18" fmla="*/ 86 w 806"/>
                <a:gd name="T19" fmla="*/ 19 h 177"/>
                <a:gd name="T20" fmla="*/ 95 w 806"/>
                <a:gd name="T21" fmla="*/ 19 h 177"/>
                <a:gd name="T22" fmla="*/ 105 w 806"/>
                <a:gd name="T23" fmla="*/ 20 h 177"/>
                <a:gd name="T24" fmla="*/ 113 w 806"/>
                <a:gd name="T25" fmla="*/ 21 h 177"/>
                <a:gd name="T26" fmla="*/ 122 w 806"/>
                <a:gd name="T27" fmla="*/ 23 h 177"/>
                <a:gd name="T28" fmla="*/ 131 w 806"/>
                <a:gd name="T29" fmla="*/ 25 h 177"/>
                <a:gd name="T30" fmla="*/ 138 w 806"/>
                <a:gd name="T31" fmla="*/ 28 h 177"/>
                <a:gd name="T32" fmla="*/ 146 w 806"/>
                <a:gd name="T33" fmla="*/ 31 h 177"/>
                <a:gd name="T34" fmla="*/ 153 w 806"/>
                <a:gd name="T35" fmla="*/ 34 h 177"/>
                <a:gd name="T36" fmla="*/ 161 w 806"/>
                <a:gd name="T37" fmla="*/ 18 h 177"/>
                <a:gd name="T38" fmla="*/ 153 w 806"/>
                <a:gd name="T39" fmla="*/ 14 h 177"/>
                <a:gd name="T40" fmla="*/ 145 w 806"/>
                <a:gd name="T41" fmla="*/ 11 h 177"/>
                <a:gd name="T42" fmla="*/ 136 w 806"/>
                <a:gd name="T43" fmla="*/ 8 h 177"/>
                <a:gd name="T44" fmla="*/ 126 w 806"/>
                <a:gd name="T45" fmla="*/ 5 h 177"/>
                <a:gd name="T46" fmla="*/ 117 w 806"/>
                <a:gd name="T47" fmla="*/ 3 h 177"/>
                <a:gd name="T48" fmla="*/ 107 w 806"/>
                <a:gd name="T49" fmla="*/ 2 h 177"/>
                <a:gd name="T50" fmla="*/ 97 w 806"/>
                <a:gd name="T51" fmla="*/ 1 h 177"/>
                <a:gd name="T52" fmla="*/ 86 w 806"/>
                <a:gd name="T53" fmla="*/ 0 h 177"/>
                <a:gd name="T54" fmla="*/ 76 w 806"/>
                <a:gd name="T55" fmla="*/ 0 h 177"/>
                <a:gd name="T56" fmla="*/ 66 w 806"/>
                <a:gd name="T57" fmla="*/ 1 h 177"/>
                <a:gd name="T58" fmla="*/ 55 w 806"/>
                <a:gd name="T59" fmla="*/ 2 h 177"/>
                <a:gd name="T60" fmla="*/ 45 w 806"/>
                <a:gd name="T61" fmla="*/ 4 h 177"/>
                <a:gd name="T62" fmla="*/ 34 w 806"/>
                <a:gd name="T63" fmla="*/ 6 h 177"/>
                <a:gd name="T64" fmla="*/ 24 w 806"/>
                <a:gd name="T65" fmla="*/ 9 h 177"/>
                <a:gd name="T66" fmla="*/ 14 w 806"/>
                <a:gd name="T67" fmla="*/ 13 h 177"/>
                <a:gd name="T68" fmla="*/ 5 w 806"/>
                <a:gd name="T69" fmla="*/ 18 h 177"/>
                <a:gd name="T70" fmla="*/ 5 w 806"/>
                <a:gd name="T71" fmla="*/ 18 h 177"/>
                <a:gd name="T72" fmla="*/ 5 w 806"/>
                <a:gd name="T73" fmla="*/ 18 h 177"/>
                <a:gd name="T74" fmla="*/ 2 w 806"/>
                <a:gd name="T75" fmla="*/ 20 h 177"/>
                <a:gd name="T76" fmla="*/ 0 w 806"/>
                <a:gd name="T77" fmla="*/ 23 h 177"/>
                <a:gd name="T78" fmla="*/ 0 w 806"/>
                <a:gd name="T79" fmla="*/ 27 h 177"/>
                <a:gd name="T80" fmla="*/ 1 w 806"/>
                <a:gd name="T81" fmla="*/ 30 h 177"/>
                <a:gd name="T82" fmla="*/ 3 w 806"/>
                <a:gd name="T83" fmla="*/ 33 h 177"/>
                <a:gd name="T84" fmla="*/ 6 w 806"/>
                <a:gd name="T85" fmla="*/ 35 h 177"/>
                <a:gd name="T86" fmla="*/ 10 w 806"/>
                <a:gd name="T87" fmla="*/ 35 h 177"/>
                <a:gd name="T88" fmla="*/ 14 w 806"/>
                <a:gd name="T89" fmla="*/ 34 h 177"/>
                <a:gd name="T90" fmla="*/ 13 w 806"/>
                <a:gd name="T91" fmla="*/ 34 h 1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806" h="177">
                  <a:moveTo>
                    <a:pt x="67" y="171"/>
                  </a:moveTo>
                  <a:lnTo>
                    <a:pt x="68" y="171"/>
                  </a:lnTo>
                  <a:lnTo>
                    <a:pt x="109" y="151"/>
                  </a:lnTo>
                  <a:lnTo>
                    <a:pt x="151" y="135"/>
                  </a:lnTo>
                  <a:lnTo>
                    <a:pt x="196" y="122"/>
                  </a:lnTo>
                  <a:lnTo>
                    <a:pt x="242" y="110"/>
                  </a:lnTo>
                  <a:lnTo>
                    <a:pt x="287" y="102"/>
                  </a:lnTo>
                  <a:lnTo>
                    <a:pt x="335" y="97"/>
                  </a:lnTo>
                  <a:lnTo>
                    <a:pt x="382" y="95"/>
                  </a:lnTo>
                  <a:lnTo>
                    <a:pt x="430" y="94"/>
                  </a:lnTo>
                  <a:lnTo>
                    <a:pt x="477" y="97"/>
                  </a:lnTo>
                  <a:lnTo>
                    <a:pt x="524" y="102"/>
                  </a:lnTo>
                  <a:lnTo>
                    <a:pt x="568" y="108"/>
                  </a:lnTo>
                  <a:lnTo>
                    <a:pt x="612" y="117"/>
                  </a:lnTo>
                  <a:lnTo>
                    <a:pt x="654" y="128"/>
                  </a:lnTo>
                  <a:lnTo>
                    <a:pt x="693" y="141"/>
                  </a:lnTo>
                  <a:lnTo>
                    <a:pt x="730" y="155"/>
                  </a:lnTo>
                  <a:lnTo>
                    <a:pt x="764" y="171"/>
                  </a:lnTo>
                  <a:lnTo>
                    <a:pt x="806" y="89"/>
                  </a:lnTo>
                  <a:lnTo>
                    <a:pt x="768" y="70"/>
                  </a:lnTo>
                  <a:lnTo>
                    <a:pt x="725" y="54"/>
                  </a:lnTo>
                  <a:lnTo>
                    <a:pt x="680" y="39"/>
                  </a:lnTo>
                  <a:lnTo>
                    <a:pt x="633" y="26"/>
                  </a:lnTo>
                  <a:lnTo>
                    <a:pt x="585" y="16"/>
                  </a:lnTo>
                  <a:lnTo>
                    <a:pt x="536" y="8"/>
                  </a:lnTo>
                  <a:lnTo>
                    <a:pt x="484" y="3"/>
                  </a:lnTo>
                  <a:lnTo>
                    <a:pt x="433" y="0"/>
                  </a:lnTo>
                  <a:lnTo>
                    <a:pt x="380" y="1"/>
                  </a:lnTo>
                  <a:lnTo>
                    <a:pt x="328" y="3"/>
                  </a:lnTo>
                  <a:lnTo>
                    <a:pt x="276" y="10"/>
                  </a:lnTo>
                  <a:lnTo>
                    <a:pt x="223" y="19"/>
                  </a:lnTo>
                  <a:lnTo>
                    <a:pt x="172" y="30"/>
                  </a:lnTo>
                  <a:lnTo>
                    <a:pt x="121" y="46"/>
                  </a:lnTo>
                  <a:lnTo>
                    <a:pt x="72" y="67"/>
                  </a:lnTo>
                  <a:lnTo>
                    <a:pt x="24" y="89"/>
                  </a:lnTo>
                  <a:lnTo>
                    <a:pt x="25" y="89"/>
                  </a:lnTo>
                  <a:lnTo>
                    <a:pt x="24" y="89"/>
                  </a:lnTo>
                  <a:lnTo>
                    <a:pt x="8" y="102"/>
                  </a:lnTo>
                  <a:lnTo>
                    <a:pt x="0" y="118"/>
                  </a:lnTo>
                  <a:lnTo>
                    <a:pt x="0" y="136"/>
                  </a:lnTo>
                  <a:lnTo>
                    <a:pt x="6" y="152"/>
                  </a:lnTo>
                  <a:lnTo>
                    <a:pt x="17" y="165"/>
                  </a:lnTo>
                  <a:lnTo>
                    <a:pt x="31" y="175"/>
                  </a:lnTo>
                  <a:lnTo>
                    <a:pt x="48" y="177"/>
                  </a:lnTo>
                  <a:lnTo>
                    <a:pt x="68" y="171"/>
                  </a:lnTo>
                  <a:lnTo>
                    <a:pt x="67" y="1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8" name="Freeform 24"/>
            <p:cNvSpPr>
              <a:spLocks/>
            </p:cNvSpPr>
            <p:nvPr/>
          </p:nvSpPr>
          <p:spPr bwMode="auto">
            <a:xfrm>
              <a:off x="931" y="1456"/>
              <a:ext cx="280" cy="158"/>
            </a:xfrm>
            <a:custGeom>
              <a:avLst/>
              <a:gdLst>
                <a:gd name="T0" fmla="*/ 14 w 1402"/>
                <a:gd name="T1" fmla="*/ 157 h 787"/>
                <a:gd name="T2" fmla="*/ 13 w 1402"/>
                <a:gd name="T3" fmla="*/ 157 h 787"/>
                <a:gd name="T4" fmla="*/ 280 w 1402"/>
                <a:gd name="T5" fmla="*/ 16 h 787"/>
                <a:gd name="T6" fmla="*/ 272 w 1402"/>
                <a:gd name="T7" fmla="*/ 0 h 787"/>
                <a:gd name="T8" fmla="*/ 5 w 1402"/>
                <a:gd name="T9" fmla="*/ 140 h 787"/>
                <a:gd name="T10" fmla="*/ 4 w 1402"/>
                <a:gd name="T11" fmla="*/ 140 h 787"/>
                <a:gd name="T12" fmla="*/ 5 w 1402"/>
                <a:gd name="T13" fmla="*/ 140 h 787"/>
                <a:gd name="T14" fmla="*/ 2 w 1402"/>
                <a:gd name="T15" fmla="*/ 143 h 787"/>
                <a:gd name="T16" fmla="*/ 0 w 1402"/>
                <a:gd name="T17" fmla="*/ 146 h 787"/>
                <a:gd name="T18" fmla="*/ 0 w 1402"/>
                <a:gd name="T19" fmla="*/ 149 h 787"/>
                <a:gd name="T20" fmla="*/ 1 w 1402"/>
                <a:gd name="T21" fmla="*/ 153 h 787"/>
                <a:gd name="T22" fmla="*/ 3 w 1402"/>
                <a:gd name="T23" fmla="*/ 156 h 787"/>
                <a:gd name="T24" fmla="*/ 6 w 1402"/>
                <a:gd name="T25" fmla="*/ 157 h 787"/>
                <a:gd name="T26" fmla="*/ 9 w 1402"/>
                <a:gd name="T27" fmla="*/ 158 h 787"/>
                <a:gd name="T28" fmla="*/ 13 w 1402"/>
                <a:gd name="T29" fmla="*/ 157 h 787"/>
                <a:gd name="T30" fmla="*/ 14 w 1402"/>
                <a:gd name="T31" fmla="*/ 157 h 78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02" h="787">
                  <a:moveTo>
                    <a:pt x="69" y="781"/>
                  </a:moveTo>
                  <a:lnTo>
                    <a:pt x="66" y="781"/>
                  </a:lnTo>
                  <a:lnTo>
                    <a:pt x="1402" y="82"/>
                  </a:lnTo>
                  <a:lnTo>
                    <a:pt x="1360" y="0"/>
                  </a:lnTo>
                  <a:lnTo>
                    <a:pt x="24" y="699"/>
                  </a:lnTo>
                  <a:lnTo>
                    <a:pt x="22" y="699"/>
                  </a:lnTo>
                  <a:lnTo>
                    <a:pt x="24" y="699"/>
                  </a:lnTo>
                  <a:lnTo>
                    <a:pt x="8" y="712"/>
                  </a:lnTo>
                  <a:lnTo>
                    <a:pt x="1" y="727"/>
                  </a:lnTo>
                  <a:lnTo>
                    <a:pt x="0" y="744"/>
                  </a:lnTo>
                  <a:lnTo>
                    <a:pt x="5" y="761"/>
                  </a:lnTo>
                  <a:lnTo>
                    <a:pt x="15" y="775"/>
                  </a:lnTo>
                  <a:lnTo>
                    <a:pt x="30" y="784"/>
                  </a:lnTo>
                  <a:lnTo>
                    <a:pt x="46" y="787"/>
                  </a:lnTo>
                  <a:lnTo>
                    <a:pt x="66" y="781"/>
                  </a:lnTo>
                  <a:lnTo>
                    <a:pt x="69" y="7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19" name="Freeform 25"/>
            <p:cNvSpPr>
              <a:spLocks/>
            </p:cNvSpPr>
            <p:nvPr/>
          </p:nvSpPr>
          <p:spPr bwMode="auto">
            <a:xfrm>
              <a:off x="868" y="1596"/>
              <a:ext cx="77" cy="126"/>
            </a:xfrm>
            <a:custGeom>
              <a:avLst/>
              <a:gdLst>
                <a:gd name="T0" fmla="*/ 19 w 382"/>
                <a:gd name="T1" fmla="*/ 117 h 628"/>
                <a:gd name="T2" fmla="*/ 19 w 382"/>
                <a:gd name="T3" fmla="*/ 117 h 628"/>
                <a:gd name="T4" fmla="*/ 19 w 382"/>
                <a:gd name="T5" fmla="*/ 109 h 628"/>
                <a:gd name="T6" fmla="*/ 20 w 382"/>
                <a:gd name="T7" fmla="*/ 100 h 628"/>
                <a:gd name="T8" fmla="*/ 21 w 382"/>
                <a:gd name="T9" fmla="*/ 93 h 628"/>
                <a:gd name="T10" fmla="*/ 23 w 382"/>
                <a:gd name="T11" fmla="*/ 85 h 628"/>
                <a:gd name="T12" fmla="*/ 26 w 382"/>
                <a:gd name="T13" fmla="*/ 78 h 628"/>
                <a:gd name="T14" fmla="*/ 28 w 382"/>
                <a:gd name="T15" fmla="*/ 71 h 628"/>
                <a:gd name="T16" fmla="*/ 31 w 382"/>
                <a:gd name="T17" fmla="*/ 64 h 628"/>
                <a:gd name="T18" fmla="*/ 35 w 382"/>
                <a:gd name="T19" fmla="*/ 58 h 628"/>
                <a:gd name="T20" fmla="*/ 39 w 382"/>
                <a:gd name="T21" fmla="*/ 51 h 628"/>
                <a:gd name="T22" fmla="*/ 43 w 382"/>
                <a:gd name="T23" fmla="*/ 45 h 628"/>
                <a:gd name="T24" fmla="*/ 48 w 382"/>
                <a:gd name="T25" fmla="*/ 40 h 628"/>
                <a:gd name="T26" fmla="*/ 53 w 382"/>
                <a:gd name="T27" fmla="*/ 35 h 628"/>
                <a:gd name="T28" fmla="*/ 58 w 382"/>
                <a:gd name="T29" fmla="*/ 29 h 628"/>
                <a:gd name="T30" fmla="*/ 64 w 382"/>
                <a:gd name="T31" fmla="*/ 24 h 628"/>
                <a:gd name="T32" fmla="*/ 70 w 382"/>
                <a:gd name="T33" fmla="*/ 20 h 628"/>
                <a:gd name="T34" fmla="*/ 77 w 382"/>
                <a:gd name="T35" fmla="*/ 16 h 628"/>
                <a:gd name="T36" fmla="*/ 68 w 382"/>
                <a:gd name="T37" fmla="*/ 0 h 628"/>
                <a:gd name="T38" fmla="*/ 60 w 382"/>
                <a:gd name="T39" fmla="*/ 5 h 628"/>
                <a:gd name="T40" fmla="*/ 53 w 382"/>
                <a:gd name="T41" fmla="*/ 10 h 628"/>
                <a:gd name="T42" fmla="*/ 46 w 382"/>
                <a:gd name="T43" fmla="*/ 15 h 628"/>
                <a:gd name="T44" fmla="*/ 40 w 382"/>
                <a:gd name="T45" fmla="*/ 21 h 628"/>
                <a:gd name="T46" fmla="*/ 34 w 382"/>
                <a:gd name="T47" fmla="*/ 27 h 628"/>
                <a:gd name="T48" fmla="*/ 29 w 382"/>
                <a:gd name="T49" fmla="*/ 34 h 628"/>
                <a:gd name="T50" fmla="*/ 23 w 382"/>
                <a:gd name="T51" fmla="*/ 41 h 628"/>
                <a:gd name="T52" fmla="*/ 19 w 382"/>
                <a:gd name="T53" fmla="*/ 48 h 628"/>
                <a:gd name="T54" fmla="*/ 15 w 382"/>
                <a:gd name="T55" fmla="*/ 56 h 628"/>
                <a:gd name="T56" fmla="*/ 11 w 382"/>
                <a:gd name="T57" fmla="*/ 64 h 628"/>
                <a:gd name="T58" fmla="*/ 8 w 382"/>
                <a:gd name="T59" fmla="*/ 72 h 628"/>
                <a:gd name="T60" fmla="*/ 5 w 382"/>
                <a:gd name="T61" fmla="*/ 80 h 628"/>
                <a:gd name="T62" fmla="*/ 3 w 382"/>
                <a:gd name="T63" fmla="*/ 89 h 628"/>
                <a:gd name="T64" fmla="*/ 2 w 382"/>
                <a:gd name="T65" fmla="*/ 98 h 628"/>
                <a:gd name="T66" fmla="*/ 0 w 382"/>
                <a:gd name="T67" fmla="*/ 107 h 628"/>
                <a:gd name="T68" fmla="*/ 0 w 382"/>
                <a:gd name="T69" fmla="*/ 116 h 628"/>
                <a:gd name="T70" fmla="*/ 0 w 382"/>
                <a:gd name="T71" fmla="*/ 117 h 628"/>
                <a:gd name="T72" fmla="*/ 0 w 382"/>
                <a:gd name="T73" fmla="*/ 116 h 628"/>
                <a:gd name="T74" fmla="*/ 1 w 382"/>
                <a:gd name="T75" fmla="*/ 120 h 628"/>
                <a:gd name="T76" fmla="*/ 3 w 382"/>
                <a:gd name="T77" fmla="*/ 123 h 628"/>
                <a:gd name="T78" fmla="*/ 6 w 382"/>
                <a:gd name="T79" fmla="*/ 125 h 628"/>
                <a:gd name="T80" fmla="*/ 9 w 382"/>
                <a:gd name="T81" fmla="*/ 126 h 628"/>
                <a:gd name="T82" fmla="*/ 13 w 382"/>
                <a:gd name="T83" fmla="*/ 126 h 628"/>
                <a:gd name="T84" fmla="*/ 16 w 382"/>
                <a:gd name="T85" fmla="*/ 124 h 628"/>
                <a:gd name="T86" fmla="*/ 18 w 382"/>
                <a:gd name="T87" fmla="*/ 121 h 628"/>
                <a:gd name="T88" fmla="*/ 19 w 382"/>
                <a:gd name="T89" fmla="*/ 117 h 628"/>
                <a:gd name="T90" fmla="*/ 19 w 382"/>
                <a:gd name="T91" fmla="*/ 117 h 62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628">
                  <a:moveTo>
                    <a:pt x="94" y="581"/>
                  </a:moveTo>
                  <a:lnTo>
                    <a:pt x="94" y="582"/>
                  </a:lnTo>
                  <a:lnTo>
                    <a:pt x="96" y="541"/>
                  </a:lnTo>
                  <a:lnTo>
                    <a:pt x="99" y="500"/>
                  </a:lnTo>
                  <a:lnTo>
                    <a:pt x="106" y="463"/>
                  </a:lnTo>
                  <a:lnTo>
                    <a:pt x="115" y="424"/>
                  </a:lnTo>
                  <a:lnTo>
                    <a:pt x="127" y="389"/>
                  </a:lnTo>
                  <a:lnTo>
                    <a:pt x="140" y="353"/>
                  </a:lnTo>
                  <a:lnTo>
                    <a:pt x="156" y="320"/>
                  </a:lnTo>
                  <a:lnTo>
                    <a:pt x="173" y="287"/>
                  </a:lnTo>
                  <a:lnTo>
                    <a:pt x="193" y="255"/>
                  </a:lnTo>
                  <a:lnTo>
                    <a:pt x="214" y="226"/>
                  </a:lnTo>
                  <a:lnTo>
                    <a:pt x="238" y="198"/>
                  </a:lnTo>
                  <a:lnTo>
                    <a:pt x="263" y="172"/>
                  </a:lnTo>
                  <a:lnTo>
                    <a:pt x="290" y="146"/>
                  </a:lnTo>
                  <a:lnTo>
                    <a:pt x="318" y="122"/>
                  </a:lnTo>
                  <a:lnTo>
                    <a:pt x="349" y="101"/>
                  </a:lnTo>
                  <a:lnTo>
                    <a:pt x="382" y="82"/>
                  </a:lnTo>
                  <a:lnTo>
                    <a:pt x="335" y="0"/>
                  </a:lnTo>
                  <a:lnTo>
                    <a:pt x="297" y="23"/>
                  </a:lnTo>
                  <a:lnTo>
                    <a:pt x="262" y="49"/>
                  </a:lnTo>
                  <a:lnTo>
                    <a:pt x="229" y="76"/>
                  </a:lnTo>
                  <a:lnTo>
                    <a:pt x="198" y="104"/>
                  </a:lnTo>
                  <a:lnTo>
                    <a:pt x="167" y="137"/>
                  </a:lnTo>
                  <a:lnTo>
                    <a:pt x="142" y="170"/>
                  </a:lnTo>
                  <a:lnTo>
                    <a:pt x="116" y="204"/>
                  </a:lnTo>
                  <a:lnTo>
                    <a:pt x="94" y="240"/>
                  </a:lnTo>
                  <a:lnTo>
                    <a:pt x="74" y="278"/>
                  </a:lnTo>
                  <a:lnTo>
                    <a:pt x="54" y="317"/>
                  </a:lnTo>
                  <a:lnTo>
                    <a:pt x="38" y="359"/>
                  </a:lnTo>
                  <a:lnTo>
                    <a:pt x="26" y="401"/>
                  </a:lnTo>
                  <a:lnTo>
                    <a:pt x="15" y="444"/>
                  </a:lnTo>
                  <a:lnTo>
                    <a:pt x="8" y="489"/>
                  </a:lnTo>
                  <a:lnTo>
                    <a:pt x="2" y="534"/>
                  </a:lnTo>
                  <a:lnTo>
                    <a:pt x="0" y="580"/>
                  </a:lnTo>
                  <a:lnTo>
                    <a:pt x="0" y="581"/>
                  </a:lnTo>
                  <a:lnTo>
                    <a:pt x="0" y="580"/>
                  </a:lnTo>
                  <a:lnTo>
                    <a:pt x="3" y="600"/>
                  </a:lnTo>
                  <a:lnTo>
                    <a:pt x="14" y="615"/>
                  </a:lnTo>
                  <a:lnTo>
                    <a:pt x="29" y="625"/>
                  </a:lnTo>
                  <a:lnTo>
                    <a:pt x="45" y="628"/>
                  </a:lnTo>
                  <a:lnTo>
                    <a:pt x="63" y="626"/>
                  </a:lnTo>
                  <a:lnTo>
                    <a:pt x="78" y="616"/>
                  </a:lnTo>
                  <a:lnTo>
                    <a:pt x="89" y="602"/>
                  </a:lnTo>
                  <a:lnTo>
                    <a:pt x="94" y="582"/>
                  </a:lnTo>
                  <a:lnTo>
                    <a:pt x="94" y="5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0" name="Freeform 26"/>
            <p:cNvSpPr>
              <a:spLocks/>
            </p:cNvSpPr>
            <p:nvPr/>
          </p:nvSpPr>
          <p:spPr bwMode="auto">
            <a:xfrm>
              <a:off x="868" y="1712"/>
              <a:ext cx="19" cy="364"/>
            </a:xfrm>
            <a:custGeom>
              <a:avLst/>
              <a:gdLst>
                <a:gd name="T0" fmla="*/ 19 w 94"/>
                <a:gd name="T1" fmla="*/ 355 h 1818"/>
                <a:gd name="T2" fmla="*/ 19 w 94"/>
                <a:gd name="T3" fmla="*/ 355 h 1818"/>
                <a:gd name="T4" fmla="*/ 19 w 94"/>
                <a:gd name="T5" fmla="*/ 0 h 1818"/>
                <a:gd name="T6" fmla="*/ 0 w 94"/>
                <a:gd name="T7" fmla="*/ 0 h 1818"/>
                <a:gd name="T8" fmla="*/ 0 w 94"/>
                <a:gd name="T9" fmla="*/ 355 h 1818"/>
                <a:gd name="T10" fmla="*/ 0 w 94"/>
                <a:gd name="T11" fmla="*/ 355 h 1818"/>
                <a:gd name="T12" fmla="*/ 0 w 94"/>
                <a:gd name="T13" fmla="*/ 355 h 1818"/>
                <a:gd name="T14" fmla="*/ 1 w 94"/>
                <a:gd name="T15" fmla="*/ 359 h 1818"/>
                <a:gd name="T16" fmla="*/ 3 w 94"/>
                <a:gd name="T17" fmla="*/ 362 h 1818"/>
                <a:gd name="T18" fmla="*/ 6 w 94"/>
                <a:gd name="T19" fmla="*/ 363 h 1818"/>
                <a:gd name="T20" fmla="*/ 10 w 94"/>
                <a:gd name="T21" fmla="*/ 364 h 1818"/>
                <a:gd name="T22" fmla="*/ 13 w 94"/>
                <a:gd name="T23" fmla="*/ 363 h 1818"/>
                <a:gd name="T24" fmla="*/ 16 w 94"/>
                <a:gd name="T25" fmla="*/ 362 h 1818"/>
                <a:gd name="T26" fmla="*/ 18 w 94"/>
                <a:gd name="T27" fmla="*/ 359 h 1818"/>
                <a:gd name="T28" fmla="*/ 19 w 94"/>
                <a:gd name="T29" fmla="*/ 355 h 18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4" h="1818">
                  <a:moveTo>
                    <a:pt x="94" y="1771"/>
                  </a:moveTo>
                  <a:lnTo>
                    <a:pt x="94" y="1771"/>
                  </a:lnTo>
                  <a:lnTo>
                    <a:pt x="94" y="0"/>
                  </a:lnTo>
                  <a:lnTo>
                    <a:pt x="0" y="0"/>
                  </a:lnTo>
                  <a:lnTo>
                    <a:pt x="0" y="1771"/>
                  </a:lnTo>
                  <a:lnTo>
                    <a:pt x="3" y="1791"/>
                  </a:lnTo>
                  <a:lnTo>
                    <a:pt x="15" y="1806"/>
                  </a:lnTo>
                  <a:lnTo>
                    <a:pt x="29" y="1814"/>
                  </a:lnTo>
                  <a:lnTo>
                    <a:pt x="47" y="1818"/>
                  </a:lnTo>
                  <a:lnTo>
                    <a:pt x="64" y="1814"/>
                  </a:lnTo>
                  <a:lnTo>
                    <a:pt x="79" y="1806"/>
                  </a:lnTo>
                  <a:lnTo>
                    <a:pt x="90" y="1791"/>
                  </a:lnTo>
                  <a:lnTo>
                    <a:pt x="94" y="17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1" name="Freeform 27"/>
            <p:cNvSpPr>
              <a:spLocks/>
            </p:cNvSpPr>
            <p:nvPr/>
          </p:nvSpPr>
          <p:spPr bwMode="auto">
            <a:xfrm>
              <a:off x="868" y="2067"/>
              <a:ext cx="90" cy="160"/>
            </a:xfrm>
            <a:custGeom>
              <a:avLst/>
              <a:gdLst>
                <a:gd name="T0" fmla="*/ 85 w 449"/>
                <a:gd name="T1" fmla="*/ 143 h 803"/>
                <a:gd name="T2" fmla="*/ 86 w 449"/>
                <a:gd name="T3" fmla="*/ 143 h 803"/>
                <a:gd name="T4" fmla="*/ 79 w 449"/>
                <a:gd name="T5" fmla="*/ 138 h 803"/>
                <a:gd name="T6" fmla="*/ 72 w 449"/>
                <a:gd name="T7" fmla="*/ 132 h 803"/>
                <a:gd name="T8" fmla="*/ 66 w 449"/>
                <a:gd name="T9" fmla="*/ 125 h 803"/>
                <a:gd name="T10" fmla="*/ 60 w 449"/>
                <a:gd name="T11" fmla="*/ 118 h 803"/>
                <a:gd name="T12" fmla="*/ 54 w 449"/>
                <a:gd name="T13" fmla="*/ 110 h 803"/>
                <a:gd name="T14" fmla="*/ 48 w 449"/>
                <a:gd name="T15" fmla="*/ 101 h 803"/>
                <a:gd name="T16" fmla="*/ 43 w 449"/>
                <a:gd name="T17" fmla="*/ 92 h 803"/>
                <a:gd name="T18" fmla="*/ 38 w 449"/>
                <a:gd name="T19" fmla="*/ 82 h 803"/>
                <a:gd name="T20" fmla="*/ 34 w 449"/>
                <a:gd name="T21" fmla="*/ 72 h 803"/>
                <a:gd name="T22" fmla="*/ 30 w 449"/>
                <a:gd name="T23" fmla="*/ 62 h 803"/>
                <a:gd name="T24" fmla="*/ 27 w 449"/>
                <a:gd name="T25" fmla="*/ 52 h 803"/>
                <a:gd name="T26" fmla="*/ 24 w 449"/>
                <a:gd name="T27" fmla="*/ 41 h 803"/>
                <a:gd name="T28" fmla="*/ 22 w 449"/>
                <a:gd name="T29" fmla="*/ 31 h 803"/>
                <a:gd name="T30" fmla="*/ 20 w 449"/>
                <a:gd name="T31" fmla="*/ 21 h 803"/>
                <a:gd name="T32" fmla="*/ 19 w 449"/>
                <a:gd name="T33" fmla="*/ 10 h 803"/>
                <a:gd name="T34" fmla="*/ 19 w 449"/>
                <a:gd name="T35" fmla="*/ 0 h 803"/>
                <a:gd name="T36" fmla="*/ 0 w 449"/>
                <a:gd name="T37" fmla="*/ 0 h 803"/>
                <a:gd name="T38" fmla="*/ 0 w 449"/>
                <a:gd name="T39" fmla="*/ 11 h 803"/>
                <a:gd name="T40" fmla="*/ 1 w 449"/>
                <a:gd name="T41" fmla="*/ 23 h 803"/>
                <a:gd name="T42" fmla="*/ 3 w 449"/>
                <a:gd name="T43" fmla="*/ 34 h 803"/>
                <a:gd name="T44" fmla="*/ 6 w 449"/>
                <a:gd name="T45" fmla="*/ 46 h 803"/>
                <a:gd name="T46" fmla="*/ 9 w 449"/>
                <a:gd name="T47" fmla="*/ 57 h 803"/>
                <a:gd name="T48" fmla="*/ 12 w 449"/>
                <a:gd name="T49" fmla="*/ 68 h 803"/>
                <a:gd name="T50" fmla="*/ 17 w 449"/>
                <a:gd name="T51" fmla="*/ 79 h 803"/>
                <a:gd name="T52" fmla="*/ 21 w 449"/>
                <a:gd name="T53" fmla="*/ 90 h 803"/>
                <a:gd name="T54" fmla="*/ 27 w 449"/>
                <a:gd name="T55" fmla="*/ 101 h 803"/>
                <a:gd name="T56" fmla="*/ 32 w 449"/>
                <a:gd name="T57" fmla="*/ 110 h 803"/>
                <a:gd name="T58" fmla="*/ 38 w 449"/>
                <a:gd name="T59" fmla="*/ 120 h 803"/>
                <a:gd name="T60" fmla="*/ 45 w 449"/>
                <a:gd name="T61" fmla="*/ 129 h 803"/>
                <a:gd name="T62" fmla="*/ 52 w 449"/>
                <a:gd name="T63" fmla="*/ 137 h 803"/>
                <a:gd name="T64" fmla="*/ 59 w 449"/>
                <a:gd name="T65" fmla="*/ 145 h 803"/>
                <a:gd name="T66" fmla="*/ 67 w 449"/>
                <a:gd name="T67" fmla="*/ 152 h 803"/>
                <a:gd name="T68" fmla="*/ 75 w 449"/>
                <a:gd name="T69" fmla="*/ 158 h 803"/>
                <a:gd name="T70" fmla="*/ 75 w 449"/>
                <a:gd name="T71" fmla="*/ 158 h 803"/>
                <a:gd name="T72" fmla="*/ 75 w 449"/>
                <a:gd name="T73" fmla="*/ 158 h 803"/>
                <a:gd name="T74" fmla="*/ 79 w 449"/>
                <a:gd name="T75" fmla="*/ 160 h 803"/>
                <a:gd name="T76" fmla="*/ 82 w 449"/>
                <a:gd name="T77" fmla="*/ 160 h 803"/>
                <a:gd name="T78" fmla="*/ 85 w 449"/>
                <a:gd name="T79" fmla="*/ 158 h 803"/>
                <a:gd name="T80" fmla="*/ 88 w 449"/>
                <a:gd name="T81" fmla="*/ 156 h 803"/>
                <a:gd name="T82" fmla="*/ 89 w 449"/>
                <a:gd name="T83" fmla="*/ 153 h 803"/>
                <a:gd name="T84" fmla="*/ 90 w 449"/>
                <a:gd name="T85" fmla="*/ 149 h 803"/>
                <a:gd name="T86" fmla="*/ 88 w 449"/>
                <a:gd name="T87" fmla="*/ 146 h 803"/>
                <a:gd name="T88" fmla="*/ 86 w 449"/>
                <a:gd name="T89" fmla="*/ 143 h 803"/>
                <a:gd name="T90" fmla="*/ 85 w 449"/>
                <a:gd name="T91" fmla="*/ 143 h 8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49" h="803">
                  <a:moveTo>
                    <a:pt x="426" y="717"/>
                  </a:moveTo>
                  <a:lnTo>
                    <a:pt x="427" y="717"/>
                  </a:lnTo>
                  <a:lnTo>
                    <a:pt x="395" y="693"/>
                  </a:lnTo>
                  <a:lnTo>
                    <a:pt x="361" y="662"/>
                  </a:lnTo>
                  <a:lnTo>
                    <a:pt x="329" y="628"/>
                  </a:lnTo>
                  <a:lnTo>
                    <a:pt x="299" y="591"/>
                  </a:lnTo>
                  <a:lnTo>
                    <a:pt x="269" y="551"/>
                  </a:lnTo>
                  <a:lnTo>
                    <a:pt x="241" y="507"/>
                  </a:lnTo>
                  <a:lnTo>
                    <a:pt x="215" y="460"/>
                  </a:lnTo>
                  <a:lnTo>
                    <a:pt x="191" y="412"/>
                  </a:lnTo>
                  <a:lnTo>
                    <a:pt x="170" y="363"/>
                  </a:lnTo>
                  <a:lnTo>
                    <a:pt x="151" y="312"/>
                  </a:lnTo>
                  <a:lnTo>
                    <a:pt x="133" y="259"/>
                  </a:lnTo>
                  <a:lnTo>
                    <a:pt x="119" y="207"/>
                  </a:lnTo>
                  <a:lnTo>
                    <a:pt x="108" y="156"/>
                  </a:lnTo>
                  <a:lnTo>
                    <a:pt x="101" y="103"/>
                  </a:lnTo>
                  <a:lnTo>
                    <a:pt x="96" y="51"/>
                  </a:lnTo>
                  <a:lnTo>
                    <a:pt x="94" y="0"/>
                  </a:lnTo>
                  <a:lnTo>
                    <a:pt x="0" y="0"/>
                  </a:lnTo>
                  <a:lnTo>
                    <a:pt x="2" y="56"/>
                  </a:lnTo>
                  <a:lnTo>
                    <a:pt x="7" y="115"/>
                  </a:lnTo>
                  <a:lnTo>
                    <a:pt x="16" y="172"/>
                  </a:lnTo>
                  <a:lnTo>
                    <a:pt x="28" y="231"/>
                  </a:lnTo>
                  <a:lnTo>
                    <a:pt x="44" y="287"/>
                  </a:lnTo>
                  <a:lnTo>
                    <a:pt x="62" y="342"/>
                  </a:lnTo>
                  <a:lnTo>
                    <a:pt x="83" y="398"/>
                  </a:lnTo>
                  <a:lnTo>
                    <a:pt x="106" y="452"/>
                  </a:lnTo>
                  <a:lnTo>
                    <a:pt x="133" y="505"/>
                  </a:lnTo>
                  <a:lnTo>
                    <a:pt x="161" y="554"/>
                  </a:lnTo>
                  <a:lnTo>
                    <a:pt x="192" y="602"/>
                  </a:lnTo>
                  <a:lnTo>
                    <a:pt x="224" y="647"/>
                  </a:lnTo>
                  <a:lnTo>
                    <a:pt x="259" y="689"/>
                  </a:lnTo>
                  <a:lnTo>
                    <a:pt x="295" y="728"/>
                  </a:lnTo>
                  <a:lnTo>
                    <a:pt x="334" y="763"/>
                  </a:lnTo>
                  <a:lnTo>
                    <a:pt x="374" y="795"/>
                  </a:lnTo>
                  <a:lnTo>
                    <a:pt x="375" y="795"/>
                  </a:lnTo>
                  <a:lnTo>
                    <a:pt x="374" y="795"/>
                  </a:lnTo>
                  <a:lnTo>
                    <a:pt x="392" y="803"/>
                  </a:lnTo>
                  <a:lnTo>
                    <a:pt x="411" y="803"/>
                  </a:lnTo>
                  <a:lnTo>
                    <a:pt x="426" y="795"/>
                  </a:lnTo>
                  <a:lnTo>
                    <a:pt x="439" y="782"/>
                  </a:lnTo>
                  <a:lnTo>
                    <a:pt x="446" y="766"/>
                  </a:lnTo>
                  <a:lnTo>
                    <a:pt x="449" y="749"/>
                  </a:lnTo>
                  <a:lnTo>
                    <a:pt x="441" y="732"/>
                  </a:lnTo>
                  <a:lnTo>
                    <a:pt x="427" y="717"/>
                  </a:lnTo>
                  <a:lnTo>
                    <a:pt x="426" y="7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2" name="Freeform 28"/>
            <p:cNvSpPr>
              <a:spLocks/>
            </p:cNvSpPr>
            <p:nvPr/>
          </p:nvSpPr>
          <p:spPr bwMode="auto">
            <a:xfrm>
              <a:off x="883" y="1673"/>
              <a:ext cx="379" cy="690"/>
            </a:xfrm>
            <a:custGeom>
              <a:avLst/>
              <a:gdLst>
                <a:gd name="T0" fmla="*/ 308 w 1897"/>
                <a:gd name="T1" fmla="*/ 161 h 3450"/>
                <a:gd name="T2" fmla="*/ 322 w 1897"/>
                <a:gd name="T3" fmla="*/ 172 h 3450"/>
                <a:gd name="T4" fmla="*/ 336 w 1897"/>
                <a:gd name="T5" fmla="*/ 187 h 3450"/>
                <a:gd name="T6" fmla="*/ 348 w 1897"/>
                <a:gd name="T7" fmla="*/ 203 h 3450"/>
                <a:gd name="T8" fmla="*/ 358 w 1897"/>
                <a:gd name="T9" fmla="*/ 222 h 3450"/>
                <a:gd name="T10" fmla="*/ 367 w 1897"/>
                <a:gd name="T11" fmla="*/ 242 h 3450"/>
                <a:gd name="T12" fmla="*/ 373 w 1897"/>
                <a:gd name="T13" fmla="*/ 263 h 3450"/>
                <a:gd name="T14" fmla="*/ 378 w 1897"/>
                <a:gd name="T15" fmla="*/ 283 h 3450"/>
                <a:gd name="T16" fmla="*/ 379 w 1897"/>
                <a:gd name="T17" fmla="*/ 304 h 3450"/>
                <a:gd name="T18" fmla="*/ 379 w 1897"/>
                <a:gd name="T19" fmla="*/ 638 h 3450"/>
                <a:gd name="T20" fmla="*/ 376 w 1897"/>
                <a:gd name="T21" fmla="*/ 655 h 3450"/>
                <a:gd name="T22" fmla="*/ 370 w 1897"/>
                <a:gd name="T23" fmla="*/ 669 h 3450"/>
                <a:gd name="T24" fmla="*/ 363 w 1897"/>
                <a:gd name="T25" fmla="*/ 680 h 3450"/>
                <a:gd name="T26" fmla="*/ 353 w 1897"/>
                <a:gd name="T27" fmla="*/ 687 h 3450"/>
                <a:gd name="T28" fmla="*/ 342 w 1897"/>
                <a:gd name="T29" fmla="*/ 690 h 3450"/>
                <a:gd name="T30" fmla="*/ 329 w 1897"/>
                <a:gd name="T31" fmla="*/ 689 h 3450"/>
                <a:gd name="T32" fmla="*/ 315 w 1897"/>
                <a:gd name="T33" fmla="*/ 684 h 3450"/>
                <a:gd name="T34" fmla="*/ 71 w 1897"/>
                <a:gd name="T35" fmla="*/ 529 h 3450"/>
                <a:gd name="T36" fmla="*/ 57 w 1897"/>
                <a:gd name="T37" fmla="*/ 518 h 3450"/>
                <a:gd name="T38" fmla="*/ 44 w 1897"/>
                <a:gd name="T39" fmla="*/ 503 h 3450"/>
                <a:gd name="T40" fmla="*/ 31 w 1897"/>
                <a:gd name="T41" fmla="*/ 487 h 3450"/>
                <a:gd name="T42" fmla="*/ 21 w 1897"/>
                <a:gd name="T43" fmla="*/ 468 h 3450"/>
                <a:gd name="T44" fmla="*/ 12 w 1897"/>
                <a:gd name="T45" fmla="*/ 448 h 3450"/>
                <a:gd name="T46" fmla="*/ 6 w 1897"/>
                <a:gd name="T47" fmla="*/ 428 h 3450"/>
                <a:gd name="T48" fmla="*/ 1 w 1897"/>
                <a:gd name="T49" fmla="*/ 407 h 3450"/>
                <a:gd name="T50" fmla="*/ 0 w 1897"/>
                <a:gd name="T51" fmla="*/ 386 h 3450"/>
                <a:gd name="T52" fmla="*/ 1 w 1897"/>
                <a:gd name="T53" fmla="*/ 52 h 3450"/>
                <a:gd name="T54" fmla="*/ 3 w 1897"/>
                <a:gd name="T55" fmla="*/ 35 h 3450"/>
                <a:gd name="T56" fmla="*/ 9 w 1897"/>
                <a:gd name="T57" fmla="*/ 21 h 3450"/>
                <a:gd name="T58" fmla="*/ 16 w 1897"/>
                <a:gd name="T59" fmla="*/ 10 h 3450"/>
                <a:gd name="T60" fmla="*/ 26 w 1897"/>
                <a:gd name="T61" fmla="*/ 3 h 3450"/>
                <a:gd name="T62" fmla="*/ 37 w 1897"/>
                <a:gd name="T63" fmla="*/ 0 h 3450"/>
                <a:gd name="T64" fmla="*/ 50 w 1897"/>
                <a:gd name="T65" fmla="*/ 1 h 3450"/>
                <a:gd name="T66" fmla="*/ 64 w 1897"/>
                <a:gd name="T67" fmla="*/ 6 h 34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897" h="3450">
                  <a:moveTo>
                    <a:pt x="357" y="49"/>
                  </a:moveTo>
                  <a:lnTo>
                    <a:pt x="1542" y="806"/>
                  </a:lnTo>
                  <a:lnTo>
                    <a:pt x="1579" y="832"/>
                  </a:lnTo>
                  <a:lnTo>
                    <a:pt x="1614" y="861"/>
                  </a:lnTo>
                  <a:lnTo>
                    <a:pt x="1648" y="895"/>
                  </a:lnTo>
                  <a:lnTo>
                    <a:pt x="1681" y="933"/>
                  </a:lnTo>
                  <a:lnTo>
                    <a:pt x="1711" y="973"/>
                  </a:lnTo>
                  <a:lnTo>
                    <a:pt x="1740" y="1016"/>
                  </a:lnTo>
                  <a:lnTo>
                    <a:pt x="1768" y="1062"/>
                  </a:lnTo>
                  <a:lnTo>
                    <a:pt x="1793" y="1109"/>
                  </a:lnTo>
                  <a:lnTo>
                    <a:pt x="1816" y="1158"/>
                  </a:lnTo>
                  <a:lnTo>
                    <a:pt x="1836" y="1208"/>
                  </a:lnTo>
                  <a:lnTo>
                    <a:pt x="1854" y="1260"/>
                  </a:lnTo>
                  <a:lnTo>
                    <a:pt x="1869" y="1313"/>
                  </a:lnTo>
                  <a:lnTo>
                    <a:pt x="1881" y="1364"/>
                  </a:lnTo>
                  <a:lnTo>
                    <a:pt x="1890" y="1417"/>
                  </a:lnTo>
                  <a:lnTo>
                    <a:pt x="1895" y="1469"/>
                  </a:lnTo>
                  <a:lnTo>
                    <a:pt x="1897" y="1519"/>
                  </a:lnTo>
                  <a:lnTo>
                    <a:pt x="1897" y="3142"/>
                  </a:lnTo>
                  <a:lnTo>
                    <a:pt x="1895" y="3190"/>
                  </a:lnTo>
                  <a:lnTo>
                    <a:pt x="1890" y="3235"/>
                  </a:lnTo>
                  <a:lnTo>
                    <a:pt x="1881" y="3276"/>
                  </a:lnTo>
                  <a:lnTo>
                    <a:pt x="1869" y="3313"/>
                  </a:lnTo>
                  <a:lnTo>
                    <a:pt x="1854" y="3346"/>
                  </a:lnTo>
                  <a:lnTo>
                    <a:pt x="1836" y="3375"/>
                  </a:lnTo>
                  <a:lnTo>
                    <a:pt x="1816" y="3398"/>
                  </a:lnTo>
                  <a:lnTo>
                    <a:pt x="1793" y="3418"/>
                  </a:lnTo>
                  <a:lnTo>
                    <a:pt x="1768" y="3434"/>
                  </a:lnTo>
                  <a:lnTo>
                    <a:pt x="1740" y="3444"/>
                  </a:lnTo>
                  <a:lnTo>
                    <a:pt x="1711" y="3450"/>
                  </a:lnTo>
                  <a:lnTo>
                    <a:pt x="1681" y="3450"/>
                  </a:lnTo>
                  <a:lnTo>
                    <a:pt x="1648" y="3445"/>
                  </a:lnTo>
                  <a:lnTo>
                    <a:pt x="1614" y="3436"/>
                  </a:lnTo>
                  <a:lnTo>
                    <a:pt x="1579" y="3421"/>
                  </a:lnTo>
                  <a:lnTo>
                    <a:pt x="1542" y="3400"/>
                  </a:lnTo>
                  <a:lnTo>
                    <a:pt x="357" y="2643"/>
                  </a:lnTo>
                  <a:lnTo>
                    <a:pt x="320" y="2618"/>
                  </a:lnTo>
                  <a:lnTo>
                    <a:pt x="285" y="2588"/>
                  </a:lnTo>
                  <a:lnTo>
                    <a:pt x="251" y="2554"/>
                  </a:lnTo>
                  <a:lnTo>
                    <a:pt x="218" y="2517"/>
                  </a:lnTo>
                  <a:lnTo>
                    <a:pt x="187" y="2477"/>
                  </a:lnTo>
                  <a:lnTo>
                    <a:pt x="157" y="2433"/>
                  </a:lnTo>
                  <a:lnTo>
                    <a:pt x="130" y="2388"/>
                  </a:lnTo>
                  <a:lnTo>
                    <a:pt x="105" y="2341"/>
                  </a:lnTo>
                  <a:lnTo>
                    <a:pt x="81" y="2292"/>
                  </a:lnTo>
                  <a:lnTo>
                    <a:pt x="61" y="2241"/>
                  </a:lnTo>
                  <a:lnTo>
                    <a:pt x="44" y="2190"/>
                  </a:lnTo>
                  <a:lnTo>
                    <a:pt x="29" y="2138"/>
                  </a:lnTo>
                  <a:lnTo>
                    <a:pt x="17" y="2085"/>
                  </a:lnTo>
                  <a:lnTo>
                    <a:pt x="7" y="2033"/>
                  </a:lnTo>
                  <a:lnTo>
                    <a:pt x="3" y="1981"/>
                  </a:lnTo>
                  <a:lnTo>
                    <a:pt x="0" y="1931"/>
                  </a:lnTo>
                  <a:lnTo>
                    <a:pt x="0" y="308"/>
                  </a:lnTo>
                  <a:lnTo>
                    <a:pt x="3" y="260"/>
                  </a:lnTo>
                  <a:lnTo>
                    <a:pt x="7" y="215"/>
                  </a:lnTo>
                  <a:lnTo>
                    <a:pt x="17" y="174"/>
                  </a:lnTo>
                  <a:lnTo>
                    <a:pt x="29" y="137"/>
                  </a:lnTo>
                  <a:lnTo>
                    <a:pt x="44" y="104"/>
                  </a:lnTo>
                  <a:lnTo>
                    <a:pt x="61" y="76"/>
                  </a:lnTo>
                  <a:lnTo>
                    <a:pt x="81" y="51"/>
                  </a:lnTo>
                  <a:lnTo>
                    <a:pt x="105" y="31"/>
                  </a:lnTo>
                  <a:lnTo>
                    <a:pt x="130" y="16"/>
                  </a:lnTo>
                  <a:lnTo>
                    <a:pt x="157" y="5"/>
                  </a:lnTo>
                  <a:lnTo>
                    <a:pt x="187" y="0"/>
                  </a:lnTo>
                  <a:lnTo>
                    <a:pt x="218" y="0"/>
                  </a:lnTo>
                  <a:lnTo>
                    <a:pt x="251" y="3"/>
                  </a:lnTo>
                  <a:lnTo>
                    <a:pt x="285" y="14"/>
                  </a:lnTo>
                  <a:lnTo>
                    <a:pt x="320" y="29"/>
                  </a:lnTo>
                  <a:lnTo>
                    <a:pt x="357" y="49"/>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3" name="Freeform 29"/>
            <p:cNvSpPr>
              <a:spLocks/>
            </p:cNvSpPr>
            <p:nvPr/>
          </p:nvSpPr>
          <p:spPr bwMode="auto">
            <a:xfrm>
              <a:off x="1268" y="1663"/>
              <a:ext cx="393" cy="711"/>
            </a:xfrm>
            <a:custGeom>
              <a:avLst/>
              <a:gdLst>
                <a:gd name="T0" fmla="*/ 74 w 1962"/>
                <a:gd name="T1" fmla="*/ 166 h 3555"/>
                <a:gd name="T2" fmla="*/ 59 w 1962"/>
                <a:gd name="T3" fmla="*/ 178 h 3555"/>
                <a:gd name="T4" fmla="*/ 45 w 1962"/>
                <a:gd name="T5" fmla="*/ 192 h 3555"/>
                <a:gd name="T6" fmla="*/ 33 w 1962"/>
                <a:gd name="T7" fmla="*/ 209 h 3555"/>
                <a:gd name="T8" fmla="*/ 22 w 1962"/>
                <a:gd name="T9" fmla="*/ 229 h 3555"/>
                <a:gd name="T10" fmla="*/ 13 w 1962"/>
                <a:gd name="T11" fmla="*/ 249 h 3555"/>
                <a:gd name="T12" fmla="*/ 6 w 1962"/>
                <a:gd name="T13" fmla="*/ 271 h 3555"/>
                <a:gd name="T14" fmla="*/ 1 w 1962"/>
                <a:gd name="T15" fmla="*/ 292 h 3555"/>
                <a:gd name="T16" fmla="*/ 0 w 1962"/>
                <a:gd name="T17" fmla="*/ 313 h 3555"/>
                <a:gd name="T18" fmla="*/ 0 w 1962"/>
                <a:gd name="T19" fmla="*/ 657 h 3555"/>
                <a:gd name="T20" fmla="*/ 3 w 1962"/>
                <a:gd name="T21" fmla="*/ 675 h 3555"/>
                <a:gd name="T22" fmla="*/ 9 w 1962"/>
                <a:gd name="T23" fmla="*/ 689 h 3555"/>
                <a:gd name="T24" fmla="*/ 17 w 1962"/>
                <a:gd name="T25" fmla="*/ 700 h 3555"/>
                <a:gd name="T26" fmla="*/ 27 w 1962"/>
                <a:gd name="T27" fmla="*/ 708 h 3555"/>
                <a:gd name="T28" fmla="*/ 39 w 1962"/>
                <a:gd name="T29" fmla="*/ 711 h 3555"/>
                <a:gd name="T30" fmla="*/ 52 w 1962"/>
                <a:gd name="T31" fmla="*/ 710 h 3555"/>
                <a:gd name="T32" fmla="*/ 66 w 1962"/>
                <a:gd name="T33" fmla="*/ 705 h 3555"/>
                <a:gd name="T34" fmla="*/ 319 w 1962"/>
                <a:gd name="T35" fmla="*/ 544 h 3555"/>
                <a:gd name="T36" fmla="*/ 334 w 1962"/>
                <a:gd name="T37" fmla="*/ 533 h 3555"/>
                <a:gd name="T38" fmla="*/ 348 w 1962"/>
                <a:gd name="T39" fmla="*/ 518 h 3555"/>
                <a:gd name="T40" fmla="*/ 360 w 1962"/>
                <a:gd name="T41" fmla="*/ 501 h 3555"/>
                <a:gd name="T42" fmla="*/ 371 w 1962"/>
                <a:gd name="T43" fmla="*/ 482 h 3555"/>
                <a:gd name="T44" fmla="*/ 380 w 1962"/>
                <a:gd name="T45" fmla="*/ 462 h 3555"/>
                <a:gd name="T46" fmla="*/ 387 w 1962"/>
                <a:gd name="T47" fmla="*/ 440 h 3555"/>
                <a:gd name="T48" fmla="*/ 392 w 1962"/>
                <a:gd name="T49" fmla="*/ 419 h 3555"/>
                <a:gd name="T50" fmla="*/ 393 w 1962"/>
                <a:gd name="T51" fmla="*/ 398 h 3555"/>
                <a:gd name="T52" fmla="*/ 393 w 1962"/>
                <a:gd name="T53" fmla="*/ 54 h 3555"/>
                <a:gd name="T54" fmla="*/ 390 w 1962"/>
                <a:gd name="T55" fmla="*/ 36 h 3555"/>
                <a:gd name="T56" fmla="*/ 384 w 1962"/>
                <a:gd name="T57" fmla="*/ 22 h 3555"/>
                <a:gd name="T58" fmla="*/ 376 w 1962"/>
                <a:gd name="T59" fmla="*/ 11 h 3555"/>
                <a:gd name="T60" fmla="*/ 366 w 1962"/>
                <a:gd name="T61" fmla="*/ 3 h 3555"/>
                <a:gd name="T62" fmla="*/ 354 w 1962"/>
                <a:gd name="T63" fmla="*/ 0 h 3555"/>
                <a:gd name="T64" fmla="*/ 341 w 1962"/>
                <a:gd name="T65" fmla="*/ 1 h 3555"/>
                <a:gd name="T66" fmla="*/ 327 w 1962"/>
                <a:gd name="T67" fmla="*/ 6 h 355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62" h="3555">
                  <a:moveTo>
                    <a:pt x="1594" y="50"/>
                  </a:moveTo>
                  <a:lnTo>
                    <a:pt x="368" y="831"/>
                  </a:lnTo>
                  <a:lnTo>
                    <a:pt x="330" y="858"/>
                  </a:lnTo>
                  <a:lnTo>
                    <a:pt x="294" y="888"/>
                  </a:lnTo>
                  <a:lnTo>
                    <a:pt x="259" y="922"/>
                  </a:lnTo>
                  <a:lnTo>
                    <a:pt x="225" y="961"/>
                  </a:lnTo>
                  <a:lnTo>
                    <a:pt x="193" y="1003"/>
                  </a:lnTo>
                  <a:lnTo>
                    <a:pt x="163" y="1047"/>
                  </a:lnTo>
                  <a:lnTo>
                    <a:pt x="133" y="1094"/>
                  </a:lnTo>
                  <a:lnTo>
                    <a:pt x="108" y="1143"/>
                  </a:lnTo>
                  <a:lnTo>
                    <a:pt x="84" y="1193"/>
                  </a:lnTo>
                  <a:lnTo>
                    <a:pt x="63" y="1246"/>
                  </a:lnTo>
                  <a:lnTo>
                    <a:pt x="44" y="1299"/>
                  </a:lnTo>
                  <a:lnTo>
                    <a:pt x="29" y="1353"/>
                  </a:lnTo>
                  <a:lnTo>
                    <a:pt x="16" y="1405"/>
                  </a:lnTo>
                  <a:lnTo>
                    <a:pt x="7" y="1459"/>
                  </a:lnTo>
                  <a:lnTo>
                    <a:pt x="2" y="1512"/>
                  </a:lnTo>
                  <a:lnTo>
                    <a:pt x="0" y="1565"/>
                  </a:lnTo>
                  <a:lnTo>
                    <a:pt x="0" y="3237"/>
                  </a:lnTo>
                  <a:lnTo>
                    <a:pt x="2" y="3287"/>
                  </a:lnTo>
                  <a:lnTo>
                    <a:pt x="7" y="3333"/>
                  </a:lnTo>
                  <a:lnTo>
                    <a:pt x="16" y="3375"/>
                  </a:lnTo>
                  <a:lnTo>
                    <a:pt x="29" y="3413"/>
                  </a:lnTo>
                  <a:lnTo>
                    <a:pt x="44" y="3447"/>
                  </a:lnTo>
                  <a:lnTo>
                    <a:pt x="63" y="3477"/>
                  </a:lnTo>
                  <a:lnTo>
                    <a:pt x="84" y="3502"/>
                  </a:lnTo>
                  <a:lnTo>
                    <a:pt x="108" y="3522"/>
                  </a:lnTo>
                  <a:lnTo>
                    <a:pt x="133" y="3538"/>
                  </a:lnTo>
                  <a:lnTo>
                    <a:pt x="163" y="3549"/>
                  </a:lnTo>
                  <a:lnTo>
                    <a:pt x="193" y="3555"/>
                  </a:lnTo>
                  <a:lnTo>
                    <a:pt x="225" y="3555"/>
                  </a:lnTo>
                  <a:lnTo>
                    <a:pt x="259" y="3550"/>
                  </a:lnTo>
                  <a:lnTo>
                    <a:pt x="294" y="3541"/>
                  </a:lnTo>
                  <a:lnTo>
                    <a:pt x="330" y="3524"/>
                  </a:lnTo>
                  <a:lnTo>
                    <a:pt x="368" y="3503"/>
                  </a:lnTo>
                  <a:lnTo>
                    <a:pt x="1594" y="2722"/>
                  </a:lnTo>
                  <a:lnTo>
                    <a:pt x="1632" y="2696"/>
                  </a:lnTo>
                  <a:lnTo>
                    <a:pt x="1668" y="2665"/>
                  </a:lnTo>
                  <a:lnTo>
                    <a:pt x="1703" y="2631"/>
                  </a:lnTo>
                  <a:lnTo>
                    <a:pt x="1737" y="2592"/>
                  </a:lnTo>
                  <a:lnTo>
                    <a:pt x="1769" y="2551"/>
                  </a:lnTo>
                  <a:lnTo>
                    <a:pt x="1799" y="2506"/>
                  </a:lnTo>
                  <a:lnTo>
                    <a:pt x="1829" y="2460"/>
                  </a:lnTo>
                  <a:lnTo>
                    <a:pt x="1854" y="2411"/>
                  </a:lnTo>
                  <a:lnTo>
                    <a:pt x="1878" y="2361"/>
                  </a:lnTo>
                  <a:lnTo>
                    <a:pt x="1899" y="2308"/>
                  </a:lnTo>
                  <a:lnTo>
                    <a:pt x="1918" y="2256"/>
                  </a:lnTo>
                  <a:lnTo>
                    <a:pt x="1933" y="2202"/>
                  </a:lnTo>
                  <a:lnTo>
                    <a:pt x="1946" y="2149"/>
                  </a:lnTo>
                  <a:lnTo>
                    <a:pt x="1955" y="2095"/>
                  </a:lnTo>
                  <a:lnTo>
                    <a:pt x="1960" y="2042"/>
                  </a:lnTo>
                  <a:lnTo>
                    <a:pt x="1962" y="1989"/>
                  </a:lnTo>
                  <a:lnTo>
                    <a:pt x="1962" y="319"/>
                  </a:lnTo>
                  <a:lnTo>
                    <a:pt x="1960" y="269"/>
                  </a:lnTo>
                  <a:lnTo>
                    <a:pt x="1955" y="223"/>
                  </a:lnTo>
                  <a:lnTo>
                    <a:pt x="1946" y="180"/>
                  </a:lnTo>
                  <a:lnTo>
                    <a:pt x="1933" y="143"/>
                  </a:lnTo>
                  <a:lnTo>
                    <a:pt x="1918" y="109"/>
                  </a:lnTo>
                  <a:lnTo>
                    <a:pt x="1899" y="79"/>
                  </a:lnTo>
                  <a:lnTo>
                    <a:pt x="1878" y="54"/>
                  </a:lnTo>
                  <a:lnTo>
                    <a:pt x="1854" y="33"/>
                  </a:lnTo>
                  <a:lnTo>
                    <a:pt x="1829" y="17"/>
                  </a:lnTo>
                  <a:lnTo>
                    <a:pt x="1799" y="7"/>
                  </a:lnTo>
                  <a:lnTo>
                    <a:pt x="1769" y="0"/>
                  </a:lnTo>
                  <a:lnTo>
                    <a:pt x="1737" y="0"/>
                  </a:lnTo>
                  <a:lnTo>
                    <a:pt x="1703" y="4"/>
                  </a:lnTo>
                  <a:lnTo>
                    <a:pt x="1668" y="14"/>
                  </a:lnTo>
                  <a:lnTo>
                    <a:pt x="1632" y="29"/>
                  </a:lnTo>
                  <a:lnTo>
                    <a:pt x="1594" y="50"/>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4" name="Freeform 30"/>
            <p:cNvSpPr>
              <a:spLocks noEditPoints="1"/>
            </p:cNvSpPr>
            <p:nvPr/>
          </p:nvSpPr>
          <p:spPr bwMode="auto">
            <a:xfrm>
              <a:off x="916" y="1589"/>
              <a:ext cx="697" cy="698"/>
            </a:xfrm>
            <a:custGeom>
              <a:avLst/>
              <a:gdLst>
                <a:gd name="T0" fmla="*/ 406 w 3485"/>
                <a:gd name="T1" fmla="*/ 12 h 3490"/>
                <a:gd name="T2" fmla="*/ 436 w 3485"/>
                <a:gd name="T3" fmla="*/ 46 h 3490"/>
                <a:gd name="T4" fmla="*/ 417 w 3485"/>
                <a:gd name="T5" fmla="*/ 83 h 3490"/>
                <a:gd name="T6" fmla="*/ 359 w 3485"/>
                <a:gd name="T7" fmla="*/ 102 h 3490"/>
                <a:gd name="T8" fmla="*/ 296 w 3485"/>
                <a:gd name="T9" fmla="*/ 90 h 3490"/>
                <a:gd name="T10" fmla="*/ 265 w 3485"/>
                <a:gd name="T11" fmla="*/ 56 h 3490"/>
                <a:gd name="T12" fmla="*/ 284 w 3485"/>
                <a:gd name="T13" fmla="*/ 19 h 3490"/>
                <a:gd name="T14" fmla="*/ 342 w 3485"/>
                <a:gd name="T15" fmla="*/ 0 h 3490"/>
                <a:gd name="T16" fmla="*/ 74 w 3485"/>
                <a:gd name="T17" fmla="*/ 171 h 3490"/>
                <a:gd name="T18" fmla="*/ 95 w 3485"/>
                <a:gd name="T19" fmla="*/ 224 h 3490"/>
                <a:gd name="T20" fmla="*/ 87 w 3485"/>
                <a:gd name="T21" fmla="*/ 288 h 3490"/>
                <a:gd name="T22" fmla="*/ 57 w 3485"/>
                <a:gd name="T23" fmla="*/ 323 h 3490"/>
                <a:gd name="T24" fmla="*/ 21 w 3485"/>
                <a:gd name="T25" fmla="*/ 311 h 3490"/>
                <a:gd name="T26" fmla="*/ 1 w 3485"/>
                <a:gd name="T27" fmla="*/ 258 h 3490"/>
                <a:gd name="T28" fmla="*/ 8 w 3485"/>
                <a:gd name="T29" fmla="*/ 194 h 3490"/>
                <a:gd name="T30" fmla="*/ 38 w 3485"/>
                <a:gd name="T31" fmla="*/ 159 h 3490"/>
                <a:gd name="T32" fmla="*/ 246 w 3485"/>
                <a:gd name="T33" fmla="*/ 509 h 3490"/>
                <a:gd name="T34" fmla="*/ 270 w 3485"/>
                <a:gd name="T35" fmla="*/ 558 h 3490"/>
                <a:gd name="T36" fmla="*/ 266 w 3485"/>
                <a:gd name="T37" fmla="*/ 623 h 3490"/>
                <a:gd name="T38" fmla="*/ 238 w 3485"/>
                <a:gd name="T39" fmla="*/ 663 h 3490"/>
                <a:gd name="T40" fmla="*/ 201 w 3485"/>
                <a:gd name="T41" fmla="*/ 656 h 3490"/>
                <a:gd name="T42" fmla="*/ 178 w 3485"/>
                <a:gd name="T43" fmla="*/ 608 h 3490"/>
                <a:gd name="T44" fmla="*/ 182 w 3485"/>
                <a:gd name="T45" fmla="*/ 543 h 3490"/>
                <a:gd name="T46" fmla="*/ 210 w 3485"/>
                <a:gd name="T47" fmla="*/ 503 h 3490"/>
                <a:gd name="T48" fmla="*/ 495 w 3485"/>
                <a:gd name="T49" fmla="*/ 537 h 3490"/>
                <a:gd name="T50" fmla="*/ 520 w 3485"/>
                <a:gd name="T51" fmla="*/ 582 h 3490"/>
                <a:gd name="T52" fmla="*/ 520 w 3485"/>
                <a:gd name="T53" fmla="*/ 647 h 3490"/>
                <a:gd name="T54" fmla="*/ 495 w 3485"/>
                <a:gd name="T55" fmla="*/ 691 h 3490"/>
                <a:gd name="T56" fmla="*/ 458 w 3485"/>
                <a:gd name="T57" fmla="*/ 691 h 3490"/>
                <a:gd name="T58" fmla="*/ 432 w 3485"/>
                <a:gd name="T59" fmla="*/ 647 h 3490"/>
                <a:gd name="T60" fmla="*/ 432 w 3485"/>
                <a:gd name="T61" fmla="*/ 582 h 3490"/>
                <a:gd name="T62" fmla="*/ 458 w 3485"/>
                <a:gd name="T63" fmla="*/ 537 h 3490"/>
                <a:gd name="T64" fmla="*/ 482 w 3485"/>
                <a:gd name="T65" fmla="*/ 275 h 3490"/>
                <a:gd name="T66" fmla="*/ 510 w 3485"/>
                <a:gd name="T67" fmla="*/ 315 h 3490"/>
                <a:gd name="T68" fmla="*/ 514 w 3485"/>
                <a:gd name="T69" fmla="*/ 379 h 3490"/>
                <a:gd name="T70" fmla="*/ 491 w 3485"/>
                <a:gd name="T71" fmla="*/ 428 h 3490"/>
                <a:gd name="T72" fmla="*/ 454 w 3485"/>
                <a:gd name="T73" fmla="*/ 435 h 3490"/>
                <a:gd name="T74" fmla="*/ 426 w 3485"/>
                <a:gd name="T75" fmla="*/ 394 h 3490"/>
                <a:gd name="T76" fmla="*/ 422 w 3485"/>
                <a:gd name="T77" fmla="*/ 330 h 3490"/>
                <a:gd name="T78" fmla="*/ 446 w 3485"/>
                <a:gd name="T79" fmla="*/ 281 h 3490"/>
                <a:gd name="T80" fmla="*/ 645 w 3485"/>
                <a:gd name="T81" fmla="*/ 165 h 3490"/>
                <a:gd name="T82" fmla="*/ 675 w 3485"/>
                <a:gd name="T83" fmla="*/ 201 h 3490"/>
                <a:gd name="T84" fmla="*/ 683 w 3485"/>
                <a:gd name="T85" fmla="*/ 264 h 3490"/>
                <a:gd name="T86" fmla="*/ 662 w 3485"/>
                <a:gd name="T87" fmla="*/ 317 h 3490"/>
                <a:gd name="T88" fmla="*/ 626 w 3485"/>
                <a:gd name="T89" fmla="*/ 330 h 3490"/>
                <a:gd name="T90" fmla="*/ 596 w 3485"/>
                <a:gd name="T91" fmla="*/ 294 h 3490"/>
                <a:gd name="T92" fmla="*/ 589 w 3485"/>
                <a:gd name="T93" fmla="*/ 231 h 3490"/>
                <a:gd name="T94" fmla="*/ 609 w 3485"/>
                <a:gd name="T95" fmla="*/ 178 h 3490"/>
                <a:gd name="T96" fmla="*/ 654 w 3485"/>
                <a:gd name="T97" fmla="*/ 429 h 3490"/>
                <a:gd name="T98" fmla="*/ 686 w 3485"/>
                <a:gd name="T99" fmla="*/ 459 h 3490"/>
                <a:gd name="T100" fmla="*/ 697 w 3485"/>
                <a:gd name="T101" fmla="*/ 521 h 3490"/>
                <a:gd name="T102" fmla="*/ 679 w 3485"/>
                <a:gd name="T103" fmla="*/ 577 h 3490"/>
                <a:gd name="T104" fmla="*/ 644 w 3485"/>
                <a:gd name="T105" fmla="*/ 596 h 3490"/>
                <a:gd name="T106" fmla="*/ 612 w 3485"/>
                <a:gd name="T107" fmla="*/ 566 h 3490"/>
                <a:gd name="T108" fmla="*/ 602 w 3485"/>
                <a:gd name="T109" fmla="*/ 504 h 3490"/>
                <a:gd name="T110" fmla="*/ 619 w 3485"/>
                <a:gd name="T111" fmla="*/ 448 h 349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485" h="3490">
                  <a:moveTo>
                    <a:pt x="1754" y="0"/>
                  </a:moveTo>
                  <a:lnTo>
                    <a:pt x="1797" y="2"/>
                  </a:lnTo>
                  <a:lnTo>
                    <a:pt x="1840" y="5"/>
                  </a:lnTo>
                  <a:lnTo>
                    <a:pt x="1881" y="12"/>
                  </a:lnTo>
                  <a:lnTo>
                    <a:pt x="1921" y="20"/>
                  </a:lnTo>
                  <a:lnTo>
                    <a:pt x="1959" y="31"/>
                  </a:lnTo>
                  <a:lnTo>
                    <a:pt x="1994" y="44"/>
                  </a:lnTo>
                  <a:lnTo>
                    <a:pt x="2028" y="59"/>
                  </a:lnTo>
                  <a:lnTo>
                    <a:pt x="2058" y="74"/>
                  </a:lnTo>
                  <a:lnTo>
                    <a:pt x="2086" y="93"/>
                  </a:lnTo>
                  <a:lnTo>
                    <a:pt x="2111" y="113"/>
                  </a:lnTo>
                  <a:lnTo>
                    <a:pt x="2132" y="133"/>
                  </a:lnTo>
                  <a:lnTo>
                    <a:pt x="2151" y="155"/>
                  </a:lnTo>
                  <a:lnTo>
                    <a:pt x="2165" y="179"/>
                  </a:lnTo>
                  <a:lnTo>
                    <a:pt x="2175" y="203"/>
                  </a:lnTo>
                  <a:lnTo>
                    <a:pt x="2182" y="229"/>
                  </a:lnTo>
                  <a:lnTo>
                    <a:pt x="2185" y="255"/>
                  </a:lnTo>
                  <a:lnTo>
                    <a:pt x="2182" y="281"/>
                  </a:lnTo>
                  <a:lnTo>
                    <a:pt x="2175" y="305"/>
                  </a:lnTo>
                  <a:lnTo>
                    <a:pt x="2165" y="330"/>
                  </a:lnTo>
                  <a:lnTo>
                    <a:pt x="2151" y="353"/>
                  </a:lnTo>
                  <a:lnTo>
                    <a:pt x="2132" y="376"/>
                  </a:lnTo>
                  <a:lnTo>
                    <a:pt x="2111" y="397"/>
                  </a:lnTo>
                  <a:lnTo>
                    <a:pt x="2086" y="417"/>
                  </a:lnTo>
                  <a:lnTo>
                    <a:pt x="2058" y="434"/>
                  </a:lnTo>
                  <a:lnTo>
                    <a:pt x="2028" y="451"/>
                  </a:lnTo>
                  <a:lnTo>
                    <a:pt x="1994" y="466"/>
                  </a:lnTo>
                  <a:lnTo>
                    <a:pt x="1959" y="479"/>
                  </a:lnTo>
                  <a:lnTo>
                    <a:pt x="1921" y="489"/>
                  </a:lnTo>
                  <a:lnTo>
                    <a:pt x="1881" y="498"/>
                  </a:lnTo>
                  <a:lnTo>
                    <a:pt x="1840" y="505"/>
                  </a:lnTo>
                  <a:lnTo>
                    <a:pt x="1797" y="508"/>
                  </a:lnTo>
                  <a:lnTo>
                    <a:pt x="1754" y="509"/>
                  </a:lnTo>
                  <a:lnTo>
                    <a:pt x="1710" y="508"/>
                  </a:lnTo>
                  <a:lnTo>
                    <a:pt x="1667" y="505"/>
                  </a:lnTo>
                  <a:lnTo>
                    <a:pt x="1626" y="498"/>
                  </a:lnTo>
                  <a:lnTo>
                    <a:pt x="1586" y="489"/>
                  </a:lnTo>
                  <a:lnTo>
                    <a:pt x="1548" y="479"/>
                  </a:lnTo>
                  <a:lnTo>
                    <a:pt x="1512" y="466"/>
                  </a:lnTo>
                  <a:lnTo>
                    <a:pt x="1479" y="451"/>
                  </a:lnTo>
                  <a:lnTo>
                    <a:pt x="1449" y="434"/>
                  </a:lnTo>
                  <a:lnTo>
                    <a:pt x="1421" y="417"/>
                  </a:lnTo>
                  <a:lnTo>
                    <a:pt x="1395" y="397"/>
                  </a:lnTo>
                  <a:lnTo>
                    <a:pt x="1374" y="376"/>
                  </a:lnTo>
                  <a:lnTo>
                    <a:pt x="1355" y="353"/>
                  </a:lnTo>
                  <a:lnTo>
                    <a:pt x="1341" y="330"/>
                  </a:lnTo>
                  <a:lnTo>
                    <a:pt x="1331" y="305"/>
                  </a:lnTo>
                  <a:lnTo>
                    <a:pt x="1324" y="281"/>
                  </a:lnTo>
                  <a:lnTo>
                    <a:pt x="1321" y="255"/>
                  </a:lnTo>
                  <a:lnTo>
                    <a:pt x="1324" y="229"/>
                  </a:lnTo>
                  <a:lnTo>
                    <a:pt x="1331" y="203"/>
                  </a:lnTo>
                  <a:lnTo>
                    <a:pt x="1341" y="179"/>
                  </a:lnTo>
                  <a:lnTo>
                    <a:pt x="1355" y="155"/>
                  </a:lnTo>
                  <a:lnTo>
                    <a:pt x="1374" y="133"/>
                  </a:lnTo>
                  <a:lnTo>
                    <a:pt x="1395" y="113"/>
                  </a:lnTo>
                  <a:lnTo>
                    <a:pt x="1421" y="93"/>
                  </a:lnTo>
                  <a:lnTo>
                    <a:pt x="1449" y="74"/>
                  </a:lnTo>
                  <a:lnTo>
                    <a:pt x="1479" y="59"/>
                  </a:lnTo>
                  <a:lnTo>
                    <a:pt x="1512" y="44"/>
                  </a:lnTo>
                  <a:lnTo>
                    <a:pt x="1548" y="31"/>
                  </a:lnTo>
                  <a:lnTo>
                    <a:pt x="1586" y="20"/>
                  </a:lnTo>
                  <a:lnTo>
                    <a:pt x="1626" y="12"/>
                  </a:lnTo>
                  <a:lnTo>
                    <a:pt x="1667" y="5"/>
                  </a:lnTo>
                  <a:lnTo>
                    <a:pt x="1710" y="2"/>
                  </a:lnTo>
                  <a:lnTo>
                    <a:pt x="1754" y="0"/>
                  </a:lnTo>
                  <a:close/>
                  <a:moveTo>
                    <a:pt x="239" y="786"/>
                  </a:moveTo>
                  <a:lnTo>
                    <a:pt x="263" y="788"/>
                  </a:lnTo>
                  <a:lnTo>
                    <a:pt x="287" y="794"/>
                  </a:lnTo>
                  <a:lnTo>
                    <a:pt x="309" y="805"/>
                  </a:lnTo>
                  <a:lnTo>
                    <a:pt x="331" y="819"/>
                  </a:lnTo>
                  <a:lnTo>
                    <a:pt x="352" y="836"/>
                  </a:lnTo>
                  <a:lnTo>
                    <a:pt x="372" y="857"/>
                  </a:lnTo>
                  <a:lnTo>
                    <a:pt x="390" y="882"/>
                  </a:lnTo>
                  <a:lnTo>
                    <a:pt x="407" y="909"/>
                  </a:lnTo>
                  <a:lnTo>
                    <a:pt x="423" y="940"/>
                  </a:lnTo>
                  <a:lnTo>
                    <a:pt x="437" y="971"/>
                  </a:lnTo>
                  <a:lnTo>
                    <a:pt x="448" y="1006"/>
                  </a:lnTo>
                  <a:lnTo>
                    <a:pt x="459" y="1043"/>
                  </a:lnTo>
                  <a:lnTo>
                    <a:pt x="467" y="1081"/>
                  </a:lnTo>
                  <a:lnTo>
                    <a:pt x="473" y="1121"/>
                  </a:lnTo>
                  <a:lnTo>
                    <a:pt x="476" y="1163"/>
                  </a:lnTo>
                  <a:lnTo>
                    <a:pt x="478" y="1206"/>
                  </a:lnTo>
                  <a:lnTo>
                    <a:pt x="476" y="1248"/>
                  </a:lnTo>
                  <a:lnTo>
                    <a:pt x="473" y="1290"/>
                  </a:lnTo>
                  <a:lnTo>
                    <a:pt x="467" y="1330"/>
                  </a:lnTo>
                  <a:lnTo>
                    <a:pt x="459" y="1367"/>
                  </a:lnTo>
                  <a:lnTo>
                    <a:pt x="448" y="1405"/>
                  </a:lnTo>
                  <a:lnTo>
                    <a:pt x="437" y="1439"/>
                  </a:lnTo>
                  <a:lnTo>
                    <a:pt x="423" y="1472"/>
                  </a:lnTo>
                  <a:lnTo>
                    <a:pt x="407" y="1501"/>
                  </a:lnTo>
                  <a:lnTo>
                    <a:pt x="390" y="1528"/>
                  </a:lnTo>
                  <a:lnTo>
                    <a:pt x="372" y="1553"/>
                  </a:lnTo>
                  <a:lnTo>
                    <a:pt x="352" y="1574"/>
                  </a:lnTo>
                  <a:lnTo>
                    <a:pt x="331" y="1591"/>
                  </a:lnTo>
                  <a:lnTo>
                    <a:pt x="309" y="1605"/>
                  </a:lnTo>
                  <a:lnTo>
                    <a:pt x="287" y="1616"/>
                  </a:lnTo>
                  <a:lnTo>
                    <a:pt x="263" y="1622"/>
                  </a:lnTo>
                  <a:lnTo>
                    <a:pt x="239" y="1624"/>
                  </a:lnTo>
                  <a:lnTo>
                    <a:pt x="214" y="1622"/>
                  </a:lnTo>
                  <a:lnTo>
                    <a:pt x="191" y="1616"/>
                  </a:lnTo>
                  <a:lnTo>
                    <a:pt x="168" y="1605"/>
                  </a:lnTo>
                  <a:lnTo>
                    <a:pt x="146" y="1591"/>
                  </a:lnTo>
                  <a:lnTo>
                    <a:pt x="125" y="1574"/>
                  </a:lnTo>
                  <a:lnTo>
                    <a:pt x="105" y="1553"/>
                  </a:lnTo>
                  <a:lnTo>
                    <a:pt x="87" y="1528"/>
                  </a:lnTo>
                  <a:lnTo>
                    <a:pt x="70" y="1501"/>
                  </a:lnTo>
                  <a:lnTo>
                    <a:pt x="55" y="1472"/>
                  </a:lnTo>
                  <a:lnTo>
                    <a:pt x="41" y="1439"/>
                  </a:lnTo>
                  <a:lnTo>
                    <a:pt x="29" y="1405"/>
                  </a:lnTo>
                  <a:lnTo>
                    <a:pt x="18" y="1367"/>
                  </a:lnTo>
                  <a:lnTo>
                    <a:pt x="10" y="1330"/>
                  </a:lnTo>
                  <a:lnTo>
                    <a:pt x="4" y="1290"/>
                  </a:lnTo>
                  <a:lnTo>
                    <a:pt x="1" y="1248"/>
                  </a:lnTo>
                  <a:lnTo>
                    <a:pt x="0" y="1206"/>
                  </a:lnTo>
                  <a:lnTo>
                    <a:pt x="1" y="1163"/>
                  </a:lnTo>
                  <a:lnTo>
                    <a:pt x="4" y="1121"/>
                  </a:lnTo>
                  <a:lnTo>
                    <a:pt x="10" y="1081"/>
                  </a:lnTo>
                  <a:lnTo>
                    <a:pt x="18" y="1043"/>
                  </a:lnTo>
                  <a:lnTo>
                    <a:pt x="29" y="1006"/>
                  </a:lnTo>
                  <a:lnTo>
                    <a:pt x="41" y="971"/>
                  </a:lnTo>
                  <a:lnTo>
                    <a:pt x="55" y="940"/>
                  </a:lnTo>
                  <a:lnTo>
                    <a:pt x="70" y="909"/>
                  </a:lnTo>
                  <a:lnTo>
                    <a:pt x="87" y="882"/>
                  </a:lnTo>
                  <a:lnTo>
                    <a:pt x="105" y="857"/>
                  </a:lnTo>
                  <a:lnTo>
                    <a:pt x="125" y="836"/>
                  </a:lnTo>
                  <a:lnTo>
                    <a:pt x="146" y="819"/>
                  </a:lnTo>
                  <a:lnTo>
                    <a:pt x="168" y="805"/>
                  </a:lnTo>
                  <a:lnTo>
                    <a:pt x="191" y="794"/>
                  </a:lnTo>
                  <a:lnTo>
                    <a:pt x="214" y="788"/>
                  </a:lnTo>
                  <a:lnTo>
                    <a:pt x="239" y="786"/>
                  </a:lnTo>
                  <a:close/>
                  <a:moveTo>
                    <a:pt x="1119" y="2495"/>
                  </a:moveTo>
                  <a:lnTo>
                    <a:pt x="1143" y="2498"/>
                  </a:lnTo>
                  <a:lnTo>
                    <a:pt x="1167" y="2504"/>
                  </a:lnTo>
                  <a:lnTo>
                    <a:pt x="1190" y="2514"/>
                  </a:lnTo>
                  <a:lnTo>
                    <a:pt x="1211" y="2528"/>
                  </a:lnTo>
                  <a:lnTo>
                    <a:pt x="1232" y="2546"/>
                  </a:lnTo>
                  <a:lnTo>
                    <a:pt x="1252" y="2567"/>
                  </a:lnTo>
                  <a:lnTo>
                    <a:pt x="1271" y="2592"/>
                  </a:lnTo>
                  <a:lnTo>
                    <a:pt x="1288" y="2618"/>
                  </a:lnTo>
                  <a:lnTo>
                    <a:pt x="1304" y="2648"/>
                  </a:lnTo>
                  <a:lnTo>
                    <a:pt x="1318" y="2681"/>
                  </a:lnTo>
                  <a:lnTo>
                    <a:pt x="1329" y="2715"/>
                  </a:lnTo>
                  <a:lnTo>
                    <a:pt x="1340" y="2752"/>
                  </a:lnTo>
                  <a:lnTo>
                    <a:pt x="1348" y="2790"/>
                  </a:lnTo>
                  <a:lnTo>
                    <a:pt x="1354" y="2830"/>
                  </a:lnTo>
                  <a:lnTo>
                    <a:pt x="1358" y="2872"/>
                  </a:lnTo>
                  <a:lnTo>
                    <a:pt x="1359" y="2914"/>
                  </a:lnTo>
                  <a:lnTo>
                    <a:pt x="1358" y="2956"/>
                  </a:lnTo>
                  <a:lnTo>
                    <a:pt x="1354" y="2998"/>
                  </a:lnTo>
                  <a:lnTo>
                    <a:pt x="1348" y="3038"/>
                  </a:lnTo>
                  <a:lnTo>
                    <a:pt x="1340" y="3077"/>
                  </a:lnTo>
                  <a:lnTo>
                    <a:pt x="1329" y="3113"/>
                  </a:lnTo>
                  <a:lnTo>
                    <a:pt x="1318" y="3147"/>
                  </a:lnTo>
                  <a:lnTo>
                    <a:pt x="1304" y="3180"/>
                  </a:lnTo>
                  <a:lnTo>
                    <a:pt x="1288" y="3209"/>
                  </a:lnTo>
                  <a:lnTo>
                    <a:pt x="1271" y="3238"/>
                  </a:lnTo>
                  <a:lnTo>
                    <a:pt x="1252" y="3261"/>
                  </a:lnTo>
                  <a:lnTo>
                    <a:pt x="1232" y="3282"/>
                  </a:lnTo>
                  <a:lnTo>
                    <a:pt x="1211" y="3301"/>
                  </a:lnTo>
                  <a:lnTo>
                    <a:pt x="1190" y="3315"/>
                  </a:lnTo>
                  <a:lnTo>
                    <a:pt x="1167" y="3325"/>
                  </a:lnTo>
                  <a:lnTo>
                    <a:pt x="1143" y="3331"/>
                  </a:lnTo>
                  <a:lnTo>
                    <a:pt x="1119" y="3334"/>
                  </a:lnTo>
                  <a:lnTo>
                    <a:pt x="1094" y="3331"/>
                  </a:lnTo>
                  <a:lnTo>
                    <a:pt x="1070" y="3325"/>
                  </a:lnTo>
                  <a:lnTo>
                    <a:pt x="1048" y="3315"/>
                  </a:lnTo>
                  <a:lnTo>
                    <a:pt x="1026" y="3301"/>
                  </a:lnTo>
                  <a:lnTo>
                    <a:pt x="1005" y="3282"/>
                  </a:lnTo>
                  <a:lnTo>
                    <a:pt x="985" y="3261"/>
                  </a:lnTo>
                  <a:lnTo>
                    <a:pt x="967" y="3238"/>
                  </a:lnTo>
                  <a:lnTo>
                    <a:pt x="950" y="3209"/>
                  </a:lnTo>
                  <a:lnTo>
                    <a:pt x="935" y="3180"/>
                  </a:lnTo>
                  <a:lnTo>
                    <a:pt x="921" y="3147"/>
                  </a:lnTo>
                  <a:lnTo>
                    <a:pt x="909" y="3113"/>
                  </a:lnTo>
                  <a:lnTo>
                    <a:pt x="898" y="3077"/>
                  </a:lnTo>
                  <a:lnTo>
                    <a:pt x="890" y="3038"/>
                  </a:lnTo>
                  <a:lnTo>
                    <a:pt x="884" y="2998"/>
                  </a:lnTo>
                  <a:lnTo>
                    <a:pt x="881" y="2956"/>
                  </a:lnTo>
                  <a:lnTo>
                    <a:pt x="880" y="2914"/>
                  </a:lnTo>
                  <a:lnTo>
                    <a:pt x="881" y="2872"/>
                  </a:lnTo>
                  <a:lnTo>
                    <a:pt x="884" y="2830"/>
                  </a:lnTo>
                  <a:lnTo>
                    <a:pt x="890" y="2790"/>
                  </a:lnTo>
                  <a:lnTo>
                    <a:pt x="898" y="2752"/>
                  </a:lnTo>
                  <a:lnTo>
                    <a:pt x="909" y="2715"/>
                  </a:lnTo>
                  <a:lnTo>
                    <a:pt x="921" y="2681"/>
                  </a:lnTo>
                  <a:lnTo>
                    <a:pt x="935" y="2648"/>
                  </a:lnTo>
                  <a:lnTo>
                    <a:pt x="950" y="2618"/>
                  </a:lnTo>
                  <a:lnTo>
                    <a:pt x="967" y="2592"/>
                  </a:lnTo>
                  <a:lnTo>
                    <a:pt x="985" y="2567"/>
                  </a:lnTo>
                  <a:lnTo>
                    <a:pt x="1005" y="2546"/>
                  </a:lnTo>
                  <a:lnTo>
                    <a:pt x="1026" y="2528"/>
                  </a:lnTo>
                  <a:lnTo>
                    <a:pt x="1048" y="2514"/>
                  </a:lnTo>
                  <a:lnTo>
                    <a:pt x="1070" y="2504"/>
                  </a:lnTo>
                  <a:lnTo>
                    <a:pt x="1094" y="2498"/>
                  </a:lnTo>
                  <a:lnTo>
                    <a:pt x="1119" y="2495"/>
                  </a:lnTo>
                  <a:close/>
                  <a:moveTo>
                    <a:pt x="2380" y="2651"/>
                  </a:moveTo>
                  <a:lnTo>
                    <a:pt x="2405" y="2654"/>
                  </a:lnTo>
                  <a:lnTo>
                    <a:pt x="2428" y="2660"/>
                  </a:lnTo>
                  <a:lnTo>
                    <a:pt x="2452" y="2670"/>
                  </a:lnTo>
                  <a:lnTo>
                    <a:pt x="2473" y="2684"/>
                  </a:lnTo>
                  <a:lnTo>
                    <a:pt x="2494" y="2703"/>
                  </a:lnTo>
                  <a:lnTo>
                    <a:pt x="2514" y="2724"/>
                  </a:lnTo>
                  <a:lnTo>
                    <a:pt x="2533" y="2747"/>
                  </a:lnTo>
                  <a:lnTo>
                    <a:pt x="2550" y="2774"/>
                  </a:lnTo>
                  <a:lnTo>
                    <a:pt x="2565" y="2805"/>
                  </a:lnTo>
                  <a:lnTo>
                    <a:pt x="2580" y="2838"/>
                  </a:lnTo>
                  <a:lnTo>
                    <a:pt x="2591" y="2872"/>
                  </a:lnTo>
                  <a:lnTo>
                    <a:pt x="2602" y="2908"/>
                  </a:lnTo>
                  <a:lnTo>
                    <a:pt x="2610" y="2947"/>
                  </a:lnTo>
                  <a:lnTo>
                    <a:pt x="2616" y="2987"/>
                  </a:lnTo>
                  <a:lnTo>
                    <a:pt x="2619" y="3029"/>
                  </a:lnTo>
                  <a:lnTo>
                    <a:pt x="2621" y="3071"/>
                  </a:lnTo>
                  <a:lnTo>
                    <a:pt x="2619" y="3113"/>
                  </a:lnTo>
                  <a:lnTo>
                    <a:pt x="2616" y="3155"/>
                  </a:lnTo>
                  <a:lnTo>
                    <a:pt x="2610" y="3195"/>
                  </a:lnTo>
                  <a:lnTo>
                    <a:pt x="2602" y="3233"/>
                  </a:lnTo>
                  <a:lnTo>
                    <a:pt x="2591" y="3270"/>
                  </a:lnTo>
                  <a:lnTo>
                    <a:pt x="2580" y="3304"/>
                  </a:lnTo>
                  <a:lnTo>
                    <a:pt x="2565" y="3337"/>
                  </a:lnTo>
                  <a:lnTo>
                    <a:pt x="2550" y="3367"/>
                  </a:lnTo>
                  <a:lnTo>
                    <a:pt x="2533" y="3393"/>
                  </a:lnTo>
                  <a:lnTo>
                    <a:pt x="2514" y="3418"/>
                  </a:lnTo>
                  <a:lnTo>
                    <a:pt x="2494" y="3439"/>
                  </a:lnTo>
                  <a:lnTo>
                    <a:pt x="2473" y="3457"/>
                  </a:lnTo>
                  <a:lnTo>
                    <a:pt x="2452" y="3471"/>
                  </a:lnTo>
                  <a:lnTo>
                    <a:pt x="2428" y="3481"/>
                  </a:lnTo>
                  <a:lnTo>
                    <a:pt x="2405" y="3487"/>
                  </a:lnTo>
                  <a:lnTo>
                    <a:pt x="2380" y="3490"/>
                  </a:lnTo>
                  <a:lnTo>
                    <a:pt x="2356" y="3487"/>
                  </a:lnTo>
                  <a:lnTo>
                    <a:pt x="2332" y="3481"/>
                  </a:lnTo>
                  <a:lnTo>
                    <a:pt x="2310" y="3471"/>
                  </a:lnTo>
                  <a:lnTo>
                    <a:pt x="2288" y="3457"/>
                  </a:lnTo>
                  <a:lnTo>
                    <a:pt x="2267" y="3439"/>
                  </a:lnTo>
                  <a:lnTo>
                    <a:pt x="2248" y="3418"/>
                  </a:lnTo>
                  <a:lnTo>
                    <a:pt x="2229" y="3393"/>
                  </a:lnTo>
                  <a:lnTo>
                    <a:pt x="2212" y="3367"/>
                  </a:lnTo>
                  <a:lnTo>
                    <a:pt x="2196" y="3337"/>
                  </a:lnTo>
                  <a:lnTo>
                    <a:pt x="2182" y="3304"/>
                  </a:lnTo>
                  <a:lnTo>
                    <a:pt x="2171" y="3270"/>
                  </a:lnTo>
                  <a:lnTo>
                    <a:pt x="2160" y="3233"/>
                  </a:lnTo>
                  <a:lnTo>
                    <a:pt x="2152" y="3195"/>
                  </a:lnTo>
                  <a:lnTo>
                    <a:pt x="2146" y="3155"/>
                  </a:lnTo>
                  <a:lnTo>
                    <a:pt x="2142" y="3113"/>
                  </a:lnTo>
                  <a:lnTo>
                    <a:pt x="2141" y="3071"/>
                  </a:lnTo>
                  <a:lnTo>
                    <a:pt x="2142" y="3029"/>
                  </a:lnTo>
                  <a:lnTo>
                    <a:pt x="2146" y="2987"/>
                  </a:lnTo>
                  <a:lnTo>
                    <a:pt x="2152" y="2947"/>
                  </a:lnTo>
                  <a:lnTo>
                    <a:pt x="2160" y="2908"/>
                  </a:lnTo>
                  <a:lnTo>
                    <a:pt x="2171" y="2872"/>
                  </a:lnTo>
                  <a:lnTo>
                    <a:pt x="2182" y="2838"/>
                  </a:lnTo>
                  <a:lnTo>
                    <a:pt x="2196" y="2805"/>
                  </a:lnTo>
                  <a:lnTo>
                    <a:pt x="2212" y="2774"/>
                  </a:lnTo>
                  <a:lnTo>
                    <a:pt x="2229" y="2747"/>
                  </a:lnTo>
                  <a:lnTo>
                    <a:pt x="2248" y="2724"/>
                  </a:lnTo>
                  <a:lnTo>
                    <a:pt x="2267" y="2703"/>
                  </a:lnTo>
                  <a:lnTo>
                    <a:pt x="2288" y="2684"/>
                  </a:lnTo>
                  <a:lnTo>
                    <a:pt x="2310" y="2670"/>
                  </a:lnTo>
                  <a:lnTo>
                    <a:pt x="2332" y="2660"/>
                  </a:lnTo>
                  <a:lnTo>
                    <a:pt x="2356" y="2654"/>
                  </a:lnTo>
                  <a:lnTo>
                    <a:pt x="2380" y="2651"/>
                  </a:lnTo>
                  <a:close/>
                  <a:moveTo>
                    <a:pt x="2342" y="1355"/>
                  </a:moveTo>
                  <a:lnTo>
                    <a:pt x="2366" y="1357"/>
                  </a:lnTo>
                  <a:lnTo>
                    <a:pt x="2390" y="1363"/>
                  </a:lnTo>
                  <a:lnTo>
                    <a:pt x="2412" y="1373"/>
                  </a:lnTo>
                  <a:lnTo>
                    <a:pt x="2434" y="1387"/>
                  </a:lnTo>
                  <a:lnTo>
                    <a:pt x="2455" y="1405"/>
                  </a:lnTo>
                  <a:lnTo>
                    <a:pt x="2475" y="1426"/>
                  </a:lnTo>
                  <a:lnTo>
                    <a:pt x="2493" y="1451"/>
                  </a:lnTo>
                  <a:lnTo>
                    <a:pt x="2510" y="1478"/>
                  </a:lnTo>
                  <a:lnTo>
                    <a:pt x="2526" y="1507"/>
                  </a:lnTo>
                  <a:lnTo>
                    <a:pt x="2540" y="1540"/>
                  </a:lnTo>
                  <a:lnTo>
                    <a:pt x="2551" y="1574"/>
                  </a:lnTo>
                  <a:lnTo>
                    <a:pt x="2562" y="1611"/>
                  </a:lnTo>
                  <a:lnTo>
                    <a:pt x="2570" y="1649"/>
                  </a:lnTo>
                  <a:lnTo>
                    <a:pt x="2576" y="1689"/>
                  </a:lnTo>
                  <a:lnTo>
                    <a:pt x="2580" y="1731"/>
                  </a:lnTo>
                  <a:lnTo>
                    <a:pt x="2581" y="1773"/>
                  </a:lnTo>
                  <a:lnTo>
                    <a:pt x="2580" y="1815"/>
                  </a:lnTo>
                  <a:lnTo>
                    <a:pt x="2576" y="1858"/>
                  </a:lnTo>
                  <a:lnTo>
                    <a:pt x="2570" y="1897"/>
                  </a:lnTo>
                  <a:lnTo>
                    <a:pt x="2562" y="1936"/>
                  </a:lnTo>
                  <a:lnTo>
                    <a:pt x="2551" y="1972"/>
                  </a:lnTo>
                  <a:lnTo>
                    <a:pt x="2540" y="2008"/>
                  </a:lnTo>
                  <a:lnTo>
                    <a:pt x="2526" y="2039"/>
                  </a:lnTo>
                  <a:lnTo>
                    <a:pt x="2510" y="2070"/>
                  </a:lnTo>
                  <a:lnTo>
                    <a:pt x="2493" y="2097"/>
                  </a:lnTo>
                  <a:lnTo>
                    <a:pt x="2475" y="2121"/>
                  </a:lnTo>
                  <a:lnTo>
                    <a:pt x="2455" y="2142"/>
                  </a:lnTo>
                  <a:lnTo>
                    <a:pt x="2434" y="2160"/>
                  </a:lnTo>
                  <a:lnTo>
                    <a:pt x="2412" y="2174"/>
                  </a:lnTo>
                  <a:lnTo>
                    <a:pt x="2390" y="2185"/>
                  </a:lnTo>
                  <a:lnTo>
                    <a:pt x="2366" y="2191"/>
                  </a:lnTo>
                  <a:lnTo>
                    <a:pt x="2342" y="2193"/>
                  </a:lnTo>
                  <a:lnTo>
                    <a:pt x="2317" y="2191"/>
                  </a:lnTo>
                  <a:lnTo>
                    <a:pt x="2294" y="2185"/>
                  </a:lnTo>
                  <a:lnTo>
                    <a:pt x="2270" y="2174"/>
                  </a:lnTo>
                  <a:lnTo>
                    <a:pt x="2249" y="2160"/>
                  </a:lnTo>
                  <a:lnTo>
                    <a:pt x="2228" y="2142"/>
                  </a:lnTo>
                  <a:lnTo>
                    <a:pt x="2208" y="2121"/>
                  </a:lnTo>
                  <a:lnTo>
                    <a:pt x="2189" y="2097"/>
                  </a:lnTo>
                  <a:lnTo>
                    <a:pt x="2173" y="2070"/>
                  </a:lnTo>
                  <a:lnTo>
                    <a:pt x="2157" y="2039"/>
                  </a:lnTo>
                  <a:lnTo>
                    <a:pt x="2142" y="2008"/>
                  </a:lnTo>
                  <a:lnTo>
                    <a:pt x="2131" y="1972"/>
                  </a:lnTo>
                  <a:lnTo>
                    <a:pt x="2120" y="1936"/>
                  </a:lnTo>
                  <a:lnTo>
                    <a:pt x="2112" y="1897"/>
                  </a:lnTo>
                  <a:lnTo>
                    <a:pt x="2106" y="1858"/>
                  </a:lnTo>
                  <a:lnTo>
                    <a:pt x="2103" y="1815"/>
                  </a:lnTo>
                  <a:lnTo>
                    <a:pt x="2101" y="1773"/>
                  </a:lnTo>
                  <a:lnTo>
                    <a:pt x="2103" y="1731"/>
                  </a:lnTo>
                  <a:lnTo>
                    <a:pt x="2106" y="1689"/>
                  </a:lnTo>
                  <a:lnTo>
                    <a:pt x="2112" y="1649"/>
                  </a:lnTo>
                  <a:lnTo>
                    <a:pt x="2120" y="1611"/>
                  </a:lnTo>
                  <a:lnTo>
                    <a:pt x="2131" y="1574"/>
                  </a:lnTo>
                  <a:lnTo>
                    <a:pt x="2142" y="1540"/>
                  </a:lnTo>
                  <a:lnTo>
                    <a:pt x="2157" y="1507"/>
                  </a:lnTo>
                  <a:lnTo>
                    <a:pt x="2173" y="1478"/>
                  </a:lnTo>
                  <a:lnTo>
                    <a:pt x="2189" y="1451"/>
                  </a:lnTo>
                  <a:lnTo>
                    <a:pt x="2208" y="1426"/>
                  </a:lnTo>
                  <a:lnTo>
                    <a:pt x="2228" y="1405"/>
                  </a:lnTo>
                  <a:lnTo>
                    <a:pt x="2249" y="1387"/>
                  </a:lnTo>
                  <a:lnTo>
                    <a:pt x="2270" y="1373"/>
                  </a:lnTo>
                  <a:lnTo>
                    <a:pt x="2294" y="1363"/>
                  </a:lnTo>
                  <a:lnTo>
                    <a:pt x="2317" y="1357"/>
                  </a:lnTo>
                  <a:lnTo>
                    <a:pt x="2342" y="1355"/>
                  </a:lnTo>
                  <a:close/>
                  <a:moveTo>
                    <a:pt x="3179" y="819"/>
                  </a:moveTo>
                  <a:lnTo>
                    <a:pt x="3204" y="821"/>
                  </a:lnTo>
                  <a:lnTo>
                    <a:pt x="3227" y="827"/>
                  </a:lnTo>
                  <a:lnTo>
                    <a:pt x="3250" y="838"/>
                  </a:lnTo>
                  <a:lnTo>
                    <a:pt x="3272" y="852"/>
                  </a:lnTo>
                  <a:lnTo>
                    <a:pt x="3293" y="869"/>
                  </a:lnTo>
                  <a:lnTo>
                    <a:pt x="3312" y="890"/>
                  </a:lnTo>
                  <a:lnTo>
                    <a:pt x="3331" y="915"/>
                  </a:lnTo>
                  <a:lnTo>
                    <a:pt x="3348" y="942"/>
                  </a:lnTo>
                  <a:lnTo>
                    <a:pt x="3363" y="971"/>
                  </a:lnTo>
                  <a:lnTo>
                    <a:pt x="3377" y="1004"/>
                  </a:lnTo>
                  <a:lnTo>
                    <a:pt x="3389" y="1038"/>
                  </a:lnTo>
                  <a:lnTo>
                    <a:pt x="3400" y="1076"/>
                  </a:lnTo>
                  <a:lnTo>
                    <a:pt x="3408" y="1113"/>
                  </a:lnTo>
                  <a:lnTo>
                    <a:pt x="3414" y="1153"/>
                  </a:lnTo>
                  <a:lnTo>
                    <a:pt x="3417" y="1195"/>
                  </a:lnTo>
                  <a:lnTo>
                    <a:pt x="3418" y="1237"/>
                  </a:lnTo>
                  <a:lnTo>
                    <a:pt x="3417" y="1280"/>
                  </a:lnTo>
                  <a:lnTo>
                    <a:pt x="3414" y="1322"/>
                  </a:lnTo>
                  <a:lnTo>
                    <a:pt x="3408" y="1362"/>
                  </a:lnTo>
                  <a:lnTo>
                    <a:pt x="3400" y="1399"/>
                  </a:lnTo>
                  <a:lnTo>
                    <a:pt x="3389" y="1437"/>
                  </a:lnTo>
                  <a:lnTo>
                    <a:pt x="3377" y="1471"/>
                  </a:lnTo>
                  <a:lnTo>
                    <a:pt x="3363" y="1503"/>
                  </a:lnTo>
                  <a:lnTo>
                    <a:pt x="3348" y="1533"/>
                  </a:lnTo>
                  <a:lnTo>
                    <a:pt x="3331" y="1560"/>
                  </a:lnTo>
                  <a:lnTo>
                    <a:pt x="3312" y="1584"/>
                  </a:lnTo>
                  <a:lnTo>
                    <a:pt x="3293" y="1605"/>
                  </a:lnTo>
                  <a:lnTo>
                    <a:pt x="3272" y="1623"/>
                  </a:lnTo>
                  <a:lnTo>
                    <a:pt x="3250" y="1637"/>
                  </a:lnTo>
                  <a:lnTo>
                    <a:pt x="3227" y="1648"/>
                  </a:lnTo>
                  <a:lnTo>
                    <a:pt x="3204" y="1654"/>
                  </a:lnTo>
                  <a:lnTo>
                    <a:pt x="3179" y="1656"/>
                  </a:lnTo>
                  <a:lnTo>
                    <a:pt x="3155" y="1654"/>
                  </a:lnTo>
                  <a:lnTo>
                    <a:pt x="3131" y="1648"/>
                  </a:lnTo>
                  <a:lnTo>
                    <a:pt x="3108" y="1637"/>
                  </a:lnTo>
                  <a:lnTo>
                    <a:pt x="3087" y="1623"/>
                  </a:lnTo>
                  <a:lnTo>
                    <a:pt x="3066" y="1605"/>
                  </a:lnTo>
                  <a:lnTo>
                    <a:pt x="3046" y="1584"/>
                  </a:lnTo>
                  <a:lnTo>
                    <a:pt x="3027" y="1560"/>
                  </a:lnTo>
                  <a:lnTo>
                    <a:pt x="3011" y="1533"/>
                  </a:lnTo>
                  <a:lnTo>
                    <a:pt x="2994" y="1503"/>
                  </a:lnTo>
                  <a:lnTo>
                    <a:pt x="2980" y="1471"/>
                  </a:lnTo>
                  <a:lnTo>
                    <a:pt x="2968" y="1437"/>
                  </a:lnTo>
                  <a:lnTo>
                    <a:pt x="2958" y="1399"/>
                  </a:lnTo>
                  <a:lnTo>
                    <a:pt x="2950" y="1362"/>
                  </a:lnTo>
                  <a:lnTo>
                    <a:pt x="2944" y="1322"/>
                  </a:lnTo>
                  <a:lnTo>
                    <a:pt x="2940" y="1280"/>
                  </a:lnTo>
                  <a:lnTo>
                    <a:pt x="2939" y="1237"/>
                  </a:lnTo>
                  <a:lnTo>
                    <a:pt x="2940" y="1195"/>
                  </a:lnTo>
                  <a:lnTo>
                    <a:pt x="2944" y="1153"/>
                  </a:lnTo>
                  <a:lnTo>
                    <a:pt x="2950" y="1113"/>
                  </a:lnTo>
                  <a:lnTo>
                    <a:pt x="2958" y="1076"/>
                  </a:lnTo>
                  <a:lnTo>
                    <a:pt x="2968" y="1038"/>
                  </a:lnTo>
                  <a:lnTo>
                    <a:pt x="2980" y="1004"/>
                  </a:lnTo>
                  <a:lnTo>
                    <a:pt x="2994" y="971"/>
                  </a:lnTo>
                  <a:lnTo>
                    <a:pt x="3011" y="942"/>
                  </a:lnTo>
                  <a:lnTo>
                    <a:pt x="3027" y="915"/>
                  </a:lnTo>
                  <a:lnTo>
                    <a:pt x="3046" y="890"/>
                  </a:lnTo>
                  <a:lnTo>
                    <a:pt x="3066" y="869"/>
                  </a:lnTo>
                  <a:lnTo>
                    <a:pt x="3087" y="852"/>
                  </a:lnTo>
                  <a:lnTo>
                    <a:pt x="3108" y="838"/>
                  </a:lnTo>
                  <a:lnTo>
                    <a:pt x="3131" y="827"/>
                  </a:lnTo>
                  <a:lnTo>
                    <a:pt x="3155" y="821"/>
                  </a:lnTo>
                  <a:lnTo>
                    <a:pt x="3179" y="819"/>
                  </a:lnTo>
                  <a:close/>
                  <a:moveTo>
                    <a:pt x="3246" y="2144"/>
                  </a:moveTo>
                  <a:lnTo>
                    <a:pt x="3271" y="2146"/>
                  </a:lnTo>
                  <a:lnTo>
                    <a:pt x="3294" y="2152"/>
                  </a:lnTo>
                  <a:lnTo>
                    <a:pt x="3316" y="2162"/>
                  </a:lnTo>
                  <a:lnTo>
                    <a:pt x="3339" y="2176"/>
                  </a:lnTo>
                  <a:lnTo>
                    <a:pt x="3360" y="2194"/>
                  </a:lnTo>
                  <a:lnTo>
                    <a:pt x="3380" y="2215"/>
                  </a:lnTo>
                  <a:lnTo>
                    <a:pt x="3397" y="2240"/>
                  </a:lnTo>
                  <a:lnTo>
                    <a:pt x="3415" y="2267"/>
                  </a:lnTo>
                  <a:lnTo>
                    <a:pt x="3430" y="2296"/>
                  </a:lnTo>
                  <a:lnTo>
                    <a:pt x="3444" y="2329"/>
                  </a:lnTo>
                  <a:lnTo>
                    <a:pt x="3456" y="2363"/>
                  </a:lnTo>
                  <a:lnTo>
                    <a:pt x="3466" y="2400"/>
                  </a:lnTo>
                  <a:lnTo>
                    <a:pt x="3475" y="2438"/>
                  </a:lnTo>
                  <a:lnTo>
                    <a:pt x="3480" y="2478"/>
                  </a:lnTo>
                  <a:lnTo>
                    <a:pt x="3484" y="2520"/>
                  </a:lnTo>
                  <a:lnTo>
                    <a:pt x="3485" y="2562"/>
                  </a:lnTo>
                  <a:lnTo>
                    <a:pt x="3484" y="2604"/>
                  </a:lnTo>
                  <a:lnTo>
                    <a:pt x="3480" y="2647"/>
                  </a:lnTo>
                  <a:lnTo>
                    <a:pt x="3475" y="2686"/>
                  </a:lnTo>
                  <a:lnTo>
                    <a:pt x="3466" y="2725"/>
                  </a:lnTo>
                  <a:lnTo>
                    <a:pt x="3456" y="2762"/>
                  </a:lnTo>
                  <a:lnTo>
                    <a:pt x="3444" y="2796"/>
                  </a:lnTo>
                  <a:lnTo>
                    <a:pt x="3430" y="2828"/>
                  </a:lnTo>
                  <a:lnTo>
                    <a:pt x="3415" y="2858"/>
                  </a:lnTo>
                  <a:lnTo>
                    <a:pt x="3397" y="2886"/>
                  </a:lnTo>
                  <a:lnTo>
                    <a:pt x="3380" y="2909"/>
                  </a:lnTo>
                  <a:lnTo>
                    <a:pt x="3360" y="2930"/>
                  </a:lnTo>
                  <a:lnTo>
                    <a:pt x="3339" y="2949"/>
                  </a:lnTo>
                  <a:lnTo>
                    <a:pt x="3316" y="2963"/>
                  </a:lnTo>
                  <a:lnTo>
                    <a:pt x="3294" y="2974"/>
                  </a:lnTo>
                  <a:lnTo>
                    <a:pt x="3271" y="2980"/>
                  </a:lnTo>
                  <a:lnTo>
                    <a:pt x="3246" y="2982"/>
                  </a:lnTo>
                  <a:lnTo>
                    <a:pt x="3222" y="2980"/>
                  </a:lnTo>
                  <a:lnTo>
                    <a:pt x="3198" y="2974"/>
                  </a:lnTo>
                  <a:lnTo>
                    <a:pt x="3176" y="2963"/>
                  </a:lnTo>
                  <a:lnTo>
                    <a:pt x="3154" y="2949"/>
                  </a:lnTo>
                  <a:lnTo>
                    <a:pt x="3133" y="2930"/>
                  </a:lnTo>
                  <a:lnTo>
                    <a:pt x="3113" y="2909"/>
                  </a:lnTo>
                  <a:lnTo>
                    <a:pt x="3095" y="2886"/>
                  </a:lnTo>
                  <a:lnTo>
                    <a:pt x="3077" y="2858"/>
                  </a:lnTo>
                  <a:lnTo>
                    <a:pt x="3062" y="2828"/>
                  </a:lnTo>
                  <a:lnTo>
                    <a:pt x="3048" y="2796"/>
                  </a:lnTo>
                  <a:lnTo>
                    <a:pt x="3036" y="2762"/>
                  </a:lnTo>
                  <a:lnTo>
                    <a:pt x="3026" y="2725"/>
                  </a:lnTo>
                  <a:lnTo>
                    <a:pt x="3018" y="2686"/>
                  </a:lnTo>
                  <a:lnTo>
                    <a:pt x="3012" y="2647"/>
                  </a:lnTo>
                  <a:lnTo>
                    <a:pt x="3008" y="2604"/>
                  </a:lnTo>
                  <a:lnTo>
                    <a:pt x="3007" y="2562"/>
                  </a:lnTo>
                  <a:lnTo>
                    <a:pt x="3008" y="2520"/>
                  </a:lnTo>
                  <a:lnTo>
                    <a:pt x="3012" y="2478"/>
                  </a:lnTo>
                  <a:lnTo>
                    <a:pt x="3018" y="2438"/>
                  </a:lnTo>
                  <a:lnTo>
                    <a:pt x="3026" y="2400"/>
                  </a:lnTo>
                  <a:lnTo>
                    <a:pt x="3036" y="2363"/>
                  </a:lnTo>
                  <a:lnTo>
                    <a:pt x="3048" y="2329"/>
                  </a:lnTo>
                  <a:lnTo>
                    <a:pt x="3062" y="2296"/>
                  </a:lnTo>
                  <a:lnTo>
                    <a:pt x="3077" y="2267"/>
                  </a:lnTo>
                  <a:lnTo>
                    <a:pt x="3095" y="2240"/>
                  </a:lnTo>
                  <a:lnTo>
                    <a:pt x="3113" y="2215"/>
                  </a:lnTo>
                  <a:lnTo>
                    <a:pt x="3133" y="2194"/>
                  </a:lnTo>
                  <a:lnTo>
                    <a:pt x="3154" y="2176"/>
                  </a:lnTo>
                  <a:lnTo>
                    <a:pt x="3176" y="2162"/>
                  </a:lnTo>
                  <a:lnTo>
                    <a:pt x="3198" y="2152"/>
                  </a:lnTo>
                  <a:lnTo>
                    <a:pt x="3222" y="2146"/>
                  </a:lnTo>
                  <a:lnTo>
                    <a:pt x="3246" y="21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5" name="Freeform 31"/>
            <p:cNvSpPr>
              <a:spLocks/>
            </p:cNvSpPr>
            <p:nvPr/>
          </p:nvSpPr>
          <p:spPr bwMode="auto">
            <a:xfrm>
              <a:off x="1267" y="1588"/>
              <a:ext cx="87" cy="52"/>
            </a:xfrm>
            <a:custGeom>
              <a:avLst/>
              <a:gdLst>
                <a:gd name="T0" fmla="*/ 87 w 437"/>
                <a:gd name="T1" fmla="*/ 52 h 260"/>
                <a:gd name="T2" fmla="*/ 87 w 437"/>
                <a:gd name="T3" fmla="*/ 52 h 260"/>
                <a:gd name="T4" fmla="*/ 86 w 437"/>
                <a:gd name="T5" fmla="*/ 47 h 260"/>
                <a:gd name="T6" fmla="*/ 85 w 437"/>
                <a:gd name="T7" fmla="*/ 41 h 260"/>
                <a:gd name="T8" fmla="*/ 83 w 437"/>
                <a:gd name="T9" fmla="*/ 36 h 260"/>
                <a:gd name="T10" fmla="*/ 80 w 437"/>
                <a:gd name="T11" fmla="*/ 31 h 260"/>
                <a:gd name="T12" fmla="*/ 76 w 437"/>
                <a:gd name="T13" fmla="*/ 27 h 260"/>
                <a:gd name="T14" fmla="*/ 72 w 437"/>
                <a:gd name="T15" fmla="*/ 23 h 260"/>
                <a:gd name="T16" fmla="*/ 67 w 437"/>
                <a:gd name="T17" fmla="*/ 19 h 260"/>
                <a:gd name="T18" fmla="*/ 61 w 437"/>
                <a:gd name="T19" fmla="*/ 15 h 260"/>
                <a:gd name="T20" fmla="*/ 55 w 437"/>
                <a:gd name="T21" fmla="*/ 12 h 260"/>
                <a:gd name="T22" fmla="*/ 48 w 437"/>
                <a:gd name="T23" fmla="*/ 9 h 260"/>
                <a:gd name="T24" fmla="*/ 41 w 437"/>
                <a:gd name="T25" fmla="*/ 6 h 260"/>
                <a:gd name="T26" fmla="*/ 33 w 437"/>
                <a:gd name="T27" fmla="*/ 4 h 260"/>
                <a:gd name="T28" fmla="*/ 25 w 437"/>
                <a:gd name="T29" fmla="*/ 2 h 260"/>
                <a:gd name="T30" fmla="*/ 17 w 437"/>
                <a:gd name="T31" fmla="*/ 1 h 260"/>
                <a:gd name="T32" fmla="*/ 9 w 437"/>
                <a:gd name="T33" fmla="*/ 0 h 260"/>
                <a:gd name="T34" fmla="*/ 0 w 437"/>
                <a:gd name="T35" fmla="*/ 0 h 260"/>
                <a:gd name="T36" fmla="*/ 0 w 437"/>
                <a:gd name="T37" fmla="*/ 2 h 260"/>
                <a:gd name="T38" fmla="*/ 9 w 437"/>
                <a:gd name="T39" fmla="*/ 2 h 260"/>
                <a:gd name="T40" fmla="*/ 17 w 437"/>
                <a:gd name="T41" fmla="*/ 3 h 260"/>
                <a:gd name="T42" fmla="*/ 25 w 437"/>
                <a:gd name="T43" fmla="*/ 5 h 260"/>
                <a:gd name="T44" fmla="*/ 33 w 437"/>
                <a:gd name="T45" fmla="*/ 6 h 260"/>
                <a:gd name="T46" fmla="*/ 40 w 437"/>
                <a:gd name="T47" fmla="*/ 8 h 260"/>
                <a:gd name="T48" fmla="*/ 47 w 437"/>
                <a:gd name="T49" fmla="*/ 11 h 260"/>
                <a:gd name="T50" fmla="*/ 54 w 437"/>
                <a:gd name="T51" fmla="*/ 14 h 260"/>
                <a:gd name="T52" fmla="*/ 60 w 437"/>
                <a:gd name="T53" fmla="*/ 17 h 260"/>
                <a:gd name="T54" fmla="*/ 65 w 437"/>
                <a:gd name="T55" fmla="*/ 21 h 260"/>
                <a:gd name="T56" fmla="*/ 70 w 437"/>
                <a:gd name="T57" fmla="*/ 25 h 260"/>
                <a:gd name="T58" fmla="*/ 74 w 437"/>
                <a:gd name="T59" fmla="*/ 29 h 260"/>
                <a:gd name="T60" fmla="*/ 78 w 437"/>
                <a:gd name="T61" fmla="*/ 33 h 260"/>
                <a:gd name="T62" fmla="*/ 81 w 437"/>
                <a:gd name="T63" fmla="*/ 37 h 260"/>
                <a:gd name="T64" fmla="*/ 83 w 437"/>
                <a:gd name="T65" fmla="*/ 42 h 260"/>
                <a:gd name="T66" fmla="*/ 84 w 437"/>
                <a:gd name="T67" fmla="*/ 47 h 260"/>
                <a:gd name="T68" fmla="*/ 85 w 437"/>
                <a:gd name="T69" fmla="*/ 52 h 260"/>
                <a:gd name="T70" fmla="*/ 85 w 437"/>
                <a:gd name="T71" fmla="*/ 52 h 260"/>
                <a:gd name="T72" fmla="*/ 87 w 437"/>
                <a:gd name="T73" fmla="*/ 52 h 2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37" h="260">
                  <a:moveTo>
                    <a:pt x="437" y="260"/>
                  </a:moveTo>
                  <a:lnTo>
                    <a:pt x="437" y="260"/>
                  </a:lnTo>
                  <a:lnTo>
                    <a:pt x="434" y="233"/>
                  </a:lnTo>
                  <a:lnTo>
                    <a:pt x="427" y="206"/>
                  </a:lnTo>
                  <a:lnTo>
                    <a:pt x="417" y="181"/>
                  </a:lnTo>
                  <a:lnTo>
                    <a:pt x="401" y="157"/>
                  </a:lnTo>
                  <a:lnTo>
                    <a:pt x="383" y="133"/>
                  </a:lnTo>
                  <a:lnTo>
                    <a:pt x="360" y="113"/>
                  </a:lnTo>
                  <a:lnTo>
                    <a:pt x="336" y="93"/>
                  </a:lnTo>
                  <a:lnTo>
                    <a:pt x="308" y="73"/>
                  </a:lnTo>
                  <a:lnTo>
                    <a:pt x="276" y="58"/>
                  </a:lnTo>
                  <a:lnTo>
                    <a:pt x="242" y="43"/>
                  </a:lnTo>
                  <a:lnTo>
                    <a:pt x="207" y="30"/>
                  </a:lnTo>
                  <a:lnTo>
                    <a:pt x="168" y="19"/>
                  </a:lnTo>
                  <a:lnTo>
                    <a:pt x="128" y="11"/>
                  </a:lnTo>
                  <a:lnTo>
                    <a:pt x="87" y="4"/>
                  </a:lnTo>
                  <a:lnTo>
                    <a:pt x="43" y="1"/>
                  </a:lnTo>
                  <a:lnTo>
                    <a:pt x="0" y="0"/>
                  </a:lnTo>
                  <a:lnTo>
                    <a:pt x="0" y="11"/>
                  </a:lnTo>
                  <a:lnTo>
                    <a:pt x="43" y="12"/>
                  </a:lnTo>
                  <a:lnTo>
                    <a:pt x="85" y="16"/>
                  </a:lnTo>
                  <a:lnTo>
                    <a:pt x="126" y="23"/>
                  </a:lnTo>
                  <a:lnTo>
                    <a:pt x="166" y="31"/>
                  </a:lnTo>
                  <a:lnTo>
                    <a:pt x="202" y="42"/>
                  </a:lnTo>
                  <a:lnTo>
                    <a:pt x="237" y="55"/>
                  </a:lnTo>
                  <a:lnTo>
                    <a:pt x="271" y="70"/>
                  </a:lnTo>
                  <a:lnTo>
                    <a:pt x="301" y="85"/>
                  </a:lnTo>
                  <a:lnTo>
                    <a:pt x="329" y="103"/>
                  </a:lnTo>
                  <a:lnTo>
                    <a:pt x="353" y="123"/>
                  </a:lnTo>
                  <a:lnTo>
                    <a:pt x="373" y="143"/>
                  </a:lnTo>
                  <a:lnTo>
                    <a:pt x="392" y="164"/>
                  </a:lnTo>
                  <a:lnTo>
                    <a:pt x="405" y="186"/>
                  </a:lnTo>
                  <a:lnTo>
                    <a:pt x="415" y="211"/>
                  </a:lnTo>
                  <a:lnTo>
                    <a:pt x="422" y="235"/>
                  </a:lnTo>
                  <a:lnTo>
                    <a:pt x="425" y="260"/>
                  </a:lnTo>
                  <a:lnTo>
                    <a:pt x="437"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6" name="Freeform 32"/>
            <p:cNvSpPr>
              <a:spLocks/>
            </p:cNvSpPr>
            <p:nvPr/>
          </p:nvSpPr>
          <p:spPr bwMode="auto">
            <a:xfrm>
              <a:off x="1267" y="1640"/>
              <a:ext cx="87" cy="52"/>
            </a:xfrm>
            <a:custGeom>
              <a:avLst/>
              <a:gdLst>
                <a:gd name="T0" fmla="*/ 0 w 437"/>
                <a:gd name="T1" fmla="*/ 52 h 260"/>
                <a:gd name="T2" fmla="*/ 0 w 437"/>
                <a:gd name="T3" fmla="*/ 52 h 260"/>
                <a:gd name="T4" fmla="*/ 9 w 437"/>
                <a:gd name="T5" fmla="*/ 52 h 260"/>
                <a:gd name="T6" fmla="*/ 17 w 437"/>
                <a:gd name="T7" fmla="*/ 51 h 260"/>
                <a:gd name="T8" fmla="*/ 25 w 437"/>
                <a:gd name="T9" fmla="*/ 50 h 260"/>
                <a:gd name="T10" fmla="*/ 33 w 437"/>
                <a:gd name="T11" fmla="*/ 48 h 260"/>
                <a:gd name="T12" fmla="*/ 41 w 437"/>
                <a:gd name="T13" fmla="*/ 46 h 260"/>
                <a:gd name="T14" fmla="*/ 48 w 437"/>
                <a:gd name="T15" fmla="*/ 43 h 260"/>
                <a:gd name="T16" fmla="*/ 55 w 437"/>
                <a:gd name="T17" fmla="*/ 40 h 260"/>
                <a:gd name="T18" fmla="*/ 61 w 437"/>
                <a:gd name="T19" fmla="*/ 37 h 260"/>
                <a:gd name="T20" fmla="*/ 67 w 437"/>
                <a:gd name="T21" fmla="*/ 33 h 260"/>
                <a:gd name="T22" fmla="*/ 72 w 437"/>
                <a:gd name="T23" fmla="*/ 29 h 260"/>
                <a:gd name="T24" fmla="*/ 76 w 437"/>
                <a:gd name="T25" fmla="*/ 25 h 260"/>
                <a:gd name="T26" fmla="*/ 80 w 437"/>
                <a:gd name="T27" fmla="*/ 20 h 260"/>
                <a:gd name="T28" fmla="*/ 83 w 437"/>
                <a:gd name="T29" fmla="*/ 15 h 260"/>
                <a:gd name="T30" fmla="*/ 85 w 437"/>
                <a:gd name="T31" fmla="*/ 11 h 260"/>
                <a:gd name="T32" fmla="*/ 86 w 437"/>
                <a:gd name="T33" fmla="*/ 5 h 260"/>
                <a:gd name="T34" fmla="*/ 87 w 437"/>
                <a:gd name="T35" fmla="*/ 0 h 260"/>
                <a:gd name="T36" fmla="*/ 85 w 437"/>
                <a:gd name="T37" fmla="*/ 0 h 260"/>
                <a:gd name="T38" fmla="*/ 84 w 437"/>
                <a:gd name="T39" fmla="*/ 5 h 260"/>
                <a:gd name="T40" fmla="*/ 83 w 437"/>
                <a:gd name="T41" fmla="*/ 10 h 260"/>
                <a:gd name="T42" fmla="*/ 81 w 437"/>
                <a:gd name="T43" fmla="*/ 15 h 260"/>
                <a:gd name="T44" fmla="*/ 78 w 437"/>
                <a:gd name="T45" fmla="*/ 19 h 260"/>
                <a:gd name="T46" fmla="*/ 74 w 437"/>
                <a:gd name="T47" fmla="*/ 23 h 260"/>
                <a:gd name="T48" fmla="*/ 70 w 437"/>
                <a:gd name="T49" fmla="*/ 27 h 260"/>
                <a:gd name="T50" fmla="*/ 65 w 437"/>
                <a:gd name="T51" fmla="*/ 31 h 260"/>
                <a:gd name="T52" fmla="*/ 60 w 437"/>
                <a:gd name="T53" fmla="*/ 35 h 260"/>
                <a:gd name="T54" fmla="*/ 54 w 437"/>
                <a:gd name="T55" fmla="*/ 38 h 260"/>
                <a:gd name="T56" fmla="*/ 47 w 437"/>
                <a:gd name="T57" fmla="*/ 41 h 260"/>
                <a:gd name="T58" fmla="*/ 40 w 437"/>
                <a:gd name="T59" fmla="*/ 44 h 260"/>
                <a:gd name="T60" fmla="*/ 33 w 437"/>
                <a:gd name="T61" fmla="*/ 46 h 260"/>
                <a:gd name="T62" fmla="*/ 25 w 437"/>
                <a:gd name="T63" fmla="*/ 47 h 260"/>
                <a:gd name="T64" fmla="*/ 17 w 437"/>
                <a:gd name="T65" fmla="*/ 49 h 260"/>
                <a:gd name="T66" fmla="*/ 9 w 437"/>
                <a:gd name="T67" fmla="*/ 49 h 260"/>
                <a:gd name="T68" fmla="*/ 0 w 437"/>
                <a:gd name="T69" fmla="*/ 50 h 260"/>
                <a:gd name="T70" fmla="*/ 0 w 437"/>
                <a:gd name="T71" fmla="*/ 50 h 260"/>
                <a:gd name="T72" fmla="*/ 0 w 437"/>
                <a:gd name="T73" fmla="*/ 52 h 2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37" h="260">
                  <a:moveTo>
                    <a:pt x="0" y="260"/>
                  </a:moveTo>
                  <a:lnTo>
                    <a:pt x="0" y="260"/>
                  </a:lnTo>
                  <a:lnTo>
                    <a:pt x="43" y="259"/>
                  </a:lnTo>
                  <a:lnTo>
                    <a:pt x="87" y="255"/>
                  </a:lnTo>
                  <a:lnTo>
                    <a:pt x="128" y="248"/>
                  </a:lnTo>
                  <a:lnTo>
                    <a:pt x="168" y="240"/>
                  </a:lnTo>
                  <a:lnTo>
                    <a:pt x="207" y="230"/>
                  </a:lnTo>
                  <a:lnTo>
                    <a:pt x="242" y="217"/>
                  </a:lnTo>
                  <a:lnTo>
                    <a:pt x="276" y="202"/>
                  </a:lnTo>
                  <a:lnTo>
                    <a:pt x="308" y="185"/>
                  </a:lnTo>
                  <a:lnTo>
                    <a:pt x="336" y="166"/>
                  </a:lnTo>
                  <a:lnTo>
                    <a:pt x="360" y="146"/>
                  </a:lnTo>
                  <a:lnTo>
                    <a:pt x="383" y="125"/>
                  </a:lnTo>
                  <a:lnTo>
                    <a:pt x="401" y="102"/>
                  </a:lnTo>
                  <a:lnTo>
                    <a:pt x="417" y="77"/>
                  </a:lnTo>
                  <a:lnTo>
                    <a:pt x="427" y="53"/>
                  </a:lnTo>
                  <a:lnTo>
                    <a:pt x="434" y="27"/>
                  </a:lnTo>
                  <a:lnTo>
                    <a:pt x="437" y="0"/>
                  </a:lnTo>
                  <a:lnTo>
                    <a:pt x="425" y="0"/>
                  </a:lnTo>
                  <a:lnTo>
                    <a:pt x="422" y="24"/>
                  </a:lnTo>
                  <a:lnTo>
                    <a:pt x="415" y="48"/>
                  </a:lnTo>
                  <a:lnTo>
                    <a:pt x="405" y="73"/>
                  </a:lnTo>
                  <a:lnTo>
                    <a:pt x="392" y="95"/>
                  </a:lnTo>
                  <a:lnTo>
                    <a:pt x="373" y="116"/>
                  </a:lnTo>
                  <a:lnTo>
                    <a:pt x="353" y="137"/>
                  </a:lnTo>
                  <a:lnTo>
                    <a:pt x="329" y="157"/>
                  </a:lnTo>
                  <a:lnTo>
                    <a:pt x="301" y="173"/>
                  </a:lnTo>
                  <a:lnTo>
                    <a:pt x="271" y="190"/>
                  </a:lnTo>
                  <a:lnTo>
                    <a:pt x="237" y="205"/>
                  </a:lnTo>
                  <a:lnTo>
                    <a:pt x="202" y="218"/>
                  </a:lnTo>
                  <a:lnTo>
                    <a:pt x="166" y="228"/>
                  </a:lnTo>
                  <a:lnTo>
                    <a:pt x="126" y="237"/>
                  </a:lnTo>
                  <a:lnTo>
                    <a:pt x="85" y="244"/>
                  </a:lnTo>
                  <a:lnTo>
                    <a:pt x="43" y="247"/>
                  </a:lnTo>
                  <a:lnTo>
                    <a:pt x="0" y="248"/>
                  </a:lnTo>
                  <a:lnTo>
                    <a:pt x="0"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7" name="Freeform 33"/>
            <p:cNvSpPr>
              <a:spLocks/>
            </p:cNvSpPr>
            <p:nvPr/>
          </p:nvSpPr>
          <p:spPr bwMode="auto">
            <a:xfrm>
              <a:off x="1179" y="1640"/>
              <a:ext cx="88" cy="52"/>
            </a:xfrm>
            <a:custGeom>
              <a:avLst/>
              <a:gdLst>
                <a:gd name="T0" fmla="*/ 0 w 439"/>
                <a:gd name="T1" fmla="*/ 0 h 260"/>
                <a:gd name="T2" fmla="*/ 0 w 439"/>
                <a:gd name="T3" fmla="*/ 0 h 260"/>
                <a:gd name="T4" fmla="*/ 1 w 439"/>
                <a:gd name="T5" fmla="*/ 5 h 260"/>
                <a:gd name="T6" fmla="*/ 2 w 439"/>
                <a:gd name="T7" fmla="*/ 11 h 260"/>
                <a:gd name="T8" fmla="*/ 4 w 439"/>
                <a:gd name="T9" fmla="*/ 15 h 260"/>
                <a:gd name="T10" fmla="*/ 7 w 439"/>
                <a:gd name="T11" fmla="*/ 20 h 260"/>
                <a:gd name="T12" fmla="*/ 11 w 439"/>
                <a:gd name="T13" fmla="*/ 25 h 260"/>
                <a:gd name="T14" fmla="*/ 15 w 439"/>
                <a:gd name="T15" fmla="*/ 29 h 260"/>
                <a:gd name="T16" fmla="*/ 20 w 439"/>
                <a:gd name="T17" fmla="*/ 33 h 260"/>
                <a:gd name="T18" fmla="*/ 26 w 439"/>
                <a:gd name="T19" fmla="*/ 37 h 260"/>
                <a:gd name="T20" fmla="*/ 32 w 439"/>
                <a:gd name="T21" fmla="*/ 40 h 260"/>
                <a:gd name="T22" fmla="*/ 39 w 439"/>
                <a:gd name="T23" fmla="*/ 43 h 260"/>
                <a:gd name="T24" fmla="*/ 46 w 439"/>
                <a:gd name="T25" fmla="*/ 46 h 260"/>
                <a:gd name="T26" fmla="*/ 54 w 439"/>
                <a:gd name="T27" fmla="*/ 48 h 260"/>
                <a:gd name="T28" fmla="*/ 62 w 439"/>
                <a:gd name="T29" fmla="*/ 50 h 260"/>
                <a:gd name="T30" fmla="*/ 70 w 439"/>
                <a:gd name="T31" fmla="*/ 51 h 260"/>
                <a:gd name="T32" fmla="*/ 79 w 439"/>
                <a:gd name="T33" fmla="*/ 52 h 260"/>
                <a:gd name="T34" fmla="*/ 88 w 439"/>
                <a:gd name="T35" fmla="*/ 52 h 260"/>
                <a:gd name="T36" fmla="*/ 88 w 439"/>
                <a:gd name="T37" fmla="*/ 50 h 260"/>
                <a:gd name="T38" fmla="*/ 79 w 439"/>
                <a:gd name="T39" fmla="*/ 49 h 260"/>
                <a:gd name="T40" fmla="*/ 71 w 439"/>
                <a:gd name="T41" fmla="*/ 49 h 260"/>
                <a:gd name="T42" fmla="*/ 63 w 439"/>
                <a:gd name="T43" fmla="*/ 47 h 260"/>
                <a:gd name="T44" fmla="*/ 55 w 439"/>
                <a:gd name="T45" fmla="*/ 46 h 260"/>
                <a:gd name="T46" fmla="*/ 47 w 439"/>
                <a:gd name="T47" fmla="*/ 44 h 260"/>
                <a:gd name="T48" fmla="*/ 40 w 439"/>
                <a:gd name="T49" fmla="*/ 41 h 260"/>
                <a:gd name="T50" fmla="*/ 33 w 439"/>
                <a:gd name="T51" fmla="*/ 38 h 260"/>
                <a:gd name="T52" fmla="*/ 27 w 439"/>
                <a:gd name="T53" fmla="*/ 35 h 260"/>
                <a:gd name="T54" fmla="*/ 22 w 439"/>
                <a:gd name="T55" fmla="*/ 31 h 260"/>
                <a:gd name="T56" fmla="*/ 17 w 439"/>
                <a:gd name="T57" fmla="*/ 27 h 260"/>
                <a:gd name="T58" fmla="*/ 13 w 439"/>
                <a:gd name="T59" fmla="*/ 23 h 260"/>
                <a:gd name="T60" fmla="*/ 9 w 439"/>
                <a:gd name="T61" fmla="*/ 19 h 260"/>
                <a:gd name="T62" fmla="*/ 6 w 439"/>
                <a:gd name="T63" fmla="*/ 15 h 260"/>
                <a:gd name="T64" fmla="*/ 4 w 439"/>
                <a:gd name="T65" fmla="*/ 10 h 260"/>
                <a:gd name="T66" fmla="*/ 3 w 439"/>
                <a:gd name="T67" fmla="*/ 5 h 260"/>
                <a:gd name="T68" fmla="*/ 2 w 439"/>
                <a:gd name="T69" fmla="*/ 0 h 260"/>
                <a:gd name="T70" fmla="*/ 2 w 439"/>
                <a:gd name="T71" fmla="*/ 0 h 260"/>
                <a:gd name="T72" fmla="*/ 0 w 439"/>
                <a:gd name="T73" fmla="*/ 0 h 2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39" h="260">
                  <a:moveTo>
                    <a:pt x="0" y="0"/>
                  </a:moveTo>
                  <a:lnTo>
                    <a:pt x="0" y="0"/>
                  </a:lnTo>
                  <a:lnTo>
                    <a:pt x="3" y="27"/>
                  </a:lnTo>
                  <a:lnTo>
                    <a:pt x="10" y="53"/>
                  </a:lnTo>
                  <a:lnTo>
                    <a:pt x="20" y="77"/>
                  </a:lnTo>
                  <a:lnTo>
                    <a:pt x="35" y="102"/>
                  </a:lnTo>
                  <a:lnTo>
                    <a:pt x="54" y="125"/>
                  </a:lnTo>
                  <a:lnTo>
                    <a:pt x="76" y="146"/>
                  </a:lnTo>
                  <a:lnTo>
                    <a:pt x="102" y="166"/>
                  </a:lnTo>
                  <a:lnTo>
                    <a:pt x="130" y="185"/>
                  </a:lnTo>
                  <a:lnTo>
                    <a:pt x="162" y="202"/>
                  </a:lnTo>
                  <a:lnTo>
                    <a:pt x="195" y="217"/>
                  </a:lnTo>
                  <a:lnTo>
                    <a:pt x="231" y="230"/>
                  </a:lnTo>
                  <a:lnTo>
                    <a:pt x="270" y="240"/>
                  </a:lnTo>
                  <a:lnTo>
                    <a:pt x="310" y="248"/>
                  </a:lnTo>
                  <a:lnTo>
                    <a:pt x="351" y="255"/>
                  </a:lnTo>
                  <a:lnTo>
                    <a:pt x="395" y="259"/>
                  </a:lnTo>
                  <a:lnTo>
                    <a:pt x="439" y="260"/>
                  </a:lnTo>
                  <a:lnTo>
                    <a:pt x="439" y="248"/>
                  </a:lnTo>
                  <a:lnTo>
                    <a:pt x="395" y="247"/>
                  </a:lnTo>
                  <a:lnTo>
                    <a:pt x="353" y="244"/>
                  </a:lnTo>
                  <a:lnTo>
                    <a:pt x="312" y="237"/>
                  </a:lnTo>
                  <a:lnTo>
                    <a:pt x="272" y="228"/>
                  </a:lnTo>
                  <a:lnTo>
                    <a:pt x="236" y="218"/>
                  </a:lnTo>
                  <a:lnTo>
                    <a:pt x="200" y="205"/>
                  </a:lnTo>
                  <a:lnTo>
                    <a:pt x="167" y="190"/>
                  </a:lnTo>
                  <a:lnTo>
                    <a:pt x="137" y="173"/>
                  </a:lnTo>
                  <a:lnTo>
                    <a:pt x="109" y="157"/>
                  </a:lnTo>
                  <a:lnTo>
                    <a:pt x="84" y="137"/>
                  </a:lnTo>
                  <a:lnTo>
                    <a:pt x="64" y="116"/>
                  </a:lnTo>
                  <a:lnTo>
                    <a:pt x="45" y="95"/>
                  </a:lnTo>
                  <a:lnTo>
                    <a:pt x="32" y="73"/>
                  </a:lnTo>
                  <a:lnTo>
                    <a:pt x="21" y="48"/>
                  </a:lnTo>
                  <a:lnTo>
                    <a:pt x="14" y="24"/>
                  </a:lnTo>
                  <a:lnTo>
                    <a:pt x="1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8" name="Freeform 34"/>
            <p:cNvSpPr>
              <a:spLocks/>
            </p:cNvSpPr>
            <p:nvPr/>
          </p:nvSpPr>
          <p:spPr bwMode="auto">
            <a:xfrm>
              <a:off x="1179" y="1588"/>
              <a:ext cx="88" cy="52"/>
            </a:xfrm>
            <a:custGeom>
              <a:avLst/>
              <a:gdLst>
                <a:gd name="T0" fmla="*/ 88 w 439"/>
                <a:gd name="T1" fmla="*/ 0 h 260"/>
                <a:gd name="T2" fmla="*/ 88 w 439"/>
                <a:gd name="T3" fmla="*/ 0 h 260"/>
                <a:gd name="T4" fmla="*/ 79 w 439"/>
                <a:gd name="T5" fmla="*/ 0 h 260"/>
                <a:gd name="T6" fmla="*/ 70 w 439"/>
                <a:gd name="T7" fmla="*/ 1 h 260"/>
                <a:gd name="T8" fmla="*/ 62 w 439"/>
                <a:gd name="T9" fmla="*/ 2 h 260"/>
                <a:gd name="T10" fmla="*/ 54 w 439"/>
                <a:gd name="T11" fmla="*/ 4 h 260"/>
                <a:gd name="T12" fmla="*/ 46 w 439"/>
                <a:gd name="T13" fmla="*/ 6 h 260"/>
                <a:gd name="T14" fmla="*/ 39 w 439"/>
                <a:gd name="T15" fmla="*/ 9 h 260"/>
                <a:gd name="T16" fmla="*/ 32 w 439"/>
                <a:gd name="T17" fmla="*/ 12 h 260"/>
                <a:gd name="T18" fmla="*/ 26 w 439"/>
                <a:gd name="T19" fmla="*/ 15 h 260"/>
                <a:gd name="T20" fmla="*/ 20 w 439"/>
                <a:gd name="T21" fmla="*/ 19 h 260"/>
                <a:gd name="T22" fmla="*/ 15 w 439"/>
                <a:gd name="T23" fmla="*/ 23 h 260"/>
                <a:gd name="T24" fmla="*/ 11 w 439"/>
                <a:gd name="T25" fmla="*/ 27 h 260"/>
                <a:gd name="T26" fmla="*/ 7 w 439"/>
                <a:gd name="T27" fmla="*/ 31 h 260"/>
                <a:gd name="T28" fmla="*/ 4 w 439"/>
                <a:gd name="T29" fmla="*/ 36 h 260"/>
                <a:gd name="T30" fmla="*/ 2 w 439"/>
                <a:gd name="T31" fmla="*/ 41 h 260"/>
                <a:gd name="T32" fmla="*/ 1 w 439"/>
                <a:gd name="T33" fmla="*/ 47 h 260"/>
                <a:gd name="T34" fmla="*/ 0 w 439"/>
                <a:gd name="T35" fmla="*/ 52 h 260"/>
                <a:gd name="T36" fmla="*/ 2 w 439"/>
                <a:gd name="T37" fmla="*/ 52 h 260"/>
                <a:gd name="T38" fmla="*/ 3 w 439"/>
                <a:gd name="T39" fmla="*/ 47 h 260"/>
                <a:gd name="T40" fmla="*/ 4 w 439"/>
                <a:gd name="T41" fmla="*/ 42 h 260"/>
                <a:gd name="T42" fmla="*/ 6 w 439"/>
                <a:gd name="T43" fmla="*/ 37 h 260"/>
                <a:gd name="T44" fmla="*/ 9 w 439"/>
                <a:gd name="T45" fmla="*/ 33 h 260"/>
                <a:gd name="T46" fmla="*/ 13 w 439"/>
                <a:gd name="T47" fmla="*/ 29 h 260"/>
                <a:gd name="T48" fmla="*/ 17 w 439"/>
                <a:gd name="T49" fmla="*/ 25 h 260"/>
                <a:gd name="T50" fmla="*/ 22 w 439"/>
                <a:gd name="T51" fmla="*/ 21 h 260"/>
                <a:gd name="T52" fmla="*/ 27 w 439"/>
                <a:gd name="T53" fmla="*/ 17 h 260"/>
                <a:gd name="T54" fmla="*/ 33 w 439"/>
                <a:gd name="T55" fmla="*/ 14 h 260"/>
                <a:gd name="T56" fmla="*/ 40 w 439"/>
                <a:gd name="T57" fmla="*/ 11 h 260"/>
                <a:gd name="T58" fmla="*/ 47 w 439"/>
                <a:gd name="T59" fmla="*/ 8 h 260"/>
                <a:gd name="T60" fmla="*/ 55 w 439"/>
                <a:gd name="T61" fmla="*/ 6 h 260"/>
                <a:gd name="T62" fmla="*/ 63 w 439"/>
                <a:gd name="T63" fmla="*/ 5 h 260"/>
                <a:gd name="T64" fmla="*/ 71 w 439"/>
                <a:gd name="T65" fmla="*/ 3 h 260"/>
                <a:gd name="T66" fmla="*/ 79 w 439"/>
                <a:gd name="T67" fmla="*/ 2 h 260"/>
                <a:gd name="T68" fmla="*/ 88 w 439"/>
                <a:gd name="T69" fmla="*/ 2 h 260"/>
                <a:gd name="T70" fmla="*/ 88 w 439"/>
                <a:gd name="T71" fmla="*/ 2 h 260"/>
                <a:gd name="T72" fmla="*/ 88 w 439"/>
                <a:gd name="T73" fmla="*/ 0 h 2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39" h="260">
                  <a:moveTo>
                    <a:pt x="439" y="0"/>
                  </a:moveTo>
                  <a:lnTo>
                    <a:pt x="439" y="0"/>
                  </a:lnTo>
                  <a:lnTo>
                    <a:pt x="395" y="1"/>
                  </a:lnTo>
                  <a:lnTo>
                    <a:pt x="351" y="4"/>
                  </a:lnTo>
                  <a:lnTo>
                    <a:pt x="310" y="11"/>
                  </a:lnTo>
                  <a:lnTo>
                    <a:pt x="270" y="19"/>
                  </a:lnTo>
                  <a:lnTo>
                    <a:pt x="231" y="30"/>
                  </a:lnTo>
                  <a:lnTo>
                    <a:pt x="195" y="43"/>
                  </a:lnTo>
                  <a:lnTo>
                    <a:pt x="162" y="58"/>
                  </a:lnTo>
                  <a:lnTo>
                    <a:pt x="130" y="73"/>
                  </a:lnTo>
                  <a:lnTo>
                    <a:pt x="102" y="93"/>
                  </a:lnTo>
                  <a:lnTo>
                    <a:pt x="76" y="113"/>
                  </a:lnTo>
                  <a:lnTo>
                    <a:pt x="54" y="133"/>
                  </a:lnTo>
                  <a:lnTo>
                    <a:pt x="35" y="157"/>
                  </a:lnTo>
                  <a:lnTo>
                    <a:pt x="20" y="181"/>
                  </a:lnTo>
                  <a:lnTo>
                    <a:pt x="10" y="206"/>
                  </a:lnTo>
                  <a:lnTo>
                    <a:pt x="3" y="233"/>
                  </a:lnTo>
                  <a:lnTo>
                    <a:pt x="0" y="260"/>
                  </a:lnTo>
                  <a:lnTo>
                    <a:pt x="12" y="260"/>
                  </a:lnTo>
                  <a:lnTo>
                    <a:pt x="14" y="235"/>
                  </a:lnTo>
                  <a:lnTo>
                    <a:pt x="21" y="211"/>
                  </a:lnTo>
                  <a:lnTo>
                    <a:pt x="32" y="186"/>
                  </a:lnTo>
                  <a:lnTo>
                    <a:pt x="45" y="164"/>
                  </a:lnTo>
                  <a:lnTo>
                    <a:pt x="64" y="143"/>
                  </a:lnTo>
                  <a:lnTo>
                    <a:pt x="84" y="123"/>
                  </a:lnTo>
                  <a:lnTo>
                    <a:pt x="109" y="103"/>
                  </a:lnTo>
                  <a:lnTo>
                    <a:pt x="137" y="85"/>
                  </a:lnTo>
                  <a:lnTo>
                    <a:pt x="167" y="70"/>
                  </a:lnTo>
                  <a:lnTo>
                    <a:pt x="200" y="55"/>
                  </a:lnTo>
                  <a:lnTo>
                    <a:pt x="236" y="42"/>
                  </a:lnTo>
                  <a:lnTo>
                    <a:pt x="272" y="31"/>
                  </a:lnTo>
                  <a:lnTo>
                    <a:pt x="312" y="23"/>
                  </a:lnTo>
                  <a:lnTo>
                    <a:pt x="353" y="16"/>
                  </a:lnTo>
                  <a:lnTo>
                    <a:pt x="395" y="12"/>
                  </a:lnTo>
                  <a:lnTo>
                    <a:pt x="439" y="11"/>
                  </a:lnTo>
                  <a:lnTo>
                    <a:pt x="4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9" name="Freeform 35"/>
            <p:cNvSpPr>
              <a:spLocks/>
            </p:cNvSpPr>
            <p:nvPr/>
          </p:nvSpPr>
          <p:spPr bwMode="auto">
            <a:xfrm>
              <a:off x="964" y="1745"/>
              <a:ext cx="48" cy="85"/>
            </a:xfrm>
            <a:custGeom>
              <a:avLst/>
              <a:gdLst>
                <a:gd name="T0" fmla="*/ 48 w 244"/>
                <a:gd name="T1" fmla="*/ 85 h 426"/>
                <a:gd name="T2" fmla="*/ 48 w 244"/>
                <a:gd name="T3" fmla="*/ 85 h 426"/>
                <a:gd name="T4" fmla="*/ 48 w 244"/>
                <a:gd name="T5" fmla="*/ 76 h 426"/>
                <a:gd name="T6" fmla="*/ 47 w 244"/>
                <a:gd name="T7" fmla="*/ 68 h 426"/>
                <a:gd name="T8" fmla="*/ 46 w 244"/>
                <a:gd name="T9" fmla="*/ 60 h 426"/>
                <a:gd name="T10" fmla="*/ 44 w 244"/>
                <a:gd name="T11" fmla="*/ 52 h 426"/>
                <a:gd name="T12" fmla="*/ 42 w 244"/>
                <a:gd name="T13" fmla="*/ 45 h 426"/>
                <a:gd name="T14" fmla="*/ 40 w 244"/>
                <a:gd name="T15" fmla="*/ 38 h 426"/>
                <a:gd name="T16" fmla="*/ 37 w 244"/>
                <a:gd name="T17" fmla="*/ 31 h 426"/>
                <a:gd name="T18" fmla="*/ 34 w 244"/>
                <a:gd name="T19" fmla="*/ 25 h 426"/>
                <a:gd name="T20" fmla="*/ 30 w 244"/>
                <a:gd name="T21" fmla="*/ 20 h 426"/>
                <a:gd name="T22" fmla="*/ 27 w 244"/>
                <a:gd name="T23" fmla="*/ 15 h 426"/>
                <a:gd name="T24" fmla="*/ 23 w 244"/>
                <a:gd name="T25" fmla="*/ 10 h 426"/>
                <a:gd name="T26" fmla="*/ 19 w 244"/>
                <a:gd name="T27" fmla="*/ 7 h 426"/>
                <a:gd name="T28" fmla="*/ 14 w 244"/>
                <a:gd name="T29" fmla="*/ 4 h 426"/>
                <a:gd name="T30" fmla="*/ 10 w 244"/>
                <a:gd name="T31" fmla="*/ 2 h 426"/>
                <a:gd name="T32" fmla="*/ 5 w 244"/>
                <a:gd name="T33" fmla="*/ 0 h 426"/>
                <a:gd name="T34" fmla="*/ 0 w 244"/>
                <a:gd name="T35" fmla="*/ 0 h 426"/>
                <a:gd name="T36" fmla="*/ 0 w 244"/>
                <a:gd name="T37" fmla="*/ 2 h 426"/>
                <a:gd name="T38" fmla="*/ 5 w 244"/>
                <a:gd name="T39" fmla="*/ 3 h 426"/>
                <a:gd name="T40" fmla="*/ 9 w 244"/>
                <a:gd name="T41" fmla="*/ 4 h 426"/>
                <a:gd name="T42" fmla="*/ 13 w 244"/>
                <a:gd name="T43" fmla="*/ 6 h 426"/>
                <a:gd name="T44" fmla="*/ 18 w 244"/>
                <a:gd name="T45" fmla="*/ 9 h 426"/>
                <a:gd name="T46" fmla="*/ 21 w 244"/>
                <a:gd name="T47" fmla="*/ 12 h 426"/>
                <a:gd name="T48" fmla="*/ 25 w 244"/>
                <a:gd name="T49" fmla="*/ 16 h 426"/>
                <a:gd name="T50" fmla="*/ 29 w 244"/>
                <a:gd name="T51" fmla="*/ 21 h 426"/>
                <a:gd name="T52" fmla="*/ 32 w 244"/>
                <a:gd name="T53" fmla="*/ 27 h 426"/>
                <a:gd name="T54" fmla="*/ 35 w 244"/>
                <a:gd name="T55" fmla="*/ 32 h 426"/>
                <a:gd name="T56" fmla="*/ 38 w 244"/>
                <a:gd name="T57" fmla="*/ 39 h 426"/>
                <a:gd name="T58" fmla="*/ 40 w 244"/>
                <a:gd name="T59" fmla="*/ 46 h 426"/>
                <a:gd name="T60" fmla="*/ 42 w 244"/>
                <a:gd name="T61" fmla="*/ 53 h 426"/>
                <a:gd name="T62" fmla="*/ 44 w 244"/>
                <a:gd name="T63" fmla="*/ 60 h 426"/>
                <a:gd name="T64" fmla="*/ 45 w 244"/>
                <a:gd name="T65" fmla="*/ 68 h 426"/>
                <a:gd name="T66" fmla="*/ 46 w 244"/>
                <a:gd name="T67" fmla="*/ 76 h 426"/>
                <a:gd name="T68" fmla="*/ 46 w 244"/>
                <a:gd name="T69" fmla="*/ 85 h 426"/>
                <a:gd name="T70" fmla="*/ 46 w 244"/>
                <a:gd name="T71" fmla="*/ 85 h 426"/>
                <a:gd name="T72" fmla="*/ 48 w 244"/>
                <a:gd name="T73" fmla="*/ 85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4" h="426">
                  <a:moveTo>
                    <a:pt x="244" y="426"/>
                  </a:moveTo>
                  <a:lnTo>
                    <a:pt x="244" y="426"/>
                  </a:lnTo>
                  <a:lnTo>
                    <a:pt x="243" y="383"/>
                  </a:lnTo>
                  <a:lnTo>
                    <a:pt x="240" y="340"/>
                  </a:lnTo>
                  <a:lnTo>
                    <a:pt x="234" y="300"/>
                  </a:lnTo>
                  <a:lnTo>
                    <a:pt x="226" y="262"/>
                  </a:lnTo>
                  <a:lnTo>
                    <a:pt x="215" y="224"/>
                  </a:lnTo>
                  <a:lnTo>
                    <a:pt x="203" y="189"/>
                  </a:lnTo>
                  <a:lnTo>
                    <a:pt x="189" y="157"/>
                  </a:lnTo>
                  <a:lnTo>
                    <a:pt x="174" y="126"/>
                  </a:lnTo>
                  <a:lnTo>
                    <a:pt x="155" y="99"/>
                  </a:lnTo>
                  <a:lnTo>
                    <a:pt x="138" y="74"/>
                  </a:lnTo>
                  <a:lnTo>
                    <a:pt x="118" y="52"/>
                  </a:lnTo>
                  <a:lnTo>
                    <a:pt x="96" y="34"/>
                  </a:lnTo>
                  <a:lnTo>
                    <a:pt x="73" y="19"/>
                  </a:lnTo>
                  <a:lnTo>
                    <a:pt x="50" y="8"/>
                  </a:lnTo>
                  <a:lnTo>
                    <a:pt x="25" y="2"/>
                  </a:lnTo>
                  <a:lnTo>
                    <a:pt x="0" y="0"/>
                  </a:lnTo>
                  <a:lnTo>
                    <a:pt x="0" y="12"/>
                  </a:lnTo>
                  <a:lnTo>
                    <a:pt x="23" y="14"/>
                  </a:lnTo>
                  <a:lnTo>
                    <a:pt x="45" y="20"/>
                  </a:lnTo>
                  <a:lnTo>
                    <a:pt x="66" y="31"/>
                  </a:lnTo>
                  <a:lnTo>
                    <a:pt x="89" y="43"/>
                  </a:lnTo>
                  <a:lnTo>
                    <a:pt x="109" y="61"/>
                  </a:lnTo>
                  <a:lnTo>
                    <a:pt x="129" y="81"/>
                  </a:lnTo>
                  <a:lnTo>
                    <a:pt x="146" y="106"/>
                  </a:lnTo>
                  <a:lnTo>
                    <a:pt x="162" y="133"/>
                  </a:lnTo>
                  <a:lnTo>
                    <a:pt x="178" y="162"/>
                  </a:lnTo>
                  <a:lnTo>
                    <a:pt x="192" y="194"/>
                  </a:lnTo>
                  <a:lnTo>
                    <a:pt x="203" y="229"/>
                  </a:lnTo>
                  <a:lnTo>
                    <a:pt x="214" y="264"/>
                  </a:lnTo>
                  <a:lnTo>
                    <a:pt x="222" y="303"/>
                  </a:lnTo>
                  <a:lnTo>
                    <a:pt x="228" y="342"/>
                  </a:lnTo>
                  <a:lnTo>
                    <a:pt x="232" y="383"/>
                  </a:lnTo>
                  <a:lnTo>
                    <a:pt x="233" y="426"/>
                  </a:lnTo>
                  <a:lnTo>
                    <a:pt x="244" y="4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0" name="Freeform 36"/>
            <p:cNvSpPr>
              <a:spLocks/>
            </p:cNvSpPr>
            <p:nvPr/>
          </p:nvSpPr>
          <p:spPr bwMode="auto">
            <a:xfrm>
              <a:off x="964" y="1830"/>
              <a:ext cx="48" cy="85"/>
            </a:xfrm>
            <a:custGeom>
              <a:avLst/>
              <a:gdLst>
                <a:gd name="T0" fmla="*/ 0 w 244"/>
                <a:gd name="T1" fmla="*/ 85 h 424"/>
                <a:gd name="T2" fmla="*/ 0 w 244"/>
                <a:gd name="T3" fmla="*/ 85 h 424"/>
                <a:gd name="T4" fmla="*/ 5 w 244"/>
                <a:gd name="T5" fmla="*/ 85 h 424"/>
                <a:gd name="T6" fmla="*/ 10 w 244"/>
                <a:gd name="T7" fmla="*/ 83 h 424"/>
                <a:gd name="T8" fmla="*/ 14 w 244"/>
                <a:gd name="T9" fmla="*/ 81 h 424"/>
                <a:gd name="T10" fmla="*/ 19 w 244"/>
                <a:gd name="T11" fmla="*/ 78 h 424"/>
                <a:gd name="T12" fmla="*/ 23 w 244"/>
                <a:gd name="T13" fmla="*/ 75 h 424"/>
                <a:gd name="T14" fmla="*/ 27 w 244"/>
                <a:gd name="T15" fmla="*/ 70 h 424"/>
                <a:gd name="T16" fmla="*/ 30 w 244"/>
                <a:gd name="T17" fmla="*/ 65 h 424"/>
                <a:gd name="T18" fmla="*/ 34 w 244"/>
                <a:gd name="T19" fmla="*/ 60 h 424"/>
                <a:gd name="T20" fmla="*/ 37 w 244"/>
                <a:gd name="T21" fmla="*/ 54 h 424"/>
                <a:gd name="T22" fmla="*/ 40 w 244"/>
                <a:gd name="T23" fmla="*/ 47 h 424"/>
                <a:gd name="T24" fmla="*/ 42 w 244"/>
                <a:gd name="T25" fmla="*/ 40 h 424"/>
                <a:gd name="T26" fmla="*/ 44 w 244"/>
                <a:gd name="T27" fmla="*/ 33 h 424"/>
                <a:gd name="T28" fmla="*/ 46 w 244"/>
                <a:gd name="T29" fmla="*/ 25 h 424"/>
                <a:gd name="T30" fmla="*/ 47 w 244"/>
                <a:gd name="T31" fmla="*/ 17 h 424"/>
                <a:gd name="T32" fmla="*/ 48 w 244"/>
                <a:gd name="T33" fmla="*/ 8 h 424"/>
                <a:gd name="T34" fmla="*/ 48 w 244"/>
                <a:gd name="T35" fmla="*/ 0 h 424"/>
                <a:gd name="T36" fmla="*/ 46 w 244"/>
                <a:gd name="T37" fmla="*/ 0 h 424"/>
                <a:gd name="T38" fmla="*/ 46 w 244"/>
                <a:gd name="T39" fmla="*/ 8 h 424"/>
                <a:gd name="T40" fmla="*/ 45 w 244"/>
                <a:gd name="T41" fmla="*/ 17 h 424"/>
                <a:gd name="T42" fmla="*/ 44 w 244"/>
                <a:gd name="T43" fmla="*/ 25 h 424"/>
                <a:gd name="T44" fmla="*/ 42 w 244"/>
                <a:gd name="T45" fmla="*/ 32 h 424"/>
                <a:gd name="T46" fmla="*/ 40 w 244"/>
                <a:gd name="T47" fmla="*/ 39 h 424"/>
                <a:gd name="T48" fmla="*/ 38 w 244"/>
                <a:gd name="T49" fmla="*/ 46 h 424"/>
                <a:gd name="T50" fmla="*/ 35 w 244"/>
                <a:gd name="T51" fmla="*/ 53 h 424"/>
                <a:gd name="T52" fmla="*/ 32 w 244"/>
                <a:gd name="T53" fmla="*/ 59 h 424"/>
                <a:gd name="T54" fmla="*/ 29 w 244"/>
                <a:gd name="T55" fmla="*/ 64 h 424"/>
                <a:gd name="T56" fmla="*/ 25 w 244"/>
                <a:gd name="T57" fmla="*/ 69 h 424"/>
                <a:gd name="T58" fmla="*/ 21 w 244"/>
                <a:gd name="T59" fmla="*/ 73 h 424"/>
                <a:gd name="T60" fmla="*/ 18 w 244"/>
                <a:gd name="T61" fmla="*/ 76 h 424"/>
                <a:gd name="T62" fmla="*/ 13 w 244"/>
                <a:gd name="T63" fmla="*/ 79 h 424"/>
                <a:gd name="T64" fmla="*/ 9 w 244"/>
                <a:gd name="T65" fmla="*/ 81 h 424"/>
                <a:gd name="T66" fmla="*/ 5 w 244"/>
                <a:gd name="T67" fmla="*/ 82 h 424"/>
                <a:gd name="T68" fmla="*/ 0 w 244"/>
                <a:gd name="T69" fmla="*/ 83 h 424"/>
                <a:gd name="T70" fmla="*/ 0 w 244"/>
                <a:gd name="T71" fmla="*/ 83 h 424"/>
                <a:gd name="T72" fmla="*/ 0 w 244"/>
                <a:gd name="T73" fmla="*/ 85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4" h="424">
                  <a:moveTo>
                    <a:pt x="0" y="424"/>
                  </a:moveTo>
                  <a:lnTo>
                    <a:pt x="0" y="424"/>
                  </a:lnTo>
                  <a:lnTo>
                    <a:pt x="25" y="422"/>
                  </a:lnTo>
                  <a:lnTo>
                    <a:pt x="50" y="416"/>
                  </a:lnTo>
                  <a:lnTo>
                    <a:pt x="73" y="405"/>
                  </a:lnTo>
                  <a:lnTo>
                    <a:pt x="96" y="390"/>
                  </a:lnTo>
                  <a:lnTo>
                    <a:pt x="118" y="373"/>
                  </a:lnTo>
                  <a:lnTo>
                    <a:pt x="138" y="350"/>
                  </a:lnTo>
                  <a:lnTo>
                    <a:pt x="155" y="326"/>
                  </a:lnTo>
                  <a:lnTo>
                    <a:pt x="173" y="299"/>
                  </a:lnTo>
                  <a:lnTo>
                    <a:pt x="189" y="268"/>
                  </a:lnTo>
                  <a:lnTo>
                    <a:pt x="203" y="235"/>
                  </a:lnTo>
                  <a:lnTo>
                    <a:pt x="215" y="201"/>
                  </a:lnTo>
                  <a:lnTo>
                    <a:pt x="226" y="163"/>
                  </a:lnTo>
                  <a:lnTo>
                    <a:pt x="234" y="125"/>
                  </a:lnTo>
                  <a:lnTo>
                    <a:pt x="240" y="85"/>
                  </a:lnTo>
                  <a:lnTo>
                    <a:pt x="243" y="42"/>
                  </a:lnTo>
                  <a:lnTo>
                    <a:pt x="244" y="0"/>
                  </a:lnTo>
                  <a:lnTo>
                    <a:pt x="233" y="0"/>
                  </a:lnTo>
                  <a:lnTo>
                    <a:pt x="232" y="42"/>
                  </a:lnTo>
                  <a:lnTo>
                    <a:pt x="228" y="83"/>
                  </a:lnTo>
                  <a:lnTo>
                    <a:pt x="222" y="123"/>
                  </a:lnTo>
                  <a:lnTo>
                    <a:pt x="214" y="160"/>
                  </a:lnTo>
                  <a:lnTo>
                    <a:pt x="203" y="197"/>
                  </a:lnTo>
                  <a:lnTo>
                    <a:pt x="192" y="231"/>
                  </a:lnTo>
                  <a:lnTo>
                    <a:pt x="178" y="263"/>
                  </a:lnTo>
                  <a:lnTo>
                    <a:pt x="164" y="292"/>
                  </a:lnTo>
                  <a:lnTo>
                    <a:pt x="146" y="319"/>
                  </a:lnTo>
                  <a:lnTo>
                    <a:pt x="129" y="343"/>
                  </a:lnTo>
                  <a:lnTo>
                    <a:pt x="109" y="363"/>
                  </a:lnTo>
                  <a:lnTo>
                    <a:pt x="89" y="381"/>
                  </a:lnTo>
                  <a:lnTo>
                    <a:pt x="66" y="394"/>
                  </a:lnTo>
                  <a:lnTo>
                    <a:pt x="45" y="404"/>
                  </a:lnTo>
                  <a:lnTo>
                    <a:pt x="23" y="410"/>
                  </a:lnTo>
                  <a:lnTo>
                    <a:pt x="0" y="412"/>
                  </a:lnTo>
                  <a:lnTo>
                    <a:pt x="0"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1" name="Freeform 37"/>
            <p:cNvSpPr>
              <a:spLocks/>
            </p:cNvSpPr>
            <p:nvPr/>
          </p:nvSpPr>
          <p:spPr bwMode="auto">
            <a:xfrm>
              <a:off x="915" y="1830"/>
              <a:ext cx="49" cy="85"/>
            </a:xfrm>
            <a:custGeom>
              <a:avLst/>
              <a:gdLst>
                <a:gd name="T0" fmla="*/ 0 w 245"/>
                <a:gd name="T1" fmla="*/ 0 h 424"/>
                <a:gd name="T2" fmla="*/ 0 w 245"/>
                <a:gd name="T3" fmla="*/ 0 h 424"/>
                <a:gd name="T4" fmla="*/ 0 w 245"/>
                <a:gd name="T5" fmla="*/ 8 h 424"/>
                <a:gd name="T6" fmla="*/ 1 w 245"/>
                <a:gd name="T7" fmla="*/ 17 h 424"/>
                <a:gd name="T8" fmla="*/ 2 w 245"/>
                <a:gd name="T9" fmla="*/ 25 h 424"/>
                <a:gd name="T10" fmla="*/ 4 w 245"/>
                <a:gd name="T11" fmla="*/ 33 h 424"/>
                <a:gd name="T12" fmla="*/ 6 w 245"/>
                <a:gd name="T13" fmla="*/ 40 h 424"/>
                <a:gd name="T14" fmla="*/ 8 w 245"/>
                <a:gd name="T15" fmla="*/ 47 h 424"/>
                <a:gd name="T16" fmla="*/ 11 w 245"/>
                <a:gd name="T17" fmla="*/ 54 h 424"/>
                <a:gd name="T18" fmla="*/ 14 w 245"/>
                <a:gd name="T19" fmla="*/ 60 h 424"/>
                <a:gd name="T20" fmla="*/ 18 w 245"/>
                <a:gd name="T21" fmla="*/ 65 h 424"/>
                <a:gd name="T22" fmla="*/ 21 w 245"/>
                <a:gd name="T23" fmla="*/ 70 h 424"/>
                <a:gd name="T24" fmla="*/ 25 w 245"/>
                <a:gd name="T25" fmla="*/ 75 h 424"/>
                <a:gd name="T26" fmla="*/ 30 w 245"/>
                <a:gd name="T27" fmla="*/ 78 h 424"/>
                <a:gd name="T28" fmla="*/ 34 w 245"/>
                <a:gd name="T29" fmla="*/ 81 h 424"/>
                <a:gd name="T30" fmla="*/ 39 w 245"/>
                <a:gd name="T31" fmla="*/ 83 h 424"/>
                <a:gd name="T32" fmla="*/ 44 w 245"/>
                <a:gd name="T33" fmla="*/ 85 h 424"/>
                <a:gd name="T34" fmla="*/ 49 w 245"/>
                <a:gd name="T35" fmla="*/ 85 h 424"/>
                <a:gd name="T36" fmla="*/ 49 w 245"/>
                <a:gd name="T37" fmla="*/ 83 h 424"/>
                <a:gd name="T38" fmla="*/ 44 w 245"/>
                <a:gd name="T39" fmla="*/ 82 h 424"/>
                <a:gd name="T40" fmla="*/ 40 w 245"/>
                <a:gd name="T41" fmla="*/ 81 h 424"/>
                <a:gd name="T42" fmla="*/ 36 w 245"/>
                <a:gd name="T43" fmla="*/ 79 h 424"/>
                <a:gd name="T44" fmla="*/ 31 w 245"/>
                <a:gd name="T45" fmla="*/ 76 h 424"/>
                <a:gd name="T46" fmla="*/ 27 w 245"/>
                <a:gd name="T47" fmla="*/ 73 h 424"/>
                <a:gd name="T48" fmla="*/ 23 w 245"/>
                <a:gd name="T49" fmla="*/ 69 h 424"/>
                <a:gd name="T50" fmla="*/ 20 w 245"/>
                <a:gd name="T51" fmla="*/ 64 h 424"/>
                <a:gd name="T52" fmla="*/ 16 w 245"/>
                <a:gd name="T53" fmla="*/ 59 h 424"/>
                <a:gd name="T54" fmla="*/ 13 w 245"/>
                <a:gd name="T55" fmla="*/ 53 h 424"/>
                <a:gd name="T56" fmla="*/ 10 w 245"/>
                <a:gd name="T57" fmla="*/ 46 h 424"/>
                <a:gd name="T58" fmla="*/ 8 w 245"/>
                <a:gd name="T59" fmla="*/ 39 h 424"/>
                <a:gd name="T60" fmla="*/ 6 w 245"/>
                <a:gd name="T61" fmla="*/ 32 h 424"/>
                <a:gd name="T62" fmla="*/ 4 w 245"/>
                <a:gd name="T63" fmla="*/ 25 h 424"/>
                <a:gd name="T64" fmla="*/ 3 w 245"/>
                <a:gd name="T65" fmla="*/ 17 h 424"/>
                <a:gd name="T66" fmla="*/ 3 w 245"/>
                <a:gd name="T67" fmla="*/ 8 h 424"/>
                <a:gd name="T68" fmla="*/ 2 w 245"/>
                <a:gd name="T69" fmla="*/ 0 h 424"/>
                <a:gd name="T70" fmla="*/ 2 w 245"/>
                <a:gd name="T71" fmla="*/ 0 h 424"/>
                <a:gd name="T72" fmla="*/ 0 w 245"/>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4">
                  <a:moveTo>
                    <a:pt x="0" y="0"/>
                  </a:moveTo>
                  <a:lnTo>
                    <a:pt x="0" y="0"/>
                  </a:lnTo>
                  <a:lnTo>
                    <a:pt x="1" y="42"/>
                  </a:lnTo>
                  <a:lnTo>
                    <a:pt x="4" y="85"/>
                  </a:lnTo>
                  <a:lnTo>
                    <a:pt x="10" y="125"/>
                  </a:lnTo>
                  <a:lnTo>
                    <a:pt x="19" y="163"/>
                  </a:lnTo>
                  <a:lnTo>
                    <a:pt x="29" y="201"/>
                  </a:lnTo>
                  <a:lnTo>
                    <a:pt x="41" y="235"/>
                  </a:lnTo>
                  <a:lnTo>
                    <a:pt x="55" y="268"/>
                  </a:lnTo>
                  <a:lnTo>
                    <a:pt x="71" y="299"/>
                  </a:lnTo>
                  <a:lnTo>
                    <a:pt x="89" y="326"/>
                  </a:lnTo>
                  <a:lnTo>
                    <a:pt x="106" y="350"/>
                  </a:lnTo>
                  <a:lnTo>
                    <a:pt x="126" y="373"/>
                  </a:lnTo>
                  <a:lnTo>
                    <a:pt x="149" y="390"/>
                  </a:lnTo>
                  <a:lnTo>
                    <a:pt x="171" y="405"/>
                  </a:lnTo>
                  <a:lnTo>
                    <a:pt x="194" y="416"/>
                  </a:lnTo>
                  <a:lnTo>
                    <a:pt x="219" y="422"/>
                  </a:lnTo>
                  <a:lnTo>
                    <a:pt x="245" y="424"/>
                  </a:lnTo>
                  <a:lnTo>
                    <a:pt x="245" y="412"/>
                  </a:lnTo>
                  <a:lnTo>
                    <a:pt x="221" y="410"/>
                  </a:lnTo>
                  <a:lnTo>
                    <a:pt x="199" y="404"/>
                  </a:lnTo>
                  <a:lnTo>
                    <a:pt x="178" y="394"/>
                  </a:lnTo>
                  <a:lnTo>
                    <a:pt x="156" y="381"/>
                  </a:lnTo>
                  <a:lnTo>
                    <a:pt x="136" y="363"/>
                  </a:lnTo>
                  <a:lnTo>
                    <a:pt x="116" y="343"/>
                  </a:lnTo>
                  <a:lnTo>
                    <a:pt x="98" y="319"/>
                  </a:lnTo>
                  <a:lnTo>
                    <a:pt x="81" y="292"/>
                  </a:lnTo>
                  <a:lnTo>
                    <a:pt x="67" y="263"/>
                  </a:lnTo>
                  <a:lnTo>
                    <a:pt x="52" y="231"/>
                  </a:lnTo>
                  <a:lnTo>
                    <a:pt x="41" y="197"/>
                  </a:lnTo>
                  <a:lnTo>
                    <a:pt x="30" y="160"/>
                  </a:lnTo>
                  <a:lnTo>
                    <a:pt x="22" y="123"/>
                  </a:lnTo>
                  <a:lnTo>
                    <a:pt x="16" y="83"/>
                  </a:lnTo>
                  <a:lnTo>
                    <a:pt x="13" y="42"/>
                  </a:lnTo>
                  <a:lnTo>
                    <a:pt x="1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2" name="Freeform 38"/>
            <p:cNvSpPr>
              <a:spLocks/>
            </p:cNvSpPr>
            <p:nvPr/>
          </p:nvSpPr>
          <p:spPr bwMode="auto">
            <a:xfrm>
              <a:off x="915" y="1745"/>
              <a:ext cx="49" cy="85"/>
            </a:xfrm>
            <a:custGeom>
              <a:avLst/>
              <a:gdLst>
                <a:gd name="T0" fmla="*/ 49 w 245"/>
                <a:gd name="T1" fmla="*/ 0 h 426"/>
                <a:gd name="T2" fmla="*/ 49 w 245"/>
                <a:gd name="T3" fmla="*/ 0 h 426"/>
                <a:gd name="T4" fmla="*/ 44 w 245"/>
                <a:gd name="T5" fmla="*/ 0 h 426"/>
                <a:gd name="T6" fmla="*/ 39 w 245"/>
                <a:gd name="T7" fmla="*/ 2 h 426"/>
                <a:gd name="T8" fmla="*/ 34 w 245"/>
                <a:gd name="T9" fmla="*/ 4 h 426"/>
                <a:gd name="T10" fmla="*/ 30 w 245"/>
                <a:gd name="T11" fmla="*/ 7 h 426"/>
                <a:gd name="T12" fmla="*/ 25 w 245"/>
                <a:gd name="T13" fmla="*/ 10 h 426"/>
                <a:gd name="T14" fmla="*/ 21 w 245"/>
                <a:gd name="T15" fmla="*/ 15 h 426"/>
                <a:gd name="T16" fmla="*/ 18 w 245"/>
                <a:gd name="T17" fmla="*/ 20 h 426"/>
                <a:gd name="T18" fmla="*/ 14 w 245"/>
                <a:gd name="T19" fmla="*/ 25 h 426"/>
                <a:gd name="T20" fmla="*/ 11 w 245"/>
                <a:gd name="T21" fmla="*/ 31 h 426"/>
                <a:gd name="T22" fmla="*/ 8 w 245"/>
                <a:gd name="T23" fmla="*/ 38 h 426"/>
                <a:gd name="T24" fmla="*/ 6 w 245"/>
                <a:gd name="T25" fmla="*/ 45 h 426"/>
                <a:gd name="T26" fmla="*/ 4 w 245"/>
                <a:gd name="T27" fmla="*/ 52 h 426"/>
                <a:gd name="T28" fmla="*/ 2 w 245"/>
                <a:gd name="T29" fmla="*/ 60 h 426"/>
                <a:gd name="T30" fmla="*/ 1 w 245"/>
                <a:gd name="T31" fmla="*/ 68 h 426"/>
                <a:gd name="T32" fmla="*/ 0 w 245"/>
                <a:gd name="T33" fmla="*/ 76 h 426"/>
                <a:gd name="T34" fmla="*/ 0 w 245"/>
                <a:gd name="T35" fmla="*/ 85 h 426"/>
                <a:gd name="T36" fmla="*/ 2 w 245"/>
                <a:gd name="T37" fmla="*/ 85 h 426"/>
                <a:gd name="T38" fmla="*/ 3 w 245"/>
                <a:gd name="T39" fmla="*/ 76 h 426"/>
                <a:gd name="T40" fmla="*/ 3 w 245"/>
                <a:gd name="T41" fmla="*/ 68 h 426"/>
                <a:gd name="T42" fmla="*/ 4 w 245"/>
                <a:gd name="T43" fmla="*/ 60 h 426"/>
                <a:gd name="T44" fmla="*/ 6 w 245"/>
                <a:gd name="T45" fmla="*/ 53 h 426"/>
                <a:gd name="T46" fmla="*/ 8 w 245"/>
                <a:gd name="T47" fmla="*/ 46 h 426"/>
                <a:gd name="T48" fmla="*/ 10 w 245"/>
                <a:gd name="T49" fmla="*/ 39 h 426"/>
                <a:gd name="T50" fmla="*/ 13 w 245"/>
                <a:gd name="T51" fmla="*/ 32 h 426"/>
                <a:gd name="T52" fmla="*/ 16 w 245"/>
                <a:gd name="T53" fmla="*/ 27 h 426"/>
                <a:gd name="T54" fmla="*/ 20 w 245"/>
                <a:gd name="T55" fmla="*/ 21 h 426"/>
                <a:gd name="T56" fmla="*/ 23 w 245"/>
                <a:gd name="T57" fmla="*/ 16 h 426"/>
                <a:gd name="T58" fmla="*/ 27 w 245"/>
                <a:gd name="T59" fmla="*/ 12 h 426"/>
                <a:gd name="T60" fmla="*/ 31 w 245"/>
                <a:gd name="T61" fmla="*/ 9 h 426"/>
                <a:gd name="T62" fmla="*/ 36 w 245"/>
                <a:gd name="T63" fmla="*/ 6 h 426"/>
                <a:gd name="T64" fmla="*/ 40 w 245"/>
                <a:gd name="T65" fmla="*/ 4 h 426"/>
                <a:gd name="T66" fmla="*/ 44 w 245"/>
                <a:gd name="T67" fmla="*/ 3 h 426"/>
                <a:gd name="T68" fmla="*/ 49 w 245"/>
                <a:gd name="T69" fmla="*/ 2 h 426"/>
                <a:gd name="T70" fmla="*/ 49 w 245"/>
                <a:gd name="T71" fmla="*/ 2 h 426"/>
                <a:gd name="T72" fmla="*/ 49 w 245"/>
                <a:gd name="T73" fmla="*/ 0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6">
                  <a:moveTo>
                    <a:pt x="245" y="0"/>
                  </a:moveTo>
                  <a:lnTo>
                    <a:pt x="245" y="0"/>
                  </a:lnTo>
                  <a:lnTo>
                    <a:pt x="219" y="2"/>
                  </a:lnTo>
                  <a:lnTo>
                    <a:pt x="194" y="8"/>
                  </a:lnTo>
                  <a:lnTo>
                    <a:pt x="171" y="19"/>
                  </a:lnTo>
                  <a:lnTo>
                    <a:pt x="149" y="34"/>
                  </a:lnTo>
                  <a:lnTo>
                    <a:pt x="126" y="52"/>
                  </a:lnTo>
                  <a:lnTo>
                    <a:pt x="106" y="74"/>
                  </a:lnTo>
                  <a:lnTo>
                    <a:pt x="89" y="99"/>
                  </a:lnTo>
                  <a:lnTo>
                    <a:pt x="70" y="126"/>
                  </a:lnTo>
                  <a:lnTo>
                    <a:pt x="55" y="157"/>
                  </a:lnTo>
                  <a:lnTo>
                    <a:pt x="41" y="189"/>
                  </a:lnTo>
                  <a:lnTo>
                    <a:pt x="29" y="224"/>
                  </a:lnTo>
                  <a:lnTo>
                    <a:pt x="19" y="262"/>
                  </a:lnTo>
                  <a:lnTo>
                    <a:pt x="10" y="300"/>
                  </a:lnTo>
                  <a:lnTo>
                    <a:pt x="4" y="340"/>
                  </a:lnTo>
                  <a:lnTo>
                    <a:pt x="1" y="383"/>
                  </a:lnTo>
                  <a:lnTo>
                    <a:pt x="0" y="426"/>
                  </a:lnTo>
                  <a:lnTo>
                    <a:pt x="11" y="426"/>
                  </a:lnTo>
                  <a:lnTo>
                    <a:pt x="13" y="383"/>
                  </a:lnTo>
                  <a:lnTo>
                    <a:pt x="16" y="342"/>
                  </a:lnTo>
                  <a:lnTo>
                    <a:pt x="22" y="303"/>
                  </a:lnTo>
                  <a:lnTo>
                    <a:pt x="30" y="264"/>
                  </a:lnTo>
                  <a:lnTo>
                    <a:pt x="41" y="229"/>
                  </a:lnTo>
                  <a:lnTo>
                    <a:pt x="52" y="194"/>
                  </a:lnTo>
                  <a:lnTo>
                    <a:pt x="67" y="162"/>
                  </a:lnTo>
                  <a:lnTo>
                    <a:pt x="82" y="133"/>
                  </a:lnTo>
                  <a:lnTo>
                    <a:pt x="98" y="106"/>
                  </a:lnTo>
                  <a:lnTo>
                    <a:pt x="116" y="81"/>
                  </a:lnTo>
                  <a:lnTo>
                    <a:pt x="136" y="61"/>
                  </a:lnTo>
                  <a:lnTo>
                    <a:pt x="156" y="43"/>
                  </a:lnTo>
                  <a:lnTo>
                    <a:pt x="178" y="31"/>
                  </a:lnTo>
                  <a:lnTo>
                    <a:pt x="199" y="20"/>
                  </a:lnTo>
                  <a:lnTo>
                    <a:pt x="221" y="14"/>
                  </a:lnTo>
                  <a:lnTo>
                    <a:pt x="245" y="12"/>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3" name="Freeform 39"/>
            <p:cNvSpPr>
              <a:spLocks/>
            </p:cNvSpPr>
            <p:nvPr/>
          </p:nvSpPr>
          <p:spPr bwMode="auto">
            <a:xfrm>
              <a:off x="1140" y="2087"/>
              <a:ext cx="49" cy="85"/>
            </a:xfrm>
            <a:custGeom>
              <a:avLst/>
              <a:gdLst>
                <a:gd name="T0" fmla="*/ 49 w 246"/>
                <a:gd name="T1" fmla="*/ 85 h 424"/>
                <a:gd name="T2" fmla="*/ 49 w 246"/>
                <a:gd name="T3" fmla="*/ 85 h 424"/>
                <a:gd name="T4" fmla="*/ 49 w 246"/>
                <a:gd name="T5" fmla="*/ 77 h 424"/>
                <a:gd name="T6" fmla="*/ 48 w 246"/>
                <a:gd name="T7" fmla="*/ 68 h 424"/>
                <a:gd name="T8" fmla="*/ 47 w 246"/>
                <a:gd name="T9" fmla="*/ 60 h 424"/>
                <a:gd name="T10" fmla="*/ 45 w 246"/>
                <a:gd name="T11" fmla="*/ 52 h 424"/>
                <a:gd name="T12" fmla="*/ 43 w 246"/>
                <a:gd name="T13" fmla="*/ 45 h 424"/>
                <a:gd name="T14" fmla="*/ 41 w 246"/>
                <a:gd name="T15" fmla="*/ 38 h 424"/>
                <a:gd name="T16" fmla="*/ 38 w 246"/>
                <a:gd name="T17" fmla="*/ 31 h 424"/>
                <a:gd name="T18" fmla="*/ 35 w 246"/>
                <a:gd name="T19" fmla="*/ 25 h 424"/>
                <a:gd name="T20" fmla="*/ 31 w 246"/>
                <a:gd name="T21" fmla="*/ 20 h 424"/>
                <a:gd name="T22" fmla="*/ 27 w 246"/>
                <a:gd name="T23" fmla="*/ 15 h 424"/>
                <a:gd name="T24" fmla="*/ 24 w 246"/>
                <a:gd name="T25" fmla="*/ 10 h 424"/>
                <a:gd name="T26" fmla="*/ 19 w 246"/>
                <a:gd name="T27" fmla="*/ 7 h 424"/>
                <a:gd name="T28" fmla="*/ 15 w 246"/>
                <a:gd name="T29" fmla="*/ 4 h 424"/>
                <a:gd name="T30" fmla="*/ 10 w 246"/>
                <a:gd name="T31" fmla="*/ 2 h 424"/>
                <a:gd name="T32" fmla="*/ 5 w 246"/>
                <a:gd name="T33" fmla="*/ 0 h 424"/>
                <a:gd name="T34" fmla="*/ 0 w 246"/>
                <a:gd name="T35" fmla="*/ 0 h 424"/>
                <a:gd name="T36" fmla="*/ 0 w 246"/>
                <a:gd name="T37" fmla="*/ 2 h 424"/>
                <a:gd name="T38" fmla="*/ 5 w 246"/>
                <a:gd name="T39" fmla="*/ 3 h 424"/>
                <a:gd name="T40" fmla="*/ 9 w 246"/>
                <a:gd name="T41" fmla="*/ 4 h 424"/>
                <a:gd name="T42" fmla="*/ 13 w 246"/>
                <a:gd name="T43" fmla="*/ 6 h 424"/>
                <a:gd name="T44" fmla="*/ 18 w 246"/>
                <a:gd name="T45" fmla="*/ 9 h 424"/>
                <a:gd name="T46" fmla="*/ 22 w 246"/>
                <a:gd name="T47" fmla="*/ 12 h 424"/>
                <a:gd name="T48" fmla="*/ 25 w 246"/>
                <a:gd name="T49" fmla="*/ 16 h 424"/>
                <a:gd name="T50" fmla="*/ 29 w 246"/>
                <a:gd name="T51" fmla="*/ 21 h 424"/>
                <a:gd name="T52" fmla="*/ 33 w 246"/>
                <a:gd name="T53" fmla="*/ 26 h 424"/>
                <a:gd name="T54" fmla="*/ 36 w 246"/>
                <a:gd name="T55" fmla="*/ 32 h 424"/>
                <a:gd name="T56" fmla="*/ 38 w 246"/>
                <a:gd name="T57" fmla="*/ 39 h 424"/>
                <a:gd name="T58" fmla="*/ 41 w 246"/>
                <a:gd name="T59" fmla="*/ 46 h 424"/>
                <a:gd name="T60" fmla="*/ 43 w 246"/>
                <a:gd name="T61" fmla="*/ 53 h 424"/>
                <a:gd name="T62" fmla="*/ 44 w 246"/>
                <a:gd name="T63" fmla="*/ 60 h 424"/>
                <a:gd name="T64" fmla="*/ 46 w 246"/>
                <a:gd name="T65" fmla="*/ 68 h 424"/>
                <a:gd name="T66" fmla="*/ 46 w 246"/>
                <a:gd name="T67" fmla="*/ 77 h 424"/>
                <a:gd name="T68" fmla="*/ 47 w 246"/>
                <a:gd name="T69" fmla="*/ 85 h 424"/>
                <a:gd name="T70" fmla="*/ 47 w 246"/>
                <a:gd name="T71" fmla="*/ 85 h 424"/>
                <a:gd name="T72" fmla="*/ 49 w 246"/>
                <a:gd name="T73" fmla="*/ 85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4">
                  <a:moveTo>
                    <a:pt x="246" y="424"/>
                  </a:moveTo>
                  <a:lnTo>
                    <a:pt x="246" y="424"/>
                  </a:lnTo>
                  <a:lnTo>
                    <a:pt x="244" y="382"/>
                  </a:lnTo>
                  <a:lnTo>
                    <a:pt x="241" y="338"/>
                  </a:lnTo>
                  <a:lnTo>
                    <a:pt x="235" y="298"/>
                  </a:lnTo>
                  <a:lnTo>
                    <a:pt x="227" y="261"/>
                  </a:lnTo>
                  <a:lnTo>
                    <a:pt x="216" y="222"/>
                  </a:lnTo>
                  <a:lnTo>
                    <a:pt x="205" y="188"/>
                  </a:lnTo>
                  <a:lnTo>
                    <a:pt x="190" y="155"/>
                  </a:lnTo>
                  <a:lnTo>
                    <a:pt x="174" y="125"/>
                  </a:lnTo>
                  <a:lnTo>
                    <a:pt x="157" y="98"/>
                  </a:lnTo>
                  <a:lnTo>
                    <a:pt x="138" y="73"/>
                  </a:lnTo>
                  <a:lnTo>
                    <a:pt x="118" y="51"/>
                  </a:lnTo>
                  <a:lnTo>
                    <a:pt x="96" y="34"/>
                  </a:lnTo>
                  <a:lnTo>
                    <a:pt x="74" y="18"/>
                  </a:lnTo>
                  <a:lnTo>
                    <a:pt x="50" y="8"/>
                  </a:lnTo>
                  <a:lnTo>
                    <a:pt x="25" y="2"/>
                  </a:lnTo>
                  <a:lnTo>
                    <a:pt x="0" y="0"/>
                  </a:lnTo>
                  <a:lnTo>
                    <a:pt x="0" y="11"/>
                  </a:lnTo>
                  <a:lnTo>
                    <a:pt x="23" y="14"/>
                  </a:lnTo>
                  <a:lnTo>
                    <a:pt x="45" y="19"/>
                  </a:lnTo>
                  <a:lnTo>
                    <a:pt x="67" y="30"/>
                  </a:lnTo>
                  <a:lnTo>
                    <a:pt x="89" y="43"/>
                  </a:lnTo>
                  <a:lnTo>
                    <a:pt x="108" y="60"/>
                  </a:lnTo>
                  <a:lnTo>
                    <a:pt x="128" y="80"/>
                  </a:lnTo>
                  <a:lnTo>
                    <a:pt x="147" y="105"/>
                  </a:lnTo>
                  <a:lnTo>
                    <a:pt x="165" y="132"/>
                  </a:lnTo>
                  <a:lnTo>
                    <a:pt x="179" y="160"/>
                  </a:lnTo>
                  <a:lnTo>
                    <a:pt x="193" y="193"/>
                  </a:lnTo>
                  <a:lnTo>
                    <a:pt x="205" y="227"/>
                  </a:lnTo>
                  <a:lnTo>
                    <a:pt x="215" y="263"/>
                  </a:lnTo>
                  <a:lnTo>
                    <a:pt x="223" y="301"/>
                  </a:lnTo>
                  <a:lnTo>
                    <a:pt x="229" y="341"/>
                  </a:lnTo>
                  <a:lnTo>
                    <a:pt x="233" y="382"/>
                  </a:lnTo>
                  <a:lnTo>
                    <a:pt x="234" y="424"/>
                  </a:lnTo>
                  <a:lnTo>
                    <a:pt x="246"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4" name="Freeform 40"/>
            <p:cNvSpPr>
              <a:spLocks/>
            </p:cNvSpPr>
            <p:nvPr/>
          </p:nvSpPr>
          <p:spPr bwMode="auto">
            <a:xfrm>
              <a:off x="1140" y="2172"/>
              <a:ext cx="49" cy="85"/>
            </a:xfrm>
            <a:custGeom>
              <a:avLst/>
              <a:gdLst>
                <a:gd name="T0" fmla="*/ 0 w 246"/>
                <a:gd name="T1" fmla="*/ 85 h 426"/>
                <a:gd name="T2" fmla="*/ 0 w 246"/>
                <a:gd name="T3" fmla="*/ 85 h 426"/>
                <a:gd name="T4" fmla="*/ 5 w 246"/>
                <a:gd name="T5" fmla="*/ 84 h 426"/>
                <a:gd name="T6" fmla="*/ 10 w 246"/>
                <a:gd name="T7" fmla="*/ 83 h 426"/>
                <a:gd name="T8" fmla="*/ 15 w 246"/>
                <a:gd name="T9" fmla="*/ 81 h 426"/>
                <a:gd name="T10" fmla="*/ 19 w 246"/>
                <a:gd name="T11" fmla="*/ 78 h 426"/>
                <a:gd name="T12" fmla="*/ 24 w 246"/>
                <a:gd name="T13" fmla="*/ 74 h 426"/>
                <a:gd name="T14" fmla="*/ 27 w 246"/>
                <a:gd name="T15" fmla="*/ 70 h 426"/>
                <a:gd name="T16" fmla="*/ 31 w 246"/>
                <a:gd name="T17" fmla="*/ 65 h 426"/>
                <a:gd name="T18" fmla="*/ 35 w 246"/>
                <a:gd name="T19" fmla="*/ 60 h 426"/>
                <a:gd name="T20" fmla="*/ 38 w 246"/>
                <a:gd name="T21" fmla="*/ 53 h 426"/>
                <a:gd name="T22" fmla="*/ 41 w 246"/>
                <a:gd name="T23" fmla="*/ 47 h 426"/>
                <a:gd name="T24" fmla="*/ 43 w 246"/>
                <a:gd name="T25" fmla="*/ 40 h 426"/>
                <a:gd name="T26" fmla="*/ 45 w 246"/>
                <a:gd name="T27" fmla="*/ 33 h 426"/>
                <a:gd name="T28" fmla="*/ 47 w 246"/>
                <a:gd name="T29" fmla="*/ 25 h 426"/>
                <a:gd name="T30" fmla="*/ 48 w 246"/>
                <a:gd name="T31" fmla="*/ 17 h 426"/>
                <a:gd name="T32" fmla="*/ 49 w 246"/>
                <a:gd name="T33" fmla="*/ 8 h 426"/>
                <a:gd name="T34" fmla="*/ 49 w 246"/>
                <a:gd name="T35" fmla="*/ 0 h 426"/>
                <a:gd name="T36" fmla="*/ 47 w 246"/>
                <a:gd name="T37" fmla="*/ 0 h 426"/>
                <a:gd name="T38" fmla="*/ 46 w 246"/>
                <a:gd name="T39" fmla="*/ 8 h 426"/>
                <a:gd name="T40" fmla="*/ 46 w 246"/>
                <a:gd name="T41" fmla="*/ 17 h 426"/>
                <a:gd name="T42" fmla="*/ 44 w 246"/>
                <a:gd name="T43" fmla="*/ 25 h 426"/>
                <a:gd name="T44" fmla="*/ 43 w 246"/>
                <a:gd name="T45" fmla="*/ 32 h 426"/>
                <a:gd name="T46" fmla="*/ 41 w 246"/>
                <a:gd name="T47" fmla="*/ 39 h 426"/>
                <a:gd name="T48" fmla="*/ 38 w 246"/>
                <a:gd name="T49" fmla="*/ 46 h 426"/>
                <a:gd name="T50" fmla="*/ 36 w 246"/>
                <a:gd name="T51" fmla="*/ 53 h 426"/>
                <a:gd name="T52" fmla="*/ 33 w 246"/>
                <a:gd name="T53" fmla="*/ 58 h 426"/>
                <a:gd name="T54" fmla="*/ 29 w 246"/>
                <a:gd name="T55" fmla="*/ 64 h 426"/>
                <a:gd name="T56" fmla="*/ 25 w 246"/>
                <a:gd name="T57" fmla="*/ 68 h 426"/>
                <a:gd name="T58" fmla="*/ 22 w 246"/>
                <a:gd name="T59" fmla="*/ 72 h 426"/>
                <a:gd name="T60" fmla="*/ 18 w 246"/>
                <a:gd name="T61" fmla="*/ 76 h 426"/>
                <a:gd name="T62" fmla="*/ 13 w 246"/>
                <a:gd name="T63" fmla="*/ 79 h 426"/>
                <a:gd name="T64" fmla="*/ 9 w 246"/>
                <a:gd name="T65" fmla="*/ 81 h 426"/>
                <a:gd name="T66" fmla="*/ 5 w 246"/>
                <a:gd name="T67" fmla="*/ 82 h 426"/>
                <a:gd name="T68" fmla="*/ 0 w 246"/>
                <a:gd name="T69" fmla="*/ 83 h 426"/>
                <a:gd name="T70" fmla="*/ 0 w 246"/>
                <a:gd name="T71" fmla="*/ 83 h 426"/>
                <a:gd name="T72" fmla="*/ 0 w 246"/>
                <a:gd name="T73" fmla="*/ 85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6">
                  <a:moveTo>
                    <a:pt x="0" y="426"/>
                  </a:moveTo>
                  <a:lnTo>
                    <a:pt x="0" y="426"/>
                  </a:lnTo>
                  <a:lnTo>
                    <a:pt x="25" y="423"/>
                  </a:lnTo>
                  <a:lnTo>
                    <a:pt x="50" y="417"/>
                  </a:lnTo>
                  <a:lnTo>
                    <a:pt x="74" y="407"/>
                  </a:lnTo>
                  <a:lnTo>
                    <a:pt x="96" y="392"/>
                  </a:lnTo>
                  <a:lnTo>
                    <a:pt x="118" y="373"/>
                  </a:lnTo>
                  <a:lnTo>
                    <a:pt x="138" y="350"/>
                  </a:lnTo>
                  <a:lnTo>
                    <a:pt x="157" y="327"/>
                  </a:lnTo>
                  <a:lnTo>
                    <a:pt x="175" y="299"/>
                  </a:lnTo>
                  <a:lnTo>
                    <a:pt x="190" y="268"/>
                  </a:lnTo>
                  <a:lnTo>
                    <a:pt x="205" y="236"/>
                  </a:lnTo>
                  <a:lnTo>
                    <a:pt x="216" y="202"/>
                  </a:lnTo>
                  <a:lnTo>
                    <a:pt x="227" y="164"/>
                  </a:lnTo>
                  <a:lnTo>
                    <a:pt x="235" y="125"/>
                  </a:lnTo>
                  <a:lnTo>
                    <a:pt x="241" y="86"/>
                  </a:lnTo>
                  <a:lnTo>
                    <a:pt x="244" y="42"/>
                  </a:lnTo>
                  <a:lnTo>
                    <a:pt x="246" y="0"/>
                  </a:lnTo>
                  <a:lnTo>
                    <a:pt x="234" y="0"/>
                  </a:lnTo>
                  <a:lnTo>
                    <a:pt x="233" y="42"/>
                  </a:lnTo>
                  <a:lnTo>
                    <a:pt x="229" y="83"/>
                  </a:lnTo>
                  <a:lnTo>
                    <a:pt x="223" y="123"/>
                  </a:lnTo>
                  <a:lnTo>
                    <a:pt x="215" y="162"/>
                  </a:lnTo>
                  <a:lnTo>
                    <a:pt x="205" y="197"/>
                  </a:lnTo>
                  <a:lnTo>
                    <a:pt x="193" y="231"/>
                  </a:lnTo>
                  <a:lnTo>
                    <a:pt x="179" y="264"/>
                  </a:lnTo>
                  <a:lnTo>
                    <a:pt x="164" y="292"/>
                  </a:lnTo>
                  <a:lnTo>
                    <a:pt x="147" y="320"/>
                  </a:lnTo>
                  <a:lnTo>
                    <a:pt x="128" y="343"/>
                  </a:lnTo>
                  <a:lnTo>
                    <a:pt x="108" y="363"/>
                  </a:lnTo>
                  <a:lnTo>
                    <a:pt x="89" y="382"/>
                  </a:lnTo>
                  <a:lnTo>
                    <a:pt x="67" y="395"/>
                  </a:lnTo>
                  <a:lnTo>
                    <a:pt x="45" y="406"/>
                  </a:lnTo>
                  <a:lnTo>
                    <a:pt x="23" y="411"/>
                  </a:lnTo>
                  <a:lnTo>
                    <a:pt x="0" y="414"/>
                  </a:lnTo>
                  <a:lnTo>
                    <a:pt x="0" y="4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5" name="Freeform 41"/>
            <p:cNvSpPr>
              <a:spLocks/>
            </p:cNvSpPr>
            <p:nvPr/>
          </p:nvSpPr>
          <p:spPr bwMode="auto">
            <a:xfrm>
              <a:off x="1091" y="2172"/>
              <a:ext cx="49" cy="85"/>
            </a:xfrm>
            <a:custGeom>
              <a:avLst/>
              <a:gdLst>
                <a:gd name="T0" fmla="*/ 0 w 245"/>
                <a:gd name="T1" fmla="*/ 0 h 426"/>
                <a:gd name="T2" fmla="*/ 0 w 245"/>
                <a:gd name="T3" fmla="*/ 0 h 426"/>
                <a:gd name="T4" fmla="*/ 0 w 245"/>
                <a:gd name="T5" fmla="*/ 8 h 426"/>
                <a:gd name="T6" fmla="*/ 1 w 245"/>
                <a:gd name="T7" fmla="*/ 17 h 426"/>
                <a:gd name="T8" fmla="*/ 2 w 245"/>
                <a:gd name="T9" fmla="*/ 25 h 426"/>
                <a:gd name="T10" fmla="*/ 4 w 245"/>
                <a:gd name="T11" fmla="*/ 33 h 426"/>
                <a:gd name="T12" fmla="*/ 6 w 245"/>
                <a:gd name="T13" fmla="*/ 40 h 426"/>
                <a:gd name="T14" fmla="*/ 8 w 245"/>
                <a:gd name="T15" fmla="*/ 47 h 426"/>
                <a:gd name="T16" fmla="*/ 11 w 245"/>
                <a:gd name="T17" fmla="*/ 53 h 426"/>
                <a:gd name="T18" fmla="*/ 14 w 245"/>
                <a:gd name="T19" fmla="*/ 60 h 426"/>
                <a:gd name="T20" fmla="*/ 18 w 245"/>
                <a:gd name="T21" fmla="*/ 65 h 426"/>
                <a:gd name="T22" fmla="*/ 21 w 245"/>
                <a:gd name="T23" fmla="*/ 70 h 426"/>
                <a:gd name="T24" fmla="*/ 25 w 245"/>
                <a:gd name="T25" fmla="*/ 74 h 426"/>
                <a:gd name="T26" fmla="*/ 30 w 245"/>
                <a:gd name="T27" fmla="*/ 78 h 426"/>
                <a:gd name="T28" fmla="*/ 34 w 245"/>
                <a:gd name="T29" fmla="*/ 81 h 426"/>
                <a:gd name="T30" fmla="*/ 39 w 245"/>
                <a:gd name="T31" fmla="*/ 83 h 426"/>
                <a:gd name="T32" fmla="*/ 44 w 245"/>
                <a:gd name="T33" fmla="*/ 84 h 426"/>
                <a:gd name="T34" fmla="*/ 49 w 245"/>
                <a:gd name="T35" fmla="*/ 85 h 426"/>
                <a:gd name="T36" fmla="*/ 49 w 245"/>
                <a:gd name="T37" fmla="*/ 83 h 426"/>
                <a:gd name="T38" fmla="*/ 44 w 245"/>
                <a:gd name="T39" fmla="*/ 82 h 426"/>
                <a:gd name="T40" fmla="*/ 40 w 245"/>
                <a:gd name="T41" fmla="*/ 81 h 426"/>
                <a:gd name="T42" fmla="*/ 36 w 245"/>
                <a:gd name="T43" fmla="*/ 79 h 426"/>
                <a:gd name="T44" fmla="*/ 31 w 245"/>
                <a:gd name="T45" fmla="*/ 76 h 426"/>
                <a:gd name="T46" fmla="*/ 27 w 245"/>
                <a:gd name="T47" fmla="*/ 72 h 426"/>
                <a:gd name="T48" fmla="*/ 23 w 245"/>
                <a:gd name="T49" fmla="*/ 68 h 426"/>
                <a:gd name="T50" fmla="*/ 20 w 245"/>
                <a:gd name="T51" fmla="*/ 64 h 426"/>
                <a:gd name="T52" fmla="*/ 16 w 245"/>
                <a:gd name="T53" fmla="*/ 58 h 426"/>
                <a:gd name="T54" fmla="*/ 13 w 245"/>
                <a:gd name="T55" fmla="*/ 53 h 426"/>
                <a:gd name="T56" fmla="*/ 10 w 245"/>
                <a:gd name="T57" fmla="*/ 46 h 426"/>
                <a:gd name="T58" fmla="*/ 8 w 245"/>
                <a:gd name="T59" fmla="*/ 39 h 426"/>
                <a:gd name="T60" fmla="*/ 6 w 245"/>
                <a:gd name="T61" fmla="*/ 32 h 426"/>
                <a:gd name="T62" fmla="*/ 4 w 245"/>
                <a:gd name="T63" fmla="*/ 25 h 426"/>
                <a:gd name="T64" fmla="*/ 3 w 245"/>
                <a:gd name="T65" fmla="*/ 17 h 426"/>
                <a:gd name="T66" fmla="*/ 3 w 245"/>
                <a:gd name="T67" fmla="*/ 8 h 426"/>
                <a:gd name="T68" fmla="*/ 2 w 245"/>
                <a:gd name="T69" fmla="*/ 0 h 426"/>
                <a:gd name="T70" fmla="*/ 2 w 245"/>
                <a:gd name="T71" fmla="*/ 0 h 426"/>
                <a:gd name="T72" fmla="*/ 0 w 245"/>
                <a:gd name="T73" fmla="*/ 0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6">
                  <a:moveTo>
                    <a:pt x="0" y="0"/>
                  </a:moveTo>
                  <a:lnTo>
                    <a:pt x="0" y="0"/>
                  </a:lnTo>
                  <a:lnTo>
                    <a:pt x="1" y="42"/>
                  </a:lnTo>
                  <a:lnTo>
                    <a:pt x="4" y="86"/>
                  </a:lnTo>
                  <a:lnTo>
                    <a:pt x="10" y="125"/>
                  </a:lnTo>
                  <a:lnTo>
                    <a:pt x="18" y="164"/>
                  </a:lnTo>
                  <a:lnTo>
                    <a:pt x="29" y="202"/>
                  </a:lnTo>
                  <a:lnTo>
                    <a:pt x="41" y="236"/>
                  </a:lnTo>
                  <a:lnTo>
                    <a:pt x="55" y="268"/>
                  </a:lnTo>
                  <a:lnTo>
                    <a:pt x="70" y="299"/>
                  </a:lnTo>
                  <a:lnTo>
                    <a:pt x="89" y="327"/>
                  </a:lnTo>
                  <a:lnTo>
                    <a:pt x="106" y="350"/>
                  </a:lnTo>
                  <a:lnTo>
                    <a:pt x="126" y="373"/>
                  </a:lnTo>
                  <a:lnTo>
                    <a:pt x="148" y="392"/>
                  </a:lnTo>
                  <a:lnTo>
                    <a:pt x="171" y="407"/>
                  </a:lnTo>
                  <a:lnTo>
                    <a:pt x="194" y="417"/>
                  </a:lnTo>
                  <a:lnTo>
                    <a:pt x="219" y="423"/>
                  </a:lnTo>
                  <a:lnTo>
                    <a:pt x="245" y="426"/>
                  </a:lnTo>
                  <a:lnTo>
                    <a:pt x="245" y="414"/>
                  </a:lnTo>
                  <a:lnTo>
                    <a:pt x="221" y="411"/>
                  </a:lnTo>
                  <a:lnTo>
                    <a:pt x="199" y="406"/>
                  </a:lnTo>
                  <a:lnTo>
                    <a:pt x="178" y="395"/>
                  </a:lnTo>
                  <a:lnTo>
                    <a:pt x="155" y="382"/>
                  </a:lnTo>
                  <a:lnTo>
                    <a:pt x="136" y="363"/>
                  </a:lnTo>
                  <a:lnTo>
                    <a:pt x="116" y="343"/>
                  </a:lnTo>
                  <a:lnTo>
                    <a:pt x="98" y="320"/>
                  </a:lnTo>
                  <a:lnTo>
                    <a:pt x="82" y="292"/>
                  </a:lnTo>
                  <a:lnTo>
                    <a:pt x="66" y="264"/>
                  </a:lnTo>
                  <a:lnTo>
                    <a:pt x="52" y="231"/>
                  </a:lnTo>
                  <a:lnTo>
                    <a:pt x="41" y="197"/>
                  </a:lnTo>
                  <a:lnTo>
                    <a:pt x="30" y="162"/>
                  </a:lnTo>
                  <a:lnTo>
                    <a:pt x="22" y="123"/>
                  </a:lnTo>
                  <a:lnTo>
                    <a:pt x="16" y="83"/>
                  </a:lnTo>
                  <a:lnTo>
                    <a:pt x="13" y="42"/>
                  </a:lnTo>
                  <a:lnTo>
                    <a:pt x="1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6" name="Freeform 42"/>
            <p:cNvSpPr>
              <a:spLocks/>
            </p:cNvSpPr>
            <p:nvPr/>
          </p:nvSpPr>
          <p:spPr bwMode="auto">
            <a:xfrm>
              <a:off x="1091" y="2087"/>
              <a:ext cx="49" cy="85"/>
            </a:xfrm>
            <a:custGeom>
              <a:avLst/>
              <a:gdLst>
                <a:gd name="T0" fmla="*/ 49 w 245"/>
                <a:gd name="T1" fmla="*/ 0 h 424"/>
                <a:gd name="T2" fmla="*/ 49 w 245"/>
                <a:gd name="T3" fmla="*/ 0 h 424"/>
                <a:gd name="T4" fmla="*/ 44 w 245"/>
                <a:gd name="T5" fmla="*/ 0 h 424"/>
                <a:gd name="T6" fmla="*/ 39 w 245"/>
                <a:gd name="T7" fmla="*/ 2 h 424"/>
                <a:gd name="T8" fmla="*/ 34 w 245"/>
                <a:gd name="T9" fmla="*/ 4 h 424"/>
                <a:gd name="T10" fmla="*/ 30 w 245"/>
                <a:gd name="T11" fmla="*/ 7 h 424"/>
                <a:gd name="T12" fmla="*/ 25 w 245"/>
                <a:gd name="T13" fmla="*/ 10 h 424"/>
                <a:gd name="T14" fmla="*/ 21 w 245"/>
                <a:gd name="T15" fmla="*/ 15 h 424"/>
                <a:gd name="T16" fmla="*/ 18 w 245"/>
                <a:gd name="T17" fmla="*/ 20 h 424"/>
                <a:gd name="T18" fmla="*/ 14 w 245"/>
                <a:gd name="T19" fmla="*/ 25 h 424"/>
                <a:gd name="T20" fmla="*/ 11 w 245"/>
                <a:gd name="T21" fmla="*/ 31 h 424"/>
                <a:gd name="T22" fmla="*/ 8 w 245"/>
                <a:gd name="T23" fmla="*/ 38 h 424"/>
                <a:gd name="T24" fmla="*/ 6 w 245"/>
                <a:gd name="T25" fmla="*/ 45 h 424"/>
                <a:gd name="T26" fmla="*/ 4 w 245"/>
                <a:gd name="T27" fmla="*/ 52 h 424"/>
                <a:gd name="T28" fmla="*/ 2 w 245"/>
                <a:gd name="T29" fmla="*/ 60 h 424"/>
                <a:gd name="T30" fmla="*/ 1 w 245"/>
                <a:gd name="T31" fmla="*/ 68 h 424"/>
                <a:gd name="T32" fmla="*/ 0 w 245"/>
                <a:gd name="T33" fmla="*/ 77 h 424"/>
                <a:gd name="T34" fmla="*/ 0 w 245"/>
                <a:gd name="T35" fmla="*/ 85 h 424"/>
                <a:gd name="T36" fmla="*/ 2 w 245"/>
                <a:gd name="T37" fmla="*/ 85 h 424"/>
                <a:gd name="T38" fmla="*/ 3 w 245"/>
                <a:gd name="T39" fmla="*/ 77 h 424"/>
                <a:gd name="T40" fmla="*/ 3 w 245"/>
                <a:gd name="T41" fmla="*/ 68 h 424"/>
                <a:gd name="T42" fmla="*/ 4 w 245"/>
                <a:gd name="T43" fmla="*/ 60 h 424"/>
                <a:gd name="T44" fmla="*/ 6 w 245"/>
                <a:gd name="T45" fmla="*/ 53 h 424"/>
                <a:gd name="T46" fmla="*/ 8 w 245"/>
                <a:gd name="T47" fmla="*/ 46 h 424"/>
                <a:gd name="T48" fmla="*/ 10 w 245"/>
                <a:gd name="T49" fmla="*/ 39 h 424"/>
                <a:gd name="T50" fmla="*/ 13 w 245"/>
                <a:gd name="T51" fmla="*/ 32 h 424"/>
                <a:gd name="T52" fmla="*/ 16 w 245"/>
                <a:gd name="T53" fmla="*/ 26 h 424"/>
                <a:gd name="T54" fmla="*/ 20 w 245"/>
                <a:gd name="T55" fmla="*/ 21 h 424"/>
                <a:gd name="T56" fmla="*/ 23 w 245"/>
                <a:gd name="T57" fmla="*/ 16 h 424"/>
                <a:gd name="T58" fmla="*/ 27 w 245"/>
                <a:gd name="T59" fmla="*/ 12 h 424"/>
                <a:gd name="T60" fmla="*/ 31 w 245"/>
                <a:gd name="T61" fmla="*/ 9 h 424"/>
                <a:gd name="T62" fmla="*/ 36 w 245"/>
                <a:gd name="T63" fmla="*/ 6 h 424"/>
                <a:gd name="T64" fmla="*/ 40 w 245"/>
                <a:gd name="T65" fmla="*/ 4 h 424"/>
                <a:gd name="T66" fmla="*/ 44 w 245"/>
                <a:gd name="T67" fmla="*/ 3 h 424"/>
                <a:gd name="T68" fmla="*/ 49 w 245"/>
                <a:gd name="T69" fmla="*/ 2 h 424"/>
                <a:gd name="T70" fmla="*/ 49 w 245"/>
                <a:gd name="T71" fmla="*/ 2 h 424"/>
                <a:gd name="T72" fmla="*/ 49 w 245"/>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4">
                  <a:moveTo>
                    <a:pt x="245" y="0"/>
                  </a:moveTo>
                  <a:lnTo>
                    <a:pt x="245" y="0"/>
                  </a:lnTo>
                  <a:lnTo>
                    <a:pt x="219" y="2"/>
                  </a:lnTo>
                  <a:lnTo>
                    <a:pt x="194" y="8"/>
                  </a:lnTo>
                  <a:lnTo>
                    <a:pt x="171" y="18"/>
                  </a:lnTo>
                  <a:lnTo>
                    <a:pt x="148" y="34"/>
                  </a:lnTo>
                  <a:lnTo>
                    <a:pt x="126" y="51"/>
                  </a:lnTo>
                  <a:lnTo>
                    <a:pt x="106" y="73"/>
                  </a:lnTo>
                  <a:lnTo>
                    <a:pt x="89" y="98"/>
                  </a:lnTo>
                  <a:lnTo>
                    <a:pt x="71" y="125"/>
                  </a:lnTo>
                  <a:lnTo>
                    <a:pt x="55" y="155"/>
                  </a:lnTo>
                  <a:lnTo>
                    <a:pt x="41" y="188"/>
                  </a:lnTo>
                  <a:lnTo>
                    <a:pt x="29" y="222"/>
                  </a:lnTo>
                  <a:lnTo>
                    <a:pt x="18" y="261"/>
                  </a:lnTo>
                  <a:lnTo>
                    <a:pt x="10" y="298"/>
                  </a:lnTo>
                  <a:lnTo>
                    <a:pt x="4" y="338"/>
                  </a:lnTo>
                  <a:lnTo>
                    <a:pt x="1" y="382"/>
                  </a:lnTo>
                  <a:lnTo>
                    <a:pt x="0" y="424"/>
                  </a:lnTo>
                  <a:lnTo>
                    <a:pt x="11" y="424"/>
                  </a:lnTo>
                  <a:lnTo>
                    <a:pt x="13" y="382"/>
                  </a:lnTo>
                  <a:lnTo>
                    <a:pt x="16" y="341"/>
                  </a:lnTo>
                  <a:lnTo>
                    <a:pt x="22" y="301"/>
                  </a:lnTo>
                  <a:lnTo>
                    <a:pt x="30" y="263"/>
                  </a:lnTo>
                  <a:lnTo>
                    <a:pt x="41" y="227"/>
                  </a:lnTo>
                  <a:lnTo>
                    <a:pt x="52" y="193"/>
                  </a:lnTo>
                  <a:lnTo>
                    <a:pt x="66" y="160"/>
                  </a:lnTo>
                  <a:lnTo>
                    <a:pt x="80" y="132"/>
                  </a:lnTo>
                  <a:lnTo>
                    <a:pt x="98" y="105"/>
                  </a:lnTo>
                  <a:lnTo>
                    <a:pt x="116" y="80"/>
                  </a:lnTo>
                  <a:lnTo>
                    <a:pt x="136" y="60"/>
                  </a:lnTo>
                  <a:lnTo>
                    <a:pt x="155" y="43"/>
                  </a:lnTo>
                  <a:lnTo>
                    <a:pt x="178" y="30"/>
                  </a:lnTo>
                  <a:lnTo>
                    <a:pt x="199" y="19"/>
                  </a:lnTo>
                  <a:lnTo>
                    <a:pt x="221" y="14"/>
                  </a:lnTo>
                  <a:lnTo>
                    <a:pt x="245" y="11"/>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7" name="Freeform 43"/>
            <p:cNvSpPr>
              <a:spLocks/>
            </p:cNvSpPr>
            <p:nvPr/>
          </p:nvSpPr>
          <p:spPr bwMode="auto">
            <a:xfrm>
              <a:off x="1392" y="2118"/>
              <a:ext cx="49" cy="85"/>
            </a:xfrm>
            <a:custGeom>
              <a:avLst/>
              <a:gdLst>
                <a:gd name="T0" fmla="*/ 49 w 246"/>
                <a:gd name="T1" fmla="*/ 85 h 426"/>
                <a:gd name="T2" fmla="*/ 49 w 246"/>
                <a:gd name="T3" fmla="*/ 85 h 426"/>
                <a:gd name="T4" fmla="*/ 49 w 246"/>
                <a:gd name="T5" fmla="*/ 77 h 426"/>
                <a:gd name="T6" fmla="*/ 48 w 246"/>
                <a:gd name="T7" fmla="*/ 68 h 426"/>
                <a:gd name="T8" fmla="*/ 47 w 246"/>
                <a:gd name="T9" fmla="*/ 60 h 426"/>
                <a:gd name="T10" fmla="*/ 45 w 246"/>
                <a:gd name="T11" fmla="*/ 52 h 426"/>
                <a:gd name="T12" fmla="*/ 43 w 246"/>
                <a:gd name="T13" fmla="*/ 45 h 426"/>
                <a:gd name="T14" fmla="*/ 41 w 246"/>
                <a:gd name="T15" fmla="*/ 38 h 426"/>
                <a:gd name="T16" fmla="*/ 38 w 246"/>
                <a:gd name="T17" fmla="*/ 32 h 426"/>
                <a:gd name="T18" fmla="*/ 35 w 246"/>
                <a:gd name="T19" fmla="*/ 25 h 426"/>
                <a:gd name="T20" fmla="*/ 31 w 246"/>
                <a:gd name="T21" fmla="*/ 20 h 426"/>
                <a:gd name="T22" fmla="*/ 28 w 246"/>
                <a:gd name="T23" fmla="*/ 15 h 426"/>
                <a:gd name="T24" fmla="*/ 24 w 246"/>
                <a:gd name="T25" fmla="*/ 11 h 426"/>
                <a:gd name="T26" fmla="*/ 19 w 246"/>
                <a:gd name="T27" fmla="*/ 7 h 426"/>
                <a:gd name="T28" fmla="*/ 15 w 246"/>
                <a:gd name="T29" fmla="*/ 4 h 426"/>
                <a:gd name="T30" fmla="*/ 10 w 246"/>
                <a:gd name="T31" fmla="*/ 2 h 426"/>
                <a:gd name="T32" fmla="*/ 5 w 246"/>
                <a:gd name="T33" fmla="*/ 1 h 426"/>
                <a:gd name="T34" fmla="*/ 0 w 246"/>
                <a:gd name="T35" fmla="*/ 0 h 426"/>
                <a:gd name="T36" fmla="*/ 0 w 246"/>
                <a:gd name="T37" fmla="*/ 2 h 426"/>
                <a:gd name="T38" fmla="*/ 5 w 246"/>
                <a:gd name="T39" fmla="*/ 3 h 426"/>
                <a:gd name="T40" fmla="*/ 9 w 246"/>
                <a:gd name="T41" fmla="*/ 4 h 426"/>
                <a:gd name="T42" fmla="*/ 14 w 246"/>
                <a:gd name="T43" fmla="*/ 6 h 426"/>
                <a:gd name="T44" fmla="*/ 18 w 246"/>
                <a:gd name="T45" fmla="*/ 9 h 426"/>
                <a:gd name="T46" fmla="*/ 22 w 246"/>
                <a:gd name="T47" fmla="*/ 13 h 426"/>
                <a:gd name="T48" fmla="*/ 26 w 246"/>
                <a:gd name="T49" fmla="*/ 17 h 426"/>
                <a:gd name="T50" fmla="*/ 29 w 246"/>
                <a:gd name="T51" fmla="*/ 21 h 426"/>
                <a:gd name="T52" fmla="*/ 33 w 246"/>
                <a:gd name="T53" fmla="*/ 27 h 426"/>
                <a:gd name="T54" fmla="*/ 36 w 246"/>
                <a:gd name="T55" fmla="*/ 32 h 426"/>
                <a:gd name="T56" fmla="*/ 39 w 246"/>
                <a:gd name="T57" fmla="*/ 39 h 426"/>
                <a:gd name="T58" fmla="*/ 41 w 246"/>
                <a:gd name="T59" fmla="*/ 46 h 426"/>
                <a:gd name="T60" fmla="*/ 43 w 246"/>
                <a:gd name="T61" fmla="*/ 53 h 426"/>
                <a:gd name="T62" fmla="*/ 45 w 246"/>
                <a:gd name="T63" fmla="*/ 60 h 426"/>
                <a:gd name="T64" fmla="*/ 46 w 246"/>
                <a:gd name="T65" fmla="*/ 68 h 426"/>
                <a:gd name="T66" fmla="*/ 46 w 246"/>
                <a:gd name="T67" fmla="*/ 77 h 426"/>
                <a:gd name="T68" fmla="*/ 47 w 246"/>
                <a:gd name="T69" fmla="*/ 85 h 426"/>
                <a:gd name="T70" fmla="*/ 47 w 246"/>
                <a:gd name="T71" fmla="*/ 85 h 426"/>
                <a:gd name="T72" fmla="*/ 49 w 246"/>
                <a:gd name="T73" fmla="*/ 85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6">
                  <a:moveTo>
                    <a:pt x="246" y="426"/>
                  </a:moveTo>
                  <a:lnTo>
                    <a:pt x="246" y="426"/>
                  </a:lnTo>
                  <a:lnTo>
                    <a:pt x="245" y="384"/>
                  </a:lnTo>
                  <a:lnTo>
                    <a:pt x="242" y="340"/>
                  </a:lnTo>
                  <a:lnTo>
                    <a:pt x="236" y="301"/>
                  </a:lnTo>
                  <a:lnTo>
                    <a:pt x="228" y="262"/>
                  </a:lnTo>
                  <a:lnTo>
                    <a:pt x="217" y="224"/>
                  </a:lnTo>
                  <a:lnTo>
                    <a:pt x="205" y="190"/>
                  </a:lnTo>
                  <a:lnTo>
                    <a:pt x="191" y="158"/>
                  </a:lnTo>
                  <a:lnTo>
                    <a:pt x="176" y="126"/>
                  </a:lnTo>
                  <a:lnTo>
                    <a:pt x="157" y="99"/>
                  </a:lnTo>
                  <a:lnTo>
                    <a:pt x="139" y="75"/>
                  </a:lnTo>
                  <a:lnTo>
                    <a:pt x="119" y="53"/>
                  </a:lnTo>
                  <a:lnTo>
                    <a:pt x="96" y="34"/>
                  </a:lnTo>
                  <a:lnTo>
                    <a:pt x="75" y="19"/>
                  </a:lnTo>
                  <a:lnTo>
                    <a:pt x="51" y="9"/>
                  </a:lnTo>
                  <a:lnTo>
                    <a:pt x="26" y="3"/>
                  </a:lnTo>
                  <a:lnTo>
                    <a:pt x="0" y="0"/>
                  </a:lnTo>
                  <a:lnTo>
                    <a:pt x="0" y="12"/>
                  </a:lnTo>
                  <a:lnTo>
                    <a:pt x="24" y="15"/>
                  </a:lnTo>
                  <a:lnTo>
                    <a:pt x="46" y="20"/>
                  </a:lnTo>
                  <a:lnTo>
                    <a:pt x="68" y="31"/>
                  </a:lnTo>
                  <a:lnTo>
                    <a:pt x="89" y="44"/>
                  </a:lnTo>
                  <a:lnTo>
                    <a:pt x="109" y="63"/>
                  </a:lnTo>
                  <a:lnTo>
                    <a:pt x="129" y="83"/>
                  </a:lnTo>
                  <a:lnTo>
                    <a:pt x="148" y="106"/>
                  </a:lnTo>
                  <a:lnTo>
                    <a:pt x="164" y="133"/>
                  </a:lnTo>
                  <a:lnTo>
                    <a:pt x="180" y="162"/>
                  </a:lnTo>
                  <a:lnTo>
                    <a:pt x="194" y="195"/>
                  </a:lnTo>
                  <a:lnTo>
                    <a:pt x="205" y="229"/>
                  </a:lnTo>
                  <a:lnTo>
                    <a:pt x="216" y="264"/>
                  </a:lnTo>
                  <a:lnTo>
                    <a:pt x="224" y="303"/>
                  </a:lnTo>
                  <a:lnTo>
                    <a:pt x="230" y="343"/>
                  </a:lnTo>
                  <a:lnTo>
                    <a:pt x="233" y="384"/>
                  </a:lnTo>
                  <a:lnTo>
                    <a:pt x="235" y="426"/>
                  </a:lnTo>
                  <a:lnTo>
                    <a:pt x="246" y="4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8" name="Freeform 44"/>
            <p:cNvSpPr>
              <a:spLocks/>
            </p:cNvSpPr>
            <p:nvPr/>
          </p:nvSpPr>
          <p:spPr bwMode="auto">
            <a:xfrm>
              <a:off x="1392" y="2203"/>
              <a:ext cx="49" cy="85"/>
            </a:xfrm>
            <a:custGeom>
              <a:avLst/>
              <a:gdLst>
                <a:gd name="T0" fmla="*/ 0 w 246"/>
                <a:gd name="T1" fmla="*/ 85 h 424"/>
                <a:gd name="T2" fmla="*/ 0 w 246"/>
                <a:gd name="T3" fmla="*/ 85 h 424"/>
                <a:gd name="T4" fmla="*/ 5 w 246"/>
                <a:gd name="T5" fmla="*/ 85 h 424"/>
                <a:gd name="T6" fmla="*/ 10 w 246"/>
                <a:gd name="T7" fmla="*/ 83 h 424"/>
                <a:gd name="T8" fmla="*/ 15 w 246"/>
                <a:gd name="T9" fmla="*/ 81 h 424"/>
                <a:gd name="T10" fmla="*/ 19 w 246"/>
                <a:gd name="T11" fmla="*/ 78 h 424"/>
                <a:gd name="T12" fmla="*/ 24 w 246"/>
                <a:gd name="T13" fmla="*/ 75 h 424"/>
                <a:gd name="T14" fmla="*/ 28 w 246"/>
                <a:gd name="T15" fmla="*/ 70 h 424"/>
                <a:gd name="T16" fmla="*/ 31 w 246"/>
                <a:gd name="T17" fmla="*/ 65 h 424"/>
                <a:gd name="T18" fmla="*/ 35 w 246"/>
                <a:gd name="T19" fmla="*/ 60 h 424"/>
                <a:gd name="T20" fmla="*/ 38 w 246"/>
                <a:gd name="T21" fmla="*/ 54 h 424"/>
                <a:gd name="T22" fmla="*/ 41 w 246"/>
                <a:gd name="T23" fmla="*/ 47 h 424"/>
                <a:gd name="T24" fmla="*/ 43 w 246"/>
                <a:gd name="T25" fmla="*/ 40 h 424"/>
                <a:gd name="T26" fmla="*/ 45 w 246"/>
                <a:gd name="T27" fmla="*/ 33 h 424"/>
                <a:gd name="T28" fmla="*/ 47 w 246"/>
                <a:gd name="T29" fmla="*/ 25 h 424"/>
                <a:gd name="T30" fmla="*/ 48 w 246"/>
                <a:gd name="T31" fmla="*/ 17 h 424"/>
                <a:gd name="T32" fmla="*/ 49 w 246"/>
                <a:gd name="T33" fmla="*/ 8 h 424"/>
                <a:gd name="T34" fmla="*/ 49 w 246"/>
                <a:gd name="T35" fmla="*/ 0 h 424"/>
                <a:gd name="T36" fmla="*/ 47 w 246"/>
                <a:gd name="T37" fmla="*/ 0 h 424"/>
                <a:gd name="T38" fmla="*/ 46 w 246"/>
                <a:gd name="T39" fmla="*/ 8 h 424"/>
                <a:gd name="T40" fmla="*/ 46 w 246"/>
                <a:gd name="T41" fmla="*/ 17 h 424"/>
                <a:gd name="T42" fmla="*/ 45 w 246"/>
                <a:gd name="T43" fmla="*/ 25 h 424"/>
                <a:gd name="T44" fmla="*/ 43 w 246"/>
                <a:gd name="T45" fmla="*/ 32 h 424"/>
                <a:gd name="T46" fmla="*/ 41 w 246"/>
                <a:gd name="T47" fmla="*/ 39 h 424"/>
                <a:gd name="T48" fmla="*/ 39 w 246"/>
                <a:gd name="T49" fmla="*/ 46 h 424"/>
                <a:gd name="T50" fmla="*/ 36 w 246"/>
                <a:gd name="T51" fmla="*/ 53 h 424"/>
                <a:gd name="T52" fmla="*/ 33 w 246"/>
                <a:gd name="T53" fmla="*/ 59 h 424"/>
                <a:gd name="T54" fmla="*/ 29 w 246"/>
                <a:gd name="T55" fmla="*/ 64 h 424"/>
                <a:gd name="T56" fmla="*/ 26 w 246"/>
                <a:gd name="T57" fmla="*/ 69 h 424"/>
                <a:gd name="T58" fmla="*/ 22 w 246"/>
                <a:gd name="T59" fmla="*/ 73 h 424"/>
                <a:gd name="T60" fmla="*/ 18 w 246"/>
                <a:gd name="T61" fmla="*/ 76 h 424"/>
                <a:gd name="T62" fmla="*/ 14 w 246"/>
                <a:gd name="T63" fmla="*/ 79 h 424"/>
                <a:gd name="T64" fmla="*/ 9 w 246"/>
                <a:gd name="T65" fmla="*/ 81 h 424"/>
                <a:gd name="T66" fmla="*/ 5 w 246"/>
                <a:gd name="T67" fmla="*/ 82 h 424"/>
                <a:gd name="T68" fmla="*/ 0 w 246"/>
                <a:gd name="T69" fmla="*/ 83 h 424"/>
                <a:gd name="T70" fmla="*/ 0 w 246"/>
                <a:gd name="T71" fmla="*/ 83 h 424"/>
                <a:gd name="T72" fmla="*/ 0 w 246"/>
                <a:gd name="T73" fmla="*/ 85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4">
                  <a:moveTo>
                    <a:pt x="0" y="424"/>
                  </a:moveTo>
                  <a:lnTo>
                    <a:pt x="0" y="424"/>
                  </a:lnTo>
                  <a:lnTo>
                    <a:pt x="26" y="422"/>
                  </a:lnTo>
                  <a:lnTo>
                    <a:pt x="51" y="416"/>
                  </a:lnTo>
                  <a:lnTo>
                    <a:pt x="75" y="406"/>
                  </a:lnTo>
                  <a:lnTo>
                    <a:pt x="96" y="390"/>
                  </a:lnTo>
                  <a:lnTo>
                    <a:pt x="119" y="373"/>
                  </a:lnTo>
                  <a:lnTo>
                    <a:pt x="139" y="351"/>
                  </a:lnTo>
                  <a:lnTo>
                    <a:pt x="157" y="326"/>
                  </a:lnTo>
                  <a:lnTo>
                    <a:pt x="175" y="299"/>
                  </a:lnTo>
                  <a:lnTo>
                    <a:pt x="191" y="269"/>
                  </a:lnTo>
                  <a:lnTo>
                    <a:pt x="205" y="236"/>
                  </a:lnTo>
                  <a:lnTo>
                    <a:pt x="217" y="202"/>
                  </a:lnTo>
                  <a:lnTo>
                    <a:pt x="228" y="163"/>
                  </a:lnTo>
                  <a:lnTo>
                    <a:pt x="236" y="125"/>
                  </a:lnTo>
                  <a:lnTo>
                    <a:pt x="242" y="86"/>
                  </a:lnTo>
                  <a:lnTo>
                    <a:pt x="245" y="42"/>
                  </a:lnTo>
                  <a:lnTo>
                    <a:pt x="246" y="0"/>
                  </a:lnTo>
                  <a:lnTo>
                    <a:pt x="235" y="0"/>
                  </a:lnTo>
                  <a:lnTo>
                    <a:pt x="233" y="42"/>
                  </a:lnTo>
                  <a:lnTo>
                    <a:pt x="230" y="83"/>
                  </a:lnTo>
                  <a:lnTo>
                    <a:pt x="224" y="123"/>
                  </a:lnTo>
                  <a:lnTo>
                    <a:pt x="216" y="161"/>
                  </a:lnTo>
                  <a:lnTo>
                    <a:pt x="205" y="197"/>
                  </a:lnTo>
                  <a:lnTo>
                    <a:pt x="194" y="231"/>
                  </a:lnTo>
                  <a:lnTo>
                    <a:pt x="180" y="264"/>
                  </a:lnTo>
                  <a:lnTo>
                    <a:pt x="166" y="292"/>
                  </a:lnTo>
                  <a:lnTo>
                    <a:pt x="148" y="319"/>
                  </a:lnTo>
                  <a:lnTo>
                    <a:pt x="129" y="344"/>
                  </a:lnTo>
                  <a:lnTo>
                    <a:pt x="109" y="364"/>
                  </a:lnTo>
                  <a:lnTo>
                    <a:pt x="89" y="381"/>
                  </a:lnTo>
                  <a:lnTo>
                    <a:pt x="68" y="394"/>
                  </a:lnTo>
                  <a:lnTo>
                    <a:pt x="46" y="405"/>
                  </a:lnTo>
                  <a:lnTo>
                    <a:pt x="24" y="410"/>
                  </a:lnTo>
                  <a:lnTo>
                    <a:pt x="0" y="413"/>
                  </a:lnTo>
                  <a:lnTo>
                    <a:pt x="0"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9" name="Freeform 45"/>
            <p:cNvSpPr>
              <a:spLocks/>
            </p:cNvSpPr>
            <p:nvPr/>
          </p:nvSpPr>
          <p:spPr bwMode="auto">
            <a:xfrm>
              <a:off x="1343" y="2203"/>
              <a:ext cx="49" cy="85"/>
            </a:xfrm>
            <a:custGeom>
              <a:avLst/>
              <a:gdLst>
                <a:gd name="T0" fmla="*/ 0 w 245"/>
                <a:gd name="T1" fmla="*/ 0 h 424"/>
                <a:gd name="T2" fmla="*/ 0 w 245"/>
                <a:gd name="T3" fmla="*/ 0 h 424"/>
                <a:gd name="T4" fmla="*/ 0 w 245"/>
                <a:gd name="T5" fmla="*/ 8 h 424"/>
                <a:gd name="T6" fmla="*/ 1 w 245"/>
                <a:gd name="T7" fmla="*/ 17 h 424"/>
                <a:gd name="T8" fmla="*/ 2 w 245"/>
                <a:gd name="T9" fmla="*/ 25 h 424"/>
                <a:gd name="T10" fmla="*/ 4 w 245"/>
                <a:gd name="T11" fmla="*/ 33 h 424"/>
                <a:gd name="T12" fmla="*/ 6 w 245"/>
                <a:gd name="T13" fmla="*/ 40 h 424"/>
                <a:gd name="T14" fmla="*/ 8 w 245"/>
                <a:gd name="T15" fmla="*/ 47 h 424"/>
                <a:gd name="T16" fmla="*/ 11 w 245"/>
                <a:gd name="T17" fmla="*/ 54 h 424"/>
                <a:gd name="T18" fmla="*/ 14 w 245"/>
                <a:gd name="T19" fmla="*/ 60 h 424"/>
                <a:gd name="T20" fmla="*/ 18 w 245"/>
                <a:gd name="T21" fmla="*/ 65 h 424"/>
                <a:gd name="T22" fmla="*/ 22 w 245"/>
                <a:gd name="T23" fmla="*/ 70 h 424"/>
                <a:gd name="T24" fmla="*/ 25 w 245"/>
                <a:gd name="T25" fmla="*/ 75 h 424"/>
                <a:gd name="T26" fmla="*/ 30 w 245"/>
                <a:gd name="T27" fmla="*/ 78 h 424"/>
                <a:gd name="T28" fmla="*/ 34 w 245"/>
                <a:gd name="T29" fmla="*/ 81 h 424"/>
                <a:gd name="T30" fmla="*/ 39 w 245"/>
                <a:gd name="T31" fmla="*/ 83 h 424"/>
                <a:gd name="T32" fmla="*/ 44 w 245"/>
                <a:gd name="T33" fmla="*/ 85 h 424"/>
                <a:gd name="T34" fmla="*/ 49 w 245"/>
                <a:gd name="T35" fmla="*/ 85 h 424"/>
                <a:gd name="T36" fmla="*/ 49 w 245"/>
                <a:gd name="T37" fmla="*/ 83 h 424"/>
                <a:gd name="T38" fmla="*/ 44 w 245"/>
                <a:gd name="T39" fmla="*/ 82 h 424"/>
                <a:gd name="T40" fmla="*/ 40 w 245"/>
                <a:gd name="T41" fmla="*/ 81 h 424"/>
                <a:gd name="T42" fmla="*/ 36 w 245"/>
                <a:gd name="T43" fmla="*/ 79 h 424"/>
                <a:gd name="T44" fmla="*/ 31 w 245"/>
                <a:gd name="T45" fmla="*/ 76 h 424"/>
                <a:gd name="T46" fmla="*/ 27 w 245"/>
                <a:gd name="T47" fmla="*/ 73 h 424"/>
                <a:gd name="T48" fmla="*/ 24 w 245"/>
                <a:gd name="T49" fmla="*/ 69 h 424"/>
                <a:gd name="T50" fmla="*/ 20 w 245"/>
                <a:gd name="T51" fmla="*/ 64 h 424"/>
                <a:gd name="T52" fmla="*/ 16 w 245"/>
                <a:gd name="T53" fmla="*/ 59 h 424"/>
                <a:gd name="T54" fmla="*/ 13 w 245"/>
                <a:gd name="T55" fmla="*/ 53 h 424"/>
                <a:gd name="T56" fmla="*/ 11 w 245"/>
                <a:gd name="T57" fmla="*/ 46 h 424"/>
                <a:gd name="T58" fmla="*/ 8 w 245"/>
                <a:gd name="T59" fmla="*/ 39 h 424"/>
                <a:gd name="T60" fmla="*/ 6 w 245"/>
                <a:gd name="T61" fmla="*/ 32 h 424"/>
                <a:gd name="T62" fmla="*/ 5 w 245"/>
                <a:gd name="T63" fmla="*/ 25 h 424"/>
                <a:gd name="T64" fmla="*/ 3 w 245"/>
                <a:gd name="T65" fmla="*/ 17 h 424"/>
                <a:gd name="T66" fmla="*/ 3 w 245"/>
                <a:gd name="T67" fmla="*/ 8 h 424"/>
                <a:gd name="T68" fmla="*/ 2 w 245"/>
                <a:gd name="T69" fmla="*/ 0 h 424"/>
                <a:gd name="T70" fmla="*/ 2 w 245"/>
                <a:gd name="T71" fmla="*/ 0 h 424"/>
                <a:gd name="T72" fmla="*/ 0 w 245"/>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4">
                  <a:moveTo>
                    <a:pt x="0" y="0"/>
                  </a:moveTo>
                  <a:lnTo>
                    <a:pt x="0" y="0"/>
                  </a:lnTo>
                  <a:lnTo>
                    <a:pt x="2" y="42"/>
                  </a:lnTo>
                  <a:lnTo>
                    <a:pt x="5" y="86"/>
                  </a:lnTo>
                  <a:lnTo>
                    <a:pt x="11" y="125"/>
                  </a:lnTo>
                  <a:lnTo>
                    <a:pt x="19" y="163"/>
                  </a:lnTo>
                  <a:lnTo>
                    <a:pt x="30" y="202"/>
                  </a:lnTo>
                  <a:lnTo>
                    <a:pt x="41" y="236"/>
                  </a:lnTo>
                  <a:lnTo>
                    <a:pt x="56" y="269"/>
                  </a:lnTo>
                  <a:lnTo>
                    <a:pt x="72" y="299"/>
                  </a:lnTo>
                  <a:lnTo>
                    <a:pt x="90" y="326"/>
                  </a:lnTo>
                  <a:lnTo>
                    <a:pt x="108" y="351"/>
                  </a:lnTo>
                  <a:lnTo>
                    <a:pt x="127" y="373"/>
                  </a:lnTo>
                  <a:lnTo>
                    <a:pt x="149" y="390"/>
                  </a:lnTo>
                  <a:lnTo>
                    <a:pt x="172" y="406"/>
                  </a:lnTo>
                  <a:lnTo>
                    <a:pt x="195" y="416"/>
                  </a:lnTo>
                  <a:lnTo>
                    <a:pt x="220" y="422"/>
                  </a:lnTo>
                  <a:lnTo>
                    <a:pt x="245" y="424"/>
                  </a:lnTo>
                  <a:lnTo>
                    <a:pt x="245" y="413"/>
                  </a:lnTo>
                  <a:lnTo>
                    <a:pt x="222" y="410"/>
                  </a:lnTo>
                  <a:lnTo>
                    <a:pt x="200" y="405"/>
                  </a:lnTo>
                  <a:lnTo>
                    <a:pt x="179" y="394"/>
                  </a:lnTo>
                  <a:lnTo>
                    <a:pt x="156" y="381"/>
                  </a:lnTo>
                  <a:lnTo>
                    <a:pt x="136" y="364"/>
                  </a:lnTo>
                  <a:lnTo>
                    <a:pt x="118" y="344"/>
                  </a:lnTo>
                  <a:lnTo>
                    <a:pt x="99" y="319"/>
                  </a:lnTo>
                  <a:lnTo>
                    <a:pt x="81" y="292"/>
                  </a:lnTo>
                  <a:lnTo>
                    <a:pt x="67" y="264"/>
                  </a:lnTo>
                  <a:lnTo>
                    <a:pt x="53" y="231"/>
                  </a:lnTo>
                  <a:lnTo>
                    <a:pt x="41" y="197"/>
                  </a:lnTo>
                  <a:lnTo>
                    <a:pt x="31" y="161"/>
                  </a:lnTo>
                  <a:lnTo>
                    <a:pt x="23" y="123"/>
                  </a:lnTo>
                  <a:lnTo>
                    <a:pt x="17" y="83"/>
                  </a:lnTo>
                  <a:lnTo>
                    <a:pt x="13" y="42"/>
                  </a:lnTo>
                  <a:lnTo>
                    <a:pt x="1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0" name="Freeform 46"/>
            <p:cNvSpPr>
              <a:spLocks/>
            </p:cNvSpPr>
            <p:nvPr/>
          </p:nvSpPr>
          <p:spPr bwMode="auto">
            <a:xfrm>
              <a:off x="1343" y="2118"/>
              <a:ext cx="49" cy="85"/>
            </a:xfrm>
            <a:custGeom>
              <a:avLst/>
              <a:gdLst>
                <a:gd name="T0" fmla="*/ 49 w 245"/>
                <a:gd name="T1" fmla="*/ 0 h 426"/>
                <a:gd name="T2" fmla="*/ 49 w 245"/>
                <a:gd name="T3" fmla="*/ 0 h 426"/>
                <a:gd name="T4" fmla="*/ 44 w 245"/>
                <a:gd name="T5" fmla="*/ 1 h 426"/>
                <a:gd name="T6" fmla="*/ 39 w 245"/>
                <a:gd name="T7" fmla="*/ 2 h 426"/>
                <a:gd name="T8" fmla="*/ 34 w 245"/>
                <a:gd name="T9" fmla="*/ 4 h 426"/>
                <a:gd name="T10" fmla="*/ 30 w 245"/>
                <a:gd name="T11" fmla="*/ 7 h 426"/>
                <a:gd name="T12" fmla="*/ 25 w 245"/>
                <a:gd name="T13" fmla="*/ 11 h 426"/>
                <a:gd name="T14" fmla="*/ 22 w 245"/>
                <a:gd name="T15" fmla="*/ 15 h 426"/>
                <a:gd name="T16" fmla="*/ 18 w 245"/>
                <a:gd name="T17" fmla="*/ 20 h 426"/>
                <a:gd name="T18" fmla="*/ 14 w 245"/>
                <a:gd name="T19" fmla="*/ 25 h 426"/>
                <a:gd name="T20" fmla="*/ 11 w 245"/>
                <a:gd name="T21" fmla="*/ 32 h 426"/>
                <a:gd name="T22" fmla="*/ 8 w 245"/>
                <a:gd name="T23" fmla="*/ 38 h 426"/>
                <a:gd name="T24" fmla="*/ 6 w 245"/>
                <a:gd name="T25" fmla="*/ 45 h 426"/>
                <a:gd name="T26" fmla="*/ 4 w 245"/>
                <a:gd name="T27" fmla="*/ 52 h 426"/>
                <a:gd name="T28" fmla="*/ 2 w 245"/>
                <a:gd name="T29" fmla="*/ 60 h 426"/>
                <a:gd name="T30" fmla="*/ 1 w 245"/>
                <a:gd name="T31" fmla="*/ 68 h 426"/>
                <a:gd name="T32" fmla="*/ 0 w 245"/>
                <a:gd name="T33" fmla="*/ 77 h 426"/>
                <a:gd name="T34" fmla="*/ 0 w 245"/>
                <a:gd name="T35" fmla="*/ 85 h 426"/>
                <a:gd name="T36" fmla="*/ 2 w 245"/>
                <a:gd name="T37" fmla="*/ 85 h 426"/>
                <a:gd name="T38" fmla="*/ 3 w 245"/>
                <a:gd name="T39" fmla="*/ 77 h 426"/>
                <a:gd name="T40" fmla="*/ 3 w 245"/>
                <a:gd name="T41" fmla="*/ 68 h 426"/>
                <a:gd name="T42" fmla="*/ 5 w 245"/>
                <a:gd name="T43" fmla="*/ 60 h 426"/>
                <a:gd name="T44" fmla="*/ 6 w 245"/>
                <a:gd name="T45" fmla="*/ 53 h 426"/>
                <a:gd name="T46" fmla="*/ 8 w 245"/>
                <a:gd name="T47" fmla="*/ 46 h 426"/>
                <a:gd name="T48" fmla="*/ 11 w 245"/>
                <a:gd name="T49" fmla="*/ 39 h 426"/>
                <a:gd name="T50" fmla="*/ 13 w 245"/>
                <a:gd name="T51" fmla="*/ 32 h 426"/>
                <a:gd name="T52" fmla="*/ 16 w 245"/>
                <a:gd name="T53" fmla="*/ 27 h 426"/>
                <a:gd name="T54" fmla="*/ 20 w 245"/>
                <a:gd name="T55" fmla="*/ 21 h 426"/>
                <a:gd name="T56" fmla="*/ 24 w 245"/>
                <a:gd name="T57" fmla="*/ 17 h 426"/>
                <a:gd name="T58" fmla="*/ 27 w 245"/>
                <a:gd name="T59" fmla="*/ 13 h 426"/>
                <a:gd name="T60" fmla="*/ 31 w 245"/>
                <a:gd name="T61" fmla="*/ 9 h 426"/>
                <a:gd name="T62" fmla="*/ 36 w 245"/>
                <a:gd name="T63" fmla="*/ 6 h 426"/>
                <a:gd name="T64" fmla="*/ 40 w 245"/>
                <a:gd name="T65" fmla="*/ 4 h 426"/>
                <a:gd name="T66" fmla="*/ 44 w 245"/>
                <a:gd name="T67" fmla="*/ 3 h 426"/>
                <a:gd name="T68" fmla="*/ 49 w 245"/>
                <a:gd name="T69" fmla="*/ 2 h 426"/>
                <a:gd name="T70" fmla="*/ 49 w 245"/>
                <a:gd name="T71" fmla="*/ 2 h 426"/>
                <a:gd name="T72" fmla="*/ 49 w 245"/>
                <a:gd name="T73" fmla="*/ 0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6">
                  <a:moveTo>
                    <a:pt x="245" y="0"/>
                  </a:moveTo>
                  <a:lnTo>
                    <a:pt x="245" y="0"/>
                  </a:lnTo>
                  <a:lnTo>
                    <a:pt x="220" y="3"/>
                  </a:lnTo>
                  <a:lnTo>
                    <a:pt x="195" y="9"/>
                  </a:lnTo>
                  <a:lnTo>
                    <a:pt x="172" y="19"/>
                  </a:lnTo>
                  <a:lnTo>
                    <a:pt x="149" y="34"/>
                  </a:lnTo>
                  <a:lnTo>
                    <a:pt x="127" y="53"/>
                  </a:lnTo>
                  <a:lnTo>
                    <a:pt x="108" y="75"/>
                  </a:lnTo>
                  <a:lnTo>
                    <a:pt x="90" y="99"/>
                  </a:lnTo>
                  <a:lnTo>
                    <a:pt x="71" y="126"/>
                  </a:lnTo>
                  <a:lnTo>
                    <a:pt x="56" y="158"/>
                  </a:lnTo>
                  <a:lnTo>
                    <a:pt x="41" y="190"/>
                  </a:lnTo>
                  <a:lnTo>
                    <a:pt x="30" y="224"/>
                  </a:lnTo>
                  <a:lnTo>
                    <a:pt x="19" y="262"/>
                  </a:lnTo>
                  <a:lnTo>
                    <a:pt x="11" y="301"/>
                  </a:lnTo>
                  <a:lnTo>
                    <a:pt x="5" y="340"/>
                  </a:lnTo>
                  <a:lnTo>
                    <a:pt x="2" y="384"/>
                  </a:lnTo>
                  <a:lnTo>
                    <a:pt x="0" y="426"/>
                  </a:lnTo>
                  <a:lnTo>
                    <a:pt x="12" y="426"/>
                  </a:lnTo>
                  <a:lnTo>
                    <a:pt x="13" y="384"/>
                  </a:lnTo>
                  <a:lnTo>
                    <a:pt x="17" y="343"/>
                  </a:lnTo>
                  <a:lnTo>
                    <a:pt x="23" y="303"/>
                  </a:lnTo>
                  <a:lnTo>
                    <a:pt x="31" y="264"/>
                  </a:lnTo>
                  <a:lnTo>
                    <a:pt x="41" y="229"/>
                  </a:lnTo>
                  <a:lnTo>
                    <a:pt x="53" y="195"/>
                  </a:lnTo>
                  <a:lnTo>
                    <a:pt x="67" y="162"/>
                  </a:lnTo>
                  <a:lnTo>
                    <a:pt x="82" y="133"/>
                  </a:lnTo>
                  <a:lnTo>
                    <a:pt x="99" y="106"/>
                  </a:lnTo>
                  <a:lnTo>
                    <a:pt x="118" y="83"/>
                  </a:lnTo>
                  <a:lnTo>
                    <a:pt x="136" y="63"/>
                  </a:lnTo>
                  <a:lnTo>
                    <a:pt x="156" y="44"/>
                  </a:lnTo>
                  <a:lnTo>
                    <a:pt x="179" y="31"/>
                  </a:lnTo>
                  <a:lnTo>
                    <a:pt x="200" y="20"/>
                  </a:lnTo>
                  <a:lnTo>
                    <a:pt x="222" y="15"/>
                  </a:lnTo>
                  <a:lnTo>
                    <a:pt x="245" y="12"/>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1" name="Freeform 47"/>
            <p:cNvSpPr>
              <a:spLocks/>
            </p:cNvSpPr>
            <p:nvPr/>
          </p:nvSpPr>
          <p:spPr bwMode="auto">
            <a:xfrm>
              <a:off x="1384" y="1859"/>
              <a:ext cx="49" cy="84"/>
            </a:xfrm>
            <a:custGeom>
              <a:avLst/>
              <a:gdLst>
                <a:gd name="T0" fmla="*/ 49 w 245"/>
                <a:gd name="T1" fmla="*/ 84 h 424"/>
                <a:gd name="T2" fmla="*/ 49 w 245"/>
                <a:gd name="T3" fmla="*/ 84 h 424"/>
                <a:gd name="T4" fmla="*/ 49 w 245"/>
                <a:gd name="T5" fmla="*/ 76 h 424"/>
                <a:gd name="T6" fmla="*/ 48 w 245"/>
                <a:gd name="T7" fmla="*/ 67 h 424"/>
                <a:gd name="T8" fmla="*/ 47 w 245"/>
                <a:gd name="T9" fmla="*/ 59 h 424"/>
                <a:gd name="T10" fmla="*/ 45 w 245"/>
                <a:gd name="T11" fmla="*/ 52 h 424"/>
                <a:gd name="T12" fmla="*/ 43 w 245"/>
                <a:gd name="T13" fmla="*/ 44 h 424"/>
                <a:gd name="T14" fmla="*/ 41 w 245"/>
                <a:gd name="T15" fmla="*/ 37 h 424"/>
                <a:gd name="T16" fmla="*/ 38 w 245"/>
                <a:gd name="T17" fmla="*/ 31 h 424"/>
                <a:gd name="T18" fmla="*/ 35 w 245"/>
                <a:gd name="T19" fmla="*/ 25 h 424"/>
                <a:gd name="T20" fmla="*/ 31 w 245"/>
                <a:gd name="T21" fmla="*/ 19 h 424"/>
                <a:gd name="T22" fmla="*/ 28 w 245"/>
                <a:gd name="T23" fmla="*/ 15 h 424"/>
                <a:gd name="T24" fmla="*/ 24 w 245"/>
                <a:gd name="T25" fmla="*/ 10 h 424"/>
                <a:gd name="T26" fmla="*/ 19 w 245"/>
                <a:gd name="T27" fmla="*/ 7 h 424"/>
                <a:gd name="T28" fmla="*/ 15 w 245"/>
                <a:gd name="T29" fmla="*/ 4 h 424"/>
                <a:gd name="T30" fmla="*/ 10 w 245"/>
                <a:gd name="T31" fmla="*/ 2 h 424"/>
                <a:gd name="T32" fmla="*/ 5 w 245"/>
                <a:gd name="T33" fmla="*/ 0 h 424"/>
                <a:gd name="T34" fmla="*/ 0 w 245"/>
                <a:gd name="T35" fmla="*/ 0 h 424"/>
                <a:gd name="T36" fmla="*/ 0 w 245"/>
                <a:gd name="T37" fmla="*/ 2 h 424"/>
                <a:gd name="T38" fmla="*/ 5 w 245"/>
                <a:gd name="T39" fmla="*/ 3 h 424"/>
                <a:gd name="T40" fmla="*/ 9 w 245"/>
                <a:gd name="T41" fmla="*/ 4 h 424"/>
                <a:gd name="T42" fmla="*/ 13 w 245"/>
                <a:gd name="T43" fmla="*/ 6 h 424"/>
                <a:gd name="T44" fmla="*/ 18 w 245"/>
                <a:gd name="T45" fmla="*/ 9 h 424"/>
                <a:gd name="T46" fmla="*/ 22 w 245"/>
                <a:gd name="T47" fmla="*/ 12 h 424"/>
                <a:gd name="T48" fmla="*/ 26 w 245"/>
                <a:gd name="T49" fmla="*/ 16 h 424"/>
                <a:gd name="T50" fmla="*/ 29 w 245"/>
                <a:gd name="T51" fmla="*/ 21 h 424"/>
                <a:gd name="T52" fmla="*/ 33 w 245"/>
                <a:gd name="T53" fmla="*/ 26 h 424"/>
                <a:gd name="T54" fmla="*/ 36 w 245"/>
                <a:gd name="T55" fmla="*/ 32 h 424"/>
                <a:gd name="T56" fmla="*/ 38 w 245"/>
                <a:gd name="T57" fmla="*/ 38 h 424"/>
                <a:gd name="T58" fmla="*/ 41 w 245"/>
                <a:gd name="T59" fmla="*/ 45 h 424"/>
                <a:gd name="T60" fmla="*/ 43 w 245"/>
                <a:gd name="T61" fmla="*/ 52 h 424"/>
                <a:gd name="T62" fmla="*/ 44 w 245"/>
                <a:gd name="T63" fmla="*/ 60 h 424"/>
                <a:gd name="T64" fmla="*/ 46 w 245"/>
                <a:gd name="T65" fmla="*/ 68 h 424"/>
                <a:gd name="T66" fmla="*/ 46 w 245"/>
                <a:gd name="T67" fmla="*/ 76 h 424"/>
                <a:gd name="T68" fmla="*/ 47 w 245"/>
                <a:gd name="T69" fmla="*/ 84 h 424"/>
                <a:gd name="T70" fmla="*/ 47 w 245"/>
                <a:gd name="T71" fmla="*/ 84 h 424"/>
                <a:gd name="T72" fmla="*/ 49 w 245"/>
                <a:gd name="T73" fmla="*/ 84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4">
                  <a:moveTo>
                    <a:pt x="245" y="424"/>
                  </a:moveTo>
                  <a:lnTo>
                    <a:pt x="245" y="424"/>
                  </a:lnTo>
                  <a:lnTo>
                    <a:pt x="243" y="382"/>
                  </a:lnTo>
                  <a:lnTo>
                    <a:pt x="240" y="339"/>
                  </a:lnTo>
                  <a:lnTo>
                    <a:pt x="234" y="299"/>
                  </a:lnTo>
                  <a:lnTo>
                    <a:pt x="226" y="261"/>
                  </a:lnTo>
                  <a:lnTo>
                    <a:pt x="215" y="222"/>
                  </a:lnTo>
                  <a:lnTo>
                    <a:pt x="204" y="188"/>
                  </a:lnTo>
                  <a:lnTo>
                    <a:pt x="189" y="156"/>
                  </a:lnTo>
                  <a:lnTo>
                    <a:pt x="173" y="125"/>
                  </a:lnTo>
                  <a:lnTo>
                    <a:pt x="155" y="98"/>
                  </a:lnTo>
                  <a:lnTo>
                    <a:pt x="138" y="74"/>
                  </a:lnTo>
                  <a:lnTo>
                    <a:pt x="118" y="51"/>
                  </a:lnTo>
                  <a:lnTo>
                    <a:pt x="96" y="34"/>
                  </a:lnTo>
                  <a:lnTo>
                    <a:pt x="73" y="18"/>
                  </a:lnTo>
                  <a:lnTo>
                    <a:pt x="50" y="8"/>
                  </a:lnTo>
                  <a:lnTo>
                    <a:pt x="25" y="2"/>
                  </a:lnTo>
                  <a:lnTo>
                    <a:pt x="0" y="0"/>
                  </a:lnTo>
                  <a:lnTo>
                    <a:pt x="0" y="11"/>
                  </a:lnTo>
                  <a:lnTo>
                    <a:pt x="23" y="14"/>
                  </a:lnTo>
                  <a:lnTo>
                    <a:pt x="45" y="20"/>
                  </a:lnTo>
                  <a:lnTo>
                    <a:pt x="66" y="30"/>
                  </a:lnTo>
                  <a:lnTo>
                    <a:pt x="89" y="43"/>
                  </a:lnTo>
                  <a:lnTo>
                    <a:pt x="109" y="61"/>
                  </a:lnTo>
                  <a:lnTo>
                    <a:pt x="129" y="81"/>
                  </a:lnTo>
                  <a:lnTo>
                    <a:pt x="146" y="105"/>
                  </a:lnTo>
                  <a:lnTo>
                    <a:pt x="164" y="132"/>
                  </a:lnTo>
                  <a:lnTo>
                    <a:pt x="178" y="160"/>
                  </a:lnTo>
                  <a:lnTo>
                    <a:pt x="192" y="193"/>
                  </a:lnTo>
                  <a:lnTo>
                    <a:pt x="204" y="227"/>
                  </a:lnTo>
                  <a:lnTo>
                    <a:pt x="214" y="264"/>
                  </a:lnTo>
                  <a:lnTo>
                    <a:pt x="222" y="301"/>
                  </a:lnTo>
                  <a:lnTo>
                    <a:pt x="228" y="341"/>
                  </a:lnTo>
                  <a:lnTo>
                    <a:pt x="232" y="382"/>
                  </a:lnTo>
                  <a:lnTo>
                    <a:pt x="233" y="424"/>
                  </a:lnTo>
                  <a:lnTo>
                    <a:pt x="245"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2" name="Freeform 48"/>
            <p:cNvSpPr>
              <a:spLocks/>
            </p:cNvSpPr>
            <p:nvPr/>
          </p:nvSpPr>
          <p:spPr bwMode="auto">
            <a:xfrm>
              <a:off x="1384" y="1943"/>
              <a:ext cx="49" cy="86"/>
            </a:xfrm>
            <a:custGeom>
              <a:avLst/>
              <a:gdLst>
                <a:gd name="T0" fmla="*/ 0 w 245"/>
                <a:gd name="T1" fmla="*/ 86 h 426"/>
                <a:gd name="T2" fmla="*/ 0 w 245"/>
                <a:gd name="T3" fmla="*/ 86 h 426"/>
                <a:gd name="T4" fmla="*/ 5 w 245"/>
                <a:gd name="T5" fmla="*/ 85 h 426"/>
                <a:gd name="T6" fmla="*/ 10 w 245"/>
                <a:gd name="T7" fmla="*/ 84 h 426"/>
                <a:gd name="T8" fmla="*/ 15 w 245"/>
                <a:gd name="T9" fmla="*/ 82 h 426"/>
                <a:gd name="T10" fmla="*/ 19 w 245"/>
                <a:gd name="T11" fmla="*/ 79 h 426"/>
                <a:gd name="T12" fmla="*/ 24 w 245"/>
                <a:gd name="T13" fmla="*/ 76 h 426"/>
                <a:gd name="T14" fmla="*/ 28 w 245"/>
                <a:gd name="T15" fmla="*/ 71 h 426"/>
                <a:gd name="T16" fmla="*/ 31 w 245"/>
                <a:gd name="T17" fmla="*/ 66 h 426"/>
                <a:gd name="T18" fmla="*/ 35 w 245"/>
                <a:gd name="T19" fmla="*/ 61 h 426"/>
                <a:gd name="T20" fmla="*/ 38 w 245"/>
                <a:gd name="T21" fmla="*/ 54 h 426"/>
                <a:gd name="T22" fmla="*/ 41 w 245"/>
                <a:gd name="T23" fmla="*/ 48 h 426"/>
                <a:gd name="T24" fmla="*/ 43 w 245"/>
                <a:gd name="T25" fmla="*/ 41 h 426"/>
                <a:gd name="T26" fmla="*/ 45 w 245"/>
                <a:gd name="T27" fmla="*/ 33 h 426"/>
                <a:gd name="T28" fmla="*/ 47 w 245"/>
                <a:gd name="T29" fmla="*/ 25 h 426"/>
                <a:gd name="T30" fmla="*/ 48 w 245"/>
                <a:gd name="T31" fmla="*/ 17 h 426"/>
                <a:gd name="T32" fmla="*/ 49 w 245"/>
                <a:gd name="T33" fmla="*/ 8 h 426"/>
                <a:gd name="T34" fmla="*/ 49 w 245"/>
                <a:gd name="T35" fmla="*/ 0 h 426"/>
                <a:gd name="T36" fmla="*/ 47 w 245"/>
                <a:gd name="T37" fmla="*/ 0 h 426"/>
                <a:gd name="T38" fmla="*/ 46 w 245"/>
                <a:gd name="T39" fmla="*/ 8 h 426"/>
                <a:gd name="T40" fmla="*/ 46 w 245"/>
                <a:gd name="T41" fmla="*/ 17 h 426"/>
                <a:gd name="T42" fmla="*/ 44 w 245"/>
                <a:gd name="T43" fmla="*/ 25 h 426"/>
                <a:gd name="T44" fmla="*/ 43 w 245"/>
                <a:gd name="T45" fmla="*/ 33 h 426"/>
                <a:gd name="T46" fmla="*/ 41 w 245"/>
                <a:gd name="T47" fmla="*/ 40 h 426"/>
                <a:gd name="T48" fmla="*/ 38 w 245"/>
                <a:gd name="T49" fmla="*/ 47 h 426"/>
                <a:gd name="T50" fmla="*/ 36 w 245"/>
                <a:gd name="T51" fmla="*/ 53 h 426"/>
                <a:gd name="T52" fmla="*/ 33 w 245"/>
                <a:gd name="T53" fmla="*/ 59 h 426"/>
                <a:gd name="T54" fmla="*/ 29 w 245"/>
                <a:gd name="T55" fmla="*/ 65 h 426"/>
                <a:gd name="T56" fmla="*/ 26 w 245"/>
                <a:gd name="T57" fmla="*/ 70 h 426"/>
                <a:gd name="T58" fmla="*/ 22 w 245"/>
                <a:gd name="T59" fmla="*/ 74 h 426"/>
                <a:gd name="T60" fmla="*/ 18 w 245"/>
                <a:gd name="T61" fmla="*/ 77 h 426"/>
                <a:gd name="T62" fmla="*/ 13 w 245"/>
                <a:gd name="T63" fmla="*/ 80 h 426"/>
                <a:gd name="T64" fmla="*/ 9 w 245"/>
                <a:gd name="T65" fmla="*/ 82 h 426"/>
                <a:gd name="T66" fmla="*/ 5 w 245"/>
                <a:gd name="T67" fmla="*/ 83 h 426"/>
                <a:gd name="T68" fmla="*/ 0 w 245"/>
                <a:gd name="T69" fmla="*/ 84 h 426"/>
                <a:gd name="T70" fmla="*/ 0 w 245"/>
                <a:gd name="T71" fmla="*/ 84 h 426"/>
                <a:gd name="T72" fmla="*/ 0 w 245"/>
                <a:gd name="T73" fmla="*/ 86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6">
                  <a:moveTo>
                    <a:pt x="0" y="426"/>
                  </a:moveTo>
                  <a:lnTo>
                    <a:pt x="0" y="426"/>
                  </a:lnTo>
                  <a:lnTo>
                    <a:pt x="25" y="423"/>
                  </a:lnTo>
                  <a:lnTo>
                    <a:pt x="50" y="418"/>
                  </a:lnTo>
                  <a:lnTo>
                    <a:pt x="73" y="407"/>
                  </a:lnTo>
                  <a:lnTo>
                    <a:pt x="96" y="392"/>
                  </a:lnTo>
                  <a:lnTo>
                    <a:pt x="118" y="374"/>
                  </a:lnTo>
                  <a:lnTo>
                    <a:pt x="138" y="352"/>
                  </a:lnTo>
                  <a:lnTo>
                    <a:pt x="155" y="327"/>
                  </a:lnTo>
                  <a:lnTo>
                    <a:pt x="174" y="300"/>
                  </a:lnTo>
                  <a:lnTo>
                    <a:pt x="189" y="269"/>
                  </a:lnTo>
                  <a:lnTo>
                    <a:pt x="204" y="237"/>
                  </a:lnTo>
                  <a:lnTo>
                    <a:pt x="215" y="202"/>
                  </a:lnTo>
                  <a:lnTo>
                    <a:pt x="226" y="164"/>
                  </a:lnTo>
                  <a:lnTo>
                    <a:pt x="234" y="126"/>
                  </a:lnTo>
                  <a:lnTo>
                    <a:pt x="240" y="86"/>
                  </a:lnTo>
                  <a:lnTo>
                    <a:pt x="243" y="42"/>
                  </a:lnTo>
                  <a:lnTo>
                    <a:pt x="245" y="0"/>
                  </a:lnTo>
                  <a:lnTo>
                    <a:pt x="233" y="0"/>
                  </a:lnTo>
                  <a:lnTo>
                    <a:pt x="232" y="42"/>
                  </a:lnTo>
                  <a:lnTo>
                    <a:pt x="228" y="83"/>
                  </a:lnTo>
                  <a:lnTo>
                    <a:pt x="222" y="123"/>
                  </a:lnTo>
                  <a:lnTo>
                    <a:pt x="214" y="162"/>
                  </a:lnTo>
                  <a:lnTo>
                    <a:pt x="204" y="197"/>
                  </a:lnTo>
                  <a:lnTo>
                    <a:pt x="192" y="232"/>
                  </a:lnTo>
                  <a:lnTo>
                    <a:pt x="178" y="264"/>
                  </a:lnTo>
                  <a:lnTo>
                    <a:pt x="163" y="293"/>
                  </a:lnTo>
                  <a:lnTo>
                    <a:pt x="146" y="320"/>
                  </a:lnTo>
                  <a:lnTo>
                    <a:pt x="129" y="345"/>
                  </a:lnTo>
                  <a:lnTo>
                    <a:pt x="109" y="365"/>
                  </a:lnTo>
                  <a:lnTo>
                    <a:pt x="89" y="382"/>
                  </a:lnTo>
                  <a:lnTo>
                    <a:pt x="66" y="395"/>
                  </a:lnTo>
                  <a:lnTo>
                    <a:pt x="45" y="406"/>
                  </a:lnTo>
                  <a:lnTo>
                    <a:pt x="23" y="412"/>
                  </a:lnTo>
                  <a:lnTo>
                    <a:pt x="0" y="414"/>
                  </a:lnTo>
                  <a:lnTo>
                    <a:pt x="0" y="4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3" name="Freeform 49"/>
            <p:cNvSpPr>
              <a:spLocks/>
            </p:cNvSpPr>
            <p:nvPr/>
          </p:nvSpPr>
          <p:spPr bwMode="auto">
            <a:xfrm>
              <a:off x="1335" y="1943"/>
              <a:ext cx="49" cy="86"/>
            </a:xfrm>
            <a:custGeom>
              <a:avLst/>
              <a:gdLst>
                <a:gd name="T0" fmla="*/ 0 w 246"/>
                <a:gd name="T1" fmla="*/ 0 h 426"/>
                <a:gd name="T2" fmla="*/ 0 w 246"/>
                <a:gd name="T3" fmla="*/ 0 h 426"/>
                <a:gd name="T4" fmla="*/ 0 w 246"/>
                <a:gd name="T5" fmla="*/ 8 h 426"/>
                <a:gd name="T6" fmla="*/ 1 w 246"/>
                <a:gd name="T7" fmla="*/ 17 h 426"/>
                <a:gd name="T8" fmla="*/ 2 w 246"/>
                <a:gd name="T9" fmla="*/ 25 h 426"/>
                <a:gd name="T10" fmla="*/ 4 w 246"/>
                <a:gd name="T11" fmla="*/ 33 h 426"/>
                <a:gd name="T12" fmla="*/ 6 w 246"/>
                <a:gd name="T13" fmla="*/ 41 h 426"/>
                <a:gd name="T14" fmla="*/ 8 w 246"/>
                <a:gd name="T15" fmla="*/ 48 h 426"/>
                <a:gd name="T16" fmla="*/ 11 w 246"/>
                <a:gd name="T17" fmla="*/ 54 h 426"/>
                <a:gd name="T18" fmla="*/ 14 w 246"/>
                <a:gd name="T19" fmla="*/ 61 h 426"/>
                <a:gd name="T20" fmla="*/ 18 w 246"/>
                <a:gd name="T21" fmla="*/ 66 h 426"/>
                <a:gd name="T22" fmla="*/ 21 w 246"/>
                <a:gd name="T23" fmla="*/ 71 h 426"/>
                <a:gd name="T24" fmla="*/ 25 w 246"/>
                <a:gd name="T25" fmla="*/ 76 h 426"/>
                <a:gd name="T26" fmla="*/ 30 w 246"/>
                <a:gd name="T27" fmla="*/ 79 h 426"/>
                <a:gd name="T28" fmla="*/ 34 w 246"/>
                <a:gd name="T29" fmla="*/ 82 h 426"/>
                <a:gd name="T30" fmla="*/ 39 w 246"/>
                <a:gd name="T31" fmla="*/ 84 h 426"/>
                <a:gd name="T32" fmla="*/ 44 w 246"/>
                <a:gd name="T33" fmla="*/ 85 h 426"/>
                <a:gd name="T34" fmla="*/ 49 w 246"/>
                <a:gd name="T35" fmla="*/ 86 h 426"/>
                <a:gd name="T36" fmla="*/ 49 w 246"/>
                <a:gd name="T37" fmla="*/ 84 h 426"/>
                <a:gd name="T38" fmla="*/ 44 w 246"/>
                <a:gd name="T39" fmla="*/ 83 h 426"/>
                <a:gd name="T40" fmla="*/ 40 w 246"/>
                <a:gd name="T41" fmla="*/ 82 h 426"/>
                <a:gd name="T42" fmla="*/ 35 w 246"/>
                <a:gd name="T43" fmla="*/ 80 h 426"/>
                <a:gd name="T44" fmla="*/ 31 w 246"/>
                <a:gd name="T45" fmla="*/ 77 h 426"/>
                <a:gd name="T46" fmla="*/ 27 w 246"/>
                <a:gd name="T47" fmla="*/ 74 h 426"/>
                <a:gd name="T48" fmla="*/ 23 w 246"/>
                <a:gd name="T49" fmla="*/ 70 h 426"/>
                <a:gd name="T50" fmla="*/ 20 w 246"/>
                <a:gd name="T51" fmla="*/ 65 h 426"/>
                <a:gd name="T52" fmla="*/ 17 w 246"/>
                <a:gd name="T53" fmla="*/ 59 h 426"/>
                <a:gd name="T54" fmla="*/ 13 w 246"/>
                <a:gd name="T55" fmla="*/ 53 h 426"/>
                <a:gd name="T56" fmla="*/ 10 w 246"/>
                <a:gd name="T57" fmla="*/ 47 h 426"/>
                <a:gd name="T58" fmla="*/ 8 w 246"/>
                <a:gd name="T59" fmla="*/ 40 h 426"/>
                <a:gd name="T60" fmla="*/ 6 w 246"/>
                <a:gd name="T61" fmla="*/ 33 h 426"/>
                <a:gd name="T62" fmla="*/ 4 w 246"/>
                <a:gd name="T63" fmla="*/ 25 h 426"/>
                <a:gd name="T64" fmla="*/ 3 w 246"/>
                <a:gd name="T65" fmla="*/ 17 h 426"/>
                <a:gd name="T66" fmla="*/ 3 w 246"/>
                <a:gd name="T67" fmla="*/ 8 h 426"/>
                <a:gd name="T68" fmla="*/ 2 w 246"/>
                <a:gd name="T69" fmla="*/ 0 h 426"/>
                <a:gd name="T70" fmla="*/ 2 w 246"/>
                <a:gd name="T71" fmla="*/ 0 h 426"/>
                <a:gd name="T72" fmla="*/ 0 w 246"/>
                <a:gd name="T73" fmla="*/ 0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6">
                  <a:moveTo>
                    <a:pt x="0" y="0"/>
                  </a:moveTo>
                  <a:lnTo>
                    <a:pt x="0" y="0"/>
                  </a:lnTo>
                  <a:lnTo>
                    <a:pt x="1" y="42"/>
                  </a:lnTo>
                  <a:lnTo>
                    <a:pt x="4" y="86"/>
                  </a:lnTo>
                  <a:lnTo>
                    <a:pt x="10" y="126"/>
                  </a:lnTo>
                  <a:lnTo>
                    <a:pt x="18" y="164"/>
                  </a:lnTo>
                  <a:lnTo>
                    <a:pt x="29" y="202"/>
                  </a:lnTo>
                  <a:lnTo>
                    <a:pt x="41" y="237"/>
                  </a:lnTo>
                  <a:lnTo>
                    <a:pt x="55" y="269"/>
                  </a:lnTo>
                  <a:lnTo>
                    <a:pt x="71" y="300"/>
                  </a:lnTo>
                  <a:lnTo>
                    <a:pt x="89" y="327"/>
                  </a:lnTo>
                  <a:lnTo>
                    <a:pt x="107" y="352"/>
                  </a:lnTo>
                  <a:lnTo>
                    <a:pt x="127" y="374"/>
                  </a:lnTo>
                  <a:lnTo>
                    <a:pt x="150" y="392"/>
                  </a:lnTo>
                  <a:lnTo>
                    <a:pt x="171" y="407"/>
                  </a:lnTo>
                  <a:lnTo>
                    <a:pt x="195" y="418"/>
                  </a:lnTo>
                  <a:lnTo>
                    <a:pt x="220" y="423"/>
                  </a:lnTo>
                  <a:lnTo>
                    <a:pt x="246" y="426"/>
                  </a:lnTo>
                  <a:lnTo>
                    <a:pt x="246" y="414"/>
                  </a:lnTo>
                  <a:lnTo>
                    <a:pt x="222" y="412"/>
                  </a:lnTo>
                  <a:lnTo>
                    <a:pt x="200" y="406"/>
                  </a:lnTo>
                  <a:lnTo>
                    <a:pt x="178" y="395"/>
                  </a:lnTo>
                  <a:lnTo>
                    <a:pt x="157" y="382"/>
                  </a:lnTo>
                  <a:lnTo>
                    <a:pt x="137" y="365"/>
                  </a:lnTo>
                  <a:lnTo>
                    <a:pt x="117" y="345"/>
                  </a:lnTo>
                  <a:lnTo>
                    <a:pt x="98" y="320"/>
                  </a:lnTo>
                  <a:lnTo>
                    <a:pt x="83" y="293"/>
                  </a:lnTo>
                  <a:lnTo>
                    <a:pt x="66" y="264"/>
                  </a:lnTo>
                  <a:lnTo>
                    <a:pt x="52" y="232"/>
                  </a:lnTo>
                  <a:lnTo>
                    <a:pt x="41" y="197"/>
                  </a:lnTo>
                  <a:lnTo>
                    <a:pt x="30" y="162"/>
                  </a:lnTo>
                  <a:lnTo>
                    <a:pt x="22" y="123"/>
                  </a:lnTo>
                  <a:lnTo>
                    <a:pt x="16" y="83"/>
                  </a:lnTo>
                  <a:lnTo>
                    <a:pt x="13" y="42"/>
                  </a:lnTo>
                  <a:lnTo>
                    <a:pt x="1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4" name="Freeform 50"/>
            <p:cNvSpPr>
              <a:spLocks/>
            </p:cNvSpPr>
            <p:nvPr/>
          </p:nvSpPr>
          <p:spPr bwMode="auto">
            <a:xfrm>
              <a:off x="1335" y="1859"/>
              <a:ext cx="49" cy="84"/>
            </a:xfrm>
            <a:custGeom>
              <a:avLst/>
              <a:gdLst>
                <a:gd name="T0" fmla="*/ 49 w 246"/>
                <a:gd name="T1" fmla="*/ 0 h 424"/>
                <a:gd name="T2" fmla="*/ 49 w 246"/>
                <a:gd name="T3" fmla="*/ 0 h 424"/>
                <a:gd name="T4" fmla="*/ 44 w 246"/>
                <a:gd name="T5" fmla="*/ 0 h 424"/>
                <a:gd name="T6" fmla="*/ 39 w 246"/>
                <a:gd name="T7" fmla="*/ 2 h 424"/>
                <a:gd name="T8" fmla="*/ 34 w 246"/>
                <a:gd name="T9" fmla="*/ 4 h 424"/>
                <a:gd name="T10" fmla="*/ 30 w 246"/>
                <a:gd name="T11" fmla="*/ 7 h 424"/>
                <a:gd name="T12" fmla="*/ 25 w 246"/>
                <a:gd name="T13" fmla="*/ 10 h 424"/>
                <a:gd name="T14" fmla="*/ 21 w 246"/>
                <a:gd name="T15" fmla="*/ 15 h 424"/>
                <a:gd name="T16" fmla="*/ 18 w 246"/>
                <a:gd name="T17" fmla="*/ 19 h 424"/>
                <a:gd name="T18" fmla="*/ 14 w 246"/>
                <a:gd name="T19" fmla="*/ 25 h 424"/>
                <a:gd name="T20" fmla="*/ 11 w 246"/>
                <a:gd name="T21" fmla="*/ 31 h 424"/>
                <a:gd name="T22" fmla="*/ 8 w 246"/>
                <a:gd name="T23" fmla="*/ 37 h 424"/>
                <a:gd name="T24" fmla="*/ 6 w 246"/>
                <a:gd name="T25" fmla="*/ 44 h 424"/>
                <a:gd name="T26" fmla="*/ 4 w 246"/>
                <a:gd name="T27" fmla="*/ 52 h 424"/>
                <a:gd name="T28" fmla="*/ 2 w 246"/>
                <a:gd name="T29" fmla="*/ 59 h 424"/>
                <a:gd name="T30" fmla="*/ 1 w 246"/>
                <a:gd name="T31" fmla="*/ 67 h 424"/>
                <a:gd name="T32" fmla="*/ 0 w 246"/>
                <a:gd name="T33" fmla="*/ 76 h 424"/>
                <a:gd name="T34" fmla="*/ 0 w 246"/>
                <a:gd name="T35" fmla="*/ 84 h 424"/>
                <a:gd name="T36" fmla="*/ 2 w 246"/>
                <a:gd name="T37" fmla="*/ 84 h 424"/>
                <a:gd name="T38" fmla="*/ 3 w 246"/>
                <a:gd name="T39" fmla="*/ 76 h 424"/>
                <a:gd name="T40" fmla="*/ 3 w 246"/>
                <a:gd name="T41" fmla="*/ 68 h 424"/>
                <a:gd name="T42" fmla="*/ 4 w 246"/>
                <a:gd name="T43" fmla="*/ 60 h 424"/>
                <a:gd name="T44" fmla="*/ 6 w 246"/>
                <a:gd name="T45" fmla="*/ 52 h 424"/>
                <a:gd name="T46" fmla="*/ 8 w 246"/>
                <a:gd name="T47" fmla="*/ 45 h 424"/>
                <a:gd name="T48" fmla="*/ 10 w 246"/>
                <a:gd name="T49" fmla="*/ 38 h 424"/>
                <a:gd name="T50" fmla="*/ 13 w 246"/>
                <a:gd name="T51" fmla="*/ 32 h 424"/>
                <a:gd name="T52" fmla="*/ 16 w 246"/>
                <a:gd name="T53" fmla="*/ 26 h 424"/>
                <a:gd name="T54" fmla="*/ 20 w 246"/>
                <a:gd name="T55" fmla="*/ 21 h 424"/>
                <a:gd name="T56" fmla="*/ 23 w 246"/>
                <a:gd name="T57" fmla="*/ 16 h 424"/>
                <a:gd name="T58" fmla="*/ 27 w 246"/>
                <a:gd name="T59" fmla="*/ 12 h 424"/>
                <a:gd name="T60" fmla="*/ 31 w 246"/>
                <a:gd name="T61" fmla="*/ 9 h 424"/>
                <a:gd name="T62" fmla="*/ 35 w 246"/>
                <a:gd name="T63" fmla="*/ 6 h 424"/>
                <a:gd name="T64" fmla="*/ 40 w 246"/>
                <a:gd name="T65" fmla="*/ 4 h 424"/>
                <a:gd name="T66" fmla="*/ 44 w 246"/>
                <a:gd name="T67" fmla="*/ 3 h 424"/>
                <a:gd name="T68" fmla="*/ 49 w 246"/>
                <a:gd name="T69" fmla="*/ 2 h 424"/>
                <a:gd name="T70" fmla="*/ 49 w 246"/>
                <a:gd name="T71" fmla="*/ 2 h 424"/>
                <a:gd name="T72" fmla="*/ 49 w 246"/>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4">
                  <a:moveTo>
                    <a:pt x="246" y="0"/>
                  </a:moveTo>
                  <a:lnTo>
                    <a:pt x="246" y="0"/>
                  </a:lnTo>
                  <a:lnTo>
                    <a:pt x="220" y="2"/>
                  </a:lnTo>
                  <a:lnTo>
                    <a:pt x="195" y="8"/>
                  </a:lnTo>
                  <a:lnTo>
                    <a:pt x="171" y="18"/>
                  </a:lnTo>
                  <a:lnTo>
                    <a:pt x="150" y="34"/>
                  </a:lnTo>
                  <a:lnTo>
                    <a:pt x="127" y="51"/>
                  </a:lnTo>
                  <a:lnTo>
                    <a:pt x="107" y="74"/>
                  </a:lnTo>
                  <a:lnTo>
                    <a:pt x="89" y="98"/>
                  </a:lnTo>
                  <a:lnTo>
                    <a:pt x="72" y="125"/>
                  </a:lnTo>
                  <a:lnTo>
                    <a:pt x="55" y="156"/>
                  </a:lnTo>
                  <a:lnTo>
                    <a:pt x="41" y="188"/>
                  </a:lnTo>
                  <a:lnTo>
                    <a:pt x="29" y="222"/>
                  </a:lnTo>
                  <a:lnTo>
                    <a:pt x="18" y="261"/>
                  </a:lnTo>
                  <a:lnTo>
                    <a:pt x="10" y="299"/>
                  </a:lnTo>
                  <a:lnTo>
                    <a:pt x="4" y="339"/>
                  </a:lnTo>
                  <a:lnTo>
                    <a:pt x="1" y="382"/>
                  </a:lnTo>
                  <a:lnTo>
                    <a:pt x="0" y="424"/>
                  </a:lnTo>
                  <a:lnTo>
                    <a:pt x="11" y="424"/>
                  </a:lnTo>
                  <a:lnTo>
                    <a:pt x="13" y="382"/>
                  </a:lnTo>
                  <a:lnTo>
                    <a:pt x="16" y="341"/>
                  </a:lnTo>
                  <a:lnTo>
                    <a:pt x="22" y="301"/>
                  </a:lnTo>
                  <a:lnTo>
                    <a:pt x="30" y="264"/>
                  </a:lnTo>
                  <a:lnTo>
                    <a:pt x="41" y="227"/>
                  </a:lnTo>
                  <a:lnTo>
                    <a:pt x="52" y="193"/>
                  </a:lnTo>
                  <a:lnTo>
                    <a:pt x="66" y="160"/>
                  </a:lnTo>
                  <a:lnTo>
                    <a:pt x="82" y="132"/>
                  </a:lnTo>
                  <a:lnTo>
                    <a:pt x="98" y="105"/>
                  </a:lnTo>
                  <a:lnTo>
                    <a:pt x="117" y="81"/>
                  </a:lnTo>
                  <a:lnTo>
                    <a:pt x="137" y="61"/>
                  </a:lnTo>
                  <a:lnTo>
                    <a:pt x="157" y="43"/>
                  </a:lnTo>
                  <a:lnTo>
                    <a:pt x="178" y="30"/>
                  </a:lnTo>
                  <a:lnTo>
                    <a:pt x="200" y="20"/>
                  </a:lnTo>
                  <a:lnTo>
                    <a:pt x="222" y="14"/>
                  </a:lnTo>
                  <a:lnTo>
                    <a:pt x="246" y="11"/>
                  </a:lnTo>
                  <a:lnTo>
                    <a:pt x="24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5" name="Freeform 51"/>
            <p:cNvSpPr>
              <a:spLocks/>
            </p:cNvSpPr>
            <p:nvPr/>
          </p:nvSpPr>
          <p:spPr bwMode="auto">
            <a:xfrm>
              <a:off x="1552" y="1751"/>
              <a:ext cx="49" cy="85"/>
            </a:xfrm>
            <a:custGeom>
              <a:avLst/>
              <a:gdLst>
                <a:gd name="T0" fmla="*/ 49 w 245"/>
                <a:gd name="T1" fmla="*/ 85 h 424"/>
                <a:gd name="T2" fmla="*/ 49 w 245"/>
                <a:gd name="T3" fmla="*/ 85 h 424"/>
                <a:gd name="T4" fmla="*/ 49 w 245"/>
                <a:gd name="T5" fmla="*/ 77 h 424"/>
                <a:gd name="T6" fmla="*/ 48 w 245"/>
                <a:gd name="T7" fmla="*/ 68 h 424"/>
                <a:gd name="T8" fmla="*/ 47 w 245"/>
                <a:gd name="T9" fmla="*/ 60 h 424"/>
                <a:gd name="T10" fmla="*/ 45 w 245"/>
                <a:gd name="T11" fmla="*/ 52 h 424"/>
                <a:gd name="T12" fmla="*/ 43 w 245"/>
                <a:gd name="T13" fmla="*/ 45 h 424"/>
                <a:gd name="T14" fmla="*/ 41 w 245"/>
                <a:gd name="T15" fmla="*/ 38 h 424"/>
                <a:gd name="T16" fmla="*/ 38 w 245"/>
                <a:gd name="T17" fmla="*/ 31 h 424"/>
                <a:gd name="T18" fmla="*/ 35 w 245"/>
                <a:gd name="T19" fmla="*/ 25 h 424"/>
                <a:gd name="T20" fmla="*/ 31 w 245"/>
                <a:gd name="T21" fmla="*/ 20 h 424"/>
                <a:gd name="T22" fmla="*/ 27 w 245"/>
                <a:gd name="T23" fmla="*/ 15 h 424"/>
                <a:gd name="T24" fmla="*/ 24 w 245"/>
                <a:gd name="T25" fmla="*/ 10 h 424"/>
                <a:gd name="T26" fmla="*/ 19 w 245"/>
                <a:gd name="T27" fmla="*/ 7 h 424"/>
                <a:gd name="T28" fmla="*/ 15 w 245"/>
                <a:gd name="T29" fmla="*/ 4 h 424"/>
                <a:gd name="T30" fmla="*/ 10 w 245"/>
                <a:gd name="T31" fmla="*/ 2 h 424"/>
                <a:gd name="T32" fmla="*/ 5 w 245"/>
                <a:gd name="T33" fmla="*/ 0 h 424"/>
                <a:gd name="T34" fmla="*/ 0 w 245"/>
                <a:gd name="T35" fmla="*/ 0 h 424"/>
                <a:gd name="T36" fmla="*/ 0 w 245"/>
                <a:gd name="T37" fmla="*/ 2 h 424"/>
                <a:gd name="T38" fmla="*/ 5 w 245"/>
                <a:gd name="T39" fmla="*/ 3 h 424"/>
                <a:gd name="T40" fmla="*/ 9 w 245"/>
                <a:gd name="T41" fmla="*/ 4 h 424"/>
                <a:gd name="T42" fmla="*/ 13 w 245"/>
                <a:gd name="T43" fmla="*/ 6 h 424"/>
                <a:gd name="T44" fmla="*/ 18 w 245"/>
                <a:gd name="T45" fmla="*/ 9 h 424"/>
                <a:gd name="T46" fmla="*/ 22 w 245"/>
                <a:gd name="T47" fmla="*/ 12 h 424"/>
                <a:gd name="T48" fmla="*/ 26 w 245"/>
                <a:gd name="T49" fmla="*/ 16 h 424"/>
                <a:gd name="T50" fmla="*/ 29 w 245"/>
                <a:gd name="T51" fmla="*/ 21 h 424"/>
                <a:gd name="T52" fmla="*/ 33 w 245"/>
                <a:gd name="T53" fmla="*/ 26 h 424"/>
                <a:gd name="T54" fmla="*/ 36 w 245"/>
                <a:gd name="T55" fmla="*/ 32 h 424"/>
                <a:gd name="T56" fmla="*/ 39 w 245"/>
                <a:gd name="T57" fmla="*/ 39 h 424"/>
                <a:gd name="T58" fmla="*/ 41 w 245"/>
                <a:gd name="T59" fmla="*/ 46 h 424"/>
                <a:gd name="T60" fmla="*/ 43 w 245"/>
                <a:gd name="T61" fmla="*/ 53 h 424"/>
                <a:gd name="T62" fmla="*/ 45 w 245"/>
                <a:gd name="T63" fmla="*/ 60 h 424"/>
                <a:gd name="T64" fmla="*/ 46 w 245"/>
                <a:gd name="T65" fmla="*/ 68 h 424"/>
                <a:gd name="T66" fmla="*/ 46 w 245"/>
                <a:gd name="T67" fmla="*/ 77 h 424"/>
                <a:gd name="T68" fmla="*/ 47 w 245"/>
                <a:gd name="T69" fmla="*/ 85 h 424"/>
                <a:gd name="T70" fmla="*/ 47 w 245"/>
                <a:gd name="T71" fmla="*/ 85 h 424"/>
                <a:gd name="T72" fmla="*/ 49 w 245"/>
                <a:gd name="T73" fmla="*/ 85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4">
                  <a:moveTo>
                    <a:pt x="245" y="424"/>
                  </a:moveTo>
                  <a:lnTo>
                    <a:pt x="245" y="424"/>
                  </a:lnTo>
                  <a:lnTo>
                    <a:pt x="244" y="382"/>
                  </a:lnTo>
                  <a:lnTo>
                    <a:pt x="241" y="339"/>
                  </a:lnTo>
                  <a:lnTo>
                    <a:pt x="235" y="299"/>
                  </a:lnTo>
                  <a:lnTo>
                    <a:pt x="226" y="261"/>
                  </a:lnTo>
                  <a:lnTo>
                    <a:pt x="216" y="223"/>
                  </a:lnTo>
                  <a:lnTo>
                    <a:pt x="204" y="189"/>
                  </a:lnTo>
                  <a:lnTo>
                    <a:pt x="190" y="156"/>
                  </a:lnTo>
                  <a:lnTo>
                    <a:pt x="174" y="125"/>
                  </a:lnTo>
                  <a:lnTo>
                    <a:pt x="156" y="98"/>
                  </a:lnTo>
                  <a:lnTo>
                    <a:pt x="137" y="74"/>
                  </a:lnTo>
                  <a:lnTo>
                    <a:pt x="119" y="52"/>
                  </a:lnTo>
                  <a:lnTo>
                    <a:pt x="96" y="34"/>
                  </a:lnTo>
                  <a:lnTo>
                    <a:pt x="74" y="19"/>
                  </a:lnTo>
                  <a:lnTo>
                    <a:pt x="51" y="8"/>
                  </a:lnTo>
                  <a:lnTo>
                    <a:pt x="26" y="2"/>
                  </a:lnTo>
                  <a:lnTo>
                    <a:pt x="0" y="0"/>
                  </a:lnTo>
                  <a:lnTo>
                    <a:pt x="0" y="12"/>
                  </a:lnTo>
                  <a:lnTo>
                    <a:pt x="24" y="14"/>
                  </a:lnTo>
                  <a:lnTo>
                    <a:pt x="46" y="20"/>
                  </a:lnTo>
                  <a:lnTo>
                    <a:pt x="67" y="30"/>
                  </a:lnTo>
                  <a:lnTo>
                    <a:pt x="89" y="43"/>
                  </a:lnTo>
                  <a:lnTo>
                    <a:pt x="109" y="61"/>
                  </a:lnTo>
                  <a:lnTo>
                    <a:pt x="128" y="81"/>
                  </a:lnTo>
                  <a:lnTo>
                    <a:pt x="147" y="105"/>
                  </a:lnTo>
                  <a:lnTo>
                    <a:pt x="164" y="132"/>
                  </a:lnTo>
                  <a:lnTo>
                    <a:pt x="178" y="161"/>
                  </a:lnTo>
                  <a:lnTo>
                    <a:pt x="193" y="193"/>
                  </a:lnTo>
                  <a:lnTo>
                    <a:pt x="204" y="227"/>
                  </a:lnTo>
                  <a:lnTo>
                    <a:pt x="215" y="264"/>
                  </a:lnTo>
                  <a:lnTo>
                    <a:pt x="223" y="301"/>
                  </a:lnTo>
                  <a:lnTo>
                    <a:pt x="229" y="341"/>
                  </a:lnTo>
                  <a:lnTo>
                    <a:pt x="232" y="382"/>
                  </a:lnTo>
                  <a:lnTo>
                    <a:pt x="234" y="424"/>
                  </a:lnTo>
                  <a:lnTo>
                    <a:pt x="245"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6" name="Freeform 52"/>
            <p:cNvSpPr>
              <a:spLocks/>
            </p:cNvSpPr>
            <p:nvPr/>
          </p:nvSpPr>
          <p:spPr bwMode="auto">
            <a:xfrm>
              <a:off x="1552" y="1836"/>
              <a:ext cx="49" cy="85"/>
            </a:xfrm>
            <a:custGeom>
              <a:avLst/>
              <a:gdLst>
                <a:gd name="T0" fmla="*/ 0 w 245"/>
                <a:gd name="T1" fmla="*/ 85 h 425"/>
                <a:gd name="T2" fmla="*/ 0 w 245"/>
                <a:gd name="T3" fmla="*/ 85 h 425"/>
                <a:gd name="T4" fmla="*/ 5 w 245"/>
                <a:gd name="T5" fmla="*/ 84 h 425"/>
                <a:gd name="T6" fmla="*/ 10 w 245"/>
                <a:gd name="T7" fmla="*/ 83 h 425"/>
                <a:gd name="T8" fmla="*/ 15 w 245"/>
                <a:gd name="T9" fmla="*/ 81 h 425"/>
                <a:gd name="T10" fmla="*/ 19 w 245"/>
                <a:gd name="T11" fmla="*/ 78 h 425"/>
                <a:gd name="T12" fmla="*/ 24 w 245"/>
                <a:gd name="T13" fmla="*/ 75 h 425"/>
                <a:gd name="T14" fmla="*/ 27 w 245"/>
                <a:gd name="T15" fmla="*/ 70 h 425"/>
                <a:gd name="T16" fmla="*/ 31 w 245"/>
                <a:gd name="T17" fmla="*/ 65 h 425"/>
                <a:gd name="T18" fmla="*/ 35 w 245"/>
                <a:gd name="T19" fmla="*/ 60 h 425"/>
                <a:gd name="T20" fmla="*/ 38 w 245"/>
                <a:gd name="T21" fmla="*/ 54 h 425"/>
                <a:gd name="T22" fmla="*/ 41 w 245"/>
                <a:gd name="T23" fmla="*/ 47 h 425"/>
                <a:gd name="T24" fmla="*/ 43 w 245"/>
                <a:gd name="T25" fmla="*/ 40 h 425"/>
                <a:gd name="T26" fmla="*/ 45 w 245"/>
                <a:gd name="T27" fmla="*/ 33 h 425"/>
                <a:gd name="T28" fmla="*/ 47 w 245"/>
                <a:gd name="T29" fmla="*/ 25 h 425"/>
                <a:gd name="T30" fmla="*/ 48 w 245"/>
                <a:gd name="T31" fmla="*/ 17 h 425"/>
                <a:gd name="T32" fmla="*/ 49 w 245"/>
                <a:gd name="T33" fmla="*/ 9 h 425"/>
                <a:gd name="T34" fmla="*/ 49 w 245"/>
                <a:gd name="T35" fmla="*/ 0 h 425"/>
                <a:gd name="T36" fmla="*/ 47 w 245"/>
                <a:gd name="T37" fmla="*/ 0 h 425"/>
                <a:gd name="T38" fmla="*/ 46 w 245"/>
                <a:gd name="T39" fmla="*/ 9 h 425"/>
                <a:gd name="T40" fmla="*/ 46 w 245"/>
                <a:gd name="T41" fmla="*/ 17 h 425"/>
                <a:gd name="T42" fmla="*/ 45 w 245"/>
                <a:gd name="T43" fmla="*/ 25 h 425"/>
                <a:gd name="T44" fmla="*/ 43 w 245"/>
                <a:gd name="T45" fmla="*/ 32 h 425"/>
                <a:gd name="T46" fmla="*/ 41 w 245"/>
                <a:gd name="T47" fmla="*/ 39 h 425"/>
                <a:gd name="T48" fmla="*/ 39 w 245"/>
                <a:gd name="T49" fmla="*/ 46 h 425"/>
                <a:gd name="T50" fmla="*/ 36 w 245"/>
                <a:gd name="T51" fmla="*/ 53 h 425"/>
                <a:gd name="T52" fmla="*/ 33 w 245"/>
                <a:gd name="T53" fmla="*/ 58 h 425"/>
                <a:gd name="T54" fmla="*/ 29 w 245"/>
                <a:gd name="T55" fmla="*/ 64 h 425"/>
                <a:gd name="T56" fmla="*/ 26 w 245"/>
                <a:gd name="T57" fmla="*/ 69 h 425"/>
                <a:gd name="T58" fmla="*/ 22 w 245"/>
                <a:gd name="T59" fmla="*/ 73 h 425"/>
                <a:gd name="T60" fmla="*/ 18 w 245"/>
                <a:gd name="T61" fmla="*/ 76 h 425"/>
                <a:gd name="T62" fmla="*/ 13 w 245"/>
                <a:gd name="T63" fmla="*/ 79 h 425"/>
                <a:gd name="T64" fmla="*/ 9 w 245"/>
                <a:gd name="T65" fmla="*/ 81 h 425"/>
                <a:gd name="T66" fmla="*/ 5 w 245"/>
                <a:gd name="T67" fmla="*/ 82 h 425"/>
                <a:gd name="T68" fmla="*/ 0 w 245"/>
                <a:gd name="T69" fmla="*/ 83 h 425"/>
                <a:gd name="T70" fmla="*/ 0 w 245"/>
                <a:gd name="T71" fmla="*/ 83 h 425"/>
                <a:gd name="T72" fmla="*/ 0 w 245"/>
                <a:gd name="T73" fmla="*/ 85 h 42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5">
                  <a:moveTo>
                    <a:pt x="0" y="425"/>
                  </a:moveTo>
                  <a:lnTo>
                    <a:pt x="0" y="425"/>
                  </a:lnTo>
                  <a:lnTo>
                    <a:pt x="26" y="422"/>
                  </a:lnTo>
                  <a:lnTo>
                    <a:pt x="51" y="417"/>
                  </a:lnTo>
                  <a:lnTo>
                    <a:pt x="74" y="406"/>
                  </a:lnTo>
                  <a:lnTo>
                    <a:pt x="96" y="391"/>
                  </a:lnTo>
                  <a:lnTo>
                    <a:pt x="119" y="373"/>
                  </a:lnTo>
                  <a:lnTo>
                    <a:pt x="137" y="351"/>
                  </a:lnTo>
                  <a:lnTo>
                    <a:pt x="156" y="326"/>
                  </a:lnTo>
                  <a:lnTo>
                    <a:pt x="174" y="299"/>
                  </a:lnTo>
                  <a:lnTo>
                    <a:pt x="190" y="269"/>
                  </a:lnTo>
                  <a:lnTo>
                    <a:pt x="204" y="236"/>
                  </a:lnTo>
                  <a:lnTo>
                    <a:pt x="216" y="202"/>
                  </a:lnTo>
                  <a:lnTo>
                    <a:pt x="226" y="163"/>
                  </a:lnTo>
                  <a:lnTo>
                    <a:pt x="235" y="126"/>
                  </a:lnTo>
                  <a:lnTo>
                    <a:pt x="241" y="86"/>
                  </a:lnTo>
                  <a:lnTo>
                    <a:pt x="244" y="43"/>
                  </a:lnTo>
                  <a:lnTo>
                    <a:pt x="245" y="0"/>
                  </a:lnTo>
                  <a:lnTo>
                    <a:pt x="234" y="0"/>
                  </a:lnTo>
                  <a:lnTo>
                    <a:pt x="232" y="43"/>
                  </a:lnTo>
                  <a:lnTo>
                    <a:pt x="229" y="84"/>
                  </a:lnTo>
                  <a:lnTo>
                    <a:pt x="223" y="123"/>
                  </a:lnTo>
                  <a:lnTo>
                    <a:pt x="215" y="161"/>
                  </a:lnTo>
                  <a:lnTo>
                    <a:pt x="204" y="197"/>
                  </a:lnTo>
                  <a:lnTo>
                    <a:pt x="193" y="231"/>
                  </a:lnTo>
                  <a:lnTo>
                    <a:pt x="178" y="264"/>
                  </a:lnTo>
                  <a:lnTo>
                    <a:pt x="164" y="292"/>
                  </a:lnTo>
                  <a:lnTo>
                    <a:pt x="147" y="319"/>
                  </a:lnTo>
                  <a:lnTo>
                    <a:pt x="128" y="344"/>
                  </a:lnTo>
                  <a:lnTo>
                    <a:pt x="109" y="364"/>
                  </a:lnTo>
                  <a:lnTo>
                    <a:pt x="89" y="381"/>
                  </a:lnTo>
                  <a:lnTo>
                    <a:pt x="67" y="394"/>
                  </a:lnTo>
                  <a:lnTo>
                    <a:pt x="46" y="405"/>
                  </a:lnTo>
                  <a:lnTo>
                    <a:pt x="24" y="411"/>
                  </a:lnTo>
                  <a:lnTo>
                    <a:pt x="0" y="413"/>
                  </a:lnTo>
                  <a:lnTo>
                    <a:pt x="0" y="4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7" name="Freeform 53"/>
            <p:cNvSpPr>
              <a:spLocks/>
            </p:cNvSpPr>
            <p:nvPr/>
          </p:nvSpPr>
          <p:spPr bwMode="auto">
            <a:xfrm>
              <a:off x="1502" y="1836"/>
              <a:ext cx="50" cy="85"/>
            </a:xfrm>
            <a:custGeom>
              <a:avLst/>
              <a:gdLst>
                <a:gd name="T0" fmla="*/ 0 w 246"/>
                <a:gd name="T1" fmla="*/ 0 h 425"/>
                <a:gd name="T2" fmla="*/ 0 w 246"/>
                <a:gd name="T3" fmla="*/ 0 h 425"/>
                <a:gd name="T4" fmla="*/ 0 w 246"/>
                <a:gd name="T5" fmla="*/ 9 h 425"/>
                <a:gd name="T6" fmla="*/ 1 w 246"/>
                <a:gd name="T7" fmla="*/ 17 h 425"/>
                <a:gd name="T8" fmla="*/ 2 w 246"/>
                <a:gd name="T9" fmla="*/ 25 h 425"/>
                <a:gd name="T10" fmla="*/ 4 w 246"/>
                <a:gd name="T11" fmla="*/ 33 h 425"/>
                <a:gd name="T12" fmla="*/ 6 w 246"/>
                <a:gd name="T13" fmla="*/ 40 h 425"/>
                <a:gd name="T14" fmla="*/ 8 w 246"/>
                <a:gd name="T15" fmla="*/ 47 h 425"/>
                <a:gd name="T16" fmla="*/ 11 w 246"/>
                <a:gd name="T17" fmla="*/ 54 h 425"/>
                <a:gd name="T18" fmla="*/ 15 w 246"/>
                <a:gd name="T19" fmla="*/ 60 h 425"/>
                <a:gd name="T20" fmla="*/ 18 w 246"/>
                <a:gd name="T21" fmla="*/ 65 h 425"/>
                <a:gd name="T22" fmla="*/ 22 w 246"/>
                <a:gd name="T23" fmla="*/ 70 h 425"/>
                <a:gd name="T24" fmla="*/ 26 w 246"/>
                <a:gd name="T25" fmla="*/ 75 h 425"/>
                <a:gd name="T26" fmla="*/ 30 w 246"/>
                <a:gd name="T27" fmla="*/ 78 h 425"/>
                <a:gd name="T28" fmla="*/ 35 w 246"/>
                <a:gd name="T29" fmla="*/ 81 h 425"/>
                <a:gd name="T30" fmla="*/ 40 w 246"/>
                <a:gd name="T31" fmla="*/ 83 h 425"/>
                <a:gd name="T32" fmla="*/ 45 w 246"/>
                <a:gd name="T33" fmla="*/ 84 h 425"/>
                <a:gd name="T34" fmla="*/ 50 w 246"/>
                <a:gd name="T35" fmla="*/ 85 h 425"/>
                <a:gd name="T36" fmla="*/ 50 w 246"/>
                <a:gd name="T37" fmla="*/ 83 h 425"/>
                <a:gd name="T38" fmla="*/ 45 w 246"/>
                <a:gd name="T39" fmla="*/ 82 h 425"/>
                <a:gd name="T40" fmla="*/ 41 w 246"/>
                <a:gd name="T41" fmla="*/ 81 h 425"/>
                <a:gd name="T42" fmla="*/ 36 w 246"/>
                <a:gd name="T43" fmla="*/ 79 h 425"/>
                <a:gd name="T44" fmla="*/ 32 w 246"/>
                <a:gd name="T45" fmla="*/ 76 h 425"/>
                <a:gd name="T46" fmla="*/ 28 w 246"/>
                <a:gd name="T47" fmla="*/ 73 h 425"/>
                <a:gd name="T48" fmla="*/ 24 w 246"/>
                <a:gd name="T49" fmla="*/ 69 h 425"/>
                <a:gd name="T50" fmla="*/ 20 w 246"/>
                <a:gd name="T51" fmla="*/ 64 h 425"/>
                <a:gd name="T52" fmla="*/ 17 w 246"/>
                <a:gd name="T53" fmla="*/ 58 h 425"/>
                <a:gd name="T54" fmla="*/ 14 w 246"/>
                <a:gd name="T55" fmla="*/ 53 h 425"/>
                <a:gd name="T56" fmla="*/ 11 w 246"/>
                <a:gd name="T57" fmla="*/ 46 h 425"/>
                <a:gd name="T58" fmla="*/ 8 w 246"/>
                <a:gd name="T59" fmla="*/ 39 h 425"/>
                <a:gd name="T60" fmla="*/ 6 w 246"/>
                <a:gd name="T61" fmla="*/ 32 h 425"/>
                <a:gd name="T62" fmla="*/ 5 w 246"/>
                <a:gd name="T63" fmla="*/ 25 h 425"/>
                <a:gd name="T64" fmla="*/ 3 w 246"/>
                <a:gd name="T65" fmla="*/ 17 h 425"/>
                <a:gd name="T66" fmla="*/ 3 w 246"/>
                <a:gd name="T67" fmla="*/ 9 h 425"/>
                <a:gd name="T68" fmla="*/ 2 w 246"/>
                <a:gd name="T69" fmla="*/ 0 h 425"/>
                <a:gd name="T70" fmla="*/ 2 w 246"/>
                <a:gd name="T71" fmla="*/ 0 h 425"/>
                <a:gd name="T72" fmla="*/ 0 w 246"/>
                <a:gd name="T73" fmla="*/ 0 h 42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5">
                  <a:moveTo>
                    <a:pt x="0" y="0"/>
                  </a:moveTo>
                  <a:lnTo>
                    <a:pt x="0" y="0"/>
                  </a:lnTo>
                  <a:lnTo>
                    <a:pt x="2" y="43"/>
                  </a:lnTo>
                  <a:lnTo>
                    <a:pt x="5" y="86"/>
                  </a:lnTo>
                  <a:lnTo>
                    <a:pt x="11" y="126"/>
                  </a:lnTo>
                  <a:lnTo>
                    <a:pt x="19" y="163"/>
                  </a:lnTo>
                  <a:lnTo>
                    <a:pt x="30" y="202"/>
                  </a:lnTo>
                  <a:lnTo>
                    <a:pt x="41" y="236"/>
                  </a:lnTo>
                  <a:lnTo>
                    <a:pt x="55" y="269"/>
                  </a:lnTo>
                  <a:lnTo>
                    <a:pt x="73" y="299"/>
                  </a:lnTo>
                  <a:lnTo>
                    <a:pt x="89" y="326"/>
                  </a:lnTo>
                  <a:lnTo>
                    <a:pt x="108" y="351"/>
                  </a:lnTo>
                  <a:lnTo>
                    <a:pt x="128" y="373"/>
                  </a:lnTo>
                  <a:lnTo>
                    <a:pt x="150" y="391"/>
                  </a:lnTo>
                  <a:lnTo>
                    <a:pt x="171" y="406"/>
                  </a:lnTo>
                  <a:lnTo>
                    <a:pt x="196" y="417"/>
                  </a:lnTo>
                  <a:lnTo>
                    <a:pt x="221" y="422"/>
                  </a:lnTo>
                  <a:lnTo>
                    <a:pt x="246" y="425"/>
                  </a:lnTo>
                  <a:lnTo>
                    <a:pt x="246" y="413"/>
                  </a:lnTo>
                  <a:lnTo>
                    <a:pt x="223" y="411"/>
                  </a:lnTo>
                  <a:lnTo>
                    <a:pt x="201" y="405"/>
                  </a:lnTo>
                  <a:lnTo>
                    <a:pt x="178" y="394"/>
                  </a:lnTo>
                  <a:lnTo>
                    <a:pt x="157" y="381"/>
                  </a:lnTo>
                  <a:lnTo>
                    <a:pt x="137" y="364"/>
                  </a:lnTo>
                  <a:lnTo>
                    <a:pt x="117" y="344"/>
                  </a:lnTo>
                  <a:lnTo>
                    <a:pt x="99" y="319"/>
                  </a:lnTo>
                  <a:lnTo>
                    <a:pt x="82" y="292"/>
                  </a:lnTo>
                  <a:lnTo>
                    <a:pt x="67" y="264"/>
                  </a:lnTo>
                  <a:lnTo>
                    <a:pt x="53" y="231"/>
                  </a:lnTo>
                  <a:lnTo>
                    <a:pt x="41" y="197"/>
                  </a:lnTo>
                  <a:lnTo>
                    <a:pt x="31" y="161"/>
                  </a:lnTo>
                  <a:lnTo>
                    <a:pt x="23" y="123"/>
                  </a:lnTo>
                  <a:lnTo>
                    <a:pt x="17" y="84"/>
                  </a:lnTo>
                  <a:lnTo>
                    <a:pt x="13" y="43"/>
                  </a:lnTo>
                  <a:lnTo>
                    <a:pt x="1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8" name="Freeform 54"/>
            <p:cNvSpPr>
              <a:spLocks/>
            </p:cNvSpPr>
            <p:nvPr/>
          </p:nvSpPr>
          <p:spPr bwMode="auto">
            <a:xfrm>
              <a:off x="1502" y="1751"/>
              <a:ext cx="50" cy="85"/>
            </a:xfrm>
            <a:custGeom>
              <a:avLst/>
              <a:gdLst>
                <a:gd name="T0" fmla="*/ 50 w 246"/>
                <a:gd name="T1" fmla="*/ 0 h 424"/>
                <a:gd name="T2" fmla="*/ 50 w 246"/>
                <a:gd name="T3" fmla="*/ 0 h 424"/>
                <a:gd name="T4" fmla="*/ 45 w 246"/>
                <a:gd name="T5" fmla="*/ 0 h 424"/>
                <a:gd name="T6" fmla="*/ 40 w 246"/>
                <a:gd name="T7" fmla="*/ 2 h 424"/>
                <a:gd name="T8" fmla="*/ 35 w 246"/>
                <a:gd name="T9" fmla="*/ 4 h 424"/>
                <a:gd name="T10" fmla="*/ 30 w 246"/>
                <a:gd name="T11" fmla="*/ 7 h 424"/>
                <a:gd name="T12" fmla="*/ 26 w 246"/>
                <a:gd name="T13" fmla="*/ 10 h 424"/>
                <a:gd name="T14" fmla="*/ 22 w 246"/>
                <a:gd name="T15" fmla="*/ 15 h 424"/>
                <a:gd name="T16" fmla="*/ 18 w 246"/>
                <a:gd name="T17" fmla="*/ 20 h 424"/>
                <a:gd name="T18" fmla="*/ 15 w 246"/>
                <a:gd name="T19" fmla="*/ 25 h 424"/>
                <a:gd name="T20" fmla="*/ 11 w 246"/>
                <a:gd name="T21" fmla="*/ 31 h 424"/>
                <a:gd name="T22" fmla="*/ 8 w 246"/>
                <a:gd name="T23" fmla="*/ 38 h 424"/>
                <a:gd name="T24" fmla="*/ 6 w 246"/>
                <a:gd name="T25" fmla="*/ 45 h 424"/>
                <a:gd name="T26" fmla="*/ 4 w 246"/>
                <a:gd name="T27" fmla="*/ 52 h 424"/>
                <a:gd name="T28" fmla="*/ 2 w 246"/>
                <a:gd name="T29" fmla="*/ 60 h 424"/>
                <a:gd name="T30" fmla="*/ 1 w 246"/>
                <a:gd name="T31" fmla="*/ 68 h 424"/>
                <a:gd name="T32" fmla="*/ 0 w 246"/>
                <a:gd name="T33" fmla="*/ 77 h 424"/>
                <a:gd name="T34" fmla="*/ 0 w 246"/>
                <a:gd name="T35" fmla="*/ 85 h 424"/>
                <a:gd name="T36" fmla="*/ 2 w 246"/>
                <a:gd name="T37" fmla="*/ 85 h 424"/>
                <a:gd name="T38" fmla="*/ 3 w 246"/>
                <a:gd name="T39" fmla="*/ 77 h 424"/>
                <a:gd name="T40" fmla="*/ 3 w 246"/>
                <a:gd name="T41" fmla="*/ 68 h 424"/>
                <a:gd name="T42" fmla="*/ 5 w 246"/>
                <a:gd name="T43" fmla="*/ 60 h 424"/>
                <a:gd name="T44" fmla="*/ 6 w 246"/>
                <a:gd name="T45" fmla="*/ 53 h 424"/>
                <a:gd name="T46" fmla="*/ 8 w 246"/>
                <a:gd name="T47" fmla="*/ 46 h 424"/>
                <a:gd name="T48" fmla="*/ 11 w 246"/>
                <a:gd name="T49" fmla="*/ 39 h 424"/>
                <a:gd name="T50" fmla="*/ 14 w 246"/>
                <a:gd name="T51" fmla="*/ 32 h 424"/>
                <a:gd name="T52" fmla="*/ 17 w 246"/>
                <a:gd name="T53" fmla="*/ 26 h 424"/>
                <a:gd name="T54" fmla="*/ 20 w 246"/>
                <a:gd name="T55" fmla="*/ 21 h 424"/>
                <a:gd name="T56" fmla="*/ 24 w 246"/>
                <a:gd name="T57" fmla="*/ 16 h 424"/>
                <a:gd name="T58" fmla="*/ 28 w 246"/>
                <a:gd name="T59" fmla="*/ 12 h 424"/>
                <a:gd name="T60" fmla="*/ 32 w 246"/>
                <a:gd name="T61" fmla="*/ 9 h 424"/>
                <a:gd name="T62" fmla="*/ 36 w 246"/>
                <a:gd name="T63" fmla="*/ 6 h 424"/>
                <a:gd name="T64" fmla="*/ 41 w 246"/>
                <a:gd name="T65" fmla="*/ 4 h 424"/>
                <a:gd name="T66" fmla="*/ 45 w 246"/>
                <a:gd name="T67" fmla="*/ 3 h 424"/>
                <a:gd name="T68" fmla="*/ 50 w 246"/>
                <a:gd name="T69" fmla="*/ 2 h 424"/>
                <a:gd name="T70" fmla="*/ 50 w 246"/>
                <a:gd name="T71" fmla="*/ 2 h 424"/>
                <a:gd name="T72" fmla="*/ 50 w 246"/>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424">
                  <a:moveTo>
                    <a:pt x="246" y="0"/>
                  </a:moveTo>
                  <a:lnTo>
                    <a:pt x="246" y="0"/>
                  </a:lnTo>
                  <a:lnTo>
                    <a:pt x="221" y="2"/>
                  </a:lnTo>
                  <a:lnTo>
                    <a:pt x="196" y="8"/>
                  </a:lnTo>
                  <a:lnTo>
                    <a:pt x="171" y="19"/>
                  </a:lnTo>
                  <a:lnTo>
                    <a:pt x="150" y="34"/>
                  </a:lnTo>
                  <a:lnTo>
                    <a:pt x="128" y="52"/>
                  </a:lnTo>
                  <a:lnTo>
                    <a:pt x="108" y="74"/>
                  </a:lnTo>
                  <a:lnTo>
                    <a:pt x="89" y="98"/>
                  </a:lnTo>
                  <a:lnTo>
                    <a:pt x="73" y="125"/>
                  </a:lnTo>
                  <a:lnTo>
                    <a:pt x="55" y="156"/>
                  </a:lnTo>
                  <a:lnTo>
                    <a:pt x="41" y="189"/>
                  </a:lnTo>
                  <a:lnTo>
                    <a:pt x="30" y="223"/>
                  </a:lnTo>
                  <a:lnTo>
                    <a:pt x="19" y="261"/>
                  </a:lnTo>
                  <a:lnTo>
                    <a:pt x="11" y="299"/>
                  </a:lnTo>
                  <a:lnTo>
                    <a:pt x="5" y="339"/>
                  </a:lnTo>
                  <a:lnTo>
                    <a:pt x="2" y="382"/>
                  </a:lnTo>
                  <a:lnTo>
                    <a:pt x="0" y="424"/>
                  </a:lnTo>
                  <a:lnTo>
                    <a:pt x="12" y="424"/>
                  </a:lnTo>
                  <a:lnTo>
                    <a:pt x="13" y="382"/>
                  </a:lnTo>
                  <a:lnTo>
                    <a:pt x="17" y="341"/>
                  </a:lnTo>
                  <a:lnTo>
                    <a:pt x="23" y="301"/>
                  </a:lnTo>
                  <a:lnTo>
                    <a:pt x="31" y="264"/>
                  </a:lnTo>
                  <a:lnTo>
                    <a:pt x="41" y="227"/>
                  </a:lnTo>
                  <a:lnTo>
                    <a:pt x="53" y="193"/>
                  </a:lnTo>
                  <a:lnTo>
                    <a:pt x="67" y="161"/>
                  </a:lnTo>
                  <a:lnTo>
                    <a:pt x="82" y="132"/>
                  </a:lnTo>
                  <a:lnTo>
                    <a:pt x="99" y="105"/>
                  </a:lnTo>
                  <a:lnTo>
                    <a:pt x="117" y="81"/>
                  </a:lnTo>
                  <a:lnTo>
                    <a:pt x="137" y="61"/>
                  </a:lnTo>
                  <a:lnTo>
                    <a:pt x="157" y="43"/>
                  </a:lnTo>
                  <a:lnTo>
                    <a:pt x="178" y="30"/>
                  </a:lnTo>
                  <a:lnTo>
                    <a:pt x="201" y="20"/>
                  </a:lnTo>
                  <a:lnTo>
                    <a:pt x="223" y="14"/>
                  </a:lnTo>
                  <a:lnTo>
                    <a:pt x="246" y="12"/>
                  </a:lnTo>
                  <a:lnTo>
                    <a:pt x="24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9" name="Freeform 55"/>
            <p:cNvSpPr>
              <a:spLocks/>
            </p:cNvSpPr>
            <p:nvPr/>
          </p:nvSpPr>
          <p:spPr bwMode="auto">
            <a:xfrm>
              <a:off x="1565" y="2016"/>
              <a:ext cx="49" cy="85"/>
            </a:xfrm>
            <a:custGeom>
              <a:avLst/>
              <a:gdLst>
                <a:gd name="T0" fmla="*/ 49 w 245"/>
                <a:gd name="T1" fmla="*/ 85 h 424"/>
                <a:gd name="T2" fmla="*/ 49 w 245"/>
                <a:gd name="T3" fmla="*/ 85 h 424"/>
                <a:gd name="T4" fmla="*/ 49 w 245"/>
                <a:gd name="T5" fmla="*/ 77 h 424"/>
                <a:gd name="T6" fmla="*/ 48 w 245"/>
                <a:gd name="T7" fmla="*/ 68 h 424"/>
                <a:gd name="T8" fmla="*/ 47 w 245"/>
                <a:gd name="T9" fmla="*/ 60 h 424"/>
                <a:gd name="T10" fmla="*/ 45 w 245"/>
                <a:gd name="T11" fmla="*/ 52 h 424"/>
                <a:gd name="T12" fmla="*/ 43 w 245"/>
                <a:gd name="T13" fmla="*/ 45 h 424"/>
                <a:gd name="T14" fmla="*/ 41 w 245"/>
                <a:gd name="T15" fmla="*/ 38 h 424"/>
                <a:gd name="T16" fmla="*/ 38 w 245"/>
                <a:gd name="T17" fmla="*/ 31 h 424"/>
                <a:gd name="T18" fmla="*/ 35 w 245"/>
                <a:gd name="T19" fmla="*/ 25 h 424"/>
                <a:gd name="T20" fmla="*/ 31 w 245"/>
                <a:gd name="T21" fmla="*/ 20 h 424"/>
                <a:gd name="T22" fmla="*/ 28 w 245"/>
                <a:gd name="T23" fmla="*/ 15 h 424"/>
                <a:gd name="T24" fmla="*/ 24 w 245"/>
                <a:gd name="T25" fmla="*/ 10 h 424"/>
                <a:gd name="T26" fmla="*/ 19 w 245"/>
                <a:gd name="T27" fmla="*/ 7 h 424"/>
                <a:gd name="T28" fmla="*/ 15 w 245"/>
                <a:gd name="T29" fmla="*/ 4 h 424"/>
                <a:gd name="T30" fmla="*/ 10 w 245"/>
                <a:gd name="T31" fmla="*/ 2 h 424"/>
                <a:gd name="T32" fmla="*/ 5 w 245"/>
                <a:gd name="T33" fmla="*/ 0 h 424"/>
                <a:gd name="T34" fmla="*/ 0 w 245"/>
                <a:gd name="T35" fmla="*/ 0 h 424"/>
                <a:gd name="T36" fmla="*/ 0 w 245"/>
                <a:gd name="T37" fmla="*/ 2 h 424"/>
                <a:gd name="T38" fmla="*/ 5 w 245"/>
                <a:gd name="T39" fmla="*/ 3 h 424"/>
                <a:gd name="T40" fmla="*/ 9 w 245"/>
                <a:gd name="T41" fmla="*/ 4 h 424"/>
                <a:gd name="T42" fmla="*/ 13 w 245"/>
                <a:gd name="T43" fmla="*/ 6 h 424"/>
                <a:gd name="T44" fmla="*/ 18 w 245"/>
                <a:gd name="T45" fmla="*/ 9 h 424"/>
                <a:gd name="T46" fmla="*/ 22 w 245"/>
                <a:gd name="T47" fmla="*/ 12 h 424"/>
                <a:gd name="T48" fmla="*/ 26 w 245"/>
                <a:gd name="T49" fmla="*/ 16 h 424"/>
                <a:gd name="T50" fmla="*/ 29 w 245"/>
                <a:gd name="T51" fmla="*/ 21 h 424"/>
                <a:gd name="T52" fmla="*/ 33 w 245"/>
                <a:gd name="T53" fmla="*/ 26 h 424"/>
                <a:gd name="T54" fmla="*/ 36 w 245"/>
                <a:gd name="T55" fmla="*/ 32 h 424"/>
                <a:gd name="T56" fmla="*/ 38 w 245"/>
                <a:gd name="T57" fmla="*/ 39 h 424"/>
                <a:gd name="T58" fmla="*/ 41 w 245"/>
                <a:gd name="T59" fmla="*/ 46 h 424"/>
                <a:gd name="T60" fmla="*/ 43 w 245"/>
                <a:gd name="T61" fmla="*/ 53 h 424"/>
                <a:gd name="T62" fmla="*/ 45 w 245"/>
                <a:gd name="T63" fmla="*/ 60 h 424"/>
                <a:gd name="T64" fmla="*/ 46 w 245"/>
                <a:gd name="T65" fmla="*/ 68 h 424"/>
                <a:gd name="T66" fmla="*/ 46 w 245"/>
                <a:gd name="T67" fmla="*/ 77 h 424"/>
                <a:gd name="T68" fmla="*/ 47 w 245"/>
                <a:gd name="T69" fmla="*/ 85 h 424"/>
                <a:gd name="T70" fmla="*/ 47 w 245"/>
                <a:gd name="T71" fmla="*/ 85 h 424"/>
                <a:gd name="T72" fmla="*/ 49 w 245"/>
                <a:gd name="T73" fmla="*/ 85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4">
                  <a:moveTo>
                    <a:pt x="245" y="424"/>
                  </a:moveTo>
                  <a:lnTo>
                    <a:pt x="245" y="424"/>
                  </a:lnTo>
                  <a:lnTo>
                    <a:pt x="244" y="382"/>
                  </a:lnTo>
                  <a:lnTo>
                    <a:pt x="240" y="339"/>
                  </a:lnTo>
                  <a:lnTo>
                    <a:pt x="234" y="299"/>
                  </a:lnTo>
                  <a:lnTo>
                    <a:pt x="226" y="261"/>
                  </a:lnTo>
                  <a:lnTo>
                    <a:pt x="216" y="223"/>
                  </a:lnTo>
                  <a:lnTo>
                    <a:pt x="204" y="189"/>
                  </a:lnTo>
                  <a:lnTo>
                    <a:pt x="190" y="156"/>
                  </a:lnTo>
                  <a:lnTo>
                    <a:pt x="174" y="125"/>
                  </a:lnTo>
                  <a:lnTo>
                    <a:pt x="156" y="98"/>
                  </a:lnTo>
                  <a:lnTo>
                    <a:pt x="138" y="74"/>
                  </a:lnTo>
                  <a:lnTo>
                    <a:pt x="118" y="51"/>
                  </a:lnTo>
                  <a:lnTo>
                    <a:pt x="96" y="34"/>
                  </a:lnTo>
                  <a:lnTo>
                    <a:pt x="74" y="19"/>
                  </a:lnTo>
                  <a:lnTo>
                    <a:pt x="51" y="8"/>
                  </a:lnTo>
                  <a:lnTo>
                    <a:pt x="26" y="2"/>
                  </a:lnTo>
                  <a:lnTo>
                    <a:pt x="0" y="0"/>
                  </a:lnTo>
                  <a:lnTo>
                    <a:pt x="0" y="12"/>
                  </a:lnTo>
                  <a:lnTo>
                    <a:pt x="24" y="14"/>
                  </a:lnTo>
                  <a:lnTo>
                    <a:pt x="46" y="20"/>
                  </a:lnTo>
                  <a:lnTo>
                    <a:pt x="67" y="30"/>
                  </a:lnTo>
                  <a:lnTo>
                    <a:pt x="89" y="43"/>
                  </a:lnTo>
                  <a:lnTo>
                    <a:pt x="109" y="61"/>
                  </a:lnTo>
                  <a:lnTo>
                    <a:pt x="129" y="81"/>
                  </a:lnTo>
                  <a:lnTo>
                    <a:pt x="147" y="105"/>
                  </a:lnTo>
                  <a:lnTo>
                    <a:pt x="164" y="132"/>
                  </a:lnTo>
                  <a:lnTo>
                    <a:pt x="178" y="160"/>
                  </a:lnTo>
                  <a:lnTo>
                    <a:pt x="192" y="193"/>
                  </a:lnTo>
                  <a:lnTo>
                    <a:pt x="204" y="227"/>
                  </a:lnTo>
                  <a:lnTo>
                    <a:pt x="215" y="264"/>
                  </a:lnTo>
                  <a:lnTo>
                    <a:pt x="223" y="301"/>
                  </a:lnTo>
                  <a:lnTo>
                    <a:pt x="229" y="341"/>
                  </a:lnTo>
                  <a:lnTo>
                    <a:pt x="232" y="382"/>
                  </a:lnTo>
                  <a:lnTo>
                    <a:pt x="233" y="424"/>
                  </a:lnTo>
                  <a:lnTo>
                    <a:pt x="245"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50" name="Freeform 56"/>
            <p:cNvSpPr>
              <a:spLocks/>
            </p:cNvSpPr>
            <p:nvPr/>
          </p:nvSpPr>
          <p:spPr bwMode="auto">
            <a:xfrm>
              <a:off x="1565" y="2101"/>
              <a:ext cx="49" cy="85"/>
            </a:xfrm>
            <a:custGeom>
              <a:avLst/>
              <a:gdLst>
                <a:gd name="T0" fmla="*/ 0 w 245"/>
                <a:gd name="T1" fmla="*/ 85 h 426"/>
                <a:gd name="T2" fmla="*/ 0 w 245"/>
                <a:gd name="T3" fmla="*/ 85 h 426"/>
                <a:gd name="T4" fmla="*/ 5 w 245"/>
                <a:gd name="T5" fmla="*/ 84 h 426"/>
                <a:gd name="T6" fmla="*/ 10 w 245"/>
                <a:gd name="T7" fmla="*/ 83 h 426"/>
                <a:gd name="T8" fmla="*/ 15 w 245"/>
                <a:gd name="T9" fmla="*/ 81 h 426"/>
                <a:gd name="T10" fmla="*/ 19 w 245"/>
                <a:gd name="T11" fmla="*/ 78 h 426"/>
                <a:gd name="T12" fmla="*/ 24 w 245"/>
                <a:gd name="T13" fmla="*/ 74 h 426"/>
                <a:gd name="T14" fmla="*/ 28 w 245"/>
                <a:gd name="T15" fmla="*/ 70 h 426"/>
                <a:gd name="T16" fmla="*/ 31 w 245"/>
                <a:gd name="T17" fmla="*/ 65 h 426"/>
                <a:gd name="T18" fmla="*/ 35 w 245"/>
                <a:gd name="T19" fmla="*/ 60 h 426"/>
                <a:gd name="T20" fmla="*/ 38 w 245"/>
                <a:gd name="T21" fmla="*/ 54 h 426"/>
                <a:gd name="T22" fmla="*/ 41 w 245"/>
                <a:gd name="T23" fmla="*/ 47 h 426"/>
                <a:gd name="T24" fmla="*/ 43 w 245"/>
                <a:gd name="T25" fmla="*/ 40 h 426"/>
                <a:gd name="T26" fmla="*/ 45 w 245"/>
                <a:gd name="T27" fmla="*/ 33 h 426"/>
                <a:gd name="T28" fmla="*/ 47 w 245"/>
                <a:gd name="T29" fmla="*/ 25 h 426"/>
                <a:gd name="T30" fmla="*/ 48 w 245"/>
                <a:gd name="T31" fmla="*/ 17 h 426"/>
                <a:gd name="T32" fmla="*/ 49 w 245"/>
                <a:gd name="T33" fmla="*/ 8 h 426"/>
                <a:gd name="T34" fmla="*/ 49 w 245"/>
                <a:gd name="T35" fmla="*/ 0 h 426"/>
                <a:gd name="T36" fmla="*/ 47 w 245"/>
                <a:gd name="T37" fmla="*/ 0 h 426"/>
                <a:gd name="T38" fmla="*/ 46 w 245"/>
                <a:gd name="T39" fmla="*/ 8 h 426"/>
                <a:gd name="T40" fmla="*/ 46 w 245"/>
                <a:gd name="T41" fmla="*/ 17 h 426"/>
                <a:gd name="T42" fmla="*/ 45 w 245"/>
                <a:gd name="T43" fmla="*/ 25 h 426"/>
                <a:gd name="T44" fmla="*/ 43 w 245"/>
                <a:gd name="T45" fmla="*/ 32 h 426"/>
                <a:gd name="T46" fmla="*/ 41 w 245"/>
                <a:gd name="T47" fmla="*/ 39 h 426"/>
                <a:gd name="T48" fmla="*/ 38 w 245"/>
                <a:gd name="T49" fmla="*/ 46 h 426"/>
                <a:gd name="T50" fmla="*/ 36 w 245"/>
                <a:gd name="T51" fmla="*/ 53 h 426"/>
                <a:gd name="T52" fmla="*/ 33 w 245"/>
                <a:gd name="T53" fmla="*/ 58 h 426"/>
                <a:gd name="T54" fmla="*/ 29 w 245"/>
                <a:gd name="T55" fmla="*/ 64 h 426"/>
                <a:gd name="T56" fmla="*/ 26 w 245"/>
                <a:gd name="T57" fmla="*/ 69 h 426"/>
                <a:gd name="T58" fmla="*/ 22 w 245"/>
                <a:gd name="T59" fmla="*/ 73 h 426"/>
                <a:gd name="T60" fmla="*/ 18 w 245"/>
                <a:gd name="T61" fmla="*/ 76 h 426"/>
                <a:gd name="T62" fmla="*/ 13 w 245"/>
                <a:gd name="T63" fmla="*/ 79 h 426"/>
                <a:gd name="T64" fmla="*/ 9 w 245"/>
                <a:gd name="T65" fmla="*/ 81 h 426"/>
                <a:gd name="T66" fmla="*/ 5 w 245"/>
                <a:gd name="T67" fmla="*/ 82 h 426"/>
                <a:gd name="T68" fmla="*/ 0 w 245"/>
                <a:gd name="T69" fmla="*/ 83 h 426"/>
                <a:gd name="T70" fmla="*/ 0 w 245"/>
                <a:gd name="T71" fmla="*/ 83 h 426"/>
                <a:gd name="T72" fmla="*/ 0 w 245"/>
                <a:gd name="T73" fmla="*/ 85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6">
                  <a:moveTo>
                    <a:pt x="0" y="426"/>
                  </a:moveTo>
                  <a:lnTo>
                    <a:pt x="0" y="426"/>
                  </a:lnTo>
                  <a:lnTo>
                    <a:pt x="26" y="423"/>
                  </a:lnTo>
                  <a:lnTo>
                    <a:pt x="51" y="418"/>
                  </a:lnTo>
                  <a:lnTo>
                    <a:pt x="74" y="407"/>
                  </a:lnTo>
                  <a:lnTo>
                    <a:pt x="96" y="392"/>
                  </a:lnTo>
                  <a:lnTo>
                    <a:pt x="118" y="373"/>
                  </a:lnTo>
                  <a:lnTo>
                    <a:pt x="138" y="351"/>
                  </a:lnTo>
                  <a:lnTo>
                    <a:pt x="156" y="327"/>
                  </a:lnTo>
                  <a:lnTo>
                    <a:pt x="175" y="299"/>
                  </a:lnTo>
                  <a:lnTo>
                    <a:pt x="190" y="269"/>
                  </a:lnTo>
                  <a:lnTo>
                    <a:pt x="204" y="236"/>
                  </a:lnTo>
                  <a:lnTo>
                    <a:pt x="216" y="202"/>
                  </a:lnTo>
                  <a:lnTo>
                    <a:pt x="226" y="164"/>
                  </a:lnTo>
                  <a:lnTo>
                    <a:pt x="234" y="126"/>
                  </a:lnTo>
                  <a:lnTo>
                    <a:pt x="240" y="86"/>
                  </a:lnTo>
                  <a:lnTo>
                    <a:pt x="244" y="42"/>
                  </a:lnTo>
                  <a:lnTo>
                    <a:pt x="245" y="0"/>
                  </a:lnTo>
                  <a:lnTo>
                    <a:pt x="233" y="0"/>
                  </a:lnTo>
                  <a:lnTo>
                    <a:pt x="232" y="42"/>
                  </a:lnTo>
                  <a:lnTo>
                    <a:pt x="229" y="83"/>
                  </a:lnTo>
                  <a:lnTo>
                    <a:pt x="223" y="123"/>
                  </a:lnTo>
                  <a:lnTo>
                    <a:pt x="215" y="162"/>
                  </a:lnTo>
                  <a:lnTo>
                    <a:pt x="204" y="197"/>
                  </a:lnTo>
                  <a:lnTo>
                    <a:pt x="192" y="231"/>
                  </a:lnTo>
                  <a:lnTo>
                    <a:pt x="178" y="264"/>
                  </a:lnTo>
                  <a:lnTo>
                    <a:pt x="163" y="292"/>
                  </a:lnTo>
                  <a:lnTo>
                    <a:pt x="147" y="320"/>
                  </a:lnTo>
                  <a:lnTo>
                    <a:pt x="129" y="344"/>
                  </a:lnTo>
                  <a:lnTo>
                    <a:pt x="109" y="364"/>
                  </a:lnTo>
                  <a:lnTo>
                    <a:pt x="89" y="382"/>
                  </a:lnTo>
                  <a:lnTo>
                    <a:pt x="67" y="395"/>
                  </a:lnTo>
                  <a:lnTo>
                    <a:pt x="46" y="406"/>
                  </a:lnTo>
                  <a:lnTo>
                    <a:pt x="24" y="412"/>
                  </a:lnTo>
                  <a:lnTo>
                    <a:pt x="0" y="414"/>
                  </a:lnTo>
                  <a:lnTo>
                    <a:pt x="0" y="4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51" name="Freeform 57"/>
            <p:cNvSpPr>
              <a:spLocks/>
            </p:cNvSpPr>
            <p:nvPr/>
          </p:nvSpPr>
          <p:spPr bwMode="auto">
            <a:xfrm>
              <a:off x="1516" y="2101"/>
              <a:ext cx="49" cy="85"/>
            </a:xfrm>
            <a:custGeom>
              <a:avLst/>
              <a:gdLst>
                <a:gd name="T0" fmla="*/ 0 w 245"/>
                <a:gd name="T1" fmla="*/ 0 h 426"/>
                <a:gd name="T2" fmla="*/ 0 w 245"/>
                <a:gd name="T3" fmla="*/ 0 h 426"/>
                <a:gd name="T4" fmla="*/ 0 w 245"/>
                <a:gd name="T5" fmla="*/ 8 h 426"/>
                <a:gd name="T6" fmla="*/ 1 w 245"/>
                <a:gd name="T7" fmla="*/ 17 h 426"/>
                <a:gd name="T8" fmla="*/ 2 w 245"/>
                <a:gd name="T9" fmla="*/ 25 h 426"/>
                <a:gd name="T10" fmla="*/ 4 w 245"/>
                <a:gd name="T11" fmla="*/ 33 h 426"/>
                <a:gd name="T12" fmla="*/ 6 w 245"/>
                <a:gd name="T13" fmla="*/ 40 h 426"/>
                <a:gd name="T14" fmla="*/ 8 w 245"/>
                <a:gd name="T15" fmla="*/ 47 h 426"/>
                <a:gd name="T16" fmla="*/ 11 w 245"/>
                <a:gd name="T17" fmla="*/ 54 h 426"/>
                <a:gd name="T18" fmla="*/ 14 w 245"/>
                <a:gd name="T19" fmla="*/ 60 h 426"/>
                <a:gd name="T20" fmla="*/ 18 w 245"/>
                <a:gd name="T21" fmla="*/ 65 h 426"/>
                <a:gd name="T22" fmla="*/ 21 w 245"/>
                <a:gd name="T23" fmla="*/ 70 h 426"/>
                <a:gd name="T24" fmla="*/ 25 w 245"/>
                <a:gd name="T25" fmla="*/ 74 h 426"/>
                <a:gd name="T26" fmla="*/ 30 w 245"/>
                <a:gd name="T27" fmla="*/ 78 h 426"/>
                <a:gd name="T28" fmla="*/ 34 w 245"/>
                <a:gd name="T29" fmla="*/ 81 h 426"/>
                <a:gd name="T30" fmla="*/ 39 w 245"/>
                <a:gd name="T31" fmla="*/ 83 h 426"/>
                <a:gd name="T32" fmla="*/ 44 w 245"/>
                <a:gd name="T33" fmla="*/ 84 h 426"/>
                <a:gd name="T34" fmla="*/ 49 w 245"/>
                <a:gd name="T35" fmla="*/ 85 h 426"/>
                <a:gd name="T36" fmla="*/ 49 w 245"/>
                <a:gd name="T37" fmla="*/ 83 h 426"/>
                <a:gd name="T38" fmla="*/ 44 w 245"/>
                <a:gd name="T39" fmla="*/ 82 h 426"/>
                <a:gd name="T40" fmla="*/ 40 w 245"/>
                <a:gd name="T41" fmla="*/ 81 h 426"/>
                <a:gd name="T42" fmla="*/ 36 w 245"/>
                <a:gd name="T43" fmla="*/ 79 h 426"/>
                <a:gd name="T44" fmla="*/ 31 w 245"/>
                <a:gd name="T45" fmla="*/ 76 h 426"/>
                <a:gd name="T46" fmla="*/ 27 w 245"/>
                <a:gd name="T47" fmla="*/ 73 h 426"/>
                <a:gd name="T48" fmla="*/ 23 w 245"/>
                <a:gd name="T49" fmla="*/ 69 h 426"/>
                <a:gd name="T50" fmla="*/ 20 w 245"/>
                <a:gd name="T51" fmla="*/ 64 h 426"/>
                <a:gd name="T52" fmla="*/ 16 w 245"/>
                <a:gd name="T53" fmla="*/ 58 h 426"/>
                <a:gd name="T54" fmla="*/ 13 w 245"/>
                <a:gd name="T55" fmla="*/ 53 h 426"/>
                <a:gd name="T56" fmla="*/ 11 w 245"/>
                <a:gd name="T57" fmla="*/ 46 h 426"/>
                <a:gd name="T58" fmla="*/ 8 w 245"/>
                <a:gd name="T59" fmla="*/ 39 h 426"/>
                <a:gd name="T60" fmla="*/ 6 w 245"/>
                <a:gd name="T61" fmla="*/ 32 h 426"/>
                <a:gd name="T62" fmla="*/ 5 w 245"/>
                <a:gd name="T63" fmla="*/ 25 h 426"/>
                <a:gd name="T64" fmla="*/ 3 w 245"/>
                <a:gd name="T65" fmla="*/ 17 h 426"/>
                <a:gd name="T66" fmla="*/ 3 w 245"/>
                <a:gd name="T67" fmla="*/ 8 h 426"/>
                <a:gd name="T68" fmla="*/ 2 w 245"/>
                <a:gd name="T69" fmla="*/ 0 h 426"/>
                <a:gd name="T70" fmla="*/ 2 w 245"/>
                <a:gd name="T71" fmla="*/ 0 h 426"/>
                <a:gd name="T72" fmla="*/ 0 w 245"/>
                <a:gd name="T73" fmla="*/ 0 h 42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6">
                  <a:moveTo>
                    <a:pt x="0" y="0"/>
                  </a:moveTo>
                  <a:lnTo>
                    <a:pt x="0" y="0"/>
                  </a:lnTo>
                  <a:lnTo>
                    <a:pt x="1" y="42"/>
                  </a:lnTo>
                  <a:lnTo>
                    <a:pt x="5" y="86"/>
                  </a:lnTo>
                  <a:lnTo>
                    <a:pt x="11" y="126"/>
                  </a:lnTo>
                  <a:lnTo>
                    <a:pt x="19" y="164"/>
                  </a:lnTo>
                  <a:lnTo>
                    <a:pt x="30" y="202"/>
                  </a:lnTo>
                  <a:lnTo>
                    <a:pt x="41" y="236"/>
                  </a:lnTo>
                  <a:lnTo>
                    <a:pt x="55" y="269"/>
                  </a:lnTo>
                  <a:lnTo>
                    <a:pt x="71" y="299"/>
                  </a:lnTo>
                  <a:lnTo>
                    <a:pt x="89" y="327"/>
                  </a:lnTo>
                  <a:lnTo>
                    <a:pt x="107" y="351"/>
                  </a:lnTo>
                  <a:lnTo>
                    <a:pt x="127" y="373"/>
                  </a:lnTo>
                  <a:lnTo>
                    <a:pt x="149" y="392"/>
                  </a:lnTo>
                  <a:lnTo>
                    <a:pt x="171" y="407"/>
                  </a:lnTo>
                  <a:lnTo>
                    <a:pt x="195" y="418"/>
                  </a:lnTo>
                  <a:lnTo>
                    <a:pt x="219" y="423"/>
                  </a:lnTo>
                  <a:lnTo>
                    <a:pt x="245" y="426"/>
                  </a:lnTo>
                  <a:lnTo>
                    <a:pt x="245" y="414"/>
                  </a:lnTo>
                  <a:lnTo>
                    <a:pt x="222" y="412"/>
                  </a:lnTo>
                  <a:lnTo>
                    <a:pt x="199" y="406"/>
                  </a:lnTo>
                  <a:lnTo>
                    <a:pt x="178" y="395"/>
                  </a:lnTo>
                  <a:lnTo>
                    <a:pt x="156" y="382"/>
                  </a:lnTo>
                  <a:lnTo>
                    <a:pt x="136" y="364"/>
                  </a:lnTo>
                  <a:lnTo>
                    <a:pt x="116" y="344"/>
                  </a:lnTo>
                  <a:lnTo>
                    <a:pt x="99" y="320"/>
                  </a:lnTo>
                  <a:lnTo>
                    <a:pt x="82" y="292"/>
                  </a:lnTo>
                  <a:lnTo>
                    <a:pt x="67" y="264"/>
                  </a:lnTo>
                  <a:lnTo>
                    <a:pt x="53" y="231"/>
                  </a:lnTo>
                  <a:lnTo>
                    <a:pt x="41" y="197"/>
                  </a:lnTo>
                  <a:lnTo>
                    <a:pt x="31" y="162"/>
                  </a:lnTo>
                  <a:lnTo>
                    <a:pt x="23" y="123"/>
                  </a:lnTo>
                  <a:lnTo>
                    <a:pt x="17" y="83"/>
                  </a:lnTo>
                  <a:lnTo>
                    <a:pt x="13" y="42"/>
                  </a:lnTo>
                  <a:lnTo>
                    <a:pt x="1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52" name="Freeform 58"/>
            <p:cNvSpPr>
              <a:spLocks/>
            </p:cNvSpPr>
            <p:nvPr/>
          </p:nvSpPr>
          <p:spPr bwMode="auto">
            <a:xfrm>
              <a:off x="1516" y="2016"/>
              <a:ext cx="49" cy="85"/>
            </a:xfrm>
            <a:custGeom>
              <a:avLst/>
              <a:gdLst>
                <a:gd name="T0" fmla="*/ 49 w 245"/>
                <a:gd name="T1" fmla="*/ 0 h 424"/>
                <a:gd name="T2" fmla="*/ 49 w 245"/>
                <a:gd name="T3" fmla="*/ 0 h 424"/>
                <a:gd name="T4" fmla="*/ 44 w 245"/>
                <a:gd name="T5" fmla="*/ 0 h 424"/>
                <a:gd name="T6" fmla="*/ 39 w 245"/>
                <a:gd name="T7" fmla="*/ 2 h 424"/>
                <a:gd name="T8" fmla="*/ 34 w 245"/>
                <a:gd name="T9" fmla="*/ 4 h 424"/>
                <a:gd name="T10" fmla="*/ 30 w 245"/>
                <a:gd name="T11" fmla="*/ 7 h 424"/>
                <a:gd name="T12" fmla="*/ 25 w 245"/>
                <a:gd name="T13" fmla="*/ 10 h 424"/>
                <a:gd name="T14" fmla="*/ 21 w 245"/>
                <a:gd name="T15" fmla="*/ 15 h 424"/>
                <a:gd name="T16" fmla="*/ 18 w 245"/>
                <a:gd name="T17" fmla="*/ 20 h 424"/>
                <a:gd name="T18" fmla="*/ 14 w 245"/>
                <a:gd name="T19" fmla="*/ 25 h 424"/>
                <a:gd name="T20" fmla="*/ 11 w 245"/>
                <a:gd name="T21" fmla="*/ 31 h 424"/>
                <a:gd name="T22" fmla="*/ 8 w 245"/>
                <a:gd name="T23" fmla="*/ 38 h 424"/>
                <a:gd name="T24" fmla="*/ 6 w 245"/>
                <a:gd name="T25" fmla="*/ 45 h 424"/>
                <a:gd name="T26" fmla="*/ 4 w 245"/>
                <a:gd name="T27" fmla="*/ 52 h 424"/>
                <a:gd name="T28" fmla="*/ 2 w 245"/>
                <a:gd name="T29" fmla="*/ 60 h 424"/>
                <a:gd name="T30" fmla="*/ 1 w 245"/>
                <a:gd name="T31" fmla="*/ 68 h 424"/>
                <a:gd name="T32" fmla="*/ 0 w 245"/>
                <a:gd name="T33" fmla="*/ 77 h 424"/>
                <a:gd name="T34" fmla="*/ 0 w 245"/>
                <a:gd name="T35" fmla="*/ 85 h 424"/>
                <a:gd name="T36" fmla="*/ 2 w 245"/>
                <a:gd name="T37" fmla="*/ 85 h 424"/>
                <a:gd name="T38" fmla="*/ 3 w 245"/>
                <a:gd name="T39" fmla="*/ 77 h 424"/>
                <a:gd name="T40" fmla="*/ 3 w 245"/>
                <a:gd name="T41" fmla="*/ 68 h 424"/>
                <a:gd name="T42" fmla="*/ 5 w 245"/>
                <a:gd name="T43" fmla="*/ 60 h 424"/>
                <a:gd name="T44" fmla="*/ 6 w 245"/>
                <a:gd name="T45" fmla="*/ 53 h 424"/>
                <a:gd name="T46" fmla="*/ 8 w 245"/>
                <a:gd name="T47" fmla="*/ 46 h 424"/>
                <a:gd name="T48" fmla="*/ 11 w 245"/>
                <a:gd name="T49" fmla="*/ 39 h 424"/>
                <a:gd name="T50" fmla="*/ 13 w 245"/>
                <a:gd name="T51" fmla="*/ 32 h 424"/>
                <a:gd name="T52" fmla="*/ 16 w 245"/>
                <a:gd name="T53" fmla="*/ 26 h 424"/>
                <a:gd name="T54" fmla="*/ 20 w 245"/>
                <a:gd name="T55" fmla="*/ 21 h 424"/>
                <a:gd name="T56" fmla="*/ 23 w 245"/>
                <a:gd name="T57" fmla="*/ 16 h 424"/>
                <a:gd name="T58" fmla="*/ 27 w 245"/>
                <a:gd name="T59" fmla="*/ 12 h 424"/>
                <a:gd name="T60" fmla="*/ 31 w 245"/>
                <a:gd name="T61" fmla="*/ 9 h 424"/>
                <a:gd name="T62" fmla="*/ 36 w 245"/>
                <a:gd name="T63" fmla="*/ 6 h 424"/>
                <a:gd name="T64" fmla="*/ 40 w 245"/>
                <a:gd name="T65" fmla="*/ 4 h 424"/>
                <a:gd name="T66" fmla="*/ 44 w 245"/>
                <a:gd name="T67" fmla="*/ 3 h 424"/>
                <a:gd name="T68" fmla="*/ 49 w 245"/>
                <a:gd name="T69" fmla="*/ 2 h 424"/>
                <a:gd name="T70" fmla="*/ 49 w 245"/>
                <a:gd name="T71" fmla="*/ 2 h 424"/>
                <a:gd name="T72" fmla="*/ 49 w 245"/>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5" h="424">
                  <a:moveTo>
                    <a:pt x="245" y="0"/>
                  </a:moveTo>
                  <a:lnTo>
                    <a:pt x="245" y="0"/>
                  </a:lnTo>
                  <a:lnTo>
                    <a:pt x="219" y="2"/>
                  </a:lnTo>
                  <a:lnTo>
                    <a:pt x="195" y="8"/>
                  </a:lnTo>
                  <a:lnTo>
                    <a:pt x="171" y="19"/>
                  </a:lnTo>
                  <a:lnTo>
                    <a:pt x="149" y="34"/>
                  </a:lnTo>
                  <a:lnTo>
                    <a:pt x="127" y="51"/>
                  </a:lnTo>
                  <a:lnTo>
                    <a:pt x="107" y="74"/>
                  </a:lnTo>
                  <a:lnTo>
                    <a:pt x="89" y="98"/>
                  </a:lnTo>
                  <a:lnTo>
                    <a:pt x="72" y="125"/>
                  </a:lnTo>
                  <a:lnTo>
                    <a:pt x="55" y="156"/>
                  </a:lnTo>
                  <a:lnTo>
                    <a:pt x="41" y="189"/>
                  </a:lnTo>
                  <a:lnTo>
                    <a:pt x="30" y="223"/>
                  </a:lnTo>
                  <a:lnTo>
                    <a:pt x="19" y="261"/>
                  </a:lnTo>
                  <a:lnTo>
                    <a:pt x="11" y="299"/>
                  </a:lnTo>
                  <a:lnTo>
                    <a:pt x="5" y="339"/>
                  </a:lnTo>
                  <a:lnTo>
                    <a:pt x="1" y="382"/>
                  </a:lnTo>
                  <a:lnTo>
                    <a:pt x="0" y="424"/>
                  </a:lnTo>
                  <a:lnTo>
                    <a:pt x="12" y="424"/>
                  </a:lnTo>
                  <a:lnTo>
                    <a:pt x="13" y="382"/>
                  </a:lnTo>
                  <a:lnTo>
                    <a:pt x="17" y="341"/>
                  </a:lnTo>
                  <a:lnTo>
                    <a:pt x="23" y="301"/>
                  </a:lnTo>
                  <a:lnTo>
                    <a:pt x="31" y="264"/>
                  </a:lnTo>
                  <a:lnTo>
                    <a:pt x="41" y="227"/>
                  </a:lnTo>
                  <a:lnTo>
                    <a:pt x="53" y="193"/>
                  </a:lnTo>
                  <a:lnTo>
                    <a:pt x="67" y="160"/>
                  </a:lnTo>
                  <a:lnTo>
                    <a:pt x="81" y="132"/>
                  </a:lnTo>
                  <a:lnTo>
                    <a:pt x="99" y="105"/>
                  </a:lnTo>
                  <a:lnTo>
                    <a:pt x="116" y="81"/>
                  </a:lnTo>
                  <a:lnTo>
                    <a:pt x="136" y="61"/>
                  </a:lnTo>
                  <a:lnTo>
                    <a:pt x="156" y="43"/>
                  </a:lnTo>
                  <a:lnTo>
                    <a:pt x="178" y="30"/>
                  </a:lnTo>
                  <a:lnTo>
                    <a:pt x="199" y="20"/>
                  </a:lnTo>
                  <a:lnTo>
                    <a:pt x="222" y="14"/>
                  </a:lnTo>
                  <a:lnTo>
                    <a:pt x="245" y="12"/>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pic>
        <p:nvPicPr>
          <p:cNvPr id="57" name="Picture 2" descr="C:\Users\BertrandS\Dropbox\Jeux\00. CONCEPTION DES JEUX\photos\Bureau Une Femme 29\iStock_000002139332_Medium ALLEGE.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141275" y="106073"/>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a:extLst/>
        </p:spPr>
      </p:pic>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show="0">
  <p:cSld>
    <p:bg>
      <p:bgPr>
        <a:solidFill>
          <a:schemeClr val="bg1"/>
        </a:solid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bwMode="auto">
          <a:xfrm>
            <a:off x="381000" y="982663"/>
            <a:ext cx="8556625" cy="56721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tabLst>
                <a:tab pos="3138488" algn="l"/>
              </a:tabLst>
            </a:pPr>
            <a:r>
              <a:rPr lang="fr-FR" altLang="fr-FR" sz="1400" smtClean="0">
                <a:solidFill>
                  <a:srgbClr val="0033CC"/>
                </a:solidFill>
              </a:rPr>
              <a:t>Nature des incidents.</a:t>
            </a:r>
          </a:p>
          <a:p>
            <a:pPr lvl="1" eaLnBrk="1" hangingPunct="1">
              <a:tabLst>
                <a:tab pos="3138488" algn="l"/>
              </a:tabLst>
            </a:pPr>
            <a:r>
              <a:rPr lang="fr-FR" altLang="fr-FR" sz="1400" smtClean="0">
                <a:solidFill>
                  <a:srgbClr val="0033CC"/>
                </a:solidFill>
              </a:rPr>
              <a:t>Chaque incident a un code selon sa nature (A1, A2, etc.) où la lettre indique la nature de l’incident :</a:t>
            </a:r>
          </a:p>
          <a:p>
            <a:pPr lvl="1" eaLnBrk="1" hangingPunct="1">
              <a:tabLst>
                <a:tab pos="3138488" algn="l"/>
              </a:tabLst>
            </a:pPr>
            <a:r>
              <a:rPr lang="fr-FR" altLang="fr-FR" sz="1400" smtClean="0">
                <a:solidFill>
                  <a:srgbClr val="0033CC"/>
                </a:solidFill>
              </a:rPr>
              <a:t>Q : Qualité </a:t>
            </a:r>
          </a:p>
          <a:p>
            <a:pPr lvl="1" eaLnBrk="1" hangingPunct="1">
              <a:tabLst>
                <a:tab pos="3138488" algn="l"/>
              </a:tabLst>
            </a:pPr>
            <a:r>
              <a:rPr lang="fr-FR" altLang="fr-FR" sz="1400" smtClean="0">
                <a:solidFill>
                  <a:srgbClr val="0033CC"/>
                </a:solidFill>
              </a:rPr>
              <a:t>P : Panne</a:t>
            </a:r>
          </a:p>
          <a:p>
            <a:pPr lvl="1" eaLnBrk="1" hangingPunct="1">
              <a:tabLst>
                <a:tab pos="3138488" algn="l"/>
              </a:tabLst>
            </a:pPr>
            <a:r>
              <a:rPr lang="fr-FR" altLang="fr-FR" sz="1400" smtClean="0">
                <a:solidFill>
                  <a:srgbClr val="0033CC"/>
                </a:solidFill>
              </a:rPr>
              <a:t>E : Effectifs (problèmes liés au personnel)</a:t>
            </a:r>
          </a:p>
          <a:p>
            <a:pPr lvl="1" eaLnBrk="1" hangingPunct="1">
              <a:tabLst>
                <a:tab pos="3138488" algn="l"/>
              </a:tabLst>
            </a:pPr>
            <a:r>
              <a:rPr lang="fr-FR" altLang="fr-FR" sz="1400" smtClean="0">
                <a:solidFill>
                  <a:srgbClr val="0033CC"/>
                </a:solidFill>
              </a:rPr>
              <a:t>A : Appros (et causes diverses)</a:t>
            </a:r>
          </a:p>
          <a:p>
            <a:pPr lvl="1" eaLnBrk="1" hangingPunct="1">
              <a:tabLst>
                <a:tab pos="3138488" algn="l"/>
              </a:tabLst>
            </a:pPr>
            <a:endParaRPr lang="fr-FR" altLang="fr-FR" sz="1400" smtClean="0">
              <a:solidFill>
                <a:srgbClr val="0033CC"/>
              </a:solidFill>
            </a:endParaRPr>
          </a:p>
          <a:p>
            <a:pPr eaLnBrk="1" hangingPunct="1">
              <a:lnSpc>
                <a:spcPct val="90000"/>
              </a:lnSpc>
              <a:tabLst>
                <a:tab pos="3138488" algn="l"/>
              </a:tabLst>
            </a:pPr>
            <a:r>
              <a:rPr lang="fr-FR" altLang="fr-FR" sz="1400" smtClean="0">
                <a:solidFill>
                  <a:srgbClr val="0033CC"/>
                </a:solidFill>
              </a:rPr>
              <a:t>Classement</a:t>
            </a:r>
          </a:p>
          <a:p>
            <a:pPr lvl="1" eaLnBrk="1" hangingPunct="1">
              <a:tabLst>
                <a:tab pos="3138488" algn="l"/>
              </a:tabLst>
            </a:pPr>
            <a:r>
              <a:rPr lang="fr-FR" altLang="fr-FR" sz="1400" smtClean="0">
                <a:solidFill>
                  <a:srgbClr val="0033CC"/>
                </a:solidFill>
              </a:rPr>
              <a:t>Les diapos qui suivent ne sont pas classées. Si l’animateur le juge utile, ou si les participants le demandent, il n’y a aucun inconvénient à ce qu’elles soient </a:t>
            </a:r>
            <a:r>
              <a:rPr lang="fr-FR" altLang="fr-FR" sz="1400" i="1" smtClean="0">
                <a:solidFill>
                  <a:srgbClr val="0033CC"/>
                </a:solidFill>
              </a:rPr>
              <a:t>battues</a:t>
            </a:r>
            <a:r>
              <a:rPr lang="fr-FR" altLang="fr-FR" sz="1400" smtClean="0">
                <a:solidFill>
                  <a:srgbClr val="0033CC"/>
                </a:solidFill>
              </a:rPr>
              <a:t> avant la simulation. Utilisez dans ce cas le mode trieuse de diapos.</a:t>
            </a:r>
          </a:p>
          <a:p>
            <a:pPr lvl="1" eaLnBrk="1" hangingPunct="1">
              <a:tabLst>
                <a:tab pos="3138488" algn="l"/>
              </a:tabLst>
            </a:pPr>
            <a:endParaRPr lang="fr-FR" altLang="fr-FR" sz="1400" smtClean="0">
              <a:solidFill>
                <a:srgbClr val="0033CC"/>
              </a:solidFill>
            </a:endParaRPr>
          </a:p>
          <a:p>
            <a:pPr eaLnBrk="1" hangingPunct="1">
              <a:tabLst>
                <a:tab pos="3138488" algn="l"/>
              </a:tabLst>
            </a:pPr>
            <a:r>
              <a:rPr lang="fr-FR" altLang="fr-FR" sz="1400" smtClean="0">
                <a:solidFill>
                  <a:srgbClr val="0033CC"/>
                </a:solidFill>
              </a:rPr>
              <a:t>Arrêt pour incident</a:t>
            </a:r>
          </a:p>
          <a:p>
            <a:pPr lvl="1" eaLnBrk="1" hangingPunct="1">
              <a:tabLst>
                <a:tab pos="3138488" algn="l"/>
              </a:tabLst>
            </a:pPr>
            <a:r>
              <a:rPr lang="fr-FR" altLang="fr-FR" sz="1400" smtClean="0">
                <a:solidFill>
                  <a:srgbClr val="0033CC"/>
                </a:solidFill>
              </a:rPr>
              <a:t>Quand un incident provoque un arrêt les joueurs ont la possibilité de préparer le montage d’une autre référence sur l’équipement. Si l’incident est une panne, ils doivent attendre la fin pour démarrer. S’il s’agit d’un manque d’approvisionnement, ils peuvent redémarrer dès la fin du nouveau réglage.</a:t>
            </a:r>
          </a:p>
          <a:p>
            <a:pPr lvl="1" eaLnBrk="1" hangingPunct="1">
              <a:tabLst>
                <a:tab pos="3138488" algn="l"/>
              </a:tabLst>
            </a:pPr>
            <a:r>
              <a:rPr lang="fr-FR" altLang="fr-FR" sz="1400" smtClean="0">
                <a:solidFill>
                  <a:srgbClr val="0033CC"/>
                </a:solidFill>
              </a:rPr>
              <a:t>Plus généralement, si les joueurs demandent ce qu’ils ont le droit de faire en cas d’incident, l’animateur répond en se référant aux possibilités jugées vraisemblables dans une situation réelle d’entreprise.</a:t>
            </a:r>
          </a:p>
        </p:txBody>
      </p:sp>
      <p:sp>
        <p:nvSpPr>
          <p:cNvPr id="5123" name="Rectangle 5"/>
          <p:cNvSpPr>
            <a:spLocks noGrp="1" noChangeArrowheads="1"/>
          </p:cNvSpPr>
          <p:nvPr>
            <p:ph type="title"/>
          </p:nvPr>
        </p:nvSpPr>
        <p:spPr bwMode="auto">
          <a:xfrm>
            <a:off x="1204913" y="219075"/>
            <a:ext cx="7656512" cy="7048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r>
              <a:rPr lang="fr-FR" altLang="fr-FR" sz="3000" smtClean="0">
                <a:solidFill>
                  <a:srgbClr val="0033CC"/>
                </a:solidFill>
              </a:rPr>
              <a:t>Codification des incidents</a:t>
            </a:r>
          </a:p>
        </p:txBody>
      </p:sp>
      <p:pic>
        <p:nvPicPr>
          <p:cNvPr id="5" name="Picture 2" descr="C:\Users\BertrandS\Dropbox\Jeux\00. CONCEPTION DES JEUX\photos\Bureau Une Femme 29\iStock_000002139332_Medium ALLEGE.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141275" y="106073"/>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a:extLst/>
        </p:spPr>
      </p:pic>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003300" y="690563"/>
            <a:ext cx="70199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Panne d’un chariot élévateur utilisé dans le magasin des pièces usinées.</a:t>
            </a:r>
          </a:p>
        </p:txBody>
      </p:sp>
      <p:sp>
        <p:nvSpPr>
          <p:cNvPr id="6147" name="Text Box 37"/>
          <p:cNvSpPr txBox="1">
            <a:spLocks noChangeArrowheads="1"/>
          </p:cNvSpPr>
          <p:nvPr/>
        </p:nvSpPr>
        <p:spPr bwMode="auto">
          <a:xfrm>
            <a:off x="4578350" y="30368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6148" name="Text Box 38"/>
          <p:cNvSpPr txBox="1">
            <a:spLocks noChangeArrowheads="1"/>
          </p:cNvSpPr>
          <p:nvPr/>
        </p:nvSpPr>
        <p:spPr bwMode="auto">
          <a:xfrm>
            <a:off x="5111750" y="4113213"/>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2 heures d’arrêt</a:t>
            </a:r>
          </a:p>
        </p:txBody>
      </p:sp>
      <p:sp>
        <p:nvSpPr>
          <p:cNvPr id="6149" name="Text Box 39"/>
          <p:cNvSpPr txBox="1">
            <a:spLocks noChangeArrowheads="1"/>
          </p:cNvSpPr>
          <p:nvPr/>
        </p:nvSpPr>
        <p:spPr bwMode="auto">
          <a:xfrm>
            <a:off x="5122863" y="5143500"/>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endParaRPr lang="fr-FR" altLang="fr-FR">
              <a:solidFill>
                <a:srgbClr val="0033CC"/>
              </a:solidFill>
            </a:endParaRPr>
          </a:p>
        </p:txBody>
      </p:sp>
      <p:sp>
        <p:nvSpPr>
          <p:cNvPr id="6150" name="Text Box 40"/>
          <p:cNvSpPr txBox="1">
            <a:spLocks noChangeArrowheads="1"/>
          </p:cNvSpPr>
          <p:nvPr/>
        </p:nvSpPr>
        <p:spPr bwMode="auto">
          <a:xfrm>
            <a:off x="8699500" y="6473825"/>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A8</a:t>
            </a:r>
          </a:p>
        </p:txBody>
      </p:sp>
      <p:sp>
        <p:nvSpPr>
          <p:cNvPr id="6151" name="Text Box 41"/>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grpSp>
        <p:nvGrpSpPr>
          <p:cNvPr id="6152" name="Group 43"/>
          <p:cNvGrpSpPr>
            <a:grpSpLocks/>
          </p:cNvGrpSpPr>
          <p:nvPr/>
        </p:nvGrpSpPr>
        <p:grpSpPr bwMode="auto">
          <a:xfrm>
            <a:off x="2092325" y="3008313"/>
            <a:ext cx="1552575" cy="2671762"/>
            <a:chOff x="1318" y="1895"/>
            <a:chExt cx="978" cy="1683"/>
          </a:xfrm>
        </p:grpSpPr>
        <p:sp>
          <p:nvSpPr>
            <p:cNvPr id="6153" name="AutoShape 4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54" name="Oval 4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55" name="AutoShape 46"/>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56" name="Oval 47"/>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57" name="Oval 48"/>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58" name="AutoShape 49"/>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59" name="Oval 50"/>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0" name="Oval 51"/>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1" name="Oval 52"/>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2" name="Oval 53"/>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3" name="AutoShape 54"/>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4" name="Oval 55"/>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5" name="Oval 56"/>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6" name="Oval 57"/>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7" name="Oval 58"/>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8" name="Oval 59"/>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69" name="AutoShape 60"/>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0" name="Oval 61"/>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1" name="Oval 62"/>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2" name="Oval 63"/>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3" name="AutoShape 64"/>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4" name="Oval 65"/>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5" name="Oval 66"/>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6" name="Oval 67"/>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7" name="Oval 68"/>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8" name="Oval 69"/>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79" name="Oval 70"/>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155700" y="776288"/>
            <a:ext cx="6496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Ouvrier inexpérimenté sur le poste, suite au départ à la retraite du titulaire.</a:t>
            </a:r>
          </a:p>
        </p:txBody>
      </p:sp>
      <p:sp>
        <p:nvSpPr>
          <p:cNvPr id="7171" name="Text Box 37"/>
          <p:cNvSpPr txBox="1">
            <a:spLocks noChangeArrowheads="1"/>
          </p:cNvSpPr>
          <p:nvPr/>
        </p:nvSpPr>
        <p:spPr bwMode="auto">
          <a:xfrm>
            <a:off x="4511675" y="30622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7172" name="Text Box 38"/>
          <p:cNvSpPr txBox="1">
            <a:spLocks noChangeArrowheads="1"/>
          </p:cNvSpPr>
          <p:nvPr/>
        </p:nvSpPr>
        <p:spPr bwMode="auto">
          <a:xfrm>
            <a:off x="8709025" y="6483350"/>
            <a:ext cx="4079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E7</a:t>
            </a:r>
          </a:p>
        </p:txBody>
      </p:sp>
      <p:sp>
        <p:nvSpPr>
          <p:cNvPr id="717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7174" name="Text Box 40"/>
          <p:cNvSpPr txBox="1">
            <a:spLocks noChangeArrowheads="1"/>
          </p:cNvSpPr>
          <p:nvPr/>
        </p:nvSpPr>
        <p:spPr bwMode="auto">
          <a:xfrm>
            <a:off x="4740275" y="4151313"/>
            <a:ext cx="293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7175" name="Text Box 41"/>
          <p:cNvSpPr txBox="1">
            <a:spLocks noChangeArrowheads="1"/>
          </p:cNvSpPr>
          <p:nvPr/>
        </p:nvSpPr>
        <p:spPr bwMode="auto">
          <a:xfrm>
            <a:off x="4654550" y="5065713"/>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br>
              <a:rPr lang="fr-FR" altLang="fr-FR" sz="2400">
                <a:solidFill>
                  <a:srgbClr val="0033CC"/>
                </a:solidFill>
              </a:rPr>
            </a:br>
            <a:r>
              <a:rPr lang="fr-FR" altLang="fr-FR">
                <a:solidFill>
                  <a:srgbClr val="0033CC"/>
                </a:solidFill>
              </a:rPr>
              <a:t>et 1 conteneur rebuté</a:t>
            </a:r>
          </a:p>
        </p:txBody>
      </p:sp>
      <p:grpSp>
        <p:nvGrpSpPr>
          <p:cNvPr id="7176" name="Group 43"/>
          <p:cNvGrpSpPr>
            <a:grpSpLocks/>
          </p:cNvGrpSpPr>
          <p:nvPr/>
        </p:nvGrpSpPr>
        <p:grpSpPr bwMode="auto">
          <a:xfrm>
            <a:off x="2092325" y="3008313"/>
            <a:ext cx="1552575" cy="2671762"/>
            <a:chOff x="1318" y="1895"/>
            <a:chExt cx="978" cy="1683"/>
          </a:xfrm>
        </p:grpSpPr>
        <p:sp>
          <p:nvSpPr>
            <p:cNvPr id="7178" name="AutoShape 4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9" name="Oval 4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0" name="AutoShape 46"/>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1" name="Oval 47"/>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2" name="Oval 48"/>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3" name="AutoShape 49"/>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4" name="Oval 50"/>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5" name="Oval 51"/>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6" name="Oval 52"/>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7" name="Oval 53"/>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8" name="AutoShape 54"/>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89" name="Oval 55"/>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0" name="Oval 56"/>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1" name="Oval 57"/>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2" name="Oval 58"/>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3" name="Oval 59"/>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4" name="AutoShape 60"/>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5" name="Oval 61"/>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6" name="Oval 62"/>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7" name="Oval 63"/>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8" name="AutoShape 64"/>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99" name="Oval 65"/>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00" name="Oval 66"/>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01" name="Oval 67"/>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02" name="Oval 68"/>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03" name="Oval 69"/>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04" name="Oval 70"/>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
        <p:nvSpPr>
          <p:cNvPr id="34887" name="Rectangle 71"/>
          <p:cNvSpPr>
            <a:spLocks noChangeArrowheads="1"/>
          </p:cNvSpPr>
          <p:nvPr/>
        </p:nvSpPr>
        <p:spPr bwMode="auto">
          <a:xfrm rot="-1127845">
            <a:off x="6069013" y="1422400"/>
            <a:ext cx="2386012" cy="1184275"/>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a:t>1 conteneur rebuté ?</a:t>
            </a:r>
          </a:p>
          <a:p>
            <a:pPr eaLnBrk="1" hangingPunct="1"/>
            <a:r>
              <a:rPr lang="fr-FR" altLang="fr-FR"/>
              <a:t>Le noter dans la colonne prévue à cet effet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8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12775" y="844550"/>
            <a:ext cx="79438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Grève de la société qui assure le transport du personnel</a:t>
            </a:r>
          </a:p>
        </p:txBody>
      </p:sp>
      <p:sp>
        <p:nvSpPr>
          <p:cNvPr id="8195" name="Text Box 37"/>
          <p:cNvSpPr txBox="1">
            <a:spLocks noChangeArrowheads="1"/>
          </p:cNvSpPr>
          <p:nvPr/>
        </p:nvSpPr>
        <p:spPr bwMode="auto">
          <a:xfrm>
            <a:off x="8709025" y="6483350"/>
            <a:ext cx="4079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E2</a:t>
            </a:r>
          </a:p>
        </p:txBody>
      </p:sp>
      <p:sp>
        <p:nvSpPr>
          <p:cNvPr id="8196" name="Text Box 38"/>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Tous</a:t>
            </a:r>
          </a:p>
        </p:txBody>
      </p:sp>
      <p:sp>
        <p:nvSpPr>
          <p:cNvPr id="8197" name="Text Box 39"/>
          <p:cNvSpPr txBox="1">
            <a:spLocks noChangeArrowheads="1"/>
          </p:cNvSpPr>
          <p:nvPr/>
        </p:nvSpPr>
        <p:spPr bwMode="auto">
          <a:xfrm>
            <a:off x="5124450" y="5018088"/>
            <a:ext cx="2168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de toute l’usine</a:t>
            </a:r>
          </a:p>
        </p:txBody>
      </p:sp>
      <p:sp>
        <p:nvSpPr>
          <p:cNvPr id="8198" name="Text Box 40"/>
          <p:cNvSpPr txBox="1">
            <a:spLocks noChangeArrowheads="1"/>
          </p:cNvSpPr>
          <p:nvPr/>
        </p:nvSpPr>
        <p:spPr bwMode="auto">
          <a:xfrm>
            <a:off x="4530725" y="2913063"/>
            <a:ext cx="33369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p>
          <a:p>
            <a:pPr eaLnBrk="1" hangingPunct="1"/>
            <a:r>
              <a:rPr lang="fr-FR" altLang="fr-FR">
                <a:solidFill>
                  <a:srgbClr val="0033CC"/>
                </a:solidFill>
              </a:rPr>
              <a:t>sur un poste au choix.</a:t>
            </a:r>
          </a:p>
        </p:txBody>
      </p:sp>
      <p:sp>
        <p:nvSpPr>
          <p:cNvPr id="8199" name="Text Box 41"/>
          <p:cNvSpPr txBox="1">
            <a:spLocks noChangeArrowheads="1"/>
          </p:cNvSpPr>
          <p:nvPr/>
        </p:nvSpPr>
        <p:spPr bwMode="auto">
          <a:xfrm>
            <a:off x="4549775" y="3998913"/>
            <a:ext cx="33369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de tout l’usinage.</a:t>
            </a:r>
          </a:p>
        </p:txBody>
      </p:sp>
      <p:grpSp>
        <p:nvGrpSpPr>
          <p:cNvPr id="8200" name="Group 42"/>
          <p:cNvGrpSpPr>
            <a:grpSpLocks/>
          </p:cNvGrpSpPr>
          <p:nvPr/>
        </p:nvGrpSpPr>
        <p:grpSpPr bwMode="auto">
          <a:xfrm>
            <a:off x="1627188" y="3022600"/>
            <a:ext cx="2543175" cy="2660650"/>
            <a:chOff x="1025" y="1904"/>
            <a:chExt cx="1602" cy="1676"/>
          </a:xfrm>
        </p:grpSpPr>
        <p:sp>
          <p:nvSpPr>
            <p:cNvPr id="8201" name="AutoShape 43"/>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2" name="Oval 44"/>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3" name="AutoShape 45"/>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4" name="Oval 46"/>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5" name="Oval 47"/>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6" name="AutoShape 48"/>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7" name="Oval 49"/>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8" name="Oval 50"/>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09" name="Oval 51"/>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0" name="Oval 52"/>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1" name="AutoShape 53"/>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2" name="Oval 54"/>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3" name="Oval 55"/>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4" name="Oval 56"/>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5" name="Oval 57"/>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6" name="Oval 58"/>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7" name="AutoShape 59"/>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8" name="Oval 60"/>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19" name="Oval 61"/>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0" name="Oval 62"/>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1" name="AutoShape 63"/>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2" name="Oval 64"/>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3" name="Oval 65"/>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4" name="Oval 66"/>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5" name="Oval 67"/>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6" name="Oval 68"/>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27" name="Oval 69"/>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727200" y="804863"/>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Arrêt pour mise en œuvre d’une nouvelle méthode de montage plus efficace</a:t>
            </a:r>
          </a:p>
        </p:txBody>
      </p:sp>
      <p:sp>
        <p:nvSpPr>
          <p:cNvPr id="9219" name="Text Box 3"/>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9220"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Q17</a:t>
            </a:r>
          </a:p>
        </p:txBody>
      </p:sp>
      <p:sp>
        <p:nvSpPr>
          <p:cNvPr id="9221"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9222" name="Text Box 6"/>
          <p:cNvSpPr txBox="1">
            <a:spLocks noChangeArrowheads="1"/>
          </p:cNvSpPr>
          <p:nvPr/>
        </p:nvSpPr>
        <p:spPr bwMode="auto">
          <a:xfrm>
            <a:off x="4568825" y="4075113"/>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9223" name="Text Box 7"/>
          <p:cNvSpPr txBox="1">
            <a:spLocks noChangeArrowheads="1"/>
          </p:cNvSpPr>
          <p:nvPr/>
        </p:nvSpPr>
        <p:spPr bwMode="auto">
          <a:xfrm>
            <a:off x="4559300" y="5141913"/>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9224" name="Group 42"/>
          <p:cNvGrpSpPr>
            <a:grpSpLocks/>
          </p:cNvGrpSpPr>
          <p:nvPr/>
        </p:nvGrpSpPr>
        <p:grpSpPr bwMode="auto">
          <a:xfrm>
            <a:off x="1597025" y="3013075"/>
            <a:ext cx="2533650" cy="2660650"/>
            <a:chOff x="1006" y="1898"/>
            <a:chExt cx="1596" cy="1676"/>
          </a:xfrm>
        </p:grpSpPr>
        <p:sp>
          <p:nvSpPr>
            <p:cNvPr id="9225"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26"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27"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28"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29"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0"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1"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2"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3"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4"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5"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6"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7"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8"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39"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0"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1"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2"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3"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4"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5"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6"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7"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8"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49"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50"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9251"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612775" y="844550"/>
            <a:ext cx="79438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La machine est jugée dangereuse par l’inspecteur du travail. Elle doit être arrêtée pour être modifiée.</a:t>
            </a:r>
          </a:p>
        </p:txBody>
      </p:sp>
      <p:sp>
        <p:nvSpPr>
          <p:cNvPr id="10243" name="Text Box 3"/>
          <p:cNvSpPr txBox="1">
            <a:spLocks noChangeArrowheads="1"/>
          </p:cNvSpPr>
          <p:nvPr/>
        </p:nvSpPr>
        <p:spPr bwMode="auto">
          <a:xfrm>
            <a:off x="8556625"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P22</a:t>
            </a:r>
          </a:p>
        </p:txBody>
      </p:sp>
      <p:sp>
        <p:nvSpPr>
          <p:cNvPr id="10244" name="Text Box 4"/>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10245" name="Text Box 5"/>
          <p:cNvSpPr txBox="1">
            <a:spLocks noChangeArrowheads="1"/>
          </p:cNvSpPr>
          <p:nvPr/>
        </p:nvSpPr>
        <p:spPr bwMode="auto">
          <a:xfrm>
            <a:off x="5037138" y="5151438"/>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p>
        </p:txBody>
      </p:sp>
      <p:sp>
        <p:nvSpPr>
          <p:cNvPr id="10246" name="Text Box 6"/>
          <p:cNvSpPr txBox="1">
            <a:spLocks noChangeArrowheads="1"/>
          </p:cNvSpPr>
          <p:nvPr/>
        </p:nvSpPr>
        <p:spPr bwMode="auto">
          <a:xfrm>
            <a:off x="4549775" y="2770188"/>
            <a:ext cx="33369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a:solidFill>
                  <a:srgbClr val="0033CC"/>
                </a:solidFill>
              </a:rPr>
              <a:t>programmée à n’importe quel moment de la semaine</a:t>
            </a:r>
          </a:p>
        </p:txBody>
      </p:sp>
      <p:sp>
        <p:nvSpPr>
          <p:cNvPr id="10247" name="Text Box 7"/>
          <p:cNvSpPr txBox="1">
            <a:spLocks noChangeArrowheads="1"/>
          </p:cNvSpPr>
          <p:nvPr/>
        </p:nvSpPr>
        <p:spPr bwMode="auto">
          <a:xfrm>
            <a:off x="4559300" y="3865563"/>
            <a:ext cx="33369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 </a:t>
            </a:r>
            <a:r>
              <a:rPr lang="fr-FR" altLang="fr-FR">
                <a:solidFill>
                  <a:srgbClr val="0033CC"/>
                </a:solidFill>
              </a:rPr>
              <a:t>programmées à n’importe quel moment de la semaine</a:t>
            </a:r>
          </a:p>
        </p:txBody>
      </p:sp>
      <p:grpSp>
        <p:nvGrpSpPr>
          <p:cNvPr id="10248" name="Group 8"/>
          <p:cNvGrpSpPr>
            <a:grpSpLocks/>
          </p:cNvGrpSpPr>
          <p:nvPr/>
        </p:nvGrpSpPr>
        <p:grpSpPr bwMode="auto">
          <a:xfrm>
            <a:off x="1627188" y="3022600"/>
            <a:ext cx="2543175" cy="2660650"/>
            <a:chOff x="1025" y="1904"/>
            <a:chExt cx="1602" cy="1676"/>
          </a:xfrm>
        </p:grpSpPr>
        <p:sp>
          <p:nvSpPr>
            <p:cNvPr id="10249" name="AutoShape 9"/>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0" name="Oval 10"/>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1" name="AutoShape 11"/>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2" name="Oval 12"/>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3" name="Oval 13"/>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4" name="AutoShape 14"/>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5" name="Oval 15"/>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6" name="Oval 16"/>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7" name="Oval 17"/>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8" name="Oval 18"/>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59" name="AutoShape 19"/>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0" name="Oval 20"/>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1" name="Oval 21"/>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2" name="Oval 22"/>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3" name="Oval 23"/>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4" name="Oval 24"/>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5" name="AutoShape 25"/>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6" name="Oval 26"/>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7" name="Oval 27"/>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8" name="Oval 28"/>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69" name="AutoShape 29"/>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70" name="Oval 30"/>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71" name="Oval 31"/>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72" name="Oval 32"/>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73" name="Oval 33"/>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74" name="Oval 34"/>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0275" name="Oval 35"/>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612775" y="844550"/>
            <a:ext cx="79438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Accident du travail (choc à la main droite).</a:t>
            </a:r>
          </a:p>
        </p:txBody>
      </p:sp>
      <p:sp>
        <p:nvSpPr>
          <p:cNvPr id="11267" name="Text Box 37"/>
          <p:cNvSpPr txBox="1">
            <a:spLocks noChangeArrowheads="1"/>
          </p:cNvSpPr>
          <p:nvPr/>
        </p:nvSpPr>
        <p:spPr bwMode="auto">
          <a:xfrm>
            <a:off x="8709025" y="6483350"/>
            <a:ext cx="4079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E9</a:t>
            </a:r>
          </a:p>
        </p:txBody>
      </p:sp>
      <p:sp>
        <p:nvSpPr>
          <p:cNvPr id="11268" name="Text Box 38"/>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11269" name="Text Box 39"/>
          <p:cNvSpPr txBox="1">
            <a:spLocks noChangeArrowheads="1"/>
          </p:cNvSpPr>
          <p:nvPr/>
        </p:nvSpPr>
        <p:spPr bwMode="auto">
          <a:xfrm>
            <a:off x="4530725" y="4875213"/>
            <a:ext cx="34083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br>
              <a:rPr lang="fr-FR" altLang="fr-FR" sz="2400">
                <a:solidFill>
                  <a:srgbClr val="0033CC"/>
                </a:solidFill>
              </a:rPr>
            </a:br>
            <a:r>
              <a:rPr lang="fr-FR" altLang="fr-FR">
                <a:solidFill>
                  <a:srgbClr val="0033CC"/>
                </a:solidFill>
              </a:rPr>
              <a:t>de tout le personnel de l’usine avec le Délégué du personnel</a:t>
            </a:r>
          </a:p>
        </p:txBody>
      </p:sp>
      <p:sp>
        <p:nvSpPr>
          <p:cNvPr id="11270" name="Text Box 40"/>
          <p:cNvSpPr txBox="1">
            <a:spLocks noChangeArrowheads="1"/>
          </p:cNvSpPr>
          <p:nvPr/>
        </p:nvSpPr>
        <p:spPr bwMode="auto">
          <a:xfrm>
            <a:off x="4578350" y="30368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p>
        </p:txBody>
      </p:sp>
      <p:sp>
        <p:nvSpPr>
          <p:cNvPr id="11271" name="Text Box 41"/>
          <p:cNvSpPr txBox="1">
            <a:spLocks noChangeArrowheads="1"/>
          </p:cNvSpPr>
          <p:nvPr/>
        </p:nvSpPr>
        <p:spPr bwMode="auto">
          <a:xfrm>
            <a:off x="4540250" y="3922713"/>
            <a:ext cx="33369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br>
              <a:rPr lang="fr-FR" altLang="fr-FR" sz="2400">
                <a:solidFill>
                  <a:srgbClr val="0033CC"/>
                </a:solidFill>
              </a:rPr>
            </a:br>
            <a:r>
              <a:rPr lang="fr-FR" altLang="fr-FR" sz="2400">
                <a:solidFill>
                  <a:srgbClr val="0033CC"/>
                </a:solidFill>
              </a:rPr>
              <a:t>(</a:t>
            </a:r>
            <a:r>
              <a:rPr lang="fr-FR" altLang="fr-FR" sz="2000">
                <a:solidFill>
                  <a:srgbClr val="0033CC"/>
                </a:solidFill>
              </a:rPr>
              <a:t>entaille profonde).</a:t>
            </a:r>
          </a:p>
        </p:txBody>
      </p:sp>
      <p:grpSp>
        <p:nvGrpSpPr>
          <p:cNvPr id="11272" name="Group 42"/>
          <p:cNvGrpSpPr>
            <a:grpSpLocks/>
          </p:cNvGrpSpPr>
          <p:nvPr/>
        </p:nvGrpSpPr>
        <p:grpSpPr bwMode="auto">
          <a:xfrm>
            <a:off x="1627188" y="3022600"/>
            <a:ext cx="2543175" cy="2660650"/>
            <a:chOff x="1025" y="1904"/>
            <a:chExt cx="1602" cy="1676"/>
          </a:xfrm>
        </p:grpSpPr>
        <p:sp>
          <p:nvSpPr>
            <p:cNvPr id="11273" name="AutoShape 43"/>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74" name="Oval 44"/>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75" name="AutoShape 45"/>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76" name="Oval 46"/>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77" name="Oval 47"/>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78" name="AutoShape 48"/>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79" name="Oval 49"/>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0" name="Oval 50"/>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1" name="Oval 51"/>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2" name="Oval 52"/>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3" name="AutoShape 53"/>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4" name="Oval 54"/>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5" name="Oval 55"/>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6" name="Oval 56"/>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7" name="Oval 57"/>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8" name="Oval 58"/>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89" name="AutoShape 59"/>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0" name="Oval 60"/>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1" name="Oval 61"/>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2" name="Oval 62"/>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3" name="AutoShape 63"/>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4" name="Oval 64"/>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5" name="Oval 65"/>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6" name="Oval 66"/>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7" name="Oval 67"/>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8" name="Oval 68"/>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1299" name="Oval 69"/>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796925" y="806450"/>
            <a:ext cx="7624763"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compresseur est très bruyant car le capot d’insonorisation est cassé. Le personnel proteste contre la nuisance.</a:t>
            </a:r>
          </a:p>
        </p:txBody>
      </p:sp>
      <p:sp>
        <p:nvSpPr>
          <p:cNvPr id="12291" name="Text Box 37"/>
          <p:cNvSpPr txBox="1">
            <a:spLocks noChangeArrowheads="1"/>
          </p:cNvSpPr>
          <p:nvPr/>
        </p:nvSpPr>
        <p:spPr bwMode="auto">
          <a:xfrm>
            <a:off x="5405438" y="3021013"/>
            <a:ext cx="1658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12292" name="Text Box 38"/>
          <p:cNvSpPr txBox="1">
            <a:spLocks noChangeArrowheads="1"/>
          </p:cNvSpPr>
          <p:nvPr/>
        </p:nvSpPr>
        <p:spPr bwMode="auto">
          <a:xfrm>
            <a:off x="4864100" y="3970338"/>
            <a:ext cx="282575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p>
          <a:p>
            <a:pPr eaLnBrk="1" hangingPunct="1"/>
            <a:r>
              <a:rPr lang="fr-FR" altLang="fr-FR">
                <a:solidFill>
                  <a:srgbClr val="0033CC"/>
                </a:solidFill>
              </a:rPr>
              <a:t>d’un des postes d’usinage</a:t>
            </a:r>
          </a:p>
        </p:txBody>
      </p:sp>
      <p:sp>
        <p:nvSpPr>
          <p:cNvPr id="12293" name="Text Box 39"/>
          <p:cNvSpPr txBox="1">
            <a:spLocks noChangeArrowheads="1"/>
          </p:cNvSpPr>
          <p:nvPr/>
        </p:nvSpPr>
        <p:spPr bwMode="auto">
          <a:xfrm>
            <a:off x="4530725" y="5048250"/>
            <a:ext cx="344805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aux Engrenages et Carters</a:t>
            </a:r>
          </a:p>
        </p:txBody>
      </p:sp>
      <p:sp>
        <p:nvSpPr>
          <p:cNvPr id="12294" name="Text Box 40"/>
          <p:cNvSpPr txBox="1">
            <a:spLocks noChangeArrowheads="1"/>
          </p:cNvSpPr>
          <p:nvPr/>
        </p:nvSpPr>
        <p:spPr bwMode="auto">
          <a:xfrm>
            <a:off x="8707438" y="646430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E3</a:t>
            </a:r>
          </a:p>
        </p:txBody>
      </p:sp>
      <p:sp>
        <p:nvSpPr>
          <p:cNvPr id="12295"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Tous</a:t>
            </a:r>
          </a:p>
        </p:txBody>
      </p:sp>
      <p:grpSp>
        <p:nvGrpSpPr>
          <p:cNvPr id="12296" name="Group 42"/>
          <p:cNvGrpSpPr>
            <a:grpSpLocks/>
          </p:cNvGrpSpPr>
          <p:nvPr/>
        </p:nvGrpSpPr>
        <p:grpSpPr bwMode="auto">
          <a:xfrm>
            <a:off x="1597025" y="3013075"/>
            <a:ext cx="2533650" cy="2660650"/>
            <a:chOff x="1006" y="1898"/>
            <a:chExt cx="1596" cy="1676"/>
          </a:xfrm>
        </p:grpSpPr>
        <p:sp>
          <p:nvSpPr>
            <p:cNvPr id="12297"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298"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299"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0"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1"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2"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3"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4"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5"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6"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7"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8"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09"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0"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1"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2"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3"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4"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5"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6"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7"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8"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19"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20"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21"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22"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2323"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911225" y="746125"/>
            <a:ext cx="75088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Pour faire face à la hausse des commandes,</a:t>
            </a:r>
            <a:br>
              <a:rPr lang="fr-FR" altLang="fr-FR" sz="2200">
                <a:solidFill>
                  <a:srgbClr val="FF3300"/>
                </a:solidFill>
              </a:rPr>
            </a:br>
            <a:r>
              <a:rPr lang="fr-FR" altLang="fr-FR" sz="2200">
                <a:solidFill>
                  <a:srgbClr val="FF3300"/>
                </a:solidFill>
              </a:rPr>
              <a:t>on travaille un jour férié et cela désorganise la production.</a:t>
            </a:r>
          </a:p>
        </p:txBody>
      </p:sp>
      <p:sp>
        <p:nvSpPr>
          <p:cNvPr id="13315" name="Text Box 37"/>
          <p:cNvSpPr txBox="1">
            <a:spLocks noChangeArrowheads="1"/>
          </p:cNvSpPr>
          <p:nvPr/>
        </p:nvSpPr>
        <p:spPr bwMode="auto">
          <a:xfrm>
            <a:off x="4559300" y="30368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13316" name="Text Box 38"/>
          <p:cNvSpPr txBox="1">
            <a:spLocks noChangeArrowheads="1"/>
          </p:cNvSpPr>
          <p:nvPr/>
        </p:nvSpPr>
        <p:spPr bwMode="auto">
          <a:xfrm>
            <a:off x="8567738"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E13</a:t>
            </a:r>
          </a:p>
        </p:txBody>
      </p:sp>
      <p:sp>
        <p:nvSpPr>
          <p:cNvPr id="13317"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13318" name="Text Box 40"/>
          <p:cNvSpPr txBox="1">
            <a:spLocks noChangeArrowheads="1"/>
          </p:cNvSpPr>
          <p:nvPr/>
        </p:nvSpPr>
        <p:spPr bwMode="auto">
          <a:xfrm>
            <a:off x="4568825" y="4017963"/>
            <a:ext cx="331787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br>
              <a:rPr lang="fr-FR" altLang="fr-FR" sz="2400">
                <a:solidFill>
                  <a:srgbClr val="0033CC"/>
                </a:solidFill>
              </a:rPr>
            </a:br>
            <a:r>
              <a:rPr lang="fr-FR" altLang="fr-FR">
                <a:solidFill>
                  <a:srgbClr val="0033CC"/>
                </a:solidFill>
              </a:rPr>
              <a:t>aux Engrenages</a:t>
            </a:r>
          </a:p>
        </p:txBody>
      </p:sp>
      <p:sp>
        <p:nvSpPr>
          <p:cNvPr id="13319" name="Text Box 41"/>
          <p:cNvSpPr txBox="1">
            <a:spLocks noChangeArrowheads="1"/>
          </p:cNvSpPr>
          <p:nvPr/>
        </p:nvSpPr>
        <p:spPr bwMode="auto">
          <a:xfrm>
            <a:off x="4597400" y="5008563"/>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br>
              <a:rPr lang="fr-FR" altLang="fr-FR" sz="2400">
                <a:solidFill>
                  <a:srgbClr val="0033CC"/>
                </a:solidFill>
              </a:rPr>
            </a:br>
            <a:r>
              <a:rPr lang="fr-FR" altLang="fr-FR">
                <a:solidFill>
                  <a:srgbClr val="0033CC"/>
                </a:solidFill>
              </a:rPr>
              <a:t>pour l’ensemble de l’usinage</a:t>
            </a:r>
          </a:p>
        </p:txBody>
      </p:sp>
      <p:grpSp>
        <p:nvGrpSpPr>
          <p:cNvPr id="13320" name="Group 71"/>
          <p:cNvGrpSpPr>
            <a:grpSpLocks/>
          </p:cNvGrpSpPr>
          <p:nvPr/>
        </p:nvGrpSpPr>
        <p:grpSpPr bwMode="auto">
          <a:xfrm>
            <a:off x="1627188" y="3022600"/>
            <a:ext cx="2543175" cy="2660650"/>
            <a:chOff x="1025" y="1904"/>
            <a:chExt cx="1602" cy="1676"/>
          </a:xfrm>
        </p:grpSpPr>
        <p:sp>
          <p:nvSpPr>
            <p:cNvPr id="13321" name="AutoShape 72"/>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2" name="Oval 73"/>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3" name="AutoShape 74"/>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4" name="Oval 75"/>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5" name="Oval 76"/>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6" name="AutoShape 77"/>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7" name="Oval 78"/>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8" name="Oval 79"/>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29" name="Oval 80"/>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0" name="Oval 81"/>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1" name="AutoShape 82"/>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2" name="Oval 83"/>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3" name="Oval 84"/>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4" name="Oval 85"/>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5" name="Oval 86"/>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6" name="Oval 87"/>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7" name="AutoShape 88"/>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8" name="Oval 89"/>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39" name="Oval 90"/>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0" name="Oval 91"/>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1" name="AutoShape 92"/>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2" name="Oval 93"/>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3" name="Oval 94"/>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4" name="Oval 95"/>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5" name="Oval 96"/>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6" name="Oval 97"/>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3347" name="Oval 98"/>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736600" y="871538"/>
            <a:ext cx="74866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Montage d’un nouveau dispositif de serrage des pièces</a:t>
            </a:r>
          </a:p>
        </p:txBody>
      </p:sp>
      <p:sp>
        <p:nvSpPr>
          <p:cNvPr id="14339" name="Text Box 3"/>
          <p:cNvSpPr txBox="1">
            <a:spLocks noChangeArrowheads="1"/>
          </p:cNvSpPr>
          <p:nvPr/>
        </p:nvSpPr>
        <p:spPr bwMode="auto">
          <a:xfrm>
            <a:off x="4549775" y="31130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14340" name="Text Box 4"/>
          <p:cNvSpPr txBox="1">
            <a:spLocks noChangeArrowheads="1"/>
          </p:cNvSpPr>
          <p:nvPr/>
        </p:nvSpPr>
        <p:spPr bwMode="auto">
          <a:xfrm>
            <a:off x="8710613" y="648335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P2</a:t>
            </a:r>
          </a:p>
        </p:txBody>
      </p:sp>
      <p:sp>
        <p:nvSpPr>
          <p:cNvPr id="14341"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14342" name="Text Box 6"/>
          <p:cNvSpPr txBox="1">
            <a:spLocks noChangeArrowheads="1"/>
          </p:cNvSpPr>
          <p:nvPr/>
        </p:nvSpPr>
        <p:spPr bwMode="auto">
          <a:xfrm>
            <a:off x="4559300" y="415131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endParaRPr lang="fr-FR" altLang="fr-FR">
              <a:solidFill>
                <a:srgbClr val="0033CC"/>
              </a:solidFill>
            </a:endParaRPr>
          </a:p>
        </p:txBody>
      </p:sp>
      <p:sp>
        <p:nvSpPr>
          <p:cNvPr id="14343" name="Text Box 7"/>
          <p:cNvSpPr txBox="1">
            <a:spLocks noChangeArrowheads="1"/>
          </p:cNvSpPr>
          <p:nvPr/>
        </p:nvSpPr>
        <p:spPr bwMode="auto">
          <a:xfrm>
            <a:off x="4635500" y="5160963"/>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endParaRPr lang="fr-FR" altLang="fr-FR">
              <a:solidFill>
                <a:srgbClr val="0033CC"/>
              </a:solidFill>
            </a:endParaRPr>
          </a:p>
        </p:txBody>
      </p:sp>
      <p:grpSp>
        <p:nvGrpSpPr>
          <p:cNvPr id="14344" name="Group 42"/>
          <p:cNvGrpSpPr>
            <a:grpSpLocks/>
          </p:cNvGrpSpPr>
          <p:nvPr/>
        </p:nvGrpSpPr>
        <p:grpSpPr bwMode="auto">
          <a:xfrm>
            <a:off x="1627188" y="3022600"/>
            <a:ext cx="2543175" cy="2660650"/>
            <a:chOff x="1025" y="1904"/>
            <a:chExt cx="1602" cy="1676"/>
          </a:xfrm>
        </p:grpSpPr>
        <p:sp>
          <p:nvSpPr>
            <p:cNvPr id="14345" name="AutoShape 43"/>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46" name="Oval 44"/>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47" name="AutoShape 45"/>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48" name="Oval 46"/>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49" name="Oval 47"/>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0" name="AutoShape 48"/>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1" name="Oval 49"/>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2" name="Oval 50"/>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3" name="Oval 51"/>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4" name="Oval 52"/>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5" name="AutoShape 53"/>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6" name="Oval 54"/>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7" name="Oval 55"/>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8" name="Oval 56"/>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59" name="Oval 57"/>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0" name="Oval 58"/>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1" name="AutoShape 59"/>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2" name="Oval 60"/>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3" name="Oval 61"/>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4" name="Oval 62"/>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5" name="AutoShape 63"/>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6" name="Oval 64"/>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7" name="Oval 65"/>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8" name="Oval 66"/>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69" name="Oval 67"/>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70" name="Oval 68"/>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4371" name="Oval 69"/>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612775" y="844550"/>
            <a:ext cx="79438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Un actionnaire important a demandé un audit comptable. </a:t>
            </a:r>
          </a:p>
          <a:p>
            <a:pPr eaLnBrk="1" hangingPunct="1">
              <a:lnSpc>
                <a:spcPct val="110000"/>
              </a:lnSpc>
            </a:pPr>
            <a:r>
              <a:rPr lang="fr-FR" altLang="fr-FR" sz="2200">
                <a:solidFill>
                  <a:srgbClr val="FF3300"/>
                </a:solidFill>
              </a:rPr>
              <a:t>Un inventaire des en-cours doit être réalisé rapidement.</a:t>
            </a:r>
          </a:p>
        </p:txBody>
      </p:sp>
      <p:sp>
        <p:nvSpPr>
          <p:cNvPr id="15363" name="Text Box 3"/>
          <p:cNvSpPr txBox="1">
            <a:spLocks noChangeArrowheads="1"/>
          </p:cNvSpPr>
          <p:nvPr/>
        </p:nvSpPr>
        <p:spPr bwMode="auto">
          <a:xfrm>
            <a:off x="8540750"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Q28</a:t>
            </a:r>
          </a:p>
        </p:txBody>
      </p:sp>
      <p:sp>
        <p:nvSpPr>
          <p:cNvPr id="15364" name="Text Box 4"/>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Usinage</a:t>
            </a:r>
          </a:p>
        </p:txBody>
      </p:sp>
      <p:sp>
        <p:nvSpPr>
          <p:cNvPr id="15365" name="Text Box 5"/>
          <p:cNvSpPr txBox="1">
            <a:spLocks noChangeArrowheads="1"/>
          </p:cNvSpPr>
          <p:nvPr/>
        </p:nvSpPr>
        <p:spPr bwMode="auto">
          <a:xfrm>
            <a:off x="5124450" y="5018088"/>
            <a:ext cx="2168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de toute l’usine</a:t>
            </a:r>
          </a:p>
        </p:txBody>
      </p:sp>
      <p:sp>
        <p:nvSpPr>
          <p:cNvPr id="15366" name="Text Box 6"/>
          <p:cNvSpPr txBox="1">
            <a:spLocks noChangeArrowheads="1"/>
          </p:cNvSpPr>
          <p:nvPr/>
        </p:nvSpPr>
        <p:spPr bwMode="auto">
          <a:xfrm>
            <a:off x="4576763" y="2897188"/>
            <a:ext cx="33369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du poste Couronnes ph. B</a:t>
            </a:r>
            <a:endParaRPr lang="fr-FR" altLang="fr-FR">
              <a:solidFill>
                <a:srgbClr val="0033CC"/>
              </a:solidFill>
            </a:endParaRPr>
          </a:p>
        </p:txBody>
      </p:sp>
      <p:sp>
        <p:nvSpPr>
          <p:cNvPr id="15367" name="Text Box 7"/>
          <p:cNvSpPr txBox="1">
            <a:spLocks noChangeArrowheads="1"/>
          </p:cNvSpPr>
          <p:nvPr/>
        </p:nvSpPr>
        <p:spPr bwMode="auto">
          <a:xfrm>
            <a:off x="4549775" y="3979863"/>
            <a:ext cx="333692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br>
              <a:rPr lang="fr-FR" altLang="fr-FR" sz="2400">
                <a:solidFill>
                  <a:srgbClr val="0033CC"/>
                </a:solidFill>
              </a:rPr>
            </a:br>
            <a:r>
              <a:rPr lang="fr-FR" altLang="fr-FR">
                <a:solidFill>
                  <a:srgbClr val="0033CC"/>
                </a:solidFill>
              </a:rPr>
              <a:t>du poste Cour. ph B et Carters</a:t>
            </a:r>
          </a:p>
        </p:txBody>
      </p:sp>
      <p:grpSp>
        <p:nvGrpSpPr>
          <p:cNvPr id="15368" name="Group 8"/>
          <p:cNvGrpSpPr>
            <a:grpSpLocks/>
          </p:cNvGrpSpPr>
          <p:nvPr/>
        </p:nvGrpSpPr>
        <p:grpSpPr bwMode="auto">
          <a:xfrm>
            <a:off x="1627188" y="3022600"/>
            <a:ext cx="2543175" cy="2660650"/>
            <a:chOff x="1025" y="1904"/>
            <a:chExt cx="1602" cy="1676"/>
          </a:xfrm>
        </p:grpSpPr>
        <p:sp>
          <p:nvSpPr>
            <p:cNvPr id="15369" name="AutoShape 9"/>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0" name="Oval 10"/>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1" name="AutoShape 11"/>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2" name="Oval 12"/>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3" name="Oval 13"/>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4" name="AutoShape 14"/>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5" name="Oval 15"/>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6" name="Oval 16"/>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7" name="Oval 17"/>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8" name="Oval 18"/>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79" name="AutoShape 19"/>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0" name="Oval 20"/>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1" name="Oval 21"/>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2" name="Oval 22"/>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3" name="Oval 23"/>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4" name="Oval 24"/>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5" name="AutoShape 25"/>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6" name="Oval 26"/>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7" name="Oval 27"/>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8" name="Oval 28"/>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89" name="AutoShape 29"/>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90" name="Oval 30"/>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91" name="Oval 31"/>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92" name="Oval 32"/>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93" name="Oval 33"/>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94" name="Oval 34"/>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5395" name="Oval 35"/>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450975" y="633413"/>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Défaut dans les pièces de fonderie livrées par le nouveau fournisseur.</a:t>
            </a:r>
          </a:p>
        </p:txBody>
      </p:sp>
      <p:sp>
        <p:nvSpPr>
          <p:cNvPr id="16387"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16388" name="Text Box 38"/>
          <p:cNvSpPr txBox="1">
            <a:spLocks noChangeArrowheads="1"/>
          </p:cNvSpPr>
          <p:nvPr/>
        </p:nvSpPr>
        <p:spPr bwMode="auto">
          <a:xfrm>
            <a:off x="8694738" y="648335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a:t>
            </a:r>
          </a:p>
        </p:txBody>
      </p:sp>
      <p:sp>
        <p:nvSpPr>
          <p:cNvPr id="16389"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16390"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endParaRPr lang="fr-FR" altLang="fr-FR">
              <a:solidFill>
                <a:srgbClr val="0033CC"/>
              </a:solidFill>
            </a:endParaRPr>
          </a:p>
        </p:txBody>
      </p:sp>
      <p:sp>
        <p:nvSpPr>
          <p:cNvPr id="16391" name="Text Box 41"/>
          <p:cNvSpPr txBox="1">
            <a:spLocks noChangeArrowheads="1"/>
          </p:cNvSpPr>
          <p:nvPr/>
        </p:nvSpPr>
        <p:spPr bwMode="auto">
          <a:xfrm>
            <a:off x="4635500" y="518953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grpSp>
        <p:nvGrpSpPr>
          <p:cNvPr id="16392" name="Group 42"/>
          <p:cNvGrpSpPr>
            <a:grpSpLocks/>
          </p:cNvGrpSpPr>
          <p:nvPr/>
        </p:nvGrpSpPr>
        <p:grpSpPr bwMode="auto">
          <a:xfrm>
            <a:off x="2092325" y="3008313"/>
            <a:ext cx="1552575" cy="2671762"/>
            <a:chOff x="1318" y="1895"/>
            <a:chExt cx="978" cy="1683"/>
          </a:xfrm>
        </p:grpSpPr>
        <p:sp>
          <p:nvSpPr>
            <p:cNvPr id="16393"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394"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395"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396"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397"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398"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399"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0"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1"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2"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3"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4"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5"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6"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7"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8"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09"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0"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1"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2"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3"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4"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5"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6"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7"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8"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6419"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796925" y="939800"/>
            <a:ext cx="7624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Défaut sur les pièces, une opération d’usinage a été oubliée</a:t>
            </a:r>
          </a:p>
        </p:txBody>
      </p:sp>
      <p:sp>
        <p:nvSpPr>
          <p:cNvPr id="17411" name="Text Box 37"/>
          <p:cNvSpPr txBox="1">
            <a:spLocks noChangeArrowheads="1"/>
          </p:cNvSpPr>
          <p:nvPr/>
        </p:nvSpPr>
        <p:spPr bwMode="auto">
          <a:xfrm>
            <a:off x="4560888" y="2754313"/>
            <a:ext cx="33020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conteneur à reprendre</a:t>
            </a:r>
            <a:br>
              <a:rPr lang="fr-FR" altLang="fr-FR" sz="2400">
                <a:solidFill>
                  <a:srgbClr val="0033CC"/>
                </a:solidFill>
              </a:rPr>
            </a:br>
            <a:r>
              <a:rPr lang="fr-FR" altLang="fr-FR">
                <a:solidFill>
                  <a:srgbClr val="0033CC"/>
                </a:solidFill>
              </a:rPr>
              <a:t>(pièces en-cours)</a:t>
            </a:r>
          </a:p>
        </p:txBody>
      </p:sp>
      <p:sp>
        <p:nvSpPr>
          <p:cNvPr id="17412" name="Text Box 38"/>
          <p:cNvSpPr txBox="1">
            <a:spLocks noChangeArrowheads="1"/>
          </p:cNvSpPr>
          <p:nvPr/>
        </p:nvSpPr>
        <p:spPr bwMode="auto">
          <a:xfrm>
            <a:off x="4760913" y="3941763"/>
            <a:ext cx="2743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conteneurs à reprendre</a:t>
            </a:r>
            <a:endParaRPr lang="fr-FR" altLang="fr-FR">
              <a:solidFill>
                <a:srgbClr val="0033CC"/>
              </a:solidFill>
            </a:endParaRPr>
          </a:p>
        </p:txBody>
      </p:sp>
      <p:sp>
        <p:nvSpPr>
          <p:cNvPr id="17413" name="Text Box 39"/>
          <p:cNvSpPr txBox="1">
            <a:spLocks noChangeArrowheads="1"/>
          </p:cNvSpPr>
          <p:nvPr/>
        </p:nvSpPr>
        <p:spPr bwMode="auto">
          <a:xfrm>
            <a:off x="4673600" y="5029200"/>
            <a:ext cx="31908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conteneurs à reprendre</a:t>
            </a:r>
            <a:endParaRPr lang="fr-FR" altLang="fr-FR">
              <a:solidFill>
                <a:srgbClr val="0033CC"/>
              </a:solidFill>
            </a:endParaRPr>
          </a:p>
        </p:txBody>
      </p:sp>
      <p:sp>
        <p:nvSpPr>
          <p:cNvPr id="17414" name="Text Box 40"/>
          <p:cNvSpPr txBox="1">
            <a:spLocks noChangeArrowheads="1"/>
          </p:cNvSpPr>
          <p:nvPr/>
        </p:nvSpPr>
        <p:spPr bwMode="auto">
          <a:xfrm>
            <a:off x="8693150" y="646430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Q4</a:t>
            </a:r>
          </a:p>
        </p:txBody>
      </p:sp>
      <p:sp>
        <p:nvSpPr>
          <p:cNvPr id="17415"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grpSp>
        <p:nvGrpSpPr>
          <p:cNvPr id="17416" name="Group 42"/>
          <p:cNvGrpSpPr>
            <a:grpSpLocks/>
          </p:cNvGrpSpPr>
          <p:nvPr/>
        </p:nvGrpSpPr>
        <p:grpSpPr bwMode="auto">
          <a:xfrm>
            <a:off x="1597025" y="3013075"/>
            <a:ext cx="2533650" cy="2660650"/>
            <a:chOff x="1006" y="1898"/>
            <a:chExt cx="1596" cy="1676"/>
          </a:xfrm>
        </p:grpSpPr>
        <p:sp>
          <p:nvSpPr>
            <p:cNvPr id="17417"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18"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19"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0"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1"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2"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3"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4"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5"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6"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7"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8"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29"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0"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1"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2"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3"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4"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5"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6"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7"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8"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39"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40"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41"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42"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7443"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155700" y="776288"/>
            <a:ext cx="64960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Opérateur malade</a:t>
            </a:r>
          </a:p>
        </p:txBody>
      </p:sp>
      <p:sp>
        <p:nvSpPr>
          <p:cNvPr id="18435" name="Text Box 37"/>
          <p:cNvSpPr txBox="1">
            <a:spLocks noChangeArrowheads="1"/>
          </p:cNvSpPr>
          <p:nvPr/>
        </p:nvSpPr>
        <p:spPr bwMode="auto">
          <a:xfrm>
            <a:off x="4549775" y="30178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18436" name="Text Box 38"/>
          <p:cNvSpPr txBox="1">
            <a:spLocks noChangeArrowheads="1"/>
          </p:cNvSpPr>
          <p:nvPr/>
        </p:nvSpPr>
        <p:spPr bwMode="auto">
          <a:xfrm>
            <a:off x="8558213" y="6473825"/>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E11</a:t>
            </a:r>
          </a:p>
        </p:txBody>
      </p:sp>
      <p:sp>
        <p:nvSpPr>
          <p:cNvPr id="18437"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18438" name="Text Box 40"/>
          <p:cNvSpPr txBox="1">
            <a:spLocks noChangeArrowheads="1"/>
          </p:cNvSpPr>
          <p:nvPr/>
        </p:nvSpPr>
        <p:spPr bwMode="auto">
          <a:xfrm>
            <a:off x="4568825" y="4075113"/>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p>
        </p:txBody>
      </p:sp>
      <p:sp>
        <p:nvSpPr>
          <p:cNvPr id="18439" name="Text Box 41"/>
          <p:cNvSpPr txBox="1">
            <a:spLocks noChangeArrowheads="1"/>
          </p:cNvSpPr>
          <p:nvPr/>
        </p:nvSpPr>
        <p:spPr bwMode="auto">
          <a:xfrm>
            <a:off x="4616450" y="515143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endParaRPr lang="fr-FR" altLang="fr-FR">
              <a:solidFill>
                <a:srgbClr val="0033CC"/>
              </a:solidFill>
            </a:endParaRPr>
          </a:p>
        </p:txBody>
      </p:sp>
      <p:grpSp>
        <p:nvGrpSpPr>
          <p:cNvPr id="18440" name="Group 42"/>
          <p:cNvGrpSpPr>
            <a:grpSpLocks/>
          </p:cNvGrpSpPr>
          <p:nvPr/>
        </p:nvGrpSpPr>
        <p:grpSpPr bwMode="auto">
          <a:xfrm>
            <a:off x="2092325" y="3008313"/>
            <a:ext cx="1552575" cy="2671762"/>
            <a:chOff x="1318" y="1895"/>
            <a:chExt cx="978" cy="1683"/>
          </a:xfrm>
        </p:grpSpPr>
        <p:sp>
          <p:nvSpPr>
            <p:cNvPr id="18441"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2"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3"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4"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5"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6"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7"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8"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49"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0"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1"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2"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3"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4"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5"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6"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7"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8"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59"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0"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1"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2"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3"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4"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5"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6"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8467"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736600" y="871538"/>
            <a:ext cx="74866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Usure du moteur d’entraînement sur une machine.</a:t>
            </a:r>
          </a:p>
        </p:txBody>
      </p:sp>
      <p:sp>
        <p:nvSpPr>
          <p:cNvPr id="19459" name="Text Box 3"/>
          <p:cNvSpPr txBox="1">
            <a:spLocks noChangeArrowheads="1"/>
          </p:cNvSpPr>
          <p:nvPr/>
        </p:nvSpPr>
        <p:spPr bwMode="auto">
          <a:xfrm>
            <a:off x="4587875" y="2941638"/>
            <a:ext cx="33369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a:solidFill>
                  <a:srgbClr val="0033CC"/>
                </a:solidFill>
              </a:rPr>
              <a:t>à programmer dans la semaine</a:t>
            </a:r>
          </a:p>
        </p:txBody>
      </p:sp>
      <p:sp>
        <p:nvSpPr>
          <p:cNvPr id="19460" name="Text Box 4"/>
          <p:cNvSpPr txBox="1">
            <a:spLocks noChangeArrowheads="1"/>
          </p:cNvSpPr>
          <p:nvPr/>
        </p:nvSpPr>
        <p:spPr bwMode="auto">
          <a:xfrm>
            <a:off x="8710613" y="648335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P4</a:t>
            </a:r>
          </a:p>
        </p:txBody>
      </p:sp>
      <p:sp>
        <p:nvSpPr>
          <p:cNvPr id="19461"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19462" name="Text Box 6"/>
          <p:cNvSpPr txBox="1">
            <a:spLocks noChangeArrowheads="1"/>
          </p:cNvSpPr>
          <p:nvPr/>
        </p:nvSpPr>
        <p:spPr bwMode="auto">
          <a:xfrm>
            <a:off x="4549775" y="4065588"/>
            <a:ext cx="331787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p>
          <a:p>
            <a:pPr eaLnBrk="1" hangingPunct="1">
              <a:lnSpc>
                <a:spcPct val="90000"/>
              </a:lnSpc>
            </a:pPr>
            <a:r>
              <a:rPr lang="fr-FR" altLang="fr-FR">
                <a:solidFill>
                  <a:srgbClr val="0033CC"/>
                </a:solidFill>
              </a:rPr>
              <a:t>immédiatement</a:t>
            </a:r>
          </a:p>
        </p:txBody>
      </p:sp>
      <p:sp>
        <p:nvSpPr>
          <p:cNvPr id="19463" name="Text Box 7"/>
          <p:cNvSpPr txBox="1">
            <a:spLocks noChangeArrowheads="1"/>
          </p:cNvSpPr>
          <p:nvPr/>
        </p:nvSpPr>
        <p:spPr bwMode="auto">
          <a:xfrm>
            <a:off x="4635500" y="5122863"/>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p>
          <a:p>
            <a:pPr eaLnBrk="1" hangingPunct="1"/>
            <a:r>
              <a:rPr lang="fr-FR" altLang="fr-FR">
                <a:solidFill>
                  <a:srgbClr val="0033CC"/>
                </a:solidFill>
              </a:rPr>
              <a:t>immédiatement</a:t>
            </a:r>
          </a:p>
        </p:txBody>
      </p:sp>
      <p:grpSp>
        <p:nvGrpSpPr>
          <p:cNvPr id="19464" name="Group 43"/>
          <p:cNvGrpSpPr>
            <a:grpSpLocks/>
          </p:cNvGrpSpPr>
          <p:nvPr/>
        </p:nvGrpSpPr>
        <p:grpSpPr bwMode="auto">
          <a:xfrm>
            <a:off x="1627188" y="3022600"/>
            <a:ext cx="2543175" cy="2660650"/>
            <a:chOff x="1025" y="1904"/>
            <a:chExt cx="1602" cy="1676"/>
          </a:xfrm>
        </p:grpSpPr>
        <p:sp>
          <p:nvSpPr>
            <p:cNvPr id="19465" name="AutoShape 44"/>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66" name="Oval 45"/>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67" name="AutoShape 46"/>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68" name="Oval 47"/>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69" name="Oval 48"/>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0" name="AutoShape 49"/>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1" name="Oval 50"/>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2" name="Oval 51"/>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3" name="Oval 52"/>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4" name="Oval 53"/>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5" name="AutoShape 54"/>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6" name="Oval 55"/>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7" name="Oval 56"/>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8" name="Oval 57"/>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79" name="Oval 58"/>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0" name="Oval 59"/>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1" name="AutoShape 60"/>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2" name="Oval 61"/>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3" name="Oval 62"/>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4" name="Oval 63"/>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5" name="AutoShape 64"/>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6" name="Oval 65"/>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7" name="Oval 66"/>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8" name="Oval 67"/>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89" name="Oval 68"/>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90" name="Oval 69"/>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19491" name="Oval 70"/>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717550" y="700088"/>
            <a:ext cx="786765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Erreur d’approvisionnement.</a:t>
            </a:r>
          </a:p>
          <a:p>
            <a:pPr eaLnBrk="1" hangingPunct="1">
              <a:lnSpc>
                <a:spcPct val="110000"/>
              </a:lnSpc>
            </a:pPr>
            <a:r>
              <a:rPr lang="fr-FR" altLang="fr-FR" sz="2200">
                <a:solidFill>
                  <a:srgbClr val="FF3300"/>
                </a:solidFill>
              </a:rPr>
              <a:t>La moitié des manutentionnaires ont la grippe, on a dû faire appel à des intérimaires.</a:t>
            </a:r>
          </a:p>
        </p:txBody>
      </p:sp>
      <p:grpSp>
        <p:nvGrpSpPr>
          <p:cNvPr id="20483" name="Group 42"/>
          <p:cNvGrpSpPr>
            <a:grpSpLocks/>
          </p:cNvGrpSpPr>
          <p:nvPr/>
        </p:nvGrpSpPr>
        <p:grpSpPr bwMode="auto">
          <a:xfrm>
            <a:off x="2092325" y="3008313"/>
            <a:ext cx="1552575" cy="2671762"/>
            <a:chOff x="1318" y="1895"/>
            <a:chExt cx="978" cy="1683"/>
          </a:xfrm>
        </p:grpSpPr>
        <p:sp>
          <p:nvSpPr>
            <p:cNvPr id="20489" name="AutoShape 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0" name="Oval 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1" name="AutoShape 7"/>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2" name="Oval 8"/>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3" name="Oval 9"/>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4" name="AutoShape 11"/>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5" name="Oval 12"/>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6" name="Oval 13"/>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7" name="Oval 14"/>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8" name="Oval 15"/>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499" name="AutoShape 17"/>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0" name="Oval 18"/>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1" name="Oval 19"/>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2" name="Oval 20"/>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3" name="Oval 21"/>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4" name="Oval 22"/>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5" name="AutoShape 24"/>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6" name="Oval 25"/>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7" name="Oval 26"/>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8" name="Oval 27"/>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09" name="AutoShape 29"/>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10" name="Oval 30"/>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11" name="Oval 31"/>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12" name="Oval 32"/>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13" name="Oval 33"/>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14" name="Oval 34"/>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0515" name="Oval 35"/>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
        <p:nvSpPr>
          <p:cNvPr id="20484" name="Text Box 36"/>
          <p:cNvSpPr txBox="1">
            <a:spLocks noChangeArrowheads="1"/>
          </p:cNvSpPr>
          <p:nvPr/>
        </p:nvSpPr>
        <p:spPr bwMode="auto">
          <a:xfrm>
            <a:off x="4683125" y="3008313"/>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20485" name="Text Box 37"/>
          <p:cNvSpPr txBox="1">
            <a:spLocks noChangeArrowheads="1"/>
          </p:cNvSpPr>
          <p:nvPr/>
        </p:nvSpPr>
        <p:spPr bwMode="auto">
          <a:xfrm>
            <a:off x="5111750" y="4113213"/>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1 heure d’arrêt</a:t>
            </a:r>
          </a:p>
        </p:txBody>
      </p:sp>
      <p:sp>
        <p:nvSpPr>
          <p:cNvPr id="20486" name="Text Box 38"/>
          <p:cNvSpPr txBox="1">
            <a:spLocks noChangeArrowheads="1"/>
          </p:cNvSpPr>
          <p:nvPr/>
        </p:nvSpPr>
        <p:spPr bwMode="auto">
          <a:xfrm>
            <a:off x="4746625" y="4991100"/>
            <a:ext cx="31003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p>
          <a:p>
            <a:pPr eaLnBrk="1" hangingPunct="1"/>
            <a:r>
              <a:rPr lang="fr-FR" altLang="fr-FR" sz="2400">
                <a:solidFill>
                  <a:srgbClr val="0033CC"/>
                </a:solidFill>
              </a:rPr>
              <a:t>1 conteneur à rebuter</a:t>
            </a:r>
          </a:p>
        </p:txBody>
      </p:sp>
      <p:sp>
        <p:nvSpPr>
          <p:cNvPr id="20487" name="Text Box 39"/>
          <p:cNvSpPr txBox="1">
            <a:spLocks noChangeArrowheads="1"/>
          </p:cNvSpPr>
          <p:nvPr/>
        </p:nvSpPr>
        <p:spPr bwMode="auto">
          <a:xfrm>
            <a:off x="8699500" y="6473825"/>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A4</a:t>
            </a:r>
          </a:p>
        </p:txBody>
      </p:sp>
      <p:sp>
        <p:nvSpPr>
          <p:cNvPr id="20488" name="Text Box 40"/>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717550" y="700088"/>
            <a:ext cx="786765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Des micro-coupures ont provoqué des interruptions dans le traitement informatique des ordres de fabrication. Le lancement a pris du retard.</a:t>
            </a:r>
          </a:p>
        </p:txBody>
      </p:sp>
      <p:sp>
        <p:nvSpPr>
          <p:cNvPr id="21507" name="Text Box 37"/>
          <p:cNvSpPr txBox="1">
            <a:spLocks noChangeArrowheads="1"/>
          </p:cNvSpPr>
          <p:nvPr/>
        </p:nvSpPr>
        <p:spPr bwMode="auto">
          <a:xfrm>
            <a:off x="4911725" y="2998788"/>
            <a:ext cx="2765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21508" name="Text Box 38"/>
          <p:cNvSpPr txBox="1">
            <a:spLocks noChangeArrowheads="1"/>
          </p:cNvSpPr>
          <p:nvPr/>
        </p:nvSpPr>
        <p:spPr bwMode="auto">
          <a:xfrm>
            <a:off x="5111750" y="4113213"/>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2 heures d’arrêt</a:t>
            </a:r>
          </a:p>
        </p:txBody>
      </p:sp>
      <p:sp>
        <p:nvSpPr>
          <p:cNvPr id="21509" name="Text Box 39"/>
          <p:cNvSpPr txBox="1">
            <a:spLocks noChangeArrowheads="1"/>
          </p:cNvSpPr>
          <p:nvPr/>
        </p:nvSpPr>
        <p:spPr bwMode="auto">
          <a:xfrm>
            <a:off x="5135563" y="5133975"/>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p>
        </p:txBody>
      </p:sp>
      <p:sp>
        <p:nvSpPr>
          <p:cNvPr id="21510" name="Text Box 40"/>
          <p:cNvSpPr txBox="1">
            <a:spLocks noChangeArrowheads="1"/>
          </p:cNvSpPr>
          <p:nvPr/>
        </p:nvSpPr>
        <p:spPr bwMode="auto">
          <a:xfrm>
            <a:off x="8699500" y="6473825"/>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A6</a:t>
            </a:r>
          </a:p>
        </p:txBody>
      </p:sp>
      <p:sp>
        <p:nvSpPr>
          <p:cNvPr id="21511" name="Text Box 41"/>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grpSp>
        <p:nvGrpSpPr>
          <p:cNvPr id="21512" name="Group 43"/>
          <p:cNvGrpSpPr>
            <a:grpSpLocks/>
          </p:cNvGrpSpPr>
          <p:nvPr/>
        </p:nvGrpSpPr>
        <p:grpSpPr bwMode="auto">
          <a:xfrm>
            <a:off x="2092325" y="3008313"/>
            <a:ext cx="1552575" cy="2671762"/>
            <a:chOff x="1318" y="1895"/>
            <a:chExt cx="978" cy="1683"/>
          </a:xfrm>
        </p:grpSpPr>
        <p:sp>
          <p:nvSpPr>
            <p:cNvPr id="21513" name="AutoShape 4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14" name="Oval 4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15" name="AutoShape 46"/>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16" name="Oval 47"/>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17" name="Oval 48"/>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18" name="AutoShape 49"/>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19" name="Oval 50"/>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0" name="Oval 51"/>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1" name="Oval 52"/>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2" name="Oval 53"/>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3" name="AutoShape 54"/>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4" name="Oval 55"/>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5" name="Oval 56"/>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6" name="Oval 57"/>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7" name="Oval 58"/>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8" name="Oval 59"/>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29" name="AutoShape 60"/>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0" name="Oval 61"/>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1" name="Oval 62"/>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2" name="Oval 63"/>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3" name="AutoShape 64"/>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4" name="Oval 65"/>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5" name="Oval 66"/>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6" name="Oval 67"/>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7" name="Oval 68"/>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8" name="Oval 69"/>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1539" name="Oval 70"/>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727200" y="823913"/>
            <a:ext cx="57626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Pièces de fonderie livrées déformées</a:t>
            </a:r>
          </a:p>
        </p:txBody>
      </p:sp>
      <p:sp>
        <p:nvSpPr>
          <p:cNvPr id="22531" name="Text Box 3"/>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22532"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Q16</a:t>
            </a:r>
          </a:p>
        </p:txBody>
      </p:sp>
      <p:sp>
        <p:nvSpPr>
          <p:cNvPr id="22533"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22534" name="Text Box 6"/>
          <p:cNvSpPr txBox="1">
            <a:spLocks noChangeArrowheads="1"/>
          </p:cNvSpPr>
          <p:nvPr/>
        </p:nvSpPr>
        <p:spPr bwMode="auto">
          <a:xfrm>
            <a:off x="4568825" y="4075113"/>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22535" name="Text Box 7"/>
          <p:cNvSpPr txBox="1">
            <a:spLocks noChangeArrowheads="1"/>
          </p:cNvSpPr>
          <p:nvPr/>
        </p:nvSpPr>
        <p:spPr bwMode="auto">
          <a:xfrm>
            <a:off x="4578350" y="4979988"/>
            <a:ext cx="33178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 et </a:t>
            </a:r>
            <a:br>
              <a:rPr lang="fr-FR" altLang="fr-FR" sz="2400">
                <a:solidFill>
                  <a:srgbClr val="0033CC"/>
                </a:solidFill>
              </a:rPr>
            </a:br>
            <a:r>
              <a:rPr lang="fr-FR" altLang="fr-FR">
                <a:solidFill>
                  <a:srgbClr val="0033CC"/>
                </a:solidFill>
              </a:rPr>
              <a:t>1 conteneur de pièces usinées à rebuter</a:t>
            </a:r>
          </a:p>
        </p:txBody>
      </p:sp>
      <p:grpSp>
        <p:nvGrpSpPr>
          <p:cNvPr id="22536" name="Group 42"/>
          <p:cNvGrpSpPr>
            <a:grpSpLocks/>
          </p:cNvGrpSpPr>
          <p:nvPr/>
        </p:nvGrpSpPr>
        <p:grpSpPr bwMode="auto">
          <a:xfrm>
            <a:off x="1597025" y="3013075"/>
            <a:ext cx="2533650" cy="2660650"/>
            <a:chOff x="1006" y="1898"/>
            <a:chExt cx="1596" cy="1676"/>
          </a:xfrm>
        </p:grpSpPr>
        <p:sp>
          <p:nvSpPr>
            <p:cNvPr id="22537"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38"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39"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0"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1"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2"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3"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4"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5"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6"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7"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8"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49"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0"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1"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2"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3"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4"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5"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6"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7"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8"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59"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60"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61"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62"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2563"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806450" y="796925"/>
            <a:ext cx="7624763"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client se plaint que certains réducteurs se desserrent. Pendant plusieurs jours le montage n’a pas respecté le couple de serrage des boulons.</a:t>
            </a:r>
          </a:p>
        </p:txBody>
      </p:sp>
      <p:sp>
        <p:nvSpPr>
          <p:cNvPr id="23555" name="Text Box 37"/>
          <p:cNvSpPr txBox="1">
            <a:spLocks noChangeArrowheads="1"/>
          </p:cNvSpPr>
          <p:nvPr/>
        </p:nvSpPr>
        <p:spPr bwMode="auto">
          <a:xfrm>
            <a:off x="5410200" y="3030538"/>
            <a:ext cx="1658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23556" name="Text Box 39"/>
          <p:cNvSpPr txBox="1">
            <a:spLocks noChangeArrowheads="1"/>
          </p:cNvSpPr>
          <p:nvPr/>
        </p:nvSpPr>
        <p:spPr bwMode="auto">
          <a:xfrm>
            <a:off x="8691563" y="646430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Q9</a:t>
            </a:r>
          </a:p>
        </p:txBody>
      </p:sp>
      <p:sp>
        <p:nvSpPr>
          <p:cNvPr id="23557" name="Text Box 40"/>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23558" name="Text Box 76"/>
          <p:cNvSpPr txBox="1">
            <a:spLocks noChangeArrowheads="1"/>
          </p:cNvSpPr>
          <p:nvPr/>
        </p:nvSpPr>
        <p:spPr bwMode="auto">
          <a:xfrm>
            <a:off x="4730750" y="3843338"/>
            <a:ext cx="317500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1700">
                <a:solidFill>
                  <a:srgbClr val="0033CC"/>
                </a:solidFill>
              </a:rPr>
              <a:t>Le client demande l’envoi immédiat de 1 R6 en remplacement du mauvais (qu’il renverra plus tard).</a:t>
            </a:r>
          </a:p>
        </p:txBody>
      </p:sp>
      <p:grpSp>
        <p:nvGrpSpPr>
          <p:cNvPr id="23559" name="Group 108"/>
          <p:cNvGrpSpPr>
            <a:grpSpLocks/>
          </p:cNvGrpSpPr>
          <p:nvPr/>
        </p:nvGrpSpPr>
        <p:grpSpPr bwMode="auto">
          <a:xfrm>
            <a:off x="1770063" y="3013075"/>
            <a:ext cx="2335212" cy="1595438"/>
            <a:chOff x="1064" y="1898"/>
            <a:chExt cx="1471" cy="1005"/>
          </a:xfrm>
        </p:grpSpPr>
        <p:sp>
          <p:nvSpPr>
            <p:cNvPr id="23560" name="AutoShape 78"/>
            <p:cNvSpPr>
              <a:spLocks noChangeArrowheads="1"/>
            </p:cNvSpPr>
            <p:nvPr/>
          </p:nvSpPr>
          <p:spPr bwMode="auto">
            <a:xfrm>
              <a:off x="1064"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1" name="Oval 79"/>
            <p:cNvSpPr>
              <a:spLocks noChangeArrowheads="1"/>
            </p:cNvSpPr>
            <p:nvPr/>
          </p:nvSpPr>
          <p:spPr bwMode="auto">
            <a:xfrm>
              <a:off x="1197"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2" name="AutoShape 80"/>
            <p:cNvSpPr>
              <a:spLocks noChangeArrowheads="1"/>
            </p:cNvSpPr>
            <p:nvPr/>
          </p:nvSpPr>
          <p:spPr bwMode="auto">
            <a:xfrm>
              <a:off x="1632"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3" name="Oval 81"/>
            <p:cNvSpPr>
              <a:spLocks noChangeArrowheads="1"/>
            </p:cNvSpPr>
            <p:nvPr/>
          </p:nvSpPr>
          <p:spPr bwMode="auto">
            <a:xfrm>
              <a:off x="1696"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4" name="Oval 82"/>
            <p:cNvSpPr>
              <a:spLocks noChangeArrowheads="1"/>
            </p:cNvSpPr>
            <p:nvPr/>
          </p:nvSpPr>
          <p:spPr bwMode="auto">
            <a:xfrm>
              <a:off x="1834"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5" name="AutoShape 83"/>
            <p:cNvSpPr>
              <a:spLocks noChangeArrowheads="1"/>
            </p:cNvSpPr>
            <p:nvPr/>
          </p:nvSpPr>
          <p:spPr bwMode="auto">
            <a:xfrm>
              <a:off x="1067"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6" name="Oval 84"/>
            <p:cNvSpPr>
              <a:spLocks noChangeArrowheads="1"/>
            </p:cNvSpPr>
            <p:nvPr/>
          </p:nvSpPr>
          <p:spPr bwMode="auto">
            <a:xfrm>
              <a:off x="1131"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7" name="Oval 85"/>
            <p:cNvSpPr>
              <a:spLocks noChangeArrowheads="1"/>
            </p:cNvSpPr>
            <p:nvPr/>
          </p:nvSpPr>
          <p:spPr bwMode="auto">
            <a:xfrm>
              <a:off x="1269"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8" name="Oval 86"/>
            <p:cNvSpPr>
              <a:spLocks noChangeArrowheads="1"/>
            </p:cNvSpPr>
            <p:nvPr/>
          </p:nvSpPr>
          <p:spPr bwMode="auto">
            <a:xfrm>
              <a:off x="1275"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69" name="Oval 87"/>
            <p:cNvSpPr>
              <a:spLocks noChangeArrowheads="1"/>
            </p:cNvSpPr>
            <p:nvPr/>
          </p:nvSpPr>
          <p:spPr bwMode="auto">
            <a:xfrm>
              <a:off x="1128"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70" name="AutoShape 88"/>
            <p:cNvSpPr>
              <a:spLocks noChangeArrowheads="1"/>
            </p:cNvSpPr>
            <p:nvPr/>
          </p:nvSpPr>
          <p:spPr bwMode="auto">
            <a:xfrm>
              <a:off x="1637"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71" name="Oval 89"/>
            <p:cNvSpPr>
              <a:spLocks noChangeArrowheads="1"/>
            </p:cNvSpPr>
            <p:nvPr/>
          </p:nvSpPr>
          <p:spPr bwMode="auto">
            <a:xfrm>
              <a:off x="1701"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72" name="Oval 90"/>
            <p:cNvSpPr>
              <a:spLocks noChangeArrowheads="1"/>
            </p:cNvSpPr>
            <p:nvPr/>
          </p:nvSpPr>
          <p:spPr bwMode="auto">
            <a:xfrm>
              <a:off x="1839"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73" name="Oval 91"/>
            <p:cNvSpPr>
              <a:spLocks noChangeArrowheads="1"/>
            </p:cNvSpPr>
            <p:nvPr/>
          </p:nvSpPr>
          <p:spPr bwMode="auto">
            <a:xfrm>
              <a:off x="1845"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74" name="Oval 92"/>
            <p:cNvSpPr>
              <a:spLocks noChangeArrowheads="1"/>
            </p:cNvSpPr>
            <p:nvPr/>
          </p:nvSpPr>
          <p:spPr bwMode="auto">
            <a:xfrm>
              <a:off x="1698"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75" name="Oval 93"/>
            <p:cNvSpPr>
              <a:spLocks noChangeArrowheads="1"/>
            </p:cNvSpPr>
            <p:nvPr/>
          </p:nvSpPr>
          <p:spPr bwMode="auto">
            <a:xfrm>
              <a:off x="1770"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nvGrpSpPr>
            <p:cNvPr id="23576" name="Group 105"/>
            <p:cNvGrpSpPr>
              <a:grpSpLocks/>
            </p:cNvGrpSpPr>
            <p:nvPr/>
          </p:nvGrpSpPr>
          <p:grpSpPr bwMode="auto">
            <a:xfrm>
              <a:off x="2197" y="1901"/>
              <a:ext cx="321" cy="321"/>
              <a:chOff x="1006" y="2579"/>
              <a:chExt cx="321" cy="321"/>
            </a:xfrm>
          </p:grpSpPr>
          <p:sp>
            <p:nvSpPr>
              <p:cNvPr id="23585" name="AutoShape 94"/>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6" name="Oval 95"/>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7" name="Oval 96"/>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8" name="Oval 97"/>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grpSp>
          <p:nvGrpSpPr>
            <p:cNvPr id="23577" name="Group 107"/>
            <p:cNvGrpSpPr>
              <a:grpSpLocks/>
            </p:cNvGrpSpPr>
            <p:nvPr/>
          </p:nvGrpSpPr>
          <p:grpSpPr bwMode="auto">
            <a:xfrm>
              <a:off x="2214" y="2582"/>
              <a:ext cx="321" cy="321"/>
              <a:chOff x="1516" y="3253"/>
              <a:chExt cx="321" cy="321"/>
            </a:xfrm>
          </p:grpSpPr>
          <p:sp>
            <p:nvSpPr>
              <p:cNvPr id="23578" name="AutoShape 98"/>
              <p:cNvSpPr>
                <a:spLocks noChangeArrowheads="1"/>
              </p:cNvSpPr>
              <p:nvPr/>
            </p:nvSpPr>
            <p:spPr bwMode="auto">
              <a:xfrm>
                <a:off x="1516"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79" name="Oval 99"/>
              <p:cNvSpPr>
                <a:spLocks noChangeArrowheads="1"/>
              </p:cNvSpPr>
              <p:nvPr/>
            </p:nvSpPr>
            <p:spPr bwMode="auto">
              <a:xfrm>
                <a:off x="1580"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0" name="Oval 100"/>
              <p:cNvSpPr>
                <a:spLocks noChangeArrowheads="1"/>
              </p:cNvSpPr>
              <p:nvPr/>
            </p:nvSpPr>
            <p:spPr bwMode="auto">
              <a:xfrm>
                <a:off x="1718"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1" name="Oval 101"/>
              <p:cNvSpPr>
                <a:spLocks noChangeArrowheads="1"/>
              </p:cNvSpPr>
              <p:nvPr/>
            </p:nvSpPr>
            <p:spPr bwMode="auto">
              <a:xfrm>
                <a:off x="1724"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2" name="Oval 102"/>
              <p:cNvSpPr>
                <a:spLocks noChangeArrowheads="1"/>
              </p:cNvSpPr>
              <p:nvPr/>
            </p:nvSpPr>
            <p:spPr bwMode="auto">
              <a:xfrm>
                <a:off x="1577"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3" name="Oval 103"/>
              <p:cNvSpPr>
                <a:spLocks noChangeArrowheads="1"/>
              </p:cNvSpPr>
              <p:nvPr/>
            </p:nvSpPr>
            <p:spPr bwMode="auto">
              <a:xfrm>
                <a:off x="1577"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3584" name="Oval 104"/>
              <p:cNvSpPr>
                <a:spLocks noChangeArrowheads="1"/>
              </p:cNvSpPr>
              <p:nvPr/>
            </p:nvSpPr>
            <p:spPr bwMode="auto">
              <a:xfrm>
                <a:off x="1721"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976313" y="815975"/>
            <a:ext cx="7494587"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Panne d’un chariot élévateur. Le chariot de remplacement est en révision.</a:t>
            </a:r>
          </a:p>
        </p:txBody>
      </p:sp>
      <p:sp>
        <p:nvSpPr>
          <p:cNvPr id="24579" name="Text Box 37"/>
          <p:cNvSpPr txBox="1">
            <a:spLocks noChangeArrowheads="1"/>
          </p:cNvSpPr>
          <p:nvPr/>
        </p:nvSpPr>
        <p:spPr bwMode="auto">
          <a:xfrm>
            <a:off x="4554538" y="2868613"/>
            <a:ext cx="334645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p>
          <a:p>
            <a:pPr eaLnBrk="1" hangingPunct="1"/>
            <a:r>
              <a:rPr lang="fr-FR" altLang="fr-FR">
                <a:solidFill>
                  <a:srgbClr val="0033CC"/>
                </a:solidFill>
              </a:rPr>
              <a:t>d’un poste d’usinage (au choix)</a:t>
            </a:r>
          </a:p>
        </p:txBody>
      </p:sp>
      <p:sp>
        <p:nvSpPr>
          <p:cNvPr id="24580" name="Text Box 40"/>
          <p:cNvSpPr txBox="1">
            <a:spLocks noChangeArrowheads="1"/>
          </p:cNvSpPr>
          <p:nvPr/>
        </p:nvSpPr>
        <p:spPr bwMode="auto">
          <a:xfrm>
            <a:off x="8548688" y="6473825"/>
            <a:ext cx="595312"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A10</a:t>
            </a:r>
          </a:p>
        </p:txBody>
      </p:sp>
      <p:sp>
        <p:nvSpPr>
          <p:cNvPr id="24581" name="Text Box 41"/>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Usinage</a:t>
            </a:r>
          </a:p>
        </p:txBody>
      </p:sp>
      <p:sp>
        <p:nvSpPr>
          <p:cNvPr id="24582" name="Text Box 42"/>
          <p:cNvSpPr txBox="1">
            <a:spLocks noChangeArrowheads="1"/>
          </p:cNvSpPr>
          <p:nvPr/>
        </p:nvSpPr>
        <p:spPr bwMode="auto">
          <a:xfrm>
            <a:off x="4554538" y="3992563"/>
            <a:ext cx="334645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p>
          <a:p>
            <a:pPr eaLnBrk="1" hangingPunct="1"/>
            <a:r>
              <a:rPr lang="fr-FR" altLang="fr-FR">
                <a:solidFill>
                  <a:srgbClr val="0033CC"/>
                </a:solidFill>
              </a:rPr>
              <a:t>d’un poste d’usinage (au choix)</a:t>
            </a:r>
          </a:p>
        </p:txBody>
      </p:sp>
      <p:sp>
        <p:nvSpPr>
          <p:cNvPr id="24583" name="Text Box 43"/>
          <p:cNvSpPr txBox="1">
            <a:spLocks noChangeArrowheads="1"/>
          </p:cNvSpPr>
          <p:nvPr/>
        </p:nvSpPr>
        <p:spPr bwMode="auto">
          <a:xfrm>
            <a:off x="4525963" y="5097463"/>
            <a:ext cx="334645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p>
          <a:p>
            <a:pPr eaLnBrk="1" hangingPunct="1"/>
            <a:r>
              <a:rPr lang="fr-FR" altLang="fr-FR">
                <a:solidFill>
                  <a:srgbClr val="0033CC"/>
                </a:solidFill>
              </a:rPr>
              <a:t>d’un poste d’usinage (au choix)</a:t>
            </a:r>
          </a:p>
        </p:txBody>
      </p:sp>
      <p:grpSp>
        <p:nvGrpSpPr>
          <p:cNvPr id="24584" name="Group 44"/>
          <p:cNvGrpSpPr>
            <a:grpSpLocks/>
          </p:cNvGrpSpPr>
          <p:nvPr/>
        </p:nvGrpSpPr>
        <p:grpSpPr bwMode="auto">
          <a:xfrm>
            <a:off x="1627188" y="3022600"/>
            <a:ext cx="2543175" cy="2660650"/>
            <a:chOff x="1025" y="1904"/>
            <a:chExt cx="1602" cy="1676"/>
          </a:xfrm>
        </p:grpSpPr>
        <p:sp>
          <p:nvSpPr>
            <p:cNvPr id="24585" name="AutoShape 45"/>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86" name="Oval 46"/>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87" name="AutoShape 47"/>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88" name="Oval 48"/>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89" name="Oval 49"/>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0" name="AutoShape 50"/>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1" name="Oval 51"/>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2" name="Oval 52"/>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3" name="Oval 53"/>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4" name="Oval 54"/>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5" name="AutoShape 55"/>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6" name="Oval 56"/>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7" name="Oval 57"/>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8" name="Oval 58"/>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599" name="Oval 59"/>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0" name="Oval 60"/>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1" name="AutoShape 61"/>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2" name="Oval 62"/>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3" name="Oval 63"/>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4" name="Oval 64"/>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5" name="AutoShape 65"/>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6" name="Oval 66"/>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7" name="Oval 67"/>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8" name="Oval 68"/>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09" name="Oval 69"/>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10" name="Oval 70"/>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4611" name="Oval 71"/>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003300" y="690563"/>
            <a:ext cx="70199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fournisseur a déménagé son usine. Il est désolé mais ne peut pas livrer à la date prévue.</a:t>
            </a:r>
          </a:p>
        </p:txBody>
      </p:sp>
      <p:sp>
        <p:nvSpPr>
          <p:cNvPr id="25603" name="Text Box 37"/>
          <p:cNvSpPr txBox="1">
            <a:spLocks noChangeArrowheads="1"/>
          </p:cNvSpPr>
          <p:nvPr/>
        </p:nvSpPr>
        <p:spPr bwMode="auto">
          <a:xfrm>
            <a:off x="457835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r>
              <a:rPr lang="fr-FR" altLang="fr-FR">
                <a:solidFill>
                  <a:srgbClr val="0033CC"/>
                </a:solidFill>
              </a:rPr>
              <a:t>.</a:t>
            </a:r>
          </a:p>
        </p:txBody>
      </p:sp>
      <p:sp>
        <p:nvSpPr>
          <p:cNvPr id="25604" name="Text Box 38"/>
          <p:cNvSpPr txBox="1">
            <a:spLocks noChangeArrowheads="1"/>
          </p:cNvSpPr>
          <p:nvPr/>
        </p:nvSpPr>
        <p:spPr bwMode="auto">
          <a:xfrm>
            <a:off x="8558213" y="6492875"/>
            <a:ext cx="595312"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A13</a:t>
            </a:r>
          </a:p>
        </p:txBody>
      </p:sp>
      <p:sp>
        <p:nvSpPr>
          <p:cNvPr id="25605"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25606" name="Text Box 40"/>
          <p:cNvSpPr txBox="1">
            <a:spLocks noChangeArrowheads="1"/>
          </p:cNvSpPr>
          <p:nvPr/>
        </p:nvSpPr>
        <p:spPr bwMode="auto">
          <a:xfrm>
            <a:off x="4759325" y="4122738"/>
            <a:ext cx="293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p>
        </p:txBody>
      </p:sp>
      <p:sp>
        <p:nvSpPr>
          <p:cNvPr id="25607" name="Text Box 41"/>
          <p:cNvSpPr txBox="1">
            <a:spLocks noChangeArrowheads="1"/>
          </p:cNvSpPr>
          <p:nvPr/>
        </p:nvSpPr>
        <p:spPr bwMode="auto">
          <a:xfrm>
            <a:off x="4549775" y="5189538"/>
            <a:ext cx="3470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p>
        </p:txBody>
      </p:sp>
      <p:grpSp>
        <p:nvGrpSpPr>
          <p:cNvPr id="25608" name="Group 42"/>
          <p:cNvGrpSpPr>
            <a:grpSpLocks/>
          </p:cNvGrpSpPr>
          <p:nvPr/>
        </p:nvGrpSpPr>
        <p:grpSpPr bwMode="auto">
          <a:xfrm>
            <a:off x="2092325" y="3008313"/>
            <a:ext cx="1552575" cy="2671762"/>
            <a:chOff x="1318" y="1895"/>
            <a:chExt cx="978" cy="1683"/>
          </a:xfrm>
        </p:grpSpPr>
        <p:sp>
          <p:nvSpPr>
            <p:cNvPr id="25609"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0"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1"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2"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3"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4"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5"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6"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7"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8"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19"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0"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1"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2"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3"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4"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5"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6"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7"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8"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29"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30"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31"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32"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33"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34"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5635"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1003300" y="690563"/>
            <a:ext cx="70199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Les pièces ont été achetées en Chine.</a:t>
            </a:r>
          </a:p>
          <a:p>
            <a:pPr eaLnBrk="1" hangingPunct="1">
              <a:lnSpc>
                <a:spcPct val="110000"/>
              </a:lnSpc>
            </a:pPr>
            <a:r>
              <a:rPr lang="fr-FR" altLang="fr-FR" sz="2200">
                <a:solidFill>
                  <a:srgbClr val="FF3300"/>
                </a:solidFill>
              </a:rPr>
              <a:t>Grève dans le port de débarquement.</a:t>
            </a:r>
          </a:p>
        </p:txBody>
      </p:sp>
      <p:sp>
        <p:nvSpPr>
          <p:cNvPr id="26627" name="Text Box 37"/>
          <p:cNvSpPr txBox="1">
            <a:spLocks noChangeArrowheads="1"/>
          </p:cNvSpPr>
          <p:nvPr/>
        </p:nvSpPr>
        <p:spPr bwMode="auto">
          <a:xfrm>
            <a:off x="4578350" y="30559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26628" name="Text Box 38"/>
          <p:cNvSpPr txBox="1">
            <a:spLocks noChangeArrowheads="1"/>
          </p:cNvSpPr>
          <p:nvPr/>
        </p:nvSpPr>
        <p:spPr bwMode="auto">
          <a:xfrm>
            <a:off x="8577263" y="6473825"/>
            <a:ext cx="595312"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A11</a:t>
            </a:r>
          </a:p>
        </p:txBody>
      </p:sp>
      <p:sp>
        <p:nvSpPr>
          <p:cNvPr id="26629"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26630" name="Text Box 40"/>
          <p:cNvSpPr txBox="1">
            <a:spLocks noChangeArrowheads="1"/>
          </p:cNvSpPr>
          <p:nvPr/>
        </p:nvSpPr>
        <p:spPr bwMode="auto">
          <a:xfrm>
            <a:off x="4483100" y="3865563"/>
            <a:ext cx="34702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a:t>
            </a:r>
            <a:r>
              <a:rPr lang="fr-FR" altLang="fr-FR">
                <a:solidFill>
                  <a:srgbClr val="0033CC"/>
                </a:solidFill>
              </a:rPr>
              <a:t>d’indisponibilité pour les matières vertes et rouges.</a:t>
            </a:r>
          </a:p>
        </p:txBody>
      </p:sp>
      <p:sp>
        <p:nvSpPr>
          <p:cNvPr id="26631" name="Text Box 42"/>
          <p:cNvSpPr txBox="1">
            <a:spLocks noChangeArrowheads="1"/>
          </p:cNvSpPr>
          <p:nvPr/>
        </p:nvSpPr>
        <p:spPr bwMode="auto">
          <a:xfrm>
            <a:off x="4549775" y="4894263"/>
            <a:ext cx="34702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a:t>
            </a:r>
            <a:r>
              <a:rPr lang="fr-FR" altLang="fr-FR">
                <a:solidFill>
                  <a:srgbClr val="0033CC"/>
                </a:solidFill>
              </a:rPr>
              <a:t>d’indisponibilité pour les matières vertes et rouges.</a:t>
            </a:r>
          </a:p>
        </p:txBody>
      </p:sp>
      <p:grpSp>
        <p:nvGrpSpPr>
          <p:cNvPr id="26632" name="Group 43"/>
          <p:cNvGrpSpPr>
            <a:grpSpLocks/>
          </p:cNvGrpSpPr>
          <p:nvPr/>
        </p:nvGrpSpPr>
        <p:grpSpPr bwMode="auto">
          <a:xfrm>
            <a:off x="2092325" y="3008313"/>
            <a:ext cx="1552575" cy="2671762"/>
            <a:chOff x="1318" y="1895"/>
            <a:chExt cx="978" cy="1683"/>
          </a:xfrm>
        </p:grpSpPr>
        <p:sp>
          <p:nvSpPr>
            <p:cNvPr id="26633" name="AutoShape 4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34" name="Oval 4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35" name="AutoShape 46"/>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36" name="Oval 47"/>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37" name="Oval 48"/>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38" name="AutoShape 49"/>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39" name="Oval 50"/>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0" name="Oval 51"/>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1" name="Oval 52"/>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2" name="Oval 53"/>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3" name="AutoShape 54"/>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4" name="Oval 55"/>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5" name="Oval 56"/>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6" name="Oval 57"/>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7" name="Oval 58"/>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8" name="Oval 59"/>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49" name="AutoShape 60"/>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0" name="Oval 61"/>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1" name="Oval 62"/>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2" name="Oval 63"/>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3" name="AutoShape 64"/>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4" name="Oval 65"/>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5" name="Oval 66"/>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6" name="Oval 67"/>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7" name="Oval 68"/>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8" name="Oval 69"/>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6659" name="Oval 70"/>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863600" y="825500"/>
            <a:ext cx="72628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Erreur de mise à jour de la gamme de fabrication.</a:t>
            </a:r>
          </a:p>
        </p:txBody>
      </p:sp>
      <p:sp>
        <p:nvSpPr>
          <p:cNvPr id="27651" name="Text Box 37"/>
          <p:cNvSpPr txBox="1">
            <a:spLocks noChangeArrowheads="1"/>
          </p:cNvSpPr>
          <p:nvPr/>
        </p:nvSpPr>
        <p:spPr bwMode="auto">
          <a:xfrm>
            <a:off x="4572000" y="2849563"/>
            <a:ext cx="330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conteneur à reprendre en usinage</a:t>
            </a:r>
            <a:endParaRPr lang="fr-FR" altLang="fr-FR">
              <a:solidFill>
                <a:srgbClr val="0033CC"/>
              </a:solidFill>
            </a:endParaRPr>
          </a:p>
        </p:txBody>
      </p:sp>
      <p:sp>
        <p:nvSpPr>
          <p:cNvPr id="27652" name="Text Box 38"/>
          <p:cNvSpPr txBox="1">
            <a:spLocks noChangeArrowheads="1"/>
          </p:cNvSpPr>
          <p:nvPr/>
        </p:nvSpPr>
        <p:spPr bwMode="auto">
          <a:xfrm>
            <a:off x="8542338" y="6464300"/>
            <a:ext cx="6111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Q15</a:t>
            </a:r>
          </a:p>
        </p:txBody>
      </p:sp>
      <p:sp>
        <p:nvSpPr>
          <p:cNvPr id="27653" name="Text Box 39"/>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sp>
        <p:nvSpPr>
          <p:cNvPr id="27654" name="Text Box 40"/>
          <p:cNvSpPr txBox="1">
            <a:spLocks noChangeArrowheads="1"/>
          </p:cNvSpPr>
          <p:nvPr/>
        </p:nvSpPr>
        <p:spPr bwMode="auto">
          <a:xfrm>
            <a:off x="4505325" y="3935413"/>
            <a:ext cx="330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conteneurs à reprendre en usinage</a:t>
            </a:r>
            <a:endParaRPr lang="fr-FR" altLang="fr-FR">
              <a:solidFill>
                <a:srgbClr val="0033CC"/>
              </a:solidFill>
            </a:endParaRPr>
          </a:p>
        </p:txBody>
      </p:sp>
      <p:sp>
        <p:nvSpPr>
          <p:cNvPr id="27655" name="Text Box 41"/>
          <p:cNvSpPr txBox="1">
            <a:spLocks noChangeArrowheads="1"/>
          </p:cNvSpPr>
          <p:nvPr/>
        </p:nvSpPr>
        <p:spPr bwMode="auto">
          <a:xfrm>
            <a:off x="4591050" y="5002213"/>
            <a:ext cx="330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conteneurs à reprendre en usinage</a:t>
            </a:r>
            <a:endParaRPr lang="fr-FR" altLang="fr-FR">
              <a:solidFill>
                <a:srgbClr val="0033CC"/>
              </a:solidFill>
            </a:endParaRPr>
          </a:p>
        </p:txBody>
      </p:sp>
      <p:grpSp>
        <p:nvGrpSpPr>
          <p:cNvPr id="27656" name="Group 42"/>
          <p:cNvGrpSpPr>
            <a:grpSpLocks/>
          </p:cNvGrpSpPr>
          <p:nvPr/>
        </p:nvGrpSpPr>
        <p:grpSpPr bwMode="auto">
          <a:xfrm>
            <a:off x="1597025" y="3013075"/>
            <a:ext cx="2533650" cy="2660650"/>
            <a:chOff x="1006" y="1898"/>
            <a:chExt cx="1596" cy="1676"/>
          </a:xfrm>
        </p:grpSpPr>
        <p:sp>
          <p:nvSpPr>
            <p:cNvPr id="27657"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58"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59"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0"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1"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2"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3"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4"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5"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6"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7"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8"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69"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0"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1"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2"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3"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4"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5"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6"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7"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8"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79"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80"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81"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82"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7683"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796925" y="806450"/>
            <a:ext cx="7624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Arrêt machine, le fusible a sauté</a:t>
            </a:r>
          </a:p>
        </p:txBody>
      </p:sp>
      <p:sp>
        <p:nvSpPr>
          <p:cNvPr id="28675" name="Text Box 37"/>
          <p:cNvSpPr txBox="1">
            <a:spLocks noChangeArrowheads="1"/>
          </p:cNvSpPr>
          <p:nvPr/>
        </p:nvSpPr>
        <p:spPr bwMode="auto">
          <a:xfrm>
            <a:off x="4572000" y="3049588"/>
            <a:ext cx="330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28676" name="Text Box 38"/>
          <p:cNvSpPr txBox="1">
            <a:spLocks noChangeArrowheads="1"/>
          </p:cNvSpPr>
          <p:nvPr/>
        </p:nvSpPr>
        <p:spPr bwMode="auto">
          <a:xfrm>
            <a:off x="5183188" y="4103688"/>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28677" name="Text Box 39"/>
          <p:cNvSpPr txBox="1">
            <a:spLocks noChangeArrowheads="1"/>
          </p:cNvSpPr>
          <p:nvPr/>
        </p:nvSpPr>
        <p:spPr bwMode="auto">
          <a:xfrm>
            <a:off x="4673600" y="5191125"/>
            <a:ext cx="3190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endParaRPr lang="fr-FR" altLang="fr-FR">
              <a:solidFill>
                <a:srgbClr val="0033CC"/>
              </a:solidFill>
            </a:endParaRPr>
          </a:p>
        </p:txBody>
      </p:sp>
      <p:sp>
        <p:nvSpPr>
          <p:cNvPr id="28678" name="Text Box 40"/>
          <p:cNvSpPr txBox="1">
            <a:spLocks noChangeArrowheads="1"/>
          </p:cNvSpPr>
          <p:nvPr/>
        </p:nvSpPr>
        <p:spPr bwMode="auto">
          <a:xfrm>
            <a:off x="8558213" y="646430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P18</a:t>
            </a:r>
          </a:p>
        </p:txBody>
      </p:sp>
      <p:sp>
        <p:nvSpPr>
          <p:cNvPr id="28679"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grpSp>
        <p:nvGrpSpPr>
          <p:cNvPr id="28680" name="Group 42"/>
          <p:cNvGrpSpPr>
            <a:grpSpLocks/>
          </p:cNvGrpSpPr>
          <p:nvPr/>
        </p:nvGrpSpPr>
        <p:grpSpPr bwMode="auto">
          <a:xfrm>
            <a:off x="1597025" y="3013075"/>
            <a:ext cx="2533650" cy="2660650"/>
            <a:chOff x="1006" y="1898"/>
            <a:chExt cx="1596" cy="1676"/>
          </a:xfrm>
        </p:grpSpPr>
        <p:sp>
          <p:nvSpPr>
            <p:cNvPr id="28681"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2"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3"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4"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5"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6"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7"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8"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89"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0"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1"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2"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3"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4"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5"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6"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7"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8"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699"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0"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1"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2"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3"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4"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5"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6"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8707"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936625" y="862013"/>
            <a:ext cx="72771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Panne machine due à la défaillance d’un micro-processeur de l’armoire de commande.</a:t>
            </a:r>
          </a:p>
        </p:txBody>
      </p:sp>
      <p:sp>
        <p:nvSpPr>
          <p:cNvPr id="29699"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29700" name="Text Box 38"/>
          <p:cNvSpPr txBox="1">
            <a:spLocks noChangeArrowheads="1"/>
          </p:cNvSpPr>
          <p:nvPr/>
        </p:nvSpPr>
        <p:spPr bwMode="auto">
          <a:xfrm>
            <a:off x="8710613" y="648335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P9</a:t>
            </a:r>
          </a:p>
        </p:txBody>
      </p:sp>
      <p:sp>
        <p:nvSpPr>
          <p:cNvPr id="29701"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29702"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endParaRPr lang="fr-FR" altLang="fr-FR">
              <a:solidFill>
                <a:srgbClr val="0033CC"/>
              </a:solidFill>
            </a:endParaRPr>
          </a:p>
        </p:txBody>
      </p:sp>
      <p:sp>
        <p:nvSpPr>
          <p:cNvPr id="29703" name="Text Box 41"/>
          <p:cNvSpPr txBox="1">
            <a:spLocks noChangeArrowheads="1"/>
          </p:cNvSpPr>
          <p:nvPr/>
        </p:nvSpPr>
        <p:spPr bwMode="auto">
          <a:xfrm>
            <a:off x="4606925" y="51323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29704" name="Group 42"/>
          <p:cNvGrpSpPr>
            <a:grpSpLocks/>
          </p:cNvGrpSpPr>
          <p:nvPr/>
        </p:nvGrpSpPr>
        <p:grpSpPr bwMode="auto">
          <a:xfrm>
            <a:off x="2092325" y="3008313"/>
            <a:ext cx="1552575" cy="2671762"/>
            <a:chOff x="1318" y="1895"/>
            <a:chExt cx="978" cy="1683"/>
          </a:xfrm>
        </p:grpSpPr>
        <p:sp>
          <p:nvSpPr>
            <p:cNvPr id="29705"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06"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07"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08"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09"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0"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1"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2"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3"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4"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5"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6"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7"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8"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19"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0"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1"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2"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3"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4"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5"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6"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7"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8"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29"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30"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29731"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003300" y="690563"/>
            <a:ext cx="7019925"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service commercial a promis à un client de faire un prototype de réducteur. La machine est arrêtée pour faire un carter spécial.</a:t>
            </a:r>
          </a:p>
        </p:txBody>
      </p:sp>
      <p:sp>
        <p:nvSpPr>
          <p:cNvPr id="30723" name="Text Box 3"/>
          <p:cNvSpPr txBox="1">
            <a:spLocks noChangeArrowheads="1"/>
          </p:cNvSpPr>
          <p:nvPr/>
        </p:nvSpPr>
        <p:spPr bwMode="auto">
          <a:xfrm>
            <a:off x="4549775" y="2770188"/>
            <a:ext cx="33369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a:solidFill>
                  <a:srgbClr val="0033CC"/>
                </a:solidFill>
              </a:rPr>
              <a:t>programmée à n’importe quel moment de la semaine</a:t>
            </a:r>
          </a:p>
        </p:txBody>
      </p:sp>
      <p:sp>
        <p:nvSpPr>
          <p:cNvPr id="30724" name="Text Box 4"/>
          <p:cNvSpPr txBox="1">
            <a:spLocks noChangeArrowheads="1"/>
          </p:cNvSpPr>
          <p:nvPr/>
        </p:nvSpPr>
        <p:spPr bwMode="auto">
          <a:xfrm>
            <a:off x="851217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Q26</a:t>
            </a:r>
          </a:p>
        </p:txBody>
      </p:sp>
      <p:sp>
        <p:nvSpPr>
          <p:cNvPr id="30725"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30726" name="Text Box 6"/>
          <p:cNvSpPr txBox="1">
            <a:spLocks noChangeArrowheads="1"/>
          </p:cNvSpPr>
          <p:nvPr/>
        </p:nvSpPr>
        <p:spPr bwMode="auto">
          <a:xfrm>
            <a:off x="4749800" y="4151313"/>
            <a:ext cx="293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30727" name="Text Box 7"/>
          <p:cNvSpPr txBox="1">
            <a:spLocks noChangeArrowheads="1"/>
          </p:cNvSpPr>
          <p:nvPr/>
        </p:nvSpPr>
        <p:spPr bwMode="auto">
          <a:xfrm>
            <a:off x="4635500" y="51704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p>
        </p:txBody>
      </p:sp>
      <p:grpSp>
        <p:nvGrpSpPr>
          <p:cNvPr id="30728" name="Group 8"/>
          <p:cNvGrpSpPr>
            <a:grpSpLocks/>
          </p:cNvGrpSpPr>
          <p:nvPr/>
        </p:nvGrpSpPr>
        <p:grpSpPr bwMode="auto">
          <a:xfrm>
            <a:off x="2092325" y="3008313"/>
            <a:ext cx="1552575" cy="2671762"/>
            <a:chOff x="1318" y="1895"/>
            <a:chExt cx="978" cy="1683"/>
          </a:xfrm>
        </p:grpSpPr>
        <p:sp>
          <p:nvSpPr>
            <p:cNvPr id="30729" name="AutoShape 9"/>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0" name="Oval 10"/>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1" name="AutoShape 11"/>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2" name="Oval 12"/>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3" name="Oval 13"/>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4" name="AutoShape 14"/>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5" name="Oval 15"/>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6" name="Oval 16"/>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7" name="Oval 17"/>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8" name="Oval 18"/>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39" name="AutoShape 19"/>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0" name="Oval 20"/>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1" name="Oval 21"/>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2" name="Oval 22"/>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3" name="Oval 23"/>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4" name="Oval 24"/>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5" name="AutoShape 25"/>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6" name="Oval 26"/>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7" name="Oval 27"/>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8" name="Oval 28"/>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49" name="AutoShape 29"/>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50" name="Oval 30"/>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51" name="Oval 31"/>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52" name="Oval 32"/>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53" name="Oval 33"/>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54" name="Oval 34"/>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0755" name="Oval 35"/>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1717675" y="795338"/>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Une pile de carters usinées s’est effondrée dans le stock.</a:t>
            </a:r>
          </a:p>
        </p:txBody>
      </p:sp>
      <p:sp>
        <p:nvSpPr>
          <p:cNvPr id="31747" name="Text Box 3"/>
          <p:cNvSpPr txBox="1">
            <a:spLocks noChangeArrowheads="1"/>
          </p:cNvSpPr>
          <p:nvPr/>
        </p:nvSpPr>
        <p:spPr bwMode="auto">
          <a:xfrm>
            <a:off x="4540250" y="30368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31748"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Q20</a:t>
            </a:r>
          </a:p>
        </p:txBody>
      </p:sp>
      <p:sp>
        <p:nvSpPr>
          <p:cNvPr id="31749"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31750" name="Text Box 6"/>
          <p:cNvSpPr txBox="1">
            <a:spLocks noChangeArrowheads="1"/>
          </p:cNvSpPr>
          <p:nvPr/>
        </p:nvSpPr>
        <p:spPr bwMode="auto">
          <a:xfrm>
            <a:off x="4749800" y="3865563"/>
            <a:ext cx="29559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a:solidFill>
                  <a:srgbClr val="0033CC"/>
                </a:solidFill>
              </a:rPr>
              <a:t>et</a:t>
            </a:r>
          </a:p>
          <a:p>
            <a:pPr eaLnBrk="1" hangingPunct="1"/>
            <a:r>
              <a:rPr lang="fr-FR" altLang="fr-FR">
                <a:solidFill>
                  <a:srgbClr val="0033CC"/>
                </a:solidFill>
              </a:rPr>
              <a:t>1 conteneur de pièces usinées</a:t>
            </a:r>
            <a:r>
              <a:rPr lang="fr-FR" altLang="fr-FR"/>
              <a:t> </a:t>
            </a:r>
            <a:r>
              <a:rPr lang="fr-FR" altLang="fr-FR">
                <a:solidFill>
                  <a:srgbClr val="0033CC"/>
                </a:solidFill>
              </a:rPr>
              <a:t>à rebuter</a:t>
            </a:r>
          </a:p>
        </p:txBody>
      </p:sp>
      <p:sp>
        <p:nvSpPr>
          <p:cNvPr id="31751" name="Text Box 7"/>
          <p:cNvSpPr txBox="1">
            <a:spLocks noChangeArrowheads="1"/>
          </p:cNvSpPr>
          <p:nvPr/>
        </p:nvSpPr>
        <p:spPr bwMode="auto">
          <a:xfrm>
            <a:off x="4578350" y="4979988"/>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conteneurs </a:t>
            </a:r>
            <a:r>
              <a:rPr lang="fr-FR" altLang="fr-FR">
                <a:solidFill>
                  <a:srgbClr val="0033CC"/>
                </a:solidFill>
              </a:rPr>
              <a:t>de pièces usinées à rebuter</a:t>
            </a:r>
          </a:p>
        </p:txBody>
      </p:sp>
      <p:grpSp>
        <p:nvGrpSpPr>
          <p:cNvPr id="31752" name="Group 42"/>
          <p:cNvGrpSpPr>
            <a:grpSpLocks/>
          </p:cNvGrpSpPr>
          <p:nvPr/>
        </p:nvGrpSpPr>
        <p:grpSpPr bwMode="auto">
          <a:xfrm>
            <a:off x="1597025" y="3013075"/>
            <a:ext cx="2533650" cy="2660650"/>
            <a:chOff x="1006" y="1898"/>
            <a:chExt cx="1596" cy="1676"/>
          </a:xfrm>
        </p:grpSpPr>
        <p:sp>
          <p:nvSpPr>
            <p:cNvPr id="31753"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54"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55"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56"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57"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58"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59"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0"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1"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2"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3"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4"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5"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6"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7"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8"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69"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0"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1"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2"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3"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4"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5"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6"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7"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8"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1779"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736600" y="871538"/>
            <a:ext cx="74866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Manque de lubrification, le roulement est grippé</a:t>
            </a:r>
            <a:br>
              <a:rPr lang="fr-FR" altLang="fr-FR" sz="2200">
                <a:solidFill>
                  <a:srgbClr val="FF3300"/>
                </a:solidFill>
              </a:rPr>
            </a:br>
            <a:r>
              <a:rPr lang="fr-FR" altLang="fr-FR" sz="2200">
                <a:solidFill>
                  <a:srgbClr val="FF3300"/>
                </a:solidFill>
              </a:rPr>
              <a:t>et la machine s’arrête. </a:t>
            </a:r>
          </a:p>
        </p:txBody>
      </p:sp>
      <p:sp>
        <p:nvSpPr>
          <p:cNvPr id="32771" name="Text Box 3"/>
          <p:cNvSpPr txBox="1">
            <a:spLocks noChangeArrowheads="1"/>
          </p:cNvSpPr>
          <p:nvPr/>
        </p:nvSpPr>
        <p:spPr bwMode="auto">
          <a:xfrm>
            <a:off x="4587875" y="30749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32772" name="Text Box 4"/>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P20</a:t>
            </a:r>
          </a:p>
        </p:txBody>
      </p:sp>
      <p:sp>
        <p:nvSpPr>
          <p:cNvPr id="32773"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32774" name="Text Box 6"/>
          <p:cNvSpPr txBox="1">
            <a:spLocks noChangeArrowheads="1"/>
          </p:cNvSpPr>
          <p:nvPr/>
        </p:nvSpPr>
        <p:spPr bwMode="auto">
          <a:xfrm>
            <a:off x="4549775" y="4141788"/>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32775" name="Text Box 7"/>
          <p:cNvSpPr txBox="1">
            <a:spLocks noChangeArrowheads="1"/>
          </p:cNvSpPr>
          <p:nvPr/>
        </p:nvSpPr>
        <p:spPr bwMode="auto">
          <a:xfrm>
            <a:off x="4625975" y="51704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endParaRPr lang="fr-FR" altLang="fr-FR">
              <a:solidFill>
                <a:srgbClr val="0033CC"/>
              </a:solidFill>
            </a:endParaRPr>
          </a:p>
        </p:txBody>
      </p:sp>
      <p:grpSp>
        <p:nvGrpSpPr>
          <p:cNvPr id="32776" name="Group 104"/>
          <p:cNvGrpSpPr>
            <a:grpSpLocks/>
          </p:cNvGrpSpPr>
          <p:nvPr/>
        </p:nvGrpSpPr>
        <p:grpSpPr bwMode="auto">
          <a:xfrm>
            <a:off x="1597025" y="3013075"/>
            <a:ext cx="2533650" cy="2660650"/>
            <a:chOff x="1006" y="1898"/>
            <a:chExt cx="1596" cy="1676"/>
          </a:xfrm>
        </p:grpSpPr>
        <p:sp>
          <p:nvSpPr>
            <p:cNvPr id="32777" name="AutoShape 105"/>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78" name="Oval 106"/>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79" name="AutoShape 107"/>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0" name="Oval 108"/>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1" name="Oval 109"/>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2" name="AutoShape 110"/>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3" name="Oval 111"/>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4" name="Oval 112"/>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5" name="Oval 113"/>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6" name="Oval 114"/>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7" name="AutoShape 115"/>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8" name="Oval 116"/>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89" name="Oval 117"/>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0" name="Oval 118"/>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1" name="Oval 119"/>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2" name="Oval 120"/>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3" name="AutoShape 121"/>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4" name="Oval 122"/>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5" name="Oval 123"/>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6" name="Oval 124"/>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7" name="AutoShape 125"/>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8" name="Oval 126"/>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799" name="Oval 127"/>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800" name="Oval 128"/>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801" name="Oval 129"/>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802" name="Oval 130"/>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2803" name="Oval 131"/>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936625" y="862013"/>
            <a:ext cx="7277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Panne machine due à l’usure d’une vis-mère.</a:t>
            </a:r>
          </a:p>
        </p:txBody>
      </p:sp>
      <p:sp>
        <p:nvSpPr>
          <p:cNvPr id="33795" name="Text Box 37"/>
          <p:cNvSpPr txBox="1">
            <a:spLocks noChangeArrowheads="1"/>
          </p:cNvSpPr>
          <p:nvPr/>
        </p:nvSpPr>
        <p:spPr bwMode="auto">
          <a:xfrm>
            <a:off x="4578350" y="3008313"/>
            <a:ext cx="3336925"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sz="1700">
                <a:solidFill>
                  <a:srgbClr val="0033CC"/>
                </a:solidFill>
              </a:rPr>
              <a:t>à programmer dans la semaine</a:t>
            </a:r>
          </a:p>
        </p:txBody>
      </p:sp>
      <p:sp>
        <p:nvSpPr>
          <p:cNvPr id="33796" name="Text Box 38"/>
          <p:cNvSpPr txBox="1">
            <a:spLocks noChangeArrowheads="1"/>
          </p:cNvSpPr>
          <p:nvPr/>
        </p:nvSpPr>
        <p:spPr bwMode="auto">
          <a:xfrm>
            <a:off x="8710613" y="648335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P8</a:t>
            </a:r>
          </a:p>
        </p:txBody>
      </p:sp>
      <p:sp>
        <p:nvSpPr>
          <p:cNvPr id="33797"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33798" name="Text Box 40"/>
          <p:cNvSpPr txBox="1">
            <a:spLocks noChangeArrowheads="1"/>
          </p:cNvSpPr>
          <p:nvPr/>
        </p:nvSpPr>
        <p:spPr bwMode="auto">
          <a:xfrm>
            <a:off x="4559300" y="4151313"/>
            <a:ext cx="331787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br>
              <a:rPr lang="fr-FR" altLang="fr-FR" sz="2400">
                <a:solidFill>
                  <a:srgbClr val="0033CC"/>
                </a:solidFill>
              </a:rPr>
            </a:br>
            <a:r>
              <a:rPr lang="fr-FR" altLang="fr-FR">
                <a:solidFill>
                  <a:srgbClr val="0033CC"/>
                </a:solidFill>
              </a:rPr>
              <a:t>immédiatement</a:t>
            </a:r>
          </a:p>
        </p:txBody>
      </p:sp>
      <p:sp>
        <p:nvSpPr>
          <p:cNvPr id="33799" name="Text Box 41"/>
          <p:cNvSpPr txBox="1">
            <a:spLocks noChangeArrowheads="1"/>
          </p:cNvSpPr>
          <p:nvPr/>
        </p:nvSpPr>
        <p:spPr bwMode="auto">
          <a:xfrm>
            <a:off x="4645025" y="4941888"/>
            <a:ext cx="31845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p>
          <a:p>
            <a:pPr eaLnBrk="1" hangingPunct="1"/>
            <a:r>
              <a:rPr lang="fr-FR" altLang="fr-FR">
                <a:solidFill>
                  <a:srgbClr val="0033CC"/>
                </a:solidFill>
              </a:rPr>
              <a:t>immédiatement</a:t>
            </a:r>
            <a:br>
              <a:rPr lang="fr-FR" altLang="fr-FR">
                <a:solidFill>
                  <a:srgbClr val="0033CC"/>
                </a:solidFill>
              </a:rPr>
            </a:br>
            <a:r>
              <a:rPr lang="fr-FR" altLang="fr-FR">
                <a:solidFill>
                  <a:srgbClr val="0033CC"/>
                </a:solidFill>
              </a:rPr>
              <a:t>+ 1 conteneur rebuté</a:t>
            </a:r>
          </a:p>
        </p:txBody>
      </p:sp>
      <p:grpSp>
        <p:nvGrpSpPr>
          <p:cNvPr id="33800" name="Group 42"/>
          <p:cNvGrpSpPr>
            <a:grpSpLocks/>
          </p:cNvGrpSpPr>
          <p:nvPr/>
        </p:nvGrpSpPr>
        <p:grpSpPr bwMode="auto">
          <a:xfrm>
            <a:off x="2092325" y="3008313"/>
            <a:ext cx="1552575" cy="2671762"/>
            <a:chOff x="1318" y="1895"/>
            <a:chExt cx="978" cy="1683"/>
          </a:xfrm>
        </p:grpSpPr>
        <p:sp>
          <p:nvSpPr>
            <p:cNvPr id="33801"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2"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3"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4"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5"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6"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7"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8"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09"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0"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1"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2"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3"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4"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5"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6"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7"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8"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19"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0"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1"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2"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3"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4"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5"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6"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3827"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1155700" y="776288"/>
            <a:ext cx="64960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Opérateur malade</a:t>
            </a:r>
          </a:p>
        </p:txBody>
      </p:sp>
      <p:sp>
        <p:nvSpPr>
          <p:cNvPr id="34819" name="Text Box 37"/>
          <p:cNvSpPr txBox="1">
            <a:spLocks noChangeArrowheads="1"/>
          </p:cNvSpPr>
          <p:nvPr/>
        </p:nvSpPr>
        <p:spPr bwMode="auto">
          <a:xfrm>
            <a:off x="4521200" y="29987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34820" name="Text Box 38"/>
          <p:cNvSpPr txBox="1">
            <a:spLocks noChangeArrowheads="1"/>
          </p:cNvSpPr>
          <p:nvPr/>
        </p:nvSpPr>
        <p:spPr bwMode="auto">
          <a:xfrm>
            <a:off x="8567738"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E10</a:t>
            </a:r>
          </a:p>
        </p:txBody>
      </p:sp>
      <p:sp>
        <p:nvSpPr>
          <p:cNvPr id="34821"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34822" name="Text Box 40"/>
          <p:cNvSpPr txBox="1">
            <a:spLocks noChangeArrowheads="1"/>
          </p:cNvSpPr>
          <p:nvPr/>
        </p:nvSpPr>
        <p:spPr bwMode="auto">
          <a:xfrm>
            <a:off x="4578350" y="3884613"/>
            <a:ext cx="33178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p>
          <a:p>
            <a:pPr eaLnBrk="1" hangingPunct="1"/>
            <a:r>
              <a:rPr lang="fr-FR" altLang="fr-FR">
                <a:solidFill>
                  <a:srgbClr val="0033CC"/>
                </a:solidFill>
              </a:rPr>
              <a:t>+ 1 conteneur de pièces non-conformes à reprendre</a:t>
            </a:r>
          </a:p>
        </p:txBody>
      </p:sp>
      <p:sp>
        <p:nvSpPr>
          <p:cNvPr id="34823" name="Text Box 41"/>
          <p:cNvSpPr txBox="1">
            <a:spLocks noChangeArrowheads="1"/>
          </p:cNvSpPr>
          <p:nvPr/>
        </p:nvSpPr>
        <p:spPr bwMode="auto">
          <a:xfrm>
            <a:off x="4616450" y="5056188"/>
            <a:ext cx="31845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4 conteneurs de pièces</a:t>
            </a:r>
            <a:r>
              <a:rPr lang="fr-FR" altLang="fr-FR">
                <a:solidFill>
                  <a:srgbClr val="0033CC"/>
                </a:solidFill>
              </a:rPr>
              <a:t> non-conformes à reprendre</a:t>
            </a:r>
          </a:p>
        </p:txBody>
      </p:sp>
      <p:grpSp>
        <p:nvGrpSpPr>
          <p:cNvPr id="34824" name="Group 43"/>
          <p:cNvGrpSpPr>
            <a:grpSpLocks/>
          </p:cNvGrpSpPr>
          <p:nvPr/>
        </p:nvGrpSpPr>
        <p:grpSpPr bwMode="auto">
          <a:xfrm>
            <a:off x="2092325" y="3008313"/>
            <a:ext cx="1552575" cy="2671762"/>
            <a:chOff x="1318" y="1895"/>
            <a:chExt cx="978" cy="1683"/>
          </a:xfrm>
        </p:grpSpPr>
        <p:sp>
          <p:nvSpPr>
            <p:cNvPr id="34825" name="AutoShape 4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26" name="Oval 4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27" name="AutoShape 46"/>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28" name="Oval 47"/>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29" name="Oval 48"/>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0" name="AutoShape 49"/>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1" name="Oval 50"/>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2" name="Oval 51"/>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3" name="Oval 52"/>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4" name="Oval 53"/>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5" name="AutoShape 54"/>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6" name="Oval 55"/>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7" name="Oval 56"/>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8" name="Oval 57"/>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39" name="Oval 58"/>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0" name="Oval 59"/>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1" name="AutoShape 60"/>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2" name="Oval 61"/>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3" name="Oval 62"/>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4" name="Oval 63"/>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5" name="AutoShape 64"/>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6" name="Oval 65"/>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7" name="Oval 66"/>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8" name="Oval 67"/>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49" name="Oval 68"/>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50" name="Oval 69"/>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4851" name="Oval 70"/>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603375" y="814388"/>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Forte proportion de matières hors tolérance dans la dernière livraison du fournisseur.</a:t>
            </a:r>
          </a:p>
        </p:txBody>
      </p:sp>
      <p:sp>
        <p:nvSpPr>
          <p:cNvPr id="35843" name="Text Box 37"/>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35844" name="Text Box 38"/>
          <p:cNvSpPr txBox="1">
            <a:spLocks noChangeArrowheads="1"/>
          </p:cNvSpPr>
          <p:nvPr/>
        </p:nvSpPr>
        <p:spPr bwMode="auto">
          <a:xfrm>
            <a:off x="8694738" y="648335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Q7</a:t>
            </a:r>
          </a:p>
        </p:txBody>
      </p:sp>
      <p:sp>
        <p:nvSpPr>
          <p:cNvPr id="35845"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35846" name="Text Box 40"/>
          <p:cNvSpPr txBox="1">
            <a:spLocks noChangeArrowheads="1"/>
          </p:cNvSpPr>
          <p:nvPr/>
        </p:nvSpPr>
        <p:spPr bwMode="auto">
          <a:xfrm>
            <a:off x="4540250" y="415131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endParaRPr lang="fr-FR" altLang="fr-FR">
              <a:solidFill>
                <a:srgbClr val="0033CC"/>
              </a:solidFill>
            </a:endParaRPr>
          </a:p>
        </p:txBody>
      </p:sp>
      <p:sp>
        <p:nvSpPr>
          <p:cNvPr id="35847" name="Text Box 41"/>
          <p:cNvSpPr txBox="1">
            <a:spLocks noChangeArrowheads="1"/>
          </p:cNvSpPr>
          <p:nvPr/>
        </p:nvSpPr>
        <p:spPr bwMode="auto">
          <a:xfrm>
            <a:off x="4540250" y="4922838"/>
            <a:ext cx="33178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3 conteneurs </a:t>
            </a:r>
            <a:r>
              <a:rPr lang="fr-FR" altLang="fr-FR">
                <a:solidFill>
                  <a:srgbClr val="0033CC"/>
                </a:solidFill>
              </a:rPr>
              <a:t>de pièces usinées à reprendre</a:t>
            </a:r>
          </a:p>
          <a:p>
            <a:pPr eaLnBrk="1" hangingPunct="1"/>
            <a:r>
              <a:rPr lang="fr-FR" altLang="fr-FR">
                <a:solidFill>
                  <a:srgbClr val="0033CC"/>
                </a:solidFill>
              </a:rPr>
              <a:t>(les derniers entrés)</a:t>
            </a:r>
          </a:p>
        </p:txBody>
      </p:sp>
      <p:grpSp>
        <p:nvGrpSpPr>
          <p:cNvPr id="35848" name="Group 42"/>
          <p:cNvGrpSpPr>
            <a:grpSpLocks/>
          </p:cNvGrpSpPr>
          <p:nvPr/>
        </p:nvGrpSpPr>
        <p:grpSpPr bwMode="auto">
          <a:xfrm>
            <a:off x="2092325" y="3008313"/>
            <a:ext cx="1552575" cy="2671762"/>
            <a:chOff x="1318" y="1895"/>
            <a:chExt cx="978" cy="1683"/>
          </a:xfrm>
        </p:grpSpPr>
        <p:sp>
          <p:nvSpPr>
            <p:cNvPr id="35849"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0"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1"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2"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3"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4"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5"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6"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7"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8"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59"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0"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1"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2"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3"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4"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5"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6"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7"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8"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69"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70"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71"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72"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73"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74"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5875"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1146175" y="812800"/>
            <a:ext cx="66357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magasinier marie sa fille. Le manutentionnaire se sert dans le magasin et se trompe de matière. </a:t>
            </a:r>
          </a:p>
        </p:txBody>
      </p:sp>
      <p:sp>
        <p:nvSpPr>
          <p:cNvPr id="36867"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36868" name="Text Box 38"/>
          <p:cNvSpPr txBox="1">
            <a:spLocks noChangeArrowheads="1"/>
          </p:cNvSpPr>
          <p:nvPr/>
        </p:nvSpPr>
        <p:spPr bwMode="auto">
          <a:xfrm>
            <a:off x="8694738" y="648335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Q5</a:t>
            </a:r>
          </a:p>
        </p:txBody>
      </p:sp>
      <p:sp>
        <p:nvSpPr>
          <p:cNvPr id="36869"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36870" name="Text Box 40"/>
          <p:cNvSpPr txBox="1">
            <a:spLocks noChangeArrowheads="1"/>
          </p:cNvSpPr>
          <p:nvPr/>
        </p:nvSpPr>
        <p:spPr bwMode="auto">
          <a:xfrm>
            <a:off x="4540250" y="4008438"/>
            <a:ext cx="331787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conteneurs de carters rebutés</a:t>
            </a:r>
            <a:endParaRPr lang="fr-FR" altLang="fr-FR">
              <a:solidFill>
                <a:srgbClr val="0033CC"/>
              </a:solidFill>
            </a:endParaRPr>
          </a:p>
        </p:txBody>
      </p:sp>
      <p:sp>
        <p:nvSpPr>
          <p:cNvPr id="36871" name="Text Box 42"/>
          <p:cNvSpPr txBox="1">
            <a:spLocks noChangeArrowheads="1"/>
          </p:cNvSpPr>
          <p:nvPr/>
        </p:nvSpPr>
        <p:spPr bwMode="auto">
          <a:xfrm>
            <a:off x="4578350" y="5054600"/>
            <a:ext cx="331787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4 conteneurs de carters rebutés</a:t>
            </a:r>
            <a:endParaRPr lang="fr-FR" altLang="fr-FR">
              <a:solidFill>
                <a:srgbClr val="0033CC"/>
              </a:solidFill>
            </a:endParaRPr>
          </a:p>
        </p:txBody>
      </p:sp>
      <p:grpSp>
        <p:nvGrpSpPr>
          <p:cNvPr id="36872" name="Group 71"/>
          <p:cNvGrpSpPr>
            <a:grpSpLocks/>
          </p:cNvGrpSpPr>
          <p:nvPr/>
        </p:nvGrpSpPr>
        <p:grpSpPr bwMode="auto">
          <a:xfrm>
            <a:off x="1597025" y="3013075"/>
            <a:ext cx="2533650" cy="2660650"/>
            <a:chOff x="1006" y="1898"/>
            <a:chExt cx="1596" cy="1676"/>
          </a:xfrm>
        </p:grpSpPr>
        <p:sp>
          <p:nvSpPr>
            <p:cNvPr id="36873" name="AutoShape 72"/>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74" name="Oval 73"/>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75" name="AutoShape 74"/>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76" name="Oval 75"/>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77" name="Oval 76"/>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78" name="AutoShape 77"/>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79" name="Oval 78"/>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0" name="Oval 79"/>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1" name="Oval 80"/>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2" name="Oval 81"/>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3" name="AutoShape 82"/>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4" name="Oval 83"/>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5" name="Oval 84"/>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6" name="Oval 85"/>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7" name="Oval 86"/>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8" name="Oval 87"/>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89" name="AutoShape 88"/>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0" name="Oval 89"/>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1" name="Oval 90"/>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2" name="Oval 91"/>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3" name="AutoShape 92"/>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4" name="Oval 93"/>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5" name="Oval 94"/>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6" name="Oval 95"/>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7" name="Oval 96"/>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8" name="Oval 97"/>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6899" name="Oval 98"/>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1689100" y="795338"/>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manutentionnaire a manqué son virage et percuté une pile de conteneurs.</a:t>
            </a:r>
          </a:p>
        </p:txBody>
      </p:sp>
      <p:sp>
        <p:nvSpPr>
          <p:cNvPr id="37891" name="Text Box 37"/>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37892" name="Text Box 38"/>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Q21</a:t>
            </a:r>
          </a:p>
        </p:txBody>
      </p:sp>
      <p:sp>
        <p:nvSpPr>
          <p:cNvPr id="3789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sp>
        <p:nvSpPr>
          <p:cNvPr id="37894" name="Text Box 40"/>
          <p:cNvSpPr txBox="1">
            <a:spLocks noChangeArrowheads="1"/>
          </p:cNvSpPr>
          <p:nvPr/>
        </p:nvSpPr>
        <p:spPr bwMode="auto">
          <a:xfrm>
            <a:off x="4625975" y="3875088"/>
            <a:ext cx="3022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a:solidFill>
                  <a:srgbClr val="0033CC"/>
                </a:solidFill>
              </a:rPr>
              <a:t>et </a:t>
            </a:r>
            <a:br>
              <a:rPr lang="fr-FR" altLang="fr-FR">
                <a:solidFill>
                  <a:srgbClr val="0033CC"/>
                </a:solidFill>
              </a:rPr>
            </a:br>
            <a:r>
              <a:rPr lang="fr-FR" altLang="fr-FR">
                <a:solidFill>
                  <a:srgbClr val="0033CC"/>
                </a:solidFill>
              </a:rPr>
              <a:t>1 conteneur de pièces usinées à rebuter </a:t>
            </a:r>
          </a:p>
        </p:txBody>
      </p:sp>
      <p:sp>
        <p:nvSpPr>
          <p:cNvPr id="37895" name="Text Box 42"/>
          <p:cNvSpPr txBox="1">
            <a:spLocks noChangeArrowheads="1"/>
          </p:cNvSpPr>
          <p:nvPr/>
        </p:nvSpPr>
        <p:spPr bwMode="auto">
          <a:xfrm>
            <a:off x="4578350" y="4894263"/>
            <a:ext cx="33178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 </a:t>
            </a:r>
            <a:r>
              <a:rPr lang="fr-FR" altLang="fr-FR">
                <a:solidFill>
                  <a:srgbClr val="0033CC"/>
                </a:solidFill>
              </a:rPr>
              <a:t>et </a:t>
            </a:r>
            <a:br>
              <a:rPr lang="fr-FR" altLang="fr-FR">
                <a:solidFill>
                  <a:srgbClr val="0033CC"/>
                </a:solidFill>
              </a:rPr>
            </a:br>
            <a:r>
              <a:rPr lang="fr-FR" altLang="fr-FR">
                <a:solidFill>
                  <a:srgbClr val="0033CC"/>
                </a:solidFill>
              </a:rPr>
              <a:t>2 conteneurs de pièces usinées à rebuter </a:t>
            </a:r>
          </a:p>
        </p:txBody>
      </p:sp>
      <p:grpSp>
        <p:nvGrpSpPr>
          <p:cNvPr id="37896" name="Group 71"/>
          <p:cNvGrpSpPr>
            <a:grpSpLocks/>
          </p:cNvGrpSpPr>
          <p:nvPr/>
        </p:nvGrpSpPr>
        <p:grpSpPr bwMode="auto">
          <a:xfrm>
            <a:off x="1597025" y="3013075"/>
            <a:ext cx="2533650" cy="2660650"/>
            <a:chOff x="1006" y="1898"/>
            <a:chExt cx="1596" cy="1676"/>
          </a:xfrm>
        </p:grpSpPr>
        <p:sp>
          <p:nvSpPr>
            <p:cNvPr id="37897" name="AutoShape 72"/>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898" name="Oval 73"/>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899" name="AutoShape 74"/>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0" name="Oval 75"/>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1" name="Oval 76"/>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2" name="AutoShape 77"/>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3" name="Oval 78"/>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4" name="Oval 79"/>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5" name="Oval 80"/>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6" name="Oval 81"/>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7" name="AutoShape 82"/>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8" name="Oval 83"/>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09" name="Oval 84"/>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0" name="Oval 85"/>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1" name="Oval 86"/>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2" name="Oval 87"/>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3" name="AutoShape 88"/>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4" name="Oval 89"/>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5" name="Oval 90"/>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6" name="Oval 91"/>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7" name="AutoShape 92"/>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8" name="Oval 93"/>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19" name="Oval 94"/>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20" name="Oval 95"/>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21" name="Oval 96"/>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22" name="Oval 97"/>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7923" name="Oval 98"/>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612775" y="844550"/>
            <a:ext cx="79438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Coupure de courant</a:t>
            </a:r>
          </a:p>
        </p:txBody>
      </p:sp>
      <p:sp>
        <p:nvSpPr>
          <p:cNvPr id="38915" name="Text Box 3"/>
          <p:cNvSpPr txBox="1">
            <a:spLocks noChangeArrowheads="1"/>
          </p:cNvSpPr>
          <p:nvPr/>
        </p:nvSpPr>
        <p:spPr bwMode="auto">
          <a:xfrm>
            <a:off x="8558213"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P23</a:t>
            </a:r>
          </a:p>
        </p:txBody>
      </p:sp>
      <p:sp>
        <p:nvSpPr>
          <p:cNvPr id="38916" name="Text Box 4"/>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Tous</a:t>
            </a:r>
          </a:p>
        </p:txBody>
      </p:sp>
      <p:sp>
        <p:nvSpPr>
          <p:cNvPr id="38917" name="Text Box 5"/>
          <p:cNvSpPr txBox="1">
            <a:spLocks noChangeArrowheads="1"/>
          </p:cNvSpPr>
          <p:nvPr/>
        </p:nvSpPr>
        <p:spPr bwMode="auto">
          <a:xfrm>
            <a:off x="4530725" y="31226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38918" name="Text Box 6"/>
          <p:cNvSpPr txBox="1">
            <a:spLocks noChangeArrowheads="1"/>
          </p:cNvSpPr>
          <p:nvPr/>
        </p:nvSpPr>
        <p:spPr bwMode="auto">
          <a:xfrm>
            <a:off x="4549775" y="3998913"/>
            <a:ext cx="33369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de toute l’usine.</a:t>
            </a:r>
          </a:p>
        </p:txBody>
      </p:sp>
      <p:grpSp>
        <p:nvGrpSpPr>
          <p:cNvPr id="38919" name="Group 7"/>
          <p:cNvGrpSpPr>
            <a:grpSpLocks/>
          </p:cNvGrpSpPr>
          <p:nvPr/>
        </p:nvGrpSpPr>
        <p:grpSpPr bwMode="auto">
          <a:xfrm>
            <a:off x="1590675" y="3022600"/>
            <a:ext cx="2581275" cy="1606550"/>
            <a:chOff x="1002" y="1904"/>
            <a:chExt cx="1626" cy="1012"/>
          </a:xfrm>
        </p:grpSpPr>
        <p:sp>
          <p:nvSpPr>
            <p:cNvPr id="38920" name="AutoShape 8"/>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1" name="Oval 9"/>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2" name="AutoShape 10"/>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3" name="Oval 11"/>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4" name="Oval 12"/>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5" name="AutoShape 13"/>
            <p:cNvSpPr>
              <a:spLocks noChangeArrowheads="1"/>
            </p:cNvSpPr>
            <p:nvPr/>
          </p:nvSpPr>
          <p:spPr bwMode="auto">
            <a:xfrm>
              <a:off x="1002"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6" name="Oval 14"/>
            <p:cNvSpPr>
              <a:spLocks noChangeArrowheads="1"/>
            </p:cNvSpPr>
            <p:nvPr/>
          </p:nvSpPr>
          <p:spPr bwMode="auto">
            <a:xfrm>
              <a:off x="1066"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7" name="Oval 15"/>
            <p:cNvSpPr>
              <a:spLocks noChangeArrowheads="1"/>
            </p:cNvSpPr>
            <p:nvPr/>
          </p:nvSpPr>
          <p:spPr bwMode="auto">
            <a:xfrm>
              <a:off x="1204"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8" name="Oval 16"/>
            <p:cNvSpPr>
              <a:spLocks noChangeArrowheads="1"/>
            </p:cNvSpPr>
            <p:nvPr/>
          </p:nvSpPr>
          <p:spPr bwMode="auto">
            <a:xfrm>
              <a:off x="1210"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29" name="Oval 17"/>
            <p:cNvSpPr>
              <a:spLocks noChangeArrowheads="1"/>
            </p:cNvSpPr>
            <p:nvPr/>
          </p:nvSpPr>
          <p:spPr bwMode="auto">
            <a:xfrm>
              <a:off x="106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0" name="AutoShape 18"/>
            <p:cNvSpPr>
              <a:spLocks noChangeArrowheads="1"/>
            </p:cNvSpPr>
            <p:nvPr/>
          </p:nvSpPr>
          <p:spPr bwMode="auto">
            <a:xfrm>
              <a:off x="1670"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1" name="Oval 19"/>
            <p:cNvSpPr>
              <a:spLocks noChangeArrowheads="1"/>
            </p:cNvSpPr>
            <p:nvPr/>
          </p:nvSpPr>
          <p:spPr bwMode="auto">
            <a:xfrm>
              <a:off x="1734"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2" name="Oval 20"/>
            <p:cNvSpPr>
              <a:spLocks noChangeArrowheads="1"/>
            </p:cNvSpPr>
            <p:nvPr/>
          </p:nvSpPr>
          <p:spPr bwMode="auto">
            <a:xfrm>
              <a:off x="1872"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3" name="Oval 21"/>
            <p:cNvSpPr>
              <a:spLocks noChangeArrowheads="1"/>
            </p:cNvSpPr>
            <p:nvPr/>
          </p:nvSpPr>
          <p:spPr bwMode="auto">
            <a:xfrm>
              <a:off x="1878"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4" name="Oval 22"/>
            <p:cNvSpPr>
              <a:spLocks noChangeArrowheads="1"/>
            </p:cNvSpPr>
            <p:nvPr/>
          </p:nvSpPr>
          <p:spPr bwMode="auto">
            <a:xfrm>
              <a:off x="1731"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5" name="Oval 23"/>
            <p:cNvSpPr>
              <a:spLocks noChangeArrowheads="1"/>
            </p:cNvSpPr>
            <p:nvPr/>
          </p:nvSpPr>
          <p:spPr bwMode="auto">
            <a:xfrm>
              <a:off x="1803"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6" name="AutoShape 24"/>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7" name="Oval 25"/>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8" name="Oval 26"/>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39" name="Oval 27"/>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nvGrpSpPr>
            <p:cNvPr id="38940" name="Group 28"/>
            <p:cNvGrpSpPr>
              <a:grpSpLocks/>
            </p:cNvGrpSpPr>
            <p:nvPr/>
          </p:nvGrpSpPr>
          <p:grpSpPr bwMode="auto">
            <a:xfrm>
              <a:off x="2307" y="2595"/>
              <a:ext cx="321" cy="321"/>
              <a:chOff x="1674" y="3259"/>
              <a:chExt cx="321" cy="321"/>
            </a:xfrm>
          </p:grpSpPr>
          <p:sp>
            <p:nvSpPr>
              <p:cNvPr id="38941" name="AutoShape 29"/>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42" name="Oval 30"/>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43" name="Oval 31"/>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44" name="Oval 32"/>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45" name="Oval 33"/>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46" name="Oval 34"/>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8947" name="Oval 35"/>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806450" y="796925"/>
            <a:ext cx="7624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Opérateur absent pour maladie</a:t>
            </a:r>
          </a:p>
        </p:txBody>
      </p:sp>
      <p:sp>
        <p:nvSpPr>
          <p:cNvPr id="39939" name="Text Box 37"/>
          <p:cNvSpPr txBox="1">
            <a:spLocks noChangeArrowheads="1"/>
          </p:cNvSpPr>
          <p:nvPr/>
        </p:nvSpPr>
        <p:spPr bwMode="auto">
          <a:xfrm>
            <a:off x="5154613" y="3030538"/>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39940" name="Text Box 38"/>
          <p:cNvSpPr txBox="1">
            <a:spLocks noChangeArrowheads="1"/>
          </p:cNvSpPr>
          <p:nvPr/>
        </p:nvSpPr>
        <p:spPr bwMode="auto">
          <a:xfrm>
            <a:off x="4565650" y="3865563"/>
            <a:ext cx="3302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r>
              <a:rPr lang="fr-FR" altLang="fr-FR">
                <a:solidFill>
                  <a:srgbClr val="0033CC"/>
                </a:solidFill>
              </a:rPr>
              <a:t>, </a:t>
            </a:r>
            <a:r>
              <a:rPr lang="fr-FR" altLang="fr-FR" sz="1600">
                <a:solidFill>
                  <a:srgbClr val="0033CC"/>
                </a:solidFill>
              </a:rPr>
              <a:t>plus 3 conteneurs à reprendre en raison d’une erreur du remplaçant</a:t>
            </a:r>
          </a:p>
        </p:txBody>
      </p:sp>
      <p:sp>
        <p:nvSpPr>
          <p:cNvPr id="39941" name="Text Box 39"/>
          <p:cNvSpPr txBox="1">
            <a:spLocks noChangeArrowheads="1"/>
          </p:cNvSpPr>
          <p:nvPr/>
        </p:nvSpPr>
        <p:spPr bwMode="auto">
          <a:xfrm>
            <a:off x="8707438" y="646430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E5</a:t>
            </a:r>
          </a:p>
        </p:txBody>
      </p:sp>
      <p:sp>
        <p:nvSpPr>
          <p:cNvPr id="39942" name="Text Box 40"/>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grpSp>
        <p:nvGrpSpPr>
          <p:cNvPr id="39943" name="Group 41"/>
          <p:cNvGrpSpPr>
            <a:grpSpLocks/>
          </p:cNvGrpSpPr>
          <p:nvPr/>
        </p:nvGrpSpPr>
        <p:grpSpPr bwMode="auto">
          <a:xfrm>
            <a:off x="1841500" y="3021013"/>
            <a:ext cx="2338388" cy="1587500"/>
            <a:chOff x="1160" y="1903"/>
            <a:chExt cx="1473" cy="1000"/>
          </a:xfrm>
        </p:grpSpPr>
        <p:sp>
          <p:nvSpPr>
            <p:cNvPr id="39944" name="AutoShape 42"/>
            <p:cNvSpPr>
              <a:spLocks noChangeArrowheads="1"/>
            </p:cNvSpPr>
            <p:nvPr/>
          </p:nvSpPr>
          <p:spPr bwMode="auto">
            <a:xfrm>
              <a:off x="1160"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45" name="Oval 43"/>
            <p:cNvSpPr>
              <a:spLocks noChangeArrowheads="1"/>
            </p:cNvSpPr>
            <p:nvPr/>
          </p:nvSpPr>
          <p:spPr bwMode="auto">
            <a:xfrm>
              <a:off x="1293" y="203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46" name="AutoShape 44"/>
            <p:cNvSpPr>
              <a:spLocks noChangeArrowheads="1"/>
            </p:cNvSpPr>
            <p:nvPr/>
          </p:nvSpPr>
          <p:spPr bwMode="auto">
            <a:xfrm>
              <a:off x="1735"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47" name="Oval 45"/>
            <p:cNvSpPr>
              <a:spLocks noChangeArrowheads="1"/>
            </p:cNvSpPr>
            <p:nvPr/>
          </p:nvSpPr>
          <p:spPr bwMode="auto">
            <a:xfrm>
              <a:off x="1799" y="211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48" name="Oval 46"/>
            <p:cNvSpPr>
              <a:spLocks noChangeArrowheads="1"/>
            </p:cNvSpPr>
            <p:nvPr/>
          </p:nvSpPr>
          <p:spPr bwMode="auto">
            <a:xfrm>
              <a:off x="1937" y="196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49" name="AutoShape 47"/>
            <p:cNvSpPr>
              <a:spLocks noChangeArrowheads="1"/>
            </p:cNvSpPr>
            <p:nvPr/>
          </p:nvSpPr>
          <p:spPr bwMode="auto">
            <a:xfrm>
              <a:off x="1160"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0" name="Oval 48"/>
            <p:cNvSpPr>
              <a:spLocks noChangeArrowheads="1"/>
            </p:cNvSpPr>
            <p:nvPr/>
          </p:nvSpPr>
          <p:spPr bwMode="auto">
            <a:xfrm>
              <a:off x="1224"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1" name="Oval 49"/>
            <p:cNvSpPr>
              <a:spLocks noChangeArrowheads="1"/>
            </p:cNvSpPr>
            <p:nvPr/>
          </p:nvSpPr>
          <p:spPr bwMode="auto">
            <a:xfrm>
              <a:off x="1362"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2" name="Oval 50"/>
            <p:cNvSpPr>
              <a:spLocks noChangeArrowheads="1"/>
            </p:cNvSpPr>
            <p:nvPr/>
          </p:nvSpPr>
          <p:spPr bwMode="auto">
            <a:xfrm>
              <a:off x="1368"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3" name="Oval 51"/>
            <p:cNvSpPr>
              <a:spLocks noChangeArrowheads="1"/>
            </p:cNvSpPr>
            <p:nvPr/>
          </p:nvSpPr>
          <p:spPr bwMode="auto">
            <a:xfrm>
              <a:off x="1221"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4" name="AutoShape 52"/>
            <p:cNvSpPr>
              <a:spLocks noChangeArrowheads="1"/>
            </p:cNvSpPr>
            <p:nvPr/>
          </p:nvSpPr>
          <p:spPr bwMode="auto">
            <a:xfrm>
              <a:off x="1735"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5" name="Oval 53"/>
            <p:cNvSpPr>
              <a:spLocks noChangeArrowheads="1"/>
            </p:cNvSpPr>
            <p:nvPr/>
          </p:nvSpPr>
          <p:spPr bwMode="auto">
            <a:xfrm>
              <a:off x="1799"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6" name="Oval 54"/>
            <p:cNvSpPr>
              <a:spLocks noChangeArrowheads="1"/>
            </p:cNvSpPr>
            <p:nvPr/>
          </p:nvSpPr>
          <p:spPr bwMode="auto">
            <a:xfrm>
              <a:off x="1937" y="264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7" name="Oval 55"/>
            <p:cNvSpPr>
              <a:spLocks noChangeArrowheads="1"/>
            </p:cNvSpPr>
            <p:nvPr/>
          </p:nvSpPr>
          <p:spPr bwMode="auto">
            <a:xfrm>
              <a:off x="1943"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8" name="Oval 56"/>
            <p:cNvSpPr>
              <a:spLocks noChangeArrowheads="1"/>
            </p:cNvSpPr>
            <p:nvPr/>
          </p:nvSpPr>
          <p:spPr bwMode="auto">
            <a:xfrm>
              <a:off x="1796"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59" name="Oval 57"/>
            <p:cNvSpPr>
              <a:spLocks noChangeArrowheads="1"/>
            </p:cNvSpPr>
            <p:nvPr/>
          </p:nvSpPr>
          <p:spPr bwMode="auto">
            <a:xfrm>
              <a:off x="1868"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0" name="AutoShape 58"/>
            <p:cNvSpPr>
              <a:spLocks noChangeArrowheads="1"/>
            </p:cNvSpPr>
            <p:nvPr/>
          </p:nvSpPr>
          <p:spPr bwMode="auto">
            <a:xfrm>
              <a:off x="2312"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1" name="Oval 59"/>
            <p:cNvSpPr>
              <a:spLocks noChangeArrowheads="1"/>
            </p:cNvSpPr>
            <p:nvPr/>
          </p:nvSpPr>
          <p:spPr bwMode="auto">
            <a:xfrm>
              <a:off x="2376" y="21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2" name="Oval 60"/>
            <p:cNvSpPr>
              <a:spLocks noChangeArrowheads="1"/>
            </p:cNvSpPr>
            <p:nvPr/>
          </p:nvSpPr>
          <p:spPr bwMode="auto">
            <a:xfrm>
              <a:off x="2514" y="19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3" name="Oval 61"/>
            <p:cNvSpPr>
              <a:spLocks noChangeArrowheads="1"/>
            </p:cNvSpPr>
            <p:nvPr/>
          </p:nvSpPr>
          <p:spPr bwMode="auto">
            <a:xfrm>
              <a:off x="2442" y="20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4" name="AutoShape 62"/>
            <p:cNvSpPr>
              <a:spLocks noChangeArrowheads="1"/>
            </p:cNvSpPr>
            <p:nvPr/>
          </p:nvSpPr>
          <p:spPr bwMode="auto">
            <a:xfrm>
              <a:off x="2312"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5" name="Oval 63"/>
            <p:cNvSpPr>
              <a:spLocks noChangeArrowheads="1"/>
            </p:cNvSpPr>
            <p:nvPr/>
          </p:nvSpPr>
          <p:spPr bwMode="auto">
            <a:xfrm>
              <a:off x="2376"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6" name="Oval 64"/>
            <p:cNvSpPr>
              <a:spLocks noChangeArrowheads="1"/>
            </p:cNvSpPr>
            <p:nvPr/>
          </p:nvSpPr>
          <p:spPr bwMode="auto">
            <a:xfrm>
              <a:off x="2514"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7" name="Oval 65"/>
            <p:cNvSpPr>
              <a:spLocks noChangeArrowheads="1"/>
            </p:cNvSpPr>
            <p:nvPr/>
          </p:nvSpPr>
          <p:spPr bwMode="auto">
            <a:xfrm>
              <a:off x="2520"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8" name="Oval 66"/>
            <p:cNvSpPr>
              <a:spLocks noChangeArrowheads="1"/>
            </p:cNvSpPr>
            <p:nvPr/>
          </p:nvSpPr>
          <p:spPr bwMode="auto">
            <a:xfrm>
              <a:off x="2373"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69" name="Oval 67"/>
            <p:cNvSpPr>
              <a:spLocks noChangeArrowheads="1"/>
            </p:cNvSpPr>
            <p:nvPr/>
          </p:nvSpPr>
          <p:spPr bwMode="auto">
            <a:xfrm>
              <a:off x="2373"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39970" name="Oval 68"/>
            <p:cNvSpPr>
              <a:spLocks noChangeArrowheads="1"/>
            </p:cNvSpPr>
            <p:nvPr/>
          </p:nvSpPr>
          <p:spPr bwMode="auto">
            <a:xfrm>
              <a:off x="2517"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946150" y="690563"/>
            <a:ext cx="71342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La Direction générale fait visiter l’usine à un important client japonais. Un rangement général est programmé.</a:t>
            </a:r>
          </a:p>
        </p:txBody>
      </p:sp>
      <p:sp>
        <p:nvSpPr>
          <p:cNvPr id="40963" name="Text Box 3"/>
          <p:cNvSpPr txBox="1">
            <a:spLocks noChangeArrowheads="1"/>
          </p:cNvSpPr>
          <p:nvPr/>
        </p:nvSpPr>
        <p:spPr bwMode="auto">
          <a:xfrm>
            <a:off x="4502150" y="2894013"/>
            <a:ext cx="33369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sur le poste des carters.</a:t>
            </a:r>
          </a:p>
        </p:txBody>
      </p:sp>
      <p:sp>
        <p:nvSpPr>
          <p:cNvPr id="40964" name="Text Box 4"/>
          <p:cNvSpPr txBox="1">
            <a:spLocks noChangeArrowheads="1"/>
          </p:cNvSpPr>
          <p:nvPr/>
        </p:nvSpPr>
        <p:spPr bwMode="auto">
          <a:xfrm>
            <a:off x="8540750"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Q27</a:t>
            </a:r>
          </a:p>
        </p:txBody>
      </p:sp>
      <p:sp>
        <p:nvSpPr>
          <p:cNvPr id="40965"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Tous</a:t>
            </a:r>
          </a:p>
        </p:txBody>
      </p:sp>
      <p:sp>
        <p:nvSpPr>
          <p:cNvPr id="40966" name="Text Box 6"/>
          <p:cNvSpPr txBox="1">
            <a:spLocks noChangeArrowheads="1"/>
          </p:cNvSpPr>
          <p:nvPr/>
        </p:nvSpPr>
        <p:spPr bwMode="auto">
          <a:xfrm>
            <a:off x="4730750" y="4017963"/>
            <a:ext cx="2936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sur 2 postes de travail.</a:t>
            </a:r>
          </a:p>
        </p:txBody>
      </p:sp>
      <p:sp>
        <p:nvSpPr>
          <p:cNvPr id="40967" name="Text Box 7"/>
          <p:cNvSpPr txBox="1">
            <a:spLocks noChangeArrowheads="1"/>
          </p:cNvSpPr>
          <p:nvPr/>
        </p:nvSpPr>
        <p:spPr bwMode="auto">
          <a:xfrm>
            <a:off x="4616450" y="5018088"/>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de tout l’atelier</a:t>
            </a:r>
          </a:p>
        </p:txBody>
      </p:sp>
      <p:sp>
        <p:nvSpPr>
          <p:cNvPr id="40968" name="AutoShape 8"/>
          <p:cNvSpPr>
            <a:spLocks noChangeArrowheads="1"/>
          </p:cNvSpPr>
          <p:nvPr/>
        </p:nvSpPr>
        <p:spPr bwMode="auto">
          <a:xfrm>
            <a:off x="3746500" y="4117975"/>
            <a:ext cx="509588" cy="509588"/>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nvGrpSpPr>
          <p:cNvPr id="40969" name="Group 9"/>
          <p:cNvGrpSpPr>
            <a:grpSpLocks/>
          </p:cNvGrpSpPr>
          <p:nvPr/>
        </p:nvGrpSpPr>
        <p:grpSpPr bwMode="auto">
          <a:xfrm>
            <a:off x="1660525" y="3008313"/>
            <a:ext cx="2505075" cy="2671762"/>
            <a:chOff x="1046" y="1895"/>
            <a:chExt cx="1578" cy="1683"/>
          </a:xfrm>
        </p:grpSpPr>
        <p:sp>
          <p:nvSpPr>
            <p:cNvPr id="40970" name="AutoShape 10"/>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1" name="Oval 11"/>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2" name="AutoShape 12"/>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3" name="Oval 13"/>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4" name="Oval 14"/>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5" name="Oval 15"/>
            <p:cNvSpPr>
              <a:spLocks noChangeArrowheads="1"/>
            </p:cNvSpPr>
            <p:nvPr/>
          </p:nvSpPr>
          <p:spPr bwMode="auto">
            <a:xfrm>
              <a:off x="2424"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6" name="Oval 16"/>
            <p:cNvSpPr>
              <a:spLocks noChangeArrowheads="1"/>
            </p:cNvSpPr>
            <p:nvPr/>
          </p:nvSpPr>
          <p:spPr bwMode="auto">
            <a:xfrm>
              <a:off x="2562"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7" name="Oval 17"/>
            <p:cNvSpPr>
              <a:spLocks noChangeArrowheads="1"/>
            </p:cNvSpPr>
            <p:nvPr/>
          </p:nvSpPr>
          <p:spPr bwMode="auto">
            <a:xfrm>
              <a:off x="2568"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78" name="Oval 18"/>
            <p:cNvSpPr>
              <a:spLocks noChangeArrowheads="1"/>
            </p:cNvSpPr>
            <p:nvPr/>
          </p:nvSpPr>
          <p:spPr bwMode="auto">
            <a:xfrm>
              <a:off x="2421"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nvGrpSpPr>
            <p:cNvPr id="40979" name="Group 19"/>
            <p:cNvGrpSpPr>
              <a:grpSpLocks/>
            </p:cNvGrpSpPr>
            <p:nvPr/>
          </p:nvGrpSpPr>
          <p:grpSpPr bwMode="auto">
            <a:xfrm>
              <a:off x="1046" y="2586"/>
              <a:ext cx="321" cy="321"/>
              <a:chOff x="1319" y="3257"/>
              <a:chExt cx="321" cy="321"/>
            </a:xfrm>
          </p:grpSpPr>
          <p:sp>
            <p:nvSpPr>
              <p:cNvPr id="40991" name="AutoShape 20"/>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92" name="Oval 21"/>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93" name="Oval 22"/>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94" name="Oval 23"/>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95" name="Oval 24"/>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96" name="Oval 25"/>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
          <p:nvSpPr>
            <p:cNvPr id="40980" name="AutoShape 26"/>
            <p:cNvSpPr>
              <a:spLocks noChangeArrowheads="1"/>
            </p:cNvSpPr>
            <p:nvPr/>
          </p:nvSpPr>
          <p:spPr bwMode="auto">
            <a:xfrm>
              <a:off x="1703"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1" name="Oval 27"/>
            <p:cNvSpPr>
              <a:spLocks noChangeArrowheads="1"/>
            </p:cNvSpPr>
            <p:nvPr/>
          </p:nvSpPr>
          <p:spPr bwMode="auto">
            <a:xfrm>
              <a:off x="1767"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2" name="Oval 28"/>
            <p:cNvSpPr>
              <a:spLocks noChangeArrowheads="1"/>
            </p:cNvSpPr>
            <p:nvPr/>
          </p:nvSpPr>
          <p:spPr bwMode="auto">
            <a:xfrm>
              <a:off x="1905"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3" name="Oval 29"/>
            <p:cNvSpPr>
              <a:spLocks noChangeArrowheads="1"/>
            </p:cNvSpPr>
            <p:nvPr/>
          </p:nvSpPr>
          <p:spPr bwMode="auto">
            <a:xfrm>
              <a:off x="1833"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4" name="AutoShape 30"/>
            <p:cNvSpPr>
              <a:spLocks noChangeArrowheads="1"/>
            </p:cNvSpPr>
            <p:nvPr/>
          </p:nvSpPr>
          <p:spPr bwMode="auto">
            <a:xfrm>
              <a:off x="1681"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5" name="Oval 31"/>
            <p:cNvSpPr>
              <a:spLocks noChangeArrowheads="1"/>
            </p:cNvSpPr>
            <p:nvPr/>
          </p:nvSpPr>
          <p:spPr bwMode="auto">
            <a:xfrm>
              <a:off x="1745"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6" name="Oval 32"/>
            <p:cNvSpPr>
              <a:spLocks noChangeArrowheads="1"/>
            </p:cNvSpPr>
            <p:nvPr/>
          </p:nvSpPr>
          <p:spPr bwMode="auto">
            <a:xfrm>
              <a:off x="1883"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7" name="Oval 33"/>
            <p:cNvSpPr>
              <a:spLocks noChangeArrowheads="1"/>
            </p:cNvSpPr>
            <p:nvPr/>
          </p:nvSpPr>
          <p:spPr bwMode="auto">
            <a:xfrm>
              <a:off x="1889"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8" name="Oval 34"/>
            <p:cNvSpPr>
              <a:spLocks noChangeArrowheads="1"/>
            </p:cNvSpPr>
            <p:nvPr/>
          </p:nvSpPr>
          <p:spPr bwMode="auto">
            <a:xfrm>
              <a:off x="1742"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89" name="Oval 35"/>
            <p:cNvSpPr>
              <a:spLocks noChangeArrowheads="1"/>
            </p:cNvSpPr>
            <p:nvPr/>
          </p:nvSpPr>
          <p:spPr bwMode="auto">
            <a:xfrm>
              <a:off x="174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0990" name="Oval 36"/>
            <p:cNvSpPr>
              <a:spLocks noChangeArrowheads="1"/>
            </p:cNvSpPr>
            <p:nvPr/>
          </p:nvSpPr>
          <p:spPr bwMode="auto">
            <a:xfrm>
              <a:off x="1886"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536700" y="814388"/>
            <a:ext cx="60674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L’opérateur s’est trompé en lisant les instructions de travail</a:t>
            </a:r>
          </a:p>
        </p:txBody>
      </p:sp>
      <p:sp>
        <p:nvSpPr>
          <p:cNvPr id="41987" name="Text Box 3"/>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conteneur à rebuter</a:t>
            </a:r>
            <a:endParaRPr lang="fr-FR" altLang="fr-FR" sz="1700">
              <a:solidFill>
                <a:srgbClr val="0033CC"/>
              </a:solidFill>
            </a:endParaRPr>
          </a:p>
        </p:txBody>
      </p:sp>
      <p:sp>
        <p:nvSpPr>
          <p:cNvPr id="41988"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Q25</a:t>
            </a:r>
          </a:p>
        </p:txBody>
      </p:sp>
      <p:sp>
        <p:nvSpPr>
          <p:cNvPr id="41989"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41990" name="Text Box 6"/>
          <p:cNvSpPr txBox="1">
            <a:spLocks noChangeArrowheads="1"/>
          </p:cNvSpPr>
          <p:nvPr/>
        </p:nvSpPr>
        <p:spPr bwMode="auto">
          <a:xfrm>
            <a:off x="4568825" y="3989388"/>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conteneurs </a:t>
            </a:r>
            <a:r>
              <a:rPr lang="fr-FR" altLang="fr-FR">
                <a:solidFill>
                  <a:srgbClr val="0033CC"/>
                </a:solidFill>
              </a:rPr>
              <a:t>de pièces usinées à rebuter </a:t>
            </a:r>
          </a:p>
        </p:txBody>
      </p:sp>
      <p:sp>
        <p:nvSpPr>
          <p:cNvPr id="41991" name="Text Box 7"/>
          <p:cNvSpPr txBox="1">
            <a:spLocks noChangeArrowheads="1"/>
          </p:cNvSpPr>
          <p:nvPr/>
        </p:nvSpPr>
        <p:spPr bwMode="auto">
          <a:xfrm>
            <a:off x="4587875" y="5075238"/>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5 conteneurs </a:t>
            </a:r>
            <a:r>
              <a:rPr lang="fr-FR" altLang="fr-FR">
                <a:solidFill>
                  <a:srgbClr val="0033CC"/>
                </a:solidFill>
              </a:rPr>
              <a:t>de pièces usinées à rebuter</a:t>
            </a:r>
            <a:r>
              <a:rPr lang="fr-FR" altLang="fr-FR"/>
              <a:t> </a:t>
            </a:r>
          </a:p>
        </p:txBody>
      </p:sp>
      <p:grpSp>
        <p:nvGrpSpPr>
          <p:cNvPr id="41992" name="Group 42"/>
          <p:cNvGrpSpPr>
            <a:grpSpLocks/>
          </p:cNvGrpSpPr>
          <p:nvPr/>
        </p:nvGrpSpPr>
        <p:grpSpPr bwMode="auto">
          <a:xfrm>
            <a:off x="1597025" y="3013075"/>
            <a:ext cx="2533650" cy="2660650"/>
            <a:chOff x="1006" y="1898"/>
            <a:chExt cx="1596" cy="1676"/>
          </a:xfrm>
        </p:grpSpPr>
        <p:sp>
          <p:nvSpPr>
            <p:cNvPr id="41993"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1994"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1995"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1996"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1997"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1998"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1999"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0"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1"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2"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3"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4"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5"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6"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7"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8"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09"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0"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1"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2"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3"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4"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5"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6"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7"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8"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2019"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689100" y="795338"/>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L’opérateur confond les pièces bleues et jaunes.</a:t>
            </a:r>
          </a:p>
        </p:txBody>
      </p:sp>
      <p:sp>
        <p:nvSpPr>
          <p:cNvPr id="43011" name="Text Box 37"/>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43012" name="Text Box 38"/>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Q18</a:t>
            </a:r>
          </a:p>
        </p:txBody>
      </p:sp>
      <p:sp>
        <p:nvSpPr>
          <p:cNvPr id="4301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43014" name="Text Box 40"/>
          <p:cNvSpPr txBox="1">
            <a:spLocks noChangeArrowheads="1"/>
          </p:cNvSpPr>
          <p:nvPr/>
        </p:nvSpPr>
        <p:spPr bwMode="auto">
          <a:xfrm>
            <a:off x="4597400" y="4103688"/>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conteneur à refaire</a:t>
            </a:r>
            <a:endParaRPr lang="fr-FR" altLang="fr-FR">
              <a:solidFill>
                <a:srgbClr val="0033CC"/>
              </a:solidFill>
            </a:endParaRPr>
          </a:p>
        </p:txBody>
      </p:sp>
      <p:sp>
        <p:nvSpPr>
          <p:cNvPr id="43015" name="Text Box 41"/>
          <p:cNvSpPr txBox="1">
            <a:spLocks noChangeArrowheads="1"/>
          </p:cNvSpPr>
          <p:nvPr/>
        </p:nvSpPr>
        <p:spPr bwMode="auto">
          <a:xfrm>
            <a:off x="4568825" y="4979988"/>
            <a:ext cx="33178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 et </a:t>
            </a:r>
            <a:br>
              <a:rPr lang="fr-FR" altLang="fr-FR" sz="2400">
                <a:solidFill>
                  <a:srgbClr val="0033CC"/>
                </a:solidFill>
              </a:rPr>
            </a:br>
            <a:r>
              <a:rPr lang="fr-FR" altLang="fr-FR" sz="2400">
                <a:solidFill>
                  <a:srgbClr val="0033CC"/>
                </a:solidFill>
              </a:rPr>
              <a:t>2 conteneurs à refaire.</a:t>
            </a:r>
            <a:endParaRPr lang="fr-FR" altLang="fr-FR">
              <a:solidFill>
                <a:srgbClr val="0033CC"/>
              </a:solidFill>
            </a:endParaRPr>
          </a:p>
        </p:txBody>
      </p:sp>
      <p:grpSp>
        <p:nvGrpSpPr>
          <p:cNvPr id="43016" name="Group 70"/>
          <p:cNvGrpSpPr>
            <a:grpSpLocks/>
          </p:cNvGrpSpPr>
          <p:nvPr/>
        </p:nvGrpSpPr>
        <p:grpSpPr bwMode="auto">
          <a:xfrm>
            <a:off x="1597025" y="3013075"/>
            <a:ext cx="2533650" cy="2660650"/>
            <a:chOff x="1006" y="1898"/>
            <a:chExt cx="1596" cy="1676"/>
          </a:xfrm>
        </p:grpSpPr>
        <p:sp>
          <p:nvSpPr>
            <p:cNvPr id="43017" name="AutoShape 71"/>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18" name="Oval 72"/>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19" name="AutoShape 73"/>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0" name="Oval 74"/>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1" name="Oval 75"/>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2" name="AutoShape 76"/>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3" name="Oval 77"/>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4" name="Oval 78"/>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5" name="Oval 79"/>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6" name="Oval 80"/>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7" name="AutoShape 81"/>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8" name="Oval 82"/>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29" name="Oval 83"/>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0" name="Oval 84"/>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1" name="Oval 85"/>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2" name="Oval 86"/>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3" name="AutoShape 87"/>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4" name="Oval 88"/>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5" name="Oval 89"/>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6" name="Oval 90"/>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7" name="AutoShape 91"/>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8" name="Oval 92"/>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39" name="Oval 93"/>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40" name="Oval 94"/>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41" name="Oval 95"/>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42" name="Oval 96"/>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3043" name="Oval 97"/>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1689100" y="795338"/>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fournisseur avait des anciens plans. Il a fabriqué des pièces non-conformes.</a:t>
            </a:r>
          </a:p>
        </p:txBody>
      </p:sp>
      <p:sp>
        <p:nvSpPr>
          <p:cNvPr id="44035" name="Text Box 37"/>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44036" name="Text Box 38"/>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Q19</a:t>
            </a:r>
          </a:p>
        </p:txBody>
      </p:sp>
      <p:sp>
        <p:nvSpPr>
          <p:cNvPr id="44037"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44038" name="Text Box 40"/>
          <p:cNvSpPr txBox="1">
            <a:spLocks noChangeArrowheads="1"/>
          </p:cNvSpPr>
          <p:nvPr/>
        </p:nvSpPr>
        <p:spPr bwMode="auto">
          <a:xfrm>
            <a:off x="4559300" y="3979863"/>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conteneurs </a:t>
            </a:r>
            <a:r>
              <a:rPr lang="fr-FR" altLang="fr-FR">
                <a:solidFill>
                  <a:srgbClr val="0033CC"/>
                </a:solidFill>
              </a:rPr>
              <a:t>de pièces usinées à renvoyer </a:t>
            </a:r>
          </a:p>
        </p:txBody>
      </p:sp>
      <p:sp>
        <p:nvSpPr>
          <p:cNvPr id="44039" name="Text Box 41"/>
          <p:cNvSpPr txBox="1">
            <a:spLocks noChangeArrowheads="1"/>
          </p:cNvSpPr>
          <p:nvPr/>
        </p:nvSpPr>
        <p:spPr bwMode="auto">
          <a:xfrm>
            <a:off x="4597400" y="5037138"/>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conteneurs </a:t>
            </a:r>
            <a:r>
              <a:rPr lang="fr-FR" altLang="fr-FR">
                <a:solidFill>
                  <a:srgbClr val="0033CC"/>
                </a:solidFill>
              </a:rPr>
              <a:t>de pièces usinées à renvoyer</a:t>
            </a:r>
            <a:endParaRPr lang="fr-FR" altLang="fr-FR" sz="2400">
              <a:solidFill>
                <a:srgbClr val="0033CC"/>
              </a:solidFill>
            </a:endParaRPr>
          </a:p>
        </p:txBody>
      </p:sp>
      <p:grpSp>
        <p:nvGrpSpPr>
          <p:cNvPr id="44040" name="Group 42"/>
          <p:cNvGrpSpPr>
            <a:grpSpLocks/>
          </p:cNvGrpSpPr>
          <p:nvPr/>
        </p:nvGrpSpPr>
        <p:grpSpPr bwMode="auto">
          <a:xfrm>
            <a:off x="2092325" y="3008313"/>
            <a:ext cx="1552575" cy="2671762"/>
            <a:chOff x="1318" y="1895"/>
            <a:chExt cx="978" cy="1683"/>
          </a:xfrm>
        </p:grpSpPr>
        <p:sp>
          <p:nvSpPr>
            <p:cNvPr id="44041"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2"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3"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4"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5"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6"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7"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8"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49"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0"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1"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2"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3"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4"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5"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6"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7"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8"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59"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0"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1"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2"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3"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4"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5"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6"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4067"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736600" y="871538"/>
            <a:ext cx="74866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Arrêt machine du à une erreur de programmation.</a:t>
            </a:r>
          </a:p>
        </p:txBody>
      </p:sp>
      <p:sp>
        <p:nvSpPr>
          <p:cNvPr id="45059" name="Text Box 3"/>
          <p:cNvSpPr txBox="1">
            <a:spLocks noChangeArrowheads="1"/>
          </p:cNvSpPr>
          <p:nvPr/>
        </p:nvSpPr>
        <p:spPr bwMode="auto">
          <a:xfrm>
            <a:off x="4587875" y="30749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45060" name="Text Box 4"/>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P10</a:t>
            </a:r>
          </a:p>
        </p:txBody>
      </p:sp>
      <p:sp>
        <p:nvSpPr>
          <p:cNvPr id="45061"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45062" name="Text Box 6"/>
          <p:cNvSpPr txBox="1">
            <a:spLocks noChangeArrowheads="1"/>
          </p:cNvSpPr>
          <p:nvPr/>
        </p:nvSpPr>
        <p:spPr bwMode="auto">
          <a:xfrm>
            <a:off x="4559300" y="415131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45063" name="Text Box 7"/>
          <p:cNvSpPr txBox="1">
            <a:spLocks noChangeArrowheads="1"/>
          </p:cNvSpPr>
          <p:nvPr/>
        </p:nvSpPr>
        <p:spPr bwMode="auto">
          <a:xfrm>
            <a:off x="4625975" y="5199063"/>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endParaRPr lang="fr-FR" altLang="fr-FR">
              <a:solidFill>
                <a:srgbClr val="0033CC"/>
              </a:solidFill>
            </a:endParaRPr>
          </a:p>
        </p:txBody>
      </p:sp>
      <p:grpSp>
        <p:nvGrpSpPr>
          <p:cNvPr id="45064" name="Group 42"/>
          <p:cNvGrpSpPr>
            <a:grpSpLocks/>
          </p:cNvGrpSpPr>
          <p:nvPr/>
        </p:nvGrpSpPr>
        <p:grpSpPr bwMode="auto">
          <a:xfrm>
            <a:off x="1627188" y="3022600"/>
            <a:ext cx="2543175" cy="2660650"/>
            <a:chOff x="1025" y="1904"/>
            <a:chExt cx="1602" cy="1676"/>
          </a:xfrm>
        </p:grpSpPr>
        <p:sp>
          <p:nvSpPr>
            <p:cNvPr id="45065" name="AutoShape 43"/>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66" name="Oval 44"/>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67" name="AutoShape 45"/>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68" name="Oval 46"/>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69" name="Oval 47"/>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0" name="AutoShape 48"/>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1" name="Oval 49"/>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2" name="Oval 50"/>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3" name="Oval 51"/>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4" name="Oval 52"/>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5" name="AutoShape 53"/>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6" name="Oval 54"/>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7" name="Oval 55"/>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8" name="Oval 56"/>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79" name="Oval 57"/>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0" name="Oval 58"/>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1" name="AutoShape 59"/>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2" name="Oval 60"/>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3" name="Oval 61"/>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4" name="Oval 62"/>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5" name="AutoShape 63"/>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6" name="Oval 64"/>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7" name="Oval 65"/>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8" name="Oval 66"/>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89" name="Oval 67"/>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90" name="Oval 68"/>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5091" name="Oval 69"/>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806450" y="796925"/>
            <a:ext cx="7624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Arrêt machine, rupture d’une canalisation d’air comprimé</a:t>
            </a:r>
          </a:p>
        </p:txBody>
      </p:sp>
      <p:sp>
        <p:nvSpPr>
          <p:cNvPr id="46083" name="Text Box 37"/>
          <p:cNvSpPr txBox="1">
            <a:spLocks noChangeArrowheads="1"/>
          </p:cNvSpPr>
          <p:nvPr/>
        </p:nvSpPr>
        <p:spPr bwMode="auto">
          <a:xfrm>
            <a:off x="5154613" y="3030538"/>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46084" name="Text Box 38"/>
          <p:cNvSpPr txBox="1">
            <a:spLocks noChangeArrowheads="1"/>
          </p:cNvSpPr>
          <p:nvPr/>
        </p:nvSpPr>
        <p:spPr bwMode="auto">
          <a:xfrm>
            <a:off x="4633913" y="4122738"/>
            <a:ext cx="317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46085" name="Text Box 39"/>
          <p:cNvSpPr txBox="1">
            <a:spLocks noChangeArrowheads="1"/>
          </p:cNvSpPr>
          <p:nvPr/>
        </p:nvSpPr>
        <p:spPr bwMode="auto">
          <a:xfrm>
            <a:off x="8556625" y="646430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P13</a:t>
            </a:r>
          </a:p>
        </p:txBody>
      </p:sp>
      <p:sp>
        <p:nvSpPr>
          <p:cNvPr id="46086" name="Text Box 40"/>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grpSp>
        <p:nvGrpSpPr>
          <p:cNvPr id="46087" name="Group 41"/>
          <p:cNvGrpSpPr>
            <a:grpSpLocks/>
          </p:cNvGrpSpPr>
          <p:nvPr/>
        </p:nvGrpSpPr>
        <p:grpSpPr bwMode="auto">
          <a:xfrm>
            <a:off x="1841500" y="3021013"/>
            <a:ext cx="2338388" cy="1587500"/>
            <a:chOff x="1160" y="1903"/>
            <a:chExt cx="1473" cy="1000"/>
          </a:xfrm>
        </p:grpSpPr>
        <p:sp>
          <p:nvSpPr>
            <p:cNvPr id="46088" name="AutoShape 42"/>
            <p:cNvSpPr>
              <a:spLocks noChangeArrowheads="1"/>
            </p:cNvSpPr>
            <p:nvPr/>
          </p:nvSpPr>
          <p:spPr bwMode="auto">
            <a:xfrm>
              <a:off x="1160"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89" name="Oval 43"/>
            <p:cNvSpPr>
              <a:spLocks noChangeArrowheads="1"/>
            </p:cNvSpPr>
            <p:nvPr/>
          </p:nvSpPr>
          <p:spPr bwMode="auto">
            <a:xfrm>
              <a:off x="1293" y="203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0" name="AutoShape 44"/>
            <p:cNvSpPr>
              <a:spLocks noChangeArrowheads="1"/>
            </p:cNvSpPr>
            <p:nvPr/>
          </p:nvSpPr>
          <p:spPr bwMode="auto">
            <a:xfrm>
              <a:off x="1735"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1" name="Oval 45"/>
            <p:cNvSpPr>
              <a:spLocks noChangeArrowheads="1"/>
            </p:cNvSpPr>
            <p:nvPr/>
          </p:nvSpPr>
          <p:spPr bwMode="auto">
            <a:xfrm>
              <a:off x="1799" y="211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2" name="Oval 46"/>
            <p:cNvSpPr>
              <a:spLocks noChangeArrowheads="1"/>
            </p:cNvSpPr>
            <p:nvPr/>
          </p:nvSpPr>
          <p:spPr bwMode="auto">
            <a:xfrm>
              <a:off x="1937" y="196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3" name="AutoShape 47"/>
            <p:cNvSpPr>
              <a:spLocks noChangeArrowheads="1"/>
            </p:cNvSpPr>
            <p:nvPr/>
          </p:nvSpPr>
          <p:spPr bwMode="auto">
            <a:xfrm>
              <a:off x="1160"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4" name="Oval 48"/>
            <p:cNvSpPr>
              <a:spLocks noChangeArrowheads="1"/>
            </p:cNvSpPr>
            <p:nvPr/>
          </p:nvSpPr>
          <p:spPr bwMode="auto">
            <a:xfrm>
              <a:off x="1224"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5" name="Oval 49"/>
            <p:cNvSpPr>
              <a:spLocks noChangeArrowheads="1"/>
            </p:cNvSpPr>
            <p:nvPr/>
          </p:nvSpPr>
          <p:spPr bwMode="auto">
            <a:xfrm>
              <a:off x="1362"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6" name="Oval 50"/>
            <p:cNvSpPr>
              <a:spLocks noChangeArrowheads="1"/>
            </p:cNvSpPr>
            <p:nvPr/>
          </p:nvSpPr>
          <p:spPr bwMode="auto">
            <a:xfrm>
              <a:off x="1368"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7" name="Oval 51"/>
            <p:cNvSpPr>
              <a:spLocks noChangeArrowheads="1"/>
            </p:cNvSpPr>
            <p:nvPr/>
          </p:nvSpPr>
          <p:spPr bwMode="auto">
            <a:xfrm>
              <a:off x="1221"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8" name="AutoShape 52"/>
            <p:cNvSpPr>
              <a:spLocks noChangeArrowheads="1"/>
            </p:cNvSpPr>
            <p:nvPr/>
          </p:nvSpPr>
          <p:spPr bwMode="auto">
            <a:xfrm>
              <a:off x="1735"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099" name="Oval 53"/>
            <p:cNvSpPr>
              <a:spLocks noChangeArrowheads="1"/>
            </p:cNvSpPr>
            <p:nvPr/>
          </p:nvSpPr>
          <p:spPr bwMode="auto">
            <a:xfrm>
              <a:off x="1799"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0" name="Oval 54"/>
            <p:cNvSpPr>
              <a:spLocks noChangeArrowheads="1"/>
            </p:cNvSpPr>
            <p:nvPr/>
          </p:nvSpPr>
          <p:spPr bwMode="auto">
            <a:xfrm>
              <a:off x="1937" y="264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1" name="Oval 55"/>
            <p:cNvSpPr>
              <a:spLocks noChangeArrowheads="1"/>
            </p:cNvSpPr>
            <p:nvPr/>
          </p:nvSpPr>
          <p:spPr bwMode="auto">
            <a:xfrm>
              <a:off x="1943"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2" name="Oval 56"/>
            <p:cNvSpPr>
              <a:spLocks noChangeArrowheads="1"/>
            </p:cNvSpPr>
            <p:nvPr/>
          </p:nvSpPr>
          <p:spPr bwMode="auto">
            <a:xfrm>
              <a:off x="1796"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3" name="Oval 57"/>
            <p:cNvSpPr>
              <a:spLocks noChangeArrowheads="1"/>
            </p:cNvSpPr>
            <p:nvPr/>
          </p:nvSpPr>
          <p:spPr bwMode="auto">
            <a:xfrm>
              <a:off x="1868"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4" name="AutoShape 58"/>
            <p:cNvSpPr>
              <a:spLocks noChangeArrowheads="1"/>
            </p:cNvSpPr>
            <p:nvPr/>
          </p:nvSpPr>
          <p:spPr bwMode="auto">
            <a:xfrm>
              <a:off x="2312"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5" name="Oval 59"/>
            <p:cNvSpPr>
              <a:spLocks noChangeArrowheads="1"/>
            </p:cNvSpPr>
            <p:nvPr/>
          </p:nvSpPr>
          <p:spPr bwMode="auto">
            <a:xfrm>
              <a:off x="2376" y="21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6" name="Oval 60"/>
            <p:cNvSpPr>
              <a:spLocks noChangeArrowheads="1"/>
            </p:cNvSpPr>
            <p:nvPr/>
          </p:nvSpPr>
          <p:spPr bwMode="auto">
            <a:xfrm>
              <a:off x="2514" y="19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7" name="Oval 61"/>
            <p:cNvSpPr>
              <a:spLocks noChangeArrowheads="1"/>
            </p:cNvSpPr>
            <p:nvPr/>
          </p:nvSpPr>
          <p:spPr bwMode="auto">
            <a:xfrm>
              <a:off x="2442" y="20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8" name="AutoShape 62"/>
            <p:cNvSpPr>
              <a:spLocks noChangeArrowheads="1"/>
            </p:cNvSpPr>
            <p:nvPr/>
          </p:nvSpPr>
          <p:spPr bwMode="auto">
            <a:xfrm>
              <a:off x="2312"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09" name="Oval 63"/>
            <p:cNvSpPr>
              <a:spLocks noChangeArrowheads="1"/>
            </p:cNvSpPr>
            <p:nvPr/>
          </p:nvSpPr>
          <p:spPr bwMode="auto">
            <a:xfrm>
              <a:off x="2376"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10" name="Oval 64"/>
            <p:cNvSpPr>
              <a:spLocks noChangeArrowheads="1"/>
            </p:cNvSpPr>
            <p:nvPr/>
          </p:nvSpPr>
          <p:spPr bwMode="auto">
            <a:xfrm>
              <a:off x="2514"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11" name="Oval 65"/>
            <p:cNvSpPr>
              <a:spLocks noChangeArrowheads="1"/>
            </p:cNvSpPr>
            <p:nvPr/>
          </p:nvSpPr>
          <p:spPr bwMode="auto">
            <a:xfrm>
              <a:off x="2520"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12" name="Oval 66"/>
            <p:cNvSpPr>
              <a:spLocks noChangeArrowheads="1"/>
            </p:cNvSpPr>
            <p:nvPr/>
          </p:nvSpPr>
          <p:spPr bwMode="auto">
            <a:xfrm>
              <a:off x="2373"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13" name="Oval 67"/>
            <p:cNvSpPr>
              <a:spLocks noChangeArrowheads="1"/>
            </p:cNvSpPr>
            <p:nvPr/>
          </p:nvSpPr>
          <p:spPr bwMode="auto">
            <a:xfrm>
              <a:off x="2373"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6114" name="Oval 68"/>
            <p:cNvSpPr>
              <a:spLocks noChangeArrowheads="1"/>
            </p:cNvSpPr>
            <p:nvPr/>
          </p:nvSpPr>
          <p:spPr bwMode="auto">
            <a:xfrm>
              <a:off x="2517"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736600" y="711200"/>
            <a:ext cx="77343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revêtement de l’allée principale du magasin est très dégradé. Les travaux de réfection perturbent la manutention.</a:t>
            </a:r>
          </a:p>
        </p:txBody>
      </p:sp>
      <p:sp>
        <p:nvSpPr>
          <p:cNvPr id="47107" name="Text Box 37"/>
          <p:cNvSpPr txBox="1">
            <a:spLocks noChangeArrowheads="1"/>
          </p:cNvSpPr>
          <p:nvPr/>
        </p:nvSpPr>
        <p:spPr bwMode="auto">
          <a:xfrm>
            <a:off x="4516438" y="3011488"/>
            <a:ext cx="349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47108" name="Text Box 38"/>
          <p:cNvSpPr txBox="1">
            <a:spLocks noChangeArrowheads="1"/>
          </p:cNvSpPr>
          <p:nvPr/>
        </p:nvSpPr>
        <p:spPr bwMode="auto">
          <a:xfrm>
            <a:off x="5111750" y="4160838"/>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1 heure d’arrêt</a:t>
            </a:r>
          </a:p>
        </p:txBody>
      </p:sp>
      <p:sp>
        <p:nvSpPr>
          <p:cNvPr id="47109" name="Text Box 39"/>
          <p:cNvSpPr txBox="1">
            <a:spLocks noChangeArrowheads="1"/>
          </p:cNvSpPr>
          <p:nvPr/>
        </p:nvSpPr>
        <p:spPr bwMode="auto">
          <a:xfrm>
            <a:off x="5111750" y="5229225"/>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3 heures d’arrêt</a:t>
            </a:r>
          </a:p>
        </p:txBody>
      </p:sp>
      <p:sp>
        <p:nvSpPr>
          <p:cNvPr id="47110" name="Text Box 40"/>
          <p:cNvSpPr txBox="1">
            <a:spLocks noChangeArrowheads="1"/>
          </p:cNvSpPr>
          <p:nvPr/>
        </p:nvSpPr>
        <p:spPr bwMode="auto">
          <a:xfrm>
            <a:off x="8699500" y="6473825"/>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A7</a:t>
            </a:r>
          </a:p>
        </p:txBody>
      </p:sp>
      <p:sp>
        <p:nvSpPr>
          <p:cNvPr id="47111" name="Text Box 41"/>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grpSp>
        <p:nvGrpSpPr>
          <p:cNvPr id="47112" name="Group 42"/>
          <p:cNvGrpSpPr>
            <a:grpSpLocks/>
          </p:cNvGrpSpPr>
          <p:nvPr/>
        </p:nvGrpSpPr>
        <p:grpSpPr bwMode="auto">
          <a:xfrm>
            <a:off x="1627188" y="3022600"/>
            <a:ext cx="2543175" cy="2660650"/>
            <a:chOff x="1025" y="1904"/>
            <a:chExt cx="1602" cy="1676"/>
          </a:xfrm>
        </p:grpSpPr>
        <p:sp>
          <p:nvSpPr>
            <p:cNvPr id="47113" name="AutoShape 43"/>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14" name="Oval 44"/>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15" name="AutoShape 45"/>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16" name="Oval 46"/>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17" name="Oval 47"/>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18" name="AutoShape 48"/>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19" name="Oval 49"/>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0" name="Oval 50"/>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1" name="Oval 51"/>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2" name="Oval 52"/>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3" name="AutoShape 53"/>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4" name="Oval 54"/>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5" name="Oval 55"/>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6" name="Oval 56"/>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7" name="Oval 57"/>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8" name="Oval 58"/>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29" name="AutoShape 59"/>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0" name="Oval 60"/>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1" name="Oval 61"/>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2" name="Oval 62"/>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3" name="AutoShape 63"/>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4" name="Oval 64"/>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5" name="Oval 65"/>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6" name="Oval 66"/>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7" name="Oval 67"/>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8" name="Oval 68"/>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7139" name="Oval 69"/>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936625" y="862013"/>
            <a:ext cx="7277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Panne machine, robot de palettisation en panne</a:t>
            </a:r>
          </a:p>
        </p:txBody>
      </p:sp>
      <p:sp>
        <p:nvSpPr>
          <p:cNvPr id="48131"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48132" name="Text Box 38"/>
          <p:cNvSpPr txBox="1">
            <a:spLocks noChangeArrowheads="1"/>
          </p:cNvSpPr>
          <p:nvPr/>
        </p:nvSpPr>
        <p:spPr bwMode="auto">
          <a:xfrm>
            <a:off x="8559800" y="6473825"/>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P14</a:t>
            </a:r>
          </a:p>
        </p:txBody>
      </p:sp>
      <p:sp>
        <p:nvSpPr>
          <p:cNvPr id="4813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48134"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48135" name="Text Box 41"/>
          <p:cNvSpPr txBox="1">
            <a:spLocks noChangeArrowheads="1"/>
          </p:cNvSpPr>
          <p:nvPr/>
        </p:nvSpPr>
        <p:spPr bwMode="auto">
          <a:xfrm>
            <a:off x="4606925" y="51323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48136" name="Group 42"/>
          <p:cNvGrpSpPr>
            <a:grpSpLocks/>
          </p:cNvGrpSpPr>
          <p:nvPr/>
        </p:nvGrpSpPr>
        <p:grpSpPr bwMode="auto">
          <a:xfrm>
            <a:off x="2092325" y="3008313"/>
            <a:ext cx="1552575" cy="2671762"/>
            <a:chOff x="1318" y="1895"/>
            <a:chExt cx="978" cy="1683"/>
          </a:xfrm>
        </p:grpSpPr>
        <p:sp>
          <p:nvSpPr>
            <p:cNvPr id="48137"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38"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39"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0"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1"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2"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3"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4"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5"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6"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7"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8"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49"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0"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1"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2"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3"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4"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5"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6"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7"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8"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59"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60"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61"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62"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8163"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612775" y="844550"/>
            <a:ext cx="79438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Routes coupées à la suite d’inondations.</a:t>
            </a:r>
            <a:br>
              <a:rPr lang="fr-FR" altLang="fr-FR" sz="2200">
                <a:solidFill>
                  <a:srgbClr val="FF3300"/>
                </a:solidFill>
              </a:rPr>
            </a:br>
            <a:r>
              <a:rPr lang="fr-FR" altLang="fr-FR" sz="2200">
                <a:solidFill>
                  <a:srgbClr val="FF3300"/>
                </a:solidFill>
              </a:rPr>
              <a:t>Le transporteur livre en retard.</a:t>
            </a:r>
          </a:p>
        </p:txBody>
      </p:sp>
      <p:sp>
        <p:nvSpPr>
          <p:cNvPr id="49155" name="Text Box 37"/>
          <p:cNvSpPr txBox="1">
            <a:spLocks noChangeArrowheads="1"/>
          </p:cNvSpPr>
          <p:nvPr/>
        </p:nvSpPr>
        <p:spPr bwMode="auto">
          <a:xfrm>
            <a:off x="5416550" y="3001963"/>
            <a:ext cx="1658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49156" name="Text Box 38"/>
          <p:cNvSpPr txBox="1">
            <a:spLocks noChangeArrowheads="1"/>
          </p:cNvSpPr>
          <p:nvPr/>
        </p:nvSpPr>
        <p:spPr bwMode="auto">
          <a:xfrm>
            <a:off x="4702175" y="3998913"/>
            <a:ext cx="3005138"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a:t>
            </a:r>
            <a:r>
              <a:rPr lang="fr-FR" altLang="fr-FR">
                <a:solidFill>
                  <a:srgbClr val="0033CC"/>
                </a:solidFill>
              </a:rPr>
              <a:t>d’indisponibilité</a:t>
            </a:r>
          </a:p>
          <a:p>
            <a:pPr eaLnBrk="1" hangingPunct="1"/>
            <a:r>
              <a:rPr lang="fr-FR" altLang="fr-FR">
                <a:solidFill>
                  <a:srgbClr val="0033CC"/>
                </a:solidFill>
              </a:rPr>
              <a:t>de la matière blanche</a:t>
            </a:r>
          </a:p>
        </p:txBody>
      </p:sp>
      <p:sp>
        <p:nvSpPr>
          <p:cNvPr id="49157" name="Text Box 40"/>
          <p:cNvSpPr txBox="1">
            <a:spLocks noChangeArrowheads="1"/>
          </p:cNvSpPr>
          <p:nvPr/>
        </p:nvSpPr>
        <p:spPr bwMode="auto">
          <a:xfrm>
            <a:off x="8558213" y="6492875"/>
            <a:ext cx="595312"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A12</a:t>
            </a:r>
          </a:p>
        </p:txBody>
      </p:sp>
      <p:sp>
        <p:nvSpPr>
          <p:cNvPr id="49158" name="Text Box 41"/>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49159" name="Text Box 42"/>
          <p:cNvSpPr txBox="1">
            <a:spLocks noChangeArrowheads="1"/>
          </p:cNvSpPr>
          <p:nvPr/>
        </p:nvSpPr>
        <p:spPr bwMode="auto">
          <a:xfrm>
            <a:off x="4730750" y="5027613"/>
            <a:ext cx="3005138"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a:t>
            </a:r>
            <a:r>
              <a:rPr lang="fr-FR" altLang="fr-FR">
                <a:solidFill>
                  <a:srgbClr val="0033CC"/>
                </a:solidFill>
              </a:rPr>
              <a:t>d’indisponibilité</a:t>
            </a:r>
          </a:p>
          <a:p>
            <a:pPr eaLnBrk="1" hangingPunct="1"/>
            <a:r>
              <a:rPr lang="fr-FR" altLang="fr-FR">
                <a:solidFill>
                  <a:srgbClr val="0033CC"/>
                </a:solidFill>
              </a:rPr>
              <a:t>de toutes les matières.</a:t>
            </a:r>
          </a:p>
        </p:txBody>
      </p:sp>
      <p:grpSp>
        <p:nvGrpSpPr>
          <p:cNvPr id="49160" name="Group 43"/>
          <p:cNvGrpSpPr>
            <a:grpSpLocks/>
          </p:cNvGrpSpPr>
          <p:nvPr/>
        </p:nvGrpSpPr>
        <p:grpSpPr bwMode="auto">
          <a:xfrm>
            <a:off x="1627188" y="3022600"/>
            <a:ext cx="2543175" cy="2660650"/>
            <a:chOff x="1025" y="1904"/>
            <a:chExt cx="1602" cy="1676"/>
          </a:xfrm>
        </p:grpSpPr>
        <p:sp>
          <p:nvSpPr>
            <p:cNvPr id="49161" name="AutoShape 44"/>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2" name="Oval 45"/>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3" name="AutoShape 46"/>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4" name="Oval 47"/>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5" name="Oval 48"/>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6" name="AutoShape 49"/>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7" name="Oval 50"/>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8" name="Oval 51"/>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69" name="Oval 52"/>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0" name="Oval 53"/>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1" name="AutoShape 54"/>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2" name="Oval 55"/>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3" name="Oval 56"/>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4" name="Oval 57"/>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5" name="Oval 58"/>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6" name="Oval 59"/>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7" name="AutoShape 60"/>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8" name="Oval 61"/>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79" name="Oval 62"/>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0" name="Oval 63"/>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1" name="AutoShape 64"/>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2" name="Oval 65"/>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3" name="Oval 66"/>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4" name="Oval 67"/>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5" name="Oval 68"/>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6" name="Oval 69"/>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49187" name="Oval 70"/>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1138238" y="806450"/>
            <a:ext cx="7237412"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magasinier est malade. L’approvisionnement de l’atelier des couronnes est perturbé.</a:t>
            </a:r>
          </a:p>
        </p:txBody>
      </p:sp>
      <p:sp>
        <p:nvSpPr>
          <p:cNvPr id="50179" name="Text Box 36"/>
          <p:cNvSpPr txBox="1">
            <a:spLocks noChangeArrowheads="1"/>
          </p:cNvSpPr>
          <p:nvPr/>
        </p:nvSpPr>
        <p:spPr bwMode="auto">
          <a:xfrm>
            <a:off x="5302250" y="3021013"/>
            <a:ext cx="1658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50180" name="Text Box 37"/>
          <p:cNvSpPr txBox="1">
            <a:spLocks noChangeArrowheads="1"/>
          </p:cNvSpPr>
          <p:nvPr/>
        </p:nvSpPr>
        <p:spPr bwMode="auto">
          <a:xfrm>
            <a:off x="5111750" y="4113213"/>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2 heures d’arrêt</a:t>
            </a:r>
          </a:p>
        </p:txBody>
      </p:sp>
      <p:sp>
        <p:nvSpPr>
          <p:cNvPr id="50181" name="Text Box 38"/>
          <p:cNvSpPr txBox="1">
            <a:spLocks noChangeArrowheads="1"/>
          </p:cNvSpPr>
          <p:nvPr/>
        </p:nvSpPr>
        <p:spPr bwMode="auto">
          <a:xfrm>
            <a:off x="5111750" y="5181600"/>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3 heures d’arrêt</a:t>
            </a:r>
          </a:p>
        </p:txBody>
      </p:sp>
      <p:sp>
        <p:nvSpPr>
          <p:cNvPr id="50182" name="Text Box 40"/>
          <p:cNvSpPr txBox="1">
            <a:spLocks noChangeArrowheads="1"/>
          </p:cNvSpPr>
          <p:nvPr/>
        </p:nvSpPr>
        <p:spPr bwMode="auto">
          <a:xfrm>
            <a:off x="8699500" y="6408738"/>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A2</a:t>
            </a:r>
          </a:p>
        </p:txBody>
      </p:sp>
      <p:sp>
        <p:nvSpPr>
          <p:cNvPr id="50183" name="Text Box 41"/>
          <p:cNvSpPr txBox="1">
            <a:spLocks noChangeArrowheads="1"/>
          </p:cNvSpPr>
          <p:nvPr/>
        </p:nvSpPr>
        <p:spPr bwMode="auto">
          <a:xfrm>
            <a:off x="2668588" y="2228850"/>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grpSp>
        <p:nvGrpSpPr>
          <p:cNvPr id="50184" name="Group 44"/>
          <p:cNvGrpSpPr>
            <a:grpSpLocks/>
          </p:cNvGrpSpPr>
          <p:nvPr/>
        </p:nvGrpSpPr>
        <p:grpSpPr bwMode="auto">
          <a:xfrm>
            <a:off x="1627188" y="3022600"/>
            <a:ext cx="2543175" cy="2660650"/>
            <a:chOff x="1025" y="1904"/>
            <a:chExt cx="1602" cy="1676"/>
          </a:xfrm>
        </p:grpSpPr>
        <p:sp>
          <p:nvSpPr>
            <p:cNvPr id="50185" name="AutoShape 45"/>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86" name="Oval 46"/>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87" name="AutoShape 47"/>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88" name="Oval 48"/>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89" name="Oval 49"/>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0" name="AutoShape 50"/>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1" name="Oval 51"/>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2" name="Oval 52"/>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3" name="Oval 53"/>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4" name="Oval 54"/>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5" name="AutoShape 55"/>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6" name="Oval 56"/>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7" name="Oval 57"/>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8" name="Oval 58"/>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199" name="Oval 59"/>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0" name="Oval 60"/>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1" name="AutoShape 61"/>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2" name="Oval 62"/>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3" name="Oval 63"/>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4" name="Oval 64"/>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5" name="AutoShape 65"/>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6" name="Oval 66"/>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7" name="Oval 67"/>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8" name="Oval 68"/>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09" name="Oval 69"/>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10" name="Oval 70"/>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0211" name="Oval 71"/>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806450" y="796925"/>
            <a:ext cx="762476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Erreur d’inventaire. Le stock est à 0 alors que le système informatique signale qu’il reste du stock.</a:t>
            </a:r>
          </a:p>
        </p:txBody>
      </p:sp>
      <p:sp>
        <p:nvSpPr>
          <p:cNvPr id="51203" name="Text Box 36"/>
          <p:cNvSpPr txBox="1">
            <a:spLocks noChangeArrowheads="1"/>
          </p:cNvSpPr>
          <p:nvPr/>
        </p:nvSpPr>
        <p:spPr bwMode="auto">
          <a:xfrm>
            <a:off x="5303838" y="3030538"/>
            <a:ext cx="1658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51204" name="Text Box 37"/>
          <p:cNvSpPr txBox="1">
            <a:spLocks noChangeArrowheads="1"/>
          </p:cNvSpPr>
          <p:nvPr/>
        </p:nvSpPr>
        <p:spPr bwMode="auto">
          <a:xfrm>
            <a:off x="5111750" y="4094163"/>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2 heures d’arrêt</a:t>
            </a:r>
          </a:p>
        </p:txBody>
      </p:sp>
      <p:sp>
        <p:nvSpPr>
          <p:cNvPr id="51205" name="Text Box 39"/>
          <p:cNvSpPr txBox="1">
            <a:spLocks noChangeArrowheads="1"/>
          </p:cNvSpPr>
          <p:nvPr/>
        </p:nvSpPr>
        <p:spPr bwMode="auto">
          <a:xfrm>
            <a:off x="8699500" y="6464300"/>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A5</a:t>
            </a:r>
          </a:p>
        </p:txBody>
      </p:sp>
      <p:sp>
        <p:nvSpPr>
          <p:cNvPr id="51206" name="Text Box 40"/>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grpSp>
        <p:nvGrpSpPr>
          <p:cNvPr id="51207" name="Group 44"/>
          <p:cNvGrpSpPr>
            <a:grpSpLocks/>
          </p:cNvGrpSpPr>
          <p:nvPr/>
        </p:nvGrpSpPr>
        <p:grpSpPr bwMode="auto">
          <a:xfrm>
            <a:off x="1841500" y="3021013"/>
            <a:ext cx="2338388" cy="1587500"/>
            <a:chOff x="1160" y="1903"/>
            <a:chExt cx="1473" cy="1000"/>
          </a:xfrm>
        </p:grpSpPr>
        <p:sp>
          <p:nvSpPr>
            <p:cNvPr id="51208" name="AutoShape 45"/>
            <p:cNvSpPr>
              <a:spLocks noChangeArrowheads="1"/>
            </p:cNvSpPr>
            <p:nvPr/>
          </p:nvSpPr>
          <p:spPr bwMode="auto">
            <a:xfrm>
              <a:off x="1160"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09" name="Oval 46"/>
            <p:cNvSpPr>
              <a:spLocks noChangeArrowheads="1"/>
            </p:cNvSpPr>
            <p:nvPr/>
          </p:nvSpPr>
          <p:spPr bwMode="auto">
            <a:xfrm>
              <a:off x="1293" y="203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0" name="AutoShape 47"/>
            <p:cNvSpPr>
              <a:spLocks noChangeArrowheads="1"/>
            </p:cNvSpPr>
            <p:nvPr/>
          </p:nvSpPr>
          <p:spPr bwMode="auto">
            <a:xfrm>
              <a:off x="1735"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1" name="Oval 48"/>
            <p:cNvSpPr>
              <a:spLocks noChangeArrowheads="1"/>
            </p:cNvSpPr>
            <p:nvPr/>
          </p:nvSpPr>
          <p:spPr bwMode="auto">
            <a:xfrm>
              <a:off x="1799" y="211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2" name="Oval 49"/>
            <p:cNvSpPr>
              <a:spLocks noChangeArrowheads="1"/>
            </p:cNvSpPr>
            <p:nvPr/>
          </p:nvSpPr>
          <p:spPr bwMode="auto">
            <a:xfrm>
              <a:off x="1937" y="196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3" name="AutoShape 50"/>
            <p:cNvSpPr>
              <a:spLocks noChangeArrowheads="1"/>
            </p:cNvSpPr>
            <p:nvPr/>
          </p:nvSpPr>
          <p:spPr bwMode="auto">
            <a:xfrm>
              <a:off x="1160"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4" name="Oval 51"/>
            <p:cNvSpPr>
              <a:spLocks noChangeArrowheads="1"/>
            </p:cNvSpPr>
            <p:nvPr/>
          </p:nvSpPr>
          <p:spPr bwMode="auto">
            <a:xfrm>
              <a:off x="1224"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5" name="Oval 52"/>
            <p:cNvSpPr>
              <a:spLocks noChangeArrowheads="1"/>
            </p:cNvSpPr>
            <p:nvPr/>
          </p:nvSpPr>
          <p:spPr bwMode="auto">
            <a:xfrm>
              <a:off x="1362"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6" name="Oval 53"/>
            <p:cNvSpPr>
              <a:spLocks noChangeArrowheads="1"/>
            </p:cNvSpPr>
            <p:nvPr/>
          </p:nvSpPr>
          <p:spPr bwMode="auto">
            <a:xfrm>
              <a:off x="1368"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7" name="Oval 54"/>
            <p:cNvSpPr>
              <a:spLocks noChangeArrowheads="1"/>
            </p:cNvSpPr>
            <p:nvPr/>
          </p:nvSpPr>
          <p:spPr bwMode="auto">
            <a:xfrm>
              <a:off x="1221"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8" name="AutoShape 55"/>
            <p:cNvSpPr>
              <a:spLocks noChangeArrowheads="1"/>
            </p:cNvSpPr>
            <p:nvPr/>
          </p:nvSpPr>
          <p:spPr bwMode="auto">
            <a:xfrm>
              <a:off x="1735"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19" name="Oval 56"/>
            <p:cNvSpPr>
              <a:spLocks noChangeArrowheads="1"/>
            </p:cNvSpPr>
            <p:nvPr/>
          </p:nvSpPr>
          <p:spPr bwMode="auto">
            <a:xfrm>
              <a:off x="1799"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0" name="Oval 57"/>
            <p:cNvSpPr>
              <a:spLocks noChangeArrowheads="1"/>
            </p:cNvSpPr>
            <p:nvPr/>
          </p:nvSpPr>
          <p:spPr bwMode="auto">
            <a:xfrm>
              <a:off x="1937" y="264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1" name="Oval 58"/>
            <p:cNvSpPr>
              <a:spLocks noChangeArrowheads="1"/>
            </p:cNvSpPr>
            <p:nvPr/>
          </p:nvSpPr>
          <p:spPr bwMode="auto">
            <a:xfrm>
              <a:off x="1943"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2" name="Oval 59"/>
            <p:cNvSpPr>
              <a:spLocks noChangeArrowheads="1"/>
            </p:cNvSpPr>
            <p:nvPr/>
          </p:nvSpPr>
          <p:spPr bwMode="auto">
            <a:xfrm>
              <a:off x="1796"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3" name="Oval 60"/>
            <p:cNvSpPr>
              <a:spLocks noChangeArrowheads="1"/>
            </p:cNvSpPr>
            <p:nvPr/>
          </p:nvSpPr>
          <p:spPr bwMode="auto">
            <a:xfrm>
              <a:off x="1868"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4" name="AutoShape 61"/>
            <p:cNvSpPr>
              <a:spLocks noChangeArrowheads="1"/>
            </p:cNvSpPr>
            <p:nvPr/>
          </p:nvSpPr>
          <p:spPr bwMode="auto">
            <a:xfrm>
              <a:off x="2312"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5" name="Oval 62"/>
            <p:cNvSpPr>
              <a:spLocks noChangeArrowheads="1"/>
            </p:cNvSpPr>
            <p:nvPr/>
          </p:nvSpPr>
          <p:spPr bwMode="auto">
            <a:xfrm>
              <a:off x="2376" y="21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6" name="Oval 63"/>
            <p:cNvSpPr>
              <a:spLocks noChangeArrowheads="1"/>
            </p:cNvSpPr>
            <p:nvPr/>
          </p:nvSpPr>
          <p:spPr bwMode="auto">
            <a:xfrm>
              <a:off x="2514" y="19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7" name="Oval 64"/>
            <p:cNvSpPr>
              <a:spLocks noChangeArrowheads="1"/>
            </p:cNvSpPr>
            <p:nvPr/>
          </p:nvSpPr>
          <p:spPr bwMode="auto">
            <a:xfrm>
              <a:off x="2442" y="20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8" name="AutoShape 65"/>
            <p:cNvSpPr>
              <a:spLocks noChangeArrowheads="1"/>
            </p:cNvSpPr>
            <p:nvPr/>
          </p:nvSpPr>
          <p:spPr bwMode="auto">
            <a:xfrm>
              <a:off x="2312"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29" name="Oval 66"/>
            <p:cNvSpPr>
              <a:spLocks noChangeArrowheads="1"/>
            </p:cNvSpPr>
            <p:nvPr/>
          </p:nvSpPr>
          <p:spPr bwMode="auto">
            <a:xfrm>
              <a:off x="2376"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30" name="Oval 67"/>
            <p:cNvSpPr>
              <a:spLocks noChangeArrowheads="1"/>
            </p:cNvSpPr>
            <p:nvPr/>
          </p:nvSpPr>
          <p:spPr bwMode="auto">
            <a:xfrm>
              <a:off x="2514"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31" name="Oval 68"/>
            <p:cNvSpPr>
              <a:spLocks noChangeArrowheads="1"/>
            </p:cNvSpPr>
            <p:nvPr/>
          </p:nvSpPr>
          <p:spPr bwMode="auto">
            <a:xfrm>
              <a:off x="2520"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32" name="Oval 69"/>
            <p:cNvSpPr>
              <a:spLocks noChangeArrowheads="1"/>
            </p:cNvSpPr>
            <p:nvPr/>
          </p:nvSpPr>
          <p:spPr bwMode="auto">
            <a:xfrm>
              <a:off x="2373"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33" name="Oval 70"/>
            <p:cNvSpPr>
              <a:spLocks noChangeArrowheads="1"/>
            </p:cNvSpPr>
            <p:nvPr/>
          </p:nvSpPr>
          <p:spPr bwMode="auto">
            <a:xfrm>
              <a:off x="2373"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1234" name="Oval 71"/>
            <p:cNvSpPr>
              <a:spLocks noChangeArrowheads="1"/>
            </p:cNvSpPr>
            <p:nvPr/>
          </p:nvSpPr>
          <p:spPr bwMode="auto">
            <a:xfrm>
              <a:off x="2517"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1155700" y="776288"/>
            <a:ext cx="64960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Opérateur absent (en formation)</a:t>
            </a:r>
          </a:p>
        </p:txBody>
      </p:sp>
      <p:sp>
        <p:nvSpPr>
          <p:cNvPr id="52227" name="Text Box 37"/>
          <p:cNvSpPr txBox="1">
            <a:spLocks noChangeArrowheads="1"/>
          </p:cNvSpPr>
          <p:nvPr/>
        </p:nvSpPr>
        <p:spPr bwMode="auto">
          <a:xfrm>
            <a:off x="4530725" y="2903538"/>
            <a:ext cx="33369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programmée dans la semaine</a:t>
            </a:r>
          </a:p>
        </p:txBody>
      </p:sp>
      <p:sp>
        <p:nvSpPr>
          <p:cNvPr id="52228" name="Text Box 38"/>
          <p:cNvSpPr txBox="1">
            <a:spLocks noChangeArrowheads="1"/>
          </p:cNvSpPr>
          <p:nvPr/>
        </p:nvSpPr>
        <p:spPr bwMode="auto">
          <a:xfrm>
            <a:off x="8709025" y="6483350"/>
            <a:ext cx="4079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E8</a:t>
            </a:r>
          </a:p>
        </p:txBody>
      </p:sp>
      <p:sp>
        <p:nvSpPr>
          <p:cNvPr id="52229"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52230" name="Text Box 40"/>
          <p:cNvSpPr txBox="1">
            <a:spLocks noChangeArrowheads="1"/>
          </p:cNvSpPr>
          <p:nvPr/>
        </p:nvSpPr>
        <p:spPr bwMode="auto">
          <a:xfrm>
            <a:off x="4740275" y="4046538"/>
            <a:ext cx="2936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a:solidFill>
                  <a:srgbClr val="0033CC"/>
                </a:solidFill>
              </a:rPr>
              <a:t>immédiat</a:t>
            </a:r>
          </a:p>
        </p:txBody>
      </p:sp>
      <p:sp>
        <p:nvSpPr>
          <p:cNvPr id="52231" name="Text Box 41"/>
          <p:cNvSpPr txBox="1">
            <a:spLocks noChangeArrowheads="1"/>
          </p:cNvSpPr>
          <p:nvPr/>
        </p:nvSpPr>
        <p:spPr bwMode="auto">
          <a:xfrm>
            <a:off x="4645025" y="5132388"/>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 </a:t>
            </a:r>
            <a:r>
              <a:rPr lang="fr-FR" altLang="fr-FR">
                <a:solidFill>
                  <a:srgbClr val="0033CC"/>
                </a:solidFill>
              </a:rPr>
              <a:t>immédiat</a:t>
            </a:r>
          </a:p>
        </p:txBody>
      </p:sp>
      <p:grpSp>
        <p:nvGrpSpPr>
          <p:cNvPr id="52232" name="Group 42"/>
          <p:cNvGrpSpPr>
            <a:grpSpLocks/>
          </p:cNvGrpSpPr>
          <p:nvPr/>
        </p:nvGrpSpPr>
        <p:grpSpPr bwMode="auto">
          <a:xfrm>
            <a:off x="2092325" y="3008313"/>
            <a:ext cx="1552575" cy="2671762"/>
            <a:chOff x="1318" y="1895"/>
            <a:chExt cx="978" cy="1683"/>
          </a:xfrm>
        </p:grpSpPr>
        <p:sp>
          <p:nvSpPr>
            <p:cNvPr id="52233"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34"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35"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36"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37"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38"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39"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0"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1"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2"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3"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4"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5"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6"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7"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8"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49"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0"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1"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2"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3"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4"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5"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6"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7"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8"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2259"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844550" y="758825"/>
            <a:ext cx="726281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 la suite de l’utilisation d’un mauvais calibre de contrôle, des pièces ont été fabriquées hors tolérance.</a:t>
            </a:r>
          </a:p>
        </p:txBody>
      </p:sp>
      <p:sp>
        <p:nvSpPr>
          <p:cNvPr id="53251" name="Text Box 37"/>
          <p:cNvSpPr txBox="1">
            <a:spLocks noChangeArrowheads="1"/>
          </p:cNvSpPr>
          <p:nvPr/>
        </p:nvSpPr>
        <p:spPr bwMode="auto">
          <a:xfrm>
            <a:off x="4572000" y="3040063"/>
            <a:ext cx="330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53252" name="Text Box 38"/>
          <p:cNvSpPr txBox="1">
            <a:spLocks noChangeArrowheads="1"/>
          </p:cNvSpPr>
          <p:nvPr/>
        </p:nvSpPr>
        <p:spPr bwMode="auto">
          <a:xfrm>
            <a:off x="4637088" y="3998913"/>
            <a:ext cx="310515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conteneur </a:t>
            </a:r>
            <a:r>
              <a:rPr lang="fr-FR" altLang="fr-FR">
                <a:solidFill>
                  <a:srgbClr val="0033CC"/>
                </a:solidFill>
              </a:rPr>
              <a:t>de pièces usinées à rebuter</a:t>
            </a:r>
          </a:p>
        </p:txBody>
      </p:sp>
      <p:sp>
        <p:nvSpPr>
          <p:cNvPr id="53253" name="Text Box 39"/>
          <p:cNvSpPr txBox="1">
            <a:spLocks noChangeArrowheads="1"/>
          </p:cNvSpPr>
          <p:nvPr/>
        </p:nvSpPr>
        <p:spPr bwMode="auto">
          <a:xfrm>
            <a:off x="4568825" y="4933950"/>
            <a:ext cx="32861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a:solidFill>
                  <a:srgbClr val="0033CC"/>
                </a:solidFill>
              </a:rPr>
              <a:t>et </a:t>
            </a:r>
            <a:br>
              <a:rPr lang="fr-FR" altLang="fr-FR">
                <a:solidFill>
                  <a:srgbClr val="0033CC"/>
                </a:solidFill>
              </a:rPr>
            </a:br>
            <a:r>
              <a:rPr lang="fr-FR" altLang="fr-FR">
                <a:solidFill>
                  <a:srgbClr val="0033CC"/>
                </a:solidFill>
              </a:rPr>
              <a:t>2 conteneurs de pièces usinées à rebuter</a:t>
            </a:r>
          </a:p>
        </p:txBody>
      </p:sp>
      <p:sp>
        <p:nvSpPr>
          <p:cNvPr id="53254" name="Text Box 40"/>
          <p:cNvSpPr txBox="1">
            <a:spLocks noChangeArrowheads="1"/>
          </p:cNvSpPr>
          <p:nvPr/>
        </p:nvSpPr>
        <p:spPr bwMode="auto">
          <a:xfrm>
            <a:off x="8693150" y="646430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Q8</a:t>
            </a:r>
          </a:p>
        </p:txBody>
      </p:sp>
      <p:sp>
        <p:nvSpPr>
          <p:cNvPr id="53255"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grpSp>
        <p:nvGrpSpPr>
          <p:cNvPr id="53256" name="Group 42"/>
          <p:cNvGrpSpPr>
            <a:grpSpLocks/>
          </p:cNvGrpSpPr>
          <p:nvPr/>
        </p:nvGrpSpPr>
        <p:grpSpPr bwMode="auto">
          <a:xfrm>
            <a:off x="1597025" y="3013075"/>
            <a:ext cx="2533650" cy="2660650"/>
            <a:chOff x="1006" y="1898"/>
            <a:chExt cx="1596" cy="1676"/>
          </a:xfrm>
        </p:grpSpPr>
        <p:sp>
          <p:nvSpPr>
            <p:cNvPr id="53257"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58"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59"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0"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1"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2"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3"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4"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5"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6"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7"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8"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69"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0"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1"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2"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3"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4"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5"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6"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7"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8"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79"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80"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81"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82"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3283"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51"/>
          <p:cNvSpPr txBox="1">
            <a:spLocks noChangeArrowheads="1"/>
          </p:cNvSpPr>
          <p:nvPr/>
        </p:nvSpPr>
        <p:spPr bwMode="auto">
          <a:xfrm>
            <a:off x="1128713" y="719138"/>
            <a:ext cx="7237412"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En raison de la hausse des commandes, le fournisseur n’a pu livrer à temps les pièces de fonderie pour les carters. Arrêt des machines.</a:t>
            </a:r>
          </a:p>
        </p:txBody>
      </p:sp>
      <p:sp>
        <p:nvSpPr>
          <p:cNvPr id="54275" name="Text Box 69"/>
          <p:cNvSpPr txBox="1">
            <a:spLocks noChangeArrowheads="1"/>
          </p:cNvSpPr>
          <p:nvPr/>
        </p:nvSpPr>
        <p:spPr bwMode="auto">
          <a:xfrm>
            <a:off x="8626475" y="6418263"/>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A1</a:t>
            </a:r>
          </a:p>
        </p:txBody>
      </p:sp>
      <p:sp>
        <p:nvSpPr>
          <p:cNvPr id="54276" name="Text Box 46"/>
          <p:cNvSpPr txBox="1">
            <a:spLocks noChangeArrowheads="1"/>
          </p:cNvSpPr>
          <p:nvPr/>
        </p:nvSpPr>
        <p:spPr bwMode="auto">
          <a:xfrm>
            <a:off x="5111750" y="3046413"/>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1 heure d’arrêt</a:t>
            </a:r>
          </a:p>
        </p:txBody>
      </p:sp>
      <p:sp>
        <p:nvSpPr>
          <p:cNvPr id="54277" name="Text Box 47"/>
          <p:cNvSpPr txBox="1">
            <a:spLocks noChangeArrowheads="1"/>
          </p:cNvSpPr>
          <p:nvPr/>
        </p:nvSpPr>
        <p:spPr bwMode="auto">
          <a:xfrm>
            <a:off x="5111750" y="4113213"/>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2 heures d’arrêt</a:t>
            </a:r>
          </a:p>
        </p:txBody>
      </p:sp>
      <p:sp>
        <p:nvSpPr>
          <p:cNvPr id="54278" name="Text Box 48"/>
          <p:cNvSpPr txBox="1">
            <a:spLocks noChangeArrowheads="1"/>
          </p:cNvSpPr>
          <p:nvPr/>
        </p:nvSpPr>
        <p:spPr bwMode="auto">
          <a:xfrm>
            <a:off x="5111750" y="5181600"/>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3 heures d’arrêt</a:t>
            </a:r>
          </a:p>
        </p:txBody>
      </p:sp>
      <p:sp>
        <p:nvSpPr>
          <p:cNvPr id="54279" name="Text Box 71"/>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grpSp>
        <p:nvGrpSpPr>
          <p:cNvPr id="54280" name="Group 135"/>
          <p:cNvGrpSpPr>
            <a:grpSpLocks/>
          </p:cNvGrpSpPr>
          <p:nvPr/>
        </p:nvGrpSpPr>
        <p:grpSpPr bwMode="auto">
          <a:xfrm>
            <a:off x="1627188" y="3022600"/>
            <a:ext cx="2543175" cy="2660650"/>
            <a:chOff x="1025" y="1904"/>
            <a:chExt cx="1602" cy="1676"/>
          </a:xfrm>
        </p:grpSpPr>
        <p:sp>
          <p:nvSpPr>
            <p:cNvPr id="54281" name="AutoShape 136"/>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2" name="Oval 137"/>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3" name="AutoShape 138"/>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4" name="Oval 139"/>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5" name="Oval 140"/>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6" name="AutoShape 141"/>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7" name="Oval 142"/>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8" name="Oval 143"/>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89" name="Oval 144"/>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0" name="Oval 145"/>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1" name="AutoShape 146"/>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2" name="Oval 147"/>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3" name="Oval 148"/>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4" name="Oval 149"/>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5" name="Oval 150"/>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6" name="Oval 151"/>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7" name="AutoShape 152"/>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8" name="Oval 153"/>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299" name="Oval 154"/>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0" name="Oval 155"/>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1" name="AutoShape 156"/>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2" name="Oval 157"/>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3" name="Oval 158"/>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4" name="Oval 159"/>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5" name="Oval 160"/>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6" name="Oval 161"/>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4307" name="Oval 162"/>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1517650" y="823913"/>
            <a:ext cx="60674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régleur s’est trompé en faisant un contrôle dimensionnel.</a:t>
            </a:r>
          </a:p>
        </p:txBody>
      </p:sp>
      <p:sp>
        <p:nvSpPr>
          <p:cNvPr id="55299" name="Text Box 3"/>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55300"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Q24</a:t>
            </a:r>
          </a:p>
        </p:txBody>
      </p:sp>
      <p:sp>
        <p:nvSpPr>
          <p:cNvPr id="55301"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55302" name="Text Box 6"/>
          <p:cNvSpPr txBox="1">
            <a:spLocks noChangeArrowheads="1"/>
          </p:cNvSpPr>
          <p:nvPr/>
        </p:nvSpPr>
        <p:spPr bwMode="auto">
          <a:xfrm>
            <a:off x="4568825" y="3989388"/>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conteneur </a:t>
            </a:r>
            <a:r>
              <a:rPr lang="fr-FR" altLang="fr-FR">
                <a:solidFill>
                  <a:srgbClr val="0033CC"/>
                </a:solidFill>
              </a:rPr>
              <a:t>de pièces usinées à rebuter </a:t>
            </a:r>
          </a:p>
        </p:txBody>
      </p:sp>
      <p:sp>
        <p:nvSpPr>
          <p:cNvPr id="55303" name="Text Box 7"/>
          <p:cNvSpPr txBox="1">
            <a:spLocks noChangeArrowheads="1"/>
          </p:cNvSpPr>
          <p:nvPr/>
        </p:nvSpPr>
        <p:spPr bwMode="auto">
          <a:xfrm>
            <a:off x="4587875" y="5075238"/>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5 conteneurs </a:t>
            </a:r>
            <a:r>
              <a:rPr lang="fr-FR" altLang="fr-FR">
                <a:solidFill>
                  <a:srgbClr val="0033CC"/>
                </a:solidFill>
              </a:rPr>
              <a:t>de pièces usinées à rebuter</a:t>
            </a:r>
            <a:r>
              <a:rPr lang="fr-FR" altLang="fr-FR"/>
              <a:t> </a:t>
            </a:r>
          </a:p>
        </p:txBody>
      </p:sp>
      <p:grpSp>
        <p:nvGrpSpPr>
          <p:cNvPr id="55304" name="Group 42"/>
          <p:cNvGrpSpPr>
            <a:grpSpLocks/>
          </p:cNvGrpSpPr>
          <p:nvPr/>
        </p:nvGrpSpPr>
        <p:grpSpPr bwMode="auto">
          <a:xfrm>
            <a:off x="1597025" y="3013075"/>
            <a:ext cx="2533650" cy="2660650"/>
            <a:chOff x="1006" y="1898"/>
            <a:chExt cx="1596" cy="1676"/>
          </a:xfrm>
        </p:grpSpPr>
        <p:sp>
          <p:nvSpPr>
            <p:cNvPr id="55305"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06"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07"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08"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09"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0"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1"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2"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3"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4"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5"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6"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7"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8"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19"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0"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1"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2"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3"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4"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5"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6"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7"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8"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29"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30"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5331"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717550" y="700088"/>
            <a:ext cx="771525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Chocs pendant le transport des matières. </a:t>
            </a:r>
            <a:br>
              <a:rPr lang="fr-FR" altLang="fr-FR" sz="2200">
                <a:solidFill>
                  <a:srgbClr val="FF3300"/>
                </a:solidFill>
              </a:rPr>
            </a:br>
            <a:r>
              <a:rPr lang="fr-FR" altLang="fr-FR" sz="2200">
                <a:solidFill>
                  <a:srgbClr val="FF3300"/>
                </a:solidFill>
              </a:rPr>
              <a:t>Une partie des approvisionnements doit être renvoyée</a:t>
            </a:r>
            <a:br>
              <a:rPr lang="fr-FR" altLang="fr-FR" sz="2200">
                <a:solidFill>
                  <a:srgbClr val="FF3300"/>
                </a:solidFill>
              </a:rPr>
            </a:br>
            <a:r>
              <a:rPr lang="fr-FR" altLang="fr-FR" sz="2200">
                <a:solidFill>
                  <a:srgbClr val="FF3300"/>
                </a:solidFill>
              </a:rPr>
              <a:t>au fournisseur.</a:t>
            </a:r>
          </a:p>
        </p:txBody>
      </p:sp>
      <p:sp>
        <p:nvSpPr>
          <p:cNvPr id="56323" name="Text Box 3"/>
          <p:cNvSpPr txBox="1">
            <a:spLocks noChangeArrowheads="1"/>
          </p:cNvSpPr>
          <p:nvPr/>
        </p:nvSpPr>
        <p:spPr bwMode="auto">
          <a:xfrm>
            <a:off x="4587875" y="30749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56324"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Q10</a:t>
            </a:r>
          </a:p>
        </p:txBody>
      </p:sp>
      <p:sp>
        <p:nvSpPr>
          <p:cNvPr id="56325"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56326" name="Text Box 6"/>
          <p:cNvSpPr txBox="1">
            <a:spLocks noChangeArrowheads="1"/>
          </p:cNvSpPr>
          <p:nvPr/>
        </p:nvSpPr>
        <p:spPr bwMode="auto">
          <a:xfrm>
            <a:off x="4559300" y="4141788"/>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56327" name="Text Box 75"/>
          <p:cNvSpPr txBox="1">
            <a:spLocks noChangeArrowheads="1"/>
          </p:cNvSpPr>
          <p:nvPr/>
        </p:nvSpPr>
        <p:spPr bwMode="auto">
          <a:xfrm>
            <a:off x="4549775" y="5151438"/>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5 heures d’arrêt</a:t>
            </a:r>
            <a:endParaRPr lang="fr-FR" altLang="fr-FR">
              <a:solidFill>
                <a:srgbClr val="0033CC"/>
              </a:solidFill>
            </a:endParaRPr>
          </a:p>
        </p:txBody>
      </p:sp>
      <p:grpSp>
        <p:nvGrpSpPr>
          <p:cNvPr id="56328" name="Group 76"/>
          <p:cNvGrpSpPr>
            <a:grpSpLocks/>
          </p:cNvGrpSpPr>
          <p:nvPr/>
        </p:nvGrpSpPr>
        <p:grpSpPr bwMode="auto">
          <a:xfrm>
            <a:off x="1597025" y="3013075"/>
            <a:ext cx="2533650" cy="2660650"/>
            <a:chOff x="1006" y="1898"/>
            <a:chExt cx="1596" cy="1676"/>
          </a:xfrm>
        </p:grpSpPr>
        <p:sp>
          <p:nvSpPr>
            <p:cNvPr id="56329" name="AutoShape 77"/>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0" name="Oval 78"/>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1" name="AutoShape 79"/>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2" name="Oval 80"/>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3" name="Oval 81"/>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4" name="AutoShape 82"/>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5" name="Oval 83"/>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6" name="Oval 84"/>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7" name="Oval 85"/>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8" name="Oval 86"/>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39" name="AutoShape 87"/>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0" name="Oval 88"/>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1" name="Oval 89"/>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2" name="Oval 90"/>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3" name="Oval 91"/>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4" name="Oval 92"/>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5" name="AutoShape 93"/>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6" name="Oval 94"/>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7" name="Oval 95"/>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8" name="Oval 96"/>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49" name="AutoShape 97"/>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50" name="Oval 98"/>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51" name="Oval 99"/>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52" name="Oval 100"/>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53" name="Oval 101"/>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54" name="Oval 102"/>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6355" name="Oval 103"/>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1031875" y="795338"/>
            <a:ext cx="65627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Utilisation par erreur d’une vieille matière obsolète qui était dans le stock.</a:t>
            </a:r>
          </a:p>
        </p:txBody>
      </p:sp>
      <p:sp>
        <p:nvSpPr>
          <p:cNvPr id="57347" name="Text Box 3"/>
          <p:cNvSpPr txBox="1">
            <a:spLocks noChangeArrowheads="1"/>
          </p:cNvSpPr>
          <p:nvPr/>
        </p:nvSpPr>
        <p:spPr bwMode="auto">
          <a:xfrm>
            <a:off x="4587875" y="30749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57348"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Q11</a:t>
            </a:r>
          </a:p>
        </p:txBody>
      </p:sp>
      <p:sp>
        <p:nvSpPr>
          <p:cNvPr id="57349"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57350" name="Text Box 6"/>
          <p:cNvSpPr txBox="1">
            <a:spLocks noChangeArrowheads="1"/>
          </p:cNvSpPr>
          <p:nvPr/>
        </p:nvSpPr>
        <p:spPr bwMode="auto">
          <a:xfrm>
            <a:off x="4549775" y="4141788"/>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57351" name="Text Box 7"/>
          <p:cNvSpPr txBox="1">
            <a:spLocks noChangeArrowheads="1"/>
          </p:cNvSpPr>
          <p:nvPr/>
        </p:nvSpPr>
        <p:spPr bwMode="auto">
          <a:xfrm>
            <a:off x="4625975" y="51704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57352" name="Group 42"/>
          <p:cNvGrpSpPr>
            <a:grpSpLocks/>
          </p:cNvGrpSpPr>
          <p:nvPr/>
        </p:nvGrpSpPr>
        <p:grpSpPr bwMode="auto">
          <a:xfrm>
            <a:off x="1627188" y="3022600"/>
            <a:ext cx="2543175" cy="2660650"/>
            <a:chOff x="1025" y="1904"/>
            <a:chExt cx="1602" cy="1676"/>
          </a:xfrm>
        </p:grpSpPr>
        <p:sp>
          <p:nvSpPr>
            <p:cNvPr id="57353" name="AutoShape 43"/>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54" name="Oval 44"/>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55" name="AutoShape 45"/>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56" name="Oval 46"/>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57" name="Oval 47"/>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58" name="AutoShape 48"/>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59" name="Oval 49"/>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0" name="Oval 50"/>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1" name="Oval 51"/>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2" name="Oval 52"/>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3" name="AutoShape 53"/>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4" name="Oval 54"/>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5" name="Oval 55"/>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6" name="Oval 56"/>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7" name="Oval 57"/>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8" name="Oval 58"/>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69" name="AutoShape 59"/>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0" name="Oval 60"/>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1" name="Oval 61"/>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2" name="Oval 62"/>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3" name="AutoShape 63"/>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4" name="Oval 64"/>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5" name="Oval 65"/>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6" name="Oval 66"/>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7" name="Oval 67"/>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8" name="Oval 68"/>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7379" name="Oval 69"/>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1195388" y="795338"/>
            <a:ext cx="6496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Accident du travail : l’opérateur a cherché à enlever les copeaux avec la main. </a:t>
            </a:r>
          </a:p>
        </p:txBody>
      </p:sp>
      <p:sp>
        <p:nvSpPr>
          <p:cNvPr id="58371" name="Text Box 37"/>
          <p:cNvSpPr txBox="1">
            <a:spLocks noChangeArrowheads="1"/>
          </p:cNvSpPr>
          <p:nvPr/>
        </p:nvSpPr>
        <p:spPr bwMode="auto">
          <a:xfrm>
            <a:off x="4559300" y="30178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600">
              <a:solidFill>
                <a:srgbClr val="0033CC"/>
              </a:solidFill>
            </a:endParaRPr>
          </a:p>
        </p:txBody>
      </p:sp>
      <p:sp>
        <p:nvSpPr>
          <p:cNvPr id="58372" name="Text Box 38"/>
          <p:cNvSpPr txBox="1">
            <a:spLocks noChangeArrowheads="1"/>
          </p:cNvSpPr>
          <p:nvPr/>
        </p:nvSpPr>
        <p:spPr bwMode="auto">
          <a:xfrm>
            <a:off x="8567738" y="6473825"/>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E14</a:t>
            </a:r>
          </a:p>
        </p:txBody>
      </p:sp>
      <p:sp>
        <p:nvSpPr>
          <p:cNvPr id="5837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58374" name="Text Box 40"/>
          <p:cNvSpPr txBox="1">
            <a:spLocks noChangeArrowheads="1"/>
          </p:cNvSpPr>
          <p:nvPr/>
        </p:nvSpPr>
        <p:spPr bwMode="auto">
          <a:xfrm>
            <a:off x="4559300" y="4017963"/>
            <a:ext cx="331787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br>
              <a:rPr lang="fr-FR" altLang="fr-FR" sz="2400">
                <a:solidFill>
                  <a:srgbClr val="0033CC"/>
                </a:solidFill>
              </a:rPr>
            </a:br>
            <a:r>
              <a:rPr lang="fr-FR" altLang="fr-FR">
                <a:solidFill>
                  <a:srgbClr val="0033CC"/>
                </a:solidFill>
              </a:rPr>
              <a:t>(blessure légère au doigt)</a:t>
            </a:r>
          </a:p>
        </p:txBody>
      </p:sp>
      <p:sp>
        <p:nvSpPr>
          <p:cNvPr id="58375" name="Text Box 41"/>
          <p:cNvSpPr txBox="1">
            <a:spLocks noChangeArrowheads="1"/>
          </p:cNvSpPr>
          <p:nvPr/>
        </p:nvSpPr>
        <p:spPr bwMode="auto">
          <a:xfrm>
            <a:off x="4616450" y="5008563"/>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d’arrêt</a:t>
            </a:r>
          </a:p>
          <a:p>
            <a:pPr eaLnBrk="1" hangingPunct="1"/>
            <a:r>
              <a:rPr lang="fr-FR" altLang="fr-FR">
                <a:solidFill>
                  <a:srgbClr val="0033CC"/>
                </a:solidFill>
              </a:rPr>
              <a:t>(blessure sévère)</a:t>
            </a:r>
          </a:p>
        </p:txBody>
      </p:sp>
      <p:grpSp>
        <p:nvGrpSpPr>
          <p:cNvPr id="58376" name="Group 76"/>
          <p:cNvGrpSpPr>
            <a:grpSpLocks/>
          </p:cNvGrpSpPr>
          <p:nvPr/>
        </p:nvGrpSpPr>
        <p:grpSpPr bwMode="auto">
          <a:xfrm>
            <a:off x="1627188" y="3022600"/>
            <a:ext cx="2543175" cy="2660650"/>
            <a:chOff x="1025" y="1904"/>
            <a:chExt cx="1602" cy="1676"/>
          </a:xfrm>
        </p:grpSpPr>
        <p:sp>
          <p:nvSpPr>
            <p:cNvPr id="58377" name="AutoShape 77"/>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78" name="Oval 78"/>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79" name="AutoShape 79"/>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0" name="Oval 80"/>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1" name="Oval 81"/>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2" name="AutoShape 82"/>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3" name="Oval 83"/>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4" name="Oval 84"/>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5" name="Oval 85"/>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6" name="Oval 86"/>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7" name="AutoShape 87"/>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8" name="Oval 88"/>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89" name="Oval 89"/>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0" name="Oval 90"/>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1" name="Oval 91"/>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2" name="Oval 92"/>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3" name="AutoShape 93"/>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4" name="Oval 94"/>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5" name="Oval 95"/>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6" name="Oval 96"/>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7" name="AutoShape 97"/>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8" name="Oval 98"/>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399" name="Oval 99"/>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400" name="Oval 100"/>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401" name="Oval 101"/>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402" name="Oval 102"/>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8403" name="Oval 103"/>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1727200" y="823913"/>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Une pile de palettes stockées dans le magasin s’est effondrée</a:t>
            </a:r>
          </a:p>
        </p:txBody>
      </p:sp>
      <p:sp>
        <p:nvSpPr>
          <p:cNvPr id="59395" name="Text Box 37"/>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59396" name="Text Box 38"/>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Q13</a:t>
            </a:r>
          </a:p>
        </p:txBody>
      </p:sp>
      <p:sp>
        <p:nvSpPr>
          <p:cNvPr id="59397"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59398" name="Text Box 40"/>
          <p:cNvSpPr txBox="1">
            <a:spLocks noChangeArrowheads="1"/>
          </p:cNvSpPr>
          <p:nvPr/>
        </p:nvSpPr>
        <p:spPr bwMode="auto">
          <a:xfrm>
            <a:off x="4549775" y="4170363"/>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59399" name="Text Box 42"/>
          <p:cNvSpPr txBox="1">
            <a:spLocks noChangeArrowheads="1"/>
          </p:cNvSpPr>
          <p:nvPr/>
        </p:nvSpPr>
        <p:spPr bwMode="auto">
          <a:xfrm>
            <a:off x="4559300" y="5151438"/>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59400" name="Group 43"/>
          <p:cNvGrpSpPr>
            <a:grpSpLocks/>
          </p:cNvGrpSpPr>
          <p:nvPr/>
        </p:nvGrpSpPr>
        <p:grpSpPr bwMode="auto">
          <a:xfrm>
            <a:off x="2092325" y="3008313"/>
            <a:ext cx="1552575" cy="2671762"/>
            <a:chOff x="1318" y="1895"/>
            <a:chExt cx="978" cy="1683"/>
          </a:xfrm>
        </p:grpSpPr>
        <p:sp>
          <p:nvSpPr>
            <p:cNvPr id="59401" name="AutoShape 4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2" name="Oval 4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3" name="AutoShape 46"/>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4" name="Oval 47"/>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5" name="Oval 48"/>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6" name="AutoShape 49"/>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7" name="Oval 50"/>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8" name="Oval 51"/>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09" name="Oval 52"/>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0" name="Oval 53"/>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1" name="AutoShape 54"/>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2" name="Oval 55"/>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3" name="Oval 56"/>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4" name="Oval 57"/>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5" name="Oval 58"/>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6" name="Oval 59"/>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7" name="AutoShape 60"/>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8" name="Oval 61"/>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19" name="Oval 62"/>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0" name="Oval 63"/>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1" name="AutoShape 64"/>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2" name="Oval 65"/>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3" name="Oval 66"/>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4" name="Oval 67"/>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5" name="Oval 68"/>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6" name="Oval 69"/>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59427" name="Oval 70"/>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717550" y="700088"/>
            <a:ext cx="77152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On a accepté une commande du client, mais il s’avère très difficile de respecter ses exigences qualité.</a:t>
            </a:r>
          </a:p>
        </p:txBody>
      </p:sp>
      <p:sp>
        <p:nvSpPr>
          <p:cNvPr id="60419" name="Text Box 3"/>
          <p:cNvSpPr txBox="1">
            <a:spLocks noChangeArrowheads="1"/>
          </p:cNvSpPr>
          <p:nvPr/>
        </p:nvSpPr>
        <p:spPr bwMode="auto">
          <a:xfrm>
            <a:off x="4587875" y="30749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60420"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Q12</a:t>
            </a:r>
          </a:p>
        </p:txBody>
      </p:sp>
      <p:sp>
        <p:nvSpPr>
          <p:cNvPr id="60421"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60422" name="Text Box 6"/>
          <p:cNvSpPr txBox="1">
            <a:spLocks noChangeArrowheads="1"/>
          </p:cNvSpPr>
          <p:nvPr/>
        </p:nvSpPr>
        <p:spPr bwMode="auto">
          <a:xfrm>
            <a:off x="4570413" y="4010025"/>
            <a:ext cx="33178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 </a:t>
            </a:r>
            <a:r>
              <a:rPr lang="fr-FR" altLang="fr-FR">
                <a:solidFill>
                  <a:srgbClr val="0033CC"/>
                </a:solidFill>
              </a:rPr>
              <a:t>et</a:t>
            </a:r>
            <a:br>
              <a:rPr lang="fr-FR" altLang="fr-FR">
                <a:solidFill>
                  <a:srgbClr val="0033CC"/>
                </a:solidFill>
              </a:rPr>
            </a:br>
            <a:r>
              <a:rPr lang="fr-FR" altLang="fr-FR">
                <a:solidFill>
                  <a:srgbClr val="0033CC"/>
                </a:solidFill>
              </a:rPr>
              <a:t>1 conteneur à reprendre</a:t>
            </a:r>
          </a:p>
        </p:txBody>
      </p:sp>
      <p:sp>
        <p:nvSpPr>
          <p:cNvPr id="60423" name="Text Box 41"/>
          <p:cNvSpPr txBox="1">
            <a:spLocks noChangeArrowheads="1"/>
          </p:cNvSpPr>
          <p:nvPr/>
        </p:nvSpPr>
        <p:spPr bwMode="auto">
          <a:xfrm>
            <a:off x="4576763" y="5122863"/>
            <a:ext cx="331787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 </a:t>
            </a:r>
            <a:r>
              <a:rPr lang="fr-FR" altLang="fr-FR">
                <a:solidFill>
                  <a:srgbClr val="0033CC"/>
                </a:solidFill>
              </a:rPr>
              <a:t>+</a:t>
            </a:r>
            <a:br>
              <a:rPr lang="fr-FR" altLang="fr-FR">
                <a:solidFill>
                  <a:srgbClr val="0033CC"/>
                </a:solidFill>
              </a:rPr>
            </a:br>
            <a:r>
              <a:rPr lang="fr-FR" altLang="fr-FR">
                <a:solidFill>
                  <a:srgbClr val="0033CC"/>
                </a:solidFill>
              </a:rPr>
              <a:t>2 conteneurs à reprendre</a:t>
            </a:r>
          </a:p>
        </p:txBody>
      </p:sp>
      <p:grpSp>
        <p:nvGrpSpPr>
          <p:cNvPr id="60424" name="Group 42"/>
          <p:cNvGrpSpPr>
            <a:grpSpLocks/>
          </p:cNvGrpSpPr>
          <p:nvPr/>
        </p:nvGrpSpPr>
        <p:grpSpPr bwMode="auto">
          <a:xfrm>
            <a:off x="1597025" y="3013075"/>
            <a:ext cx="2533650" cy="2660650"/>
            <a:chOff x="1006" y="1898"/>
            <a:chExt cx="1596" cy="1676"/>
          </a:xfrm>
        </p:grpSpPr>
        <p:sp>
          <p:nvSpPr>
            <p:cNvPr id="60425"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26"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27"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28"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29"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0"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1"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2"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3"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4"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5"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6"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7"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8"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39"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0"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1"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2"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3"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4"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5"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6"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7"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8"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49"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50"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0451"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155700" y="757238"/>
            <a:ext cx="6496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Opérateurs absents</a:t>
            </a:r>
            <a:br>
              <a:rPr lang="fr-FR" altLang="fr-FR" sz="2200">
                <a:solidFill>
                  <a:srgbClr val="FF3300"/>
                </a:solidFill>
              </a:rPr>
            </a:br>
            <a:r>
              <a:rPr lang="fr-FR" altLang="fr-FR" sz="2200">
                <a:solidFill>
                  <a:srgbClr val="FF3300"/>
                </a:solidFill>
              </a:rPr>
              <a:t>(en réunion de résolution de problèmes)</a:t>
            </a:r>
          </a:p>
        </p:txBody>
      </p:sp>
      <p:sp>
        <p:nvSpPr>
          <p:cNvPr id="61443" name="Text Box 37"/>
          <p:cNvSpPr txBox="1">
            <a:spLocks noChangeArrowheads="1"/>
          </p:cNvSpPr>
          <p:nvPr/>
        </p:nvSpPr>
        <p:spPr bwMode="auto">
          <a:xfrm>
            <a:off x="4559300" y="2922588"/>
            <a:ext cx="33369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r>
              <a:rPr lang="fr-FR" altLang="fr-FR" sz="1600">
                <a:solidFill>
                  <a:srgbClr val="0033CC"/>
                </a:solidFill>
              </a:rPr>
              <a:t>a un moment choisi dans la semaine</a:t>
            </a:r>
          </a:p>
        </p:txBody>
      </p:sp>
      <p:sp>
        <p:nvSpPr>
          <p:cNvPr id="61444" name="Text Box 38"/>
          <p:cNvSpPr txBox="1">
            <a:spLocks noChangeArrowheads="1"/>
          </p:cNvSpPr>
          <p:nvPr/>
        </p:nvSpPr>
        <p:spPr bwMode="auto">
          <a:xfrm>
            <a:off x="8567738" y="6492875"/>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E16</a:t>
            </a:r>
          </a:p>
        </p:txBody>
      </p:sp>
      <p:sp>
        <p:nvSpPr>
          <p:cNvPr id="61445"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61446" name="Text Box 40"/>
          <p:cNvSpPr txBox="1">
            <a:spLocks noChangeArrowheads="1"/>
          </p:cNvSpPr>
          <p:nvPr/>
        </p:nvSpPr>
        <p:spPr bwMode="auto">
          <a:xfrm>
            <a:off x="4559300" y="4027488"/>
            <a:ext cx="331787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br>
              <a:rPr lang="fr-FR" altLang="fr-FR" sz="2400">
                <a:solidFill>
                  <a:srgbClr val="0033CC"/>
                </a:solidFill>
              </a:rPr>
            </a:br>
            <a:r>
              <a:rPr lang="fr-FR" altLang="fr-FR">
                <a:solidFill>
                  <a:srgbClr val="0033CC"/>
                </a:solidFill>
              </a:rPr>
              <a:t>immédiatement</a:t>
            </a:r>
          </a:p>
        </p:txBody>
      </p:sp>
      <p:sp>
        <p:nvSpPr>
          <p:cNvPr id="61447" name="Text Box 41"/>
          <p:cNvSpPr txBox="1">
            <a:spLocks noChangeArrowheads="1"/>
          </p:cNvSpPr>
          <p:nvPr/>
        </p:nvSpPr>
        <p:spPr bwMode="auto">
          <a:xfrm>
            <a:off x="4597400" y="5027613"/>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br>
              <a:rPr lang="fr-FR" altLang="fr-FR" sz="2400">
                <a:solidFill>
                  <a:srgbClr val="0033CC"/>
                </a:solidFill>
              </a:rPr>
            </a:br>
            <a:r>
              <a:rPr lang="fr-FR" altLang="fr-FR">
                <a:solidFill>
                  <a:srgbClr val="0033CC"/>
                </a:solidFill>
              </a:rPr>
              <a:t>immédiatement</a:t>
            </a:r>
          </a:p>
        </p:txBody>
      </p:sp>
      <p:grpSp>
        <p:nvGrpSpPr>
          <p:cNvPr id="61448" name="Group 42"/>
          <p:cNvGrpSpPr>
            <a:grpSpLocks/>
          </p:cNvGrpSpPr>
          <p:nvPr/>
        </p:nvGrpSpPr>
        <p:grpSpPr bwMode="auto">
          <a:xfrm>
            <a:off x="2092325" y="3008313"/>
            <a:ext cx="1552575" cy="2671762"/>
            <a:chOff x="1318" y="1895"/>
            <a:chExt cx="978" cy="1683"/>
          </a:xfrm>
        </p:grpSpPr>
        <p:sp>
          <p:nvSpPr>
            <p:cNvPr id="61449"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0"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1"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2"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3"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4"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5"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6"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7"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8"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59"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0"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1"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2"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3"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4"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5"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6"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7"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8"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69"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70"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71"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72"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73"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74"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1475"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796925" y="806450"/>
            <a:ext cx="762476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 la suite d’une erreur de virgule dans une nomenclature, la commande de matière est 10 fois moindre que les besoins.</a:t>
            </a:r>
          </a:p>
        </p:txBody>
      </p:sp>
      <p:grpSp>
        <p:nvGrpSpPr>
          <p:cNvPr id="62467" name="Group 44"/>
          <p:cNvGrpSpPr>
            <a:grpSpLocks/>
          </p:cNvGrpSpPr>
          <p:nvPr/>
        </p:nvGrpSpPr>
        <p:grpSpPr bwMode="auto">
          <a:xfrm>
            <a:off x="1597025" y="3013075"/>
            <a:ext cx="2533650" cy="2660650"/>
            <a:chOff x="1006" y="1898"/>
            <a:chExt cx="1596" cy="1676"/>
          </a:xfrm>
        </p:grpSpPr>
        <p:sp>
          <p:nvSpPr>
            <p:cNvPr id="62473" name="AutoShape 4"/>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74" name="Oval 5"/>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75" name="AutoShape 7"/>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76" name="Oval 8"/>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77" name="Oval 9"/>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78" name="AutoShape 11"/>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79" name="Oval 12"/>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0" name="Oval 13"/>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1" name="Oval 14"/>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2" name="Oval 15"/>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3" name="AutoShape 17"/>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4" name="Oval 18"/>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5" name="Oval 19"/>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6" name="Oval 20"/>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7" name="Oval 21"/>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8" name="Oval 22"/>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89" name="AutoShape 24"/>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0" name="Oval 25"/>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1" name="Oval 26"/>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2" name="Oval 27"/>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3" name="AutoShape 29"/>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4" name="Oval 30"/>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5" name="Oval 31"/>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6" name="Oval 32"/>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7" name="Oval 33"/>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8" name="Oval 34"/>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2499" name="Oval 35"/>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
        <p:nvSpPr>
          <p:cNvPr id="62468" name="Text Box 36"/>
          <p:cNvSpPr txBox="1">
            <a:spLocks noChangeArrowheads="1"/>
          </p:cNvSpPr>
          <p:nvPr/>
        </p:nvSpPr>
        <p:spPr bwMode="auto">
          <a:xfrm>
            <a:off x="5338763" y="3030538"/>
            <a:ext cx="1658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62469" name="Text Box 37"/>
          <p:cNvSpPr txBox="1">
            <a:spLocks noChangeArrowheads="1"/>
          </p:cNvSpPr>
          <p:nvPr/>
        </p:nvSpPr>
        <p:spPr bwMode="auto">
          <a:xfrm>
            <a:off x="5111750" y="4094163"/>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1 heure d’arrêt</a:t>
            </a:r>
          </a:p>
        </p:txBody>
      </p:sp>
      <p:sp>
        <p:nvSpPr>
          <p:cNvPr id="62470" name="Text Box 38"/>
          <p:cNvSpPr txBox="1">
            <a:spLocks noChangeArrowheads="1"/>
          </p:cNvSpPr>
          <p:nvPr/>
        </p:nvSpPr>
        <p:spPr bwMode="auto">
          <a:xfrm>
            <a:off x="5111750" y="5162550"/>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fr-FR" altLang="fr-FR" sz="2400">
                <a:solidFill>
                  <a:srgbClr val="0033CC"/>
                </a:solidFill>
              </a:rPr>
              <a:t>5 heures d’arrêt</a:t>
            </a:r>
          </a:p>
        </p:txBody>
      </p:sp>
      <p:sp>
        <p:nvSpPr>
          <p:cNvPr id="62471" name="Text Box 40"/>
          <p:cNvSpPr txBox="1">
            <a:spLocks noChangeArrowheads="1"/>
          </p:cNvSpPr>
          <p:nvPr/>
        </p:nvSpPr>
        <p:spPr bwMode="auto">
          <a:xfrm>
            <a:off x="8699500" y="6473825"/>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A3</a:t>
            </a:r>
          </a:p>
        </p:txBody>
      </p:sp>
      <p:sp>
        <p:nvSpPr>
          <p:cNvPr id="62472"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1155700" y="776288"/>
            <a:ext cx="6496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Contestation dans l’atelier à la suite d’une erreur de calcul des primes de fin d’année.</a:t>
            </a:r>
          </a:p>
        </p:txBody>
      </p:sp>
      <p:sp>
        <p:nvSpPr>
          <p:cNvPr id="63491" name="Text Box 37"/>
          <p:cNvSpPr txBox="1">
            <a:spLocks noChangeArrowheads="1"/>
          </p:cNvSpPr>
          <p:nvPr/>
        </p:nvSpPr>
        <p:spPr bwMode="auto">
          <a:xfrm>
            <a:off x="4502150" y="30178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63492" name="Text Box 38"/>
          <p:cNvSpPr txBox="1">
            <a:spLocks noChangeArrowheads="1"/>
          </p:cNvSpPr>
          <p:nvPr/>
        </p:nvSpPr>
        <p:spPr bwMode="auto">
          <a:xfrm>
            <a:off x="8709025" y="6473825"/>
            <a:ext cx="4079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E4</a:t>
            </a:r>
          </a:p>
        </p:txBody>
      </p:sp>
      <p:sp>
        <p:nvSpPr>
          <p:cNvPr id="6349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63494" name="Text Box 40"/>
          <p:cNvSpPr txBox="1">
            <a:spLocks noChangeArrowheads="1"/>
          </p:cNvSpPr>
          <p:nvPr/>
        </p:nvSpPr>
        <p:spPr bwMode="auto">
          <a:xfrm>
            <a:off x="4749800" y="4017963"/>
            <a:ext cx="2936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br>
              <a:rPr lang="fr-FR" altLang="fr-FR" sz="2400">
                <a:solidFill>
                  <a:srgbClr val="0033CC"/>
                </a:solidFill>
              </a:rPr>
            </a:br>
            <a:r>
              <a:rPr lang="fr-FR" altLang="fr-FR">
                <a:solidFill>
                  <a:srgbClr val="0033CC"/>
                </a:solidFill>
              </a:rPr>
              <a:t>du poste Carter</a:t>
            </a:r>
          </a:p>
        </p:txBody>
      </p:sp>
      <p:sp>
        <p:nvSpPr>
          <p:cNvPr id="63495" name="Text Box 41"/>
          <p:cNvSpPr txBox="1">
            <a:spLocks noChangeArrowheads="1"/>
          </p:cNvSpPr>
          <p:nvPr/>
        </p:nvSpPr>
        <p:spPr bwMode="auto">
          <a:xfrm>
            <a:off x="4645025" y="5018088"/>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de l’ensemble de l’usine</a:t>
            </a:r>
          </a:p>
        </p:txBody>
      </p:sp>
      <p:grpSp>
        <p:nvGrpSpPr>
          <p:cNvPr id="63496" name="Group 70"/>
          <p:cNvGrpSpPr>
            <a:grpSpLocks/>
          </p:cNvGrpSpPr>
          <p:nvPr/>
        </p:nvGrpSpPr>
        <p:grpSpPr bwMode="auto">
          <a:xfrm>
            <a:off x="1597025" y="3013075"/>
            <a:ext cx="2533650" cy="2660650"/>
            <a:chOff x="1006" y="1898"/>
            <a:chExt cx="1596" cy="1676"/>
          </a:xfrm>
        </p:grpSpPr>
        <p:sp>
          <p:nvSpPr>
            <p:cNvPr id="63497" name="AutoShape 71"/>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498" name="Oval 72"/>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499" name="AutoShape 73"/>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0" name="Oval 74"/>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1" name="Oval 75"/>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2" name="AutoShape 76"/>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3" name="Oval 77"/>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4" name="Oval 78"/>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5" name="Oval 79"/>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6" name="Oval 80"/>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7" name="AutoShape 81"/>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8" name="Oval 82"/>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09" name="Oval 83"/>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0" name="Oval 84"/>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1" name="Oval 85"/>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2" name="Oval 86"/>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3" name="AutoShape 87"/>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4" name="Oval 88"/>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5" name="Oval 89"/>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6" name="Oval 90"/>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7" name="AutoShape 91"/>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8" name="Oval 92"/>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19" name="Oval 93"/>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20" name="Oval 94"/>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21" name="Oval 95"/>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22" name="Oval 96"/>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3523" name="Oval 97"/>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800100" y="746125"/>
            <a:ext cx="755015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Au moment du changement d’outillage on s’aperçoit que le magasinier, absent temporairement, a oublié de dire où il rangeait la clef du magasin.</a:t>
            </a:r>
          </a:p>
        </p:txBody>
      </p:sp>
      <p:sp>
        <p:nvSpPr>
          <p:cNvPr id="64515"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64516" name="Text Box 38"/>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P12</a:t>
            </a:r>
          </a:p>
        </p:txBody>
      </p:sp>
      <p:sp>
        <p:nvSpPr>
          <p:cNvPr id="64517"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64518" name="Text Box 40"/>
          <p:cNvSpPr txBox="1">
            <a:spLocks noChangeArrowheads="1"/>
          </p:cNvSpPr>
          <p:nvPr/>
        </p:nvSpPr>
        <p:spPr bwMode="auto">
          <a:xfrm>
            <a:off x="4579938" y="4052888"/>
            <a:ext cx="3317875"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3 heures d’arrêt </a:t>
            </a:r>
            <a:r>
              <a:rPr lang="fr-FR" altLang="fr-FR">
                <a:solidFill>
                  <a:srgbClr val="0033CC"/>
                </a:solidFill>
              </a:rPr>
              <a:t>au prochain changement d’outil.</a:t>
            </a:r>
          </a:p>
        </p:txBody>
      </p:sp>
      <p:grpSp>
        <p:nvGrpSpPr>
          <p:cNvPr id="64519" name="Group 71"/>
          <p:cNvGrpSpPr>
            <a:grpSpLocks/>
          </p:cNvGrpSpPr>
          <p:nvPr/>
        </p:nvGrpSpPr>
        <p:grpSpPr bwMode="auto">
          <a:xfrm>
            <a:off x="1549400" y="3021013"/>
            <a:ext cx="2665413" cy="1587500"/>
            <a:chOff x="1153" y="1903"/>
            <a:chExt cx="1679" cy="1000"/>
          </a:xfrm>
        </p:grpSpPr>
        <p:sp>
          <p:nvSpPr>
            <p:cNvPr id="64520" name="AutoShape 43"/>
            <p:cNvSpPr>
              <a:spLocks noChangeArrowheads="1"/>
            </p:cNvSpPr>
            <p:nvPr/>
          </p:nvSpPr>
          <p:spPr bwMode="auto">
            <a:xfrm>
              <a:off x="1153"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21" name="Oval 44"/>
            <p:cNvSpPr>
              <a:spLocks noChangeArrowheads="1"/>
            </p:cNvSpPr>
            <p:nvPr/>
          </p:nvSpPr>
          <p:spPr bwMode="auto">
            <a:xfrm>
              <a:off x="1286" y="203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22" name="AutoShape 45"/>
            <p:cNvSpPr>
              <a:spLocks noChangeArrowheads="1"/>
            </p:cNvSpPr>
            <p:nvPr/>
          </p:nvSpPr>
          <p:spPr bwMode="auto">
            <a:xfrm>
              <a:off x="1602"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23" name="Oval 46"/>
            <p:cNvSpPr>
              <a:spLocks noChangeArrowheads="1"/>
            </p:cNvSpPr>
            <p:nvPr/>
          </p:nvSpPr>
          <p:spPr bwMode="auto">
            <a:xfrm>
              <a:off x="1666" y="211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24" name="Oval 47"/>
            <p:cNvSpPr>
              <a:spLocks noChangeArrowheads="1"/>
            </p:cNvSpPr>
            <p:nvPr/>
          </p:nvSpPr>
          <p:spPr bwMode="auto">
            <a:xfrm>
              <a:off x="1804" y="196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nvGrpSpPr>
            <p:cNvPr id="64525" name="Group 70"/>
            <p:cNvGrpSpPr>
              <a:grpSpLocks/>
            </p:cNvGrpSpPr>
            <p:nvPr/>
          </p:nvGrpSpPr>
          <p:grpSpPr bwMode="auto">
            <a:xfrm>
              <a:off x="2511" y="1904"/>
              <a:ext cx="321" cy="321"/>
              <a:chOff x="1160" y="2582"/>
              <a:chExt cx="321" cy="321"/>
            </a:xfrm>
          </p:grpSpPr>
          <p:sp>
            <p:nvSpPr>
              <p:cNvPr id="64543" name="AutoShape 48"/>
              <p:cNvSpPr>
                <a:spLocks noChangeArrowheads="1"/>
              </p:cNvSpPr>
              <p:nvPr/>
            </p:nvSpPr>
            <p:spPr bwMode="auto">
              <a:xfrm>
                <a:off x="1160"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44" name="Oval 49"/>
              <p:cNvSpPr>
                <a:spLocks noChangeArrowheads="1"/>
              </p:cNvSpPr>
              <p:nvPr/>
            </p:nvSpPr>
            <p:spPr bwMode="auto">
              <a:xfrm>
                <a:off x="1224"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45" name="Oval 50"/>
              <p:cNvSpPr>
                <a:spLocks noChangeArrowheads="1"/>
              </p:cNvSpPr>
              <p:nvPr/>
            </p:nvSpPr>
            <p:spPr bwMode="auto">
              <a:xfrm>
                <a:off x="1362"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46" name="Oval 51"/>
              <p:cNvSpPr>
                <a:spLocks noChangeArrowheads="1"/>
              </p:cNvSpPr>
              <p:nvPr/>
            </p:nvSpPr>
            <p:spPr bwMode="auto">
              <a:xfrm>
                <a:off x="1368"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47" name="Oval 52"/>
              <p:cNvSpPr>
                <a:spLocks noChangeArrowheads="1"/>
              </p:cNvSpPr>
              <p:nvPr/>
            </p:nvSpPr>
            <p:spPr bwMode="auto">
              <a:xfrm>
                <a:off x="1221"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
          <p:nvSpPr>
            <p:cNvPr id="64526" name="AutoShape 53"/>
            <p:cNvSpPr>
              <a:spLocks noChangeArrowheads="1"/>
            </p:cNvSpPr>
            <p:nvPr/>
          </p:nvSpPr>
          <p:spPr bwMode="auto">
            <a:xfrm>
              <a:off x="1581"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27" name="Oval 54"/>
            <p:cNvSpPr>
              <a:spLocks noChangeArrowheads="1"/>
            </p:cNvSpPr>
            <p:nvPr/>
          </p:nvSpPr>
          <p:spPr bwMode="auto">
            <a:xfrm>
              <a:off x="1645"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28" name="Oval 55"/>
            <p:cNvSpPr>
              <a:spLocks noChangeArrowheads="1"/>
            </p:cNvSpPr>
            <p:nvPr/>
          </p:nvSpPr>
          <p:spPr bwMode="auto">
            <a:xfrm>
              <a:off x="1783" y="264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29" name="Oval 56"/>
            <p:cNvSpPr>
              <a:spLocks noChangeArrowheads="1"/>
            </p:cNvSpPr>
            <p:nvPr/>
          </p:nvSpPr>
          <p:spPr bwMode="auto">
            <a:xfrm>
              <a:off x="1789"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0" name="Oval 57"/>
            <p:cNvSpPr>
              <a:spLocks noChangeArrowheads="1"/>
            </p:cNvSpPr>
            <p:nvPr/>
          </p:nvSpPr>
          <p:spPr bwMode="auto">
            <a:xfrm>
              <a:off x="1642"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1" name="Oval 58"/>
            <p:cNvSpPr>
              <a:spLocks noChangeArrowheads="1"/>
            </p:cNvSpPr>
            <p:nvPr/>
          </p:nvSpPr>
          <p:spPr bwMode="auto">
            <a:xfrm>
              <a:off x="1714"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2" name="AutoShape 59"/>
            <p:cNvSpPr>
              <a:spLocks noChangeArrowheads="1"/>
            </p:cNvSpPr>
            <p:nvPr/>
          </p:nvSpPr>
          <p:spPr bwMode="auto">
            <a:xfrm>
              <a:off x="2060"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3" name="Oval 60"/>
            <p:cNvSpPr>
              <a:spLocks noChangeArrowheads="1"/>
            </p:cNvSpPr>
            <p:nvPr/>
          </p:nvSpPr>
          <p:spPr bwMode="auto">
            <a:xfrm>
              <a:off x="2124" y="21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4" name="Oval 61"/>
            <p:cNvSpPr>
              <a:spLocks noChangeArrowheads="1"/>
            </p:cNvSpPr>
            <p:nvPr/>
          </p:nvSpPr>
          <p:spPr bwMode="auto">
            <a:xfrm>
              <a:off x="2262" y="19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5" name="Oval 62"/>
            <p:cNvSpPr>
              <a:spLocks noChangeArrowheads="1"/>
            </p:cNvSpPr>
            <p:nvPr/>
          </p:nvSpPr>
          <p:spPr bwMode="auto">
            <a:xfrm>
              <a:off x="2190" y="20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6" name="AutoShape 63"/>
            <p:cNvSpPr>
              <a:spLocks noChangeArrowheads="1"/>
            </p:cNvSpPr>
            <p:nvPr/>
          </p:nvSpPr>
          <p:spPr bwMode="auto">
            <a:xfrm>
              <a:off x="2158"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7" name="Oval 64"/>
            <p:cNvSpPr>
              <a:spLocks noChangeArrowheads="1"/>
            </p:cNvSpPr>
            <p:nvPr/>
          </p:nvSpPr>
          <p:spPr bwMode="auto">
            <a:xfrm>
              <a:off x="2222"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8" name="Oval 65"/>
            <p:cNvSpPr>
              <a:spLocks noChangeArrowheads="1"/>
            </p:cNvSpPr>
            <p:nvPr/>
          </p:nvSpPr>
          <p:spPr bwMode="auto">
            <a:xfrm>
              <a:off x="2360"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39" name="Oval 66"/>
            <p:cNvSpPr>
              <a:spLocks noChangeArrowheads="1"/>
            </p:cNvSpPr>
            <p:nvPr/>
          </p:nvSpPr>
          <p:spPr bwMode="auto">
            <a:xfrm>
              <a:off x="2366"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40" name="Oval 67"/>
            <p:cNvSpPr>
              <a:spLocks noChangeArrowheads="1"/>
            </p:cNvSpPr>
            <p:nvPr/>
          </p:nvSpPr>
          <p:spPr bwMode="auto">
            <a:xfrm>
              <a:off x="2219"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41" name="Oval 68"/>
            <p:cNvSpPr>
              <a:spLocks noChangeArrowheads="1"/>
            </p:cNvSpPr>
            <p:nvPr/>
          </p:nvSpPr>
          <p:spPr bwMode="auto">
            <a:xfrm>
              <a:off x="2219"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4542" name="Oval 69"/>
            <p:cNvSpPr>
              <a:spLocks noChangeArrowheads="1"/>
            </p:cNvSpPr>
            <p:nvPr/>
          </p:nvSpPr>
          <p:spPr bwMode="auto">
            <a:xfrm>
              <a:off x="2363"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155700" y="776288"/>
            <a:ext cx="64960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Opérateur malade</a:t>
            </a:r>
          </a:p>
        </p:txBody>
      </p:sp>
      <p:sp>
        <p:nvSpPr>
          <p:cNvPr id="65539" name="Text Box 37"/>
          <p:cNvSpPr txBox="1">
            <a:spLocks noChangeArrowheads="1"/>
          </p:cNvSpPr>
          <p:nvPr/>
        </p:nvSpPr>
        <p:spPr bwMode="auto">
          <a:xfrm>
            <a:off x="4568825" y="30559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65540" name="Text Box 38"/>
          <p:cNvSpPr txBox="1">
            <a:spLocks noChangeArrowheads="1"/>
          </p:cNvSpPr>
          <p:nvPr/>
        </p:nvSpPr>
        <p:spPr bwMode="auto">
          <a:xfrm>
            <a:off x="8558213" y="6473825"/>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E12</a:t>
            </a:r>
          </a:p>
        </p:txBody>
      </p:sp>
      <p:sp>
        <p:nvSpPr>
          <p:cNvPr id="65541"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65542" name="Text Box 40"/>
          <p:cNvSpPr txBox="1">
            <a:spLocks noChangeArrowheads="1"/>
          </p:cNvSpPr>
          <p:nvPr/>
        </p:nvSpPr>
        <p:spPr bwMode="auto">
          <a:xfrm>
            <a:off x="4540250" y="4141788"/>
            <a:ext cx="331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 </a:t>
            </a:r>
          </a:p>
        </p:txBody>
      </p:sp>
      <p:sp>
        <p:nvSpPr>
          <p:cNvPr id="65543" name="Text Box 41"/>
          <p:cNvSpPr txBox="1">
            <a:spLocks noChangeArrowheads="1"/>
          </p:cNvSpPr>
          <p:nvPr/>
        </p:nvSpPr>
        <p:spPr bwMode="auto">
          <a:xfrm>
            <a:off x="4597400" y="5008563"/>
            <a:ext cx="3184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conteneurs de pièces rebutées</a:t>
            </a:r>
            <a:endParaRPr lang="fr-FR" altLang="fr-FR">
              <a:solidFill>
                <a:srgbClr val="0033CC"/>
              </a:solidFill>
            </a:endParaRPr>
          </a:p>
        </p:txBody>
      </p:sp>
      <p:grpSp>
        <p:nvGrpSpPr>
          <p:cNvPr id="65544" name="Group 43"/>
          <p:cNvGrpSpPr>
            <a:grpSpLocks/>
          </p:cNvGrpSpPr>
          <p:nvPr/>
        </p:nvGrpSpPr>
        <p:grpSpPr bwMode="auto">
          <a:xfrm>
            <a:off x="2092325" y="3008313"/>
            <a:ext cx="1552575" cy="2671762"/>
            <a:chOff x="1318" y="1895"/>
            <a:chExt cx="978" cy="1683"/>
          </a:xfrm>
        </p:grpSpPr>
        <p:sp>
          <p:nvSpPr>
            <p:cNvPr id="65545" name="AutoShape 44"/>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46" name="Oval 45"/>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47" name="AutoShape 46"/>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48" name="Oval 47"/>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49" name="Oval 48"/>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0" name="AutoShape 49"/>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1" name="Oval 50"/>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2" name="Oval 51"/>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3" name="Oval 52"/>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4" name="Oval 53"/>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5" name="AutoShape 54"/>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6" name="Oval 55"/>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7" name="Oval 56"/>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8" name="Oval 57"/>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59" name="Oval 58"/>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0" name="Oval 59"/>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1" name="AutoShape 60"/>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2" name="Oval 61"/>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3" name="Oval 62"/>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4" name="Oval 63"/>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5" name="AutoShape 64"/>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6" name="Oval 65"/>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7" name="Oval 66"/>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8" name="Oval 67"/>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69" name="Oval 68"/>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70" name="Oval 69"/>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5571" name="Oval 70"/>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1250950" y="757238"/>
            <a:ext cx="6496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Régleur absent</a:t>
            </a:r>
            <a:br>
              <a:rPr lang="fr-FR" altLang="fr-FR" sz="2200">
                <a:solidFill>
                  <a:srgbClr val="FF3300"/>
                </a:solidFill>
              </a:rPr>
            </a:br>
            <a:r>
              <a:rPr lang="fr-FR" altLang="fr-FR" sz="2200">
                <a:solidFill>
                  <a:srgbClr val="FF3300"/>
                </a:solidFill>
              </a:rPr>
              <a:t>(en formation)</a:t>
            </a:r>
          </a:p>
        </p:txBody>
      </p:sp>
      <p:sp>
        <p:nvSpPr>
          <p:cNvPr id="66563" name="Text Box 37"/>
          <p:cNvSpPr txBox="1">
            <a:spLocks noChangeArrowheads="1"/>
          </p:cNvSpPr>
          <p:nvPr/>
        </p:nvSpPr>
        <p:spPr bwMode="auto">
          <a:xfrm>
            <a:off x="4549775" y="29892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66564" name="Text Box 38"/>
          <p:cNvSpPr txBox="1">
            <a:spLocks noChangeArrowheads="1"/>
          </p:cNvSpPr>
          <p:nvPr/>
        </p:nvSpPr>
        <p:spPr bwMode="auto">
          <a:xfrm>
            <a:off x="8710613" y="648335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P3</a:t>
            </a:r>
          </a:p>
        </p:txBody>
      </p:sp>
      <p:sp>
        <p:nvSpPr>
          <p:cNvPr id="66565"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66566" name="Text Box 40"/>
          <p:cNvSpPr txBox="1">
            <a:spLocks noChangeArrowheads="1"/>
          </p:cNvSpPr>
          <p:nvPr/>
        </p:nvSpPr>
        <p:spPr bwMode="auto">
          <a:xfrm>
            <a:off x="4559300" y="415131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66567" name="Text Box 41"/>
          <p:cNvSpPr txBox="1">
            <a:spLocks noChangeArrowheads="1"/>
          </p:cNvSpPr>
          <p:nvPr/>
        </p:nvSpPr>
        <p:spPr bwMode="auto">
          <a:xfrm>
            <a:off x="4597400" y="518953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66568" name="Group 42"/>
          <p:cNvGrpSpPr>
            <a:grpSpLocks/>
          </p:cNvGrpSpPr>
          <p:nvPr/>
        </p:nvGrpSpPr>
        <p:grpSpPr bwMode="auto">
          <a:xfrm>
            <a:off x="2092325" y="3008313"/>
            <a:ext cx="1552575" cy="2671762"/>
            <a:chOff x="1318" y="1895"/>
            <a:chExt cx="978" cy="1683"/>
          </a:xfrm>
        </p:grpSpPr>
        <p:sp>
          <p:nvSpPr>
            <p:cNvPr id="66569"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0"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1"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2"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3"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4"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5"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6"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7"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8"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79"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0"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1"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2"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3"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4"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5"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6"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7"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8"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89"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90"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91"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92"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93"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94"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6595"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641350" y="842963"/>
            <a:ext cx="77152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1 palette de R3 a été expédiée, alors que le client avait commandé 1 palette de R4</a:t>
            </a:r>
          </a:p>
        </p:txBody>
      </p:sp>
      <p:sp>
        <p:nvSpPr>
          <p:cNvPr id="67587" name="Text Box 3"/>
          <p:cNvSpPr txBox="1">
            <a:spLocks noChangeArrowheads="1"/>
          </p:cNvSpPr>
          <p:nvPr/>
        </p:nvSpPr>
        <p:spPr bwMode="auto">
          <a:xfrm>
            <a:off x="4587875" y="30749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67588"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Q14</a:t>
            </a:r>
          </a:p>
        </p:txBody>
      </p:sp>
      <p:sp>
        <p:nvSpPr>
          <p:cNvPr id="67589"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Ventes</a:t>
            </a:r>
          </a:p>
        </p:txBody>
      </p:sp>
      <p:sp>
        <p:nvSpPr>
          <p:cNvPr id="67590" name="Text Box 6"/>
          <p:cNvSpPr txBox="1">
            <a:spLocks noChangeArrowheads="1"/>
          </p:cNvSpPr>
          <p:nvPr/>
        </p:nvSpPr>
        <p:spPr bwMode="auto">
          <a:xfrm>
            <a:off x="4625975" y="3884613"/>
            <a:ext cx="3232150" cy="1244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Envoi immédiat de la palette manquante. </a:t>
            </a:r>
            <a:r>
              <a:rPr lang="fr-FR" altLang="fr-FR">
                <a:solidFill>
                  <a:srgbClr val="0033CC"/>
                </a:solidFill>
              </a:rPr>
              <a:t>Le client renverra les autres plus tard.</a:t>
            </a:r>
          </a:p>
        </p:txBody>
      </p:sp>
      <p:grpSp>
        <p:nvGrpSpPr>
          <p:cNvPr id="67591" name="Group 43"/>
          <p:cNvGrpSpPr>
            <a:grpSpLocks/>
          </p:cNvGrpSpPr>
          <p:nvPr/>
        </p:nvGrpSpPr>
        <p:grpSpPr bwMode="auto">
          <a:xfrm>
            <a:off x="1425575" y="3032125"/>
            <a:ext cx="3021013" cy="1587500"/>
            <a:chOff x="898" y="1903"/>
            <a:chExt cx="1903" cy="1000"/>
          </a:xfrm>
        </p:grpSpPr>
        <p:sp>
          <p:nvSpPr>
            <p:cNvPr id="67592" name="AutoShape 9"/>
            <p:cNvSpPr>
              <a:spLocks noChangeArrowheads="1"/>
            </p:cNvSpPr>
            <p:nvPr/>
          </p:nvSpPr>
          <p:spPr bwMode="auto">
            <a:xfrm>
              <a:off x="898"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593" name="Oval 10"/>
            <p:cNvSpPr>
              <a:spLocks noChangeArrowheads="1"/>
            </p:cNvSpPr>
            <p:nvPr/>
          </p:nvSpPr>
          <p:spPr bwMode="auto">
            <a:xfrm>
              <a:off x="1031" y="203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594" name="AutoShape 12"/>
            <p:cNvSpPr>
              <a:spLocks noChangeArrowheads="1"/>
            </p:cNvSpPr>
            <p:nvPr/>
          </p:nvSpPr>
          <p:spPr bwMode="auto">
            <a:xfrm>
              <a:off x="1417"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595" name="Oval 13"/>
            <p:cNvSpPr>
              <a:spLocks noChangeArrowheads="1"/>
            </p:cNvSpPr>
            <p:nvPr/>
          </p:nvSpPr>
          <p:spPr bwMode="auto">
            <a:xfrm>
              <a:off x="1481" y="211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596" name="Oval 14"/>
            <p:cNvSpPr>
              <a:spLocks noChangeArrowheads="1"/>
            </p:cNvSpPr>
            <p:nvPr/>
          </p:nvSpPr>
          <p:spPr bwMode="auto">
            <a:xfrm>
              <a:off x="1619" y="196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nvGrpSpPr>
            <p:cNvPr id="67597" name="Group 42"/>
            <p:cNvGrpSpPr>
              <a:grpSpLocks/>
            </p:cNvGrpSpPr>
            <p:nvPr/>
          </p:nvGrpSpPr>
          <p:grpSpPr bwMode="auto">
            <a:xfrm>
              <a:off x="2480" y="1918"/>
              <a:ext cx="321" cy="321"/>
              <a:chOff x="1160" y="2582"/>
              <a:chExt cx="321" cy="321"/>
            </a:xfrm>
          </p:grpSpPr>
          <p:sp>
            <p:nvSpPr>
              <p:cNvPr id="67615" name="AutoShape 16"/>
              <p:cNvSpPr>
                <a:spLocks noChangeArrowheads="1"/>
              </p:cNvSpPr>
              <p:nvPr/>
            </p:nvSpPr>
            <p:spPr bwMode="auto">
              <a:xfrm>
                <a:off x="1160"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6" name="Oval 17"/>
              <p:cNvSpPr>
                <a:spLocks noChangeArrowheads="1"/>
              </p:cNvSpPr>
              <p:nvPr/>
            </p:nvSpPr>
            <p:spPr bwMode="auto">
              <a:xfrm>
                <a:off x="1224"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7" name="Oval 18"/>
              <p:cNvSpPr>
                <a:spLocks noChangeArrowheads="1"/>
              </p:cNvSpPr>
              <p:nvPr/>
            </p:nvSpPr>
            <p:spPr bwMode="auto">
              <a:xfrm>
                <a:off x="1362"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8" name="Oval 19"/>
              <p:cNvSpPr>
                <a:spLocks noChangeArrowheads="1"/>
              </p:cNvSpPr>
              <p:nvPr/>
            </p:nvSpPr>
            <p:spPr bwMode="auto">
              <a:xfrm>
                <a:off x="1368"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9" name="Oval 20"/>
              <p:cNvSpPr>
                <a:spLocks noChangeArrowheads="1"/>
              </p:cNvSpPr>
              <p:nvPr/>
            </p:nvSpPr>
            <p:spPr bwMode="auto">
              <a:xfrm>
                <a:off x="1221"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
          <p:nvSpPr>
            <p:cNvPr id="67598" name="AutoShape 22"/>
            <p:cNvSpPr>
              <a:spLocks noChangeArrowheads="1"/>
            </p:cNvSpPr>
            <p:nvPr/>
          </p:nvSpPr>
          <p:spPr bwMode="auto">
            <a:xfrm>
              <a:off x="1424"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599" name="Oval 23"/>
            <p:cNvSpPr>
              <a:spLocks noChangeArrowheads="1"/>
            </p:cNvSpPr>
            <p:nvPr/>
          </p:nvSpPr>
          <p:spPr bwMode="auto">
            <a:xfrm>
              <a:off x="1488"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0" name="Oval 24"/>
            <p:cNvSpPr>
              <a:spLocks noChangeArrowheads="1"/>
            </p:cNvSpPr>
            <p:nvPr/>
          </p:nvSpPr>
          <p:spPr bwMode="auto">
            <a:xfrm>
              <a:off x="1626" y="264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1" name="Oval 25"/>
            <p:cNvSpPr>
              <a:spLocks noChangeArrowheads="1"/>
            </p:cNvSpPr>
            <p:nvPr/>
          </p:nvSpPr>
          <p:spPr bwMode="auto">
            <a:xfrm>
              <a:off x="1632"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2" name="Oval 26"/>
            <p:cNvSpPr>
              <a:spLocks noChangeArrowheads="1"/>
            </p:cNvSpPr>
            <p:nvPr/>
          </p:nvSpPr>
          <p:spPr bwMode="auto">
            <a:xfrm>
              <a:off x="1485"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3" name="Oval 27"/>
            <p:cNvSpPr>
              <a:spLocks noChangeArrowheads="1"/>
            </p:cNvSpPr>
            <p:nvPr/>
          </p:nvSpPr>
          <p:spPr bwMode="auto">
            <a:xfrm>
              <a:off x="1557"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4" name="AutoShape 29"/>
            <p:cNvSpPr>
              <a:spLocks noChangeArrowheads="1"/>
            </p:cNvSpPr>
            <p:nvPr/>
          </p:nvSpPr>
          <p:spPr bwMode="auto">
            <a:xfrm>
              <a:off x="1924"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5" name="Oval 30"/>
            <p:cNvSpPr>
              <a:spLocks noChangeArrowheads="1"/>
            </p:cNvSpPr>
            <p:nvPr/>
          </p:nvSpPr>
          <p:spPr bwMode="auto">
            <a:xfrm>
              <a:off x="1988" y="21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6" name="Oval 31"/>
            <p:cNvSpPr>
              <a:spLocks noChangeArrowheads="1"/>
            </p:cNvSpPr>
            <p:nvPr/>
          </p:nvSpPr>
          <p:spPr bwMode="auto">
            <a:xfrm>
              <a:off x="2126" y="19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7" name="Oval 32"/>
            <p:cNvSpPr>
              <a:spLocks noChangeArrowheads="1"/>
            </p:cNvSpPr>
            <p:nvPr/>
          </p:nvSpPr>
          <p:spPr bwMode="auto">
            <a:xfrm>
              <a:off x="2054" y="20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8" name="AutoShape 34"/>
            <p:cNvSpPr>
              <a:spLocks noChangeArrowheads="1"/>
            </p:cNvSpPr>
            <p:nvPr/>
          </p:nvSpPr>
          <p:spPr bwMode="auto">
            <a:xfrm>
              <a:off x="2001"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09" name="Oval 35"/>
            <p:cNvSpPr>
              <a:spLocks noChangeArrowheads="1"/>
            </p:cNvSpPr>
            <p:nvPr/>
          </p:nvSpPr>
          <p:spPr bwMode="auto">
            <a:xfrm>
              <a:off x="2065"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0" name="Oval 36"/>
            <p:cNvSpPr>
              <a:spLocks noChangeArrowheads="1"/>
            </p:cNvSpPr>
            <p:nvPr/>
          </p:nvSpPr>
          <p:spPr bwMode="auto">
            <a:xfrm>
              <a:off x="2203"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1" name="Oval 37"/>
            <p:cNvSpPr>
              <a:spLocks noChangeArrowheads="1"/>
            </p:cNvSpPr>
            <p:nvPr/>
          </p:nvSpPr>
          <p:spPr bwMode="auto">
            <a:xfrm>
              <a:off x="2209"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2" name="Oval 38"/>
            <p:cNvSpPr>
              <a:spLocks noChangeArrowheads="1"/>
            </p:cNvSpPr>
            <p:nvPr/>
          </p:nvSpPr>
          <p:spPr bwMode="auto">
            <a:xfrm>
              <a:off x="2062"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3" name="Oval 39"/>
            <p:cNvSpPr>
              <a:spLocks noChangeArrowheads="1"/>
            </p:cNvSpPr>
            <p:nvPr/>
          </p:nvSpPr>
          <p:spPr bwMode="auto">
            <a:xfrm>
              <a:off x="2062"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7614" name="Oval 40"/>
            <p:cNvSpPr>
              <a:spLocks noChangeArrowheads="1"/>
            </p:cNvSpPr>
            <p:nvPr/>
          </p:nvSpPr>
          <p:spPr bwMode="auto">
            <a:xfrm>
              <a:off x="2206"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631825" y="909638"/>
            <a:ext cx="77152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Système automatique d’alimentation du montage en panne</a:t>
            </a:r>
          </a:p>
        </p:txBody>
      </p:sp>
      <p:sp>
        <p:nvSpPr>
          <p:cNvPr id="68611" name="Text Box 3"/>
          <p:cNvSpPr txBox="1">
            <a:spLocks noChangeArrowheads="1"/>
          </p:cNvSpPr>
          <p:nvPr/>
        </p:nvSpPr>
        <p:spPr bwMode="auto">
          <a:xfrm>
            <a:off x="4587875" y="307498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68612" name="Text Box 4"/>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P15</a:t>
            </a:r>
          </a:p>
        </p:txBody>
      </p:sp>
      <p:sp>
        <p:nvSpPr>
          <p:cNvPr id="68613"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68614" name="Text Box 6"/>
          <p:cNvSpPr txBox="1">
            <a:spLocks noChangeArrowheads="1"/>
          </p:cNvSpPr>
          <p:nvPr/>
        </p:nvSpPr>
        <p:spPr bwMode="auto">
          <a:xfrm>
            <a:off x="4570413" y="4129088"/>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3 heures d’arrêt</a:t>
            </a:r>
            <a:endParaRPr lang="fr-FR" altLang="fr-FR">
              <a:solidFill>
                <a:srgbClr val="0033CC"/>
              </a:solidFill>
            </a:endParaRPr>
          </a:p>
        </p:txBody>
      </p:sp>
      <p:grpSp>
        <p:nvGrpSpPr>
          <p:cNvPr id="68615" name="Group 76"/>
          <p:cNvGrpSpPr>
            <a:grpSpLocks/>
          </p:cNvGrpSpPr>
          <p:nvPr/>
        </p:nvGrpSpPr>
        <p:grpSpPr bwMode="auto">
          <a:xfrm>
            <a:off x="1841500" y="3021013"/>
            <a:ext cx="2338388" cy="1587500"/>
            <a:chOff x="1160" y="1903"/>
            <a:chExt cx="1473" cy="1000"/>
          </a:xfrm>
        </p:grpSpPr>
        <p:sp>
          <p:nvSpPr>
            <p:cNvPr id="68616" name="AutoShape 77"/>
            <p:cNvSpPr>
              <a:spLocks noChangeArrowheads="1"/>
            </p:cNvSpPr>
            <p:nvPr/>
          </p:nvSpPr>
          <p:spPr bwMode="auto">
            <a:xfrm>
              <a:off x="1160"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17" name="Oval 78"/>
            <p:cNvSpPr>
              <a:spLocks noChangeArrowheads="1"/>
            </p:cNvSpPr>
            <p:nvPr/>
          </p:nvSpPr>
          <p:spPr bwMode="auto">
            <a:xfrm>
              <a:off x="1293" y="203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18" name="AutoShape 79"/>
            <p:cNvSpPr>
              <a:spLocks noChangeArrowheads="1"/>
            </p:cNvSpPr>
            <p:nvPr/>
          </p:nvSpPr>
          <p:spPr bwMode="auto">
            <a:xfrm>
              <a:off x="1735" y="190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19" name="Oval 80"/>
            <p:cNvSpPr>
              <a:spLocks noChangeArrowheads="1"/>
            </p:cNvSpPr>
            <p:nvPr/>
          </p:nvSpPr>
          <p:spPr bwMode="auto">
            <a:xfrm>
              <a:off x="1799" y="211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0" name="Oval 81"/>
            <p:cNvSpPr>
              <a:spLocks noChangeArrowheads="1"/>
            </p:cNvSpPr>
            <p:nvPr/>
          </p:nvSpPr>
          <p:spPr bwMode="auto">
            <a:xfrm>
              <a:off x="1937" y="196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1" name="AutoShape 82"/>
            <p:cNvSpPr>
              <a:spLocks noChangeArrowheads="1"/>
            </p:cNvSpPr>
            <p:nvPr/>
          </p:nvSpPr>
          <p:spPr bwMode="auto">
            <a:xfrm>
              <a:off x="1160"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2" name="Oval 83"/>
            <p:cNvSpPr>
              <a:spLocks noChangeArrowheads="1"/>
            </p:cNvSpPr>
            <p:nvPr/>
          </p:nvSpPr>
          <p:spPr bwMode="auto">
            <a:xfrm>
              <a:off x="1224"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3" name="Oval 84"/>
            <p:cNvSpPr>
              <a:spLocks noChangeArrowheads="1"/>
            </p:cNvSpPr>
            <p:nvPr/>
          </p:nvSpPr>
          <p:spPr bwMode="auto">
            <a:xfrm>
              <a:off x="1362"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4" name="Oval 85"/>
            <p:cNvSpPr>
              <a:spLocks noChangeArrowheads="1"/>
            </p:cNvSpPr>
            <p:nvPr/>
          </p:nvSpPr>
          <p:spPr bwMode="auto">
            <a:xfrm>
              <a:off x="1368"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5" name="Oval 86"/>
            <p:cNvSpPr>
              <a:spLocks noChangeArrowheads="1"/>
            </p:cNvSpPr>
            <p:nvPr/>
          </p:nvSpPr>
          <p:spPr bwMode="auto">
            <a:xfrm>
              <a:off x="1221"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6" name="AutoShape 87"/>
            <p:cNvSpPr>
              <a:spLocks noChangeArrowheads="1"/>
            </p:cNvSpPr>
            <p:nvPr/>
          </p:nvSpPr>
          <p:spPr bwMode="auto">
            <a:xfrm>
              <a:off x="1735"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7" name="Oval 88"/>
            <p:cNvSpPr>
              <a:spLocks noChangeArrowheads="1"/>
            </p:cNvSpPr>
            <p:nvPr/>
          </p:nvSpPr>
          <p:spPr bwMode="auto">
            <a:xfrm>
              <a:off x="1799" y="27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8" name="Oval 89"/>
            <p:cNvSpPr>
              <a:spLocks noChangeArrowheads="1"/>
            </p:cNvSpPr>
            <p:nvPr/>
          </p:nvSpPr>
          <p:spPr bwMode="auto">
            <a:xfrm>
              <a:off x="1937" y="264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29" name="Oval 90"/>
            <p:cNvSpPr>
              <a:spLocks noChangeArrowheads="1"/>
            </p:cNvSpPr>
            <p:nvPr/>
          </p:nvSpPr>
          <p:spPr bwMode="auto">
            <a:xfrm>
              <a:off x="1943"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0" name="Oval 91"/>
            <p:cNvSpPr>
              <a:spLocks noChangeArrowheads="1"/>
            </p:cNvSpPr>
            <p:nvPr/>
          </p:nvSpPr>
          <p:spPr bwMode="auto">
            <a:xfrm>
              <a:off x="1796"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1" name="Oval 92"/>
            <p:cNvSpPr>
              <a:spLocks noChangeArrowheads="1"/>
            </p:cNvSpPr>
            <p:nvPr/>
          </p:nvSpPr>
          <p:spPr bwMode="auto">
            <a:xfrm>
              <a:off x="1868"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2" name="AutoShape 93"/>
            <p:cNvSpPr>
              <a:spLocks noChangeArrowheads="1"/>
            </p:cNvSpPr>
            <p:nvPr/>
          </p:nvSpPr>
          <p:spPr bwMode="auto">
            <a:xfrm>
              <a:off x="2312"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3" name="Oval 94"/>
            <p:cNvSpPr>
              <a:spLocks noChangeArrowheads="1"/>
            </p:cNvSpPr>
            <p:nvPr/>
          </p:nvSpPr>
          <p:spPr bwMode="auto">
            <a:xfrm>
              <a:off x="2376" y="21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4" name="Oval 95"/>
            <p:cNvSpPr>
              <a:spLocks noChangeArrowheads="1"/>
            </p:cNvSpPr>
            <p:nvPr/>
          </p:nvSpPr>
          <p:spPr bwMode="auto">
            <a:xfrm>
              <a:off x="2514" y="19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5" name="Oval 96"/>
            <p:cNvSpPr>
              <a:spLocks noChangeArrowheads="1"/>
            </p:cNvSpPr>
            <p:nvPr/>
          </p:nvSpPr>
          <p:spPr bwMode="auto">
            <a:xfrm>
              <a:off x="2442" y="20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6" name="AutoShape 97"/>
            <p:cNvSpPr>
              <a:spLocks noChangeArrowheads="1"/>
            </p:cNvSpPr>
            <p:nvPr/>
          </p:nvSpPr>
          <p:spPr bwMode="auto">
            <a:xfrm>
              <a:off x="2312" y="2582"/>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7" name="Oval 98"/>
            <p:cNvSpPr>
              <a:spLocks noChangeArrowheads="1"/>
            </p:cNvSpPr>
            <p:nvPr/>
          </p:nvSpPr>
          <p:spPr bwMode="auto">
            <a:xfrm>
              <a:off x="2376"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8" name="Oval 99"/>
            <p:cNvSpPr>
              <a:spLocks noChangeArrowheads="1"/>
            </p:cNvSpPr>
            <p:nvPr/>
          </p:nvSpPr>
          <p:spPr bwMode="auto">
            <a:xfrm>
              <a:off x="2514"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39" name="Oval 100"/>
            <p:cNvSpPr>
              <a:spLocks noChangeArrowheads="1"/>
            </p:cNvSpPr>
            <p:nvPr/>
          </p:nvSpPr>
          <p:spPr bwMode="auto">
            <a:xfrm>
              <a:off x="2520"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40" name="Oval 101"/>
            <p:cNvSpPr>
              <a:spLocks noChangeArrowheads="1"/>
            </p:cNvSpPr>
            <p:nvPr/>
          </p:nvSpPr>
          <p:spPr bwMode="auto">
            <a:xfrm>
              <a:off x="2373" y="26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41" name="Oval 102"/>
            <p:cNvSpPr>
              <a:spLocks noChangeArrowheads="1"/>
            </p:cNvSpPr>
            <p:nvPr/>
          </p:nvSpPr>
          <p:spPr bwMode="auto">
            <a:xfrm>
              <a:off x="2373"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8642" name="Oval 103"/>
            <p:cNvSpPr>
              <a:spLocks noChangeArrowheads="1"/>
            </p:cNvSpPr>
            <p:nvPr/>
          </p:nvSpPr>
          <p:spPr bwMode="auto">
            <a:xfrm>
              <a:off x="2517"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796925" y="749300"/>
            <a:ext cx="762476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Mauvaise manœuvre sur la machine de l’opérateur nouvellement embauché.</a:t>
            </a:r>
          </a:p>
        </p:txBody>
      </p:sp>
      <p:sp>
        <p:nvSpPr>
          <p:cNvPr id="69635" name="Text Box 37"/>
          <p:cNvSpPr txBox="1">
            <a:spLocks noChangeArrowheads="1"/>
          </p:cNvSpPr>
          <p:nvPr/>
        </p:nvSpPr>
        <p:spPr bwMode="auto">
          <a:xfrm>
            <a:off x="4572000" y="3049588"/>
            <a:ext cx="330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69636" name="Text Box 38"/>
          <p:cNvSpPr txBox="1">
            <a:spLocks noChangeArrowheads="1"/>
          </p:cNvSpPr>
          <p:nvPr/>
        </p:nvSpPr>
        <p:spPr bwMode="auto">
          <a:xfrm>
            <a:off x="5183188" y="4103688"/>
            <a:ext cx="216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69637" name="Text Box 39"/>
          <p:cNvSpPr txBox="1">
            <a:spLocks noChangeArrowheads="1"/>
          </p:cNvSpPr>
          <p:nvPr/>
        </p:nvSpPr>
        <p:spPr bwMode="auto">
          <a:xfrm>
            <a:off x="4673600" y="5191125"/>
            <a:ext cx="3190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sp>
        <p:nvSpPr>
          <p:cNvPr id="69638" name="Text Box 40"/>
          <p:cNvSpPr txBox="1">
            <a:spLocks noChangeArrowheads="1"/>
          </p:cNvSpPr>
          <p:nvPr/>
        </p:nvSpPr>
        <p:spPr bwMode="auto">
          <a:xfrm>
            <a:off x="8558213" y="646430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P16</a:t>
            </a:r>
          </a:p>
        </p:txBody>
      </p:sp>
      <p:sp>
        <p:nvSpPr>
          <p:cNvPr id="69639"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grpSp>
        <p:nvGrpSpPr>
          <p:cNvPr id="69640" name="Group 42"/>
          <p:cNvGrpSpPr>
            <a:grpSpLocks/>
          </p:cNvGrpSpPr>
          <p:nvPr/>
        </p:nvGrpSpPr>
        <p:grpSpPr bwMode="auto">
          <a:xfrm>
            <a:off x="1597025" y="3013075"/>
            <a:ext cx="2533650" cy="2660650"/>
            <a:chOff x="1006" y="1898"/>
            <a:chExt cx="1596" cy="1676"/>
          </a:xfrm>
        </p:grpSpPr>
        <p:sp>
          <p:nvSpPr>
            <p:cNvPr id="69641"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2"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3"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4"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5"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6"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7"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8"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49"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0"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1"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2"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3"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4"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5"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6"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7"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8"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59"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0"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1"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2"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3"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4"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5"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6"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69667"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1365250" y="795338"/>
            <a:ext cx="6657975"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cariste s’est trompé dans le choix des matières dans le stock, une matière trop dure a été utilisée et l’outillage s’est cassé.</a:t>
            </a:r>
          </a:p>
        </p:txBody>
      </p:sp>
      <p:sp>
        <p:nvSpPr>
          <p:cNvPr id="70659" name="Text Box 3"/>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70660" name="Text Box 4"/>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Q22</a:t>
            </a:r>
          </a:p>
        </p:txBody>
      </p:sp>
      <p:sp>
        <p:nvSpPr>
          <p:cNvPr id="70661"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70662" name="Text Box 6"/>
          <p:cNvSpPr txBox="1">
            <a:spLocks noChangeArrowheads="1"/>
          </p:cNvSpPr>
          <p:nvPr/>
        </p:nvSpPr>
        <p:spPr bwMode="auto">
          <a:xfrm>
            <a:off x="4683125" y="4103688"/>
            <a:ext cx="302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70663" name="Text Box 7"/>
          <p:cNvSpPr txBox="1">
            <a:spLocks noChangeArrowheads="1"/>
          </p:cNvSpPr>
          <p:nvPr/>
        </p:nvSpPr>
        <p:spPr bwMode="auto">
          <a:xfrm>
            <a:off x="4664075" y="5122863"/>
            <a:ext cx="3051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5 heures d’arrêt</a:t>
            </a:r>
            <a:endParaRPr lang="fr-FR" altLang="fr-FR">
              <a:solidFill>
                <a:srgbClr val="0033CC"/>
              </a:solidFill>
            </a:endParaRPr>
          </a:p>
        </p:txBody>
      </p:sp>
      <p:grpSp>
        <p:nvGrpSpPr>
          <p:cNvPr id="70664" name="Group 42"/>
          <p:cNvGrpSpPr>
            <a:grpSpLocks/>
          </p:cNvGrpSpPr>
          <p:nvPr/>
        </p:nvGrpSpPr>
        <p:grpSpPr bwMode="auto">
          <a:xfrm>
            <a:off x="1597025" y="3013075"/>
            <a:ext cx="2533650" cy="2660650"/>
            <a:chOff x="1006" y="1898"/>
            <a:chExt cx="1596" cy="1676"/>
          </a:xfrm>
        </p:grpSpPr>
        <p:sp>
          <p:nvSpPr>
            <p:cNvPr id="70665"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66"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67"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68"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69"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0"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1"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2"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3"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4"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5"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6"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7"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8"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79"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0"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1"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2"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3"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4"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5"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6"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7"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8"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89"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90"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0691"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936625" y="862013"/>
            <a:ext cx="7277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Outillage usé</a:t>
            </a:r>
          </a:p>
        </p:txBody>
      </p:sp>
      <p:sp>
        <p:nvSpPr>
          <p:cNvPr id="71683"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71684" name="Text Box 38"/>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P17</a:t>
            </a:r>
          </a:p>
        </p:txBody>
      </p:sp>
      <p:sp>
        <p:nvSpPr>
          <p:cNvPr id="71685"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sp>
        <p:nvSpPr>
          <p:cNvPr id="71686"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71687" name="Text Box 41"/>
          <p:cNvSpPr txBox="1">
            <a:spLocks noChangeArrowheads="1"/>
          </p:cNvSpPr>
          <p:nvPr/>
        </p:nvSpPr>
        <p:spPr bwMode="auto">
          <a:xfrm>
            <a:off x="4606925" y="51323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5 heures d’arrêt</a:t>
            </a:r>
            <a:endParaRPr lang="fr-FR" altLang="fr-FR">
              <a:solidFill>
                <a:srgbClr val="0033CC"/>
              </a:solidFill>
            </a:endParaRPr>
          </a:p>
        </p:txBody>
      </p:sp>
      <p:grpSp>
        <p:nvGrpSpPr>
          <p:cNvPr id="71688" name="Group 70"/>
          <p:cNvGrpSpPr>
            <a:grpSpLocks/>
          </p:cNvGrpSpPr>
          <p:nvPr/>
        </p:nvGrpSpPr>
        <p:grpSpPr bwMode="auto">
          <a:xfrm>
            <a:off x="1597025" y="3013075"/>
            <a:ext cx="2533650" cy="2660650"/>
            <a:chOff x="1006" y="1898"/>
            <a:chExt cx="1596" cy="1676"/>
          </a:xfrm>
        </p:grpSpPr>
        <p:sp>
          <p:nvSpPr>
            <p:cNvPr id="71689" name="AutoShape 71"/>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0" name="Oval 72"/>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1" name="AutoShape 73"/>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2" name="Oval 74"/>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3" name="Oval 75"/>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4" name="AutoShape 76"/>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5" name="Oval 77"/>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6" name="Oval 78"/>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7" name="Oval 79"/>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8" name="Oval 80"/>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699" name="AutoShape 81"/>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0" name="Oval 82"/>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1" name="Oval 83"/>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2" name="Oval 84"/>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3" name="Oval 85"/>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4" name="Oval 86"/>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5" name="AutoShape 87"/>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6" name="Oval 88"/>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7" name="Oval 89"/>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8" name="Oval 90"/>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09" name="AutoShape 91"/>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10" name="Oval 92"/>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11" name="Oval 93"/>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12" name="Oval 94"/>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13" name="Oval 95"/>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14" name="Oval 96"/>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1715" name="Oval 97"/>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1003300" y="690563"/>
            <a:ext cx="70199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Des conteneurs d’engrenages ont été égarés dans le magasin. Il s’agit de la référence en cours de montage.</a:t>
            </a:r>
          </a:p>
        </p:txBody>
      </p:sp>
      <p:sp>
        <p:nvSpPr>
          <p:cNvPr id="72707" name="Text Box 37"/>
          <p:cNvSpPr txBox="1">
            <a:spLocks noChangeArrowheads="1"/>
          </p:cNvSpPr>
          <p:nvPr/>
        </p:nvSpPr>
        <p:spPr bwMode="auto">
          <a:xfrm>
            <a:off x="4578350" y="2894013"/>
            <a:ext cx="33369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a:t>
            </a:r>
            <a:r>
              <a:rPr lang="fr-FR" altLang="fr-FR">
                <a:solidFill>
                  <a:srgbClr val="0033CC"/>
                </a:solidFill>
              </a:rPr>
              <a:t>pendant laquelle les engrenages sont indisponibles.</a:t>
            </a:r>
          </a:p>
        </p:txBody>
      </p:sp>
      <p:sp>
        <p:nvSpPr>
          <p:cNvPr id="72708" name="Text Box 40"/>
          <p:cNvSpPr txBox="1">
            <a:spLocks noChangeArrowheads="1"/>
          </p:cNvSpPr>
          <p:nvPr/>
        </p:nvSpPr>
        <p:spPr bwMode="auto">
          <a:xfrm>
            <a:off x="8699500" y="6473825"/>
            <a:ext cx="4254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A9</a:t>
            </a:r>
          </a:p>
        </p:txBody>
      </p:sp>
      <p:sp>
        <p:nvSpPr>
          <p:cNvPr id="72709" name="Text Box 41"/>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72710" name="Text Box 42"/>
          <p:cNvSpPr txBox="1">
            <a:spLocks noChangeArrowheads="1"/>
          </p:cNvSpPr>
          <p:nvPr/>
        </p:nvSpPr>
        <p:spPr bwMode="auto">
          <a:xfrm>
            <a:off x="4502150" y="4084638"/>
            <a:ext cx="3470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a:t>
            </a:r>
            <a:r>
              <a:rPr lang="fr-FR" altLang="fr-FR">
                <a:solidFill>
                  <a:srgbClr val="0033CC"/>
                </a:solidFill>
              </a:rPr>
              <a:t>d’indisponibilité</a:t>
            </a:r>
          </a:p>
        </p:txBody>
      </p:sp>
      <p:sp>
        <p:nvSpPr>
          <p:cNvPr id="72711" name="Text Box 43"/>
          <p:cNvSpPr txBox="1">
            <a:spLocks noChangeArrowheads="1"/>
          </p:cNvSpPr>
          <p:nvPr/>
        </p:nvSpPr>
        <p:spPr bwMode="auto">
          <a:xfrm>
            <a:off x="4540250" y="5151438"/>
            <a:ext cx="3470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heures </a:t>
            </a:r>
            <a:r>
              <a:rPr lang="fr-FR" altLang="fr-FR">
                <a:solidFill>
                  <a:srgbClr val="0033CC"/>
                </a:solidFill>
              </a:rPr>
              <a:t>d’indisponibilité</a:t>
            </a:r>
          </a:p>
        </p:txBody>
      </p:sp>
      <p:grpSp>
        <p:nvGrpSpPr>
          <p:cNvPr id="72712" name="Group 44"/>
          <p:cNvGrpSpPr>
            <a:grpSpLocks/>
          </p:cNvGrpSpPr>
          <p:nvPr/>
        </p:nvGrpSpPr>
        <p:grpSpPr bwMode="auto">
          <a:xfrm>
            <a:off x="2092325" y="3008313"/>
            <a:ext cx="1552575" cy="2671762"/>
            <a:chOff x="1318" y="1895"/>
            <a:chExt cx="978" cy="1683"/>
          </a:xfrm>
        </p:grpSpPr>
        <p:sp>
          <p:nvSpPr>
            <p:cNvPr id="72713" name="AutoShape 45"/>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14" name="Oval 46"/>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15" name="AutoShape 47"/>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16" name="Oval 48"/>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17" name="Oval 49"/>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18" name="AutoShape 50"/>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19" name="Oval 51"/>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0" name="Oval 52"/>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1" name="Oval 53"/>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2" name="Oval 54"/>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3" name="AutoShape 55"/>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4" name="Oval 56"/>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5" name="Oval 57"/>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6" name="Oval 58"/>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7" name="Oval 59"/>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8" name="Oval 60"/>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29" name="AutoShape 61"/>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0" name="Oval 62"/>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1" name="Oval 63"/>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2" name="Oval 64"/>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3" name="AutoShape 65"/>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4" name="Oval 66"/>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5" name="Oval 67"/>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6" name="Oval 68"/>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7" name="Oval 69"/>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8" name="Oval 70"/>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2739" name="Oval 71"/>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936625" y="719138"/>
            <a:ext cx="72771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client vient contrôler sa commande spéciale.</a:t>
            </a:r>
            <a:br>
              <a:rPr lang="fr-FR" altLang="fr-FR" sz="2200">
                <a:solidFill>
                  <a:srgbClr val="FF3300"/>
                </a:solidFill>
              </a:rPr>
            </a:br>
            <a:r>
              <a:rPr lang="fr-FR" altLang="fr-FR" sz="2200">
                <a:solidFill>
                  <a:srgbClr val="FF3300"/>
                </a:solidFill>
              </a:rPr>
              <a:t>Pendant ce temps les engrenages ne sont plus disponibles pour le montage.</a:t>
            </a:r>
          </a:p>
        </p:txBody>
      </p:sp>
      <p:sp>
        <p:nvSpPr>
          <p:cNvPr id="73731"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73732" name="Text Box 38"/>
          <p:cNvSpPr txBox="1">
            <a:spLocks noChangeArrowheads="1"/>
          </p:cNvSpPr>
          <p:nvPr/>
        </p:nvSpPr>
        <p:spPr bwMode="auto">
          <a:xfrm>
            <a:off x="8694738" y="648335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Q1</a:t>
            </a:r>
          </a:p>
        </p:txBody>
      </p:sp>
      <p:sp>
        <p:nvSpPr>
          <p:cNvPr id="7373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Montage</a:t>
            </a:r>
          </a:p>
        </p:txBody>
      </p:sp>
      <p:sp>
        <p:nvSpPr>
          <p:cNvPr id="73734"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73735" name="Text Box 41"/>
          <p:cNvSpPr txBox="1">
            <a:spLocks noChangeArrowheads="1"/>
          </p:cNvSpPr>
          <p:nvPr/>
        </p:nvSpPr>
        <p:spPr bwMode="auto">
          <a:xfrm>
            <a:off x="4635500" y="518953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73736" name="Group 42"/>
          <p:cNvGrpSpPr>
            <a:grpSpLocks/>
          </p:cNvGrpSpPr>
          <p:nvPr/>
        </p:nvGrpSpPr>
        <p:grpSpPr bwMode="auto">
          <a:xfrm>
            <a:off x="2092325" y="3008313"/>
            <a:ext cx="1552575" cy="2671762"/>
            <a:chOff x="1318" y="1895"/>
            <a:chExt cx="978" cy="1683"/>
          </a:xfrm>
        </p:grpSpPr>
        <p:sp>
          <p:nvSpPr>
            <p:cNvPr id="73737"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38"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39"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0"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1"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2"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3"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4"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5"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6"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7"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8"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49"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0"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1"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2"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3"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4"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5"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6"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7"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8"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59"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60"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61"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62"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3763"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936625" y="862013"/>
            <a:ext cx="7277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Panne machine due à la rupture d’un pignon réducteur</a:t>
            </a:r>
          </a:p>
        </p:txBody>
      </p:sp>
      <p:sp>
        <p:nvSpPr>
          <p:cNvPr id="74755"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74756" name="Text Box 38"/>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P11</a:t>
            </a:r>
          </a:p>
        </p:txBody>
      </p:sp>
      <p:sp>
        <p:nvSpPr>
          <p:cNvPr id="74757"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sp>
        <p:nvSpPr>
          <p:cNvPr id="74758"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74759" name="Text Box 41"/>
          <p:cNvSpPr txBox="1">
            <a:spLocks noChangeArrowheads="1"/>
          </p:cNvSpPr>
          <p:nvPr/>
        </p:nvSpPr>
        <p:spPr bwMode="auto">
          <a:xfrm>
            <a:off x="4606925" y="51323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grpSp>
        <p:nvGrpSpPr>
          <p:cNvPr id="74760" name="Group 42"/>
          <p:cNvGrpSpPr>
            <a:grpSpLocks/>
          </p:cNvGrpSpPr>
          <p:nvPr/>
        </p:nvGrpSpPr>
        <p:grpSpPr bwMode="auto">
          <a:xfrm>
            <a:off x="2092325" y="3008313"/>
            <a:ext cx="1552575" cy="2671762"/>
            <a:chOff x="1318" y="1895"/>
            <a:chExt cx="978" cy="1683"/>
          </a:xfrm>
        </p:grpSpPr>
        <p:sp>
          <p:nvSpPr>
            <p:cNvPr id="74761"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2"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3"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4"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5"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6"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7"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8"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69"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0"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1"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2"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3"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4"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5"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6"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7"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8"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79"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0"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1"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2"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3"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4"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5"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6"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4787"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958850" y="850900"/>
            <a:ext cx="71564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Un nouveau régleur remplace le régleur habituel qui est absent. Le réglage est plus long que d’habitude.</a:t>
            </a:r>
          </a:p>
        </p:txBody>
      </p:sp>
      <p:sp>
        <p:nvSpPr>
          <p:cNvPr id="75779" name="Text Box 37"/>
          <p:cNvSpPr txBox="1">
            <a:spLocks noChangeArrowheads="1"/>
          </p:cNvSpPr>
          <p:nvPr/>
        </p:nvSpPr>
        <p:spPr bwMode="auto">
          <a:xfrm>
            <a:off x="4578350" y="30083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75780" name="Text Box 38"/>
          <p:cNvSpPr txBox="1">
            <a:spLocks noChangeArrowheads="1"/>
          </p:cNvSpPr>
          <p:nvPr/>
        </p:nvSpPr>
        <p:spPr bwMode="auto">
          <a:xfrm>
            <a:off x="8710613" y="648335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P7</a:t>
            </a:r>
          </a:p>
        </p:txBody>
      </p:sp>
      <p:sp>
        <p:nvSpPr>
          <p:cNvPr id="75781"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75782" name="Text Box 40"/>
          <p:cNvSpPr txBox="1">
            <a:spLocks noChangeArrowheads="1"/>
          </p:cNvSpPr>
          <p:nvPr/>
        </p:nvSpPr>
        <p:spPr bwMode="auto">
          <a:xfrm>
            <a:off x="4559300" y="415131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endParaRPr lang="fr-FR" altLang="fr-FR">
              <a:solidFill>
                <a:srgbClr val="0033CC"/>
              </a:solidFill>
            </a:endParaRPr>
          </a:p>
        </p:txBody>
      </p:sp>
      <p:sp>
        <p:nvSpPr>
          <p:cNvPr id="75783" name="Text Box 41"/>
          <p:cNvSpPr txBox="1">
            <a:spLocks noChangeArrowheads="1"/>
          </p:cNvSpPr>
          <p:nvPr/>
        </p:nvSpPr>
        <p:spPr bwMode="auto">
          <a:xfrm>
            <a:off x="4597400" y="518953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5 heures d’arrêt</a:t>
            </a:r>
            <a:endParaRPr lang="fr-FR" altLang="fr-FR">
              <a:solidFill>
                <a:srgbClr val="0033CC"/>
              </a:solidFill>
            </a:endParaRPr>
          </a:p>
        </p:txBody>
      </p:sp>
      <p:grpSp>
        <p:nvGrpSpPr>
          <p:cNvPr id="75784" name="Group 70"/>
          <p:cNvGrpSpPr>
            <a:grpSpLocks/>
          </p:cNvGrpSpPr>
          <p:nvPr/>
        </p:nvGrpSpPr>
        <p:grpSpPr bwMode="auto">
          <a:xfrm>
            <a:off x="1597025" y="3013075"/>
            <a:ext cx="2533650" cy="2660650"/>
            <a:chOff x="1006" y="1898"/>
            <a:chExt cx="1596" cy="1676"/>
          </a:xfrm>
        </p:grpSpPr>
        <p:sp>
          <p:nvSpPr>
            <p:cNvPr id="75785" name="AutoShape 71"/>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86" name="Oval 72"/>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87" name="AutoShape 73"/>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88" name="Oval 74"/>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89" name="Oval 75"/>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0" name="AutoShape 76"/>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1" name="Oval 77"/>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2" name="Oval 78"/>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3" name="Oval 79"/>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4" name="Oval 80"/>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5" name="AutoShape 81"/>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6" name="Oval 82"/>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7" name="Oval 83"/>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8" name="Oval 84"/>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799" name="Oval 85"/>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0" name="Oval 86"/>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1" name="AutoShape 87"/>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2" name="Oval 88"/>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3" name="Oval 89"/>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4" name="Oval 90"/>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5" name="AutoShape 91"/>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6" name="Oval 92"/>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7" name="Oval 93"/>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8" name="Oval 94"/>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09" name="Oval 95"/>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10" name="Oval 96"/>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5811" name="Oval 97"/>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584200" y="738188"/>
            <a:ext cx="79724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Un opérateur est malade. Son remplaçant présente un certificat médical lui interdisant de porter des charges lourdes.</a:t>
            </a:r>
          </a:p>
        </p:txBody>
      </p:sp>
      <p:sp>
        <p:nvSpPr>
          <p:cNvPr id="76803" name="Text Box 37"/>
          <p:cNvSpPr txBox="1">
            <a:spLocks noChangeArrowheads="1"/>
          </p:cNvSpPr>
          <p:nvPr/>
        </p:nvSpPr>
        <p:spPr bwMode="auto">
          <a:xfrm>
            <a:off x="4521200" y="30559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76804" name="Text Box 38"/>
          <p:cNvSpPr txBox="1">
            <a:spLocks noChangeArrowheads="1"/>
          </p:cNvSpPr>
          <p:nvPr/>
        </p:nvSpPr>
        <p:spPr bwMode="auto">
          <a:xfrm>
            <a:off x="8680450" y="6492875"/>
            <a:ext cx="4079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a:t>
            </a:r>
          </a:p>
        </p:txBody>
      </p:sp>
      <p:sp>
        <p:nvSpPr>
          <p:cNvPr id="76805"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76806" name="Text Box 40"/>
          <p:cNvSpPr txBox="1">
            <a:spLocks noChangeArrowheads="1"/>
          </p:cNvSpPr>
          <p:nvPr/>
        </p:nvSpPr>
        <p:spPr bwMode="auto">
          <a:xfrm>
            <a:off x="4730750" y="4084638"/>
            <a:ext cx="293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a:solidFill>
                <a:srgbClr val="0033CC"/>
              </a:solidFill>
            </a:endParaRPr>
          </a:p>
        </p:txBody>
      </p:sp>
      <p:sp>
        <p:nvSpPr>
          <p:cNvPr id="76807" name="Text Box 41"/>
          <p:cNvSpPr txBox="1">
            <a:spLocks noChangeArrowheads="1"/>
          </p:cNvSpPr>
          <p:nvPr/>
        </p:nvSpPr>
        <p:spPr bwMode="auto">
          <a:xfrm>
            <a:off x="4616450" y="5218113"/>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p>
        </p:txBody>
      </p:sp>
      <p:grpSp>
        <p:nvGrpSpPr>
          <p:cNvPr id="76808" name="Group 42"/>
          <p:cNvGrpSpPr>
            <a:grpSpLocks/>
          </p:cNvGrpSpPr>
          <p:nvPr/>
        </p:nvGrpSpPr>
        <p:grpSpPr bwMode="auto">
          <a:xfrm>
            <a:off x="2092325" y="3008313"/>
            <a:ext cx="1552575" cy="2671762"/>
            <a:chOff x="1318" y="1895"/>
            <a:chExt cx="978" cy="1683"/>
          </a:xfrm>
        </p:grpSpPr>
        <p:sp>
          <p:nvSpPr>
            <p:cNvPr id="76809"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0"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1"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2"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3"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4"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5"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6"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7"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8"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19"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0"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1"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2"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3"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4"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5"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6"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7"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8"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29"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30"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31"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32"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33"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34"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6835"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796925" y="806450"/>
            <a:ext cx="7624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Matière première non conforme</a:t>
            </a:r>
          </a:p>
        </p:txBody>
      </p:sp>
      <p:sp>
        <p:nvSpPr>
          <p:cNvPr id="77827" name="Text Box 37"/>
          <p:cNvSpPr txBox="1">
            <a:spLocks noChangeArrowheads="1"/>
          </p:cNvSpPr>
          <p:nvPr/>
        </p:nvSpPr>
        <p:spPr bwMode="auto">
          <a:xfrm>
            <a:off x="4572000" y="3049588"/>
            <a:ext cx="330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600">
              <a:solidFill>
                <a:srgbClr val="0033CC"/>
              </a:solidFill>
            </a:endParaRPr>
          </a:p>
        </p:txBody>
      </p:sp>
      <p:sp>
        <p:nvSpPr>
          <p:cNvPr id="77828" name="Text Box 38"/>
          <p:cNvSpPr txBox="1">
            <a:spLocks noChangeArrowheads="1"/>
          </p:cNvSpPr>
          <p:nvPr/>
        </p:nvSpPr>
        <p:spPr bwMode="auto">
          <a:xfrm>
            <a:off x="5106988" y="4103688"/>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77829" name="Text Box 39"/>
          <p:cNvSpPr txBox="1">
            <a:spLocks noChangeArrowheads="1"/>
          </p:cNvSpPr>
          <p:nvPr/>
        </p:nvSpPr>
        <p:spPr bwMode="auto">
          <a:xfrm>
            <a:off x="4673600" y="5191125"/>
            <a:ext cx="3190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sp>
        <p:nvSpPr>
          <p:cNvPr id="77830" name="Text Box 40"/>
          <p:cNvSpPr txBox="1">
            <a:spLocks noChangeArrowheads="1"/>
          </p:cNvSpPr>
          <p:nvPr/>
        </p:nvSpPr>
        <p:spPr bwMode="auto">
          <a:xfrm>
            <a:off x="8707438" y="646430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a:t>
            </a:r>
          </a:p>
        </p:txBody>
      </p:sp>
      <p:sp>
        <p:nvSpPr>
          <p:cNvPr id="77831"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grpSp>
        <p:nvGrpSpPr>
          <p:cNvPr id="77832" name="Group 42"/>
          <p:cNvGrpSpPr>
            <a:grpSpLocks/>
          </p:cNvGrpSpPr>
          <p:nvPr/>
        </p:nvGrpSpPr>
        <p:grpSpPr bwMode="auto">
          <a:xfrm>
            <a:off x="1597025" y="3013075"/>
            <a:ext cx="2533650" cy="2660650"/>
            <a:chOff x="1006" y="1898"/>
            <a:chExt cx="1596" cy="1676"/>
          </a:xfrm>
        </p:grpSpPr>
        <p:sp>
          <p:nvSpPr>
            <p:cNvPr id="77833"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34"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35"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36"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37"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38"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39"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0"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1"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2"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3"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4"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5"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6"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7"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8"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49"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0"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1"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2"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3"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4"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5"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6"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7"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8"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7859"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936625" y="862013"/>
            <a:ext cx="7277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Arrêt machine, rupture de la vis de chariotage du tour</a:t>
            </a:r>
          </a:p>
        </p:txBody>
      </p:sp>
      <p:sp>
        <p:nvSpPr>
          <p:cNvPr id="78851"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78852" name="Text Box 38"/>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P19</a:t>
            </a:r>
          </a:p>
        </p:txBody>
      </p:sp>
      <p:sp>
        <p:nvSpPr>
          <p:cNvPr id="7885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Carters</a:t>
            </a:r>
          </a:p>
        </p:txBody>
      </p:sp>
      <p:sp>
        <p:nvSpPr>
          <p:cNvPr id="78854"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78855" name="Text Box 41"/>
          <p:cNvSpPr txBox="1">
            <a:spLocks noChangeArrowheads="1"/>
          </p:cNvSpPr>
          <p:nvPr/>
        </p:nvSpPr>
        <p:spPr bwMode="auto">
          <a:xfrm>
            <a:off x="4606925" y="513238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5 heures d’arrêt</a:t>
            </a:r>
            <a:endParaRPr lang="fr-FR" altLang="fr-FR">
              <a:solidFill>
                <a:srgbClr val="0033CC"/>
              </a:solidFill>
            </a:endParaRPr>
          </a:p>
        </p:txBody>
      </p:sp>
      <p:grpSp>
        <p:nvGrpSpPr>
          <p:cNvPr id="78856" name="Group 70"/>
          <p:cNvGrpSpPr>
            <a:grpSpLocks/>
          </p:cNvGrpSpPr>
          <p:nvPr/>
        </p:nvGrpSpPr>
        <p:grpSpPr bwMode="auto">
          <a:xfrm>
            <a:off x="1597025" y="3013075"/>
            <a:ext cx="2533650" cy="2660650"/>
            <a:chOff x="1006" y="1898"/>
            <a:chExt cx="1596" cy="1676"/>
          </a:xfrm>
        </p:grpSpPr>
        <p:sp>
          <p:nvSpPr>
            <p:cNvPr id="78857" name="AutoShape 71"/>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58" name="Oval 72"/>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59" name="AutoShape 73"/>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0" name="Oval 74"/>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1" name="Oval 75"/>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2" name="AutoShape 76"/>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3" name="Oval 77"/>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4" name="Oval 78"/>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5" name="Oval 79"/>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6" name="Oval 80"/>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7" name="AutoShape 81"/>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8" name="Oval 82"/>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69" name="Oval 83"/>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0" name="Oval 84"/>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1" name="Oval 85"/>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2" name="Oval 86"/>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3" name="AutoShape 87"/>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4" name="Oval 88"/>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5" name="Oval 89"/>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6" name="Oval 90"/>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7" name="AutoShape 91"/>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8" name="Oval 92"/>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79" name="Oval 93"/>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80" name="Oval 94"/>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81" name="Oval 95"/>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82" name="Oval 96"/>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8883" name="Oval 97"/>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942975" y="766763"/>
            <a:ext cx="7011988"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cariste intérimaire percute une machine en prenant un virage trop rapidement.</a:t>
            </a:r>
          </a:p>
        </p:txBody>
      </p:sp>
      <p:sp>
        <p:nvSpPr>
          <p:cNvPr id="79875" name="Text Box 37"/>
          <p:cNvSpPr txBox="1">
            <a:spLocks noChangeArrowheads="1"/>
          </p:cNvSpPr>
          <p:nvPr/>
        </p:nvSpPr>
        <p:spPr bwMode="auto">
          <a:xfrm>
            <a:off x="4581525" y="3030538"/>
            <a:ext cx="330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79876" name="Text Box 38"/>
          <p:cNvSpPr txBox="1">
            <a:spLocks noChangeArrowheads="1"/>
          </p:cNvSpPr>
          <p:nvPr/>
        </p:nvSpPr>
        <p:spPr bwMode="auto">
          <a:xfrm>
            <a:off x="5068888" y="4103688"/>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79877" name="Text Box 39"/>
          <p:cNvSpPr txBox="1">
            <a:spLocks noChangeArrowheads="1"/>
          </p:cNvSpPr>
          <p:nvPr/>
        </p:nvSpPr>
        <p:spPr bwMode="auto">
          <a:xfrm>
            <a:off x="4645025" y="5172075"/>
            <a:ext cx="3190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sp>
        <p:nvSpPr>
          <p:cNvPr id="79878" name="Text Box 40"/>
          <p:cNvSpPr txBox="1">
            <a:spLocks noChangeArrowheads="1"/>
          </p:cNvSpPr>
          <p:nvPr/>
        </p:nvSpPr>
        <p:spPr bwMode="auto">
          <a:xfrm>
            <a:off x="8707438" y="646430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P6</a:t>
            </a:r>
          </a:p>
        </p:txBody>
      </p:sp>
      <p:sp>
        <p:nvSpPr>
          <p:cNvPr id="79879"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grpSp>
        <p:nvGrpSpPr>
          <p:cNvPr id="79880" name="Group 42"/>
          <p:cNvGrpSpPr>
            <a:grpSpLocks/>
          </p:cNvGrpSpPr>
          <p:nvPr/>
        </p:nvGrpSpPr>
        <p:grpSpPr bwMode="auto">
          <a:xfrm>
            <a:off x="1597025" y="3013075"/>
            <a:ext cx="2533650" cy="2660650"/>
            <a:chOff x="1006" y="1898"/>
            <a:chExt cx="1596" cy="1676"/>
          </a:xfrm>
        </p:grpSpPr>
        <p:sp>
          <p:nvSpPr>
            <p:cNvPr id="79881"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2"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3"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4"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5"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6"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7"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8"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89"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0"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1"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2"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3"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4"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5"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6"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7"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8"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899"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0"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1"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2"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3"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4"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5"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6"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79907"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1755775" y="795338"/>
            <a:ext cx="576262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Le fournisseur s’est trompé de référence dans une livraison.</a:t>
            </a:r>
          </a:p>
        </p:txBody>
      </p:sp>
      <p:sp>
        <p:nvSpPr>
          <p:cNvPr id="80899" name="Text Box 37"/>
          <p:cNvSpPr txBox="1">
            <a:spLocks noChangeArrowheads="1"/>
          </p:cNvSpPr>
          <p:nvPr/>
        </p:nvSpPr>
        <p:spPr bwMode="auto">
          <a:xfrm>
            <a:off x="4559300" y="304641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700">
              <a:solidFill>
                <a:srgbClr val="0033CC"/>
              </a:solidFill>
            </a:endParaRPr>
          </a:p>
        </p:txBody>
      </p:sp>
      <p:sp>
        <p:nvSpPr>
          <p:cNvPr id="80900" name="Text Box 38"/>
          <p:cNvSpPr txBox="1">
            <a:spLocks noChangeArrowheads="1"/>
          </p:cNvSpPr>
          <p:nvPr/>
        </p:nvSpPr>
        <p:spPr bwMode="auto">
          <a:xfrm>
            <a:off x="8543925" y="6483350"/>
            <a:ext cx="6111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Q23</a:t>
            </a:r>
          </a:p>
        </p:txBody>
      </p:sp>
      <p:sp>
        <p:nvSpPr>
          <p:cNvPr id="80901"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80902" name="Text Box 40"/>
          <p:cNvSpPr txBox="1">
            <a:spLocks noChangeArrowheads="1"/>
          </p:cNvSpPr>
          <p:nvPr/>
        </p:nvSpPr>
        <p:spPr bwMode="auto">
          <a:xfrm>
            <a:off x="4568825" y="3989388"/>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conteneur </a:t>
            </a:r>
            <a:br>
              <a:rPr lang="fr-FR" altLang="fr-FR" sz="2400">
                <a:solidFill>
                  <a:srgbClr val="0033CC"/>
                </a:solidFill>
              </a:rPr>
            </a:br>
            <a:r>
              <a:rPr lang="fr-FR" altLang="fr-FR">
                <a:solidFill>
                  <a:srgbClr val="0033CC"/>
                </a:solidFill>
              </a:rPr>
              <a:t>de pièces à renvoyer </a:t>
            </a:r>
          </a:p>
        </p:txBody>
      </p:sp>
      <p:sp>
        <p:nvSpPr>
          <p:cNvPr id="80903" name="Text Box 41"/>
          <p:cNvSpPr txBox="1">
            <a:spLocks noChangeArrowheads="1"/>
          </p:cNvSpPr>
          <p:nvPr/>
        </p:nvSpPr>
        <p:spPr bwMode="auto">
          <a:xfrm>
            <a:off x="4625975" y="5027613"/>
            <a:ext cx="3317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4 conteneurs </a:t>
            </a:r>
            <a:br>
              <a:rPr lang="fr-FR" altLang="fr-FR" sz="2400">
                <a:solidFill>
                  <a:srgbClr val="0033CC"/>
                </a:solidFill>
              </a:rPr>
            </a:br>
            <a:r>
              <a:rPr lang="fr-FR" altLang="fr-FR">
                <a:solidFill>
                  <a:srgbClr val="0033CC"/>
                </a:solidFill>
              </a:rPr>
              <a:t>de pièces à renvoyer</a:t>
            </a:r>
            <a:r>
              <a:rPr lang="fr-FR" altLang="fr-FR"/>
              <a:t> </a:t>
            </a:r>
          </a:p>
        </p:txBody>
      </p:sp>
      <p:grpSp>
        <p:nvGrpSpPr>
          <p:cNvPr id="80904" name="Group 76"/>
          <p:cNvGrpSpPr>
            <a:grpSpLocks/>
          </p:cNvGrpSpPr>
          <p:nvPr/>
        </p:nvGrpSpPr>
        <p:grpSpPr bwMode="auto">
          <a:xfrm>
            <a:off x="1597025" y="3013075"/>
            <a:ext cx="2533650" cy="2660650"/>
            <a:chOff x="1006" y="1898"/>
            <a:chExt cx="1596" cy="1676"/>
          </a:xfrm>
        </p:grpSpPr>
        <p:sp>
          <p:nvSpPr>
            <p:cNvPr id="80905" name="AutoShape 77"/>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06" name="Oval 78"/>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07" name="AutoShape 79"/>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08" name="Oval 80"/>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09" name="Oval 81"/>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0" name="AutoShape 82"/>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1" name="Oval 83"/>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2" name="Oval 84"/>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3" name="Oval 85"/>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4" name="Oval 86"/>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5" name="AutoShape 87"/>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6" name="Oval 88"/>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7" name="Oval 89"/>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8" name="Oval 90"/>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19" name="Oval 91"/>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0" name="Oval 92"/>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1" name="AutoShape 93"/>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2" name="Oval 94"/>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3" name="Oval 95"/>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4" name="Oval 96"/>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5" name="AutoShape 97"/>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6" name="Oval 98"/>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7" name="Oval 99"/>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8" name="Oval 100"/>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29" name="Oval 101"/>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30" name="Oval 102"/>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0931" name="Oval 103"/>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1155700" y="776288"/>
            <a:ext cx="6496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Conditions de travail difficiles en raison de la forte chute de la température extérieure ( - 16°C)</a:t>
            </a:r>
          </a:p>
        </p:txBody>
      </p:sp>
      <p:sp>
        <p:nvSpPr>
          <p:cNvPr id="81923" name="Text Box 37"/>
          <p:cNvSpPr txBox="1">
            <a:spLocks noChangeArrowheads="1"/>
          </p:cNvSpPr>
          <p:nvPr/>
        </p:nvSpPr>
        <p:spPr bwMode="auto">
          <a:xfrm>
            <a:off x="4502150" y="30654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81924" name="Text Box 38"/>
          <p:cNvSpPr txBox="1">
            <a:spLocks noChangeArrowheads="1"/>
          </p:cNvSpPr>
          <p:nvPr/>
        </p:nvSpPr>
        <p:spPr bwMode="auto">
          <a:xfrm>
            <a:off x="8709025" y="6483350"/>
            <a:ext cx="4079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E6</a:t>
            </a:r>
          </a:p>
        </p:txBody>
      </p:sp>
      <p:sp>
        <p:nvSpPr>
          <p:cNvPr id="81925"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Tous</a:t>
            </a:r>
          </a:p>
        </p:txBody>
      </p:sp>
      <p:sp>
        <p:nvSpPr>
          <p:cNvPr id="81926" name="Text Box 40"/>
          <p:cNvSpPr txBox="1">
            <a:spLocks noChangeArrowheads="1"/>
          </p:cNvSpPr>
          <p:nvPr/>
        </p:nvSpPr>
        <p:spPr bwMode="auto">
          <a:xfrm>
            <a:off x="4749800" y="4008438"/>
            <a:ext cx="293687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sur 2 postes de travail</a:t>
            </a:r>
          </a:p>
        </p:txBody>
      </p:sp>
      <p:sp>
        <p:nvSpPr>
          <p:cNvPr id="81927" name="Text Box 41"/>
          <p:cNvSpPr txBox="1">
            <a:spLocks noChangeArrowheads="1"/>
          </p:cNvSpPr>
          <p:nvPr/>
        </p:nvSpPr>
        <p:spPr bwMode="auto">
          <a:xfrm>
            <a:off x="4645025" y="5018088"/>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br>
              <a:rPr lang="fr-FR" altLang="fr-FR" sz="2400">
                <a:solidFill>
                  <a:srgbClr val="0033CC"/>
                </a:solidFill>
              </a:rPr>
            </a:br>
            <a:r>
              <a:rPr lang="fr-FR" altLang="fr-FR">
                <a:solidFill>
                  <a:srgbClr val="0033CC"/>
                </a:solidFill>
              </a:rPr>
              <a:t>de l’ensemble de l’usine</a:t>
            </a:r>
          </a:p>
        </p:txBody>
      </p:sp>
      <p:grpSp>
        <p:nvGrpSpPr>
          <p:cNvPr id="81928" name="Group 98"/>
          <p:cNvGrpSpPr>
            <a:grpSpLocks/>
          </p:cNvGrpSpPr>
          <p:nvPr/>
        </p:nvGrpSpPr>
        <p:grpSpPr bwMode="auto">
          <a:xfrm>
            <a:off x="1627188" y="3022600"/>
            <a:ext cx="2543175" cy="2660650"/>
            <a:chOff x="1025" y="1904"/>
            <a:chExt cx="1602" cy="1676"/>
          </a:xfrm>
        </p:grpSpPr>
        <p:sp>
          <p:nvSpPr>
            <p:cNvPr id="81929" name="AutoShape 99"/>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0" name="Oval 100"/>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1" name="AutoShape 101"/>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2" name="Oval 102"/>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3" name="Oval 103"/>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4" name="AutoShape 104"/>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5" name="Oval 105"/>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6" name="Oval 106"/>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7" name="Oval 107"/>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8" name="Oval 108"/>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39" name="AutoShape 109"/>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0" name="Oval 110"/>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1" name="Oval 111"/>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2" name="Oval 112"/>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3" name="Oval 113"/>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4" name="Oval 114"/>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5" name="AutoShape 115"/>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6" name="Oval 116"/>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7" name="Oval 117"/>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8" name="Oval 118"/>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49" name="AutoShape 119"/>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50" name="Oval 120"/>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51" name="Oval 121"/>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52" name="Oval 122"/>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53" name="Oval 123"/>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54" name="Oval 124"/>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1955" name="Oval 125"/>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844550" y="758825"/>
            <a:ext cx="726281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La matière en stock ne peut plus être utilisée du fait d’une modification du cahier des charges du client</a:t>
            </a:r>
          </a:p>
        </p:txBody>
      </p:sp>
      <p:sp>
        <p:nvSpPr>
          <p:cNvPr id="82947" name="Text Box 37"/>
          <p:cNvSpPr txBox="1">
            <a:spLocks noChangeArrowheads="1"/>
          </p:cNvSpPr>
          <p:nvPr/>
        </p:nvSpPr>
        <p:spPr bwMode="auto">
          <a:xfrm>
            <a:off x="4572000" y="3040063"/>
            <a:ext cx="330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82948" name="Text Box 38"/>
          <p:cNvSpPr txBox="1">
            <a:spLocks noChangeArrowheads="1"/>
          </p:cNvSpPr>
          <p:nvPr/>
        </p:nvSpPr>
        <p:spPr bwMode="auto">
          <a:xfrm>
            <a:off x="4770438" y="4151313"/>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82949" name="Text Box 39"/>
          <p:cNvSpPr txBox="1">
            <a:spLocks noChangeArrowheads="1"/>
          </p:cNvSpPr>
          <p:nvPr/>
        </p:nvSpPr>
        <p:spPr bwMode="auto">
          <a:xfrm>
            <a:off x="4579938" y="4913313"/>
            <a:ext cx="3286125"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 + </a:t>
            </a:r>
            <a:br>
              <a:rPr lang="fr-FR" altLang="fr-FR" sz="2400">
                <a:solidFill>
                  <a:srgbClr val="0033CC"/>
                </a:solidFill>
              </a:rPr>
            </a:br>
            <a:r>
              <a:rPr lang="fr-FR" altLang="fr-FR" sz="2400">
                <a:solidFill>
                  <a:srgbClr val="0033CC"/>
                </a:solidFill>
              </a:rPr>
              <a:t>2 conteneurs à reprendre</a:t>
            </a:r>
            <a:endParaRPr lang="fr-FR" altLang="fr-FR">
              <a:solidFill>
                <a:srgbClr val="0033CC"/>
              </a:solidFill>
            </a:endParaRPr>
          </a:p>
        </p:txBody>
      </p:sp>
      <p:sp>
        <p:nvSpPr>
          <p:cNvPr id="82950" name="Text Box 40"/>
          <p:cNvSpPr txBox="1">
            <a:spLocks noChangeArrowheads="1"/>
          </p:cNvSpPr>
          <p:nvPr/>
        </p:nvSpPr>
        <p:spPr bwMode="auto">
          <a:xfrm>
            <a:off x="8693150" y="646430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Q6</a:t>
            </a:r>
          </a:p>
        </p:txBody>
      </p:sp>
      <p:sp>
        <p:nvSpPr>
          <p:cNvPr id="82951"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A)</a:t>
            </a:r>
          </a:p>
        </p:txBody>
      </p:sp>
      <p:grpSp>
        <p:nvGrpSpPr>
          <p:cNvPr id="82952" name="Group 42"/>
          <p:cNvGrpSpPr>
            <a:grpSpLocks/>
          </p:cNvGrpSpPr>
          <p:nvPr/>
        </p:nvGrpSpPr>
        <p:grpSpPr bwMode="auto">
          <a:xfrm>
            <a:off x="1597025" y="3013075"/>
            <a:ext cx="2533650" cy="2660650"/>
            <a:chOff x="1006" y="1898"/>
            <a:chExt cx="1596" cy="1676"/>
          </a:xfrm>
        </p:grpSpPr>
        <p:sp>
          <p:nvSpPr>
            <p:cNvPr id="82953"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54"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55"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56"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57"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58"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59"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0"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1"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2"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3"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4"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5"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6"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7"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8"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69"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0"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1"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2"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3"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4"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5"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6"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7"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8"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2979"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936625" y="862013"/>
            <a:ext cx="72771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Arrêt machine, élévation de la température</a:t>
            </a:r>
            <a:br>
              <a:rPr lang="fr-FR" altLang="fr-FR" sz="2200">
                <a:solidFill>
                  <a:srgbClr val="FF3300"/>
                </a:solidFill>
              </a:rPr>
            </a:br>
            <a:r>
              <a:rPr lang="fr-FR" altLang="fr-FR" sz="2200">
                <a:solidFill>
                  <a:srgbClr val="FF3300"/>
                </a:solidFill>
              </a:rPr>
              <a:t>dans l’armoire de commande.</a:t>
            </a:r>
          </a:p>
        </p:txBody>
      </p:sp>
      <p:sp>
        <p:nvSpPr>
          <p:cNvPr id="83971" name="Text Box 37"/>
          <p:cNvSpPr txBox="1">
            <a:spLocks noChangeArrowheads="1"/>
          </p:cNvSpPr>
          <p:nvPr/>
        </p:nvSpPr>
        <p:spPr bwMode="auto">
          <a:xfrm>
            <a:off x="4578350" y="3103563"/>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1 heure d’arrêt</a:t>
            </a:r>
            <a:endParaRPr lang="fr-FR" altLang="fr-FR" sz="1700">
              <a:solidFill>
                <a:srgbClr val="0033CC"/>
              </a:solidFill>
            </a:endParaRPr>
          </a:p>
        </p:txBody>
      </p:sp>
      <p:sp>
        <p:nvSpPr>
          <p:cNvPr id="83972" name="Text Box 38"/>
          <p:cNvSpPr txBox="1">
            <a:spLocks noChangeArrowheads="1"/>
          </p:cNvSpPr>
          <p:nvPr/>
        </p:nvSpPr>
        <p:spPr bwMode="auto">
          <a:xfrm>
            <a:off x="8559800"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P21</a:t>
            </a:r>
          </a:p>
        </p:txBody>
      </p:sp>
      <p:sp>
        <p:nvSpPr>
          <p:cNvPr id="83973"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sp>
        <p:nvSpPr>
          <p:cNvPr id="83974" name="Text Box 40"/>
          <p:cNvSpPr txBox="1">
            <a:spLocks noChangeArrowheads="1"/>
          </p:cNvSpPr>
          <p:nvPr/>
        </p:nvSpPr>
        <p:spPr bwMode="auto">
          <a:xfrm>
            <a:off x="4568825" y="417036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2 heures d’arrêt</a:t>
            </a:r>
            <a:endParaRPr lang="fr-FR" altLang="fr-FR">
              <a:solidFill>
                <a:srgbClr val="0033CC"/>
              </a:solidFill>
            </a:endParaRPr>
          </a:p>
        </p:txBody>
      </p:sp>
      <p:sp>
        <p:nvSpPr>
          <p:cNvPr id="83975" name="Text Box 41"/>
          <p:cNvSpPr txBox="1">
            <a:spLocks noChangeArrowheads="1"/>
          </p:cNvSpPr>
          <p:nvPr/>
        </p:nvSpPr>
        <p:spPr bwMode="auto">
          <a:xfrm>
            <a:off x="4645025" y="4903788"/>
            <a:ext cx="31845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p>
          <a:p>
            <a:pPr eaLnBrk="1" hangingPunct="1"/>
            <a:r>
              <a:rPr lang="fr-FR" altLang="fr-FR">
                <a:solidFill>
                  <a:srgbClr val="0033CC"/>
                </a:solidFill>
              </a:rPr>
              <a:t>et 1 conteneur de pièces usinées à rebuter</a:t>
            </a:r>
          </a:p>
        </p:txBody>
      </p:sp>
      <p:grpSp>
        <p:nvGrpSpPr>
          <p:cNvPr id="83976" name="Group 42"/>
          <p:cNvGrpSpPr>
            <a:grpSpLocks/>
          </p:cNvGrpSpPr>
          <p:nvPr/>
        </p:nvGrpSpPr>
        <p:grpSpPr bwMode="auto">
          <a:xfrm>
            <a:off x="2092325" y="3008313"/>
            <a:ext cx="1552575" cy="2671762"/>
            <a:chOff x="1318" y="1895"/>
            <a:chExt cx="978" cy="1683"/>
          </a:xfrm>
        </p:grpSpPr>
        <p:sp>
          <p:nvSpPr>
            <p:cNvPr id="83977"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78"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79"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0"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1"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2"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3"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4"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5"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6"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7"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8"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89"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0"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1"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2"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3"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4"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5"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6"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7"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8"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3999"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4000"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4001"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4002"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4003"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796925" y="835025"/>
            <a:ext cx="7624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La machine s’est déréglée</a:t>
            </a:r>
          </a:p>
        </p:txBody>
      </p:sp>
      <p:sp>
        <p:nvSpPr>
          <p:cNvPr id="84995" name="Text Box 37"/>
          <p:cNvSpPr txBox="1">
            <a:spLocks noChangeArrowheads="1"/>
          </p:cNvSpPr>
          <p:nvPr/>
        </p:nvSpPr>
        <p:spPr bwMode="auto">
          <a:xfrm>
            <a:off x="4572000" y="3049588"/>
            <a:ext cx="330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84996" name="Text Box 38"/>
          <p:cNvSpPr txBox="1">
            <a:spLocks noChangeArrowheads="1"/>
          </p:cNvSpPr>
          <p:nvPr/>
        </p:nvSpPr>
        <p:spPr bwMode="auto">
          <a:xfrm>
            <a:off x="5106988" y="4103688"/>
            <a:ext cx="2320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endParaRPr lang="fr-FR" altLang="fr-FR">
              <a:solidFill>
                <a:srgbClr val="0033CC"/>
              </a:solidFill>
            </a:endParaRPr>
          </a:p>
        </p:txBody>
      </p:sp>
      <p:sp>
        <p:nvSpPr>
          <p:cNvPr id="84997" name="Text Box 39"/>
          <p:cNvSpPr txBox="1">
            <a:spLocks noChangeArrowheads="1"/>
          </p:cNvSpPr>
          <p:nvPr/>
        </p:nvSpPr>
        <p:spPr bwMode="auto">
          <a:xfrm>
            <a:off x="4673600" y="5191125"/>
            <a:ext cx="3190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3 heures d’arrêt</a:t>
            </a:r>
            <a:endParaRPr lang="fr-FR" altLang="fr-FR">
              <a:solidFill>
                <a:srgbClr val="0033CC"/>
              </a:solidFill>
            </a:endParaRPr>
          </a:p>
        </p:txBody>
      </p:sp>
      <p:sp>
        <p:nvSpPr>
          <p:cNvPr id="84998" name="Text Box 40"/>
          <p:cNvSpPr txBox="1">
            <a:spLocks noChangeArrowheads="1"/>
          </p:cNvSpPr>
          <p:nvPr/>
        </p:nvSpPr>
        <p:spPr bwMode="auto">
          <a:xfrm>
            <a:off x="8693150" y="6464300"/>
            <a:ext cx="4413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Q3</a:t>
            </a:r>
          </a:p>
        </p:txBody>
      </p:sp>
      <p:sp>
        <p:nvSpPr>
          <p:cNvPr id="84999" name="Text Box 41"/>
          <p:cNvSpPr txBox="1">
            <a:spLocks noChangeArrowheads="1"/>
          </p:cNvSpPr>
          <p:nvPr/>
        </p:nvSpPr>
        <p:spPr bwMode="auto">
          <a:xfrm>
            <a:off x="2659063" y="21812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grpSp>
        <p:nvGrpSpPr>
          <p:cNvPr id="85000" name="Group 42"/>
          <p:cNvGrpSpPr>
            <a:grpSpLocks/>
          </p:cNvGrpSpPr>
          <p:nvPr/>
        </p:nvGrpSpPr>
        <p:grpSpPr bwMode="auto">
          <a:xfrm>
            <a:off x="1597025" y="3013075"/>
            <a:ext cx="2533650" cy="2660650"/>
            <a:chOff x="1006" y="1898"/>
            <a:chExt cx="1596" cy="1676"/>
          </a:xfrm>
        </p:grpSpPr>
        <p:sp>
          <p:nvSpPr>
            <p:cNvPr id="85001" name="AutoShape 43"/>
            <p:cNvSpPr>
              <a:spLocks noChangeArrowheads="1"/>
            </p:cNvSpPr>
            <p:nvPr/>
          </p:nvSpPr>
          <p:spPr bwMode="auto">
            <a:xfrm>
              <a:off x="1295" y="189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2" name="Oval 44"/>
            <p:cNvSpPr>
              <a:spLocks noChangeArrowheads="1"/>
            </p:cNvSpPr>
            <p:nvPr/>
          </p:nvSpPr>
          <p:spPr bwMode="auto">
            <a:xfrm>
              <a:off x="1428" y="20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3" name="AutoShape 45"/>
            <p:cNvSpPr>
              <a:spLocks noChangeArrowheads="1"/>
            </p:cNvSpPr>
            <p:nvPr/>
          </p:nvSpPr>
          <p:spPr bwMode="auto">
            <a:xfrm>
              <a:off x="1975" y="189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4" name="Oval 46"/>
            <p:cNvSpPr>
              <a:spLocks noChangeArrowheads="1"/>
            </p:cNvSpPr>
            <p:nvPr/>
          </p:nvSpPr>
          <p:spPr bwMode="auto">
            <a:xfrm>
              <a:off x="2039" y="210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5" name="Oval 47"/>
            <p:cNvSpPr>
              <a:spLocks noChangeArrowheads="1"/>
            </p:cNvSpPr>
            <p:nvPr/>
          </p:nvSpPr>
          <p:spPr bwMode="auto">
            <a:xfrm>
              <a:off x="2177" y="195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6" name="AutoShape 48"/>
            <p:cNvSpPr>
              <a:spLocks noChangeArrowheads="1"/>
            </p:cNvSpPr>
            <p:nvPr/>
          </p:nvSpPr>
          <p:spPr bwMode="auto">
            <a:xfrm>
              <a:off x="1613"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7" name="Oval 49"/>
            <p:cNvSpPr>
              <a:spLocks noChangeArrowheads="1"/>
            </p:cNvSpPr>
            <p:nvPr/>
          </p:nvSpPr>
          <p:spPr bwMode="auto">
            <a:xfrm>
              <a:off x="1677"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8" name="Oval 50"/>
            <p:cNvSpPr>
              <a:spLocks noChangeArrowheads="1"/>
            </p:cNvSpPr>
            <p:nvPr/>
          </p:nvSpPr>
          <p:spPr bwMode="auto">
            <a:xfrm>
              <a:off x="1815"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09" name="Oval 51"/>
            <p:cNvSpPr>
              <a:spLocks noChangeArrowheads="1"/>
            </p:cNvSpPr>
            <p:nvPr/>
          </p:nvSpPr>
          <p:spPr bwMode="auto">
            <a:xfrm>
              <a:off x="1821"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0" name="Oval 52"/>
            <p:cNvSpPr>
              <a:spLocks noChangeArrowheads="1"/>
            </p:cNvSpPr>
            <p:nvPr/>
          </p:nvSpPr>
          <p:spPr bwMode="auto">
            <a:xfrm>
              <a:off x="1674"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1" name="AutoShape 53"/>
            <p:cNvSpPr>
              <a:spLocks noChangeArrowheads="1"/>
            </p:cNvSpPr>
            <p:nvPr/>
          </p:nvSpPr>
          <p:spPr bwMode="auto">
            <a:xfrm>
              <a:off x="2281"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2" name="Oval 54"/>
            <p:cNvSpPr>
              <a:spLocks noChangeArrowheads="1"/>
            </p:cNvSpPr>
            <p:nvPr/>
          </p:nvSpPr>
          <p:spPr bwMode="auto">
            <a:xfrm>
              <a:off x="2345"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3" name="Oval 55"/>
            <p:cNvSpPr>
              <a:spLocks noChangeArrowheads="1"/>
            </p:cNvSpPr>
            <p:nvPr/>
          </p:nvSpPr>
          <p:spPr bwMode="auto">
            <a:xfrm>
              <a:off x="2483"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4" name="Oval 56"/>
            <p:cNvSpPr>
              <a:spLocks noChangeArrowheads="1"/>
            </p:cNvSpPr>
            <p:nvPr/>
          </p:nvSpPr>
          <p:spPr bwMode="auto">
            <a:xfrm>
              <a:off x="2489" y="278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5" name="Oval 57"/>
            <p:cNvSpPr>
              <a:spLocks noChangeArrowheads="1"/>
            </p:cNvSpPr>
            <p:nvPr/>
          </p:nvSpPr>
          <p:spPr bwMode="auto">
            <a:xfrm>
              <a:off x="2342" y="26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6" name="Oval 58"/>
            <p:cNvSpPr>
              <a:spLocks noChangeArrowheads="1"/>
            </p:cNvSpPr>
            <p:nvPr/>
          </p:nvSpPr>
          <p:spPr bwMode="auto">
            <a:xfrm>
              <a:off x="2414" y="271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7" name="AutoShape 59"/>
            <p:cNvSpPr>
              <a:spLocks noChangeArrowheads="1"/>
            </p:cNvSpPr>
            <p:nvPr/>
          </p:nvSpPr>
          <p:spPr bwMode="auto">
            <a:xfrm>
              <a:off x="1006" y="257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8" name="Oval 60"/>
            <p:cNvSpPr>
              <a:spLocks noChangeArrowheads="1"/>
            </p:cNvSpPr>
            <p:nvPr/>
          </p:nvSpPr>
          <p:spPr bwMode="auto">
            <a:xfrm>
              <a:off x="1070" y="27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19" name="Oval 61"/>
            <p:cNvSpPr>
              <a:spLocks noChangeArrowheads="1"/>
            </p:cNvSpPr>
            <p:nvPr/>
          </p:nvSpPr>
          <p:spPr bwMode="auto">
            <a:xfrm>
              <a:off x="1208" y="263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0" name="Oval 62"/>
            <p:cNvSpPr>
              <a:spLocks noChangeArrowheads="1"/>
            </p:cNvSpPr>
            <p:nvPr/>
          </p:nvSpPr>
          <p:spPr bwMode="auto">
            <a:xfrm>
              <a:off x="1136" y="27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1" name="AutoShape 63"/>
            <p:cNvSpPr>
              <a:spLocks noChangeArrowheads="1"/>
            </p:cNvSpPr>
            <p:nvPr/>
          </p:nvSpPr>
          <p:spPr bwMode="auto">
            <a:xfrm>
              <a:off x="1614" y="3253"/>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2" name="Oval 64"/>
            <p:cNvSpPr>
              <a:spLocks noChangeArrowheads="1"/>
            </p:cNvSpPr>
            <p:nvPr/>
          </p:nvSpPr>
          <p:spPr bwMode="auto">
            <a:xfrm>
              <a:off x="1678" y="347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3" name="Oval 65"/>
            <p:cNvSpPr>
              <a:spLocks noChangeArrowheads="1"/>
            </p:cNvSpPr>
            <p:nvPr/>
          </p:nvSpPr>
          <p:spPr bwMode="auto">
            <a:xfrm>
              <a:off x="1816"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4" name="Oval 66"/>
            <p:cNvSpPr>
              <a:spLocks noChangeArrowheads="1"/>
            </p:cNvSpPr>
            <p:nvPr/>
          </p:nvSpPr>
          <p:spPr bwMode="auto">
            <a:xfrm>
              <a:off x="1822" y="346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5" name="Oval 67"/>
            <p:cNvSpPr>
              <a:spLocks noChangeArrowheads="1"/>
            </p:cNvSpPr>
            <p:nvPr/>
          </p:nvSpPr>
          <p:spPr bwMode="auto">
            <a:xfrm>
              <a:off x="1675" y="32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6" name="Oval 68"/>
            <p:cNvSpPr>
              <a:spLocks noChangeArrowheads="1"/>
            </p:cNvSpPr>
            <p:nvPr/>
          </p:nvSpPr>
          <p:spPr bwMode="auto">
            <a:xfrm>
              <a:off x="1675" y="338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5027" name="Oval 69"/>
            <p:cNvSpPr>
              <a:spLocks noChangeArrowheads="1"/>
            </p:cNvSpPr>
            <p:nvPr/>
          </p:nvSpPr>
          <p:spPr bwMode="auto">
            <a:xfrm>
              <a:off x="1819" y="338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1279525" y="881063"/>
            <a:ext cx="64960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Panne machine, micro-rupteur hors service </a:t>
            </a:r>
          </a:p>
        </p:txBody>
      </p:sp>
      <p:sp>
        <p:nvSpPr>
          <p:cNvPr id="86019" name="Text Box 37"/>
          <p:cNvSpPr txBox="1">
            <a:spLocks noChangeArrowheads="1"/>
          </p:cNvSpPr>
          <p:nvPr/>
        </p:nvSpPr>
        <p:spPr bwMode="auto">
          <a:xfrm>
            <a:off x="4568825" y="30178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a:solidFill>
                <a:srgbClr val="0033CC"/>
              </a:solidFill>
            </a:endParaRPr>
          </a:p>
        </p:txBody>
      </p:sp>
      <p:sp>
        <p:nvSpPr>
          <p:cNvPr id="86020" name="Text Box 38"/>
          <p:cNvSpPr txBox="1">
            <a:spLocks noChangeArrowheads="1"/>
          </p:cNvSpPr>
          <p:nvPr/>
        </p:nvSpPr>
        <p:spPr bwMode="auto">
          <a:xfrm>
            <a:off x="8710613" y="6483350"/>
            <a:ext cx="4079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P5</a:t>
            </a:r>
          </a:p>
        </p:txBody>
      </p:sp>
      <p:sp>
        <p:nvSpPr>
          <p:cNvPr id="86021" name="Text Box 39"/>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Engrenages</a:t>
            </a:r>
          </a:p>
        </p:txBody>
      </p:sp>
      <p:sp>
        <p:nvSpPr>
          <p:cNvPr id="86022" name="Text Box 40"/>
          <p:cNvSpPr txBox="1">
            <a:spLocks noChangeArrowheads="1"/>
          </p:cNvSpPr>
          <p:nvPr/>
        </p:nvSpPr>
        <p:spPr bwMode="auto">
          <a:xfrm>
            <a:off x="4559300" y="4151313"/>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endParaRPr lang="fr-FR" altLang="fr-FR">
              <a:solidFill>
                <a:srgbClr val="0033CC"/>
              </a:solidFill>
            </a:endParaRPr>
          </a:p>
        </p:txBody>
      </p:sp>
      <p:sp>
        <p:nvSpPr>
          <p:cNvPr id="86023" name="Text Box 41"/>
          <p:cNvSpPr txBox="1">
            <a:spLocks noChangeArrowheads="1"/>
          </p:cNvSpPr>
          <p:nvPr/>
        </p:nvSpPr>
        <p:spPr bwMode="auto">
          <a:xfrm>
            <a:off x="4597400" y="5189538"/>
            <a:ext cx="318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5 heures d’arrêt</a:t>
            </a:r>
            <a:endParaRPr lang="fr-FR" altLang="fr-FR">
              <a:solidFill>
                <a:srgbClr val="0033CC"/>
              </a:solidFill>
            </a:endParaRPr>
          </a:p>
        </p:txBody>
      </p:sp>
      <p:grpSp>
        <p:nvGrpSpPr>
          <p:cNvPr id="86024" name="Group 42"/>
          <p:cNvGrpSpPr>
            <a:grpSpLocks/>
          </p:cNvGrpSpPr>
          <p:nvPr/>
        </p:nvGrpSpPr>
        <p:grpSpPr bwMode="auto">
          <a:xfrm>
            <a:off x="2092325" y="3008313"/>
            <a:ext cx="1552575" cy="2671762"/>
            <a:chOff x="1318" y="1895"/>
            <a:chExt cx="978" cy="1683"/>
          </a:xfrm>
        </p:grpSpPr>
        <p:sp>
          <p:nvSpPr>
            <p:cNvPr id="86025" name="AutoShape 43"/>
            <p:cNvSpPr>
              <a:spLocks noChangeArrowheads="1"/>
            </p:cNvSpPr>
            <p:nvPr/>
          </p:nvSpPr>
          <p:spPr bwMode="auto">
            <a:xfrm>
              <a:off x="1319" y="18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26" name="Oval 44"/>
            <p:cNvSpPr>
              <a:spLocks noChangeArrowheads="1"/>
            </p:cNvSpPr>
            <p:nvPr/>
          </p:nvSpPr>
          <p:spPr bwMode="auto">
            <a:xfrm>
              <a:off x="1452" y="202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27" name="AutoShape 45"/>
            <p:cNvSpPr>
              <a:spLocks noChangeArrowheads="1"/>
            </p:cNvSpPr>
            <p:nvPr/>
          </p:nvSpPr>
          <p:spPr bwMode="auto">
            <a:xfrm>
              <a:off x="1974" y="1896"/>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28" name="Oval 46"/>
            <p:cNvSpPr>
              <a:spLocks noChangeArrowheads="1"/>
            </p:cNvSpPr>
            <p:nvPr/>
          </p:nvSpPr>
          <p:spPr bwMode="auto">
            <a:xfrm>
              <a:off x="2038" y="210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29" name="Oval 47"/>
            <p:cNvSpPr>
              <a:spLocks noChangeArrowheads="1"/>
            </p:cNvSpPr>
            <p:nvPr/>
          </p:nvSpPr>
          <p:spPr bwMode="auto">
            <a:xfrm>
              <a:off x="2176" y="195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0" name="AutoShape 48"/>
            <p:cNvSpPr>
              <a:spLocks noChangeArrowheads="1"/>
            </p:cNvSpPr>
            <p:nvPr/>
          </p:nvSpPr>
          <p:spPr bwMode="auto">
            <a:xfrm>
              <a:off x="1975" y="259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1" name="Oval 49"/>
            <p:cNvSpPr>
              <a:spLocks noChangeArrowheads="1"/>
            </p:cNvSpPr>
            <p:nvPr/>
          </p:nvSpPr>
          <p:spPr bwMode="auto">
            <a:xfrm>
              <a:off x="2039" y="280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2" name="Oval 50"/>
            <p:cNvSpPr>
              <a:spLocks noChangeArrowheads="1"/>
            </p:cNvSpPr>
            <p:nvPr/>
          </p:nvSpPr>
          <p:spPr bwMode="auto">
            <a:xfrm>
              <a:off x="2177"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3" name="Oval 51"/>
            <p:cNvSpPr>
              <a:spLocks noChangeArrowheads="1"/>
            </p:cNvSpPr>
            <p:nvPr/>
          </p:nvSpPr>
          <p:spPr bwMode="auto">
            <a:xfrm>
              <a:off x="2183" y="279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4" name="Oval 52"/>
            <p:cNvSpPr>
              <a:spLocks noChangeArrowheads="1"/>
            </p:cNvSpPr>
            <p:nvPr/>
          </p:nvSpPr>
          <p:spPr bwMode="auto">
            <a:xfrm>
              <a:off x="2036" y="265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5" name="AutoShape 53"/>
            <p:cNvSpPr>
              <a:spLocks noChangeArrowheads="1"/>
            </p:cNvSpPr>
            <p:nvPr/>
          </p:nvSpPr>
          <p:spPr bwMode="auto">
            <a:xfrm>
              <a:off x="1319"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6" name="Oval 54"/>
            <p:cNvSpPr>
              <a:spLocks noChangeArrowheads="1"/>
            </p:cNvSpPr>
            <p:nvPr/>
          </p:nvSpPr>
          <p:spPr bwMode="auto">
            <a:xfrm>
              <a:off x="1383" y="346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7" name="Oval 55"/>
            <p:cNvSpPr>
              <a:spLocks noChangeArrowheads="1"/>
            </p:cNvSpPr>
            <p:nvPr/>
          </p:nvSpPr>
          <p:spPr bwMode="auto">
            <a:xfrm>
              <a:off x="1521" y="3317"/>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8" name="Oval 56"/>
            <p:cNvSpPr>
              <a:spLocks noChangeArrowheads="1"/>
            </p:cNvSpPr>
            <p:nvPr/>
          </p:nvSpPr>
          <p:spPr bwMode="auto">
            <a:xfrm>
              <a:off x="1527" y="346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39" name="Oval 57"/>
            <p:cNvSpPr>
              <a:spLocks noChangeArrowheads="1"/>
            </p:cNvSpPr>
            <p:nvPr/>
          </p:nvSpPr>
          <p:spPr bwMode="auto">
            <a:xfrm>
              <a:off x="1380" y="331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0" name="Oval 58"/>
            <p:cNvSpPr>
              <a:spLocks noChangeArrowheads="1"/>
            </p:cNvSpPr>
            <p:nvPr/>
          </p:nvSpPr>
          <p:spPr bwMode="auto">
            <a:xfrm>
              <a:off x="1452"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1" name="AutoShape 59"/>
            <p:cNvSpPr>
              <a:spLocks noChangeArrowheads="1"/>
            </p:cNvSpPr>
            <p:nvPr/>
          </p:nvSpPr>
          <p:spPr bwMode="auto">
            <a:xfrm>
              <a:off x="1318" y="259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2" name="Oval 60"/>
            <p:cNvSpPr>
              <a:spLocks noChangeArrowheads="1"/>
            </p:cNvSpPr>
            <p:nvPr/>
          </p:nvSpPr>
          <p:spPr bwMode="auto">
            <a:xfrm>
              <a:off x="1382" y="28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3" name="Oval 61"/>
            <p:cNvSpPr>
              <a:spLocks noChangeArrowheads="1"/>
            </p:cNvSpPr>
            <p:nvPr/>
          </p:nvSpPr>
          <p:spPr bwMode="auto">
            <a:xfrm>
              <a:off x="1520" y="265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4" name="Oval 62"/>
            <p:cNvSpPr>
              <a:spLocks noChangeArrowheads="1"/>
            </p:cNvSpPr>
            <p:nvPr/>
          </p:nvSpPr>
          <p:spPr bwMode="auto">
            <a:xfrm>
              <a:off x="1448" y="273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5" name="AutoShape 63"/>
            <p:cNvSpPr>
              <a:spLocks noChangeArrowheads="1"/>
            </p:cNvSpPr>
            <p:nvPr/>
          </p:nvSpPr>
          <p:spPr bwMode="auto">
            <a:xfrm>
              <a:off x="1975" y="3257"/>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6" name="Oval 64"/>
            <p:cNvSpPr>
              <a:spLocks noChangeArrowheads="1"/>
            </p:cNvSpPr>
            <p:nvPr/>
          </p:nvSpPr>
          <p:spPr bwMode="auto">
            <a:xfrm>
              <a:off x="2039" y="347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7" name="Oval 65"/>
            <p:cNvSpPr>
              <a:spLocks noChangeArrowheads="1"/>
            </p:cNvSpPr>
            <p:nvPr/>
          </p:nvSpPr>
          <p:spPr bwMode="auto">
            <a:xfrm>
              <a:off x="2177"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8" name="Oval 66"/>
            <p:cNvSpPr>
              <a:spLocks noChangeArrowheads="1"/>
            </p:cNvSpPr>
            <p:nvPr/>
          </p:nvSpPr>
          <p:spPr bwMode="auto">
            <a:xfrm>
              <a:off x="2183" y="347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49" name="Oval 67"/>
            <p:cNvSpPr>
              <a:spLocks noChangeArrowheads="1"/>
            </p:cNvSpPr>
            <p:nvPr/>
          </p:nvSpPr>
          <p:spPr bwMode="auto">
            <a:xfrm>
              <a:off x="2036" y="330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50" name="Oval 68"/>
            <p:cNvSpPr>
              <a:spLocks noChangeArrowheads="1"/>
            </p:cNvSpPr>
            <p:nvPr/>
          </p:nvSpPr>
          <p:spPr bwMode="auto">
            <a:xfrm>
              <a:off x="2036" y="338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6051" name="Oval 69"/>
            <p:cNvSpPr>
              <a:spLocks noChangeArrowheads="1"/>
            </p:cNvSpPr>
            <p:nvPr/>
          </p:nvSpPr>
          <p:spPr bwMode="auto">
            <a:xfrm>
              <a:off x="2180" y="338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1155700" y="776288"/>
            <a:ext cx="6496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FF3300"/>
                </a:solidFill>
              </a:rPr>
              <a:t>Accident du travail : l’opérateur a reçu un éclat dans l’œil.</a:t>
            </a:r>
          </a:p>
        </p:txBody>
      </p:sp>
      <p:sp>
        <p:nvSpPr>
          <p:cNvPr id="87043" name="Text Box 3"/>
          <p:cNvSpPr txBox="1">
            <a:spLocks noChangeArrowheads="1"/>
          </p:cNvSpPr>
          <p:nvPr/>
        </p:nvSpPr>
        <p:spPr bwMode="auto">
          <a:xfrm>
            <a:off x="4559300" y="3017838"/>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Pas d’arrêt</a:t>
            </a:r>
            <a:endParaRPr lang="fr-FR" altLang="fr-FR" sz="1600">
              <a:solidFill>
                <a:srgbClr val="0033CC"/>
              </a:solidFill>
            </a:endParaRPr>
          </a:p>
        </p:txBody>
      </p:sp>
      <p:sp>
        <p:nvSpPr>
          <p:cNvPr id="87044" name="Text Box 4"/>
          <p:cNvSpPr txBox="1">
            <a:spLocks noChangeArrowheads="1"/>
          </p:cNvSpPr>
          <p:nvPr/>
        </p:nvSpPr>
        <p:spPr bwMode="auto">
          <a:xfrm>
            <a:off x="8567738" y="6483350"/>
            <a:ext cx="5778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nchorCtr="1">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b="1">
                <a:solidFill>
                  <a:schemeClr val="bg1"/>
                </a:solidFill>
              </a:rPr>
              <a:t>E15</a:t>
            </a:r>
          </a:p>
        </p:txBody>
      </p:sp>
      <p:sp>
        <p:nvSpPr>
          <p:cNvPr id="87045" name="Text Box 5"/>
          <p:cNvSpPr txBox="1">
            <a:spLocks noChangeArrowheads="1"/>
          </p:cNvSpPr>
          <p:nvPr/>
        </p:nvSpPr>
        <p:spPr bwMode="auto">
          <a:xfrm>
            <a:off x="2649538" y="2219325"/>
            <a:ext cx="38179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fr-FR" altLang="fr-FR" sz="2200">
                <a:solidFill>
                  <a:srgbClr val="0033CC"/>
                </a:solidFill>
              </a:rPr>
              <a:t>Couronnes (phase B)</a:t>
            </a:r>
          </a:p>
        </p:txBody>
      </p:sp>
      <p:sp>
        <p:nvSpPr>
          <p:cNvPr id="87046" name="Text Box 6"/>
          <p:cNvSpPr txBox="1">
            <a:spLocks noChangeArrowheads="1"/>
          </p:cNvSpPr>
          <p:nvPr/>
        </p:nvSpPr>
        <p:spPr bwMode="auto">
          <a:xfrm>
            <a:off x="4568825" y="4160838"/>
            <a:ext cx="3317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lnSpc>
                <a:spcPct val="90000"/>
              </a:lnSpc>
            </a:pPr>
            <a:r>
              <a:rPr lang="fr-FR" altLang="fr-FR" sz="2400">
                <a:solidFill>
                  <a:srgbClr val="0033CC"/>
                </a:solidFill>
              </a:rPr>
              <a:t>1 heure d’arrêt</a:t>
            </a:r>
            <a:endParaRPr lang="fr-FR" altLang="fr-FR">
              <a:solidFill>
                <a:srgbClr val="0033CC"/>
              </a:solidFill>
            </a:endParaRPr>
          </a:p>
        </p:txBody>
      </p:sp>
      <p:sp>
        <p:nvSpPr>
          <p:cNvPr id="87047" name="Text Box 7"/>
          <p:cNvSpPr txBox="1">
            <a:spLocks noChangeArrowheads="1"/>
          </p:cNvSpPr>
          <p:nvPr/>
        </p:nvSpPr>
        <p:spPr bwMode="auto">
          <a:xfrm>
            <a:off x="4616450" y="5056188"/>
            <a:ext cx="31845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fr-FR" altLang="fr-FR" sz="2400">
                <a:solidFill>
                  <a:srgbClr val="0033CC"/>
                </a:solidFill>
              </a:rPr>
              <a:t>2 heures d’arrêt</a:t>
            </a:r>
          </a:p>
          <a:p>
            <a:pPr eaLnBrk="1" hangingPunct="1"/>
            <a:r>
              <a:rPr lang="fr-FR" altLang="fr-FR" sz="2000">
                <a:solidFill>
                  <a:srgbClr val="0033CC"/>
                </a:solidFill>
              </a:rPr>
              <a:t>+ 1 conteneur rebuté</a:t>
            </a:r>
          </a:p>
        </p:txBody>
      </p:sp>
      <p:grpSp>
        <p:nvGrpSpPr>
          <p:cNvPr id="87048" name="Group 43"/>
          <p:cNvGrpSpPr>
            <a:grpSpLocks/>
          </p:cNvGrpSpPr>
          <p:nvPr/>
        </p:nvGrpSpPr>
        <p:grpSpPr bwMode="auto">
          <a:xfrm>
            <a:off x="1627188" y="3022600"/>
            <a:ext cx="2543175" cy="2660650"/>
            <a:chOff x="1025" y="1904"/>
            <a:chExt cx="1602" cy="1676"/>
          </a:xfrm>
        </p:grpSpPr>
        <p:sp>
          <p:nvSpPr>
            <p:cNvPr id="87049" name="AutoShape 44"/>
            <p:cNvSpPr>
              <a:spLocks noChangeArrowheads="1"/>
            </p:cNvSpPr>
            <p:nvPr/>
          </p:nvSpPr>
          <p:spPr bwMode="auto">
            <a:xfrm>
              <a:off x="1025" y="1904"/>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0" name="Oval 45"/>
            <p:cNvSpPr>
              <a:spLocks noChangeArrowheads="1"/>
            </p:cNvSpPr>
            <p:nvPr/>
          </p:nvSpPr>
          <p:spPr bwMode="auto">
            <a:xfrm>
              <a:off x="1158" y="203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1" name="AutoShape 46"/>
            <p:cNvSpPr>
              <a:spLocks noChangeArrowheads="1"/>
            </p:cNvSpPr>
            <p:nvPr/>
          </p:nvSpPr>
          <p:spPr bwMode="auto">
            <a:xfrm>
              <a:off x="1665"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2" name="Oval 47"/>
            <p:cNvSpPr>
              <a:spLocks noChangeArrowheads="1"/>
            </p:cNvSpPr>
            <p:nvPr/>
          </p:nvSpPr>
          <p:spPr bwMode="auto">
            <a:xfrm>
              <a:off x="1729"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3" name="Oval 48"/>
            <p:cNvSpPr>
              <a:spLocks noChangeArrowheads="1"/>
            </p:cNvSpPr>
            <p:nvPr/>
          </p:nvSpPr>
          <p:spPr bwMode="auto">
            <a:xfrm>
              <a:off x="1867"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4" name="AutoShape 49"/>
            <p:cNvSpPr>
              <a:spLocks noChangeArrowheads="1"/>
            </p:cNvSpPr>
            <p:nvPr/>
          </p:nvSpPr>
          <p:spPr bwMode="auto">
            <a:xfrm>
              <a:off x="1331" y="2588"/>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5" name="Oval 50"/>
            <p:cNvSpPr>
              <a:spLocks noChangeArrowheads="1"/>
            </p:cNvSpPr>
            <p:nvPr/>
          </p:nvSpPr>
          <p:spPr bwMode="auto">
            <a:xfrm>
              <a:off x="1395" y="279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6" name="Oval 51"/>
            <p:cNvSpPr>
              <a:spLocks noChangeArrowheads="1"/>
            </p:cNvSpPr>
            <p:nvPr/>
          </p:nvSpPr>
          <p:spPr bwMode="auto">
            <a:xfrm>
              <a:off x="1533"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7" name="Oval 52"/>
            <p:cNvSpPr>
              <a:spLocks noChangeArrowheads="1"/>
            </p:cNvSpPr>
            <p:nvPr/>
          </p:nvSpPr>
          <p:spPr bwMode="auto">
            <a:xfrm>
              <a:off x="1539" y="279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8" name="Oval 53"/>
            <p:cNvSpPr>
              <a:spLocks noChangeArrowheads="1"/>
            </p:cNvSpPr>
            <p:nvPr/>
          </p:nvSpPr>
          <p:spPr bwMode="auto">
            <a:xfrm>
              <a:off x="1392" y="264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59" name="AutoShape 54"/>
            <p:cNvSpPr>
              <a:spLocks noChangeArrowheads="1"/>
            </p:cNvSpPr>
            <p:nvPr/>
          </p:nvSpPr>
          <p:spPr bwMode="auto">
            <a:xfrm>
              <a:off x="1999" y="258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0" name="Oval 55"/>
            <p:cNvSpPr>
              <a:spLocks noChangeArrowheads="1"/>
            </p:cNvSpPr>
            <p:nvPr/>
          </p:nvSpPr>
          <p:spPr bwMode="auto">
            <a:xfrm>
              <a:off x="2063" y="279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1" name="Oval 56"/>
            <p:cNvSpPr>
              <a:spLocks noChangeArrowheads="1"/>
            </p:cNvSpPr>
            <p:nvPr/>
          </p:nvSpPr>
          <p:spPr bwMode="auto">
            <a:xfrm>
              <a:off x="2201" y="2649"/>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2" name="Oval 57"/>
            <p:cNvSpPr>
              <a:spLocks noChangeArrowheads="1"/>
            </p:cNvSpPr>
            <p:nvPr/>
          </p:nvSpPr>
          <p:spPr bwMode="auto">
            <a:xfrm>
              <a:off x="2207" y="2793"/>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3" name="Oval 58"/>
            <p:cNvSpPr>
              <a:spLocks noChangeArrowheads="1"/>
            </p:cNvSpPr>
            <p:nvPr/>
          </p:nvSpPr>
          <p:spPr bwMode="auto">
            <a:xfrm>
              <a:off x="2060" y="2646"/>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4" name="Oval 59"/>
            <p:cNvSpPr>
              <a:spLocks noChangeArrowheads="1"/>
            </p:cNvSpPr>
            <p:nvPr/>
          </p:nvSpPr>
          <p:spPr bwMode="auto">
            <a:xfrm>
              <a:off x="2132" y="272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5" name="AutoShape 60"/>
            <p:cNvSpPr>
              <a:spLocks noChangeArrowheads="1"/>
            </p:cNvSpPr>
            <p:nvPr/>
          </p:nvSpPr>
          <p:spPr bwMode="auto">
            <a:xfrm>
              <a:off x="2306" y="1905"/>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6" name="Oval 61"/>
            <p:cNvSpPr>
              <a:spLocks noChangeArrowheads="1"/>
            </p:cNvSpPr>
            <p:nvPr/>
          </p:nvSpPr>
          <p:spPr bwMode="auto">
            <a:xfrm>
              <a:off x="2370" y="2112"/>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7" name="Oval 62"/>
            <p:cNvSpPr>
              <a:spLocks noChangeArrowheads="1"/>
            </p:cNvSpPr>
            <p:nvPr/>
          </p:nvSpPr>
          <p:spPr bwMode="auto">
            <a:xfrm>
              <a:off x="2508" y="196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8" name="Oval 63"/>
            <p:cNvSpPr>
              <a:spLocks noChangeArrowheads="1"/>
            </p:cNvSpPr>
            <p:nvPr/>
          </p:nvSpPr>
          <p:spPr bwMode="auto">
            <a:xfrm>
              <a:off x="2436" y="2040"/>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69" name="AutoShape 64"/>
            <p:cNvSpPr>
              <a:spLocks noChangeArrowheads="1"/>
            </p:cNvSpPr>
            <p:nvPr/>
          </p:nvSpPr>
          <p:spPr bwMode="auto">
            <a:xfrm>
              <a:off x="1674" y="3259"/>
              <a:ext cx="321" cy="321"/>
            </a:xfrm>
            <a:prstGeom prst="roundRect">
              <a:avLst>
                <a:gd name="adj" fmla="val 16667"/>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70" name="Oval 65"/>
            <p:cNvSpPr>
              <a:spLocks noChangeArrowheads="1"/>
            </p:cNvSpPr>
            <p:nvPr/>
          </p:nvSpPr>
          <p:spPr bwMode="auto">
            <a:xfrm>
              <a:off x="1738" y="347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71" name="Oval 66"/>
            <p:cNvSpPr>
              <a:spLocks noChangeArrowheads="1"/>
            </p:cNvSpPr>
            <p:nvPr/>
          </p:nvSpPr>
          <p:spPr bwMode="auto">
            <a:xfrm>
              <a:off x="1876"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72" name="Oval 67"/>
            <p:cNvSpPr>
              <a:spLocks noChangeArrowheads="1"/>
            </p:cNvSpPr>
            <p:nvPr/>
          </p:nvSpPr>
          <p:spPr bwMode="auto">
            <a:xfrm>
              <a:off x="1882" y="3475"/>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73" name="Oval 68"/>
            <p:cNvSpPr>
              <a:spLocks noChangeArrowheads="1"/>
            </p:cNvSpPr>
            <p:nvPr/>
          </p:nvSpPr>
          <p:spPr bwMode="auto">
            <a:xfrm>
              <a:off x="1735" y="3304"/>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74" name="Oval 69"/>
            <p:cNvSpPr>
              <a:spLocks noChangeArrowheads="1"/>
            </p:cNvSpPr>
            <p:nvPr/>
          </p:nvSpPr>
          <p:spPr bwMode="auto">
            <a:xfrm>
              <a:off x="1735" y="3391"/>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sp>
          <p:nvSpPr>
            <p:cNvPr id="87075" name="Oval 70"/>
            <p:cNvSpPr>
              <a:spLocks noChangeArrowheads="1"/>
            </p:cNvSpPr>
            <p:nvPr/>
          </p:nvSpPr>
          <p:spPr bwMode="auto">
            <a:xfrm>
              <a:off x="1879" y="3388"/>
              <a:ext cx="56" cy="5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endParaRPr lang="fr-FR" altLang="fr-F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fr-FR"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fr-FR"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565</TotalTime>
  <Words>4101</Words>
  <Application>Microsoft Office PowerPoint</Application>
  <PresentationFormat>Affichage à l'écran (4:3)</PresentationFormat>
  <Paragraphs>688</Paragraphs>
  <Slides>84</Slides>
  <Notes>81</Notes>
  <HiddenSlides>3</HiddenSlides>
  <MMClips>0</MMClips>
  <ScaleCrop>false</ScaleCrop>
  <HeadingPairs>
    <vt:vector size="4" baseType="variant">
      <vt:variant>
        <vt:lpstr>Thème</vt:lpstr>
      </vt:variant>
      <vt:variant>
        <vt:i4>1</vt:i4>
      </vt:variant>
      <vt:variant>
        <vt:lpstr>Titres des diapositives</vt:lpstr>
      </vt:variant>
      <vt:variant>
        <vt:i4>84</vt:i4>
      </vt:variant>
    </vt:vector>
  </HeadingPairs>
  <TitlesOfParts>
    <vt:vector size="85" baseType="lpstr">
      <vt:lpstr>Modèle par défaut</vt:lpstr>
      <vt:lpstr>Présentation PowerPoint</vt:lpstr>
      <vt:lpstr>Conseils pour l’animateur</vt:lpstr>
      <vt:lpstr>Tirage des incidents</vt:lpstr>
      <vt:lpstr>Codification des incidents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PROCONSEIL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BertrandS</dc:creator>
  <cp:lastModifiedBy>BertrandS</cp:lastModifiedBy>
  <cp:revision>32</cp:revision>
  <dcterms:created xsi:type="dcterms:W3CDTF">2006-10-23T04:51:38Z</dcterms:created>
  <dcterms:modified xsi:type="dcterms:W3CDTF">2015-07-15T08:52:21Z</dcterms:modified>
</cp:coreProperties>
</file>
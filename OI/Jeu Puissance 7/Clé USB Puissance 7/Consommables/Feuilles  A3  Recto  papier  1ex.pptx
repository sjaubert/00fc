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98"/>
  </p:notesMasterIdLst>
  <p:handoutMasterIdLst>
    <p:handoutMasterId r:id="rId99"/>
  </p:handoutMasterIdLst>
  <p:sldIdLst>
    <p:sldId id="269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280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6" r:id="rId33"/>
    <p:sldId id="276" r:id="rId34"/>
    <p:sldId id="367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2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278" r:id="rId54"/>
    <p:sldId id="385" r:id="rId55"/>
    <p:sldId id="386" r:id="rId56"/>
    <p:sldId id="387" r:id="rId57"/>
    <p:sldId id="388" r:id="rId58"/>
    <p:sldId id="389" r:id="rId59"/>
    <p:sldId id="390" r:id="rId60"/>
    <p:sldId id="391" r:id="rId61"/>
    <p:sldId id="279" r:id="rId62"/>
    <p:sldId id="392" r:id="rId63"/>
    <p:sldId id="393" r:id="rId64"/>
    <p:sldId id="394" r:id="rId65"/>
    <p:sldId id="395" r:id="rId66"/>
    <p:sldId id="396" r:id="rId67"/>
    <p:sldId id="397" r:id="rId68"/>
    <p:sldId id="398" r:id="rId69"/>
    <p:sldId id="399" r:id="rId70"/>
    <p:sldId id="400" r:id="rId71"/>
    <p:sldId id="401" r:id="rId72"/>
    <p:sldId id="402" r:id="rId73"/>
    <p:sldId id="403" r:id="rId74"/>
    <p:sldId id="404" r:id="rId75"/>
    <p:sldId id="405" r:id="rId76"/>
    <p:sldId id="406" r:id="rId77"/>
    <p:sldId id="407" r:id="rId78"/>
    <p:sldId id="408" r:id="rId79"/>
    <p:sldId id="409" r:id="rId80"/>
    <p:sldId id="410" r:id="rId81"/>
    <p:sldId id="334" r:id="rId82"/>
    <p:sldId id="411" r:id="rId83"/>
    <p:sldId id="412" r:id="rId84"/>
    <p:sldId id="413" r:id="rId85"/>
    <p:sldId id="414" r:id="rId86"/>
    <p:sldId id="415" r:id="rId87"/>
    <p:sldId id="416" r:id="rId88"/>
    <p:sldId id="417" r:id="rId89"/>
    <p:sldId id="336" r:id="rId90"/>
    <p:sldId id="418" r:id="rId91"/>
    <p:sldId id="419" r:id="rId92"/>
    <p:sldId id="420" r:id="rId93"/>
    <p:sldId id="421" r:id="rId94"/>
    <p:sldId id="422" r:id="rId95"/>
    <p:sldId id="423" r:id="rId96"/>
    <p:sldId id="424" r:id="rId97"/>
  </p:sldIdLst>
  <p:sldSz cx="7620000" cy="10934700"/>
  <p:notesSz cx="6808788" cy="99409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56">
          <p15:clr>
            <a:srgbClr val="A4A3A4"/>
          </p15:clr>
        </p15:guide>
        <p15:guide id="2" pos="239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A8E0"/>
    <a:srgbClr val="FE8C02"/>
    <a:srgbClr val="F4C80C"/>
    <a:srgbClr val="008000"/>
    <a:srgbClr val="996633"/>
    <a:srgbClr val="FF9900"/>
    <a:srgbClr val="990099"/>
    <a:srgbClr val="009900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3501" autoAdjust="0"/>
    <p:restoredTop sz="96162" autoAdjust="0"/>
  </p:normalViewPr>
  <p:slideViewPr>
    <p:cSldViewPr showGuides="1">
      <p:cViewPr>
        <p:scale>
          <a:sx n="75" d="100"/>
          <a:sy n="75" d="100"/>
        </p:scale>
        <p:origin x="3774" y="156"/>
      </p:cViewPr>
      <p:guideLst>
        <p:guide orient="horz" pos="3456"/>
        <p:guide pos="23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28" d="100"/>
          <a:sy n="28" d="100"/>
        </p:scale>
        <p:origin x="-1266" y="-78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7555" cy="49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418" y="0"/>
            <a:ext cx="2937555" cy="49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9860"/>
            <a:ext cx="2937555" cy="49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418" y="9439860"/>
            <a:ext cx="2937555" cy="49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334F59C-A543-4254-9774-E77D3284254B}" type="slidenum">
              <a:rPr lang="fr-FR" altLang="fr-FR">
                <a:latin typeface="Calibri" panose="020F0502020204030204" pitchFamily="34" charset="0"/>
              </a:rPr>
              <a:pPr>
                <a:defRPr/>
              </a:pPr>
              <a:t>‹N°›</a:t>
            </a:fld>
            <a:endParaRPr lang="fr-FR" altLang="fr-F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132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8540" cy="49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30" tIns="45615" rIns="91230" bIns="45615" numCol="1" anchor="t" anchorCtr="0" compatLnSpc="1">
            <a:prstTxWarp prst="textNoShape">
              <a:avLst/>
            </a:prstTxWarp>
          </a:bodyPr>
          <a:lstStyle>
            <a:lvl1pPr defTabSz="911225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249" y="1"/>
            <a:ext cx="2948540" cy="49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30" tIns="45615" rIns="91230" bIns="45615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11375" y="746125"/>
            <a:ext cx="2597150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571" y="4725061"/>
            <a:ext cx="4991646" cy="4470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30" tIns="45615" rIns="91230" bIns="456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/>
              <a:t>Cliquez pour modifier les styles du texte du masque</a:t>
            </a:r>
          </a:p>
          <a:p>
            <a:pPr lvl="1"/>
            <a:r>
              <a:rPr lang="fr-FR" altLang="fr-FR" noProof="0"/>
              <a:t>Deuxième niveau</a:t>
            </a:r>
          </a:p>
          <a:p>
            <a:pPr lvl="2"/>
            <a:r>
              <a:rPr lang="fr-FR" altLang="fr-FR" noProof="0"/>
              <a:t>Troisième niveau</a:t>
            </a:r>
          </a:p>
          <a:p>
            <a:pPr lvl="3"/>
            <a:r>
              <a:rPr lang="fr-FR" altLang="fr-FR" noProof="0"/>
              <a:t>Quatrième niveau</a:t>
            </a:r>
          </a:p>
          <a:p>
            <a:pPr lvl="4"/>
            <a:r>
              <a:rPr lang="fr-FR" altLang="fr-FR" noProof="0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3280"/>
            <a:ext cx="2948540" cy="49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30" tIns="45615" rIns="91230" bIns="45615" numCol="1" anchor="b" anchorCtr="0" compatLnSpc="1">
            <a:prstTxWarp prst="textNoShape">
              <a:avLst/>
            </a:prstTxWarp>
          </a:bodyPr>
          <a:lstStyle>
            <a:lvl1pPr defTabSz="911225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249" y="9443280"/>
            <a:ext cx="2948540" cy="49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30" tIns="45615" rIns="91230" bIns="45615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39104DCE-9E15-4945-B27F-E19F7A0AD5A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063292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82217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13674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82924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66374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9647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78902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97155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90995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72617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87448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82172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97710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78898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69930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54375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769291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23738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520776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19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481380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104DCE-9E15-4945-B27F-E19F7A0AD5AB}" type="slidenum">
              <a:rPr lang="fr-FR" altLang="fr-FR" smtClean="0"/>
              <a:pPr>
                <a:defRPr/>
              </a:pPr>
              <a:t>20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6239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>
            <a:extLst>
              <a:ext uri="{FF2B5EF4-FFF2-40B4-BE49-F238E27FC236}">
                <a16:creationId xmlns:a16="http://schemas.microsoft.com/office/drawing/2014/main" id="{218CB041-FBE6-4DE5-9645-90D5ABBE5A3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625" y="40481"/>
            <a:ext cx="7524750" cy="10853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fr-FR" alt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7E287D6C-BF9E-407A-9C48-C700B6C7BF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721821"/>
            <a:ext cx="2590800" cy="212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FR" altLang="fr-FR" sz="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PUISSANCE 7®, un jeu du CIPE</a:t>
            </a:r>
          </a:p>
        </p:txBody>
      </p:sp>
    </p:spTree>
    <p:extLst>
      <p:ext uri="{BB962C8B-B14F-4D97-AF65-F5344CB8AC3E}">
        <p14:creationId xmlns:p14="http://schemas.microsoft.com/office/powerpoint/2010/main" val="383521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Times New Roman" charset="0"/>
        </a:defRPr>
      </a:lvl2pPr>
      <a:lvl3pPr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Times New Roman" charset="0"/>
        </a:defRPr>
      </a:lvl3pPr>
      <a:lvl4pPr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Times New Roman" charset="0"/>
        </a:defRPr>
      </a:lvl4pPr>
      <a:lvl5pPr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Times New Roman" charset="0"/>
        </a:defRPr>
      </a:lvl5pPr>
      <a:lvl6pPr marL="457200"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Times New Roman" charset="0"/>
        </a:defRPr>
      </a:lvl6pPr>
      <a:lvl7pPr marL="914400"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Times New Roman" charset="0"/>
        </a:defRPr>
      </a:lvl7pPr>
      <a:lvl8pPr marL="1371600"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Times New Roman" charset="0"/>
        </a:defRPr>
      </a:lvl8pPr>
      <a:lvl9pPr marL="1828800" algn="ctr" defTabSz="1058863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Times New Roman" charset="0"/>
        </a:defRPr>
      </a:lvl9pPr>
    </p:titleStyle>
    <p:bodyStyle>
      <a:lvl1pPr marL="396875" indent="-396875" algn="l" defTabSz="1058863" rtl="0" eaLnBrk="0" fontAlgn="base" hangingPunct="0">
        <a:spcBef>
          <a:spcPct val="20000"/>
        </a:spcBef>
        <a:spcAft>
          <a:spcPct val="0"/>
        </a:spcAft>
        <a:buChar char="•"/>
        <a:defRPr sz="3800">
          <a:solidFill>
            <a:schemeClr val="tx1"/>
          </a:solidFill>
          <a:latin typeface="+mn-lt"/>
          <a:ea typeface="+mn-ea"/>
          <a:cs typeface="+mn-cs"/>
        </a:defRPr>
      </a:lvl1pPr>
      <a:lvl2pPr marL="860425" indent="-330200" algn="l" defTabSz="1058863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325563" indent="-266700" algn="l" defTabSz="1058863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</a:defRPr>
      </a:lvl3pPr>
      <a:lvl4pPr marL="1855788" indent="-265113" algn="l" defTabSz="1058863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86013" indent="-265113" algn="l" defTabSz="1058863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843213" indent="-265113" algn="l" defTabSz="1058863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300413" indent="-265113" algn="l" defTabSz="1058863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757613" indent="-265113" algn="l" defTabSz="1058863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214813" indent="-265113" algn="l" defTabSz="1058863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1789748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276410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118749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317124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2336052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330980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370645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3520330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2048678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2715206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3641003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2248422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1937754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400843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683541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714789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710964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344603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61925" y="46038"/>
            <a:ext cx="7288213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54088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54088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Q </a:t>
            </a:r>
            <a:r>
              <a:rPr lang="fr-FR" altLang="fr-FR" sz="2800" b="1" dirty="0" err="1">
                <a:latin typeface="Calibri" panose="020F0502020204030204" pitchFamily="34" charset="0"/>
              </a:rPr>
              <a:t>Q</a:t>
            </a:r>
            <a:r>
              <a:rPr lang="fr-FR" altLang="fr-FR" sz="2800" b="1" dirty="0">
                <a:latin typeface="Calibri" panose="020F0502020204030204" pitchFamily="34" charset="0"/>
              </a:rPr>
              <a:t> O Q C P</a:t>
            </a:r>
          </a:p>
        </p:txBody>
      </p:sp>
      <p:sp>
        <p:nvSpPr>
          <p:cNvPr id="6147" name="Rectangle 34"/>
          <p:cNvSpPr>
            <a:spLocks noChangeArrowheads="1"/>
          </p:cNvSpPr>
          <p:nvPr/>
        </p:nvSpPr>
        <p:spPr bwMode="auto">
          <a:xfrm>
            <a:off x="152400" y="685800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8" name="Rectangle 35"/>
          <p:cNvSpPr>
            <a:spLocks noChangeArrowheads="1"/>
          </p:cNvSpPr>
          <p:nvPr/>
        </p:nvSpPr>
        <p:spPr bwMode="auto">
          <a:xfrm>
            <a:off x="152400" y="238601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49" name="Rectangle 36"/>
          <p:cNvSpPr>
            <a:spLocks noChangeArrowheads="1"/>
          </p:cNvSpPr>
          <p:nvPr/>
        </p:nvSpPr>
        <p:spPr bwMode="auto">
          <a:xfrm>
            <a:off x="152400" y="4086225"/>
            <a:ext cx="7315200" cy="1557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0" name="Rectangle 37"/>
          <p:cNvSpPr>
            <a:spLocks noChangeArrowheads="1"/>
          </p:cNvSpPr>
          <p:nvPr/>
        </p:nvSpPr>
        <p:spPr bwMode="auto">
          <a:xfrm>
            <a:off x="152400" y="5786438"/>
            <a:ext cx="7315200" cy="15573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1" name="Rectangle 38"/>
          <p:cNvSpPr>
            <a:spLocks noChangeArrowheads="1"/>
          </p:cNvSpPr>
          <p:nvPr/>
        </p:nvSpPr>
        <p:spPr bwMode="auto">
          <a:xfrm>
            <a:off x="152400" y="7485063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2" name="Rectangle 39"/>
          <p:cNvSpPr>
            <a:spLocks noChangeArrowheads="1"/>
          </p:cNvSpPr>
          <p:nvPr/>
        </p:nvSpPr>
        <p:spPr bwMode="auto">
          <a:xfrm>
            <a:off x="152400" y="9185275"/>
            <a:ext cx="7315200" cy="155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6153" name="Text Box 41"/>
          <p:cNvSpPr txBox="1">
            <a:spLocks noChangeArrowheads="1"/>
          </p:cNvSpPr>
          <p:nvPr/>
        </p:nvSpPr>
        <p:spPr bwMode="auto">
          <a:xfrm>
            <a:off x="115888" y="64770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Qui …</a:t>
            </a:r>
          </a:p>
        </p:txBody>
      </p:sp>
      <p:sp>
        <p:nvSpPr>
          <p:cNvPr id="6154" name="Text Box 42"/>
          <p:cNvSpPr txBox="1">
            <a:spLocks noChangeArrowheads="1"/>
          </p:cNvSpPr>
          <p:nvPr/>
        </p:nvSpPr>
        <p:spPr bwMode="auto">
          <a:xfrm>
            <a:off x="115888" y="234632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Quoi …</a:t>
            </a:r>
          </a:p>
        </p:txBody>
      </p:sp>
      <p:sp>
        <p:nvSpPr>
          <p:cNvPr id="6155" name="Text Box 43"/>
          <p:cNvSpPr txBox="1">
            <a:spLocks noChangeArrowheads="1"/>
          </p:cNvSpPr>
          <p:nvPr/>
        </p:nvSpPr>
        <p:spPr bwMode="auto">
          <a:xfrm>
            <a:off x="115888" y="4046538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Où …</a:t>
            </a:r>
          </a:p>
        </p:txBody>
      </p:sp>
      <p:sp>
        <p:nvSpPr>
          <p:cNvPr id="6156" name="Text Box 44"/>
          <p:cNvSpPr txBox="1">
            <a:spLocks noChangeArrowheads="1"/>
          </p:cNvSpPr>
          <p:nvPr/>
        </p:nvSpPr>
        <p:spPr bwMode="auto">
          <a:xfrm>
            <a:off x="115888" y="5746750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Quand …</a:t>
            </a:r>
          </a:p>
        </p:txBody>
      </p:sp>
      <p:sp>
        <p:nvSpPr>
          <p:cNvPr id="6157" name="Text Box 45"/>
          <p:cNvSpPr txBox="1">
            <a:spLocks noChangeArrowheads="1"/>
          </p:cNvSpPr>
          <p:nvPr/>
        </p:nvSpPr>
        <p:spPr bwMode="auto">
          <a:xfrm>
            <a:off x="115888" y="7446963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Comment …</a:t>
            </a:r>
          </a:p>
        </p:txBody>
      </p:sp>
      <p:sp>
        <p:nvSpPr>
          <p:cNvPr id="6158" name="Text Box 46"/>
          <p:cNvSpPr txBox="1">
            <a:spLocks noChangeArrowheads="1"/>
          </p:cNvSpPr>
          <p:nvPr/>
        </p:nvSpPr>
        <p:spPr bwMode="auto">
          <a:xfrm>
            <a:off x="115888" y="9147175"/>
            <a:ext cx="73914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400" b="1" dirty="0">
                <a:latin typeface="Calibri" panose="020F0502020204030204" pitchFamily="34" charset="0"/>
              </a:rPr>
              <a:t>Pourquoi …</a:t>
            </a:r>
          </a:p>
        </p:txBody>
      </p:sp>
    </p:spTree>
    <p:extLst>
      <p:ext uri="{BB962C8B-B14F-4D97-AF65-F5344CB8AC3E}">
        <p14:creationId xmlns:p14="http://schemas.microsoft.com/office/powerpoint/2010/main" val="4013509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0734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6542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9501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2922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552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2044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1359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0551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2823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2247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 rot="-5400000">
            <a:off x="-1627981" y="1697831"/>
            <a:ext cx="10795000" cy="7415216"/>
            <a:chOff x="89" y="-14"/>
            <a:chExt cx="6800" cy="4671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528" y="848"/>
              <a:ext cx="6000" cy="3376"/>
              <a:chOff x="576" y="992"/>
              <a:chExt cx="6000" cy="3382"/>
            </a:xfrm>
          </p:grpSpPr>
          <p:sp>
            <p:nvSpPr>
              <p:cNvPr id="22570" name="Line 4"/>
              <p:cNvSpPr>
                <a:spLocks noChangeShapeType="1"/>
              </p:cNvSpPr>
              <p:nvPr/>
            </p:nvSpPr>
            <p:spPr bwMode="auto">
              <a:xfrm rot="5400000">
                <a:off x="3576" y="-200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1" name="Line 5"/>
              <p:cNvSpPr>
                <a:spLocks noChangeShapeType="1"/>
              </p:cNvSpPr>
              <p:nvPr/>
            </p:nvSpPr>
            <p:spPr bwMode="auto">
              <a:xfrm rot="5400000">
                <a:off x="3576" y="-191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2" name="Line 6"/>
              <p:cNvSpPr>
                <a:spLocks noChangeShapeType="1"/>
              </p:cNvSpPr>
              <p:nvPr/>
            </p:nvSpPr>
            <p:spPr bwMode="auto">
              <a:xfrm rot="5400000">
                <a:off x="3576" y="-182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3" name="Line 7"/>
              <p:cNvSpPr>
                <a:spLocks noChangeShapeType="1"/>
              </p:cNvSpPr>
              <p:nvPr/>
            </p:nvSpPr>
            <p:spPr bwMode="auto">
              <a:xfrm rot="5400000">
                <a:off x="3576" y="-172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4" name="Line 8"/>
              <p:cNvSpPr>
                <a:spLocks noChangeShapeType="1"/>
              </p:cNvSpPr>
              <p:nvPr/>
            </p:nvSpPr>
            <p:spPr bwMode="auto">
              <a:xfrm rot="5400000">
                <a:off x="3576" y="-163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5" name="Line 9"/>
              <p:cNvSpPr>
                <a:spLocks noChangeShapeType="1"/>
              </p:cNvSpPr>
              <p:nvPr/>
            </p:nvSpPr>
            <p:spPr bwMode="auto">
              <a:xfrm rot="5400000">
                <a:off x="3576" y="-153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6" name="Line 10"/>
              <p:cNvSpPr>
                <a:spLocks noChangeShapeType="1"/>
              </p:cNvSpPr>
              <p:nvPr/>
            </p:nvSpPr>
            <p:spPr bwMode="auto">
              <a:xfrm rot="5400000">
                <a:off x="3576" y="-144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7" name="Line 11"/>
              <p:cNvSpPr>
                <a:spLocks noChangeShapeType="1"/>
              </p:cNvSpPr>
              <p:nvPr/>
            </p:nvSpPr>
            <p:spPr bwMode="auto">
              <a:xfrm rot="5400000">
                <a:off x="3576" y="-135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8" name="Line 12"/>
              <p:cNvSpPr>
                <a:spLocks noChangeShapeType="1"/>
              </p:cNvSpPr>
              <p:nvPr/>
            </p:nvSpPr>
            <p:spPr bwMode="auto">
              <a:xfrm rot="5400000">
                <a:off x="3576" y="-125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79" name="Line 13"/>
              <p:cNvSpPr>
                <a:spLocks noChangeShapeType="1"/>
              </p:cNvSpPr>
              <p:nvPr/>
            </p:nvSpPr>
            <p:spPr bwMode="auto">
              <a:xfrm rot="5400000">
                <a:off x="3576" y="-116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0" name="Line 14"/>
              <p:cNvSpPr>
                <a:spLocks noChangeShapeType="1"/>
              </p:cNvSpPr>
              <p:nvPr/>
            </p:nvSpPr>
            <p:spPr bwMode="auto">
              <a:xfrm rot="5400000">
                <a:off x="3576" y="-106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1" name="Line 15"/>
              <p:cNvSpPr>
                <a:spLocks noChangeShapeType="1"/>
              </p:cNvSpPr>
              <p:nvPr/>
            </p:nvSpPr>
            <p:spPr bwMode="auto">
              <a:xfrm rot="5400000">
                <a:off x="3576" y="-97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2" name="Line 16"/>
              <p:cNvSpPr>
                <a:spLocks noChangeShapeType="1"/>
              </p:cNvSpPr>
              <p:nvPr/>
            </p:nvSpPr>
            <p:spPr bwMode="auto">
              <a:xfrm rot="5400000">
                <a:off x="3576" y="-88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3" name="Line 17"/>
              <p:cNvSpPr>
                <a:spLocks noChangeShapeType="1"/>
              </p:cNvSpPr>
              <p:nvPr/>
            </p:nvSpPr>
            <p:spPr bwMode="auto">
              <a:xfrm rot="5400000">
                <a:off x="3576" y="-78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4" name="Line 18"/>
              <p:cNvSpPr>
                <a:spLocks noChangeShapeType="1"/>
              </p:cNvSpPr>
              <p:nvPr/>
            </p:nvSpPr>
            <p:spPr bwMode="auto">
              <a:xfrm rot="5400000">
                <a:off x="3576" y="-693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5" name="Line 19"/>
              <p:cNvSpPr>
                <a:spLocks noChangeShapeType="1"/>
              </p:cNvSpPr>
              <p:nvPr/>
            </p:nvSpPr>
            <p:spPr bwMode="auto">
              <a:xfrm rot="5400000">
                <a:off x="3576" y="-599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6" name="Line 20"/>
              <p:cNvSpPr>
                <a:spLocks noChangeShapeType="1"/>
              </p:cNvSpPr>
              <p:nvPr/>
            </p:nvSpPr>
            <p:spPr bwMode="auto">
              <a:xfrm rot="5400000">
                <a:off x="3576" y="-505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7" name="Line 21"/>
              <p:cNvSpPr>
                <a:spLocks noChangeShapeType="1"/>
              </p:cNvSpPr>
              <p:nvPr/>
            </p:nvSpPr>
            <p:spPr bwMode="auto">
              <a:xfrm rot="5400000">
                <a:off x="3576" y="-411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8" name="Line 22"/>
              <p:cNvSpPr>
                <a:spLocks noChangeShapeType="1"/>
              </p:cNvSpPr>
              <p:nvPr/>
            </p:nvSpPr>
            <p:spPr bwMode="auto">
              <a:xfrm rot="5400000">
                <a:off x="3576" y="-317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89" name="Line 23"/>
              <p:cNvSpPr>
                <a:spLocks noChangeShapeType="1"/>
              </p:cNvSpPr>
              <p:nvPr/>
            </p:nvSpPr>
            <p:spPr bwMode="auto">
              <a:xfrm rot="5400000">
                <a:off x="3576" y="-22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0" name="Line 24"/>
              <p:cNvSpPr>
                <a:spLocks noChangeShapeType="1"/>
              </p:cNvSpPr>
              <p:nvPr/>
            </p:nvSpPr>
            <p:spPr bwMode="auto">
              <a:xfrm rot="5400000">
                <a:off x="3576" y="-13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1" name="Line 25"/>
              <p:cNvSpPr>
                <a:spLocks noChangeShapeType="1"/>
              </p:cNvSpPr>
              <p:nvPr/>
            </p:nvSpPr>
            <p:spPr bwMode="auto">
              <a:xfrm rot="5400000">
                <a:off x="3576" y="-3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2" name="Line 26"/>
              <p:cNvSpPr>
                <a:spLocks noChangeShapeType="1"/>
              </p:cNvSpPr>
              <p:nvPr/>
            </p:nvSpPr>
            <p:spPr bwMode="auto">
              <a:xfrm rot="5400000">
                <a:off x="3576" y="5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3" name="Line 27"/>
              <p:cNvSpPr>
                <a:spLocks noChangeShapeType="1"/>
              </p:cNvSpPr>
              <p:nvPr/>
            </p:nvSpPr>
            <p:spPr bwMode="auto">
              <a:xfrm rot="5400000">
                <a:off x="3576" y="15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4" name="Line 28"/>
              <p:cNvSpPr>
                <a:spLocks noChangeShapeType="1"/>
              </p:cNvSpPr>
              <p:nvPr/>
            </p:nvSpPr>
            <p:spPr bwMode="auto">
              <a:xfrm rot="5400000">
                <a:off x="3576" y="24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5" name="Line 29"/>
              <p:cNvSpPr>
                <a:spLocks noChangeShapeType="1"/>
              </p:cNvSpPr>
              <p:nvPr/>
            </p:nvSpPr>
            <p:spPr bwMode="auto">
              <a:xfrm rot="5400000">
                <a:off x="3576" y="34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6" name="Line 30"/>
              <p:cNvSpPr>
                <a:spLocks noChangeShapeType="1"/>
              </p:cNvSpPr>
              <p:nvPr/>
            </p:nvSpPr>
            <p:spPr bwMode="auto">
              <a:xfrm rot="5400000">
                <a:off x="3576" y="43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7" name="Line 31"/>
              <p:cNvSpPr>
                <a:spLocks noChangeShapeType="1"/>
              </p:cNvSpPr>
              <p:nvPr/>
            </p:nvSpPr>
            <p:spPr bwMode="auto">
              <a:xfrm rot="5400000">
                <a:off x="3576" y="52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8" name="Line 32"/>
              <p:cNvSpPr>
                <a:spLocks noChangeShapeType="1"/>
              </p:cNvSpPr>
              <p:nvPr/>
            </p:nvSpPr>
            <p:spPr bwMode="auto">
              <a:xfrm rot="5400000">
                <a:off x="3576" y="62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99" name="Line 33"/>
              <p:cNvSpPr>
                <a:spLocks noChangeShapeType="1"/>
              </p:cNvSpPr>
              <p:nvPr/>
            </p:nvSpPr>
            <p:spPr bwMode="auto">
              <a:xfrm rot="5400000">
                <a:off x="3576" y="71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0" name="Line 34"/>
              <p:cNvSpPr>
                <a:spLocks noChangeShapeType="1"/>
              </p:cNvSpPr>
              <p:nvPr/>
            </p:nvSpPr>
            <p:spPr bwMode="auto">
              <a:xfrm rot="5400000">
                <a:off x="3576" y="81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1" name="Line 35"/>
              <p:cNvSpPr>
                <a:spLocks noChangeShapeType="1"/>
              </p:cNvSpPr>
              <p:nvPr/>
            </p:nvSpPr>
            <p:spPr bwMode="auto">
              <a:xfrm rot="5400000">
                <a:off x="3576" y="90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2" name="Line 36"/>
              <p:cNvSpPr>
                <a:spLocks noChangeShapeType="1"/>
              </p:cNvSpPr>
              <p:nvPr/>
            </p:nvSpPr>
            <p:spPr bwMode="auto">
              <a:xfrm rot="5400000">
                <a:off x="3576" y="998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3" name="Line 37"/>
              <p:cNvSpPr>
                <a:spLocks noChangeShapeType="1"/>
              </p:cNvSpPr>
              <p:nvPr/>
            </p:nvSpPr>
            <p:spPr bwMode="auto">
              <a:xfrm rot="5400000">
                <a:off x="3576" y="1092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4" name="Line 38"/>
              <p:cNvSpPr>
                <a:spLocks noChangeShapeType="1"/>
              </p:cNvSpPr>
              <p:nvPr/>
            </p:nvSpPr>
            <p:spPr bwMode="auto">
              <a:xfrm rot="5400000">
                <a:off x="3576" y="1186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5" name="Line 39"/>
              <p:cNvSpPr>
                <a:spLocks noChangeShapeType="1"/>
              </p:cNvSpPr>
              <p:nvPr/>
            </p:nvSpPr>
            <p:spPr bwMode="auto">
              <a:xfrm rot="5400000">
                <a:off x="3576" y="1280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606" name="Line 40"/>
              <p:cNvSpPr>
                <a:spLocks noChangeShapeType="1"/>
              </p:cNvSpPr>
              <p:nvPr/>
            </p:nvSpPr>
            <p:spPr bwMode="auto">
              <a:xfrm rot="5400000">
                <a:off x="3576" y="1374"/>
                <a:ext cx="0" cy="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2" name="Text Box 41"/>
            <p:cNvSpPr txBox="1">
              <a:spLocks noChangeArrowheads="1"/>
            </p:cNvSpPr>
            <p:nvPr/>
          </p:nvSpPr>
          <p:spPr bwMode="auto">
            <a:xfrm>
              <a:off x="146" y="-14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954088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9540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Feuille </a:t>
              </a:r>
              <a:r>
                <a:rPr lang="fr-FR" altLang="fr-FR" sz="2800" b="1">
                  <a:latin typeface="Calibri" panose="020F0502020204030204" pitchFamily="34" charset="0"/>
                </a:rPr>
                <a:t>de Relevés </a:t>
              </a:r>
              <a:endParaRPr lang="fr-FR" altLang="fr-FR" sz="2800" b="1" dirty="0">
                <a:latin typeface="Calibri" panose="020F0502020204030204" pitchFamily="34" charset="0"/>
              </a:endParaRPr>
            </a:p>
          </p:txBody>
        </p:sp>
        <p:sp>
          <p:nvSpPr>
            <p:cNvPr id="22533" name="Line 42"/>
            <p:cNvSpPr>
              <a:spLocks noChangeShapeType="1"/>
            </p:cNvSpPr>
            <p:nvPr/>
          </p:nvSpPr>
          <p:spPr bwMode="auto">
            <a:xfrm>
              <a:off x="144" y="385"/>
              <a:ext cx="0" cy="3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4" name="Group 43"/>
            <p:cNvGrpSpPr>
              <a:grpSpLocks/>
            </p:cNvGrpSpPr>
            <p:nvPr/>
          </p:nvGrpSpPr>
          <p:grpSpPr bwMode="auto">
            <a:xfrm>
              <a:off x="706" y="385"/>
              <a:ext cx="5630" cy="4010"/>
              <a:chOff x="706" y="432"/>
              <a:chExt cx="5630" cy="3936"/>
            </a:xfrm>
          </p:grpSpPr>
          <p:sp>
            <p:nvSpPr>
              <p:cNvPr id="22559" name="Line 44"/>
              <p:cNvSpPr>
                <a:spLocks noChangeShapeType="1"/>
              </p:cNvSpPr>
              <p:nvPr/>
            </p:nvSpPr>
            <p:spPr bwMode="auto">
              <a:xfrm>
                <a:off x="70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0" name="Line 45"/>
              <p:cNvSpPr>
                <a:spLocks noChangeShapeType="1"/>
              </p:cNvSpPr>
              <p:nvPr/>
            </p:nvSpPr>
            <p:spPr bwMode="auto">
              <a:xfrm>
                <a:off x="1269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1" name="Line 46"/>
              <p:cNvSpPr>
                <a:spLocks noChangeShapeType="1"/>
              </p:cNvSpPr>
              <p:nvPr/>
            </p:nvSpPr>
            <p:spPr bwMode="auto">
              <a:xfrm>
                <a:off x="1832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2" name="Line 47"/>
              <p:cNvSpPr>
                <a:spLocks noChangeShapeType="1"/>
              </p:cNvSpPr>
              <p:nvPr/>
            </p:nvSpPr>
            <p:spPr bwMode="auto">
              <a:xfrm>
                <a:off x="2395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3" name="Line 48"/>
              <p:cNvSpPr>
                <a:spLocks noChangeShapeType="1"/>
              </p:cNvSpPr>
              <p:nvPr/>
            </p:nvSpPr>
            <p:spPr bwMode="auto">
              <a:xfrm>
                <a:off x="2958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4" name="Line 49"/>
              <p:cNvSpPr>
                <a:spLocks noChangeShapeType="1"/>
              </p:cNvSpPr>
              <p:nvPr/>
            </p:nvSpPr>
            <p:spPr bwMode="auto">
              <a:xfrm>
                <a:off x="3521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5" name="Line 50"/>
              <p:cNvSpPr>
                <a:spLocks noChangeShapeType="1"/>
              </p:cNvSpPr>
              <p:nvPr/>
            </p:nvSpPr>
            <p:spPr bwMode="auto">
              <a:xfrm>
                <a:off x="4084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6" name="Line 51"/>
              <p:cNvSpPr>
                <a:spLocks noChangeShapeType="1"/>
              </p:cNvSpPr>
              <p:nvPr/>
            </p:nvSpPr>
            <p:spPr bwMode="auto">
              <a:xfrm>
                <a:off x="4647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7" name="Line 52"/>
              <p:cNvSpPr>
                <a:spLocks noChangeShapeType="1"/>
              </p:cNvSpPr>
              <p:nvPr/>
            </p:nvSpPr>
            <p:spPr bwMode="auto">
              <a:xfrm>
                <a:off x="5210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8" name="Line 53"/>
              <p:cNvSpPr>
                <a:spLocks noChangeShapeType="1"/>
              </p:cNvSpPr>
              <p:nvPr/>
            </p:nvSpPr>
            <p:spPr bwMode="auto">
              <a:xfrm>
                <a:off x="5773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69" name="Line 54"/>
              <p:cNvSpPr>
                <a:spLocks noChangeShapeType="1"/>
              </p:cNvSpPr>
              <p:nvPr/>
            </p:nvSpPr>
            <p:spPr bwMode="auto">
              <a:xfrm>
                <a:off x="6336" y="432"/>
                <a:ext cx="0" cy="39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5" name="Line 55"/>
            <p:cNvSpPr>
              <a:spLocks noChangeShapeType="1"/>
            </p:cNvSpPr>
            <p:nvPr/>
          </p:nvSpPr>
          <p:spPr bwMode="auto">
            <a:xfrm>
              <a:off x="6528" y="855"/>
              <a:ext cx="0" cy="33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6" name="Line 56"/>
            <p:cNvSpPr>
              <a:spLocks noChangeShapeType="1"/>
            </p:cNvSpPr>
            <p:nvPr/>
          </p:nvSpPr>
          <p:spPr bwMode="auto">
            <a:xfrm rot="5400000">
              <a:off x="3240" y="-2713"/>
              <a:ext cx="0" cy="6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grpSp>
          <p:nvGrpSpPr>
            <p:cNvPr id="22537" name="Group 57"/>
            <p:cNvGrpSpPr>
              <a:grpSpLocks/>
            </p:cNvGrpSpPr>
            <p:nvPr/>
          </p:nvGrpSpPr>
          <p:grpSpPr bwMode="auto">
            <a:xfrm>
              <a:off x="143" y="849"/>
              <a:ext cx="6385" cy="3378"/>
              <a:chOff x="143" y="993"/>
              <a:chExt cx="6385" cy="3378"/>
            </a:xfrm>
          </p:grpSpPr>
          <p:sp>
            <p:nvSpPr>
              <p:cNvPr id="22552" name="Line 58"/>
              <p:cNvSpPr>
                <a:spLocks noChangeShapeType="1"/>
              </p:cNvSpPr>
              <p:nvPr/>
            </p:nvSpPr>
            <p:spPr bwMode="auto">
              <a:xfrm rot="5400000">
                <a:off x="3336" y="-2200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3" name="Line 59"/>
              <p:cNvSpPr>
                <a:spLocks noChangeShapeType="1"/>
              </p:cNvSpPr>
              <p:nvPr/>
            </p:nvSpPr>
            <p:spPr bwMode="auto">
              <a:xfrm rot="5400000">
                <a:off x="3336" y="-1637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4" name="Line 60"/>
              <p:cNvSpPr>
                <a:spLocks noChangeShapeType="1"/>
              </p:cNvSpPr>
              <p:nvPr/>
            </p:nvSpPr>
            <p:spPr bwMode="auto">
              <a:xfrm rot="5400000">
                <a:off x="3336" y="-1074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5" name="Line 61"/>
              <p:cNvSpPr>
                <a:spLocks noChangeShapeType="1"/>
              </p:cNvSpPr>
              <p:nvPr/>
            </p:nvSpPr>
            <p:spPr bwMode="auto">
              <a:xfrm rot="5400000">
                <a:off x="3336" y="-511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6" name="Line 62"/>
              <p:cNvSpPr>
                <a:spLocks noChangeShapeType="1"/>
              </p:cNvSpPr>
              <p:nvPr/>
            </p:nvSpPr>
            <p:spPr bwMode="auto">
              <a:xfrm rot="5400000">
                <a:off x="3336" y="52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7" name="Line 63"/>
              <p:cNvSpPr>
                <a:spLocks noChangeShapeType="1"/>
              </p:cNvSpPr>
              <p:nvPr/>
            </p:nvSpPr>
            <p:spPr bwMode="auto">
              <a:xfrm rot="5400000">
                <a:off x="3336" y="615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558" name="Line 64"/>
              <p:cNvSpPr>
                <a:spLocks noChangeShapeType="1"/>
              </p:cNvSpPr>
              <p:nvPr/>
            </p:nvSpPr>
            <p:spPr bwMode="auto">
              <a:xfrm rot="5400000">
                <a:off x="3336" y="1178"/>
                <a:ext cx="0" cy="6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538" name="Line 65"/>
            <p:cNvSpPr>
              <a:spLocks noChangeShapeType="1"/>
            </p:cNvSpPr>
            <p:nvPr/>
          </p:nvSpPr>
          <p:spPr bwMode="auto">
            <a:xfrm>
              <a:off x="144" y="385"/>
              <a:ext cx="552" cy="4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39" name="Rectangle 66"/>
            <p:cNvSpPr>
              <a:spLocks noChangeArrowheads="1"/>
            </p:cNvSpPr>
            <p:nvPr/>
          </p:nvSpPr>
          <p:spPr bwMode="auto">
            <a:xfrm>
              <a:off x="6528" y="1248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0" name="Rectangle 67"/>
            <p:cNvSpPr>
              <a:spLocks noChangeArrowheads="1"/>
            </p:cNvSpPr>
            <p:nvPr/>
          </p:nvSpPr>
          <p:spPr bwMode="auto">
            <a:xfrm>
              <a:off x="6528" y="1811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1" name="Rectangle 68"/>
            <p:cNvSpPr>
              <a:spLocks noChangeArrowheads="1"/>
            </p:cNvSpPr>
            <p:nvPr/>
          </p:nvSpPr>
          <p:spPr bwMode="auto">
            <a:xfrm>
              <a:off x="6528" y="2374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2" name="Rectangle 69"/>
            <p:cNvSpPr>
              <a:spLocks noChangeArrowheads="1"/>
            </p:cNvSpPr>
            <p:nvPr/>
          </p:nvSpPr>
          <p:spPr bwMode="auto">
            <a:xfrm>
              <a:off x="6528" y="2937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3" name="Rectangle 70"/>
            <p:cNvSpPr>
              <a:spLocks noChangeArrowheads="1"/>
            </p:cNvSpPr>
            <p:nvPr/>
          </p:nvSpPr>
          <p:spPr bwMode="auto">
            <a:xfrm>
              <a:off x="6528" y="3500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4" name="Rectangle 71"/>
            <p:cNvSpPr>
              <a:spLocks noChangeArrowheads="1"/>
            </p:cNvSpPr>
            <p:nvPr/>
          </p:nvSpPr>
          <p:spPr bwMode="auto">
            <a:xfrm>
              <a:off x="6528" y="4063"/>
              <a:ext cx="192" cy="16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5" name="Rectangle 72"/>
            <p:cNvSpPr>
              <a:spLocks noChangeArrowheads="1"/>
            </p:cNvSpPr>
            <p:nvPr/>
          </p:nvSpPr>
          <p:spPr bwMode="auto">
            <a:xfrm>
              <a:off x="6511" y="786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6" name="Line 73"/>
            <p:cNvSpPr>
              <a:spLocks noChangeShapeType="1"/>
            </p:cNvSpPr>
            <p:nvPr/>
          </p:nvSpPr>
          <p:spPr bwMode="auto">
            <a:xfrm>
              <a:off x="6624" y="959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7" name="Rectangle 74"/>
            <p:cNvSpPr>
              <a:spLocks noChangeArrowheads="1"/>
            </p:cNvSpPr>
            <p:nvPr/>
          </p:nvSpPr>
          <p:spPr bwMode="auto">
            <a:xfrm>
              <a:off x="101" y="4223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22548" name="Line 75"/>
            <p:cNvSpPr>
              <a:spLocks noChangeShapeType="1"/>
            </p:cNvSpPr>
            <p:nvPr/>
          </p:nvSpPr>
          <p:spPr bwMode="auto">
            <a:xfrm rot="5400000">
              <a:off x="3519" y="1574"/>
              <a:ext cx="0" cy="5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49" name="Line 76"/>
            <p:cNvSpPr>
              <a:spLocks noChangeShapeType="1"/>
            </p:cNvSpPr>
            <p:nvPr/>
          </p:nvSpPr>
          <p:spPr bwMode="auto">
            <a:xfrm>
              <a:off x="528" y="855"/>
              <a:ext cx="0" cy="3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0" name="Line 77"/>
            <p:cNvSpPr>
              <a:spLocks noChangeShapeType="1"/>
            </p:cNvSpPr>
            <p:nvPr/>
          </p:nvSpPr>
          <p:spPr bwMode="auto">
            <a:xfrm rot="-5400000">
              <a:off x="564" y="420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22551" name="Rectangle 78"/>
            <p:cNvSpPr>
              <a:spLocks noChangeArrowheads="1"/>
            </p:cNvSpPr>
            <p:nvPr/>
          </p:nvSpPr>
          <p:spPr bwMode="auto">
            <a:xfrm>
              <a:off x="89" y="4463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7178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7956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2558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8452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611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014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83737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937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107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623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4305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/>
          <p:cNvGrpSpPr>
            <a:grpSpLocks/>
          </p:cNvGrpSpPr>
          <p:nvPr/>
        </p:nvGrpSpPr>
        <p:grpSpPr bwMode="auto">
          <a:xfrm rot="-5400000">
            <a:off x="-1524793" y="1735932"/>
            <a:ext cx="10579100" cy="7424741"/>
            <a:chOff x="70" y="-20"/>
            <a:chExt cx="6664" cy="4677"/>
          </a:xfrm>
        </p:grpSpPr>
        <p:sp>
          <p:nvSpPr>
            <p:cNvPr id="30723" name="Text Box 5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Graphique</a:t>
              </a:r>
            </a:p>
          </p:txBody>
        </p:sp>
        <p:sp>
          <p:nvSpPr>
            <p:cNvPr id="30724" name="Rectangle 6"/>
            <p:cNvSpPr>
              <a:spLocks noChangeArrowheads="1"/>
            </p:cNvSpPr>
            <p:nvPr/>
          </p:nvSpPr>
          <p:spPr bwMode="auto">
            <a:xfrm>
              <a:off x="70" y="4463"/>
              <a:ext cx="86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commentaires : </a:t>
              </a:r>
            </a:p>
          </p:txBody>
        </p:sp>
        <p:grpSp>
          <p:nvGrpSpPr>
            <p:cNvPr id="30725" name="Group 7"/>
            <p:cNvGrpSpPr>
              <a:grpSpLocks/>
            </p:cNvGrpSpPr>
            <p:nvPr/>
          </p:nvGrpSpPr>
          <p:grpSpPr bwMode="auto">
            <a:xfrm>
              <a:off x="329" y="768"/>
              <a:ext cx="6145" cy="3552"/>
              <a:chOff x="287" y="720"/>
              <a:chExt cx="6193" cy="3600"/>
            </a:xfrm>
          </p:grpSpPr>
          <p:grpSp>
            <p:nvGrpSpPr>
              <p:cNvPr id="30727" name="Group 8"/>
              <p:cNvGrpSpPr>
                <a:grpSpLocks/>
              </p:cNvGrpSpPr>
              <p:nvPr/>
            </p:nvGrpSpPr>
            <p:grpSpPr bwMode="auto">
              <a:xfrm>
                <a:off x="288" y="720"/>
                <a:ext cx="6192" cy="3600"/>
                <a:chOff x="432" y="385"/>
                <a:chExt cx="5952" cy="4010"/>
              </a:xfrm>
            </p:grpSpPr>
            <p:sp>
              <p:nvSpPr>
                <p:cNvPr id="30741" name="Line 9"/>
                <p:cNvSpPr>
                  <a:spLocks noChangeShapeType="1"/>
                </p:cNvSpPr>
                <p:nvPr/>
              </p:nvSpPr>
              <p:spPr bwMode="auto">
                <a:xfrm>
                  <a:off x="43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2" name="Line 10"/>
                <p:cNvSpPr>
                  <a:spLocks noChangeShapeType="1"/>
                </p:cNvSpPr>
                <p:nvPr/>
              </p:nvSpPr>
              <p:spPr bwMode="auto">
                <a:xfrm>
                  <a:off x="80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3" name="Line 11"/>
                <p:cNvSpPr>
                  <a:spLocks noChangeShapeType="1"/>
                </p:cNvSpPr>
                <p:nvPr/>
              </p:nvSpPr>
              <p:spPr bwMode="auto">
                <a:xfrm>
                  <a:off x="117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4" name="Line 12"/>
                <p:cNvSpPr>
                  <a:spLocks noChangeShapeType="1"/>
                </p:cNvSpPr>
                <p:nvPr/>
              </p:nvSpPr>
              <p:spPr bwMode="auto">
                <a:xfrm>
                  <a:off x="154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5" name="Line 13"/>
                <p:cNvSpPr>
                  <a:spLocks noChangeShapeType="1"/>
                </p:cNvSpPr>
                <p:nvPr/>
              </p:nvSpPr>
              <p:spPr bwMode="auto">
                <a:xfrm>
                  <a:off x="192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6" name="Line 14"/>
                <p:cNvSpPr>
                  <a:spLocks noChangeShapeType="1"/>
                </p:cNvSpPr>
                <p:nvPr/>
              </p:nvSpPr>
              <p:spPr bwMode="auto">
                <a:xfrm>
                  <a:off x="229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7" name="Line 15"/>
                <p:cNvSpPr>
                  <a:spLocks noChangeShapeType="1"/>
                </p:cNvSpPr>
                <p:nvPr/>
              </p:nvSpPr>
              <p:spPr bwMode="auto">
                <a:xfrm>
                  <a:off x="266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8" name="Line 16"/>
                <p:cNvSpPr>
                  <a:spLocks noChangeShapeType="1"/>
                </p:cNvSpPr>
                <p:nvPr/>
              </p:nvSpPr>
              <p:spPr bwMode="auto">
                <a:xfrm>
                  <a:off x="303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49" name="Line 17"/>
                <p:cNvSpPr>
                  <a:spLocks noChangeShapeType="1"/>
                </p:cNvSpPr>
                <p:nvPr/>
              </p:nvSpPr>
              <p:spPr bwMode="auto">
                <a:xfrm>
                  <a:off x="340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378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415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452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3" name="Line 21"/>
                <p:cNvSpPr>
                  <a:spLocks noChangeShapeType="1"/>
                </p:cNvSpPr>
                <p:nvPr/>
              </p:nvSpPr>
              <p:spPr bwMode="auto">
                <a:xfrm>
                  <a:off x="4896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4" name="Line 22"/>
                <p:cNvSpPr>
                  <a:spLocks noChangeShapeType="1"/>
                </p:cNvSpPr>
                <p:nvPr/>
              </p:nvSpPr>
              <p:spPr bwMode="auto">
                <a:xfrm>
                  <a:off x="5268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5" name="Line 23"/>
                <p:cNvSpPr>
                  <a:spLocks noChangeShapeType="1"/>
                </p:cNvSpPr>
                <p:nvPr/>
              </p:nvSpPr>
              <p:spPr bwMode="auto">
                <a:xfrm>
                  <a:off x="5640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6" name="Line 24"/>
                <p:cNvSpPr>
                  <a:spLocks noChangeShapeType="1"/>
                </p:cNvSpPr>
                <p:nvPr/>
              </p:nvSpPr>
              <p:spPr bwMode="auto">
                <a:xfrm>
                  <a:off x="6012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57" name="Line 25"/>
                <p:cNvSpPr>
                  <a:spLocks noChangeShapeType="1"/>
                </p:cNvSpPr>
                <p:nvPr/>
              </p:nvSpPr>
              <p:spPr bwMode="auto">
                <a:xfrm>
                  <a:off x="6384" y="385"/>
                  <a:ext cx="0" cy="40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0728" name="Group 26"/>
              <p:cNvGrpSpPr>
                <a:grpSpLocks/>
              </p:cNvGrpSpPr>
              <p:nvPr/>
            </p:nvGrpSpPr>
            <p:grpSpPr bwMode="auto">
              <a:xfrm>
                <a:off x="287" y="720"/>
                <a:ext cx="6193" cy="3600"/>
                <a:chOff x="143" y="1872"/>
                <a:chExt cx="6385" cy="2400"/>
              </a:xfrm>
            </p:grpSpPr>
            <p:grpSp>
              <p:nvGrpSpPr>
                <p:cNvPr id="30729" name="Group 27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0734" name="Line 2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5" name="Line 2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6" name="Line 3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7" name="Line 3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39" name="Line 3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0740" name="Line 3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0730" name="Line 35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1" name="Line 36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2" name="Line 3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0733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0726" name="Freeform 39"/>
            <p:cNvSpPr>
              <a:spLocks/>
            </p:cNvSpPr>
            <p:nvPr/>
          </p:nvSpPr>
          <p:spPr bwMode="auto">
            <a:xfrm>
              <a:off x="330" y="576"/>
              <a:ext cx="6288" cy="3744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7531 h 2640"/>
                <a:gd name="T4" fmla="*/ 17737 w 3744"/>
                <a:gd name="T5" fmla="*/ 7531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15051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 rot="-5400000">
            <a:off x="-1624806" y="1745460"/>
            <a:ext cx="10777538" cy="7423153"/>
            <a:chOff x="56" y="-20"/>
            <a:chExt cx="6789" cy="4676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424" y="4032"/>
              <a:ext cx="6008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Diagramme de Pareto</a:t>
              </a:r>
            </a:p>
          </p:txBody>
        </p:sp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835" y="576"/>
              <a:ext cx="5424" cy="2832"/>
              <a:chOff x="720" y="576"/>
              <a:chExt cx="5659" cy="3120"/>
            </a:xfrm>
          </p:grpSpPr>
          <p:grpSp>
            <p:nvGrpSpPr>
              <p:cNvPr id="34865" name="Group 6"/>
              <p:cNvGrpSpPr>
                <a:grpSpLocks/>
              </p:cNvGrpSpPr>
              <p:nvPr/>
            </p:nvGrpSpPr>
            <p:grpSpPr bwMode="auto">
              <a:xfrm>
                <a:off x="721" y="576"/>
                <a:ext cx="5658" cy="3120"/>
                <a:chOff x="721" y="576"/>
                <a:chExt cx="5658" cy="3120"/>
              </a:xfrm>
            </p:grpSpPr>
            <p:sp>
              <p:nvSpPr>
                <p:cNvPr id="34879" name="Line 7"/>
                <p:cNvSpPr>
                  <a:spLocks noChangeShapeType="1"/>
                </p:cNvSpPr>
                <p:nvPr/>
              </p:nvSpPr>
              <p:spPr bwMode="auto">
                <a:xfrm>
                  <a:off x="72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0" name="Line 8"/>
                <p:cNvSpPr>
                  <a:spLocks noChangeShapeType="1"/>
                </p:cNvSpPr>
                <p:nvPr/>
              </p:nvSpPr>
              <p:spPr bwMode="auto">
                <a:xfrm>
                  <a:off x="128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1" name="Line 9"/>
                <p:cNvSpPr>
                  <a:spLocks noChangeShapeType="1"/>
                </p:cNvSpPr>
                <p:nvPr/>
              </p:nvSpPr>
              <p:spPr bwMode="auto">
                <a:xfrm>
                  <a:off x="185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2" name="Line 10"/>
                <p:cNvSpPr>
                  <a:spLocks noChangeShapeType="1"/>
                </p:cNvSpPr>
                <p:nvPr/>
              </p:nvSpPr>
              <p:spPr bwMode="auto">
                <a:xfrm>
                  <a:off x="2418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3" name="Line 11"/>
                <p:cNvSpPr>
                  <a:spLocks noChangeShapeType="1"/>
                </p:cNvSpPr>
                <p:nvPr/>
              </p:nvSpPr>
              <p:spPr bwMode="auto">
                <a:xfrm>
                  <a:off x="2984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4" name="Line 12"/>
                <p:cNvSpPr>
                  <a:spLocks noChangeShapeType="1"/>
                </p:cNvSpPr>
                <p:nvPr/>
              </p:nvSpPr>
              <p:spPr bwMode="auto">
                <a:xfrm>
                  <a:off x="3550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5" name="Line 13"/>
                <p:cNvSpPr>
                  <a:spLocks noChangeShapeType="1"/>
                </p:cNvSpPr>
                <p:nvPr/>
              </p:nvSpPr>
              <p:spPr bwMode="auto">
                <a:xfrm>
                  <a:off x="4116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6" name="Line 14"/>
                <p:cNvSpPr>
                  <a:spLocks noChangeShapeType="1"/>
                </p:cNvSpPr>
                <p:nvPr/>
              </p:nvSpPr>
              <p:spPr bwMode="auto">
                <a:xfrm>
                  <a:off x="468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7" name="Line 15"/>
                <p:cNvSpPr>
                  <a:spLocks noChangeShapeType="1"/>
                </p:cNvSpPr>
                <p:nvPr/>
              </p:nvSpPr>
              <p:spPr bwMode="auto">
                <a:xfrm>
                  <a:off x="524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8" name="Line 16"/>
                <p:cNvSpPr>
                  <a:spLocks noChangeShapeType="1"/>
                </p:cNvSpPr>
                <p:nvPr/>
              </p:nvSpPr>
              <p:spPr bwMode="auto">
                <a:xfrm>
                  <a:off x="581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9" name="Line 17"/>
                <p:cNvSpPr>
                  <a:spLocks noChangeShapeType="1"/>
                </p:cNvSpPr>
                <p:nvPr/>
              </p:nvSpPr>
              <p:spPr bwMode="auto">
                <a:xfrm>
                  <a:off x="6379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4866" name="Group 18"/>
              <p:cNvGrpSpPr>
                <a:grpSpLocks/>
              </p:cNvGrpSpPr>
              <p:nvPr/>
            </p:nvGrpSpPr>
            <p:grpSpPr bwMode="auto">
              <a:xfrm>
                <a:off x="720" y="576"/>
                <a:ext cx="5658" cy="3120"/>
                <a:chOff x="143" y="1872"/>
                <a:chExt cx="6385" cy="2400"/>
              </a:xfrm>
            </p:grpSpPr>
            <p:grpSp>
              <p:nvGrpSpPr>
                <p:cNvPr id="34867" name="Group 19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4872" name="Line 2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3" name="Line 2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4" name="Line 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5" name="Line 2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6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7" name="Line 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8" name="Line 2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4868" name="Line 2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69" name="Line 2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0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1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4822" name="Rectangle 31"/>
            <p:cNvSpPr>
              <a:spLocks noChangeArrowheads="1"/>
            </p:cNvSpPr>
            <p:nvPr/>
          </p:nvSpPr>
          <p:spPr bwMode="auto">
            <a:xfrm>
              <a:off x="73" y="3599"/>
              <a:ext cx="55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éléments</a:t>
              </a:r>
            </a:p>
          </p:txBody>
        </p:sp>
        <p:sp>
          <p:nvSpPr>
            <p:cNvPr id="34823" name="Freeform 32"/>
            <p:cNvSpPr>
              <a:spLocks/>
            </p:cNvSpPr>
            <p:nvPr/>
          </p:nvSpPr>
          <p:spPr bwMode="auto">
            <a:xfrm>
              <a:off x="835" y="432"/>
              <a:ext cx="5664" cy="2976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3782 h 2640"/>
                <a:gd name="T4" fmla="*/ 12963 w 3744"/>
                <a:gd name="T5" fmla="*/ 3782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819" y="301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469" y="4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469" y="7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90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69" y="10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80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69" y="13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469" y="162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469" y="190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469" y="21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69" y="24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69" y="27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469" y="30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6278" y="3085"/>
              <a:ext cx="5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ordre</a:t>
              </a:r>
            </a:p>
            <a:p>
              <a:r>
                <a:rPr lang="fr-FR" altLang="fr-FR" sz="1200" dirty="0">
                  <a:latin typeface="Calibri" panose="020F0502020204030204" pitchFamily="34" charset="0"/>
                </a:rPr>
                <a:t>décroissant</a:t>
              </a:r>
            </a:p>
          </p:txBody>
        </p:sp>
        <p:sp>
          <p:nvSpPr>
            <p:cNvPr id="34836" name="Line 45"/>
            <p:cNvSpPr>
              <a:spLocks noChangeShapeType="1"/>
            </p:cNvSpPr>
            <p:nvPr/>
          </p:nvSpPr>
          <p:spPr bwMode="auto">
            <a:xfrm>
              <a:off x="96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7" name="Line 46"/>
            <p:cNvSpPr>
              <a:spLocks noChangeShapeType="1"/>
            </p:cNvSpPr>
            <p:nvPr/>
          </p:nvSpPr>
          <p:spPr bwMode="auto">
            <a:xfrm>
              <a:off x="1510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8" name="Line 47"/>
            <p:cNvSpPr>
              <a:spLocks noChangeShapeType="1"/>
            </p:cNvSpPr>
            <p:nvPr/>
          </p:nvSpPr>
          <p:spPr bwMode="auto">
            <a:xfrm>
              <a:off x="2052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9" name="Line 48"/>
            <p:cNvSpPr>
              <a:spLocks noChangeShapeType="1"/>
            </p:cNvSpPr>
            <p:nvPr/>
          </p:nvSpPr>
          <p:spPr bwMode="auto">
            <a:xfrm>
              <a:off x="2594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0" name="Line 49"/>
            <p:cNvSpPr>
              <a:spLocks noChangeShapeType="1"/>
            </p:cNvSpPr>
            <p:nvPr/>
          </p:nvSpPr>
          <p:spPr bwMode="auto">
            <a:xfrm>
              <a:off x="313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1" name="Line 50"/>
            <p:cNvSpPr>
              <a:spLocks noChangeShapeType="1"/>
            </p:cNvSpPr>
            <p:nvPr/>
          </p:nvSpPr>
          <p:spPr bwMode="auto">
            <a:xfrm>
              <a:off x="3679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2" name="Line 51"/>
            <p:cNvSpPr>
              <a:spLocks noChangeShapeType="1"/>
            </p:cNvSpPr>
            <p:nvPr/>
          </p:nvSpPr>
          <p:spPr bwMode="auto">
            <a:xfrm>
              <a:off x="4221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3" name="Line 52"/>
            <p:cNvSpPr>
              <a:spLocks noChangeShapeType="1"/>
            </p:cNvSpPr>
            <p:nvPr/>
          </p:nvSpPr>
          <p:spPr bwMode="auto">
            <a:xfrm>
              <a:off x="4763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4" name="Line 53"/>
            <p:cNvSpPr>
              <a:spLocks noChangeShapeType="1"/>
            </p:cNvSpPr>
            <p:nvPr/>
          </p:nvSpPr>
          <p:spPr bwMode="auto">
            <a:xfrm>
              <a:off x="5306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5" name="Line 54"/>
            <p:cNvSpPr>
              <a:spLocks noChangeShapeType="1"/>
            </p:cNvSpPr>
            <p:nvPr/>
          </p:nvSpPr>
          <p:spPr bwMode="auto">
            <a:xfrm>
              <a:off x="5848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6" name="Line 55"/>
            <p:cNvSpPr>
              <a:spLocks noChangeShapeType="1"/>
            </p:cNvSpPr>
            <p:nvPr/>
          </p:nvSpPr>
          <p:spPr bwMode="auto">
            <a:xfrm rot="5400000">
              <a:off x="3136" y="1320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7" name="Line 56"/>
            <p:cNvSpPr>
              <a:spLocks noChangeShapeType="1"/>
            </p:cNvSpPr>
            <p:nvPr/>
          </p:nvSpPr>
          <p:spPr bwMode="auto">
            <a:xfrm rot="5400000">
              <a:off x="3428" y="1340"/>
              <a:ext cx="0" cy="6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8" name="Line 57"/>
            <p:cNvSpPr>
              <a:spLocks noChangeShapeType="1"/>
            </p:cNvSpPr>
            <p:nvPr/>
          </p:nvSpPr>
          <p:spPr bwMode="auto">
            <a:xfrm rot="5400000">
              <a:off x="3136" y="1944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9" name="Rectangle 58"/>
            <p:cNvSpPr>
              <a:spLocks noChangeArrowheads="1"/>
            </p:cNvSpPr>
            <p:nvPr/>
          </p:nvSpPr>
          <p:spPr bwMode="auto">
            <a:xfrm>
              <a:off x="56" y="4411"/>
              <a:ext cx="3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valeur</a:t>
              </a:r>
            </a:p>
          </p:txBody>
        </p:sp>
        <p:sp>
          <p:nvSpPr>
            <p:cNvPr id="34850" name="Rectangle 59"/>
            <p:cNvSpPr>
              <a:spLocks noChangeArrowheads="1"/>
            </p:cNvSpPr>
            <p:nvPr/>
          </p:nvSpPr>
          <p:spPr bwMode="auto">
            <a:xfrm>
              <a:off x="231" y="4097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51" name="Line 60"/>
            <p:cNvSpPr>
              <a:spLocks noChangeShapeType="1"/>
            </p:cNvSpPr>
            <p:nvPr/>
          </p:nvSpPr>
          <p:spPr bwMode="auto">
            <a:xfrm flipH="1">
              <a:off x="429" y="3408"/>
              <a:ext cx="406" cy="6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2" name="Line 61"/>
            <p:cNvSpPr>
              <a:spLocks noChangeShapeType="1"/>
            </p:cNvSpPr>
            <p:nvPr/>
          </p:nvSpPr>
          <p:spPr bwMode="auto">
            <a:xfrm flipH="1">
              <a:off x="97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3" name="Line 62"/>
            <p:cNvSpPr>
              <a:spLocks noChangeShapeType="1"/>
            </p:cNvSpPr>
            <p:nvPr/>
          </p:nvSpPr>
          <p:spPr bwMode="auto">
            <a:xfrm flipH="1">
              <a:off x="151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4" name="Line 63"/>
            <p:cNvSpPr>
              <a:spLocks noChangeShapeType="1"/>
            </p:cNvSpPr>
            <p:nvPr/>
          </p:nvSpPr>
          <p:spPr bwMode="auto">
            <a:xfrm flipH="1">
              <a:off x="2056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5" name="Line 64"/>
            <p:cNvSpPr>
              <a:spLocks noChangeShapeType="1"/>
            </p:cNvSpPr>
            <p:nvPr/>
          </p:nvSpPr>
          <p:spPr bwMode="auto">
            <a:xfrm flipH="1">
              <a:off x="259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6" name="Line 65"/>
            <p:cNvSpPr>
              <a:spLocks noChangeShapeType="1"/>
            </p:cNvSpPr>
            <p:nvPr/>
          </p:nvSpPr>
          <p:spPr bwMode="auto">
            <a:xfrm flipH="1">
              <a:off x="314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7" name="Line 66"/>
            <p:cNvSpPr>
              <a:spLocks noChangeShapeType="1"/>
            </p:cNvSpPr>
            <p:nvPr/>
          </p:nvSpPr>
          <p:spPr bwMode="auto">
            <a:xfrm flipH="1">
              <a:off x="368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8" name="Line 67"/>
            <p:cNvSpPr>
              <a:spLocks noChangeShapeType="1"/>
            </p:cNvSpPr>
            <p:nvPr/>
          </p:nvSpPr>
          <p:spPr bwMode="auto">
            <a:xfrm flipH="1">
              <a:off x="4225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9" name="Line 68"/>
            <p:cNvSpPr>
              <a:spLocks noChangeShapeType="1"/>
            </p:cNvSpPr>
            <p:nvPr/>
          </p:nvSpPr>
          <p:spPr bwMode="auto">
            <a:xfrm flipH="1">
              <a:off x="476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0" name="Line 69"/>
            <p:cNvSpPr>
              <a:spLocks noChangeShapeType="1"/>
            </p:cNvSpPr>
            <p:nvPr/>
          </p:nvSpPr>
          <p:spPr bwMode="auto">
            <a:xfrm flipH="1">
              <a:off x="5310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1" name="Line 70"/>
            <p:cNvSpPr>
              <a:spLocks noChangeShapeType="1"/>
            </p:cNvSpPr>
            <p:nvPr/>
          </p:nvSpPr>
          <p:spPr bwMode="auto">
            <a:xfrm flipH="1">
              <a:off x="585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2" name="Rectangle 71"/>
            <p:cNvSpPr>
              <a:spLocks noChangeArrowheads="1"/>
            </p:cNvSpPr>
            <p:nvPr/>
          </p:nvSpPr>
          <p:spPr bwMode="auto">
            <a:xfrm>
              <a:off x="5899" y="4088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400" b="1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63" name="Rectangle 72"/>
            <p:cNvSpPr>
              <a:spLocks noChangeArrowheads="1"/>
            </p:cNvSpPr>
            <p:nvPr/>
          </p:nvSpPr>
          <p:spPr bwMode="auto">
            <a:xfrm>
              <a:off x="5965" y="3858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34864" name="Rectangle 73"/>
            <p:cNvSpPr>
              <a:spLocks noChangeArrowheads="1"/>
            </p:cNvSpPr>
            <p:nvPr/>
          </p:nvSpPr>
          <p:spPr bwMode="auto">
            <a:xfrm>
              <a:off x="6432" y="4098"/>
              <a:ext cx="2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 rot="-5400000">
            <a:off x="-1624806" y="1745460"/>
            <a:ext cx="10777538" cy="7423153"/>
            <a:chOff x="56" y="-20"/>
            <a:chExt cx="6789" cy="4676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424" y="4032"/>
              <a:ext cx="6008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Diagramme de Pareto</a:t>
              </a:r>
            </a:p>
          </p:txBody>
        </p:sp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835" y="576"/>
              <a:ext cx="5424" cy="2832"/>
              <a:chOff x="720" y="576"/>
              <a:chExt cx="5659" cy="3120"/>
            </a:xfrm>
          </p:grpSpPr>
          <p:grpSp>
            <p:nvGrpSpPr>
              <p:cNvPr id="34865" name="Group 6"/>
              <p:cNvGrpSpPr>
                <a:grpSpLocks/>
              </p:cNvGrpSpPr>
              <p:nvPr/>
            </p:nvGrpSpPr>
            <p:grpSpPr bwMode="auto">
              <a:xfrm>
                <a:off x="721" y="576"/>
                <a:ext cx="5658" cy="3120"/>
                <a:chOff x="721" y="576"/>
                <a:chExt cx="5658" cy="3120"/>
              </a:xfrm>
            </p:grpSpPr>
            <p:sp>
              <p:nvSpPr>
                <p:cNvPr id="34879" name="Line 7"/>
                <p:cNvSpPr>
                  <a:spLocks noChangeShapeType="1"/>
                </p:cNvSpPr>
                <p:nvPr/>
              </p:nvSpPr>
              <p:spPr bwMode="auto">
                <a:xfrm>
                  <a:off x="72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0" name="Line 8"/>
                <p:cNvSpPr>
                  <a:spLocks noChangeShapeType="1"/>
                </p:cNvSpPr>
                <p:nvPr/>
              </p:nvSpPr>
              <p:spPr bwMode="auto">
                <a:xfrm>
                  <a:off x="128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1" name="Line 9"/>
                <p:cNvSpPr>
                  <a:spLocks noChangeShapeType="1"/>
                </p:cNvSpPr>
                <p:nvPr/>
              </p:nvSpPr>
              <p:spPr bwMode="auto">
                <a:xfrm>
                  <a:off x="185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2" name="Line 10"/>
                <p:cNvSpPr>
                  <a:spLocks noChangeShapeType="1"/>
                </p:cNvSpPr>
                <p:nvPr/>
              </p:nvSpPr>
              <p:spPr bwMode="auto">
                <a:xfrm>
                  <a:off x="2418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3" name="Line 11"/>
                <p:cNvSpPr>
                  <a:spLocks noChangeShapeType="1"/>
                </p:cNvSpPr>
                <p:nvPr/>
              </p:nvSpPr>
              <p:spPr bwMode="auto">
                <a:xfrm>
                  <a:off x="2984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4" name="Line 12"/>
                <p:cNvSpPr>
                  <a:spLocks noChangeShapeType="1"/>
                </p:cNvSpPr>
                <p:nvPr/>
              </p:nvSpPr>
              <p:spPr bwMode="auto">
                <a:xfrm>
                  <a:off x="3550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5" name="Line 13"/>
                <p:cNvSpPr>
                  <a:spLocks noChangeShapeType="1"/>
                </p:cNvSpPr>
                <p:nvPr/>
              </p:nvSpPr>
              <p:spPr bwMode="auto">
                <a:xfrm>
                  <a:off x="4116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6" name="Line 14"/>
                <p:cNvSpPr>
                  <a:spLocks noChangeShapeType="1"/>
                </p:cNvSpPr>
                <p:nvPr/>
              </p:nvSpPr>
              <p:spPr bwMode="auto">
                <a:xfrm>
                  <a:off x="468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7" name="Line 15"/>
                <p:cNvSpPr>
                  <a:spLocks noChangeShapeType="1"/>
                </p:cNvSpPr>
                <p:nvPr/>
              </p:nvSpPr>
              <p:spPr bwMode="auto">
                <a:xfrm>
                  <a:off x="524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8" name="Line 16"/>
                <p:cNvSpPr>
                  <a:spLocks noChangeShapeType="1"/>
                </p:cNvSpPr>
                <p:nvPr/>
              </p:nvSpPr>
              <p:spPr bwMode="auto">
                <a:xfrm>
                  <a:off x="581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9" name="Line 17"/>
                <p:cNvSpPr>
                  <a:spLocks noChangeShapeType="1"/>
                </p:cNvSpPr>
                <p:nvPr/>
              </p:nvSpPr>
              <p:spPr bwMode="auto">
                <a:xfrm>
                  <a:off x="6379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4866" name="Group 18"/>
              <p:cNvGrpSpPr>
                <a:grpSpLocks/>
              </p:cNvGrpSpPr>
              <p:nvPr/>
            </p:nvGrpSpPr>
            <p:grpSpPr bwMode="auto">
              <a:xfrm>
                <a:off x="720" y="576"/>
                <a:ext cx="5658" cy="3120"/>
                <a:chOff x="143" y="1872"/>
                <a:chExt cx="6385" cy="2400"/>
              </a:xfrm>
            </p:grpSpPr>
            <p:grpSp>
              <p:nvGrpSpPr>
                <p:cNvPr id="34867" name="Group 19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4872" name="Line 2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3" name="Line 2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4" name="Line 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5" name="Line 2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6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7" name="Line 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8" name="Line 2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4868" name="Line 2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69" name="Line 2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0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1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4822" name="Rectangle 31"/>
            <p:cNvSpPr>
              <a:spLocks noChangeArrowheads="1"/>
            </p:cNvSpPr>
            <p:nvPr/>
          </p:nvSpPr>
          <p:spPr bwMode="auto">
            <a:xfrm>
              <a:off x="73" y="3599"/>
              <a:ext cx="55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éléments</a:t>
              </a:r>
            </a:p>
          </p:txBody>
        </p:sp>
        <p:sp>
          <p:nvSpPr>
            <p:cNvPr id="34823" name="Freeform 32"/>
            <p:cNvSpPr>
              <a:spLocks/>
            </p:cNvSpPr>
            <p:nvPr/>
          </p:nvSpPr>
          <p:spPr bwMode="auto">
            <a:xfrm>
              <a:off x="835" y="432"/>
              <a:ext cx="5664" cy="2976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3782 h 2640"/>
                <a:gd name="T4" fmla="*/ 12963 w 3744"/>
                <a:gd name="T5" fmla="*/ 3782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819" y="301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469" y="4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469" y="7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90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69" y="10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80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69" y="13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469" y="162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469" y="190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469" y="21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69" y="24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69" y="27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469" y="30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6278" y="3085"/>
              <a:ext cx="5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ordre</a:t>
              </a:r>
            </a:p>
            <a:p>
              <a:r>
                <a:rPr lang="fr-FR" altLang="fr-FR" sz="1200" dirty="0">
                  <a:latin typeface="Calibri" panose="020F0502020204030204" pitchFamily="34" charset="0"/>
                </a:rPr>
                <a:t>décroissant</a:t>
              </a:r>
            </a:p>
          </p:txBody>
        </p:sp>
        <p:sp>
          <p:nvSpPr>
            <p:cNvPr id="34836" name="Line 45"/>
            <p:cNvSpPr>
              <a:spLocks noChangeShapeType="1"/>
            </p:cNvSpPr>
            <p:nvPr/>
          </p:nvSpPr>
          <p:spPr bwMode="auto">
            <a:xfrm>
              <a:off x="96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7" name="Line 46"/>
            <p:cNvSpPr>
              <a:spLocks noChangeShapeType="1"/>
            </p:cNvSpPr>
            <p:nvPr/>
          </p:nvSpPr>
          <p:spPr bwMode="auto">
            <a:xfrm>
              <a:off x="1510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8" name="Line 47"/>
            <p:cNvSpPr>
              <a:spLocks noChangeShapeType="1"/>
            </p:cNvSpPr>
            <p:nvPr/>
          </p:nvSpPr>
          <p:spPr bwMode="auto">
            <a:xfrm>
              <a:off x="2052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9" name="Line 48"/>
            <p:cNvSpPr>
              <a:spLocks noChangeShapeType="1"/>
            </p:cNvSpPr>
            <p:nvPr/>
          </p:nvSpPr>
          <p:spPr bwMode="auto">
            <a:xfrm>
              <a:off x="2594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0" name="Line 49"/>
            <p:cNvSpPr>
              <a:spLocks noChangeShapeType="1"/>
            </p:cNvSpPr>
            <p:nvPr/>
          </p:nvSpPr>
          <p:spPr bwMode="auto">
            <a:xfrm>
              <a:off x="313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1" name="Line 50"/>
            <p:cNvSpPr>
              <a:spLocks noChangeShapeType="1"/>
            </p:cNvSpPr>
            <p:nvPr/>
          </p:nvSpPr>
          <p:spPr bwMode="auto">
            <a:xfrm>
              <a:off x="3679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2" name="Line 51"/>
            <p:cNvSpPr>
              <a:spLocks noChangeShapeType="1"/>
            </p:cNvSpPr>
            <p:nvPr/>
          </p:nvSpPr>
          <p:spPr bwMode="auto">
            <a:xfrm>
              <a:off x="4221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3" name="Line 52"/>
            <p:cNvSpPr>
              <a:spLocks noChangeShapeType="1"/>
            </p:cNvSpPr>
            <p:nvPr/>
          </p:nvSpPr>
          <p:spPr bwMode="auto">
            <a:xfrm>
              <a:off x="4763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4" name="Line 53"/>
            <p:cNvSpPr>
              <a:spLocks noChangeShapeType="1"/>
            </p:cNvSpPr>
            <p:nvPr/>
          </p:nvSpPr>
          <p:spPr bwMode="auto">
            <a:xfrm>
              <a:off x="5306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5" name="Line 54"/>
            <p:cNvSpPr>
              <a:spLocks noChangeShapeType="1"/>
            </p:cNvSpPr>
            <p:nvPr/>
          </p:nvSpPr>
          <p:spPr bwMode="auto">
            <a:xfrm>
              <a:off x="5848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6" name="Line 55"/>
            <p:cNvSpPr>
              <a:spLocks noChangeShapeType="1"/>
            </p:cNvSpPr>
            <p:nvPr/>
          </p:nvSpPr>
          <p:spPr bwMode="auto">
            <a:xfrm rot="5400000">
              <a:off x="3136" y="1320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7" name="Line 56"/>
            <p:cNvSpPr>
              <a:spLocks noChangeShapeType="1"/>
            </p:cNvSpPr>
            <p:nvPr/>
          </p:nvSpPr>
          <p:spPr bwMode="auto">
            <a:xfrm rot="5400000">
              <a:off x="3428" y="1340"/>
              <a:ext cx="0" cy="6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8" name="Line 57"/>
            <p:cNvSpPr>
              <a:spLocks noChangeShapeType="1"/>
            </p:cNvSpPr>
            <p:nvPr/>
          </p:nvSpPr>
          <p:spPr bwMode="auto">
            <a:xfrm rot="5400000">
              <a:off x="3136" y="1944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9" name="Rectangle 58"/>
            <p:cNvSpPr>
              <a:spLocks noChangeArrowheads="1"/>
            </p:cNvSpPr>
            <p:nvPr/>
          </p:nvSpPr>
          <p:spPr bwMode="auto">
            <a:xfrm>
              <a:off x="56" y="4411"/>
              <a:ext cx="3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valeur</a:t>
              </a:r>
            </a:p>
          </p:txBody>
        </p:sp>
        <p:sp>
          <p:nvSpPr>
            <p:cNvPr id="34850" name="Rectangle 59"/>
            <p:cNvSpPr>
              <a:spLocks noChangeArrowheads="1"/>
            </p:cNvSpPr>
            <p:nvPr/>
          </p:nvSpPr>
          <p:spPr bwMode="auto">
            <a:xfrm>
              <a:off x="231" y="4097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51" name="Line 60"/>
            <p:cNvSpPr>
              <a:spLocks noChangeShapeType="1"/>
            </p:cNvSpPr>
            <p:nvPr/>
          </p:nvSpPr>
          <p:spPr bwMode="auto">
            <a:xfrm flipH="1">
              <a:off x="429" y="3408"/>
              <a:ext cx="406" cy="6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2" name="Line 61"/>
            <p:cNvSpPr>
              <a:spLocks noChangeShapeType="1"/>
            </p:cNvSpPr>
            <p:nvPr/>
          </p:nvSpPr>
          <p:spPr bwMode="auto">
            <a:xfrm flipH="1">
              <a:off x="97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3" name="Line 62"/>
            <p:cNvSpPr>
              <a:spLocks noChangeShapeType="1"/>
            </p:cNvSpPr>
            <p:nvPr/>
          </p:nvSpPr>
          <p:spPr bwMode="auto">
            <a:xfrm flipH="1">
              <a:off x="151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4" name="Line 63"/>
            <p:cNvSpPr>
              <a:spLocks noChangeShapeType="1"/>
            </p:cNvSpPr>
            <p:nvPr/>
          </p:nvSpPr>
          <p:spPr bwMode="auto">
            <a:xfrm flipH="1">
              <a:off x="2056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5" name="Line 64"/>
            <p:cNvSpPr>
              <a:spLocks noChangeShapeType="1"/>
            </p:cNvSpPr>
            <p:nvPr/>
          </p:nvSpPr>
          <p:spPr bwMode="auto">
            <a:xfrm flipH="1">
              <a:off x="259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6" name="Line 65"/>
            <p:cNvSpPr>
              <a:spLocks noChangeShapeType="1"/>
            </p:cNvSpPr>
            <p:nvPr/>
          </p:nvSpPr>
          <p:spPr bwMode="auto">
            <a:xfrm flipH="1">
              <a:off x="314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7" name="Line 66"/>
            <p:cNvSpPr>
              <a:spLocks noChangeShapeType="1"/>
            </p:cNvSpPr>
            <p:nvPr/>
          </p:nvSpPr>
          <p:spPr bwMode="auto">
            <a:xfrm flipH="1">
              <a:off x="368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8" name="Line 67"/>
            <p:cNvSpPr>
              <a:spLocks noChangeShapeType="1"/>
            </p:cNvSpPr>
            <p:nvPr/>
          </p:nvSpPr>
          <p:spPr bwMode="auto">
            <a:xfrm flipH="1">
              <a:off x="4225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9" name="Line 68"/>
            <p:cNvSpPr>
              <a:spLocks noChangeShapeType="1"/>
            </p:cNvSpPr>
            <p:nvPr/>
          </p:nvSpPr>
          <p:spPr bwMode="auto">
            <a:xfrm flipH="1">
              <a:off x="476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0" name="Line 69"/>
            <p:cNvSpPr>
              <a:spLocks noChangeShapeType="1"/>
            </p:cNvSpPr>
            <p:nvPr/>
          </p:nvSpPr>
          <p:spPr bwMode="auto">
            <a:xfrm flipH="1">
              <a:off x="5310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1" name="Line 70"/>
            <p:cNvSpPr>
              <a:spLocks noChangeShapeType="1"/>
            </p:cNvSpPr>
            <p:nvPr/>
          </p:nvSpPr>
          <p:spPr bwMode="auto">
            <a:xfrm flipH="1">
              <a:off x="585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2" name="Rectangle 71"/>
            <p:cNvSpPr>
              <a:spLocks noChangeArrowheads="1"/>
            </p:cNvSpPr>
            <p:nvPr/>
          </p:nvSpPr>
          <p:spPr bwMode="auto">
            <a:xfrm>
              <a:off x="5899" y="4088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400" b="1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63" name="Rectangle 72"/>
            <p:cNvSpPr>
              <a:spLocks noChangeArrowheads="1"/>
            </p:cNvSpPr>
            <p:nvPr/>
          </p:nvSpPr>
          <p:spPr bwMode="auto">
            <a:xfrm>
              <a:off x="5965" y="3858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34864" name="Rectangle 73"/>
            <p:cNvSpPr>
              <a:spLocks noChangeArrowheads="1"/>
            </p:cNvSpPr>
            <p:nvPr/>
          </p:nvSpPr>
          <p:spPr bwMode="auto">
            <a:xfrm>
              <a:off x="6432" y="4098"/>
              <a:ext cx="2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7193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 rot="-5400000">
            <a:off x="-1624806" y="1745460"/>
            <a:ext cx="10777538" cy="7423153"/>
            <a:chOff x="56" y="-20"/>
            <a:chExt cx="6789" cy="4676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424" y="4032"/>
              <a:ext cx="6008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Diagramme de Pareto</a:t>
              </a:r>
            </a:p>
          </p:txBody>
        </p:sp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835" y="576"/>
              <a:ext cx="5424" cy="2832"/>
              <a:chOff x="720" y="576"/>
              <a:chExt cx="5659" cy="3120"/>
            </a:xfrm>
          </p:grpSpPr>
          <p:grpSp>
            <p:nvGrpSpPr>
              <p:cNvPr id="34865" name="Group 6"/>
              <p:cNvGrpSpPr>
                <a:grpSpLocks/>
              </p:cNvGrpSpPr>
              <p:nvPr/>
            </p:nvGrpSpPr>
            <p:grpSpPr bwMode="auto">
              <a:xfrm>
                <a:off x="721" y="576"/>
                <a:ext cx="5658" cy="3120"/>
                <a:chOff x="721" y="576"/>
                <a:chExt cx="5658" cy="3120"/>
              </a:xfrm>
            </p:grpSpPr>
            <p:sp>
              <p:nvSpPr>
                <p:cNvPr id="34879" name="Line 7"/>
                <p:cNvSpPr>
                  <a:spLocks noChangeShapeType="1"/>
                </p:cNvSpPr>
                <p:nvPr/>
              </p:nvSpPr>
              <p:spPr bwMode="auto">
                <a:xfrm>
                  <a:off x="72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0" name="Line 8"/>
                <p:cNvSpPr>
                  <a:spLocks noChangeShapeType="1"/>
                </p:cNvSpPr>
                <p:nvPr/>
              </p:nvSpPr>
              <p:spPr bwMode="auto">
                <a:xfrm>
                  <a:off x="128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1" name="Line 9"/>
                <p:cNvSpPr>
                  <a:spLocks noChangeShapeType="1"/>
                </p:cNvSpPr>
                <p:nvPr/>
              </p:nvSpPr>
              <p:spPr bwMode="auto">
                <a:xfrm>
                  <a:off x="185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2" name="Line 10"/>
                <p:cNvSpPr>
                  <a:spLocks noChangeShapeType="1"/>
                </p:cNvSpPr>
                <p:nvPr/>
              </p:nvSpPr>
              <p:spPr bwMode="auto">
                <a:xfrm>
                  <a:off x="2418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3" name="Line 11"/>
                <p:cNvSpPr>
                  <a:spLocks noChangeShapeType="1"/>
                </p:cNvSpPr>
                <p:nvPr/>
              </p:nvSpPr>
              <p:spPr bwMode="auto">
                <a:xfrm>
                  <a:off x="2984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4" name="Line 12"/>
                <p:cNvSpPr>
                  <a:spLocks noChangeShapeType="1"/>
                </p:cNvSpPr>
                <p:nvPr/>
              </p:nvSpPr>
              <p:spPr bwMode="auto">
                <a:xfrm>
                  <a:off x="3550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5" name="Line 13"/>
                <p:cNvSpPr>
                  <a:spLocks noChangeShapeType="1"/>
                </p:cNvSpPr>
                <p:nvPr/>
              </p:nvSpPr>
              <p:spPr bwMode="auto">
                <a:xfrm>
                  <a:off x="4116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6" name="Line 14"/>
                <p:cNvSpPr>
                  <a:spLocks noChangeShapeType="1"/>
                </p:cNvSpPr>
                <p:nvPr/>
              </p:nvSpPr>
              <p:spPr bwMode="auto">
                <a:xfrm>
                  <a:off x="468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7" name="Line 15"/>
                <p:cNvSpPr>
                  <a:spLocks noChangeShapeType="1"/>
                </p:cNvSpPr>
                <p:nvPr/>
              </p:nvSpPr>
              <p:spPr bwMode="auto">
                <a:xfrm>
                  <a:off x="524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8" name="Line 16"/>
                <p:cNvSpPr>
                  <a:spLocks noChangeShapeType="1"/>
                </p:cNvSpPr>
                <p:nvPr/>
              </p:nvSpPr>
              <p:spPr bwMode="auto">
                <a:xfrm>
                  <a:off x="581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9" name="Line 17"/>
                <p:cNvSpPr>
                  <a:spLocks noChangeShapeType="1"/>
                </p:cNvSpPr>
                <p:nvPr/>
              </p:nvSpPr>
              <p:spPr bwMode="auto">
                <a:xfrm>
                  <a:off x="6379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4866" name="Group 18"/>
              <p:cNvGrpSpPr>
                <a:grpSpLocks/>
              </p:cNvGrpSpPr>
              <p:nvPr/>
            </p:nvGrpSpPr>
            <p:grpSpPr bwMode="auto">
              <a:xfrm>
                <a:off x="720" y="576"/>
                <a:ext cx="5658" cy="3120"/>
                <a:chOff x="143" y="1872"/>
                <a:chExt cx="6385" cy="2400"/>
              </a:xfrm>
            </p:grpSpPr>
            <p:grpSp>
              <p:nvGrpSpPr>
                <p:cNvPr id="34867" name="Group 19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4872" name="Line 2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3" name="Line 2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4" name="Line 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5" name="Line 2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6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7" name="Line 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8" name="Line 2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4868" name="Line 2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69" name="Line 2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0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1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4822" name="Rectangle 31"/>
            <p:cNvSpPr>
              <a:spLocks noChangeArrowheads="1"/>
            </p:cNvSpPr>
            <p:nvPr/>
          </p:nvSpPr>
          <p:spPr bwMode="auto">
            <a:xfrm>
              <a:off x="73" y="3599"/>
              <a:ext cx="55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éléments</a:t>
              </a:r>
            </a:p>
          </p:txBody>
        </p:sp>
        <p:sp>
          <p:nvSpPr>
            <p:cNvPr id="34823" name="Freeform 32"/>
            <p:cNvSpPr>
              <a:spLocks/>
            </p:cNvSpPr>
            <p:nvPr/>
          </p:nvSpPr>
          <p:spPr bwMode="auto">
            <a:xfrm>
              <a:off x="835" y="432"/>
              <a:ext cx="5664" cy="2976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3782 h 2640"/>
                <a:gd name="T4" fmla="*/ 12963 w 3744"/>
                <a:gd name="T5" fmla="*/ 3782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819" y="301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469" y="4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469" y="7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90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69" y="10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80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69" y="13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469" y="162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469" y="190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469" y="21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69" y="24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69" y="27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469" y="30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6278" y="3085"/>
              <a:ext cx="5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ordre</a:t>
              </a:r>
            </a:p>
            <a:p>
              <a:r>
                <a:rPr lang="fr-FR" altLang="fr-FR" sz="1200" dirty="0">
                  <a:latin typeface="Calibri" panose="020F0502020204030204" pitchFamily="34" charset="0"/>
                </a:rPr>
                <a:t>décroissant</a:t>
              </a:r>
            </a:p>
          </p:txBody>
        </p:sp>
        <p:sp>
          <p:nvSpPr>
            <p:cNvPr id="34836" name="Line 45"/>
            <p:cNvSpPr>
              <a:spLocks noChangeShapeType="1"/>
            </p:cNvSpPr>
            <p:nvPr/>
          </p:nvSpPr>
          <p:spPr bwMode="auto">
            <a:xfrm>
              <a:off x="96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7" name="Line 46"/>
            <p:cNvSpPr>
              <a:spLocks noChangeShapeType="1"/>
            </p:cNvSpPr>
            <p:nvPr/>
          </p:nvSpPr>
          <p:spPr bwMode="auto">
            <a:xfrm>
              <a:off x="1510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8" name="Line 47"/>
            <p:cNvSpPr>
              <a:spLocks noChangeShapeType="1"/>
            </p:cNvSpPr>
            <p:nvPr/>
          </p:nvSpPr>
          <p:spPr bwMode="auto">
            <a:xfrm>
              <a:off x="2052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9" name="Line 48"/>
            <p:cNvSpPr>
              <a:spLocks noChangeShapeType="1"/>
            </p:cNvSpPr>
            <p:nvPr/>
          </p:nvSpPr>
          <p:spPr bwMode="auto">
            <a:xfrm>
              <a:off x="2594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0" name="Line 49"/>
            <p:cNvSpPr>
              <a:spLocks noChangeShapeType="1"/>
            </p:cNvSpPr>
            <p:nvPr/>
          </p:nvSpPr>
          <p:spPr bwMode="auto">
            <a:xfrm>
              <a:off x="313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1" name="Line 50"/>
            <p:cNvSpPr>
              <a:spLocks noChangeShapeType="1"/>
            </p:cNvSpPr>
            <p:nvPr/>
          </p:nvSpPr>
          <p:spPr bwMode="auto">
            <a:xfrm>
              <a:off x="3679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2" name="Line 51"/>
            <p:cNvSpPr>
              <a:spLocks noChangeShapeType="1"/>
            </p:cNvSpPr>
            <p:nvPr/>
          </p:nvSpPr>
          <p:spPr bwMode="auto">
            <a:xfrm>
              <a:off x="4221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3" name="Line 52"/>
            <p:cNvSpPr>
              <a:spLocks noChangeShapeType="1"/>
            </p:cNvSpPr>
            <p:nvPr/>
          </p:nvSpPr>
          <p:spPr bwMode="auto">
            <a:xfrm>
              <a:off x="4763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4" name="Line 53"/>
            <p:cNvSpPr>
              <a:spLocks noChangeShapeType="1"/>
            </p:cNvSpPr>
            <p:nvPr/>
          </p:nvSpPr>
          <p:spPr bwMode="auto">
            <a:xfrm>
              <a:off x="5306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5" name="Line 54"/>
            <p:cNvSpPr>
              <a:spLocks noChangeShapeType="1"/>
            </p:cNvSpPr>
            <p:nvPr/>
          </p:nvSpPr>
          <p:spPr bwMode="auto">
            <a:xfrm>
              <a:off x="5848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6" name="Line 55"/>
            <p:cNvSpPr>
              <a:spLocks noChangeShapeType="1"/>
            </p:cNvSpPr>
            <p:nvPr/>
          </p:nvSpPr>
          <p:spPr bwMode="auto">
            <a:xfrm rot="5400000">
              <a:off x="3136" y="1320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7" name="Line 56"/>
            <p:cNvSpPr>
              <a:spLocks noChangeShapeType="1"/>
            </p:cNvSpPr>
            <p:nvPr/>
          </p:nvSpPr>
          <p:spPr bwMode="auto">
            <a:xfrm rot="5400000">
              <a:off x="3428" y="1340"/>
              <a:ext cx="0" cy="6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8" name="Line 57"/>
            <p:cNvSpPr>
              <a:spLocks noChangeShapeType="1"/>
            </p:cNvSpPr>
            <p:nvPr/>
          </p:nvSpPr>
          <p:spPr bwMode="auto">
            <a:xfrm rot="5400000">
              <a:off x="3136" y="1944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9" name="Rectangle 58"/>
            <p:cNvSpPr>
              <a:spLocks noChangeArrowheads="1"/>
            </p:cNvSpPr>
            <p:nvPr/>
          </p:nvSpPr>
          <p:spPr bwMode="auto">
            <a:xfrm>
              <a:off x="56" y="4411"/>
              <a:ext cx="3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valeur</a:t>
              </a:r>
            </a:p>
          </p:txBody>
        </p:sp>
        <p:sp>
          <p:nvSpPr>
            <p:cNvPr id="34850" name="Rectangle 59"/>
            <p:cNvSpPr>
              <a:spLocks noChangeArrowheads="1"/>
            </p:cNvSpPr>
            <p:nvPr/>
          </p:nvSpPr>
          <p:spPr bwMode="auto">
            <a:xfrm>
              <a:off x="231" y="4097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51" name="Line 60"/>
            <p:cNvSpPr>
              <a:spLocks noChangeShapeType="1"/>
            </p:cNvSpPr>
            <p:nvPr/>
          </p:nvSpPr>
          <p:spPr bwMode="auto">
            <a:xfrm flipH="1">
              <a:off x="429" y="3408"/>
              <a:ext cx="406" cy="6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2" name="Line 61"/>
            <p:cNvSpPr>
              <a:spLocks noChangeShapeType="1"/>
            </p:cNvSpPr>
            <p:nvPr/>
          </p:nvSpPr>
          <p:spPr bwMode="auto">
            <a:xfrm flipH="1">
              <a:off x="97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3" name="Line 62"/>
            <p:cNvSpPr>
              <a:spLocks noChangeShapeType="1"/>
            </p:cNvSpPr>
            <p:nvPr/>
          </p:nvSpPr>
          <p:spPr bwMode="auto">
            <a:xfrm flipH="1">
              <a:off x="151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4" name="Line 63"/>
            <p:cNvSpPr>
              <a:spLocks noChangeShapeType="1"/>
            </p:cNvSpPr>
            <p:nvPr/>
          </p:nvSpPr>
          <p:spPr bwMode="auto">
            <a:xfrm flipH="1">
              <a:off x="2056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5" name="Line 64"/>
            <p:cNvSpPr>
              <a:spLocks noChangeShapeType="1"/>
            </p:cNvSpPr>
            <p:nvPr/>
          </p:nvSpPr>
          <p:spPr bwMode="auto">
            <a:xfrm flipH="1">
              <a:off x="259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6" name="Line 65"/>
            <p:cNvSpPr>
              <a:spLocks noChangeShapeType="1"/>
            </p:cNvSpPr>
            <p:nvPr/>
          </p:nvSpPr>
          <p:spPr bwMode="auto">
            <a:xfrm flipH="1">
              <a:off x="314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7" name="Line 66"/>
            <p:cNvSpPr>
              <a:spLocks noChangeShapeType="1"/>
            </p:cNvSpPr>
            <p:nvPr/>
          </p:nvSpPr>
          <p:spPr bwMode="auto">
            <a:xfrm flipH="1">
              <a:off x="368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8" name="Line 67"/>
            <p:cNvSpPr>
              <a:spLocks noChangeShapeType="1"/>
            </p:cNvSpPr>
            <p:nvPr/>
          </p:nvSpPr>
          <p:spPr bwMode="auto">
            <a:xfrm flipH="1">
              <a:off x="4225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9" name="Line 68"/>
            <p:cNvSpPr>
              <a:spLocks noChangeShapeType="1"/>
            </p:cNvSpPr>
            <p:nvPr/>
          </p:nvSpPr>
          <p:spPr bwMode="auto">
            <a:xfrm flipH="1">
              <a:off x="476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0" name="Line 69"/>
            <p:cNvSpPr>
              <a:spLocks noChangeShapeType="1"/>
            </p:cNvSpPr>
            <p:nvPr/>
          </p:nvSpPr>
          <p:spPr bwMode="auto">
            <a:xfrm flipH="1">
              <a:off x="5310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1" name="Line 70"/>
            <p:cNvSpPr>
              <a:spLocks noChangeShapeType="1"/>
            </p:cNvSpPr>
            <p:nvPr/>
          </p:nvSpPr>
          <p:spPr bwMode="auto">
            <a:xfrm flipH="1">
              <a:off x="585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2" name="Rectangle 71"/>
            <p:cNvSpPr>
              <a:spLocks noChangeArrowheads="1"/>
            </p:cNvSpPr>
            <p:nvPr/>
          </p:nvSpPr>
          <p:spPr bwMode="auto">
            <a:xfrm>
              <a:off x="5899" y="4088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400" b="1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63" name="Rectangle 72"/>
            <p:cNvSpPr>
              <a:spLocks noChangeArrowheads="1"/>
            </p:cNvSpPr>
            <p:nvPr/>
          </p:nvSpPr>
          <p:spPr bwMode="auto">
            <a:xfrm>
              <a:off x="5965" y="3858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34864" name="Rectangle 73"/>
            <p:cNvSpPr>
              <a:spLocks noChangeArrowheads="1"/>
            </p:cNvSpPr>
            <p:nvPr/>
          </p:nvSpPr>
          <p:spPr bwMode="auto">
            <a:xfrm>
              <a:off x="6432" y="4098"/>
              <a:ext cx="2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8362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 rot="-5400000">
            <a:off x="-1624806" y="1745460"/>
            <a:ext cx="10777538" cy="7423153"/>
            <a:chOff x="56" y="-20"/>
            <a:chExt cx="6789" cy="4676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424" y="4032"/>
              <a:ext cx="6008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Diagramme de Pareto</a:t>
              </a:r>
            </a:p>
          </p:txBody>
        </p:sp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835" y="576"/>
              <a:ext cx="5424" cy="2832"/>
              <a:chOff x="720" y="576"/>
              <a:chExt cx="5659" cy="3120"/>
            </a:xfrm>
          </p:grpSpPr>
          <p:grpSp>
            <p:nvGrpSpPr>
              <p:cNvPr id="34865" name="Group 6"/>
              <p:cNvGrpSpPr>
                <a:grpSpLocks/>
              </p:cNvGrpSpPr>
              <p:nvPr/>
            </p:nvGrpSpPr>
            <p:grpSpPr bwMode="auto">
              <a:xfrm>
                <a:off x="721" y="576"/>
                <a:ext cx="5658" cy="3120"/>
                <a:chOff x="721" y="576"/>
                <a:chExt cx="5658" cy="3120"/>
              </a:xfrm>
            </p:grpSpPr>
            <p:sp>
              <p:nvSpPr>
                <p:cNvPr id="34879" name="Line 7"/>
                <p:cNvSpPr>
                  <a:spLocks noChangeShapeType="1"/>
                </p:cNvSpPr>
                <p:nvPr/>
              </p:nvSpPr>
              <p:spPr bwMode="auto">
                <a:xfrm>
                  <a:off x="72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0" name="Line 8"/>
                <p:cNvSpPr>
                  <a:spLocks noChangeShapeType="1"/>
                </p:cNvSpPr>
                <p:nvPr/>
              </p:nvSpPr>
              <p:spPr bwMode="auto">
                <a:xfrm>
                  <a:off x="128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1" name="Line 9"/>
                <p:cNvSpPr>
                  <a:spLocks noChangeShapeType="1"/>
                </p:cNvSpPr>
                <p:nvPr/>
              </p:nvSpPr>
              <p:spPr bwMode="auto">
                <a:xfrm>
                  <a:off x="185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2" name="Line 10"/>
                <p:cNvSpPr>
                  <a:spLocks noChangeShapeType="1"/>
                </p:cNvSpPr>
                <p:nvPr/>
              </p:nvSpPr>
              <p:spPr bwMode="auto">
                <a:xfrm>
                  <a:off x="2418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3" name="Line 11"/>
                <p:cNvSpPr>
                  <a:spLocks noChangeShapeType="1"/>
                </p:cNvSpPr>
                <p:nvPr/>
              </p:nvSpPr>
              <p:spPr bwMode="auto">
                <a:xfrm>
                  <a:off x="2984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4" name="Line 12"/>
                <p:cNvSpPr>
                  <a:spLocks noChangeShapeType="1"/>
                </p:cNvSpPr>
                <p:nvPr/>
              </p:nvSpPr>
              <p:spPr bwMode="auto">
                <a:xfrm>
                  <a:off x="3550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5" name="Line 13"/>
                <p:cNvSpPr>
                  <a:spLocks noChangeShapeType="1"/>
                </p:cNvSpPr>
                <p:nvPr/>
              </p:nvSpPr>
              <p:spPr bwMode="auto">
                <a:xfrm>
                  <a:off x="4116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6" name="Line 14"/>
                <p:cNvSpPr>
                  <a:spLocks noChangeShapeType="1"/>
                </p:cNvSpPr>
                <p:nvPr/>
              </p:nvSpPr>
              <p:spPr bwMode="auto">
                <a:xfrm>
                  <a:off x="468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7" name="Line 15"/>
                <p:cNvSpPr>
                  <a:spLocks noChangeShapeType="1"/>
                </p:cNvSpPr>
                <p:nvPr/>
              </p:nvSpPr>
              <p:spPr bwMode="auto">
                <a:xfrm>
                  <a:off x="524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8" name="Line 16"/>
                <p:cNvSpPr>
                  <a:spLocks noChangeShapeType="1"/>
                </p:cNvSpPr>
                <p:nvPr/>
              </p:nvSpPr>
              <p:spPr bwMode="auto">
                <a:xfrm>
                  <a:off x="581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9" name="Line 17"/>
                <p:cNvSpPr>
                  <a:spLocks noChangeShapeType="1"/>
                </p:cNvSpPr>
                <p:nvPr/>
              </p:nvSpPr>
              <p:spPr bwMode="auto">
                <a:xfrm>
                  <a:off x="6379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4866" name="Group 18"/>
              <p:cNvGrpSpPr>
                <a:grpSpLocks/>
              </p:cNvGrpSpPr>
              <p:nvPr/>
            </p:nvGrpSpPr>
            <p:grpSpPr bwMode="auto">
              <a:xfrm>
                <a:off x="720" y="576"/>
                <a:ext cx="5658" cy="3120"/>
                <a:chOff x="143" y="1872"/>
                <a:chExt cx="6385" cy="2400"/>
              </a:xfrm>
            </p:grpSpPr>
            <p:grpSp>
              <p:nvGrpSpPr>
                <p:cNvPr id="34867" name="Group 19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4872" name="Line 2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3" name="Line 2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4" name="Line 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5" name="Line 2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6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7" name="Line 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8" name="Line 2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4868" name="Line 2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69" name="Line 2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0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1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4822" name="Rectangle 31"/>
            <p:cNvSpPr>
              <a:spLocks noChangeArrowheads="1"/>
            </p:cNvSpPr>
            <p:nvPr/>
          </p:nvSpPr>
          <p:spPr bwMode="auto">
            <a:xfrm>
              <a:off x="73" y="3599"/>
              <a:ext cx="55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éléments</a:t>
              </a:r>
            </a:p>
          </p:txBody>
        </p:sp>
        <p:sp>
          <p:nvSpPr>
            <p:cNvPr id="34823" name="Freeform 32"/>
            <p:cNvSpPr>
              <a:spLocks/>
            </p:cNvSpPr>
            <p:nvPr/>
          </p:nvSpPr>
          <p:spPr bwMode="auto">
            <a:xfrm>
              <a:off x="835" y="432"/>
              <a:ext cx="5664" cy="2976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3782 h 2640"/>
                <a:gd name="T4" fmla="*/ 12963 w 3744"/>
                <a:gd name="T5" fmla="*/ 3782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819" y="301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469" y="4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469" y="7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90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69" y="10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80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69" y="13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469" y="162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469" y="190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469" y="21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69" y="24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69" y="27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469" y="30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6278" y="3085"/>
              <a:ext cx="5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ordre</a:t>
              </a:r>
            </a:p>
            <a:p>
              <a:r>
                <a:rPr lang="fr-FR" altLang="fr-FR" sz="1200" dirty="0">
                  <a:latin typeface="Calibri" panose="020F0502020204030204" pitchFamily="34" charset="0"/>
                </a:rPr>
                <a:t>décroissant</a:t>
              </a:r>
            </a:p>
          </p:txBody>
        </p:sp>
        <p:sp>
          <p:nvSpPr>
            <p:cNvPr id="34836" name="Line 45"/>
            <p:cNvSpPr>
              <a:spLocks noChangeShapeType="1"/>
            </p:cNvSpPr>
            <p:nvPr/>
          </p:nvSpPr>
          <p:spPr bwMode="auto">
            <a:xfrm>
              <a:off x="96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7" name="Line 46"/>
            <p:cNvSpPr>
              <a:spLocks noChangeShapeType="1"/>
            </p:cNvSpPr>
            <p:nvPr/>
          </p:nvSpPr>
          <p:spPr bwMode="auto">
            <a:xfrm>
              <a:off x="1510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8" name="Line 47"/>
            <p:cNvSpPr>
              <a:spLocks noChangeShapeType="1"/>
            </p:cNvSpPr>
            <p:nvPr/>
          </p:nvSpPr>
          <p:spPr bwMode="auto">
            <a:xfrm>
              <a:off x="2052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9" name="Line 48"/>
            <p:cNvSpPr>
              <a:spLocks noChangeShapeType="1"/>
            </p:cNvSpPr>
            <p:nvPr/>
          </p:nvSpPr>
          <p:spPr bwMode="auto">
            <a:xfrm>
              <a:off x="2594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0" name="Line 49"/>
            <p:cNvSpPr>
              <a:spLocks noChangeShapeType="1"/>
            </p:cNvSpPr>
            <p:nvPr/>
          </p:nvSpPr>
          <p:spPr bwMode="auto">
            <a:xfrm>
              <a:off x="313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1" name="Line 50"/>
            <p:cNvSpPr>
              <a:spLocks noChangeShapeType="1"/>
            </p:cNvSpPr>
            <p:nvPr/>
          </p:nvSpPr>
          <p:spPr bwMode="auto">
            <a:xfrm>
              <a:off x="3679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2" name="Line 51"/>
            <p:cNvSpPr>
              <a:spLocks noChangeShapeType="1"/>
            </p:cNvSpPr>
            <p:nvPr/>
          </p:nvSpPr>
          <p:spPr bwMode="auto">
            <a:xfrm>
              <a:off x="4221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3" name="Line 52"/>
            <p:cNvSpPr>
              <a:spLocks noChangeShapeType="1"/>
            </p:cNvSpPr>
            <p:nvPr/>
          </p:nvSpPr>
          <p:spPr bwMode="auto">
            <a:xfrm>
              <a:off x="4763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4" name="Line 53"/>
            <p:cNvSpPr>
              <a:spLocks noChangeShapeType="1"/>
            </p:cNvSpPr>
            <p:nvPr/>
          </p:nvSpPr>
          <p:spPr bwMode="auto">
            <a:xfrm>
              <a:off x="5306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5" name="Line 54"/>
            <p:cNvSpPr>
              <a:spLocks noChangeShapeType="1"/>
            </p:cNvSpPr>
            <p:nvPr/>
          </p:nvSpPr>
          <p:spPr bwMode="auto">
            <a:xfrm>
              <a:off x="5848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6" name="Line 55"/>
            <p:cNvSpPr>
              <a:spLocks noChangeShapeType="1"/>
            </p:cNvSpPr>
            <p:nvPr/>
          </p:nvSpPr>
          <p:spPr bwMode="auto">
            <a:xfrm rot="5400000">
              <a:off x="3136" y="1320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7" name="Line 56"/>
            <p:cNvSpPr>
              <a:spLocks noChangeShapeType="1"/>
            </p:cNvSpPr>
            <p:nvPr/>
          </p:nvSpPr>
          <p:spPr bwMode="auto">
            <a:xfrm rot="5400000">
              <a:off x="3428" y="1340"/>
              <a:ext cx="0" cy="6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8" name="Line 57"/>
            <p:cNvSpPr>
              <a:spLocks noChangeShapeType="1"/>
            </p:cNvSpPr>
            <p:nvPr/>
          </p:nvSpPr>
          <p:spPr bwMode="auto">
            <a:xfrm rot="5400000">
              <a:off x="3136" y="1944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9" name="Rectangle 58"/>
            <p:cNvSpPr>
              <a:spLocks noChangeArrowheads="1"/>
            </p:cNvSpPr>
            <p:nvPr/>
          </p:nvSpPr>
          <p:spPr bwMode="auto">
            <a:xfrm>
              <a:off x="56" y="4411"/>
              <a:ext cx="3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valeur</a:t>
              </a:r>
            </a:p>
          </p:txBody>
        </p:sp>
        <p:sp>
          <p:nvSpPr>
            <p:cNvPr id="34850" name="Rectangle 59"/>
            <p:cNvSpPr>
              <a:spLocks noChangeArrowheads="1"/>
            </p:cNvSpPr>
            <p:nvPr/>
          </p:nvSpPr>
          <p:spPr bwMode="auto">
            <a:xfrm>
              <a:off x="231" y="4097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51" name="Line 60"/>
            <p:cNvSpPr>
              <a:spLocks noChangeShapeType="1"/>
            </p:cNvSpPr>
            <p:nvPr/>
          </p:nvSpPr>
          <p:spPr bwMode="auto">
            <a:xfrm flipH="1">
              <a:off x="429" y="3408"/>
              <a:ext cx="406" cy="6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2" name="Line 61"/>
            <p:cNvSpPr>
              <a:spLocks noChangeShapeType="1"/>
            </p:cNvSpPr>
            <p:nvPr/>
          </p:nvSpPr>
          <p:spPr bwMode="auto">
            <a:xfrm flipH="1">
              <a:off x="97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3" name="Line 62"/>
            <p:cNvSpPr>
              <a:spLocks noChangeShapeType="1"/>
            </p:cNvSpPr>
            <p:nvPr/>
          </p:nvSpPr>
          <p:spPr bwMode="auto">
            <a:xfrm flipH="1">
              <a:off x="151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4" name="Line 63"/>
            <p:cNvSpPr>
              <a:spLocks noChangeShapeType="1"/>
            </p:cNvSpPr>
            <p:nvPr/>
          </p:nvSpPr>
          <p:spPr bwMode="auto">
            <a:xfrm flipH="1">
              <a:off x="2056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5" name="Line 64"/>
            <p:cNvSpPr>
              <a:spLocks noChangeShapeType="1"/>
            </p:cNvSpPr>
            <p:nvPr/>
          </p:nvSpPr>
          <p:spPr bwMode="auto">
            <a:xfrm flipH="1">
              <a:off x="259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6" name="Line 65"/>
            <p:cNvSpPr>
              <a:spLocks noChangeShapeType="1"/>
            </p:cNvSpPr>
            <p:nvPr/>
          </p:nvSpPr>
          <p:spPr bwMode="auto">
            <a:xfrm flipH="1">
              <a:off x="314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7" name="Line 66"/>
            <p:cNvSpPr>
              <a:spLocks noChangeShapeType="1"/>
            </p:cNvSpPr>
            <p:nvPr/>
          </p:nvSpPr>
          <p:spPr bwMode="auto">
            <a:xfrm flipH="1">
              <a:off x="368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8" name="Line 67"/>
            <p:cNvSpPr>
              <a:spLocks noChangeShapeType="1"/>
            </p:cNvSpPr>
            <p:nvPr/>
          </p:nvSpPr>
          <p:spPr bwMode="auto">
            <a:xfrm flipH="1">
              <a:off x="4225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9" name="Line 68"/>
            <p:cNvSpPr>
              <a:spLocks noChangeShapeType="1"/>
            </p:cNvSpPr>
            <p:nvPr/>
          </p:nvSpPr>
          <p:spPr bwMode="auto">
            <a:xfrm flipH="1">
              <a:off x="476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0" name="Line 69"/>
            <p:cNvSpPr>
              <a:spLocks noChangeShapeType="1"/>
            </p:cNvSpPr>
            <p:nvPr/>
          </p:nvSpPr>
          <p:spPr bwMode="auto">
            <a:xfrm flipH="1">
              <a:off x="5310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1" name="Line 70"/>
            <p:cNvSpPr>
              <a:spLocks noChangeShapeType="1"/>
            </p:cNvSpPr>
            <p:nvPr/>
          </p:nvSpPr>
          <p:spPr bwMode="auto">
            <a:xfrm flipH="1">
              <a:off x="585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2" name="Rectangle 71"/>
            <p:cNvSpPr>
              <a:spLocks noChangeArrowheads="1"/>
            </p:cNvSpPr>
            <p:nvPr/>
          </p:nvSpPr>
          <p:spPr bwMode="auto">
            <a:xfrm>
              <a:off x="5899" y="4088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400" b="1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63" name="Rectangle 72"/>
            <p:cNvSpPr>
              <a:spLocks noChangeArrowheads="1"/>
            </p:cNvSpPr>
            <p:nvPr/>
          </p:nvSpPr>
          <p:spPr bwMode="auto">
            <a:xfrm>
              <a:off x="5965" y="3858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34864" name="Rectangle 73"/>
            <p:cNvSpPr>
              <a:spLocks noChangeArrowheads="1"/>
            </p:cNvSpPr>
            <p:nvPr/>
          </p:nvSpPr>
          <p:spPr bwMode="auto">
            <a:xfrm>
              <a:off x="6432" y="4098"/>
              <a:ext cx="2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9409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 rot="-5400000">
            <a:off x="-1624806" y="1745460"/>
            <a:ext cx="10777538" cy="7423153"/>
            <a:chOff x="56" y="-20"/>
            <a:chExt cx="6789" cy="4676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424" y="4032"/>
              <a:ext cx="6008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Diagramme de Pareto</a:t>
              </a:r>
            </a:p>
          </p:txBody>
        </p:sp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835" y="576"/>
              <a:ext cx="5424" cy="2832"/>
              <a:chOff x="720" y="576"/>
              <a:chExt cx="5659" cy="3120"/>
            </a:xfrm>
          </p:grpSpPr>
          <p:grpSp>
            <p:nvGrpSpPr>
              <p:cNvPr id="34865" name="Group 6"/>
              <p:cNvGrpSpPr>
                <a:grpSpLocks/>
              </p:cNvGrpSpPr>
              <p:nvPr/>
            </p:nvGrpSpPr>
            <p:grpSpPr bwMode="auto">
              <a:xfrm>
                <a:off x="721" y="576"/>
                <a:ext cx="5658" cy="3120"/>
                <a:chOff x="721" y="576"/>
                <a:chExt cx="5658" cy="3120"/>
              </a:xfrm>
            </p:grpSpPr>
            <p:sp>
              <p:nvSpPr>
                <p:cNvPr id="34879" name="Line 7"/>
                <p:cNvSpPr>
                  <a:spLocks noChangeShapeType="1"/>
                </p:cNvSpPr>
                <p:nvPr/>
              </p:nvSpPr>
              <p:spPr bwMode="auto">
                <a:xfrm>
                  <a:off x="72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0" name="Line 8"/>
                <p:cNvSpPr>
                  <a:spLocks noChangeShapeType="1"/>
                </p:cNvSpPr>
                <p:nvPr/>
              </p:nvSpPr>
              <p:spPr bwMode="auto">
                <a:xfrm>
                  <a:off x="128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1" name="Line 9"/>
                <p:cNvSpPr>
                  <a:spLocks noChangeShapeType="1"/>
                </p:cNvSpPr>
                <p:nvPr/>
              </p:nvSpPr>
              <p:spPr bwMode="auto">
                <a:xfrm>
                  <a:off x="185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2" name="Line 10"/>
                <p:cNvSpPr>
                  <a:spLocks noChangeShapeType="1"/>
                </p:cNvSpPr>
                <p:nvPr/>
              </p:nvSpPr>
              <p:spPr bwMode="auto">
                <a:xfrm>
                  <a:off x="2418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3" name="Line 11"/>
                <p:cNvSpPr>
                  <a:spLocks noChangeShapeType="1"/>
                </p:cNvSpPr>
                <p:nvPr/>
              </p:nvSpPr>
              <p:spPr bwMode="auto">
                <a:xfrm>
                  <a:off x="2984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4" name="Line 12"/>
                <p:cNvSpPr>
                  <a:spLocks noChangeShapeType="1"/>
                </p:cNvSpPr>
                <p:nvPr/>
              </p:nvSpPr>
              <p:spPr bwMode="auto">
                <a:xfrm>
                  <a:off x="3550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5" name="Line 13"/>
                <p:cNvSpPr>
                  <a:spLocks noChangeShapeType="1"/>
                </p:cNvSpPr>
                <p:nvPr/>
              </p:nvSpPr>
              <p:spPr bwMode="auto">
                <a:xfrm>
                  <a:off x="4116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6" name="Line 14"/>
                <p:cNvSpPr>
                  <a:spLocks noChangeShapeType="1"/>
                </p:cNvSpPr>
                <p:nvPr/>
              </p:nvSpPr>
              <p:spPr bwMode="auto">
                <a:xfrm>
                  <a:off x="468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7" name="Line 15"/>
                <p:cNvSpPr>
                  <a:spLocks noChangeShapeType="1"/>
                </p:cNvSpPr>
                <p:nvPr/>
              </p:nvSpPr>
              <p:spPr bwMode="auto">
                <a:xfrm>
                  <a:off x="524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8" name="Line 16"/>
                <p:cNvSpPr>
                  <a:spLocks noChangeShapeType="1"/>
                </p:cNvSpPr>
                <p:nvPr/>
              </p:nvSpPr>
              <p:spPr bwMode="auto">
                <a:xfrm>
                  <a:off x="581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9" name="Line 17"/>
                <p:cNvSpPr>
                  <a:spLocks noChangeShapeType="1"/>
                </p:cNvSpPr>
                <p:nvPr/>
              </p:nvSpPr>
              <p:spPr bwMode="auto">
                <a:xfrm>
                  <a:off x="6379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4866" name="Group 18"/>
              <p:cNvGrpSpPr>
                <a:grpSpLocks/>
              </p:cNvGrpSpPr>
              <p:nvPr/>
            </p:nvGrpSpPr>
            <p:grpSpPr bwMode="auto">
              <a:xfrm>
                <a:off x="720" y="576"/>
                <a:ext cx="5658" cy="3120"/>
                <a:chOff x="143" y="1872"/>
                <a:chExt cx="6385" cy="2400"/>
              </a:xfrm>
            </p:grpSpPr>
            <p:grpSp>
              <p:nvGrpSpPr>
                <p:cNvPr id="34867" name="Group 19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4872" name="Line 2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3" name="Line 2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4" name="Line 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5" name="Line 2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6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7" name="Line 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8" name="Line 2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4868" name="Line 2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69" name="Line 2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0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1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4822" name="Rectangle 31"/>
            <p:cNvSpPr>
              <a:spLocks noChangeArrowheads="1"/>
            </p:cNvSpPr>
            <p:nvPr/>
          </p:nvSpPr>
          <p:spPr bwMode="auto">
            <a:xfrm>
              <a:off x="73" y="3599"/>
              <a:ext cx="55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éléments</a:t>
              </a:r>
            </a:p>
          </p:txBody>
        </p:sp>
        <p:sp>
          <p:nvSpPr>
            <p:cNvPr id="34823" name="Freeform 32"/>
            <p:cNvSpPr>
              <a:spLocks/>
            </p:cNvSpPr>
            <p:nvPr/>
          </p:nvSpPr>
          <p:spPr bwMode="auto">
            <a:xfrm>
              <a:off x="835" y="432"/>
              <a:ext cx="5664" cy="2976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3782 h 2640"/>
                <a:gd name="T4" fmla="*/ 12963 w 3744"/>
                <a:gd name="T5" fmla="*/ 3782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819" y="301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469" y="4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469" y="7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90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69" y="10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80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69" y="13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469" y="162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469" y="190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469" y="21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69" y="24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69" y="27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469" y="30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6278" y="3085"/>
              <a:ext cx="5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ordre</a:t>
              </a:r>
            </a:p>
            <a:p>
              <a:r>
                <a:rPr lang="fr-FR" altLang="fr-FR" sz="1200" dirty="0">
                  <a:latin typeface="Calibri" panose="020F0502020204030204" pitchFamily="34" charset="0"/>
                </a:rPr>
                <a:t>décroissant</a:t>
              </a:r>
            </a:p>
          </p:txBody>
        </p:sp>
        <p:sp>
          <p:nvSpPr>
            <p:cNvPr id="34836" name="Line 45"/>
            <p:cNvSpPr>
              <a:spLocks noChangeShapeType="1"/>
            </p:cNvSpPr>
            <p:nvPr/>
          </p:nvSpPr>
          <p:spPr bwMode="auto">
            <a:xfrm>
              <a:off x="96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7" name="Line 46"/>
            <p:cNvSpPr>
              <a:spLocks noChangeShapeType="1"/>
            </p:cNvSpPr>
            <p:nvPr/>
          </p:nvSpPr>
          <p:spPr bwMode="auto">
            <a:xfrm>
              <a:off x="1510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8" name="Line 47"/>
            <p:cNvSpPr>
              <a:spLocks noChangeShapeType="1"/>
            </p:cNvSpPr>
            <p:nvPr/>
          </p:nvSpPr>
          <p:spPr bwMode="auto">
            <a:xfrm>
              <a:off x="2052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9" name="Line 48"/>
            <p:cNvSpPr>
              <a:spLocks noChangeShapeType="1"/>
            </p:cNvSpPr>
            <p:nvPr/>
          </p:nvSpPr>
          <p:spPr bwMode="auto">
            <a:xfrm>
              <a:off x="2594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0" name="Line 49"/>
            <p:cNvSpPr>
              <a:spLocks noChangeShapeType="1"/>
            </p:cNvSpPr>
            <p:nvPr/>
          </p:nvSpPr>
          <p:spPr bwMode="auto">
            <a:xfrm>
              <a:off x="313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1" name="Line 50"/>
            <p:cNvSpPr>
              <a:spLocks noChangeShapeType="1"/>
            </p:cNvSpPr>
            <p:nvPr/>
          </p:nvSpPr>
          <p:spPr bwMode="auto">
            <a:xfrm>
              <a:off x="3679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2" name="Line 51"/>
            <p:cNvSpPr>
              <a:spLocks noChangeShapeType="1"/>
            </p:cNvSpPr>
            <p:nvPr/>
          </p:nvSpPr>
          <p:spPr bwMode="auto">
            <a:xfrm>
              <a:off x="4221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3" name="Line 52"/>
            <p:cNvSpPr>
              <a:spLocks noChangeShapeType="1"/>
            </p:cNvSpPr>
            <p:nvPr/>
          </p:nvSpPr>
          <p:spPr bwMode="auto">
            <a:xfrm>
              <a:off x="4763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4" name="Line 53"/>
            <p:cNvSpPr>
              <a:spLocks noChangeShapeType="1"/>
            </p:cNvSpPr>
            <p:nvPr/>
          </p:nvSpPr>
          <p:spPr bwMode="auto">
            <a:xfrm>
              <a:off x="5306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5" name="Line 54"/>
            <p:cNvSpPr>
              <a:spLocks noChangeShapeType="1"/>
            </p:cNvSpPr>
            <p:nvPr/>
          </p:nvSpPr>
          <p:spPr bwMode="auto">
            <a:xfrm>
              <a:off x="5848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6" name="Line 55"/>
            <p:cNvSpPr>
              <a:spLocks noChangeShapeType="1"/>
            </p:cNvSpPr>
            <p:nvPr/>
          </p:nvSpPr>
          <p:spPr bwMode="auto">
            <a:xfrm rot="5400000">
              <a:off x="3136" y="1320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7" name="Line 56"/>
            <p:cNvSpPr>
              <a:spLocks noChangeShapeType="1"/>
            </p:cNvSpPr>
            <p:nvPr/>
          </p:nvSpPr>
          <p:spPr bwMode="auto">
            <a:xfrm rot="5400000">
              <a:off x="3428" y="1340"/>
              <a:ext cx="0" cy="6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8" name="Line 57"/>
            <p:cNvSpPr>
              <a:spLocks noChangeShapeType="1"/>
            </p:cNvSpPr>
            <p:nvPr/>
          </p:nvSpPr>
          <p:spPr bwMode="auto">
            <a:xfrm rot="5400000">
              <a:off x="3136" y="1944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9" name="Rectangle 58"/>
            <p:cNvSpPr>
              <a:spLocks noChangeArrowheads="1"/>
            </p:cNvSpPr>
            <p:nvPr/>
          </p:nvSpPr>
          <p:spPr bwMode="auto">
            <a:xfrm>
              <a:off x="56" y="4411"/>
              <a:ext cx="3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valeur</a:t>
              </a:r>
            </a:p>
          </p:txBody>
        </p:sp>
        <p:sp>
          <p:nvSpPr>
            <p:cNvPr id="34850" name="Rectangle 59"/>
            <p:cNvSpPr>
              <a:spLocks noChangeArrowheads="1"/>
            </p:cNvSpPr>
            <p:nvPr/>
          </p:nvSpPr>
          <p:spPr bwMode="auto">
            <a:xfrm>
              <a:off x="231" y="4097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51" name="Line 60"/>
            <p:cNvSpPr>
              <a:spLocks noChangeShapeType="1"/>
            </p:cNvSpPr>
            <p:nvPr/>
          </p:nvSpPr>
          <p:spPr bwMode="auto">
            <a:xfrm flipH="1">
              <a:off x="429" y="3408"/>
              <a:ext cx="406" cy="6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2" name="Line 61"/>
            <p:cNvSpPr>
              <a:spLocks noChangeShapeType="1"/>
            </p:cNvSpPr>
            <p:nvPr/>
          </p:nvSpPr>
          <p:spPr bwMode="auto">
            <a:xfrm flipH="1">
              <a:off x="97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3" name="Line 62"/>
            <p:cNvSpPr>
              <a:spLocks noChangeShapeType="1"/>
            </p:cNvSpPr>
            <p:nvPr/>
          </p:nvSpPr>
          <p:spPr bwMode="auto">
            <a:xfrm flipH="1">
              <a:off x="151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4" name="Line 63"/>
            <p:cNvSpPr>
              <a:spLocks noChangeShapeType="1"/>
            </p:cNvSpPr>
            <p:nvPr/>
          </p:nvSpPr>
          <p:spPr bwMode="auto">
            <a:xfrm flipH="1">
              <a:off x="2056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5" name="Line 64"/>
            <p:cNvSpPr>
              <a:spLocks noChangeShapeType="1"/>
            </p:cNvSpPr>
            <p:nvPr/>
          </p:nvSpPr>
          <p:spPr bwMode="auto">
            <a:xfrm flipH="1">
              <a:off x="259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6" name="Line 65"/>
            <p:cNvSpPr>
              <a:spLocks noChangeShapeType="1"/>
            </p:cNvSpPr>
            <p:nvPr/>
          </p:nvSpPr>
          <p:spPr bwMode="auto">
            <a:xfrm flipH="1">
              <a:off x="314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7" name="Line 66"/>
            <p:cNvSpPr>
              <a:spLocks noChangeShapeType="1"/>
            </p:cNvSpPr>
            <p:nvPr/>
          </p:nvSpPr>
          <p:spPr bwMode="auto">
            <a:xfrm flipH="1">
              <a:off x="368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8" name="Line 67"/>
            <p:cNvSpPr>
              <a:spLocks noChangeShapeType="1"/>
            </p:cNvSpPr>
            <p:nvPr/>
          </p:nvSpPr>
          <p:spPr bwMode="auto">
            <a:xfrm flipH="1">
              <a:off x="4225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9" name="Line 68"/>
            <p:cNvSpPr>
              <a:spLocks noChangeShapeType="1"/>
            </p:cNvSpPr>
            <p:nvPr/>
          </p:nvSpPr>
          <p:spPr bwMode="auto">
            <a:xfrm flipH="1">
              <a:off x="476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0" name="Line 69"/>
            <p:cNvSpPr>
              <a:spLocks noChangeShapeType="1"/>
            </p:cNvSpPr>
            <p:nvPr/>
          </p:nvSpPr>
          <p:spPr bwMode="auto">
            <a:xfrm flipH="1">
              <a:off x="5310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1" name="Line 70"/>
            <p:cNvSpPr>
              <a:spLocks noChangeShapeType="1"/>
            </p:cNvSpPr>
            <p:nvPr/>
          </p:nvSpPr>
          <p:spPr bwMode="auto">
            <a:xfrm flipH="1">
              <a:off x="585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2" name="Rectangle 71"/>
            <p:cNvSpPr>
              <a:spLocks noChangeArrowheads="1"/>
            </p:cNvSpPr>
            <p:nvPr/>
          </p:nvSpPr>
          <p:spPr bwMode="auto">
            <a:xfrm>
              <a:off x="5899" y="4088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400" b="1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63" name="Rectangle 72"/>
            <p:cNvSpPr>
              <a:spLocks noChangeArrowheads="1"/>
            </p:cNvSpPr>
            <p:nvPr/>
          </p:nvSpPr>
          <p:spPr bwMode="auto">
            <a:xfrm>
              <a:off x="5965" y="3858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34864" name="Rectangle 73"/>
            <p:cNvSpPr>
              <a:spLocks noChangeArrowheads="1"/>
            </p:cNvSpPr>
            <p:nvPr/>
          </p:nvSpPr>
          <p:spPr bwMode="auto">
            <a:xfrm>
              <a:off x="6432" y="4098"/>
              <a:ext cx="2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7944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 rot="-5400000">
            <a:off x="-1624806" y="1745460"/>
            <a:ext cx="10777538" cy="7423153"/>
            <a:chOff x="56" y="-20"/>
            <a:chExt cx="6789" cy="4676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424" y="4032"/>
              <a:ext cx="6008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Diagramme de Pareto</a:t>
              </a:r>
            </a:p>
          </p:txBody>
        </p:sp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835" y="576"/>
              <a:ext cx="5424" cy="2832"/>
              <a:chOff x="720" y="576"/>
              <a:chExt cx="5659" cy="3120"/>
            </a:xfrm>
          </p:grpSpPr>
          <p:grpSp>
            <p:nvGrpSpPr>
              <p:cNvPr id="34865" name="Group 6"/>
              <p:cNvGrpSpPr>
                <a:grpSpLocks/>
              </p:cNvGrpSpPr>
              <p:nvPr/>
            </p:nvGrpSpPr>
            <p:grpSpPr bwMode="auto">
              <a:xfrm>
                <a:off x="721" y="576"/>
                <a:ext cx="5658" cy="3120"/>
                <a:chOff x="721" y="576"/>
                <a:chExt cx="5658" cy="3120"/>
              </a:xfrm>
            </p:grpSpPr>
            <p:sp>
              <p:nvSpPr>
                <p:cNvPr id="34879" name="Line 7"/>
                <p:cNvSpPr>
                  <a:spLocks noChangeShapeType="1"/>
                </p:cNvSpPr>
                <p:nvPr/>
              </p:nvSpPr>
              <p:spPr bwMode="auto">
                <a:xfrm>
                  <a:off x="72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0" name="Line 8"/>
                <p:cNvSpPr>
                  <a:spLocks noChangeShapeType="1"/>
                </p:cNvSpPr>
                <p:nvPr/>
              </p:nvSpPr>
              <p:spPr bwMode="auto">
                <a:xfrm>
                  <a:off x="128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1" name="Line 9"/>
                <p:cNvSpPr>
                  <a:spLocks noChangeShapeType="1"/>
                </p:cNvSpPr>
                <p:nvPr/>
              </p:nvSpPr>
              <p:spPr bwMode="auto">
                <a:xfrm>
                  <a:off x="185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2" name="Line 10"/>
                <p:cNvSpPr>
                  <a:spLocks noChangeShapeType="1"/>
                </p:cNvSpPr>
                <p:nvPr/>
              </p:nvSpPr>
              <p:spPr bwMode="auto">
                <a:xfrm>
                  <a:off x="2418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3" name="Line 11"/>
                <p:cNvSpPr>
                  <a:spLocks noChangeShapeType="1"/>
                </p:cNvSpPr>
                <p:nvPr/>
              </p:nvSpPr>
              <p:spPr bwMode="auto">
                <a:xfrm>
                  <a:off x="2984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4" name="Line 12"/>
                <p:cNvSpPr>
                  <a:spLocks noChangeShapeType="1"/>
                </p:cNvSpPr>
                <p:nvPr/>
              </p:nvSpPr>
              <p:spPr bwMode="auto">
                <a:xfrm>
                  <a:off x="3550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5" name="Line 13"/>
                <p:cNvSpPr>
                  <a:spLocks noChangeShapeType="1"/>
                </p:cNvSpPr>
                <p:nvPr/>
              </p:nvSpPr>
              <p:spPr bwMode="auto">
                <a:xfrm>
                  <a:off x="4116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6" name="Line 14"/>
                <p:cNvSpPr>
                  <a:spLocks noChangeShapeType="1"/>
                </p:cNvSpPr>
                <p:nvPr/>
              </p:nvSpPr>
              <p:spPr bwMode="auto">
                <a:xfrm>
                  <a:off x="468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7" name="Line 15"/>
                <p:cNvSpPr>
                  <a:spLocks noChangeShapeType="1"/>
                </p:cNvSpPr>
                <p:nvPr/>
              </p:nvSpPr>
              <p:spPr bwMode="auto">
                <a:xfrm>
                  <a:off x="524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8" name="Line 16"/>
                <p:cNvSpPr>
                  <a:spLocks noChangeShapeType="1"/>
                </p:cNvSpPr>
                <p:nvPr/>
              </p:nvSpPr>
              <p:spPr bwMode="auto">
                <a:xfrm>
                  <a:off x="581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9" name="Line 17"/>
                <p:cNvSpPr>
                  <a:spLocks noChangeShapeType="1"/>
                </p:cNvSpPr>
                <p:nvPr/>
              </p:nvSpPr>
              <p:spPr bwMode="auto">
                <a:xfrm>
                  <a:off x="6379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4866" name="Group 18"/>
              <p:cNvGrpSpPr>
                <a:grpSpLocks/>
              </p:cNvGrpSpPr>
              <p:nvPr/>
            </p:nvGrpSpPr>
            <p:grpSpPr bwMode="auto">
              <a:xfrm>
                <a:off x="720" y="576"/>
                <a:ext cx="5658" cy="3120"/>
                <a:chOff x="143" y="1872"/>
                <a:chExt cx="6385" cy="2400"/>
              </a:xfrm>
            </p:grpSpPr>
            <p:grpSp>
              <p:nvGrpSpPr>
                <p:cNvPr id="34867" name="Group 19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4872" name="Line 2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3" name="Line 2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4" name="Line 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5" name="Line 2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6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7" name="Line 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8" name="Line 2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4868" name="Line 2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69" name="Line 2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0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1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4822" name="Rectangle 31"/>
            <p:cNvSpPr>
              <a:spLocks noChangeArrowheads="1"/>
            </p:cNvSpPr>
            <p:nvPr/>
          </p:nvSpPr>
          <p:spPr bwMode="auto">
            <a:xfrm>
              <a:off x="73" y="3599"/>
              <a:ext cx="55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éléments</a:t>
              </a:r>
            </a:p>
          </p:txBody>
        </p:sp>
        <p:sp>
          <p:nvSpPr>
            <p:cNvPr id="34823" name="Freeform 32"/>
            <p:cNvSpPr>
              <a:spLocks/>
            </p:cNvSpPr>
            <p:nvPr/>
          </p:nvSpPr>
          <p:spPr bwMode="auto">
            <a:xfrm>
              <a:off x="835" y="432"/>
              <a:ext cx="5664" cy="2976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3782 h 2640"/>
                <a:gd name="T4" fmla="*/ 12963 w 3744"/>
                <a:gd name="T5" fmla="*/ 3782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819" y="301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469" y="4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469" y="7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90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69" y="10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80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69" y="13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469" y="162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469" y="190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469" y="21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69" y="24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69" y="27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469" y="30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6278" y="3085"/>
              <a:ext cx="5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ordre</a:t>
              </a:r>
            </a:p>
            <a:p>
              <a:r>
                <a:rPr lang="fr-FR" altLang="fr-FR" sz="1200" dirty="0">
                  <a:latin typeface="Calibri" panose="020F0502020204030204" pitchFamily="34" charset="0"/>
                </a:rPr>
                <a:t>décroissant</a:t>
              </a:r>
            </a:p>
          </p:txBody>
        </p:sp>
        <p:sp>
          <p:nvSpPr>
            <p:cNvPr id="34836" name="Line 45"/>
            <p:cNvSpPr>
              <a:spLocks noChangeShapeType="1"/>
            </p:cNvSpPr>
            <p:nvPr/>
          </p:nvSpPr>
          <p:spPr bwMode="auto">
            <a:xfrm>
              <a:off x="96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7" name="Line 46"/>
            <p:cNvSpPr>
              <a:spLocks noChangeShapeType="1"/>
            </p:cNvSpPr>
            <p:nvPr/>
          </p:nvSpPr>
          <p:spPr bwMode="auto">
            <a:xfrm>
              <a:off x="1510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8" name="Line 47"/>
            <p:cNvSpPr>
              <a:spLocks noChangeShapeType="1"/>
            </p:cNvSpPr>
            <p:nvPr/>
          </p:nvSpPr>
          <p:spPr bwMode="auto">
            <a:xfrm>
              <a:off x="2052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9" name="Line 48"/>
            <p:cNvSpPr>
              <a:spLocks noChangeShapeType="1"/>
            </p:cNvSpPr>
            <p:nvPr/>
          </p:nvSpPr>
          <p:spPr bwMode="auto">
            <a:xfrm>
              <a:off x="2594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0" name="Line 49"/>
            <p:cNvSpPr>
              <a:spLocks noChangeShapeType="1"/>
            </p:cNvSpPr>
            <p:nvPr/>
          </p:nvSpPr>
          <p:spPr bwMode="auto">
            <a:xfrm>
              <a:off x="313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1" name="Line 50"/>
            <p:cNvSpPr>
              <a:spLocks noChangeShapeType="1"/>
            </p:cNvSpPr>
            <p:nvPr/>
          </p:nvSpPr>
          <p:spPr bwMode="auto">
            <a:xfrm>
              <a:off x="3679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2" name="Line 51"/>
            <p:cNvSpPr>
              <a:spLocks noChangeShapeType="1"/>
            </p:cNvSpPr>
            <p:nvPr/>
          </p:nvSpPr>
          <p:spPr bwMode="auto">
            <a:xfrm>
              <a:off x="4221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3" name="Line 52"/>
            <p:cNvSpPr>
              <a:spLocks noChangeShapeType="1"/>
            </p:cNvSpPr>
            <p:nvPr/>
          </p:nvSpPr>
          <p:spPr bwMode="auto">
            <a:xfrm>
              <a:off x="4763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4" name="Line 53"/>
            <p:cNvSpPr>
              <a:spLocks noChangeShapeType="1"/>
            </p:cNvSpPr>
            <p:nvPr/>
          </p:nvSpPr>
          <p:spPr bwMode="auto">
            <a:xfrm>
              <a:off x="5306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5" name="Line 54"/>
            <p:cNvSpPr>
              <a:spLocks noChangeShapeType="1"/>
            </p:cNvSpPr>
            <p:nvPr/>
          </p:nvSpPr>
          <p:spPr bwMode="auto">
            <a:xfrm>
              <a:off x="5848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6" name="Line 55"/>
            <p:cNvSpPr>
              <a:spLocks noChangeShapeType="1"/>
            </p:cNvSpPr>
            <p:nvPr/>
          </p:nvSpPr>
          <p:spPr bwMode="auto">
            <a:xfrm rot="5400000">
              <a:off x="3136" y="1320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7" name="Line 56"/>
            <p:cNvSpPr>
              <a:spLocks noChangeShapeType="1"/>
            </p:cNvSpPr>
            <p:nvPr/>
          </p:nvSpPr>
          <p:spPr bwMode="auto">
            <a:xfrm rot="5400000">
              <a:off x="3428" y="1340"/>
              <a:ext cx="0" cy="6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8" name="Line 57"/>
            <p:cNvSpPr>
              <a:spLocks noChangeShapeType="1"/>
            </p:cNvSpPr>
            <p:nvPr/>
          </p:nvSpPr>
          <p:spPr bwMode="auto">
            <a:xfrm rot="5400000">
              <a:off x="3136" y="1944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9" name="Rectangle 58"/>
            <p:cNvSpPr>
              <a:spLocks noChangeArrowheads="1"/>
            </p:cNvSpPr>
            <p:nvPr/>
          </p:nvSpPr>
          <p:spPr bwMode="auto">
            <a:xfrm>
              <a:off x="56" y="4411"/>
              <a:ext cx="3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valeur</a:t>
              </a:r>
            </a:p>
          </p:txBody>
        </p:sp>
        <p:sp>
          <p:nvSpPr>
            <p:cNvPr id="34850" name="Rectangle 59"/>
            <p:cNvSpPr>
              <a:spLocks noChangeArrowheads="1"/>
            </p:cNvSpPr>
            <p:nvPr/>
          </p:nvSpPr>
          <p:spPr bwMode="auto">
            <a:xfrm>
              <a:off x="231" y="4097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51" name="Line 60"/>
            <p:cNvSpPr>
              <a:spLocks noChangeShapeType="1"/>
            </p:cNvSpPr>
            <p:nvPr/>
          </p:nvSpPr>
          <p:spPr bwMode="auto">
            <a:xfrm flipH="1">
              <a:off x="429" y="3408"/>
              <a:ext cx="406" cy="6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2" name="Line 61"/>
            <p:cNvSpPr>
              <a:spLocks noChangeShapeType="1"/>
            </p:cNvSpPr>
            <p:nvPr/>
          </p:nvSpPr>
          <p:spPr bwMode="auto">
            <a:xfrm flipH="1">
              <a:off x="97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3" name="Line 62"/>
            <p:cNvSpPr>
              <a:spLocks noChangeShapeType="1"/>
            </p:cNvSpPr>
            <p:nvPr/>
          </p:nvSpPr>
          <p:spPr bwMode="auto">
            <a:xfrm flipH="1">
              <a:off x="151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4" name="Line 63"/>
            <p:cNvSpPr>
              <a:spLocks noChangeShapeType="1"/>
            </p:cNvSpPr>
            <p:nvPr/>
          </p:nvSpPr>
          <p:spPr bwMode="auto">
            <a:xfrm flipH="1">
              <a:off x="2056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5" name="Line 64"/>
            <p:cNvSpPr>
              <a:spLocks noChangeShapeType="1"/>
            </p:cNvSpPr>
            <p:nvPr/>
          </p:nvSpPr>
          <p:spPr bwMode="auto">
            <a:xfrm flipH="1">
              <a:off x="259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6" name="Line 65"/>
            <p:cNvSpPr>
              <a:spLocks noChangeShapeType="1"/>
            </p:cNvSpPr>
            <p:nvPr/>
          </p:nvSpPr>
          <p:spPr bwMode="auto">
            <a:xfrm flipH="1">
              <a:off x="314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7" name="Line 66"/>
            <p:cNvSpPr>
              <a:spLocks noChangeShapeType="1"/>
            </p:cNvSpPr>
            <p:nvPr/>
          </p:nvSpPr>
          <p:spPr bwMode="auto">
            <a:xfrm flipH="1">
              <a:off x="368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8" name="Line 67"/>
            <p:cNvSpPr>
              <a:spLocks noChangeShapeType="1"/>
            </p:cNvSpPr>
            <p:nvPr/>
          </p:nvSpPr>
          <p:spPr bwMode="auto">
            <a:xfrm flipH="1">
              <a:off x="4225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9" name="Line 68"/>
            <p:cNvSpPr>
              <a:spLocks noChangeShapeType="1"/>
            </p:cNvSpPr>
            <p:nvPr/>
          </p:nvSpPr>
          <p:spPr bwMode="auto">
            <a:xfrm flipH="1">
              <a:off x="476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0" name="Line 69"/>
            <p:cNvSpPr>
              <a:spLocks noChangeShapeType="1"/>
            </p:cNvSpPr>
            <p:nvPr/>
          </p:nvSpPr>
          <p:spPr bwMode="auto">
            <a:xfrm flipH="1">
              <a:off x="5310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1" name="Line 70"/>
            <p:cNvSpPr>
              <a:spLocks noChangeShapeType="1"/>
            </p:cNvSpPr>
            <p:nvPr/>
          </p:nvSpPr>
          <p:spPr bwMode="auto">
            <a:xfrm flipH="1">
              <a:off x="585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2" name="Rectangle 71"/>
            <p:cNvSpPr>
              <a:spLocks noChangeArrowheads="1"/>
            </p:cNvSpPr>
            <p:nvPr/>
          </p:nvSpPr>
          <p:spPr bwMode="auto">
            <a:xfrm>
              <a:off x="5899" y="4088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400" b="1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63" name="Rectangle 72"/>
            <p:cNvSpPr>
              <a:spLocks noChangeArrowheads="1"/>
            </p:cNvSpPr>
            <p:nvPr/>
          </p:nvSpPr>
          <p:spPr bwMode="auto">
            <a:xfrm>
              <a:off x="5965" y="3858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34864" name="Rectangle 73"/>
            <p:cNvSpPr>
              <a:spLocks noChangeArrowheads="1"/>
            </p:cNvSpPr>
            <p:nvPr/>
          </p:nvSpPr>
          <p:spPr bwMode="auto">
            <a:xfrm>
              <a:off x="6432" y="4098"/>
              <a:ext cx="2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87048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 rot="-5400000">
            <a:off x="-1624806" y="1745460"/>
            <a:ext cx="10777538" cy="7423153"/>
            <a:chOff x="56" y="-20"/>
            <a:chExt cx="6789" cy="4676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424" y="4032"/>
              <a:ext cx="6008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Diagramme de Pareto</a:t>
              </a:r>
            </a:p>
          </p:txBody>
        </p:sp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835" y="576"/>
              <a:ext cx="5424" cy="2832"/>
              <a:chOff x="720" y="576"/>
              <a:chExt cx="5659" cy="3120"/>
            </a:xfrm>
          </p:grpSpPr>
          <p:grpSp>
            <p:nvGrpSpPr>
              <p:cNvPr id="34865" name="Group 6"/>
              <p:cNvGrpSpPr>
                <a:grpSpLocks/>
              </p:cNvGrpSpPr>
              <p:nvPr/>
            </p:nvGrpSpPr>
            <p:grpSpPr bwMode="auto">
              <a:xfrm>
                <a:off x="721" y="576"/>
                <a:ext cx="5658" cy="3120"/>
                <a:chOff x="721" y="576"/>
                <a:chExt cx="5658" cy="3120"/>
              </a:xfrm>
            </p:grpSpPr>
            <p:sp>
              <p:nvSpPr>
                <p:cNvPr id="34879" name="Line 7"/>
                <p:cNvSpPr>
                  <a:spLocks noChangeShapeType="1"/>
                </p:cNvSpPr>
                <p:nvPr/>
              </p:nvSpPr>
              <p:spPr bwMode="auto">
                <a:xfrm>
                  <a:off x="72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0" name="Line 8"/>
                <p:cNvSpPr>
                  <a:spLocks noChangeShapeType="1"/>
                </p:cNvSpPr>
                <p:nvPr/>
              </p:nvSpPr>
              <p:spPr bwMode="auto">
                <a:xfrm>
                  <a:off x="128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1" name="Line 9"/>
                <p:cNvSpPr>
                  <a:spLocks noChangeShapeType="1"/>
                </p:cNvSpPr>
                <p:nvPr/>
              </p:nvSpPr>
              <p:spPr bwMode="auto">
                <a:xfrm>
                  <a:off x="185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2" name="Line 10"/>
                <p:cNvSpPr>
                  <a:spLocks noChangeShapeType="1"/>
                </p:cNvSpPr>
                <p:nvPr/>
              </p:nvSpPr>
              <p:spPr bwMode="auto">
                <a:xfrm>
                  <a:off x="2418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3" name="Line 11"/>
                <p:cNvSpPr>
                  <a:spLocks noChangeShapeType="1"/>
                </p:cNvSpPr>
                <p:nvPr/>
              </p:nvSpPr>
              <p:spPr bwMode="auto">
                <a:xfrm>
                  <a:off x="2984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4" name="Line 12"/>
                <p:cNvSpPr>
                  <a:spLocks noChangeShapeType="1"/>
                </p:cNvSpPr>
                <p:nvPr/>
              </p:nvSpPr>
              <p:spPr bwMode="auto">
                <a:xfrm>
                  <a:off x="3550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5" name="Line 13"/>
                <p:cNvSpPr>
                  <a:spLocks noChangeShapeType="1"/>
                </p:cNvSpPr>
                <p:nvPr/>
              </p:nvSpPr>
              <p:spPr bwMode="auto">
                <a:xfrm>
                  <a:off x="4116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6" name="Line 14"/>
                <p:cNvSpPr>
                  <a:spLocks noChangeShapeType="1"/>
                </p:cNvSpPr>
                <p:nvPr/>
              </p:nvSpPr>
              <p:spPr bwMode="auto">
                <a:xfrm>
                  <a:off x="468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7" name="Line 15"/>
                <p:cNvSpPr>
                  <a:spLocks noChangeShapeType="1"/>
                </p:cNvSpPr>
                <p:nvPr/>
              </p:nvSpPr>
              <p:spPr bwMode="auto">
                <a:xfrm>
                  <a:off x="524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8" name="Line 16"/>
                <p:cNvSpPr>
                  <a:spLocks noChangeShapeType="1"/>
                </p:cNvSpPr>
                <p:nvPr/>
              </p:nvSpPr>
              <p:spPr bwMode="auto">
                <a:xfrm>
                  <a:off x="581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9" name="Line 17"/>
                <p:cNvSpPr>
                  <a:spLocks noChangeShapeType="1"/>
                </p:cNvSpPr>
                <p:nvPr/>
              </p:nvSpPr>
              <p:spPr bwMode="auto">
                <a:xfrm>
                  <a:off x="6379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4866" name="Group 18"/>
              <p:cNvGrpSpPr>
                <a:grpSpLocks/>
              </p:cNvGrpSpPr>
              <p:nvPr/>
            </p:nvGrpSpPr>
            <p:grpSpPr bwMode="auto">
              <a:xfrm>
                <a:off x="720" y="576"/>
                <a:ext cx="5658" cy="3120"/>
                <a:chOff x="143" y="1872"/>
                <a:chExt cx="6385" cy="2400"/>
              </a:xfrm>
            </p:grpSpPr>
            <p:grpSp>
              <p:nvGrpSpPr>
                <p:cNvPr id="34867" name="Group 19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4872" name="Line 2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3" name="Line 2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4" name="Line 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5" name="Line 2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6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7" name="Line 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8" name="Line 2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4868" name="Line 2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69" name="Line 2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0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1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4822" name="Rectangle 31"/>
            <p:cNvSpPr>
              <a:spLocks noChangeArrowheads="1"/>
            </p:cNvSpPr>
            <p:nvPr/>
          </p:nvSpPr>
          <p:spPr bwMode="auto">
            <a:xfrm>
              <a:off x="73" y="3599"/>
              <a:ext cx="55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éléments</a:t>
              </a:r>
            </a:p>
          </p:txBody>
        </p:sp>
        <p:sp>
          <p:nvSpPr>
            <p:cNvPr id="34823" name="Freeform 32"/>
            <p:cNvSpPr>
              <a:spLocks/>
            </p:cNvSpPr>
            <p:nvPr/>
          </p:nvSpPr>
          <p:spPr bwMode="auto">
            <a:xfrm>
              <a:off x="835" y="432"/>
              <a:ext cx="5664" cy="2976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3782 h 2640"/>
                <a:gd name="T4" fmla="*/ 12963 w 3744"/>
                <a:gd name="T5" fmla="*/ 3782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819" y="301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469" y="4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469" y="7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90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69" y="10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80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69" y="13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469" y="162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469" y="190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469" y="21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69" y="24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69" y="27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469" y="30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6278" y="3085"/>
              <a:ext cx="5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ordre</a:t>
              </a:r>
            </a:p>
            <a:p>
              <a:r>
                <a:rPr lang="fr-FR" altLang="fr-FR" sz="1200" dirty="0">
                  <a:latin typeface="Calibri" panose="020F0502020204030204" pitchFamily="34" charset="0"/>
                </a:rPr>
                <a:t>décroissant</a:t>
              </a:r>
            </a:p>
          </p:txBody>
        </p:sp>
        <p:sp>
          <p:nvSpPr>
            <p:cNvPr id="34836" name="Line 45"/>
            <p:cNvSpPr>
              <a:spLocks noChangeShapeType="1"/>
            </p:cNvSpPr>
            <p:nvPr/>
          </p:nvSpPr>
          <p:spPr bwMode="auto">
            <a:xfrm>
              <a:off x="96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7" name="Line 46"/>
            <p:cNvSpPr>
              <a:spLocks noChangeShapeType="1"/>
            </p:cNvSpPr>
            <p:nvPr/>
          </p:nvSpPr>
          <p:spPr bwMode="auto">
            <a:xfrm>
              <a:off x="1510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8" name="Line 47"/>
            <p:cNvSpPr>
              <a:spLocks noChangeShapeType="1"/>
            </p:cNvSpPr>
            <p:nvPr/>
          </p:nvSpPr>
          <p:spPr bwMode="auto">
            <a:xfrm>
              <a:off x="2052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9" name="Line 48"/>
            <p:cNvSpPr>
              <a:spLocks noChangeShapeType="1"/>
            </p:cNvSpPr>
            <p:nvPr/>
          </p:nvSpPr>
          <p:spPr bwMode="auto">
            <a:xfrm>
              <a:off x="2594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0" name="Line 49"/>
            <p:cNvSpPr>
              <a:spLocks noChangeShapeType="1"/>
            </p:cNvSpPr>
            <p:nvPr/>
          </p:nvSpPr>
          <p:spPr bwMode="auto">
            <a:xfrm>
              <a:off x="313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1" name="Line 50"/>
            <p:cNvSpPr>
              <a:spLocks noChangeShapeType="1"/>
            </p:cNvSpPr>
            <p:nvPr/>
          </p:nvSpPr>
          <p:spPr bwMode="auto">
            <a:xfrm>
              <a:off x="3679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2" name="Line 51"/>
            <p:cNvSpPr>
              <a:spLocks noChangeShapeType="1"/>
            </p:cNvSpPr>
            <p:nvPr/>
          </p:nvSpPr>
          <p:spPr bwMode="auto">
            <a:xfrm>
              <a:off x="4221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3" name="Line 52"/>
            <p:cNvSpPr>
              <a:spLocks noChangeShapeType="1"/>
            </p:cNvSpPr>
            <p:nvPr/>
          </p:nvSpPr>
          <p:spPr bwMode="auto">
            <a:xfrm>
              <a:off x="4763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4" name="Line 53"/>
            <p:cNvSpPr>
              <a:spLocks noChangeShapeType="1"/>
            </p:cNvSpPr>
            <p:nvPr/>
          </p:nvSpPr>
          <p:spPr bwMode="auto">
            <a:xfrm>
              <a:off x="5306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5" name="Line 54"/>
            <p:cNvSpPr>
              <a:spLocks noChangeShapeType="1"/>
            </p:cNvSpPr>
            <p:nvPr/>
          </p:nvSpPr>
          <p:spPr bwMode="auto">
            <a:xfrm>
              <a:off x="5848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6" name="Line 55"/>
            <p:cNvSpPr>
              <a:spLocks noChangeShapeType="1"/>
            </p:cNvSpPr>
            <p:nvPr/>
          </p:nvSpPr>
          <p:spPr bwMode="auto">
            <a:xfrm rot="5400000">
              <a:off x="3136" y="1320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7" name="Line 56"/>
            <p:cNvSpPr>
              <a:spLocks noChangeShapeType="1"/>
            </p:cNvSpPr>
            <p:nvPr/>
          </p:nvSpPr>
          <p:spPr bwMode="auto">
            <a:xfrm rot="5400000">
              <a:off x="3428" y="1340"/>
              <a:ext cx="0" cy="6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8" name="Line 57"/>
            <p:cNvSpPr>
              <a:spLocks noChangeShapeType="1"/>
            </p:cNvSpPr>
            <p:nvPr/>
          </p:nvSpPr>
          <p:spPr bwMode="auto">
            <a:xfrm rot="5400000">
              <a:off x="3136" y="1944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9" name="Rectangle 58"/>
            <p:cNvSpPr>
              <a:spLocks noChangeArrowheads="1"/>
            </p:cNvSpPr>
            <p:nvPr/>
          </p:nvSpPr>
          <p:spPr bwMode="auto">
            <a:xfrm>
              <a:off x="56" y="4411"/>
              <a:ext cx="3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valeur</a:t>
              </a:r>
            </a:p>
          </p:txBody>
        </p:sp>
        <p:sp>
          <p:nvSpPr>
            <p:cNvPr id="34850" name="Rectangle 59"/>
            <p:cNvSpPr>
              <a:spLocks noChangeArrowheads="1"/>
            </p:cNvSpPr>
            <p:nvPr/>
          </p:nvSpPr>
          <p:spPr bwMode="auto">
            <a:xfrm>
              <a:off x="231" y="4097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51" name="Line 60"/>
            <p:cNvSpPr>
              <a:spLocks noChangeShapeType="1"/>
            </p:cNvSpPr>
            <p:nvPr/>
          </p:nvSpPr>
          <p:spPr bwMode="auto">
            <a:xfrm flipH="1">
              <a:off x="429" y="3408"/>
              <a:ext cx="406" cy="6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2" name="Line 61"/>
            <p:cNvSpPr>
              <a:spLocks noChangeShapeType="1"/>
            </p:cNvSpPr>
            <p:nvPr/>
          </p:nvSpPr>
          <p:spPr bwMode="auto">
            <a:xfrm flipH="1">
              <a:off x="97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3" name="Line 62"/>
            <p:cNvSpPr>
              <a:spLocks noChangeShapeType="1"/>
            </p:cNvSpPr>
            <p:nvPr/>
          </p:nvSpPr>
          <p:spPr bwMode="auto">
            <a:xfrm flipH="1">
              <a:off x="151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4" name="Line 63"/>
            <p:cNvSpPr>
              <a:spLocks noChangeShapeType="1"/>
            </p:cNvSpPr>
            <p:nvPr/>
          </p:nvSpPr>
          <p:spPr bwMode="auto">
            <a:xfrm flipH="1">
              <a:off x="2056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5" name="Line 64"/>
            <p:cNvSpPr>
              <a:spLocks noChangeShapeType="1"/>
            </p:cNvSpPr>
            <p:nvPr/>
          </p:nvSpPr>
          <p:spPr bwMode="auto">
            <a:xfrm flipH="1">
              <a:off x="259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6" name="Line 65"/>
            <p:cNvSpPr>
              <a:spLocks noChangeShapeType="1"/>
            </p:cNvSpPr>
            <p:nvPr/>
          </p:nvSpPr>
          <p:spPr bwMode="auto">
            <a:xfrm flipH="1">
              <a:off x="314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7" name="Line 66"/>
            <p:cNvSpPr>
              <a:spLocks noChangeShapeType="1"/>
            </p:cNvSpPr>
            <p:nvPr/>
          </p:nvSpPr>
          <p:spPr bwMode="auto">
            <a:xfrm flipH="1">
              <a:off x="368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8" name="Line 67"/>
            <p:cNvSpPr>
              <a:spLocks noChangeShapeType="1"/>
            </p:cNvSpPr>
            <p:nvPr/>
          </p:nvSpPr>
          <p:spPr bwMode="auto">
            <a:xfrm flipH="1">
              <a:off x="4225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9" name="Line 68"/>
            <p:cNvSpPr>
              <a:spLocks noChangeShapeType="1"/>
            </p:cNvSpPr>
            <p:nvPr/>
          </p:nvSpPr>
          <p:spPr bwMode="auto">
            <a:xfrm flipH="1">
              <a:off x="476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0" name="Line 69"/>
            <p:cNvSpPr>
              <a:spLocks noChangeShapeType="1"/>
            </p:cNvSpPr>
            <p:nvPr/>
          </p:nvSpPr>
          <p:spPr bwMode="auto">
            <a:xfrm flipH="1">
              <a:off x="5310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1" name="Line 70"/>
            <p:cNvSpPr>
              <a:spLocks noChangeShapeType="1"/>
            </p:cNvSpPr>
            <p:nvPr/>
          </p:nvSpPr>
          <p:spPr bwMode="auto">
            <a:xfrm flipH="1">
              <a:off x="585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2" name="Rectangle 71"/>
            <p:cNvSpPr>
              <a:spLocks noChangeArrowheads="1"/>
            </p:cNvSpPr>
            <p:nvPr/>
          </p:nvSpPr>
          <p:spPr bwMode="auto">
            <a:xfrm>
              <a:off x="5899" y="4088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400" b="1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63" name="Rectangle 72"/>
            <p:cNvSpPr>
              <a:spLocks noChangeArrowheads="1"/>
            </p:cNvSpPr>
            <p:nvPr/>
          </p:nvSpPr>
          <p:spPr bwMode="auto">
            <a:xfrm>
              <a:off x="5965" y="3858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34864" name="Rectangle 73"/>
            <p:cNvSpPr>
              <a:spLocks noChangeArrowheads="1"/>
            </p:cNvSpPr>
            <p:nvPr/>
          </p:nvSpPr>
          <p:spPr bwMode="auto">
            <a:xfrm>
              <a:off x="6432" y="4098"/>
              <a:ext cx="2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5138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 rot="-5400000">
            <a:off x="-1624806" y="1745460"/>
            <a:ext cx="10777538" cy="7423153"/>
            <a:chOff x="56" y="-20"/>
            <a:chExt cx="6789" cy="4676"/>
          </a:xfrm>
        </p:grpSpPr>
        <p:sp>
          <p:nvSpPr>
            <p:cNvPr id="34819" name="Rectangle 3"/>
            <p:cNvSpPr>
              <a:spLocks noChangeArrowheads="1"/>
            </p:cNvSpPr>
            <p:nvPr/>
          </p:nvSpPr>
          <p:spPr bwMode="auto">
            <a:xfrm>
              <a:off x="424" y="4032"/>
              <a:ext cx="6008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46" y="-20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Diagramme de Pareto</a:t>
              </a:r>
            </a:p>
          </p:txBody>
        </p:sp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835" y="576"/>
              <a:ext cx="5424" cy="2832"/>
              <a:chOff x="720" y="576"/>
              <a:chExt cx="5659" cy="3120"/>
            </a:xfrm>
          </p:grpSpPr>
          <p:grpSp>
            <p:nvGrpSpPr>
              <p:cNvPr id="34865" name="Group 6"/>
              <p:cNvGrpSpPr>
                <a:grpSpLocks/>
              </p:cNvGrpSpPr>
              <p:nvPr/>
            </p:nvGrpSpPr>
            <p:grpSpPr bwMode="auto">
              <a:xfrm>
                <a:off x="721" y="576"/>
                <a:ext cx="5658" cy="3120"/>
                <a:chOff x="721" y="576"/>
                <a:chExt cx="5658" cy="3120"/>
              </a:xfrm>
            </p:grpSpPr>
            <p:sp>
              <p:nvSpPr>
                <p:cNvPr id="34879" name="Line 7"/>
                <p:cNvSpPr>
                  <a:spLocks noChangeShapeType="1"/>
                </p:cNvSpPr>
                <p:nvPr/>
              </p:nvSpPr>
              <p:spPr bwMode="auto">
                <a:xfrm>
                  <a:off x="72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0" name="Line 8"/>
                <p:cNvSpPr>
                  <a:spLocks noChangeShapeType="1"/>
                </p:cNvSpPr>
                <p:nvPr/>
              </p:nvSpPr>
              <p:spPr bwMode="auto">
                <a:xfrm>
                  <a:off x="128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1" name="Line 9"/>
                <p:cNvSpPr>
                  <a:spLocks noChangeShapeType="1"/>
                </p:cNvSpPr>
                <p:nvPr/>
              </p:nvSpPr>
              <p:spPr bwMode="auto">
                <a:xfrm>
                  <a:off x="185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2" name="Line 10"/>
                <p:cNvSpPr>
                  <a:spLocks noChangeShapeType="1"/>
                </p:cNvSpPr>
                <p:nvPr/>
              </p:nvSpPr>
              <p:spPr bwMode="auto">
                <a:xfrm>
                  <a:off x="2418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3" name="Line 11"/>
                <p:cNvSpPr>
                  <a:spLocks noChangeShapeType="1"/>
                </p:cNvSpPr>
                <p:nvPr/>
              </p:nvSpPr>
              <p:spPr bwMode="auto">
                <a:xfrm>
                  <a:off x="2984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4" name="Line 12"/>
                <p:cNvSpPr>
                  <a:spLocks noChangeShapeType="1"/>
                </p:cNvSpPr>
                <p:nvPr/>
              </p:nvSpPr>
              <p:spPr bwMode="auto">
                <a:xfrm>
                  <a:off x="3550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5" name="Line 13"/>
                <p:cNvSpPr>
                  <a:spLocks noChangeShapeType="1"/>
                </p:cNvSpPr>
                <p:nvPr/>
              </p:nvSpPr>
              <p:spPr bwMode="auto">
                <a:xfrm>
                  <a:off x="4116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6" name="Line 14"/>
                <p:cNvSpPr>
                  <a:spLocks noChangeShapeType="1"/>
                </p:cNvSpPr>
                <p:nvPr/>
              </p:nvSpPr>
              <p:spPr bwMode="auto">
                <a:xfrm>
                  <a:off x="4681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7" name="Line 15"/>
                <p:cNvSpPr>
                  <a:spLocks noChangeShapeType="1"/>
                </p:cNvSpPr>
                <p:nvPr/>
              </p:nvSpPr>
              <p:spPr bwMode="auto">
                <a:xfrm>
                  <a:off x="5247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8" name="Line 16"/>
                <p:cNvSpPr>
                  <a:spLocks noChangeShapeType="1"/>
                </p:cNvSpPr>
                <p:nvPr/>
              </p:nvSpPr>
              <p:spPr bwMode="auto">
                <a:xfrm>
                  <a:off x="5813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89" name="Line 17"/>
                <p:cNvSpPr>
                  <a:spLocks noChangeShapeType="1"/>
                </p:cNvSpPr>
                <p:nvPr/>
              </p:nvSpPr>
              <p:spPr bwMode="auto">
                <a:xfrm>
                  <a:off x="6379" y="576"/>
                  <a:ext cx="0" cy="3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34866" name="Group 18"/>
              <p:cNvGrpSpPr>
                <a:grpSpLocks/>
              </p:cNvGrpSpPr>
              <p:nvPr/>
            </p:nvGrpSpPr>
            <p:grpSpPr bwMode="auto">
              <a:xfrm>
                <a:off x="720" y="576"/>
                <a:ext cx="5658" cy="3120"/>
                <a:chOff x="143" y="1872"/>
                <a:chExt cx="6385" cy="2400"/>
              </a:xfrm>
            </p:grpSpPr>
            <p:grpSp>
              <p:nvGrpSpPr>
                <p:cNvPr id="34867" name="Group 19"/>
                <p:cNvGrpSpPr>
                  <a:grpSpLocks/>
                </p:cNvGrpSpPr>
                <p:nvPr/>
              </p:nvGrpSpPr>
              <p:grpSpPr bwMode="auto">
                <a:xfrm>
                  <a:off x="143" y="2832"/>
                  <a:ext cx="6385" cy="1440"/>
                  <a:chOff x="143" y="993"/>
                  <a:chExt cx="6385" cy="3378"/>
                </a:xfrm>
              </p:grpSpPr>
              <p:sp>
                <p:nvSpPr>
                  <p:cNvPr id="34872" name="Line 2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2200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3" name="Line 2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637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4" name="Line 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1074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5" name="Line 2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-511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6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52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7" name="Line 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615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4878" name="Line 2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178"/>
                    <a:ext cx="0" cy="638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4868" name="Line 27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32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69" name="Line 28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108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0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84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4871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3336" y="-601"/>
                  <a:ext cx="0" cy="638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4822" name="Rectangle 31"/>
            <p:cNvSpPr>
              <a:spLocks noChangeArrowheads="1"/>
            </p:cNvSpPr>
            <p:nvPr/>
          </p:nvSpPr>
          <p:spPr bwMode="auto">
            <a:xfrm>
              <a:off x="73" y="3599"/>
              <a:ext cx="55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éléments</a:t>
              </a:r>
            </a:p>
          </p:txBody>
        </p:sp>
        <p:sp>
          <p:nvSpPr>
            <p:cNvPr id="34823" name="Freeform 32"/>
            <p:cNvSpPr>
              <a:spLocks/>
            </p:cNvSpPr>
            <p:nvPr/>
          </p:nvSpPr>
          <p:spPr bwMode="auto">
            <a:xfrm>
              <a:off x="835" y="432"/>
              <a:ext cx="5664" cy="2976"/>
            </a:xfrm>
            <a:custGeom>
              <a:avLst/>
              <a:gdLst>
                <a:gd name="T0" fmla="*/ 0 w 3744"/>
                <a:gd name="T1" fmla="*/ 0 h 2640"/>
                <a:gd name="T2" fmla="*/ 0 w 3744"/>
                <a:gd name="T3" fmla="*/ 3782 h 2640"/>
                <a:gd name="T4" fmla="*/ 12963 w 3744"/>
                <a:gd name="T5" fmla="*/ 3782 h 2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44" h="2640">
                  <a:moveTo>
                    <a:pt x="0" y="0"/>
                  </a:moveTo>
                  <a:lnTo>
                    <a:pt x="0" y="2640"/>
                  </a:lnTo>
                  <a:lnTo>
                    <a:pt x="3744" y="26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24" name="Rectangle 33"/>
            <p:cNvSpPr>
              <a:spLocks noChangeArrowheads="1"/>
            </p:cNvSpPr>
            <p:nvPr/>
          </p:nvSpPr>
          <p:spPr bwMode="auto">
            <a:xfrm>
              <a:off x="819" y="301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25" name="Rectangle 34"/>
            <p:cNvSpPr>
              <a:spLocks noChangeArrowheads="1"/>
            </p:cNvSpPr>
            <p:nvPr/>
          </p:nvSpPr>
          <p:spPr bwMode="auto">
            <a:xfrm>
              <a:off x="469" y="4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26" name="Rectangle 35"/>
            <p:cNvSpPr>
              <a:spLocks noChangeArrowheads="1"/>
            </p:cNvSpPr>
            <p:nvPr/>
          </p:nvSpPr>
          <p:spPr bwMode="auto">
            <a:xfrm>
              <a:off x="469" y="7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90</a:t>
              </a:r>
            </a:p>
          </p:txBody>
        </p:sp>
        <p:sp>
          <p:nvSpPr>
            <p:cNvPr id="34827" name="Rectangle 36"/>
            <p:cNvSpPr>
              <a:spLocks noChangeArrowheads="1"/>
            </p:cNvSpPr>
            <p:nvPr/>
          </p:nvSpPr>
          <p:spPr bwMode="auto">
            <a:xfrm>
              <a:off x="469" y="10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80</a:t>
              </a:r>
            </a:p>
          </p:txBody>
        </p:sp>
        <p:sp>
          <p:nvSpPr>
            <p:cNvPr id="34828" name="Rectangle 37"/>
            <p:cNvSpPr>
              <a:spLocks noChangeArrowheads="1"/>
            </p:cNvSpPr>
            <p:nvPr/>
          </p:nvSpPr>
          <p:spPr bwMode="auto">
            <a:xfrm>
              <a:off x="469" y="13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34829" name="Rectangle 38"/>
            <p:cNvSpPr>
              <a:spLocks noChangeArrowheads="1"/>
            </p:cNvSpPr>
            <p:nvPr/>
          </p:nvSpPr>
          <p:spPr bwMode="auto">
            <a:xfrm>
              <a:off x="469" y="162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34830" name="Rectangle 39"/>
            <p:cNvSpPr>
              <a:spLocks noChangeArrowheads="1"/>
            </p:cNvSpPr>
            <p:nvPr/>
          </p:nvSpPr>
          <p:spPr bwMode="auto">
            <a:xfrm>
              <a:off x="469" y="190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34831" name="Rectangle 40"/>
            <p:cNvSpPr>
              <a:spLocks noChangeArrowheads="1"/>
            </p:cNvSpPr>
            <p:nvPr/>
          </p:nvSpPr>
          <p:spPr bwMode="auto">
            <a:xfrm>
              <a:off x="469" y="219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34832" name="Rectangle 41"/>
            <p:cNvSpPr>
              <a:spLocks noChangeArrowheads="1"/>
            </p:cNvSpPr>
            <p:nvPr/>
          </p:nvSpPr>
          <p:spPr bwMode="auto">
            <a:xfrm>
              <a:off x="469" y="2475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34833" name="Rectangle 42"/>
            <p:cNvSpPr>
              <a:spLocks noChangeArrowheads="1"/>
            </p:cNvSpPr>
            <p:nvPr/>
          </p:nvSpPr>
          <p:spPr bwMode="auto">
            <a:xfrm>
              <a:off x="469" y="2758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34834" name="Rectangle 43"/>
            <p:cNvSpPr>
              <a:spLocks noChangeArrowheads="1"/>
            </p:cNvSpPr>
            <p:nvPr/>
          </p:nvSpPr>
          <p:spPr bwMode="auto">
            <a:xfrm>
              <a:off x="469" y="3042"/>
              <a:ext cx="3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34835" name="Rectangle 44"/>
            <p:cNvSpPr>
              <a:spLocks noChangeArrowheads="1"/>
            </p:cNvSpPr>
            <p:nvPr/>
          </p:nvSpPr>
          <p:spPr bwMode="auto">
            <a:xfrm>
              <a:off x="6278" y="3085"/>
              <a:ext cx="5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dirty="0">
                  <a:latin typeface="Calibri" panose="020F0502020204030204" pitchFamily="34" charset="0"/>
                </a:rPr>
                <a:t>ordre</a:t>
              </a:r>
            </a:p>
            <a:p>
              <a:r>
                <a:rPr lang="fr-FR" altLang="fr-FR" sz="1200" dirty="0">
                  <a:latin typeface="Calibri" panose="020F0502020204030204" pitchFamily="34" charset="0"/>
                </a:rPr>
                <a:t>décroissant</a:t>
              </a:r>
            </a:p>
          </p:txBody>
        </p:sp>
        <p:sp>
          <p:nvSpPr>
            <p:cNvPr id="34836" name="Line 45"/>
            <p:cNvSpPr>
              <a:spLocks noChangeShapeType="1"/>
            </p:cNvSpPr>
            <p:nvPr/>
          </p:nvSpPr>
          <p:spPr bwMode="auto">
            <a:xfrm>
              <a:off x="96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7" name="Line 46"/>
            <p:cNvSpPr>
              <a:spLocks noChangeShapeType="1"/>
            </p:cNvSpPr>
            <p:nvPr/>
          </p:nvSpPr>
          <p:spPr bwMode="auto">
            <a:xfrm>
              <a:off x="1510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8" name="Line 47"/>
            <p:cNvSpPr>
              <a:spLocks noChangeShapeType="1"/>
            </p:cNvSpPr>
            <p:nvPr/>
          </p:nvSpPr>
          <p:spPr bwMode="auto">
            <a:xfrm>
              <a:off x="2052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39" name="Line 48"/>
            <p:cNvSpPr>
              <a:spLocks noChangeShapeType="1"/>
            </p:cNvSpPr>
            <p:nvPr/>
          </p:nvSpPr>
          <p:spPr bwMode="auto">
            <a:xfrm>
              <a:off x="2594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0" name="Line 49"/>
            <p:cNvSpPr>
              <a:spLocks noChangeShapeType="1"/>
            </p:cNvSpPr>
            <p:nvPr/>
          </p:nvSpPr>
          <p:spPr bwMode="auto">
            <a:xfrm>
              <a:off x="3137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1" name="Line 50"/>
            <p:cNvSpPr>
              <a:spLocks noChangeShapeType="1"/>
            </p:cNvSpPr>
            <p:nvPr/>
          </p:nvSpPr>
          <p:spPr bwMode="auto">
            <a:xfrm>
              <a:off x="3679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2" name="Line 51"/>
            <p:cNvSpPr>
              <a:spLocks noChangeShapeType="1"/>
            </p:cNvSpPr>
            <p:nvPr/>
          </p:nvSpPr>
          <p:spPr bwMode="auto">
            <a:xfrm>
              <a:off x="4221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3" name="Line 52"/>
            <p:cNvSpPr>
              <a:spLocks noChangeShapeType="1"/>
            </p:cNvSpPr>
            <p:nvPr/>
          </p:nvSpPr>
          <p:spPr bwMode="auto">
            <a:xfrm>
              <a:off x="4763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4" name="Line 53"/>
            <p:cNvSpPr>
              <a:spLocks noChangeShapeType="1"/>
            </p:cNvSpPr>
            <p:nvPr/>
          </p:nvSpPr>
          <p:spPr bwMode="auto">
            <a:xfrm>
              <a:off x="5306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5" name="Line 54"/>
            <p:cNvSpPr>
              <a:spLocks noChangeShapeType="1"/>
            </p:cNvSpPr>
            <p:nvPr/>
          </p:nvSpPr>
          <p:spPr bwMode="auto">
            <a:xfrm>
              <a:off x="5848" y="4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6" name="Line 55"/>
            <p:cNvSpPr>
              <a:spLocks noChangeShapeType="1"/>
            </p:cNvSpPr>
            <p:nvPr/>
          </p:nvSpPr>
          <p:spPr bwMode="auto">
            <a:xfrm rot="5400000">
              <a:off x="3136" y="1320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7" name="Line 56"/>
            <p:cNvSpPr>
              <a:spLocks noChangeShapeType="1"/>
            </p:cNvSpPr>
            <p:nvPr/>
          </p:nvSpPr>
          <p:spPr bwMode="auto">
            <a:xfrm rot="5400000">
              <a:off x="3428" y="1340"/>
              <a:ext cx="0" cy="6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8" name="Line 57"/>
            <p:cNvSpPr>
              <a:spLocks noChangeShapeType="1"/>
            </p:cNvSpPr>
            <p:nvPr/>
          </p:nvSpPr>
          <p:spPr bwMode="auto">
            <a:xfrm rot="5400000">
              <a:off x="3136" y="1944"/>
              <a:ext cx="0" cy="5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49" name="Rectangle 58"/>
            <p:cNvSpPr>
              <a:spLocks noChangeArrowheads="1"/>
            </p:cNvSpPr>
            <p:nvPr/>
          </p:nvSpPr>
          <p:spPr bwMode="auto">
            <a:xfrm>
              <a:off x="56" y="4411"/>
              <a:ext cx="35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valeur</a:t>
              </a:r>
            </a:p>
          </p:txBody>
        </p:sp>
        <p:sp>
          <p:nvSpPr>
            <p:cNvPr id="34850" name="Rectangle 59"/>
            <p:cNvSpPr>
              <a:spLocks noChangeArrowheads="1"/>
            </p:cNvSpPr>
            <p:nvPr/>
          </p:nvSpPr>
          <p:spPr bwMode="auto">
            <a:xfrm>
              <a:off x="231" y="4097"/>
              <a:ext cx="18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  <p:sp>
          <p:nvSpPr>
            <p:cNvPr id="34851" name="Line 60"/>
            <p:cNvSpPr>
              <a:spLocks noChangeShapeType="1"/>
            </p:cNvSpPr>
            <p:nvPr/>
          </p:nvSpPr>
          <p:spPr bwMode="auto">
            <a:xfrm flipH="1">
              <a:off x="429" y="3408"/>
              <a:ext cx="406" cy="6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2" name="Line 61"/>
            <p:cNvSpPr>
              <a:spLocks noChangeShapeType="1"/>
            </p:cNvSpPr>
            <p:nvPr/>
          </p:nvSpPr>
          <p:spPr bwMode="auto">
            <a:xfrm flipH="1">
              <a:off x="97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3" name="Line 62"/>
            <p:cNvSpPr>
              <a:spLocks noChangeShapeType="1"/>
            </p:cNvSpPr>
            <p:nvPr/>
          </p:nvSpPr>
          <p:spPr bwMode="auto">
            <a:xfrm flipH="1">
              <a:off x="151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4" name="Line 63"/>
            <p:cNvSpPr>
              <a:spLocks noChangeShapeType="1"/>
            </p:cNvSpPr>
            <p:nvPr/>
          </p:nvSpPr>
          <p:spPr bwMode="auto">
            <a:xfrm flipH="1">
              <a:off x="2056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5" name="Line 64"/>
            <p:cNvSpPr>
              <a:spLocks noChangeShapeType="1"/>
            </p:cNvSpPr>
            <p:nvPr/>
          </p:nvSpPr>
          <p:spPr bwMode="auto">
            <a:xfrm flipH="1">
              <a:off x="259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6" name="Line 65"/>
            <p:cNvSpPr>
              <a:spLocks noChangeShapeType="1"/>
            </p:cNvSpPr>
            <p:nvPr/>
          </p:nvSpPr>
          <p:spPr bwMode="auto">
            <a:xfrm flipH="1">
              <a:off x="3141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7" name="Line 66"/>
            <p:cNvSpPr>
              <a:spLocks noChangeShapeType="1"/>
            </p:cNvSpPr>
            <p:nvPr/>
          </p:nvSpPr>
          <p:spPr bwMode="auto">
            <a:xfrm flipH="1">
              <a:off x="368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8" name="Line 67"/>
            <p:cNvSpPr>
              <a:spLocks noChangeShapeType="1"/>
            </p:cNvSpPr>
            <p:nvPr/>
          </p:nvSpPr>
          <p:spPr bwMode="auto">
            <a:xfrm flipH="1">
              <a:off x="4225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59" name="Line 68"/>
            <p:cNvSpPr>
              <a:spLocks noChangeShapeType="1"/>
            </p:cNvSpPr>
            <p:nvPr/>
          </p:nvSpPr>
          <p:spPr bwMode="auto">
            <a:xfrm flipH="1">
              <a:off x="4768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0" name="Line 69"/>
            <p:cNvSpPr>
              <a:spLocks noChangeShapeType="1"/>
            </p:cNvSpPr>
            <p:nvPr/>
          </p:nvSpPr>
          <p:spPr bwMode="auto">
            <a:xfrm flipH="1">
              <a:off x="5310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1" name="Line 70"/>
            <p:cNvSpPr>
              <a:spLocks noChangeShapeType="1"/>
            </p:cNvSpPr>
            <p:nvPr/>
          </p:nvSpPr>
          <p:spPr bwMode="auto">
            <a:xfrm flipH="1">
              <a:off x="5853" y="3408"/>
              <a:ext cx="406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4862" name="Rectangle 71"/>
            <p:cNvSpPr>
              <a:spLocks noChangeArrowheads="1"/>
            </p:cNvSpPr>
            <p:nvPr/>
          </p:nvSpPr>
          <p:spPr bwMode="auto">
            <a:xfrm>
              <a:off x="5899" y="4088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400" b="1" dirty="0"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34863" name="Rectangle 72"/>
            <p:cNvSpPr>
              <a:spLocks noChangeArrowheads="1"/>
            </p:cNvSpPr>
            <p:nvPr/>
          </p:nvSpPr>
          <p:spPr bwMode="auto">
            <a:xfrm>
              <a:off x="5965" y="3858"/>
              <a:ext cx="37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200" b="1" dirty="0">
                  <a:latin typeface="Calibri" panose="020F0502020204030204" pitchFamily="34" charset="0"/>
                </a:rPr>
                <a:t>totaux</a:t>
              </a:r>
            </a:p>
          </p:txBody>
        </p:sp>
        <p:sp>
          <p:nvSpPr>
            <p:cNvPr id="34864" name="Rectangle 73"/>
            <p:cNvSpPr>
              <a:spLocks noChangeArrowheads="1"/>
            </p:cNvSpPr>
            <p:nvPr/>
          </p:nvSpPr>
          <p:spPr bwMode="auto">
            <a:xfrm>
              <a:off x="6432" y="4098"/>
              <a:ext cx="2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1200" dirty="0">
                  <a:latin typeface="Calibri" panose="020F0502020204030204" pitchFamily="34" charset="0"/>
                </a:rPr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82120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 rot="16200000">
            <a:off x="-4912583" y="5156140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Diagramme de Causes à Effet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 rot="16200000">
            <a:off x="1222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 rot="16200000">
            <a:off x="1222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 rot="16200000">
            <a:off x="1222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 rot="16200000">
            <a:off x="3094037" y="936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 rot="16200000">
            <a:off x="60658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 rot="16200000">
            <a:off x="60658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 rot="16200000">
            <a:off x="60658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rot="16200000">
            <a:off x="7937" y="6461126"/>
            <a:ext cx="822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</a:endParaRPr>
          </a:p>
        </p:txBody>
      </p:sp>
      <p:grpSp>
        <p:nvGrpSpPr>
          <p:cNvPr id="38924" name="Group 12"/>
          <p:cNvGrpSpPr>
            <a:grpSpLocks/>
          </p:cNvGrpSpPr>
          <p:nvPr/>
        </p:nvGrpSpPr>
        <p:grpSpPr bwMode="auto">
          <a:xfrm rot="16200000">
            <a:off x="-241301" y="5318126"/>
            <a:ext cx="6019800" cy="2514600"/>
            <a:chOff x="816" y="864"/>
            <a:chExt cx="3792" cy="1584"/>
          </a:xfrm>
        </p:grpSpPr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816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3984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>
              <a:off x="2400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8925" name="Group 16"/>
          <p:cNvGrpSpPr>
            <a:grpSpLocks/>
          </p:cNvGrpSpPr>
          <p:nvPr/>
        </p:nvGrpSpPr>
        <p:grpSpPr bwMode="auto">
          <a:xfrm rot="16200000" flipV="1">
            <a:off x="2465387" y="5318126"/>
            <a:ext cx="6019800" cy="2514600"/>
            <a:chOff x="816" y="2544"/>
            <a:chExt cx="3792" cy="1584"/>
          </a:xfrm>
        </p:grpSpPr>
        <p:sp>
          <p:nvSpPr>
            <p:cNvPr id="38926" name="Line 17"/>
            <p:cNvSpPr>
              <a:spLocks noChangeShapeType="1"/>
            </p:cNvSpPr>
            <p:nvPr/>
          </p:nvSpPr>
          <p:spPr bwMode="auto">
            <a:xfrm>
              <a:off x="816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7" name="Line 18"/>
            <p:cNvSpPr>
              <a:spLocks noChangeShapeType="1"/>
            </p:cNvSpPr>
            <p:nvPr/>
          </p:nvSpPr>
          <p:spPr bwMode="auto">
            <a:xfrm>
              <a:off x="3984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8" name="Line 19"/>
            <p:cNvSpPr>
              <a:spLocks noChangeShapeType="1"/>
            </p:cNvSpPr>
            <p:nvPr/>
          </p:nvSpPr>
          <p:spPr bwMode="auto">
            <a:xfrm>
              <a:off x="2400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 rot="16200000">
            <a:off x="-4912583" y="5156140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Diagramme de Causes à Effet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 rot="16200000">
            <a:off x="1222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 rot="16200000">
            <a:off x="1222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 rot="16200000">
            <a:off x="1222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 rot="16200000">
            <a:off x="3094037" y="936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 rot="16200000">
            <a:off x="60658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 rot="16200000">
            <a:off x="60658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 rot="16200000">
            <a:off x="60658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rot="16200000">
            <a:off x="7937" y="6461126"/>
            <a:ext cx="822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</a:endParaRPr>
          </a:p>
        </p:txBody>
      </p:sp>
      <p:grpSp>
        <p:nvGrpSpPr>
          <p:cNvPr id="38924" name="Group 12"/>
          <p:cNvGrpSpPr>
            <a:grpSpLocks/>
          </p:cNvGrpSpPr>
          <p:nvPr/>
        </p:nvGrpSpPr>
        <p:grpSpPr bwMode="auto">
          <a:xfrm rot="16200000">
            <a:off x="-241301" y="5318126"/>
            <a:ext cx="6019800" cy="2514600"/>
            <a:chOff x="816" y="864"/>
            <a:chExt cx="3792" cy="1584"/>
          </a:xfrm>
        </p:grpSpPr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816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3984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>
              <a:off x="2400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8925" name="Group 16"/>
          <p:cNvGrpSpPr>
            <a:grpSpLocks/>
          </p:cNvGrpSpPr>
          <p:nvPr/>
        </p:nvGrpSpPr>
        <p:grpSpPr bwMode="auto">
          <a:xfrm rot="16200000" flipV="1">
            <a:off x="2465387" y="5318126"/>
            <a:ext cx="6019800" cy="2514600"/>
            <a:chOff x="816" y="2544"/>
            <a:chExt cx="3792" cy="1584"/>
          </a:xfrm>
        </p:grpSpPr>
        <p:sp>
          <p:nvSpPr>
            <p:cNvPr id="38926" name="Line 17"/>
            <p:cNvSpPr>
              <a:spLocks noChangeShapeType="1"/>
            </p:cNvSpPr>
            <p:nvPr/>
          </p:nvSpPr>
          <p:spPr bwMode="auto">
            <a:xfrm>
              <a:off x="816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7" name="Line 18"/>
            <p:cNvSpPr>
              <a:spLocks noChangeShapeType="1"/>
            </p:cNvSpPr>
            <p:nvPr/>
          </p:nvSpPr>
          <p:spPr bwMode="auto">
            <a:xfrm>
              <a:off x="3984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8" name="Line 19"/>
            <p:cNvSpPr>
              <a:spLocks noChangeShapeType="1"/>
            </p:cNvSpPr>
            <p:nvPr/>
          </p:nvSpPr>
          <p:spPr bwMode="auto">
            <a:xfrm>
              <a:off x="2400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6812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 rot="16200000">
            <a:off x="-4912583" y="5156140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Diagramme de Causes à Effet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 rot="16200000">
            <a:off x="1222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 rot="16200000">
            <a:off x="1222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 rot="16200000">
            <a:off x="1222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 rot="16200000">
            <a:off x="3094037" y="936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 rot="16200000">
            <a:off x="60658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 rot="16200000">
            <a:off x="60658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 rot="16200000">
            <a:off x="60658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rot="16200000">
            <a:off x="7937" y="6461126"/>
            <a:ext cx="822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</a:endParaRPr>
          </a:p>
        </p:txBody>
      </p:sp>
      <p:grpSp>
        <p:nvGrpSpPr>
          <p:cNvPr id="38924" name="Group 12"/>
          <p:cNvGrpSpPr>
            <a:grpSpLocks/>
          </p:cNvGrpSpPr>
          <p:nvPr/>
        </p:nvGrpSpPr>
        <p:grpSpPr bwMode="auto">
          <a:xfrm rot="16200000">
            <a:off x="-241301" y="5318126"/>
            <a:ext cx="6019800" cy="2514600"/>
            <a:chOff x="816" y="864"/>
            <a:chExt cx="3792" cy="1584"/>
          </a:xfrm>
        </p:grpSpPr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816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3984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>
              <a:off x="2400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8925" name="Group 16"/>
          <p:cNvGrpSpPr>
            <a:grpSpLocks/>
          </p:cNvGrpSpPr>
          <p:nvPr/>
        </p:nvGrpSpPr>
        <p:grpSpPr bwMode="auto">
          <a:xfrm rot="16200000" flipV="1">
            <a:off x="2465387" y="5318126"/>
            <a:ext cx="6019800" cy="2514600"/>
            <a:chOff x="816" y="2544"/>
            <a:chExt cx="3792" cy="1584"/>
          </a:xfrm>
        </p:grpSpPr>
        <p:sp>
          <p:nvSpPr>
            <p:cNvPr id="38926" name="Line 17"/>
            <p:cNvSpPr>
              <a:spLocks noChangeShapeType="1"/>
            </p:cNvSpPr>
            <p:nvPr/>
          </p:nvSpPr>
          <p:spPr bwMode="auto">
            <a:xfrm>
              <a:off x="816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7" name="Line 18"/>
            <p:cNvSpPr>
              <a:spLocks noChangeShapeType="1"/>
            </p:cNvSpPr>
            <p:nvPr/>
          </p:nvSpPr>
          <p:spPr bwMode="auto">
            <a:xfrm>
              <a:off x="3984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8" name="Line 19"/>
            <p:cNvSpPr>
              <a:spLocks noChangeShapeType="1"/>
            </p:cNvSpPr>
            <p:nvPr/>
          </p:nvSpPr>
          <p:spPr bwMode="auto">
            <a:xfrm>
              <a:off x="2400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21965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 rot="16200000">
            <a:off x="-4912583" y="5156140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Diagramme de Causes à Effet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 rot="16200000">
            <a:off x="1222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 rot="16200000">
            <a:off x="1222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 rot="16200000">
            <a:off x="1222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 rot="16200000">
            <a:off x="3094037" y="936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 rot="16200000">
            <a:off x="60658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 rot="16200000">
            <a:off x="60658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 rot="16200000">
            <a:off x="60658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rot="16200000">
            <a:off x="7937" y="6461126"/>
            <a:ext cx="822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</a:endParaRPr>
          </a:p>
        </p:txBody>
      </p:sp>
      <p:grpSp>
        <p:nvGrpSpPr>
          <p:cNvPr id="38924" name="Group 12"/>
          <p:cNvGrpSpPr>
            <a:grpSpLocks/>
          </p:cNvGrpSpPr>
          <p:nvPr/>
        </p:nvGrpSpPr>
        <p:grpSpPr bwMode="auto">
          <a:xfrm rot="16200000">
            <a:off x="-241301" y="5318126"/>
            <a:ext cx="6019800" cy="2514600"/>
            <a:chOff x="816" y="864"/>
            <a:chExt cx="3792" cy="1584"/>
          </a:xfrm>
        </p:grpSpPr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816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3984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>
              <a:off x="2400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8925" name="Group 16"/>
          <p:cNvGrpSpPr>
            <a:grpSpLocks/>
          </p:cNvGrpSpPr>
          <p:nvPr/>
        </p:nvGrpSpPr>
        <p:grpSpPr bwMode="auto">
          <a:xfrm rot="16200000" flipV="1">
            <a:off x="2465387" y="5318126"/>
            <a:ext cx="6019800" cy="2514600"/>
            <a:chOff x="816" y="2544"/>
            <a:chExt cx="3792" cy="1584"/>
          </a:xfrm>
        </p:grpSpPr>
        <p:sp>
          <p:nvSpPr>
            <p:cNvPr id="38926" name="Line 17"/>
            <p:cNvSpPr>
              <a:spLocks noChangeShapeType="1"/>
            </p:cNvSpPr>
            <p:nvPr/>
          </p:nvSpPr>
          <p:spPr bwMode="auto">
            <a:xfrm>
              <a:off x="816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7" name="Line 18"/>
            <p:cNvSpPr>
              <a:spLocks noChangeShapeType="1"/>
            </p:cNvSpPr>
            <p:nvPr/>
          </p:nvSpPr>
          <p:spPr bwMode="auto">
            <a:xfrm>
              <a:off x="3984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8" name="Line 19"/>
            <p:cNvSpPr>
              <a:spLocks noChangeShapeType="1"/>
            </p:cNvSpPr>
            <p:nvPr/>
          </p:nvSpPr>
          <p:spPr bwMode="auto">
            <a:xfrm>
              <a:off x="2400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95945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 rot="16200000">
            <a:off x="-4912583" y="5156140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Diagramme de Causes à Effet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 rot="16200000">
            <a:off x="1222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 rot="16200000">
            <a:off x="1222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 rot="16200000">
            <a:off x="1222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 rot="16200000">
            <a:off x="3094037" y="936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 rot="16200000">
            <a:off x="60658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 rot="16200000">
            <a:off x="60658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 rot="16200000">
            <a:off x="60658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rot="16200000">
            <a:off x="7937" y="6461126"/>
            <a:ext cx="822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</a:endParaRPr>
          </a:p>
        </p:txBody>
      </p:sp>
      <p:grpSp>
        <p:nvGrpSpPr>
          <p:cNvPr id="38924" name="Group 12"/>
          <p:cNvGrpSpPr>
            <a:grpSpLocks/>
          </p:cNvGrpSpPr>
          <p:nvPr/>
        </p:nvGrpSpPr>
        <p:grpSpPr bwMode="auto">
          <a:xfrm rot="16200000">
            <a:off x="-241301" y="5318126"/>
            <a:ext cx="6019800" cy="2514600"/>
            <a:chOff x="816" y="864"/>
            <a:chExt cx="3792" cy="1584"/>
          </a:xfrm>
        </p:grpSpPr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816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3984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>
              <a:off x="2400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8925" name="Group 16"/>
          <p:cNvGrpSpPr>
            <a:grpSpLocks/>
          </p:cNvGrpSpPr>
          <p:nvPr/>
        </p:nvGrpSpPr>
        <p:grpSpPr bwMode="auto">
          <a:xfrm rot="16200000" flipV="1">
            <a:off x="2465387" y="5318126"/>
            <a:ext cx="6019800" cy="2514600"/>
            <a:chOff x="816" y="2544"/>
            <a:chExt cx="3792" cy="1584"/>
          </a:xfrm>
        </p:grpSpPr>
        <p:sp>
          <p:nvSpPr>
            <p:cNvPr id="38926" name="Line 17"/>
            <p:cNvSpPr>
              <a:spLocks noChangeShapeType="1"/>
            </p:cNvSpPr>
            <p:nvPr/>
          </p:nvSpPr>
          <p:spPr bwMode="auto">
            <a:xfrm>
              <a:off x="816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7" name="Line 18"/>
            <p:cNvSpPr>
              <a:spLocks noChangeShapeType="1"/>
            </p:cNvSpPr>
            <p:nvPr/>
          </p:nvSpPr>
          <p:spPr bwMode="auto">
            <a:xfrm>
              <a:off x="3984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8" name="Line 19"/>
            <p:cNvSpPr>
              <a:spLocks noChangeShapeType="1"/>
            </p:cNvSpPr>
            <p:nvPr/>
          </p:nvSpPr>
          <p:spPr bwMode="auto">
            <a:xfrm>
              <a:off x="2400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1939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 rot="16200000">
            <a:off x="-4912583" y="5156140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Diagramme de Causes à Effet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 rot="16200000">
            <a:off x="1222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 rot="16200000">
            <a:off x="1222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 rot="16200000">
            <a:off x="1222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 rot="16200000">
            <a:off x="3094037" y="936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 rot="16200000">
            <a:off x="60658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 rot="16200000">
            <a:off x="60658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 rot="16200000">
            <a:off x="60658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rot="16200000">
            <a:off x="7937" y="6461126"/>
            <a:ext cx="822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</a:endParaRPr>
          </a:p>
        </p:txBody>
      </p:sp>
      <p:grpSp>
        <p:nvGrpSpPr>
          <p:cNvPr id="38924" name="Group 12"/>
          <p:cNvGrpSpPr>
            <a:grpSpLocks/>
          </p:cNvGrpSpPr>
          <p:nvPr/>
        </p:nvGrpSpPr>
        <p:grpSpPr bwMode="auto">
          <a:xfrm rot="16200000">
            <a:off x="-241301" y="5318126"/>
            <a:ext cx="6019800" cy="2514600"/>
            <a:chOff x="816" y="864"/>
            <a:chExt cx="3792" cy="1584"/>
          </a:xfrm>
        </p:grpSpPr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816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3984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>
              <a:off x="2400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8925" name="Group 16"/>
          <p:cNvGrpSpPr>
            <a:grpSpLocks/>
          </p:cNvGrpSpPr>
          <p:nvPr/>
        </p:nvGrpSpPr>
        <p:grpSpPr bwMode="auto">
          <a:xfrm rot="16200000" flipV="1">
            <a:off x="2465387" y="5318126"/>
            <a:ext cx="6019800" cy="2514600"/>
            <a:chOff x="816" y="2544"/>
            <a:chExt cx="3792" cy="1584"/>
          </a:xfrm>
        </p:grpSpPr>
        <p:sp>
          <p:nvSpPr>
            <p:cNvPr id="38926" name="Line 17"/>
            <p:cNvSpPr>
              <a:spLocks noChangeShapeType="1"/>
            </p:cNvSpPr>
            <p:nvPr/>
          </p:nvSpPr>
          <p:spPr bwMode="auto">
            <a:xfrm>
              <a:off x="816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7" name="Line 18"/>
            <p:cNvSpPr>
              <a:spLocks noChangeShapeType="1"/>
            </p:cNvSpPr>
            <p:nvPr/>
          </p:nvSpPr>
          <p:spPr bwMode="auto">
            <a:xfrm>
              <a:off x="3984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8" name="Line 19"/>
            <p:cNvSpPr>
              <a:spLocks noChangeShapeType="1"/>
            </p:cNvSpPr>
            <p:nvPr/>
          </p:nvSpPr>
          <p:spPr bwMode="auto">
            <a:xfrm>
              <a:off x="2400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30306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 rot="16200000">
            <a:off x="-4912583" y="5156140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Diagramme de Causes à Effet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 rot="16200000">
            <a:off x="1222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 rot="16200000">
            <a:off x="1222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 rot="16200000">
            <a:off x="1222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 rot="16200000">
            <a:off x="3094037" y="936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 rot="16200000">
            <a:off x="60658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 rot="16200000">
            <a:off x="60658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 rot="16200000">
            <a:off x="60658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rot="16200000">
            <a:off x="7937" y="6461126"/>
            <a:ext cx="822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</a:endParaRPr>
          </a:p>
        </p:txBody>
      </p:sp>
      <p:grpSp>
        <p:nvGrpSpPr>
          <p:cNvPr id="38924" name="Group 12"/>
          <p:cNvGrpSpPr>
            <a:grpSpLocks/>
          </p:cNvGrpSpPr>
          <p:nvPr/>
        </p:nvGrpSpPr>
        <p:grpSpPr bwMode="auto">
          <a:xfrm rot="16200000">
            <a:off x="-241301" y="5318126"/>
            <a:ext cx="6019800" cy="2514600"/>
            <a:chOff x="816" y="864"/>
            <a:chExt cx="3792" cy="1584"/>
          </a:xfrm>
        </p:grpSpPr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816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3984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>
              <a:off x="2400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8925" name="Group 16"/>
          <p:cNvGrpSpPr>
            <a:grpSpLocks/>
          </p:cNvGrpSpPr>
          <p:nvPr/>
        </p:nvGrpSpPr>
        <p:grpSpPr bwMode="auto">
          <a:xfrm rot="16200000" flipV="1">
            <a:off x="2465387" y="5318126"/>
            <a:ext cx="6019800" cy="2514600"/>
            <a:chOff x="816" y="2544"/>
            <a:chExt cx="3792" cy="1584"/>
          </a:xfrm>
        </p:grpSpPr>
        <p:sp>
          <p:nvSpPr>
            <p:cNvPr id="38926" name="Line 17"/>
            <p:cNvSpPr>
              <a:spLocks noChangeShapeType="1"/>
            </p:cNvSpPr>
            <p:nvPr/>
          </p:nvSpPr>
          <p:spPr bwMode="auto">
            <a:xfrm>
              <a:off x="816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7" name="Line 18"/>
            <p:cNvSpPr>
              <a:spLocks noChangeShapeType="1"/>
            </p:cNvSpPr>
            <p:nvPr/>
          </p:nvSpPr>
          <p:spPr bwMode="auto">
            <a:xfrm>
              <a:off x="3984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8" name="Line 19"/>
            <p:cNvSpPr>
              <a:spLocks noChangeShapeType="1"/>
            </p:cNvSpPr>
            <p:nvPr/>
          </p:nvSpPr>
          <p:spPr bwMode="auto">
            <a:xfrm>
              <a:off x="2400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0113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 rot="16200000">
            <a:off x="-4912583" y="5156140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Diagramme de Causes à Effet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 rot="16200000">
            <a:off x="1222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 rot="16200000">
            <a:off x="1222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 rot="16200000">
            <a:off x="1222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 rot="16200000">
            <a:off x="3094037" y="936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 rot="16200000">
            <a:off x="6065837" y="93186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 rot="16200000">
            <a:off x="6065837" y="68040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 rot="16200000">
            <a:off x="6065837" y="4289426"/>
            <a:ext cx="20574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fr-FR" altLang="fr-FR" dirty="0">
              <a:latin typeface="Calibri" panose="020F0502020204030204" pitchFamily="34" charset="0"/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rot="16200000">
            <a:off x="7937" y="6461126"/>
            <a:ext cx="822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</a:endParaRPr>
          </a:p>
        </p:txBody>
      </p:sp>
      <p:grpSp>
        <p:nvGrpSpPr>
          <p:cNvPr id="38924" name="Group 12"/>
          <p:cNvGrpSpPr>
            <a:grpSpLocks/>
          </p:cNvGrpSpPr>
          <p:nvPr/>
        </p:nvGrpSpPr>
        <p:grpSpPr bwMode="auto">
          <a:xfrm rot="16200000">
            <a:off x="-241301" y="5318126"/>
            <a:ext cx="6019800" cy="2514600"/>
            <a:chOff x="816" y="864"/>
            <a:chExt cx="3792" cy="1584"/>
          </a:xfrm>
        </p:grpSpPr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816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0" name="Line 14"/>
            <p:cNvSpPr>
              <a:spLocks noChangeShapeType="1"/>
            </p:cNvSpPr>
            <p:nvPr/>
          </p:nvSpPr>
          <p:spPr bwMode="auto">
            <a:xfrm>
              <a:off x="3984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31" name="Line 15"/>
            <p:cNvSpPr>
              <a:spLocks noChangeShapeType="1"/>
            </p:cNvSpPr>
            <p:nvPr/>
          </p:nvSpPr>
          <p:spPr bwMode="auto">
            <a:xfrm>
              <a:off x="2400" y="86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8925" name="Group 16"/>
          <p:cNvGrpSpPr>
            <a:grpSpLocks/>
          </p:cNvGrpSpPr>
          <p:nvPr/>
        </p:nvGrpSpPr>
        <p:grpSpPr bwMode="auto">
          <a:xfrm rot="16200000" flipV="1">
            <a:off x="2465387" y="5318126"/>
            <a:ext cx="6019800" cy="2514600"/>
            <a:chOff x="816" y="2544"/>
            <a:chExt cx="3792" cy="1584"/>
          </a:xfrm>
        </p:grpSpPr>
        <p:sp>
          <p:nvSpPr>
            <p:cNvPr id="38926" name="Line 17"/>
            <p:cNvSpPr>
              <a:spLocks noChangeShapeType="1"/>
            </p:cNvSpPr>
            <p:nvPr/>
          </p:nvSpPr>
          <p:spPr bwMode="auto">
            <a:xfrm>
              <a:off x="816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7" name="Line 18"/>
            <p:cNvSpPr>
              <a:spLocks noChangeShapeType="1"/>
            </p:cNvSpPr>
            <p:nvPr/>
          </p:nvSpPr>
          <p:spPr bwMode="auto">
            <a:xfrm>
              <a:off x="3984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38928" name="Line 19"/>
            <p:cNvSpPr>
              <a:spLocks noChangeShapeType="1"/>
            </p:cNvSpPr>
            <p:nvPr/>
          </p:nvSpPr>
          <p:spPr bwMode="auto">
            <a:xfrm>
              <a:off x="2400" y="2544"/>
              <a:ext cx="624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8478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11398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50705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4764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98003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1764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27227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59332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31554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4382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95473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54239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95484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61398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376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0795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8631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30093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31307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 rot="-5400000">
            <a:off x="-1546226" y="1760538"/>
            <a:ext cx="10548938" cy="7345364"/>
            <a:chOff x="89" y="-66"/>
            <a:chExt cx="6645" cy="4627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146" y="-66"/>
              <a:ext cx="658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354" tIns="47677" rIns="95354" bIns="47677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fr-FR" altLang="fr-FR" sz="2800" b="1" dirty="0">
                  <a:latin typeface="Calibri" panose="020F0502020204030204" pitchFamily="34" charset="0"/>
                </a:rPr>
                <a:t>Matrice</a:t>
              </a:r>
            </a:p>
          </p:txBody>
        </p:sp>
        <p:sp>
          <p:nvSpPr>
            <p:cNvPr id="43012" name="Line 4"/>
            <p:cNvSpPr>
              <a:spLocks noChangeShapeType="1"/>
            </p:cNvSpPr>
            <p:nvPr/>
          </p:nvSpPr>
          <p:spPr bwMode="auto">
            <a:xfrm>
              <a:off x="186" y="528"/>
              <a:ext cx="0" cy="3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816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36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91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2457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>
              <a:off x="3004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>
              <a:off x="3552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4099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4646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193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5740" y="528"/>
              <a:ext cx="0" cy="3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6240" y="528"/>
              <a:ext cx="0" cy="3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720" y="912"/>
              <a:ext cx="0" cy="3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rot="5400000">
              <a:off x="3768" y="1368"/>
              <a:ext cx="0" cy="59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 rot="5400000">
              <a:off x="3453" y="-109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rot="5400000">
              <a:off x="3453" y="-668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rot="5400000">
              <a:off x="3453" y="-239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 rot="5400000">
              <a:off x="3453" y="190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 rot="5400000">
              <a:off x="3453" y="620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 rot="5400000">
              <a:off x="3213" y="-2500"/>
              <a:ext cx="0" cy="60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 rot="5400000">
              <a:off x="3453" y="-2356"/>
              <a:ext cx="0" cy="6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3" name="Line 25"/>
            <p:cNvSpPr>
              <a:spLocks noChangeShapeType="1"/>
            </p:cNvSpPr>
            <p:nvPr/>
          </p:nvSpPr>
          <p:spPr bwMode="auto">
            <a:xfrm rot="5400000">
              <a:off x="3453" y="-1956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 rot="5400000">
              <a:off x="3453" y="-1527"/>
              <a:ext cx="0" cy="6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89" y="4367"/>
              <a:ext cx="12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fr-FR" altLang="fr-FR" sz="1400" b="1" dirty="0">
                  <a:latin typeface="Calibri" panose="020F0502020204030204" pitchFamily="34" charset="0"/>
                </a:rPr>
                <a:t>légende de la notation : </a:t>
              </a:r>
            </a:p>
          </p:txBody>
        </p:sp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816" y="912"/>
              <a:ext cx="5424" cy="29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fr-FR" altLang="fr-FR" dirty="0">
                <a:latin typeface="Calibri" panose="020F0502020204030204" pitchFamily="34" charset="0"/>
              </a:endParaRPr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92" y="528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35241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5684E0E-4091-4D08-BBF5-D4B9B6736D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909579" y="5164077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540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3033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065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637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209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81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353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5 Pourquoi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34541B-A36B-4956-A537-4C6A1350A38B}"/>
              </a:ext>
            </a:extLst>
          </p:cNvPr>
          <p:cNvGrpSpPr/>
          <p:nvPr/>
        </p:nvGrpSpPr>
        <p:grpSpPr>
          <a:xfrm>
            <a:off x="485160" y="203200"/>
            <a:ext cx="6997249" cy="10533064"/>
            <a:chOff x="675547" y="203200"/>
            <a:chExt cx="6681998" cy="10533064"/>
          </a:xfrm>
        </p:grpSpPr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EF880ECC-D7AB-421D-8807-AE7C7816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709241" y="8920652"/>
              <a:ext cx="32004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a-t-on eu ce problème ? : </a:t>
              </a:r>
            </a:p>
          </p:txBody>
        </p:sp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52413A2-25AD-45AC-92D5-AFA2D966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80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ce problème n'a pas été détecté ? : </a:t>
              </a:r>
            </a:p>
          </p:txBody>
        </p:sp>
        <p:sp>
          <p:nvSpPr>
            <p:cNvPr id="6" name="Text Box 69">
              <a:extLst>
                <a:ext uri="{FF2B5EF4-FFF2-40B4-BE49-F238E27FC236}">
                  <a16:creationId xmlns:a16="http://schemas.microsoft.com/office/drawing/2014/main" id="{117FA58B-4CB3-4487-B2DF-802DBFC3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292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le système n'a pas prévenu le problème ? : </a:t>
              </a:r>
            </a:p>
          </p:txBody>
        </p:sp>
        <p:sp>
          <p:nvSpPr>
            <p:cNvPr id="7" name="Rectangle 51">
              <a:extLst>
                <a:ext uri="{FF2B5EF4-FFF2-40B4-BE49-F238E27FC236}">
                  <a16:creationId xmlns:a16="http://schemas.microsoft.com/office/drawing/2014/main" id="{B8AE7AA3-F418-448C-B9C5-869AD7A7BB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2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54">
              <a:extLst>
                <a:ext uri="{FF2B5EF4-FFF2-40B4-BE49-F238E27FC236}">
                  <a16:creationId xmlns:a16="http://schemas.microsoft.com/office/drawing/2014/main" id="{043CD173-BA5E-4128-8BE6-57371CB1D8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280637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4F0E3B30-0642-4D6E-B26A-14A0A2A9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41943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0" name="Rectangle 79">
              <a:extLst>
                <a:ext uri="{FF2B5EF4-FFF2-40B4-BE49-F238E27FC236}">
                  <a16:creationId xmlns:a16="http://schemas.microsoft.com/office/drawing/2014/main" id="{E8ABAD5B-2E8E-42D3-99F1-825FF6B6A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50412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A5DA8F3C-06A2-4E25-93E0-9E5F5F6DE9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61637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1">
              <a:extLst>
                <a:ext uri="{FF2B5EF4-FFF2-40B4-BE49-F238E27FC236}">
                  <a16:creationId xmlns:a16="http://schemas.microsoft.com/office/drawing/2014/main" id="{55597D1B-17CF-4D6C-8F74-DDDADC2EA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22943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8397C800-4FB0-4094-B34E-1BD5CFEFCA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412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BE85619-1AA7-4390-BBEC-F907F9713B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42637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783ED938-C244-4208-BEE4-6208BB0C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3943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6" name="Rectangle 87">
              <a:extLst>
                <a:ext uri="{FF2B5EF4-FFF2-40B4-BE49-F238E27FC236}">
                  <a16:creationId xmlns:a16="http://schemas.microsoft.com/office/drawing/2014/main" id="{2F41F00F-5094-44B5-83DB-FCEB4FED2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512412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EE618559-6B53-4EDF-A8E6-64D6E68DCC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3637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ACDA313C-E767-457D-B057-9F9EEBD6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84943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391589F2-3BF9-4A51-9BD6-A580BC7EE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412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97">
              <a:extLst>
                <a:ext uri="{FF2B5EF4-FFF2-40B4-BE49-F238E27FC236}">
                  <a16:creationId xmlns:a16="http://schemas.microsoft.com/office/drawing/2014/main" id="{FA5BDD59-B79F-4959-AED6-63BF516FF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9024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8">
              <a:extLst>
                <a:ext uri="{FF2B5EF4-FFF2-40B4-BE49-F238E27FC236}">
                  <a16:creationId xmlns:a16="http://schemas.microsoft.com/office/drawing/2014/main" id="{517CC361-871B-48CF-9981-336532A01C9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60249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9E5894FE-BEF5-4AD0-87C0-1703EFCE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21555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3" name="Rectangle 101">
              <a:extLst>
                <a:ext uri="{FF2B5EF4-FFF2-40B4-BE49-F238E27FC236}">
                  <a16:creationId xmlns:a16="http://schemas.microsoft.com/office/drawing/2014/main" id="{460DA1E8-83E8-48A5-A18A-1917911AA0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30024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FAA3C7DA-D2A8-4B92-A159-9793845E326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41249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03">
              <a:extLst>
                <a:ext uri="{FF2B5EF4-FFF2-40B4-BE49-F238E27FC236}">
                  <a16:creationId xmlns:a16="http://schemas.microsoft.com/office/drawing/2014/main" id="{27E37685-23BE-4CC5-AD8C-61E9323AE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802555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6" name="Rectangle 105">
              <a:extLst>
                <a:ext uri="{FF2B5EF4-FFF2-40B4-BE49-F238E27FC236}">
                  <a16:creationId xmlns:a16="http://schemas.microsoft.com/office/drawing/2014/main" id="{C681305E-37F1-4025-900A-B7ADB6C7CA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11024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106">
              <a:extLst>
                <a:ext uri="{FF2B5EF4-FFF2-40B4-BE49-F238E27FC236}">
                  <a16:creationId xmlns:a16="http://schemas.microsoft.com/office/drawing/2014/main" id="{D1BB45B4-C9A5-45CE-B5B4-9AE50C97D9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249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8" name="Text Box 107">
              <a:extLst>
                <a:ext uri="{FF2B5EF4-FFF2-40B4-BE49-F238E27FC236}">
                  <a16:creationId xmlns:a16="http://schemas.microsoft.com/office/drawing/2014/main" id="{3ECCD8A1-4657-43DC-A599-360083D8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83555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9" name="Rectangle 109">
              <a:extLst>
                <a:ext uri="{FF2B5EF4-FFF2-40B4-BE49-F238E27FC236}">
                  <a16:creationId xmlns:a16="http://schemas.microsoft.com/office/drawing/2014/main" id="{1C4EE9A0-EF46-41D9-96BB-AA1C992DA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2024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110">
              <a:extLst>
                <a:ext uri="{FF2B5EF4-FFF2-40B4-BE49-F238E27FC236}">
                  <a16:creationId xmlns:a16="http://schemas.microsoft.com/office/drawing/2014/main" id="{D7E69C8E-8AB0-4C24-8F41-1424FE5C5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403249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11">
              <a:extLst>
                <a:ext uri="{FF2B5EF4-FFF2-40B4-BE49-F238E27FC236}">
                  <a16:creationId xmlns:a16="http://schemas.microsoft.com/office/drawing/2014/main" id="{817B826D-83E0-4B44-BF02-E36970688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564555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2" name="Rectangle 113">
              <a:extLst>
                <a:ext uri="{FF2B5EF4-FFF2-40B4-BE49-F238E27FC236}">
                  <a16:creationId xmlns:a16="http://schemas.microsoft.com/office/drawing/2014/main" id="{8C717949-B01B-44B5-BEA6-BDFD3C1D4C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73024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3" name="Rectangle 118">
              <a:extLst>
                <a:ext uri="{FF2B5EF4-FFF2-40B4-BE49-F238E27FC236}">
                  <a16:creationId xmlns:a16="http://schemas.microsoft.com/office/drawing/2014/main" id="{3255486E-0C63-4E35-9A04-BF305EDF51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8637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FBB0E16D-43AD-4093-8701-21E2679808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239862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5" name="Text Box 120">
              <a:extLst>
                <a:ext uri="{FF2B5EF4-FFF2-40B4-BE49-F238E27FC236}">
                  <a16:creationId xmlns:a16="http://schemas.microsoft.com/office/drawing/2014/main" id="{5FAEEB5A-D897-48CF-AC2E-468982E9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01168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6" name="Rectangle 122">
              <a:extLst>
                <a:ext uri="{FF2B5EF4-FFF2-40B4-BE49-F238E27FC236}">
                  <a16:creationId xmlns:a16="http://schemas.microsoft.com/office/drawing/2014/main" id="{72B9EC9A-513C-43A1-AC1A-52ED34CC2D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09637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6039B09B-6308-4D39-96D3-1195135107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620862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8" name="Text Box 124">
              <a:extLst>
                <a:ext uri="{FF2B5EF4-FFF2-40B4-BE49-F238E27FC236}">
                  <a16:creationId xmlns:a16="http://schemas.microsoft.com/office/drawing/2014/main" id="{5D77F693-78B9-48B2-8E48-FFB3DE301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82168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3F12EFC0-04EF-4E77-87B4-E409D3EA88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90637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127">
              <a:extLst>
                <a:ext uri="{FF2B5EF4-FFF2-40B4-BE49-F238E27FC236}">
                  <a16:creationId xmlns:a16="http://schemas.microsoft.com/office/drawing/2014/main" id="{DDB1A4F8-277E-42AF-9316-F78F375FBD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001862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1" name="Text Box 128">
              <a:extLst>
                <a:ext uri="{FF2B5EF4-FFF2-40B4-BE49-F238E27FC236}">
                  <a16:creationId xmlns:a16="http://schemas.microsoft.com/office/drawing/2014/main" id="{319169B6-9233-4FA1-9C73-6D11E265E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163168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2" name="Rectangle 130">
              <a:extLst>
                <a:ext uri="{FF2B5EF4-FFF2-40B4-BE49-F238E27FC236}">
                  <a16:creationId xmlns:a16="http://schemas.microsoft.com/office/drawing/2014/main" id="{B223D2C3-E85B-4CD6-91CC-4A464CF313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71637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131">
              <a:extLst>
                <a:ext uri="{FF2B5EF4-FFF2-40B4-BE49-F238E27FC236}">
                  <a16:creationId xmlns:a16="http://schemas.microsoft.com/office/drawing/2014/main" id="{67309993-07A6-4463-A05F-B57C9250D0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382862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4" name="Text Box 132">
              <a:extLst>
                <a:ext uri="{FF2B5EF4-FFF2-40B4-BE49-F238E27FC236}">
                  <a16:creationId xmlns:a16="http://schemas.microsoft.com/office/drawing/2014/main" id="{BD392AD5-2D09-4983-BA37-71209475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544168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D212CE5-26EB-4F03-9ED7-45650ED378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2637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6" name="Text Box 137">
              <a:extLst>
                <a:ext uri="{FF2B5EF4-FFF2-40B4-BE49-F238E27FC236}">
                  <a16:creationId xmlns:a16="http://schemas.microsoft.com/office/drawing/2014/main" id="{4ABAD8F4-6C74-4C21-90F3-396028323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01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7" name="Text Box 138">
              <a:extLst>
                <a:ext uri="{FF2B5EF4-FFF2-40B4-BE49-F238E27FC236}">
                  <a16:creationId xmlns:a16="http://schemas.microsoft.com/office/drawing/2014/main" id="{873D2670-C47F-4C26-B41C-E7A4DD3A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786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8" name="Text Box 139">
              <a:extLst>
                <a:ext uri="{FF2B5EF4-FFF2-40B4-BE49-F238E27FC236}">
                  <a16:creationId xmlns:a16="http://schemas.microsoft.com/office/drawing/2014/main" id="{D50ACA47-2E97-4BE4-8082-A74AFE7D2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598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06155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5684E0E-4091-4D08-BBF5-D4B9B6736D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909579" y="5164077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540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3033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065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637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209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81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353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5 Pourquoi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34541B-A36B-4956-A537-4C6A1350A38B}"/>
              </a:ext>
            </a:extLst>
          </p:cNvPr>
          <p:cNvGrpSpPr/>
          <p:nvPr/>
        </p:nvGrpSpPr>
        <p:grpSpPr>
          <a:xfrm>
            <a:off x="485160" y="203200"/>
            <a:ext cx="6997249" cy="10533064"/>
            <a:chOff x="675547" y="203200"/>
            <a:chExt cx="6681998" cy="10533064"/>
          </a:xfrm>
        </p:grpSpPr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EF880ECC-D7AB-421D-8807-AE7C7816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709241" y="8920652"/>
              <a:ext cx="32004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a-t-on eu ce problème ? : </a:t>
              </a:r>
            </a:p>
          </p:txBody>
        </p:sp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52413A2-25AD-45AC-92D5-AFA2D966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80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ce problème n'a pas été détecté ? : </a:t>
              </a:r>
            </a:p>
          </p:txBody>
        </p:sp>
        <p:sp>
          <p:nvSpPr>
            <p:cNvPr id="6" name="Text Box 69">
              <a:extLst>
                <a:ext uri="{FF2B5EF4-FFF2-40B4-BE49-F238E27FC236}">
                  <a16:creationId xmlns:a16="http://schemas.microsoft.com/office/drawing/2014/main" id="{117FA58B-4CB3-4487-B2DF-802DBFC3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292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le système n'a pas prévenu le problème ? : </a:t>
              </a:r>
            </a:p>
          </p:txBody>
        </p:sp>
        <p:sp>
          <p:nvSpPr>
            <p:cNvPr id="7" name="Rectangle 51">
              <a:extLst>
                <a:ext uri="{FF2B5EF4-FFF2-40B4-BE49-F238E27FC236}">
                  <a16:creationId xmlns:a16="http://schemas.microsoft.com/office/drawing/2014/main" id="{B8AE7AA3-F418-448C-B9C5-869AD7A7BB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2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54">
              <a:extLst>
                <a:ext uri="{FF2B5EF4-FFF2-40B4-BE49-F238E27FC236}">
                  <a16:creationId xmlns:a16="http://schemas.microsoft.com/office/drawing/2014/main" id="{043CD173-BA5E-4128-8BE6-57371CB1D8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280637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4F0E3B30-0642-4D6E-B26A-14A0A2A9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41943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0" name="Rectangle 79">
              <a:extLst>
                <a:ext uri="{FF2B5EF4-FFF2-40B4-BE49-F238E27FC236}">
                  <a16:creationId xmlns:a16="http://schemas.microsoft.com/office/drawing/2014/main" id="{E8ABAD5B-2E8E-42D3-99F1-825FF6B6A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50412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A5DA8F3C-06A2-4E25-93E0-9E5F5F6DE9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61637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1">
              <a:extLst>
                <a:ext uri="{FF2B5EF4-FFF2-40B4-BE49-F238E27FC236}">
                  <a16:creationId xmlns:a16="http://schemas.microsoft.com/office/drawing/2014/main" id="{55597D1B-17CF-4D6C-8F74-DDDADC2EA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22943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8397C800-4FB0-4094-B34E-1BD5CFEFCA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412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BE85619-1AA7-4390-BBEC-F907F9713B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42637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783ED938-C244-4208-BEE4-6208BB0C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3943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6" name="Rectangle 87">
              <a:extLst>
                <a:ext uri="{FF2B5EF4-FFF2-40B4-BE49-F238E27FC236}">
                  <a16:creationId xmlns:a16="http://schemas.microsoft.com/office/drawing/2014/main" id="{2F41F00F-5094-44B5-83DB-FCEB4FED2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512412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EE618559-6B53-4EDF-A8E6-64D6E68DCC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3637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ACDA313C-E767-457D-B057-9F9EEBD6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84943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391589F2-3BF9-4A51-9BD6-A580BC7EE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412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97">
              <a:extLst>
                <a:ext uri="{FF2B5EF4-FFF2-40B4-BE49-F238E27FC236}">
                  <a16:creationId xmlns:a16="http://schemas.microsoft.com/office/drawing/2014/main" id="{FA5BDD59-B79F-4959-AED6-63BF516FF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9024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8">
              <a:extLst>
                <a:ext uri="{FF2B5EF4-FFF2-40B4-BE49-F238E27FC236}">
                  <a16:creationId xmlns:a16="http://schemas.microsoft.com/office/drawing/2014/main" id="{517CC361-871B-48CF-9981-336532A01C9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60249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9E5894FE-BEF5-4AD0-87C0-1703EFCE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21555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3" name="Rectangle 101">
              <a:extLst>
                <a:ext uri="{FF2B5EF4-FFF2-40B4-BE49-F238E27FC236}">
                  <a16:creationId xmlns:a16="http://schemas.microsoft.com/office/drawing/2014/main" id="{460DA1E8-83E8-48A5-A18A-1917911AA0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30024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FAA3C7DA-D2A8-4B92-A159-9793845E326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41249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03">
              <a:extLst>
                <a:ext uri="{FF2B5EF4-FFF2-40B4-BE49-F238E27FC236}">
                  <a16:creationId xmlns:a16="http://schemas.microsoft.com/office/drawing/2014/main" id="{27E37685-23BE-4CC5-AD8C-61E9323AE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802555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6" name="Rectangle 105">
              <a:extLst>
                <a:ext uri="{FF2B5EF4-FFF2-40B4-BE49-F238E27FC236}">
                  <a16:creationId xmlns:a16="http://schemas.microsoft.com/office/drawing/2014/main" id="{C681305E-37F1-4025-900A-B7ADB6C7CA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11024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106">
              <a:extLst>
                <a:ext uri="{FF2B5EF4-FFF2-40B4-BE49-F238E27FC236}">
                  <a16:creationId xmlns:a16="http://schemas.microsoft.com/office/drawing/2014/main" id="{D1BB45B4-C9A5-45CE-B5B4-9AE50C97D9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249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8" name="Text Box 107">
              <a:extLst>
                <a:ext uri="{FF2B5EF4-FFF2-40B4-BE49-F238E27FC236}">
                  <a16:creationId xmlns:a16="http://schemas.microsoft.com/office/drawing/2014/main" id="{3ECCD8A1-4657-43DC-A599-360083D8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83555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9" name="Rectangle 109">
              <a:extLst>
                <a:ext uri="{FF2B5EF4-FFF2-40B4-BE49-F238E27FC236}">
                  <a16:creationId xmlns:a16="http://schemas.microsoft.com/office/drawing/2014/main" id="{1C4EE9A0-EF46-41D9-96BB-AA1C992DA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2024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110">
              <a:extLst>
                <a:ext uri="{FF2B5EF4-FFF2-40B4-BE49-F238E27FC236}">
                  <a16:creationId xmlns:a16="http://schemas.microsoft.com/office/drawing/2014/main" id="{D7E69C8E-8AB0-4C24-8F41-1424FE5C5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403249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11">
              <a:extLst>
                <a:ext uri="{FF2B5EF4-FFF2-40B4-BE49-F238E27FC236}">
                  <a16:creationId xmlns:a16="http://schemas.microsoft.com/office/drawing/2014/main" id="{817B826D-83E0-4B44-BF02-E36970688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564555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2" name="Rectangle 113">
              <a:extLst>
                <a:ext uri="{FF2B5EF4-FFF2-40B4-BE49-F238E27FC236}">
                  <a16:creationId xmlns:a16="http://schemas.microsoft.com/office/drawing/2014/main" id="{8C717949-B01B-44B5-BEA6-BDFD3C1D4C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73024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3" name="Rectangle 118">
              <a:extLst>
                <a:ext uri="{FF2B5EF4-FFF2-40B4-BE49-F238E27FC236}">
                  <a16:creationId xmlns:a16="http://schemas.microsoft.com/office/drawing/2014/main" id="{3255486E-0C63-4E35-9A04-BF305EDF51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8637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FBB0E16D-43AD-4093-8701-21E2679808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239862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5" name="Text Box 120">
              <a:extLst>
                <a:ext uri="{FF2B5EF4-FFF2-40B4-BE49-F238E27FC236}">
                  <a16:creationId xmlns:a16="http://schemas.microsoft.com/office/drawing/2014/main" id="{5FAEEB5A-D897-48CF-AC2E-468982E9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01168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6" name="Rectangle 122">
              <a:extLst>
                <a:ext uri="{FF2B5EF4-FFF2-40B4-BE49-F238E27FC236}">
                  <a16:creationId xmlns:a16="http://schemas.microsoft.com/office/drawing/2014/main" id="{72B9EC9A-513C-43A1-AC1A-52ED34CC2D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09637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6039B09B-6308-4D39-96D3-1195135107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620862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8" name="Text Box 124">
              <a:extLst>
                <a:ext uri="{FF2B5EF4-FFF2-40B4-BE49-F238E27FC236}">
                  <a16:creationId xmlns:a16="http://schemas.microsoft.com/office/drawing/2014/main" id="{5D77F693-78B9-48B2-8E48-FFB3DE301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82168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3F12EFC0-04EF-4E77-87B4-E409D3EA88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90637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127">
              <a:extLst>
                <a:ext uri="{FF2B5EF4-FFF2-40B4-BE49-F238E27FC236}">
                  <a16:creationId xmlns:a16="http://schemas.microsoft.com/office/drawing/2014/main" id="{DDB1A4F8-277E-42AF-9316-F78F375FBD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001862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1" name="Text Box 128">
              <a:extLst>
                <a:ext uri="{FF2B5EF4-FFF2-40B4-BE49-F238E27FC236}">
                  <a16:creationId xmlns:a16="http://schemas.microsoft.com/office/drawing/2014/main" id="{319169B6-9233-4FA1-9C73-6D11E265E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163168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2" name="Rectangle 130">
              <a:extLst>
                <a:ext uri="{FF2B5EF4-FFF2-40B4-BE49-F238E27FC236}">
                  <a16:creationId xmlns:a16="http://schemas.microsoft.com/office/drawing/2014/main" id="{B223D2C3-E85B-4CD6-91CC-4A464CF313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71637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131">
              <a:extLst>
                <a:ext uri="{FF2B5EF4-FFF2-40B4-BE49-F238E27FC236}">
                  <a16:creationId xmlns:a16="http://schemas.microsoft.com/office/drawing/2014/main" id="{67309993-07A6-4463-A05F-B57C9250D0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382862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4" name="Text Box 132">
              <a:extLst>
                <a:ext uri="{FF2B5EF4-FFF2-40B4-BE49-F238E27FC236}">
                  <a16:creationId xmlns:a16="http://schemas.microsoft.com/office/drawing/2014/main" id="{BD392AD5-2D09-4983-BA37-71209475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544168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D212CE5-26EB-4F03-9ED7-45650ED378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2637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6" name="Text Box 137">
              <a:extLst>
                <a:ext uri="{FF2B5EF4-FFF2-40B4-BE49-F238E27FC236}">
                  <a16:creationId xmlns:a16="http://schemas.microsoft.com/office/drawing/2014/main" id="{4ABAD8F4-6C74-4C21-90F3-396028323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01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7" name="Text Box 138">
              <a:extLst>
                <a:ext uri="{FF2B5EF4-FFF2-40B4-BE49-F238E27FC236}">
                  <a16:creationId xmlns:a16="http://schemas.microsoft.com/office/drawing/2014/main" id="{873D2670-C47F-4C26-B41C-E7A4DD3A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786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8" name="Text Box 139">
              <a:extLst>
                <a:ext uri="{FF2B5EF4-FFF2-40B4-BE49-F238E27FC236}">
                  <a16:creationId xmlns:a16="http://schemas.microsoft.com/office/drawing/2014/main" id="{D50ACA47-2E97-4BE4-8082-A74AFE7D2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598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04796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5684E0E-4091-4D08-BBF5-D4B9B6736D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909579" y="5164077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540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3033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065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637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209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81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353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5 Pourquoi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34541B-A36B-4956-A537-4C6A1350A38B}"/>
              </a:ext>
            </a:extLst>
          </p:cNvPr>
          <p:cNvGrpSpPr/>
          <p:nvPr/>
        </p:nvGrpSpPr>
        <p:grpSpPr>
          <a:xfrm>
            <a:off x="485160" y="203200"/>
            <a:ext cx="6997249" cy="10533064"/>
            <a:chOff x="675547" y="203200"/>
            <a:chExt cx="6681998" cy="10533064"/>
          </a:xfrm>
        </p:grpSpPr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EF880ECC-D7AB-421D-8807-AE7C7816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709241" y="8920652"/>
              <a:ext cx="32004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a-t-on eu ce problème ? : </a:t>
              </a:r>
            </a:p>
          </p:txBody>
        </p:sp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52413A2-25AD-45AC-92D5-AFA2D966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80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ce problème n'a pas été détecté ? : </a:t>
              </a:r>
            </a:p>
          </p:txBody>
        </p:sp>
        <p:sp>
          <p:nvSpPr>
            <p:cNvPr id="6" name="Text Box 69">
              <a:extLst>
                <a:ext uri="{FF2B5EF4-FFF2-40B4-BE49-F238E27FC236}">
                  <a16:creationId xmlns:a16="http://schemas.microsoft.com/office/drawing/2014/main" id="{117FA58B-4CB3-4487-B2DF-802DBFC3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292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le système n'a pas prévenu le problème ? : </a:t>
              </a:r>
            </a:p>
          </p:txBody>
        </p:sp>
        <p:sp>
          <p:nvSpPr>
            <p:cNvPr id="7" name="Rectangle 51">
              <a:extLst>
                <a:ext uri="{FF2B5EF4-FFF2-40B4-BE49-F238E27FC236}">
                  <a16:creationId xmlns:a16="http://schemas.microsoft.com/office/drawing/2014/main" id="{B8AE7AA3-F418-448C-B9C5-869AD7A7BB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2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54">
              <a:extLst>
                <a:ext uri="{FF2B5EF4-FFF2-40B4-BE49-F238E27FC236}">
                  <a16:creationId xmlns:a16="http://schemas.microsoft.com/office/drawing/2014/main" id="{043CD173-BA5E-4128-8BE6-57371CB1D8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280637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4F0E3B30-0642-4D6E-B26A-14A0A2A9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41943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0" name="Rectangle 79">
              <a:extLst>
                <a:ext uri="{FF2B5EF4-FFF2-40B4-BE49-F238E27FC236}">
                  <a16:creationId xmlns:a16="http://schemas.microsoft.com/office/drawing/2014/main" id="{E8ABAD5B-2E8E-42D3-99F1-825FF6B6A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50412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A5DA8F3C-06A2-4E25-93E0-9E5F5F6DE9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61637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1">
              <a:extLst>
                <a:ext uri="{FF2B5EF4-FFF2-40B4-BE49-F238E27FC236}">
                  <a16:creationId xmlns:a16="http://schemas.microsoft.com/office/drawing/2014/main" id="{55597D1B-17CF-4D6C-8F74-DDDADC2EA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22943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8397C800-4FB0-4094-B34E-1BD5CFEFCA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412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BE85619-1AA7-4390-BBEC-F907F9713B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42637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783ED938-C244-4208-BEE4-6208BB0C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3943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6" name="Rectangle 87">
              <a:extLst>
                <a:ext uri="{FF2B5EF4-FFF2-40B4-BE49-F238E27FC236}">
                  <a16:creationId xmlns:a16="http://schemas.microsoft.com/office/drawing/2014/main" id="{2F41F00F-5094-44B5-83DB-FCEB4FED2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512412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EE618559-6B53-4EDF-A8E6-64D6E68DCC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3637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ACDA313C-E767-457D-B057-9F9EEBD6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84943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391589F2-3BF9-4A51-9BD6-A580BC7EE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412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97">
              <a:extLst>
                <a:ext uri="{FF2B5EF4-FFF2-40B4-BE49-F238E27FC236}">
                  <a16:creationId xmlns:a16="http://schemas.microsoft.com/office/drawing/2014/main" id="{FA5BDD59-B79F-4959-AED6-63BF516FF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9024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8">
              <a:extLst>
                <a:ext uri="{FF2B5EF4-FFF2-40B4-BE49-F238E27FC236}">
                  <a16:creationId xmlns:a16="http://schemas.microsoft.com/office/drawing/2014/main" id="{517CC361-871B-48CF-9981-336532A01C9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60249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9E5894FE-BEF5-4AD0-87C0-1703EFCE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21555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3" name="Rectangle 101">
              <a:extLst>
                <a:ext uri="{FF2B5EF4-FFF2-40B4-BE49-F238E27FC236}">
                  <a16:creationId xmlns:a16="http://schemas.microsoft.com/office/drawing/2014/main" id="{460DA1E8-83E8-48A5-A18A-1917911AA0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30024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FAA3C7DA-D2A8-4B92-A159-9793845E326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41249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03">
              <a:extLst>
                <a:ext uri="{FF2B5EF4-FFF2-40B4-BE49-F238E27FC236}">
                  <a16:creationId xmlns:a16="http://schemas.microsoft.com/office/drawing/2014/main" id="{27E37685-23BE-4CC5-AD8C-61E9323AE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802555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6" name="Rectangle 105">
              <a:extLst>
                <a:ext uri="{FF2B5EF4-FFF2-40B4-BE49-F238E27FC236}">
                  <a16:creationId xmlns:a16="http://schemas.microsoft.com/office/drawing/2014/main" id="{C681305E-37F1-4025-900A-B7ADB6C7CA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11024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106">
              <a:extLst>
                <a:ext uri="{FF2B5EF4-FFF2-40B4-BE49-F238E27FC236}">
                  <a16:creationId xmlns:a16="http://schemas.microsoft.com/office/drawing/2014/main" id="{D1BB45B4-C9A5-45CE-B5B4-9AE50C97D9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249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8" name="Text Box 107">
              <a:extLst>
                <a:ext uri="{FF2B5EF4-FFF2-40B4-BE49-F238E27FC236}">
                  <a16:creationId xmlns:a16="http://schemas.microsoft.com/office/drawing/2014/main" id="{3ECCD8A1-4657-43DC-A599-360083D8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83555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9" name="Rectangle 109">
              <a:extLst>
                <a:ext uri="{FF2B5EF4-FFF2-40B4-BE49-F238E27FC236}">
                  <a16:creationId xmlns:a16="http://schemas.microsoft.com/office/drawing/2014/main" id="{1C4EE9A0-EF46-41D9-96BB-AA1C992DA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2024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110">
              <a:extLst>
                <a:ext uri="{FF2B5EF4-FFF2-40B4-BE49-F238E27FC236}">
                  <a16:creationId xmlns:a16="http://schemas.microsoft.com/office/drawing/2014/main" id="{D7E69C8E-8AB0-4C24-8F41-1424FE5C5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403249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11">
              <a:extLst>
                <a:ext uri="{FF2B5EF4-FFF2-40B4-BE49-F238E27FC236}">
                  <a16:creationId xmlns:a16="http://schemas.microsoft.com/office/drawing/2014/main" id="{817B826D-83E0-4B44-BF02-E36970688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564555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2" name="Rectangle 113">
              <a:extLst>
                <a:ext uri="{FF2B5EF4-FFF2-40B4-BE49-F238E27FC236}">
                  <a16:creationId xmlns:a16="http://schemas.microsoft.com/office/drawing/2014/main" id="{8C717949-B01B-44B5-BEA6-BDFD3C1D4C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73024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3" name="Rectangle 118">
              <a:extLst>
                <a:ext uri="{FF2B5EF4-FFF2-40B4-BE49-F238E27FC236}">
                  <a16:creationId xmlns:a16="http://schemas.microsoft.com/office/drawing/2014/main" id="{3255486E-0C63-4E35-9A04-BF305EDF51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8637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FBB0E16D-43AD-4093-8701-21E2679808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239862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5" name="Text Box 120">
              <a:extLst>
                <a:ext uri="{FF2B5EF4-FFF2-40B4-BE49-F238E27FC236}">
                  <a16:creationId xmlns:a16="http://schemas.microsoft.com/office/drawing/2014/main" id="{5FAEEB5A-D897-48CF-AC2E-468982E9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01168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6" name="Rectangle 122">
              <a:extLst>
                <a:ext uri="{FF2B5EF4-FFF2-40B4-BE49-F238E27FC236}">
                  <a16:creationId xmlns:a16="http://schemas.microsoft.com/office/drawing/2014/main" id="{72B9EC9A-513C-43A1-AC1A-52ED34CC2D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09637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6039B09B-6308-4D39-96D3-1195135107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620862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8" name="Text Box 124">
              <a:extLst>
                <a:ext uri="{FF2B5EF4-FFF2-40B4-BE49-F238E27FC236}">
                  <a16:creationId xmlns:a16="http://schemas.microsoft.com/office/drawing/2014/main" id="{5D77F693-78B9-48B2-8E48-FFB3DE301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82168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3F12EFC0-04EF-4E77-87B4-E409D3EA88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90637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127">
              <a:extLst>
                <a:ext uri="{FF2B5EF4-FFF2-40B4-BE49-F238E27FC236}">
                  <a16:creationId xmlns:a16="http://schemas.microsoft.com/office/drawing/2014/main" id="{DDB1A4F8-277E-42AF-9316-F78F375FBD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001862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1" name="Text Box 128">
              <a:extLst>
                <a:ext uri="{FF2B5EF4-FFF2-40B4-BE49-F238E27FC236}">
                  <a16:creationId xmlns:a16="http://schemas.microsoft.com/office/drawing/2014/main" id="{319169B6-9233-4FA1-9C73-6D11E265E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163168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2" name="Rectangle 130">
              <a:extLst>
                <a:ext uri="{FF2B5EF4-FFF2-40B4-BE49-F238E27FC236}">
                  <a16:creationId xmlns:a16="http://schemas.microsoft.com/office/drawing/2014/main" id="{B223D2C3-E85B-4CD6-91CC-4A464CF313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71637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131">
              <a:extLst>
                <a:ext uri="{FF2B5EF4-FFF2-40B4-BE49-F238E27FC236}">
                  <a16:creationId xmlns:a16="http://schemas.microsoft.com/office/drawing/2014/main" id="{67309993-07A6-4463-A05F-B57C9250D0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382862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4" name="Text Box 132">
              <a:extLst>
                <a:ext uri="{FF2B5EF4-FFF2-40B4-BE49-F238E27FC236}">
                  <a16:creationId xmlns:a16="http://schemas.microsoft.com/office/drawing/2014/main" id="{BD392AD5-2D09-4983-BA37-71209475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544168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D212CE5-26EB-4F03-9ED7-45650ED378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2637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6" name="Text Box 137">
              <a:extLst>
                <a:ext uri="{FF2B5EF4-FFF2-40B4-BE49-F238E27FC236}">
                  <a16:creationId xmlns:a16="http://schemas.microsoft.com/office/drawing/2014/main" id="{4ABAD8F4-6C74-4C21-90F3-396028323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01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7" name="Text Box 138">
              <a:extLst>
                <a:ext uri="{FF2B5EF4-FFF2-40B4-BE49-F238E27FC236}">
                  <a16:creationId xmlns:a16="http://schemas.microsoft.com/office/drawing/2014/main" id="{873D2670-C47F-4C26-B41C-E7A4DD3A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786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8" name="Text Box 139">
              <a:extLst>
                <a:ext uri="{FF2B5EF4-FFF2-40B4-BE49-F238E27FC236}">
                  <a16:creationId xmlns:a16="http://schemas.microsoft.com/office/drawing/2014/main" id="{D50ACA47-2E97-4BE4-8082-A74AFE7D2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598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58679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5684E0E-4091-4D08-BBF5-D4B9B6736D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909579" y="5164077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540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3033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065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637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209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81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353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5 Pourquoi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34541B-A36B-4956-A537-4C6A1350A38B}"/>
              </a:ext>
            </a:extLst>
          </p:cNvPr>
          <p:cNvGrpSpPr/>
          <p:nvPr/>
        </p:nvGrpSpPr>
        <p:grpSpPr>
          <a:xfrm>
            <a:off x="485160" y="203200"/>
            <a:ext cx="6997249" cy="10533064"/>
            <a:chOff x="675547" y="203200"/>
            <a:chExt cx="6681998" cy="10533064"/>
          </a:xfrm>
        </p:grpSpPr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EF880ECC-D7AB-421D-8807-AE7C7816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709241" y="8920652"/>
              <a:ext cx="32004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a-t-on eu ce problème ? : </a:t>
              </a:r>
            </a:p>
          </p:txBody>
        </p:sp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52413A2-25AD-45AC-92D5-AFA2D966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80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ce problème n'a pas été détecté ? : </a:t>
              </a:r>
            </a:p>
          </p:txBody>
        </p:sp>
        <p:sp>
          <p:nvSpPr>
            <p:cNvPr id="6" name="Text Box 69">
              <a:extLst>
                <a:ext uri="{FF2B5EF4-FFF2-40B4-BE49-F238E27FC236}">
                  <a16:creationId xmlns:a16="http://schemas.microsoft.com/office/drawing/2014/main" id="{117FA58B-4CB3-4487-B2DF-802DBFC3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292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le système n'a pas prévenu le problème ? : </a:t>
              </a:r>
            </a:p>
          </p:txBody>
        </p:sp>
        <p:sp>
          <p:nvSpPr>
            <p:cNvPr id="7" name="Rectangle 51">
              <a:extLst>
                <a:ext uri="{FF2B5EF4-FFF2-40B4-BE49-F238E27FC236}">
                  <a16:creationId xmlns:a16="http://schemas.microsoft.com/office/drawing/2014/main" id="{B8AE7AA3-F418-448C-B9C5-869AD7A7BB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2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54">
              <a:extLst>
                <a:ext uri="{FF2B5EF4-FFF2-40B4-BE49-F238E27FC236}">
                  <a16:creationId xmlns:a16="http://schemas.microsoft.com/office/drawing/2014/main" id="{043CD173-BA5E-4128-8BE6-57371CB1D8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280637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4F0E3B30-0642-4D6E-B26A-14A0A2A9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41943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0" name="Rectangle 79">
              <a:extLst>
                <a:ext uri="{FF2B5EF4-FFF2-40B4-BE49-F238E27FC236}">
                  <a16:creationId xmlns:a16="http://schemas.microsoft.com/office/drawing/2014/main" id="{E8ABAD5B-2E8E-42D3-99F1-825FF6B6A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50412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A5DA8F3C-06A2-4E25-93E0-9E5F5F6DE9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61637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1">
              <a:extLst>
                <a:ext uri="{FF2B5EF4-FFF2-40B4-BE49-F238E27FC236}">
                  <a16:creationId xmlns:a16="http://schemas.microsoft.com/office/drawing/2014/main" id="{55597D1B-17CF-4D6C-8F74-DDDADC2EA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22943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8397C800-4FB0-4094-B34E-1BD5CFEFCA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412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BE85619-1AA7-4390-BBEC-F907F9713B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42637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783ED938-C244-4208-BEE4-6208BB0C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3943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6" name="Rectangle 87">
              <a:extLst>
                <a:ext uri="{FF2B5EF4-FFF2-40B4-BE49-F238E27FC236}">
                  <a16:creationId xmlns:a16="http://schemas.microsoft.com/office/drawing/2014/main" id="{2F41F00F-5094-44B5-83DB-FCEB4FED2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512412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EE618559-6B53-4EDF-A8E6-64D6E68DCC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3637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ACDA313C-E767-457D-B057-9F9EEBD6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84943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391589F2-3BF9-4A51-9BD6-A580BC7EE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412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97">
              <a:extLst>
                <a:ext uri="{FF2B5EF4-FFF2-40B4-BE49-F238E27FC236}">
                  <a16:creationId xmlns:a16="http://schemas.microsoft.com/office/drawing/2014/main" id="{FA5BDD59-B79F-4959-AED6-63BF516FF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9024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8">
              <a:extLst>
                <a:ext uri="{FF2B5EF4-FFF2-40B4-BE49-F238E27FC236}">
                  <a16:creationId xmlns:a16="http://schemas.microsoft.com/office/drawing/2014/main" id="{517CC361-871B-48CF-9981-336532A01C9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60249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9E5894FE-BEF5-4AD0-87C0-1703EFCE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21555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3" name="Rectangle 101">
              <a:extLst>
                <a:ext uri="{FF2B5EF4-FFF2-40B4-BE49-F238E27FC236}">
                  <a16:creationId xmlns:a16="http://schemas.microsoft.com/office/drawing/2014/main" id="{460DA1E8-83E8-48A5-A18A-1917911AA0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30024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FAA3C7DA-D2A8-4B92-A159-9793845E326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41249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03">
              <a:extLst>
                <a:ext uri="{FF2B5EF4-FFF2-40B4-BE49-F238E27FC236}">
                  <a16:creationId xmlns:a16="http://schemas.microsoft.com/office/drawing/2014/main" id="{27E37685-23BE-4CC5-AD8C-61E9323AE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802555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6" name="Rectangle 105">
              <a:extLst>
                <a:ext uri="{FF2B5EF4-FFF2-40B4-BE49-F238E27FC236}">
                  <a16:creationId xmlns:a16="http://schemas.microsoft.com/office/drawing/2014/main" id="{C681305E-37F1-4025-900A-B7ADB6C7CA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11024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106">
              <a:extLst>
                <a:ext uri="{FF2B5EF4-FFF2-40B4-BE49-F238E27FC236}">
                  <a16:creationId xmlns:a16="http://schemas.microsoft.com/office/drawing/2014/main" id="{D1BB45B4-C9A5-45CE-B5B4-9AE50C97D9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249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8" name="Text Box 107">
              <a:extLst>
                <a:ext uri="{FF2B5EF4-FFF2-40B4-BE49-F238E27FC236}">
                  <a16:creationId xmlns:a16="http://schemas.microsoft.com/office/drawing/2014/main" id="{3ECCD8A1-4657-43DC-A599-360083D8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83555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9" name="Rectangle 109">
              <a:extLst>
                <a:ext uri="{FF2B5EF4-FFF2-40B4-BE49-F238E27FC236}">
                  <a16:creationId xmlns:a16="http://schemas.microsoft.com/office/drawing/2014/main" id="{1C4EE9A0-EF46-41D9-96BB-AA1C992DA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2024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110">
              <a:extLst>
                <a:ext uri="{FF2B5EF4-FFF2-40B4-BE49-F238E27FC236}">
                  <a16:creationId xmlns:a16="http://schemas.microsoft.com/office/drawing/2014/main" id="{D7E69C8E-8AB0-4C24-8F41-1424FE5C5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403249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11">
              <a:extLst>
                <a:ext uri="{FF2B5EF4-FFF2-40B4-BE49-F238E27FC236}">
                  <a16:creationId xmlns:a16="http://schemas.microsoft.com/office/drawing/2014/main" id="{817B826D-83E0-4B44-BF02-E36970688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564555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2" name="Rectangle 113">
              <a:extLst>
                <a:ext uri="{FF2B5EF4-FFF2-40B4-BE49-F238E27FC236}">
                  <a16:creationId xmlns:a16="http://schemas.microsoft.com/office/drawing/2014/main" id="{8C717949-B01B-44B5-BEA6-BDFD3C1D4C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73024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3" name="Rectangle 118">
              <a:extLst>
                <a:ext uri="{FF2B5EF4-FFF2-40B4-BE49-F238E27FC236}">
                  <a16:creationId xmlns:a16="http://schemas.microsoft.com/office/drawing/2014/main" id="{3255486E-0C63-4E35-9A04-BF305EDF51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8637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FBB0E16D-43AD-4093-8701-21E2679808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239862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5" name="Text Box 120">
              <a:extLst>
                <a:ext uri="{FF2B5EF4-FFF2-40B4-BE49-F238E27FC236}">
                  <a16:creationId xmlns:a16="http://schemas.microsoft.com/office/drawing/2014/main" id="{5FAEEB5A-D897-48CF-AC2E-468982E9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01168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6" name="Rectangle 122">
              <a:extLst>
                <a:ext uri="{FF2B5EF4-FFF2-40B4-BE49-F238E27FC236}">
                  <a16:creationId xmlns:a16="http://schemas.microsoft.com/office/drawing/2014/main" id="{72B9EC9A-513C-43A1-AC1A-52ED34CC2D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09637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6039B09B-6308-4D39-96D3-1195135107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620862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8" name="Text Box 124">
              <a:extLst>
                <a:ext uri="{FF2B5EF4-FFF2-40B4-BE49-F238E27FC236}">
                  <a16:creationId xmlns:a16="http://schemas.microsoft.com/office/drawing/2014/main" id="{5D77F693-78B9-48B2-8E48-FFB3DE301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82168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3F12EFC0-04EF-4E77-87B4-E409D3EA88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90637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127">
              <a:extLst>
                <a:ext uri="{FF2B5EF4-FFF2-40B4-BE49-F238E27FC236}">
                  <a16:creationId xmlns:a16="http://schemas.microsoft.com/office/drawing/2014/main" id="{DDB1A4F8-277E-42AF-9316-F78F375FBD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001862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1" name="Text Box 128">
              <a:extLst>
                <a:ext uri="{FF2B5EF4-FFF2-40B4-BE49-F238E27FC236}">
                  <a16:creationId xmlns:a16="http://schemas.microsoft.com/office/drawing/2014/main" id="{319169B6-9233-4FA1-9C73-6D11E265E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163168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2" name="Rectangle 130">
              <a:extLst>
                <a:ext uri="{FF2B5EF4-FFF2-40B4-BE49-F238E27FC236}">
                  <a16:creationId xmlns:a16="http://schemas.microsoft.com/office/drawing/2014/main" id="{B223D2C3-E85B-4CD6-91CC-4A464CF313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71637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131">
              <a:extLst>
                <a:ext uri="{FF2B5EF4-FFF2-40B4-BE49-F238E27FC236}">
                  <a16:creationId xmlns:a16="http://schemas.microsoft.com/office/drawing/2014/main" id="{67309993-07A6-4463-A05F-B57C9250D0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382862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4" name="Text Box 132">
              <a:extLst>
                <a:ext uri="{FF2B5EF4-FFF2-40B4-BE49-F238E27FC236}">
                  <a16:creationId xmlns:a16="http://schemas.microsoft.com/office/drawing/2014/main" id="{BD392AD5-2D09-4983-BA37-71209475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544168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D212CE5-26EB-4F03-9ED7-45650ED378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2637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6" name="Text Box 137">
              <a:extLst>
                <a:ext uri="{FF2B5EF4-FFF2-40B4-BE49-F238E27FC236}">
                  <a16:creationId xmlns:a16="http://schemas.microsoft.com/office/drawing/2014/main" id="{4ABAD8F4-6C74-4C21-90F3-396028323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01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7" name="Text Box 138">
              <a:extLst>
                <a:ext uri="{FF2B5EF4-FFF2-40B4-BE49-F238E27FC236}">
                  <a16:creationId xmlns:a16="http://schemas.microsoft.com/office/drawing/2014/main" id="{873D2670-C47F-4C26-B41C-E7A4DD3A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786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8" name="Text Box 139">
              <a:extLst>
                <a:ext uri="{FF2B5EF4-FFF2-40B4-BE49-F238E27FC236}">
                  <a16:creationId xmlns:a16="http://schemas.microsoft.com/office/drawing/2014/main" id="{D50ACA47-2E97-4BE4-8082-A74AFE7D2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598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92718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5684E0E-4091-4D08-BBF5-D4B9B6736D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909579" y="5164077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540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3033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065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637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209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81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353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5 Pourquoi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34541B-A36B-4956-A537-4C6A1350A38B}"/>
              </a:ext>
            </a:extLst>
          </p:cNvPr>
          <p:cNvGrpSpPr/>
          <p:nvPr/>
        </p:nvGrpSpPr>
        <p:grpSpPr>
          <a:xfrm>
            <a:off x="485160" y="203200"/>
            <a:ext cx="6997249" cy="10533064"/>
            <a:chOff x="675547" y="203200"/>
            <a:chExt cx="6681998" cy="10533064"/>
          </a:xfrm>
        </p:grpSpPr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EF880ECC-D7AB-421D-8807-AE7C7816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709241" y="8920652"/>
              <a:ext cx="32004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a-t-on eu ce problème ? : </a:t>
              </a:r>
            </a:p>
          </p:txBody>
        </p:sp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52413A2-25AD-45AC-92D5-AFA2D966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80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ce problème n'a pas été détecté ? : </a:t>
              </a:r>
            </a:p>
          </p:txBody>
        </p:sp>
        <p:sp>
          <p:nvSpPr>
            <p:cNvPr id="6" name="Text Box 69">
              <a:extLst>
                <a:ext uri="{FF2B5EF4-FFF2-40B4-BE49-F238E27FC236}">
                  <a16:creationId xmlns:a16="http://schemas.microsoft.com/office/drawing/2014/main" id="{117FA58B-4CB3-4487-B2DF-802DBFC3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292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le système n'a pas prévenu le problème ? : </a:t>
              </a:r>
            </a:p>
          </p:txBody>
        </p:sp>
        <p:sp>
          <p:nvSpPr>
            <p:cNvPr id="7" name="Rectangle 51">
              <a:extLst>
                <a:ext uri="{FF2B5EF4-FFF2-40B4-BE49-F238E27FC236}">
                  <a16:creationId xmlns:a16="http://schemas.microsoft.com/office/drawing/2014/main" id="{B8AE7AA3-F418-448C-B9C5-869AD7A7BB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2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54">
              <a:extLst>
                <a:ext uri="{FF2B5EF4-FFF2-40B4-BE49-F238E27FC236}">
                  <a16:creationId xmlns:a16="http://schemas.microsoft.com/office/drawing/2014/main" id="{043CD173-BA5E-4128-8BE6-57371CB1D8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280637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4F0E3B30-0642-4D6E-B26A-14A0A2A9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41943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0" name="Rectangle 79">
              <a:extLst>
                <a:ext uri="{FF2B5EF4-FFF2-40B4-BE49-F238E27FC236}">
                  <a16:creationId xmlns:a16="http://schemas.microsoft.com/office/drawing/2014/main" id="{E8ABAD5B-2E8E-42D3-99F1-825FF6B6A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50412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A5DA8F3C-06A2-4E25-93E0-9E5F5F6DE9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61637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1">
              <a:extLst>
                <a:ext uri="{FF2B5EF4-FFF2-40B4-BE49-F238E27FC236}">
                  <a16:creationId xmlns:a16="http://schemas.microsoft.com/office/drawing/2014/main" id="{55597D1B-17CF-4D6C-8F74-DDDADC2EA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22943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8397C800-4FB0-4094-B34E-1BD5CFEFCA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412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BE85619-1AA7-4390-BBEC-F907F9713B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42637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783ED938-C244-4208-BEE4-6208BB0C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3943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6" name="Rectangle 87">
              <a:extLst>
                <a:ext uri="{FF2B5EF4-FFF2-40B4-BE49-F238E27FC236}">
                  <a16:creationId xmlns:a16="http://schemas.microsoft.com/office/drawing/2014/main" id="{2F41F00F-5094-44B5-83DB-FCEB4FED2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512412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EE618559-6B53-4EDF-A8E6-64D6E68DCC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3637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ACDA313C-E767-457D-B057-9F9EEBD6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84943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391589F2-3BF9-4A51-9BD6-A580BC7EE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412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97">
              <a:extLst>
                <a:ext uri="{FF2B5EF4-FFF2-40B4-BE49-F238E27FC236}">
                  <a16:creationId xmlns:a16="http://schemas.microsoft.com/office/drawing/2014/main" id="{FA5BDD59-B79F-4959-AED6-63BF516FF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9024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8">
              <a:extLst>
                <a:ext uri="{FF2B5EF4-FFF2-40B4-BE49-F238E27FC236}">
                  <a16:creationId xmlns:a16="http://schemas.microsoft.com/office/drawing/2014/main" id="{517CC361-871B-48CF-9981-336532A01C9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60249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9E5894FE-BEF5-4AD0-87C0-1703EFCE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21555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3" name="Rectangle 101">
              <a:extLst>
                <a:ext uri="{FF2B5EF4-FFF2-40B4-BE49-F238E27FC236}">
                  <a16:creationId xmlns:a16="http://schemas.microsoft.com/office/drawing/2014/main" id="{460DA1E8-83E8-48A5-A18A-1917911AA0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30024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FAA3C7DA-D2A8-4B92-A159-9793845E326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41249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03">
              <a:extLst>
                <a:ext uri="{FF2B5EF4-FFF2-40B4-BE49-F238E27FC236}">
                  <a16:creationId xmlns:a16="http://schemas.microsoft.com/office/drawing/2014/main" id="{27E37685-23BE-4CC5-AD8C-61E9323AE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802555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6" name="Rectangle 105">
              <a:extLst>
                <a:ext uri="{FF2B5EF4-FFF2-40B4-BE49-F238E27FC236}">
                  <a16:creationId xmlns:a16="http://schemas.microsoft.com/office/drawing/2014/main" id="{C681305E-37F1-4025-900A-B7ADB6C7CA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11024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106">
              <a:extLst>
                <a:ext uri="{FF2B5EF4-FFF2-40B4-BE49-F238E27FC236}">
                  <a16:creationId xmlns:a16="http://schemas.microsoft.com/office/drawing/2014/main" id="{D1BB45B4-C9A5-45CE-B5B4-9AE50C97D9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249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8" name="Text Box 107">
              <a:extLst>
                <a:ext uri="{FF2B5EF4-FFF2-40B4-BE49-F238E27FC236}">
                  <a16:creationId xmlns:a16="http://schemas.microsoft.com/office/drawing/2014/main" id="{3ECCD8A1-4657-43DC-A599-360083D8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83555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9" name="Rectangle 109">
              <a:extLst>
                <a:ext uri="{FF2B5EF4-FFF2-40B4-BE49-F238E27FC236}">
                  <a16:creationId xmlns:a16="http://schemas.microsoft.com/office/drawing/2014/main" id="{1C4EE9A0-EF46-41D9-96BB-AA1C992DA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2024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110">
              <a:extLst>
                <a:ext uri="{FF2B5EF4-FFF2-40B4-BE49-F238E27FC236}">
                  <a16:creationId xmlns:a16="http://schemas.microsoft.com/office/drawing/2014/main" id="{D7E69C8E-8AB0-4C24-8F41-1424FE5C5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403249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11">
              <a:extLst>
                <a:ext uri="{FF2B5EF4-FFF2-40B4-BE49-F238E27FC236}">
                  <a16:creationId xmlns:a16="http://schemas.microsoft.com/office/drawing/2014/main" id="{817B826D-83E0-4B44-BF02-E36970688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564555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2" name="Rectangle 113">
              <a:extLst>
                <a:ext uri="{FF2B5EF4-FFF2-40B4-BE49-F238E27FC236}">
                  <a16:creationId xmlns:a16="http://schemas.microsoft.com/office/drawing/2014/main" id="{8C717949-B01B-44B5-BEA6-BDFD3C1D4C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73024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3" name="Rectangle 118">
              <a:extLst>
                <a:ext uri="{FF2B5EF4-FFF2-40B4-BE49-F238E27FC236}">
                  <a16:creationId xmlns:a16="http://schemas.microsoft.com/office/drawing/2014/main" id="{3255486E-0C63-4E35-9A04-BF305EDF51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8637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FBB0E16D-43AD-4093-8701-21E2679808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239862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5" name="Text Box 120">
              <a:extLst>
                <a:ext uri="{FF2B5EF4-FFF2-40B4-BE49-F238E27FC236}">
                  <a16:creationId xmlns:a16="http://schemas.microsoft.com/office/drawing/2014/main" id="{5FAEEB5A-D897-48CF-AC2E-468982E9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01168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6" name="Rectangle 122">
              <a:extLst>
                <a:ext uri="{FF2B5EF4-FFF2-40B4-BE49-F238E27FC236}">
                  <a16:creationId xmlns:a16="http://schemas.microsoft.com/office/drawing/2014/main" id="{72B9EC9A-513C-43A1-AC1A-52ED34CC2D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09637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6039B09B-6308-4D39-96D3-1195135107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620862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8" name="Text Box 124">
              <a:extLst>
                <a:ext uri="{FF2B5EF4-FFF2-40B4-BE49-F238E27FC236}">
                  <a16:creationId xmlns:a16="http://schemas.microsoft.com/office/drawing/2014/main" id="{5D77F693-78B9-48B2-8E48-FFB3DE301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82168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3F12EFC0-04EF-4E77-87B4-E409D3EA88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90637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127">
              <a:extLst>
                <a:ext uri="{FF2B5EF4-FFF2-40B4-BE49-F238E27FC236}">
                  <a16:creationId xmlns:a16="http://schemas.microsoft.com/office/drawing/2014/main" id="{DDB1A4F8-277E-42AF-9316-F78F375FBD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001862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1" name="Text Box 128">
              <a:extLst>
                <a:ext uri="{FF2B5EF4-FFF2-40B4-BE49-F238E27FC236}">
                  <a16:creationId xmlns:a16="http://schemas.microsoft.com/office/drawing/2014/main" id="{319169B6-9233-4FA1-9C73-6D11E265E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163168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2" name="Rectangle 130">
              <a:extLst>
                <a:ext uri="{FF2B5EF4-FFF2-40B4-BE49-F238E27FC236}">
                  <a16:creationId xmlns:a16="http://schemas.microsoft.com/office/drawing/2014/main" id="{B223D2C3-E85B-4CD6-91CC-4A464CF313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71637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131">
              <a:extLst>
                <a:ext uri="{FF2B5EF4-FFF2-40B4-BE49-F238E27FC236}">
                  <a16:creationId xmlns:a16="http://schemas.microsoft.com/office/drawing/2014/main" id="{67309993-07A6-4463-A05F-B57C9250D0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382862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4" name="Text Box 132">
              <a:extLst>
                <a:ext uri="{FF2B5EF4-FFF2-40B4-BE49-F238E27FC236}">
                  <a16:creationId xmlns:a16="http://schemas.microsoft.com/office/drawing/2014/main" id="{BD392AD5-2D09-4983-BA37-71209475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544168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D212CE5-26EB-4F03-9ED7-45650ED378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2637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6" name="Text Box 137">
              <a:extLst>
                <a:ext uri="{FF2B5EF4-FFF2-40B4-BE49-F238E27FC236}">
                  <a16:creationId xmlns:a16="http://schemas.microsoft.com/office/drawing/2014/main" id="{4ABAD8F4-6C74-4C21-90F3-396028323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01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7" name="Text Box 138">
              <a:extLst>
                <a:ext uri="{FF2B5EF4-FFF2-40B4-BE49-F238E27FC236}">
                  <a16:creationId xmlns:a16="http://schemas.microsoft.com/office/drawing/2014/main" id="{873D2670-C47F-4C26-B41C-E7A4DD3A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786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8" name="Text Box 139">
              <a:extLst>
                <a:ext uri="{FF2B5EF4-FFF2-40B4-BE49-F238E27FC236}">
                  <a16:creationId xmlns:a16="http://schemas.microsoft.com/office/drawing/2014/main" id="{D50ACA47-2E97-4BE4-8082-A74AFE7D2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598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65353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5684E0E-4091-4D08-BBF5-D4B9B6736D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909579" y="5164077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540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3033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065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637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209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81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353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5 Pourquoi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34541B-A36B-4956-A537-4C6A1350A38B}"/>
              </a:ext>
            </a:extLst>
          </p:cNvPr>
          <p:cNvGrpSpPr/>
          <p:nvPr/>
        </p:nvGrpSpPr>
        <p:grpSpPr>
          <a:xfrm>
            <a:off x="485160" y="203200"/>
            <a:ext cx="6997249" cy="10533064"/>
            <a:chOff x="675547" y="203200"/>
            <a:chExt cx="6681998" cy="10533064"/>
          </a:xfrm>
        </p:grpSpPr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EF880ECC-D7AB-421D-8807-AE7C7816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709241" y="8920652"/>
              <a:ext cx="32004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a-t-on eu ce problème ? : </a:t>
              </a:r>
            </a:p>
          </p:txBody>
        </p:sp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52413A2-25AD-45AC-92D5-AFA2D966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80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ce problème n'a pas été détecté ? : </a:t>
              </a:r>
            </a:p>
          </p:txBody>
        </p:sp>
        <p:sp>
          <p:nvSpPr>
            <p:cNvPr id="6" name="Text Box 69">
              <a:extLst>
                <a:ext uri="{FF2B5EF4-FFF2-40B4-BE49-F238E27FC236}">
                  <a16:creationId xmlns:a16="http://schemas.microsoft.com/office/drawing/2014/main" id="{117FA58B-4CB3-4487-B2DF-802DBFC3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292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le système n'a pas prévenu le problème ? : </a:t>
              </a:r>
            </a:p>
          </p:txBody>
        </p:sp>
        <p:sp>
          <p:nvSpPr>
            <p:cNvPr id="7" name="Rectangle 51">
              <a:extLst>
                <a:ext uri="{FF2B5EF4-FFF2-40B4-BE49-F238E27FC236}">
                  <a16:creationId xmlns:a16="http://schemas.microsoft.com/office/drawing/2014/main" id="{B8AE7AA3-F418-448C-B9C5-869AD7A7BB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2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54">
              <a:extLst>
                <a:ext uri="{FF2B5EF4-FFF2-40B4-BE49-F238E27FC236}">
                  <a16:creationId xmlns:a16="http://schemas.microsoft.com/office/drawing/2014/main" id="{043CD173-BA5E-4128-8BE6-57371CB1D8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280637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4F0E3B30-0642-4D6E-B26A-14A0A2A9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41943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0" name="Rectangle 79">
              <a:extLst>
                <a:ext uri="{FF2B5EF4-FFF2-40B4-BE49-F238E27FC236}">
                  <a16:creationId xmlns:a16="http://schemas.microsoft.com/office/drawing/2014/main" id="{E8ABAD5B-2E8E-42D3-99F1-825FF6B6A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50412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A5DA8F3C-06A2-4E25-93E0-9E5F5F6DE9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61637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1">
              <a:extLst>
                <a:ext uri="{FF2B5EF4-FFF2-40B4-BE49-F238E27FC236}">
                  <a16:creationId xmlns:a16="http://schemas.microsoft.com/office/drawing/2014/main" id="{55597D1B-17CF-4D6C-8F74-DDDADC2EA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22943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8397C800-4FB0-4094-B34E-1BD5CFEFCA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412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BE85619-1AA7-4390-BBEC-F907F9713B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42637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783ED938-C244-4208-BEE4-6208BB0C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3943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6" name="Rectangle 87">
              <a:extLst>
                <a:ext uri="{FF2B5EF4-FFF2-40B4-BE49-F238E27FC236}">
                  <a16:creationId xmlns:a16="http://schemas.microsoft.com/office/drawing/2014/main" id="{2F41F00F-5094-44B5-83DB-FCEB4FED2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512412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EE618559-6B53-4EDF-A8E6-64D6E68DCC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3637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ACDA313C-E767-457D-B057-9F9EEBD6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84943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391589F2-3BF9-4A51-9BD6-A580BC7EE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412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97">
              <a:extLst>
                <a:ext uri="{FF2B5EF4-FFF2-40B4-BE49-F238E27FC236}">
                  <a16:creationId xmlns:a16="http://schemas.microsoft.com/office/drawing/2014/main" id="{FA5BDD59-B79F-4959-AED6-63BF516FF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9024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8">
              <a:extLst>
                <a:ext uri="{FF2B5EF4-FFF2-40B4-BE49-F238E27FC236}">
                  <a16:creationId xmlns:a16="http://schemas.microsoft.com/office/drawing/2014/main" id="{517CC361-871B-48CF-9981-336532A01C9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60249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9E5894FE-BEF5-4AD0-87C0-1703EFCE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21555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3" name="Rectangle 101">
              <a:extLst>
                <a:ext uri="{FF2B5EF4-FFF2-40B4-BE49-F238E27FC236}">
                  <a16:creationId xmlns:a16="http://schemas.microsoft.com/office/drawing/2014/main" id="{460DA1E8-83E8-48A5-A18A-1917911AA0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30024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FAA3C7DA-D2A8-4B92-A159-9793845E326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41249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03">
              <a:extLst>
                <a:ext uri="{FF2B5EF4-FFF2-40B4-BE49-F238E27FC236}">
                  <a16:creationId xmlns:a16="http://schemas.microsoft.com/office/drawing/2014/main" id="{27E37685-23BE-4CC5-AD8C-61E9323AE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802555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6" name="Rectangle 105">
              <a:extLst>
                <a:ext uri="{FF2B5EF4-FFF2-40B4-BE49-F238E27FC236}">
                  <a16:creationId xmlns:a16="http://schemas.microsoft.com/office/drawing/2014/main" id="{C681305E-37F1-4025-900A-B7ADB6C7CA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11024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106">
              <a:extLst>
                <a:ext uri="{FF2B5EF4-FFF2-40B4-BE49-F238E27FC236}">
                  <a16:creationId xmlns:a16="http://schemas.microsoft.com/office/drawing/2014/main" id="{D1BB45B4-C9A5-45CE-B5B4-9AE50C97D9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249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8" name="Text Box 107">
              <a:extLst>
                <a:ext uri="{FF2B5EF4-FFF2-40B4-BE49-F238E27FC236}">
                  <a16:creationId xmlns:a16="http://schemas.microsoft.com/office/drawing/2014/main" id="{3ECCD8A1-4657-43DC-A599-360083D8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83555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9" name="Rectangle 109">
              <a:extLst>
                <a:ext uri="{FF2B5EF4-FFF2-40B4-BE49-F238E27FC236}">
                  <a16:creationId xmlns:a16="http://schemas.microsoft.com/office/drawing/2014/main" id="{1C4EE9A0-EF46-41D9-96BB-AA1C992DA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2024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110">
              <a:extLst>
                <a:ext uri="{FF2B5EF4-FFF2-40B4-BE49-F238E27FC236}">
                  <a16:creationId xmlns:a16="http://schemas.microsoft.com/office/drawing/2014/main" id="{D7E69C8E-8AB0-4C24-8F41-1424FE5C5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403249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11">
              <a:extLst>
                <a:ext uri="{FF2B5EF4-FFF2-40B4-BE49-F238E27FC236}">
                  <a16:creationId xmlns:a16="http://schemas.microsoft.com/office/drawing/2014/main" id="{817B826D-83E0-4B44-BF02-E36970688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564555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2" name="Rectangle 113">
              <a:extLst>
                <a:ext uri="{FF2B5EF4-FFF2-40B4-BE49-F238E27FC236}">
                  <a16:creationId xmlns:a16="http://schemas.microsoft.com/office/drawing/2014/main" id="{8C717949-B01B-44B5-BEA6-BDFD3C1D4C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73024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3" name="Rectangle 118">
              <a:extLst>
                <a:ext uri="{FF2B5EF4-FFF2-40B4-BE49-F238E27FC236}">
                  <a16:creationId xmlns:a16="http://schemas.microsoft.com/office/drawing/2014/main" id="{3255486E-0C63-4E35-9A04-BF305EDF51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8637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FBB0E16D-43AD-4093-8701-21E2679808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239862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5" name="Text Box 120">
              <a:extLst>
                <a:ext uri="{FF2B5EF4-FFF2-40B4-BE49-F238E27FC236}">
                  <a16:creationId xmlns:a16="http://schemas.microsoft.com/office/drawing/2014/main" id="{5FAEEB5A-D897-48CF-AC2E-468982E9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01168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6" name="Rectangle 122">
              <a:extLst>
                <a:ext uri="{FF2B5EF4-FFF2-40B4-BE49-F238E27FC236}">
                  <a16:creationId xmlns:a16="http://schemas.microsoft.com/office/drawing/2014/main" id="{72B9EC9A-513C-43A1-AC1A-52ED34CC2D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09637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6039B09B-6308-4D39-96D3-1195135107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620862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8" name="Text Box 124">
              <a:extLst>
                <a:ext uri="{FF2B5EF4-FFF2-40B4-BE49-F238E27FC236}">
                  <a16:creationId xmlns:a16="http://schemas.microsoft.com/office/drawing/2014/main" id="{5D77F693-78B9-48B2-8E48-FFB3DE301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82168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3F12EFC0-04EF-4E77-87B4-E409D3EA88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90637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127">
              <a:extLst>
                <a:ext uri="{FF2B5EF4-FFF2-40B4-BE49-F238E27FC236}">
                  <a16:creationId xmlns:a16="http://schemas.microsoft.com/office/drawing/2014/main" id="{DDB1A4F8-277E-42AF-9316-F78F375FBD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001862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1" name="Text Box 128">
              <a:extLst>
                <a:ext uri="{FF2B5EF4-FFF2-40B4-BE49-F238E27FC236}">
                  <a16:creationId xmlns:a16="http://schemas.microsoft.com/office/drawing/2014/main" id="{319169B6-9233-4FA1-9C73-6D11E265E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163168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2" name="Rectangle 130">
              <a:extLst>
                <a:ext uri="{FF2B5EF4-FFF2-40B4-BE49-F238E27FC236}">
                  <a16:creationId xmlns:a16="http://schemas.microsoft.com/office/drawing/2014/main" id="{B223D2C3-E85B-4CD6-91CC-4A464CF313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71637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131">
              <a:extLst>
                <a:ext uri="{FF2B5EF4-FFF2-40B4-BE49-F238E27FC236}">
                  <a16:creationId xmlns:a16="http://schemas.microsoft.com/office/drawing/2014/main" id="{67309993-07A6-4463-A05F-B57C9250D0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382862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4" name="Text Box 132">
              <a:extLst>
                <a:ext uri="{FF2B5EF4-FFF2-40B4-BE49-F238E27FC236}">
                  <a16:creationId xmlns:a16="http://schemas.microsoft.com/office/drawing/2014/main" id="{BD392AD5-2D09-4983-BA37-71209475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544168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D212CE5-26EB-4F03-9ED7-45650ED378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2637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6" name="Text Box 137">
              <a:extLst>
                <a:ext uri="{FF2B5EF4-FFF2-40B4-BE49-F238E27FC236}">
                  <a16:creationId xmlns:a16="http://schemas.microsoft.com/office/drawing/2014/main" id="{4ABAD8F4-6C74-4C21-90F3-396028323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01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7" name="Text Box 138">
              <a:extLst>
                <a:ext uri="{FF2B5EF4-FFF2-40B4-BE49-F238E27FC236}">
                  <a16:creationId xmlns:a16="http://schemas.microsoft.com/office/drawing/2014/main" id="{873D2670-C47F-4C26-B41C-E7A4DD3A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786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8" name="Text Box 139">
              <a:extLst>
                <a:ext uri="{FF2B5EF4-FFF2-40B4-BE49-F238E27FC236}">
                  <a16:creationId xmlns:a16="http://schemas.microsoft.com/office/drawing/2014/main" id="{D50ACA47-2E97-4BE4-8082-A74AFE7D2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598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17540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5684E0E-4091-4D08-BBF5-D4B9B6736D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909579" y="5164077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540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3033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065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637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209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81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353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5 Pourquoi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34541B-A36B-4956-A537-4C6A1350A38B}"/>
              </a:ext>
            </a:extLst>
          </p:cNvPr>
          <p:cNvGrpSpPr/>
          <p:nvPr/>
        </p:nvGrpSpPr>
        <p:grpSpPr>
          <a:xfrm>
            <a:off x="485160" y="203200"/>
            <a:ext cx="6997249" cy="10533064"/>
            <a:chOff x="675547" y="203200"/>
            <a:chExt cx="6681998" cy="10533064"/>
          </a:xfrm>
        </p:grpSpPr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EF880ECC-D7AB-421D-8807-AE7C7816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709241" y="8920652"/>
              <a:ext cx="32004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a-t-on eu ce problème ? : </a:t>
              </a:r>
            </a:p>
          </p:txBody>
        </p:sp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52413A2-25AD-45AC-92D5-AFA2D966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80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ce problème n'a pas été détecté ? : </a:t>
              </a:r>
            </a:p>
          </p:txBody>
        </p:sp>
        <p:sp>
          <p:nvSpPr>
            <p:cNvPr id="6" name="Text Box 69">
              <a:extLst>
                <a:ext uri="{FF2B5EF4-FFF2-40B4-BE49-F238E27FC236}">
                  <a16:creationId xmlns:a16="http://schemas.microsoft.com/office/drawing/2014/main" id="{117FA58B-4CB3-4487-B2DF-802DBFC3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292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le système n'a pas prévenu le problème ? : </a:t>
              </a:r>
            </a:p>
          </p:txBody>
        </p:sp>
        <p:sp>
          <p:nvSpPr>
            <p:cNvPr id="7" name="Rectangle 51">
              <a:extLst>
                <a:ext uri="{FF2B5EF4-FFF2-40B4-BE49-F238E27FC236}">
                  <a16:creationId xmlns:a16="http://schemas.microsoft.com/office/drawing/2014/main" id="{B8AE7AA3-F418-448C-B9C5-869AD7A7BB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2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54">
              <a:extLst>
                <a:ext uri="{FF2B5EF4-FFF2-40B4-BE49-F238E27FC236}">
                  <a16:creationId xmlns:a16="http://schemas.microsoft.com/office/drawing/2014/main" id="{043CD173-BA5E-4128-8BE6-57371CB1D8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280637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4F0E3B30-0642-4D6E-B26A-14A0A2A9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41943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0" name="Rectangle 79">
              <a:extLst>
                <a:ext uri="{FF2B5EF4-FFF2-40B4-BE49-F238E27FC236}">
                  <a16:creationId xmlns:a16="http://schemas.microsoft.com/office/drawing/2014/main" id="{E8ABAD5B-2E8E-42D3-99F1-825FF6B6A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50412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A5DA8F3C-06A2-4E25-93E0-9E5F5F6DE9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61637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1">
              <a:extLst>
                <a:ext uri="{FF2B5EF4-FFF2-40B4-BE49-F238E27FC236}">
                  <a16:creationId xmlns:a16="http://schemas.microsoft.com/office/drawing/2014/main" id="{55597D1B-17CF-4D6C-8F74-DDDADC2EA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22943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8397C800-4FB0-4094-B34E-1BD5CFEFCA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412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BE85619-1AA7-4390-BBEC-F907F9713B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42637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783ED938-C244-4208-BEE4-6208BB0C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3943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6" name="Rectangle 87">
              <a:extLst>
                <a:ext uri="{FF2B5EF4-FFF2-40B4-BE49-F238E27FC236}">
                  <a16:creationId xmlns:a16="http://schemas.microsoft.com/office/drawing/2014/main" id="{2F41F00F-5094-44B5-83DB-FCEB4FED2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512412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EE618559-6B53-4EDF-A8E6-64D6E68DCC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3637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ACDA313C-E767-457D-B057-9F9EEBD6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84943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391589F2-3BF9-4A51-9BD6-A580BC7EE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412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97">
              <a:extLst>
                <a:ext uri="{FF2B5EF4-FFF2-40B4-BE49-F238E27FC236}">
                  <a16:creationId xmlns:a16="http://schemas.microsoft.com/office/drawing/2014/main" id="{FA5BDD59-B79F-4959-AED6-63BF516FF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9024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8">
              <a:extLst>
                <a:ext uri="{FF2B5EF4-FFF2-40B4-BE49-F238E27FC236}">
                  <a16:creationId xmlns:a16="http://schemas.microsoft.com/office/drawing/2014/main" id="{517CC361-871B-48CF-9981-336532A01C9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60249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9E5894FE-BEF5-4AD0-87C0-1703EFCE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21555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3" name="Rectangle 101">
              <a:extLst>
                <a:ext uri="{FF2B5EF4-FFF2-40B4-BE49-F238E27FC236}">
                  <a16:creationId xmlns:a16="http://schemas.microsoft.com/office/drawing/2014/main" id="{460DA1E8-83E8-48A5-A18A-1917911AA0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30024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FAA3C7DA-D2A8-4B92-A159-9793845E326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41249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03">
              <a:extLst>
                <a:ext uri="{FF2B5EF4-FFF2-40B4-BE49-F238E27FC236}">
                  <a16:creationId xmlns:a16="http://schemas.microsoft.com/office/drawing/2014/main" id="{27E37685-23BE-4CC5-AD8C-61E9323AE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802555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6" name="Rectangle 105">
              <a:extLst>
                <a:ext uri="{FF2B5EF4-FFF2-40B4-BE49-F238E27FC236}">
                  <a16:creationId xmlns:a16="http://schemas.microsoft.com/office/drawing/2014/main" id="{C681305E-37F1-4025-900A-B7ADB6C7CA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11024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106">
              <a:extLst>
                <a:ext uri="{FF2B5EF4-FFF2-40B4-BE49-F238E27FC236}">
                  <a16:creationId xmlns:a16="http://schemas.microsoft.com/office/drawing/2014/main" id="{D1BB45B4-C9A5-45CE-B5B4-9AE50C97D9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249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8" name="Text Box 107">
              <a:extLst>
                <a:ext uri="{FF2B5EF4-FFF2-40B4-BE49-F238E27FC236}">
                  <a16:creationId xmlns:a16="http://schemas.microsoft.com/office/drawing/2014/main" id="{3ECCD8A1-4657-43DC-A599-360083D8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83555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9" name="Rectangle 109">
              <a:extLst>
                <a:ext uri="{FF2B5EF4-FFF2-40B4-BE49-F238E27FC236}">
                  <a16:creationId xmlns:a16="http://schemas.microsoft.com/office/drawing/2014/main" id="{1C4EE9A0-EF46-41D9-96BB-AA1C992DA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2024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110">
              <a:extLst>
                <a:ext uri="{FF2B5EF4-FFF2-40B4-BE49-F238E27FC236}">
                  <a16:creationId xmlns:a16="http://schemas.microsoft.com/office/drawing/2014/main" id="{D7E69C8E-8AB0-4C24-8F41-1424FE5C5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403249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11">
              <a:extLst>
                <a:ext uri="{FF2B5EF4-FFF2-40B4-BE49-F238E27FC236}">
                  <a16:creationId xmlns:a16="http://schemas.microsoft.com/office/drawing/2014/main" id="{817B826D-83E0-4B44-BF02-E36970688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564555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2" name="Rectangle 113">
              <a:extLst>
                <a:ext uri="{FF2B5EF4-FFF2-40B4-BE49-F238E27FC236}">
                  <a16:creationId xmlns:a16="http://schemas.microsoft.com/office/drawing/2014/main" id="{8C717949-B01B-44B5-BEA6-BDFD3C1D4C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73024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3" name="Rectangle 118">
              <a:extLst>
                <a:ext uri="{FF2B5EF4-FFF2-40B4-BE49-F238E27FC236}">
                  <a16:creationId xmlns:a16="http://schemas.microsoft.com/office/drawing/2014/main" id="{3255486E-0C63-4E35-9A04-BF305EDF51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8637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FBB0E16D-43AD-4093-8701-21E2679808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239862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5" name="Text Box 120">
              <a:extLst>
                <a:ext uri="{FF2B5EF4-FFF2-40B4-BE49-F238E27FC236}">
                  <a16:creationId xmlns:a16="http://schemas.microsoft.com/office/drawing/2014/main" id="{5FAEEB5A-D897-48CF-AC2E-468982E9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01168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6" name="Rectangle 122">
              <a:extLst>
                <a:ext uri="{FF2B5EF4-FFF2-40B4-BE49-F238E27FC236}">
                  <a16:creationId xmlns:a16="http://schemas.microsoft.com/office/drawing/2014/main" id="{72B9EC9A-513C-43A1-AC1A-52ED34CC2D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09637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6039B09B-6308-4D39-96D3-1195135107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620862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8" name="Text Box 124">
              <a:extLst>
                <a:ext uri="{FF2B5EF4-FFF2-40B4-BE49-F238E27FC236}">
                  <a16:creationId xmlns:a16="http://schemas.microsoft.com/office/drawing/2014/main" id="{5D77F693-78B9-48B2-8E48-FFB3DE301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82168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3F12EFC0-04EF-4E77-87B4-E409D3EA88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90637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127">
              <a:extLst>
                <a:ext uri="{FF2B5EF4-FFF2-40B4-BE49-F238E27FC236}">
                  <a16:creationId xmlns:a16="http://schemas.microsoft.com/office/drawing/2014/main" id="{DDB1A4F8-277E-42AF-9316-F78F375FBD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001862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1" name="Text Box 128">
              <a:extLst>
                <a:ext uri="{FF2B5EF4-FFF2-40B4-BE49-F238E27FC236}">
                  <a16:creationId xmlns:a16="http://schemas.microsoft.com/office/drawing/2014/main" id="{319169B6-9233-4FA1-9C73-6D11E265E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163168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2" name="Rectangle 130">
              <a:extLst>
                <a:ext uri="{FF2B5EF4-FFF2-40B4-BE49-F238E27FC236}">
                  <a16:creationId xmlns:a16="http://schemas.microsoft.com/office/drawing/2014/main" id="{B223D2C3-E85B-4CD6-91CC-4A464CF313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71637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131">
              <a:extLst>
                <a:ext uri="{FF2B5EF4-FFF2-40B4-BE49-F238E27FC236}">
                  <a16:creationId xmlns:a16="http://schemas.microsoft.com/office/drawing/2014/main" id="{67309993-07A6-4463-A05F-B57C9250D0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382862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4" name="Text Box 132">
              <a:extLst>
                <a:ext uri="{FF2B5EF4-FFF2-40B4-BE49-F238E27FC236}">
                  <a16:creationId xmlns:a16="http://schemas.microsoft.com/office/drawing/2014/main" id="{BD392AD5-2D09-4983-BA37-71209475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544168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D212CE5-26EB-4F03-9ED7-45650ED378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2637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6" name="Text Box 137">
              <a:extLst>
                <a:ext uri="{FF2B5EF4-FFF2-40B4-BE49-F238E27FC236}">
                  <a16:creationId xmlns:a16="http://schemas.microsoft.com/office/drawing/2014/main" id="{4ABAD8F4-6C74-4C21-90F3-396028323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01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7" name="Text Box 138">
              <a:extLst>
                <a:ext uri="{FF2B5EF4-FFF2-40B4-BE49-F238E27FC236}">
                  <a16:creationId xmlns:a16="http://schemas.microsoft.com/office/drawing/2014/main" id="{873D2670-C47F-4C26-B41C-E7A4DD3A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786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8" name="Text Box 139">
              <a:extLst>
                <a:ext uri="{FF2B5EF4-FFF2-40B4-BE49-F238E27FC236}">
                  <a16:creationId xmlns:a16="http://schemas.microsoft.com/office/drawing/2014/main" id="{D50ACA47-2E97-4BE4-8082-A74AFE7D2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598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33642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5684E0E-4091-4D08-BBF5-D4B9B6736D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909579" y="5164077"/>
            <a:ext cx="10458450" cy="52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54" tIns="47677" rIns="95354" bIns="47677">
            <a:spAutoFit/>
          </a:bodyPr>
          <a:lstStyle>
            <a:lvl1pPr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76250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540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3033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06588" defTabSz="9540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637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209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81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35388" defTabSz="9540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5 Pourquoi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34541B-A36B-4956-A537-4C6A1350A38B}"/>
              </a:ext>
            </a:extLst>
          </p:cNvPr>
          <p:cNvGrpSpPr/>
          <p:nvPr/>
        </p:nvGrpSpPr>
        <p:grpSpPr>
          <a:xfrm>
            <a:off x="485160" y="203200"/>
            <a:ext cx="6997249" cy="10533064"/>
            <a:chOff x="675547" y="203200"/>
            <a:chExt cx="6681998" cy="10533064"/>
          </a:xfrm>
        </p:grpSpPr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EF880ECC-D7AB-421D-8807-AE7C7816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709241" y="8920652"/>
              <a:ext cx="32004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a-t-on eu ce problème ? : </a:t>
              </a:r>
            </a:p>
          </p:txBody>
        </p:sp>
        <p:sp>
          <p:nvSpPr>
            <p:cNvPr id="5" name="Text Box 68">
              <a:extLst>
                <a:ext uri="{FF2B5EF4-FFF2-40B4-BE49-F238E27FC236}">
                  <a16:creationId xmlns:a16="http://schemas.microsoft.com/office/drawing/2014/main" id="{C52413A2-25AD-45AC-92D5-AFA2D966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80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ce problème n'a pas été détecté ? : </a:t>
              </a:r>
            </a:p>
          </p:txBody>
        </p:sp>
        <p:sp>
          <p:nvSpPr>
            <p:cNvPr id="6" name="Text Box 69">
              <a:extLst>
                <a:ext uri="{FF2B5EF4-FFF2-40B4-BE49-F238E27FC236}">
                  <a16:creationId xmlns:a16="http://schemas.microsoft.com/office/drawing/2014/main" id="{117FA58B-4CB3-4487-B2DF-802DBFC3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29259" y="8196752"/>
              <a:ext cx="4648200" cy="430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74688"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87325" algn="l"/>
                  <a:tab pos="374650" algn="l"/>
                  <a:tab pos="577850" algn="l"/>
                  <a:tab pos="850900" algn="l"/>
                  <a:tab pos="10541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65000"/>
                </a:lnSpc>
              </a:pPr>
              <a:r>
                <a:rPr lang="fr-FR" altLang="fr-FR" sz="1600" b="1" i="1" dirty="0">
                  <a:solidFill>
                    <a:srgbClr val="00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Pourquoi le système n'a pas prévenu le problème ? : </a:t>
              </a:r>
            </a:p>
          </p:txBody>
        </p:sp>
        <p:sp>
          <p:nvSpPr>
            <p:cNvPr id="7" name="Rectangle 51">
              <a:extLst>
                <a:ext uri="{FF2B5EF4-FFF2-40B4-BE49-F238E27FC236}">
                  <a16:creationId xmlns:a16="http://schemas.microsoft.com/office/drawing/2014/main" id="{B8AE7AA3-F418-448C-B9C5-869AD7A7BB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9412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54">
              <a:extLst>
                <a:ext uri="{FF2B5EF4-FFF2-40B4-BE49-F238E27FC236}">
                  <a16:creationId xmlns:a16="http://schemas.microsoft.com/office/drawing/2014/main" id="{043CD173-BA5E-4128-8BE6-57371CB1D8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280637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 Box 76">
              <a:extLst>
                <a:ext uri="{FF2B5EF4-FFF2-40B4-BE49-F238E27FC236}">
                  <a16:creationId xmlns:a16="http://schemas.microsoft.com/office/drawing/2014/main" id="{4F0E3B30-0642-4D6E-B26A-14A0A2A91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41943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0" name="Rectangle 79">
              <a:extLst>
                <a:ext uri="{FF2B5EF4-FFF2-40B4-BE49-F238E27FC236}">
                  <a16:creationId xmlns:a16="http://schemas.microsoft.com/office/drawing/2014/main" id="{E8ABAD5B-2E8E-42D3-99F1-825FF6B6A0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50412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A5DA8F3C-06A2-4E25-93E0-9E5F5F6DE9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61637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1">
              <a:extLst>
                <a:ext uri="{FF2B5EF4-FFF2-40B4-BE49-F238E27FC236}">
                  <a16:creationId xmlns:a16="http://schemas.microsoft.com/office/drawing/2014/main" id="{55597D1B-17CF-4D6C-8F74-DDDADC2EA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22943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8397C800-4FB0-4094-B34E-1BD5CFEFCA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31412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BE85619-1AA7-4390-BBEC-F907F9713B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42637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783ED938-C244-4208-BEE4-6208BB0C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3943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6" name="Rectangle 87">
              <a:extLst>
                <a:ext uri="{FF2B5EF4-FFF2-40B4-BE49-F238E27FC236}">
                  <a16:creationId xmlns:a16="http://schemas.microsoft.com/office/drawing/2014/main" id="{2F41F00F-5094-44B5-83DB-FCEB4FED2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512412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EE618559-6B53-4EDF-A8E6-64D6E68DCC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3637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ACDA313C-E767-457D-B057-9F9EEBD6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84943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391589F2-3BF9-4A51-9BD6-A580BC7EE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412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97">
              <a:extLst>
                <a:ext uri="{FF2B5EF4-FFF2-40B4-BE49-F238E27FC236}">
                  <a16:creationId xmlns:a16="http://schemas.microsoft.com/office/drawing/2014/main" id="{FA5BDD59-B79F-4959-AED6-63BF516FF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9024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98">
              <a:extLst>
                <a:ext uri="{FF2B5EF4-FFF2-40B4-BE49-F238E27FC236}">
                  <a16:creationId xmlns:a16="http://schemas.microsoft.com/office/drawing/2014/main" id="{517CC361-871B-48CF-9981-336532A01C9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60249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9E5894FE-BEF5-4AD0-87C0-1703EFCE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21555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3" name="Rectangle 101">
              <a:extLst>
                <a:ext uri="{FF2B5EF4-FFF2-40B4-BE49-F238E27FC236}">
                  <a16:creationId xmlns:a16="http://schemas.microsoft.com/office/drawing/2014/main" id="{460DA1E8-83E8-48A5-A18A-1917911AA0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30024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FAA3C7DA-D2A8-4B92-A159-9793845E326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41249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5" name="Text Box 103">
              <a:extLst>
                <a:ext uri="{FF2B5EF4-FFF2-40B4-BE49-F238E27FC236}">
                  <a16:creationId xmlns:a16="http://schemas.microsoft.com/office/drawing/2014/main" id="{27E37685-23BE-4CC5-AD8C-61E9323AE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802555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6" name="Rectangle 105">
              <a:extLst>
                <a:ext uri="{FF2B5EF4-FFF2-40B4-BE49-F238E27FC236}">
                  <a16:creationId xmlns:a16="http://schemas.microsoft.com/office/drawing/2014/main" id="{C681305E-37F1-4025-900A-B7ADB6C7CA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11024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106">
              <a:extLst>
                <a:ext uri="{FF2B5EF4-FFF2-40B4-BE49-F238E27FC236}">
                  <a16:creationId xmlns:a16="http://schemas.microsoft.com/office/drawing/2014/main" id="{D1BB45B4-C9A5-45CE-B5B4-9AE50C97D9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249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28" name="Text Box 107">
              <a:extLst>
                <a:ext uri="{FF2B5EF4-FFF2-40B4-BE49-F238E27FC236}">
                  <a16:creationId xmlns:a16="http://schemas.microsoft.com/office/drawing/2014/main" id="{3ECCD8A1-4657-43DC-A599-360083D8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83555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29" name="Rectangle 109">
              <a:extLst>
                <a:ext uri="{FF2B5EF4-FFF2-40B4-BE49-F238E27FC236}">
                  <a16:creationId xmlns:a16="http://schemas.microsoft.com/office/drawing/2014/main" id="{1C4EE9A0-EF46-41D9-96BB-AA1C992DA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92024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110">
              <a:extLst>
                <a:ext uri="{FF2B5EF4-FFF2-40B4-BE49-F238E27FC236}">
                  <a16:creationId xmlns:a16="http://schemas.microsoft.com/office/drawing/2014/main" id="{D7E69C8E-8AB0-4C24-8F41-1424FE5C58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403249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1" name="Text Box 111">
              <a:extLst>
                <a:ext uri="{FF2B5EF4-FFF2-40B4-BE49-F238E27FC236}">
                  <a16:creationId xmlns:a16="http://schemas.microsoft.com/office/drawing/2014/main" id="{817B826D-83E0-4B44-BF02-E36970688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564555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2" name="Rectangle 113">
              <a:extLst>
                <a:ext uri="{FF2B5EF4-FFF2-40B4-BE49-F238E27FC236}">
                  <a16:creationId xmlns:a16="http://schemas.microsoft.com/office/drawing/2014/main" id="{8C717949-B01B-44B5-BEA6-BDFD3C1D4C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73024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3" name="Rectangle 118">
              <a:extLst>
                <a:ext uri="{FF2B5EF4-FFF2-40B4-BE49-F238E27FC236}">
                  <a16:creationId xmlns:a16="http://schemas.microsoft.com/office/drawing/2014/main" id="{3255486E-0C63-4E35-9A04-BF305EDF51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28637" y="9402763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FBB0E16D-43AD-4093-8701-21E2679808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239862" y="9024938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5" name="Text Box 120">
              <a:extLst>
                <a:ext uri="{FF2B5EF4-FFF2-40B4-BE49-F238E27FC236}">
                  <a16:creationId xmlns:a16="http://schemas.microsoft.com/office/drawing/2014/main" id="{5FAEEB5A-D897-48CF-AC2E-468982E9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01168" y="9222065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6" name="Rectangle 122">
              <a:extLst>
                <a:ext uri="{FF2B5EF4-FFF2-40B4-BE49-F238E27FC236}">
                  <a16:creationId xmlns:a16="http://schemas.microsoft.com/office/drawing/2014/main" id="{72B9EC9A-513C-43A1-AC1A-52ED34CC2D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09637" y="72929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6039B09B-6308-4D39-96D3-1195135107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620862" y="69151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38" name="Text Box 124">
              <a:extLst>
                <a:ext uri="{FF2B5EF4-FFF2-40B4-BE49-F238E27FC236}">
                  <a16:creationId xmlns:a16="http://schemas.microsoft.com/office/drawing/2014/main" id="{5D77F693-78B9-48B2-8E48-FFB3DE301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82168" y="71122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3F12EFC0-04EF-4E77-87B4-E409D3EA88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90637" y="51784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127">
              <a:extLst>
                <a:ext uri="{FF2B5EF4-FFF2-40B4-BE49-F238E27FC236}">
                  <a16:creationId xmlns:a16="http://schemas.microsoft.com/office/drawing/2014/main" id="{DDB1A4F8-277E-42AF-9316-F78F375FBD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001862" y="480060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1" name="Text Box 128">
              <a:extLst>
                <a:ext uri="{FF2B5EF4-FFF2-40B4-BE49-F238E27FC236}">
                  <a16:creationId xmlns:a16="http://schemas.microsoft.com/office/drawing/2014/main" id="{319169B6-9233-4FA1-9C73-6D11E265E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163168" y="499772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2" name="Rectangle 130">
              <a:extLst>
                <a:ext uri="{FF2B5EF4-FFF2-40B4-BE49-F238E27FC236}">
                  <a16:creationId xmlns:a16="http://schemas.microsoft.com/office/drawing/2014/main" id="{B223D2C3-E85B-4CD6-91CC-4A464CF313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71637" y="306387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131">
              <a:extLst>
                <a:ext uri="{FF2B5EF4-FFF2-40B4-BE49-F238E27FC236}">
                  <a16:creationId xmlns:a16="http://schemas.microsoft.com/office/drawing/2014/main" id="{67309993-07A6-4463-A05F-B57C9250D0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382862" y="2686050"/>
              <a:ext cx="1066800" cy="22225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4" name="Text Box 132">
              <a:extLst>
                <a:ext uri="{FF2B5EF4-FFF2-40B4-BE49-F238E27FC236}">
                  <a16:creationId xmlns:a16="http://schemas.microsoft.com/office/drawing/2014/main" id="{BD392AD5-2D09-4983-BA37-71209475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544168" y="2883178"/>
              <a:ext cx="76815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50" i="1" dirty="0">
                  <a:latin typeface="Calibri" panose="020F0502020204030204" pitchFamily="34" charset="0"/>
                </a:rPr>
                <a:t>pourquoi ?</a:t>
              </a: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D212CE5-26EB-4F03-9ED7-45650ED378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52637" y="949325"/>
              <a:ext cx="19812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2800" dirty="0">
                <a:latin typeface="Calibri" panose="020F0502020204030204" pitchFamily="34" charset="0"/>
              </a:endParaRPr>
            </a:p>
          </p:txBody>
        </p:sp>
        <p:sp>
          <p:nvSpPr>
            <p:cNvPr id="46" name="Text Box 137">
              <a:extLst>
                <a:ext uri="{FF2B5EF4-FFF2-40B4-BE49-F238E27FC236}">
                  <a16:creationId xmlns:a16="http://schemas.microsoft.com/office/drawing/2014/main" id="{4ABAD8F4-6C74-4C21-90F3-396028323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01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7" name="Text Box 138">
              <a:extLst>
                <a:ext uri="{FF2B5EF4-FFF2-40B4-BE49-F238E27FC236}">
                  <a16:creationId xmlns:a16="http://schemas.microsoft.com/office/drawing/2014/main" id="{873D2670-C47F-4C26-B41C-E7A4DD3A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786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  <p:sp>
          <p:nvSpPr>
            <p:cNvPr id="48" name="Text Box 139">
              <a:extLst>
                <a:ext uri="{FF2B5EF4-FFF2-40B4-BE49-F238E27FC236}">
                  <a16:creationId xmlns:a16="http://schemas.microsoft.com/office/drawing/2014/main" id="{D50ACA47-2E97-4BE4-8082-A74AFE7D2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59855" y="846974"/>
              <a:ext cx="1541463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fr-FR" altLang="fr-FR" sz="1050" i="1" dirty="0">
                  <a:latin typeface="Calibri" panose="020F0502020204030204" pitchFamily="34" charset="0"/>
                </a:rPr>
                <a:t>cause racine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78919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97632" y="43756"/>
            <a:ext cx="6624736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Matrice étape 7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11140AB-006E-4DA6-9907-D1D3557AE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24063"/>
              </p:ext>
            </p:extLst>
          </p:nvPr>
        </p:nvGraphicFramePr>
        <p:xfrm>
          <a:off x="173596" y="643902"/>
          <a:ext cx="7272808" cy="10052242"/>
        </p:xfrm>
        <a:graphic>
          <a:graphicData uri="http://schemas.openxmlformats.org/drawingml/2006/table">
            <a:tbl>
              <a:tblPr/>
              <a:tblGrid>
                <a:gridCol w="275726">
                  <a:extLst>
                    <a:ext uri="{9D8B030D-6E8A-4147-A177-3AD203B41FA5}">
                      <a16:colId xmlns:a16="http://schemas.microsoft.com/office/drawing/2014/main" val="407284789"/>
                    </a:ext>
                  </a:extLst>
                </a:gridCol>
                <a:gridCol w="3972746">
                  <a:extLst>
                    <a:ext uri="{9D8B030D-6E8A-4147-A177-3AD203B41FA5}">
                      <a16:colId xmlns:a16="http://schemas.microsoft.com/office/drawing/2014/main" val="288272115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42644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1845459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04624842"/>
                    </a:ext>
                  </a:extLst>
                </a:gridCol>
              </a:tblGrid>
              <a:tr h="45989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13490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997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93220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76554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80565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319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70826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8440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91724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705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9133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1350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4508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2961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162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336664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282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3789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424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3642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957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091423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7056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69882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611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9421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896965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22057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9447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97632" y="43756"/>
            <a:ext cx="6624736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Matrice étape 7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11140AB-006E-4DA6-9907-D1D3557AEB21}"/>
              </a:ext>
            </a:extLst>
          </p:cNvPr>
          <p:cNvGraphicFramePr>
            <a:graphicFrameLocks noGrp="1"/>
          </p:cNvGraphicFramePr>
          <p:nvPr/>
        </p:nvGraphicFramePr>
        <p:xfrm>
          <a:off x="173596" y="643902"/>
          <a:ext cx="7272808" cy="10052242"/>
        </p:xfrm>
        <a:graphic>
          <a:graphicData uri="http://schemas.openxmlformats.org/drawingml/2006/table">
            <a:tbl>
              <a:tblPr/>
              <a:tblGrid>
                <a:gridCol w="275726">
                  <a:extLst>
                    <a:ext uri="{9D8B030D-6E8A-4147-A177-3AD203B41FA5}">
                      <a16:colId xmlns:a16="http://schemas.microsoft.com/office/drawing/2014/main" val="407284789"/>
                    </a:ext>
                  </a:extLst>
                </a:gridCol>
                <a:gridCol w="3972746">
                  <a:extLst>
                    <a:ext uri="{9D8B030D-6E8A-4147-A177-3AD203B41FA5}">
                      <a16:colId xmlns:a16="http://schemas.microsoft.com/office/drawing/2014/main" val="288272115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42644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1845459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04624842"/>
                    </a:ext>
                  </a:extLst>
                </a:gridCol>
              </a:tblGrid>
              <a:tr h="45989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13490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997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93220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76554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80565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319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70826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8440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91724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705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9133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1350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4508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2961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162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336664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282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3789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424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3642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957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091423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7056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69882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611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9421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896965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22057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2677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97632" y="43756"/>
            <a:ext cx="6624736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Matrice étape 7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11140AB-006E-4DA6-9907-D1D3557AEB21}"/>
              </a:ext>
            </a:extLst>
          </p:cNvPr>
          <p:cNvGraphicFramePr>
            <a:graphicFrameLocks noGrp="1"/>
          </p:cNvGraphicFramePr>
          <p:nvPr/>
        </p:nvGraphicFramePr>
        <p:xfrm>
          <a:off x="173596" y="643902"/>
          <a:ext cx="7272808" cy="10052242"/>
        </p:xfrm>
        <a:graphic>
          <a:graphicData uri="http://schemas.openxmlformats.org/drawingml/2006/table">
            <a:tbl>
              <a:tblPr/>
              <a:tblGrid>
                <a:gridCol w="275726">
                  <a:extLst>
                    <a:ext uri="{9D8B030D-6E8A-4147-A177-3AD203B41FA5}">
                      <a16:colId xmlns:a16="http://schemas.microsoft.com/office/drawing/2014/main" val="407284789"/>
                    </a:ext>
                  </a:extLst>
                </a:gridCol>
                <a:gridCol w="3972746">
                  <a:extLst>
                    <a:ext uri="{9D8B030D-6E8A-4147-A177-3AD203B41FA5}">
                      <a16:colId xmlns:a16="http://schemas.microsoft.com/office/drawing/2014/main" val="288272115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42644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1845459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04624842"/>
                    </a:ext>
                  </a:extLst>
                </a:gridCol>
              </a:tblGrid>
              <a:tr h="45989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13490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997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93220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76554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80565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319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70826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8440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91724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705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9133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1350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4508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2961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162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336664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282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3789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424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3642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957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091423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7056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69882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611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9421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896965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22057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6244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97632" y="43756"/>
            <a:ext cx="6624736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Matrice étape 7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11140AB-006E-4DA6-9907-D1D3557AEB21}"/>
              </a:ext>
            </a:extLst>
          </p:cNvPr>
          <p:cNvGraphicFramePr>
            <a:graphicFrameLocks noGrp="1"/>
          </p:cNvGraphicFramePr>
          <p:nvPr/>
        </p:nvGraphicFramePr>
        <p:xfrm>
          <a:off x="173596" y="643902"/>
          <a:ext cx="7272808" cy="10052242"/>
        </p:xfrm>
        <a:graphic>
          <a:graphicData uri="http://schemas.openxmlformats.org/drawingml/2006/table">
            <a:tbl>
              <a:tblPr/>
              <a:tblGrid>
                <a:gridCol w="275726">
                  <a:extLst>
                    <a:ext uri="{9D8B030D-6E8A-4147-A177-3AD203B41FA5}">
                      <a16:colId xmlns:a16="http://schemas.microsoft.com/office/drawing/2014/main" val="407284789"/>
                    </a:ext>
                  </a:extLst>
                </a:gridCol>
                <a:gridCol w="3972746">
                  <a:extLst>
                    <a:ext uri="{9D8B030D-6E8A-4147-A177-3AD203B41FA5}">
                      <a16:colId xmlns:a16="http://schemas.microsoft.com/office/drawing/2014/main" val="288272115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42644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1845459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04624842"/>
                    </a:ext>
                  </a:extLst>
                </a:gridCol>
              </a:tblGrid>
              <a:tr h="45989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13490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997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93220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76554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80565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319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70826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8440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91724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705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9133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1350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4508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2961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162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336664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282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3789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424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3642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957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091423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7056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69882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611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9421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896965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22057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56620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97632" y="43756"/>
            <a:ext cx="6624736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Matrice étape 7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11140AB-006E-4DA6-9907-D1D3557AEB21}"/>
              </a:ext>
            </a:extLst>
          </p:cNvPr>
          <p:cNvGraphicFramePr>
            <a:graphicFrameLocks noGrp="1"/>
          </p:cNvGraphicFramePr>
          <p:nvPr/>
        </p:nvGraphicFramePr>
        <p:xfrm>
          <a:off x="173596" y="643902"/>
          <a:ext cx="7272808" cy="10052242"/>
        </p:xfrm>
        <a:graphic>
          <a:graphicData uri="http://schemas.openxmlformats.org/drawingml/2006/table">
            <a:tbl>
              <a:tblPr/>
              <a:tblGrid>
                <a:gridCol w="275726">
                  <a:extLst>
                    <a:ext uri="{9D8B030D-6E8A-4147-A177-3AD203B41FA5}">
                      <a16:colId xmlns:a16="http://schemas.microsoft.com/office/drawing/2014/main" val="407284789"/>
                    </a:ext>
                  </a:extLst>
                </a:gridCol>
                <a:gridCol w="3972746">
                  <a:extLst>
                    <a:ext uri="{9D8B030D-6E8A-4147-A177-3AD203B41FA5}">
                      <a16:colId xmlns:a16="http://schemas.microsoft.com/office/drawing/2014/main" val="288272115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42644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1845459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04624842"/>
                    </a:ext>
                  </a:extLst>
                </a:gridCol>
              </a:tblGrid>
              <a:tr h="45989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13490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997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93220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76554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80565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319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70826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8440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91724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705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9133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1350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4508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2961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162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336664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282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3789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424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3642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957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091423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7056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69882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611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9421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896965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22057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047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97632" y="43756"/>
            <a:ext cx="6624736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Matrice étape 7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11140AB-006E-4DA6-9907-D1D3557AEB21}"/>
              </a:ext>
            </a:extLst>
          </p:cNvPr>
          <p:cNvGraphicFramePr>
            <a:graphicFrameLocks noGrp="1"/>
          </p:cNvGraphicFramePr>
          <p:nvPr/>
        </p:nvGraphicFramePr>
        <p:xfrm>
          <a:off x="173596" y="643902"/>
          <a:ext cx="7272808" cy="10052242"/>
        </p:xfrm>
        <a:graphic>
          <a:graphicData uri="http://schemas.openxmlformats.org/drawingml/2006/table">
            <a:tbl>
              <a:tblPr/>
              <a:tblGrid>
                <a:gridCol w="275726">
                  <a:extLst>
                    <a:ext uri="{9D8B030D-6E8A-4147-A177-3AD203B41FA5}">
                      <a16:colId xmlns:a16="http://schemas.microsoft.com/office/drawing/2014/main" val="407284789"/>
                    </a:ext>
                  </a:extLst>
                </a:gridCol>
                <a:gridCol w="3972746">
                  <a:extLst>
                    <a:ext uri="{9D8B030D-6E8A-4147-A177-3AD203B41FA5}">
                      <a16:colId xmlns:a16="http://schemas.microsoft.com/office/drawing/2014/main" val="288272115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42644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1845459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04624842"/>
                    </a:ext>
                  </a:extLst>
                </a:gridCol>
              </a:tblGrid>
              <a:tr h="45989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13490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997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93220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76554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80565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319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70826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8440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91724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705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9133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1350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4508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2961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162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336664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282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3789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424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3642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957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091423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7056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69882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611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9421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896965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22057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0473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97632" y="43756"/>
            <a:ext cx="6624736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Matrice étape 7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11140AB-006E-4DA6-9907-D1D3557AEB21}"/>
              </a:ext>
            </a:extLst>
          </p:cNvPr>
          <p:cNvGraphicFramePr>
            <a:graphicFrameLocks noGrp="1"/>
          </p:cNvGraphicFramePr>
          <p:nvPr/>
        </p:nvGraphicFramePr>
        <p:xfrm>
          <a:off x="173596" y="643902"/>
          <a:ext cx="7272808" cy="10052242"/>
        </p:xfrm>
        <a:graphic>
          <a:graphicData uri="http://schemas.openxmlformats.org/drawingml/2006/table">
            <a:tbl>
              <a:tblPr/>
              <a:tblGrid>
                <a:gridCol w="275726">
                  <a:extLst>
                    <a:ext uri="{9D8B030D-6E8A-4147-A177-3AD203B41FA5}">
                      <a16:colId xmlns:a16="http://schemas.microsoft.com/office/drawing/2014/main" val="407284789"/>
                    </a:ext>
                  </a:extLst>
                </a:gridCol>
                <a:gridCol w="3972746">
                  <a:extLst>
                    <a:ext uri="{9D8B030D-6E8A-4147-A177-3AD203B41FA5}">
                      <a16:colId xmlns:a16="http://schemas.microsoft.com/office/drawing/2014/main" val="288272115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42644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1845459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04624842"/>
                    </a:ext>
                  </a:extLst>
                </a:gridCol>
              </a:tblGrid>
              <a:tr h="45989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13490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997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93220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76554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80565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319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70826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8440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91724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705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9133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1350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4508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2961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162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336664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282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3789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424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3642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957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091423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7056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69882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611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9421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896965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22057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7384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497632" y="43756"/>
            <a:ext cx="6624736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354" tIns="47677" rIns="95354" bIns="47677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altLang="fr-FR" sz="2800" b="1" dirty="0">
                <a:latin typeface="Calibri" panose="020F0502020204030204" pitchFamily="34" charset="0"/>
              </a:rPr>
              <a:t>Matrice étape 7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11140AB-006E-4DA6-9907-D1D3557AEB21}"/>
              </a:ext>
            </a:extLst>
          </p:cNvPr>
          <p:cNvGraphicFramePr>
            <a:graphicFrameLocks noGrp="1"/>
          </p:cNvGraphicFramePr>
          <p:nvPr/>
        </p:nvGraphicFramePr>
        <p:xfrm>
          <a:off x="173596" y="643902"/>
          <a:ext cx="7272808" cy="10052242"/>
        </p:xfrm>
        <a:graphic>
          <a:graphicData uri="http://schemas.openxmlformats.org/drawingml/2006/table">
            <a:tbl>
              <a:tblPr/>
              <a:tblGrid>
                <a:gridCol w="275726">
                  <a:extLst>
                    <a:ext uri="{9D8B030D-6E8A-4147-A177-3AD203B41FA5}">
                      <a16:colId xmlns:a16="http://schemas.microsoft.com/office/drawing/2014/main" val="407284789"/>
                    </a:ext>
                  </a:extLst>
                </a:gridCol>
                <a:gridCol w="3972746">
                  <a:extLst>
                    <a:ext uri="{9D8B030D-6E8A-4147-A177-3AD203B41FA5}">
                      <a16:colId xmlns:a16="http://schemas.microsoft.com/office/drawing/2014/main" val="288272115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42644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1845459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04624842"/>
                    </a:ext>
                  </a:extLst>
                </a:gridCol>
              </a:tblGrid>
              <a:tr h="45989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13490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997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93220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76554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80565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319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70826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8440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91724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705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9133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1350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45082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29610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162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336664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282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37894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42461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3642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957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091423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70566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869882"/>
                  </a:ext>
                </a:extLst>
              </a:tr>
              <a:tr h="34258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46" marR="2046" marT="2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6119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94218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896965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622057"/>
                  </a:ext>
                </a:extLst>
              </a:tr>
              <a:tr h="34258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79258"/>
      </p:ext>
    </p:extLst>
  </p:cSld>
  <p:clrMapOvr>
    <a:masterClrMapping/>
  </p:clrMapOvr>
</p:sld>
</file>

<file path=ppt/theme/theme1.xml><?xml version="1.0" encoding="utf-8"?>
<a:theme xmlns:a="http://schemas.openxmlformats.org/drawingml/2006/main" name="Nouvelle présentation">
  <a:themeElements>
    <a:clrScheme name="Nouvelle pré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ouvelle pré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Office\Modèles\Nouvelle présentation.pot</Template>
  <TotalTime>7266</TotalTime>
  <Words>4232</Words>
  <Application>Microsoft Office PowerPoint</Application>
  <PresentationFormat>Personnalisé</PresentationFormat>
  <Paragraphs>1696</Paragraphs>
  <Slides>96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96</vt:i4>
      </vt:variant>
    </vt:vector>
  </HeadingPairs>
  <TitlesOfParts>
    <vt:vector size="100" baseType="lpstr">
      <vt:lpstr>Arial</vt:lpstr>
      <vt:lpstr>Calibri</vt:lpstr>
      <vt:lpstr>Times New Roman</vt:lpstr>
      <vt:lpstr>Nouvelle présentation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Groupe PROCONSEIL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Aucun titre de diapositive</dc:title>
  <dc:creator>CIPE</dc:creator>
  <cp:lastModifiedBy>Office</cp:lastModifiedBy>
  <cp:revision>397</cp:revision>
  <cp:lastPrinted>2023-01-06T07:26:28Z</cp:lastPrinted>
  <dcterms:created xsi:type="dcterms:W3CDTF">1997-07-10T10:11:18Z</dcterms:created>
  <dcterms:modified xsi:type="dcterms:W3CDTF">2023-01-06T07:29:20Z</dcterms:modified>
</cp:coreProperties>
</file>
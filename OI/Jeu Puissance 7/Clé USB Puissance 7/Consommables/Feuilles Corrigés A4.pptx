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73" r:id="rId14"/>
    <p:sldId id="267" r:id="rId15"/>
    <p:sldId id="268" r:id="rId16"/>
    <p:sldId id="274" r:id="rId17"/>
    <p:sldId id="275" r:id="rId18"/>
    <p:sldId id="276" r:id="rId19"/>
  </p:sldIdLst>
  <p:sldSz cx="6477000" cy="9525000"/>
  <p:notesSz cx="6797675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0">
          <p15:clr>
            <a:srgbClr val="A4A3A4"/>
          </p15:clr>
        </p15:guide>
        <p15:guide id="2" pos="20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8E0"/>
    <a:srgbClr val="66FF33"/>
    <a:srgbClr val="FFCCFF"/>
    <a:srgbClr val="66FFFF"/>
    <a:srgbClr val="CCECFF"/>
    <a:srgbClr val="FFFF99"/>
    <a:srgbClr val="FFFF00"/>
    <a:srgbClr val="FF00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28D70E-D8AA-474D-AC98-7015F529995E}" v="1" dt="2026-02-16T12:01:27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3810" y="78"/>
      </p:cViewPr>
      <p:guideLst>
        <p:guide orient="horz" pos="3000"/>
        <p:guide pos="2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57" d="100"/>
          <a:sy n="57" d="100"/>
        </p:scale>
        <p:origin x="-1882" y="-96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C777CAD2-2948-4130-A6C6-8CB11CD7CD00}"/>
    <pc:docChg chg="modHandout">
      <pc:chgData name="Stéphane JAUBERT" userId="926aeaf5-0d8d-4569-9635-338e3b4850fc" providerId="ADAL" clId="{C777CAD2-2948-4130-A6C6-8CB11CD7CD00}" dt="2026-02-16T12:01:27.381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95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717" y="0"/>
            <a:ext cx="294495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495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717" y="9429750"/>
            <a:ext cx="294495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CB946F2-D741-4BE8-B3B8-28B9DAB7625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478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85775" y="2959100"/>
            <a:ext cx="5505450" cy="20415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550" y="5397500"/>
            <a:ext cx="4533900" cy="24336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8057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850" y="381000"/>
            <a:ext cx="5829300" cy="1587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850" y="2222500"/>
            <a:ext cx="5829300" cy="6286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2502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175" y="6121400"/>
            <a:ext cx="5505450" cy="18907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1175" y="4037013"/>
            <a:ext cx="5505450" cy="20843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96722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850" y="381000"/>
            <a:ext cx="5829300" cy="1587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3850" y="2222500"/>
            <a:ext cx="2838450" cy="62865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14700" y="2222500"/>
            <a:ext cx="2838450" cy="62865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7385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850" y="381000"/>
            <a:ext cx="5829300" cy="1587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3850" y="2132013"/>
            <a:ext cx="2862263" cy="889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3850" y="3021013"/>
            <a:ext cx="2862263" cy="548798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290888" y="2132013"/>
            <a:ext cx="2862262" cy="889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290888" y="3021013"/>
            <a:ext cx="2862262" cy="548798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2318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850" y="381000"/>
            <a:ext cx="5829300" cy="1587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6560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4A96D64-0132-4748-9824-4F4CD0C1D7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300" y="93379"/>
            <a:ext cx="6248400" cy="9241122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Box 55">
            <a:extLst>
              <a:ext uri="{FF2B5EF4-FFF2-40B4-BE49-F238E27FC236}">
                <a16:creationId xmlns:a16="http://schemas.microsoft.com/office/drawing/2014/main" id="{953385BE-94B6-4C5B-A5B0-CE13466D6B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84" y="9316914"/>
            <a:ext cx="200567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fr-F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Puissance 7® - Un jeu du CIPE - www.CIPE.fr</a:t>
            </a:r>
            <a:endParaRPr lang="sk-SK" altLang="fr-FR" sz="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Box 56">
            <a:extLst>
              <a:ext uri="{FF2B5EF4-FFF2-40B4-BE49-F238E27FC236}">
                <a16:creationId xmlns:a16="http://schemas.microsoft.com/office/drawing/2014/main" id="{CD686BA6-09C7-4D29-9703-7ADDCDCE83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300" y="93379"/>
            <a:ext cx="2667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defRPr/>
            </a:pPr>
            <a:r>
              <a:rPr lang="fr-FR" altLang="fr-FR" sz="1400" b="0" i="1" cap="small" baseline="0" dirty="0">
                <a:solidFill>
                  <a:srgbClr val="27A8E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Éléments de correction</a:t>
            </a:r>
            <a:endParaRPr lang="sk-SK" altLang="fr-FR" sz="1400" b="0" i="1" cap="small" baseline="0" dirty="0">
              <a:solidFill>
                <a:srgbClr val="27A8E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42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850" y="379413"/>
            <a:ext cx="2130425" cy="16144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32063" y="379413"/>
            <a:ext cx="3621087" cy="812958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850" y="1993900"/>
            <a:ext cx="2130425" cy="651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281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000" y="6667500"/>
            <a:ext cx="3886200" cy="787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70000" y="850900"/>
            <a:ext cx="3886200" cy="571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70000" y="7454900"/>
            <a:ext cx="3886200" cy="111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8251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850" y="381000"/>
            <a:ext cx="5829300" cy="1587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3850" y="2222500"/>
            <a:ext cx="5829300" cy="62865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3885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695825" y="381000"/>
            <a:ext cx="1457325" cy="8128000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3850" y="381000"/>
            <a:ext cx="4219575" cy="8128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6991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56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 : QQOQCP</a:t>
            </a:r>
          </a:p>
        </p:txBody>
      </p:sp>
      <p:sp>
        <p:nvSpPr>
          <p:cNvPr id="2051" name="Text Box 566"/>
          <p:cNvSpPr txBox="1">
            <a:spLocks noChangeArrowheads="1"/>
          </p:cNvSpPr>
          <p:nvPr/>
        </p:nvSpPr>
        <p:spPr bwMode="auto">
          <a:xfrm>
            <a:off x="457200" y="1905000"/>
            <a:ext cx="55626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488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Qui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est concerné par le problème 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revendeurs, les chauffeurs, le chef de quai, la Direction Commerciale Seine-et-Marne, le service préparation des ordres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 livraison, le groupe PERFORMANCE, la Direction Générale.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Quoi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– Quelles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sont les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difficultés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?</a:t>
            </a: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réclamations clients,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l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 anomalies de livraison.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Où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difficultés se produisent-elles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tournées Seine-et-Marne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.</a:t>
            </a:r>
          </a:p>
          <a:p>
            <a:pPr eaLnBrk="1" hangingPunct="1"/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Quand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difficultés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sont-elles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appar</a:t>
            </a:r>
            <a:r>
              <a:rPr lang="fr-FR" altLang="fr-F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ues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Durant les 8 dernières semaines.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Comment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est-on au courant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du problème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Par les bordereaux de livraison rendus par les chauffeurs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.</a:t>
            </a:r>
          </a:p>
          <a:p>
            <a:pPr eaLnBrk="1" hangingPunct="1"/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Pourquoi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y a-t-il une action à entreprendre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pour résoudre ce problème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(Pourquoi ce problème mérite-t-il qu'on s'y intéresse ?)</a:t>
            </a: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Parce que notre responsabilité consiste à trouver une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solution dans le cadre de « La politique d'amélioration service client ».</a:t>
            </a:r>
          </a:p>
          <a:p>
            <a:pPr lvl="1" eaLnBrk="1" hangingPunct="1"/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E0F023E-A0BF-4242-9D5F-7D28B9F7E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14981" y="2435624"/>
            <a:ext cx="8886689" cy="4840072"/>
          </a:xfrm>
          <a:prstGeom prst="rect">
            <a:avLst/>
          </a:prstGeom>
        </p:spPr>
      </p:pic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2 : FEUILLE DE RELEVES</a:t>
            </a:r>
          </a:p>
        </p:txBody>
      </p:sp>
      <p:sp>
        <p:nvSpPr>
          <p:cNvPr id="3077" name="Rectangle 316"/>
          <p:cNvSpPr>
            <a:spLocks noChangeArrowheads="1"/>
          </p:cNvSpPr>
          <p:nvPr/>
        </p:nvSpPr>
        <p:spPr bwMode="auto">
          <a:xfrm rot="-5400000">
            <a:off x="-1859318" y="4775626"/>
            <a:ext cx="52659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Informations objet du relevé (défaut, anomalie, …) : 	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anomalies de livraison</a:t>
            </a:r>
          </a:p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Unités de mesure (fréquence, longueur, durée, …) : 	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semaines</a:t>
            </a:r>
          </a:p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ou Attribut (bon, mauvais, …) : 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Critères de classement des attributs : 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2 : GRAPHIQUE</a:t>
            </a: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 rot="-5400000">
            <a:off x="1630219" y="4784966"/>
            <a:ext cx="7924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Conclusion pour la représentation obtenue :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l'anomalie "client fermé au passage" se produit de façon fréquente et régulière sur la tournée 12.</a:t>
            </a:r>
          </a:p>
          <a:p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Date : </a:t>
            </a:r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36BFC491-FEE1-4B0D-8E32-DE066F19C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344082" y="2936370"/>
            <a:ext cx="8180095" cy="434352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3 : PARETO</a:t>
            </a:r>
          </a:p>
        </p:txBody>
      </p:sp>
      <p:pic>
        <p:nvPicPr>
          <p:cNvPr id="70" name="Image 69">
            <a:extLst>
              <a:ext uri="{FF2B5EF4-FFF2-40B4-BE49-F238E27FC236}">
                <a16:creationId xmlns:a16="http://schemas.microsoft.com/office/drawing/2014/main" id="{773EC6ED-F2AF-4F4C-B8A6-8A9378F5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6782" y="2834491"/>
            <a:ext cx="8330564" cy="451221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3 : PARETO</a:t>
            </a:r>
          </a:p>
        </p:txBody>
      </p:sp>
      <p:sp>
        <p:nvSpPr>
          <p:cNvPr id="6150" name="Rectangle 440"/>
          <p:cNvSpPr>
            <a:spLocks noChangeArrowheads="1"/>
          </p:cNvSpPr>
          <p:nvPr/>
        </p:nvSpPr>
        <p:spPr bwMode="auto">
          <a:xfrm>
            <a:off x="851478" y="3653404"/>
            <a:ext cx="2532425" cy="311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fr-FR" altLang="fr-FR" sz="1200" i="1" dirty="0">
                <a:solidFill>
                  <a:srgbClr val="000000"/>
                </a:solidFill>
                <a:latin typeface="Calibri" panose="020F0502020204030204" pitchFamily="34" charset="0"/>
                <a:cs typeface="Times New Roman" pitchFamily="18" charset="0"/>
              </a:rPr>
              <a:t>Corrigé diagramme de Pareto - Coûts</a:t>
            </a:r>
            <a:r>
              <a:rPr lang="sk-SK" altLang="fr-FR" sz="1200" i="1" dirty="0">
                <a:solidFill>
                  <a:srgbClr val="000000"/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endParaRPr lang="fr-FR" altLang="fr-FR" sz="1200" i="1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6151" name="Rectangle 441"/>
          <p:cNvSpPr>
            <a:spLocks noChangeArrowheads="1"/>
          </p:cNvSpPr>
          <p:nvPr/>
        </p:nvSpPr>
        <p:spPr bwMode="auto">
          <a:xfrm>
            <a:off x="851478" y="6656216"/>
            <a:ext cx="3674467" cy="311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fr-FR" altLang="fr-FR" sz="1200" i="1" dirty="0">
                <a:solidFill>
                  <a:srgbClr val="000000"/>
                </a:solidFill>
                <a:latin typeface="Calibri" panose="020F0502020204030204" pitchFamily="34" charset="0"/>
                <a:cs typeface="Times New Roman" pitchFamily="18" charset="0"/>
              </a:rPr>
              <a:t>Corrigé diagramme de Pareto - Clients fermés/Tournées</a:t>
            </a:r>
            <a:r>
              <a:rPr lang="sk-SK" altLang="fr-FR" sz="1200" i="1" dirty="0">
                <a:solidFill>
                  <a:srgbClr val="000000"/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endParaRPr lang="fr-FR" altLang="fr-FR" sz="1200" i="1" dirty="0">
              <a:solidFill>
                <a:srgbClr val="000000"/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graphicFrame>
        <p:nvGraphicFramePr>
          <p:cNvPr id="65" name="Tableau 3">
            <a:extLst>
              <a:ext uri="{FF2B5EF4-FFF2-40B4-BE49-F238E27FC236}">
                <a16:creationId xmlns:a16="http://schemas.microsoft.com/office/drawing/2014/main" id="{8BCAB762-ABE2-4C42-B45A-CB95D227E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8969"/>
              </p:ext>
            </p:extLst>
          </p:nvPr>
        </p:nvGraphicFramePr>
        <p:xfrm>
          <a:off x="934244" y="1001922"/>
          <a:ext cx="4654804" cy="23924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4149483121"/>
                    </a:ext>
                  </a:extLst>
                </a:gridCol>
                <a:gridCol w="2451227">
                  <a:extLst>
                    <a:ext uri="{9D8B030D-6E8A-4147-A177-3AD203B41FA5}">
                      <a16:colId xmlns:a16="http://schemas.microsoft.com/office/drawing/2014/main" val="3025170753"/>
                    </a:ext>
                  </a:extLst>
                </a:gridCol>
                <a:gridCol w="964692">
                  <a:extLst>
                    <a:ext uri="{9D8B030D-6E8A-4147-A177-3AD203B41FA5}">
                      <a16:colId xmlns:a16="http://schemas.microsoft.com/office/drawing/2014/main" val="268067687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809477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Catégorie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86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 fermé au passage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Véhicule plein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F.C. manquante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Affecté par erreur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Adresse inconnue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4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28732"/>
                  </a:ext>
                </a:extLst>
              </a:tr>
            </a:tbl>
          </a:graphicData>
        </a:graphic>
      </p:graphicFrame>
      <p:graphicFrame>
        <p:nvGraphicFramePr>
          <p:cNvPr id="66" name="Tableau 3">
            <a:extLst>
              <a:ext uri="{FF2B5EF4-FFF2-40B4-BE49-F238E27FC236}">
                <a16:creationId xmlns:a16="http://schemas.microsoft.com/office/drawing/2014/main" id="{CD871269-999A-422B-BBDA-F9114AE10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063040"/>
              </p:ext>
            </p:extLst>
          </p:nvPr>
        </p:nvGraphicFramePr>
        <p:xfrm>
          <a:off x="934244" y="4004734"/>
          <a:ext cx="4298760" cy="23924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9605">
                  <a:extLst>
                    <a:ext uri="{9D8B030D-6E8A-4147-A177-3AD203B41FA5}">
                      <a16:colId xmlns:a16="http://schemas.microsoft.com/office/drawing/2014/main" val="4149483121"/>
                    </a:ext>
                  </a:extLst>
                </a:gridCol>
                <a:gridCol w="2191893">
                  <a:extLst>
                    <a:ext uri="{9D8B030D-6E8A-4147-A177-3AD203B41FA5}">
                      <a16:colId xmlns:a16="http://schemas.microsoft.com/office/drawing/2014/main" val="3025170753"/>
                    </a:ext>
                  </a:extLst>
                </a:gridCol>
                <a:gridCol w="918782">
                  <a:extLst>
                    <a:ext uri="{9D8B030D-6E8A-4147-A177-3AD203B41FA5}">
                      <a16:colId xmlns:a16="http://schemas.microsoft.com/office/drawing/2014/main" val="268067687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809477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Catégorie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86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 fermé au passage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F.C. manquante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Affecté par erreur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Adresse inconnue</a:t>
                      </a: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Véhicule plein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3 600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840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720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500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280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4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5 940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28732"/>
                  </a:ext>
                </a:extLst>
              </a:tr>
            </a:tbl>
          </a:graphicData>
        </a:graphic>
      </p:graphicFrame>
      <p:graphicFrame>
        <p:nvGraphicFramePr>
          <p:cNvPr id="67" name="Tableau 3">
            <a:extLst>
              <a:ext uri="{FF2B5EF4-FFF2-40B4-BE49-F238E27FC236}">
                <a16:creationId xmlns:a16="http://schemas.microsoft.com/office/drawing/2014/main" id="{389BF499-8A00-41C3-B8EA-307882F2E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689799"/>
              </p:ext>
            </p:extLst>
          </p:nvPr>
        </p:nvGraphicFramePr>
        <p:xfrm>
          <a:off x="934244" y="7007546"/>
          <a:ext cx="3139060" cy="207543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9605">
                  <a:extLst>
                    <a:ext uri="{9D8B030D-6E8A-4147-A177-3AD203B41FA5}">
                      <a16:colId xmlns:a16="http://schemas.microsoft.com/office/drawing/2014/main" val="4149483121"/>
                    </a:ext>
                  </a:extLst>
                </a:gridCol>
                <a:gridCol w="1032193">
                  <a:extLst>
                    <a:ext uri="{9D8B030D-6E8A-4147-A177-3AD203B41FA5}">
                      <a16:colId xmlns:a16="http://schemas.microsoft.com/office/drawing/2014/main" val="3025170753"/>
                    </a:ext>
                  </a:extLst>
                </a:gridCol>
                <a:gridCol w="918782">
                  <a:extLst>
                    <a:ext uri="{9D8B030D-6E8A-4147-A177-3AD203B41FA5}">
                      <a16:colId xmlns:a16="http://schemas.microsoft.com/office/drawing/2014/main" val="268067687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809477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Catégorie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Nombre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27A8E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86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 12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 15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 5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 9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53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  <a:p>
                      <a:pPr algn="ctr" eaLnBrk="1" hangingPunct="1">
                        <a:lnSpc>
                          <a:spcPct val="130000"/>
                        </a:lnSpc>
                      </a:pPr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4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fr-FR" sz="16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  <a:endParaRPr lang="fr-FR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2873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4 : QQOQCP</a:t>
            </a:r>
          </a:p>
        </p:txBody>
      </p:sp>
      <p:sp>
        <p:nvSpPr>
          <p:cNvPr id="7171" name="Text Box 6"/>
          <p:cNvSpPr txBox="1">
            <a:spLocks noChangeArrowheads="1"/>
          </p:cNvSpPr>
          <p:nvPr/>
        </p:nvSpPr>
        <p:spPr bwMode="auto">
          <a:xfrm>
            <a:off x="454025" y="1752600"/>
            <a:ext cx="5565775" cy="727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Qui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est concerné par l'objectif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?</a:t>
            </a:r>
          </a:p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revendeurs, les chauffeurs, le chef de quai, la Direction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Commerciale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Seine-et-Marne, le service préparation des ordres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;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 livraison, le groupe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PERFORMANCE, la Direction Générale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Quoi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quelles anomalies veut-on supprimer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171450" indent="-171450" eaLnBrk="1" hangingPunct="1">
              <a:lnSpc>
                <a:spcPct val="130000"/>
              </a:lnSpc>
              <a:buFontTx/>
              <a:buChar char="-"/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Prioritairement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"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clients fermés au passage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" ; l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 autres anomalies en second lieu.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171450" indent="-171450" eaLnBrk="1" hangingPunct="1">
              <a:lnSpc>
                <a:spcPct val="130000"/>
              </a:lnSpc>
              <a:buFontTx/>
              <a:buChar char="-"/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Dans les tournées 15, 5 et 9 on constate une moyenne d'environ 6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anomalies sur 8 semaines. Ce niveau pourrait être visé dans un premier temps pour la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tournée 12.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171450" indent="-171450" eaLnBrk="1" hangingPunct="1">
              <a:lnSpc>
                <a:spcPct val="130000"/>
              </a:lnSpc>
              <a:buFontTx/>
              <a:buChar char="-"/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Par ailleurs, dans l'ensemble des tournées pour l'ensemble des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anomalies, la suppression de 50 % des incidents constituerait un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objectif significatif.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Où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anomalies doivent-elles être supprimées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Prioritairement dans la tournée 12 pour les clients fermés au passe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Quand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résultat doit-il être atteint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Par exemple, sous 4 semaines pour la tournée 12 (clients fermés au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passage)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et 3 mois pour l'objectif de 50% de diminution sur l'ensemble des tournées et des anomalies.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Comment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arriver au résultat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En appliquant la méthode de résolution de problème.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Pourquoi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intervenir prioritairement sur la tournée 12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Parce que l'anomalie clients fermés au passage dans la tournée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12 représente plus de 30 % de l'ensemble des anomalies.</a:t>
            </a:r>
          </a:p>
          <a:p>
            <a:pPr eaLnBrk="1" hangingPunct="1">
              <a:lnSpc>
                <a:spcPct val="13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6 : DIAGRAMME CAUSES-EFFET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296863" y="1231900"/>
            <a:ext cx="5883275" cy="775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3675" indent="-19367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On a choisi d'utiliser les cinq classes habituelles (5M)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Matière (objet du processus de livraison)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Fiche colis difficilement exploitable par le chauffeur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b/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Bordereaux de livraison (non exploitables par le chauffeur)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Enveloppe pour fiches et bordereaux (non exploitables par le chauffeur)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Colis de petites dimensions perdus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Adresse illisible sur les documents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Machine (exploitée pour le processus de livraison)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f/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Véhicules de livraison en mauvais état (mal entretenus)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g/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Véhicules sous dimensionnés suite à l'augmentation des livraison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h/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Ordinateur (établissement des documents) défaillant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Milieu (dans lequel le processus de livraison s'accomplit)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Difficultés de circulation sur certains itinéraires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j/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Limitations de la vitesse de circulation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k/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Horaires de fermeture non respectés par les clients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I/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Accès ou déchargement chez certains clients devenus difficiles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Méthode (utilisée pour le processus de livraison)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chauffeur a trop de papiers à manipuler et les égare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Manque de fiabilité dans l'établissement ou la transmission des documents au chauffeur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Mauvaise conception des tournées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Mauvaise organisation du quai de chargement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Manque d'efficacité de communication chauffeurs/service prépara</a:t>
            </a:r>
            <a:r>
              <a:rPr lang="fr-FR" altLang="fr-F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tion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r/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Manque d'efficacité de la procédure de traitement des réclamation clients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Manque d'efficacité du système qualité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Main d'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œuvre</a:t>
            </a: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(mettant en oeuvre le processus de livraison)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t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/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Chauffeurs mal informés de leur tournée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u/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Problème personnel d'un chauffeur (remplacement, ...)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v/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Manque de conscience professionnelle d'un chauffeur</a:t>
            </a:r>
          </a:p>
          <a:p>
            <a:pPr eaLnBrk="1" hangingPunct="1">
              <a:lnSpc>
                <a:spcPct val="12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w/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Qualification insuffisante du personnel (service préparation, quai de chargement)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04832" y="6924642"/>
            <a:ext cx="6043568" cy="231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Un travail d'analyse soigné doit faire apparaître au moins 2 niveaux de causes :</a:t>
            </a:r>
          </a:p>
          <a:p>
            <a:pPr marL="171450" indent="-171450" eaLnBrk="1" hangingPunct="1">
              <a:lnSpc>
                <a:spcPct val="110000"/>
              </a:lnSpc>
              <a:buFontTx/>
              <a:buChar char="-"/>
            </a:pP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causes apparentes, c'est-à-dire celles qui influent visiblement sur l'effet,</a:t>
            </a:r>
            <a:endParaRPr lang="fr-FR" altLang="fr-FR" sz="11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171450" indent="-171450" eaLnBrk="1" hangingPunct="1">
              <a:lnSpc>
                <a:spcPct val="110000"/>
              </a:lnSpc>
              <a:buFontTx/>
              <a:buChar char="-"/>
            </a:pP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causes latentes, qui ne sont pas 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 suite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évidentes mais qui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provoquent la répétition chronique.</a:t>
            </a:r>
          </a:p>
          <a:p>
            <a:pPr eaLnBrk="1" hangingPunct="1">
              <a:lnSpc>
                <a:spcPct val="110000"/>
              </a:lnSpc>
            </a:pPr>
            <a:r>
              <a:rPr lang="sk-SK" altLang="fr-F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Cause directe :</a:t>
            </a:r>
          </a:p>
          <a:p>
            <a:pPr eaLnBrk="1" hangingPunct="1">
              <a:lnSpc>
                <a:spcPct val="110000"/>
              </a:lnSpc>
            </a:pP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changement du plan de circulation à Meaux conduit le chauffeur de la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Tournée numéro 12 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à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prendre du retard les jours de marché pour pouvoir livrer « JVC Electronique » en centre ville. En conséquence il se présente fréquemment après la fermeture aux établissements Carrefour et Renaud.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plan de Ia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Tournée n° 12 n'est plus adapté aux conditions de circulation.</a:t>
            </a:r>
          </a:p>
          <a:p>
            <a:pPr eaLnBrk="1" hangingPunct="1">
              <a:lnSpc>
                <a:spcPct val="110000"/>
              </a:lnSpc>
            </a:pPr>
            <a:r>
              <a:rPr lang="sk-SK" altLang="fr-F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Cause indirect</a:t>
            </a:r>
            <a:r>
              <a:rPr lang="fr-FR" altLang="fr-F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e :</a:t>
            </a:r>
            <a:endParaRPr lang="sk-SK" altLang="fr-FR" sz="11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 eaLnBrk="1" hangingPunct="1">
              <a:lnSpc>
                <a:spcPct val="110000"/>
              </a:lnSpc>
              <a:buFontTx/>
              <a:buChar char="-"/>
            </a:pP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manque de régularité du chauffeur dans la remise des bons émargés rend</a:t>
            </a:r>
            <a:r>
              <a:rPr lang="fr-FR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difficile la détection des anomalies de livraison.</a:t>
            </a:r>
            <a:endParaRPr lang="fr-FR" altLang="fr-FR" sz="11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171450" indent="-171450" eaLnBrk="1" hangingPunct="1">
              <a:lnSpc>
                <a:spcPct val="110000"/>
              </a:lnSpc>
              <a:buFontTx/>
              <a:buChar char="-"/>
            </a:pPr>
            <a:r>
              <a:rPr lang="sk-SK" altLang="fr-F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II n'y a pas chez DISTRIMAX de système efficace de traitement anomalies.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7 : MATRICE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0156E1F-16B3-4030-87CB-B63DF1517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624879"/>
              </p:ext>
            </p:extLst>
          </p:nvPr>
        </p:nvGraphicFramePr>
        <p:xfrm>
          <a:off x="204832" y="802060"/>
          <a:ext cx="6067336" cy="6073200"/>
        </p:xfrm>
        <a:graphic>
          <a:graphicData uri="http://schemas.openxmlformats.org/drawingml/2006/table">
            <a:tbl>
              <a:tblPr/>
              <a:tblGrid>
                <a:gridCol w="249635">
                  <a:extLst>
                    <a:ext uri="{9D8B030D-6E8A-4147-A177-3AD203B41FA5}">
                      <a16:colId xmlns:a16="http://schemas.microsoft.com/office/drawing/2014/main" val="2772909499"/>
                    </a:ext>
                  </a:extLst>
                </a:gridCol>
                <a:gridCol w="3993059">
                  <a:extLst>
                    <a:ext uri="{9D8B030D-6E8A-4147-A177-3AD203B41FA5}">
                      <a16:colId xmlns:a16="http://schemas.microsoft.com/office/drawing/2014/main" val="434600955"/>
                    </a:ext>
                  </a:extLst>
                </a:gridCol>
                <a:gridCol w="608214">
                  <a:extLst>
                    <a:ext uri="{9D8B030D-6E8A-4147-A177-3AD203B41FA5}">
                      <a16:colId xmlns:a16="http://schemas.microsoft.com/office/drawing/2014/main" val="4155006345"/>
                    </a:ext>
                  </a:extLst>
                </a:gridCol>
                <a:gridCol w="608214">
                  <a:extLst>
                    <a:ext uri="{9D8B030D-6E8A-4147-A177-3AD203B41FA5}">
                      <a16:colId xmlns:a16="http://schemas.microsoft.com/office/drawing/2014/main" val="2787661066"/>
                    </a:ext>
                  </a:extLst>
                </a:gridCol>
                <a:gridCol w="608214">
                  <a:extLst>
                    <a:ext uri="{9D8B030D-6E8A-4147-A177-3AD203B41FA5}">
                      <a16:colId xmlns:a16="http://schemas.microsoft.com/office/drawing/2014/main" val="548872698"/>
                    </a:ext>
                  </a:extLst>
                </a:gridCol>
              </a:tblGrid>
              <a:tr h="18361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SANS</a:t>
                      </a:r>
                      <a:b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influence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Influence DIRECTE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Influence INDIRECTE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690217"/>
                  </a:ext>
                </a:extLst>
              </a:tr>
              <a:tr h="10150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Matière (objet du processus de livraison)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9" marR="2849" marT="28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7007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Fiche colis difficilement exploitable par le chauffeur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284830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Bordereaux de livraison (non exploitables par le chauffeur)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481670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Enveloppe pour fiches et bordereaux (non exploitables par le chauffeur)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81915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Colis de petites dimensions perdus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165653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Adresse illisible sur les documents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532853"/>
                  </a:ext>
                </a:extLst>
              </a:tr>
              <a:tr h="10150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(exploitée pour le processus de livraison)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9" marR="2849" marT="28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94744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de livraison en mauvais état (mal entretenus)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70417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Véhicules sous dimensionnés suite à l'augmentation des livraisons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135549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Ordinateur (établissement des documents) défaillant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784951"/>
                  </a:ext>
                </a:extLst>
              </a:tr>
              <a:tr h="10150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Milieu (dans lequel le processus de livraison s'accomplit)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9" marR="2849" marT="28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67646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Difficultés de circulation sur certains itinéraires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81012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Limitations de la vitesse de circulation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637064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Horaires de fermeture non respectés par les clients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008361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I/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Accès ou déchargement chez certains clients devenus difficiles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385325"/>
                  </a:ext>
                </a:extLst>
              </a:tr>
              <a:tr h="10150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 (utilisée pour le processus de livraison)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9" marR="2849" marT="28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09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chauffeur a trop de papiers à manipuler et les égare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03947"/>
                  </a:ext>
                </a:extLst>
              </a:tr>
              <a:tr h="183612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fiabilité dans l'établissement ou la transmission des documents au chauffeur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058348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conception des tournées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867394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Mauvaise organisation du quai de chargement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195521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communication chauffeurs / service préparation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08042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de la procédure de traitement des réclamation clients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07019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d'efficacité du système qualité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311627"/>
                  </a:ext>
                </a:extLst>
              </a:tr>
              <a:tr h="18361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 d'œuvre (mettant en œuvre le processus de livraison)</a:t>
                      </a:r>
                    </a:p>
                    <a:p>
                      <a:pPr algn="l" fontAlgn="b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fr-FR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49" marR="2849" marT="28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181476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Chauffeurs mal informés de leur tournée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221775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Problème personnel d'un chauffeur (remplacement, ...)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951535"/>
                  </a:ext>
                </a:extLst>
              </a:tr>
              <a:tr h="10150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Manque de conscience professionnelle d'un chauffeur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9689"/>
                  </a:ext>
                </a:extLst>
              </a:tr>
              <a:tr h="183612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Qualification insuffisante du personnel (service préparation, quai de chargement)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0612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>
            <a:extLst>
              <a:ext uri="{FF2B5EF4-FFF2-40B4-BE49-F238E27FC236}">
                <a16:creationId xmlns:a16="http://schemas.microsoft.com/office/drawing/2014/main" id="{84524B4F-88CA-48C2-BE77-1729EA8A5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5" y="1450132"/>
            <a:ext cx="5577631" cy="732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74688"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  <a:tab pos="850900" algn="l"/>
                <a:tab pos="10541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65000"/>
              </a:lnSpc>
            </a:pPr>
            <a:r>
              <a:rPr lang="fr-FR" altLang="fr-FR" sz="1400" b="1" i="1" u="sng" dirty="0">
                <a:solidFill>
                  <a:srgbClr val="27A8E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a-t-on eu ce problème ?</a:t>
            </a:r>
          </a:p>
          <a:p>
            <a:pPr algn="just">
              <a:lnSpc>
                <a:spcPct val="165000"/>
              </a:lnSpc>
            </a:pPr>
            <a:r>
              <a:rPr lang="fr-FR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Les colis ne sont pas livrés : </a:t>
            </a:r>
            <a:endParaRPr lang="fr-FR" altLang="fr-FR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1.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Car les clients sont fermés au passage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2.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le camion arrive après l'heure de fermeture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3.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le camion rencontre des difficultés de circulation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	4.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il y a une déviation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		5.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il y a un marché à Meaux, bloquant le centre ville</a:t>
            </a:r>
          </a:p>
          <a:p>
            <a:pPr algn="just">
              <a:lnSpc>
                <a:spcPct val="165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5000"/>
              </a:lnSpc>
            </a:pPr>
            <a:r>
              <a:rPr lang="fr-FR" altLang="fr-FR" sz="1400" b="1" i="1" u="sng" dirty="0">
                <a:solidFill>
                  <a:srgbClr val="27A8E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ce problème n'a pas été détecté</a:t>
            </a:r>
            <a:r>
              <a:rPr lang="fr-FR" altLang="fr-FR" sz="1400" b="1" i="1" dirty="0">
                <a:solidFill>
                  <a:srgbClr val="27A8E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?</a:t>
            </a:r>
          </a:p>
          <a:p>
            <a:pPr algn="just">
              <a:lnSpc>
                <a:spcPct val="165000"/>
              </a:lnSpc>
            </a:pPr>
            <a:r>
              <a:rPr lang="fr-FR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Distrimax ne sait pas que des colis ne sont pas livrés : 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1.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Car les bons émargés ne reviennent pas régulièrement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2.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les chauffeurs ne les donnent pas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3.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les chauffeurs ne sont pas formés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	4.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il n'y a pas de plan de formation sur ce sujet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		5.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Distrimax n'a pas de système qualité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5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5000"/>
              </a:lnSpc>
            </a:pPr>
            <a:r>
              <a:rPr lang="fr-FR" altLang="fr-FR" sz="1400" b="1" i="1" u="sng" dirty="0">
                <a:solidFill>
                  <a:srgbClr val="27A8E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le système n'a pas prévenu le problème</a:t>
            </a:r>
            <a:r>
              <a:rPr lang="fr-FR" altLang="fr-FR" sz="1400" b="1" i="1" dirty="0">
                <a:solidFill>
                  <a:srgbClr val="27A8E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?</a:t>
            </a:r>
          </a:p>
          <a:p>
            <a:pPr algn="just">
              <a:lnSpc>
                <a:spcPct val="165000"/>
              </a:lnSpc>
            </a:pPr>
            <a:r>
              <a:rPr lang="fr-FR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Distrimax n'a pas prévu le problème avant qu'il n'arrive : 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1.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Car les problèmes de circulation n'étaient pas connus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2.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les trajets des tournées ne sont pas analysés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3.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Distrimax ne le souhaite pas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	4.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 cela engendrerait des coûts énormes</a:t>
            </a:r>
          </a:p>
          <a:p>
            <a:pPr algn="just">
              <a:lnSpc>
                <a:spcPct val="165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					5. 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Pourquoi ?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393DA73-C4F7-4E91-8258-C03E354BA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fr-FR" altLang="fr-FR" b="1" dirty="0">
                <a:solidFill>
                  <a:srgbClr val="27A8E0"/>
                </a:solidFill>
                <a:latin typeface="Calibri" panose="020F0502020204030204" pitchFamily="34" charset="0"/>
              </a:rPr>
              <a:t>Étape 7 : 5 POURQUOI</a:t>
            </a:r>
          </a:p>
        </p:txBody>
      </p:sp>
      <p:grpSp>
        <p:nvGrpSpPr>
          <p:cNvPr id="94236" name="Group 28">
            <a:extLst>
              <a:ext uri="{FF2B5EF4-FFF2-40B4-BE49-F238E27FC236}">
                <a16:creationId xmlns:a16="http://schemas.microsoft.com/office/drawing/2014/main" id="{3D318E2B-0749-4FC7-8833-0063AC648E42}"/>
              </a:ext>
            </a:extLst>
          </p:cNvPr>
          <p:cNvGrpSpPr>
            <a:grpSpLocks/>
          </p:cNvGrpSpPr>
          <p:nvPr/>
        </p:nvGrpSpPr>
        <p:grpSpPr bwMode="auto">
          <a:xfrm>
            <a:off x="897190" y="2470895"/>
            <a:ext cx="796925" cy="1125537"/>
            <a:chOff x="350" y="1461"/>
            <a:chExt cx="502" cy="709"/>
          </a:xfrm>
        </p:grpSpPr>
        <p:sp>
          <p:nvSpPr>
            <p:cNvPr id="94220" name="Freeform 12">
              <a:extLst>
                <a:ext uri="{FF2B5EF4-FFF2-40B4-BE49-F238E27FC236}">
                  <a16:creationId xmlns:a16="http://schemas.microsoft.com/office/drawing/2014/main" id="{3E546AD4-B049-427B-B060-8A141D08C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" y="1461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22" name="Freeform 14">
              <a:extLst>
                <a:ext uri="{FF2B5EF4-FFF2-40B4-BE49-F238E27FC236}">
                  <a16:creationId xmlns:a16="http://schemas.microsoft.com/office/drawing/2014/main" id="{CB93B624-9A48-4114-96FC-1C6E443DB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" y="1651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23" name="Freeform 15">
              <a:extLst>
                <a:ext uri="{FF2B5EF4-FFF2-40B4-BE49-F238E27FC236}">
                  <a16:creationId xmlns:a16="http://schemas.microsoft.com/office/drawing/2014/main" id="{B45D414C-24AB-49CE-A420-4954AD522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1840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24" name="Freeform 16">
              <a:extLst>
                <a:ext uri="{FF2B5EF4-FFF2-40B4-BE49-F238E27FC236}">
                  <a16:creationId xmlns:a16="http://schemas.microsoft.com/office/drawing/2014/main" id="{6FA499DC-48FC-4F0B-998F-8301FEA4F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2030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4237" name="Group 29">
            <a:extLst>
              <a:ext uri="{FF2B5EF4-FFF2-40B4-BE49-F238E27FC236}">
                <a16:creationId xmlns:a16="http://schemas.microsoft.com/office/drawing/2014/main" id="{7CF19144-AA4E-40D7-AA97-905D0099282C}"/>
              </a:ext>
            </a:extLst>
          </p:cNvPr>
          <p:cNvGrpSpPr>
            <a:grpSpLocks/>
          </p:cNvGrpSpPr>
          <p:nvPr/>
        </p:nvGrpSpPr>
        <p:grpSpPr bwMode="auto">
          <a:xfrm>
            <a:off x="897190" y="4977557"/>
            <a:ext cx="796925" cy="1125538"/>
            <a:chOff x="350" y="3040"/>
            <a:chExt cx="502" cy="709"/>
          </a:xfrm>
        </p:grpSpPr>
        <p:sp>
          <p:nvSpPr>
            <p:cNvPr id="94227" name="Freeform 19">
              <a:extLst>
                <a:ext uri="{FF2B5EF4-FFF2-40B4-BE49-F238E27FC236}">
                  <a16:creationId xmlns:a16="http://schemas.microsoft.com/office/drawing/2014/main" id="{18D7D88F-089D-4936-BB54-4148797B0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" y="3040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28" name="Freeform 20">
              <a:extLst>
                <a:ext uri="{FF2B5EF4-FFF2-40B4-BE49-F238E27FC236}">
                  <a16:creationId xmlns:a16="http://schemas.microsoft.com/office/drawing/2014/main" id="{543996E8-476A-4CAF-AA48-75759D55E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" y="3230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29" name="Freeform 21">
              <a:extLst>
                <a:ext uri="{FF2B5EF4-FFF2-40B4-BE49-F238E27FC236}">
                  <a16:creationId xmlns:a16="http://schemas.microsoft.com/office/drawing/2014/main" id="{D050CD8F-CFEB-45F3-AA4F-AEB93BDA0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3419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30" name="Freeform 22">
              <a:extLst>
                <a:ext uri="{FF2B5EF4-FFF2-40B4-BE49-F238E27FC236}">
                  <a16:creationId xmlns:a16="http://schemas.microsoft.com/office/drawing/2014/main" id="{1FC4137F-E7FE-487E-95C2-411B9844C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3609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4238" name="Group 30">
            <a:extLst>
              <a:ext uri="{FF2B5EF4-FFF2-40B4-BE49-F238E27FC236}">
                <a16:creationId xmlns:a16="http://schemas.microsoft.com/office/drawing/2014/main" id="{A00C2840-D522-4797-95ED-E4E07B24EC4C}"/>
              </a:ext>
            </a:extLst>
          </p:cNvPr>
          <p:cNvGrpSpPr>
            <a:grpSpLocks/>
          </p:cNvGrpSpPr>
          <p:nvPr/>
        </p:nvGrpSpPr>
        <p:grpSpPr bwMode="auto">
          <a:xfrm>
            <a:off x="897190" y="7492157"/>
            <a:ext cx="796925" cy="1125538"/>
            <a:chOff x="350" y="4624"/>
            <a:chExt cx="502" cy="709"/>
          </a:xfrm>
        </p:grpSpPr>
        <p:sp>
          <p:nvSpPr>
            <p:cNvPr id="94232" name="Freeform 24">
              <a:extLst>
                <a:ext uri="{FF2B5EF4-FFF2-40B4-BE49-F238E27FC236}">
                  <a16:creationId xmlns:a16="http://schemas.microsoft.com/office/drawing/2014/main" id="{374A4CBB-24D7-4124-B3FD-48237476D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" y="4624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33" name="Freeform 25">
              <a:extLst>
                <a:ext uri="{FF2B5EF4-FFF2-40B4-BE49-F238E27FC236}">
                  <a16:creationId xmlns:a16="http://schemas.microsoft.com/office/drawing/2014/main" id="{B3EA9098-8281-4400-9EF7-F275332A5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" y="4814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34" name="Freeform 26">
              <a:extLst>
                <a:ext uri="{FF2B5EF4-FFF2-40B4-BE49-F238E27FC236}">
                  <a16:creationId xmlns:a16="http://schemas.microsoft.com/office/drawing/2014/main" id="{42642481-4585-4C46-8ABF-1438F2B0F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5003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  <p:sp>
          <p:nvSpPr>
            <p:cNvPr id="94235" name="Freeform 27">
              <a:extLst>
                <a:ext uri="{FF2B5EF4-FFF2-40B4-BE49-F238E27FC236}">
                  <a16:creationId xmlns:a16="http://schemas.microsoft.com/office/drawing/2014/main" id="{96CA0832-E1F9-4E56-A4C1-5119C3CD0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" y="5193"/>
              <a:ext cx="74" cy="140"/>
            </a:xfrm>
            <a:custGeom>
              <a:avLst/>
              <a:gdLst>
                <a:gd name="T0" fmla="*/ 0 w 96"/>
                <a:gd name="T1" fmla="*/ 0 h 192"/>
                <a:gd name="T2" fmla="*/ 0 w 96"/>
                <a:gd name="T3" fmla="*/ 192 h 192"/>
                <a:gd name="T4" fmla="*/ 96 w 96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0" y="192"/>
                  </a:lnTo>
                  <a:lnTo>
                    <a:pt x="96" y="192"/>
                  </a:lnTo>
                </a:path>
              </a:pathLst>
            </a:custGeom>
            <a:noFill/>
            <a:ln w="19050" cmpd="sng">
              <a:solidFill>
                <a:srgbClr val="27A8E0"/>
              </a:solidFill>
              <a:round/>
              <a:headEnd type="none" w="med" len="med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52400" y="1018084"/>
            <a:ext cx="6172200" cy="842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367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lang="sk-SK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</a:t>
            </a:r>
            <a:r>
              <a:rPr lang="sk-SK" altLang="fr-FR" sz="1400" b="1" dirty="0">
                <a:solidFill>
                  <a:srgbClr val="27A8E0"/>
                </a:solidFill>
                <a:latin typeface="Calibri" panose="020F0502020204030204" pitchFamily="34" charset="0"/>
                <a:cs typeface="Times New Roman" pitchFamily="18" charset="0"/>
              </a:rPr>
              <a:t>solutions correctives </a:t>
            </a:r>
            <a:r>
              <a:rPr lang="sk-SK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pouvant être préconisées :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solutions suivantes devraient être proposées par les participants au cours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du Brainstorming de l'étape 8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; l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 solutions possibles :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1/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Amélioration du plan de la Tournée n° 12: en inversant le plan de cette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tournée, les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établissements Carrefour à Claye-Souilly et Renaud à Villeparisis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ne seront plus fermés au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passage de Monsieur George. Il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sera à Meaux l'après-midi lorsque les difficultés de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circulation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des  jours de marché auront disparu et n'aura donc pas de difficulté pour livrer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JCV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Electronique.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2/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Affecter certains clients de la tournée 12 à la tournée 15 : en utilisant la "Francilienne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"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chauffeur de la tournée 15 pourrait prendre en charge Carrefour à Claye-Souilly et Renaud à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Villeparisis qui sont les clients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qui sont actuellement les plus affectés par les retards de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livraison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3/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Supprimer les livraisons à Meaux les jours de marché.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La cause "directe" (retard pris à Meaux lors des jours de marché) ayant été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éliminée de la façon indiquée, il reste que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 : 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1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/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Seules les anomalies qui lui sont imputables sont éliminées : d'ou la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nécessité d'une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solution plus complète.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2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/	L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'apparition d'une nouvelle cause similaire produira à nouveau le même problème : </a:t>
            </a:r>
            <a:b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</a:b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nécessité de dispositions préventives plus générales.</a:t>
            </a:r>
          </a:p>
          <a:p>
            <a:pPr eaLnBrk="1" hangingPunct="1">
              <a:spcBef>
                <a:spcPct val="55000"/>
              </a:spcBef>
            </a:pPr>
            <a:endParaRPr lang="fr-FR" altLang="fr-FR" sz="11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ct val="55000"/>
              </a:spcBef>
            </a:pPr>
            <a:r>
              <a:rPr lang="sk-SK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</a:t>
            </a:r>
            <a:r>
              <a:rPr lang="sk-SK" altLang="fr-FR" sz="1400" b="1" dirty="0">
                <a:solidFill>
                  <a:srgbClr val="27A8E0"/>
                </a:solidFill>
                <a:latin typeface="Calibri" panose="020F0502020204030204" pitchFamily="34" charset="0"/>
                <a:cs typeface="Times New Roman" pitchFamily="18" charset="0"/>
              </a:rPr>
              <a:t>solutions préventives </a:t>
            </a:r>
            <a:r>
              <a:rPr lang="sk-SK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pouvant Intervenir favorablement sur les</a:t>
            </a:r>
            <a:r>
              <a:rPr lang="fr-FR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points 1 et 2 peuvent être du type :</a:t>
            </a:r>
            <a:endParaRPr lang="sk-SK" altLang="fr-FR" sz="1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Meilleure standardisation des tâches des chauffeurs : leur négligence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(Monsieur George) à rendre les documents en retour de tournée sera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compensée par l'application d'une procédure d'échange des documents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 départ de tournée contre ceux de retour de la tournée précédente.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Mise en place d'un système qualité pour le traitement systématique des réclamations clients et des anomalies internes.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Mise en place de groupes de résolution de problème au sein de la Direction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Opération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-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nelle prenant en compte les difficultés des chauffeurs à communiquer leurs problèmes du fait de la nature de leur activité.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Mise en place d'un système de suggestions permettant au personnel de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communiquer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ses observations et ses idées.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Information généralisée d'indicateurs de performance du service client vers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l'ensemble du personnel.</a:t>
            </a:r>
          </a:p>
          <a:p>
            <a:pPr eaLnBrk="1" hangingPunct="1">
              <a:spcBef>
                <a:spcPct val="55000"/>
              </a:spcBef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Messages (notes affichées) de la Direction rendant compte de l'évolution de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l'activité de l'entreprise.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8 : BRAINSTORMING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85378" y="5914628"/>
            <a:ext cx="6106244" cy="265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4163" indent="-28416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Critères à privilégier pour l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'</a:t>
            </a: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action</a:t>
            </a:r>
          </a:p>
          <a:p>
            <a:pPr eaLnBrk="1" hangingPunct="1">
              <a:lnSpc>
                <a:spcPct val="14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 </a:t>
            </a:r>
          </a:p>
          <a:p>
            <a:pPr eaLnBrk="1" hangingPunct="1">
              <a:lnSpc>
                <a:spcPct val="14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critères à privilégier pour l’action doivent prendre en compte :</a:t>
            </a:r>
          </a:p>
          <a:p>
            <a:pPr eaLnBrk="1" hangingPunct="1">
              <a:lnSpc>
                <a:spcPct val="14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1-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avantages de telle ou telle solution : efficacité,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économie,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facilité de mise en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œuvre,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…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2-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La demande formulée par la Direction dans les données initiales et se référant à l’amélioration du service client(cf. «Lettre du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management»).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C’est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-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à-dire :</a:t>
            </a:r>
          </a:p>
          <a:p>
            <a:pPr eaLnBrk="1" hangingPunct="1">
              <a:lnSpc>
                <a:spcPct val="14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-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Implication large du personnel de DISTRIMAX</a:t>
            </a:r>
          </a:p>
          <a:p>
            <a:pPr eaLnBrk="1" hangingPunct="1">
              <a:lnSpc>
                <a:spcPct val="14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-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Développement des procédures garantissant la qualité du service,</a:t>
            </a:r>
          </a:p>
          <a:p>
            <a:pPr eaLnBrk="1" hangingPunct="1">
              <a:lnSpc>
                <a:spcPct val="14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-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Développement des suggestions d’amélioration (service rendu et rentabilité)</a:t>
            </a:r>
          </a:p>
          <a:p>
            <a:pPr eaLnBrk="1" hangingPunct="1">
              <a:lnSpc>
                <a:spcPct val="14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-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Responsabilité de la hiérarchie dans les actions à engager.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9 : MATRICE (vote pondéré)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D029552-D066-4A9C-880B-2268579EC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060762"/>
              </p:ext>
            </p:extLst>
          </p:nvPr>
        </p:nvGraphicFramePr>
        <p:xfrm>
          <a:off x="286172" y="1378124"/>
          <a:ext cx="5904656" cy="4049160"/>
        </p:xfrm>
        <a:graphic>
          <a:graphicData uri="http://schemas.openxmlformats.org/drawingml/2006/table">
            <a:tbl>
              <a:tblPr/>
              <a:tblGrid>
                <a:gridCol w="169937">
                  <a:extLst>
                    <a:ext uri="{9D8B030D-6E8A-4147-A177-3AD203B41FA5}">
                      <a16:colId xmlns:a16="http://schemas.microsoft.com/office/drawing/2014/main" val="556340519"/>
                    </a:ext>
                  </a:extLst>
                </a:gridCol>
                <a:gridCol w="80855">
                  <a:extLst>
                    <a:ext uri="{9D8B030D-6E8A-4147-A177-3AD203B41FA5}">
                      <a16:colId xmlns:a16="http://schemas.microsoft.com/office/drawing/2014/main" val="4222904404"/>
                    </a:ext>
                  </a:extLst>
                </a:gridCol>
                <a:gridCol w="2266771">
                  <a:extLst>
                    <a:ext uri="{9D8B030D-6E8A-4147-A177-3AD203B41FA5}">
                      <a16:colId xmlns:a16="http://schemas.microsoft.com/office/drawing/2014/main" val="1621415000"/>
                    </a:ext>
                  </a:extLst>
                </a:gridCol>
                <a:gridCol w="450947">
                  <a:extLst>
                    <a:ext uri="{9D8B030D-6E8A-4147-A177-3AD203B41FA5}">
                      <a16:colId xmlns:a16="http://schemas.microsoft.com/office/drawing/2014/main" val="4265591804"/>
                    </a:ext>
                  </a:extLst>
                </a:gridCol>
                <a:gridCol w="450947">
                  <a:extLst>
                    <a:ext uri="{9D8B030D-6E8A-4147-A177-3AD203B41FA5}">
                      <a16:colId xmlns:a16="http://schemas.microsoft.com/office/drawing/2014/main" val="1466105360"/>
                    </a:ext>
                  </a:extLst>
                </a:gridCol>
                <a:gridCol w="450947">
                  <a:extLst>
                    <a:ext uri="{9D8B030D-6E8A-4147-A177-3AD203B41FA5}">
                      <a16:colId xmlns:a16="http://schemas.microsoft.com/office/drawing/2014/main" val="942663913"/>
                    </a:ext>
                  </a:extLst>
                </a:gridCol>
                <a:gridCol w="450947">
                  <a:extLst>
                    <a:ext uri="{9D8B030D-6E8A-4147-A177-3AD203B41FA5}">
                      <a16:colId xmlns:a16="http://schemas.microsoft.com/office/drawing/2014/main" val="4058749"/>
                    </a:ext>
                  </a:extLst>
                </a:gridCol>
                <a:gridCol w="450947">
                  <a:extLst>
                    <a:ext uri="{9D8B030D-6E8A-4147-A177-3AD203B41FA5}">
                      <a16:colId xmlns:a16="http://schemas.microsoft.com/office/drawing/2014/main" val="329449090"/>
                    </a:ext>
                  </a:extLst>
                </a:gridCol>
                <a:gridCol w="556294">
                  <a:extLst>
                    <a:ext uri="{9D8B030D-6E8A-4147-A177-3AD203B41FA5}">
                      <a16:colId xmlns:a16="http://schemas.microsoft.com/office/drawing/2014/main" val="19337801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72845988"/>
                    </a:ext>
                  </a:extLst>
                </a:gridCol>
              </a:tblGrid>
              <a:tr h="102489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Participants (saisissez les noms ci-dessous)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Totaux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Poids</a:t>
                      </a:r>
                    </a:p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base 100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109819"/>
                  </a:ext>
                </a:extLst>
              </a:tr>
              <a:tr h="1024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Critères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Lily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Kevin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Nadia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Pascal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289358"/>
                  </a:ext>
                </a:extLst>
              </a:tr>
              <a:tr h="3768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Facilité / simplicité de la solution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Facilité / simplicité de la solution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837542"/>
                  </a:ext>
                </a:extLst>
              </a:tr>
              <a:tr h="3768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Efficacité de la solution (par rapport aux objectifs initiaux)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Efficacité de la solution (par rapport aux objectifs initiaux)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434759"/>
                  </a:ext>
                </a:extLst>
              </a:tr>
              <a:tr h="3768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Economie de la solution (peu coûteuse)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Economie de la solution (peu coûteuse)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027089"/>
                  </a:ext>
                </a:extLst>
              </a:tr>
              <a:tr h="3768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Rapidité de mise en œuvre de la solution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Rapidité de mise en œuvre de la solution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48637"/>
                  </a:ext>
                </a:extLst>
              </a:tr>
              <a:tr h="3768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Contribution à la lettre du management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Contribution à la lettre du management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338958"/>
                  </a:ext>
                </a:extLst>
              </a:tr>
              <a:tr h="194754">
                <a:tc gridSpan="8">
                  <a:txBody>
                    <a:bodyPr/>
                    <a:lstStyle/>
                    <a:p>
                      <a:pPr algn="r" rtl="0" fontAlgn="ctr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: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944252"/>
                  </a:ext>
                </a:extLst>
              </a:tr>
              <a:tr h="102489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9">
                  <a:txBody>
                    <a:bodyPr/>
                    <a:lstStyle/>
                    <a:p>
                      <a:pPr algn="l" fontAlgn="ctr"/>
                      <a:r>
                        <a:rPr lang="fr-F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Chacun vote en proposant une note dans chaque case :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Chacun vote en proposant une note dans chaque case :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283188"/>
                  </a:ext>
                </a:extLst>
              </a:tr>
              <a:tr h="102489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9">
                  <a:txBody>
                    <a:bodyPr/>
                    <a:lstStyle/>
                    <a:p>
                      <a:pPr algn="l" fontAlgn="ctr"/>
                      <a:r>
                        <a:rPr lang="fr-F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= critère pas important pour choisir la solution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= critère pas important pour choisir la solution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039502"/>
                  </a:ext>
                </a:extLst>
              </a:tr>
              <a:tr h="102489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9">
                  <a:txBody>
                    <a:bodyPr/>
                    <a:lstStyle/>
                    <a:p>
                      <a:pPr algn="l" fontAlgn="ctr"/>
                      <a:r>
                        <a:rPr lang="fr-F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= critère important pour choisir la solution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= critère important pour choisir la solution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0974276"/>
                  </a:ext>
                </a:extLst>
              </a:tr>
              <a:tr h="106503"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9">
                  <a:txBody>
                    <a:bodyPr/>
                    <a:lstStyle/>
                    <a:p>
                      <a:pPr algn="l" fontAlgn="ctr"/>
                      <a:r>
                        <a:rPr lang="fr-F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= critère très important pour choisir la solution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= critère très important pour choisir la solution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2215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93675" y="1018084"/>
            <a:ext cx="6096000" cy="15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7350" indent="-3873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 solutions issues du Brainstorming (exemple) :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type correctif :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just" eaLnBrk="1" hangingPunct="1">
              <a:lnSpc>
                <a:spcPct val="9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type préventif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S2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à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S7</a:t>
            </a:r>
          </a:p>
          <a:p>
            <a:pPr algn="just" eaLnBrk="1" hangingPunct="1">
              <a:lnSpc>
                <a:spcPct val="9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 critères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à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avec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coefficients de pondération (importance des critères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Dans la matrice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ci-dessous : </a:t>
            </a:r>
          </a:p>
          <a:p>
            <a:pPr marL="0" indent="0" algn="just" eaLnBrk="1" hangingPunct="1">
              <a:lnSpc>
                <a:spcPct val="9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participants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eaLnBrk="1" hangingPunct="1">
              <a:lnSpc>
                <a:spcPct val="90000"/>
              </a:lnSpc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notation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: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1,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ou 3 dans chacune des case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fonction de l'importance accordée à la solution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31775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10 : MATRICE</a:t>
            </a:r>
          </a:p>
        </p:txBody>
      </p:sp>
      <p:sp>
        <p:nvSpPr>
          <p:cNvPr id="12292" name="Text Box 227"/>
          <p:cNvSpPr txBox="1">
            <a:spLocks noChangeArrowheads="1"/>
          </p:cNvSpPr>
          <p:nvPr/>
        </p:nvSpPr>
        <p:spPr bwMode="auto">
          <a:xfrm>
            <a:off x="188913" y="8578924"/>
            <a:ext cx="60991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Dans cet exemple, les solutions S1, S2 et S4 recueillent au total plus de 50% des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votes.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D'autres solutions sont également à prendre en compte pour une bonne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contribution à la lettre du management telle que S7.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7AFC888-B5DE-41C1-9205-1D2BBB0C9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489992"/>
              </p:ext>
            </p:extLst>
          </p:nvPr>
        </p:nvGraphicFramePr>
        <p:xfrm>
          <a:off x="258117" y="2721700"/>
          <a:ext cx="5960766" cy="5641200"/>
        </p:xfrm>
        <a:graphic>
          <a:graphicData uri="http://schemas.openxmlformats.org/drawingml/2006/table">
            <a:tbl>
              <a:tblPr/>
              <a:tblGrid>
                <a:gridCol w="217473">
                  <a:extLst>
                    <a:ext uri="{9D8B030D-6E8A-4147-A177-3AD203B41FA5}">
                      <a16:colId xmlns:a16="http://schemas.microsoft.com/office/drawing/2014/main" val="2365051340"/>
                    </a:ext>
                  </a:extLst>
                </a:gridCol>
                <a:gridCol w="1895677">
                  <a:extLst>
                    <a:ext uri="{9D8B030D-6E8A-4147-A177-3AD203B41FA5}">
                      <a16:colId xmlns:a16="http://schemas.microsoft.com/office/drawing/2014/main" val="579953921"/>
                    </a:ext>
                  </a:extLst>
                </a:gridCol>
                <a:gridCol w="566116">
                  <a:extLst>
                    <a:ext uri="{9D8B030D-6E8A-4147-A177-3AD203B41FA5}">
                      <a16:colId xmlns:a16="http://schemas.microsoft.com/office/drawing/2014/main" val="4209989179"/>
                    </a:ext>
                  </a:extLst>
                </a:gridCol>
                <a:gridCol w="566116">
                  <a:extLst>
                    <a:ext uri="{9D8B030D-6E8A-4147-A177-3AD203B41FA5}">
                      <a16:colId xmlns:a16="http://schemas.microsoft.com/office/drawing/2014/main" val="1788565944"/>
                    </a:ext>
                  </a:extLst>
                </a:gridCol>
                <a:gridCol w="566116">
                  <a:extLst>
                    <a:ext uri="{9D8B030D-6E8A-4147-A177-3AD203B41FA5}">
                      <a16:colId xmlns:a16="http://schemas.microsoft.com/office/drawing/2014/main" val="1413263423"/>
                    </a:ext>
                  </a:extLst>
                </a:gridCol>
                <a:gridCol w="566116">
                  <a:extLst>
                    <a:ext uri="{9D8B030D-6E8A-4147-A177-3AD203B41FA5}">
                      <a16:colId xmlns:a16="http://schemas.microsoft.com/office/drawing/2014/main" val="1501474576"/>
                    </a:ext>
                  </a:extLst>
                </a:gridCol>
                <a:gridCol w="566116">
                  <a:extLst>
                    <a:ext uri="{9D8B030D-6E8A-4147-A177-3AD203B41FA5}">
                      <a16:colId xmlns:a16="http://schemas.microsoft.com/office/drawing/2014/main" val="1948141026"/>
                    </a:ext>
                  </a:extLst>
                </a:gridCol>
                <a:gridCol w="566116">
                  <a:extLst>
                    <a:ext uri="{9D8B030D-6E8A-4147-A177-3AD203B41FA5}">
                      <a16:colId xmlns:a16="http://schemas.microsoft.com/office/drawing/2014/main" val="3255180386"/>
                    </a:ext>
                  </a:extLst>
                </a:gridCol>
                <a:gridCol w="450920">
                  <a:extLst>
                    <a:ext uri="{9D8B030D-6E8A-4147-A177-3AD203B41FA5}">
                      <a16:colId xmlns:a16="http://schemas.microsoft.com/office/drawing/2014/main" val="3725762198"/>
                    </a:ext>
                  </a:extLst>
                </a:gridCol>
              </a:tblGrid>
              <a:tr h="17410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Critères et Votes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Totaux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558047"/>
                  </a:ext>
                </a:extLst>
              </a:tr>
              <a:tr h="17410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Critère 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Poids = 2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Critère 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Poids = 1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Critère 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Poids = 1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905195"/>
                  </a:ext>
                </a:extLst>
              </a:tr>
              <a:tr h="23588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Solutions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Efficacité / causes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Simpli-cité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Lettre du Mana-gement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062990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Nouveau plan pour la tournée 12.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33784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Renforcer la procédure d'échange des documents départ/retour.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170975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Créer un système de traitement des réclamations clients et anomalies internes.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630578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Démarrer des groupes de résolution de problèmes.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21341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Implanter un système de suggestions.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60521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Mesurer des indicateurs de performance.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77204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Mieux communiquer des messages de la Direction.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961254"/>
                  </a:ext>
                </a:extLst>
              </a:tr>
              <a:tr h="17410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3991"/>
                  </a:ext>
                </a:extLst>
              </a:tr>
              <a:tr h="1123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950207"/>
                  </a:ext>
                </a:extLst>
              </a:tr>
              <a:tr h="1123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Chacun vote en proposant une note dans chaque case :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Chacun vote en proposant une note dans chaque case :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570703"/>
                  </a:ext>
                </a:extLst>
              </a:tr>
              <a:tr h="1123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 = la solution répond peu au critère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= la solution répond peu au critère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148642"/>
                  </a:ext>
                </a:extLst>
              </a:tr>
              <a:tr h="1123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2 = la solution répond moyennement au critère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= la solution répond moyennement au critère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607311"/>
                  </a:ext>
                </a:extLst>
              </a:tr>
              <a:tr h="1123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3 = la solution répond totalement au critère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= la solution répond totalement au critère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638963"/>
                  </a:ext>
                </a:extLst>
              </a:tr>
              <a:tr h="11232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On saisit dans la case la somme des votes de tous les coéquipiers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saisit dans la case la somme des votes de tous les coéquipiers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9443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56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11 : QQOQCP</a:t>
            </a:r>
          </a:p>
        </p:txBody>
      </p:sp>
      <p:sp>
        <p:nvSpPr>
          <p:cNvPr id="2051" name="Text Box 566"/>
          <p:cNvSpPr txBox="1">
            <a:spLocks noChangeArrowheads="1"/>
          </p:cNvSpPr>
          <p:nvPr/>
        </p:nvSpPr>
        <p:spPr bwMode="auto">
          <a:xfrm>
            <a:off x="407690" y="1905000"/>
            <a:ext cx="566162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488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Qui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 défini les solutions ?</a:t>
            </a: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 groupe de travail, avec l'aide des divers interlocuteurs qui ont permis de recueillir les informations nécessaires à la résolution du problème</a:t>
            </a:r>
          </a:p>
          <a:p>
            <a:pPr eaLnBrk="1" hangingPunct="1"/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elles</a:t>
            </a: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sont les solutions envisagées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 type correctif :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1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Nouveau plan pour la tournée 12.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De type préventif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 : </a:t>
            </a: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S2 -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Renforcer la procédure d'échange des documents départ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/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retour. 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S3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Créer un système de traitement des réclamations clients et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anomalies internes.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S4 -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Démarrer des groupes de résolution de problèmes. 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S5 -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Implanter un système de suggestions.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S6 -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Mesurer des indicateurs de performance.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	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S7 -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Mieux communiquer des messages de la Direction.</a:t>
            </a:r>
          </a:p>
          <a:p>
            <a:pPr eaLnBrk="1" hangingPunct="1"/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Où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ces solutions peuvent-elles être mises en œuvre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Sur la tournée 12 en priorité, mais également sur les autres tournées (préventif)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Quand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ces solutions seront-elles efficaces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Entre 5 et 30 jours, en fonction des solutions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Comment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ces solutions peuvent-elles être mises en œuvre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Nécessité de mettre en place des ressources (principalement : service planning, service commandes, chauffeurs)</a:t>
            </a:r>
            <a:endParaRPr lang="sk-SK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/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Pourquoi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ces solutions empêcheront-elles à nouveau le problème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261938" indent="-171450" eaLnBrk="1" hangingPunct="1">
              <a:buFontTx/>
              <a:buChar char="-"/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Car elles s'attaquent aux causes racines</a:t>
            </a:r>
          </a:p>
          <a:p>
            <a:pPr marL="261938" indent="-171450" eaLnBrk="1" hangingPunct="1">
              <a:buFontTx/>
              <a:buChar char="-"/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Car elles répondent aux critères d'efficacité, de simplicité, et à la lettre du Management</a:t>
            </a:r>
          </a:p>
        </p:txBody>
      </p:sp>
    </p:spTree>
    <p:extLst>
      <p:ext uri="{BB962C8B-B14F-4D97-AF65-F5344CB8AC3E}">
        <p14:creationId xmlns:p14="http://schemas.microsoft.com/office/powerpoint/2010/main" val="547667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533400" y="5266556"/>
            <a:ext cx="5410200" cy="102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Calendrier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=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semaine d'achèvement de la tâche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30000"/>
              </a:lnSpc>
            </a:pP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N.B. :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mot "validation" est employé ici dans le sens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discussion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 vue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d'un accord sur la conception du nouveau plan de tournée.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12 : MATRICE (plan d'action)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2A09154-FA04-4709-A1AB-A96265505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36509"/>
              </p:ext>
            </p:extLst>
          </p:nvPr>
        </p:nvGraphicFramePr>
        <p:xfrm>
          <a:off x="228600" y="2357540"/>
          <a:ext cx="6019801" cy="2516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3600">
                  <a:extLst>
                    <a:ext uri="{9D8B030D-6E8A-4147-A177-3AD203B41FA5}">
                      <a16:colId xmlns:a16="http://schemas.microsoft.com/office/drawing/2014/main" val="1099249340"/>
                    </a:ext>
                  </a:extLst>
                </a:gridCol>
                <a:gridCol w="704626">
                  <a:extLst>
                    <a:ext uri="{9D8B030D-6E8A-4147-A177-3AD203B41FA5}">
                      <a16:colId xmlns:a16="http://schemas.microsoft.com/office/drawing/2014/main" val="439224826"/>
                    </a:ext>
                  </a:extLst>
                </a:gridCol>
                <a:gridCol w="806315">
                  <a:extLst>
                    <a:ext uri="{9D8B030D-6E8A-4147-A177-3AD203B41FA5}">
                      <a16:colId xmlns:a16="http://schemas.microsoft.com/office/drawing/2014/main" val="1903716795"/>
                    </a:ext>
                  </a:extLst>
                </a:gridCol>
                <a:gridCol w="806315">
                  <a:extLst>
                    <a:ext uri="{9D8B030D-6E8A-4147-A177-3AD203B41FA5}">
                      <a16:colId xmlns:a16="http://schemas.microsoft.com/office/drawing/2014/main" val="1144605494"/>
                    </a:ext>
                  </a:extLst>
                </a:gridCol>
                <a:gridCol w="806315">
                  <a:extLst>
                    <a:ext uri="{9D8B030D-6E8A-4147-A177-3AD203B41FA5}">
                      <a16:colId xmlns:a16="http://schemas.microsoft.com/office/drawing/2014/main" val="2507032283"/>
                    </a:ext>
                  </a:extLst>
                </a:gridCol>
                <a:gridCol w="806315">
                  <a:extLst>
                    <a:ext uri="{9D8B030D-6E8A-4147-A177-3AD203B41FA5}">
                      <a16:colId xmlns:a16="http://schemas.microsoft.com/office/drawing/2014/main" val="3488542747"/>
                    </a:ext>
                  </a:extLst>
                </a:gridCol>
                <a:gridCol w="806315">
                  <a:extLst>
                    <a:ext uri="{9D8B030D-6E8A-4147-A177-3AD203B41FA5}">
                      <a16:colId xmlns:a16="http://schemas.microsoft.com/office/drawing/2014/main" val="127289797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TACHES / ACTEURS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Calendrier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 Commandes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Chauffeur Tournée 12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</a:t>
                      </a:r>
                    </a:p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Commercial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 Logistique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 Gestion des Tournées</a:t>
                      </a:r>
                      <a:endParaRPr lang="fr-FR" sz="11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6645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Conception tournée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Responsable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916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Validation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Responsable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19373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Information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Responsable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972179"/>
                  </a:ext>
                </a:extLst>
              </a:tr>
              <a:tr h="28393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3, 4, 5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Responsable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40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Approbation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Responsable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4247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Application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Responsable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Informé</a:t>
                      </a:r>
                      <a:endParaRPr lang="fr-F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3610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12 : MATRICE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01D1C380-F050-4C0A-A74F-D916EC0D6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82573"/>
              </p:ext>
            </p:extLst>
          </p:nvPr>
        </p:nvGraphicFramePr>
        <p:xfrm>
          <a:off x="387559" y="2357540"/>
          <a:ext cx="5701883" cy="2633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6099">
                  <a:extLst>
                    <a:ext uri="{9D8B030D-6E8A-4147-A177-3AD203B41FA5}">
                      <a16:colId xmlns:a16="http://schemas.microsoft.com/office/drawing/2014/main" val="1099249340"/>
                    </a:ext>
                  </a:extLst>
                </a:gridCol>
                <a:gridCol w="720964">
                  <a:extLst>
                    <a:ext uri="{9D8B030D-6E8A-4147-A177-3AD203B41FA5}">
                      <a16:colId xmlns:a16="http://schemas.microsoft.com/office/drawing/2014/main" val="439224826"/>
                    </a:ext>
                  </a:extLst>
                </a:gridCol>
                <a:gridCol w="720964">
                  <a:extLst>
                    <a:ext uri="{9D8B030D-6E8A-4147-A177-3AD203B41FA5}">
                      <a16:colId xmlns:a16="http://schemas.microsoft.com/office/drawing/2014/main" val="1903716795"/>
                    </a:ext>
                  </a:extLst>
                </a:gridCol>
                <a:gridCol w="720964">
                  <a:extLst>
                    <a:ext uri="{9D8B030D-6E8A-4147-A177-3AD203B41FA5}">
                      <a16:colId xmlns:a16="http://schemas.microsoft.com/office/drawing/2014/main" val="1144605494"/>
                    </a:ext>
                  </a:extLst>
                </a:gridCol>
                <a:gridCol w="720964">
                  <a:extLst>
                    <a:ext uri="{9D8B030D-6E8A-4147-A177-3AD203B41FA5}">
                      <a16:colId xmlns:a16="http://schemas.microsoft.com/office/drawing/2014/main" val="2507032283"/>
                    </a:ext>
                  </a:extLst>
                </a:gridCol>
                <a:gridCol w="720964">
                  <a:extLst>
                    <a:ext uri="{9D8B030D-6E8A-4147-A177-3AD203B41FA5}">
                      <a16:colId xmlns:a16="http://schemas.microsoft.com/office/drawing/2014/main" val="3488542747"/>
                    </a:ext>
                  </a:extLst>
                </a:gridCol>
                <a:gridCol w="720964">
                  <a:extLst>
                    <a:ext uri="{9D8B030D-6E8A-4147-A177-3AD203B41FA5}">
                      <a16:colId xmlns:a16="http://schemas.microsoft.com/office/drawing/2014/main" val="1272897979"/>
                    </a:ext>
                  </a:extLst>
                </a:gridCol>
              </a:tblGrid>
              <a:tr h="67219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TACHES / SEMAINES</a:t>
                      </a:r>
                      <a:endParaRPr lang="fr-FR" sz="12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200" b="1" i="0" u="none" strike="noStrike" dirty="0">
                        <a:solidFill>
                          <a:srgbClr val="27A8E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solidFill>
                            <a:srgbClr val="27A8E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6645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Conception tournée</a:t>
                      </a:r>
                      <a:endParaRPr lang="fr-F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5916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Validation</a:t>
                      </a:r>
                      <a:endParaRPr lang="fr-F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19373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Information</a:t>
                      </a:r>
                      <a:endParaRPr lang="fr-F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972179"/>
                  </a:ext>
                </a:extLst>
              </a:tr>
              <a:tr h="28393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  <a:endParaRPr lang="fr-F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1140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Approbation</a:t>
                      </a:r>
                      <a:endParaRPr lang="fr-F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4247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Application</a:t>
                      </a:r>
                      <a:endParaRPr lang="fr-F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000" marR="36000" marT="72000" marB="72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361047"/>
                  </a:ext>
                </a:extLst>
              </a:tr>
            </a:tbl>
          </a:graphicData>
        </a:graphic>
      </p:graphicFrame>
      <p:sp>
        <p:nvSpPr>
          <p:cNvPr id="8" name="Ellipse 7">
            <a:extLst>
              <a:ext uri="{FF2B5EF4-FFF2-40B4-BE49-F238E27FC236}">
                <a16:creationId xmlns:a16="http://schemas.microsoft.com/office/drawing/2014/main" id="{B7E2CCF4-D30B-43C0-AC16-FA477A5729A5}"/>
              </a:ext>
            </a:extLst>
          </p:cNvPr>
          <p:cNvSpPr/>
          <p:nvPr/>
        </p:nvSpPr>
        <p:spPr bwMode="auto">
          <a:xfrm>
            <a:off x="1989220" y="3071453"/>
            <a:ext cx="257552" cy="257552"/>
          </a:xfrm>
          <a:prstGeom prst="ellipse">
            <a:avLst/>
          </a:prstGeom>
          <a:solidFill>
            <a:srgbClr val="33CC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94D1F13-4474-49F2-847F-4AE5BEAF5FCA}"/>
              </a:ext>
            </a:extLst>
          </p:cNvPr>
          <p:cNvSpPr/>
          <p:nvPr/>
        </p:nvSpPr>
        <p:spPr bwMode="auto">
          <a:xfrm>
            <a:off x="2710412" y="3397546"/>
            <a:ext cx="257552" cy="257552"/>
          </a:xfrm>
          <a:prstGeom prst="ellipse">
            <a:avLst/>
          </a:prstGeom>
          <a:solidFill>
            <a:srgbClr val="33CC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8C57A7A-CB4C-400C-9359-4F1CD20357E3}"/>
              </a:ext>
            </a:extLst>
          </p:cNvPr>
          <p:cNvSpPr/>
          <p:nvPr/>
        </p:nvSpPr>
        <p:spPr bwMode="auto">
          <a:xfrm>
            <a:off x="2710412" y="3723639"/>
            <a:ext cx="257552" cy="257552"/>
          </a:xfrm>
          <a:prstGeom prst="ellipse">
            <a:avLst/>
          </a:prstGeom>
          <a:solidFill>
            <a:srgbClr val="33CC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2EFABF6-4A4C-4114-B847-12308FB1AAEC}"/>
              </a:ext>
            </a:extLst>
          </p:cNvPr>
          <p:cNvSpPr/>
          <p:nvPr/>
        </p:nvSpPr>
        <p:spPr bwMode="auto">
          <a:xfrm>
            <a:off x="3431604" y="4049732"/>
            <a:ext cx="257552" cy="25755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C19596A-3CDF-4140-98E3-AD75E7418023}"/>
              </a:ext>
            </a:extLst>
          </p:cNvPr>
          <p:cNvSpPr/>
          <p:nvPr/>
        </p:nvSpPr>
        <p:spPr bwMode="auto">
          <a:xfrm>
            <a:off x="4152796" y="4049732"/>
            <a:ext cx="257552" cy="25755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96894C8-A522-44BF-B602-5AA095D2F98B}"/>
              </a:ext>
            </a:extLst>
          </p:cNvPr>
          <p:cNvSpPr/>
          <p:nvPr/>
        </p:nvSpPr>
        <p:spPr bwMode="auto">
          <a:xfrm>
            <a:off x="4873988" y="4049732"/>
            <a:ext cx="257552" cy="25755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CA396B-3073-4D0C-B54F-23E289917A38}"/>
              </a:ext>
            </a:extLst>
          </p:cNvPr>
          <p:cNvSpPr/>
          <p:nvPr/>
        </p:nvSpPr>
        <p:spPr bwMode="auto">
          <a:xfrm>
            <a:off x="5595180" y="4375825"/>
            <a:ext cx="257552" cy="25755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C1DA3F8-A106-4890-812A-2B595BA7BF06}"/>
              </a:ext>
            </a:extLst>
          </p:cNvPr>
          <p:cNvSpPr/>
          <p:nvPr/>
        </p:nvSpPr>
        <p:spPr bwMode="auto">
          <a:xfrm>
            <a:off x="5595180" y="4701920"/>
            <a:ext cx="257552" cy="257552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7590E37-727B-48DC-B3EB-D0FF8A039548}"/>
              </a:ext>
            </a:extLst>
          </p:cNvPr>
          <p:cNvSpPr/>
          <p:nvPr/>
        </p:nvSpPr>
        <p:spPr bwMode="auto">
          <a:xfrm>
            <a:off x="1511378" y="5423168"/>
            <a:ext cx="324000" cy="3240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62A9DC8-B9C6-4A43-A0A5-3AC6DD43FB30}"/>
              </a:ext>
            </a:extLst>
          </p:cNvPr>
          <p:cNvSpPr/>
          <p:nvPr/>
        </p:nvSpPr>
        <p:spPr bwMode="auto">
          <a:xfrm>
            <a:off x="1511378" y="5842442"/>
            <a:ext cx="324000" cy="324000"/>
          </a:xfrm>
          <a:prstGeom prst="ellipse">
            <a:avLst/>
          </a:prstGeom>
          <a:solidFill>
            <a:srgbClr val="33CC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4122858-A44B-4880-BCD9-60C0DF7AA445}"/>
              </a:ext>
            </a:extLst>
          </p:cNvPr>
          <p:cNvSpPr txBox="1"/>
          <p:nvPr/>
        </p:nvSpPr>
        <p:spPr>
          <a:xfrm>
            <a:off x="1855566" y="5431280"/>
            <a:ext cx="612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À Faire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4C4C46E-FCAB-4FAB-BC3A-90231CE7C094}"/>
              </a:ext>
            </a:extLst>
          </p:cNvPr>
          <p:cNvSpPr txBox="1"/>
          <p:nvPr/>
        </p:nvSpPr>
        <p:spPr>
          <a:xfrm>
            <a:off x="1855566" y="5850553"/>
            <a:ext cx="411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Fait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13 : FEUILLE DE RELEVES</a:t>
            </a:r>
          </a:p>
        </p:txBody>
      </p:sp>
      <p:sp>
        <p:nvSpPr>
          <p:cNvPr id="3077" name="Rectangle 316"/>
          <p:cNvSpPr>
            <a:spLocks noChangeArrowheads="1"/>
          </p:cNvSpPr>
          <p:nvPr/>
        </p:nvSpPr>
        <p:spPr bwMode="auto">
          <a:xfrm rot="-5400000">
            <a:off x="-1820065" y="5179798"/>
            <a:ext cx="52659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16325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Informations objet du relevé (défaut, anomalie, …) : 	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anomalies de livraison</a:t>
            </a:r>
          </a:p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Unités de mesure (fréquence, longueur, durée, …) : 	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semaines</a:t>
            </a:r>
          </a:p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ou Attribut (bon, mauvais, …) : 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  <a:p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Critères de classement des attributs : 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716470-C868-4158-ACF7-8017AAC865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4668" r="625"/>
          <a:stretch/>
        </p:blipFill>
        <p:spPr>
          <a:xfrm rot="16200000">
            <a:off x="-585533" y="2630952"/>
            <a:ext cx="8843330" cy="48245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301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CCB7E7-640D-4E54-81B6-87FCCF856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94148"/>
            <a:ext cx="6019801" cy="3011735"/>
          </a:xfrm>
          <a:prstGeom prst="rect">
            <a:avLst/>
          </a:prstGeom>
        </p:spPr>
      </p:pic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13 : GRAPHIQUE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7845112-AC5B-4897-BE1D-C7BE1EDEB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978524"/>
            <a:ext cx="6019801" cy="36174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9420D49-60B5-40C7-A9B0-61EA2FBDCD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26" t="3429" r="25546" b="91319"/>
          <a:stretch/>
        </p:blipFill>
        <p:spPr>
          <a:xfrm>
            <a:off x="1186272" y="1710606"/>
            <a:ext cx="4104456" cy="21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81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56"/>
          <p:cNvSpPr>
            <a:spLocks noChangeArrowheads="1"/>
          </p:cNvSpPr>
          <p:nvPr/>
        </p:nvSpPr>
        <p:spPr bwMode="auto">
          <a:xfrm>
            <a:off x="228600" y="312738"/>
            <a:ext cx="6019800" cy="60166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859088" algn="ct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fr-FR" altLang="fr-FR" sz="2400" b="1" dirty="0">
                <a:solidFill>
                  <a:srgbClr val="27A8E0"/>
                </a:solidFill>
                <a:latin typeface="Calibri" panose="020F0502020204030204" pitchFamily="34" charset="0"/>
              </a:rPr>
              <a:t>Étape 14 : QQOQCP</a:t>
            </a:r>
          </a:p>
        </p:txBody>
      </p:sp>
      <p:sp>
        <p:nvSpPr>
          <p:cNvPr id="2051" name="Text Box 566"/>
          <p:cNvSpPr txBox="1">
            <a:spLocks noChangeArrowheads="1"/>
          </p:cNvSpPr>
          <p:nvPr/>
        </p:nvSpPr>
        <p:spPr bwMode="auto">
          <a:xfrm>
            <a:off x="457200" y="1905000"/>
            <a:ext cx="5562600" cy="4624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488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8735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300"/>
              </a:spcBef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Qui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est concerné par la standardisation des actions ?</a:t>
            </a:r>
          </a:p>
          <a:p>
            <a:pPr eaLnBrk="1" hangingPunct="1">
              <a:spcBef>
                <a:spcPts val="300"/>
              </a:spcBef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Les chauffeurs, les services Commandes / Commercial / Logistique / Gestion des tournées</a:t>
            </a:r>
          </a:p>
          <a:p>
            <a:pPr eaLnBrk="1" hangingPunct="1">
              <a:spcBef>
                <a:spcPts val="300"/>
              </a:spcBef>
            </a:pP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</a:t>
            </a:r>
            <a:r>
              <a:rPr lang="fr-FR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elles</a:t>
            </a: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actions peuvent être standardisées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L'ensemble des 6 actions préventives</a:t>
            </a:r>
          </a:p>
          <a:p>
            <a:pPr eaLnBrk="1" hangingPunct="1">
              <a:spcBef>
                <a:spcPts val="300"/>
              </a:spcBef>
            </a:pP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Où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ces actions peuvent-elles être standardisées et appliquées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L'ensemble des tournées, et les services associés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Quand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ces actions peuvent-elles être standardisées et appliquées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Dès que possible, et avant un horizon d'un an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Comment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effectuer cette standardisation des actions 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marL="261938" indent="-171450" eaLnBrk="1" hangingPunct="1">
              <a:spcBef>
                <a:spcPts val="300"/>
              </a:spcBef>
              <a:buFontTx/>
              <a:buChar char="-"/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Faire un retour d'expérience de la Tournée 12, et conduire des chantiers sur les autres périmètres</a:t>
            </a:r>
          </a:p>
          <a:p>
            <a:pPr marL="261938" indent="-171450" eaLnBrk="1" hangingPunct="1">
              <a:spcBef>
                <a:spcPts val="300"/>
              </a:spcBef>
              <a:buFontTx/>
              <a:buChar char="-"/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Valoriser les investissements à réaliser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sk-SK" altLang="fr-F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Pourquoi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</a:t>
            </a: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est-il intéressant de standardiser ces actions</a:t>
            </a:r>
            <a:r>
              <a:rPr lang="sk-SK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 ?</a:t>
            </a:r>
            <a:endParaRPr lang="fr-FR" altLang="fr-FR" sz="12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fr-FR" alt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Times New Roman" pitchFamily="18" charset="0"/>
              </a:rPr>
              <a:t>Viser le zéro anomalie sur les livraisons de colis, et augmenter le niveau d'exigence quant à la qualité du service client</a:t>
            </a:r>
            <a:endParaRPr lang="fr-FR" altLang="fr-FR" sz="12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80006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3266</Words>
  <Application>Microsoft Office PowerPoint</Application>
  <PresentationFormat>Personnalisé</PresentationFormat>
  <Paragraphs>678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Modèle par défaut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PROCONSEIL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SIMON</dc:creator>
  <cp:lastModifiedBy>Stéphane JAUBERT</cp:lastModifiedBy>
  <cp:revision>763</cp:revision>
  <dcterms:created xsi:type="dcterms:W3CDTF">2001-12-21T13:23:39Z</dcterms:created>
  <dcterms:modified xsi:type="dcterms:W3CDTF">2026-02-16T12:01:36Z</dcterms:modified>
</cp:coreProperties>
</file>